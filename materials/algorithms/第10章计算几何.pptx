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2"/>
  </p:notesMasterIdLst>
  <p:sldIdLst>
    <p:sldId id="257" r:id="rId2"/>
    <p:sldId id="258" r:id="rId3"/>
    <p:sldId id="259" r:id="rId4"/>
    <p:sldId id="366" r:id="rId5"/>
    <p:sldId id="367" r:id="rId6"/>
    <p:sldId id="260" r:id="rId7"/>
    <p:sldId id="261" r:id="rId8"/>
    <p:sldId id="262" r:id="rId9"/>
    <p:sldId id="341" r:id="rId10"/>
    <p:sldId id="263" r:id="rId11"/>
    <p:sldId id="264" r:id="rId12"/>
    <p:sldId id="342" r:id="rId13"/>
    <p:sldId id="265" r:id="rId14"/>
    <p:sldId id="266" r:id="rId15"/>
    <p:sldId id="267" r:id="rId16"/>
    <p:sldId id="268" r:id="rId17"/>
    <p:sldId id="269" r:id="rId18"/>
    <p:sldId id="270" r:id="rId19"/>
    <p:sldId id="271" r:id="rId20"/>
    <p:sldId id="343" r:id="rId21"/>
    <p:sldId id="344" r:id="rId22"/>
    <p:sldId id="272" r:id="rId23"/>
    <p:sldId id="369" r:id="rId24"/>
    <p:sldId id="273" r:id="rId25"/>
    <p:sldId id="274" r:id="rId26"/>
    <p:sldId id="371" r:id="rId27"/>
    <p:sldId id="372" r:id="rId28"/>
    <p:sldId id="373" r:id="rId29"/>
    <p:sldId id="374" r:id="rId30"/>
    <p:sldId id="376" r:id="rId31"/>
    <p:sldId id="375" r:id="rId32"/>
    <p:sldId id="377" r:id="rId33"/>
    <p:sldId id="370" r:id="rId34"/>
    <p:sldId id="275" r:id="rId35"/>
    <p:sldId id="276" r:id="rId36"/>
    <p:sldId id="347" r:id="rId37"/>
    <p:sldId id="346" r:id="rId38"/>
    <p:sldId id="277" r:id="rId39"/>
    <p:sldId id="278" r:id="rId40"/>
    <p:sldId id="279" r:id="rId41"/>
    <p:sldId id="378" r:id="rId42"/>
    <p:sldId id="280" r:id="rId43"/>
    <p:sldId id="281" r:id="rId44"/>
    <p:sldId id="282" r:id="rId45"/>
    <p:sldId id="466" r:id="rId46"/>
    <p:sldId id="467" r:id="rId47"/>
    <p:sldId id="468" r:id="rId48"/>
    <p:sldId id="469" r:id="rId49"/>
    <p:sldId id="470" r:id="rId50"/>
    <p:sldId id="471" r:id="rId51"/>
    <p:sldId id="472" r:id="rId52"/>
    <p:sldId id="473" r:id="rId53"/>
    <p:sldId id="474" r:id="rId54"/>
    <p:sldId id="475" r:id="rId55"/>
    <p:sldId id="476" r:id="rId56"/>
    <p:sldId id="477" r:id="rId57"/>
    <p:sldId id="478" r:id="rId58"/>
    <p:sldId id="479" r:id="rId59"/>
    <p:sldId id="480" r:id="rId60"/>
    <p:sldId id="288" r:id="rId61"/>
    <p:sldId id="289" r:id="rId62"/>
    <p:sldId id="290" r:id="rId63"/>
    <p:sldId id="291" r:id="rId64"/>
    <p:sldId id="387" r:id="rId65"/>
    <p:sldId id="349" r:id="rId66"/>
    <p:sldId id="389" r:id="rId67"/>
    <p:sldId id="350" r:id="rId68"/>
    <p:sldId id="351" r:id="rId69"/>
    <p:sldId id="352" r:id="rId70"/>
    <p:sldId id="390" r:id="rId71"/>
    <p:sldId id="391" r:id="rId72"/>
    <p:sldId id="392" r:id="rId73"/>
    <p:sldId id="393" r:id="rId74"/>
    <p:sldId id="394" r:id="rId75"/>
    <p:sldId id="395" r:id="rId76"/>
    <p:sldId id="396" r:id="rId77"/>
    <p:sldId id="397" r:id="rId78"/>
    <p:sldId id="398" r:id="rId79"/>
    <p:sldId id="403" r:id="rId80"/>
    <p:sldId id="399" r:id="rId81"/>
    <p:sldId id="400" r:id="rId82"/>
    <p:sldId id="402" r:id="rId83"/>
    <p:sldId id="292" r:id="rId84"/>
    <p:sldId id="293" r:id="rId85"/>
    <p:sldId id="294" r:id="rId86"/>
    <p:sldId id="405" r:id="rId87"/>
    <p:sldId id="295" r:id="rId88"/>
    <p:sldId id="406" r:id="rId89"/>
    <p:sldId id="404" r:id="rId90"/>
    <p:sldId id="408" r:id="rId91"/>
    <p:sldId id="409" r:id="rId92"/>
    <p:sldId id="410" r:id="rId93"/>
    <p:sldId id="411" r:id="rId94"/>
    <p:sldId id="412" r:id="rId95"/>
    <p:sldId id="413" r:id="rId96"/>
    <p:sldId id="297" r:id="rId97"/>
    <p:sldId id="298" r:id="rId98"/>
    <p:sldId id="407" r:id="rId99"/>
    <p:sldId id="300" r:id="rId100"/>
    <p:sldId id="416" r:id="rId101"/>
    <p:sldId id="301" r:id="rId102"/>
    <p:sldId id="414" r:id="rId103"/>
    <p:sldId id="302" r:id="rId104"/>
    <p:sldId id="415" r:id="rId105"/>
    <p:sldId id="417" r:id="rId106"/>
    <p:sldId id="418" r:id="rId107"/>
    <p:sldId id="419" r:id="rId108"/>
    <p:sldId id="420" r:id="rId109"/>
    <p:sldId id="421" r:id="rId110"/>
    <p:sldId id="422" r:id="rId111"/>
    <p:sldId id="423" r:id="rId112"/>
    <p:sldId id="424" r:id="rId113"/>
    <p:sldId id="425" r:id="rId114"/>
    <p:sldId id="426" r:id="rId115"/>
    <p:sldId id="427" r:id="rId116"/>
    <p:sldId id="428" r:id="rId117"/>
    <p:sldId id="429" r:id="rId118"/>
    <p:sldId id="305" r:id="rId119"/>
    <p:sldId id="430" r:id="rId120"/>
    <p:sldId id="431" r:id="rId121"/>
    <p:sldId id="313" r:id="rId122"/>
    <p:sldId id="314" r:id="rId123"/>
    <p:sldId id="315" r:id="rId124"/>
    <p:sldId id="356" r:id="rId125"/>
    <p:sldId id="316" r:id="rId126"/>
    <p:sldId id="432" r:id="rId127"/>
    <p:sldId id="317" r:id="rId128"/>
    <p:sldId id="358" r:id="rId129"/>
    <p:sldId id="433" r:id="rId130"/>
    <p:sldId id="359" r:id="rId131"/>
    <p:sldId id="434" r:id="rId132"/>
    <p:sldId id="435" r:id="rId133"/>
    <p:sldId id="436" r:id="rId134"/>
    <p:sldId id="437" r:id="rId135"/>
    <p:sldId id="438" r:id="rId136"/>
    <p:sldId id="439" r:id="rId137"/>
    <p:sldId id="440" r:id="rId138"/>
    <p:sldId id="441" r:id="rId139"/>
    <p:sldId id="318" r:id="rId140"/>
    <p:sldId id="442" r:id="rId141"/>
    <p:sldId id="443" r:id="rId142"/>
    <p:sldId id="444" r:id="rId143"/>
    <p:sldId id="328" r:id="rId144"/>
    <p:sldId id="329" r:id="rId145"/>
    <p:sldId id="446" r:id="rId146"/>
    <p:sldId id="447" r:id="rId147"/>
    <p:sldId id="448" r:id="rId148"/>
    <p:sldId id="450" r:id="rId149"/>
    <p:sldId id="451" r:id="rId150"/>
    <p:sldId id="452" r:id="rId151"/>
    <p:sldId id="453" r:id="rId152"/>
    <p:sldId id="445" r:id="rId153"/>
    <p:sldId id="330" r:id="rId154"/>
    <p:sldId id="361" r:id="rId155"/>
    <p:sldId id="331" r:id="rId156"/>
    <p:sldId id="454" r:id="rId157"/>
    <p:sldId id="455" r:id="rId158"/>
    <p:sldId id="456" r:id="rId159"/>
    <p:sldId id="457" r:id="rId160"/>
    <p:sldId id="458" r:id="rId161"/>
    <p:sldId id="459" r:id="rId162"/>
    <p:sldId id="460" r:id="rId163"/>
    <p:sldId id="461" r:id="rId164"/>
    <p:sldId id="462" r:id="rId165"/>
    <p:sldId id="463" r:id="rId166"/>
    <p:sldId id="464" r:id="rId167"/>
    <p:sldId id="465" r:id="rId168"/>
    <p:sldId id="335" r:id="rId169"/>
    <p:sldId id="338" r:id="rId170"/>
    <p:sldId id="481" r:id="rId171"/>
  </p:sldIdLst>
  <p:sldSz cx="9144000" cy="6858000" type="screen4x3"/>
  <p:notesSz cx="6858000" cy="9144000"/>
  <p:defaultTextStyle>
    <a:defPPr>
      <a:defRPr lang="zh-CN"/>
    </a:defPPr>
    <a:lvl1pPr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FF"/>
    <a:srgbClr val="FF00FF"/>
    <a:srgbClr val="FF9900"/>
    <a:srgbClr val="FFFFFF"/>
    <a:srgbClr val="9900FF"/>
    <a:srgbClr val="FF0000"/>
    <a:srgbClr val="CC3300"/>
    <a:srgbClr val="99663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9" d="100"/>
          <a:sy n="99" d="100"/>
        </p:scale>
        <p:origin x="129"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BF848F9-29A7-44B2-97B0-2030418C4FEE}" type="datetimeFigureOut">
              <a:rPr lang="zh-CN" altLang="en-US" smtClean="0"/>
              <a:pPr/>
              <a:t>2024-01-28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84A466-4099-4CAD-A88D-BD51CACD588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8684A466-4099-4CAD-A88D-BD51CACD588D}"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29</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30</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31</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32</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45</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46</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47</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48</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49</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50</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8D5E6EEB-EC93-4B98-98BC-BB9003C25FFF}" type="slidenum">
              <a:rPr lang="zh-CN" altLang="en-US" smtClean="0"/>
              <a:pPr/>
              <a:t>70</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8D5E6EEB-EC93-4B98-98BC-BB9003C25FFF}" type="slidenum">
              <a:rPr lang="zh-CN" altLang="en-US" smtClean="0"/>
              <a:pPr/>
              <a:t>71</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8D5E6EEB-EC93-4B98-98BC-BB9003C25FFF}" type="slidenum">
              <a:rPr lang="zh-CN" altLang="en-US" smtClean="0"/>
              <a:pPr/>
              <a:t>72</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8D5E6EEB-EC93-4B98-98BC-BB9003C25FFF}" type="slidenum">
              <a:rPr lang="zh-CN" altLang="en-US" smtClean="0"/>
              <a:pPr/>
              <a:t>73</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8D5E6EEB-EC93-4B98-98BC-BB9003C25FFF}" type="slidenum">
              <a:rPr lang="zh-CN" altLang="en-US" smtClean="0"/>
              <a:pPr/>
              <a:t>74</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8D5E6EEB-EC93-4B98-98BC-BB9003C25FFF}" type="slidenum">
              <a:rPr lang="zh-CN" altLang="en-US" smtClean="0"/>
              <a:pPr/>
              <a:t>75</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8D5E6EEB-EC93-4B98-98BC-BB9003C25FFF}" type="slidenum">
              <a:rPr lang="zh-CN" altLang="en-US" smtClean="0"/>
              <a:pPr/>
              <a:t>76</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8D5E6EEB-EC93-4B98-98BC-BB9003C25FFF}" type="slidenum">
              <a:rPr lang="zh-CN" altLang="en-US" smtClean="0"/>
              <a:pPr/>
              <a:t>77</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90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91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95</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106</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107</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108</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109</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110</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111</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112</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113</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114</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115</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116</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4B552A-66CE-40C6-8C12-356C8A155397}" type="slidenum">
              <a:rPr lang="zh-CN" altLang="en-US" smtClean="0"/>
              <a:pPr/>
              <a:t>117</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44294EDB-C956-4F7E-A508-1AD600E8E912}" type="slidenum">
              <a:rPr lang="zh-CN" altLang="en-US" smtClean="0"/>
              <a:pPr/>
              <a:t>132</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44294EDB-C956-4F7E-A508-1AD600E8E912}" type="slidenum">
              <a:rPr lang="zh-CN" altLang="en-US" smtClean="0"/>
              <a:pPr/>
              <a:t>133</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44294EDB-C956-4F7E-A508-1AD600E8E912}" type="slidenum">
              <a:rPr lang="zh-CN" altLang="en-US" smtClean="0"/>
              <a:pPr/>
              <a:t>134</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44294EDB-C956-4F7E-A508-1AD600E8E912}" type="slidenum">
              <a:rPr lang="zh-CN" altLang="en-US" smtClean="0"/>
              <a:pPr/>
              <a:t>135</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44294EDB-C956-4F7E-A508-1AD600E8E912}" type="slidenum">
              <a:rPr lang="zh-CN" altLang="en-US" smtClean="0"/>
              <a:pPr/>
              <a:t>136</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44294EDB-C956-4F7E-A508-1AD600E8E912}" type="slidenum">
              <a:rPr lang="zh-CN" altLang="en-US" smtClean="0"/>
              <a:pPr/>
              <a:t>137</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23CDE77E-48DA-443F-98A0-F888D24C6D8F}" type="slidenum">
              <a:rPr lang="zh-CN" altLang="en-US" smtClean="0"/>
              <a:pPr/>
              <a:t>156</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23CDE77E-48DA-443F-98A0-F888D24C6D8F}" type="slidenum">
              <a:rPr lang="zh-CN" altLang="en-US" smtClean="0"/>
              <a:pPr/>
              <a:t>157</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23CDE77E-48DA-443F-98A0-F888D24C6D8F}" type="slidenum">
              <a:rPr lang="zh-CN" altLang="en-US" smtClean="0"/>
              <a:pPr/>
              <a:t>158</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23CDE77E-48DA-443F-98A0-F888D24C6D8F}" type="slidenum">
              <a:rPr lang="zh-CN" altLang="en-US" smtClean="0"/>
              <a:pPr/>
              <a:t>159</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23CDE77E-48DA-443F-98A0-F888D24C6D8F}" type="slidenum">
              <a:rPr lang="zh-CN" altLang="en-US" smtClean="0"/>
              <a:pPr/>
              <a:t>160</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23CDE77E-48DA-443F-98A0-F888D24C6D8F}" type="slidenum">
              <a:rPr lang="zh-CN" altLang="en-US" smtClean="0"/>
              <a:pPr/>
              <a:t>161</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23CDE77E-48DA-443F-98A0-F888D24C6D8F}" type="slidenum">
              <a:rPr lang="zh-CN" altLang="en-US" smtClean="0"/>
              <a:pPr/>
              <a:t>162</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23CDE77E-48DA-443F-98A0-F888D24C6D8F}" type="slidenum">
              <a:rPr lang="zh-CN" altLang="en-US" smtClean="0"/>
              <a:pPr/>
              <a:t>163</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23CDE77E-48DA-443F-98A0-F888D24C6D8F}" type="slidenum">
              <a:rPr lang="zh-CN" altLang="en-US" smtClean="0"/>
              <a:pPr/>
              <a:t>164</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23CDE77E-48DA-443F-98A0-F888D24C6D8F}" type="slidenum">
              <a:rPr lang="zh-CN" altLang="en-US" smtClean="0"/>
              <a:pPr/>
              <a:t>165</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23CDE77E-48DA-443F-98A0-F888D24C6D8F}" type="slidenum">
              <a:rPr lang="zh-CN" altLang="en-US" smtClean="0"/>
              <a:pPr/>
              <a:t>166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2"/>
          <p:cNvSpPr>
            <a:spLocks noGrp="1"/>
          </p:cNvSpPr>
          <p:nvPr>
            <p:ph type="dt" sz="half" idx="10"/>
          </p:nvPr>
        </p:nvSpPr>
        <p:spPr/>
        <p:txBody>
          <a:bodyPr/>
          <a:lstStyle>
            <a:lvl1pPr>
              <a:defRPr/>
            </a:lvl1pPr>
          </a:lstStyle>
          <a:p>
            <a:pPr>
              <a:defRPr/>
            </a:pPr>
            <a:endParaRPr lang="en-US" altLang="zh-CN"/>
          </a:p>
        </p:txBody>
      </p:sp>
      <p:sp>
        <p:nvSpPr>
          <p:cNvPr id="3" name="页脚占位符 23"/>
          <p:cNvSpPr>
            <a:spLocks noGrp="1"/>
          </p:cNvSpPr>
          <p:nvPr>
            <p:ph type="ftr" sz="quarter" idx="11"/>
          </p:nvPr>
        </p:nvSpPr>
        <p:spPr/>
        <p:txBody>
          <a:bodyPr/>
          <a:lstStyle>
            <a:lvl1pPr>
              <a:defRPr/>
            </a:lvl1pPr>
          </a:lstStyle>
          <a:p>
            <a:pPr>
              <a:defRPr/>
            </a:pPr>
            <a:endParaRPr lang="en-US" altLang="zh-CN"/>
          </a:p>
        </p:txBody>
      </p:sp>
      <p:sp>
        <p:nvSpPr>
          <p:cNvPr id="4" name="灯片编号占位符 6"/>
          <p:cNvSpPr>
            <a:spLocks noGrp="1"/>
          </p:cNvSpPr>
          <p:nvPr>
            <p:ph type="sldNum" sz="quarter" idx="12"/>
          </p:nvPr>
        </p:nvSpPr>
        <p:spPr>
          <a:xfrm>
            <a:off x="7786710" y="6477001"/>
            <a:ext cx="1071570" cy="238148"/>
          </a:xfrm>
        </p:spPr>
        <p:txBody>
          <a:bodyPr/>
          <a:lstStyle>
            <a:lvl1pPr>
              <a:defRPr sz="1400">
                <a:solidFill>
                  <a:srgbClr val="FF0000"/>
                </a:solidFill>
                <a:latin typeface="Consolas" pitchFamily="49" charset="0"/>
              </a:defRPr>
            </a:lvl1pPr>
          </a:lstStyle>
          <a:p>
            <a:pPr>
              <a:defRPr/>
            </a:pPr>
            <a:fld id="{51116183-1013-4E64-BBE8-A5C1D5D4F838}" type="slidenum">
              <a:rPr lang="en-US" altLang="zh-CN" smtClean="0"/>
              <a:pPr>
                <a:defRPr/>
              </a:pPr>
              <a:t>‹#›</a:t>
            </a:fld>
            <a:r>
              <a:rPr lang="en-US" altLang="zh-CN"/>
              <a:t>/167</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9" name="文本占位符 7"/>
          <p:cNvSpPr>
            <a:spLocks noGrp="1"/>
          </p:cNvSpPr>
          <p:nvPr>
            <p:ph type="body" idx="1"/>
          </p:nvPr>
        </p:nvSpPr>
        <p:spPr bwMode="auto">
          <a:xfrm>
            <a:off x="304800" y="1554163"/>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1" name="日期占位符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pPr>
              <a:defRPr/>
            </a:pPr>
            <a:endParaRPr lang="en-US" altLang="zh-CN"/>
          </a:p>
        </p:txBody>
      </p:sp>
      <p:sp>
        <p:nvSpPr>
          <p:cNvPr id="28" name="页脚占位符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pPr>
              <a:defRPr/>
            </a:pPr>
            <a:endParaRPr lang="en-US" altLang="zh-CN"/>
          </a:p>
        </p:txBody>
      </p:sp>
      <p:sp>
        <p:nvSpPr>
          <p:cNvPr id="5" name="灯片编号占位符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smtClean="0">
                <a:solidFill>
                  <a:schemeClr val="accent1">
                    <a:shade val="75000"/>
                  </a:schemeClr>
                </a:solidFill>
              </a:defRPr>
            </a:lvl1pPr>
          </a:lstStyle>
          <a:p>
            <a:pPr>
              <a:defRPr/>
            </a:pPr>
            <a:fld id="{FCD7685E-DBE2-460C-B645-1F8D59FAF00F}" type="slidenum">
              <a:rPr lang="en-US" altLang="zh-CN"/>
              <a:pPr>
                <a:defRPr/>
              </a:pPr>
              <a:t>‹#›</a:t>
            </a:fld>
            <a:endParaRPr lang="en-US" altLang="zh-CN"/>
          </a:p>
        </p:txBody>
      </p:sp>
      <p:sp>
        <p:nvSpPr>
          <p:cNvPr id="10" name="标题占位符 9"/>
          <p:cNvSpPr>
            <a:spLocks noGrp="1"/>
          </p:cNvSpPr>
          <p:nvPr>
            <p:ph type="title"/>
          </p:nvPr>
        </p:nvSpPr>
        <p:spPr>
          <a:xfrm>
            <a:off x="304800" y="457200"/>
            <a:ext cx="8686800" cy="838200"/>
          </a:xfrm>
          <a:prstGeom prst="rect">
            <a:avLst/>
          </a:prstGeom>
        </p:spPr>
        <p:txBody>
          <a:bodyPr vert="horz" anchor="ctr">
            <a:normAutofit/>
          </a:bodyPr>
          <a:lstStyle/>
          <a:p>
            <a:r>
              <a:rPr lang="zh-CN" altLang="en-US"/>
              <a:t>单击此处编辑母版标题样式</a:t>
            </a:r>
            <a:endParaRPr lang="en-US"/>
          </a:p>
        </p:txBody>
      </p:sp>
    </p:spTree>
  </p:cSld>
  <p:clrMap bg1="lt1" tx1="dk1" bg2="lt2" tx2="dk2" accent1="accent1" accent2="accent2" accent3="accent3" accent4="accent4" accent5="accent5" accent6="accent6" hlink="hlink" folHlink="folHlink"/>
  <p:sldLayoutIdLst>
    <p:sldLayoutId id="2147483687" r:id="rId1"/>
  </p:sldLayoutIdLst>
  <p:hf hdr="0" ftr="0" dt="0"/>
  <p:txStyles>
    <p:titleStyle>
      <a:lvl1pPr algn="l" rtl="0" fontAlgn="base">
        <a:spcBef>
          <a:spcPct val="0"/>
        </a:spcBef>
        <a:spcAft>
          <a:spcPct val="0"/>
        </a:spcAft>
        <a:defRPr sz="3600" kern="1200" cap="all">
          <a:solidFill>
            <a:schemeClr val="tx2"/>
          </a:solidFill>
          <a:effectLst>
            <a:reflection blurRad="12700" stA="48000" endA="300" endPos="55000" dir="5400000" sy="-90000" algn="bl" rotWithShape="0"/>
          </a:effectLst>
          <a:latin typeface="+mj-lt"/>
          <a:ea typeface="+mj-ea"/>
          <a:cs typeface="+mj-cs"/>
        </a:defRPr>
      </a:lvl1pPr>
      <a:lvl2pPr algn="l" rtl="0" fontAlgn="base">
        <a:spcBef>
          <a:spcPct val="0"/>
        </a:spcBef>
        <a:spcAft>
          <a:spcPct val="0"/>
        </a:spcAft>
        <a:defRPr sz="3600">
          <a:solidFill>
            <a:schemeClr val="tx2"/>
          </a:solidFill>
          <a:latin typeface="Franklin Gothic Medium" pitchFamily="34" charset="0"/>
          <a:ea typeface="隶书" pitchFamily="49" charset="-122"/>
        </a:defRPr>
      </a:lvl2pPr>
      <a:lvl3pPr algn="l" rtl="0" fontAlgn="base">
        <a:spcBef>
          <a:spcPct val="0"/>
        </a:spcBef>
        <a:spcAft>
          <a:spcPct val="0"/>
        </a:spcAft>
        <a:defRPr sz="3600">
          <a:solidFill>
            <a:schemeClr val="tx2"/>
          </a:solidFill>
          <a:latin typeface="Franklin Gothic Medium" pitchFamily="34" charset="0"/>
          <a:ea typeface="隶书" pitchFamily="49" charset="-122"/>
        </a:defRPr>
      </a:lvl3pPr>
      <a:lvl4pPr algn="l" rtl="0" fontAlgn="base">
        <a:spcBef>
          <a:spcPct val="0"/>
        </a:spcBef>
        <a:spcAft>
          <a:spcPct val="0"/>
        </a:spcAft>
        <a:defRPr sz="3600">
          <a:solidFill>
            <a:schemeClr val="tx2"/>
          </a:solidFill>
          <a:latin typeface="Franklin Gothic Medium" pitchFamily="34" charset="0"/>
          <a:ea typeface="隶书" pitchFamily="49" charset="-122"/>
        </a:defRPr>
      </a:lvl4pPr>
      <a:lvl5pPr algn="l" rtl="0" fontAlgn="base">
        <a:spcBef>
          <a:spcPct val="0"/>
        </a:spcBef>
        <a:spcAft>
          <a:spcPct val="0"/>
        </a:spcAft>
        <a:defRPr sz="3600">
          <a:solidFill>
            <a:schemeClr val="tx2"/>
          </a:solidFill>
          <a:latin typeface="Franklin Gothic Medium" pitchFamily="34" charset="0"/>
          <a:ea typeface="隶书" pitchFamily="49" charset="-122"/>
        </a:defRPr>
      </a:lvl5pPr>
      <a:lvl6pPr marL="457200" algn="l" rtl="0" fontAlgn="base">
        <a:spcBef>
          <a:spcPct val="0"/>
        </a:spcBef>
        <a:spcAft>
          <a:spcPct val="0"/>
        </a:spcAft>
        <a:defRPr sz="3600">
          <a:solidFill>
            <a:schemeClr val="tx2"/>
          </a:solidFill>
          <a:latin typeface="Franklin Gothic Medium" pitchFamily="34" charset="0"/>
          <a:ea typeface="隶书" pitchFamily="49" charset="-122"/>
        </a:defRPr>
      </a:lvl6pPr>
      <a:lvl7pPr marL="914400" algn="l" rtl="0" fontAlgn="base">
        <a:spcBef>
          <a:spcPct val="0"/>
        </a:spcBef>
        <a:spcAft>
          <a:spcPct val="0"/>
        </a:spcAft>
        <a:defRPr sz="3600">
          <a:solidFill>
            <a:schemeClr val="tx2"/>
          </a:solidFill>
          <a:latin typeface="Franklin Gothic Medium" pitchFamily="34" charset="0"/>
          <a:ea typeface="隶书" pitchFamily="49" charset="-122"/>
        </a:defRPr>
      </a:lvl7pPr>
      <a:lvl8pPr marL="1371600" algn="l" rtl="0" fontAlgn="base">
        <a:spcBef>
          <a:spcPct val="0"/>
        </a:spcBef>
        <a:spcAft>
          <a:spcPct val="0"/>
        </a:spcAft>
        <a:defRPr sz="3600">
          <a:solidFill>
            <a:schemeClr val="tx2"/>
          </a:solidFill>
          <a:latin typeface="Franklin Gothic Medium" pitchFamily="34" charset="0"/>
          <a:ea typeface="隶书" pitchFamily="49" charset="-122"/>
        </a:defRPr>
      </a:lvl8pPr>
      <a:lvl9pPr marL="1828800" algn="l" rtl="0" fontAlgn="base">
        <a:spcBef>
          <a:spcPct val="0"/>
        </a:spcBef>
        <a:spcAft>
          <a:spcPct val="0"/>
        </a:spcAft>
        <a:defRPr sz="3600">
          <a:solidFill>
            <a:schemeClr val="tx2"/>
          </a:solidFill>
          <a:latin typeface="Franklin Gothic Medium" pitchFamily="34" charset="0"/>
          <a:ea typeface="隶书" pitchFamily="49" charset="-122"/>
        </a:defRPr>
      </a:lvl9pPr>
    </p:titleStyle>
    <p:bodyStyle>
      <a:lvl1pPr marL="342900" indent="-342900" algn="l" rtl="0" fontAlgn="base">
        <a:spcBef>
          <a:spcPct val="20000"/>
        </a:spcBef>
        <a:spcAft>
          <a:spcPct val="0"/>
        </a:spcAft>
        <a:buClr>
          <a:schemeClr val="accent1"/>
        </a:buClr>
        <a:buSzPct val="70000"/>
        <a:buFont typeface="Wingdings 2" pitchFamily="18" charset="2"/>
        <a:buChar char=""/>
        <a:defRPr sz="3200" kern="1200">
          <a:solidFill>
            <a:schemeClr val="tx2"/>
          </a:solidFill>
          <a:latin typeface="+mn-lt"/>
          <a:ea typeface="+mn-ea"/>
          <a:cs typeface="+mn-cs"/>
        </a:defRPr>
      </a:lvl1pPr>
      <a:lvl2pPr marL="742950" indent="-285750" algn="l" rtl="0" fontAlgn="base">
        <a:spcBef>
          <a:spcPct val="20000"/>
        </a:spcBef>
        <a:spcAft>
          <a:spcPct val="0"/>
        </a:spcAft>
        <a:buClr>
          <a:schemeClr val="accent1"/>
        </a:buClr>
        <a:buSzPct val="70000"/>
        <a:buFont typeface="Wingdings 2" pitchFamily="18" charset="2"/>
        <a:buChar char=""/>
        <a:defRPr sz="2800" kern="1200">
          <a:solidFill>
            <a:schemeClr val="tx2"/>
          </a:solidFill>
          <a:latin typeface="+mn-lt"/>
          <a:ea typeface="+mn-ea"/>
          <a:cs typeface="+mn-cs"/>
        </a:defRPr>
      </a:lvl2pPr>
      <a:lvl3pPr marL="1143000" indent="-228600" algn="l" rtl="0" fontAlgn="base">
        <a:spcBef>
          <a:spcPct val="20000"/>
        </a:spcBef>
        <a:spcAft>
          <a:spcPct val="0"/>
        </a:spcAft>
        <a:buClr>
          <a:schemeClr val="accent1"/>
        </a:buClr>
        <a:buSzPct val="70000"/>
        <a:buFont typeface="Wingdings 2" pitchFamily="18" charset="2"/>
        <a:buChar char=""/>
        <a:defRPr sz="2400" kern="1200">
          <a:solidFill>
            <a:schemeClr val="tx2"/>
          </a:solidFill>
          <a:latin typeface="+mn-lt"/>
          <a:ea typeface="+mn-ea"/>
          <a:cs typeface="+mn-cs"/>
        </a:defRPr>
      </a:lvl3pPr>
      <a:lvl4pPr marL="1600200" indent="-228600" algn="l" rtl="0" fontAlgn="base">
        <a:spcBef>
          <a:spcPct val="20000"/>
        </a:spcBef>
        <a:spcAft>
          <a:spcPct val="0"/>
        </a:spcAft>
        <a:buClr>
          <a:schemeClr val="accent1"/>
        </a:buClr>
        <a:buSzPct val="70000"/>
        <a:buFont typeface="Wingdings 2" pitchFamily="18" charset="2"/>
        <a:buChar char=""/>
        <a:defRPr sz="2000" kern="1200">
          <a:solidFill>
            <a:schemeClr val="tx2"/>
          </a:solidFill>
          <a:latin typeface="+mn-lt"/>
          <a:ea typeface="+mn-ea"/>
          <a:cs typeface="+mn-cs"/>
        </a:defRPr>
      </a:lvl4pPr>
      <a:lvl5pPr marL="2057400" indent="-228600" algn="l" rtl="0" fontAlgn="base">
        <a:spcBef>
          <a:spcPct val="20000"/>
        </a:spcBef>
        <a:spcAft>
          <a:spcPct val="0"/>
        </a:spcAft>
        <a:buClr>
          <a:schemeClr val="accent1"/>
        </a:buClr>
        <a:buSzPct val="60000"/>
        <a:buFont typeface="Wingdings 2" pitchFamily="18" charset="2"/>
        <a:buChar char=""/>
        <a:defRPr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slide" Target="slide12.xml"/></Relationships>
</file>

<file path=ppt/slides/_rels/slide2.xml.rels><?xml version="1.0" encoding="UTF-8" standalone="yes"?>
<Relationships xmlns="http://schemas.openxmlformats.org/package/2006/relationships"><Relationship Id="rId3" Type="http://schemas.openxmlformats.org/officeDocument/2006/relationships/slide" Target="slide137.xml"/><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5.gif"/><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5.gif"/><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gif"/></Relationships>
</file>

<file path=ppt/slides/_rels/slide4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 Target="slide12.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143108" y="500042"/>
            <a:ext cx="5072098" cy="879829"/>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lnSpc>
                <a:spcPct val="100000"/>
              </a:lnSpc>
            </a:pPr>
            <a:r>
              <a:rPr lang="zh-CN" altLang="en-US" sz="4000">
                <a:ln w="11430"/>
                <a:solidFill>
                  <a:srgbClr val="FF0000"/>
                </a:solidFill>
                <a:effectLst>
                  <a:outerShdw blurRad="50800" dist="39000" dir="5460000" algn="tl">
                    <a:srgbClr val="000000">
                      <a:alpha val="38000"/>
                    </a:srgbClr>
                  </a:outerShdw>
                </a:effectLst>
                <a:latin typeface="Consolas" pitchFamily="49" charset="0"/>
                <a:ea typeface="微软雅黑" pitchFamily="34" charset="-122"/>
              </a:rPr>
              <a:t>第</a:t>
            </a:r>
            <a:r>
              <a:rPr lang="en-US" altLang="zh-CN" sz="4000">
                <a:ln w="11430"/>
                <a:solidFill>
                  <a:srgbClr val="FF0000"/>
                </a:solidFill>
                <a:effectLst>
                  <a:outerShdw blurRad="50800" dist="39000" dir="5460000" algn="tl">
                    <a:srgbClr val="000000">
                      <a:alpha val="38000"/>
                    </a:srgbClr>
                  </a:outerShdw>
                </a:effectLst>
                <a:latin typeface="Consolas" pitchFamily="49" charset="0"/>
                <a:ea typeface="微软雅黑" pitchFamily="34" charset="-122"/>
              </a:rPr>
              <a:t>10</a:t>
            </a:r>
            <a:r>
              <a:rPr lang="zh-CN" altLang="en-US" sz="4000">
                <a:ln w="11430"/>
                <a:solidFill>
                  <a:srgbClr val="FF0000"/>
                </a:solidFill>
                <a:effectLst>
                  <a:outerShdw blurRad="50800" dist="39000" dir="5460000" algn="tl">
                    <a:srgbClr val="000000">
                      <a:alpha val="38000"/>
                    </a:srgbClr>
                  </a:outerShdw>
                </a:effectLst>
                <a:latin typeface="Consolas" pitchFamily="49" charset="0"/>
                <a:ea typeface="微软雅黑" pitchFamily="34" charset="-122"/>
              </a:rPr>
              <a:t>章</a:t>
            </a:r>
            <a:r>
              <a:rPr lang="en-US" altLang="zh-CN" sz="4000">
                <a:ln w="11430"/>
                <a:solidFill>
                  <a:srgbClr val="FF0000"/>
                </a:solidFill>
                <a:effectLst>
                  <a:outerShdw blurRad="50800" dist="39000" dir="5460000" algn="tl">
                    <a:srgbClr val="000000">
                      <a:alpha val="38000"/>
                    </a:srgbClr>
                  </a:outerShdw>
                </a:effectLst>
                <a:latin typeface="Consolas" pitchFamily="49" charset="0"/>
                <a:ea typeface="微软雅黑" pitchFamily="34" charset="-122"/>
              </a:rPr>
              <a:t>—</a:t>
            </a:r>
            <a:r>
              <a:rPr lang="zh-CN" altLang="en-US" sz="4000">
                <a:ln w="11430"/>
                <a:solidFill>
                  <a:srgbClr val="FF0000"/>
                </a:solidFill>
                <a:effectLst>
                  <a:outerShdw blurRad="50800" dist="39000" dir="5460000" algn="tl">
                    <a:srgbClr val="000000">
                      <a:alpha val="38000"/>
                    </a:srgbClr>
                  </a:outerShdw>
                </a:effectLst>
                <a:latin typeface="Consolas" pitchFamily="49" charset="0"/>
                <a:ea typeface="微软雅黑" pitchFamily="34" charset="-122"/>
              </a:rPr>
              <a:t>计算几何</a:t>
            </a:r>
          </a:p>
        </p:txBody>
      </p:sp>
      <p:sp>
        <p:nvSpPr>
          <p:cNvPr id="10" name="TextBox 9">
            <a:hlinkClick r:id="rId3" action="ppaction://hlinksldjump"/>
          </p:cNvPr>
          <p:cNvSpPr txBox="1"/>
          <p:nvPr/>
        </p:nvSpPr>
        <p:spPr>
          <a:xfrm>
            <a:off x="3175338" y="2438751"/>
            <a:ext cx="446849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10.1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向量运算</a:t>
            </a:r>
          </a:p>
        </p:txBody>
      </p:sp>
      <p:sp>
        <p:nvSpPr>
          <p:cNvPr id="11" name="TextBox 10">
            <a:hlinkClick r:id="rId4" action="ppaction://hlinksldjump"/>
          </p:cNvPr>
          <p:cNvSpPr txBox="1"/>
          <p:nvPr/>
        </p:nvSpPr>
        <p:spPr>
          <a:xfrm>
            <a:off x="3175338" y="3357562"/>
            <a:ext cx="446849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10.2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凸包问题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grpSp>
        <p:nvGrpSpPr>
          <p:cNvPr id="12" name="组合 79"/>
          <p:cNvGrpSpPr>
            <a:grpSpLocks/>
          </p:cNvGrpSpPr>
          <p:nvPr/>
        </p:nvGrpSpPr>
        <p:grpSpPr bwMode="auto">
          <a:xfrm>
            <a:off x="571472" y="2679762"/>
            <a:ext cx="2160000" cy="2177998"/>
            <a:chOff x="6379728" y="2488774"/>
            <a:chExt cx="2513016" cy="2533955"/>
          </a:xfrm>
        </p:grpSpPr>
        <p:sp>
          <p:nvSpPr>
            <p:cNvPr id="13"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a:ea typeface="宋体"/>
              </a:endParaRPr>
            </a:p>
          </p:txBody>
        </p:sp>
        <p:sp>
          <p:nvSpPr>
            <p:cNvPr id="14"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a:solidFill>
                  <a:srgbClr val="FFFFFF"/>
                </a:solidFill>
              </a:endParaRPr>
            </a:p>
          </p:txBody>
        </p:sp>
      </p:grpSp>
      <p:sp>
        <p:nvSpPr>
          <p:cNvPr id="15" name="文本框 20"/>
          <p:cNvSpPr txBox="1">
            <a:spLocks noChangeArrowheads="1"/>
          </p:cNvSpPr>
          <p:nvPr/>
        </p:nvSpPr>
        <p:spPr bwMode="auto">
          <a:xfrm>
            <a:off x="822994" y="3789539"/>
            <a:ext cx="16787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en-US" altLang="zh-CN" sz="2000" b="1" dirty="0">
                <a:solidFill>
                  <a:srgbClr val="9900FF"/>
                </a:solidFill>
              </a:rPr>
              <a:t>CONTENTS</a:t>
            </a:r>
            <a:endParaRPr lang="zh-CN" altLang="en-US" sz="2000" b="1" dirty="0">
              <a:solidFill>
                <a:srgbClr val="9900FF"/>
              </a:solidFill>
            </a:endParaRPr>
          </a:p>
        </p:txBody>
      </p:sp>
      <p:sp>
        <p:nvSpPr>
          <p:cNvPr id="16" name="文本框 20"/>
          <p:cNvSpPr txBox="1">
            <a:spLocks noChangeArrowheads="1"/>
          </p:cNvSpPr>
          <p:nvPr/>
        </p:nvSpPr>
        <p:spPr bwMode="auto">
          <a:xfrm>
            <a:off x="967010" y="3109529"/>
            <a:ext cx="14122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zh-CN" altLang="en-US" sz="3200" b="1" dirty="0">
                <a:solidFill>
                  <a:srgbClr val="008000"/>
                </a:solidFill>
              </a:rPr>
              <a:t>提纲</a:t>
            </a:r>
          </a:p>
        </p:txBody>
      </p:sp>
      <p:sp>
        <p:nvSpPr>
          <p:cNvPr id="17" name="TextBox 16">
            <a:hlinkClick r:id="rId4" action="ppaction://hlinksldjump"/>
          </p:cNvPr>
          <p:cNvSpPr txBox="1"/>
          <p:nvPr/>
        </p:nvSpPr>
        <p:spPr>
          <a:xfrm>
            <a:off x="3175338" y="4296139"/>
            <a:ext cx="446849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10.3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最近点对问题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18" name="TextBox 17">
            <a:hlinkClick r:id="rId4" action="ppaction://hlinksldjump"/>
          </p:cNvPr>
          <p:cNvSpPr txBox="1"/>
          <p:nvPr/>
        </p:nvSpPr>
        <p:spPr>
          <a:xfrm>
            <a:off x="3175338" y="5286388"/>
            <a:ext cx="446849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10.4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最</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远</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点对问题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19" name="灯片编号占位符 18"/>
          <p:cNvSpPr>
            <a:spLocks noGrp="1"/>
          </p:cNvSpPr>
          <p:nvPr>
            <p:ph type="sldNum" sz="quarter" idx="12"/>
          </p:nvPr>
        </p:nvSpPr>
        <p:spPr/>
        <p:txBody>
          <a:bodyPr/>
          <a:lstStyle/>
          <a:p>
            <a:pPr>
              <a:defRPr/>
            </a:pPr>
            <a:fld id="{51116183-1013-4E64-BBE8-A5C1D5D4F838}" type="slidenum">
              <a:rPr lang="en-US" altLang="zh-CN" smtClean="0"/>
              <a:pPr>
                <a:defRPr/>
              </a:pPr>
              <a:t>1</a:t>
            </a:fld>
            <a:r>
              <a:rPr lang="en-US" altLang="zh-CN"/>
              <a:t>/167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ext Box 5"/>
          <p:cNvSpPr txBox="1">
            <a:spLocks noChangeArrowheads="1"/>
          </p:cNvSpPr>
          <p:nvPr/>
        </p:nvSpPr>
        <p:spPr bwMode="auto">
          <a:xfrm>
            <a:off x="468313" y="1599989"/>
            <a:ext cx="8207375" cy="1400383"/>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nSpc>
                <a:spcPts val="3400"/>
              </a:lnSpc>
              <a:spcBef>
                <a:spcPts val="0"/>
              </a:spcBef>
              <a:buBlip>
                <a:blip r:embed="rId2"/>
              </a:buBlip>
            </a:pPr>
            <a:r>
              <a:rPr lang="zh-CN" altLang="en-US">
                <a:solidFill>
                  <a:srgbClr val="0000FF"/>
                </a:solidFill>
                <a:latin typeface="Consolas" pitchFamily="49" charset="0"/>
                <a:ea typeface="仿宋" pitchFamily="49" charset="-122"/>
                <a:cs typeface="Consolas" pitchFamily="49" charset="0"/>
              </a:rPr>
              <a:t>在</a:t>
            </a:r>
            <a:r>
              <a:rPr lang="zh-CN" altLang="en-US" dirty="0">
                <a:solidFill>
                  <a:srgbClr val="0000FF"/>
                </a:solidFill>
                <a:latin typeface="Consolas" pitchFamily="49" charset="0"/>
                <a:ea typeface="仿宋" pitchFamily="49" charset="-122"/>
                <a:cs typeface="Consolas" pitchFamily="49" charset="0"/>
              </a:rPr>
              <a:t>二维空间（即平面</a:t>
            </a:r>
            <a:r>
              <a:rPr lang="zh-CN" altLang="en-US">
                <a:solidFill>
                  <a:srgbClr val="0000FF"/>
                </a:solidFill>
                <a:latin typeface="Consolas" pitchFamily="49" charset="0"/>
                <a:ea typeface="仿宋" pitchFamily="49" charset="-122"/>
                <a:cs typeface="Consolas" pitchFamily="49" charset="0"/>
              </a:rPr>
              <a:t>上），每</a:t>
            </a:r>
            <a:r>
              <a:rPr lang="zh-CN" altLang="en-US" dirty="0">
                <a:solidFill>
                  <a:srgbClr val="0000FF"/>
                </a:solidFill>
                <a:latin typeface="Consolas" pitchFamily="49" charset="0"/>
                <a:ea typeface="仿宋" pitchFamily="49" charset="-122"/>
                <a:cs typeface="Consolas" pitchFamily="49" charset="0"/>
              </a:rPr>
              <a:t>个输入对象都用一组点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宋体" pitchFamily="2" charset="-122"/>
                <a:ea typeface="宋体" pitchFamily="2"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i="1" baseline="-25000">
                <a:solidFill>
                  <a:srgbClr val="0000FF"/>
                </a:solidFill>
                <a:latin typeface="Consolas" pitchFamily="49" charset="0"/>
                <a:ea typeface="仿宋" pitchFamily="49" charset="-122"/>
                <a:cs typeface="Consolas" pitchFamily="49" charset="0"/>
              </a:rPr>
              <a:t>n</a:t>
            </a:r>
            <a:r>
              <a:rPr lang="en-US" altLang="zh-CN" dirty="0">
                <a:solidFill>
                  <a:srgbClr val="0000FF"/>
                </a:solidFill>
                <a:latin typeface="Consolas" pitchFamily="49" charset="0"/>
                <a:ea typeface="仿宋" pitchFamily="49" charset="-122"/>
                <a:cs typeface="Consolas" pitchFamily="49" charset="0"/>
              </a:rPr>
              <a:t>}</a:t>
            </a:r>
            <a:r>
              <a:rPr lang="zh-CN" altLang="en-US" dirty="0">
                <a:solidFill>
                  <a:srgbClr val="0000FF"/>
                </a:solidFill>
                <a:latin typeface="Consolas" pitchFamily="49" charset="0"/>
                <a:ea typeface="仿宋" pitchFamily="49" charset="-122"/>
                <a:cs typeface="Consolas" pitchFamily="49" charset="0"/>
              </a:rPr>
              <a:t>来</a:t>
            </a:r>
            <a:r>
              <a:rPr lang="zh-CN" altLang="en-US">
                <a:solidFill>
                  <a:srgbClr val="0000FF"/>
                </a:solidFill>
                <a:latin typeface="Consolas" pitchFamily="49" charset="0"/>
                <a:ea typeface="仿宋" pitchFamily="49" charset="-122"/>
                <a:cs typeface="Consolas" pitchFamily="49" charset="0"/>
              </a:rPr>
              <a:t>表示，其</a:t>
            </a:r>
            <a:r>
              <a:rPr lang="zh-CN" altLang="en-US" dirty="0">
                <a:solidFill>
                  <a:srgbClr val="0000FF"/>
                </a:solidFill>
                <a:latin typeface="Consolas" pitchFamily="49" charset="0"/>
                <a:ea typeface="仿宋" pitchFamily="49" charset="-122"/>
                <a:cs typeface="Consolas" pitchFamily="49" charset="0"/>
              </a:rPr>
              <a:t>中每个</a:t>
            </a:r>
            <a:r>
              <a:rPr lang="en-US" altLang="zh-CN" dirty="0">
                <a:solidFill>
                  <a:srgbClr val="0000FF"/>
                </a:solidFill>
                <a:latin typeface="Consolas" pitchFamily="49" charset="0"/>
                <a:ea typeface="仿宋" pitchFamily="49" charset="-122"/>
                <a:cs typeface="Consolas" pitchFamily="49" charset="0"/>
              </a:rPr>
              <a:t>p</a:t>
            </a:r>
            <a:r>
              <a:rPr lang="en-US" altLang="zh-CN" i="1" baseline="-25000" dirty="0">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x</a:t>
            </a:r>
            <a:r>
              <a:rPr lang="en-US" altLang="zh-CN" i="1" baseline="-25000">
                <a:solidFill>
                  <a:srgbClr val="0000FF"/>
                </a:solidFill>
                <a:latin typeface="Consolas" pitchFamily="49" charset="0"/>
                <a:ea typeface="仿宋" pitchFamily="49" charset="-122"/>
                <a:cs typeface="Consolas" pitchFamily="49" charset="0"/>
              </a:rPr>
              <a:t>i</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y</a:t>
            </a:r>
            <a:r>
              <a:rPr lang="en-US" altLang="zh-CN" i="1" baseline="-25000">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x</a:t>
            </a:r>
            <a:r>
              <a:rPr lang="en-US" altLang="zh-CN" i="1" baseline="-25000">
                <a:solidFill>
                  <a:srgbClr val="0000FF"/>
                </a:solidFill>
                <a:latin typeface="Consolas" pitchFamily="49" charset="0"/>
                <a:ea typeface="仿宋" pitchFamily="49" charset="-122"/>
                <a:cs typeface="Consolas" pitchFamily="49" charset="0"/>
              </a:rPr>
              <a:t>i</a:t>
            </a:r>
            <a:r>
              <a:rPr lang="zh-CN" altLang="en-US" dirty="0">
                <a:solidFill>
                  <a:srgbClr val="0000FF"/>
                </a:solidFill>
                <a:latin typeface="Consolas" pitchFamily="49" charset="0"/>
                <a:ea typeface="仿宋" pitchFamily="49" charset="-122"/>
                <a:cs typeface="Consolas" pitchFamily="49" charset="0"/>
              </a:rPr>
              <a:t>、</a:t>
            </a:r>
            <a:r>
              <a:rPr lang="en-US" altLang="zh-CN" i="1" dirty="0" err="1">
                <a:solidFill>
                  <a:srgbClr val="0000FF"/>
                </a:solidFill>
                <a:latin typeface="Consolas" pitchFamily="49" charset="0"/>
                <a:ea typeface="仿宋" pitchFamily="49" charset="-122"/>
                <a:cs typeface="Consolas" pitchFamily="49" charset="0"/>
              </a:rPr>
              <a:t>y</a:t>
            </a:r>
            <a:r>
              <a:rPr lang="en-US" altLang="zh-CN" i="1" baseline="-25000" dirty="0" err="1">
                <a:solidFill>
                  <a:srgbClr val="0000FF"/>
                </a:solidFill>
                <a:latin typeface="Consolas" pitchFamily="49" charset="0"/>
                <a:ea typeface="仿宋" pitchFamily="49" charset="-122"/>
                <a:cs typeface="Consolas" pitchFamily="49" charset="0"/>
              </a:rPr>
              <a:t>i</a:t>
            </a:r>
            <a:r>
              <a:rPr lang="zh-CN" altLang="en-US" dirty="0">
                <a:solidFill>
                  <a:srgbClr val="0000FF"/>
                </a:solidFill>
                <a:latin typeface="Consolas" pitchFamily="49" charset="0"/>
                <a:ea typeface="仿宋" pitchFamily="49" charset="-122"/>
                <a:cs typeface="Consolas" pitchFamily="49" charset="0"/>
              </a:rPr>
              <a:t>分别是点</a:t>
            </a:r>
            <a:r>
              <a:rPr lang="en-US" altLang="zh-CN" dirty="0">
                <a:solidFill>
                  <a:srgbClr val="0000FF"/>
                </a:solidFill>
                <a:latin typeface="Consolas" pitchFamily="49" charset="0"/>
                <a:ea typeface="仿宋" pitchFamily="49" charset="-122"/>
                <a:cs typeface="Consolas" pitchFamily="49" charset="0"/>
              </a:rPr>
              <a:t>p</a:t>
            </a:r>
            <a:r>
              <a:rPr lang="en-US" altLang="zh-CN" i="1" baseline="-25000" dirty="0">
                <a:solidFill>
                  <a:srgbClr val="0000FF"/>
                </a:solidFill>
                <a:latin typeface="Consolas" pitchFamily="49" charset="0"/>
                <a:ea typeface="仿宋" pitchFamily="49" charset="-122"/>
                <a:cs typeface="Consolas" pitchFamily="49" charset="0"/>
              </a:rPr>
              <a:t>i</a:t>
            </a:r>
            <a:r>
              <a:rPr lang="zh-CN" altLang="en-US" dirty="0">
                <a:solidFill>
                  <a:srgbClr val="0000FF"/>
                </a:solidFill>
                <a:latin typeface="Consolas" pitchFamily="49" charset="0"/>
                <a:ea typeface="仿宋" pitchFamily="49" charset="-122"/>
                <a:cs typeface="Consolas" pitchFamily="49" charset="0"/>
              </a:rPr>
              <a:t>的行列</a:t>
            </a:r>
            <a:r>
              <a:rPr lang="zh-CN" altLang="en-US">
                <a:solidFill>
                  <a:srgbClr val="0000FF"/>
                </a:solidFill>
                <a:latin typeface="Consolas" pitchFamily="49" charset="0"/>
                <a:ea typeface="仿宋" pitchFamily="49" charset="-122"/>
                <a:cs typeface="Consolas" pitchFamily="49" charset="0"/>
              </a:rPr>
              <a:t>坐标，用</a:t>
            </a:r>
            <a:r>
              <a:rPr lang="zh-CN" altLang="en-US" dirty="0">
                <a:solidFill>
                  <a:srgbClr val="0000FF"/>
                </a:solidFill>
                <a:latin typeface="Consolas" pitchFamily="49" charset="0"/>
                <a:ea typeface="仿宋" pitchFamily="49" charset="-122"/>
                <a:cs typeface="Consolas" pitchFamily="49" charset="0"/>
              </a:rPr>
              <a:t>实数表示。</a:t>
            </a:r>
          </a:p>
        </p:txBody>
      </p:sp>
      <p:cxnSp>
        <p:nvCxnSpPr>
          <p:cNvPr id="6" name="直接箭头连接符 5"/>
          <p:cNvCxnSpPr/>
          <p:nvPr/>
        </p:nvCxnSpPr>
        <p:spPr>
          <a:xfrm flipV="1">
            <a:off x="2571736" y="3857628"/>
            <a:ext cx="1928826" cy="128588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 name="TextBox 6"/>
          <p:cNvSpPr txBox="1"/>
          <p:nvPr/>
        </p:nvSpPr>
        <p:spPr>
          <a:xfrm>
            <a:off x="4500562" y="3571876"/>
            <a:ext cx="1571636" cy="400110"/>
          </a:xfrm>
          <a:prstGeom prst="rect">
            <a:avLst/>
          </a:prstGeom>
          <a:noFill/>
        </p:spPr>
        <p:txBody>
          <a:bodyPr wrap="square" rtlCol="0">
            <a:spAutoFit/>
          </a:bodyPr>
          <a:lstStyle/>
          <a:p>
            <a:r>
              <a:rPr lang="en-US" altLang="zh-CN" sz="2000">
                <a:solidFill>
                  <a:srgbClr val="0000FF"/>
                </a:solidFill>
                <a:latin typeface="Consolas" pitchFamily="49" charset="0"/>
                <a:ea typeface="楷体" pitchFamily="49" charset="-122"/>
                <a:cs typeface="Consolas" pitchFamily="49" charset="0"/>
              </a:rPr>
              <a:t>p</a:t>
            </a:r>
            <a:r>
              <a:rPr lang="en-US" altLang="zh-CN" sz="2000" i="1" baseline="-25000">
                <a:solidFill>
                  <a:srgbClr val="0000FF"/>
                </a:solidFill>
                <a:latin typeface="Consolas" pitchFamily="49" charset="0"/>
                <a:ea typeface="楷体" pitchFamily="49" charset="-122"/>
                <a:cs typeface="Consolas" pitchFamily="49" charset="0"/>
              </a:rPr>
              <a:t>i</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x</a:t>
            </a:r>
            <a:r>
              <a:rPr lang="en-US" altLang="zh-CN" sz="2000" i="1" baseline="-25000">
                <a:solidFill>
                  <a:srgbClr val="0000FF"/>
                </a:solidFill>
                <a:latin typeface="Consolas" pitchFamily="49" charset="0"/>
                <a:ea typeface="楷体" pitchFamily="49" charset="-122"/>
                <a:cs typeface="Consolas" pitchFamily="49" charset="0"/>
              </a:rPr>
              <a:t>i</a:t>
            </a:r>
            <a:r>
              <a:rPr lang="zh-CN" altLang="en-US"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y</a:t>
            </a:r>
            <a:r>
              <a:rPr lang="en-US" altLang="zh-CN" sz="2000" i="1" baseline="-25000">
                <a:solidFill>
                  <a:srgbClr val="0000FF"/>
                </a:solidFill>
                <a:latin typeface="Consolas" pitchFamily="49" charset="0"/>
                <a:ea typeface="楷体" pitchFamily="49" charset="-122"/>
                <a:cs typeface="Consolas" pitchFamily="49" charset="0"/>
              </a:rPr>
              <a:t>i</a:t>
            </a:r>
            <a:r>
              <a:rPr lang="en-US" altLang="zh-CN" sz="2000">
                <a:solidFill>
                  <a:srgbClr val="0000FF"/>
                </a:solidFill>
                <a:latin typeface="Consolas" pitchFamily="49" charset="0"/>
                <a:ea typeface="楷体" pitchFamily="49" charset="-122"/>
                <a:cs typeface="Consolas" pitchFamily="49" charset="0"/>
              </a:rPr>
              <a:t>)</a:t>
            </a:r>
            <a:endParaRPr lang="zh-CN" altLang="en-US" sz="2000">
              <a:latin typeface="Consolas" pitchFamily="49" charset="0"/>
              <a:cs typeface="Consolas" pitchFamily="49" charset="0"/>
            </a:endParaRPr>
          </a:p>
        </p:txBody>
      </p:sp>
      <p:sp>
        <p:nvSpPr>
          <p:cNvPr id="8" name="TextBox 7"/>
          <p:cNvSpPr txBox="1"/>
          <p:nvPr/>
        </p:nvSpPr>
        <p:spPr>
          <a:xfrm>
            <a:off x="2071670" y="5143512"/>
            <a:ext cx="1143008" cy="400110"/>
          </a:xfrm>
          <a:prstGeom prst="rect">
            <a:avLst/>
          </a:prstGeom>
          <a:noFill/>
        </p:spPr>
        <p:txBody>
          <a:bodyPr wrap="square" rtlCol="0">
            <a:spAutoFit/>
          </a:bodyPr>
          <a:lstStyle/>
          <a:p>
            <a:r>
              <a:rPr lang="en-US" altLang="zh-CN" sz="2000">
                <a:solidFill>
                  <a:srgbClr val="0000FF"/>
                </a:solidFill>
                <a:latin typeface="Consolas" pitchFamily="49" charset="0"/>
                <a:ea typeface="楷体" pitchFamily="49" charset="-122"/>
                <a:cs typeface="Consolas" pitchFamily="49" charset="0"/>
              </a:rPr>
              <a:t>(0</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0)</a:t>
            </a:r>
            <a:endParaRPr lang="zh-CN" altLang="en-US" sz="2000">
              <a:latin typeface="Consolas" pitchFamily="49" charset="0"/>
              <a:cs typeface="Consolas" pitchFamily="49" charset="0"/>
            </a:endParaRPr>
          </a:p>
        </p:txBody>
      </p:sp>
      <p:sp>
        <p:nvSpPr>
          <p:cNvPr id="10" name="TextBox 9">
            <a:hlinkClick r:id="rId3" action="ppaction://hlinksldjump"/>
          </p:cNvPr>
          <p:cNvSpPr txBox="1"/>
          <p:nvPr/>
        </p:nvSpPr>
        <p:spPr>
          <a:xfrm>
            <a:off x="2571736" y="428604"/>
            <a:ext cx="3643338"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10.1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向量运算</a:t>
            </a:r>
          </a:p>
        </p:txBody>
      </p:sp>
      <p:sp>
        <p:nvSpPr>
          <p:cNvPr id="11" name="灯片编号占位符 10"/>
          <p:cNvSpPr>
            <a:spLocks noGrp="1"/>
          </p:cNvSpPr>
          <p:nvPr>
            <p:ph type="sldNum" sz="quarter" idx="12"/>
          </p:nvPr>
        </p:nvSpPr>
        <p:spPr/>
        <p:txBody>
          <a:bodyPr/>
          <a:lstStyle/>
          <a:p>
            <a:pPr>
              <a:defRPr/>
            </a:pPr>
            <a:fld id="{51116183-1013-4E64-BBE8-A5C1D5D4F838}" type="slidenum">
              <a:rPr lang="en-US" altLang="zh-CN" smtClean="0"/>
              <a:pPr>
                <a:defRPr/>
              </a:pPr>
              <a:t>2</a:t>
            </a:fld>
            <a:r>
              <a:rPr lang="en-US" altLang="zh-CN"/>
              <a:t>/167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395289" y="395567"/>
            <a:ext cx="3319456" cy="461665"/>
          </a:xfrm>
          <a:prstGeom prst="rect">
            <a:avLst/>
          </a:prstGeom>
          <a:noFill/>
          <a:ln w="9525">
            <a:noFill/>
            <a:miter lim="800000"/>
            <a:headEnd/>
            <a:tailEnd/>
          </a:ln>
        </p:spPr>
        <p:txBody>
          <a:bodyPr wrap="square">
            <a:spAutoFit/>
          </a:bodyPr>
          <a:lstStyle/>
          <a:p>
            <a:pPr>
              <a:spcBef>
                <a:spcPct val="50000"/>
              </a:spcBef>
            </a:pPr>
            <a:r>
              <a:rPr lang="zh-CN" altLang="en-US">
                <a:solidFill>
                  <a:srgbClr val="0000FF"/>
                </a:solidFill>
                <a:latin typeface="Consolas" pitchFamily="49" charset="0"/>
                <a:ea typeface="仿宋" pitchFamily="49" charset="-122"/>
                <a:cs typeface="Consolas" pitchFamily="49" charset="0"/>
              </a:rPr>
              <a:t>设计点类</a:t>
            </a:r>
            <a:r>
              <a:rPr lang="en-US" altLang="zh-CN">
                <a:solidFill>
                  <a:srgbClr val="FF0000"/>
                </a:solidFill>
                <a:latin typeface="Consolas" pitchFamily="49" charset="0"/>
                <a:ea typeface="仿宋" pitchFamily="49" charset="-122"/>
                <a:cs typeface="Consolas" pitchFamily="49" charset="0"/>
              </a:rPr>
              <a:t>Point</a:t>
            </a:r>
            <a:r>
              <a:rPr lang="zh-CN" altLang="en-US">
                <a:solidFill>
                  <a:srgbClr val="0000FF"/>
                </a:solidFill>
                <a:latin typeface="Consolas" pitchFamily="49" charset="0"/>
                <a:ea typeface="仿宋" pitchFamily="49" charset="-122"/>
                <a:cs typeface="Consolas" pitchFamily="49" charset="0"/>
              </a:rPr>
              <a:t>如下：</a:t>
            </a:r>
          </a:p>
        </p:txBody>
      </p:sp>
      <p:sp>
        <p:nvSpPr>
          <p:cNvPr id="5" name="TextBox 4"/>
          <p:cNvSpPr txBox="1"/>
          <p:nvPr/>
        </p:nvSpPr>
        <p:spPr>
          <a:xfrm>
            <a:off x="357158" y="1071546"/>
            <a:ext cx="8572560" cy="452698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defTabSz="360000">
              <a:lnSpc>
                <a:spcPts val="2700"/>
              </a:lnSpc>
            </a:pPr>
            <a:r>
              <a:rPr lang="en-US" altLang="zh-CN" sz="2000">
                <a:solidFill>
                  <a:srgbClr val="0000FF"/>
                </a:solidFill>
                <a:latin typeface="Consolas" pitchFamily="49" charset="0"/>
                <a:ea typeface="仿宋" pitchFamily="49" charset="-122"/>
              </a:rPr>
              <a:t>class </a:t>
            </a:r>
            <a:r>
              <a:rPr lang="en-US" altLang="zh-CN" sz="2000">
                <a:solidFill>
                  <a:srgbClr val="FF0000"/>
                </a:solidFill>
                <a:latin typeface="Consolas" pitchFamily="49" charset="0"/>
                <a:ea typeface="仿宋" pitchFamily="49" charset="-122"/>
              </a:rPr>
              <a:t>Point</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点类</a:t>
            </a:r>
          </a:p>
          <a:p>
            <a:pPr defTabSz="360000">
              <a:lnSpc>
                <a:spcPts val="2700"/>
              </a:lnSpc>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double 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行坐标</a:t>
            </a:r>
          </a:p>
          <a:p>
            <a:pPr defTabSz="360000">
              <a:lnSpc>
                <a:spcPts val="2700"/>
              </a:lnSpc>
            </a:pPr>
            <a:r>
              <a:rPr lang="en-US" altLang="zh-CN" sz="2000">
                <a:solidFill>
                  <a:srgbClr val="0000FF"/>
                </a:solidFill>
                <a:latin typeface="Consolas" pitchFamily="49" charset="0"/>
                <a:ea typeface="仿宋" pitchFamily="49" charset="-122"/>
              </a:rPr>
              <a:t>	double y;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列坐标</a:t>
            </a:r>
          </a:p>
          <a:p>
            <a:pPr defTabSz="360000">
              <a:lnSpc>
                <a:spcPts val="2700"/>
              </a:lnSpc>
              <a:spcBef>
                <a:spcPts val="1200"/>
              </a:spcBef>
            </a:pPr>
            <a:r>
              <a:rPr lang="en-US" altLang="zh-CN" sz="2000">
                <a:solidFill>
                  <a:srgbClr val="0000FF"/>
                </a:solidFill>
                <a:latin typeface="Consolas" pitchFamily="49" charset="0"/>
                <a:ea typeface="仿宋" pitchFamily="49" charset="-122"/>
              </a:rPr>
              <a:t>	Point()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默认构造函数</a:t>
            </a:r>
          </a:p>
          <a:p>
            <a:pPr defTabSz="360000">
              <a:lnSpc>
                <a:spcPts val="2700"/>
              </a:lnSpc>
            </a:pPr>
            <a:r>
              <a:rPr lang="en-US" altLang="zh-CN" sz="2000">
                <a:solidFill>
                  <a:srgbClr val="0000FF"/>
                </a:solidFill>
                <a:latin typeface="Consolas" pitchFamily="49" charset="0"/>
                <a:ea typeface="仿宋" pitchFamily="49" charset="-122"/>
              </a:rPr>
              <a:t>	Point(double x1,double y1)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重载构造函数</a:t>
            </a:r>
          </a:p>
          <a:p>
            <a:pPr defTabSz="360000">
              <a:lnSpc>
                <a:spcPts val="2700"/>
              </a:lnSpc>
            </a:pPr>
            <a:r>
              <a:rPr lang="en-US" altLang="zh-CN" sz="2000">
                <a:solidFill>
                  <a:srgbClr val="0000FF"/>
                </a:solidFill>
                <a:latin typeface="Consolas" pitchFamily="49" charset="0"/>
                <a:ea typeface="仿宋" pitchFamily="49" charset="-122"/>
              </a:rPr>
              <a:t>		x=x1;</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y=y1;</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void </a:t>
            </a:r>
            <a:r>
              <a:rPr lang="en-US" altLang="zh-CN" sz="2000">
                <a:solidFill>
                  <a:srgbClr val="FF0000"/>
                </a:solidFill>
                <a:latin typeface="Consolas" pitchFamily="49" charset="0"/>
                <a:ea typeface="仿宋" pitchFamily="49" charset="-122"/>
              </a:rPr>
              <a:t>disp</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输出向量</a:t>
            </a:r>
          </a:p>
          <a:p>
            <a:pPr defTabSz="360000">
              <a:lnSpc>
                <a:spcPts val="2700"/>
              </a:lnSpc>
            </a:pPr>
            <a:r>
              <a:rPr lang="en-US" altLang="zh-CN" sz="2000">
                <a:solidFill>
                  <a:srgbClr val="0000FF"/>
                </a:solidFill>
                <a:latin typeface="Consolas" pitchFamily="49" charset="0"/>
                <a:ea typeface="仿宋" pitchFamily="49" charset="-122"/>
              </a:rPr>
              <a:t>		printf("(%g,%g) ",x,y);</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pPr>
              <a:defRPr/>
            </a:pPr>
            <a:fld id="{51116183-1013-4E64-BBE8-A5C1D5D4F838}" type="slidenum">
              <a:rPr lang="en-US" altLang="zh-CN" smtClean="0"/>
              <a:pPr>
                <a:defRPr/>
              </a:pPr>
              <a:t>3</a:t>
            </a:fld>
            <a:r>
              <a:rPr lang="en-US" altLang="zh-CN"/>
              <a:t>/167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432440"/>
            <a:ext cx="8572560" cy="452698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defTabSz="360000">
              <a:lnSpc>
                <a:spcPts val="2800"/>
              </a:lnSpc>
            </a:pPr>
            <a:r>
              <a:rPr lang="en-US" altLang="zh-CN" sz="2000">
                <a:solidFill>
                  <a:srgbClr val="0000FF"/>
                </a:solidFill>
                <a:latin typeface="Consolas" pitchFamily="49" charset="0"/>
                <a:ea typeface="仿宋" pitchFamily="49" charset="-122"/>
              </a:rPr>
              <a:t>friend bool operator</a:t>
            </a:r>
            <a:r>
              <a:rPr lang="en-US" altLang="zh-CN" sz="2000">
                <a:solidFill>
                  <a:srgbClr val="FF0000"/>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(Point &amp;p1,Point &amp;p2);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重载</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friend Point operator</a:t>
            </a:r>
            <a:r>
              <a:rPr lang="en-US" altLang="zh-CN" sz="2000">
                <a:solidFill>
                  <a:srgbClr val="FF0000"/>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(Point &amp;p1,Point &amp;p2);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重载</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friend Point operator</a:t>
            </a:r>
            <a:r>
              <a:rPr lang="en-US" altLang="zh-CN" sz="2000">
                <a:solidFill>
                  <a:srgbClr val="FF0000"/>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(Point &amp;p1,Point &amp;p2);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重载</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friend double </a:t>
            </a:r>
            <a:r>
              <a:rPr lang="en-US" altLang="zh-CN" sz="2000">
                <a:solidFill>
                  <a:srgbClr val="FF0000"/>
                </a:solidFill>
                <a:latin typeface="Consolas" pitchFamily="49" charset="0"/>
                <a:ea typeface="仿宋" pitchFamily="49" charset="-122"/>
              </a:rPr>
              <a:t>Dot</a:t>
            </a:r>
            <a:r>
              <a:rPr lang="en-US" altLang="zh-CN" sz="2000">
                <a:solidFill>
                  <a:srgbClr val="0000FF"/>
                </a:solidFill>
                <a:latin typeface="Consolas" pitchFamily="49" charset="0"/>
                <a:ea typeface="仿宋" pitchFamily="49" charset="-122"/>
              </a:rPr>
              <a:t>(Point p1,Point p2);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两个向量的点积</a:t>
            </a:r>
          </a:p>
          <a:p>
            <a:pPr defTabSz="360000">
              <a:lnSpc>
                <a:spcPts val="2800"/>
              </a:lnSpc>
            </a:pPr>
            <a:r>
              <a:rPr lang="en-US" altLang="zh-CN" sz="2000">
                <a:solidFill>
                  <a:srgbClr val="0000FF"/>
                </a:solidFill>
                <a:latin typeface="Consolas" pitchFamily="49" charset="0"/>
                <a:ea typeface="仿宋" pitchFamily="49" charset="-122"/>
              </a:rPr>
              <a:t>friend double </a:t>
            </a:r>
            <a:r>
              <a:rPr lang="en-US" altLang="zh-CN" sz="2000">
                <a:solidFill>
                  <a:srgbClr val="FF0000"/>
                </a:solidFill>
                <a:latin typeface="Consolas" pitchFamily="49" charset="0"/>
                <a:ea typeface="仿宋" pitchFamily="49" charset="-122"/>
              </a:rPr>
              <a:t>Length</a:t>
            </a:r>
            <a:r>
              <a:rPr lang="en-US" altLang="zh-CN" sz="2000">
                <a:solidFill>
                  <a:srgbClr val="0000FF"/>
                </a:solidFill>
                <a:latin typeface="Consolas" pitchFamily="49" charset="0"/>
                <a:ea typeface="仿宋" pitchFamily="49" charset="-122"/>
              </a:rPr>
              <a:t>(Point 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求向量长度</a:t>
            </a:r>
          </a:p>
          <a:p>
            <a:pPr defTabSz="360000">
              <a:lnSpc>
                <a:spcPts val="2800"/>
              </a:lnSpc>
            </a:pPr>
            <a:r>
              <a:rPr lang="en-US" altLang="zh-CN" sz="2000">
                <a:solidFill>
                  <a:srgbClr val="0000FF"/>
                </a:solidFill>
                <a:latin typeface="Consolas" pitchFamily="49" charset="0"/>
                <a:ea typeface="仿宋" pitchFamily="49" charset="-122"/>
              </a:rPr>
              <a:t>friend int </a:t>
            </a:r>
            <a:r>
              <a:rPr lang="en-US" altLang="zh-CN" sz="2000">
                <a:solidFill>
                  <a:srgbClr val="FF0000"/>
                </a:solidFill>
                <a:latin typeface="Consolas" pitchFamily="49" charset="0"/>
                <a:ea typeface="仿宋" pitchFamily="49" charset="-122"/>
              </a:rPr>
              <a:t>Angle</a:t>
            </a:r>
            <a:r>
              <a:rPr lang="en-US" altLang="zh-CN" sz="2000">
                <a:solidFill>
                  <a:srgbClr val="0000FF"/>
                </a:solidFill>
                <a:latin typeface="Consolas" pitchFamily="49" charset="0"/>
                <a:ea typeface="仿宋" pitchFamily="49" charset="-122"/>
              </a:rPr>
              <a:t>(Point p0,Point p1,Point p2);	</a:t>
            </a:r>
          </a:p>
          <a:p>
            <a:pPr defTabSz="360000">
              <a:lnSpc>
                <a:spcPts val="28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求两线段</a:t>
            </a:r>
            <a:r>
              <a:rPr lang="en-US" altLang="zh-CN" sz="2000">
                <a:solidFill>
                  <a:srgbClr val="00B0F0"/>
                </a:solidFill>
                <a:latin typeface="Consolas" pitchFamily="49" charset="0"/>
                <a:ea typeface="仿宋" pitchFamily="49" charset="-122"/>
              </a:rPr>
              <a:t>p0p1</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p0p2</a:t>
            </a:r>
            <a:r>
              <a:rPr lang="zh-CN" altLang="zh-CN" sz="2000">
                <a:solidFill>
                  <a:srgbClr val="00B0F0"/>
                </a:solidFill>
                <a:latin typeface="Consolas" pitchFamily="49" charset="0"/>
                <a:ea typeface="仿宋" pitchFamily="49" charset="-122"/>
              </a:rPr>
              <a:t>的夹角</a:t>
            </a:r>
          </a:p>
          <a:p>
            <a:pPr defTabSz="360000">
              <a:lnSpc>
                <a:spcPts val="2800"/>
              </a:lnSpc>
            </a:pPr>
            <a:r>
              <a:rPr lang="en-US" altLang="zh-CN" sz="2000">
                <a:solidFill>
                  <a:srgbClr val="0000FF"/>
                </a:solidFill>
                <a:latin typeface="Consolas" pitchFamily="49" charset="0"/>
                <a:ea typeface="仿宋" pitchFamily="49" charset="-122"/>
              </a:rPr>
              <a:t>friend double </a:t>
            </a:r>
            <a:r>
              <a:rPr lang="en-US" altLang="zh-CN" sz="2000">
                <a:solidFill>
                  <a:srgbClr val="FF0000"/>
                </a:solidFill>
                <a:latin typeface="Consolas" pitchFamily="49" charset="0"/>
                <a:ea typeface="仿宋" pitchFamily="49" charset="-122"/>
              </a:rPr>
              <a:t>Det</a:t>
            </a:r>
            <a:r>
              <a:rPr lang="en-US" altLang="zh-CN" sz="2000">
                <a:solidFill>
                  <a:srgbClr val="0000FF"/>
                </a:solidFill>
                <a:latin typeface="Consolas" pitchFamily="49" charset="0"/>
                <a:ea typeface="仿宋" pitchFamily="49" charset="-122"/>
              </a:rPr>
              <a:t>(Point p1,Point p2);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两个向量的叉积</a:t>
            </a:r>
          </a:p>
          <a:p>
            <a:pPr defTabSz="360000">
              <a:lnSpc>
                <a:spcPts val="2800"/>
              </a:lnSpc>
            </a:pPr>
            <a:r>
              <a:rPr lang="en-US" altLang="zh-CN" sz="2000">
                <a:solidFill>
                  <a:srgbClr val="0000FF"/>
                </a:solidFill>
                <a:latin typeface="Consolas" pitchFamily="49" charset="0"/>
                <a:ea typeface="仿宋" pitchFamily="49" charset="-122"/>
              </a:rPr>
              <a:t>friend int </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(Point p0,Point p1,Point p2);</a:t>
            </a:r>
          </a:p>
          <a:p>
            <a:pPr defTabSz="360000">
              <a:lnSpc>
                <a:spcPts val="28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判断两线段</a:t>
            </a:r>
            <a:r>
              <a:rPr lang="en-US" altLang="zh-CN" sz="2000">
                <a:solidFill>
                  <a:srgbClr val="00B0F0"/>
                </a:solidFill>
                <a:latin typeface="Consolas" pitchFamily="49" charset="0"/>
                <a:ea typeface="仿宋" pitchFamily="49" charset="-122"/>
              </a:rPr>
              <a:t>p0p1</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p0p2</a:t>
            </a:r>
            <a:r>
              <a:rPr lang="zh-CN" altLang="zh-CN" sz="2000">
                <a:solidFill>
                  <a:srgbClr val="00B0F0"/>
                </a:solidFill>
                <a:latin typeface="Consolas" pitchFamily="49" charset="0"/>
                <a:ea typeface="仿宋" pitchFamily="49" charset="-122"/>
              </a:rPr>
              <a:t>的方向</a:t>
            </a:r>
          </a:p>
          <a:p>
            <a:pPr defTabSz="360000">
              <a:lnSpc>
                <a:spcPts val="2800"/>
              </a:lnSpc>
            </a:pPr>
            <a:r>
              <a:rPr lang="en-US" altLang="zh-CN" sz="2000">
                <a:solidFill>
                  <a:srgbClr val="0000FF"/>
                </a:solidFill>
                <a:latin typeface="Consolas" pitchFamily="49" charset="0"/>
                <a:ea typeface="仿宋" pitchFamily="49" charset="-122"/>
              </a:rPr>
              <a:t>friend double </a:t>
            </a:r>
            <a:r>
              <a:rPr lang="en-US" altLang="zh-CN" sz="2000">
                <a:solidFill>
                  <a:srgbClr val="FF0000"/>
                </a:solidFill>
                <a:latin typeface="Consolas" pitchFamily="49" charset="0"/>
                <a:ea typeface="仿宋" pitchFamily="49" charset="-122"/>
              </a:rPr>
              <a:t>Distanc</a:t>
            </a:r>
            <a:r>
              <a:rPr lang="en-US" altLang="zh-CN" sz="2000">
                <a:solidFill>
                  <a:srgbClr val="0000FF"/>
                </a:solidFill>
                <a:latin typeface="Consolas" pitchFamily="49" charset="0"/>
                <a:ea typeface="仿宋" pitchFamily="49" charset="-122"/>
              </a:rPr>
              <a:t>e(Point p1,Point p2);</a:t>
            </a:r>
          </a:p>
          <a:p>
            <a:pPr defTabSz="360000">
              <a:lnSpc>
                <a:spcPts val="28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求两个点的距离</a:t>
            </a:r>
          </a:p>
        </p:txBody>
      </p:sp>
      <p:sp>
        <p:nvSpPr>
          <p:cNvPr id="6" name="灯片编号占位符 5"/>
          <p:cNvSpPr>
            <a:spLocks noGrp="1"/>
          </p:cNvSpPr>
          <p:nvPr>
            <p:ph type="sldNum" sz="quarter" idx="12"/>
          </p:nvPr>
        </p:nvSpPr>
        <p:spPr/>
        <p:txBody>
          <a:bodyPr/>
          <a:lstStyle/>
          <a:p>
            <a:pPr>
              <a:defRPr/>
            </a:pPr>
            <a:fld id="{51116183-1013-4E64-BBE8-A5C1D5D4F838}" type="slidenum">
              <a:rPr lang="en-US" altLang="zh-CN" smtClean="0"/>
              <a:pPr>
                <a:defRPr/>
              </a:pPr>
              <a:t>4</a:t>
            </a:fld>
            <a:r>
              <a:rPr lang="en-US" altLang="zh-CN"/>
              <a:t>/167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1704" y="571480"/>
            <a:ext cx="8858280" cy="48860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defTabSz="360000">
              <a:lnSpc>
                <a:spcPts val="2600"/>
              </a:lnSpc>
            </a:pPr>
            <a:r>
              <a:rPr lang="en-US" altLang="zh-CN" sz="2000">
                <a:solidFill>
                  <a:srgbClr val="0000FF"/>
                </a:solidFill>
                <a:latin typeface="Consolas" pitchFamily="49" charset="0"/>
                <a:ea typeface="仿宋" pitchFamily="49" charset="-122"/>
              </a:rPr>
              <a:t>	friend double </a:t>
            </a:r>
            <a:r>
              <a:rPr lang="en-US" altLang="zh-CN" sz="2000">
                <a:solidFill>
                  <a:srgbClr val="FF0000"/>
                </a:solidFill>
                <a:latin typeface="Consolas" pitchFamily="49" charset="0"/>
                <a:ea typeface="仿宋" pitchFamily="49" charset="-122"/>
              </a:rPr>
              <a:t>DistPtoSegmen</a:t>
            </a:r>
            <a:r>
              <a:rPr lang="en-US" altLang="zh-CN" sz="2000">
                <a:solidFill>
                  <a:srgbClr val="0000FF"/>
                </a:solidFill>
                <a:latin typeface="Consolas" pitchFamily="49" charset="0"/>
                <a:ea typeface="仿宋" pitchFamily="49" charset="-122"/>
              </a:rPr>
              <a:t>t(Point p0,Point p1,Point p2);</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p0</a:t>
            </a:r>
            <a:r>
              <a:rPr lang="zh-CN" altLang="zh-CN" sz="2000">
                <a:solidFill>
                  <a:srgbClr val="00B0F0"/>
                </a:solidFill>
                <a:latin typeface="Consolas" pitchFamily="49" charset="0"/>
                <a:ea typeface="仿宋" pitchFamily="49" charset="-122"/>
              </a:rPr>
              <a:t>到</a:t>
            </a:r>
            <a:r>
              <a:rPr lang="en-US" altLang="zh-CN" sz="2000">
                <a:solidFill>
                  <a:srgbClr val="00B0F0"/>
                </a:solidFill>
                <a:latin typeface="Consolas" pitchFamily="49" charset="0"/>
                <a:ea typeface="仿宋" pitchFamily="49" charset="-122"/>
              </a:rPr>
              <a:t>p1p2</a:t>
            </a:r>
            <a:r>
              <a:rPr lang="zh-CN" altLang="zh-CN" sz="2000">
                <a:solidFill>
                  <a:srgbClr val="00B0F0"/>
                </a:solidFill>
                <a:latin typeface="Consolas" pitchFamily="49" charset="0"/>
                <a:ea typeface="仿宋" pitchFamily="49" charset="-122"/>
              </a:rPr>
              <a:t>线段的距离</a:t>
            </a:r>
          </a:p>
          <a:p>
            <a:pPr defTabSz="360000">
              <a:lnSpc>
                <a:spcPts val="2600"/>
              </a:lnSpc>
            </a:pPr>
            <a:r>
              <a:rPr lang="en-US" altLang="zh-CN" sz="2000">
                <a:solidFill>
                  <a:srgbClr val="0000FF"/>
                </a:solidFill>
                <a:latin typeface="Consolas" pitchFamily="49" charset="0"/>
                <a:ea typeface="仿宋" pitchFamily="49" charset="-122"/>
              </a:rPr>
              <a:t>	friend bool </a:t>
            </a:r>
            <a:r>
              <a:rPr lang="en-US" altLang="zh-CN" sz="2000">
                <a:solidFill>
                  <a:srgbClr val="FF0000"/>
                </a:solidFill>
                <a:latin typeface="Consolas" pitchFamily="49" charset="0"/>
                <a:ea typeface="仿宋" pitchFamily="49" charset="-122"/>
              </a:rPr>
              <a:t>InRectAngl</a:t>
            </a:r>
            <a:r>
              <a:rPr lang="en-US" altLang="zh-CN" sz="2000">
                <a:solidFill>
                  <a:srgbClr val="0000FF"/>
                </a:solidFill>
                <a:latin typeface="Consolas" pitchFamily="49" charset="0"/>
                <a:ea typeface="仿宋" pitchFamily="49" charset="-122"/>
              </a:rPr>
              <a:t>e(Point p0,Point p1,Point p2);</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判断</a:t>
            </a:r>
            <a:r>
              <a:rPr lang="en-US" altLang="zh-CN" sz="2000">
                <a:solidFill>
                  <a:srgbClr val="00B0F0"/>
                </a:solidFill>
                <a:latin typeface="Consolas" pitchFamily="49" charset="0"/>
                <a:ea typeface="仿宋" pitchFamily="49" charset="-122"/>
              </a:rPr>
              <a:t>p0</a:t>
            </a:r>
            <a:r>
              <a:rPr lang="zh-CN" altLang="zh-CN" sz="2000">
                <a:solidFill>
                  <a:srgbClr val="00B0F0"/>
                </a:solidFill>
                <a:latin typeface="Consolas" pitchFamily="49" charset="0"/>
                <a:ea typeface="仿宋" pitchFamily="49" charset="-122"/>
              </a:rPr>
              <a:t>是否在</a:t>
            </a:r>
            <a:r>
              <a:rPr lang="en-US" altLang="zh-CN" sz="2000">
                <a:solidFill>
                  <a:srgbClr val="00B0F0"/>
                </a:solidFill>
                <a:latin typeface="Consolas" pitchFamily="49" charset="0"/>
                <a:ea typeface="仿宋" pitchFamily="49" charset="-122"/>
              </a:rPr>
              <a:t>p1,p2</a:t>
            </a:r>
            <a:r>
              <a:rPr lang="zh-CN" altLang="zh-CN" sz="2000">
                <a:solidFill>
                  <a:srgbClr val="00B0F0"/>
                </a:solidFill>
                <a:latin typeface="Consolas" pitchFamily="49" charset="0"/>
                <a:ea typeface="仿宋" pitchFamily="49" charset="-122"/>
              </a:rPr>
              <a:t>的矩形内</a:t>
            </a:r>
          </a:p>
          <a:p>
            <a:pPr defTabSz="360000">
              <a:lnSpc>
                <a:spcPts val="2600"/>
              </a:lnSpc>
            </a:pPr>
            <a:r>
              <a:rPr lang="en-US" altLang="zh-CN" sz="2000">
                <a:solidFill>
                  <a:srgbClr val="0000FF"/>
                </a:solidFill>
                <a:latin typeface="Consolas" pitchFamily="49" charset="0"/>
                <a:ea typeface="仿宋" pitchFamily="49" charset="-122"/>
              </a:rPr>
              <a:t>	friend bool </a:t>
            </a:r>
            <a:r>
              <a:rPr lang="en-US" altLang="zh-CN" sz="2000">
                <a:solidFill>
                  <a:srgbClr val="FF0000"/>
                </a:solidFill>
                <a:latin typeface="Consolas" pitchFamily="49" charset="0"/>
                <a:ea typeface="仿宋" pitchFamily="49" charset="-122"/>
              </a:rPr>
              <a:t>OnSegment</a:t>
            </a:r>
            <a:r>
              <a:rPr lang="en-US" altLang="zh-CN" sz="2000">
                <a:solidFill>
                  <a:srgbClr val="0000FF"/>
                </a:solidFill>
                <a:latin typeface="Consolas" pitchFamily="49" charset="0"/>
                <a:ea typeface="仿宋" pitchFamily="49" charset="-122"/>
              </a:rPr>
              <a:t>(Point p0,Point p1,Point p2);</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判断</a:t>
            </a:r>
            <a:r>
              <a:rPr lang="en-US" altLang="zh-CN" sz="2000">
                <a:solidFill>
                  <a:srgbClr val="00B0F0"/>
                </a:solidFill>
                <a:latin typeface="Consolas" pitchFamily="49" charset="0"/>
                <a:ea typeface="仿宋" pitchFamily="49" charset="-122"/>
              </a:rPr>
              <a:t>p0</a:t>
            </a:r>
            <a:r>
              <a:rPr lang="zh-CN" altLang="zh-CN" sz="2000">
                <a:solidFill>
                  <a:srgbClr val="00B0F0"/>
                </a:solidFill>
                <a:latin typeface="Consolas" pitchFamily="49" charset="0"/>
                <a:ea typeface="仿宋" pitchFamily="49" charset="-122"/>
              </a:rPr>
              <a:t>是否在</a:t>
            </a:r>
            <a:r>
              <a:rPr lang="en-US" altLang="zh-CN" sz="2000">
                <a:solidFill>
                  <a:srgbClr val="00B0F0"/>
                </a:solidFill>
                <a:latin typeface="Consolas" pitchFamily="49" charset="0"/>
                <a:ea typeface="仿宋" pitchFamily="49" charset="-122"/>
              </a:rPr>
              <a:t>p1p2</a:t>
            </a:r>
            <a:r>
              <a:rPr lang="zh-CN" altLang="zh-CN" sz="2000">
                <a:solidFill>
                  <a:srgbClr val="00B0F0"/>
                </a:solidFill>
                <a:latin typeface="Consolas" pitchFamily="49" charset="0"/>
                <a:ea typeface="仿宋" pitchFamily="49" charset="-122"/>
              </a:rPr>
              <a:t>线段上</a:t>
            </a:r>
          </a:p>
          <a:p>
            <a:pPr defTabSz="360000">
              <a:lnSpc>
                <a:spcPts val="2600"/>
              </a:lnSpc>
            </a:pPr>
            <a:r>
              <a:rPr lang="en-US" altLang="zh-CN" sz="2000">
                <a:solidFill>
                  <a:srgbClr val="0000FF"/>
                </a:solidFill>
                <a:latin typeface="Consolas" pitchFamily="49" charset="0"/>
                <a:ea typeface="仿宋" pitchFamily="49" charset="-122"/>
              </a:rPr>
              <a:t>	friend bool </a:t>
            </a:r>
            <a:r>
              <a:rPr lang="en-US" altLang="zh-CN" sz="2000">
                <a:solidFill>
                  <a:srgbClr val="FF0000"/>
                </a:solidFill>
                <a:latin typeface="Consolas" pitchFamily="49" charset="0"/>
                <a:ea typeface="仿宋" pitchFamily="49" charset="-122"/>
              </a:rPr>
              <a:t>Parallel</a:t>
            </a:r>
            <a:r>
              <a:rPr lang="en-US" altLang="zh-CN" sz="2000">
                <a:solidFill>
                  <a:srgbClr val="0000FF"/>
                </a:solidFill>
                <a:latin typeface="Consolas" pitchFamily="49" charset="0"/>
                <a:ea typeface="仿宋" pitchFamily="49" charset="-122"/>
              </a:rPr>
              <a:t>(Point p1,Point p2,Point p3,Point p4);</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判断</a:t>
            </a:r>
            <a:r>
              <a:rPr lang="en-US" altLang="zh-CN" sz="2000">
                <a:solidFill>
                  <a:srgbClr val="00B0F0"/>
                </a:solidFill>
                <a:latin typeface="Consolas" pitchFamily="49" charset="0"/>
                <a:ea typeface="仿宋" pitchFamily="49" charset="-122"/>
              </a:rPr>
              <a:t>p1p2</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p3p4</a:t>
            </a:r>
            <a:r>
              <a:rPr lang="zh-CN" altLang="zh-CN" sz="2000">
                <a:solidFill>
                  <a:srgbClr val="00B0F0"/>
                </a:solidFill>
                <a:latin typeface="Consolas" pitchFamily="49" charset="0"/>
                <a:ea typeface="仿宋" pitchFamily="49" charset="-122"/>
              </a:rPr>
              <a:t>线段是否平行</a:t>
            </a:r>
          </a:p>
          <a:p>
            <a:pPr defTabSz="360000">
              <a:lnSpc>
                <a:spcPts val="2600"/>
              </a:lnSpc>
            </a:pPr>
            <a:r>
              <a:rPr lang="en-US" altLang="zh-CN" sz="2000">
                <a:solidFill>
                  <a:srgbClr val="0000FF"/>
                </a:solidFill>
                <a:latin typeface="Consolas" pitchFamily="49" charset="0"/>
                <a:ea typeface="仿宋" pitchFamily="49" charset="-122"/>
              </a:rPr>
              <a:t>	friend bool </a:t>
            </a:r>
            <a:r>
              <a:rPr lang="en-US" altLang="zh-CN" sz="2000">
                <a:solidFill>
                  <a:srgbClr val="FF0000"/>
                </a:solidFill>
                <a:latin typeface="Consolas" pitchFamily="49" charset="0"/>
                <a:ea typeface="仿宋" pitchFamily="49" charset="-122"/>
              </a:rPr>
              <a:t>SegIntersec</a:t>
            </a:r>
            <a:r>
              <a:rPr lang="en-US" altLang="zh-CN" sz="2000">
                <a:solidFill>
                  <a:srgbClr val="0000FF"/>
                </a:solidFill>
                <a:latin typeface="Consolas" pitchFamily="49" charset="0"/>
                <a:ea typeface="仿宋" pitchFamily="49" charset="-122"/>
              </a:rPr>
              <a:t>t(Point p1,Point p2,Point p3,Point p4);</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判断</a:t>
            </a:r>
            <a:r>
              <a:rPr lang="en-US" altLang="zh-CN" sz="2000">
                <a:solidFill>
                  <a:srgbClr val="00B0F0"/>
                </a:solidFill>
                <a:latin typeface="Consolas" pitchFamily="49" charset="0"/>
                <a:ea typeface="仿宋" pitchFamily="49" charset="-122"/>
              </a:rPr>
              <a:t>p1p2</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p3p4</a:t>
            </a:r>
            <a:r>
              <a:rPr lang="zh-CN" altLang="zh-CN" sz="2000">
                <a:solidFill>
                  <a:srgbClr val="00B0F0"/>
                </a:solidFill>
                <a:latin typeface="Consolas" pitchFamily="49" charset="0"/>
                <a:ea typeface="仿宋" pitchFamily="49" charset="-122"/>
              </a:rPr>
              <a:t>两线段是否相交</a:t>
            </a:r>
          </a:p>
          <a:p>
            <a:pPr defTabSz="360000">
              <a:lnSpc>
                <a:spcPts val="2600"/>
              </a:lnSpc>
            </a:pPr>
            <a:r>
              <a:rPr lang="en-US" altLang="zh-CN" sz="2000">
                <a:solidFill>
                  <a:srgbClr val="0000FF"/>
                </a:solidFill>
                <a:latin typeface="Consolas" pitchFamily="49" charset="0"/>
                <a:ea typeface="仿宋" pitchFamily="49" charset="-122"/>
              </a:rPr>
              <a:t>	friend bool </a:t>
            </a:r>
            <a:r>
              <a:rPr lang="en-US" altLang="zh-CN" sz="2000">
                <a:solidFill>
                  <a:srgbClr val="FF0000"/>
                </a:solidFill>
                <a:latin typeface="Consolas" pitchFamily="49" charset="0"/>
                <a:ea typeface="仿宋" pitchFamily="49" charset="-122"/>
              </a:rPr>
              <a:t>PointInPolygon</a:t>
            </a:r>
            <a:r>
              <a:rPr lang="en-US" altLang="zh-CN" sz="2000">
                <a:solidFill>
                  <a:srgbClr val="0000FF"/>
                </a:solidFill>
                <a:latin typeface="Consolas" pitchFamily="49" charset="0"/>
                <a:ea typeface="仿宋" pitchFamily="49" charset="-122"/>
              </a:rPr>
              <a:t>(Point p0,vector&lt;Point&gt; a);</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判断</a:t>
            </a:r>
            <a:r>
              <a:rPr lang="en-US" altLang="zh-CN" sz="2000">
                <a:solidFill>
                  <a:srgbClr val="00B0F0"/>
                </a:solidFill>
                <a:latin typeface="Consolas" pitchFamily="49" charset="0"/>
                <a:ea typeface="仿宋" pitchFamily="49" charset="-122"/>
              </a:rPr>
              <a:t>p0</a:t>
            </a:r>
            <a:r>
              <a:rPr lang="zh-CN" altLang="zh-CN" sz="2000">
                <a:solidFill>
                  <a:srgbClr val="00B0F0"/>
                </a:solidFill>
                <a:latin typeface="Consolas" pitchFamily="49" charset="0"/>
                <a:ea typeface="仿宋" pitchFamily="49" charset="-122"/>
              </a:rPr>
              <a:t>是否在点集</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的多边形内</a:t>
            </a:r>
          </a:p>
          <a:p>
            <a:pPr defTabSz="360000">
              <a:lnSpc>
                <a:spcPts val="26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pPr>
              <a:defRPr/>
            </a:pPr>
            <a:fld id="{51116183-1013-4E64-BBE8-A5C1D5D4F838}" type="slidenum">
              <a:rPr lang="en-US" altLang="zh-CN" smtClean="0"/>
              <a:pPr>
                <a:defRPr/>
              </a:pPr>
              <a:t>5</a:t>
            </a:fld>
            <a:r>
              <a:rPr lang="en-US" altLang="zh-CN"/>
              <a:t>/167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500034" y="1000108"/>
            <a:ext cx="8207375" cy="2391039"/>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nSpc>
                <a:spcPts val="3400"/>
              </a:lnSpc>
              <a:spcBef>
                <a:spcPts val="1200"/>
              </a:spcBef>
              <a:buBlip>
                <a:blip r:embed="rId2"/>
              </a:buBlip>
            </a:pPr>
            <a:r>
              <a:rPr lang="zh-CN" altLang="en-US">
                <a:solidFill>
                  <a:srgbClr val="C00000"/>
                </a:solidFill>
                <a:latin typeface="Consolas" pitchFamily="49" charset="0"/>
                <a:ea typeface="仿宋" pitchFamily="49" charset="-122"/>
                <a:cs typeface="Consolas" pitchFamily="49" charset="0"/>
              </a:rPr>
              <a:t>线段</a:t>
            </a:r>
            <a:r>
              <a:rPr lang="zh-CN" altLang="en-US">
                <a:solidFill>
                  <a:srgbClr val="0000FF"/>
                </a:solidFill>
                <a:latin typeface="Consolas" pitchFamily="49" charset="0"/>
                <a:ea typeface="仿宋" pitchFamily="49" charset="-122"/>
                <a:cs typeface="Consolas" pitchFamily="49" charset="0"/>
              </a:rPr>
              <a:t>是直线在两个定点之间（包含这两个点）的部分，线段可以通过两个点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来表示，通常线段是有向的，有向线段</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是从起点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到终点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，将这种既有大小又有方向的量看成向量，即起点为</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、端点为</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的向量。</a:t>
            </a:r>
            <a:endParaRPr lang="en-US" altLang="zh-CN">
              <a:solidFill>
                <a:srgbClr val="0000FF"/>
              </a:solidFill>
              <a:latin typeface="Consolas" pitchFamily="49" charset="0"/>
              <a:ea typeface="仿宋" pitchFamily="49" charset="-122"/>
              <a:cs typeface="Consolas" pitchFamily="49" charset="0"/>
            </a:endParaRPr>
          </a:p>
          <a:p>
            <a:pPr marL="457200" indent="-457200">
              <a:lnSpc>
                <a:spcPts val="3400"/>
              </a:lnSpc>
              <a:spcBef>
                <a:spcPts val="1200"/>
              </a:spcBef>
              <a:buBlip>
                <a:blip r:embed="rId2"/>
              </a:buBlip>
            </a:pP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向量的长度或模为点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到点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的距离，记为</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en-US" altLang="zh-CN">
                <a:solidFill>
                  <a:srgbClr val="C00000"/>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a:t>
            </a: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6</a:t>
            </a:fld>
            <a:r>
              <a:rPr lang="en-US" altLang="zh-CN"/>
              <a:t>/167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ext Box 2"/>
          <p:cNvSpPr txBox="1">
            <a:spLocks noChangeArrowheads="1"/>
          </p:cNvSpPr>
          <p:nvPr/>
        </p:nvSpPr>
        <p:spPr bwMode="auto">
          <a:xfrm>
            <a:off x="500034" y="285728"/>
            <a:ext cx="4532316" cy="523220"/>
          </a:xfrm>
          <a:prstGeom prst="rect">
            <a:avLst/>
          </a:prstGeom>
          <a:solidFill>
            <a:srgbClr val="FF9900"/>
          </a:solidFill>
          <a:ln>
            <a:headEnd/>
            <a:tailEnd/>
          </a:ln>
        </p:spPr>
        <p:style>
          <a:lnRef idx="1">
            <a:schemeClr val="accent5"/>
          </a:lnRef>
          <a:fillRef idx="2">
            <a:schemeClr val="accent5"/>
          </a:fillRef>
          <a:effectRef idx="1">
            <a:schemeClr val="accent5"/>
          </a:effectRef>
          <a:fontRef idx="minor">
            <a:schemeClr val="dk1"/>
          </a:fontRef>
        </p:style>
        <p:txBody>
          <a:bodyPr wrap="square">
            <a:spAutoFit/>
          </a:bodyPr>
          <a:lstStyle/>
          <a:p>
            <a:pPr algn="ctr">
              <a:spcBef>
                <a:spcPct val="50000"/>
              </a:spcBef>
            </a:pP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10.1.1 </a:t>
            </a:r>
            <a:r>
              <a:rPr lang="zh-CN" altLang="en-US"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向量的基本运算</a:t>
            </a:r>
          </a:p>
        </p:txBody>
      </p:sp>
      <p:sp>
        <p:nvSpPr>
          <p:cNvPr id="1028" name="Text Box 3"/>
          <p:cNvSpPr txBox="1">
            <a:spLocks noChangeArrowheads="1"/>
          </p:cNvSpPr>
          <p:nvPr/>
        </p:nvSpPr>
        <p:spPr bwMode="auto">
          <a:xfrm>
            <a:off x="539750" y="1042974"/>
            <a:ext cx="3032117" cy="457200"/>
          </a:xfrm>
          <a:prstGeom prst="rect">
            <a:avLst/>
          </a:prstGeom>
          <a:solidFill>
            <a:srgbClr val="9900FF"/>
          </a:solidFill>
          <a:ln w="9525">
            <a:noFill/>
            <a:miter lim="800000"/>
            <a:headEnd/>
            <a:tailEnd/>
          </a:ln>
        </p:spPr>
        <p:txBody>
          <a:bodyPr wrap="square">
            <a:spAutoFit/>
          </a:bodyPr>
          <a:lstStyle/>
          <a:p>
            <a:pPr algn="ctr">
              <a:spcBef>
                <a:spcPct val="50000"/>
              </a:spcBef>
            </a:pPr>
            <a:r>
              <a:rPr lang="en-US" altLang="zh-CN">
                <a:solidFill>
                  <a:schemeClr val="bg1"/>
                </a:solidFill>
                <a:latin typeface="Consolas" pitchFamily="49" charset="0"/>
                <a:ea typeface="微软雅黑" pitchFamily="34" charset="-122"/>
                <a:cs typeface="Consolas" pitchFamily="49" charset="0"/>
              </a:rPr>
              <a:t>1. </a:t>
            </a:r>
            <a:r>
              <a:rPr lang="zh-CN" altLang="en-US">
                <a:solidFill>
                  <a:schemeClr val="bg1"/>
                </a:solidFill>
                <a:latin typeface="Consolas" pitchFamily="49" charset="0"/>
                <a:ea typeface="微软雅黑" pitchFamily="34" charset="-122"/>
                <a:cs typeface="Consolas" pitchFamily="49" charset="0"/>
              </a:rPr>
              <a:t>向量加减运算</a:t>
            </a:r>
          </a:p>
        </p:txBody>
      </p:sp>
      <p:sp>
        <p:nvSpPr>
          <p:cNvPr id="1029" name="Rectangle 5"/>
          <p:cNvSpPr>
            <a:spLocks noChangeArrowheads="1"/>
          </p:cNvSpPr>
          <p:nvPr/>
        </p:nvSpPr>
        <p:spPr bwMode="auto">
          <a:xfrm>
            <a:off x="0" y="2933700"/>
            <a:ext cx="184731" cy="461665"/>
          </a:xfrm>
          <a:prstGeom prst="rect">
            <a:avLst/>
          </a:prstGeom>
          <a:noFill/>
          <a:ln w="9525">
            <a:noFill/>
            <a:miter lim="800000"/>
            <a:headEnd/>
            <a:tailEnd/>
          </a:ln>
        </p:spPr>
        <p:txBody>
          <a:bodyPr wrap="none" anchor="ctr">
            <a:spAutoFit/>
          </a:bodyPr>
          <a:lstStyle/>
          <a:p>
            <a:endParaRPr lang="zh-CN" altLang="en-US">
              <a:latin typeface="Consolas" pitchFamily="49" charset="0"/>
              <a:cs typeface="Consolas" pitchFamily="49" charset="0"/>
            </a:endParaRPr>
          </a:p>
        </p:txBody>
      </p:sp>
      <p:sp>
        <p:nvSpPr>
          <p:cNvPr id="6" name="TextBox 5"/>
          <p:cNvSpPr txBox="1"/>
          <p:nvPr/>
        </p:nvSpPr>
        <p:spPr>
          <a:xfrm>
            <a:off x="500034" y="1714488"/>
            <a:ext cx="8358246" cy="201593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对于两个点表示的向量</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（起点均为原点</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），向量加法定义为：</a:t>
            </a:r>
            <a:r>
              <a:rPr lang="en-US" altLang="zh-CN">
                <a:solidFill>
                  <a:srgbClr val="FF0000"/>
                </a:solidFill>
                <a:latin typeface="Consolas" pitchFamily="49" charset="0"/>
                <a:ea typeface="仿宋" pitchFamily="49" charset="-122"/>
                <a:cs typeface="Consolas" pitchFamily="49" charset="0"/>
              </a:rPr>
              <a:t>p</a:t>
            </a:r>
            <a:r>
              <a:rPr lang="en-US" altLang="zh-CN" baseline="-25000">
                <a:solidFill>
                  <a:srgbClr val="FF0000"/>
                </a:solidFill>
                <a:latin typeface="Consolas" pitchFamily="49" charset="0"/>
                <a:ea typeface="仿宋" pitchFamily="49" charset="-122"/>
                <a:cs typeface="Consolas" pitchFamily="49" charset="0"/>
              </a:rPr>
              <a:t>1</a:t>
            </a:r>
            <a:r>
              <a:rPr lang="en-US" altLang="zh-CN">
                <a:solidFill>
                  <a:srgbClr val="FF0000"/>
                </a:solidFill>
                <a:latin typeface="Consolas" pitchFamily="49" charset="0"/>
                <a:ea typeface="仿宋" pitchFamily="49" charset="-122"/>
                <a:cs typeface="Consolas" pitchFamily="49" charset="0"/>
              </a:rPr>
              <a:t>+p</a:t>
            </a:r>
            <a:r>
              <a:rPr lang="en-US" altLang="zh-CN" baseline="-25000">
                <a:solidFill>
                  <a:srgbClr val="FF0000"/>
                </a:solidFill>
                <a:latin typeface="Consolas" pitchFamily="49" charset="0"/>
                <a:ea typeface="仿宋" pitchFamily="49" charset="-122"/>
                <a:cs typeface="Consolas" pitchFamily="49" charset="0"/>
              </a:rPr>
              <a:t>2</a:t>
            </a:r>
            <a:r>
              <a:rPr lang="en-US" altLang="zh-CN">
                <a:solidFill>
                  <a:srgbClr val="FF0000"/>
                </a:solidFill>
                <a:latin typeface="Consolas" pitchFamily="49" charset="0"/>
                <a:ea typeface="仿宋" pitchFamily="49" charset="-122"/>
                <a:cs typeface="Consolas" pitchFamily="49" charset="0"/>
              </a:rPr>
              <a:t>=(p</a:t>
            </a:r>
            <a:r>
              <a:rPr lang="en-US" altLang="zh-CN" baseline="-25000">
                <a:solidFill>
                  <a:srgbClr val="FF0000"/>
                </a:solidFill>
                <a:latin typeface="Consolas" pitchFamily="49" charset="0"/>
                <a:ea typeface="仿宋" pitchFamily="49" charset="-122"/>
                <a:cs typeface="Consolas" pitchFamily="49" charset="0"/>
              </a:rPr>
              <a:t>1</a:t>
            </a:r>
            <a:r>
              <a:rPr lang="en-US" altLang="zh-CN">
                <a:solidFill>
                  <a:srgbClr val="FF0000"/>
                </a:solidFill>
                <a:latin typeface="Consolas" pitchFamily="49" charset="0"/>
                <a:ea typeface="仿宋" pitchFamily="49" charset="-122"/>
                <a:cs typeface="Consolas" pitchFamily="49" charset="0"/>
              </a:rPr>
              <a:t>.</a:t>
            </a:r>
            <a:r>
              <a:rPr lang="en-US" altLang="zh-CN" i="1">
                <a:solidFill>
                  <a:srgbClr val="FF0000"/>
                </a:solidFill>
                <a:latin typeface="Consolas" pitchFamily="49" charset="0"/>
                <a:ea typeface="仿宋" pitchFamily="49" charset="-122"/>
                <a:cs typeface="Consolas" pitchFamily="49" charset="0"/>
              </a:rPr>
              <a:t>x</a:t>
            </a:r>
            <a:r>
              <a:rPr lang="en-US" altLang="zh-CN">
                <a:solidFill>
                  <a:srgbClr val="FF0000"/>
                </a:solidFill>
                <a:latin typeface="Consolas" pitchFamily="49" charset="0"/>
                <a:ea typeface="仿宋" pitchFamily="49" charset="-122"/>
                <a:cs typeface="Consolas" pitchFamily="49" charset="0"/>
              </a:rPr>
              <a:t>+p</a:t>
            </a:r>
            <a:r>
              <a:rPr lang="en-US" altLang="zh-CN" baseline="-25000">
                <a:solidFill>
                  <a:srgbClr val="FF0000"/>
                </a:solidFill>
                <a:latin typeface="Consolas" pitchFamily="49" charset="0"/>
                <a:ea typeface="仿宋" pitchFamily="49" charset="-122"/>
                <a:cs typeface="Consolas" pitchFamily="49" charset="0"/>
              </a:rPr>
              <a:t>2</a:t>
            </a:r>
            <a:r>
              <a:rPr lang="en-US" altLang="zh-CN">
                <a:solidFill>
                  <a:srgbClr val="FF0000"/>
                </a:solidFill>
                <a:latin typeface="Consolas" pitchFamily="49" charset="0"/>
                <a:ea typeface="仿宋" pitchFamily="49" charset="-122"/>
                <a:cs typeface="Consolas" pitchFamily="49" charset="0"/>
              </a:rPr>
              <a:t>.</a:t>
            </a:r>
            <a:r>
              <a:rPr lang="en-US" altLang="zh-CN" i="1">
                <a:solidFill>
                  <a:srgbClr val="FF0000"/>
                </a:solidFill>
                <a:latin typeface="Consolas" pitchFamily="49" charset="0"/>
                <a:ea typeface="仿宋" pitchFamily="49" charset="-122"/>
                <a:cs typeface="Consolas" pitchFamily="49" charset="0"/>
              </a:rPr>
              <a:t>x</a:t>
            </a:r>
            <a:r>
              <a:rPr lang="zh-CN" altLang="zh-CN">
                <a:solidFill>
                  <a:srgbClr val="FF0000"/>
                </a:solidFill>
                <a:latin typeface="Consolas" pitchFamily="49" charset="0"/>
                <a:ea typeface="仿宋" pitchFamily="49" charset="-122"/>
                <a:cs typeface="Consolas" pitchFamily="49" charset="0"/>
              </a:rPr>
              <a:t>，</a:t>
            </a:r>
            <a:r>
              <a:rPr lang="en-US" altLang="zh-CN">
                <a:solidFill>
                  <a:srgbClr val="FF0000"/>
                </a:solidFill>
                <a:latin typeface="Consolas" pitchFamily="49" charset="0"/>
                <a:ea typeface="仿宋" pitchFamily="49" charset="-122"/>
                <a:cs typeface="Consolas" pitchFamily="49" charset="0"/>
              </a:rPr>
              <a:t>p</a:t>
            </a:r>
            <a:r>
              <a:rPr lang="en-US" altLang="zh-CN" baseline="-25000">
                <a:solidFill>
                  <a:srgbClr val="FF0000"/>
                </a:solidFill>
                <a:latin typeface="Consolas" pitchFamily="49" charset="0"/>
                <a:ea typeface="仿宋" pitchFamily="49" charset="-122"/>
                <a:cs typeface="Consolas" pitchFamily="49" charset="0"/>
              </a:rPr>
              <a:t>1</a:t>
            </a:r>
            <a:r>
              <a:rPr lang="en-US" altLang="zh-CN">
                <a:solidFill>
                  <a:srgbClr val="FF0000"/>
                </a:solidFill>
                <a:latin typeface="Consolas" pitchFamily="49" charset="0"/>
                <a:ea typeface="仿宋" pitchFamily="49" charset="-122"/>
                <a:cs typeface="Consolas" pitchFamily="49" charset="0"/>
              </a:rPr>
              <a:t>.</a:t>
            </a:r>
            <a:r>
              <a:rPr lang="en-US" altLang="zh-CN" i="1">
                <a:solidFill>
                  <a:srgbClr val="FF0000"/>
                </a:solidFill>
                <a:latin typeface="Consolas" pitchFamily="49" charset="0"/>
                <a:ea typeface="仿宋" pitchFamily="49" charset="-122"/>
                <a:cs typeface="Consolas" pitchFamily="49" charset="0"/>
              </a:rPr>
              <a:t>y</a:t>
            </a:r>
            <a:r>
              <a:rPr lang="en-US" altLang="zh-CN">
                <a:solidFill>
                  <a:srgbClr val="FF0000"/>
                </a:solidFill>
                <a:latin typeface="Consolas" pitchFamily="49" charset="0"/>
                <a:ea typeface="仿宋" pitchFamily="49" charset="-122"/>
                <a:cs typeface="Consolas" pitchFamily="49" charset="0"/>
              </a:rPr>
              <a:t>+p</a:t>
            </a:r>
            <a:r>
              <a:rPr lang="en-US" altLang="zh-CN" baseline="-25000">
                <a:solidFill>
                  <a:srgbClr val="FF0000"/>
                </a:solidFill>
                <a:latin typeface="Consolas" pitchFamily="49" charset="0"/>
                <a:ea typeface="仿宋" pitchFamily="49" charset="-122"/>
                <a:cs typeface="Consolas" pitchFamily="49" charset="0"/>
              </a:rPr>
              <a:t>2</a:t>
            </a:r>
            <a:r>
              <a:rPr lang="en-US" altLang="zh-CN">
                <a:solidFill>
                  <a:srgbClr val="FF0000"/>
                </a:solidFill>
                <a:latin typeface="Consolas" pitchFamily="49" charset="0"/>
                <a:ea typeface="仿宋" pitchFamily="49" charset="-122"/>
                <a:cs typeface="Consolas" pitchFamily="49" charset="0"/>
              </a:rPr>
              <a:t>.</a:t>
            </a:r>
            <a:r>
              <a:rPr lang="en-US" altLang="zh-CN" i="1">
                <a:solidFill>
                  <a:srgbClr val="FF0000"/>
                </a:solidFill>
                <a:latin typeface="Consolas" pitchFamily="49" charset="0"/>
                <a:ea typeface="仿宋" pitchFamily="49" charset="-122"/>
                <a:cs typeface="Consolas" pitchFamily="49" charset="0"/>
              </a:rPr>
              <a:t>y</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，其结果仍为一个向量。</a:t>
            </a:r>
          </a:p>
          <a:p>
            <a:pPr marL="457200" indent="-457200">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向量加法一般可用平行四边形法则，如</a:t>
            </a:r>
            <a:r>
              <a:rPr lang="zh-CN" altLang="en-US">
                <a:solidFill>
                  <a:srgbClr val="0000FF"/>
                </a:solidFill>
                <a:latin typeface="Consolas" pitchFamily="49" charset="0"/>
                <a:ea typeface="仿宋" pitchFamily="49" charset="-122"/>
                <a:cs typeface="Consolas" pitchFamily="49" charset="0"/>
              </a:rPr>
              <a:t>下</a:t>
            </a:r>
            <a:r>
              <a:rPr lang="zh-CN" altLang="zh-CN">
                <a:solidFill>
                  <a:srgbClr val="0000FF"/>
                </a:solidFill>
                <a:latin typeface="Consolas" pitchFamily="49" charset="0"/>
                <a:ea typeface="仿宋" pitchFamily="49" charset="-122"/>
                <a:cs typeface="Consolas" pitchFamily="49" charset="0"/>
              </a:rPr>
              <a:t>图所示，两个向量为</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，则</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3</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=(5</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a:t>
            </a:r>
          </a:p>
        </p:txBody>
      </p:sp>
      <p:grpSp>
        <p:nvGrpSpPr>
          <p:cNvPr id="27" name="组合 26"/>
          <p:cNvGrpSpPr/>
          <p:nvPr/>
        </p:nvGrpSpPr>
        <p:grpSpPr>
          <a:xfrm>
            <a:off x="1857356" y="3856834"/>
            <a:ext cx="4643470" cy="2715438"/>
            <a:chOff x="1857356" y="3500438"/>
            <a:chExt cx="4643470" cy="2715438"/>
          </a:xfrm>
        </p:grpSpPr>
        <p:grpSp>
          <p:nvGrpSpPr>
            <p:cNvPr id="24" name="组合 23"/>
            <p:cNvGrpSpPr/>
            <p:nvPr/>
          </p:nvGrpSpPr>
          <p:grpSpPr>
            <a:xfrm>
              <a:off x="1857356" y="3500438"/>
              <a:ext cx="4286280" cy="2715438"/>
              <a:chOff x="1857356" y="3500438"/>
              <a:chExt cx="4286280" cy="2715438"/>
            </a:xfrm>
          </p:grpSpPr>
          <p:cxnSp>
            <p:nvCxnSpPr>
              <p:cNvPr id="8" name="直接箭头连接符 7"/>
              <p:cNvCxnSpPr/>
              <p:nvPr/>
            </p:nvCxnSpPr>
            <p:spPr>
              <a:xfrm>
                <a:off x="1857356" y="5141924"/>
                <a:ext cx="42862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rot="5400000" flipH="1" flipV="1">
                <a:off x="1500166" y="4929198"/>
                <a:ext cx="257176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143108" y="5214950"/>
                <a:ext cx="71438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(0,0)</a:t>
                </a:r>
                <a:endParaRPr lang="zh-CN" altLang="en-US" sz="1800">
                  <a:solidFill>
                    <a:srgbClr val="0000FF"/>
                  </a:solidFill>
                  <a:latin typeface="Consolas" pitchFamily="49" charset="0"/>
                  <a:cs typeface="Consolas" pitchFamily="49" charset="0"/>
                </a:endParaRPr>
              </a:p>
            </p:txBody>
          </p:sp>
          <p:cxnSp>
            <p:nvCxnSpPr>
              <p:cNvPr id="13" name="直接箭头连接符 12"/>
              <p:cNvCxnSpPr/>
              <p:nvPr/>
            </p:nvCxnSpPr>
            <p:spPr>
              <a:xfrm>
                <a:off x="2786050" y="5143512"/>
                <a:ext cx="1071570" cy="500066"/>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15" name="直接箭头连接符 14"/>
              <p:cNvCxnSpPr/>
              <p:nvPr/>
            </p:nvCxnSpPr>
            <p:spPr>
              <a:xfrm flipV="1">
                <a:off x="2786050" y="3893724"/>
                <a:ext cx="1500198" cy="1214446"/>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3643306" y="5786454"/>
                <a:ext cx="107157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r>
                  <a:rPr lang="en-US" altLang="zh-CN" sz="1800">
                    <a:solidFill>
                      <a:srgbClr val="0000FF"/>
                    </a:solidFill>
                    <a:latin typeface="Consolas" pitchFamily="49" charset="0"/>
                    <a:cs typeface="Consolas" pitchFamily="49" charset="0"/>
                  </a:rPr>
                  <a:t>(2,-1)</a:t>
                </a:r>
                <a:endParaRPr lang="zh-CN" altLang="en-US" sz="1800">
                  <a:solidFill>
                    <a:srgbClr val="0000FF"/>
                  </a:solidFill>
                  <a:latin typeface="Consolas" pitchFamily="49" charset="0"/>
                  <a:cs typeface="Consolas" pitchFamily="49" charset="0"/>
                </a:endParaRPr>
              </a:p>
            </p:txBody>
          </p:sp>
          <p:sp>
            <p:nvSpPr>
              <p:cNvPr id="17" name="TextBox 16"/>
              <p:cNvSpPr txBox="1"/>
              <p:nvPr/>
            </p:nvSpPr>
            <p:spPr>
              <a:xfrm>
                <a:off x="4286248" y="3500438"/>
                <a:ext cx="107157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r>
                  <a:rPr lang="en-US" altLang="zh-CN" sz="1800">
                    <a:solidFill>
                      <a:srgbClr val="0000FF"/>
                    </a:solidFill>
                    <a:latin typeface="Consolas" pitchFamily="49" charset="0"/>
                    <a:cs typeface="Consolas" pitchFamily="49" charset="0"/>
                  </a:rPr>
                  <a:t>(3,3)</a:t>
                </a:r>
                <a:endParaRPr lang="zh-CN" altLang="en-US" sz="1800">
                  <a:solidFill>
                    <a:srgbClr val="0000FF"/>
                  </a:solidFill>
                  <a:latin typeface="Consolas" pitchFamily="49" charset="0"/>
                  <a:cs typeface="Consolas" pitchFamily="49" charset="0"/>
                </a:endParaRPr>
              </a:p>
            </p:txBody>
          </p:sp>
        </p:grpSp>
        <p:grpSp>
          <p:nvGrpSpPr>
            <p:cNvPr id="25" name="组合 24"/>
            <p:cNvGrpSpPr/>
            <p:nvPr/>
          </p:nvGrpSpPr>
          <p:grpSpPr>
            <a:xfrm>
              <a:off x="2809360" y="3881692"/>
              <a:ext cx="3691466" cy="1773918"/>
              <a:chOff x="2809360" y="3881692"/>
              <a:chExt cx="3691466" cy="1773918"/>
            </a:xfrm>
          </p:grpSpPr>
          <p:cxnSp>
            <p:nvCxnSpPr>
              <p:cNvPr id="19" name="直接箭头连接符 18"/>
              <p:cNvCxnSpPr/>
              <p:nvPr/>
            </p:nvCxnSpPr>
            <p:spPr>
              <a:xfrm flipV="1">
                <a:off x="3845588" y="4441164"/>
                <a:ext cx="1500198" cy="1214446"/>
              </a:xfrm>
              <a:prstGeom prst="straightConnector1">
                <a:avLst/>
              </a:prstGeom>
              <a:ln>
                <a:prstDash val="dash"/>
                <a:tailEnd type="none"/>
              </a:ln>
            </p:spPr>
            <p:style>
              <a:lnRef idx="2">
                <a:schemeClr val="dk1"/>
              </a:lnRef>
              <a:fillRef idx="0">
                <a:schemeClr val="dk1"/>
              </a:fillRef>
              <a:effectRef idx="1">
                <a:schemeClr val="dk1"/>
              </a:effectRef>
              <a:fontRef idx="minor">
                <a:schemeClr val="tx1"/>
              </a:fontRef>
            </p:style>
          </p:cxnSp>
          <p:cxnSp>
            <p:nvCxnSpPr>
              <p:cNvPr id="20" name="直接箭头连接符 19"/>
              <p:cNvCxnSpPr/>
              <p:nvPr/>
            </p:nvCxnSpPr>
            <p:spPr>
              <a:xfrm>
                <a:off x="4286248" y="3881692"/>
                <a:ext cx="1071570" cy="500066"/>
              </a:xfrm>
              <a:prstGeom prst="straightConnector1">
                <a:avLst/>
              </a:prstGeom>
              <a:ln>
                <a:prstDash val="dash"/>
                <a:tailEnd type="none"/>
              </a:ln>
            </p:spPr>
            <p:style>
              <a:lnRef idx="2">
                <a:schemeClr val="dk1"/>
              </a:lnRef>
              <a:fillRef idx="0">
                <a:schemeClr val="dk1"/>
              </a:fillRef>
              <a:effectRef idx="1">
                <a:schemeClr val="dk1"/>
              </a:effectRef>
              <a:fontRef idx="minor">
                <a:schemeClr val="tx1"/>
              </a:fontRef>
            </p:style>
          </p:cxnSp>
          <p:cxnSp>
            <p:nvCxnSpPr>
              <p:cNvPr id="22" name="直接箭头连接符 21"/>
              <p:cNvCxnSpPr/>
              <p:nvPr/>
            </p:nvCxnSpPr>
            <p:spPr>
              <a:xfrm flipV="1">
                <a:off x="2809360" y="4405068"/>
                <a:ext cx="2500330" cy="714380"/>
              </a:xfrm>
              <a:prstGeom prst="straightConnector1">
                <a:avLst/>
              </a:prstGeom>
              <a:ln>
                <a:solidFill>
                  <a:srgbClr val="9900FF"/>
                </a:solidFill>
                <a:tailEnd type="arrow"/>
              </a:ln>
            </p:spPr>
            <p:style>
              <a:lnRef idx="2">
                <a:schemeClr val="dk1"/>
              </a:lnRef>
              <a:fillRef idx="0">
                <a:schemeClr val="dk1"/>
              </a:fillRef>
              <a:effectRef idx="1">
                <a:schemeClr val="dk1"/>
              </a:effectRef>
              <a:fontRef idx="minor">
                <a:schemeClr val="tx1"/>
              </a:fontRef>
            </p:style>
          </p:cxnSp>
          <p:sp>
            <p:nvSpPr>
              <p:cNvPr id="23" name="TextBox 22"/>
              <p:cNvSpPr txBox="1"/>
              <p:nvPr/>
            </p:nvSpPr>
            <p:spPr>
              <a:xfrm>
                <a:off x="5429256" y="4214818"/>
                <a:ext cx="107157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3</a:t>
                </a:r>
                <a:r>
                  <a:rPr lang="en-US" altLang="zh-CN" sz="1800">
                    <a:solidFill>
                      <a:srgbClr val="0000FF"/>
                    </a:solidFill>
                    <a:latin typeface="Consolas" pitchFamily="49" charset="0"/>
                    <a:cs typeface="Consolas" pitchFamily="49" charset="0"/>
                  </a:rPr>
                  <a:t>(5,2)</a:t>
                </a:r>
                <a:endParaRPr lang="zh-CN" altLang="en-US" sz="1800">
                  <a:solidFill>
                    <a:srgbClr val="0000FF"/>
                  </a:solidFill>
                  <a:latin typeface="Consolas" pitchFamily="49" charset="0"/>
                  <a:cs typeface="Consolas" pitchFamily="49" charset="0"/>
                </a:endParaRPr>
              </a:p>
            </p:txBody>
          </p:sp>
        </p:grpSp>
      </p:grpSp>
      <p:sp>
        <p:nvSpPr>
          <p:cNvPr id="26" name="灯片编号占位符 25"/>
          <p:cNvSpPr>
            <a:spLocks noGrp="1"/>
          </p:cNvSpPr>
          <p:nvPr>
            <p:ph type="sldNum" sz="quarter" idx="12"/>
          </p:nvPr>
        </p:nvSpPr>
        <p:spPr/>
        <p:txBody>
          <a:bodyPr/>
          <a:lstStyle/>
          <a:p>
            <a:pPr>
              <a:defRPr/>
            </a:pPr>
            <a:fld id="{51116183-1013-4E64-BBE8-A5C1D5D4F838}" type="slidenum">
              <a:rPr lang="en-US" altLang="zh-CN" smtClean="0"/>
              <a:pPr>
                <a:defRPr/>
              </a:pPr>
              <a:t>7</a:t>
            </a:fld>
            <a:r>
              <a:rPr lang="en-US" altLang="zh-CN"/>
              <a:t>/167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2"/>
          <p:cNvSpPr txBox="1">
            <a:spLocks noChangeArrowheads="1"/>
          </p:cNvSpPr>
          <p:nvPr/>
        </p:nvSpPr>
        <p:spPr bwMode="auto">
          <a:xfrm>
            <a:off x="571472" y="428604"/>
            <a:ext cx="6480175" cy="454612"/>
          </a:xfrm>
          <a:prstGeom prst="rect">
            <a:avLst/>
          </a:prstGeom>
          <a:noFill/>
          <a:ln w="9525">
            <a:noFill/>
            <a:miter lim="800000"/>
            <a:headEnd/>
            <a:tailEnd/>
          </a:ln>
        </p:spPr>
        <p:txBody>
          <a:bodyPr>
            <a:spAutoFit/>
          </a:bodyPr>
          <a:lstStyle/>
          <a:p>
            <a:pPr>
              <a:lnSpc>
                <a:spcPts val="3000"/>
              </a:lnSpc>
            </a:pPr>
            <a:r>
              <a:rPr lang="zh-CN" altLang="zh-CN">
                <a:solidFill>
                  <a:srgbClr val="0000FF"/>
                </a:solidFill>
                <a:latin typeface="Consolas" pitchFamily="49" charset="0"/>
                <a:ea typeface="仿宋" pitchFamily="49" charset="-122"/>
                <a:cs typeface="Consolas" pitchFamily="49" charset="0"/>
              </a:rPr>
              <a:t>求两个向量</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的加法运算的算法如下：</a:t>
            </a:r>
            <a:endParaRPr lang="zh-CN" altLang="en-US">
              <a:solidFill>
                <a:srgbClr val="0000FF"/>
              </a:solidFill>
              <a:latin typeface="Consolas" pitchFamily="49" charset="0"/>
              <a:ea typeface="仿宋" pitchFamily="49" charset="-122"/>
              <a:cs typeface="Consolas" pitchFamily="49" charset="0"/>
            </a:endParaRPr>
          </a:p>
        </p:txBody>
      </p:sp>
      <p:sp>
        <p:nvSpPr>
          <p:cNvPr id="2052" name="Text Box 3"/>
          <p:cNvSpPr txBox="1">
            <a:spLocks noChangeArrowheads="1"/>
          </p:cNvSpPr>
          <p:nvPr/>
        </p:nvSpPr>
        <p:spPr bwMode="auto">
          <a:xfrm>
            <a:off x="642910" y="1071546"/>
            <a:ext cx="7715304" cy="1829695"/>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180000" tIns="144000" bIns="144000">
            <a:spAutoFit/>
          </a:bodyPr>
          <a:lstStyle/>
          <a:p>
            <a:r>
              <a:rPr lang="en-US" altLang="zh-CN" sz="2000" dirty="0">
                <a:solidFill>
                  <a:srgbClr val="FF0000"/>
                </a:solidFill>
                <a:latin typeface="Consolas" pitchFamily="49" charset="0"/>
                <a:ea typeface="仿宋" pitchFamily="49" charset="-122"/>
                <a:cs typeface="Consolas" pitchFamily="49" charset="0"/>
              </a:rPr>
              <a:t>Point operator +(const Point </a:t>
            </a:r>
            <a:r>
              <a:rPr lang="en-US" altLang="zh-CN" sz="2000">
                <a:solidFill>
                  <a:srgbClr val="FF0000"/>
                </a:solidFill>
                <a:latin typeface="Consolas" pitchFamily="49" charset="0"/>
                <a:ea typeface="仿宋" pitchFamily="49" charset="-122"/>
                <a:cs typeface="Consolas" pitchFamily="49" charset="0"/>
              </a:rPr>
              <a:t>&amp;p1</a:t>
            </a:r>
            <a:r>
              <a:rPr lang="zh-CN" altLang="en-US" sz="2000">
                <a:solidFill>
                  <a:srgbClr val="FF0000"/>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const </a:t>
            </a:r>
            <a:r>
              <a:rPr lang="en-US" altLang="zh-CN" sz="2000" dirty="0">
                <a:solidFill>
                  <a:srgbClr val="FF0000"/>
                </a:solidFill>
                <a:latin typeface="Consolas" pitchFamily="49" charset="0"/>
                <a:ea typeface="仿宋" pitchFamily="49" charset="-122"/>
                <a:cs typeface="Consolas" pitchFamily="49" charset="0"/>
              </a:rPr>
              <a:t>Point &amp;</a:t>
            </a:r>
            <a:r>
              <a:rPr lang="en-US" altLang="zh-CN" sz="2000" dirty="0" err="1">
                <a:solidFill>
                  <a:srgbClr val="FF0000"/>
                </a:solidFill>
                <a:latin typeface="Consolas" pitchFamily="49" charset="0"/>
                <a:ea typeface="仿宋" pitchFamily="49" charset="-122"/>
                <a:cs typeface="Consolas" pitchFamily="49" charset="0"/>
              </a:rPr>
              <a:t>p2</a:t>
            </a:r>
            <a:r>
              <a:rPr lang="en-US" altLang="zh-CN" sz="2000" dirty="0">
                <a:solidFill>
                  <a:srgbClr val="FF0000"/>
                </a:solidFill>
                <a:latin typeface="Consolas" pitchFamily="49" charset="0"/>
                <a:ea typeface="仿宋" pitchFamily="49" charset="-122"/>
                <a:cs typeface="Consolas" pitchFamily="49" charset="0"/>
              </a:rPr>
              <a:t>)</a:t>
            </a:r>
          </a:p>
          <a:p>
            <a:r>
              <a:rPr lang="en-US" altLang="zh-CN" sz="2000" dirty="0">
                <a:solidFill>
                  <a:srgbClr val="FF0000"/>
                </a:solidFill>
                <a:latin typeface="Consolas" pitchFamily="49" charset="0"/>
                <a:ea typeface="仿宋" pitchFamily="49" charset="-122"/>
                <a:cs typeface="Consolas" pitchFamily="49" charset="0"/>
              </a:rPr>
              <a:t>//</a:t>
            </a:r>
            <a:r>
              <a:rPr lang="zh-CN" altLang="en-US" sz="2000" dirty="0">
                <a:solidFill>
                  <a:srgbClr val="FF0000"/>
                </a:solidFill>
                <a:latin typeface="Consolas" pitchFamily="49" charset="0"/>
                <a:ea typeface="仿宋" pitchFamily="49" charset="-122"/>
                <a:cs typeface="Consolas" pitchFamily="49" charset="0"/>
              </a:rPr>
              <a:t>重载</a:t>
            </a:r>
            <a:r>
              <a:rPr lang="en-US" altLang="zh-CN" sz="2000" dirty="0">
                <a:solidFill>
                  <a:srgbClr val="FF0000"/>
                </a:solidFill>
                <a:latin typeface="Consolas" pitchFamily="49" charset="0"/>
                <a:ea typeface="仿宋" pitchFamily="49" charset="-122"/>
                <a:cs typeface="Consolas" pitchFamily="49" charset="0"/>
              </a:rPr>
              <a:t>+</a:t>
            </a:r>
            <a:r>
              <a:rPr lang="zh-CN" altLang="en-US" sz="2000" dirty="0">
                <a:solidFill>
                  <a:srgbClr val="FF0000"/>
                </a:solidFill>
                <a:latin typeface="Consolas" pitchFamily="49" charset="0"/>
                <a:ea typeface="仿宋" pitchFamily="49" charset="-122"/>
                <a:cs typeface="Consolas" pitchFamily="49" charset="0"/>
              </a:rPr>
              <a:t>运算符</a:t>
            </a:r>
          </a:p>
          <a:p>
            <a:r>
              <a:rPr lang="en-US" altLang="zh-CN" sz="2000" dirty="0">
                <a:solidFill>
                  <a:srgbClr val="0000FF"/>
                </a:solidFill>
                <a:latin typeface="Consolas" pitchFamily="49" charset="0"/>
                <a:ea typeface="仿宋" pitchFamily="49" charset="-122"/>
                <a:cs typeface="Consolas" pitchFamily="49" charset="0"/>
              </a:rPr>
              <a:t>{</a:t>
            </a:r>
          </a:p>
          <a:p>
            <a:r>
              <a:rPr lang="zh-CN" altLang="en-US" sz="2000" dirty="0">
                <a:solidFill>
                  <a:srgbClr val="0000FF"/>
                </a:solidFill>
                <a:latin typeface="Consolas" pitchFamily="49" charset="0"/>
                <a:ea typeface="仿宋" pitchFamily="49" charset="-122"/>
                <a:cs typeface="Consolas" pitchFamily="49" charset="0"/>
              </a:rPr>
              <a:t>　　</a:t>
            </a:r>
            <a:r>
              <a:rPr lang="en-US" altLang="zh-CN" sz="2000">
                <a:solidFill>
                  <a:srgbClr val="0000FF"/>
                </a:solidFill>
                <a:latin typeface="Consolas" pitchFamily="49" charset="0"/>
                <a:ea typeface="仿宋" pitchFamily="49" charset="-122"/>
                <a:cs typeface="Consolas" pitchFamily="49" charset="0"/>
              </a:rPr>
              <a:t>return Point(p1.x+p2.x</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p1.y+p2.y</a:t>
            </a:r>
            <a:r>
              <a:rPr lang="en-US" altLang="zh-CN" sz="2000" dirty="0">
                <a:solidFill>
                  <a:srgbClr val="0000FF"/>
                </a:solidFill>
                <a:latin typeface="Consolas" pitchFamily="49" charset="0"/>
                <a:ea typeface="仿宋" pitchFamily="49" charset="-122"/>
                <a:cs typeface="Consolas" pitchFamily="49" charset="0"/>
              </a:rPr>
              <a:t>);</a:t>
            </a:r>
          </a:p>
          <a:p>
            <a:r>
              <a:rPr lang="en-US" altLang="zh-CN" sz="2000" dirty="0">
                <a:solidFill>
                  <a:srgbClr val="0000FF"/>
                </a:solidFill>
                <a:latin typeface="Consolas" pitchFamily="49" charset="0"/>
                <a:ea typeface="仿宋" pitchFamily="49" charset="-122"/>
                <a:cs typeface="Consolas" pitchFamily="49" charset="0"/>
              </a:rPr>
              <a:t>}</a:t>
            </a:r>
          </a:p>
        </p:txBody>
      </p:sp>
      <p:grpSp>
        <p:nvGrpSpPr>
          <p:cNvPr id="6" name="组合 5"/>
          <p:cNvGrpSpPr/>
          <p:nvPr/>
        </p:nvGrpSpPr>
        <p:grpSpPr>
          <a:xfrm>
            <a:off x="1857356" y="3071810"/>
            <a:ext cx="4286280" cy="2715438"/>
            <a:chOff x="1857356" y="3500438"/>
            <a:chExt cx="4286280" cy="2715438"/>
          </a:xfrm>
        </p:grpSpPr>
        <p:cxnSp>
          <p:nvCxnSpPr>
            <p:cNvPr id="7" name="直接箭头连接符 6"/>
            <p:cNvCxnSpPr/>
            <p:nvPr/>
          </p:nvCxnSpPr>
          <p:spPr>
            <a:xfrm>
              <a:off x="1857356" y="5141924"/>
              <a:ext cx="42862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rot="5400000" flipH="1" flipV="1">
              <a:off x="1500166" y="4929198"/>
              <a:ext cx="257176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143108" y="5214950"/>
              <a:ext cx="71438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(0,0)</a:t>
              </a:r>
              <a:endParaRPr lang="zh-CN" altLang="en-US" sz="1800">
                <a:solidFill>
                  <a:srgbClr val="0000FF"/>
                </a:solidFill>
                <a:latin typeface="Consolas" pitchFamily="49" charset="0"/>
                <a:cs typeface="Consolas" pitchFamily="49" charset="0"/>
              </a:endParaRPr>
            </a:p>
          </p:txBody>
        </p:sp>
        <p:cxnSp>
          <p:nvCxnSpPr>
            <p:cNvPr id="10" name="直接箭头连接符 9"/>
            <p:cNvCxnSpPr/>
            <p:nvPr/>
          </p:nvCxnSpPr>
          <p:spPr>
            <a:xfrm>
              <a:off x="2786050" y="5143512"/>
              <a:ext cx="1071570" cy="500066"/>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11" name="直接箭头连接符 10"/>
            <p:cNvCxnSpPr/>
            <p:nvPr/>
          </p:nvCxnSpPr>
          <p:spPr>
            <a:xfrm flipV="1">
              <a:off x="2786050" y="3893724"/>
              <a:ext cx="1500198" cy="1214446"/>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3643306" y="5786454"/>
              <a:ext cx="107157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r>
                <a:rPr lang="en-US" altLang="zh-CN" sz="1800">
                  <a:solidFill>
                    <a:srgbClr val="0000FF"/>
                  </a:solidFill>
                  <a:latin typeface="Consolas" pitchFamily="49" charset="0"/>
                  <a:cs typeface="Consolas" pitchFamily="49" charset="0"/>
                </a:rPr>
                <a:t>(2,-1)</a:t>
              </a:r>
              <a:endParaRPr lang="zh-CN" altLang="en-US" sz="1800">
                <a:solidFill>
                  <a:srgbClr val="0000FF"/>
                </a:solidFill>
                <a:latin typeface="Consolas" pitchFamily="49" charset="0"/>
                <a:cs typeface="Consolas" pitchFamily="49" charset="0"/>
              </a:endParaRPr>
            </a:p>
          </p:txBody>
        </p:sp>
        <p:sp>
          <p:nvSpPr>
            <p:cNvPr id="13" name="TextBox 12"/>
            <p:cNvSpPr txBox="1"/>
            <p:nvPr/>
          </p:nvSpPr>
          <p:spPr>
            <a:xfrm>
              <a:off x="4286248" y="3500438"/>
              <a:ext cx="107157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r>
                <a:rPr lang="en-US" altLang="zh-CN" sz="1800">
                  <a:solidFill>
                    <a:srgbClr val="0000FF"/>
                  </a:solidFill>
                  <a:latin typeface="Consolas" pitchFamily="49" charset="0"/>
                  <a:cs typeface="Consolas" pitchFamily="49" charset="0"/>
                </a:rPr>
                <a:t>(3,3)</a:t>
              </a:r>
              <a:endParaRPr lang="zh-CN" altLang="en-US" sz="1800">
                <a:solidFill>
                  <a:srgbClr val="0000FF"/>
                </a:solidFill>
                <a:latin typeface="Consolas" pitchFamily="49" charset="0"/>
                <a:cs typeface="Consolas" pitchFamily="49" charset="0"/>
              </a:endParaRPr>
            </a:p>
          </p:txBody>
        </p:sp>
      </p:grpSp>
      <p:grpSp>
        <p:nvGrpSpPr>
          <p:cNvPr id="14" name="组合 13"/>
          <p:cNvGrpSpPr/>
          <p:nvPr/>
        </p:nvGrpSpPr>
        <p:grpSpPr>
          <a:xfrm>
            <a:off x="2809360" y="3453064"/>
            <a:ext cx="3691466" cy="1773918"/>
            <a:chOff x="2809360" y="3881692"/>
            <a:chExt cx="3691466" cy="1773918"/>
          </a:xfrm>
        </p:grpSpPr>
        <p:cxnSp>
          <p:nvCxnSpPr>
            <p:cNvPr id="15" name="直接箭头连接符 14"/>
            <p:cNvCxnSpPr/>
            <p:nvPr/>
          </p:nvCxnSpPr>
          <p:spPr>
            <a:xfrm flipV="1">
              <a:off x="3845588" y="4441164"/>
              <a:ext cx="1500198" cy="1214446"/>
            </a:xfrm>
            <a:prstGeom prst="straightConnector1">
              <a:avLst/>
            </a:prstGeom>
            <a:ln>
              <a:prstDash val="dash"/>
              <a:tailEnd type="none"/>
            </a:ln>
          </p:spPr>
          <p:style>
            <a:lnRef idx="2">
              <a:schemeClr val="dk1"/>
            </a:lnRef>
            <a:fillRef idx="0">
              <a:schemeClr val="dk1"/>
            </a:fillRef>
            <a:effectRef idx="1">
              <a:schemeClr val="dk1"/>
            </a:effectRef>
            <a:fontRef idx="minor">
              <a:schemeClr val="tx1"/>
            </a:fontRef>
          </p:style>
        </p:cxnSp>
        <p:cxnSp>
          <p:nvCxnSpPr>
            <p:cNvPr id="16" name="直接箭头连接符 15"/>
            <p:cNvCxnSpPr/>
            <p:nvPr/>
          </p:nvCxnSpPr>
          <p:spPr>
            <a:xfrm>
              <a:off x="4286248" y="3881692"/>
              <a:ext cx="1071570" cy="500066"/>
            </a:xfrm>
            <a:prstGeom prst="straightConnector1">
              <a:avLst/>
            </a:prstGeom>
            <a:ln>
              <a:prstDash val="dash"/>
              <a:tailEnd type="none"/>
            </a:ln>
          </p:spPr>
          <p:style>
            <a:lnRef idx="2">
              <a:schemeClr val="dk1"/>
            </a:lnRef>
            <a:fillRef idx="0">
              <a:schemeClr val="dk1"/>
            </a:fillRef>
            <a:effectRef idx="1">
              <a:schemeClr val="dk1"/>
            </a:effectRef>
            <a:fontRef idx="minor">
              <a:schemeClr val="tx1"/>
            </a:fontRef>
          </p:style>
        </p:cxnSp>
        <p:cxnSp>
          <p:nvCxnSpPr>
            <p:cNvPr id="17" name="直接箭头连接符 16"/>
            <p:cNvCxnSpPr/>
            <p:nvPr/>
          </p:nvCxnSpPr>
          <p:spPr>
            <a:xfrm flipV="1">
              <a:off x="2809360" y="4405068"/>
              <a:ext cx="2500330" cy="714380"/>
            </a:xfrm>
            <a:prstGeom prst="straightConnector1">
              <a:avLst/>
            </a:prstGeom>
            <a:ln>
              <a:solidFill>
                <a:srgbClr val="9900FF"/>
              </a:solidFill>
              <a:tailEnd type="arrow"/>
            </a:ln>
          </p:spPr>
          <p:style>
            <a:lnRef idx="2">
              <a:schemeClr val="dk1"/>
            </a:lnRef>
            <a:fillRef idx="0">
              <a:schemeClr val="dk1"/>
            </a:fillRef>
            <a:effectRef idx="1">
              <a:schemeClr val="dk1"/>
            </a:effectRef>
            <a:fontRef idx="minor">
              <a:schemeClr val="tx1"/>
            </a:fontRef>
          </p:style>
        </p:cxnSp>
        <p:sp>
          <p:nvSpPr>
            <p:cNvPr id="18" name="TextBox 17"/>
            <p:cNvSpPr txBox="1"/>
            <p:nvPr/>
          </p:nvSpPr>
          <p:spPr>
            <a:xfrm>
              <a:off x="5429256" y="4214818"/>
              <a:ext cx="107157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3</a:t>
              </a:r>
              <a:r>
                <a:rPr lang="en-US" altLang="zh-CN" sz="1800">
                  <a:solidFill>
                    <a:srgbClr val="0000FF"/>
                  </a:solidFill>
                  <a:latin typeface="Consolas" pitchFamily="49" charset="0"/>
                  <a:cs typeface="Consolas" pitchFamily="49" charset="0"/>
                </a:rPr>
                <a:t>(5,2)</a:t>
              </a:r>
              <a:endParaRPr lang="zh-CN" altLang="en-US" sz="1800">
                <a:solidFill>
                  <a:srgbClr val="0000FF"/>
                </a:solidFill>
                <a:latin typeface="Consolas" pitchFamily="49" charset="0"/>
                <a:cs typeface="Consolas" pitchFamily="49" charset="0"/>
              </a:endParaRPr>
            </a:p>
          </p:txBody>
        </p:sp>
      </p:grpSp>
      <p:sp>
        <p:nvSpPr>
          <p:cNvPr id="20" name="灯片编号占位符 19"/>
          <p:cNvSpPr>
            <a:spLocks noGrp="1"/>
          </p:cNvSpPr>
          <p:nvPr>
            <p:ph type="sldNum" sz="quarter" idx="12"/>
          </p:nvPr>
        </p:nvSpPr>
        <p:spPr/>
        <p:txBody>
          <a:bodyPr/>
          <a:lstStyle/>
          <a:p>
            <a:pPr>
              <a:defRPr/>
            </a:pPr>
            <a:fld id="{51116183-1013-4E64-BBE8-A5C1D5D4F838}" type="slidenum">
              <a:rPr lang="en-US" altLang="zh-CN" smtClean="0"/>
              <a:pPr>
                <a:defRPr/>
              </a:pPr>
              <a:t>8</a:t>
            </a:fld>
            <a:r>
              <a:rPr lang="en-US" altLang="zh-CN"/>
              <a:t>/167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500042"/>
            <a:ext cx="8072494" cy="163121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向量减法是向量加法的逆运算，一个向量减去另一个向量，等于加上那个向量的负向量，即</a:t>
            </a:r>
            <a:r>
              <a:rPr lang="en-US" altLang="zh-CN">
                <a:solidFill>
                  <a:srgbClr val="0000FF"/>
                </a:solidFill>
                <a:latin typeface="Consolas" pitchFamily="49" charset="0"/>
                <a:ea typeface="仿宋" pitchFamily="49" charset="-122"/>
                <a:cs typeface="Consolas" pitchFamily="49" charset="0"/>
              </a:rPr>
              <a:t>:</a:t>
            </a:r>
          </a:p>
          <a:p>
            <a:pPr>
              <a:lnSpc>
                <a:spcPts val="3000"/>
              </a:lnSpc>
            </a:pPr>
            <a:r>
              <a:rPr lang="en-US" altLang="zh-CN">
                <a:solidFill>
                  <a:srgbClr val="0000FF"/>
                </a:solidFill>
                <a:latin typeface="Consolas" pitchFamily="49" charset="0"/>
                <a:ea typeface="仿宋" pitchFamily="49" charset="-122"/>
                <a:cs typeface="Consolas" pitchFamily="49" charset="0"/>
              </a:rPr>
              <a:t>      </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en-US" altLang="zh-CN">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x</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en-US" altLang="zh-CN">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x</a:t>
            </a:r>
            <a:r>
              <a:rPr lang="zh-CN" altLang="zh-CN">
                <a:solidFill>
                  <a:srgbClr val="C00000"/>
                </a:solidFill>
                <a:latin typeface="Consolas" pitchFamily="49" charset="0"/>
                <a:ea typeface="仿宋" pitchFamily="49" charset="-122"/>
                <a:cs typeface="Consolas" pitchFamily="49" charset="0"/>
              </a:rPr>
              <a:t>，</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en-US" altLang="zh-CN">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y</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en-US" altLang="zh-CN">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y</a:t>
            </a:r>
            <a:r>
              <a:rPr lang="en-US" altLang="zh-CN">
                <a:solidFill>
                  <a:srgbClr val="C00000"/>
                </a:solidFill>
                <a:latin typeface="Consolas" pitchFamily="49" charset="0"/>
                <a:ea typeface="仿宋" pitchFamily="49" charset="-122"/>
                <a:cs typeface="Consolas" pitchFamily="49" charset="0"/>
              </a:rPr>
              <a:t>)</a:t>
            </a:r>
          </a:p>
          <a:p>
            <a:pPr>
              <a:lnSpc>
                <a:spcPts val="3000"/>
              </a:lnSpc>
            </a:pPr>
            <a:r>
              <a:rPr lang="zh-CN" altLang="zh-CN">
                <a:solidFill>
                  <a:srgbClr val="0000FF"/>
                </a:solidFill>
                <a:latin typeface="Consolas" pitchFamily="49" charset="0"/>
                <a:ea typeface="仿宋" pitchFamily="49" charset="-122"/>
                <a:cs typeface="Consolas" pitchFamily="49" charset="0"/>
              </a:rPr>
              <a:t>其结果仍为一个向量。</a:t>
            </a:r>
          </a:p>
        </p:txBody>
      </p:sp>
      <p:cxnSp>
        <p:nvCxnSpPr>
          <p:cNvPr id="22" name="直接箭头连接符 21"/>
          <p:cNvCxnSpPr/>
          <p:nvPr/>
        </p:nvCxnSpPr>
        <p:spPr>
          <a:xfrm rot="5400000" flipH="1" flipV="1">
            <a:off x="3692539" y="3367241"/>
            <a:ext cx="1994570" cy="1714512"/>
          </a:xfrm>
          <a:prstGeom prst="straightConnector1">
            <a:avLst/>
          </a:prstGeom>
          <a:ln>
            <a:solidFill>
              <a:srgbClr val="006600"/>
            </a:solidFill>
            <a:prstDash val="dash"/>
            <a:tailEnd type="arrow"/>
          </a:ln>
        </p:spPr>
        <p:style>
          <a:lnRef idx="2">
            <a:schemeClr val="dk1"/>
          </a:lnRef>
          <a:fillRef idx="0">
            <a:schemeClr val="dk1"/>
          </a:fillRef>
          <a:effectRef idx="1">
            <a:schemeClr val="dk1"/>
          </a:effectRef>
          <a:fontRef idx="minor">
            <a:schemeClr val="tx1"/>
          </a:fontRef>
        </p:style>
      </p:cxnSp>
      <p:grpSp>
        <p:nvGrpSpPr>
          <p:cNvPr id="30" name="组合 29"/>
          <p:cNvGrpSpPr/>
          <p:nvPr/>
        </p:nvGrpSpPr>
        <p:grpSpPr>
          <a:xfrm>
            <a:off x="1857356" y="2571744"/>
            <a:ext cx="4786346" cy="3215504"/>
            <a:chOff x="1857356" y="2571744"/>
            <a:chExt cx="4786346" cy="3215504"/>
          </a:xfrm>
        </p:grpSpPr>
        <p:cxnSp>
          <p:nvCxnSpPr>
            <p:cNvPr id="4" name="直接箭头连接符 3"/>
            <p:cNvCxnSpPr/>
            <p:nvPr/>
          </p:nvCxnSpPr>
          <p:spPr>
            <a:xfrm>
              <a:off x="1857356" y="4713296"/>
              <a:ext cx="42862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rot="5400000" flipH="1" flipV="1">
              <a:off x="1177901" y="4179099"/>
              <a:ext cx="321550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143108" y="4786322"/>
              <a:ext cx="71438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(0,0)</a:t>
              </a:r>
              <a:endParaRPr lang="zh-CN" altLang="en-US" sz="1800">
                <a:solidFill>
                  <a:srgbClr val="0000FF"/>
                </a:solidFill>
                <a:latin typeface="Consolas" pitchFamily="49" charset="0"/>
                <a:cs typeface="Consolas" pitchFamily="49" charset="0"/>
              </a:endParaRPr>
            </a:p>
          </p:txBody>
        </p:sp>
        <p:cxnSp>
          <p:nvCxnSpPr>
            <p:cNvPr id="7" name="直接箭头连接符 6"/>
            <p:cNvCxnSpPr/>
            <p:nvPr/>
          </p:nvCxnSpPr>
          <p:spPr>
            <a:xfrm>
              <a:off x="2786050" y="4714884"/>
              <a:ext cx="1071570" cy="500066"/>
            </a:xfrm>
            <a:prstGeom prst="straightConnector1">
              <a:avLst/>
            </a:prstGeom>
            <a:ln>
              <a:solidFill>
                <a:schemeClr val="tx1"/>
              </a:solidFill>
              <a:tailEnd type="arrow"/>
            </a:ln>
          </p:spPr>
          <p:style>
            <a:lnRef idx="2">
              <a:schemeClr val="dk1"/>
            </a:lnRef>
            <a:fillRef idx="0">
              <a:schemeClr val="dk1"/>
            </a:fillRef>
            <a:effectRef idx="1">
              <a:schemeClr val="dk1"/>
            </a:effectRef>
            <a:fontRef idx="minor">
              <a:schemeClr val="tx1"/>
            </a:fontRef>
          </p:style>
        </p:cxnSp>
        <p:sp>
          <p:nvSpPr>
            <p:cNvPr id="9" name="TextBox 8"/>
            <p:cNvSpPr txBox="1"/>
            <p:nvPr/>
          </p:nvSpPr>
          <p:spPr>
            <a:xfrm>
              <a:off x="3643306" y="5357826"/>
              <a:ext cx="107157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r>
                <a:rPr lang="en-US" altLang="zh-CN" sz="1800">
                  <a:solidFill>
                    <a:srgbClr val="0000FF"/>
                  </a:solidFill>
                  <a:latin typeface="Consolas" pitchFamily="49" charset="0"/>
                  <a:cs typeface="Consolas" pitchFamily="49" charset="0"/>
                </a:rPr>
                <a:t>(2,-1)</a:t>
              </a:r>
              <a:endParaRPr lang="zh-CN" altLang="en-US" sz="1800">
                <a:solidFill>
                  <a:srgbClr val="0000FF"/>
                </a:solidFill>
                <a:latin typeface="Consolas" pitchFamily="49" charset="0"/>
                <a:cs typeface="Consolas" pitchFamily="49" charset="0"/>
              </a:endParaRPr>
            </a:p>
          </p:txBody>
        </p:sp>
        <p:sp>
          <p:nvSpPr>
            <p:cNvPr id="15" name="TextBox 14"/>
            <p:cNvSpPr txBox="1"/>
            <p:nvPr/>
          </p:nvSpPr>
          <p:spPr>
            <a:xfrm>
              <a:off x="5572132" y="3000372"/>
              <a:ext cx="107157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r>
                <a:rPr lang="en-US" altLang="zh-CN" sz="1800">
                  <a:solidFill>
                    <a:srgbClr val="0000FF"/>
                  </a:solidFill>
                  <a:latin typeface="Consolas" pitchFamily="49" charset="0"/>
                  <a:cs typeface="Consolas" pitchFamily="49" charset="0"/>
                </a:rPr>
                <a:t>(5,4)</a:t>
              </a:r>
              <a:endParaRPr lang="zh-CN" altLang="en-US" sz="1800">
                <a:solidFill>
                  <a:srgbClr val="0000FF"/>
                </a:solidFill>
                <a:latin typeface="Consolas" pitchFamily="49" charset="0"/>
                <a:cs typeface="Consolas" pitchFamily="49" charset="0"/>
              </a:endParaRPr>
            </a:p>
          </p:txBody>
        </p:sp>
        <p:cxnSp>
          <p:nvCxnSpPr>
            <p:cNvPr id="28" name="直接箭头连接符 27"/>
            <p:cNvCxnSpPr/>
            <p:nvPr/>
          </p:nvCxnSpPr>
          <p:spPr>
            <a:xfrm flipV="1">
              <a:off x="2786050" y="3214686"/>
              <a:ext cx="2714644" cy="150019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nvGrpSpPr>
          <p:cNvPr id="31" name="组合 30"/>
          <p:cNvGrpSpPr/>
          <p:nvPr/>
        </p:nvGrpSpPr>
        <p:grpSpPr>
          <a:xfrm>
            <a:off x="2786050" y="2500306"/>
            <a:ext cx="2786082" cy="2208884"/>
            <a:chOff x="2786050" y="2500306"/>
            <a:chExt cx="2786082" cy="2208884"/>
          </a:xfrm>
        </p:grpSpPr>
        <p:cxnSp>
          <p:nvCxnSpPr>
            <p:cNvPr id="8" name="直接箭头连接符 7"/>
            <p:cNvCxnSpPr/>
            <p:nvPr/>
          </p:nvCxnSpPr>
          <p:spPr>
            <a:xfrm rot="5400000" flipH="1" flipV="1">
              <a:off x="2646021" y="2854649"/>
              <a:ext cx="1994570" cy="1714512"/>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4500562" y="2500306"/>
              <a:ext cx="107157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3</a:t>
              </a:r>
              <a:r>
                <a:rPr lang="en-US" altLang="zh-CN" sz="1800">
                  <a:solidFill>
                    <a:srgbClr val="0000FF"/>
                  </a:solidFill>
                  <a:latin typeface="Consolas" pitchFamily="49" charset="0"/>
                  <a:cs typeface="Consolas" pitchFamily="49" charset="0"/>
                </a:rPr>
                <a:t>(3,5)</a:t>
              </a:r>
              <a:endParaRPr lang="zh-CN" altLang="en-US" sz="1800">
                <a:solidFill>
                  <a:srgbClr val="0000FF"/>
                </a:solidFill>
                <a:latin typeface="Consolas" pitchFamily="49" charset="0"/>
                <a:cs typeface="Consolas" pitchFamily="49" charset="0"/>
              </a:endParaRPr>
            </a:p>
          </p:txBody>
        </p:sp>
        <p:sp>
          <p:nvSpPr>
            <p:cNvPr id="29" name="TextBox 28"/>
            <p:cNvSpPr txBox="1"/>
            <p:nvPr/>
          </p:nvSpPr>
          <p:spPr>
            <a:xfrm>
              <a:off x="3143240" y="3214686"/>
              <a:ext cx="857256"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grpSp>
      <p:sp>
        <p:nvSpPr>
          <p:cNvPr id="17" name="灯片编号占位符 16"/>
          <p:cNvSpPr>
            <a:spLocks noGrp="1"/>
          </p:cNvSpPr>
          <p:nvPr>
            <p:ph type="sldNum" sz="quarter" idx="12"/>
          </p:nvPr>
        </p:nvSpPr>
        <p:spPr/>
        <p:txBody>
          <a:bodyPr/>
          <a:lstStyle/>
          <a:p>
            <a:pPr>
              <a:defRPr/>
            </a:pPr>
            <a:fld id="{51116183-1013-4E64-BBE8-A5C1D5D4F838}" type="slidenum">
              <a:rPr lang="en-US" altLang="zh-CN" smtClean="0"/>
              <a:pPr>
                <a:defRPr/>
              </a:pPr>
              <a:t>9</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468313" y="457122"/>
            <a:ext cx="6696075" cy="461665"/>
          </a:xfrm>
          <a:prstGeom prst="rect">
            <a:avLst/>
          </a:prstGeom>
          <a:noFill/>
          <a:ln w="9525">
            <a:noFill/>
            <a:miter lim="800000"/>
            <a:headEnd/>
            <a:tailEnd/>
          </a:ln>
        </p:spPr>
        <p:txBody>
          <a:bodyPr>
            <a:spAutoFit/>
          </a:bodyPr>
          <a:lstStyle/>
          <a:p>
            <a:r>
              <a:rPr lang="zh-CN" altLang="zh-CN">
                <a:solidFill>
                  <a:srgbClr val="0000FF"/>
                </a:solidFill>
                <a:latin typeface="Consolas" pitchFamily="49" charset="0"/>
                <a:ea typeface="仿宋" pitchFamily="49" charset="-122"/>
                <a:cs typeface="Consolas" pitchFamily="49" charset="0"/>
              </a:rPr>
              <a:t>求两个向量</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的减法运算的算法如下：</a:t>
            </a:r>
          </a:p>
        </p:txBody>
      </p:sp>
      <p:sp>
        <p:nvSpPr>
          <p:cNvPr id="39939" name="Text Box 3"/>
          <p:cNvSpPr txBox="1">
            <a:spLocks noChangeArrowheads="1"/>
          </p:cNvSpPr>
          <p:nvPr/>
        </p:nvSpPr>
        <p:spPr bwMode="auto">
          <a:xfrm>
            <a:off x="357158" y="1357298"/>
            <a:ext cx="7534298" cy="1902398"/>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180000" tIns="180000" bIns="180000">
            <a:spAutoFit/>
          </a:bodyPr>
          <a:lstStyle/>
          <a:p>
            <a:r>
              <a:rPr lang="en-US" altLang="zh-CN" sz="2000" dirty="0">
                <a:solidFill>
                  <a:srgbClr val="FF0000"/>
                </a:solidFill>
                <a:latin typeface="Consolas" pitchFamily="49" charset="0"/>
                <a:ea typeface="仿宋" pitchFamily="49" charset="-122"/>
                <a:cs typeface="Consolas" pitchFamily="49" charset="0"/>
              </a:rPr>
              <a:t>Point operator -(const Point </a:t>
            </a:r>
            <a:r>
              <a:rPr lang="en-US" altLang="zh-CN" sz="2000">
                <a:solidFill>
                  <a:srgbClr val="FF0000"/>
                </a:solidFill>
                <a:latin typeface="Consolas" pitchFamily="49" charset="0"/>
                <a:ea typeface="仿宋" pitchFamily="49" charset="-122"/>
                <a:cs typeface="Consolas" pitchFamily="49" charset="0"/>
              </a:rPr>
              <a:t>&amp;p1</a:t>
            </a:r>
            <a:r>
              <a:rPr lang="zh-CN" altLang="en-US" sz="2000">
                <a:solidFill>
                  <a:srgbClr val="FF0000"/>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const </a:t>
            </a:r>
            <a:r>
              <a:rPr lang="en-US" altLang="zh-CN" sz="2000" dirty="0">
                <a:solidFill>
                  <a:srgbClr val="FF0000"/>
                </a:solidFill>
                <a:latin typeface="Consolas" pitchFamily="49" charset="0"/>
                <a:ea typeface="仿宋" pitchFamily="49" charset="-122"/>
                <a:cs typeface="Consolas" pitchFamily="49" charset="0"/>
              </a:rPr>
              <a:t>Point &amp;</a:t>
            </a:r>
            <a:r>
              <a:rPr lang="en-US" altLang="zh-CN" sz="2000" dirty="0" err="1">
                <a:solidFill>
                  <a:srgbClr val="FF0000"/>
                </a:solidFill>
                <a:latin typeface="Consolas" pitchFamily="49" charset="0"/>
                <a:ea typeface="仿宋" pitchFamily="49" charset="-122"/>
                <a:cs typeface="Consolas" pitchFamily="49" charset="0"/>
              </a:rPr>
              <a:t>p2</a:t>
            </a:r>
            <a:r>
              <a:rPr lang="en-US" altLang="zh-CN" sz="2000" dirty="0">
                <a:solidFill>
                  <a:srgbClr val="FF0000"/>
                </a:solidFill>
                <a:latin typeface="Consolas" pitchFamily="49" charset="0"/>
                <a:ea typeface="仿宋" pitchFamily="49" charset="-122"/>
                <a:cs typeface="Consolas" pitchFamily="49" charset="0"/>
              </a:rPr>
              <a:t>)</a:t>
            </a:r>
          </a:p>
          <a:p>
            <a:r>
              <a:rPr lang="en-US" altLang="zh-CN" sz="2000" dirty="0">
                <a:solidFill>
                  <a:srgbClr val="00B0F0"/>
                </a:solidFill>
                <a:latin typeface="Consolas" pitchFamily="49" charset="0"/>
                <a:ea typeface="仿宋" pitchFamily="49" charset="-122"/>
                <a:cs typeface="Consolas" pitchFamily="49" charset="0"/>
              </a:rPr>
              <a:t>//</a:t>
            </a:r>
            <a:r>
              <a:rPr lang="zh-CN" altLang="en-US" sz="2000" dirty="0">
                <a:solidFill>
                  <a:srgbClr val="00B0F0"/>
                </a:solidFill>
                <a:latin typeface="Consolas" pitchFamily="49" charset="0"/>
                <a:ea typeface="仿宋" pitchFamily="49" charset="-122"/>
                <a:cs typeface="Consolas" pitchFamily="49" charset="0"/>
              </a:rPr>
              <a:t>重载</a:t>
            </a:r>
            <a:r>
              <a:rPr lang="en-US" altLang="zh-CN" sz="2000" dirty="0">
                <a:solidFill>
                  <a:srgbClr val="00B0F0"/>
                </a:solidFill>
                <a:latin typeface="Consolas" pitchFamily="49" charset="0"/>
                <a:ea typeface="仿宋" pitchFamily="49" charset="-122"/>
                <a:cs typeface="Consolas" pitchFamily="49" charset="0"/>
              </a:rPr>
              <a:t>-</a:t>
            </a:r>
            <a:r>
              <a:rPr lang="zh-CN" altLang="en-US" sz="2000" dirty="0">
                <a:solidFill>
                  <a:srgbClr val="00B0F0"/>
                </a:solidFill>
                <a:latin typeface="Consolas" pitchFamily="49" charset="0"/>
                <a:ea typeface="仿宋" pitchFamily="49" charset="-122"/>
                <a:cs typeface="Consolas" pitchFamily="49" charset="0"/>
              </a:rPr>
              <a:t>运算符</a:t>
            </a:r>
          </a:p>
          <a:p>
            <a:r>
              <a:rPr lang="en-US" altLang="zh-CN" sz="2000" dirty="0">
                <a:solidFill>
                  <a:srgbClr val="0000FF"/>
                </a:solidFill>
                <a:latin typeface="Consolas" pitchFamily="49" charset="0"/>
                <a:ea typeface="仿宋" pitchFamily="49" charset="-122"/>
                <a:cs typeface="Consolas" pitchFamily="49" charset="0"/>
              </a:rPr>
              <a:t>{</a:t>
            </a:r>
          </a:p>
          <a:p>
            <a:r>
              <a:rPr lang="zh-CN" altLang="en-US" sz="2000" dirty="0">
                <a:solidFill>
                  <a:srgbClr val="0000FF"/>
                </a:solidFill>
                <a:latin typeface="Consolas" pitchFamily="49" charset="0"/>
                <a:ea typeface="仿宋" pitchFamily="49" charset="-122"/>
                <a:cs typeface="Consolas" pitchFamily="49" charset="0"/>
              </a:rPr>
              <a:t>　　</a:t>
            </a:r>
            <a:r>
              <a:rPr lang="en-US" altLang="zh-CN" sz="2000">
                <a:solidFill>
                  <a:srgbClr val="0000FF"/>
                </a:solidFill>
                <a:latin typeface="Consolas" pitchFamily="49" charset="0"/>
                <a:ea typeface="仿宋" pitchFamily="49" charset="-122"/>
                <a:cs typeface="Consolas" pitchFamily="49" charset="0"/>
              </a:rPr>
              <a:t>return Point(p1.x-p2.x</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p1.y-p2.y</a:t>
            </a:r>
            <a:r>
              <a:rPr lang="en-US" altLang="zh-CN" sz="2000" dirty="0">
                <a:solidFill>
                  <a:srgbClr val="0000FF"/>
                </a:solidFill>
                <a:latin typeface="Consolas" pitchFamily="49" charset="0"/>
                <a:ea typeface="仿宋" pitchFamily="49" charset="-122"/>
                <a:cs typeface="Consolas" pitchFamily="49" charset="0"/>
              </a:rPr>
              <a:t>);</a:t>
            </a:r>
          </a:p>
          <a:p>
            <a:r>
              <a:rPr lang="en-US" altLang="zh-CN" sz="2000" dirty="0">
                <a:solidFill>
                  <a:srgbClr val="0000FF"/>
                </a:solidFill>
                <a:latin typeface="Consolas" pitchFamily="49" charset="0"/>
                <a:ea typeface="仿宋" pitchFamily="49" charset="-122"/>
                <a:cs typeface="Consolas" pitchFamily="49" charset="0"/>
              </a:rPr>
              <a:t>}</a:t>
            </a:r>
          </a:p>
        </p:txBody>
      </p:sp>
      <p:sp>
        <p:nvSpPr>
          <p:cNvPr id="4" name="TextBox 3"/>
          <p:cNvSpPr txBox="1"/>
          <p:nvPr/>
        </p:nvSpPr>
        <p:spPr>
          <a:xfrm>
            <a:off x="500034" y="3571876"/>
            <a:ext cx="6357982" cy="461665"/>
          </a:xfrm>
          <a:prstGeom prst="rect">
            <a:avLst/>
          </a:prstGeom>
          <a:noFill/>
        </p:spPr>
        <p:txBody>
          <a:bodyPr wrap="square" rtlCol="0">
            <a:spAutoFit/>
          </a:bodyPr>
          <a:lstStyle/>
          <a:p>
            <a:r>
              <a:rPr lang="zh-CN" altLang="zh-CN">
                <a:solidFill>
                  <a:srgbClr val="0000FF"/>
                </a:solidFill>
                <a:latin typeface="Consolas" pitchFamily="49" charset="0"/>
                <a:ea typeface="仿宋" pitchFamily="49" charset="-122"/>
                <a:cs typeface="Consolas" pitchFamily="49" charset="0"/>
              </a:rPr>
              <a:t>显然有性质</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p>
        </p:txBody>
      </p:sp>
      <p:sp>
        <p:nvSpPr>
          <p:cNvPr id="6" name="灯片编号占位符 5"/>
          <p:cNvSpPr>
            <a:spLocks noGrp="1"/>
          </p:cNvSpPr>
          <p:nvPr>
            <p:ph type="sldNum" sz="quarter" idx="12"/>
          </p:nvPr>
        </p:nvSpPr>
        <p:spPr/>
        <p:txBody>
          <a:bodyPr/>
          <a:lstStyle/>
          <a:p>
            <a:pPr>
              <a:defRPr/>
            </a:pPr>
            <a:fld id="{51116183-1013-4E64-BBE8-A5C1D5D4F838}" type="slidenum">
              <a:rPr lang="en-US" altLang="zh-CN" smtClean="0"/>
              <a:pPr>
                <a:defRPr/>
              </a:pPr>
              <a:t>10</a:t>
            </a:fld>
            <a:r>
              <a:rPr lang="en-US" altLang="zh-CN"/>
              <a:t>/167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468313" y="476250"/>
            <a:ext cx="3103555" cy="457200"/>
          </a:xfrm>
          <a:prstGeom prst="rect">
            <a:avLst/>
          </a:prstGeom>
          <a:solidFill>
            <a:srgbClr val="9900FF"/>
          </a:solidFill>
          <a:ln w="9525">
            <a:noFill/>
            <a:miter lim="800000"/>
            <a:headEnd/>
            <a:tailEnd/>
          </a:ln>
        </p:spPr>
        <p:txBody>
          <a:bodyPr wrap="square">
            <a:spAutoFit/>
          </a:bodyPr>
          <a:lstStyle/>
          <a:p>
            <a:pPr algn="ctr">
              <a:spcBef>
                <a:spcPct val="50000"/>
              </a:spcBef>
            </a:pPr>
            <a:r>
              <a:rPr lang="en-US" altLang="zh-CN">
                <a:solidFill>
                  <a:schemeClr val="bg1"/>
                </a:solidFill>
                <a:latin typeface="Consolas" pitchFamily="49" charset="0"/>
                <a:ea typeface="微软雅黑" pitchFamily="34" charset="-122"/>
                <a:cs typeface="Consolas" pitchFamily="49" charset="0"/>
              </a:rPr>
              <a:t>2. </a:t>
            </a:r>
            <a:r>
              <a:rPr lang="zh-CN" altLang="en-US">
                <a:solidFill>
                  <a:schemeClr val="bg1"/>
                </a:solidFill>
                <a:latin typeface="Consolas" pitchFamily="49" charset="0"/>
                <a:ea typeface="微软雅黑" pitchFamily="34" charset="-122"/>
                <a:cs typeface="Consolas" pitchFamily="49" charset="0"/>
              </a:rPr>
              <a:t>向量点积运算</a:t>
            </a:r>
          </a:p>
        </p:txBody>
      </p:sp>
      <p:sp>
        <p:nvSpPr>
          <p:cNvPr id="5" name="TextBox 4"/>
          <p:cNvSpPr txBox="1"/>
          <p:nvPr/>
        </p:nvSpPr>
        <p:spPr>
          <a:xfrm>
            <a:off x="642910" y="1285860"/>
            <a:ext cx="8072494" cy="279756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zh-CN" altLang="zh-CN">
                <a:solidFill>
                  <a:srgbClr val="0000FF"/>
                </a:solidFill>
                <a:latin typeface="Consolas" pitchFamily="49" charset="0"/>
                <a:ea typeface="仿宋" pitchFamily="49" charset="-122"/>
                <a:cs typeface="Consolas" pitchFamily="49" charset="0"/>
              </a:rPr>
              <a:t>两个向量</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的点积（或内积）定义为</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zh-CN" altLang="zh-CN">
                <a:solidFill>
                  <a:srgbClr val="C00000"/>
                </a:solidFill>
                <a:latin typeface="Consolas" pitchFamily="49" charset="0"/>
                <a:ea typeface="仿宋" pitchFamily="49" charset="-122"/>
                <a:cs typeface="Consolas" pitchFamily="49" charset="0"/>
              </a:rPr>
              <a:t>·</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en-US" altLang="zh-CN">
                <a:solidFill>
                  <a:srgbClr val="C00000"/>
                </a:solidFill>
                <a:latin typeface="Consolas" pitchFamily="49" charset="0"/>
                <a:ea typeface="仿宋" pitchFamily="49" charset="-122"/>
                <a:cs typeface="Consolas" pitchFamily="49" charset="0"/>
              </a:rPr>
              <a:t>|×cos</a:t>
            </a:r>
            <a:r>
              <a:rPr lang="en-US" altLang="zh-CN">
                <a:solidFill>
                  <a:srgbClr val="C00000"/>
                </a:solidFill>
                <a:latin typeface="Consolas" pitchFamily="49" charset="0"/>
                <a:ea typeface="仿宋" pitchFamily="49" charset="-122"/>
                <a:cs typeface="Consolas" pitchFamily="49" charset="0"/>
                <a:sym typeface="Symbol"/>
              </a:rPr>
              <a:t></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en-US" altLang="zh-CN">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x</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en-US" altLang="zh-CN">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x</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en-US" altLang="zh-CN">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y</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en-US" altLang="zh-CN">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y</a:t>
            </a:r>
            <a:endParaRPr lang="en-US" altLang="zh-CN">
              <a:solidFill>
                <a:srgbClr val="C00000"/>
              </a:solidFill>
              <a:latin typeface="Consolas" pitchFamily="49" charset="0"/>
              <a:ea typeface="仿宋" pitchFamily="49" charset="-122"/>
              <a:cs typeface="Consolas" pitchFamily="49" charset="0"/>
            </a:endParaRPr>
          </a:p>
          <a:p>
            <a:pPr>
              <a:lnSpc>
                <a:spcPct val="150000"/>
              </a:lnSpc>
            </a:pPr>
            <a:r>
              <a:rPr lang="zh-CN" altLang="zh-CN">
                <a:solidFill>
                  <a:srgbClr val="0000FF"/>
                </a:solidFill>
                <a:latin typeface="Consolas" pitchFamily="49" charset="0"/>
                <a:ea typeface="仿宋" pitchFamily="49" charset="-122"/>
                <a:cs typeface="Consolas" pitchFamily="49" charset="0"/>
              </a:rPr>
              <a:t>其结果是一个标量</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a:lnSpc>
                <a:spcPct val="150000"/>
              </a:lnSpc>
            </a:pPr>
            <a:r>
              <a:rPr lang="zh-CN" altLang="zh-CN">
                <a:solidFill>
                  <a:srgbClr val="0000FF"/>
                </a:solidFill>
                <a:latin typeface="Consolas" pitchFamily="49" charset="0"/>
                <a:ea typeface="仿宋" pitchFamily="49" charset="-122"/>
                <a:cs typeface="Consolas" pitchFamily="49" charset="0"/>
              </a:rPr>
              <a:t>其中，向量</a:t>
            </a:r>
            <a:r>
              <a:rPr lang="en-US" altLang="zh-CN">
                <a:solidFill>
                  <a:srgbClr val="0000FF"/>
                </a:solidFill>
                <a:latin typeface="Consolas" pitchFamily="49" charset="0"/>
                <a:ea typeface="仿宋" pitchFamily="49" charset="-122"/>
                <a:cs typeface="Consolas" pitchFamily="49" charset="0"/>
              </a:rPr>
              <a:t>p</a:t>
            </a:r>
            <a:r>
              <a:rPr lang="zh-CN" altLang="zh-CN">
                <a:solidFill>
                  <a:srgbClr val="0000FF"/>
                </a:solidFill>
                <a:latin typeface="Consolas" pitchFamily="49" charset="0"/>
                <a:ea typeface="仿宋" pitchFamily="49" charset="-122"/>
                <a:cs typeface="Consolas" pitchFamily="49" charset="0"/>
              </a:rPr>
              <a:t>的长度</a:t>
            </a:r>
            <a:r>
              <a:rPr lang="en-US" altLang="zh-CN">
                <a:solidFill>
                  <a:srgbClr val="0000FF"/>
                </a:solidFill>
                <a:latin typeface="Consolas" pitchFamily="49" charset="0"/>
                <a:ea typeface="仿宋" pitchFamily="49" charset="-122"/>
                <a:cs typeface="Consolas" pitchFamily="49" charset="0"/>
              </a:rPr>
              <a:t>|p|=</a:t>
            </a:r>
          </a:p>
          <a:p>
            <a:pPr>
              <a:lnSpc>
                <a:spcPct val="150000"/>
              </a:lnSpc>
            </a:pPr>
            <a:r>
              <a:rPr lang="en-US" altLang="zh-CN">
                <a:solidFill>
                  <a:srgbClr val="0000FF"/>
                </a:solidFill>
                <a:latin typeface="Consolas" pitchFamily="49" charset="0"/>
                <a:ea typeface="仿宋" pitchFamily="49" charset="-122"/>
                <a:cs typeface="Consolas" pitchFamily="49" charset="0"/>
                <a:sym typeface="Symbol"/>
              </a:rPr>
              <a:t></a:t>
            </a:r>
            <a:r>
              <a:rPr lang="zh-CN" altLang="zh-CN">
                <a:solidFill>
                  <a:srgbClr val="0000FF"/>
                </a:solidFill>
                <a:latin typeface="Consolas" pitchFamily="49" charset="0"/>
                <a:ea typeface="仿宋" pitchFamily="49" charset="-122"/>
                <a:cs typeface="Consolas" pitchFamily="49" charset="0"/>
              </a:rPr>
              <a:t>表示两个向量的夹角</a:t>
            </a:r>
            <a:r>
              <a:rPr lang="zh-CN" altLang="en-US">
                <a:solidFill>
                  <a:srgbClr val="0000FF"/>
                </a:solidFill>
                <a:latin typeface="Consolas" pitchFamily="49" charset="0"/>
                <a:ea typeface="仿宋" pitchFamily="49" charset="-122"/>
                <a:cs typeface="Consolas" pitchFamily="49" charset="0"/>
              </a:rPr>
              <a:t>。</a:t>
            </a:r>
          </a:p>
        </p:txBody>
      </p:sp>
      <p:sp>
        <p:nvSpPr>
          <p:cNvPr id="59394" name="Rectangle 2"/>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latin typeface="Consolas" pitchFamily="49" charset="0"/>
              <a:cs typeface="Consolas" pitchFamily="49" charset="0"/>
            </a:endParaRPr>
          </a:p>
        </p:txBody>
      </p:sp>
      <p:graphicFrame>
        <p:nvGraphicFramePr>
          <p:cNvPr id="59393" name="Object 1"/>
          <p:cNvGraphicFramePr>
            <a:graphicFrameLocks noChangeAspect="1"/>
          </p:cNvGraphicFramePr>
          <p:nvPr/>
        </p:nvGraphicFramePr>
        <p:xfrm>
          <a:off x="4131943" y="3071810"/>
          <a:ext cx="1440189" cy="500066"/>
        </p:xfrm>
        <a:graphic>
          <a:graphicData uri="http://schemas.openxmlformats.org/presentationml/2006/ole">
            <mc:AlternateContent xmlns:mc="http://schemas.openxmlformats.org/markup-compatibility/2006">
              <mc:Choice xmlns:v="urn:schemas-microsoft-com:vml" Requires="v">
                <p:oleObj spid="_x0000_s59393" r:id="rId2" imgW="685800" imgH="241300" progId="">
                  <p:embed/>
                </p:oleObj>
              </mc:Choice>
              <mc:Fallback>
                <p:oleObj r:id="rId2" imgW="685800" imgH="241300" progId="">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1943" y="3071810"/>
                        <a:ext cx="1440189" cy="5000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51116183-1013-4E64-BBE8-A5C1D5D4F838}" type="slidenum">
              <a:rPr lang="en-US" altLang="zh-CN" smtClean="0"/>
              <a:pPr>
                <a:defRPr/>
              </a:pPr>
              <a:t>11</a:t>
            </a:fld>
            <a:r>
              <a:rPr lang="en-US" altLang="zh-CN"/>
              <a:t>/167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3"/>
          <p:cNvSpPr txBox="1">
            <a:spLocks noChangeArrowheads="1"/>
          </p:cNvSpPr>
          <p:nvPr/>
        </p:nvSpPr>
        <p:spPr bwMode="auto">
          <a:xfrm>
            <a:off x="571472" y="1000108"/>
            <a:ext cx="7561262" cy="461665"/>
          </a:xfrm>
          <a:prstGeom prst="rect">
            <a:avLst/>
          </a:prstGeom>
          <a:noFill/>
          <a:ln w="9525">
            <a:noFill/>
            <a:miter lim="800000"/>
            <a:headEnd/>
            <a:tailEnd/>
          </a:ln>
        </p:spPr>
        <p:txBody>
          <a:bodyPr>
            <a:spAutoFit/>
          </a:bodyPr>
          <a:lstStyle/>
          <a:p>
            <a:r>
              <a:rPr lang="zh-CN" altLang="zh-CN">
                <a:solidFill>
                  <a:srgbClr val="0000FF"/>
                </a:solidFill>
                <a:latin typeface="Consolas" pitchFamily="49" charset="0"/>
                <a:ea typeface="仿宋" pitchFamily="49" charset="-122"/>
                <a:cs typeface="Consolas" pitchFamily="49" charset="0"/>
              </a:rPr>
              <a:t>求两个向量</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点积的算法如下：</a:t>
            </a:r>
          </a:p>
        </p:txBody>
      </p:sp>
      <p:sp>
        <p:nvSpPr>
          <p:cNvPr id="40964" name="Text Box 4"/>
          <p:cNvSpPr txBox="1">
            <a:spLocks noChangeArrowheads="1"/>
          </p:cNvSpPr>
          <p:nvPr/>
        </p:nvSpPr>
        <p:spPr bwMode="auto">
          <a:xfrm>
            <a:off x="571472" y="2000240"/>
            <a:ext cx="7561262" cy="1452212"/>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lIns="180000" tIns="180000" bIns="180000">
            <a:spAutoFit/>
          </a:bodyPr>
          <a:lstStyle/>
          <a:p>
            <a:pPr defTabSz="360000">
              <a:lnSpc>
                <a:spcPts val="2900"/>
              </a:lnSpc>
            </a:pPr>
            <a:r>
              <a:rPr lang="en-US" altLang="zh-CN" sz="2000">
                <a:solidFill>
                  <a:srgbClr val="FF0000"/>
                </a:solidFill>
                <a:latin typeface="Consolas" pitchFamily="49" charset="0"/>
                <a:ea typeface="仿宋" pitchFamily="49" charset="-122"/>
                <a:cs typeface="Consolas" pitchFamily="49" charset="0"/>
              </a:rPr>
              <a:t>double Dot(Point p1,Point p2) {	</a:t>
            </a:r>
            <a:r>
              <a:rPr lang="en-US" altLang="zh-CN" sz="2000">
                <a:solidFill>
                  <a:srgbClr val="00B0F0"/>
                </a:solidFill>
                <a:latin typeface="Consolas" pitchFamily="49" charset="0"/>
                <a:ea typeface="仿宋" pitchFamily="49" charset="-122"/>
                <a:cs typeface="Consolas" pitchFamily="49" charset="0"/>
              </a:rPr>
              <a:t>//</a:t>
            </a:r>
            <a:r>
              <a:rPr lang="zh-CN" altLang="zh-CN" sz="2000">
                <a:solidFill>
                  <a:srgbClr val="00B0F0"/>
                </a:solidFill>
                <a:latin typeface="Consolas" pitchFamily="49" charset="0"/>
                <a:ea typeface="仿宋" pitchFamily="49" charset="-122"/>
                <a:cs typeface="Consolas" pitchFamily="49" charset="0"/>
              </a:rPr>
              <a:t>两个向量的点积</a:t>
            </a:r>
          </a:p>
          <a:p>
            <a:pPr defTabSz="360000">
              <a:lnSpc>
                <a:spcPts val="2900"/>
              </a:lnSpc>
            </a:pPr>
            <a:r>
              <a:rPr lang="en-US" altLang="zh-CN" sz="2000">
                <a:solidFill>
                  <a:srgbClr val="0000FF"/>
                </a:solidFill>
                <a:latin typeface="Consolas" pitchFamily="49" charset="0"/>
                <a:ea typeface="仿宋" pitchFamily="49" charset="-122"/>
                <a:cs typeface="Consolas" pitchFamily="49" charset="0"/>
              </a:rPr>
              <a:t>	return p1.x*p2.x+p1.y*p2.y;</a:t>
            </a:r>
            <a:endParaRPr lang="zh-CN" altLang="zh-CN" sz="2000">
              <a:solidFill>
                <a:srgbClr val="0000FF"/>
              </a:solidFill>
              <a:latin typeface="Consolas" pitchFamily="49" charset="0"/>
              <a:ea typeface="仿宋" pitchFamily="49" charset="-122"/>
              <a:cs typeface="Consolas" pitchFamily="49" charset="0"/>
            </a:endParaRPr>
          </a:p>
          <a:p>
            <a:pPr defTabSz="360000">
              <a:lnSpc>
                <a:spcPts val="2900"/>
              </a:lnSpc>
            </a:pPr>
            <a:r>
              <a:rPr lang="en-US" altLang="zh-CN" sz="2000">
                <a:solidFill>
                  <a:srgbClr val="0000FF"/>
                </a:solidFill>
                <a:latin typeface="Consolas" pitchFamily="49" charset="0"/>
                <a:ea typeface="仿宋" pitchFamily="49" charset="-122"/>
                <a:cs typeface="Consolas" pitchFamily="49" charset="0"/>
              </a:rPr>
              <a:t>}</a:t>
            </a:r>
            <a:endParaRPr lang="zh-CN" altLang="zh-CN" sz="2000">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12</a:t>
            </a:fld>
            <a:r>
              <a:rPr lang="en-US" altLang="zh-CN"/>
              <a:t>/167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2"/>
          <p:cNvSpPr txBox="1">
            <a:spLocks noChangeArrowheads="1"/>
          </p:cNvSpPr>
          <p:nvPr/>
        </p:nvSpPr>
        <p:spPr bwMode="auto">
          <a:xfrm>
            <a:off x="539750" y="404813"/>
            <a:ext cx="7704138" cy="461665"/>
          </a:xfrm>
          <a:prstGeom prst="rect">
            <a:avLst/>
          </a:prstGeom>
          <a:noFill/>
          <a:ln w="9525">
            <a:noFill/>
            <a:miter lim="800000"/>
            <a:headEnd/>
            <a:tailEnd/>
          </a:ln>
        </p:spPr>
        <p:txBody>
          <a:bodyPr>
            <a:spAutoFit/>
          </a:bodyPr>
          <a:lstStyle/>
          <a:p>
            <a:r>
              <a:rPr lang="zh-CN" altLang="zh-CN">
                <a:solidFill>
                  <a:srgbClr val="0000FF"/>
                </a:solidFill>
                <a:latin typeface="Consolas" pitchFamily="49" charset="0"/>
                <a:ea typeface="仿宋" pitchFamily="49" charset="-122"/>
                <a:cs typeface="Consolas" pitchFamily="49" charset="0"/>
              </a:rPr>
              <a:t>可以通过点积的符号判断两向量相互之间的夹角</a:t>
            </a:r>
            <a:r>
              <a:rPr lang="en-US" altLang="zh-CN">
                <a:solidFill>
                  <a:srgbClr val="0000FF"/>
                </a:solidFill>
                <a:latin typeface="Consolas" pitchFamily="49" charset="0"/>
                <a:ea typeface="仿宋" pitchFamily="49" charset="-122"/>
                <a:cs typeface="Consolas" pitchFamily="49" charset="0"/>
                <a:sym typeface="Symbol"/>
              </a:rPr>
              <a:t></a:t>
            </a:r>
            <a:r>
              <a:rPr lang="zh-CN" altLang="zh-CN">
                <a:solidFill>
                  <a:srgbClr val="0000FF"/>
                </a:solidFill>
                <a:latin typeface="Consolas" pitchFamily="49" charset="0"/>
                <a:ea typeface="仿宋" pitchFamily="49" charset="-122"/>
                <a:cs typeface="Consolas" pitchFamily="49" charset="0"/>
              </a:rPr>
              <a:t>关系：</a:t>
            </a:r>
          </a:p>
        </p:txBody>
      </p:sp>
      <p:sp>
        <p:nvSpPr>
          <p:cNvPr id="3076" name="Text Box 3"/>
          <p:cNvSpPr txBox="1">
            <a:spLocks noChangeArrowheads="1"/>
          </p:cNvSpPr>
          <p:nvPr/>
        </p:nvSpPr>
        <p:spPr bwMode="auto">
          <a:xfrm>
            <a:off x="714348" y="1071546"/>
            <a:ext cx="7715304" cy="1754326"/>
          </a:xfrm>
          <a:prstGeom prst="rect">
            <a:avLst/>
          </a:prstGeom>
          <a:ln w="38100">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marL="457200" indent="-457200">
              <a:lnSpc>
                <a:spcPct val="150000"/>
              </a:lnSpc>
              <a:buBlip>
                <a:blip r:embed="rId2"/>
              </a:buBlip>
            </a:pPr>
            <a:r>
              <a:rPr lang="zh-CN" altLang="zh-CN">
                <a:solidFill>
                  <a:srgbClr val="0000FF"/>
                </a:solidFill>
                <a:latin typeface="Consolas" pitchFamily="49" charset="0"/>
                <a:ea typeface="仿宋" pitchFamily="49" charset="-122"/>
                <a:cs typeface="Consolas" pitchFamily="49" charset="0"/>
              </a:rPr>
              <a:t>若</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时，向量</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垂直，即夹角为直角。</a:t>
            </a:r>
          </a:p>
          <a:p>
            <a:pPr marL="457200" indent="-457200">
              <a:lnSpc>
                <a:spcPct val="150000"/>
              </a:lnSpc>
              <a:buBlip>
                <a:blip r:embed="rId2"/>
              </a:buBlip>
            </a:pPr>
            <a:r>
              <a:rPr lang="zh-CN" altLang="zh-CN">
                <a:solidFill>
                  <a:srgbClr val="0000FF"/>
                </a:solidFill>
                <a:latin typeface="Consolas" pitchFamily="49" charset="0"/>
                <a:ea typeface="仿宋" pitchFamily="49" charset="-122"/>
                <a:cs typeface="Consolas" pitchFamily="49" charset="0"/>
              </a:rPr>
              <a:t>若</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&gt;0</a:t>
            </a:r>
            <a:r>
              <a:rPr lang="zh-CN" altLang="zh-CN">
                <a:solidFill>
                  <a:srgbClr val="0000FF"/>
                </a:solidFill>
                <a:latin typeface="Consolas" pitchFamily="49" charset="0"/>
                <a:ea typeface="仿宋" pitchFamily="49" charset="-122"/>
                <a:cs typeface="Consolas" pitchFamily="49" charset="0"/>
              </a:rPr>
              <a:t>时，向量</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之间的夹角为锐角。</a:t>
            </a:r>
          </a:p>
          <a:p>
            <a:pPr marL="457200" indent="-457200">
              <a:lnSpc>
                <a:spcPct val="150000"/>
              </a:lnSpc>
              <a:buBlip>
                <a:blip r:embed="rId2"/>
              </a:buBlip>
            </a:pPr>
            <a:r>
              <a:rPr lang="zh-CN" altLang="zh-CN">
                <a:solidFill>
                  <a:srgbClr val="0000FF"/>
                </a:solidFill>
                <a:latin typeface="Consolas" pitchFamily="49" charset="0"/>
                <a:ea typeface="仿宋" pitchFamily="49" charset="-122"/>
                <a:cs typeface="Consolas" pitchFamily="49" charset="0"/>
              </a:rPr>
              <a:t>若</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&lt;0</a:t>
            </a:r>
            <a:r>
              <a:rPr lang="zh-CN" altLang="zh-CN">
                <a:solidFill>
                  <a:srgbClr val="0000FF"/>
                </a:solidFill>
                <a:latin typeface="Consolas" pitchFamily="49" charset="0"/>
                <a:ea typeface="仿宋" pitchFamily="49" charset="-122"/>
                <a:cs typeface="Consolas" pitchFamily="49" charset="0"/>
              </a:rPr>
              <a:t>时，向量</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之间的夹角为钝角。</a:t>
            </a:r>
          </a:p>
        </p:txBody>
      </p:sp>
      <p:grpSp>
        <p:nvGrpSpPr>
          <p:cNvPr id="16" name="组合 15"/>
          <p:cNvGrpSpPr/>
          <p:nvPr/>
        </p:nvGrpSpPr>
        <p:grpSpPr>
          <a:xfrm>
            <a:off x="642910" y="3285330"/>
            <a:ext cx="7000924" cy="3286942"/>
            <a:chOff x="642910" y="2857496"/>
            <a:chExt cx="7000924" cy="3286942"/>
          </a:xfrm>
        </p:grpSpPr>
        <p:cxnSp>
          <p:nvCxnSpPr>
            <p:cNvPr id="6" name="直接箭头连接符 5"/>
            <p:cNvCxnSpPr/>
            <p:nvPr/>
          </p:nvCxnSpPr>
          <p:spPr>
            <a:xfrm>
              <a:off x="642910" y="5070486"/>
              <a:ext cx="42862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rot="5400000" flipH="1" flipV="1">
              <a:off x="-36545" y="4536289"/>
              <a:ext cx="321550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28662" y="5143512"/>
              <a:ext cx="857256"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(0,0)</a:t>
              </a:r>
              <a:endParaRPr lang="zh-CN" altLang="en-US" sz="1800">
                <a:solidFill>
                  <a:srgbClr val="0000FF"/>
                </a:solidFill>
                <a:latin typeface="Consolas" pitchFamily="49" charset="0"/>
                <a:cs typeface="Consolas" pitchFamily="49" charset="0"/>
              </a:endParaRPr>
            </a:p>
          </p:txBody>
        </p:sp>
        <p:cxnSp>
          <p:nvCxnSpPr>
            <p:cNvPr id="9" name="直接箭头连接符 8"/>
            <p:cNvCxnSpPr/>
            <p:nvPr/>
          </p:nvCxnSpPr>
          <p:spPr>
            <a:xfrm>
              <a:off x="1571604" y="5072074"/>
              <a:ext cx="1071570" cy="500066"/>
            </a:xfrm>
            <a:prstGeom prst="straightConnector1">
              <a:avLst/>
            </a:prstGeom>
            <a:ln>
              <a:solidFill>
                <a:schemeClr val="tx1"/>
              </a:solidFill>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2428860" y="5715016"/>
              <a:ext cx="107157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r>
                <a:rPr lang="en-US" altLang="zh-CN" sz="1800">
                  <a:solidFill>
                    <a:srgbClr val="0000FF"/>
                  </a:solidFill>
                  <a:latin typeface="Consolas" pitchFamily="49" charset="0"/>
                  <a:cs typeface="Consolas" pitchFamily="49" charset="0"/>
                </a:rPr>
                <a:t>(2,-1)</a:t>
              </a:r>
              <a:endParaRPr lang="zh-CN" altLang="en-US" sz="1800">
                <a:solidFill>
                  <a:srgbClr val="0000FF"/>
                </a:solidFill>
                <a:latin typeface="Consolas" pitchFamily="49" charset="0"/>
                <a:cs typeface="Consolas" pitchFamily="49" charset="0"/>
              </a:endParaRPr>
            </a:p>
          </p:txBody>
        </p:sp>
        <p:cxnSp>
          <p:nvCxnSpPr>
            <p:cNvPr id="11" name="直接箭头连接符 10"/>
            <p:cNvCxnSpPr/>
            <p:nvPr/>
          </p:nvCxnSpPr>
          <p:spPr>
            <a:xfrm rot="5400000" flipH="1" flipV="1">
              <a:off x="1431575" y="3211839"/>
              <a:ext cx="1994570" cy="1714512"/>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3286116" y="2857496"/>
              <a:ext cx="107157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r>
                <a:rPr lang="en-US" altLang="zh-CN" sz="1800">
                  <a:solidFill>
                    <a:srgbClr val="0000FF"/>
                  </a:solidFill>
                  <a:latin typeface="Consolas" pitchFamily="49" charset="0"/>
                  <a:cs typeface="Consolas" pitchFamily="49" charset="0"/>
                </a:rPr>
                <a:t>(3,5)</a:t>
              </a:r>
              <a:endParaRPr lang="zh-CN" altLang="en-US" sz="1800">
                <a:solidFill>
                  <a:srgbClr val="0000FF"/>
                </a:solidFill>
                <a:latin typeface="Consolas" pitchFamily="49" charset="0"/>
                <a:cs typeface="Consolas" pitchFamily="49" charset="0"/>
              </a:endParaRPr>
            </a:p>
          </p:txBody>
        </p:sp>
        <p:sp>
          <p:nvSpPr>
            <p:cNvPr id="15" name="TextBox 14"/>
            <p:cNvSpPr txBox="1"/>
            <p:nvPr/>
          </p:nvSpPr>
          <p:spPr>
            <a:xfrm>
              <a:off x="3714744" y="4000504"/>
              <a:ext cx="3929090" cy="567811"/>
            </a:xfrm>
            <a:prstGeom prst="rect">
              <a:avLst/>
            </a:prstGeom>
            <a:ln/>
          </p:spPr>
          <p:style>
            <a:lnRef idx="2">
              <a:schemeClr val="accent6"/>
            </a:lnRef>
            <a:fillRef idx="1">
              <a:schemeClr val="lt1"/>
            </a:fillRef>
            <a:effectRef idx="0">
              <a:schemeClr val="accent6"/>
            </a:effectRef>
            <a:fontRef idx="minor">
              <a:schemeClr val="dk1"/>
            </a:fontRef>
          </p:style>
          <p:txBody>
            <a:bodyPr wrap="square" tIns="144000" bIns="144000" rtlCol="0">
              <a:spAutoFit/>
            </a:bodyPr>
            <a:lstStyle/>
            <a:p>
              <a:pPr algn="ctr"/>
              <a:r>
                <a:rPr lang="en-US" altLang="zh-CN" sz="1800">
                  <a:solidFill>
                    <a:srgbClr val="0000FF"/>
                  </a:solidFill>
                  <a:latin typeface="Consolas" pitchFamily="49" charset="0"/>
                  <a:ea typeface="楷体" pitchFamily="49" charset="-122"/>
                  <a:cs typeface="Consolas" pitchFamily="49" charset="0"/>
                </a:rPr>
                <a:t>p</a:t>
              </a:r>
              <a:r>
                <a:rPr lang="en-US" altLang="zh-CN" sz="1800" baseline="-25000">
                  <a:solidFill>
                    <a:srgbClr val="0000FF"/>
                  </a:solidFill>
                  <a:latin typeface="Consolas" pitchFamily="49" charset="0"/>
                  <a:ea typeface="楷体" pitchFamily="49" charset="-122"/>
                  <a:cs typeface="Consolas" pitchFamily="49" charset="0"/>
                </a:rPr>
                <a:t>1</a:t>
              </a:r>
              <a:r>
                <a:rPr lang="en-US" altLang="zh-CN" sz="1800">
                  <a:solidFill>
                    <a:srgbClr val="0000FF"/>
                  </a:solidFill>
                  <a:latin typeface="Consolas" pitchFamily="49" charset="0"/>
                  <a:ea typeface="宋体" pitchFamily="2"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p</a:t>
              </a:r>
              <a:r>
                <a:rPr lang="en-US" altLang="zh-CN" sz="1800" baseline="-25000">
                  <a:solidFill>
                    <a:srgbClr val="0000FF"/>
                  </a:solidFill>
                  <a:latin typeface="Consolas" pitchFamily="49" charset="0"/>
                  <a:ea typeface="楷体" pitchFamily="49" charset="-122"/>
                  <a:cs typeface="Consolas" pitchFamily="49" charset="0"/>
                </a:rPr>
                <a:t>2</a:t>
              </a:r>
              <a:r>
                <a:rPr lang="en-US" altLang="zh-CN" sz="1800">
                  <a:solidFill>
                    <a:srgbClr val="0000FF"/>
                  </a:solidFill>
                  <a:latin typeface="Consolas" pitchFamily="49" charset="0"/>
                  <a:ea typeface="楷体" pitchFamily="49" charset="-122"/>
                  <a:cs typeface="Consolas" pitchFamily="49" charset="0"/>
                </a:rPr>
                <a:t>=2*3+(-1)*5=1</a:t>
              </a:r>
              <a:r>
                <a:rPr lang="en-US" altLang="zh-CN" sz="1800">
                  <a:solidFill>
                    <a:srgbClr val="FF0000"/>
                  </a:solidFill>
                  <a:latin typeface="Consolas" pitchFamily="49" charset="0"/>
                  <a:ea typeface="楷体" pitchFamily="49" charset="-122"/>
                  <a:cs typeface="Consolas" pitchFamily="49" charset="0"/>
                </a:rPr>
                <a:t>&gt;0</a:t>
              </a:r>
              <a:r>
                <a:rPr lang="zh-CN" altLang="en-US" sz="1800">
                  <a:solidFill>
                    <a:srgbClr val="FF0000"/>
                  </a:solidFill>
                  <a:latin typeface="Consolas" pitchFamily="49" charset="0"/>
                  <a:ea typeface="楷体" pitchFamily="49" charset="-122"/>
                  <a:cs typeface="Consolas" pitchFamily="49" charset="0"/>
                </a:rPr>
                <a:t>：锐角</a:t>
              </a:r>
              <a:endParaRPr lang="zh-CN" altLang="en-US" sz="1800">
                <a:solidFill>
                  <a:srgbClr val="FF0000"/>
                </a:solidFill>
                <a:latin typeface="Consolas" pitchFamily="49" charset="0"/>
                <a:cs typeface="Consolas" pitchFamily="49" charset="0"/>
              </a:endParaRPr>
            </a:p>
          </p:txBody>
        </p:sp>
      </p:grpSp>
      <p:sp>
        <p:nvSpPr>
          <p:cNvPr id="14" name="灯片编号占位符 13"/>
          <p:cNvSpPr>
            <a:spLocks noGrp="1"/>
          </p:cNvSpPr>
          <p:nvPr>
            <p:ph type="sldNum" sz="quarter" idx="12"/>
          </p:nvPr>
        </p:nvSpPr>
        <p:spPr/>
        <p:txBody>
          <a:bodyPr/>
          <a:lstStyle/>
          <a:p>
            <a:pPr>
              <a:defRPr/>
            </a:pPr>
            <a:fld id="{51116183-1013-4E64-BBE8-A5C1D5D4F838}" type="slidenum">
              <a:rPr lang="en-US" altLang="zh-CN" smtClean="0"/>
              <a:pPr>
                <a:defRPr/>
              </a:pPr>
              <a:t>13</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468313" y="476250"/>
            <a:ext cx="6911975" cy="461665"/>
          </a:xfrm>
          <a:prstGeom prst="rect">
            <a:avLst/>
          </a:prstGeom>
          <a:noFill/>
          <a:ln w="9525">
            <a:noFill/>
            <a:miter lim="800000"/>
            <a:headEnd/>
            <a:tailEnd/>
          </a:ln>
        </p:spPr>
        <p:txBody>
          <a:bodyPr>
            <a:spAutoFit/>
          </a:bodyPr>
          <a:lstStyle/>
          <a:p>
            <a:pPr>
              <a:spcBef>
                <a:spcPct val="50000"/>
              </a:spcBef>
            </a:pPr>
            <a:r>
              <a:rPr lang="zh-CN" altLang="en-US">
                <a:solidFill>
                  <a:srgbClr val="0000FF"/>
                </a:solidFill>
                <a:latin typeface="Consolas" pitchFamily="49" charset="0"/>
                <a:ea typeface="仿宋" pitchFamily="49" charset="-122"/>
                <a:cs typeface="Consolas" pitchFamily="49" charset="0"/>
              </a:rPr>
              <a:t>利用点积求一个向量</a:t>
            </a:r>
            <a:r>
              <a:rPr lang="en-US" altLang="zh-CN">
                <a:solidFill>
                  <a:srgbClr val="0000FF"/>
                </a:solidFill>
                <a:latin typeface="Consolas" pitchFamily="49" charset="0"/>
                <a:ea typeface="仿宋" pitchFamily="49" charset="-122"/>
                <a:cs typeface="Consolas" pitchFamily="49" charset="0"/>
              </a:rPr>
              <a:t>p</a:t>
            </a:r>
            <a:r>
              <a:rPr lang="zh-CN" altLang="en-US">
                <a:solidFill>
                  <a:srgbClr val="0000FF"/>
                </a:solidFill>
                <a:latin typeface="Consolas" pitchFamily="49" charset="0"/>
                <a:ea typeface="仿宋" pitchFamily="49" charset="-122"/>
                <a:cs typeface="Consolas" pitchFamily="49" charset="0"/>
              </a:rPr>
              <a:t>的长度的算法如下：</a:t>
            </a:r>
          </a:p>
        </p:txBody>
      </p:sp>
      <p:sp>
        <p:nvSpPr>
          <p:cNvPr id="41987" name="Text Box 3"/>
          <p:cNvSpPr txBox="1">
            <a:spLocks noChangeArrowheads="1"/>
          </p:cNvSpPr>
          <p:nvPr/>
        </p:nvSpPr>
        <p:spPr bwMode="auto">
          <a:xfrm>
            <a:off x="539751" y="1268413"/>
            <a:ext cx="6746894" cy="1594622"/>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80000" bIns="180000">
            <a:spAutoFit/>
          </a:bodyPr>
          <a:lstStyle/>
          <a:p>
            <a:r>
              <a:rPr lang="en-US" altLang="zh-CN" sz="2000" dirty="0">
                <a:solidFill>
                  <a:srgbClr val="FF0000"/>
                </a:solidFill>
                <a:latin typeface="Consolas" pitchFamily="49" charset="0"/>
                <a:ea typeface="仿宋" pitchFamily="49" charset="-122"/>
                <a:cs typeface="Consolas" pitchFamily="49" charset="0"/>
              </a:rPr>
              <a:t>double Length(Point &amp;</a:t>
            </a:r>
            <a:r>
              <a:rPr lang="en-US" altLang="zh-CN" sz="2000">
                <a:solidFill>
                  <a:srgbClr val="FF0000"/>
                </a:solidFill>
                <a:latin typeface="Consolas" pitchFamily="49" charset="0"/>
                <a:ea typeface="仿宋" pitchFamily="49" charset="-122"/>
                <a:cs typeface="Consolas" pitchFamily="49" charset="0"/>
              </a:rPr>
              <a:t>p)   </a:t>
            </a:r>
            <a:r>
              <a:rPr lang="en-US" altLang="zh-CN" sz="2000">
                <a:solidFill>
                  <a:srgbClr val="00B0F0"/>
                </a:solidFill>
                <a:latin typeface="Consolas" pitchFamily="49" charset="0"/>
                <a:ea typeface="仿宋" pitchFamily="49" charset="-122"/>
                <a:cs typeface="Consolas" pitchFamily="49" charset="0"/>
              </a:rPr>
              <a:t>//</a:t>
            </a:r>
            <a:r>
              <a:rPr lang="zh-CN" altLang="en-US" sz="2000">
                <a:solidFill>
                  <a:srgbClr val="00B0F0"/>
                </a:solidFill>
                <a:latin typeface="Consolas" pitchFamily="49" charset="0"/>
                <a:ea typeface="仿宋" pitchFamily="49" charset="-122"/>
                <a:cs typeface="Consolas" pitchFamily="49" charset="0"/>
              </a:rPr>
              <a:t>求向量长</a:t>
            </a:r>
            <a:r>
              <a:rPr lang="zh-CN" altLang="en-US" sz="2000" dirty="0">
                <a:solidFill>
                  <a:srgbClr val="00B0F0"/>
                </a:solidFill>
                <a:latin typeface="Consolas" pitchFamily="49" charset="0"/>
                <a:ea typeface="仿宋" pitchFamily="49" charset="-122"/>
                <a:cs typeface="Consolas" pitchFamily="49" charset="0"/>
              </a:rPr>
              <a:t>度</a:t>
            </a:r>
          </a:p>
          <a:p>
            <a:r>
              <a:rPr lang="en-US" altLang="zh-CN" sz="2000" dirty="0">
                <a:solidFill>
                  <a:srgbClr val="0000FF"/>
                </a:solidFill>
                <a:latin typeface="Consolas" pitchFamily="49" charset="0"/>
                <a:ea typeface="仿宋" pitchFamily="49" charset="-122"/>
                <a:cs typeface="Consolas" pitchFamily="49" charset="0"/>
              </a:rPr>
              <a:t>{</a:t>
            </a:r>
          </a:p>
          <a:p>
            <a:r>
              <a:rPr lang="zh-CN" altLang="en-US" sz="2000" dirty="0">
                <a:solidFill>
                  <a:srgbClr val="0000FF"/>
                </a:solidFill>
                <a:latin typeface="Consolas" pitchFamily="49" charset="0"/>
                <a:ea typeface="仿宋" pitchFamily="49" charset="-122"/>
                <a:cs typeface="Consolas" pitchFamily="49" charset="0"/>
              </a:rPr>
              <a:t>　　</a:t>
            </a:r>
            <a:r>
              <a:rPr lang="en-US" altLang="zh-CN" sz="2000">
                <a:solidFill>
                  <a:srgbClr val="0000FF"/>
                </a:solidFill>
                <a:latin typeface="Consolas" pitchFamily="49" charset="0"/>
                <a:ea typeface="仿宋" pitchFamily="49" charset="-122"/>
                <a:cs typeface="Consolas" pitchFamily="49" charset="0"/>
              </a:rPr>
              <a:t>return sqrt(Dot(p</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a:t>
            </a:r>
            <a:r>
              <a:rPr lang="en-US" altLang="zh-CN" sz="2000" dirty="0">
                <a:solidFill>
                  <a:srgbClr val="0000FF"/>
                </a:solidFill>
                <a:latin typeface="Consolas" pitchFamily="49" charset="0"/>
                <a:ea typeface="仿宋" pitchFamily="49" charset="-122"/>
                <a:cs typeface="Consolas" pitchFamily="49" charset="0"/>
              </a:rPr>
              <a:t>));</a:t>
            </a:r>
          </a:p>
          <a:p>
            <a:r>
              <a:rPr lang="en-US" altLang="zh-CN" sz="2000" dirty="0">
                <a:solidFill>
                  <a:srgbClr val="0000FF"/>
                </a:solidFill>
                <a:latin typeface="Consolas" pitchFamily="49" charset="0"/>
                <a:ea typeface="仿宋" pitchFamily="49" charset="-122"/>
                <a:cs typeface="Consolas" pitchFamily="49" charset="0"/>
              </a:rPr>
              <a:t>}</a:t>
            </a: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14</a:t>
            </a:fld>
            <a:r>
              <a:rPr lang="en-US" altLang="zh-CN"/>
              <a:t>/167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500034" y="214290"/>
            <a:ext cx="8358246" cy="1323439"/>
          </a:xfrm>
          <a:prstGeom prst="rect">
            <a:avLst/>
          </a:prstGeom>
          <a:solidFill>
            <a:schemeClr val="bg1"/>
          </a:solidFill>
          <a:ln w="9525">
            <a:noFill/>
            <a:miter lim="800000"/>
            <a:headEnd/>
            <a:tailEnd/>
          </a:ln>
        </p:spPr>
        <p:txBody>
          <a:bodyPr wrap="square">
            <a:spAutoFit/>
          </a:bodyPr>
          <a:lstStyle/>
          <a:p>
            <a:pPr>
              <a:lnSpc>
                <a:spcPts val="3200"/>
              </a:lnSpc>
              <a:spcBef>
                <a:spcPts val="0"/>
              </a:spcBef>
            </a:pPr>
            <a:r>
              <a:rPr lang="zh-CN" altLang="en-US">
                <a:solidFill>
                  <a:srgbClr val="0000FF"/>
                </a:solidFill>
                <a:latin typeface="Consolas" pitchFamily="49" charset="0"/>
                <a:ea typeface="仿宋" pitchFamily="49" charset="-122"/>
                <a:cs typeface="Consolas" pitchFamily="49" charset="0"/>
              </a:rPr>
              <a:t>　对</a:t>
            </a:r>
            <a:r>
              <a:rPr lang="zh-CN" altLang="en-US" dirty="0">
                <a:solidFill>
                  <a:srgbClr val="0000FF"/>
                </a:solidFill>
                <a:latin typeface="Consolas" pitchFamily="49" charset="0"/>
                <a:ea typeface="仿宋" pitchFamily="49" charset="-122"/>
                <a:cs typeface="Consolas" pitchFamily="49" charset="0"/>
              </a:rPr>
              <a:t>于具有公共起点的两个线段</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0</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，只</a:t>
            </a:r>
            <a:r>
              <a:rPr lang="zh-CN" altLang="en-US" dirty="0">
                <a:solidFill>
                  <a:srgbClr val="0000FF"/>
                </a:solidFill>
                <a:latin typeface="Consolas" pitchFamily="49" charset="0"/>
                <a:ea typeface="仿宋" pitchFamily="49" charset="-122"/>
                <a:cs typeface="Consolas" pitchFamily="49" charset="0"/>
              </a:rPr>
              <a:t>需要把</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0</a:t>
            </a:r>
            <a:r>
              <a:rPr lang="zh-CN" altLang="en-US" dirty="0">
                <a:solidFill>
                  <a:srgbClr val="0000FF"/>
                </a:solidFill>
                <a:latin typeface="Consolas" pitchFamily="49" charset="0"/>
                <a:ea typeface="仿宋" pitchFamily="49" charset="-122"/>
                <a:cs typeface="Consolas" pitchFamily="49" charset="0"/>
              </a:rPr>
              <a:t>作为原点就</a:t>
            </a:r>
            <a:r>
              <a:rPr lang="zh-CN" altLang="en-US">
                <a:solidFill>
                  <a:srgbClr val="0000FF"/>
                </a:solidFill>
                <a:latin typeface="Consolas" pitchFamily="49" charset="0"/>
                <a:ea typeface="仿宋" pitchFamily="49" charset="-122"/>
                <a:cs typeface="Consolas" pitchFamily="49" charset="0"/>
              </a:rPr>
              <a:t>可以，亦</a:t>
            </a:r>
            <a:r>
              <a:rPr lang="zh-CN" altLang="en-US" dirty="0">
                <a:solidFill>
                  <a:srgbClr val="0000FF"/>
                </a:solidFill>
                <a:latin typeface="Consolas" pitchFamily="49" charset="0"/>
                <a:ea typeface="仿宋" pitchFamily="49" charset="-122"/>
                <a:cs typeface="Consolas" pitchFamily="49" charset="0"/>
              </a:rPr>
              <a:t>即</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1</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0</a:t>
            </a:r>
            <a:r>
              <a:rPr lang="zh-CN" altLang="en-US" dirty="0">
                <a:solidFill>
                  <a:srgbClr val="0000FF"/>
                </a:solidFill>
                <a:latin typeface="Consolas" pitchFamily="49" charset="0"/>
                <a:ea typeface="仿宋" pitchFamily="49" charset="-122"/>
                <a:cs typeface="Consolas" pitchFamily="49" charset="0"/>
              </a:rPr>
              <a:t>和</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2</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都是向量，它</a:t>
            </a:r>
            <a:r>
              <a:rPr lang="zh-CN" altLang="en-US" dirty="0">
                <a:solidFill>
                  <a:srgbClr val="0000FF"/>
                </a:solidFill>
                <a:latin typeface="Consolas" pitchFamily="49" charset="0"/>
                <a:ea typeface="仿宋" pitchFamily="49" charset="-122"/>
                <a:cs typeface="Consolas" pitchFamily="49" charset="0"/>
              </a:rPr>
              <a:t>们的点积为</a:t>
            </a:r>
            <a:r>
              <a:rPr lang="en-US" altLang="zh-CN" dirty="0">
                <a:solidFill>
                  <a:srgbClr val="0000FF"/>
                </a:solidFill>
                <a:latin typeface="Consolas" pitchFamily="49" charset="0"/>
                <a:ea typeface="仿宋" pitchFamily="49" charset="-122"/>
                <a:cs typeface="Consolas" pitchFamily="49" charset="0"/>
              </a:rPr>
              <a:t>r=(</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1</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0</a:t>
            </a:r>
            <a:r>
              <a:rPr lang="en-US" altLang="zh-CN" dirty="0">
                <a:solidFill>
                  <a:srgbClr val="0000FF"/>
                </a:solidFill>
                <a:latin typeface="Consolas" pitchFamily="49" charset="0"/>
                <a:ea typeface="仿宋" pitchFamily="49" charset="-122"/>
                <a:cs typeface="Consolas" pitchFamily="49" charset="0"/>
              </a:rPr>
              <a:t>)·(</a:t>
            </a:r>
            <a:r>
              <a:rPr lang="en-US" altLang="zh-CN" err="1">
                <a:solidFill>
                  <a:srgbClr val="0000FF"/>
                </a:solidFill>
                <a:latin typeface="Consolas" pitchFamily="49" charset="0"/>
                <a:ea typeface="仿宋" pitchFamily="49" charset="-122"/>
                <a:cs typeface="Consolas" pitchFamily="49" charset="0"/>
              </a:rPr>
              <a:t>p</a:t>
            </a:r>
            <a:r>
              <a:rPr lang="en-US" altLang="zh-CN" baseline="-25000" err="1">
                <a:solidFill>
                  <a:srgbClr val="0000FF"/>
                </a:solidFill>
                <a:latin typeface="Consolas" pitchFamily="49" charset="0"/>
                <a:ea typeface="仿宋" pitchFamily="49" charset="-122"/>
                <a:cs typeface="Consolas" pitchFamily="49" charset="0"/>
              </a:rPr>
              <a:t>2</a:t>
            </a:r>
            <a:r>
              <a:rPr lang="en-US" altLang="zh-CN" err="1">
                <a:solidFill>
                  <a:srgbClr val="0000FF"/>
                </a:solidFill>
                <a:latin typeface="Consolas" pitchFamily="49" charset="0"/>
                <a:ea typeface="仿宋" pitchFamily="49" charset="-122"/>
                <a:cs typeface="Consolas" pitchFamily="49" charset="0"/>
              </a:rPr>
              <a:t>-p</a:t>
            </a:r>
            <a:r>
              <a:rPr lang="en-US" altLang="zh-CN" baseline="-25000" err="1">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，则</a:t>
            </a:r>
            <a:r>
              <a:rPr lang="zh-CN" altLang="en-US" dirty="0">
                <a:solidFill>
                  <a:srgbClr val="0000FF"/>
                </a:solidFill>
                <a:latin typeface="Consolas" pitchFamily="49" charset="0"/>
                <a:ea typeface="仿宋" pitchFamily="49" charset="-122"/>
                <a:cs typeface="Consolas" pitchFamily="49" charset="0"/>
              </a:rPr>
              <a:t>：</a:t>
            </a:r>
          </a:p>
        </p:txBody>
      </p:sp>
      <p:sp>
        <p:nvSpPr>
          <p:cNvPr id="43011" name="Text Box 3"/>
          <p:cNvSpPr txBox="1">
            <a:spLocks noChangeArrowheads="1"/>
          </p:cNvSpPr>
          <p:nvPr/>
        </p:nvSpPr>
        <p:spPr bwMode="auto">
          <a:xfrm>
            <a:off x="1357290" y="1643050"/>
            <a:ext cx="7215238" cy="1585801"/>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lIns="180000" tIns="72000" bIns="72000">
            <a:spAutoFit/>
          </a:bodyPr>
          <a:lstStyle/>
          <a:p>
            <a:pPr marL="342900" indent="-342900">
              <a:lnSpc>
                <a:spcPct val="130000"/>
              </a:lnSpc>
              <a:buFontTx/>
              <a:buBlip>
                <a:blip r:embed="rId2"/>
              </a:buBlip>
            </a:pPr>
            <a:r>
              <a:rPr lang="zh-CN" altLang="en-US">
                <a:solidFill>
                  <a:srgbClr val="0000FF"/>
                </a:solidFill>
                <a:latin typeface="Consolas" pitchFamily="49" charset="0"/>
                <a:ea typeface="仿宋" pitchFamily="49" charset="-122"/>
                <a:cs typeface="Consolas" pitchFamily="49" charset="0"/>
              </a:rPr>
              <a:t>若</a:t>
            </a:r>
            <a:r>
              <a:rPr lang="en-US" altLang="zh-CN">
                <a:solidFill>
                  <a:srgbClr val="0000FF"/>
                </a:solidFill>
                <a:latin typeface="Consolas" pitchFamily="49" charset="0"/>
                <a:ea typeface="仿宋" pitchFamily="49" charset="-122"/>
                <a:cs typeface="Consolas" pitchFamily="49" charset="0"/>
              </a:rPr>
              <a:t>r&gt;0</a:t>
            </a:r>
            <a:r>
              <a:rPr lang="zh-CN" altLang="en-US">
                <a:solidFill>
                  <a:srgbClr val="0000FF"/>
                </a:solidFill>
                <a:latin typeface="Consolas" pitchFamily="49" charset="0"/>
                <a:ea typeface="仿宋" pitchFamily="49" charset="-122"/>
                <a:cs typeface="Consolas" pitchFamily="49" charset="0"/>
              </a:rPr>
              <a:t>时，两</a:t>
            </a:r>
            <a:r>
              <a:rPr lang="zh-CN" altLang="en-US" dirty="0">
                <a:solidFill>
                  <a:srgbClr val="0000FF"/>
                </a:solidFill>
                <a:latin typeface="Consolas" pitchFamily="49" charset="0"/>
                <a:ea typeface="仿宋" pitchFamily="49" charset="-122"/>
                <a:cs typeface="Consolas" pitchFamily="49" charset="0"/>
              </a:rPr>
              <a:t>线段</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1</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0</a:t>
            </a:r>
            <a:r>
              <a:rPr lang="zh-CN" altLang="en-US" dirty="0">
                <a:solidFill>
                  <a:srgbClr val="0000FF"/>
                </a:solidFill>
                <a:latin typeface="Consolas" pitchFamily="49" charset="0"/>
                <a:ea typeface="仿宋" pitchFamily="49" charset="-122"/>
                <a:cs typeface="Consolas" pitchFamily="49" charset="0"/>
              </a:rPr>
              <a:t>和</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2</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0</a:t>
            </a:r>
            <a:r>
              <a:rPr lang="zh-CN" altLang="en-US" dirty="0">
                <a:solidFill>
                  <a:srgbClr val="0000FF"/>
                </a:solidFill>
                <a:latin typeface="Consolas" pitchFamily="49" charset="0"/>
                <a:ea typeface="仿宋" pitchFamily="49" charset="-122"/>
                <a:cs typeface="Consolas" pitchFamily="49" charset="0"/>
              </a:rPr>
              <a:t>的</a:t>
            </a:r>
            <a:r>
              <a:rPr lang="zh-CN" altLang="en-US">
                <a:solidFill>
                  <a:srgbClr val="0000FF"/>
                </a:solidFill>
                <a:latin typeface="Consolas" pitchFamily="49" charset="0"/>
                <a:ea typeface="仿宋" pitchFamily="49" charset="-122"/>
                <a:cs typeface="Consolas" pitchFamily="49" charset="0"/>
              </a:rPr>
              <a:t>夹角为锐角</a:t>
            </a:r>
            <a:r>
              <a:rPr lang="zh-CN" altLang="en-US" dirty="0">
                <a:solidFill>
                  <a:srgbClr val="0000FF"/>
                </a:solidFill>
                <a:latin typeface="Consolas" pitchFamily="49" charset="0"/>
                <a:ea typeface="仿宋" pitchFamily="49" charset="-122"/>
                <a:cs typeface="Consolas" pitchFamily="49" charset="0"/>
              </a:rPr>
              <a:t>。</a:t>
            </a:r>
          </a:p>
          <a:p>
            <a:pPr marL="342900" indent="-342900">
              <a:lnSpc>
                <a:spcPct val="130000"/>
              </a:lnSpc>
              <a:buFontTx/>
              <a:buBlip>
                <a:blip r:embed="rId2"/>
              </a:buBlip>
            </a:pPr>
            <a:r>
              <a:rPr lang="zh-CN" altLang="en-US" dirty="0">
                <a:solidFill>
                  <a:srgbClr val="0000FF"/>
                </a:solidFill>
                <a:latin typeface="Consolas" pitchFamily="49" charset="0"/>
                <a:ea typeface="仿宋" pitchFamily="49" charset="-122"/>
                <a:cs typeface="Consolas" pitchFamily="49" charset="0"/>
              </a:rPr>
              <a:t>若</a:t>
            </a:r>
            <a:r>
              <a:rPr lang="en-US" altLang="zh-CN">
                <a:solidFill>
                  <a:srgbClr val="0000FF"/>
                </a:solidFill>
                <a:latin typeface="Consolas" pitchFamily="49" charset="0"/>
                <a:ea typeface="仿宋" pitchFamily="49" charset="-122"/>
                <a:cs typeface="Consolas" pitchFamily="49" charset="0"/>
              </a:rPr>
              <a:t>r=0</a:t>
            </a:r>
            <a:r>
              <a:rPr lang="zh-CN" altLang="en-US">
                <a:solidFill>
                  <a:srgbClr val="0000FF"/>
                </a:solidFill>
                <a:latin typeface="Consolas" pitchFamily="49" charset="0"/>
                <a:ea typeface="仿宋" pitchFamily="49" charset="-122"/>
                <a:cs typeface="Consolas" pitchFamily="49" charset="0"/>
              </a:rPr>
              <a:t>时，两</a:t>
            </a:r>
            <a:r>
              <a:rPr lang="zh-CN" altLang="en-US" dirty="0">
                <a:solidFill>
                  <a:srgbClr val="0000FF"/>
                </a:solidFill>
                <a:latin typeface="Consolas" pitchFamily="49" charset="0"/>
                <a:ea typeface="仿宋" pitchFamily="49" charset="-122"/>
                <a:cs typeface="Consolas" pitchFamily="49" charset="0"/>
              </a:rPr>
              <a:t>线段</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1</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0</a:t>
            </a:r>
            <a:r>
              <a:rPr lang="zh-CN" altLang="en-US" dirty="0">
                <a:solidFill>
                  <a:srgbClr val="0000FF"/>
                </a:solidFill>
                <a:latin typeface="Consolas" pitchFamily="49" charset="0"/>
                <a:ea typeface="仿宋" pitchFamily="49" charset="-122"/>
                <a:cs typeface="Consolas" pitchFamily="49" charset="0"/>
              </a:rPr>
              <a:t>和</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2</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0</a:t>
            </a:r>
            <a:r>
              <a:rPr lang="zh-CN" altLang="en-US" dirty="0">
                <a:solidFill>
                  <a:srgbClr val="0000FF"/>
                </a:solidFill>
                <a:latin typeface="Consolas" pitchFamily="49" charset="0"/>
                <a:ea typeface="仿宋" pitchFamily="49" charset="-122"/>
                <a:cs typeface="Consolas" pitchFamily="49" charset="0"/>
              </a:rPr>
              <a:t>的夹角为直角。</a:t>
            </a:r>
          </a:p>
          <a:p>
            <a:pPr marL="342900" indent="-342900">
              <a:lnSpc>
                <a:spcPct val="130000"/>
              </a:lnSpc>
              <a:buFontTx/>
              <a:buBlip>
                <a:blip r:embed="rId2"/>
              </a:buBlip>
            </a:pPr>
            <a:r>
              <a:rPr lang="zh-CN" altLang="en-US">
                <a:solidFill>
                  <a:srgbClr val="0000FF"/>
                </a:solidFill>
                <a:latin typeface="Consolas" pitchFamily="49" charset="0"/>
                <a:ea typeface="仿宋" pitchFamily="49" charset="-122"/>
                <a:cs typeface="Consolas" pitchFamily="49" charset="0"/>
              </a:rPr>
              <a:t>若</a:t>
            </a:r>
            <a:r>
              <a:rPr lang="en-US" altLang="zh-CN">
                <a:solidFill>
                  <a:srgbClr val="0000FF"/>
                </a:solidFill>
                <a:latin typeface="Consolas" pitchFamily="49" charset="0"/>
                <a:ea typeface="仿宋" pitchFamily="49" charset="-122"/>
                <a:cs typeface="Consolas" pitchFamily="49" charset="0"/>
              </a:rPr>
              <a:t>r&lt;0</a:t>
            </a:r>
            <a:r>
              <a:rPr lang="zh-CN" altLang="en-US">
                <a:solidFill>
                  <a:srgbClr val="0000FF"/>
                </a:solidFill>
                <a:latin typeface="Consolas" pitchFamily="49" charset="0"/>
                <a:ea typeface="仿宋" pitchFamily="49" charset="-122"/>
                <a:cs typeface="Consolas" pitchFamily="49" charset="0"/>
              </a:rPr>
              <a:t>时，两</a:t>
            </a:r>
            <a:r>
              <a:rPr lang="zh-CN" altLang="en-US" dirty="0">
                <a:solidFill>
                  <a:srgbClr val="0000FF"/>
                </a:solidFill>
                <a:latin typeface="Consolas" pitchFamily="49" charset="0"/>
                <a:ea typeface="仿宋" pitchFamily="49" charset="-122"/>
                <a:cs typeface="Consolas" pitchFamily="49" charset="0"/>
              </a:rPr>
              <a:t>线段</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1</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0</a:t>
            </a:r>
            <a:r>
              <a:rPr lang="zh-CN" altLang="en-US" dirty="0">
                <a:solidFill>
                  <a:srgbClr val="0000FF"/>
                </a:solidFill>
                <a:latin typeface="Consolas" pitchFamily="49" charset="0"/>
                <a:ea typeface="仿宋" pitchFamily="49" charset="-122"/>
                <a:cs typeface="Consolas" pitchFamily="49" charset="0"/>
              </a:rPr>
              <a:t>和</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2</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0</a:t>
            </a:r>
            <a:r>
              <a:rPr lang="zh-CN" altLang="en-US" dirty="0">
                <a:solidFill>
                  <a:srgbClr val="0000FF"/>
                </a:solidFill>
                <a:latin typeface="Consolas" pitchFamily="49" charset="0"/>
                <a:ea typeface="仿宋" pitchFamily="49" charset="-122"/>
                <a:cs typeface="Consolas" pitchFamily="49" charset="0"/>
              </a:rPr>
              <a:t>的</a:t>
            </a:r>
            <a:r>
              <a:rPr lang="zh-CN" altLang="en-US">
                <a:solidFill>
                  <a:srgbClr val="0000FF"/>
                </a:solidFill>
                <a:latin typeface="Consolas" pitchFamily="49" charset="0"/>
                <a:ea typeface="仿宋" pitchFamily="49" charset="-122"/>
                <a:cs typeface="Consolas" pitchFamily="49" charset="0"/>
              </a:rPr>
              <a:t>夹角为钝角</a:t>
            </a:r>
            <a:r>
              <a:rPr lang="zh-CN" altLang="en-US" dirty="0">
                <a:solidFill>
                  <a:srgbClr val="0000FF"/>
                </a:solidFill>
                <a:latin typeface="Consolas" pitchFamily="49" charset="0"/>
                <a:ea typeface="仿宋" pitchFamily="49" charset="-122"/>
                <a:cs typeface="Consolas" pitchFamily="49" charset="0"/>
              </a:rPr>
              <a:t>。</a:t>
            </a:r>
          </a:p>
        </p:txBody>
      </p:sp>
      <p:grpSp>
        <p:nvGrpSpPr>
          <p:cNvPr id="22" name="组合 21"/>
          <p:cNvGrpSpPr/>
          <p:nvPr/>
        </p:nvGrpSpPr>
        <p:grpSpPr>
          <a:xfrm>
            <a:off x="571472" y="3286124"/>
            <a:ext cx="8001056" cy="3286942"/>
            <a:chOff x="571472" y="3286124"/>
            <a:chExt cx="8001056" cy="3286942"/>
          </a:xfrm>
        </p:grpSpPr>
        <p:grpSp>
          <p:nvGrpSpPr>
            <p:cNvPr id="20" name="组合 19"/>
            <p:cNvGrpSpPr/>
            <p:nvPr/>
          </p:nvGrpSpPr>
          <p:grpSpPr>
            <a:xfrm>
              <a:off x="571472" y="3286124"/>
              <a:ext cx="8001056" cy="3286942"/>
              <a:chOff x="571472" y="3286124"/>
              <a:chExt cx="8001056" cy="3286942"/>
            </a:xfrm>
          </p:grpSpPr>
          <p:cxnSp>
            <p:nvCxnSpPr>
              <p:cNvPr id="6" name="直接箭头连接符 5"/>
              <p:cNvCxnSpPr/>
              <p:nvPr/>
            </p:nvCxnSpPr>
            <p:spPr>
              <a:xfrm>
                <a:off x="642910" y="5499114"/>
                <a:ext cx="42862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rot="5400000" flipH="1" flipV="1">
                <a:off x="-36545" y="4964917"/>
                <a:ext cx="321550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71472" y="5572140"/>
                <a:ext cx="107157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0</a:t>
                </a:r>
                <a:r>
                  <a:rPr lang="en-US" altLang="zh-CN" sz="1800">
                    <a:solidFill>
                      <a:srgbClr val="0000FF"/>
                    </a:solidFill>
                    <a:latin typeface="Consolas" pitchFamily="49" charset="0"/>
                    <a:cs typeface="Consolas" pitchFamily="49" charset="0"/>
                  </a:rPr>
                  <a:t>(0,0)</a:t>
                </a:r>
                <a:endParaRPr lang="zh-CN" altLang="en-US" sz="1800">
                  <a:solidFill>
                    <a:srgbClr val="0000FF"/>
                  </a:solidFill>
                  <a:latin typeface="Consolas" pitchFamily="49" charset="0"/>
                  <a:cs typeface="Consolas" pitchFamily="49" charset="0"/>
                </a:endParaRPr>
              </a:p>
            </p:txBody>
          </p:sp>
          <p:cxnSp>
            <p:nvCxnSpPr>
              <p:cNvPr id="9" name="直接箭头连接符 8"/>
              <p:cNvCxnSpPr/>
              <p:nvPr/>
            </p:nvCxnSpPr>
            <p:spPr>
              <a:xfrm>
                <a:off x="1571604" y="5500702"/>
                <a:ext cx="1071570" cy="500066"/>
              </a:xfrm>
              <a:prstGeom prst="straightConnector1">
                <a:avLst/>
              </a:prstGeom>
              <a:ln>
                <a:solidFill>
                  <a:schemeClr val="tx1"/>
                </a:solidFill>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2428860" y="6143644"/>
                <a:ext cx="1285884"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r>
                  <a:rPr lang="en-US" altLang="zh-CN" sz="1800">
                    <a:solidFill>
                      <a:srgbClr val="0000FF"/>
                    </a:solidFill>
                    <a:latin typeface="Consolas" pitchFamily="49" charset="0"/>
                    <a:cs typeface="Consolas" pitchFamily="49" charset="0"/>
                  </a:rPr>
                  <a:t>(2,-1)</a:t>
                </a:r>
                <a:endParaRPr lang="zh-CN" altLang="en-US" sz="1800">
                  <a:solidFill>
                    <a:srgbClr val="0000FF"/>
                  </a:solidFill>
                  <a:latin typeface="Consolas" pitchFamily="49" charset="0"/>
                  <a:cs typeface="Consolas" pitchFamily="49" charset="0"/>
                </a:endParaRPr>
              </a:p>
            </p:txBody>
          </p:sp>
          <p:cxnSp>
            <p:nvCxnSpPr>
              <p:cNvPr id="14" name="直接箭头连接符 13"/>
              <p:cNvCxnSpPr/>
              <p:nvPr/>
            </p:nvCxnSpPr>
            <p:spPr>
              <a:xfrm rot="5400000" flipH="1" flipV="1">
                <a:off x="1431575" y="3640467"/>
                <a:ext cx="1994570" cy="1714512"/>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3286116" y="3286124"/>
                <a:ext cx="1071570"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r>
                  <a:rPr lang="en-US" altLang="zh-CN" sz="1800">
                    <a:solidFill>
                      <a:srgbClr val="0000FF"/>
                    </a:solidFill>
                    <a:latin typeface="Consolas" pitchFamily="49" charset="0"/>
                    <a:cs typeface="Consolas" pitchFamily="49" charset="0"/>
                  </a:rPr>
                  <a:t>(3,5)</a:t>
                </a:r>
                <a:endParaRPr lang="zh-CN" altLang="en-US" sz="1800">
                  <a:solidFill>
                    <a:srgbClr val="0000FF"/>
                  </a:solidFill>
                  <a:latin typeface="Consolas" pitchFamily="49" charset="0"/>
                  <a:cs typeface="Consolas" pitchFamily="49" charset="0"/>
                </a:endParaRPr>
              </a:p>
            </p:txBody>
          </p:sp>
          <p:sp>
            <p:nvSpPr>
              <p:cNvPr id="17" name="TextBox 16"/>
              <p:cNvSpPr txBox="1"/>
              <p:nvPr/>
            </p:nvSpPr>
            <p:spPr>
              <a:xfrm>
                <a:off x="1928794" y="3988362"/>
                <a:ext cx="785818"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18" name="TextBox 17"/>
              <p:cNvSpPr txBox="1"/>
              <p:nvPr/>
            </p:nvSpPr>
            <p:spPr>
              <a:xfrm>
                <a:off x="1714480" y="5672096"/>
                <a:ext cx="785818"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19" name="TextBox 18"/>
              <p:cNvSpPr txBox="1"/>
              <p:nvPr/>
            </p:nvSpPr>
            <p:spPr>
              <a:xfrm>
                <a:off x="3786182" y="4214818"/>
                <a:ext cx="4786346" cy="567811"/>
              </a:xfrm>
              <a:prstGeom prst="rect">
                <a:avLst/>
              </a:prstGeom>
              <a:ln/>
            </p:spPr>
            <p:style>
              <a:lnRef idx="2">
                <a:schemeClr val="accent6"/>
              </a:lnRef>
              <a:fillRef idx="1">
                <a:schemeClr val="lt1"/>
              </a:fillRef>
              <a:effectRef idx="0">
                <a:schemeClr val="accent6"/>
              </a:effectRef>
              <a:fontRef idx="minor">
                <a:schemeClr val="dk1"/>
              </a:fontRef>
            </p:style>
            <p:txBody>
              <a:bodyPr wrap="square" tIns="144000" bIns="144000" rtlCol="0">
                <a:spAutoFit/>
              </a:bodyPr>
              <a:lstStyle/>
              <a:p>
                <a:pPr algn="ctr"/>
                <a:r>
                  <a:rPr lang="en-US" altLang="zh-CN" sz="1800">
                    <a:solidFill>
                      <a:srgbClr val="0000FF"/>
                    </a:solidFill>
                    <a:latin typeface="Consolas" pitchFamily="49" charset="0"/>
                    <a:ea typeface="楷体" pitchFamily="49" charset="-122"/>
                    <a:cs typeface="Consolas" pitchFamily="49" charset="0"/>
                  </a:rPr>
                  <a:t>r=(p</a:t>
                </a:r>
                <a:r>
                  <a:rPr lang="en-US" altLang="zh-CN" sz="1800" baseline="-25000">
                    <a:solidFill>
                      <a:srgbClr val="0000FF"/>
                    </a:solidFill>
                    <a:latin typeface="Consolas" pitchFamily="49" charset="0"/>
                    <a:ea typeface="楷体" pitchFamily="49" charset="-122"/>
                    <a:cs typeface="Consolas" pitchFamily="49" charset="0"/>
                  </a:rPr>
                  <a:t>1</a:t>
                </a:r>
                <a:r>
                  <a:rPr lang="en-US" altLang="zh-CN" sz="1800">
                    <a:solidFill>
                      <a:srgbClr val="0000FF"/>
                    </a:solidFill>
                    <a:latin typeface="Consolas" pitchFamily="49" charset="0"/>
                    <a:ea typeface="宋体" pitchFamily="2"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p</a:t>
                </a:r>
                <a:r>
                  <a:rPr lang="en-US" altLang="zh-CN" sz="1800" baseline="-25000">
                    <a:solidFill>
                      <a:srgbClr val="0000FF"/>
                    </a:solidFill>
                    <a:latin typeface="Consolas" pitchFamily="49" charset="0"/>
                    <a:ea typeface="楷体" pitchFamily="49" charset="-122"/>
                    <a:cs typeface="Consolas" pitchFamily="49" charset="0"/>
                  </a:rPr>
                  <a:t>0</a:t>
                </a:r>
                <a:r>
                  <a:rPr lang="en-US" altLang="zh-CN" sz="1800">
                    <a:solidFill>
                      <a:srgbClr val="0000FF"/>
                    </a:solidFill>
                    <a:latin typeface="Consolas" pitchFamily="49" charset="0"/>
                    <a:ea typeface="楷体" pitchFamily="49" charset="-122"/>
                    <a:cs typeface="Consolas" pitchFamily="49" charset="0"/>
                  </a:rPr>
                  <a:t>)·(p</a:t>
                </a:r>
                <a:r>
                  <a:rPr lang="en-US" altLang="zh-CN" sz="1800" baseline="-25000">
                    <a:solidFill>
                      <a:srgbClr val="0000FF"/>
                    </a:solidFill>
                    <a:latin typeface="Consolas" pitchFamily="49" charset="0"/>
                    <a:ea typeface="楷体" pitchFamily="49" charset="-122"/>
                    <a:cs typeface="Consolas" pitchFamily="49" charset="0"/>
                  </a:rPr>
                  <a:t>2</a:t>
                </a:r>
                <a:r>
                  <a:rPr lang="en-US" altLang="zh-CN" sz="1800">
                    <a:solidFill>
                      <a:srgbClr val="0000FF"/>
                    </a:solidFill>
                    <a:latin typeface="Consolas" pitchFamily="49" charset="0"/>
                    <a:ea typeface="宋体" pitchFamily="2"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p</a:t>
                </a:r>
                <a:r>
                  <a:rPr lang="en-US" altLang="zh-CN" sz="1800" baseline="-25000">
                    <a:solidFill>
                      <a:srgbClr val="0000FF"/>
                    </a:solidFill>
                    <a:latin typeface="Consolas" pitchFamily="49" charset="0"/>
                    <a:ea typeface="楷体" pitchFamily="49" charset="-122"/>
                    <a:cs typeface="Consolas" pitchFamily="49" charset="0"/>
                  </a:rPr>
                  <a:t>0</a:t>
                </a:r>
                <a:r>
                  <a:rPr lang="en-US" altLang="zh-CN" sz="1800">
                    <a:solidFill>
                      <a:srgbClr val="0000FF"/>
                    </a:solidFill>
                    <a:latin typeface="Consolas" pitchFamily="49" charset="0"/>
                    <a:ea typeface="楷体" pitchFamily="49" charset="-122"/>
                    <a:cs typeface="Consolas" pitchFamily="49" charset="0"/>
                  </a:rPr>
                  <a:t>)=2*3+(-1)*5=1</a:t>
                </a:r>
                <a:r>
                  <a:rPr lang="en-US" altLang="zh-CN" sz="1800">
                    <a:solidFill>
                      <a:srgbClr val="FF0000"/>
                    </a:solidFill>
                    <a:latin typeface="Consolas" pitchFamily="49" charset="0"/>
                    <a:ea typeface="楷体" pitchFamily="49" charset="-122"/>
                    <a:cs typeface="Consolas" pitchFamily="49" charset="0"/>
                  </a:rPr>
                  <a:t>&gt;0</a:t>
                </a:r>
                <a:r>
                  <a:rPr lang="zh-CN" altLang="en-US" sz="1800">
                    <a:solidFill>
                      <a:srgbClr val="FF0000"/>
                    </a:solidFill>
                    <a:latin typeface="Consolas" pitchFamily="49" charset="0"/>
                    <a:ea typeface="楷体" pitchFamily="49" charset="-122"/>
                    <a:cs typeface="Consolas" pitchFamily="49" charset="0"/>
                  </a:rPr>
                  <a:t>：锐角</a:t>
                </a:r>
                <a:endParaRPr lang="zh-CN" altLang="en-US" sz="1800">
                  <a:solidFill>
                    <a:srgbClr val="FF0000"/>
                  </a:solidFill>
                  <a:latin typeface="Consolas" pitchFamily="49" charset="0"/>
                  <a:cs typeface="Consolas" pitchFamily="49" charset="0"/>
                </a:endParaRPr>
              </a:p>
            </p:txBody>
          </p:sp>
        </p:grpSp>
        <p:sp>
          <p:nvSpPr>
            <p:cNvPr id="21" name="TextBox 20"/>
            <p:cNvSpPr txBox="1"/>
            <p:nvPr/>
          </p:nvSpPr>
          <p:spPr>
            <a:xfrm>
              <a:off x="721976" y="3571876"/>
              <a:ext cx="492443" cy="1500198"/>
            </a:xfrm>
            <a:prstGeom prst="rect">
              <a:avLst/>
            </a:prstGeom>
            <a:noFill/>
          </p:spPr>
          <p:txBody>
            <a:bodyPr vert="eaVert" wrap="square" rtlCol="0">
              <a:spAutoFit/>
            </a:bodyPr>
            <a:lstStyle/>
            <a:p>
              <a:r>
                <a:rPr lang="zh-CN" altLang="en-US" sz="2000" spc="300">
                  <a:solidFill>
                    <a:srgbClr val="C00000"/>
                  </a:solidFill>
                  <a:latin typeface="Consolas" pitchFamily="49" charset="0"/>
                  <a:ea typeface="微软雅黑" pitchFamily="34" charset="-122"/>
                  <a:cs typeface="Consolas" pitchFamily="49" charset="0"/>
                </a:rPr>
                <a:t>特殊情况</a:t>
              </a:r>
            </a:p>
          </p:txBody>
        </p:sp>
      </p:grpSp>
      <p:sp>
        <p:nvSpPr>
          <p:cNvPr id="24" name="灯片编号占位符 23"/>
          <p:cNvSpPr>
            <a:spLocks noGrp="1"/>
          </p:cNvSpPr>
          <p:nvPr>
            <p:ph type="sldNum" sz="quarter" idx="12"/>
          </p:nvPr>
        </p:nvSpPr>
        <p:spPr/>
        <p:txBody>
          <a:bodyPr/>
          <a:lstStyle/>
          <a:p>
            <a:pPr>
              <a:defRPr/>
            </a:pPr>
            <a:fld id="{51116183-1013-4E64-BBE8-A5C1D5D4F838}" type="slidenum">
              <a:rPr lang="en-US" altLang="zh-CN" smtClean="0"/>
              <a:pPr>
                <a:defRPr/>
              </a:pPr>
              <a:t>15</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428596" y="642918"/>
            <a:ext cx="7559675" cy="461665"/>
          </a:xfrm>
          <a:prstGeom prst="rect">
            <a:avLst/>
          </a:prstGeom>
          <a:noFill/>
          <a:ln w="9525">
            <a:noFill/>
            <a:miter lim="800000"/>
            <a:headEnd/>
            <a:tailEnd/>
          </a:ln>
        </p:spPr>
        <p:txBody>
          <a:bodyPr>
            <a:spAutoFit/>
          </a:bodyPr>
          <a:lstStyle/>
          <a:p>
            <a:pPr>
              <a:spcBef>
                <a:spcPct val="50000"/>
              </a:spcBef>
            </a:pPr>
            <a:r>
              <a:rPr lang="zh-CN" altLang="en-US">
                <a:solidFill>
                  <a:srgbClr val="0000FF"/>
                </a:solidFill>
                <a:latin typeface="Consolas" pitchFamily="49" charset="0"/>
                <a:ea typeface="仿宋" pitchFamily="49" charset="-122"/>
                <a:cs typeface="Consolas" pitchFamily="49" charset="0"/>
              </a:rPr>
              <a:t>求两条线段</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到</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的夹角的算法如下：</a:t>
            </a:r>
          </a:p>
        </p:txBody>
      </p:sp>
      <p:sp>
        <p:nvSpPr>
          <p:cNvPr id="44035" name="Text Box 3"/>
          <p:cNvSpPr txBox="1">
            <a:spLocks noChangeArrowheads="1"/>
          </p:cNvSpPr>
          <p:nvPr/>
        </p:nvSpPr>
        <p:spPr bwMode="auto">
          <a:xfrm>
            <a:off x="500034" y="1429750"/>
            <a:ext cx="8064500" cy="3133505"/>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lIns="180000" tIns="180000" bIns="180000">
            <a:spAutoFit/>
          </a:bodyPr>
          <a:lstStyle/>
          <a:p>
            <a:pPr defTabSz="360000"/>
            <a:r>
              <a:rPr lang="en-US" altLang="zh-CN" sz="2000">
                <a:solidFill>
                  <a:srgbClr val="FF0000"/>
                </a:solidFill>
                <a:latin typeface="Consolas" pitchFamily="49" charset="0"/>
                <a:ea typeface="仿宋" pitchFamily="49" charset="-122"/>
                <a:cs typeface="Consolas" pitchFamily="49" charset="0"/>
              </a:rPr>
              <a:t>int Angle(Point p0,Point p1,Point p2) </a:t>
            </a:r>
            <a:r>
              <a:rPr lang="en-US" altLang="zh-CN" sz="2000">
                <a:solidFill>
                  <a:srgbClr val="0000FF"/>
                </a:solidFill>
                <a:latin typeface="Consolas" pitchFamily="49" charset="0"/>
                <a:ea typeface="仿宋" pitchFamily="49" charset="-122"/>
                <a:cs typeface="Consolas" pitchFamily="49" charset="0"/>
              </a:rPr>
              <a:t>{</a:t>
            </a:r>
          </a:p>
          <a:p>
            <a:pPr defTabSz="360000"/>
            <a:r>
              <a:rPr lang="en-US" altLang="zh-CN" sz="2000">
                <a:solidFill>
                  <a:srgbClr val="0000FF"/>
                </a:solidFill>
                <a:latin typeface="Consolas" pitchFamily="49" charset="0"/>
                <a:ea typeface="仿宋" pitchFamily="49" charset="-122"/>
                <a:cs typeface="Consolas" pitchFamily="49" charset="0"/>
              </a:rPr>
              <a:t>	double d=Dot((p1-p0),(p2-p0));</a:t>
            </a:r>
            <a:endParaRPr lang="zh-CN" altLang="zh-CN" sz="2000">
              <a:solidFill>
                <a:srgbClr val="0000FF"/>
              </a:solidFill>
              <a:latin typeface="Consolas" pitchFamily="49" charset="0"/>
              <a:ea typeface="仿宋" pitchFamily="49" charset="-122"/>
              <a:cs typeface="Consolas" pitchFamily="49" charset="0"/>
            </a:endParaRPr>
          </a:p>
          <a:p>
            <a:pPr defTabSz="360000"/>
            <a:r>
              <a:rPr lang="en-US" altLang="zh-CN" sz="2000">
                <a:solidFill>
                  <a:srgbClr val="0000FF"/>
                </a:solidFill>
                <a:latin typeface="Consolas" pitchFamily="49" charset="0"/>
                <a:ea typeface="仿宋" pitchFamily="49" charset="-122"/>
                <a:cs typeface="Consolas" pitchFamily="49" charset="0"/>
              </a:rPr>
              <a:t>  	if (d==0)</a:t>
            </a:r>
            <a:endParaRPr lang="zh-CN" altLang="zh-CN" sz="2000">
              <a:solidFill>
                <a:srgbClr val="0000FF"/>
              </a:solidFill>
              <a:latin typeface="Consolas" pitchFamily="49" charset="0"/>
              <a:ea typeface="仿宋" pitchFamily="49" charset="-122"/>
              <a:cs typeface="Consolas" pitchFamily="49" charset="0"/>
            </a:endParaRPr>
          </a:p>
          <a:p>
            <a:pPr defTabSz="360000"/>
            <a:r>
              <a:rPr lang="en-US" altLang="zh-CN" sz="2000">
                <a:solidFill>
                  <a:srgbClr val="0000FF"/>
                </a:solidFill>
                <a:latin typeface="Consolas" pitchFamily="49" charset="0"/>
                <a:ea typeface="仿宋" pitchFamily="49" charset="-122"/>
                <a:cs typeface="Consolas" pitchFamily="49" charset="0"/>
              </a:rPr>
              <a:t>  		return 0;		</a:t>
            </a:r>
            <a:r>
              <a:rPr lang="en-US" altLang="zh-CN" sz="2000">
                <a:solidFill>
                  <a:srgbClr val="00B0F0"/>
                </a:solidFill>
                <a:latin typeface="Consolas" pitchFamily="49" charset="0"/>
                <a:ea typeface="仿宋" pitchFamily="49" charset="-122"/>
                <a:cs typeface="Consolas" pitchFamily="49" charset="0"/>
              </a:rPr>
              <a:t>//</a:t>
            </a:r>
            <a:r>
              <a:rPr lang="zh-CN" altLang="zh-CN" sz="2000">
                <a:solidFill>
                  <a:srgbClr val="00B0F0"/>
                </a:solidFill>
                <a:latin typeface="Consolas" pitchFamily="49" charset="0"/>
                <a:ea typeface="仿宋" pitchFamily="49" charset="-122"/>
                <a:cs typeface="Consolas" pitchFamily="49" charset="0"/>
              </a:rPr>
              <a:t>两线段</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1</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0</a:t>
            </a:r>
            <a:r>
              <a:rPr lang="zh-CN" altLang="zh-CN" sz="2000">
                <a:solidFill>
                  <a:srgbClr val="00B0F0"/>
                </a:solidFill>
                <a:latin typeface="Consolas" pitchFamily="49" charset="0"/>
                <a:ea typeface="仿宋" pitchFamily="49" charset="-122"/>
                <a:cs typeface="Consolas" pitchFamily="49" charset="0"/>
              </a:rPr>
              <a:t>和</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2</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0</a:t>
            </a:r>
            <a:r>
              <a:rPr lang="zh-CN" altLang="zh-CN" sz="2000">
                <a:solidFill>
                  <a:srgbClr val="00B0F0"/>
                </a:solidFill>
                <a:latin typeface="Consolas" pitchFamily="49" charset="0"/>
                <a:ea typeface="仿宋" pitchFamily="49" charset="-122"/>
                <a:cs typeface="Consolas" pitchFamily="49" charset="0"/>
              </a:rPr>
              <a:t>夹角为直角</a:t>
            </a:r>
          </a:p>
          <a:p>
            <a:pPr defTabSz="360000"/>
            <a:r>
              <a:rPr lang="en-US" altLang="zh-CN" sz="2000">
                <a:solidFill>
                  <a:srgbClr val="0000FF"/>
                </a:solidFill>
                <a:latin typeface="Consolas" pitchFamily="49" charset="0"/>
                <a:ea typeface="仿宋" pitchFamily="49" charset="-122"/>
                <a:cs typeface="Consolas" pitchFamily="49" charset="0"/>
              </a:rPr>
              <a:t>  	else if (d&gt;0)</a:t>
            </a:r>
            <a:endParaRPr lang="zh-CN" altLang="zh-CN" sz="2000">
              <a:solidFill>
                <a:srgbClr val="0000FF"/>
              </a:solidFill>
              <a:latin typeface="Consolas" pitchFamily="49" charset="0"/>
              <a:ea typeface="仿宋" pitchFamily="49" charset="-122"/>
              <a:cs typeface="Consolas" pitchFamily="49" charset="0"/>
            </a:endParaRPr>
          </a:p>
          <a:p>
            <a:pPr defTabSz="360000"/>
            <a:r>
              <a:rPr lang="en-US" altLang="zh-CN" sz="2000">
                <a:solidFill>
                  <a:srgbClr val="0000FF"/>
                </a:solidFill>
                <a:latin typeface="Consolas" pitchFamily="49" charset="0"/>
                <a:ea typeface="仿宋" pitchFamily="49" charset="-122"/>
                <a:cs typeface="Consolas" pitchFamily="49" charset="0"/>
              </a:rPr>
              <a:t>		return 1;		</a:t>
            </a:r>
            <a:r>
              <a:rPr lang="en-US" altLang="zh-CN" sz="2000">
                <a:solidFill>
                  <a:srgbClr val="00B0F0"/>
                </a:solidFill>
                <a:latin typeface="Consolas" pitchFamily="49" charset="0"/>
                <a:ea typeface="仿宋" pitchFamily="49" charset="-122"/>
                <a:cs typeface="Consolas" pitchFamily="49" charset="0"/>
              </a:rPr>
              <a:t>//</a:t>
            </a:r>
            <a:r>
              <a:rPr lang="zh-CN" altLang="zh-CN" sz="2000">
                <a:solidFill>
                  <a:srgbClr val="00B0F0"/>
                </a:solidFill>
                <a:latin typeface="Consolas" pitchFamily="49" charset="0"/>
                <a:ea typeface="仿宋" pitchFamily="49" charset="-122"/>
                <a:cs typeface="Consolas" pitchFamily="49" charset="0"/>
              </a:rPr>
              <a:t>两线段</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1</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0</a:t>
            </a:r>
            <a:r>
              <a:rPr lang="zh-CN" altLang="zh-CN" sz="2000">
                <a:solidFill>
                  <a:srgbClr val="00B0F0"/>
                </a:solidFill>
                <a:latin typeface="Consolas" pitchFamily="49" charset="0"/>
                <a:ea typeface="仿宋" pitchFamily="49" charset="-122"/>
                <a:cs typeface="Consolas" pitchFamily="49" charset="0"/>
              </a:rPr>
              <a:t>和</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2</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0</a:t>
            </a:r>
            <a:r>
              <a:rPr lang="zh-CN" altLang="zh-CN" sz="2000">
                <a:solidFill>
                  <a:srgbClr val="00B0F0"/>
                </a:solidFill>
                <a:latin typeface="Consolas" pitchFamily="49" charset="0"/>
                <a:ea typeface="仿宋" pitchFamily="49" charset="-122"/>
                <a:cs typeface="Consolas" pitchFamily="49" charset="0"/>
              </a:rPr>
              <a:t>的夹角为锐角</a:t>
            </a:r>
          </a:p>
          <a:p>
            <a:pPr defTabSz="360000"/>
            <a:r>
              <a:rPr lang="en-US" altLang="zh-CN" sz="2000">
                <a:solidFill>
                  <a:srgbClr val="0000FF"/>
                </a:solidFill>
                <a:latin typeface="Consolas" pitchFamily="49" charset="0"/>
                <a:ea typeface="仿宋" pitchFamily="49" charset="-122"/>
                <a:cs typeface="Consolas" pitchFamily="49" charset="0"/>
              </a:rPr>
              <a:t>  	else</a:t>
            </a:r>
            <a:endParaRPr lang="zh-CN" altLang="zh-CN" sz="2000">
              <a:solidFill>
                <a:srgbClr val="0000FF"/>
              </a:solidFill>
              <a:latin typeface="Consolas" pitchFamily="49" charset="0"/>
              <a:ea typeface="仿宋" pitchFamily="49" charset="-122"/>
              <a:cs typeface="Consolas" pitchFamily="49" charset="0"/>
            </a:endParaRPr>
          </a:p>
          <a:p>
            <a:pPr defTabSz="360000"/>
            <a:r>
              <a:rPr lang="en-US" altLang="zh-CN" sz="2000">
                <a:solidFill>
                  <a:srgbClr val="0000FF"/>
                </a:solidFill>
                <a:latin typeface="Consolas" pitchFamily="49" charset="0"/>
                <a:ea typeface="仿宋" pitchFamily="49" charset="-122"/>
                <a:cs typeface="Consolas" pitchFamily="49" charset="0"/>
              </a:rPr>
              <a:t>		return -1;		</a:t>
            </a:r>
            <a:r>
              <a:rPr lang="en-US" altLang="zh-CN" sz="2000">
                <a:solidFill>
                  <a:srgbClr val="00B0F0"/>
                </a:solidFill>
                <a:latin typeface="Consolas" pitchFamily="49" charset="0"/>
                <a:ea typeface="仿宋" pitchFamily="49" charset="-122"/>
                <a:cs typeface="Consolas" pitchFamily="49" charset="0"/>
              </a:rPr>
              <a:t>//</a:t>
            </a:r>
            <a:r>
              <a:rPr lang="zh-CN" altLang="zh-CN" sz="2000">
                <a:solidFill>
                  <a:srgbClr val="00B0F0"/>
                </a:solidFill>
                <a:latin typeface="Consolas" pitchFamily="49" charset="0"/>
                <a:ea typeface="仿宋" pitchFamily="49" charset="-122"/>
                <a:cs typeface="Consolas" pitchFamily="49" charset="0"/>
              </a:rPr>
              <a:t>两线段</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1</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0</a:t>
            </a:r>
            <a:r>
              <a:rPr lang="zh-CN" altLang="zh-CN" sz="2000">
                <a:solidFill>
                  <a:srgbClr val="00B0F0"/>
                </a:solidFill>
                <a:latin typeface="Consolas" pitchFamily="49" charset="0"/>
                <a:ea typeface="仿宋" pitchFamily="49" charset="-122"/>
                <a:cs typeface="Consolas" pitchFamily="49" charset="0"/>
              </a:rPr>
              <a:t>和</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2</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0</a:t>
            </a:r>
            <a:r>
              <a:rPr lang="zh-CN" altLang="zh-CN" sz="2000">
                <a:solidFill>
                  <a:srgbClr val="00B0F0"/>
                </a:solidFill>
                <a:latin typeface="Consolas" pitchFamily="49" charset="0"/>
                <a:ea typeface="仿宋" pitchFamily="49" charset="-122"/>
                <a:cs typeface="Consolas" pitchFamily="49" charset="0"/>
              </a:rPr>
              <a:t>的夹角为钝角</a:t>
            </a:r>
          </a:p>
          <a:p>
            <a:pPr defTabSz="360000"/>
            <a:r>
              <a:rPr lang="en-US" altLang="zh-CN" sz="2000">
                <a:solidFill>
                  <a:srgbClr val="0000FF"/>
                </a:solidFill>
                <a:latin typeface="Consolas" pitchFamily="49" charset="0"/>
                <a:ea typeface="仿宋" pitchFamily="49" charset="-122"/>
                <a:cs typeface="Consolas" pitchFamily="49" charset="0"/>
              </a:rPr>
              <a:t>}</a:t>
            </a:r>
            <a:endParaRPr lang="zh-CN" altLang="zh-CN" sz="2000">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16</a:t>
            </a:fld>
            <a:r>
              <a:rPr lang="en-US" altLang="zh-CN"/>
              <a:t>/167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2"/>
          <p:cNvSpPr txBox="1">
            <a:spLocks noChangeArrowheads="1"/>
          </p:cNvSpPr>
          <p:nvPr/>
        </p:nvSpPr>
        <p:spPr bwMode="auto">
          <a:xfrm>
            <a:off x="395288" y="357166"/>
            <a:ext cx="3105142" cy="461665"/>
          </a:xfrm>
          <a:prstGeom prst="rect">
            <a:avLst/>
          </a:prstGeom>
          <a:solidFill>
            <a:srgbClr val="9900FF"/>
          </a:solidFill>
          <a:ln w="9525">
            <a:noFill/>
            <a:miter lim="800000"/>
            <a:headEnd/>
            <a:tailEnd/>
          </a:ln>
        </p:spPr>
        <p:txBody>
          <a:bodyPr wrap="square">
            <a:spAutoFit/>
          </a:bodyPr>
          <a:lstStyle/>
          <a:p>
            <a:pPr algn="ctr">
              <a:spcBef>
                <a:spcPct val="50000"/>
              </a:spcBef>
            </a:pPr>
            <a:r>
              <a:rPr lang="en-US" altLang="zh-CN">
                <a:solidFill>
                  <a:schemeClr val="bg1"/>
                </a:solidFill>
                <a:latin typeface="Consolas" pitchFamily="49" charset="0"/>
                <a:ea typeface="微软雅黑" pitchFamily="34" charset="-122"/>
                <a:cs typeface="Consolas" pitchFamily="49" charset="0"/>
              </a:rPr>
              <a:t>3. </a:t>
            </a:r>
            <a:r>
              <a:rPr lang="zh-CN" altLang="en-US">
                <a:solidFill>
                  <a:schemeClr val="bg1"/>
                </a:solidFill>
                <a:latin typeface="Consolas" pitchFamily="49" charset="0"/>
                <a:ea typeface="微软雅黑" pitchFamily="34" charset="-122"/>
                <a:cs typeface="Consolas" pitchFamily="49" charset="0"/>
              </a:rPr>
              <a:t>向量叉积运算</a:t>
            </a:r>
          </a:p>
        </p:txBody>
      </p:sp>
      <p:sp>
        <p:nvSpPr>
          <p:cNvPr id="4100" name="Text Box 3"/>
          <p:cNvSpPr txBox="1">
            <a:spLocks noChangeArrowheads="1"/>
          </p:cNvSpPr>
          <p:nvPr/>
        </p:nvSpPr>
        <p:spPr bwMode="auto">
          <a:xfrm>
            <a:off x="214282" y="1021977"/>
            <a:ext cx="8643998" cy="1762662"/>
          </a:xfrm>
          <a:prstGeom prst="rect">
            <a:avLst/>
          </a:prstGeom>
          <a:solidFill>
            <a:schemeClr val="bg1"/>
          </a:solidFill>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nSpc>
                <a:spcPts val="3000"/>
              </a:lnSpc>
              <a:spcBef>
                <a:spcPts val="600"/>
              </a:spcBef>
            </a:pPr>
            <a:r>
              <a:rPr lang="zh-CN" altLang="en-US" dirty="0">
                <a:solidFill>
                  <a:srgbClr val="0000FF"/>
                </a:solidFill>
                <a:latin typeface="Consolas" pitchFamily="49" charset="0"/>
                <a:ea typeface="仿宋" pitchFamily="49" charset="-122"/>
                <a:cs typeface="Consolas" pitchFamily="49" charset="0"/>
              </a:rPr>
              <a:t>　　</a:t>
            </a:r>
            <a:r>
              <a:rPr lang="zh-CN" altLang="en-US">
                <a:solidFill>
                  <a:srgbClr val="0000FF"/>
                </a:solidFill>
                <a:latin typeface="Consolas" pitchFamily="49" charset="0"/>
                <a:ea typeface="仿宋" pitchFamily="49" charset="-122"/>
                <a:cs typeface="Consolas" pitchFamily="49" charset="0"/>
              </a:rPr>
              <a:t>两个向量</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en-US" dirty="0">
                <a:solidFill>
                  <a:srgbClr val="0000FF"/>
                </a:solidFill>
                <a:latin typeface="Consolas" pitchFamily="49" charset="0"/>
                <a:ea typeface="仿宋" pitchFamily="49" charset="-122"/>
                <a:cs typeface="Consolas" pitchFamily="49" charset="0"/>
              </a:rPr>
              <a:t>和</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2</a:t>
            </a:r>
            <a:r>
              <a:rPr lang="zh-CN" altLang="en-US" dirty="0">
                <a:solidFill>
                  <a:srgbClr val="0000FF"/>
                </a:solidFill>
                <a:latin typeface="Consolas" pitchFamily="49" charset="0"/>
                <a:ea typeface="仿宋" pitchFamily="49" charset="-122"/>
                <a:cs typeface="Consolas" pitchFamily="49" charset="0"/>
              </a:rPr>
              <a:t>的叉积（外</a:t>
            </a:r>
            <a:r>
              <a:rPr lang="zh-CN" altLang="en-US">
                <a:solidFill>
                  <a:srgbClr val="0000FF"/>
                </a:solidFill>
                <a:latin typeface="Consolas" pitchFamily="49" charset="0"/>
                <a:ea typeface="仿宋" pitchFamily="49" charset="-122"/>
                <a:cs typeface="Consolas" pitchFamily="49" charset="0"/>
              </a:rPr>
              <a:t>积）： </a:t>
            </a:r>
            <a:endParaRPr lang="en-US" altLang="zh-CN">
              <a:solidFill>
                <a:srgbClr val="0000FF"/>
              </a:solidFill>
              <a:latin typeface="Consolas" pitchFamily="49" charset="0"/>
              <a:ea typeface="仿宋" pitchFamily="49" charset="-122"/>
              <a:cs typeface="Consolas" pitchFamily="49" charset="0"/>
            </a:endParaRPr>
          </a:p>
          <a:p>
            <a:pPr>
              <a:lnSpc>
                <a:spcPts val="3000"/>
              </a:lnSpc>
              <a:spcBef>
                <a:spcPts val="600"/>
              </a:spcBef>
            </a:pPr>
            <a:r>
              <a:rPr lang="en-US" altLang="zh-CN">
                <a:solidFill>
                  <a:srgbClr val="0000FF"/>
                </a:solidFill>
                <a:latin typeface="Consolas" pitchFamily="49" charset="0"/>
                <a:ea typeface="仿宋" pitchFamily="49" charset="-122"/>
                <a:cs typeface="Consolas" pitchFamily="49" charset="0"/>
              </a:rPr>
              <a:t>      </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en-US" altLang="zh-CN" dirty="0">
                <a:solidFill>
                  <a:srgbClr val="C00000"/>
                </a:solidFill>
                <a:latin typeface="Consolas" pitchFamily="49" charset="0"/>
                <a:ea typeface="仿宋" pitchFamily="49" charset="-122"/>
                <a:cs typeface="Consolas" pitchFamily="49" charset="0"/>
              </a:rPr>
              <a:t>=|</a:t>
            </a:r>
            <a:r>
              <a:rPr lang="en-US" altLang="zh-CN" dirty="0" err="1">
                <a:solidFill>
                  <a:srgbClr val="C00000"/>
                </a:solidFill>
                <a:latin typeface="Consolas" pitchFamily="49" charset="0"/>
                <a:ea typeface="仿宋" pitchFamily="49" charset="-122"/>
                <a:cs typeface="Consolas" pitchFamily="49" charset="0"/>
              </a:rPr>
              <a:t>p</a:t>
            </a:r>
            <a:r>
              <a:rPr lang="en-US" altLang="zh-CN" baseline="-25000" dirty="0" err="1">
                <a:solidFill>
                  <a:srgbClr val="C00000"/>
                </a:solidFill>
                <a:latin typeface="Consolas" pitchFamily="49" charset="0"/>
                <a:ea typeface="仿宋" pitchFamily="49" charset="-122"/>
                <a:cs typeface="Consolas" pitchFamily="49" charset="0"/>
              </a:rPr>
              <a:t>1</a:t>
            </a:r>
            <a:r>
              <a:rPr lang="en-US" altLang="zh-CN" dirty="0">
                <a:solidFill>
                  <a:srgbClr val="C00000"/>
                </a:solidFill>
                <a:latin typeface="Consolas" pitchFamily="49" charset="0"/>
                <a:ea typeface="仿宋" pitchFamily="49" charset="-122"/>
                <a:cs typeface="Consolas" pitchFamily="49" charset="0"/>
              </a:rPr>
              <a:t>|×|</a:t>
            </a:r>
            <a:r>
              <a:rPr lang="en-US" altLang="zh-CN" dirty="0" err="1">
                <a:solidFill>
                  <a:srgbClr val="C00000"/>
                </a:solidFill>
                <a:latin typeface="Consolas" pitchFamily="49" charset="0"/>
                <a:ea typeface="仿宋" pitchFamily="49" charset="-122"/>
                <a:cs typeface="Consolas" pitchFamily="49" charset="0"/>
              </a:rPr>
              <a:t>p</a:t>
            </a:r>
            <a:r>
              <a:rPr lang="en-US" altLang="zh-CN" baseline="-25000" dirty="0" err="1">
                <a:solidFill>
                  <a:srgbClr val="C00000"/>
                </a:solidFill>
                <a:latin typeface="Consolas" pitchFamily="49" charset="0"/>
                <a:ea typeface="仿宋" pitchFamily="49" charset="-122"/>
                <a:cs typeface="Consolas" pitchFamily="49" charset="0"/>
              </a:rPr>
              <a:t>2</a:t>
            </a:r>
            <a:r>
              <a:rPr lang="en-US" altLang="zh-CN" dirty="0">
                <a:solidFill>
                  <a:srgbClr val="C00000"/>
                </a:solidFill>
                <a:latin typeface="Consolas" pitchFamily="49" charset="0"/>
                <a:ea typeface="仿宋" pitchFamily="49" charset="-122"/>
                <a:cs typeface="Consolas" pitchFamily="49" charset="0"/>
              </a:rPr>
              <a:t>|×sin</a:t>
            </a:r>
            <a:r>
              <a:rPr lang="en-US" altLang="zh-CN" dirty="0">
                <a:solidFill>
                  <a:srgbClr val="C00000"/>
                </a:solidFill>
                <a:latin typeface="Consolas" pitchFamily="49" charset="0"/>
                <a:ea typeface="仿宋" pitchFamily="49" charset="-122"/>
                <a:cs typeface="Consolas" pitchFamily="49" charset="0"/>
                <a:sym typeface="Symbol" pitchFamily="18" charset="2"/>
              </a:rPr>
              <a:t></a:t>
            </a:r>
            <a:r>
              <a:rPr lang="en-US" altLang="zh-CN">
                <a:solidFill>
                  <a:srgbClr val="C00000"/>
                </a:solidFill>
                <a:latin typeface="Consolas" pitchFamily="49" charset="0"/>
                <a:ea typeface="仿宋" pitchFamily="49" charset="-122"/>
                <a:cs typeface="Consolas" pitchFamily="49" charset="0"/>
              </a:rPr>
              <a:t>=</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1</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x</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2</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y</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2</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x</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1</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y</a:t>
            </a:r>
          </a:p>
          <a:p>
            <a:pPr>
              <a:lnSpc>
                <a:spcPts val="3000"/>
              </a:lnSpc>
              <a:spcBef>
                <a:spcPts val="600"/>
              </a:spcBef>
            </a:pPr>
            <a:r>
              <a:rPr lang="zh-CN" altLang="en-US">
                <a:solidFill>
                  <a:srgbClr val="0000FF"/>
                </a:solidFill>
                <a:latin typeface="Consolas" pitchFamily="49" charset="0"/>
                <a:ea typeface="仿宋" pitchFamily="49" charset="-122"/>
                <a:cs typeface="Consolas" pitchFamily="49" charset="0"/>
              </a:rPr>
              <a:t>其</a:t>
            </a:r>
            <a:r>
              <a:rPr lang="zh-CN" altLang="en-US" dirty="0">
                <a:solidFill>
                  <a:srgbClr val="0000FF"/>
                </a:solidFill>
                <a:latin typeface="Consolas" pitchFamily="49" charset="0"/>
                <a:ea typeface="仿宋" pitchFamily="49" charset="-122"/>
                <a:cs typeface="Consolas" pitchFamily="49" charset="0"/>
              </a:rPr>
              <a:t>结果是一个</a:t>
            </a:r>
            <a:r>
              <a:rPr lang="zh-CN" altLang="en-US">
                <a:solidFill>
                  <a:srgbClr val="0000FF"/>
                </a:solidFill>
                <a:latin typeface="Consolas" pitchFamily="49" charset="0"/>
                <a:ea typeface="仿宋" pitchFamily="49" charset="-122"/>
                <a:cs typeface="Consolas" pitchFamily="49" charset="0"/>
              </a:rPr>
              <a:t>标量，其中，</a:t>
            </a:r>
            <a:r>
              <a:rPr lang="en-US" altLang="zh-CN">
                <a:solidFill>
                  <a:srgbClr val="0000FF"/>
                </a:solidFill>
                <a:latin typeface="Consolas" pitchFamily="49" charset="0"/>
                <a:ea typeface="仿宋" pitchFamily="49" charset="-122"/>
                <a:cs typeface="Consolas" pitchFamily="49" charset="0"/>
              </a:rPr>
              <a:t>|</a:t>
            </a:r>
            <a:r>
              <a:rPr lang="en-US" altLang="zh-CN" dirty="0">
                <a:solidFill>
                  <a:srgbClr val="0000FF"/>
                </a:solidFill>
                <a:latin typeface="Consolas" pitchFamily="49" charset="0"/>
                <a:ea typeface="仿宋" pitchFamily="49" charset="-122"/>
                <a:cs typeface="Consolas" pitchFamily="49" charset="0"/>
              </a:rPr>
              <a:t>p|</a:t>
            </a:r>
            <a:r>
              <a:rPr lang="zh-CN" altLang="en-US">
                <a:solidFill>
                  <a:srgbClr val="0000FF"/>
                </a:solidFill>
                <a:latin typeface="Consolas" pitchFamily="49" charset="0"/>
                <a:ea typeface="仿宋" pitchFamily="49" charset="-122"/>
                <a:cs typeface="Consolas" pitchFamily="49" charset="0"/>
              </a:rPr>
              <a:t>表示向量</a:t>
            </a:r>
            <a:r>
              <a:rPr lang="en-US" altLang="zh-CN">
                <a:solidFill>
                  <a:srgbClr val="0000FF"/>
                </a:solidFill>
                <a:latin typeface="Consolas" pitchFamily="49" charset="0"/>
                <a:ea typeface="仿宋" pitchFamily="49" charset="-122"/>
                <a:cs typeface="Consolas" pitchFamily="49" charset="0"/>
              </a:rPr>
              <a:t>p</a:t>
            </a:r>
            <a:r>
              <a:rPr lang="zh-CN" altLang="en-US" dirty="0">
                <a:solidFill>
                  <a:srgbClr val="0000FF"/>
                </a:solidFill>
                <a:latin typeface="Consolas" pitchFamily="49" charset="0"/>
                <a:ea typeface="仿宋" pitchFamily="49" charset="-122"/>
                <a:cs typeface="Consolas" pitchFamily="49" charset="0"/>
              </a:rPr>
              <a:t>的</a:t>
            </a:r>
            <a:r>
              <a:rPr lang="zh-CN" altLang="en-US">
                <a:solidFill>
                  <a:srgbClr val="0000FF"/>
                </a:solidFill>
                <a:latin typeface="Consolas" pitchFamily="49" charset="0"/>
                <a:ea typeface="仿宋" pitchFamily="49" charset="-122"/>
                <a:cs typeface="Consolas" pitchFamily="49" charset="0"/>
              </a:rPr>
              <a:t>长度，</a:t>
            </a:r>
            <a:r>
              <a:rPr lang="zh-CN" altLang="en-US">
                <a:solidFill>
                  <a:srgbClr val="0000FF"/>
                </a:solidFill>
                <a:latin typeface="Consolas" pitchFamily="49" charset="0"/>
                <a:ea typeface="仿宋" pitchFamily="49" charset="-122"/>
                <a:cs typeface="Consolas" pitchFamily="49" charset="0"/>
                <a:sym typeface="Symbol" pitchFamily="18" charset="2"/>
              </a:rPr>
              <a:t></a:t>
            </a:r>
            <a:r>
              <a:rPr lang="zh-CN" altLang="en-US" dirty="0">
                <a:solidFill>
                  <a:srgbClr val="0000FF"/>
                </a:solidFill>
                <a:latin typeface="Consolas" pitchFamily="49" charset="0"/>
                <a:ea typeface="仿宋" pitchFamily="49" charset="-122"/>
                <a:cs typeface="Consolas" pitchFamily="49" charset="0"/>
              </a:rPr>
              <a:t>表示</a:t>
            </a:r>
            <a:r>
              <a:rPr lang="zh-CN" altLang="en-US">
                <a:solidFill>
                  <a:srgbClr val="0000FF"/>
                </a:solidFill>
                <a:latin typeface="Consolas" pitchFamily="49" charset="0"/>
                <a:ea typeface="仿宋" pitchFamily="49" charset="-122"/>
                <a:cs typeface="Consolas" pitchFamily="49" charset="0"/>
              </a:rPr>
              <a:t>两个向量的夹角，如图所示。</a:t>
            </a:r>
            <a:endParaRPr lang="en-US" altLang="zh-CN" dirty="0">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4357686" y="3786190"/>
            <a:ext cx="3714808" cy="40011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altLang="zh-CN" sz="2000">
                <a:solidFill>
                  <a:srgbClr val="0000FF"/>
                </a:solidFill>
                <a:latin typeface="Consolas" pitchFamily="49" charset="0"/>
                <a:ea typeface="楷体" pitchFamily="49" charset="-122"/>
                <a:cs typeface="Consolas" pitchFamily="49" charset="0"/>
              </a:rPr>
              <a:t> </a:t>
            </a:r>
            <a:r>
              <a:rPr lang="zh-CN" altLang="en-US" sz="2000">
                <a:solidFill>
                  <a:srgbClr val="0000FF"/>
                </a:solidFill>
                <a:latin typeface="Consolas" pitchFamily="49" charset="0"/>
                <a:ea typeface="楷体" pitchFamily="49" charset="-122"/>
                <a:cs typeface="Consolas" pitchFamily="49" charset="0"/>
              </a:rPr>
              <a:t>显然有性质：</a:t>
            </a:r>
            <a:r>
              <a:rPr lang="en-US" altLang="zh-CN" sz="2000">
                <a:solidFill>
                  <a:srgbClr val="0000FF"/>
                </a:solidFill>
                <a:latin typeface="Consolas" pitchFamily="49" charset="0"/>
                <a:ea typeface="楷体" pitchFamily="49" charset="-122"/>
                <a:cs typeface="Consolas" pitchFamily="49" charset="0"/>
              </a:rPr>
              <a:t>p</a:t>
            </a:r>
            <a:r>
              <a:rPr lang="en-US" altLang="zh-CN" sz="2000" baseline="-25000">
                <a:solidFill>
                  <a:srgbClr val="0000FF"/>
                </a:solidFill>
                <a:latin typeface="Consolas" pitchFamily="49" charset="0"/>
                <a:ea typeface="楷体" pitchFamily="49" charset="-122"/>
                <a:cs typeface="Consolas" pitchFamily="49" charset="0"/>
              </a:rPr>
              <a:t>1</a:t>
            </a:r>
            <a:r>
              <a:rPr lang="en-US" altLang="zh-CN" sz="2000">
                <a:solidFill>
                  <a:srgbClr val="0000FF"/>
                </a:solidFill>
                <a:latin typeface="Consolas" pitchFamily="49" charset="0"/>
                <a:ea typeface="楷体" pitchFamily="49" charset="-122"/>
                <a:cs typeface="Consolas" pitchFamily="49" charset="0"/>
              </a:rPr>
              <a:t>×p</a:t>
            </a:r>
            <a:r>
              <a:rPr lang="en-US" altLang="zh-CN" sz="2000" baseline="-25000">
                <a:solidFill>
                  <a:srgbClr val="0000FF"/>
                </a:solidFill>
                <a:latin typeface="Consolas" pitchFamily="49" charset="0"/>
                <a:ea typeface="楷体" pitchFamily="49" charset="-122"/>
                <a:cs typeface="Consolas" pitchFamily="49" charset="0"/>
              </a:rPr>
              <a:t>2</a:t>
            </a:r>
            <a:r>
              <a:rPr lang="en-US" altLang="zh-CN" sz="2000">
                <a:solidFill>
                  <a:srgbClr val="0000FF"/>
                </a:solidFill>
                <a:latin typeface="Consolas" pitchFamily="49" charset="0"/>
                <a:ea typeface="楷体" pitchFamily="49" charset="-122"/>
                <a:cs typeface="Consolas" pitchFamily="49" charset="0"/>
              </a:rPr>
              <a:t>=-p</a:t>
            </a:r>
            <a:r>
              <a:rPr lang="en-US" altLang="zh-CN" sz="2000" baseline="-25000">
                <a:solidFill>
                  <a:srgbClr val="0000FF"/>
                </a:solidFill>
                <a:latin typeface="Consolas" pitchFamily="49" charset="0"/>
                <a:ea typeface="楷体" pitchFamily="49" charset="-122"/>
                <a:cs typeface="Consolas" pitchFamily="49" charset="0"/>
              </a:rPr>
              <a:t>2</a:t>
            </a:r>
            <a:r>
              <a:rPr lang="en-US" altLang="zh-CN" sz="2000">
                <a:solidFill>
                  <a:srgbClr val="0000FF"/>
                </a:solidFill>
                <a:latin typeface="Consolas" pitchFamily="49" charset="0"/>
                <a:ea typeface="楷体" pitchFamily="49" charset="-122"/>
                <a:cs typeface="Consolas" pitchFamily="49" charset="0"/>
              </a:rPr>
              <a:t>×p</a:t>
            </a:r>
            <a:r>
              <a:rPr lang="en-US" altLang="zh-CN" sz="2000" baseline="-25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a:t>
            </a:r>
            <a:endParaRPr lang="zh-CN" altLang="en-US" sz="2000">
              <a:latin typeface="Consolas" pitchFamily="49" charset="0"/>
              <a:cs typeface="Consolas" pitchFamily="49" charset="0"/>
            </a:endParaRPr>
          </a:p>
        </p:txBody>
      </p:sp>
      <p:grpSp>
        <p:nvGrpSpPr>
          <p:cNvPr id="31" name="组合 30"/>
          <p:cNvGrpSpPr/>
          <p:nvPr/>
        </p:nvGrpSpPr>
        <p:grpSpPr>
          <a:xfrm>
            <a:off x="642910" y="3143248"/>
            <a:ext cx="4286280" cy="3012538"/>
            <a:chOff x="642910" y="3143248"/>
            <a:chExt cx="4286280" cy="3012538"/>
          </a:xfrm>
        </p:grpSpPr>
        <p:cxnSp>
          <p:nvCxnSpPr>
            <p:cNvPr id="11" name="直接箭头连接符 10"/>
            <p:cNvCxnSpPr/>
            <p:nvPr/>
          </p:nvCxnSpPr>
          <p:spPr>
            <a:xfrm>
              <a:off x="642910" y="4889238"/>
              <a:ext cx="42862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rot="5400000" flipH="1" flipV="1">
              <a:off x="311207" y="4760041"/>
              <a:ext cx="2520000"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28662" y="4999842"/>
              <a:ext cx="857256"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(0,0)</a:t>
              </a:r>
              <a:endParaRPr lang="zh-CN" altLang="en-US" sz="1800">
                <a:solidFill>
                  <a:srgbClr val="0000FF"/>
                </a:solidFill>
                <a:latin typeface="Consolas" pitchFamily="49" charset="0"/>
                <a:cs typeface="Consolas" pitchFamily="49" charset="0"/>
              </a:endParaRPr>
            </a:p>
          </p:txBody>
        </p:sp>
        <p:sp>
          <p:nvSpPr>
            <p:cNvPr id="15" name="TextBox 14"/>
            <p:cNvSpPr txBox="1"/>
            <p:nvPr/>
          </p:nvSpPr>
          <p:spPr>
            <a:xfrm>
              <a:off x="1928794" y="5786454"/>
              <a:ext cx="500066"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endParaRPr lang="zh-CN" altLang="en-US" sz="1800">
                <a:solidFill>
                  <a:srgbClr val="0000FF"/>
                </a:solidFill>
                <a:latin typeface="Consolas" pitchFamily="49" charset="0"/>
                <a:cs typeface="Consolas" pitchFamily="49" charset="0"/>
              </a:endParaRPr>
            </a:p>
          </p:txBody>
        </p:sp>
        <p:sp>
          <p:nvSpPr>
            <p:cNvPr id="17" name="TextBox 16"/>
            <p:cNvSpPr txBox="1"/>
            <p:nvPr/>
          </p:nvSpPr>
          <p:spPr>
            <a:xfrm>
              <a:off x="2786050" y="3143248"/>
              <a:ext cx="428628"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sp>
          <p:nvSpPr>
            <p:cNvPr id="21" name="平行四边形 20"/>
            <p:cNvSpPr/>
            <p:nvPr/>
          </p:nvSpPr>
          <p:spPr>
            <a:xfrm rot="18964577">
              <a:off x="1433394" y="4220954"/>
              <a:ext cx="2034098" cy="833705"/>
            </a:xfrm>
            <a:prstGeom prst="parallelogram">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cxnSp>
          <p:nvCxnSpPr>
            <p:cNvPr id="23" name="直接箭头连接符 22"/>
            <p:cNvCxnSpPr/>
            <p:nvPr/>
          </p:nvCxnSpPr>
          <p:spPr>
            <a:xfrm flipV="1">
              <a:off x="1571604" y="3571876"/>
              <a:ext cx="1357322" cy="131974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6" name="直接箭头连接符 25"/>
            <p:cNvCxnSpPr/>
            <p:nvPr/>
          </p:nvCxnSpPr>
          <p:spPr>
            <a:xfrm rot="16200000" flipH="1">
              <a:off x="1416202" y="5059548"/>
              <a:ext cx="810872" cy="50006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sp>
        <p:nvSpPr>
          <p:cNvPr id="16" name="灯片编号占位符 15"/>
          <p:cNvSpPr>
            <a:spLocks noGrp="1"/>
          </p:cNvSpPr>
          <p:nvPr>
            <p:ph type="sldNum" sz="quarter" idx="12"/>
          </p:nvPr>
        </p:nvSpPr>
        <p:spPr/>
        <p:txBody>
          <a:bodyPr/>
          <a:lstStyle/>
          <a:p>
            <a:pPr>
              <a:defRPr/>
            </a:pPr>
            <a:fld id="{51116183-1013-4E64-BBE8-A5C1D5D4F838}" type="slidenum">
              <a:rPr lang="en-US" altLang="zh-CN" smtClean="0"/>
              <a:pPr>
                <a:defRPr/>
              </a:pPr>
              <a:t>17</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428596" y="1285860"/>
            <a:ext cx="5903912" cy="461665"/>
          </a:xfrm>
          <a:prstGeom prst="rect">
            <a:avLst/>
          </a:prstGeom>
          <a:noFill/>
          <a:ln w="9525">
            <a:noFill/>
            <a:miter lim="800000"/>
            <a:headEnd/>
            <a:tailEnd/>
          </a:ln>
        </p:spPr>
        <p:txBody>
          <a:bodyPr>
            <a:spAutoFit/>
          </a:bodyPr>
          <a:lstStyle/>
          <a:p>
            <a:pPr>
              <a:spcBef>
                <a:spcPct val="50000"/>
              </a:spcBef>
            </a:pPr>
            <a:r>
              <a:rPr lang="zh-CN" altLang="en-US">
                <a:solidFill>
                  <a:srgbClr val="0000FF"/>
                </a:solidFill>
                <a:latin typeface="Consolas" pitchFamily="49" charset="0"/>
                <a:ea typeface="仿宋" pitchFamily="49" charset="-122"/>
                <a:cs typeface="Consolas" pitchFamily="49" charset="0"/>
              </a:rPr>
              <a:t>求两个向量</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叉积的算法如下：</a:t>
            </a:r>
          </a:p>
        </p:txBody>
      </p:sp>
      <p:sp>
        <p:nvSpPr>
          <p:cNvPr id="45059" name="Text Box 3"/>
          <p:cNvSpPr txBox="1">
            <a:spLocks noChangeArrowheads="1"/>
          </p:cNvSpPr>
          <p:nvPr/>
        </p:nvSpPr>
        <p:spPr bwMode="auto">
          <a:xfrm>
            <a:off x="500034" y="2000240"/>
            <a:ext cx="7343775" cy="1517678"/>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lIns="216000" tIns="180000" bIns="180000">
            <a:spAutoFit/>
          </a:bodyPr>
          <a:lstStyle/>
          <a:p>
            <a:pPr>
              <a:lnSpc>
                <a:spcPts val="3000"/>
              </a:lnSpc>
            </a:pPr>
            <a:r>
              <a:rPr lang="en-US" altLang="zh-CN" sz="2000" dirty="0">
                <a:solidFill>
                  <a:srgbClr val="FF0000"/>
                </a:solidFill>
                <a:latin typeface="Consolas" pitchFamily="49" charset="0"/>
                <a:ea typeface="仿宋" pitchFamily="49" charset="-122"/>
                <a:cs typeface="Consolas" pitchFamily="49" charset="0"/>
              </a:rPr>
              <a:t>double </a:t>
            </a:r>
            <a:r>
              <a:rPr lang="en-US" altLang="zh-CN" sz="2000" err="1">
                <a:solidFill>
                  <a:srgbClr val="FF0000"/>
                </a:solidFill>
                <a:latin typeface="Consolas" pitchFamily="49" charset="0"/>
                <a:ea typeface="仿宋" pitchFamily="49" charset="-122"/>
                <a:cs typeface="Consolas" pitchFamily="49" charset="0"/>
              </a:rPr>
              <a:t>Det</a:t>
            </a:r>
            <a:r>
              <a:rPr lang="en-US" altLang="zh-CN" sz="2000">
                <a:solidFill>
                  <a:srgbClr val="FF0000"/>
                </a:solidFill>
                <a:latin typeface="Consolas" pitchFamily="49" charset="0"/>
                <a:ea typeface="仿宋" pitchFamily="49" charset="-122"/>
                <a:cs typeface="Consolas" pitchFamily="49" charset="0"/>
              </a:rPr>
              <a:t>(Point p1</a:t>
            </a:r>
            <a:r>
              <a:rPr lang="zh-CN" altLang="en-US" sz="2000">
                <a:solidFill>
                  <a:srgbClr val="FF0000"/>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Point </a:t>
            </a:r>
            <a:r>
              <a:rPr lang="en-US" altLang="zh-CN" sz="2000" err="1">
                <a:solidFill>
                  <a:srgbClr val="FF0000"/>
                </a:solidFill>
                <a:latin typeface="Consolas" pitchFamily="49" charset="0"/>
                <a:ea typeface="仿宋" pitchFamily="49" charset="-122"/>
                <a:cs typeface="Consolas" pitchFamily="49" charset="0"/>
              </a:rPr>
              <a:t>p2</a:t>
            </a:r>
            <a:r>
              <a:rPr lang="en-US" altLang="zh-CN" sz="2000">
                <a:solidFill>
                  <a:srgbClr val="FF0000"/>
                </a:solidFill>
                <a:latin typeface="Consolas" pitchFamily="49" charset="0"/>
                <a:ea typeface="仿宋" pitchFamily="49" charset="-122"/>
                <a:cs typeface="Consolas" pitchFamily="49" charset="0"/>
              </a:rPr>
              <a:t>) </a:t>
            </a:r>
            <a:r>
              <a:rPr lang="en-US" altLang="zh-CN" sz="2000">
                <a:solidFill>
                  <a:srgbClr val="0000FF"/>
                </a:solidFill>
                <a:latin typeface="Consolas" pitchFamily="49" charset="0"/>
                <a:ea typeface="仿宋" pitchFamily="49" charset="-122"/>
                <a:cs typeface="Consolas" pitchFamily="49" charset="0"/>
              </a:rPr>
              <a:t>{</a:t>
            </a:r>
            <a:r>
              <a:rPr lang="en-US" altLang="zh-CN" sz="2000" dirty="0">
                <a:solidFill>
                  <a:srgbClr val="FF0000"/>
                </a:solidFill>
                <a:latin typeface="Consolas" pitchFamily="49" charset="0"/>
                <a:ea typeface="仿宋" pitchFamily="49" charset="-122"/>
                <a:cs typeface="Consolas" pitchFamily="49" charset="0"/>
              </a:rPr>
              <a:t>	</a:t>
            </a:r>
            <a:r>
              <a:rPr lang="en-US" altLang="zh-CN" sz="2000" dirty="0">
                <a:solidFill>
                  <a:srgbClr val="00B0F0"/>
                </a:solidFill>
                <a:latin typeface="Consolas" pitchFamily="49" charset="0"/>
                <a:ea typeface="仿宋" pitchFamily="49" charset="-122"/>
                <a:cs typeface="Consolas" pitchFamily="49" charset="0"/>
              </a:rPr>
              <a:t>//</a:t>
            </a:r>
            <a:r>
              <a:rPr lang="zh-CN" altLang="en-US" sz="2000">
                <a:solidFill>
                  <a:srgbClr val="00B0F0"/>
                </a:solidFill>
                <a:latin typeface="Consolas" pitchFamily="49" charset="0"/>
                <a:ea typeface="仿宋" pitchFamily="49" charset="-122"/>
                <a:cs typeface="Consolas" pitchFamily="49" charset="0"/>
              </a:rPr>
              <a:t>两个向量的</a:t>
            </a:r>
            <a:r>
              <a:rPr lang="zh-CN" altLang="en-US" sz="2000" dirty="0">
                <a:solidFill>
                  <a:srgbClr val="00B0F0"/>
                </a:solidFill>
                <a:latin typeface="Consolas" pitchFamily="49" charset="0"/>
                <a:ea typeface="仿宋" pitchFamily="49" charset="-122"/>
                <a:cs typeface="Consolas" pitchFamily="49" charset="0"/>
              </a:rPr>
              <a:t>叉积</a:t>
            </a:r>
          </a:p>
          <a:p>
            <a:pPr>
              <a:lnSpc>
                <a:spcPts val="3000"/>
              </a:lnSpc>
            </a:pPr>
            <a:r>
              <a:rPr lang="zh-CN" altLang="en-US" sz="2000">
                <a:solidFill>
                  <a:srgbClr val="0000FF"/>
                </a:solidFill>
                <a:latin typeface="Consolas" pitchFamily="49" charset="0"/>
                <a:ea typeface="仿宋" pitchFamily="49" charset="-122"/>
                <a:cs typeface="Consolas" pitchFamily="49" charset="0"/>
              </a:rPr>
              <a:t>　 </a:t>
            </a:r>
            <a:r>
              <a:rPr lang="en-US" altLang="zh-CN" sz="2000">
                <a:solidFill>
                  <a:srgbClr val="0000FF"/>
                </a:solidFill>
                <a:latin typeface="Consolas" pitchFamily="49" charset="0"/>
                <a:ea typeface="仿宋" pitchFamily="49" charset="-122"/>
                <a:cs typeface="Consolas" pitchFamily="49" charset="0"/>
              </a:rPr>
              <a:t>return </a:t>
            </a:r>
            <a:r>
              <a:rPr lang="en-US" altLang="zh-CN" sz="2000" dirty="0" err="1">
                <a:solidFill>
                  <a:srgbClr val="0000FF"/>
                </a:solidFill>
                <a:latin typeface="Consolas" pitchFamily="49" charset="0"/>
                <a:ea typeface="仿宋" pitchFamily="49" charset="-122"/>
                <a:cs typeface="Consolas" pitchFamily="49" charset="0"/>
              </a:rPr>
              <a:t>p1.x</a:t>
            </a:r>
            <a:r>
              <a:rPr lang="en-US" altLang="zh-CN" sz="2000" dirty="0">
                <a:solidFill>
                  <a:srgbClr val="0000FF"/>
                </a:solidFill>
                <a:latin typeface="Consolas" pitchFamily="49" charset="0"/>
                <a:ea typeface="仿宋" pitchFamily="49" charset="-122"/>
                <a:cs typeface="Consolas" pitchFamily="49" charset="0"/>
              </a:rPr>
              <a:t>*</a:t>
            </a:r>
            <a:r>
              <a:rPr lang="en-US" altLang="zh-CN" sz="2000" dirty="0" err="1">
                <a:solidFill>
                  <a:srgbClr val="0000FF"/>
                </a:solidFill>
                <a:latin typeface="Consolas" pitchFamily="49" charset="0"/>
                <a:ea typeface="仿宋" pitchFamily="49" charset="-122"/>
                <a:cs typeface="Consolas" pitchFamily="49" charset="0"/>
              </a:rPr>
              <a:t>p2.y-p1.y</a:t>
            </a:r>
            <a:r>
              <a:rPr lang="en-US" altLang="zh-CN" sz="2000" dirty="0">
                <a:solidFill>
                  <a:srgbClr val="0000FF"/>
                </a:solidFill>
                <a:latin typeface="Consolas" pitchFamily="49" charset="0"/>
                <a:ea typeface="仿宋" pitchFamily="49" charset="-122"/>
                <a:cs typeface="Consolas" pitchFamily="49" charset="0"/>
              </a:rPr>
              <a:t>*</a:t>
            </a:r>
            <a:r>
              <a:rPr lang="en-US" altLang="zh-CN" sz="2000" dirty="0" err="1">
                <a:solidFill>
                  <a:srgbClr val="0000FF"/>
                </a:solidFill>
                <a:latin typeface="Consolas" pitchFamily="49" charset="0"/>
                <a:ea typeface="仿宋" pitchFamily="49" charset="-122"/>
                <a:cs typeface="Consolas" pitchFamily="49" charset="0"/>
              </a:rPr>
              <a:t>p2.x</a:t>
            </a:r>
            <a:r>
              <a:rPr lang="en-US" altLang="zh-CN" sz="2000" dirty="0">
                <a:solidFill>
                  <a:srgbClr val="0000FF"/>
                </a:solidFill>
                <a:latin typeface="Consolas" pitchFamily="49" charset="0"/>
                <a:ea typeface="仿宋" pitchFamily="49" charset="-122"/>
                <a:cs typeface="Consolas" pitchFamily="49" charset="0"/>
              </a:rPr>
              <a:t>;</a:t>
            </a:r>
          </a:p>
          <a:p>
            <a:pPr>
              <a:lnSpc>
                <a:spcPts val="3000"/>
              </a:lnSpc>
            </a:pPr>
            <a:r>
              <a:rPr lang="en-US" altLang="zh-CN" sz="2000" dirty="0">
                <a:solidFill>
                  <a:srgbClr val="0000FF"/>
                </a:solidFill>
                <a:latin typeface="Consolas" pitchFamily="49" charset="0"/>
                <a:ea typeface="仿宋" pitchFamily="49" charset="-122"/>
                <a:cs typeface="Consolas" pitchFamily="49" charset="0"/>
              </a:rPr>
              <a:t>}</a:t>
            </a: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18</a:t>
            </a:fld>
            <a:r>
              <a:rPr lang="en-US" altLang="zh-CN"/>
              <a:t>/167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2"/>
          <p:cNvSpPr txBox="1">
            <a:spLocks noChangeArrowheads="1"/>
          </p:cNvSpPr>
          <p:nvPr/>
        </p:nvSpPr>
        <p:spPr bwMode="auto">
          <a:xfrm>
            <a:off x="428596" y="357166"/>
            <a:ext cx="7993063" cy="461665"/>
          </a:xfrm>
          <a:prstGeom prst="rect">
            <a:avLst/>
          </a:prstGeom>
          <a:noFill/>
          <a:ln w="9525">
            <a:noFill/>
            <a:miter lim="800000"/>
            <a:headEnd/>
            <a:tailEnd/>
          </a:ln>
        </p:spPr>
        <p:txBody>
          <a:bodyPr>
            <a:spAutoFit/>
          </a:bodyPr>
          <a:lstStyle/>
          <a:p>
            <a:pPr>
              <a:spcBef>
                <a:spcPct val="50000"/>
              </a:spcBef>
            </a:pPr>
            <a:r>
              <a:rPr lang="zh-CN" altLang="en-US">
                <a:solidFill>
                  <a:srgbClr val="0000FF"/>
                </a:solidFill>
                <a:latin typeface="Consolas" pitchFamily="49" charset="0"/>
                <a:ea typeface="仿宋" pitchFamily="49" charset="-122"/>
                <a:cs typeface="Consolas" pitchFamily="49" charset="0"/>
              </a:rPr>
              <a:t>可以通过叉积的符号判断两向量相互之间的顺逆时针关系：</a:t>
            </a:r>
          </a:p>
        </p:txBody>
      </p:sp>
      <p:sp>
        <p:nvSpPr>
          <p:cNvPr id="5124" name="Text Box 3"/>
          <p:cNvSpPr txBox="1">
            <a:spLocks noChangeArrowheads="1"/>
          </p:cNvSpPr>
          <p:nvPr/>
        </p:nvSpPr>
        <p:spPr bwMode="auto">
          <a:xfrm>
            <a:off x="436590" y="928670"/>
            <a:ext cx="8421690" cy="1706585"/>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lIns="144000" tIns="144000" rIns="144000" bIns="144000">
            <a:spAutoFit/>
          </a:bodyPr>
          <a:lstStyle/>
          <a:p>
            <a:pPr marL="457200" indent="-457200">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若</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&gt;0</a:t>
            </a:r>
            <a:r>
              <a:rPr lang="zh-CN" altLang="zh-CN">
                <a:solidFill>
                  <a:srgbClr val="0000FF"/>
                </a:solidFill>
                <a:latin typeface="Consolas" pitchFamily="49" charset="0"/>
                <a:ea typeface="仿宋" pitchFamily="49" charset="-122"/>
                <a:cs typeface="Consolas" pitchFamily="49" charset="0"/>
              </a:rPr>
              <a:t>，则</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在</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的</a:t>
            </a:r>
            <a:r>
              <a:rPr lang="zh-CN" altLang="zh-CN">
                <a:solidFill>
                  <a:srgbClr val="006600"/>
                </a:solidFill>
                <a:latin typeface="Consolas" pitchFamily="49" charset="0"/>
                <a:ea typeface="仿宋" pitchFamily="49" charset="-122"/>
                <a:cs typeface="Consolas" pitchFamily="49" charset="0"/>
              </a:rPr>
              <a:t>顺时针方向</a:t>
            </a:r>
            <a:r>
              <a:rPr lang="zh-CN"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下</a:t>
            </a:r>
            <a:r>
              <a:rPr lang="zh-CN" altLang="zh-CN">
                <a:solidFill>
                  <a:srgbClr val="0000FF"/>
                </a:solidFill>
                <a:latin typeface="Consolas" pitchFamily="49" charset="0"/>
                <a:ea typeface="仿宋" pitchFamily="49" charset="-122"/>
                <a:cs typeface="Consolas" pitchFamily="49" charset="0"/>
              </a:rPr>
              <a:t>图所示）。</a:t>
            </a:r>
          </a:p>
          <a:p>
            <a:pPr marL="457200" indent="-457200">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若</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&lt;0</a:t>
            </a:r>
            <a:r>
              <a:rPr lang="zh-CN" altLang="zh-CN">
                <a:solidFill>
                  <a:srgbClr val="0000FF"/>
                </a:solidFill>
                <a:latin typeface="Consolas" pitchFamily="49" charset="0"/>
                <a:ea typeface="仿宋" pitchFamily="49" charset="-122"/>
                <a:cs typeface="Consolas" pitchFamily="49" charset="0"/>
              </a:rPr>
              <a:t>，则</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在</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的逆时针方向。</a:t>
            </a:r>
          </a:p>
          <a:p>
            <a:pPr marL="457200" indent="-457200">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若</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，则</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与</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共线，但可能同向也可能反向。</a:t>
            </a:r>
          </a:p>
        </p:txBody>
      </p:sp>
      <p:cxnSp>
        <p:nvCxnSpPr>
          <p:cNvPr id="7" name="直接箭头连接符 6"/>
          <p:cNvCxnSpPr/>
          <p:nvPr/>
        </p:nvCxnSpPr>
        <p:spPr>
          <a:xfrm>
            <a:off x="642910" y="4889238"/>
            <a:ext cx="42862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rot="5400000" flipH="1" flipV="1">
            <a:off x="-36545" y="4392619"/>
            <a:ext cx="321550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928662" y="4999842"/>
            <a:ext cx="857256"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(0,0)</a:t>
            </a:r>
            <a:endParaRPr lang="zh-CN" altLang="en-US" sz="1800">
              <a:solidFill>
                <a:srgbClr val="0000FF"/>
              </a:solidFill>
              <a:latin typeface="Consolas" pitchFamily="49" charset="0"/>
              <a:cs typeface="Consolas" pitchFamily="49" charset="0"/>
            </a:endParaRPr>
          </a:p>
        </p:txBody>
      </p:sp>
      <p:sp>
        <p:nvSpPr>
          <p:cNvPr id="10" name="TextBox 9"/>
          <p:cNvSpPr txBox="1"/>
          <p:nvPr/>
        </p:nvSpPr>
        <p:spPr>
          <a:xfrm>
            <a:off x="1928794" y="5786454"/>
            <a:ext cx="500066"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endParaRPr lang="zh-CN" altLang="en-US" sz="1800">
              <a:solidFill>
                <a:srgbClr val="0000FF"/>
              </a:solidFill>
              <a:latin typeface="Consolas" pitchFamily="49" charset="0"/>
              <a:cs typeface="Consolas" pitchFamily="49" charset="0"/>
            </a:endParaRPr>
          </a:p>
        </p:txBody>
      </p:sp>
      <p:sp>
        <p:nvSpPr>
          <p:cNvPr id="11" name="TextBox 10"/>
          <p:cNvSpPr txBox="1"/>
          <p:nvPr/>
        </p:nvSpPr>
        <p:spPr>
          <a:xfrm>
            <a:off x="2786050" y="3143248"/>
            <a:ext cx="428628"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sp>
        <p:nvSpPr>
          <p:cNvPr id="12" name="平行四边形 11"/>
          <p:cNvSpPr/>
          <p:nvPr/>
        </p:nvSpPr>
        <p:spPr>
          <a:xfrm rot="18964577">
            <a:off x="1433394" y="4220954"/>
            <a:ext cx="2034098" cy="833705"/>
          </a:xfrm>
          <a:prstGeom prst="parallelogram">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ea typeface="仿宋" pitchFamily="49" charset="-122"/>
              <a:cs typeface="Consolas" pitchFamily="49" charset="0"/>
            </a:endParaRPr>
          </a:p>
        </p:txBody>
      </p:sp>
      <p:cxnSp>
        <p:nvCxnSpPr>
          <p:cNvPr id="13" name="直接箭头连接符 12"/>
          <p:cNvCxnSpPr/>
          <p:nvPr/>
        </p:nvCxnSpPr>
        <p:spPr>
          <a:xfrm flipV="1">
            <a:off x="1571604" y="3571876"/>
            <a:ext cx="1357322" cy="131974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 name="直接箭头连接符 13"/>
          <p:cNvCxnSpPr/>
          <p:nvPr/>
        </p:nvCxnSpPr>
        <p:spPr>
          <a:xfrm rot="16200000" flipH="1">
            <a:off x="1416202" y="5059548"/>
            <a:ext cx="810872" cy="50006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6" name="任意多边形 15"/>
          <p:cNvSpPr/>
          <p:nvPr/>
        </p:nvSpPr>
        <p:spPr>
          <a:xfrm>
            <a:off x="3457184" y="3256767"/>
            <a:ext cx="629171" cy="2693096"/>
          </a:xfrm>
          <a:custGeom>
            <a:avLst/>
            <a:gdLst>
              <a:gd name="connsiteX0" fmla="*/ 12526 w 590811"/>
              <a:gd name="connsiteY0" fmla="*/ 0 h 2693096"/>
              <a:gd name="connsiteX1" fmla="*/ 313150 w 590811"/>
              <a:gd name="connsiteY1" fmla="*/ 413359 h 2693096"/>
              <a:gd name="connsiteX2" fmla="*/ 538619 w 590811"/>
              <a:gd name="connsiteY2" fmla="*/ 1678488 h 2693096"/>
              <a:gd name="connsiteX3" fmla="*/ 0 w 590811"/>
              <a:gd name="connsiteY3" fmla="*/ 2693096 h 2693096"/>
              <a:gd name="connsiteX0" fmla="*/ 12526 w 629171"/>
              <a:gd name="connsiteY0" fmla="*/ 0 h 2693096"/>
              <a:gd name="connsiteX1" fmla="*/ 313150 w 629171"/>
              <a:gd name="connsiteY1" fmla="*/ 413359 h 2693096"/>
              <a:gd name="connsiteX2" fmla="*/ 543312 w 629171"/>
              <a:gd name="connsiteY2" fmla="*/ 958051 h 2693096"/>
              <a:gd name="connsiteX3" fmla="*/ 538619 w 629171"/>
              <a:gd name="connsiteY3" fmla="*/ 1678488 h 2693096"/>
              <a:gd name="connsiteX4" fmla="*/ 0 w 629171"/>
              <a:gd name="connsiteY4" fmla="*/ 2693096 h 2693096"/>
              <a:gd name="connsiteX0" fmla="*/ 12526 w 629171"/>
              <a:gd name="connsiteY0" fmla="*/ 0 h 2693096"/>
              <a:gd name="connsiteX1" fmla="*/ 400436 w 629171"/>
              <a:gd name="connsiteY1" fmla="*/ 386547 h 2693096"/>
              <a:gd name="connsiteX2" fmla="*/ 543312 w 629171"/>
              <a:gd name="connsiteY2" fmla="*/ 958051 h 2693096"/>
              <a:gd name="connsiteX3" fmla="*/ 538619 w 629171"/>
              <a:gd name="connsiteY3" fmla="*/ 1678488 h 2693096"/>
              <a:gd name="connsiteX4" fmla="*/ 0 w 629171"/>
              <a:gd name="connsiteY4" fmla="*/ 2693096 h 2693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171" h="2693096">
                <a:moveTo>
                  <a:pt x="12526" y="0"/>
                </a:moveTo>
                <a:cubicBezTo>
                  <a:pt x="118997" y="66805"/>
                  <a:pt x="312754" y="106799"/>
                  <a:pt x="400436" y="386547"/>
                </a:cubicBezTo>
                <a:cubicBezTo>
                  <a:pt x="473505" y="543122"/>
                  <a:pt x="520281" y="742727"/>
                  <a:pt x="543312" y="958051"/>
                </a:cubicBezTo>
                <a:cubicBezTo>
                  <a:pt x="566343" y="1173375"/>
                  <a:pt x="629171" y="1389314"/>
                  <a:pt x="538619" y="1678488"/>
                </a:cubicBezTo>
                <a:cubicBezTo>
                  <a:pt x="448067" y="1967662"/>
                  <a:pt x="243213" y="2375770"/>
                  <a:pt x="0" y="2693096"/>
                </a:cubicBezTo>
              </a:path>
            </a:pathLst>
          </a:custGeom>
          <a:ln>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7" name="TextBox 16"/>
          <p:cNvSpPr txBox="1"/>
          <p:nvPr/>
        </p:nvSpPr>
        <p:spPr>
          <a:xfrm>
            <a:off x="4069676" y="4025904"/>
            <a:ext cx="430887" cy="1714512"/>
          </a:xfrm>
          <a:prstGeom prst="rect">
            <a:avLst/>
          </a:prstGeom>
          <a:noFill/>
        </p:spPr>
        <p:txBody>
          <a:bodyPr vert="eaVert" wrap="square" rtlCol="0">
            <a:spAutoFit/>
          </a:bodyPr>
          <a:lstStyle/>
          <a:p>
            <a:r>
              <a:rPr lang="zh-CN" altLang="zh-CN" sz="1600" spc="600">
                <a:solidFill>
                  <a:srgbClr val="006600"/>
                </a:solidFill>
                <a:latin typeface="Consolas" pitchFamily="49" charset="0"/>
                <a:ea typeface="微软雅黑" pitchFamily="34" charset="-122"/>
                <a:cs typeface="Consolas" pitchFamily="49" charset="0"/>
              </a:rPr>
              <a:t>顺时针方向</a:t>
            </a:r>
            <a:endParaRPr lang="zh-CN" altLang="en-US" sz="1600" spc="600">
              <a:solidFill>
                <a:srgbClr val="006600"/>
              </a:solidFill>
              <a:latin typeface="Consolas" pitchFamily="49" charset="0"/>
              <a:ea typeface="微软雅黑" pitchFamily="34" charset="-122"/>
              <a:cs typeface="Consolas" pitchFamily="49" charset="0"/>
            </a:endParaRPr>
          </a:p>
        </p:txBody>
      </p:sp>
      <p:sp>
        <p:nvSpPr>
          <p:cNvPr id="18" name="灯片编号占位符 17"/>
          <p:cNvSpPr>
            <a:spLocks noGrp="1"/>
          </p:cNvSpPr>
          <p:nvPr>
            <p:ph type="sldNum" sz="quarter" idx="12"/>
          </p:nvPr>
        </p:nvSpPr>
        <p:spPr/>
        <p:txBody>
          <a:bodyPr/>
          <a:lstStyle/>
          <a:p>
            <a:pPr>
              <a:defRPr/>
            </a:pPr>
            <a:fld id="{51116183-1013-4E64-BBE8-A5C1D5D4F838}" type="slidenum">
              <a:rPr lang="en-US" altLang="zh-CN" smtClean="0"/>
              <a:pPr>
                <a:defRPr/>
              </a:pPr>
              <a:t>19</a:t>
            </a:fld>
            <a:r>
              <a:rPr lang="en-US" altLang="zh-CN"/>
              <a:t>/167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2"/>
          <p:cNvSpPr txBox="1">
            <a:spLocks noChangeArrowheads="1"/>
          </p:cNvSpPr>
          <p:nvPr/>
        </p:nvSpPr>
        <p:spPr bwMode="auto">
          <a:xfrm>
            <a:off x="142876" y="625128"/>
            <a:ext cx="8786842" cy="2426305"/>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nSpc>
                <a:spcPts val="3400"/>
              </a:lnSpc>
              <a:spcBef>
                <a:spcPts val="60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对于具有公共起点的两个线段</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，只需要把</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作为原点就可以向量叉积运算，亦即</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都是向量，它们的叉积为</a:t>
            </a:r>
            <a:endParaRPr lang="en-US" altLang="zh-CN">
              <a:solidFill>
                <a:srgbClr val="0000FF"/>
              </a:solidFill>
              <a:latin typeface="Consolas" pitchFamily="49" charset="0"/>
              <a:ea typeface="仿宋" pitchFamily="49" charset="-122"/>
              <a:cs typeface="Consolas" pitchFamily="49" charset="0"/>
            </a:endParaRPr>
          </a:p>
          <a:p>
            <a:pPr>
              <a:lnSpc>
                <a:spcPts val="3400"/>
              </a:lnSpc>
              <a:spcBef>
                <a:spcPts val="600"/>
              </a:spcBef>
            </a:pPr>
            <a:r>
              <a:rPr lang="en-US" altLang="zh-CN" i="1">
                <a:solidFill>
                  <a:srgbClr val="006600"/>
                </a:solidFill>
                <a:latin typeface="Consolas" pitchFamily="49" charset="0"/>
                <a:ea typeface="仿宋" pitchFamily="49" charset="-122"/>
                <a:cs typeface="Consolas" pitchFamily="49" charset="0"/>
              </a:rPr>
              <a:t>   d</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1</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0</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2</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0</a:t>
            </a:r>
            <a:r>
              <a:rPr lang="en-US" altLang="zh-CN">
                <a:solidFill>
                  <a:srgbClr val="006600"/>
                </a:solidFill>
                <a:latin typeface="Consolas" pitchFamily="49" charset="0"/>
                <a:ea typeface="仿宋" pitchFamily="49" charset="-122"/>
                <a:cs typeface="Consolas" pitchFamily="49" charset="0"/>
              </a:rPr>
              <a:t>)</a:t>
            </a:r>
          </a:p>
          <a:p>
            <a:pPr>
              <a:lnSpc>
                <a:spcPts val="3400"/>
              </a:lnSpc>
              <a:spcBef>
                <a:spcPts val="600"/>
              </a:spcBef>
            </a:pPr>
            <a:r>
              <a:rPr lang="en-US" altLang="zh-CN">
                <a:solidFill>
                  <a:srgbClr val="006600"/>
                </a:solidFill>
                <a:latin typeface="Consolas" pitchFamily="49" charset="0"/>
                <a:ea typeface="仿宋" pitchFamily="49" charset="-122"/>
                <a:cs typeface="Consolas" pitchFamily="49" charset="0"/>
              </a:rPr>
              <a:t>    =(p</a:t>
            </a:r>
            <a:r>
              <a:rPr lang="en-US" altLang="zh-CN" baseline="-25000">
                <a:solidFill>
                  <a:srgbClr val="006600"/>
                </a:solidFill>
                <a:latin typeface="Consolas" pitchFamily="49" charset="0"/>
                <a:ea typeface="仿宋" pitchFamily="49" charset="-122"/>
                <a:cs typeface="Consolas" pitchFamily="49" charset="0"/>
              </a:rPr>
              <a:t>1</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x</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0</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x</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2</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y</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0</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y</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2</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x</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0</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x</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1</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y</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0</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y</a:t>
            </a:r>
            <a:r>
              <a:rPr lang="en-US" altLang="zh-CN">
                <a:solidFill>
                  <a:srgbClr val="006600"/>
                </a:solidFill>
                <a:latin typeface="Consolas" pitchFamily="49" charset="0"/>
                <a:ea typeface="仿宋" pitchFamily="49" charset="-122"/>
                <a:cs typeface="Consolas" pitchFamily="49" charset="0"/>
              </a:rPr>
              <a:t>)</a:t>
            </a:r>
          </a:p>
        </p:txBody>
      </p:sp>
      <p:sp>
        <p:nvSpPr>
          <p:cNvPr id="6149" name="Rectangle 5"/>
          <p:cNvSpPr>
            <a:spLocks noChangeArrowheads="1"/>
          </p:cNvSpPr>
          <p:nvPr/>
        </p:nvSpPr>
        <p:spPr bwMode="auto">
          <a:xfrm>
            <a:off x="0" y="2833688"/>
            <a:ext cx="9144000" cy="0"/>
          </a:xfrm>
          <a:prstGeom prst="rect">
            <a:avLst/>
          </a:prstGeom>
          <a:noFill/>
          <a:ln w="9525">
            <a:noFill/>
            <a:miter lim="800000"/>
            <a:headEnd/>
            <a:tailEnd/>
          </a:ln>
        </p:spPr>
        <p:txBody>
          <a:bodyPr wrap="none" anchor="ctr">
            <a:spAutoFit/>
          </a:bodyPr>
          <a:lstStyle/>
          <a:p>
            <a:endParaRPr lang="zh-CN" altLang="en-US"/>
          </a:p>
        </p:txBody>
      </p:sp>
      <p:grpSp>
        <p:nvGrpSpPr>
          <p:cNvPr id="17" name="组合 16"/>
          <p:cNvGrpSpPr/>
          <p:nvPr/>
        </p:nvGrpSpPr>
        <p:grpSpPr>
          <a:xfrm>
            <a:off x="1357290" y="3806445"/>
            <a:ext cx="2357454" cy="2043184"/>
            <a:chOff x="1357290" y="3806445"/>
            <a:chExt cx="2357454" cy="2043184"/>
          </a:xfrm>
        </p:grpSpPr>
        <p:sp>
          <p:nvSpPr>
            <p:cNvPr id="6" name="TextBox 5"/>
            <p:cNvSpPr txBox="1"/>
            <p:nvPr/>
          </p:nvSpPr>
          <p:spPr>
            <a:xfrm>
              <a:off x="1857356" y="5449519"/>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cxnSp>
          <p:nvCxnSpPr>
            <p:cNvPr id="7" name="直接箭头连接符 6"/>
            <p:cNvCxnSpPr/>
            <p:nvPr/>
          </p:nvCxnSpPr>
          <p:spPr>
            <a:xfrm rot="5400000" flipH="1" flipV="1">
              <a:off x="1535885" y="4485106"/>
              <a:ext cx="1357322" cy="28575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2071670" y="4735139"/>
              <a:ext cx="1071570" cy="5715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2000232" y="5231487"/>
              <a:ext cx="142876"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1" name="TextBox 10"/>
            <p:cNvSpPr txBox="1"/>
            <p:nvPr/>
          </p:nvSpPr>
          <p:spPr>
            <a:xfrm>
              <a:off x="3214678" y="4520825"/>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12" name="TextBox 11"/>
            <p:cNvSpPr txBox="1"/>
            <p:nvPr/>
          </p:nvSpPr>
          <p:spPr>
            <a:xfrm>
              <a:off x="2357422" y="3806445"/>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15" name="TextBox 14"/>
            <p:cNvSpPr txBox="1"/>
            <p:nvPr/>
          </p:nvSpPr>
          <p:spPr>
            <a:xfrm>
              <a:off x="1357290" y="4429132"/>
              <a:ext cx="1071570" cy="400110"/>
            </a:xfrm>
            <a:prstGeom prst="rect">
              <a:avLst/>
            </a:prstGeom>
            <a:noFill/>
          </p:spPr>
          <p:txBody>
            <a:bodyPr wrap="square" rtlCol="0">
              <a:spAutoFit/>
            </a:bodyPr>
            <a:lstStyle/>
            <a:p>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0</a:t>
              </a:r>
              <a:endParaRPr lang="zh-CN" altLang="en-US" sz="2000"/>
            </a:p>
          </p:txBody>
        </p:sp>
        <p:sp>
          <p:nvSpPr>
            <p:cNvPr id="16" name="TextBox 15"/>
            <p:cNvSpPr txBox="1"/>
            <p:nvPr/>
          </p:nvSpPr>
          <p:spPr>
            <a:xfrm>
              <a:off x="2500298" y="5000636"/>
              <a:ext cx="1071570" cy="400110"/>
            </a:xfrm>
            <a:prstGeom prst="rect">
              <a:avLst/>
            </a:prstGeom>
            <a:noFill/>
          </p:spPr>
          <p:txBody>
            <a:bodyPr wrap="square" rtlCol="0">
              <a:spAutoFit/>
            </a:bodyPr>
            <a:lstStyle/>
            <a:p>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0</a:t>
              </a:r>
              <a:endParaRPr lang="zh-CN" altLang="en-US" sz="2000"/>
            </a:p>
          </p:txBody>
        </p:sp>
      </p:grpSp>
      <p:sp>
        <p:nvSpPr>
          <p:cNvPr id="18" name="灯片编号占位符 17"/>
          <p:cNvSpPr>
            <a:spLocks noGrp="1"/>
          </p:cNvSpPr>
          <p:nvPr>
            <p:ph type="sldNum" sz="quarter" idx="12"/>
          </p:nvPr>
        </p:nvSpPr>
        <p:spPr/>
        <p:txBody>
          <a:bodyPr/>
          <a:lstStyle/>
          <a:p>
            <a:pPr>
              <a:defRPr/>
            </a:pPr>
            <a:fld id="{51116183-1013-4E64-BBE8-A5C1D5D4F838}" type="slidenum">
              <a:rPr lang="en-US" altLang="zh-CN" smtClean="0"/>
              <a:pPr>
                <a:defRPr/>
              </a:pPr>
              <a:t>20</a:t>
            </a:fld>
            <a:r>
              <a:rPr lang="en-US" altLang="zh-CN"/>
              <a:t>/167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2"/>
          <p:cNvSpPr txBox="1">
            <a:spLocks noChangeArrowheads="1"/>
          </p:cNvSpPr>
          <p:nvPr/>
        </p:nvSpPr>
        <p:spPr bwMode="auto">
          <a:xfrm>
            <a:off x="500034" y="1285860"/>
            <a:ext cx="8072494" cy="514738"/>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tIns="72000" bIns="72000">
            <a:spAutoFit/>
          </a:bodyPr>
          <a:lstStyle/>
          <a:p>
            <a:pPr marL="457200" indent="-457200">
              <a:buBlip>
                <a:blip r:embed="rId2"/>
              </a:buBlip>
            </a:pPr>
            <a:r>
              <a:rPr lang="zh-CN" altLang="zh-CN">
                <a:solidFill>
                  <a:srgbClr val="0000FF"/>
                </a:solidFill>
                <a:latin typeface="Consolas" pitchFamily="49" charset="0"/>
                <a:ea typeface="仿宋" pitchFamily="49" charset="-122"/>
                <a:cs typeface="Consolas" pitchFamily="49" charset="0"/>
              </a:rPr>
              <a:t>若</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的叉积</a:t>
            </a:r>
            <a:r>
              <a:rPr lang="en-US" altLang="zh-CN" i="1">
                <a:solidFill>
                  <a:srgbClr val="FF0000"/>
                </a:solidFill>
                <a:latin typeface="Consolas" pitchFamily="49" charset="0"/>
                <a:ea typeface="仿宋" pitchFamily="49" charset="-122"/>
                <a:cs typeface="Consolas" pitchFamily="49" charset="0"/>
              </a:rPr>
              <a:t>d</a:t>
            </a:r>
            <a:r>
              <a:rPr lang="en-US" altLang="zh-CN">
                <a:solidFill>
                  <a:srgbClr val="FF0000"/>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，则</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三点同线。</a:t>
            </a:r>
          </a:p>
        </p:txBody>
      </p:sp>
      <p:grpSp>
        <p:nvGrpSpPr>
          <p:cNvPr id="13" name="组合 12"/>
          <p:cNvGrpSpPr/>
          <p:nvPr/>
        </p:nvGrpSpPr>
        <p:grpSpPr>
          <a:xfrm>
            <a:off x="2428860" y="2500306"/>
            <a:ext cx="2714644" cy="1828870"/>
            <a:chOff x="2428860" y="2500306"/>
            <a:chExt cx="2714644" cy="1828870"/>
          </a:xfrm>
        </p:grpSpPr>
        <p:sp>
          <p:nvSpPr>
            <p:cNvPr id="11" name="TextBox 10"/>
            <p:cNvSpPr txBox="1"/>
            <p:nvPr/>
          </p:nvSpPr>
          <p:spPr>
            <a:xfrm>
              <a:off x="2428860" y="3929066"/>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cxnSp>
          <p:nvCxnSpPr>
            <p:cNvPr id="7" name="直接箭头连接符 6"/>
            <p:cNvCxnSpPr/>
            <p:nvPr/>
          </p:nvCxnSpPr>
          <p:spPr>
            <a:xfrm flipV="1">
              <a:off x="2643174" y="2786058"/>
              <a:ext cx="1857388" cy="1000132"/>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9" name="直接箭头连接符 8"/>
            <p:cNvCxnSpPr/>
            <p:nvPr/>
          </p:nvCxnSpPr>
          <p:spPr>
            <a:xfrm flipV="1">
              <a:off x="2643174" y="3214686"/>
              <a:ext cx="1071570" cy="57150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0" name="椭圆 9"/>
            <p:cNvSpPr/>
            <p:nvPr/>
          </p:nvSpPr>
          <p:spPr>
            <a:xfrm>
              <a:off x="2571736" y="3711034"/>
              <a:ext cx="142876"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4" name="TextBox 13"/>
            <p:cNvSpPr txBox="1"/>
            <p:nvPr/>
          </p:nvSpPr>
          <p:spPr>
            <a:xfrm>
              <a:off x="3786182" y="3000372"/>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15" name="TextBox 14"/>
            <p:cNvSpPr txBox="1"/>
            <p:nvPr/>
          </p:nvSpPr>
          <p:spPr>
            <a:xfrm>
              <a:off x="4643438" y="2500306"/>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grpSp>
      <p:sp>
        <p:nvSpPr>
          <p:cNvPr id="16" name="TextBox 15"/>
          <p:cNvSpPr txBox="1"/>
          <p:nvPr/>
        </p:nvSpPr>
        <p:spPr>
          <a:xfrm>
            <a:off x="357158" y="428604"/>
            <a:ext cx="8358246" cy="461665"/>
          </a:xfrm>
          <a:prstGeom prst="rect">
            <a:avLst/>
          </a:prstGeom>
          <a:noFill/>
        </p:spPr>
        <p:txBody>
          <a:bodyPr wrap="square" rtlCol="0">
            <a:spAutoFit/>
          </a:bodyPr>
          <a:lstStyle/>
          <a:p>
            <a:r>
              <a:rPr lang="zh-CN" altLang="zh-CN">
                <a:solidFill>
                  <a:srgbClr val="0000FF"/>
                </a:solidFill>
                <a:latin typeface="Consolas" pitchFamily="49" charset="0"/>
                <a:ea typeface="仿宋" pitchFamily="49" charset="-122"/>
                <a:cs typeface="Consolas" pitchFamily="49" charset="0"/>
              </a:rPr>
              <a:t>可以通过该叉积的符号判断两向量相互之间的顺逆时针关系</a:t>
            </a:r>
            <a:r>
              <a:rPr lang="zh-CN" altLang="en-US">
                <a:solidFill>
                  <a:srgbClr val="0000FF"/>
                </a:solidFill>
                <a:latin typeface="Consolas" pitchFamily="49" charset="0"/>
                <a:ea typeface="仿宋" pitchFamily="49" charset="-122"/>
                <a:cs typeface="Consolas" pitchFamily="49" charset="0"/>
              </a:rPr>
              <a:t>。</a:t>
            </a:r>
            <a:endParaRPr lang="zh-CN" altLang="zh-CN">
              <a:solidFill>
                <a:srgbClr val="0000FF"/>
              </a:solidFill>
              <a:latin typeface="Consolas" pitchFamily="49" charset="0"/>
              <a:ea typeface="仿宋" pitchFamily="49" charset="-122"/>
              <a:cs typeface="Consolas" pitchFamily="49" charset="0"/>
            </a:endParaRPr>
          </a:p>
        </p:txBody>
      </p:sp>
      <p:sp>
        <p:nvSpPr>
          <p:cNvPr id="17" name="灯片编号占位符 16"/>
          <p:cNvSpPr>
            <a:spLocks noGrp="1"/>
          </p:cNvSpPr>
          <p:nvPr>
            <p:ph type="sldNum" sz="quarter" idx="12"/>
          </p:nvPr>
        </p:nvSpPr>
        <p:spPr/>
        <p:txBody>
          <a:bodyPr/>
          <a:lstStyle/>
          <a:p>
            <a:pPr>
              <a:defRPr/>
            </a:pPr>
            <a:fld id="{51116183-1013-4E64-BBE8-A5C1D5D4F838}" type="slidenum">
              <a:rPr lang="en-US" altLang="zh-CN" smtClean="0"/>
              <a:pPr>
                <a:defRPr/>
              </a:pPr>
              <a:t>21</a:t>
            </a:fld>
            <a:r>
              <a:rPr lang="en-US" altLang="zh-CN"/>
              <a:t>/167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2"/>
          <p:cNvSpPr txBox="1">
            <a:spLocks noChangeArrowheads="1"/>
          </p:cNvSpPr>
          <p:nvPr/>
        </p:nvSpPr>
        <p:spPr bwMode="auto">
          <a:xfrm>
            <a:off x="428596" y="571480"/>
            <a:ext cx="8001024" cy="514738"/>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lIns="144000" tIns="72000" rIns="144000" bIns="72000">
            <a:spAutoFit/>
          </a:bodyPr>
          <a:lstStyle/>
          <a:p>
            <a:pPr marL="457200" indent="-457200">
              <a:buBlip>
                <a:blip r:embed="rId2"/>
              </a:buBlip>
            </a:pPr>
            <a:r>
              <a:rPr lang="zh-CN" altLang="zh-CN">
                <a:solidFill>
                  <a:srgbClr val="0000FF"/>
                </a:solidFill>
                <a:latin typeface="Consolas" pitchFamily="49" charset="0"/>
                <a:ea typeface="仿宋" pitchFamily="49" charset="-122"/>
                <a:cs typeface="Consolas" pitchFamily="49" charset="0"/>
              </a:rPr>
              <a:t>若</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的叉积</a:t>
            </a:r>
            <a:r>
              <a:rPr lang="en-US" altLang="zh-CN">
                <a:solidFill>
                  <a:srgbClr val="FF0000"/>
                </a:solidFill>
                <a:latin typeface="Consolas" pitchFamily="49" charset="0"/>
                <a:ea typeface="仿宋" pitchFamily="49" charset="-122"/>
                <a:cs typeface="Consolas" pitchFamily="49" charset="0"/>
              </a:rPr>
              <a:t>d&gt;0</a:t>
            </a:r>
            <a:r>
              <a:rPr lang="zh-CN" altLang="zh-CN">
                <a:solidFill>
                  <a:srgbClr val="0000FF"/>
                </a:solidFill>
                <a:latin typeface="Consolas" pitchFamily="49" charset="0"/>
                <a:ea typeface="仿宋" pitchFamily="49" charset="-122"/>
                <a:cs typeface="Consolas" pitchFamily="49" charset="0"/>
              </a:rPr>
              <a:t>。</a:t>
            </a:r>
          </a:p>
        </p:txBody>
      </p:sp>
      <p:sp>
        <p:nvSpPr>
          <p:cNvPr id="17" name="TextBox 16"/>
          <p:cNvSpPr txBox="1"/>
          <p:nvPr/>
        </p:nvSpPr>
        <p:spPr>
          <a:xfrm>
            <a:off x="857224" y="1214422"/>
            <a:ext cx="6858048" cy="1217898"/>
          </a:xfrm>
          <a:prstGeom prst="rect">
            <a:avLst/>
          </a:prstGeom>
          <a:noFill/>
        </p:spPr>
        <p:txBody>
          <a:bodyPr wrap="square" rtlCol="0">
            <a:spAutoFit/>
          </a:bodyPr>
          <a:lstStyle/>
          <a:p>
            <a:pPr marL="457200" indent="-457200">
              <a:lnSpc>
                <a:spcPts val="3000"/>
              </a:lnSpc>
              <a:buBlip>
                <a:blip r:embed="rId3"/>
              </a:buBlip>
            </a:pP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0</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在</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0</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的顺时针方向上，如图</a:t>
            </a:r>
            <a:r>
              <a:rPr lang="en-US" altLang="zh-CN" sz="2200">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所示。</a:t>
            </a:r>
          </a:p>
          <a:p>
            <a:pPr marL="457200" indent="-457200">
              <a:lnSpc>
                <a:spcPts val="3000"/>
              </a:lnSpc>
              <a:buBlip>
                <a:blip r:embed="rId3"/>
              </a:buBlip>
            </a:pP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三点在右手螺旋方向上，如图</a:t>
            </a:r>
            <a:r>
              <a:rPr lang="en-US" altLang="zh-CN" sz="2200">
                <a:solidFill>
                  <a:srgbClr val="0000FF"/>
                </a:solidFill>
                <a:latin typeface="Consolas" pitchFamily="49" charset="0"/>
                <a:ea typeface="仿宋" pitchFamily="49" charset="-122"/>
              </a:rPr>
              <a:t>(b)</a:t>
            </a:r>
            <a:r>
              <a:rPr lang="zh-CN" altLang="zh-CN" sz="2200">
                <a:solidFill>
                  <a:srgbClr val="0000FF"/>
                </a:solidFill>
                <a:latin typeface="Consolas" pitchFamily="49" charset="0"/>
                <a:ea typeface="仿宋" pitchFamily="49" charset="-122"/>
              </a:rPr>
              <a:t>所示。</a:t>
            </a:r>
          </a:p>
          <a:p>
            <a:pPr marL="457200" indent="-457200">
              <a:lnSpc>
                <a:spcPts val="3000"/>
              </a:lnSpc>
              <a:buBlip>
                <a:blip r:embed="rId3"/>
              </a:buBlip>
            </a:pP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三点呈现左拐关系，如图</a:t>
            </a:r>
            <a:r>
              <a:rPr lang="en-US" altLang="zh-CN" sz="2200">
                <a:solidFill>
                  <a:srgbClr val="0000FF"/>
                </a:solidFill>
                <a:latin typeface="Consolas" pitchFamily="49" charset="0"/>
                <a:ea typeface="仿宋" pitchFamily="49" charset="-122"/>
              </a:rPr>
              <a:t>(c)</a:t>
            </a:r>
            <a:r>
              <a:rPr lang="zh-CN" altLang="zh-CN" sz="2200">
                <a:solidFill>
                  <a:srgbClr val="0000FF"/>
                </a:solidFill>
                <a:latin typeface="Consolas" pitchFamily="49" charset="0"/>
                <a:ea typeface="仿宋" pitchFamily="49" charset="-122"/>
              </a:rPr>
              <a:t>所示。</a:t>
            </a:r>
          </a:p>
        </p:txBody>
      </p:sp>
      <p:grpSp>
        <p:nvGrpSpPr>
          <p:cNvPr id="54" name="组合 53"/>
          <p:cNvGrpSpPr/>
          <p:nvPr/>
        </p:nvGrpSpPr>
        <p:grpSpPr>
          <a:xfrm>
            <a:off x="500034" y="3357562"/>
            <a:ext cx="2214578" cy="2400374"/>
            <a:chOff x="357158" y="3357562"/>
            <a:chExt cx="2214578" cy="2400374"/>
          </a:xfrm>
        </p:grpSpPr>
        <p:sp>
          <p:nvSpPr>
            <p:cNvPr id="11" name="TextBox 10"/>
            <p:cNvSpPr txBox="1"/>
            <p:nvPr/>
          </p:nvSpPr>
          <p:spPr>
            <a:xfrm>
              <a:off x="357158" y="5000636"/>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cxnSp>
          <p:nvCxnSpPr>
            <p:cNvPr id="7" name="直接箭头连接符 6"/>
            <p:cNvCxnSpPr/>
            <p:nvPr/>
          </p:nvCxnSpPr>
          <p:spPr>
            <a:xfrm rot="5400000" flipH="1" flipV="1">
              <a:off x="35687" y="4036223"/>
              <a:ext cx="1357322" cy="28575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571472" y="4286256"/>
              <a:ext cx="1071570" cy="5715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500034" y="4782604"/>
              <a:ext cx="142876"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4" name="TextBox 13"/>
            <p:cNvSpPr txBox="1"/>
            <p:nvPr/>
          </p:nvSpPr>
          <p:spPr>
            <a:xfrm>
              <a:off x="1714480" y="4071942"/>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15" name="TextBox 14"/>
            <p:cNvSpPr txBox="1"/>
            <p:nvPr/>
          </p:nvSpPr>
          <p:spPr>
            <a:xfrm>
              <a:off x="857224" y="3357562"/>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cxnSp>
          <p:nvCxnSpPr>
            <p:cNvPr id="21" name="直接箭头连接符 20"/>
            <p:cNvCxnSpPr/>
            <p:nvPr/>
          </p:nvCxnSpPr>
          <p:spPr>
            <a:xfrm rot="16200000" flipH="1">
              <a:off x="1214414" y="3786190"/>
              <a:ext cx="357190" cy="357190"/>
            </a:xfrm>
            <a:prstGeom prst="straightConnector1">
              <a:avLst/>
            </a:pr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357290" y="3571876"/>
              <a:ext cx="1214446" cy="400110"/>
            </a:xfrm>
            <a:prstGeom prst="rect">
              <a:avLst/>
            </a:prstGeom>
            <a:noFill/>
          </p:spPr>
          <p:txBody>
            <a:bodyPr wrap="square" rtlCol="0">
              <a:spAutoFit/>
            </a:bodyPr>
            <a:lstStyle/>
            <a:p>
              <a:r>
                <a:rPr lang="zh-CN" altLang="zh-CN" sz="2000">
                  <a:solidFill>
                    <a:srgbClr val="0000FF"/>
                  </a:solidFill>
                  <a:latin typeface="Consolas" pitchFamily="49" charset="0"/>
                  <a:ea typeface="仿宋" pitchFamily="49" charset="-122"/>
                </a:rPr>
                <a:t>顺时针</a:t>
              </a:r>
              <a:endParaRPr lang="zh-CN" altLang="en-US" sz="2000"/>
            </a:p>
          </p:txBody>
        </p:sp>
        <p:sp>
          <p:nvSpPr>
            <p:cNvPr id="23" name="矩形 22"/>
            <p:cNvSpPr/>
            <p:nvPr/>
          </p:nvSpPr>
          <p:spPr>
            <a:xfrm>
              <a:off x="928662" y="5357826"/>
              <a:ext cx="607859" cy="400110"/>
            </a:xfrm>
            <a:prstGeom prst="rect">
              <a:avLst/>
            </a:prstGeom>
          </p:spPr>
          <p:txBody>
            <a:bodyPr wrap="none">
              <a:spAutoFit/>
            </a:bodyPr>
            <a:lstStyle/>
            <a:p>
              <a:r>
                <a:rPr lang="en-US" altLang="zh-CN" sz="2000">
                  <a:solidFill>
                    <a:srgbClr val="0000FF"/>
                  </a:solidFill>
                  <a:latin typeface="Consolas" pitchFamily="49" charset="0"/>
                  <a:ea typeface="仿宋" pitchFamily="49" charset="-122"/>
                </a:rPr>
                <a:t>(a)</a:t>
              </a:r>
              <a:endParaRPr lang="zh-CN" altLang="en-US" sz="2000"/>
            </a:p>
          </p:txBody>
        </p:sp>
      </p:grpSp>
      <p:grpSp>
        <p:nvGrpSpPr>
          <p:cNvPr id="56" name="组合 55"/>
          <p:cNvGrpSpPr/>
          <p:nvPr/>
        </p:nvGrpSpPr>
        <p:grpSpPr>
          <a:xfrm>
            <a:off x="6715140" y="3071810"/>
            <a:ext cx="2071702" cy="2686126"/>
            <a:chOff x="6715140" y="3071810"/>
            <a:chExt cx="2071702" cy="2686126"/>
          </a:xfrm>
        </p:grpSpPr>
        <p:sp>
          <p:nvSpPr>
            <p:cNvPr id="41" name="TextBox 40"/>
            <p:cNvSpPr txBox="1"/>
            <p:nvPr/>
          </p:nvSpPr>
          <p:spPr>
            <a:xfrm>
              <a:off x="6715140" y="5000636"/>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cxnSp>
          <p:nvCxnSpPr>
            <p:cNvPr id="43" name="直接箭头连接符 42"/>
            <p:cNvCxnSpPr/>
            <p:nvPr/>
          </p:nvCxnSpPr>
          <p:spPr>
            <a:xfrm flipV="1">
              <a:off x="6929454" y="4286256"/>
              <a:ext cx="1071570" cy="571504"/>
            </a:xfrm>
            <a:prstGeom prst="straightConnector1">
              <a:avLst/>
            </a:prstGeom>
            <a:ln w="19050">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6858016" y="4782604"/>
              <a:ext cx="142876"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45" name="TextBox 44"/>
            <p:cNvSpPr txBox="1"/>
            <p:nvPr/>
          </p:nvSpPr>
          <p:spPr>
            <a:xfrm>
              <a:off x="7858148" y="4357694"/>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46" name="TextBox 45"/>
            <p:cNvSpPr txBox="1"/>
            <p:nvPr/>
          </p:nvSpPr>
          <p:spPr>
            <a:xfrm>
              <a:off x="7358082" y="3071810"/>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47" name="矩形 46"/>
            <p:cNvSpPr/>
            <p:nvPr/>
          </p:nvSpPr>
          <p:spPr>
            <a:xfrm>
              <a:off x="7286644" y="5357826"/>
              <a:ext cx="607859" cy="400110"/>
            </a:xfrm>
            <a:prstGeom prst="rect">
              <a:avLst/>
            </a:prstGeom>
          </p:spPr>
          <p:txBody>
            <a:bodyPr wrap="none">
              <a:spAutoFit/>
            </a:bodyPr>
            <a:lstStyle/>
            <a:p>
              <a:r>
                <a:rPr lang="en-US" altLang="zh-CN" sz="2000">
                  <a:solidFill>
                    <a:srgbClr val="0000FF"/>
                  </a:solidFill>
                  <a:latin typeface="Consolas" pitchFamily="49" charset="0"/>
                  <a:ea typeface="仿宋" pitchFamily="49" charset="-122"/>
                </a:rPr>
                <a:t>(c)</a:t>
              </a:r>
              <a:endParaRPr lang="zh-CN" altLang="en-US" sz="2000"/>
            </a:p>
          </p:txBody>
        </p:sp>
        <p:sp>
          <p:nvSpPr>
            <p:cNvPr id="48" name="椭圆 47"/>
            <p:cNvSpPr/>
            <p:nvPr/>
          </p:nvSpPr>
          <p:spPr>
            <a:xfrm>
              <a:off x="7177635" y="3320438"/>
              <a:ext cx="142876"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49" name="椭圆 48"/>
            <p:cNvSpPr/>
            <p:nvPr/>
          </p:nvSpPr>
          <p:spPr>
            <a:xfrm>
              <a:off x="8001024" y="4177247"/>
              <a:ext cx="142876"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cxnSp>
          <p:nvCxnSpPr>
            <p:cNvPr id="51" name="直接箭头连接符 50"/>
            <p:cNvCxnSpPr>
              <a:stCxn id="49" idx="1"/>
              <a:endCxn id="48" idx="5"/>
            </p:cNvCxnSpPr>
            <p:nvPr/>
          </p:nvCxnSpPr>
          <p:spPr>
            <a:xfrm rot="16200000" flipV="1">
              <a:off x="7296004" y="3477662"/>
              <a:ext cx="729529" cy="722361"/>
            </a:xfrm>
            <a:prstGeom prst="straightConnector1">
              <a:avLst/>
            </a:prstGeom>
            <a:ln w="19050">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7858148" y="3429000"/>
              <a:ext cx="928694" cy="400110"/>
            </a:xfrm>
            <a:prstGeom prst="rect">
              <a:avLst/>
            </a:prstGeom>
            <a:noFill/>
          </p:spPr>
          <p:txBody>
            <a:bodyPr wrap="square" rtlCol="0">
              <a:spAutoFit/>
            </a:bodyPr>
            <a:lstStyle/>
            <a:p>
              <a:r>
                <a:rPr lang="zh-CN" altLang="zh-CN" sz="2000">
                  <a:solidFill>
                    <a:srgbClr val="FF00FF"/>
                  </a:solidFill>
                  <a:latin typeface="楷体" pitchFamily="49" charset="-122"/>
                  <a:ea typeface="楷体" pitchFamily="49" charset="-122"/>
                </a:rPr>
                <a:t>左拐</a:t>
              </a:r>
              <a:endParaRPr lang="zh-CN" altLang="en-US" sz="2000">
                <a:solidFill>
                  <a:srgbClr val="FF00FF"/>
                </a:solidFill>
                <a:latin typeface="楷体" pitchFamily="49" charset="-122"/>
                <a:ea typeface="楷体" pitchFamily="49" charset="-122"/>
              </a:endParaRPr>
            </a:p>
          </p:txBody>
        </p:sp>
      </p:grpSp>
      <p:grpSp>
        <p:nvGrpSpPr>
          <p:cNvPr id="55" name="组合 54"/>
          <p:cNvGrpSpPr/>
          <p:nvPr/>
        </p:nvGrpSpPr>
        <p:grpSpPr>
          <a:xfrm>
            <a:off x="3286116" y="2571744"/>
            <a:ext cx="2428892" cy="3186192"/>
            <a:chOff x="3286116" y="2571744"/>
            <a:chExt cx="2428892" cy="3186192"/>
          </a:xfrm>
        </p:grpSpPr>
        <p:pic>
          <p:nvPicPr>
            <p:cNvPr id="74755" name="Picture 3"/>
            <p:cNvPicPr>
              <a:picLocks noChangeAspect="1" noChangeArrowheads="1"/>
            </p:cNvPicPr>
            <p:nvPr/>
          </p:nvPicPr>
          <p:blipFill>
            <a:blip r:embed="rId4" cstate="print"/>
            <a:srcRect/>
            <a:stretch>
              <a:fillRect/>
            </a:stretch>
          </p:blipFill>
          <p:spPr bwMode="auto">
            <a:xfrm>
              <a:off x="4500562" y="2571744"/>
              <a:ext cx="1214446" cy="2428892"/>
            </a:xfrm>
            <a:prstGeom prst="rect">
              <a:avLst/>
            </a:prstGeom>
            <a:noFill/>
            <a:ln w="9525">
              <a:noFill/>
              <a:miter lim="800000"/>
              <a:headEnd/>
              <a:tailEnd/>
            </a:ln>
          </p:spPr>
        </p:pic>
        <p:sp>
          <p:nvSpPr>
            <p:cNvPr id="24" name="TextBox 23"/>
            <p:cNvSpPr txBox="1"/>
            <p:nvPr/>
          </p:nvSpPr>
          <p:spPr>
            <a:xfrm>
              <a:off x="3286116" y="5000636"/>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cxnSp>
          <p:nvCxnSpPr>
            <p:cNvPr id="25" name="直接箭头连接符 24"/>
            <p:cNvCxnSpPr/>
            <p:nvPr/>
          </p:nvCxnSpPr>
          <p:spPr>
            <a:xfrm rot="5400000" flipH="1" flipV="1">
              <a:off x="2964645" y="4036223"/>
              <a:ext cx="1357322" cy="28575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V="1">
              <a:off x="3500430" y="4286256"/>
              <a:ext cx="1071570" cy="5715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3428992" y="4782604"/>
              <a:ext cx="142876"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8" name="TextBox 27"/>
            <p:cNvSpPr txBox="1"/>
            <p:nvPr/>
          </p:nvSpPr>
          <p:spPr>
            <a:xfrm>
              <a:off x="4429124" y="4357694"/>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29" name="TextBox 28"/>
            <p:cNvSpPr txBox="1"/>
            <p:nvPr/>
          </p:nvSpPr>
          <p:spPr>
            <a:xfrm>
              <a:off x="3786182" y="3357562"/>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32" name="矩形 31"/>
            <p:cNvSpPr/>
            <p:nvPr/>
          </p:nvSpPr>
          <p:spPr>
            <a:xfrm>
              <a:off x="3857620" y="5357826"/>
              <a:ext cx="607859" cy="400110"/>
            </a:xfrm>
            <a:prstGeom prst="rect">
              <a:avLst/>
            </a:prstGeom>
          </p:spPr>
          <p:txBody>
            <a:bodyPr wrap="none">
              <a:spAutoFit/>
            </a:bodyPr>
            <a:lstStyle/>
            <a:p>
              <a:r>
                <a:rPr lang="en-US" altLang="zh-CN" sz="2000">
                  <a:solidFill>
                    <a:srgbClr val="0000FF"/>
                  </a:solidFill>
                  <a:latin typeface="Consolas" pitchFamily="49" charset="0"/>
                  <a:ea typeface="仿宋" pitchFamily="49" charset="-122"/>
                </a:rPr>
                <a:t>(b)</a:t>
              </a:r>
              <a:endParaRPr lang="zh-CN" altLang="en-US" sz="2000"/>
            </a:p>
          </p:txBody>
        </p:sp>
        <p:sp>
          <p:nvSpPr>
            <p:cNvPr id="53" name="任意多边形 52"/>
            <p:cNvSpPr/>
            <p:nvPr/>
          </p:nvSpPr>
          <p:spPr>
            <a:xfrm>
              <a:off x="4143372" y="3429000"/>
              <a:ext cx="372533" cy="553156"/>
            </a:xfrm>
            <a:custGeom>
              <a:avLst/>
              <a:gdLst>
                <a:gd name="connsiteX0" fmla="*/ 372533 w 372533"/>
                <a:gd name="connsiteY0" fmla="*/ 553156 h 553156"/>
                <a:gd name="connsiteX1" fmla="*/ 293511 w 372533"/>
                <a:gd name="connsiteY1" fmla="*/ 203200 h 553156"/>
                <a:gd name="connsiteX2" fmla="*/ 0 w 372533"/>
                <a:gd name="connsiteY2" fmla="*/ 0 h 553156"/>
              </a:gdLst>
              <a:ahLst/>
              <a:cxnLst>
                <a:cxn ang="0">
                  <a:pos x="connsiteX0" y="connsiteY0"/>
                </a:cxn>
                <a:cxn ang="0">
                  <a:pos x="connsiteX1" y="connsiteY1"/>
                </a:cxn>
                <a:cxn ang="0">
                  <a:pos x="connsiteX2" y="connsiteY2"/>
                </a:cxn>
              </a:cxnLst>
              <a:rect l="l" t="t" r="r" b="b"/>
              <a:pathLst>
                <a:path w="372533" h="553156">
                  <a:moveTo>
                    <a:pt x="372533" y="553156"/>
                  </a:moveTo>
                  <a:cubicBezTo>
                    <a:pt x="364066" y="424274"/>
                    <a:pt x="355600" y="295393"/>
                    <a:pt x="293511" y="203200"/>
                  </a:cubicBezTo>
                  <a:cubicBezTo>
                    <a:pt x="231422" y="111007"/>
                    <a:pt x="115711" y="55503"/>
                    <a:pt x="0" y="0"/>
                  </a:cubicBezTo>
                </a:path>
              </a:pathLst>
            </a:cu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37" name="灯片编号占位符 36"/>
          <p:cNvSpPr>
            <a:spLocks noGrp="1"/>
          </p:cNvSpPr>
          <p:nvPr>
            <p:ph type="sldNum" sz="quarter" idx="12"/>
          </p:nvPr>
        </p:nvSpPr>
        <p:spPr/>
        <p:txBody>
          <a:bodyPr/>
          <a:lstStyle/>
          <a:p>
            <a:pPr>
              <a:defRPr/>
            </a:pPr>
            <a:fld id="{51116183-1013-4E64-BBE8-A5C1D5D4F838}" type="slidenum">
              <a:rPr lang="en-US" altLang="zh-CN" smtClean="0"/>
              <a:pPr>
                <a:defRPr/>
              </a:pPr>
              <a:t>22</a:t>
            </a:fld>
            <a:r>
              <a:rPr lang="en-US" altLang="zh-CN"/>
              <a:t>/167</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2"/>
          <p:cNvSpPr txBox="1">
            <a:spLocks noChangeArrowheads="1"/>
          </p:cNvSpPr>
          <p:nvPr/>
        </p:nvSpPr>
        <p:spPr bwMode="auto">
          <a:xfrm>
            <a:off x="428596" y="571480"/>
            <a:ext cx="8001024" cy="514738"/>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lIns="144000" tIns="72000" rIns="144000" bIns="72000">
            <a:spAutoFit/>
          </a:bodyPr>
          <a:lstStyle/>
          <a:p>
            <a:pPr marL="457200" indent="-457200">
              <a:buBlip>
                <a:blip r:embed="rId2"/>
              </a:buBlip>
            </a:pPr>
            <a:r>
              <a:rPr lang="zh-CN" altLang="zh-CN">
                <a:solidFill>
                  <a:srgbClr val="0000FF"/>
                </a:solidFill>
                <a:latin typeface="Consolas" pitchFamily="49" charset="0"/>
                <a:ea typeface="仿宋" pitchFamily="49" charset="-122"/>
                <a:cs typeface="Consolas" pitchFamily="49" charset="0"/>
              </a:rPr>
              <a:t>若</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的叉积</a:t>
            </a:r>
            <a:r>
              <a:rPr lang="en-US" altLang="zh-CN">
                <a:solidFill>
                  <a:srgbClr val="FF0000"/>
                </a:solidFill>
                <a:latin typeface="Consolas" pitchFamily="49" charset="0"/>
                <a:ea typeface="仿宋" pitchFamily="49" charset="-122"/>
                <a:cs typeface="Consolas" pitchFamily="49" charset="0"/>
              </a:rPr>
              <a:t>d&lt;0</a:t>
            </a:r>
            <a:r>
              <a:rPr lang="zh-CN" altLang="zh-CN">
                <a:solidFill>
                  <a:srgbClr val="0000FF"/>
                </a:solidFill>
                <a:latin typeface="Consolas" pitchFamily="49" charset="0"/>
                <a:ea typeface="仿宋" pitchFamily="49" charset="-122"/>
                <a:cs typeface="Consolas" pitchFamily="49" charset="0"/>
              </a:rPr>
              <a:t>。</a:t>
            </a:r>
          </a:p>
        </p:txBody>
      </p:sp>
      <p:sp>
        <p:nvSpPr>
          <p:cNvPr id="17" name="TextBox 16"/>
          <p:cNvSpPr txBox="1"/>
          <p:nvPr/>
        </p:nvSpPr>
        <p:spPr>
          <a:xfrm>
            <a:off x="857224" y="1214422"/>
            <a:ext cx="6858048" cy="1246495"/>
          </a:xfrm>
          <a:prstGeom prst="rect">
            <a:avLst/>
          </a:prstGeom>
          <a:noFill/>
        </p:spPr>
        <p:txBody>
          <a:bodyPr wrap="square" rtlCol="0">
            <a:spAutoFit/>
          </a:bodyPr>
          <a:lstStyle/>
          <a:p>
            <a:pPr marL="457200" indent="-457200">
              <a:lnSpc>
                <a:spcPts val="3000"/>
              </a:lnSpc>
              <a:buBlip>
                <a:blip r:embed="rId3"/>
              </a:buBlip>
            </a:pP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0</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在</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0</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的</a:t>
            </a:r>
            <a:r>
              <a:rPr lang="zh-CN" altLang="en-US" sz="2200">
                <a:solidFill>
                  <a:srgbClr val="0000FF"/>
                </a:solidFill>
                <a:latin typeface="Consolas" pitchFamily="49" charset="0"/>
                <a:ea typeface="仿宋" pitchFamily="49" charset="-122"/>
              </a:rPr>
              <a:t>逆</a:t>
            </a:r>
            <a:r>
              <a:rPr lang="zh-CN" altLang="zh-CN" sz="2200">
                <a:solidFill>
                  <a:srgbClr val="0000FF"/>
                </a:solidFill>
                <a:latin typeface="Consolas" pitchFamily="49" charset="0"/>
                <a:ea typeface="仿宋" pitchFamily="49" charset="-122"/>
              </a:rPr>
              <a:t>时针方向上，如图</a:t>
            </a:r>
            <a:r>
              <a:rPr lang="en-US" altLang="zh-CN" sz="2200">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所示。</a:t>
            </a:r>
          </a:p>
          <a:p>
            <a:pPr marL="457200" indent="-457200">
              <a:lnSpc>
                <a:spcPts val="3000"/>
              </a:lnSpc>
              <a:buBlip>
                <a:blip r:embed="rId3"/>
              </a:buBlip>
            </a:pP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三点在</a:t>
            </a:r>
            <a:r>
              <a:rPr lang="zh-CN" altLang="en-US" sz="2200">
                <a:solidFill>
                  <a:srgbClr val="0000FF"/>
                </a:solidFill>
                <a:latin typeface="Consolas" pitchFamily="49" charset="0"/>
                <a:ea typeface="仿宋" pitchFamily="49" charset="-122"/>
              </a:rPr>
              <a:t>左</a:t>
            </a:r>
            <a:r>
              <a:rPr lang="zh-CN" altLang="zh-CN" sz="2200">
                <a:solidFill>
                  <a:srgbClr val="0000FF"/>
                </a:solidFill>
                <a:latin typeface="Consolas" pitchFamily="49" charset="0"/>
                <a:ea typeface="仿宋" pitchFamily="49" charset="-122"/>
              </a:rPr>
              <a:t>手螺旋方向上，如图</a:t>
            </a:r>
            <a:r>
              <a:rPr lang="en-US" altLang="zh-CN" sz="2200">
                <a:solidFill>
                  <a:srgbClr val="0000FF"/>
                </a:solidFill>
                <a:latin typeface="Consolas" pitchFamily="49" charset="0"/>
                <a:ea typeface="仿宋" pitchFamily="49" charset="-122"/>
              </a:rPr>
              <a:t>(b)</a:t>
            </a:r>
            <a:r>
              <a:rPr lang="zh-CN" altLang="zh-CN" sz="2200">
                <a:solidFill>
                  <a:srgbClr val="0000FF"/>
                </a:solidFill>
                <a:latin typeface="Consolas" pitchFamily="49" charset="0"/>
                <a:ea typeface="仿宋" pitchFamily="49" charset="-122"/>
              </a:rPr>
              <a:t>所示。</a:t>
            </a:r>
          </a:p>
          <a:p>
            <a:pPr marL="457200" indent="-457200">
              <a:lnSpc>
                <a:spcPts val="3000"/>
              </a:lnSpc>
              <a:buBlip>
                <a:blip r:embed="rId3"/>
              </a:buBlip>
            </a:pP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三点呈现</a:t>
            </a:r>
            <a:r>
              <a:rPr lang="zh-CN" altLang="en-US" sz="2200">
                <a:solidFill>
                  <a:srgbClr val="0000FF"/>
                </a:solidFill>
                <a:latin typeface="Consolas" pitchFamily="49" charset="0"/>
                <a:ea typeface="仿宋" pitchFamily="49" charset="-122"/>
              </a:rPr>
              <a:t>右</a:t>
            </a:r>
            <a:r>
              <a:rPr lang="zh-CN" altLang="zh-CN" sz="2200">
                <a:solidFill>
                  <a:srgbClr val="0000FF"/>
                </a:solidFill>
                <a:latin typeface="Consolas" pitchFamily="49" charset="0"/>
                <a:ea typeface="仿宋" pitchFamily="49" charset="-122"/>
              </a:rPr>
              <a:t>拐关系，如图</a:t>
            </a:r>
            <a:r>
              <a:rPr lang="en-US" altLang="zh-CN" sz="2200">
                <a:solidFill>
                  <a:srgbClr val="0000FF"/>
                </a:solidFill>
                <a:latin typeface="Consolas" pitchFamily="49" charset="0"/>
                <a:ea typeface="仿宋" pitchFamily="49" charset="-122"/>
              </a:rPr>
              <a:t>(c)</a:t>
            </a:r>
            <a:r>
              <a:rPr lang="zh-CN" altLang="zh-CN" sz="2200">
                <a:solidFill>
                  <a:srgbClr val="0000FF"/>
                </a:solidFill>
                <a:latin typeface="Consolas" pitchFamily="49" charset="0"/>
                <a:ea typeface="仿宋" pitchFamily="49" charset="-122"/>
              </a:rPr>
              <a:t>所示。</a:t>
            </a:r>
          </a:p>
        </p:txBody>
      </p:sp>
      <p:grpSp>
        <p:nvGrpSpPr>
          <p:cNvPr id="2" name="组合 53"/>
          <p:cNvGrpSpPr/>
          <p:nvPr/>
        </p:nvGrpSpPr>
        <p:grpSpPr>
          <a:xfrm>
            <a:off x="500034" y="3357562"/>
            <a:ext cx="2214578" cy="2400374"/>
            <a:chOff x="357158" y="3357562"/>
            <a:chExt cx="2214578" cy="2400374"/>
          </a:xfrm>
        </p:grpSpPr>
        <p:sp>
          <p:nvSpPr>
            <p:cNvPr id="11" name="TextBox 10"/>
            <p:cNvSpPr txBox="1"/>
            <p:nvPr/>
          </p:nvSpPr>
          <p:spPr>
            <a:xfrm>
              <a:off x="357158" y="5000636"/>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cxnSp>
          <p:nvCxnSpPr>
            <p:cNvPr id="7" name="直接箭头连接符 6"/>
            <p:cNvCxnSpPr/>
            <p:nvPr/>
          </p:nvCxnSpPr>
          <p:spPr>
            <a:xfrm rot="5400000" flipH="1" flipV="1">
              <a:off x="35687" y="4036223"/>
              <a:ext cx="1357322" cy="28575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571472" y="4286256"/>
              <a:ext cx="1071570" cy="5715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500034" y="4782604"/>
              <a:ext cx="142876"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14" name="TextBox 13"/>
            <p:cNvSpPr txBox="1"/>
            <p:nvPr/>
          </p:nvSpPr>
          <p:spPr>
            <a:xfrm>
              <a:off x="1714480" y="4071942"/>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15" name="TextBox 14"/>
            <p:cNvSpPr txBox="1"/>
            <p:nvPr/>
          </p:nvSpPr>
          <p:spPr>
            <a:xfrm>
              <a:off x="857224" y="3357562"/>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cxnSp>
          <p:nvCxnSpPr>
            <p:cNvPr id="21" name="直接箭头连接符 20"/>
            <p:cNvCxnSpPr/>
            <p:nvPr/>
          </p:nvCxnSpPr>
          <p:spPr>
            <a:xfrm rot="16200000" flipH="1">
              <a:off x="1214414" y="3786190"/>
              <a:ext cx="357190" cy="357190"/>
            </a:xfrm>
            <a:prstGeom prst="straightConnector1">
              <a:avLst/>
            </a:prstGeom>
            <a:ln w="28575">
              <a:solidFill>
                <a:srgbClr val="FF00FF"/>
              </a:solidFill>
              <a:prstDash val="dash"/>
              <a:headEnd type="arrow"/>
              <a:tailEnd type="non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357290" y="3571876"/>
              <a:ext cx="1214446" cy="400110"/>
            </a:xfrm>
            <a:prstGeom prst="rect">
              <a:avLst/>
            </a:prstGeom>
            <a:noFill/>
          </p:spPr>
          <p:txBody>
            <a:bodyPr wrap="square" rtlCol="0">
              <a:spAutoFit/>
            </a:bodyPr>
            <a:lstStyle/>
            <a:p>
              <a:r>
                <a:rPr lang="zh-CN" altLang="en-US" sz="2000">
                  <a:solidFill>
                    <a:srgbClr val="0000FF"/>
                  </a:solidFill>
                  <a:latin typeface="Consolas" pitchFamily="49" charset="0"/>
                  <a:ea typeface="仿宋" pitchFamily="49" charset="-122"/>
                </a:rPr>
                <a:t>逆</a:t>
              </a:r>
              <a:r>
                <a:rPr lang="zh-CN" altLang="zh-CN" sz="2000">
                  <a:solidFill>
                    <a:srgbClr val="0000FF"/>
                  </a:solidFill>
                  <a:latin typeface="Consolas" pitchFamily="49" charset="0"/>
                  <a:ea typeface="仿宋" pitchFamily="49" charset="-122"/>
                </a:rPr>
                <a:t>时针</a:t>
              </a:r>
              <a:endParaRPr lang="zh-CN" altLang="en-US" sz="2000"/>
            </a:p>
          </p:txBody>
        </p:sp>
        <p:sp>
          <p:nvSpPr>
            <p:cNvPr id="23" name="矩形 22"/>
            <p:cNvSpPr/>
            <p:nvPr/>
          </p:nvSpPr>
          <p:spPr>
            <a:xfrm>
              <a:off x="928662" y="5357826"/>
              <a:ext cx="607859" cy="400110"/>
            </a:xfrm>
            <a:prstGeom prst="rect">
              <a:avLst/>
            </a:prstGeom>
          </p:spPr>
          <p:txBody>
            <a:bodyPr wrap="none">
              <a:spAutoFit/>
            </a:bodyPr>
            <a:lstStyle/>
            <a:p>
              <a:r>
                <a:rPr lang="en-US" altLang="zh-CN" sz="2000">
                  <a:solidFill>
                    <a:srgbClr val="0000FF"/>
                  </a:solidFill>
                  <a:latin typeface="Consolas" pitchFamily="49" charset="0"/>
                  <a:ea typeface="仿宋" pitchFamily="49" charset="-122"/>
                </a:rPr>
                <a:t>(a)</a:t>
              </a:r>
              <a:endParaRPr lang="zh-CN" altLang="en-US" sz="2000"/>
            </a:p>
          </p:txBody>
        </p:sp>
      </p:grpSp>
      <p:grpSp>
        <p:nvGrpSpPr>
          <p:cNvPr id="37" name="组合 36"/>
          <p:cNvGrpSpPr/>
          <p:nvPr/>
        </p:nvGrpSpPr>
        <p:grpSpPr>
          <a:xfrm>
            <a:off x="3214678" y="2870318"/>
            <a:ext cx="2286016" cy="2887618"/>
            <a:chOff x="3214678" y="2870318"/>
            <a:chExt cx="2286016" cy="2887618"/>
          </a:xfrm>
        </p:grpSpPr>
        <p:pic>
          <p:nvPicPr>
            <p:cNvPr id="36" name="Picture 2"/>
            <p:cNvPicPr>
              <a:picLocks noChangeAspect="1" noChangeArrowheads="1"/>
            </p:cNvPicPr>
            <p:nvPr/>
          </p:nvPicPr>
          <p:blipFill>
            <a:blip r:embed="rId4" cstate="print"/>
            <a:srcRect/>
            <a:stretch>
              <a:fillRect/>
            </a:stretch>
          </p:blipFill>
          <p:spPr bwMode="auto">
            <a:xfrm>
              <a:off x="3214678" y="2870318"/>
              <a:ext cx="1214446" cy="2273194"/>
            </a:xfrm>
            <a:prstGeom prst="rect">
              <a:avLst/>
            </a:prstGeom>
            <a:noFill/>
            <a:ln w="9525">
              <a:noFill/>
              <a:miter lim="800000"/>
              <a:headEnd/>
              <a:tailEnd/>
            </a:ln>
          </p:spPr>
        </p:pic>
        <p:sp>
          <p:nvSpPr>
            <p:cNvPr id="24" name="TextBox 23"/>
            <p:cNvSpPr txBox="1"/>
            <p:nvPr/>
          </p:nvSpPr>
          <p:spPr>
            <a:xfrm>
              <a:off x="3857620" y="5000636"/>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cxnSp>
          <p:nvCxnSpPr>
            <p:cNvPr id="25" name="直接箭头连接符 24"/>
            <p:cNvCxnSpPr/>
            <p:nvPr/>
          </p:nvCxnSpPr>
          <p:spPr>
            <a:xfrm rot="5400000" flipH="1" flipV="1">
              <a:off x="3536149" y="4036223"/>
              <a:ext cx="1357322" cy="28575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V="1">
              <a:off x="4071934" y="4286256"/>
              <a:ext cx="1071570" cy="5715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4000496" y="4782604"/>
              <a:ext cx="142876"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8" name="TextBox 27"/>
            <p:cNvSpPr txBox="1"/>
            <p:nvPr/>
          </p:nvSpPr>
          <p:spPr>
            <a:xfrm>
              <a:off x="5000628" y="4357694"/>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29" name="TextBox 28"/>
            <p:cNvSpPr txBox="1"/>
            <p:nvPr/>
          </p:nvSpPr>
          <p:spPr>
            <a:xfrm>
              <a:off x="4357686" y="3357562"/>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32" name="矩形 31"/>
            <p:cNvSpPr/>
            <p:nvPr/>
          </p:nvSpPr>
          <p:spPr>
            <a:xfrm>
              <a:off x="4429124" y="5357826"/>
              <a:ext cx="607859" cy="400110"/>
            </a:xfrm>
            <a:prstGeom prst="rect">
              <a:avLst/>
            </a:prstGeom>
          </p:spPr>
          <p:txBody>
            <a:bodyPr wrap="none">
              <a:spAutoFit/>
            </a:bodyPr>
            <a:lstStyle/>
            <a:p>
              <a:r>
                <a:rPr lang="en-US" altLang="zh-CN" sz="2000">
                  <a:solidFill>
                    <a:srgbClr val="0000FF"/>
                  </a:solidFill>
                  <a:latin typeface="Consolas" pitchFamily="49" charset="0"/>
                  <a:ea typeface="仿宋" pitchFamily="49" charset="-122"/>
                </a:rPr>
                <a:t>(b)</a:t>
              </a:r>
              <a:endParaRPr lang="zh-CN" altLang="en-US" sz="2000"/>
            </a:p>
          </p:txBody>
        </p:sp>
        <p:sp>
          <p:nvSpPr>
            <p:cNvPr id="53" name="任意多边形 52"/>
            <p:cNvSpPr/>
            <p:nvPr/>
          </p:nvSpPr>
          <p:spPr>
            <a:xfrm>
              <a:off x="4714876" y="3429000"/>
              <a:ext cx="372533" cy="553156"/>
            </a:xfrm>
            <a:custGeom>
              <a:avLst/>
              <a:gdLst>
                <a:gd name="connsiteX0" fmla="*/ 372533 w 372533"/>
                <a:gd name="connsiteY0" fmla="*/ 553156 h 553156"/>
                <a:gd name="connsiteX1" fmla="*/ 293511 w 372533"/>
                <a:gd name="connsiteY1" fmla="*/ 203200 h 553156"/>
                <a:gd name="connsiteX2" fmla="*/ 0 w 372533"/>
                <a:gd name="connsiteY2" fmla="*/ 0 h 553156"/>
              </a:gdLst>
              <a:ahLst/>
              <a:cxnLst>
                <a:cxn ang="0">
                  <a:pos x="connsiteX0" y="connsiteY0"/>
                </a:cxn>
                <a:cxn ang="0">
                  <a:pos x="connsiteX1" y="connsiteY1"/>
                </a:cxn>
                <a:cxn ang="0">
                  <a:pos x="connsiteX2" y="connsiteY2"/>
                </a:cxn>
              </a:cxnLst>
              <a:rect l="l" t="t" r="r" b="b"/>
              <a:pathLst>
                <a:path w="372533" h="553156">
                  <a:moveTo>
                    <a:pt x="372533" y="553156"/>
                  </a:moveTo>
                  <a:cubicBezTo>
                    <a:pt x="364066" y="424274"/>
                    <a:pt x="355600" y="295393"/>
                    <a:pt x="293511" y="203200"/>
                  </a:cubicBezTo>
                  <a:cubicBezTo>
                    <a:pt x="231422" y="111007"/>
                    <a:pt x="115711" y="55503"/>
                    <a:pt x="0" y="0"/>
                  </a:cubicBezTo>
                </a:path>
              </a:pathLst>
            </a:custGeom>
            <a:ln w="28575">
              <a:solidFill>
                <a:srgbClr val="FF00FF"/>
              </a:solidFill>
              <a:prstDash val="dash"/>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42" name="组合 41"/>
          <p:cNvGrpSpPr/>
          <p:nvPr/>
        </p:nvGrpSpPr>
        <p:grpSpPr>
          <a:xfrm>
            <a:off x="6715140" y="3071810"/>
            <a:ext cx="2071702" cy="2686126"/>
            <a:chOff x="6715140" y="3071810"/>
            <a:chExt cx="2071702" cy="2686126"/>
          </a:xfrm>
        </p:grpSpPr>
        <p:sp>
          <p:nvSpPr>
            <p:cNvPr id="41" name="TextBox 40"/>
            <p:cNvSpPr txBox="1"/>
            <p:nvPr/>
          </p:nvSpPr>
          <p:spPr>
            <a:xfrm>
              <a:off x="6715140" y="5000636"/>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cxnSp>
          <p:nvCxnSpPr>
            <p:cNvPr id="43" name="直接箭头连接符 42"/>
            <p:cNvCxnSpPr>
              <a:endCxn id="48" idx="3"/>
            </p:cNvCxnSpPr>
            <p:nvPr/>
          </p:nvCxnSpPr>
          <p:spPr>
            <a:xfrm rot="5400000" flipH="1" flipV="1">
              <a:off x="6372165" y="4031367"/>
              <a:ext cx="1383682" cy="269105"/>
            </a:xfrm>
            <a:prstGeom prst="straightConnector1">
              <a:avLst/>
            </a:prstGeom>
            <a:ln w="19050">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6858016" y="4782604"/>
              <a:ext cx="142876"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45" name="TextBox 44"/>
            <p:cNvSpPr txBox="1"/>
            <p:nvPr/>
          </p:nvSpPr>
          <p:spPr>
            <a:xfrm>
              <a:off x="7858148" y="4357694"/>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46" name="TextBox 45"/>
            <p:cNvSpPr txBox="1"/>
            <p:nvPr/>
          </p:nvSpPr>
          <p:spPr>
            <a:xfrm>
              <a:off x="7358082" y="3071810"/>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47" name="矩形 46"/>
            <p:cNvSpPr/>
            <p:nvPr/>
          </p:nvSpPr>
          <p:spPr>
            <a:xfrm>
              <a:off x="7286644" y="5357826"/>
              <a:ext cx="607859" cy="400110"/>
            </a:xfrm>
            <a:prstGeom prst="rect">
              <a:avLst/>
            </a:prstGeom>
          </p:spPr>
          <p:txBody>
            <a:bodyPr wrap="none">
              <a:spAutoFit/>
            </a:bodyPr>
            <a:lstStyle/>
            <a:p>
              <a:r>
                <a:rPr lang="en-US" altLang="zh-CN" sz="2000">
                  <a:solidFill>
                    <a:srgbClr val="0000FF"/>
                  </a:solidFill>
                  <a:latin typeface="Consolas" pitchFamily="49" charset="0"/>
                  <a:ea typeface="仿宋" pitchFamily="49" charset="-122"/>
                </a:rPr>
                <a:t>(c)</a:t>
              </a:r>
              <a:endParaRPr lang="zh-CN" altLang="en-US" sz="2000"/>
            </a:p>
          </p:txBody>
        </p:sp>
        <p:sp>
          <p:nvSpPr>
            <p:cNvPr id="48" name="椭圆 47"/>
            <p:cNvSpPr/>
            <p:nvPr/>
          </p:nvSpPr>
          <p:spPr>
            <a:xfrm>
              <a:off x="7177635" y="3320438"/>
              <a:ext cx="142876"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49" name="椭圆 48"/>
            <p:cNvSpPr/>
            <p:nvPr/>
          </p:nvSpPr>
          <p:spPr>
            <a:xfrm>
              <a:off x="8001024" y="4177247"/>
              <a:ext cx="142876"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2" name="TextBox 51"/>
            <p:cNvSpPr txBox="1"/>
            <p:nvPr/>
          </p:nvSpPr>
          <p:spPr>
            <a:xfrm>
              <a:off x="7858148" y="3429000"/>
              <a:ext cx="928694" cy="400110"/>
            </a:xfrm>
            <a:prstGeom prst="rect">
              <a:avLst/>
            </a:prstGeom>
            <a:noFill/>
          </p:spPr>
          <p:txBody>
            <a:bodyPr wrap="square" rtlCol="0">
              <a:spAutoFit/>
            </a:bodyPr>
            <a:lstStyle/>
            <a:p>
              <a:r>
                <a:rPr lang="zh-CN" altLang="en-US" sz="2000">
                  <a:solidFill>
                    <a:srgbClr val="FF00FF"/>
                  </a:solidFill>
                  <a:latin typeface="楷体" pitchFamily="49" charset="-122"/>
                  <a:ea typeface="楷体" pitchFamily="49" charset="-122"/>
                </a:rPr>
                <a:t>右</a:t>
              </a:r>
              <a:r>
                <a:rPr lang="zh-CN" altLang="zh-CN" sz="2000">
                  <a:solidFill>
                    <a:srgbClr val="FF00FF"/>
                  </a:solidFill>
                  <a:latin typeface="楷体" pitchFamily="49" charset="-122"/>
                  <a:ea typeface="楷体" pitchFamily="49" charset="-122"/>
                </a:rPr>
                <a:t>拐</a:t>
              </a:r>
              <a:endParaRPr lang="zh-CN" altLang="en-US" sz="2000">
                <a:solidFill>
                  <a:srgbClr val="FF00FF"/>
                </a:solidFill>
                <a:latin typeface="楷体" pitchFamily="49" charset="-122"/>
                <a:ea typeface="楷体" pitchFamily="49" charset="-122"/>
              </a:endParaRPr>
            </a:p>
          </p:txBody>
        </p:sp>
        <p:cxnSp>
          <p:nvCxnSpPr>
            <p:cNvPr id="40" name="直接箭头连接符 39"/>
            <p:cNvCxnSpPr>
              <a:stCxn id="48" idx="5"/>
              <a:endCxn id="49" idx="1"/>
            </p:cNvCxnSpPr>
            <p:nvPr/>
          </p:nvCxnSpPr>
          <p:spPr>
            <a:xfrm rot="16200000" flipH="1">
              <a:off x="7296003" y="3477661"/>
              <a:ext cx="729529" cy="722361"/>
            </a:xfrm>
            <a:prstGeom prst="straightConnector1">
              <a:avLst/>
            </a:prstGeom>
            <a:ln w="19050">
              <a:solidFill>
                <a:srgbClr val="FF00FF"/>
              </a:solidFill>
              <a:tailEnd type="arrow"/>
            </a:ln>
          </p:spPr>
          <p:style>
            <a:lnRef idx="1">
              <a:schemeClr val="accent1"/>
            </a:lnRef>
            <a:fillRef idx="0">
              <a:schemeClr val="accent1"/>
            </a:fillRef>
            <a:effectRef idx="0">
              <a:schemeClr val="accent1"/>
            </a:effectRef>
            <a:fontRef idx="minor">
              <a:schemeClr val="tx1"/>
            </a:fontRef>
          </p:style>
        </p:cxnSp>
      </p:grpSp>
      <p:sp>
        <p:nvSpPr>
          <p:cNvPr id="39" name="灯片编号占位符 38"/>
          <p:cNvSpPr>
            <a:spLocks noGrp="1"/>
          </p:cNvSpPr>
          <p:nvPr>
            <p:ph type="sldNum" sz="quarter" idx="12"/>
          </p:nvPr>
        </p:nvSpPr>
        <p:spPr/>
        <p:txBody>
          <a:bodyPr/>
          <a:lstStyle/>
          <a:p>
            <a:pPr>
              <a:defRPr/>
            </a:pPr>
            <a:fld id="{51116183-1013-4E64-BBE8-A5C1D5D4F838}" type="slidenum">
              <a:rPr lang="en-US" altLang="zh-CN" smtClean="0"/>
              <a:pPr>
                <a:defRPr/>
              </a:pPr>
              <a:t>23</a:t>
            </a:fld>
            <a:r>
              <a:rPr lang="en-US" altLang="zh-CN"/>
              <a:t>/167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500034" y="500042"/>
            <a:ext cx="7561262" cy="461665"/>
          </a:xfrm>
          <a:prstGeom prst="rect">
            <a:avLst/>
          </a:prstGeom>
          <a:noFill/>
          <a:ln w="9525">
            <a:noFill/>
            <a:miter lim="800000"/>
            <a:headEnd/>
            <a:tailEnd/>
          </a:ln>
        </p:spPr>
        <p:txBody>
          <a:bodyPr>
            <a:spAutoFit/>
          </a:bodyPr>
          <a:lstStyle/>
          <a:p>
            <a:pPr>
              <a:spcBef>
                <a:spcPct val="50000"/>
              </a:spcBef>
            </a:pPr>
            <a:r>
              <a:rPr lang="zh-CN" altLang="en-US">
                <a:solidFill>
                  <a:srgbClr val="0000FF"/>
                </a:solidFill>
                <a:latin typeface="Consolas" pitchFamily="49" charset="0"/>
                <a:ea typeface="仿宋" pitchFamily="49" charset="-122"/>
                <a:cs typeface="Consolas" pitchFamily="49" charset="0"/>
              </a:rPr>
              <a:t>判断两条线段</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到</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的方向的算法如下：</a:t>
            </a:r>
          </a:p>
        </p:txBody>
      </p:sp>
      <p:sp>
        <p:nvSpPr>
          <p:cNvPr id="5" name="Text Box 3"/>
          <p:cNvSpPr txBox="1">
            <a:spLocks noChangeArrowheads="1"/>
          </p:cNvSpPr>
          <p:nvPr/>
        </p:nvSpPr>
        <p:spPr bwMode="auto">
          <a:xfrm>
            <a:off x="357158" y="1285860"/>
            <a:ext cx="8429684" cy="3411081"/>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80000" bIns="180000">
            <a:spAutoFit/>
          </a:bodyPr>
          <a:lstStyle/>
          <a:p>
            <a:pPr defTabSz="360000">
              <a:lnSpc>
                <a:spcPts val="3000"/>
              </a:lnSpc>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(Point p0,Point p1,Point p2) {	</a:t>
            </a:r>
          </a:p>
          <a:p>
            <a:pPr defTabSz="360000">
              <a:lnSpc>
                <a:spcPts val="3000"/>
              </a:lnSpc>
            </a:pPr>
            <a:r>
              <a:rPr lang="nb-NO" altLang="zh-CN" sz="2000">
                <a:solidFill>
                  <a:srgbClr val="0000FF"/>
                </a:solidFill>
                <a:latin typeface="Consolas" pitchFamily="49" charset="0"/>
                <a:ea typeface="仿宋" pitchFamily="49" charset="-122"/>
              </a:rPr>
              <a:t>	double d=Det((p1-p0),(p2-p0));</a:t>
            </a:r>
            <a:endParaRPr lang="zh-CN" altLang="zh-CN" sz="2000">
              <a:solidFill>
                <a:srgbClr val="0000FF"/>
              </a:solidFill>
              <a:latin typeface="Consolas" pitchFamily="49" charset="0"/>
              <a:ea typeface="仿宋" pitchFamily="49" charset="-122"/>
            </a:endParaRPr>
          </a:p>
          <a:p>
            <a:pPr defTabSz="360000">
              <a:lnSpc>
                <a:spcPts val="3000"/>
              </a:lnSpc>
            </a:pPr>
            <a:r>
              <a:rPr lang="nb-NO" altLang="zh-CN" sz="2000">
                <a:solidFill>
                  <a:srgbClr val="0000FF"/>
                </a:solidFill>
                <a:latin typeface="Consolas" pitchFamily="49" charset="0"/>
                <a:ea typeface="仿宋" pitchFamily="49" charset="-122"/>
              </a:rPr>
              <a:t>	</a:t>
            </a:r>
            <a:r>
              <a:rPr lang="nb-NO" altLang="zh-CN" sz="2000">
                <a:solidFill>
                  <a:srgbClr val="006600"/>
                </a:solidFill>
                <a:latin typeface="Consolas" pitchFamily="49" charset="0"/>
                <a:ea typeface="仿宋" pitchFamily="49" charset="-122"/>
              </a:rPr>
              <a:t>//</a:t>
            </a:r>
            <a:r>
              <a:rPr lang="zh-CN" altLang="zh-CN" sz="2000">
                <a:solidFill>
                  <a:srgbClr val="006600"/>
                </a:solidFill>
                <a:latin typeface="Consolas" pitchFamily="49" charset="0"/>
                <a:ea typeface="仿宋" pitchFamily="49" charset="-122"/>
              </a:rPr>
              <a:t>或者</a:t>
            </a:r>
            <a:r>
              <a:rPr lang="nb-NO" altLang="zh-CN" sz="2000">
                <a:solidFill>
                  <a:srgbClr val="006600"/>
                </a:solidFill>
                <a:latin typeface="Consolas" pitchFamily="49" charset="0"/>
                <a:ea typeface="仿宋" pitchFamily="49" charset="-122"/>
              </a:rPr>
              <a:t>double d=(p0.x-p2.x)*(p1.y-p2.y)-</a:t>
            </a:r>
          </a:p>
          <a:p>
            <a:pPr defTabSz="360000">
              <a:lnSpc>
                <a:spcPts val="3000"/>
              </a:lnSpc>
            </a:pPr>
            <a:r>
              <a:rPr lang="nb-NO" altLang="zh-CN" sz="2000">
                <a:solidFill>
                  <a:srgbClr val="006600"/>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			</a:t>
            </a:r>
            <a:r>
              <a:rPr lang="nb-NO" altLang="zh-CN" sz="2000">
                <a:solidFill>
                  <a:srgbClr val="006600"/>
                </a:solidFill>
                <a:latin typeface="Consolas" pitchFamily="49" charset="0"/>
                <a:ea typeface="仿宋" pitchFamily="49" charset="-122"/>
              </a:rPr>
              <a:t>(p1.x-p2.x)*(p0.y-p2.y);</a:t>
            </a:r>
            <a:endParaRPr lang="zh-CN" altLang="zh-CN" sz="2000">
              <a:solidFill>
                <a:srgbClr val="006600"/>
              </a:solidFill>
              <a:latin typeface="Consolas" pitchFamily="49" charset="0"/>
              <a:ea typeface="仿宋" pitchFamily="49" charset="-122"/>
            </a:endParaRPr>
          </a:p>
          <a:p>
            <a:pPr defTabSz="360000">
              <a:lnSpc>
                <a:spcPts val="3000"/>
              </a:lnSpc>
            </a:pPr>
            <a:r>
              <a:rPr lang="nb-NO" altLang="zh-CN" sz="2000">
                <a:solidFill>
                  <a:srgbClr val="0000FF"/>
                </a:solidFill>
                <a:latin typeface="Consolas" pitchFamily="49" charset="0"/>
                <a:ea typeface="仿宋" pitchFamily="49" charset="-122"/>
              </a:rPr>
              <a:t>	if (d==0) return 0;				</a:t>
            </a:r>
            <a:r>
              <a:rPr lang="nb-NO" altLang="zh-CN" sz="2000">
                <a:solidFill>
                  <a:srgbClr val="00B0F0"/>
                </a:solidFill>
                <a:latin typeface="Consolas" pitchFamily="49" charset="0"/>
                <a:ea typeface="仿宋" pitchFamily="49" charset="-122"/>
              </a:rPr>
              <a:t>//3</a:t>
            </a:r>
            <a:r>
              <a:rPr lang="zh-CN" altLang="zh-CN" sz="2000">
                <a:solidFill>
                  <a:srgbClr val="00B0F0"/>
                </a:solidFill>
                <a:latin typeface="Consolas" pitchFamily="49" charset="0"/>
                <a:ea typeface="仿宋" pitchFamily="49" charset="-122"/>
              </a:rPr>
              <a:t>点共线</a:t>
            </a:r>
          </a:p>
          <a:p>
            <a:pPr defTabSz="360000">
              <a:lnSpc>
                <a:spcPts val="3000"/>
              </a:lnSpc>
            </a:pPr>
            <a:r>
              <a:rPr lang="nb-NO" altLang="zh-CN" sz="2000">
                <a:solidFill>
                  <a:srgbClr val="0000FF"/>
                </a:solidFill>
                <a:latin typeface="Consolas" pitchFamily="49" charset="0"/>
                <a:ea typeface="仿宋" pitchFamily="49" charset="-122"/>
              </a:rPr>
              <a:t>	else if (d&gt;0) return 1;			</a:t>
            </a:r>
            <a:r>
              <a:rPr lang="nb-NO" altLang="zh-CN" sz="2000">
                <a:solidFill>
                  <a:srgbClr val="00B0F0"/>
                </a:solidFill>
                <a:latin typeface="Consolas" pitchFamily="49" charset="0"/>
                <a:ea typeface="仿宋" pitchFamily="49" charset="-122"/>
              </a:rPr>
              <a:t>//p</a:t>
            </a:r>
            <a:r>
              <a:rPr lang="en-US" altLang="zh-CN" sz="2000">
                <a:solidFill>
                  <a:srgbClr val="00B0F0"/>
                </a:solidFill>
                <a:latin typeface="Consolas" pitchFamily="49" charset="0"/>
                <a:ea typeface="仿宋" pitchFamily="49" charset="-122"/>
              </a:rPr>
              <a:t>0</a:t>
            </a:r>
            <a:r>
              <a:rPr lang="nb-NO" altLang="zh-CN" sz="2000">
                <a:solidFill>
                  <a:srgbClr val="00B0F0"/>
                </a:solidFill>
                <a:latin typeface="Consolas" pitchFamily="49" charset="0"/>
                <a:ea typeface="仿宋" pitchFamily="49" charset="-122"/>
              </a:rPr>
              <a:t>p</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Consolas" pitchFamily="49" charset="0"/>
                <a:ea typeface="仿宋" pitchFamily="49" charset="-122"/>
              </a:rPr>
              <a:t>在</a:t>
            </a:r>
            <a:r>
              <a:rPr lang="nb-NO" altLang="zh-CN" sz="2000">
                <a:solidFill>
                  <a:srgbClr val="00B0F0"/>
                </a:solidFill>
                <a:latin typeface="Consolas" pitchFamily="49" charset="0"/>
                <a:ea typeface="仿宋" pitchFamily="49" charset="-122"/>
              </a:rPr>
              <a:t>p</a:t>
            </a:r>
            <a:r>
              <a:rPr lang="en-US" altLang="zh-CN" sz="2000">
                <a:solidFill>
                  <a:srgbClr val="00B0F0"/>
                </a:solidFill>
                <a:latin typeface="Consolas" pitchFamily="49" charset="0"/>
                <a:ea typeface="仿宋" pitchFamily="49" charset="-122"/>
              </a:rPr>
              <a:t>0</a:t>
            </a:r>
            <a:r>
              <a:rPr lang="nb-NO" altLang="zh-CN" sz="2000">
                <a:solidFill>
                  <a:srgbClr val="00B0F0"/>
                </a:solidFill>
                <a:latin typeface="Consolas" pitchFamily="49" charset="0"/>
                <a:ea typeface="仿宋" pitchFamily="49" charset="-122"/>
              </a:rPr>
              <a:t>p</a:t>
            </a:r>
            <a:r>
              <a:rPr lang="en-US" altLang="zh-CN" sz="2000">
                <a:solidFill>
                  <a:srgbClr val="00B0F0"/>
                </a:solidFill>
                <a:latin typeface="Consolas" pitchFamily="49" charset="0"/>
                <a:ea typeface="仿宋" pitchFamily="49" charset="-122"/>
              </a:rPr>
              <a:t>2</a:t>
            </a:r>
            <a:r>
              <a:rPr lang="zh-CN" altLang="zh-CN" sz="2000">
                <a:solidFill>
                  <a:srgbClr val="00B0F0"/>
                </a:solidFill>
                <a:latin typeface="Consolas" pitchFamily="49" charset="0"/>
                <a:ea typeface="仿宋" pitchFamily="49" charset="-122"/>
              </a:rPr>
              <a:t>的顺时针方向上</a:t>
            </a:r>
          </a:p>
          <a:p>
            <a:pPr defTabSz="360000">
              <a:lnSpc>
                <a:spcPts val="3000"/>
              </a:lnSpc>
            </a:pPr>
            <a:r>
              <a:rPr lang="nb-NO" altLang="zh-CN" sz="2000">
                <a:solidFill>
                  <a:srgbClr val="0000FF"/>
                </a:solidFill>
                <a:latin typeface="Consolas" pitchFamily="49" charset="0"/>
                <a:ea typeface="仿宋" pitchFamily="49" charset="-122"/>
              </a:rPr>
              <a:t>	else return -1;						</a:t>
            </a:r>
            <a:r>
              <a:rPr lang="nb-NO" altLang="zh-CN" sz="2000">
                <a:solidFill>
                  <a:srgbClr val="00B0F0"/>
                </a:solidFill>
                <a:latin typeface="Consolas" pitchFamily="49" charset="0"/>
                <a:ea typeface="仿宋" pitchFamily="49" charset="-122"/>
              </a:rPr>
              <a:t>//p</a:t>
            </a:r>
            <a:r>
              <a:rPr lang="en-US" altLang="zh-CN" sz="2000">
                <a:solidFill>
                  <a:srgbClr val="00B0F0"/>
                </a:solidFill>
                <a:latin typeface="Consolas" pitchFamily="49" charset="0"/>
                <a:ea typeface="仿宋" pitchFamily="49" charset="-122"/>
              </a:rPr>
              <a:t>0</a:t>
            </a:r>
            <a:r>
              <a:rPr lang="nb-NO" altLang="zh-CN" sz="2000">
                <a:solidFill>
                  <a:srgbClr val="00B0F0"/>
                </a:solidFill>
                <a:latin typeface="Consolas" pitchFamily="49" charset="0"/>
                <a:ea typeface="仿宋" pitchFamily="49" charset="-122"/>
              </a:rPr>
              <a:t>p</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Consolas" pitchFamily="49" charset="0"/>
                <a:ea typeface="仿宋" pitchFamily="49" charset="-122"/>
              </a:rPr>
              <a:t>在</a:t>
            </a:r>
            <a:r>
              <a:rPr lang="nb-NO" altLang="zh-CN" sz="2000">
                <a:solidFill>
                  <a:srgbClr val="00B0F0"/>
                </a:solidFill>
                <a:latin typeface="Consolas" pitchFamily="49" charset="0"/>
                <a:ea typeface="仿宋" pitchFamily="49" charset="-122"/>
              </a:rPr>
              <a:t>p</a:t>
            </a:r>
            <a:r>
              <a:rPr lang="en-US" altLang="zh-CN" sz="2000">
                <a:solidFill>
                  <a:srgbClr val="00B0F0"/>
                </a:solidFill>
                <a:latin typeface="Consolas" pitchFamily="49" charset="0"/>
                <a:ea typeface="仿宋" pitchFamily="49" charset="-122"/>
              </a:rPr>
              <a:t>0</a:t>
            </a:r>
            <a:r>
              <a:rPr lang="nb-NO" altLang="zh-CN" sz="2000">
                <a:solidFill>
                  <a:srgbClr val="00B0F0"/>
                </a:solidFill>
                <a:latin typeface="Consolas" pitchFamily="49" charset="0"/>
                <a:ea typeface="仿宋" pitchFamily="49" charset="-122"/>
              </a:rPr>
              <a:t>p</a:t>
            </a:r>
            <a:r>
              <a:rPr lang="en-US" altLang="zh-CN" sz="2000">
                <a:solidFill>
                  <a:srgbClr val="00B0F0"/>
                </a:solidFill>
                <a:latin typeface="Consolas" pitchFamily="49" charset="0"/>
                <a:ea typeface="仿宋" pitchFamily="49" charset="-122"/>
              </a:rPr>
              <a:t>2</a:t>
            </a:r>
            <a:r>
              <a:rPr lang="zh-CN" altLang="zh-CN" sz="2000">
                <a:solidFill>
                  <a:srgbClr val="00B0F0"/>
                </a:solidFill>
                <a:latin typeface="Consolas" pitchFamily="49" charset="0"/>
                <a:ea typeface="仿宋" pitchFamily="49" charset="-122"/>
              </a:rPr>
              <a:t>的逆时针方向上</a:t>
            </a:r>
          </a:p>
          <a:p>
            <a:pPr defTabSz="360000">
              <a:lnSpc>
                <a:spcPts val="30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pPr>
              <a:defRPr/>
            </a:pPr>
            <a:fld id="{51116183-1013-4E64-BBE8-A5C1D5D4F838}" type="slidenum">
              <a:rPr lang="en-US" altLang="zh-CN" smtClean="0"/>
              <a:pPr>
                <a:defRPr/>
              </a:pPr>
              <a:t>24</a:t>
            </a:fld>
            <a:r>
              <a:rPr lang="en-US" altLang="zh-CN"/>
              <a:t>/167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1785926"/>
            <a:ext cx="8215370" cy="214417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200"/>
              </a:lnSpc>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10.1</a:t>
            </a:r>
            <a:r>
              <a:rPr lang="zh-CN" altLang="zh-CN">
                <a:solidFill>
                  <a:srgbClr val="FF0000"/>
                </a:solidFill>
                <a:latin typeface="Consolas" pitchFamily="49" charset="0"/>
                <a:ea typeface="楷体" pitchFamily="49" charset="-122"/>
              </a:rPr>
              <a:t>】</a:t>
            </a:r>
            <a:r>
              <a:rPr lang="en-US" altLang="zh-CN">
                <a:solidFill>
                  <a:srgbClr val="0000FF"/>
                </a:solidFill>
                <a:latin typeface="Consolas" pitchFamily="49" charset="0"/>
                <a:ea typeface="仿宋" pitchFamily="49" charset="-122"/>
              </a:rPr>
              <a:t>HDU</a:t>
            </a:r>
            <a:r>
              <a:rPr lang="zh-CN" altLang="zh-CN">
                <a:solidFill>
                  <a:srgbClr val="0000FF"/>
                </a:solidFill>
                <a:latin typeface="Consolas" pitchFamily="49" charset="0"/>
                <a:ea typeface="仿宋" pitchFamily="49" charset="-122"/>
              </a:rPr>
              <a:t>的形状（</a:t>
            </a:r>
            <a:r>
              <a:rPr lang="en-US" altLang="zh-CN">
                <a:solidFill>
                  <a:srgbClr val="0000FF"/>
                </a:solidFill>
                <a:latin typeface="Consolas" pitchFamily="49" charset="0"/>
                <a:ea typeface="仿宋" pitchFamily="49" charset="-122"/>
              </a:rPr>
              <a:t>HDU2108</a:t>
            </a:r>
            <a:r>
              <a:rPr lang="zh-CN" altLang="zh-CN">
                <a:solidFill>
                  <a:srgbClr val="0000FF"/>
                </a:solidFill>
                <a:latin typeface="Consolas" pitchFamily="49" charset="0"/>
                <a:ea typeface="仿宋" pitchFamily="49" charset="-122"/>
              </a:rPr>
              <a:t>，时间限制：</a:t>
            </a:r>
            <a:r>
              <a:rPr lang="en-US" altLang="zh-CN">
                <a:solidFill>
                  <a:srgbClr val="0000FF"/>
                </a:solidFill>
                <a:latin typeface="Consolas" pitchFamily="49" charset="0"/>
                <a:ea typeface="仿宋" pitchFamily="49" charset="-122"/>
              </a:rPr>
              <a:t>1000ms</a:t>
            </a:r>
            <a:r>
              <a:rPr lang="zh-CN" altLang="zh-CN">
                <a:solidFill>
                  <a:srgbClr val="0000FF"/>
                </a:solidFill>
                <a:latin typeface="Consolas" pitchFamily="49" charset="0"/>
                <a:ea typeface="仿宋" pitchFamily="49" charset="-122"/>
              </a:rPr>
              <a:t>，空间限制：</a:t>
            </a:r>
            <a:r>
              <a:rPr lang="en-US" altLang="zh-CN">
                <a:solidFill>
                  <a:srgbClr val="0000FF"/>
                </a:solidFill>
                <a:latin typeface="Consolas" pitchFamily="49" charset="0"/>
                <a:ea typeface="仿宋" pitchFamily="49" charset="-122"/>
              </a:rPr>
              <a:t>32768KB</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HDU</a:t>
            </a:r>
            <a:r>
              <a:rPr lang="zh-CN" altLang="zh-CN">
                <a:solidFill>
                  <a:srgbClr val="0000FF"/>
                </a:solidFill>
                <a:latin typeface="Consolas" pitchFamily="49" charset="0"/>
                <a:ea typeface="仿宋" pitchFamily="49" charset="-122"/>
              </a:rPr>
              <a:t>向高新技术开发区申请一块用地，很快得到了批复，政府划拨的这块用地是一个多边形，为了描述它，用逆时针方向的顶点序列来表示。现在请你编程判断</a:t>
            </a:r>
            <a:r>
              <a:rPr lang="en-US" altLang="zh-CN">
                <a:solidFill>
                  <a:srgbClr val="0000FF"/>
                </a:solidFill>
                <a:latin typeface="Consolas" pitchFamily="49" charset="0"/>
                <a:ea typeface="仿宋" pitchFamily="49" charset="-122"/>
              </a:rPr>
              <a:t>HDU</a:t>
            </a:r>
            <a:r>
              <a:rPr lang="zh-CN" altLang="zh-CN">
                <a:solidFill>
                  <a:srgbClr val="0000FF"/>
                </a:solidFill>
                <a:latin typeface="Consolas" pitchFamily="49" charset="0"/>
                <a:ea typeface="仿宋" pitchFamily="49" charset="-122"/>
              </a:rPr>
              <a:t>的用地是</a:t>
            </a:r>
            <a:r>
              <a:rPr lang="zh-CN" altLang="zh-CN">
                <a:solidFill>
                  <a:srgbClr val="FF00FF"/>
                </a:solidFill>
                <a:latin typeface="Consolas" pitchFamily="49" charset="0"/>
                <a:ea typeface="仿宋" pitchFamily="49" charset="-122"/>
              </a:rPr>
              <a:t>凸多边形还是凹多边形</a:t>
            </a:r>
            <a:r>
              <a:rPr lang="zh-CN" altLang="zh-CN">
                <a:solidFill>
                  <a:srgbClr val="0000FF"/>
                </a:solidFill>
                <a:latin typeface="Consolas" pitchFamily="49" charset="0"/>
                <a:ea typeface="仿宋" pitchFamily="49" charset="-122"/>
              </a:rPr>
              <a:t>呢？</a:t>
            </a:r>
          </a:p>
        </p:txBody>
      </p:sp>
      <p:grpSp>
        <p:nvGrpSpPr>
          <p:cNvPr id="6" name="组合 5"/>
          <p:cNvGrpSpPr/>
          <p:nvPr/>
        </p:nvGrpSpPr>
        <p:grpSpPr>
          <a:xfrm>
            <a:off x="642910" y="571480"/>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9" name="灯片编号占位符 8"/>
          <p:cNvSpPr>
            <a:spLocks noGrp="1"/>
          </p:cNvSpPr>
          <p:nvPr>
            <p:ph type="sldNum" sz="quarter" idx="12"/>
          </p:nvPr>
        </p:nvSpPr>
        <p:spPr/>
        <p:txBody>
          <a:bodyPr/>
          <a:lstStyle/>
          <a:p>
            <a:pPr>
              <a:defRPr/>
            </a:pPr>
            <a:fld id="{51116183-1013-4E64-BBE8-A5C1D5D4F838}" type="slidenum">
              <a:rPr lang="en-US" altLang="zh-CN" smtClean="0"/>
              <a:pPr>
                <a:defRPr/>
              </a:pPr>
              <a:t>25</a:t>
            </a:fld>
            <a:r>
              <a:rPr lang="en-US" altLang="zh-CN"/>
              <a:t>/167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428604"/>
            <a:ext cx="8215370" cy="5942332"/>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200"/>
              </a:lnSpc>
              <a:spcBef>
                <a:spcPts val="600"/>
              </a:spcBef>
            </a:pPr>
            <a:r>
              <a:rPr lang="zh-CN" altLang="zh-CN">
                <a:solidFill>
                  <a:srgbClr val="FF0000"/>
                </a:solidFill>
                <a:latin typeface="Consolas" pitchFamily="49" charset="0"/>
                <a:ea typeface="仿宋" pitchFamily="49" charset="-122"/>
              </a:rPr>
              <a:t>输入格式</a:t>
            </a:r>
            <a:r>
              <a:rPr lang="zh-CN" altLang="zh-CN">
                <a:solidFill>
                  <a:srgbClr val="0000FF"/>
                </a:solidFill>
                <a:latin typeface="Consolas" pitchFamily="49" charset="0"/>
                <a:ea typeface="仿宋" pitchFamily="49" charset="-122"/>
              </a:rPr>
              <a:t>：输入包含多个测试用例，每组数据占</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行，首先一行是一个整数</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，表示多边形顶点的个数，然后一行是</a:t>
            </a:r>
            <a:r>
              <a:rPr lang="en-US" altLang="zh-CN">
                <a:solidFill>
                  <a:srgbClr val="0000FF"/>
                </a:solidFill>
                <a:latin typeface="Consolas" pitchFamily="49" charset="0"/>
                <a:ea typeface="仿宋" pitchFamily="49" charset="-122"/>
              </a:rPr>
              <a:t>2</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个整数，表示逆时针顺序的</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个顶点的坐标（</a:t>
            </a:r>
            <a:r>
              <a:rPr lang="en-US" altLang="zh-CN">
                <a:solidFill>
                  <a:srgbClr val="0000FF"/>
                </a:solidFill>
                <a:latin typeface="Consolas" pitchFamily="49" charset="0"/>
                <a:ea typeface="仿宋" pitchFamily="49" charset="-122"/>
              </a:rPr>
              <a:t>xi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yi</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的时候结束输入。</a:t>
            </a:r>
          </a:p>
          <a:p>
            <a:pPr>
              <a:lnSpc>
                <a:spcPts val="3200"/>
              </a:lnSpc>
              <a:spcBef>
                <a:spcPts val="600"/>
              </a:spcBef>
            </a:pPr>
            <a:r>
              <a:rPr lang="zh-CN" altLang="zh-CN">
                <a:solidFill>
                  <a:srgbClr val="FF0000"/>
                </a:solidFill>
                <a:latin typeface="Consolas" pitchFamily="49" charset="0"/>
                <a:ea typeface="仿宋" pitchFamily="49" charset="-122"/>
              </a:rPr>
              <a:t>输出格式</a:t>
            </a:r>
            <a:r>
              <a:rPr lang="zh-CN" altLang="zh-CN">
                <a:solidFill>
                  <a:srgbClr val="0000FF"/>
                </a:solidFill>
                <a:latin typeface="Consolas" pitchFamily="49" charset="0"/>
                <a:ea typeface="仿宋" pitchFamily="49" charset="-122"/>
              </a:rPr>
              <a:t>：对于每个测试用例，如果地块的形状为凸多边形，请输出</a:t>
            </a:r>
            <a:r>
              <a:rPr lang="en-US" altLang="zh-CN">
                <a:solidFill>
                  <a:srgbClr val="0000FF"/>
                </a:solidFill>
                <a:latin typeface="Consolas" pitchFamily="49" charset="0"/>
                <a:ea typeface="仿宋" pitchFamily="49" charset="-122"/>
              </a:rPr>
              <a:t>"convex"</a:t>
            </a:r>
            <a:r>
              <a:rPr lang="zh-CN" altLang="zh-CN">
                <a:solidFill>
                  <a:srgbClr val="0000FF"/>
                </a:solidFill>
                <a:latin typeface="Consolas" pitchFamily="49" charset="0"/>
                <a:ea typeface="仿宋" pitchFamily="49" charset="-122"/>
              </a:rPr>
              <a:t>，否则输出</a:t>
            </a:r>
            <a:r>
              <a:rPr lang="en-US" altLang="zh-CN">
                <a:solidFill>
                  <a:srgbClr val="0000FF"/>
                </a:solidFill>
                <a:latin typeface="Consolas" pitchFamily="49" charset="0"/>
                <a:ea typeface="仿宋" pitchFamily="49" charset="-122"/>
              </a:rPr>
              <a:t>"concave"</a:t>
            </a:r>
            <a:r>
              <a:rPr lang="zh-CN" altLang="zh-CN">
                <a:solidFill>
                  <a:srgbClr val="0000FF"/>
                </a:solidFill>
                <a:latin typeface="Consolas" pitchFamily="49" charset="0"/>
                <a:ea typeface="仿宋" pitchFamily="49" charset="-122"/>
              </a:rPr>
              <a:t>，每个测试用例的输出占一行。</a:t>
            </a:r>
          </a:p>
          <a:p>
            <a:pPr>
              <a:lnSpc>
                <a:spcPts val="3200"/>
              </a:lnSpc>
              <a:spcBef>
                <a:spcPts val="600"/>
              </a:spcBef>
            </a:pPr>
            <a:r>
              <a:rPr lang="zh-CN" altLang="zh-CN">
                <a:solidFill>
                  <a:srgbClr val="FF0000"/>
                </a:solidFill>
                <a:latin typeface="Consolas" pitchFamily="49" charset="0"/>
                <a:ea typeface="仿宋" pitchFamily="49" charset="-122"/>
              </a:rPr>
              <a:t>输入样例</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 </a:t>
            </a:r>
            <a:endParaRPr lang="zh-CN" altLang="zh-CN">
              <a:solidFill>
                <a:srgbClr val="0000FF"/>
              </a:solidFill>
              <a:latin typeface="Consolas" pitchFamily="49" charset="0"/>
              <a:ea typeface="仿宋" pitchFamily="49" charset="-122"/>
            </a:endParaRPr>
          </a:p>
          <a:p>
            <a:pPr>
              <a:lnSpc>
                <a:spcPts val="3200"/>
              </a:lnSpc>
              <a:spcBef>
                <a:spcPts val="600"/>
              </a:spcBef>
            </a:pPr>
            <a:r>
              <a:rPr lang="en-US" altLang="zh-CN" sz="2000">
                <a:solidFill>
                  <a:srgbClr val="0000FF"/>
                </a:solidFill>
                <a:latin typeface="Consolas" pitchFamily="49" charset="0"/>
                <a:ea typeface="仿宋" pitchFamily="49" charset="-122"/>
              </a:rPr>
              <a:t>4</a:t>
            </a:r>
            <a:endParaRPr lang="zh-CN" altLang="zh-CN" sz="2000">
              <a:solidFill>
                <a:srgbClr val="0000FF"/>
              </a:solidFill>
              <a:latin typeface="Consolas" pitchFamily="49" charset="0"/>
              <a:ea typeface="仿宋" pitchFamily="49" charset="-122"/>
            </a:endParaRPr>
          </a:p>
          <a:p>
            <a:pPr>
              <a:lnSpc>
                <a:spcPts val="3200"/>
              </a:lnSpc>
              <a:spcBef>
                <a:spcPts val="600"/>
              </a:spcBef>
            </a:pPr>
            <a:r>
              <a:rPr lang="en-US" altLang="zh-CN" sz="2000">
                <a:solidFill>
                  <a:srgbClr val="0000FF"/>
                </a:solidFill>
                <a:latin typeface="Consolas" pitchFamily="49" charset="0"/>
                <a:ea typeface="仿宋" pitchFamily="49" charset="-122"/>
              </a:rPr>
              <a:t>0 0 1 0 1 1 0 1</a:t>
            </a:r>
            <a:endParaRPr lang="zh-CN" altLang="zh-CN" sz="2000">
              <a:solidFill>
                <a:srgbClr val="0000FF"/>
              </a:solidFill>
              <a:latin typeface="Consolas" pitchFamily="49" charset="0"/>
              <a:ea typeface="仿宋" pitchFamily="49" charset="-122"/>
            </a:endParaRPr>
          </a:p>
          <a:p>
            <a:pPr>
              <a:lnSpc>
                <a:spcPts val="3200"/>
              </a:lnSpc>
              <a:spcBef>
                <a:spcPts val="600"/>
              </a:spcBef>
            </a:pPr>
            <a:r>
              <a:rPr lang="en-US" altLang="zh-CN" sz="2000">
                <a:solidFill>
                  <a:srgbClr val="0000FF"/>
                </a:solidFill>
                <a:latin typeface="Consolas" pitchFamily="49" charset="0"/>
                <a:ea typeface="仿宋" pitchFamily="49" charset="-122"/>
              </a:rPr>
              <a:t>0</a:t>
            </a:r>
            <a:endParaRPr lang="zh-CN" altLang="zh-CN" sz="2000">
              <a:solidFill>
                <a:srgbClr val="0000FF"/>
              </a:solidFill>
              <a:latin typeface="Consolas" pitchFamily="49" charset="0"/>
              <a:ea typeface="仿宋" pitchFamily="49" charset="-122"/>
            </a:endParaRPr>
          </a:p>
          <a:p>
            <a:pPr>
              <a:lnSpc>
                <a:spcPts val="3200"/>
              </a:lnSpc>
              <a:spcBef>
                <a:spcPts val="600"/>
              </a:spcBef>
            </a:pPr>
            <a:r>
              <a:rPr lang="zh-CN" altLang="zh-CN">
                <a:solidFill>
                  <a:srgbClr val="FF0000"/>
                </a:solidFill>
                <a:latin typeface="Consolas" pitchFamily="49" charset="0"/>
                <a:ea typeface="仿宋" pitchFamily="49" charset="-122"/>
              </a:rPr>
              <a:t>输出样例</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 </a:t>
            </a:r>
            <a:endParaRPr lang="zh-CN" altLang="zh-CN">
              <a:solidFill>
                <a:srgbClr val="0000FF"/>
              </a:solidFill>
              <a:latin typeface="Consolas" pitchFamily="49" charset="0"/>
              <a:ea typeface="仿宋" pitchFamily="49" charset="-122"/>
            </a:endParaRPr>
          </a:p>
          <a:p>
            <a:pPr>
              <a:lnSpc>
                <a:spcPts val="3200"/>
              </a:lnSpc>
              <a:spcBef>
                <a:spcPts val="600"/>
              </a:spcBef>
            </a:pPr>
            <a:r>
              <a:rPr lang="en-US" altLang="zh-CN" sz="2000">
                <a:solidFill>
                  <a:srgbClr val="0000FF"/>
                </a:solidFill>
                <a:latin typeface="Consolas" pitchFamily="49" charset="0"/>
                <a:ea typeface="仿宋" pitchFamily="49" charset="-122"/>
              </a:rPr>
              <a:t>convex</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pPr>
              <a:defRPr/>
            </a:pPr>
            <a:fld id="{51116183-1013-4E64-BBE8-A5C1D5D4F838}" type="slidenum">
              <a:rPr lang="en-US" altLang="zh-CN" smtClean="0"/>
              <a:pPr>
                <a:defRPr/>
              </a:pPr>
              <a:t>26</a:t>
            </a:fld>
            <a:r>
              <a:rPr lang="en-US" altLang="zh-CN"/>
              <a:t>/167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85720" y="606544"/>
            <a:ext cx="85725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7" name="TextBox 6"/>
          <p:cNvSpPr txBox="1"/>
          <p:nvPr/>
        </p:nvSpPr>
        <p:spPr>
          <a:xfrm>
            <a:off x="571472" y="1249486"/>
            <a:ext cx="7858180" cy="1294585"/>
          </a:xfrm>
          <a:prstGeom prst="rect">
            <a:avLst/>
          </a:prstGeom>
          <a:noFill/>
        </p:spPr>
        <p:txBody>
          <a:bodyPr wrap="square" rtlCol="0">
            <a:spAutoFit/>
          </a:bodyPr>
          <a:lstStyle/>
          <a:p>
            <a:pPr>
              <a:lnSpc>
                <a:spcPts val="3200"/>
              </a:lnSpc>
            </a:pPr>
            <a:r>
              <a:rPr lang="zh-CN" altLang="zh-CN">
                <a:solidFill>
                  <a:srgbClr val="0000FF"/>
                </a:solidFill>
                <a:latin typeface="Consolas" pitchFamily="49" charset="0"/>
                <a:ea typeface="仿宋" pitchFamily="49" charset="-122"/>
              </a:rPr>
              <a:t>采用</a:t>
            </a:r>
            <a:r>
              <a:rPr lang="en-US" altLang="zh-CN">
                <a:solidFill>
                  <a:srgbClr val="0000FF"/>
                </a:solidFill>
                <a:latin typeface="Consolas" pitchFamily="49" charset="0"/>
                <a:ea typeface="仿宋" pitchFamily="49" charset="-122"/>
              </a:rPr>
              <a:t>Point</a:t>
            </a:r>
            <a:r>
              <a:rPr lang="zh-CN" altLang="zh-CN">
                <a:solidFill>
                  <a:srgbClr val="0000FF"/>
                </a:solidFill>
                <a:latin typeface="Consolas" pitchFamily="49" charset="0"/>
                <a:ea typeface="仿宋" pitchFamily="49" charset="-122"/>
              </a:rPr>
              <a:t>类型的</a:t>
            </a:r>
            <a:r>
              <a:rPr lang="en-US" altLang="zh-CN" i="1">
                <a:solidFill>
                  <a:srgbClr val="0000FF"/>
                </a:solidFill>
                <a:latin typeface="Consolas" pitchFamily="49" charset="0"/>
                <a:ea typeface="仿宋" pitchFamily="49" charset="-122"/>
              </a:rPr>
              <a:t>p</a:t>
            </a:r>
            <a:r>
              <a:rPr lang="zh-CN" altLang="zh-CN">
                <a:solidFill>
                  <a:srgbClr val="0000FF"/>
                </a:solidFill>
                <a:latin typeface="Consolas" pitchFamily="49" charset="0"/>
                <a:ea typeface="仿宋" pitchFamily="49" charset="-122"/>
              </a:rPr>
              <a:t>数组存放逆时针顺序输入的</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个点（包含为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），以</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三个点构成一个三角形，设计方向算法</a:t>
            </a:r>
            <a:r>
              <a:rPr lang="en-US" altLang="zh-CN">
                <a:solidFill>
                  <a:srgbClr val="0000FF"/>
                </a:solidFill>
                <a:latin typeface="Consolas" pitchFamily="49" charset="0"/>
                <a:ea typeface="仿宋" pitchFamily="49" charset="-122"/>
              </a:rPr>
              <a:t>Direction(p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p>
        </p:txBody>
      </p:sp>
      <p:sp>
        <p:nvSpPr>
          <p:cNvPr id="8" name="TextBox 7"/>
          <p:cNvSpPr txBox="1"/>
          <p:nvPr/>
        </p:nvSpPr>
        <p:spPr>
          <a:xfrm>
            <a:off x="928662" y="2821122"/>
            <a:ext cx="7215238" cy="267958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nSpc>
                <a:spcPts val="3200"/>
              </a:lnSpc>
              <a:spcBef>
                <a:spcPts val="600"/>
              </a:spcBef>
              <a:buBlip>
                <a:blip r:embed="rId2"/>
              </a:buBlip>
            </a:pPr>
            <a:r>
              <a:rPr lang="zh-CN" altLang="zh-CN">
                <a:solidFill>
                  <a:srgbClr val="0000FF"/>
                </a:solidFill>
                <a:latin typeface="Consolas" pitchFamily="49" charset="0"/>
                <a:ea typeface="仿宋" pitchFamily="49" charset="-122"/>
              </a:rPr>
              <a:t>若</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的叉积等于</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，则</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三点同线，返回</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p>
          <a:p>
            <a:pPr marL="457200" indent="-457200">
              <a:lnSpc>
                <a:spcPts val="3200"/>
              </a:lnSpc>
              <a:spcBef>
                <a:spcPts val="600"/>
              </a:spcBef>
              <a:buBlip>
                <a:blip r:embed="rId2"/>
              </a:buBlip>
            </a:pPr>
            <a:r>
              <a:rPr lang="zh-CN" altLang="zh-CN">
                <a:solidFill>
                  <a:srgbClr val="0000FF"/>
                </a:solidFill>
                <a:latin typeface="Consolas" pitchFamily="49" charset="0"/>
                <a:ea typeface="仿宋" pitchFamily="49" charset="-122"/>
              </a:rPr>
              <a:t>若</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的叉积大于</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，则</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在右手螺旋方向上，返回</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p>
          <a:p>
            <a:pPr marL="457200" indent="-457200">
              <a:lnSpc>
                <a:spcPts val="3200"/>
              </a:lnSpc>
              <a:spcBef>
                <a:spcPts val="600"/>
              </a:spcBef>
              <a:buBlip>
                <a:blip r:embed="rId2"/>
              </a:buBlip>
            </a:pPr>
            <a:r>
              <a:rPr lang="zh-CN" altLang="zh-CN">
                <a:solidFill>
                  <a:srgbClr val="0000FF"/>
                </a:solidFill>
                <a:latin typeface="Consolas" pitchFamily="49" charset="0"/>
                <a:ea typeface="仿宋" pitchFamily="49" charset="-122"/>
              </a:rPr>
              <a:t>若</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的叉积小于</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，则</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在左手螺旋方向上，返回</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p>
        </p:txBody>
      </p:sp>
      <p:sp>
        <p:nvSpPr>
          <p:cNvPr id="9" name="灯片编号占位符 8"/>
          <p:cNvSpPr>
            <a:spLocks noGrp="1"/>
          </p:cNvSpPr>
          <p:nvPr>
            <p:ph type="sldNum" sz="quarter" idx="12"/>
          </p:nvPr>
        </p:nvSpPr>
        <p:spPr/>
        <p:txBody>
          <a:bodyPr/>
          <a:lstStyle/>
          <a:p>
            <a:pPr>
              <a:defRPr/>
            </a:pPr>
            <a:fld id="{51116183-1013-4E64-BBE8-A5C1D5D4F838}" type="slidenum">
              <a:rPr lang="en-US" altLang="zh-CN" smtClean="0"/>
              <a:pPr>
                <a:defRPr/>
              </a:pPr>
              <a:t>27</a:t>
            </a:fld>
            <a:r>
              <a:rPr lang="en-US" altLang="zh-CN"/>
              <a:t>/167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71472" y="857232"/>
            <a:ext cx="7858180" cy="286232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nSpc>
                <a:spcPts val="3200"/>
              </a:lnSpc>
              <a:spcBef>
                <a:spcPts val="1200"/>
              </a:spcBef>
              <a:buBlip>
                <a:blip r:embed="rId2"/>
              </a:buBlip>
            </a:pPr>
            <a:r>
              <a:rPr lang="zh-CN" altLang="zh-CN">
                <a:solidFill>
                  <a:srgbClr val="0000FF"/>
                </a:solidFill>
                <a:latin typeface="Consolas" pitchFamily="49" charset="0"/>
                <a:ea typeface="仿宋" pitchFamily="49" charset="-122"/>
              </a:rPr>
              <a:t>依次考虑多边形</a:t>
            </a:r>
            <a:r>
              <a:rPr lang="en-US" altLang="zh-CN">
                <a:solidFill>
                  <a:srgbClr val="0000FF"/>
                </a:solidFill>
                <a:latin typeface="Consolas" pitchFamily="49" charset="0"/>
                <a:ea typeface="仿宋" pitchFamily="49" charset="-122"/>
              </a:rPr>
              <a:t>p</a:t>
            </a:r>
            <a:r>
              <a:rPr lang="zh-CN" altLang="zh-CN">
                <a:solidFill>
                  <a:srgbClr val="0000FF"/>
                </a:solidFill>
                <a:latin typeface="Consolas" pitchFamily="49" charset="0"/>
                <a:ea typeface="仿宋" pitchFamily="49" charset="-122"/>
              </a:rPr>
              <a:t>的每一个点起始的三角形（</a:t>
            </a:r>
            <a:r>
              <a:rPr lang="en-US" altLang="zh-CN">
                <a:solidFill>
                  <a:srgbClr val="0000FF"/>
                </a:solidFill>
                <a:latin typeface="Consolas" pitchFamily="49" charset="0"/>
                <a:ea typeface="仿宋" pitchFamily="49" charset="-122"/>
              </a:rPr>
              <a:t>p</a:t>
            </a:r>
            <a:r>
              <a:rPr lang="en-US" altLang="zh-CN" i="1" baseline="-25000">
                <a:solidFill>
                  <a:srgbClr val="0000FF"/>
                </a:solidFill>
                <a:latin typeface="Consolas" pitchFamily="49" charset="0"/>
                <a:ea typeface="仿宋" pitchFamily="49" charset="-122"/>
              </a:rPr>
              <a:t>n</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为起点的三角形是</a:t>
            </a:r>
            <a:r>
              <a:rPr lang="en-US" altLang="zh-CN">
                <a:solidFill>
                  <a:srgbClr val="0000FF"/>
                </a:solidFill>
                <a:latin typeface="Consolas" pitchFamily="49" charset="0"/>
                <a:ea typeface="仿宋" pitchFamily="49" charset="-122"/>
              </a:rPr>
              <a:t>p</a:t>
            </a:r>
            <a:r>
              <a:rPr lang="en-US" altLang="zh-CN" i="1" baseline="-25000">
                <a:solidFill>
                  <a:srgbClr val="0000FF"/>
                </a:solidFill>
                <a:latin typeface="Consolas" pitchFamily="49" charset="0"/>
                <a:ea typeface="仿宋" pitchFamily="49" charset="-122"/>
              </a:rPr>
              <a:t>n</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i="1" baseline="-25000">
                <a:solidFill>
                  <a:srgbClr val="0000FF"/>
                </a:solidFill>
                <a:latin typeface="Consolas" pitchFamily="49" charset="0"/>
                <a:ea typeface="仿宋" pitchFamily="49" charset="-122"/>
              </a:rPr>
              <a:t>n</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i="1" baseline="-25000">
                <a:solidFill>
                  <a:srgbClr val="0000FF"/>
                </a:solidFill>
                <a:latin typeface="Consolas" pitchFamily="49" charset="0"/>
                <a:ea typeface="仿宋" pitchFamily="49" charset="-122"/>
              </a:rPr>
              <a:t>n</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为起点的三角形是</a:t>
            </a:r>
            <a:r>
              <a:rPr lang="en-US" altLang="zh-CN">
                <a:solidFill>
                  <a:srgbClr val="0000FF"/>
                </a:solidFill>
                <a:latin typeface="Consolas" pitchFamily="49" charset="0"/>
                <a:ea typeface="仿宋" pitchFamily="49" charset="-122"/>
              </a:rPr>
              <a:t>p</a:t>
            </a:r>
            <a:r>
              <a:rPr lang="en-US" altLang="zh-CN" i="1" baseline="-25000">
                <a:solidFill>
                  <a:srgbClr val="0000FF"/>
                </a:solidFill>
                <a:latin typeface="Consolas" pitchFamily="49" charset="0"/>
                <a:ea typeface="仿宋" pitchFamily="49" charset="-122"/>
              </a:rPr>
              <a:t>n</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nSpc>
                <a:spcPts val="3200"/>
              </a:lnSpc>
              <a:spcBef>
                <a:spcPts val="1200"/>
              </a:spcBef>
              <a:buBlip>
                <a:blip r:embed="rId2"/>
              </a:buBlip>
            </a:pPr>
            <a:r>
              <a:rPr lang="zh-CN" altLang="zh-CN">
                <a:solidFill>
                  <a:srgbClr val="0000FF"/>
                </a:solidFill>
                <a:latin typeface="Consolas" pitchFamily="49" charset="0"/>
                <a:ea typeface="仿宋" pitchFamily="49" charset="-122"/>
              </a:rPr>
              <a:t>如果某个多边形的</a:t>
            </a:r>
            <a:r>
              <a:rPr lang="en-US" altLang="zh-CN">
                <a:solidFill>
                  <a:srgbClr val="0000FF"/>
                </a:solidFill>
                <a:latin typeface="Consolas" pitchFamily="49" charset="0"/>
                <a:ea typeface="仿宋" pitchFamily="49" charset="-122"/>
              </a:rPr>
              <a:t>Direction</a:t>
            </a:r>
            <a:r>
              <a:rPr lang="zh-CN" altLang="zh-CN">
                <a:solidFill>
                  <a:srgbClr val="0000FF"/>
                </a:solidFill>
                <a:latin typeface="Consolas" pitchFamily="49" charset="0"/>
                <a:ea typeface="仿宋" pitchFamily="49" charset="-122"/>
              </a:rPr>
              <a:t>值为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，则说明该多边形是凹的</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nSpc>
                <a:spcPts val="3200"/>
              </a:lnSpc>
              <a:spcBef>
                <a:spcPts val="1200"/>
              </a:spcBef>
              <a:buBlip>
                <a:blip r:embed="rId2"/>
              </a:buBlip>
            </a:pPr>
            <a:r>
              <a:rPr lang="zh-CN" altLang="zh-CN">
                <a:solidFill>
                  <a:srgbClr val="0000FF"/>
                </a:solidFill>
                <a:latin typeface="Consolas" pitchFamily="49" charset="0"/>
                <a:ea typeface="仿宋" pitchFamily="49" charset="-122"/>
              </a:rPr>
              <a:t>如果不存在这样的情况，说明多边形是凸的。</a:t>
            </a:r>
          </a:p>
        </p:txBody>
      </p:sp>
      <p:grpSp>
        <p:nvGrpSpPr>
          <p:cNvPr id="13" name="组合 12"/>
          <p:cNvGrpSpPr/>
          <p:nvPr/>
        </p:nvGrpSpPr>
        <p:grpSpPr>
          <a:xfrm>
            <a:off x="2285984" y="4214818"/>
            <a:ext cx="1571636" cy="1643074"/>
            <a:chOff x="2285984" y="4214818"/>
            <a:chExt cx="1571636" cy="1643074"/>
          </a:xfrm>
        </p:grpSpPr>
        <p:sp>
          <p:nvSpPr>
            <p:cNvPr id="9" name="任意多边形 8"/>
            <p:cNvSpPr/>
            <p:nvPr/>
          </p:nvSpPr>
          <p:spPr>
            <a:xfrm>
              <a:off x="2285984" y="4214818"/>
              <a:ext cx="1546578" cy="1569156"/>
            </a:xfrm>
            <a:custGeom>
              <a:avLst/>
              <a:gdLst>
                <a:gd name="connsiteX0" fmla="*/ 0 w 1546578"/>
                <a:gd name="connsiteY0" fmla="*/ 428978 h 1569156"/>
                <a:gd name="connsiteX1" fmla="*/ 0 w 1546578"/>
                <a:gd name="connsiteY1" fmla="*/ 428978 h 1569156"/>
                <a:gd name="connsiteX2" fmla="*/ 0 w 1546578"/>
                <a:gd name="connsiteY2" fmla="*/ 1196622 h 1569156"/>
                <a:gd name="connsiteX3" fmla="*/ 643467 w 1546578"/>
                <a:gd name="connsiteY3" fmla="*/ 1569156 h 1569156"/>
                <a:gd name="connsiteX4" fmla="*/ 1016000 w 1546578"/>
                <a:gd name="connsiteY4" fmla="*/ 869245 h 1569156"/>
                <a:gd name="connsiteX5" fmla="*/ 1501422 w 1546578"/>
                <a:gd name="connsiteY5" fmla="*/ 1524000 h 1569156"/>
                <a:gd name="connsiteX6" fmla="*/ 1546578 w 1546578"/>
                <a:gd name="connsiteY6" fmla="*/ 270933 h 1569156"/>
                <a:gd name="connsiteX7" fmla="*/ 553155 w 1546578"/>
                <a:gd name="connsiteY7" fmla="*/ 0 h 1569156"/>
                <a:gd name="connsiteX8" fmla="*/ 0 w 1546578"/>
                <a:gd name="connsiteY8" fmla="*/ 428978 h 156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6578" h="1569156">
                  <a:moveTo>
                    <a:pt x="0" y="428978"/>
                  </a:moveTo>
                  <a:lnTo>
                    <a:pt x="0" y="428978"/>
                  </a:lnTo>
                  <a:lnTo>
                    <a:pt x="0" y="1196622"/>
                  </a:lnTo>
                  <a:lnTo>
                    <a:pt x="643467" y="1569156"/>
                  </a:lnTo>
                  <a:lnTo>
                    <a:pt x="1016000" y="869245"/>
                  </a:lnTo>
                  <a:lnTo>
                    <a:pt x="1501422" y="1524000"/>
                  </a:lnTo>
                  <a:lnTo>
                    <a:pt x="1546578" y="270933"/>
                  </a:lnTo>
                  <a:lnTo>
                    <a:pt x="553155" y="0"/>
                  </a:lnTo>
                  <a:lnTo>
                    <a:pt x="0" y="428978"/>
                  </a:lnTo>
                  <a:close/>
                </a:path>
              </a:pathLst>
            </a:custGeom>
            <a:solidFill>
              <a:schemeClr val="accent6">
                <a:lumMod val="60000"/>
                <a:lumOff val="4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2857488" y="5715016"/>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1" name="椭圆 10"/>
            <p:cNvSpPr/>
            <p:nvPr/>
          </p:nvSpPr>
          <p:spPr>
            <a:xfrm>
              <a:off x="3252249" y="5072074"/>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 name="椭圆 11"/>
            <p:cNvSpPr/>
            <p:nvPr/>
          </p:nvSpPr>
          <p:spPr>
            <a:xfrm>
              <a:off x="3714744" y="5654867"/>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grpSp>
      <p:sp>
        <p:nvSpPr>
          <p:cNvPr id="14" name="灯片编号占位符 13"/>
          <p:cNvSpPr>
            <a:spLocks noGrp="1"/>
          </p:cNvSpPr>
          <p:nvPr>
            <p:ph type="sldNum" sz="quarter" idx="12"/>
          </p:nvPr>
        </p:nvSpPr>
        <p:spPr/>
        <p:txBody>
          <a:bodyPr/>
          <a:lstStyle/>
          <a:p>
            <a:pPr>
              <a:defRPr/>
            </a:pPr>
            <a:fld id="{51116183-1013-4E64-BBE8-A5C1D5D4F838}" type="slidenum">
              <a:rPr lang="en-US" altLang="zh-CN" smtClean="0"/>
              <a:pPr>
                <a:defRPr/>
              </a:pPr>
              <a:t>28</a:t>
            </a:fld>
            <a:r>
              <a:rPr lang="en-US" altLang="zh-CN"/>
              <a:t>/167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71480"/>
            <a:ext cx="8215370" cy="455262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defTabSz="360000">
              <a:lnSpc>
                <a:spcPts val="2600"/>
              </a:lnSpc>
            </a:pPr>
            <a:r>
              <a:rPr lang="en-US" altLang="zh-CN" sz="2000">
                <a:solidFill>
                  <a:srgbClr val="0000FF"/>
                </a:solidFill>
                <a:latin typeface="Consolas" pitchFamily="49" charset="0"/>
                <a:ea typeface="仿宋" pitchFamily="49" charset="-122"/>
              </a:rPr>
              <a:t>#include&lt;iostream&gt;</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using namespace std;</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const int MAXN=1050;</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class </a:t>
            </a:r>
            <a:r>
              <a:rPr lang="en-US" altLang="zh-CN" sz="2000">
                <a:solidFill>
                  <a:srgbClr val="FF0000"/>
                </a:solidFill>
                <a:latin typeface="Consolas" pitchFamily="49" charset="0"/>
                <a:ea typeface="仿宋" pitchFamily="49" charset="-122"/>
              </a:rPr>
              <a:t>Point</a:t>
            </a:r>
            <a:r>
              <a:rPr lang="en-US" altLang="zh-CN" sz="2000">
                <a:solidFill>
                  <a:srgbClr val="0000FF"/>
                </a:solidFill>
                <a:latin typeface="Consolas" pitchFamily="49" charset="0"/>
                <a:ea typeface="仿宋" pitchFamily="49" charset="-122"/>
              </a:rPr>
              <a:t>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点类</a:t>
            </a:r>
          </a:p>
          <a:p>
            <a:pPr defTabSz="360000">
              <a:lnSpc>
                <a:spcPts val="2600"/>
              </a:lnSpc>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	int x,y;</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	Point() {}</a:t>
            </a:r>
          </a:p>
          <a:p>
            <a:pPr defTabSz="360000">
              <a:lnSpc>
                <a:spcPts val="2600"/>
              </a:lnSpc>
            </a:pP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	Point(double x1,double y1):x(x1),y(y1) {}</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 	Point operator </a:t>
            </a:r>
            <a:r>
              <a:rPr lang="en-US" altLang="zh-CN" sz="2000">
                <a:solidFill>
                  <a:srgbClr val="FF0000"/>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(const Point &amp;p1)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重载</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运算符</a:t>
            </a:r>
          </a:p>
          <a:p>
            <a:pPr defTabSz="360000">
              <a:lnSpc>
                <a:spcPts val="2600"/>
              </a:lnSpc>
            </a:pPr>
            <a:r>
              <a:rPr lang="en-US" altLang="zh-CN" sz="2000">
                <a:solidFill>
                  <a:srgbClr val="0000FF"/>
                </a:solidFill>
                <a:latin typeface="Consolas" pitchFamily="49" charset="0"/>
                <a:ea typeface="仿宋" pitchFamily="49" charset="-122"/>
              </a:rPr>
              <a:t>		return Point(x-p1.x,y-p1.y);</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29</a:t>
            </a:fld>
            <a:r>
              <a:rPr lang="en-US" altLang="zh-CN"/>
              <a:t>/167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71480"/>
            <a:ext cx="8715436" cy="414412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defTabSz="360000">
              <a:lnSpc>
                <a:spcPts val="2800"/>
              </a:lnSpc>
            </a:pPr>
            <a:r>
              <a:rPr lang="en-US" altLang="zh-CN" sz="2000">
                <a:solidFill>
                  <a:srgbClr val="0000FF"/>
                </a:solidFill>
                <a:latin typeface="Consolas" pitchFamily="49" charset="0"/>
                <a:ea typeface="仿宋" pitchFamily="49" charset="-122"/>
              </a:rPr>
              <a:t>Point p[MAXN];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a:t>
            </a:r>
            <a:r>
              <a:rPr lang="en-US" altLang="zh-CN" sz="2000">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个点</a:t>
            </a:r>
          </a:p>
          <a:p>
            <a:pPr defTabSz="360000">
              <a:lnSpc>
                <a:spcPts val="2800"/>
              </a:lnSpc>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Det</a:t>
            </a:r>
            <a:r>
              <a:rPr lang="en-US" altLang="zh-CN" sz="2000">
                <a:solidFill>
                  <a:srgbClr val="0000FF"/>
                </a:solidFill>
                <a:latin typeface="Consolas" pitchFamily="49" charset="0"/>
                <a:ea typeface="仿宋" pitchFamily="49" charset="-122"/>
              </a:rPr>
              <a:t>(Point p1,Point p2)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两个向量的叉积</a:t>
            </a:r>
          </a:p>
          <a:p>
            <a:pPr defTabSz="360000">
              <a:lnSpc>
                <a:spcPts val="2800"/>
              </a:lnSpc>
            </a:pPr>
            <a:r>
              <a:rPr lang="en-US" altLang="zh-CN" sz="2000">
                <a:solidFill>
                  <a:srgbClr val="0000FF"/>
                </a:solidFill>
                <a:latin typeface="Consolas" pitchFamily="49" charset="0"/>
                <a:ea typeface="仿宋" pitchFamily="49" charset="-122"/>
              </a:rPr>
              <a:t>	return p1.x*p2.y-p1.y*p2.x;</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(Point p0,Point p1,Point p2) {</a:t>
            </a:r>
          </a:p>
          <a:p>
            <a:pPr defTabSz="360000">
              <a:lnSpc>
                <a:spcPts val="28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判断两线段</a:t>
            </a:r>
            <a:r>
              <a:rPr lang="en-US" altLang="zh-CN" sz="2000">
                <a:solidFill>
                  <a:srgbClr val="00B050"/>
                </a:solidFill>
                <a:latin typeface="Consolas" pitchFamily="49" charset="0"/>
                <a:ea typeface="仿宋" pitchFamily="49" charset="-122"/>
              </a:rPr>
              <a:t>p0p1</a:t>
            </a:r>
            <a:r>
              <a:rPr lang="zh-CN" altLang="zh-CN" sz="2000">
                <a:solidFill>
                  <a:srgbClr val="00B050"/>
                </a:solidFill>
                <a:latin typeface="Consolas" pitchFamily="49" charset="0"/>
                <a:ea typeface="仿宋" pitchFamily="49" charset="-122"/>
              </a:rPr>
              <a:t>和</a:t>
            </a:r>
            <a:r>
              <a:rPr lang="en-US" altLang="zh-CN" sz="2000">
                <a:solidFill>
                  <a:srgbClr val="00B050"/>
                </a:solidFill>
                <a:latin typeface="Consolas" pitchFamily="49" charset="0"/>
                <a:ea typeface="仿宋" pitchFamily="49" charset="-122"/>
              </a:rPr>
              <a:t>p0p2</a:t>
            </a:r>
            <a:r>
              <a:rPr lang="zh-CN" altLang="zh-CN" sz="2000">
                <a:solidFill>
                  <a:srgbClr val="00B050"/>
                </a:solidFill>
                <a:latin typeface="Consolas" pitchFamily="49" charset="0"/>
                <a:ea typeface="仿宋" pitchFamily="49" charset="-122"/>
              </a:rPr>
              <a:t>的方向</a:t>
            </a:r>
          </a:p>
          <a:p>
            <a:pPr defTabSz="360000">
              <a:lnSpc>
                <a:spcPts val="2800"/>
              </a:lnSpc>
            </a:pPr>
            <a:r>
              <a:rPr lang="en-US" altLang="zh-CN" sz="2000">
                <a:solidFill>
                  <a:srgbClr val="0000FF"/>
                </a:solidFill>
                <a:latin typeface="Consolas" pitchFamily="49" charset="0"/>
                <a:ea typeface="仿宋" pitchFamily="49" charset="-122"/>
              </a:rPr>
              <a:t>	double d=</a:t>
            </a:r>
            <a:r>
              <a:rPr lang="en-US" altLang="zh-CN" sz="2000">
                <a:solidFill>
                  <a:srgbClr val="FF0000"/>
                </a:solidFill>
                <a:latin typeface="Consolas" pitchFamily="49" charset="0"/>
                <a:ea typeface="仿宋" pitchFamily="49" charset="-122"/>
              </a:rPr>
              <a:t>Det</a:t>
            </a:r>
            <a:r>
              <a:rPr lang="en-US" altLang="zh-CN" sz="2000">
                <a:solidFill>
                  <a:srgbClr val="0000FF"/>
                </a:solidFill>
                <a:latin typeface="Consolas" pitchFamily="49" charset="0"/>
                <a:ea typeface="仿宋" pitchFamily="49" charset="-122"/>
              </a:rPr>
              <a:t>((p1-p0),(p2-p0));</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if (d==0) return 0;					</a:t>
            </a:r>
            <a:r>
              <a:rPr lang="en-US" altLang="zh-CN" sz="2000">
                <a:solidFill>
                  <a:srgbClr val="00B0F0"/>
                </a:solidFill>
                <a:latin typeface="Consolas" pitchFamily="49" charset="0"/>
                <a:ea typeface="仿宋" pitchFamily="49" charset="-122"/>
              </a:rPr>
              <a:t>//3</a:t>
            </a:r>
            <a:r>
              <a:rPr lang="zh-CN" altLang="zh-CN" sz="2000">
                <a:solidFill>
                  <a:srgbClr val="00B0F0"/>
                </a:solidFill>
                <a:latin typeface="Consolas" pitchFamily="49" charset="0"/>
                <a:ea typeface="仿宋" pitchFamily="49" charset="-122"/>
              </a:rPr>
              <a:t>点共线</a:t>
            </a:r>
          </a:p>
          <a:p>
            <a:pPr defTabSz="360000">
              <a:lnSpc>
                <a:spcPts val="2800"/>
              </a:lnSpc>
            </a:pPr>
            <a:r>
              <a:rPr lang="en-US" altLang="zh-CN" sz="2000">
                <a:solidFill>
                  <a:srgbClr val="0000FF"/>
                </a:solidFill>
                <a:latin typeface="Consolas" pitchFamily="49" charset="0"/>
                <a:ea typeface="仿宋" pitchFamily="49" charset="-122"/>
              </a:rPr>
              <a:t>	else if (d&gt;0) return 1;				</a:t>
            </a:r>
            <a:r>
              <a:rPr lang="en-US" altLang="zh-CN" sz="2000">
                <a:solidFill>
                  <a:srgbClr val="00B0F0"/>
                </a:solidFill>
                <a:latin typeface="Consolas" pitchFamily="49" charset="0"/>
                <a:ea typeface="仿宋" pitchFamily="49" charset="-122"/>
              </a:rPr>
              <a:t>//p0p1</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p0p2</a:t>
            </a:r>
            <a:r>
              <a:rPr lang="zh-CN" altLang="zh-CN" sz="2000">
                <a:solidFill>
                  <a:srgbClr val="00B0F0"/>
                </a:solidFill>
                <a:latin typeface="Consolas" pitchFamily="49" charset="0"/>
                <a:ea typeface="仿宋" pitchFamily="49" charset="-122"/>
              </a:rPr>
              <a:t>的顺时针方向上</a:t>
            </a:r>
          </a:p>
          <a:p>
            <a:pPr defTabSz="360000">
              <a:lnSpc>
                <a:spcPts val="2800"/>
              </a:lnSpc>
            </a:pPr>
            <a:r>
              <a:rPr lang="en-US" altLang="zh-CN" sz="2000">
                <a:solidFill>
                  <a:srgbClr val="0000FF"/>
                </a:solidFill>
                <a:latin typeface="Consolas" pitchFamily="49" charset="0"/>
                <a:ea typeface="仿宋" pitchFamily="49" charset="-122"/>
              </a:rPr>
              <a:t>	else return -1;							</a:t>
            </a:r>
            <a:r>
              <a:rPr lang="en-US" altLang="zh-CN" sz="2000">
                <a:solidFill>
                  <a:srgbClr val="00B0F0"/>
                </a:solidFill>
                <a:latin typeface="Consolas" pitchFamily="49" charset="0"/>
                <a:ea typeface="仿宋" pitchFamily="49" charset="-122"/>
              </a:rPr>
              <a:t>//p0p1</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p0p2</a:t>
            </a:r>
            <a:r>
              <a:rPr lang="zh-CN" altLang="zh-CN" sz="2000">
                <a:solidFill>
                  <a:srgbClr val="00B0F0"/>
                </a:solidFill>
                <a:latin typeface="Consolas" pitchFamily="49" charset="0"/>
                <a:ea typeface="仿宋" pitchFamily="49" charset="-122"/>
              </a:rPr>
              <a:t>的逆时针方向上</a:t>
            </a:r>
          </a:p>
          <a:p>
            <a:pPr defTabSz="360000">
              <a:lnSpc>
                <a:spcPts val="28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30</a:t>
            </a:fld>
            <a:r>
              <a:rPr lang="en-US" altLang="zh-CN"/>
              <a:t>/167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8" y="285728"/>
            <a:ext cx="9001156" cy="380883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defTabSz="360000">
              <a:lnSpc>
                <a:spcPts val="2800"/>
              </a:lnSpc>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main</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int n;</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while(scanf("%d",&amp;n)!=EOF &amp;&amp; n)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for(int i=0;i&lt;n;i++)</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scanf("%d%d",&amp;p[i].x,&amp;p[i].y);</a:t>
            </a:r>
          </a:p>
          <a:p>
            <a:pPr defTabSz="360000">
              <a:lnSpc>
                <a:spcPts val="2800"/>
              </a:lnSpc>
            </a:pP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p[n].x=p[0].x; p[n].y=p[0].y;		</a:t>
            </a:r>
          </a:p>
          <a:p>
            <a:pPr defTabSz="360000">
              <a:lnSpc>
                <a:spcPts val="28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尾部增加与</a:t>
            </a:r>
            <a:r>
              <a:rPr lang="en-US" altLang="zh-CN" sz="2000">
                <a:solidFill>
                  <a:srgbClr val="00B0F0"/>
                </a:solidFill>
                <a:latin typeface="Consolas" pitchFamily="49" charset="0"/>
                <a:ea typeface="仿宋" pitchFamily="49" charset="-122"/>
              </a:rPr>
              <a:t>p[0]</a:t>
            </a:r>
            <a:r>
              <a:rPr lang="zh-CN" altLang="zh-CN" sz="2000">
                <a:solidFill>
                  <a:srgbClr val="00B0F0"/>
                </a:solidFill>
                <a:latin typeface="Consolas" pitchFamily="49" charset="0"/>
                <a:ea typeface="仿宋" pitchFamily="49" charset="-122"/>
              </a:rPr>
              <a:t>相同的点</a:t>
            </a:r>
            <a:r>
              <a:rPr lang="en-US" altLang="zh-CN" sz="2000">
                <a:solidFill>
                  <a:srgbClr val="00B0F0"/>
                </a:solidFill>
                <a:latin typeface="Consolas" pitchFamily="49" charset="0"/>
                <a:ea typeface="仿宋" pitchFamily="49" charset="-122"/>
              </a:rPr>
              <a:t>p[n] </a:t>
            </a:r>
            <a:endParaRPr lang="zh-CN" altLang="zh-CN" sz="2000">
              <a:solidFill>
                <a:srgbClr val="00B0F0"/>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p[n+1].x=p[1].x; p[n+1].y=p[1].y;	</a:t>
            </a:r>
          </a:p>
          <a:p>
            <a:pPr defTabSz="360000">
              <a:lnSpc>
                <a:spcPts val="28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末尾增加与</a:t>
            </a:r>
            <a:r>
              <a:rPr lang="en-US" altLang="zh-CN" sz="2000">
                <a:solidFill>
                  <a:srgbClr val="00B0F0"/>
                </a:solidFill>
                <a:latin typeface="Consolas" pitchFamily="49" charset="0"/>
                <a:ea typeface="仿宋" pitchFamily="49" charset="-122"/>
              </a:rPr>
              <a:t>p[1]</a:t>
            </a:r>
            <a:r>
              <a:rPr lang="zh-CN" altLang="zh-CN" sz="2000">
                <a:solidFill>
                  <a:srgbClr val="00B0F0"/>
                </a:solidFill>
                <a:latin typeface="Consolas" pitchFamily="49" charset="0"/>
                <a:ea typeface="仿宋" pitchFamily="49" charset="-122"/>
              </a:rPr>
              <a:t>相同的点</a:t>
            </a:r>
            <a:r>
              <a:rPr lang="en-US" altLang="zh-CN" sz="2000">
                <a:solidFill>
                  <a:srgbClr val="00B0F0"/>
                </a:solidFill>
                <a:latin typeface="Consolas" pitchFamily="49" charset="0"/>
                <a:ea typeface="仿宋" pitchFamily="49" charset="-122"/>
              </a:rPr>
              <a:t>p[n+1] </a:t>
            </a:r>
            <a:endParaRPr lang="zh-CN" altLang="zh-CN" sz="2000">
              <a:solidFill>
                <a:srgbClr val="00B0F0"/>
              </a:solidFill>
              <a:latin typeface="Consolas" pitchFamily="49" charset="0"/>
              <a:ea typeface="仿宋" pitchFamily="49" charset="-122"/>
            </a:endParaRPr>
          </a:p>
        </p:txBody>
      </p:sp>
      <p:grpSp>
        <p:nvGrpSpPr>
          <p:cNvPr id="16" name="组合 15"/>
          <p:cNvGrpSpPr/>
          <p:nvPr/>
        </p:nvGrpSpPr>
        <p:grpSpPr>
          <a:xfrm>
            <a:off x="2285984" y="4643446"/>
            <a:ext cx="2786082" cy="1710808"/>
            <a:chOff x="2285984" y="4643446"/>
            <a:chExt cx="2786082" cy="1710808"/>
          </a:xfrm>
        </p:grpSpPr>
        <p:sp>
          <p:nvSpPr>
            <p:cNvPr id="8" name="椭圆 7"/>
            <p:cNvSpPr/>
            <p:nvPr/>
          </p:nvSpPr>
          <p:spPr>
            <a:xfrm>
              <a:off x="3500430" y="4782618"/>
              <a:ext cx="1428760" cy="142876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4071934" y="5997064"/>
              <a:ext cx="357190" cy="35719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latin typeface="Consolas" pitchFamily="49" charset="0"/>
                </a:rPr>
                <a:t>0</a:t>
              </a:r>
              <a:endParaRPr lang="zh-CN" altLang="en-US" sz="2000">
                <a:latin typeface="Consolas" pitchFamily="49" charset="0"/>
              </a:endParaRPr>
            </a:p>
          </p:txBody>
        </p:sp>
        <p:sp>
          <p:nvSpPr>
            <p:cNvPr id="10" name="椭圆 9"/>
            <p:cNvSpPr/>
            <p:nvPr/>
          </p:nvSpPr>
          <p:spPr>
            <a:xfrm>
              <a:off x="4714876" y="5568436"/>
              <a:ext cx="357190" cy="35719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latin typeface="Consolas" pitchFamily="49" charset="0"/>
                </a:rPr>
                <a:t>1</a:t>
              </a:r>
              <a:endParaRPr lang="zh-CN" altLang="en-US" sz="2000">
                <a:latin typeface="Consolas" pitchFamily="49" charset="0"/>
              </a:endParaRPr>
            </a:p>
          </p:txBody>
        </p:sp>
        <p:sp>
          <p:nvSpPr>
            <p:cNvPr id="11" name="椭圆 10"/>
            <p:cNvSpPr/>
            <p:nvPr/>
          </p:nvSpPr>
          <p:spPr>
            <a:xfrm>
              <a:off x="4572000" y="4831478"/>
              <a:ext cx="357190" cy="35719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latin typeface="Consolas" pitchFamily="49" charset="0"/>
                </a:rPr>
                <a:t>2</a:t>
              </a:r>
              <a:endParaRPr lang="zh-CN" altLang="en-US" sz="2000">
                <a:latin typeface="Consolas" pitchFamily="49" charset="0"/>
              </a:endParaRPr>
            </a:p>
          </p:txBody>
        </p:sp>
        <p:sp>
          <p:nvSpPr>
            <p:cNvPr id="12" name="椭圆 11"/>
            <p:cNvSpPr/>
            <p:nvPr/>
          </p:nvSpPr>
          <p:spPr>
            <a:xfrm>
              <a:off x="3884079" y="4643446"/>
              <a:ext cx="357190" cy="35719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2000">
                  <a:latin typeface="Consolas" pitchFamily="49" charset="0"/>
                </a:rPr>
                <a:t>3</a:t>
              </a:r>
              <a:endParaRPr lang="zh-CN" altLang="en-US" sz="2000">
                <a:latin typeface="Consolas" pitchFamily="49" charset="0"/>
              </a:endParaRPr>
            </a:p>
          </p:txBody>
        </p:sp>
        <p:sp>
          <p:nvSpPr>
            <p:cNvPr id="13" name="椭圆 12"/>
            <p:cNvSpPr/>
            <p:nvPr/>
          </p:nvSpPr>
          <p:spPr>
            <a:xfrm>
              <a:off x="3368843" y="5102060"/>
              <a:ext cx="357190" cy="35719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latin typeface="Consolas" pitchFamily="49" charset="0"/>
                </a:rPr>
                <a:t>0</a:t>
              </a:r>
              <a:endParaRPr lang="zh-CN" altLang="en-US" sz="2000">
                <a:latin typeface="Consolas" pitchFamily="49" charset="0"/>
              </a:endParaRPr>
            </a:p>
          </p:txBody>
        </p:sp>
        <p:sp>
          <p:nvSpPr>
            <p:cNvPr id="14" name="椭圆 13"/>
            <p:cNvSpPr/>
            <p:nvPr/>
          </p:nvSpPr>
          <p:spPr>
            <a:xfrm>
              <a:off x="3425111" y="5703727"/>
              <a:ext cx="357190" cy="35719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latin typeface="Consolas" pitchFamily="49" charset="0"/>
                </a:rPr>
                <a:t>1</a:t>
              </a:r>
              <a:endParaRPr lang="zh-CN" altLang="en-US" sz="2000">
                <a:latin typeface="Consolas" pitchFamily="49" charset="0"/>
              </a:endParaRPr>
            </a:p>
          </p:txBody>
        </p:sp>
        <p:sp>
          <p:nvSpPr>
            <p:cNvPr id="15" name="TextBox 14"/>
            <p:cNvSpPr txBox="1"/>
            <p:nvPr/>
          </p:nvSpPr>
          <p:spPr>
            <a:xfrm>
              <a:off x="2285984" y="5000636"/>
              <a:ext cx="785818" cy="400110"/>
            </a:xfrm>
            <a:prstGeom prst="rect">
              <a:avLst/>
            </a:prstGeom>
            <a:noFill/>
          </p:spPr>
          <p:txBody>
            <a:bodyPr wrap="square" rtlCol="0">
              <a:spAutoFit/>
            </a:bodyPr>
            <a:lstStyle/>
            <a:p>
              <a:r>
                <a:rPr lang="en-US" altLang="zh-CN" sz="2000">
                  <a:solidFill>
                    <a:srgbClr val="0000FF"/>
                  </a:solidFill>
                  <a:latin typeface="Consolas" pitchFamily="49" charset="0"/>
                </a:rPr>
                <a:t>n=4</a:t>
              </a:r>
              <a:endParaRPr lang="zh-CN" altLang="en-US" sz="2000">
                <a:solidFill>
                  <a:srgbClr val="0000FF"/>
                </a:solidFill>
                <a:latin typeface="Consolas" pitchFamily="49" charset="0"/>
              </a:endParaRPr>
            </a:p>
          </p:txBody>
        </p:sp>
      </p:grpSp>
      <p:sp>
        <p:nvSpPr>
          <p:cNvPr id="17" name="灯片编号占位符 16"/>
          <p:cNvSpPr>
            <a:spLocks noGrp="1"/>
          </p:cNvSpPr>
          <p:nvPr>
            <p:ph type="sldNum" sz="quarter" idx="12"/>
          </p:nvPr>
        </p:nvSpPr>
        <p:spPr/>
        <p:txBody>
          <a:bodyPr/>
          <a:lstStyle/>
          <a:p>
            <a:pPr>
              <a:defRPr/>
            </a:pPr>
            <a:fld id="{51116183-1013-4E64-BBE8-A5C1D5D4F838}" type="slidenum">
              <a:rPr lang="en-US" altLang="zh-CN" smtClean="0"/>
              <a:pPr>
                <a:defRPr/>
              </a:pPr>
              <a:t>31</a:t>
            </a:fld>
            <a:r>
              <a:rPr lang="en-US" altLang="zh-CN"/>
              <a:t>/167</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8" y="357166"/>
            <a:ext cx="9001156" cy="452698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defTabSz="360000">
              <a:lnSpc>
                <a:spcPts val="2400"/>
              </a:lnSpc>
            </a:pPr>
            <a:r>
              <a:rPr lang="en-US" altLang="zh-CN" sz="2000">
                <a:solidFill>
                  <a:srgbClr val="0000FF"/>
                </a:solidFill>
                <a:latin typeface="Consolas" pitchFamily="49" charset="0"/>
                <a:ea typeface="仿宋" pitchFamily="49" charset="-122"/>
              </a:rPr>
              <a:t>		bool flag=false;</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for(int i=1;i&lt;=n;i++)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int d=</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(p[i-1],p[i],p[i+1]);</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if(d==-1)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flag=true;</a:t>
            </a:r>
            <a:endParaRPr lang="zh-CN" altLang="zh-CN" sz="2000">
              <a:solidFill>
                <a:srgbClr val="006600"/>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break;</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t>
            </a:r>
          </a:p>
          <a:p>
            <a:pPr defTabSz="360000">
              <a:lnSpc>
                <a:spcPts val="2400"/>
              </a:lnSpc>
            </a:pP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if(flag) printf("concave\n");</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else printf("convex\n");</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return 0;</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9"/>
          <p:cNvGrpSpPr/>
          <p:nvPr/>
        </p:nvGrpSpPr>
        <p:grpSpPr>
          <a:xfrm>
            <a:off x="642910" y="5253351"/>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0ms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1748KB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4396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 </a:t>
              </a:r>
              <a:endParaRPr lang="zh-CN" altLang="en-US" sz="2000">
                <a:solidFill>
                  <a:srgbClr val="FF3300"/>
                </a:solidFill>
                <a:latin typeface="Forte" pitchFamily="66" charset="0"/>
                <a:ea typeface="仿宋" pitchFamily="49" charset="-122"/>
                <a:cs typeface="Consolas" pitchFamily="49" charset="0"/>
              </a:endParaRPr>
            </a:p>
          </p:txBody>
        </p:sp>
      </p:grpSp>
      <p:sp>
        <p:nvSpPr>
          <p:cNvPr id="8" name="灯片编号占位符 7"/>
          <p:cNvSpPr>
            <a:spLocks noGrp="1"/>
          </p:cNvSpPr>
          <p:nvPr>
            <p:ph type="sldNum" sz="quarter" idx="12"/>
          </p:nvPr>
        </p:nvSpPr>
        <p:spPr/>
        <p:txBody>
          <a:bodyPr/>
          <a:lstStyle/>
          <a:p>
            <a:pPr>
              <a:defRPr/>
            </a:pPr>
            <a:fld id="{51116183-1013-4E64-BBE8-A5C1D5D4F838}" type="slidenum">
              <a:rPr lang="en-US" altLang="zh-CN" smtClean="0"/>
              <a:pPr>
                <a:defRPr/>
              </a:pPr>
              <a:t>32</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2" end="1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468313" y="476250"/>
            <a:ext cx="2817812" cy="457200"/>
          </a:xfrm>
          <a:prstGeom prst="rect">
            <a:avLst/>
          </a:prstGeom>
          <a:solidFill>
            <a:srgbClr val="9900FF"/>
          </a:solidFill>
          <a:ln w="9525">
            <a:noFill/>
            <a:miter lim="800000"/>
            <a:headEnd/>
            <a:tailEnd/>
          </a:ln>
        </p:spPr>
        <p:txBody>
          <a:bodyPr>
            <a:spAutoFit/>
          </a:bodyPr>
          <a:lstStyle/>
          <a:p>
            <a:pPr algn="ctr">
              <a:spcBef>
                <a:spcPct val="50000"/>
              </a:spcBef>
            </a:pPr>
            <a:r>
              <a:rPr lang="en-US" altLang="zh-CN">
                <a:solidFill>
                  <a:schemeClr val="bg1"/>
                </a:solidFill>
                <a:latin typeface="Consolas" pitchFamily="49" charset="0"/>
                <a:ea typeface="微软雅黑" pitchFamily="34" charset="-122"/>
                <a:cs typeface="Consolas" pitchFamily="49" charset="0"/>
              </a:rPr>
              <a:t>4. </a:t>
            </a:r>
            <a:r>
              <a:rPr lang="zh-CN" altLang="en-US">
                <a:solidFill>
                  <a:schemeClr val="bg1"/>
                </a:solidFill>
                <a:latin typeface="Consolas" pitchFamily="49" charset="0"/>
                <a:ea typeface="微软雅黑" pitchFamily="34" charset="-122"/>
                <a:cs typeface="Consolas" pitchFamily="49" charset="0"/>
              </a:rPr>
              <a:t>两个点的距离</a:t>
            </a:r>
          </a:p>
        </p:txBody>
      </p:sp>
      <p:sp>
        <p:nvSpPr>
          <p:cNvPr id="5" name="TextBox 4"/>
          <p:cNvSpPr txBox="1"/>
          <p:nvPr/>
        </p:nvSpPr>
        <p:spPr>
          <a:xfrm>
            <a:off x="428596" y="1285860"/>
            <a:ext cx="7858180" cy="461665"/>
          </a:xfrm>
          <a:prstGeom prst="rect">
            <a:avLst/>
          </a:prstGeom>
          <a:noFill/>
        </p:spPr>
        <p:txBody>
          <a:bodyPr wrap="square" rtlCol="0">
            <a:spAutoFit/>
          </a:bodyPr>
          <a:lstStyle/>
          <a:p>
            <a:r>
              <a:rPr lang="zh-CN" altLang="zh-CN">
                <a:solidFill>
                  <a:srgbClr val="0000FF"/>
                </a:solidFill>
                <a:latin typeface="Consolas" pitchFamily="49" charset="0"/>
                <a:ea typeface="仿宋" pitchFamily="49" charset="-122"/>
              </a:rPr>
              <a:t>两个点</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之间的距离可以采用欧几里得公式计算</a:t>
            </a:r>
            <a:r>
              <a:rPr lang="zh-CN" altLang="en-US">
                <a:solidFill>
                  <a:srgbClr val="0000FF"/>
                </a:solidFill>
                <a:latin typeface="Consolas" pitchFamily="49" charset="0"/>
                <a:ea typeface="仿宋" pitchFamily="49" charset="-122"/>
              </a:rPr>
              <a:t>。</a:t>
            </a:r>
          </a:p>
        </p:txBody>
      </p:sp>
      <p:sp>
        <p:nvSpPr>
          <p:cNvPr id="6" name="TextBox 5"/>
          <p:cNvSpPr txBox="1"/>
          <p:nvPr/>
        </p:nvSpPr>
        <p:spPr>
          <a:xfrm>
            <a:off x="571472" y="2071678"/>
            <a:ext cx="8001056" cy="175699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defTabSz="360000">
              <a:lnSpc>
                <a:spcPts val="3000"/>
              </a:lnSpc>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Distance</a:t>
            </a:r>
            <a:r>
              <a:rPr lang="en-US" altLang="zh-CN" sz="2000">
                <a:solidFill>
                  <a:srgbClr val="0000FF"/>
                </a:solidFill>
                <a:latin typeface="Consolas" pitchFamily="49" charset="0"/>
                <a:ea typeface="仿宋" pitchFamily="49" charset="-122"/>
              </a:rPr>
              <a:t>(Point p1,Point p2)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求距离</a:t>
            </a:r>
          </a:p>
          <a:p>
            <a:pPr defTabSz="360000">
              <a:lnSpc>
                <a:spcPts val="3000"/>
              </a:lnSpc>
            </a:pPr>
            <a:r>
              <a:rPr lang="en-US" altLang="zh-CN" sz="2000">
                <a:solidFill>
                  <a:srgbClr val="0000FF"/>
                </a:solidFill>
                <a:latin typeface="Consolas" pitchFamily="49" charset="0"/>
                <a:ea typeface="仿宋" pitchFamily="49" charset="-122"/>
              </a:rPr>
              <a:t>	return sqrt((p1.x-p2.x)*(p1.x-p2.x)</a:t>
            </a:r>
          </a:p>
          <a:p>
            <a:pPr defTabSz="360000">
              <a:lnSpc>
                <a:spcPts val="3000"/>
              </a:lnSpc>
            </a:pPr>
            <a:r>
              <a:rPr lang="en-US" altLang="zh-CN" sz="2000">
                <a:solidFill>
                  <a:srgbClr val="0000FF"/>
                </a:solidFill>
                <a:latin typeface="Consolas" pitchFamily="49" charset="0"/>
                <a:ea typeface="仿宋" pitchFamily="49" charset="-122"/>
              </a:rPr>
              <a:t>					 +(p1.y-p2.y)*(p1.y-p2.y));</a:t>
            </a:r>
            <a:endParaRPr lang="zh-CN" altLang="zh-CN" sz="2000">
              <a:solidFill>
                <a:srgbClr val="0000FF"/>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pPr>
              <a:defRPr/>
            </a:pPr>
            <a:fld id="{51116183-1013-4E64-BBE8-A5C1D5D4F838}" type="slidenum">
              <a:rPr lang="en-US" altLang="zh-CN" smtClean="0"/>
              <a:pPr>
                <a:defRPr/>
              </a:pPr>
              <a:t>33</a:t>
            </a:fld>
            <a:r>
              <a:rPr lang="en-US" altLang="zh-CN"/>
              <a:t>/167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2"/>
          <p:cNvSpPr txBox="1">
            <a:spLocks noChangeArrowheads="1"/>
          </p:cNvSpPr>
          <p:nvPr/>
        </p:nvSpPr>
        <p:spPr bwMode="auto">
          <a:xfrm>
            <a:off x="395288" y="404813"/>
            <a:ext cx="3319456" cy="457200"/>
          </a:xfrm>
          <a:prstGeom prst="rect">
            <a:avLst/>
          </a:prstGeom>
          <a:solidFill>
            <a:srgbClr val="9900FF"/>
          </a:solidFill>
          <a:ln w="9525">
            <a:noFill/>
            <a:miter lim="800000"/>
            <a:headEnd/>
            <a:tailEnd/>
          </a:ln>
        </p:spPr>
        <p:txBody>
          <a:bodyPr wrap="square">
            <a:spAutoFit/>
          </a:bodyPr>
          <a:lstStyle/>
          <a:p>
            <a:pPr algn="ctr">
              <a:spcBef>
                <a:spcPct val="50000"/>
              </a:spcBef>
            </a:pPr>
            <a:r>
              <a:rPr lang="en-US" altLang="zh-CN" dirty="0">
                <a:solidFill>
                  <a:schemeClr val="bg1"/>
                </a:solidFill>
                <a:latin typeface="Consolas" pitchFamily="49" charset="0"/>
                <a:ea typeface="微软雅黑" pitchFamily="34" charset="-122"/>
                <a:cs typeface="Consolas" pitchFamily="49" charset="0"/>
              </a:rPr>
              <a:t>5. </a:t>
            </a:r>
            <a:r>
              <a:rPr lang="zh-CN" altLang="en-US" dirty="0">
                <a:solidFill>
                  <a:schemeClr val="bg1"/>
                </a:solidFill>
                <a:latin typeface="Consolas" pitchFamily="49" charset="0"/>
                <a:ea typeface="微软雅黑" pitchFamily="34" charset="-122"/>
                <a:cs typeface="Consolas" pitchFamily="49" charset="0"/>
              </a:rPr>
              <a:t>点到线段的距离</a:t>
            </a:r>
          </a:p>
        </p:txBody>
      </p:sp>
      <p:sp>
        <p:nvSpPr>
          <p:cNvPr id="7172" name="Text Box 3"/>
          <p:cNvSpPr txBox="1">
            <a:spLocks noChangeArrowheads="1"/>
          </p:cNvSpPr>
          <p:nvPr/>
        </p:nvSpPr>
        <p:spPr bwMode="auto">
          <a:xfrm>
            <a:off x="468313" y="1268413"/>
            <a:ext cx="8064500" cy="1448473"/>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求</a:t>
            </a:r>
            <a:r>
              <a:rPr lang="zh-CN" altLang="en-US" dirty="0">
                <a:solidFill>
                  <a:srgbClr val="0000FF"/>
                </a:solidFill>
                <a:latin typeface="Consolas" pitchFamily="49" charset="0"/>
                <a:ea typeface="仿宋" pitchFamily="49" charset="-122"/>
                <a:cs typeface="Consolas" pitchFamily="49" charset="0"/>
              </a:rPr>
              <a:t>点</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0</a:t>
            </a:r>
            <a:r>
              <a:rPr lang="zh-CN" altLang="en-US" dirty="0">
                <a:solidFill>
                  <a:srgbClr val="0000FF"/>
                </a:solidFill>
                <a:latin typeface="Consolas" pitchFamily="49" charset="0"/>
                <a:ea typeface="仿宋" pitchFamily="49" charset="-122"/>
                <a:cs typeface="Consolas" pitchFamily="49" charset="0"/>
              </a:rPr>
              <a:t>到线段</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1</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2</a:t>
            </a:r>
            <a:r>
              <a:rPr lang="zh-CN" altLang="en-US" dirty="0">
                <a:solidFill>
                  <a:srgbClr val="0000FF"/>
                </a:solidFill>
                <a:latin typeface="Consolas" pitchFamily="49" charset="0"/>
                <a:ea typeface="仿宋" pitchFamily="49" charset="-122"/>
                <a:cs typeface="Consolas" pitchFamily="49" charset="0"/>
              </a:rPr>
              <a:t>的距离。设</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0</a:t>
            </a:r>
            <a:r>
              <a:rPr lang="zh-CN" altLang="en-US" dirty="0">
                <a:solidFill>
                  <a:srgbClr val="0000FF"/>
                </a:solidFill>
                <a:latin typeface="Consolas" pitchFamily="49" charset="0"/>
                <a:ea typeface="仿宋" pitchFamily="49" charset="-122"/>
                <a:cs typeface="Consolas" pitchFamily="49" charset="0"/>
              </a:rPr>
              <a:t>在线段</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1</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2</a:t>
            </a:r>
            <a:r>
              <a:rPr lang="zh-CN" altLang="en-US" dirty="0">
                <a:solidFill>
                  <a:srgbClr val="0000FF"/>
                </a:solidFill>
                <a:latin typeface="Consolas" pitchFamily="49" charset="0"/>
                <a:ea typeface="仿宋" pitchFamily="49" charset="-122"/>
                <a:cs typeface="Consolas" pitchFamily="49" charset="0"/>
              </a:rPr>
              <a:t>上的投影点</a:t>
            </a:r>
            <a:r>
              <a:rPr lang="zh-CN" altLang="en-US">
                <a:solidFill>
                  <a:srgbClr val="0000FF"/>
                </a:solidFill>
                <a:latin typeface="Consolas" pitchFamily="49" charset="0"/>
                <a:ea typeface="仿宋" pitchFamily="49" charset="-122"/>
                <a:cs typeface="Consolas" pitchFamily="49" charset="0"/>
              </a:rPr>
              <a:t>为</a:t>
            </a:r>
            <a:r>
              <a:rPr lang="en-US" altLang="zh-CN">
                <a:solidFill>
                  <a:srgbClr val="0000FF"/>
                </a:solidFill>
                <a:latin typeface="Consolas" pitchFamily="49" charset="0"/>
                <a:ea typeface="仿宋" pitchFamily="49" charset="-122"/>
                <a:cs typeface="Consolas" pitchFamily="49" charset="0"/>
              </a:rPr>
              <a:t>q</a:t>
            </a:r>
            <a:r>
              <a:rPr lang="zh-CN" altLang="en-US">
                <a:solidFill>
                  <a:srgbClr val="0000FF"/>
                </a:solidFill>
                <a:latin typeface="Consolas" pitchFamily="49" charset="0"/>
                <a:ea typeface="仿宋" pitchFamily="49" charset="-122"/>
                <a:cs typeface="Consolas" pitchFamily="49" charset="0"/>
              </a:rPr>
              <a:t>，设向量</a:t>
            </a:r>
            <a:r>
              <a:rPr lang="en-US" altLang="zh-CN" i="1">
                <a:solidFill>
                  <a:srgbClr val="C00000"/>
                </a:solidFill>
                <a:latin typeface="Consolas" pitchFamily="49" charset="0"/>
                <a:ea typeface="仿宋" pitchFamily="49" charset="-122"/>
                <a:cs typeface="Consolas" pitchFamily="49" charset="0"/>
              </a:rPr>
              <a:t>v</a:t>
            </a:r>
            <a:r>
              <a:rPr lang="en-US" altLang="zh-CN" baseline="-25000">
                <a:solidFill>
                  <a:srgbClr val="C00000"/>
                </a:solidFill>
                <a:latin typeface="Consolas" pitchFamily="49" charset="0"/>
                <a:ea typeface="仿宋" pitchFamily="49" charset="-122"/>
                <a:cs typeface="Consolas" pitchFamily="49" charset="0"/>
              </a:rPr>
              <a:t>1</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zh-CN" altLang="en-US">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v</a:t>
            </a:r>
            <a:r>
              <a:rPr lang="en-US" altLang="zh-CN" baseline="-25000">
                <a:solidFill>
                  <a:srgbClr val="C00000"/>
                </a:solidFill>
                <a:latin typeface="Consolas" pitchFamily="49" charset="0"/>
                <a:ea typeface="仿宋" pitchFamily="49" charset="-122"/>
                <a:cs typeface="Consolas" pitchFamily="49" charset="0"/>
              </a:rPr>
              <a:t>2</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zh-CN" altLang="en-US">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v</a:t>
            </a:r>
            <a:r>
              <a:rPr lang="en-US" altLang="zh-CN" baseline="-25000">
                <a:solidFill>
                  <a:srgbClr val="C00000"/>
                </a:solidFill>
                <a:latin typeface="Consolas" pitchFamily="49" charset="0"/>
                <a:ea typeface="仿宋" pitchFamily="49" charset="-122"/>
                <a:cs typeface="Consolas" pitchFamily="49" charset="0"/>
              </a:rPr>
              <a:t>3</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0</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zh-CN" altLang="en-US">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v</a:t>
            </a:r>
            <a:r>
              <a:rPr lang="en-US" altLang="zh-CN" baseline="-25000">
                <a:solidFill>
                  <a:srgbClr val="C00000"/>
                </a:solidFill>
                <a:latin typeface="Consolas" pitchFamily="49" charset="0"/>
                <a:ea typeface="仿宋" pitchFamily="49" charset="-122"/>
                <a:cs typeface="Consolas" pitchFamily="49" charset="0"/>
              </a:rPr>
              <a:t>4</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0</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点</a:t>
            </a:r>
            <a:r>
              <a:rPr lang="en-US" altLang="zh-CN">
                <a:solidFill>
                  <a:srgbClr val="0000FF"/>
                </a:solidFill>
                <a:latin typeface="Consolas" pitchFamily="49" charset="0"/>
                <a:ea typeface="仿宋" pitchFamily="49" charset="-122"/>
                <a:cs typeface="Consolas" pitchFamily="49" charset="0"/>
              </a:rPr>
              <a:t>q</a:t>
            </a:r>
            <a:r>
              <a:rPr lang="zh-CN" altLang="en-US" dirty="0">
                <a:solidFill>
                  <a:srgbClr val="0000FF"/>
                </a:solidFill>
                <a:latin typeface="Consolas" pitchFamily="49" charset="0"/>
                <a:ea typeface="仿宋" pitchFamily="49" charset="-122"/>
                <a:cs typeface="Consolas" pitchFamily="49" charset="0"/>
              </a:rPr>
              <a:t>的</a:t>
            </a:r>
            <a:r>
              <a:rPr lang="en-US" altLang="zh-CN" dirty="0">
                <a:solidFill>
                  <a:srgbClr val="0000FF"/>
                </a:solidFill>
                <a:latin typeface="Consolas" pitchFamily="49" charset="0"/>
                <a:ea typeface="仿宋" pitchFamily="49" charset="-122"/>
                <a:cs typeface="Consolas" pitchFamily="49" charset="0"/>
              </a:rPr>
              <a:t>3</a:t>
            </a:r>
            <a:r>
              <a:rPr lang="zh-CN" altLang="en-US" dirty="0">
                <a:solidFill>
                  <a:srgbClr val="0000FF"/>
                </a:solidFill>
                <a:latin typeface="Consolas" pitchFamily="49" charset="0"/>
                <a:ea typeface="仿宋" pitchFamily="49" charset="-122"/>
                <a:cs typeface="Consolas" pitchFamily="49" charset="0"/>
              </a:rPr>
              <a:t>种可能</a:t>
            </a:r>
            <a:r>
              <a:rPr lang="zh-CN" altLang="en-US">
                <a:solidFill>
                  <a:srgbClr val="0000FF"/>
                </a:solidFill>
                <a:latin typeface="Consolas" pitchFamily="49" charset="0"/>
                <a:ea typeface="仿宋" pitchFamily="49" charset="-122"/>
                <a:cs typeface="Consolas" pitchFamily="49" charset="0"/>
              </a:rPr>
              <a:t>情况。</a:t>
            </a:r>
            <a:endParaRPr lang="zh-CN" altLang="en-US" dirty="0">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34</a:t>
            </a:fld>
            <a:r>
              <a:rPr lang="en-US" altLang="zh-CN"/>
              <a:t>/167</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3"/>
          <p:cNvSpPr txBox="1">
            <a:spLocks noChangeArrowheads="1"/>
          </p:cNvSpPr>
          <p:nvPr/>
        </p:nvSpPr>
        <p:spPr bwMode="auto">
          <a:xfrm>
            <a:off x="500034" y="785794"/>
            <a:ext cx="8001056" cy="514738"/>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lIns="180000" tIns="72000" bIns="72000">
            <a:spAutoFit/>
          </a:bodyPr>
          <a:lstStyle/>
          <a:p>
            <a:pPr marL="457200" indent="-457200">
              <a:spcBef>
                <a:spcPct val="50000"/>
              </a:spcBef>
              <a:buFont typeface="+mj-ea"/>
              <a:buAutoNum type="circleNumDbPlain"/>
            </a:pPr>
            <a:r>
              <a:rPr lang="zh-CN" altLang="en-US">
                <a:solidFill>
                  <a:srgbClr val="0000FF"/>
                </a:solidFill>
                <a:latin typeface="Consolas" pitchFamily="49" charset="0"/>
                <a:ea typeface="仿宋" pitchFamily="49" charset="-122"/>
                <a:cs typeface="Consolas" pitchFamily="49" charset="0"/>
              </a:rPr>
              <a:t>若满足下图情况，</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到线段</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的距离为向量</a:t>
            </a:r>
            <a:r>
              <a:rPr lang="en-US" altLang="zh-CN" i="1">
                <a:solidFill>
                  <a:srgbClr val="0000FF"/>
                </a:solidFill>
                <a:latin typeface="Consolas" pitchFamily="49" charset="0"/>
                <a:ea typeface="仿宋" pitchFamily="49" charset="-122"/>
                <a:cs typeface="Consolas" pitchFamily="49" charset="0"/>
              </a:rPr>
              <a:t>v</a:t>
            </a:r>
            <a:r>
              <a:rPr lang="en-US" altLang="zh-CN" baseline="-25000">
                <a:solidFill>
                  <a:srgbClr val="0000FF"/>
                </a:solidFill>
                <a:latin typeface="Consolas" pitchFamily="49" charset="0"/>
                <a:ea typeface="仿宋" pitchFamily="49" charset="-122"/>
                <a:cs typeface="Consolas" pitchFamily="49" charset="0"/>
              </a:rPr>
              <a:t>3</a:t>
            </a:r>
            <a:r>
              <a:rPr lang="zh-CN" altLang="en-US">
                <a:solidFill>
                  <a:srgbClr val="0000FF"/>
                </a:solidFill>
                <a:latin typeface="Consolas" pitchFamily="49" charset="0"/>
                <a:ea typeface="仿宋" pitchFamily="49" charset="-122"/>
                <a:cs typeface="Consolas" pitchFamily="49" charset="0"/>
              </a:rPr>
              <a:t>的长度；　</a:t>
            </a:r>
          </a:p>
        </p:txBody>
      </p:sp>
      <p:sp>
        <p:nvSpPr>
          <p:cNvPr id="21" name="TextBox 20"/>
          <p:cNvSpPr txBox="1"/>
          <p:nvPr/>
        </p:nvSpPr>
        <p:spPr>
          <a:xfrm>
            <a:off x="1357290" y="3357562"/>
            <a:ext cx="357190"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q</a:t>
            </a:r>
            <a:endParaRPr lang="zh-CN" altLang="en-US" sz="2000">
              <a:solidFill>
                <a:srgbClr val="0000FF"/>
              </a:solidFill>
              <a:latin typeface="Consolas" pitchFamily="49" charset="0"/>
              <a:cs typeface="Consolas" pitchFamily="49" charset="0"/>
            </a:endParaRPr>
          </a:p>
        </p:txBody>
      </p:sp>
      <p:grpSp>
        <p:nvGrpSpPr>
          <p:cNvPr id="23" name="组合 22"/>
          <p:cNvGrpSpPr/>
          <p:nvPr/>
        </p:nvGrpSpPr>
        <p:grpSpPr>
          <a:xfrm>
            <a:off x="1571604" y="1785926"/>
            <a:ext cx="4584064" cy="2871922"/>
            <a:chOff x="813470" y="2028758"/>
            <a:chExt cx="4584064" cy="2871922"/>
          </a:xfrm>
        </p:grpSpPr>
        <p:grpSp>
          <p:nvGrpSpPr>
            <p:cNvPr id="20" name="组合 19"/>
            <p:cNvGrpSpPr/>
            <p:nvPr/>
          </p:nvGrpSpPr>
          <p:grpSpPr>
            <a:xfrm>
              <a:off x="813470" y="2028758"/>
              <a:ext cx="4584064" cy="2155282"/>
              <a:chOff x="813470" y="2028758"/>
              <a:chExt cx="4584064" cy="2155282"/>
            </a:xfrm>
          </p:grpSpPr>
          <p:cxnSp>
            <p:nvCxnSpPr>
              <p:cNvPr id="5" name="直接箭头连接符 4"/>
              <p:cNvCxnSpPr/>
              <p:nvPr/>
            </p:nvCxnSpPr>
            <p:spPr>
              <a:xfrm rot="16200000" flipV="1">
                <a:off x="1539882" y="2243072"/>
                <a:ext cx="1071570" cy="107157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直接箭头连接符 6"/>
              <p:cNvCxnSpPr/>
              <p:nvPr/>
            </p:nvCxnSpPr>
            <p:spPr>
              <a:xfrm>
                <a:off x="2611452" y="3314642"/>
                <a:ext cx="2286016"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2397138" y="3314642"/>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9" name="TextBox 8"/>
              <p:cNvSpPr txBox="1"/>
              <p:nvPr/>
            </p:nvSpPr>
            <p:spPr>
              <a:xfrm>
                <a:off x="4897468" y="3100328"/>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10" name="TextBox 9"/>
              <p:cNvSpPr txBox="1"/>
              <p:nvPr/>
            </p:nvSpPr>
            <p:spPr>
              <a:xfrm>
                <a:off x="1111254" y="2028758"/>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sp>
            <p:nvSpPr>
              <p:cNvPr id="11" name="任意多边形 10"/>
              <p:cNvSpPr/>
              <p:nvPr/>
            </p:nvSpPr>
            <p:spPr>
              <a:xfrm>
                <a:off x="2494158" y="3124383"/>
                <a:ext cx="324853" cy="168442"/>
              </a:xfrm>
              <a:custGeom>
                <a:avLst/>
                <a:gdLst>
                  <a:gd name="connsiteX0" fmla="*/ 0 w 324853"/>
                  <a:gd name="connsiteY0" fmla="*/ 24063 h 168442"/>
                  <a:gd name="connsiteX1" fmla="*/ 168442 w 324853"/>
                  <a:gd name="connsiteY1" fmla="*/ 24063 h 168442"/>
                  <a:gd name="connsiteX2" fmla="*/ 324853 w 324853"/>
                  <a:gd name="connsiteY2" fmla="*/ 168442 h 168442"/>
                </a:gdLst>
                <a:ahLst/>
                <a:cxnLst>
                  <a:cxn ang="0">
                    <a:pos x="connsiteX0" y="connsiteY0"/>
                  </a:cxn>
                  <a:cxn ang="0">
                    <a:pos x="connsiteX1" y="connsiteY1"/>
                  </a:cxn>
                  <a:cxn ang="0">
                    <a:pos x="connsiteX2" y="connsiteY2"/>
                  </a:cxn>
                </a:cxnLst>
                <a:rect l="l" t="t" r="r" b="b"/>
                <a:pathLst>
                  <a:path w="324853" h="168442">
                    <a:moveTo>
                      <a:pt x="0" y="24063"/>
                    </a:moveTo>
                    <a:cubicBezTo>
                      <a:pt x="57150" y="12031"/>
                      <a:pt x="114300" y="0"/>
                      <a:pt x="168442" y="24063"/>
                    </a:cubicBezTo>
                    <a:cubicBezTo>
                      <a:pt x="222584" y="48126"/>
                      <a:pt x="273718" y="108284"/>
                      <a:pt x="324853" y="168442"/>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2" name="TextBox 11"/>
              <p:cNvSpPr txBox="1"/>
              <p:nvPr/>
            </p:nvSpPr>
            <p:spPr>
              <a:xfrm>
                <a:off x="2611452" y="2743138"/>
                <a:ext cx="1500198" cy="400110"/>
              </a:xfrm>
              <a:prstGeom prst="rect">
                <a:avLst/>
              </a:prstGeom>
              <a:noFill/>
            </p:spPr>
            <p:txBody>
              <a:bodyPr wrap="square" rtlCol="0">
                <a:spAutoFit/>
              </a:bodyPr>
              <a:lstStyle/>
              <a:p>
                <a:r>
                  <a:rPr lang="en-US" altLang="zh-CN" sz="2000">
                    <a:solidFill>
                      <a:srgbClr val="0000FF"/>
                    </a:solidFill>
                    <a:latin typeface="Consolas" pitchFamily="49" charset="0"/>
                    <a:ea typeface="微软雅黑" pitchFamily="34" charset="-122"/>
                    <a:cs typeface="Consolas" pitchFamily="49" charset="0"/>
                    <a:sym typeface="Symbol"/>
                  </a:rPr>
                  <a:t> </a:t>
                </a:r>
                <a:r>
                  <a:rPr lang="zh-CN" altLang="en-US" sz="2000">
                    <a:solidFill>
                      <a:srgbClr val="0000FF"/>
                    </a:solidFill>
                    <a:latin typeface="Consolas" pitchFamily="49" charset="0"/>
                    <a:ea typeface="微软雅黑" pitchFamily="34" charset="-122"/>
                    <a:cs typeface="Consolas" pitchFamily="49" charset="0"/>
                  </a:rPr>
                  <a:t>为</a:t>
                </a:r>
                <a:r>
                  <a:rPr lang="zh-CN" altLang="zh-CN" sz="2000">
                    <a:solidFill>
                      <a:srgbClr val="0000FF"/>
                    </a:solidFill>
                    <a:latin typeface="Consolas" pitchFamily="49" charset="0"/>
                    <a:ea typeface="微软雅黑" pitchFamily="34" charset="-122"/>
                    <a:cs typeface="Consolas" pitchFamily="49" charset="0"/>
                  </a:rPr>
                  <a:t>钝角</a:t>
                </a:r>
                <a:endParaRPr lang="zh-CN" altLang="en-US" sz="2000">
                  <a:solidFill>
                    <a:srgbClr val="0000FF"/>
                  </a:solidFill>
                  <a:latin typeface="Consolas" pitchFamily="49" charset="0"/>
                  <a:ea typeface="微软雅黑" pitchFamily="34" charset="-122"/>
                  <a:cs typeface="Consolas" pitchFamily="49" charset="0"/>
                </a:endParaRPr>
              </a:p>
            </p:txBody>
          </p:sp>
          <p:cxnSp>
            <p:nvCxnSpPr>
              <p:cNvPr id="14" name="直接连接符 13"/>
              <p:cNvCxnSpPr/>
              <p:nvPr/>
            </p:nvCxnSpPr>
            <p:spPr>
              <a:xfrm flipV="1">
                <a:off x="813470" y="3326674"/>
                <a:ext cx="1785950" cy="14259"/>
              </a:xfrm>
              <a:prstGeom prst="line">
                <a:avLst/>
              </a:prstGeom>
              <a:ln>
                <a:solidFill>
                  <a:srgbClr val="7030A0"/>
                </a:solidFill>
                <a:prstDash val="sysDash"/>
              </a:ln>
            </p:spPr>
            <p:style>
              <a:lnRef idx="2">
                <a:schemeClr val="accent3"/>
              </a:lnRef>
              <a:fillRef idx="0">
                <a:schemeClr val="accent3"/>
              </a:fillRef>
              <a:effectRef idx="1">
                <a:schemeClr val="accent3"/>
              </a:effectRef>
              <a:fontRef idx="minor">
                <a:schemeClr val="tx1"/>
              </a:fontRef>
            </p:style>
          </p:cxnSp>
          <p:cxnSp>
            <p:nvCxnSpPr>
              <p:cNvPr id="16" name="直接连接符 15"/>
              <p:cNvCxnSpPr/>
              <p:nvPr/>
            </p:nvCxnSpPr>
            <p:spPr>
              <a:xfrm>
                <a:off x="1551914" y="2228813"/>
                <a:ext cx="0" cy="1085829"/>
              </a:xfrm>
              <a:prstGeom prst="line">
                <a:avLst/>
              </a:prstGeom>
              <a:ln>
                <a:prstDash val="dash"/>
              </a:ln>
            </p:spPr>
            <p:style>
              <a:lnRef idx="2">
                <a:schemeClr val="accent2"/>
              </a:lnRef>
              <a:fillRef idx="0">
                <a:schemeClr val="accent2"/>
              </a:fillRef>
              <a:effectRef idx="1">
                <a:schemeClr val="accent2"/>
              </a:effectRef>
              <a:fontRef idx="minor">
                <a:schemeClr val="tx1"/>
              </a:fontRef>
            </p:style>
          </p:cxnSp>
          <p:sp>
            <p:nvSpPr>
              <p:cNvPr id="17" name="TextBox 16"/>
              <p:cNvSpPr txBox="1"/>
              <p:nvPr/>
            </p:nvSpPr>
            <p:spPr>
              <a:xfrm>
                <a:off x="1897072" y="3814708"/>
                <a:ext cx="2031986" cy="369332"/>
              </a:xfrm>
              <a:prstGeom prst="rect">
                <a:avLst/>
              </a:prstGeom>
              <a:noFill/>
            </p:spPr>
            <p:txBody>
              <a:bodyPr wrap="square" rtlCol="0">
                <a:spAutoFit/>
              </a:bodyPr>
              <a:lstStyle/>
              <a:p>
                <a:r>
                  <a:rPr lang="en-US" altLang="zh-CN" sz="1800">
                    <a:solidFill>
                      <a:srgbClr val="9900FF"/>
                    </a:solidFill>
                    <a:latin typeface="Consolas" pitchFamily="49" charset="0"/>
                    <a:cs typeface="Consolas" pitchFamily="49" charset="0"/>
                  </a:rPr>
                  <a:t>Dot(</a:t>
                </a:r>
                <a:r>
                  <a:rPr lang="en-US" altLang="zh-CN" sz="1800" i="1">
                    <a:solidFill>
                      <a:srgbClr val="9900FF"/>
                    </a:solidFill>
                    <a:latin typeface="Consolas" pitchFamily="49" charset="0"/>
                    <a:cs typeface="Consolas" pitchFamily="49" charset="0"/>
                  </a:rPr>
                  <a:t>v</a:t>
                </a:r>
                <a:r>
                  <a:rPr lang="en-US" altLang="zh-CN" sz="1800" baseline="-25000">
                    <a:solidFill>
                      <a:srgbClr val="9900FF"/>
                    </a:solidFill>
                    <a:latin typeface="Consolas" pitchFamily="49" charset="0"/>
                    <a:cs typeface="Consolas" pitchFamily="49" charset="0"/>
                  </a:rPr>
                  <a:t>1</a:t>
                </a:r>
                <a:r>
                  <a:rPr lang="en-US" altLang="zh-CN" sz="1800">
                    <a:solidFill>
                      <a:srgbClr val="9900FF"/>
                    </a:solidFill>
                    <a:latin typeface="Consolas" pitchFamily="49" charset="0"/>
                    <a:cs typeface="Consolas" pitchFamily="49" charset="0"/>
                  </a:rPr>
                  <a:t>,</a:t>
                </a:r>
                <a:r>
                  <a:rPr lang="en-US" altLang="zh-CN" sz="1800" i="1">
                    <a:solidFill>
                      <a:srgbClr val="9900FF"/>
                    </a:solidFill>
                    <a:latin typeface="Consolas" pitchFamily="49" charset="0"/>
                    <a:cs typeface="Consolas" pitchFamily="49" charset="0"/>
                  </a:rPr>
                  <a:t>v</a:t>
                </a:r>
                <a:r>
                  <a:rPr lang="en-US" altLang="zh-CN" sz="1800" baseline="-25000">
                    <a:solidFill>
                      <a:srgbClr val="9900FF"/>
                    </a:solidFill>
                    <a:latin typeface="Consolas" pitchFamily="49" charset="0"/>
                    <a:cs typeface="Consolas" pitchFamily="49" charset="0"/>
                  </a:rPr>
                  <a:t>3</a:t>
                </a:r>
                <a:r>
                  <a:rPr lang="en-US" altLang="zh-CN" sz="1800">
                    <a:solidFill>
                      <a:srgbClr val="9900FF"/>
                    </a:solidFill>
                    <a:latin typeface="Consolas" pitchFamily="49" charset="0"/>
                    <a:cs typeface="Consolas" pitchFamily="49" charset="0"/>
                  </a:rPr>
                  <a:t>)&lt;0</a:t>
                </a:r>
                <a:endParaRPr lang="zh-CN" altLang="zh-CN" sz="1800">
                  <a:solidFill>
                    <a:srgbClr val="9900FF"/>
                  </a:solidFill>
                  <a:latin typeface="Consolas" pitchFamily="49" charset="0"/>
                  <a:cs typeface="Consolas" pitchFamily="49" charset="0"/>
                </a:endParaRPr>
              </a:p>
            </p:txBody>
          </p:sp>
          <p:sp>
            <p:nvSpPr>
              <p:cNvPr id="18" name="TextBox 17"/>
              <p:cNvSpPr txBox="1"/>
              <p:nvPr/>
            </p:nvSpPr>
            <p:spPr>
              <a:xfrm>
                <a:off x="3540146" y="3314642"/>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v</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19" name="TextBox 18"/>
              <p:cNvSpPr txBox="1"/>
              <p:nvPr/>
            </p:nvSpPr>
            <p:spPr>
              <a:xfrm>
                <a:off x="1968510" y="2243072"/>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v</a:t>
                </a:r>
                <a:r>
                  <a:rPr lang="en-US" altLang="zh-CN" sz="2000" baseline="-25000">
                    <a:solidFill>
                      <a:srgbClr val="0000FF"/>
                    </a:solidFill>
                    <a:latin typeface="Consolas" pitchFamily="49" charset="0"/>
                    <a:cs typeface="Consolas" pitchFamily="49" charset="0"/>
                  </a:rPr>
                  <a:t>3</a:t>
                </a:r>
                <a:endParaRPr lang="zh-CN" altLang="en-US" sz="2000" baseline="-25000">
                  <a:solidFill>
                    <a:srgbClr val="0000FF"/>
                  </a:solidFill>
                  <a:latin typeface="Consolas" pitchFamily="49" charset="0"/>
                  <a:cs typeface="Consolas" pitchFamily="49" charset="0"/>
                </a:endParaRPr>
              </a:p>
            </p:txBody>
          </p:sp>
        </p:grpSp>
        <p:sp>
          <p:nvSpPr>
            <p:cNvPr id="22" name="TextBox 21"/>
            <p:cNvSpPr txBox="1"/>
            <p:nvPr/>
          </p:nvSpPr>
          <p:spPr>
            <a:xfrm>
              <a:off x="1285852" y="4500570"/>
              <a:ext cx="2214578" cy="400110"/>
            </a:xfrm>
            <a:prstGeom prst="rect">
              <a:avLst/>
            </a:prstGeom>
            <a:noFill/>
          </p:spPr>
          <p:txBody>
            <a:bodyPr wrap="square" rtlCol="0">
              <a:spAutoFit/>
            </a:bodyPr>
            <a:lstStyle/>
            <a:p>
              <a:r>
                <a:rPr lang="en-US" altLang="zh-CN" sz="2000">
                  <a:solidFill>
                    <a:srgbClr val="0000FF"/>
                  </a:solidFill>
                  <a:latin typeface="Consolas" pitchFamily="49" charset="0"/>
                  <a:ea typeface="仿宋" pitchFamily="49" charset="-122"/>
                  <a:cs typeface="Consolas" pitchFamily="49" charset="0"/>
                </a:rPr>
                <a:t>q</a:t>
              </a:r>
              <a:r>
                <a:rPr lang="zh-CN" altLang="zh-CN" sz="2000">
                  <a:solidFill>
                    <a:srgbClr val="0000FF"/>
                  </a:solidFill>
                  <a:latin typeface="Consolas" pitchFamily="49" charset="0"/>
                  <a:ea typeface="仿宋" pitchFamily="49" charset="-122"/>
                  <a:cs typeface="Consolas" pitchFamily="49" charset="0"/>
                </a:rPr>
                <a:t>在</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射线上</a:t>
              </a:r>
              <a:endParaRPr lang="zh-CN" altLang="en-US" sz="2000">
                <a:solidFill>
                  <a:srgbClr val="0000FF"/>
                </a:solidFill>
                <a:latin typeface="Consolas" pitchFamily="49" charset="0"/>
                <a:ea typeface="仿宋" pitchFamily="49" charset="-122"/>
                <a:cs typeface="Consolas" pitchFamily="49" charset="0"/>
              </a:endParaRPr>
            </a:p>
          </p:txBody>
        </p:sp>
      </p:grpSp>
      <p:sp>
        <p:nvSpPr>
          <p:cNvPr id="25" name="灯片编号占位符 24"/>
          <p:cNvSpPr>
            <a:spLocks noGrp="1"/>
          </p:cNvSpPr>
          <p:nvPr>
            <p:ph type="sldNum" sz="quarter" idx="12"/>
          </p:nvPr>
        </p:nvSpPr>
        <p:spPr/>
        <p:txBody>
          <a:bodyPr/>
          <a:lstStyle/>
          <a:p>
            <a:pPr>
              <a:defRPr/>
            </a:pPr>
            <a:fld id="{51116183-1013-4E64-BBE8-A5C1D5D4F838}" type="slidenum">
              <a:rPr lang="en-US" altLang="zh-CN" smtClean="0"/>
              <a:pPr>
                <a:defRPr/>
              </a:pPr>
              <a:t>35</a:t>
            </a:fld>
            <a:r>
              <a:rPr lang="en-US" altLang="zh-CN"/>
              <a:t>/167</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3"/>
          <p:cNvSpPr txBox="1">
            <a:spLocks noChangeArrowheads="1"/>
          </p:cNvSpPr>
          <p:nvPr/>
        </p:nvSpPr>
        <p:spPr bwMode="auto">
          <a:xfrm>
            <a:off x="357158" y="928670"/>
            <a:ext cx="8215370" cy="514738"/>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lIns="180000" tIns="72000" bIns="72000">
            <a:spAutoFit/>
          </a:bodyPr>
          <a:lstStyle/>
          <a:p>
            <a:pPr marL="457200" indent="-457200">
              <a:spcBef>
                <a:spcPct val="50000"/>
              </a:spcBef>
              <a:buFont typeface="+mj-ea"/>
              <a:buAutoNum type="circleNumDbPlain" startAt="2"/>
            </a:pPr>
            <a:r>
              <a:rPr lang="zh-CN" altLang="en-US">
                <a:solidFill>
                  <a:srgbClr val="0000FF"/>
                </a:solidFill>
                <a:latin typeface="Consolas" pitchFamily="49" charset="0"/>
                <a:ea typeface="仿宋" pitchFamily="49" charset="-122"/>
                <a:cs typeface="Consolas" pitchFamily="49" charset="0"/>
              </a:rPr>
              <a:t>若满足下图情况，</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到线段</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的距离为向量</a:t>
            </a:r>
            <a:r>
              <a:rPr lang="en-US" altLang="zh-CN" i="1">
                <a:solidFill>
                  <a:srgbClr val="0000FF"/>
                </a:solidFill>
                <a:latin typeface="Consolas" pitchFamily="49" charset="0"/>
                <a:ea typeface="仿宋" pitchFamily="49" charset="-122"/>
                <a:cs typeface="Consolas" pitchFamily="49" charset="0"/>
              </a:rPr>
              <a:t>v</a:t>
            </a:r>
            <a:r>
              <a:rPr lang="en-US" altLang="zh-CN" baseline="-25000">
                <a:solidFill>
                  <a:srgbClr val="0000FF"/>
                </a:solidFill>
                <a:latin typeface="Consolas" pitchFamily="49" charset="0"/>
                <a:ea typeface="仿宋" pitchFamily="49" charset="-122"/>
                <a:cs typeface="Consolas" pitchFamily="49" charset="0"/>
              </a:rPr>
              <a:t>4</a:t>
            </a:r>
            <a:r>
              <a:rPr lang="zh-CN" altLang="en-US">
                <a:solidFill>
                  <a:srgbClr val="0000FF"/>
                </a:solidFill>
                <a:latin typeface="Consolas" pitchFamily="49" charset="0"/>
                <a:ea typeface="仿宋" pitchFamily="49" charset="-122"/>
                <a:cs typeface="Consolas" pitchFamily="49" charset="0"/>
              </a:rPr>
              <a:t>的长度；</a:t>
            </a:r>
          </a:p>
        </p:txBody>
      </p:sp>
      <p:grpSp>
        <p:nvGrpSpPr>
          <p:cNvPr id="25" name="组合 24"/>
          <p:cNvGrpSpPr/>
          <p:nvPr/>
        </p:nvGrpSpPr>
        <p:grpSpPr>
          <a:xfrm>
            <a:off x="2143108" y="1957320"/>
            <a:ext cx="4143404" cy="2829002"/>
            <a:chOff x="2143108" y="3214686"/>
            <a:chExt cx="4143404" cy="2829002"/>
          </a:xfrm>
        </p:grpSpPr>
        <p:cxnSp>
          <p:nvCxnSpPr>
            <p:cNvPr id="5" name="直接箭头连接符 4"/>
            <p:cNvCxnSpPr/>
            <p:nvPr/>
          </p:nvCxnSpPr>
          <p:spPr>
            <a:xfrm rot="5400000" flipH="1" flipV="1">
              <a:off x="4458450" y="3447048"/>
              <a:ext cx="1179104" cy="116707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直接箭头连接符 6"/>
            <p:cNvCxnSpPr/>
            <p:nvPr/>
          </p:nvCxnSpPr>
          <p:spPr>
            <a:xfrm>
              <a:off x="2214546" y="4643446"/>
              <a:ext cx="2286016" cy="1588"/>
            </a:xfrm>
            <a:prstGeom prst="straightConnector1">
              <a:avLst/>
            </a:prstGeom>
            <a:ln>
              <a:headEnd type="arrow"/>
              <a:tailEnd type="none"/>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2143108" y="4714884"/>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9" name="TextBox 8"/>
            <p:cNvSpPr txBox="1"/>
            <p:nvPr/>
          </p:nvSpPr>
          <p:spPr>
            <a:xfrm>
              <a:off x="4286248" y="4714884"/>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10" name="TextBox 9"/>
            <p:cNvSpPr txBox="1"/>
            <p:nvPr/>
          </p:nvSpPr>
          <p:spPr>
            <a:xfrm>
              <a:off x="5715008" y="3214686"/>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sp>
          <p:nvSpPr>
            <p:cNvPr id="12" name="TextBox 11"/>
            <p:cNvSpPr txBox="1"/>
            <p:nvPr/>
          </p:nvSpPr>
          <p:spPr>
            <a:xfrm>
              <a:off x="3428992" y="3929066"/>
              <a:ext cx="1500198" cy="400110"/>
            </a:xfrm>
            <a:prstGeom prst="rect">
              <a:avLst/>
            </a:prstGeom>
            <a:noFill/>
          </p:spPr>
          <p:txBody>
            <a:bodyPr wrap="square" rtlCol="0">
              <a:spAutoFit/>
            </a:bodyPr>
            <a:lstStyle/>
            <a:p>
              <a:r>
                <a:rPr lang="en-US" altLang="zh-CN" sz="2000">
                  <a:solidFill>
                    <a:srgbClr val="0000FF"/>
                  </a:solidFill>
                  <a:latin typeface="Consolas" pitchFamily="49" charset="0"/>
                  <a:ea typeface="微软雅黑" pitchFamily="34" charset="-122"/>
                  <a:cs typeface="Consolas" pitchFamily="49" charset="0"/>
                  <a:sym typeface="Symbol"/>
                </a:rPr>
                <a:t> </a:t>
              </a:r>
              <a:r>
                <a:rPr lang="zh-CN" altLang="en-US" sz="2000">
                  <a:solidFill>
                    <a:srgbClr val="0000FF"/>
                  </a:solidFill>
                  <a:latin typeface="Consolas" pitchFamily="49" charset="0"/>
                  <a:ea typeface="微软雅黑" pitchFamily="34" charset="-122"/>
                  <a:cs typeface="Consolas" pitchFamily="49" charset="0"/>
                </a:rPr>
                <a:t>为</a:t>
              </a:r>
              <a:r>
                <a:rPr lang="zh-CN" altLang="zh-CN" sz="2000">
                  <a:solidFill>
                    <a:srgbClr val="0000FF"/>
                  </a:solidFill>
                  <a:latin typeface="Consolas" pitchFamily="49" charset="0"/>
                  <a:ea typeface="微软雅黑" pitchFamily="34" charset="-122"/>
                  <a:cs typeface="Consolas" pitchFamily="49" charset="0"/>
                </a:rPr>
                <a:t>钝角</a:t>
              </a:r>
              <a:endParaRPr lang="zh-CN" altLang="en-US" sz="2000">
                <a:solidFill>
                  <a:srgbClr val="0000FF"/>
                </a:solidFill>
                <a:latin typeface="Consolas" pitchFamily="49" charset="0"/>
                <a:ea typeface="微软雅黑" pitchFamily="34" charset="-122"/>
                <a:cs typeface="Consolas" pitchFamily="49" charset="0"/>
              </a:endParaRPr>
            </a:p>
          </p:txBody>
        </p:sp>
        <p:cxnSp>
          <p:nvCxnSpPr>
            <p:cNvPr id="14" name="直接连接符 13"/>
            <p:cNvCxnSpPr/>
            <p:nvPr/>
          </p:nvCxnSpPr>
          <p:spPr>
            <a:xfrm flipV="1">
              <a:off x="4500562" y="4629187"/>
              <a:ext cx="1785950" cy="14259"/>
            </a:xfrm>
            <a:prstGeom prst="line">
              <a:avLst/>
            </a:prstGeom>
            <a:ln>
              <a:solidFill>
                <a:srgbClr val="7030A0"/>
              </a:solidFill>
              <a:prstDash val="sysDash"/>
            </a:ln>
          </p:spPr>
          <p:style>
            <a:lnRef idx="2">
              <a:schemeClr val="accent3"/>
            </a:lnRef>
            <a:fillRef idx="0">
              <a:schemeClr val="accent3"/>
            </a:fillRef>
            <a:effectRef idx="1">
              <a:schemeClr val="accent3"/>
            </a:effectRef>
            <a:fontRef idx="minor">
              <a:schemeClr val="tx1"/>
            </a:fontRef>
          </p:style>
        </p:cxnSp>
        <p:cxnSp>
          <p:nvCxnSpPr>
            <p:cNvPr id="16" name="直接连接符 15"/>
            <p:cNvCxnSpPr/>
            <p:nvPr/>
          </p:nvCxnSpPr>
          <p:spPr>
            <a:xfrm>
              <a:off x="5643570" y="3545585"/>
              <a:ext cx="0" cy="1085829"/>
            </a:xfrm>
            <a:prstGeom prst="line">
              <a:avLst/>
            </a:prstGeom>
            <a:ln>
              <a:prstDash val="dash"/>
            </a:ln>
          </p:spPr>
          <p:style>
            <a:lnRef idx="2">
              <a:schemeClr val="accent2"/>
            </a:lnRef>
            <a:fillRef idx="0">
              <a:schemeClr val="accent2"/>
            </a:fillRef>
            <a:effectRef idx="1">
              <a:schemeClr val="accent2"/>
            </a:effectRef>
            <a:fontRef idx="minor">
              <a:schemeClr val="tx1"/>
            </a:fontRef>
          </p:style>
        </p:cxnSp>
        <p:sp>
          <p:nvSpPr>
            <p:cNvPr id="17" name="TextBox 16"/>
            <p:cNvSpPr txBox="1"/>
            <p:nvPr/>
          </p:nvSpPr>
          <p:spPr>
            <a:xfrm>
              <a:off x="3786182" y="5072074"/>
              <a:ext cx="1643074" cy="369332"/>
            </a:xfrm>
            <a:prstGeom prst="rect">
              <a:avLst/>
            </a:prstGeom>
            <a:noFill/>
          </p:spPr>
          <p:txBody>
            <a:bodyPr wrap="square" rtlCol="0">
              <a:spAutoFit/>
            </a:bodyPr>
            <a:lstStyle/>
            <a:p>
              <a:r>
                <a:rPr lang="en-US" altLang="zh-CN" sz="1800">
                  <a:solidFill>
                    <a:srgbClr val="9900FF"/>
                  </a:solidFill>
                  <a:latin typeface="Consolas" pitchFamily="49" charset="0"/>
                  <a:cs typeface="Consolas" pitchFamily="49" charset="0"/>
                </a:rPr>
                <a:t>Dot(</a:t>
              </a:r>
              <a:r>
                <a:rPr lang="en-US" altLang="zh-CN" sz="1800" i="1">
                  <a:solidFill>
                    <a:srgbClr val="9900FF"/>
                  </a:solidFill>
                  <a:latin typeface="Consolas" pitchFamily="49" charset="0"/>
                  <a:cs typeface="Consolas" pitchFamily="49" charset="0"/>
                </a:rPr>
                <a:t>v</a:t>
              </a:r>
              <a:r>
                <a:rPr lang="en-US" altLang="zh-CN" sz="1800" baseline="-25000">
                  <a:solidFill>
                    <a:srgbClr val="9900FF"/>
                  </a:solidFill>
                  <a:latin typeface="Consolas" pitchFamily="49" charset="0"/>
                  <a:cs typeface="Consolas" pitchFamily="49" charset="0"/>
                </a:rPr>
                <a:t>2</a:t>
              </a:r>
              <a:r>
                <a:rPr lang="en-US" altLang="zh-CN" sz="1800">
                  <a:solidFill>
                    <a:srgbClr val="9900FF"/>
                  </a:solidFill>
                  <a:latin typeface="Consolas" pitchFamily="49" charset="0"/>
                  <a:cs typeface="Consolas" pitchFamily="49" charset="0"/>
                </a:rPr>
                <a:t>,</a:t>
              </a:r>
              <a:r>
                <a:rPr lang="en-US" altLang="zh-CN" sz="1800" i="1">
                  <a:solidFill>
                    <a:srgbClr val="9900FF"/>
                  </a:solidFill>
                  <a:latin typeface="Consolas" pitchFamily="49" charset="0"/>
                  <a:cs typeface="Consolas" pitchFamily="49" charset="0"/>
                </a:rPr>
                <a:t>v</a:t>
              </a:r>
              <a:r>
                <a:rPr lang="en-US" altLang="zh-CN" sz="1800" baseline="-25000">
                  <a:solidFill>
                    <a:srgbClr val="9900FF"/>
                  </a:solidFill>
                  <a:latin typeface="Consolas" pitchFamily="49" charset="0"/>
                  <a:cs typeface="Consolas" pitchFamily="49" charset="0"/>
                </a:rPr>
                <a:t>4</a:t>
              </a:r>
              <a:r>
                <a:rPr lang="en-US" altLang="zh-CN" sz="1800">
                  <a:solidFill>
                    <a:srgbClr val="9900FF"/>
                  </a:solidFill>
                  <a:latin typeface="Consolas" pitchFamily="49" charset="0"/>
                  <a:cs typeface="Consolas" pitchFamily="49" charset="0"/>
                </a:rPr>
                <a:t>)&lt;0</a:t>
              </a:r>
              <a:endParaRPr lang="zh-CN" altLang="zh-CN" sz="1800">
                <a:solidFill>
                  <a:srgbClr val="9900FF"/>
                </a:solidFill>
                <a:latin typeface="Consolas" pitchFamily="49" charset="0"/>
                <a:cs typeface="Consolas" pitchFamily="49" charset="0"/>
              </a:endParaRPr>
            </a:p>
          </p:txBody>
        </p:sp>
        <p:sp>
          <p:nvSpPr>
            <p:cNvPr id="18" name="TextBox 17"/>
            <p:cNvSpPr txBox="1"/>
            <p:nvPr/>
          </p:nvSpPr>
          <p:spPr>
            <a:xfrm>
              <a:off x="4786314" y="3643314"/>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v</a:t>
              </a:r>
              <a:r>
                <a:rPr lang="en-US" altLang="zh-CN" sz="2000" baseline="-25000">
                  <a:solidFill>
                    <a:srgbClr val="0000FF"/>
                  </a:solidFill>
                  <a:latin typeface="Consolas" pitchFamily="49" charset="0"/>
                  <a:cs typeface="Consolas" pitchFamily="49" charset="0"/>
                </a:rPr>
                <a:t>4</a:t>
              </a:r>
              <a:endParaRPr lang="zh-CN" altLang="en-US" sz="2000" baseline="-25000">
                <a:solidFill>
                  <a:srgbClr val="0000FF"/>
                </a:solidFill>
                <a:latin typeface="Consolas" pitchFamily="49" charset="0"/>
                <a:cs typeface="Consolas" pitchFamily="49" charset="0"/>
              </a:endParaRPr>
            </a:p>
          </p:txBody>
        </p:sp>
        <p:sp>
          <p:nvSpPr>
            <p:cNvPr id="19" name="TextBox 18"/>
            <p:cNvSpPr txBox="1"/>
            <p:nvPr/>
          </p:nvSpPr>
          <p:spPr>
            <a:xfrm>
              <a:off x="3143240" y="4643446"/>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v</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22" name="任意多边形 21"/>
            <p:cNvSpPr/>
            <p:nvPr/>
          </p:nvSpPr>
          <p:spPr>
            <a:xfrm>
              <a:off x="4200790" y="4345655"/>
              <a:ext cx="531395" cy="300789"/>
            </a:xfrm>
            <a:custGeom>
              <a:avLst/>
              <a:gdLst>
                <a:gd name="connsiteX0" fmla="*/ 531395 w 531395"/>
                <a:gd name="connsiteY0" fmla="*/ 0 h 300789"/>
                <a:gd name="connsiteX1" fmla="*/ 230605 w 531395"/>
                <a:gd name="connsiteY1" fmla="*/ 72189 h 300789"/>
                <a:gd name="connsiteX2" fmla="*/ 38100 w 531395"/>
                <a:gd name="connsiteY2" fmla="*/ 192505 h 300789"/>
                <a:gd name="connsiteX3" fmla="*/ 2005 w 531395"/>
                <a:gd name="connsiteY3" fmla="*/ 300789 h 300789"/>
              </a:gdLst>
              <a:ahLst/>
              <a:cxnLst>
                <a:cxn ang="0">
                  <a:pos x="connsiteX0" y="connsiteY0"/>
                </a:cxn>
                <a:cxn ang="0">
                  <a:pos x="connsiteX1" y="connsiteY1"/>
                </a:cxn>
                <a:cxn ang="0">
                  <a:pos x="connsiteX2" y="connsiteY2"/>
                </a:cxn>
                <a:cxn ang="0">
                  <a:pos x="connsiteX3" y="connsiteY3"/>
                </a:cxn>
              </a:cxnLst>
              <a:rect l="l" t="t" r="r" b="b"/>
              <a:pathLst>
                <a:path w="531395" h="300789">
                  <a:moveTo>
                    <a:pt x="531395" y="0"/>
                  </a:moveTo>
                  <a:cubicBezTo>
                    <a:pt x="422108" y="20052"/>
                    <a:pt x="312821" y="40105"/>
                    <a:pt x="230605" y="72189"/>
                  </a:cubicBezTo>
                  <a:cubicBezTo>
                    <a:pt x="148389" y="104273"/>
                    <a:pt x="76200" y="154405"/>
                    <a:pt x="38100" y="192505"/>
                  </a:cubicBezTo>
                  <a:cubicBezTo>
                    <a:pt x="0" y="230605"/>
                    <a:pt x="1002" y="265697"/>
                    <a:pt x="2005" y="300789"/>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3" name="TextBox 22"/>
            <p:cNvSpPr txBox="1"/>
            <p:nvPr/>
          </p:nvSpPr>
          <p:spPr>
            <a:xfrm>
              <a:off x="5500694" y="4643446"/>
              <a:ext cx="357190"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q</a:t>
              </a:r>
              <a:endParaRPr lang="zh-CN" altLang="en-US" sz="2000">
                <a:solidFill>
                  <a:srgbClr val="0000FF"/>
                </a:solidFill>
                <a:latin typeface="Consolas" pitchFamily="49" charset="0"/>
                <a:cs typeface="Consolas" pitchFamily="49" charset="0"/>
              </a:endParaRPr>
            </a:p>
          </p:txBody>
        </p:sp>
        <p:sp>
          <p:nvSpPr>
            <p:cNvPr id="24" name="TextBox 23"/>
            <p:cNvSpPr txBox="1"/>
            <p:nvPr/>
          </p:nvSpPr>
          <p:spPr>
            <a:xfrm>
              <a:off x="3000364" y="5643578"/>
              <a:ext cx="2071702" cy="400110"/>
            </a:xfrm>
            <a:prstGeom prst="rect">
              <a:avLst/>
            </a:prstGeom>
            <a:noFill/>
          </p:spPr>
          <p:txBody>
            <a:bodyPr wrap="square" rtlCol="0">
              <a:spAutoFit/>
            </a:bodyPr>
            <a:lstStyle/>
            <a:p>
              <a:r>
                <a:rPr lang="en-US" altLang="zh-CN" sz="2000">
                  <a:solidFill>
                    <a:srgbClr val="0000FF"/>
                  </a:solidFill>
                  <a:latin typeface="Consolas" pitchFamily="49" charset="0"/>
                  <a:ea typeface="仿宋" pitchFamily="49" charset="-122"/>
                  <a:cs typeface="Consolas" pitchFamily="49" charset="0"/>
                </a:rPr>
                <a:t>q</a:t>
              </a:r>
              <a:r>
                <a:rPr lang="zh-CN" altLang="zh-CN" sz="2000">
                  <a:solidFill>
                    <a:srgbClr val="0000FF"/>
                  </a:solidFill>
                  <a:latin typeface="Consolas" pitchFamily="49" charset="0"/>
                  <a:ea typeface="仿宋" pitchFamily="49" charset="-122"/>
                  <a:cs typeface="Consolas" pitchFamily="49" charset="0"/>
                </a:rPr>
                <a:t>在</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2</a:t>
              </a:r>
              <a:r>
                <a:rPr lang="zh-CN" altLang="zh-CN" sz="2000">
                  <a:solidFill>
                    <a:srgbClr val="0000FF"/>
                  </a:solidFill>
                  <a:latin typeface="Consolas" pitchFamily="49" charset="0"/>
                  <a:ea typeface="仿宋" pitchFamily="49" charset="-122"/>
                  <a:cs typeface="Consolas" pitchFamily="49" charset="0"/>
                </a:rPr>
                <a:t>射线上</a:t>
              </a:r>
            </a:p>
          </p:txBody>
        </p:sp>
      </p:grpSp>
      <p:sp>
        <p:nvSpPr>
          <p:cNvPr id="21" name="灯片编号占位符 20"/>
          <p:cNvSpPr>
            <a:spLocks noGrp="1"/>
          </p:cNvSpPr>
          <p:nvPr>
            <p:ph type="sldNum" sz="quarter" idx="12"/>
          </p:nvPr>
        </p:nvSpPr>
        <p:spPr/>
        <p:txBody>
          <a:bodyPr/>
          <a:lstStyle/>
          <a:p>
            <a:pPr>
              <a:defRPr/>
            </a:pPr>
            <a:fld id="{51116183-1013-4E64-BBE8-A5C1D5D4F838}" type="slidenum">
              <a:rPr lang="en-US" altLang="zh-CN" smtClean="0"/>
              <a:pPr>
                <a:defRPr/>
              </a:pPr>
              <a:t>36</a:t>
            </a:fld>
            <a:r>
              <a:rPr lang="en-US" altLang="zh-CN"/>
              <a:t>/167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3"/>
          <p:cNvSpPr txBox="1">
            <a:spLocks noChangeArrowheads="1"/>
          </p:cNvSpPr>
          <p:nvPr/>
        </p:nvSpPr>
        <p:spPr bwMode="auto">
          <a:xfrm>
            <a:off x="500034" y="1357298"/>
            <a:ext cx="7993062" cy="937290"/>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tIns="72000" bIns="72000">
            <a:spAutoFit/>
          </a:bodyPr>
          <a:lstStyle/>
          <a:p>
            <a:pPr marL="457200" indent="-457200">
              <a:lnSpc>
                <a:spcPts val="3200"/>
              </a:lnSpc>
              <a:spcBef>
                <a:spcPts val="0"/>
              </a:spcBef>
              <a:buFont typeface="+mj-ea"/>
              <a:buAutoNum type="circleNumDbPlain" startAt="3"/>
            </a:pPr>
            <a:r>
              <a:rPr lang="zh-CN" altLang="en-US">
                <a:solidFill>
                  <a:srgbClr val="0000FF"/>
                </a:solidFill>
                <a:latin typeface="Consolas" pitchFamily="49" charset="0"/>
                <a:ea typeface="仿宋" pitchFamily="49" charset="-122"/>
                <a:cs typeface="Consolas" pitchFamily="49" charset="0"/>
              </a:rPr>
              <a:t>若满足下图情况，</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到线段</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的距离为向量</a:t>
            </a:r>
            <a:r>
              <a:rPr lang="en-US" altLang="zh-CN" i="1">
                <a:solidFill>
                  <a:srgbClr val="0000FF"/>
                </a:solidFill>
                <a:latin typeface="Consolas" pitchFamily="49" charset="0"/>
                <a:ea typeface="仿宋" pitchFamily="49" charset="-122"/>
                <a:cs typeface="Consolas" pitchFamily="49" charset="0"/>
              </a:rPr>
              <a:t>v</a:t>
            </a:r>
            <a:r>
              <a:rPr lang="en-US" altLang="zh-CN" baseline="-25000">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和</a:t>
            </a:r>
            <a:r>
              <a:rPr lang="en-US" altLang="zh-CN" i="1">
                <a:solidFill>
                  <a:srgbClr val="0000FF"/>
                </a:solidFill>
                <a:latin typeface="Consolas" pitchFamily="49" charset="0"/>
                <a:ea typeface="仿宋" pitchFamily="49" charset="-122"/>
                <a:cs typeface="Consolas" pitchFamily="49" charset="0"/>
              </a:rPr>
              <a:t>v</a:t>
            </a:r>
            <a:r>
              <a:rPr lang="en-US" altLang="zh-CN" baseline="-25000">
                <a:solidFill>
                  <a:srgbClr val="0000FF"/>
                </a:solidFill>
                <a:latin typeface="Consolas" pitchFamily="49" charset="0"/>
                <a:ea typeface="仿宋" pitchFamily="49" charset="-122"/>
                <a:cs typeface="Consolas" pitchFamily="49" charset="0"/>
              </a:rPr>
              <a:t>3</a:t>
            </a:r>
            <a:r>
              <a:rPr lang="zh-CN" altLang="en-US">
                <a:solidFill>
                  <a:srgbClr val="0000FF"/>
                </a:solidFill>
                <a:latin typeface="Consolas" pitchFamily="49" charset="0"/>
                <a:ea typeface="仿宋" pitchFamily="49" charset="-122"/>
                <a:cs typeface="Consolas" pitchFamily="49" charset="0"/>
              </a:rPr>
              <a:t>叉积的绝对值（平行四边形面积）除以底长。</a:t>
            </a:r>
          </a:p>
        </p:txBody>
      </p:sp>
      <p:grpSp>
        <p:nvGrpSpPr>
          <p:cNvPr id="19" name="组合 18"/>
          <p:cNvGrpSpPr/>
          <p:nvPr/>
        </p:nvGrpSpPr>
        <p:grpSpPr>
          <a:xfrm>
            <a:off x="2428860" y="2786058"/>
            <a:ext cx="3143272" cy="2471812"/>
            <a:chOff x="2428860" y="2786058"/>
            <a:chExt cx="3143272" cy="2471812"/>
          </a:xfrm>
        </p:grpSpPr>
        <p:cxnSp>
          <p:nvCxnSpPr>
            <p:cNvPr id="5" name="直接箭头连接符 4"/>
            <p:cNvCxnSpPr/>
            <p:nvPr/>
          </p:nvCxnSpPr>
          <p:spPr>
            <a:xfrm rot="5400000" flipH="1" flipV="1">
              <a:off x="2743938" y="3018420"/>
              <a:ext cx="1179104" cy="116707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6" name="直接箭头连接符 5"/>
            <p:cNvCxnSpPr/>
            <p:nvPr/>
          </p:nvCxnSpPr>
          <p:spPr>
            <a:xfrm>
              <a:off x="2761986" y="4174268"/>
              <a:ext cx="2286016" cy="1588"/>
            </a:xfrm>
            <a:prstGeom prst="straightConnector1">
              <a:avLst/>
            </a:prstGeom>
            <a:ln>
              <a:headEnd type="none"/>
              <a:tailEnd type="arrow"/>
            </a:ln>
          </p:spPr>
          <p:style>
            <a:lnRef idx="2">
              <a:schemeClr val="dk1"/>
            </a:lnRef>
            <a:fillRef idx="0">
              <a:schemeClr val="dk1"/>
            </a:fillRef>
            <a:effectRef idx="1">
              <a:schemeClr val="dk1"/>
            </a:effectRef>
            <a:fontRef idx="minor">
              <a:schemeClr val="tx1"/>
            </a:fontRef>
          </p:style>
        </p:cxnSp>
        <p:sp>
          <p:nvSpPr>
            <p:cNvPr id="7" name="TextBox 6"/>
            <p:cNvSpPr txBox="1"/>
            <p:nvPr/>
          </p:nvSpPr>
          <p:spPr>
            <a:xfrm>
              <a:off x="2428860" y="4043424"/>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8" name="TextBox 7"/>
            <p:cNvSpPr txBox="1"/>
            <p:nvPr/>
          </p:nvSpPr>
          <p:spPr>
            <a:xfrm>
              <a:off x="5072066" y="4043424"/>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9" name="TextBox 8"/>
            <p:cNvSpPr txBox="1"/>
            <p:nvPr/>
          </p:nvSpPr>
          <p:spPr>
            <a:xfrm>
              <a:off x="4000496" y="2786058"/>
              <a:ext cx="500066"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cxnSp>
          <p:nvCxnSpPr>
            <p:cNvPr id="12" name="直接连接符 11"/>
            <p:cNvCxnSpPr/>
            <p:nvPr/>
          </p:nvCxnSpPr>
          <p:spPr>
            <a:xfrm>
              <a:off x="3929058" y="3116957"/>
              <a:ext cx="0" cy="1085829"/>
            </a:xfrm>
            <a:prstGeom prst="line">
              <a:avLst/>
            </a:prstGeom>
            <a:ln>
              <a:prstDash val="dash"/>
            </a:ln>
          </p:spPr>
          <p:style>
            <a:lnRef idx="2">
              <a:schemeClr val="accent2"/>
            </a:lnRef>
            <a:fillRef idx="0">
              <a:schemeClr val="accent2"/>
            </a:fillRef>
            <a:effectRef idx="1">
              <a:schemeClr val="accent2"/>
            </a:effectRef>
            <a:fontRef idx="minor">
              <a:schemeClr val="tx1"/>
            </a:fontRef>
          </p:style>
        </p:cxnSp>
        <p:sp>
          <p:nvSpPr>
            <p:cNvPr id="14" name="TextBox 13"/>
            <p:cNvSpPr txBox="1"/>
            <p:nvPr/>
          </p:nvSpPr>
          <p:spPr>
            <a:xfrm>
              <a:off x="3000364" y="3143248"/>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v</a:t>
              </a:r>
              <a:r>
                <a:rPr lang="en-US" altLang="zh-CN" sz="2000" baseline="-25000">
                  <a:solidFill>
                    <a:srgbClr val="0000FF"/>
                  </a:solidFill>
                  <a:latin typeface="Consolas" pitchFamily="49" charset="0"/>
                  <a:cs typeface="Consolas" pitchFamily="49" charset="0"/>
                </a:rPr>
                <a:t>3</a:t>
              </a:r>
              <a:endParaRPr lang="zh-CN" altLang="en-US" sz="2000" baseline="-25000">
                <a:solidFill>
                  <a:srgbClr val="0000FF"/>
                </a:solidFill>
                <a:latin typeface="Consolas" pitchFamily="49" charset="0"/>
                <a:cs typeface="Consolas" pitchFamily="49" charset="0"/>
              </a:endParaRPr>
            </a:p>
          </p:txBody>
        </p:sp>
        <p:sp>
          <p:nvSpPr>
            <p:cNvPr id="15" name="TextBox 14"/>
            <p:cNvSpPr txBox="1"/>
            <p:nvPr/>
          </p:nvSpPr>
          <p:spPr>
            <a:xfrm>
              <a:off x="3214678" y="4186300"/>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v</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17" name="TextBox 16"/>
            <p:cNvSpPr txBox="1"/>
            <p:nvPr/>
          </p:nvSpPr>
          <p:spPr>
            <a:xfrm>
              <a:off x="3786182" y="4214818"/>
              <a:ext cx="357190"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q</a:t>
              </a:r>
              <a:endParaRPr lang="zh-CN" altLang="en-US" sz="2000">
                <a:solidFill>
                  <a:srgbClr val="0000FF"/>
                </a:solidFill>
                <a:latin typeface="Consolas" pitchFamily="49" charset="0"/>
                <a:cs typeface="Consolas" pitchFamily="49" charset="0"/>
              </a:endParaRPr>
            </a:p>
          </p:txBody>
        </p:sp>
        <p:sp>
          <p:nvSpPr>
            <p:cNvPr id="18" name="TextBox 17"/>
            <p:cNvSpPr txBox="1"/>
            <p:nvPr/>
          </p:nvSpPr>
          <p:spPr>
            <a:xfrm>
              <a:off x="2857488" y="4857760"/>
              <a:ext cx="1500198" cy="400110"/>
            </a:xfrm>
            <a:prstGeom prst="rect">
              <a:avLst/>
            </a:prstGeom>
            <a:noFill/>
          </p:spPr>
          <p:txBody>
            <a:bodyPr wrap="square" rtlCol="0">
              <a:spAutoFit/>
            </a:bodyPr>
            <a:lstStyle/>
            <a:p>
              <a:r>
                <a:rPr lang="en-US" altLang="zh-CN" sz="2000">
                  <a:solidFill>
                    <a:srgbClr val="0000FF"/>
                  </a:solidFill>
                  <a:latin typeface="Consolas" pitchFamily="49" charset="0"/>
                  <a:ea typeface="仿宋" pitchFamily="49" charset="-122"/>
                  <a:cs typeface="Consolas" pitchFamily="49" charset="0"/>
                </a:rPr>
                <a:t>q</a:t>
              </a:r>
              <a:r>
                <a:rPr lang="zh-CN" altLang="zh-CN" sz="2000">
                  <a:solidFill>
                    <a:srgbClr val="0000FF"/>
                  </a:solidFill>
                  <a:latin typeface="Consolas" pitchFamily="49" charset="0"/>
                  <a:ea typeface="仿宋" pitchFamily="49" charset="-122"/>
                  <a:cs typeface="Consolas" pitchFamily="49" charset="0"/>
                </a:rPr>
                <a:t>在</a:t>
              </a:r>
              <a:r>
                <a:rPr lang="zh-CN" altLang="en-US" sz="2000">
                  <a:solidFill>
                    <a:srgbClr val="0000FF"/>
                  </a:solidFill>
                  <a:latin typeface="Consolas" pitchFamily="49" charset="0"/>
                  <a:ea typeface="仿宋" pitchFamily="49" charset="-122"/>
                  <a:cs typeface="Consolas" pitchFamily="49" charset="0"/>
                </a:rPr>
                <a:t>线段</a:t>
              </a:r>
              <a:r>
                <a:rPr lang="zh-CN" altLang="zh-CN" sz="2000">
                  <a:solidFill>
                    <a:srgbClr val="0000FF"/>
                  </a:solidFill>
                  <a:latin typeface="Consolas" pitchFamily="49" charset="0"/>
                  <a:ea typeface="仿宋" pitchFamily="49" charset="-122"/>
                  <a:cs typeface="Consolas" pitchFamily="49" charset="0"/>
                </a:rPr>
                <a:t>上</a:t>
              </a:r>
            </a:p>
          </p:txBody>
        </p:sp>
      </p:grpSp>
      <p:sp>
        <p:nvSpPr>
          <p:cNvPr id="20" name="灯片编号占位符 19"/>
          <p:cNvSpPr>
            <a:spLocks noGrp="1"/>
          </p:cNvSpPr>
          <p:nvPr>
            <p:ph type="sldNum" sz="quarter" idx="12"/>
          </p:nvPr>
        </p:nvSpPr>
        <p:spPr/>
        <p:txBody>
          <a:bodyPr/>
          <a:lstStyle/>
          <a:p>
            <a:pPr>
              <a:defRPr/>
            </a:pPr>
            <a:fld id="{51116183-1013-4E64-BBE8-A5C1D5D4F838}" type="slidenum">
              <a:rPr lang="en-US" altLang="zh-CN" smtClean="0"/>
              <a:pPr>
                <a:defRPr/>
              </a:pPr>
              <a:t>37</a:t>
            </a:fld>
            <a:r>
              <a:rPr lang="en-US" altLang="zh-CN"/>
              <a:t>/167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357158" y="357166"/>
            <a:ext cx="8424863" cy="4648599"/>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lIns="216000" tIns="180000" bIns="180000">
            <a:spAutoFit/>
          </a:bodyPr>
          <a:lstStyle/>
          <a:p>
            <a:pPr defTabSz="360000">
              <a:lnSpc>
                <a:spcPts val="2800"/>
              </a:lnSpc>
            </a:pPr>
            <a:r>
              <a:rPr lang="en-US" altLang="zh-CN" sz="2000">
                <a:solidFill>
                  <a:srgbClr val="0000FF"/>
                </a:solidFill>
                <a:latin typeface="Consolas" pitchFamily="49" charset="0"/>
                <a:ea typeface="仿宋" pitchFamily="49" charset="-122"/>
                <a:cs typeface="Consolas" pitchFamily="49" charset="0"/>
              </a:rPr>
              <a:t>double </a:t>
            </a:r>
            <a:r>
              <a:rPr lang="en-US" altLang="zh-CN" sz="2000">
                <a:solidFill>
                  <a:srgbClr val="FF0000"/>
                </a:solidFill>
                <a:latin typeface="Consolas" pitchFamily="49" charset="0"/>
                <a:ea typeface="仿宋" pitchFamily="49" charset="-122"/>
                <a:cs typeface="Consolas" pitchFamily="49" charset="0"/>
              </a:rPr>
              <a:t>DistPtoSegment</a:t>
            </a:r>
            <a:r>
              <a:rPr lang="en-US" altLang="zh-CN" sz="2000">
                <a:solidFill>
                  <a:srgbClr val="0000FF"/>
                </a:solidFill>
                <a:latin typeface="Consolas" pitchFamily="49" charset="0"/>
                <a:ea typeface="仿宋" pitchFamily="49" charset="-122"/>
                <a:cs typeface="Consolas" pitchFamily="49" charset="0"/>
              </a:rPr>
              <a:t>(Point p0,Point p1,Point p2)</a:t>
            </a:r>
          </a:p>
          <a:p>
            <a:pPr defTabSz="360000">
              <a:lnSpc>
                <a:spcPts val="2800"/>
              </a:lnSpc>
            </a:pPr>
            <a:r>
              <a:rPr lang="en-US" altLang="zh-CN" sz="2000">
                <a:solidFill>
                  <a:srgbClr val="00B050"/>
                </a:solidFill>
                <a:latin typeface="Consolas" pitchFamily="49" charset="0"/>
                <a:ea typeface="仿宋" pitchFamily="49" charset="-122"/>
                <a:cs typeface="Consolas" pitchFamily="49" charset="0"/>
              </a:rPr>
              <a:t>//</a:t>
            </a:r>
            <a:r>
              <a:rPr lang="zh-CN" altLang="zh-CN" sz="2000">
                <a:solidFill>
                  <a:srgbClr val="00B050"/>
                </a:solidFill>
                <a:latin typeface="Consolas" pitchFamily="49" charset="0"/>
                <a:ea typeface="仿宋" pitchFamily="49" charset="-122"/>
                <a:cs typeface="Consolas" pitchFamily="49" charset="0"/>
              </a:rPr>
              <a:t>求</a:t>
            </a:r>
            <a:r>
              <a:rPr lang="en-US" altLang="zh-CN" sz="2000">
                <a:solidFill>
                  <a:srgbClr val="00B050"/>
                </a:solidFill>
                <a:latin typeface="Consolas" pitchFamily="49" charset="0"/>
                <a:ea typeface="仿宋" pitchFamily="49" charset="-122"/>
                <a:cs typeface="Consolas" pitchFamily="49" charset="0"/>
              </a:rPr>
              <a:t>p0</a:t>
            </a:r>
            <a:r>
              <a:rPr lang="zh-CN" altLang="zh-CN" sz="2000">
                <a:solidFill>
                  <a:srgbClr val="00B050"/>
                </a:solidFill>
                <a:latin typeface="Consolas" pitchFamily="49" charset="0"/>
                <a:ea typeface="仿宋" pitchFamily="49" charset="-122"/>
                <a:cs typeface="Consolas" pitchFamily="49" charset="0"/>
              </a:rPr>
              <a:t>到</a:t>
            </a:r>
            <a:r>
              <a:rPr lang="en-US" altLang="zh-CN" sz="2000">
                <a:solidFill>
                  <a:srgbClr val="00B050"/>
                </a:solidFill>
                <a:latin typeface="Consolas" pitchFamily="49" charset="0"/>
                <a:ea typeface="仿宋" pitchFamily="49" charset="-122"/>
                <a:cs typeface="Consolas" pitchFamily="49" charset="0"/>
              </a:rPr>
              <a:t>p1p2</a:t>
            </a:r>
            <a:r>
              <a:rPr lang="zh-CN" altLang="zh-CN" sz="2000">
                <a:solidFill>
                  <a:srgbClr val="00B050"/>
                </a:solidFill>
                <a:latin typeface="Consolas" pitchFamily="49" charset="0"/>
                <a:ea typeface="仿宋" pitchFamily="49" charset="-122"/>
                <a:cs typeface="Consolas" pitchFamily="49" charset="0"/>
              </a:rPr>
              <a:t>线段的距离</a:t>
            </a:r>
          </a:p>
          <a:p>
            <a:pPr defTabSz="360000">
              <a:lnSpc>
                <a:spcPts val="2800"/>
              </a:lnSpc>
            </a:pPr>
            <a:r>
              <a:rPr lang="en-US" altLang="zh-CN" sz="2000">
                <a:solidFill>
                  <a:srgbClr val="0000FF"/>
                </a:solidFill>
                <a:latin typeface="Consolas" pitchFamily="49" charset="0"/>
                <a:ea typeface="仿宋" pitchFamily="49" charset="-122"/>
                <a:cs typeface="Consolas" pitchFamily="49" charset="0"/>
              </a:rPr>
              <a:t>{  Point v1=p2-p1,v2=p1-p2,v3=p0-p1,v4=p0-p2;</a:t>
            </a:r>
            <a:endParaRPr lang="zh-CN" altLang="zh-CN" sz="2000">
              <a:solidFill>
                <a:srgbClr val="0000FF"/>
              </a:solidFill>
              <a:latin typeface="Consolas" pitchFamily="49" charset="0"/>
              <a:ea typeface="仿宋" pitchFamily="49" charset="-122"/>
              <a:cs typeface="Consolas" pitchFamily="49" charset="0"/>
            </a:endParaRPr>
          </a:p>
          <a:p>
            <a:pPr defTabSz="360000">
              <a:lnSpc>
                <a:spcPts val="2800"/>
              </a:lnSpc>
            </a:pPr>
            <a:r>
              <a:rPr lang="en-US" altLang="zh-CN" sz="2000">
                <a:solidFill>
                  <a:srgbClr val="0000FF"/>
                </a:solidFill>
                <a:latin typeface="Consolas" pitchFamily="49" charset="0"/>
                <a:ea typeface="仿宋" pitchFamily="49" charset="-122"/>
                <a:cs typeface="Consolas" pitchFamily="49" charset="0"/>
              </a:rPr>
              <a:t>   if (</a:t>
            </a:r>
            <a:r>
              <a:rPr lang="en-US" altLang="zh-CN" sz="2000">
                <a:solidFill>
                  <a:srgbClr val="FF00FF"/>
                </a:solidFill>
                <a:latin typeface="Consolas" pitchFamily="49" charset="0"/>
                <a:ea typeface="仿宋" pitchFamily="49" charset="-122"/>
                <a:cs typeface="Consolas" pitchFamily="49" charset="0"/>
              </a:rPr>
              <a:t>p1==p2</a:t>
            </a:r>
            <a:r>
              <a:rPr lang="en-US" altLang="zh-CN" sz="2000">
                <a:solidFill>
                  <a:srgbClr val="0000FF"/>
                </a:solidFill>
                <a:latin typeface="Consolas" pitchFamily="49" charset="0"/>
                <a:ea typeface="仿宋" pitchFamily="49" charset="-122"/>
                <a:cs typeface="Consolas" pitchFamily="49" charset="0"/>
              </a:rPr>
              <a:t>)							</a:t>
            </a:r>
            <a:r>
              <a:rPr lang="en-US" altLang="zh-CN" sz="2000">
                <a:solidFill>
                  <a:srgbClr val="00B0F0"/>
                </a:solidFill>
                <a:latin typeface="Consolas" pitchFamily="49" charset="0"/>
                <a:ea typeface="仿宋" pitchFamily="49" charset="-122"/>
                <a:cs typeface="Consolas" pitchFamily="49" charset="0"/>
              </a:rPr>
              <a:t>//</a:t>
            </a:r>
            <a:r>
              <a:rPr lang="zh-CN" altLang="zh-CN" sz="2000">
                <a:solidFill>
                  <a:srgbClr val="00B0F0"/>
                </a:solidFill>
                <a:latin typeface="Consolas" pitchFamily="49" charset="0"/>
                <a:ea typeface="仿宋" pitchFamily="49" charset="-122"/>
                <a:cs typeface="Consolas" pitchFamily="49" charset="0"/>
              </a:rPr>
              <a:t>两点重合</a:t>
            </a:r>
          </a:p>
          <a:p>
            <a:pPr defTabSz="360000">
              <a:lnSpc>
                <a:spcPts val="2800"/>
              </a:lnSpc>
            </a:pPr>
            <a:r>
              <a:rPr lang="en-US" altLang="zh-CN" sz="2000">
                <a:solidFill>
                  <a:srgbClr val="0000FF"/>
                </a:solidFill>
                <a:latin typeface="Consolas" pitchFamily="49" charset="0"/>
                <a:ea typeface="仿宋" pitchFamily="49" charset="-122"/>
                <a:cs typeface="Consolas" pitchFamily="49" charset="0"/>
              </a:rPr>
              <a:t>		return </a:t>
            </a:r>
            <a:r>
              <a:rPr lang="en-US" altLang="zh-CN" sz="2000">
                <a:solidFill>
                  <a:srgbClr val="FF0000"/>
                </a:solidFill>
                <a:latin typeface="Consolas" pitchFamily="49" charset="0"/>
                <a:ea typeface="仿宋" pitchFamily="49" charset="-122"/>
                <a:cs typeface="Consolas" pitchFamily="49" charset="0"/>
              </a:rPr>
              <a:t>Length</a:t>
            </a:r>
            <a:r>
              <a:rPr lang="en-US" altLang="zh-CN" sz="2000">
                <a:solidFill>
                  <a:srgbClr val="0000FF"/>
                </a:solidFill>
                <a:latin typeface="Consolas" pitchFamily="49" charset="0"/>
                <a:ea typeface="仿宋" pitchFamily="49" charset="-122"/>
                <a:cs typeface="Consolas" pitchFamily="49" charset="0"/>
              </a:rPr>
              <a:t>(p0-p1);</a:t>
            </a:r>
            <a:endParaRPr lang="zh-CN" altLang="zh-CN" sz="2000">
              <a:solidFill>
                <a:srgbClr val="0000FF"/>
              </a:solidFill>
              <a:latin typeface="Consolas" pitchFamily="49" charset="0"/>
              <a:ea typeface="仿宋" pitchFamily="49" charset="-122"/>
              <a:cs typeface="Consolas" pitchFamily="49" charset="0"/>
            </a:endParaRPr>
          </a:p>
          <a:p>
            <a:pPr defTabSz="360000">
              <a:lnSpc>
                <a:spcPts val="2800"/>
              </a:lnSpc>
            </a:pPr>
            <a:r>
              <a:rPr lang="en-US" altLang="zh-CN" sz="2000">
                <a:solidFill>
                  <a:srgbClr val="0000FF"/>
                </a:solidFill>
                <a:latin typeface="Consolas" pitchFamily="49" charset="0"/>
                <a:ea typeface="仿宋" pitchFamily="49" charset="-122"/>
                <a:cs typeface="Consolas" pitchFamily="49" charset="0"/>
              </a:rPr>
              <a:t>   if (</a:t>
            </a:r>
            <a:r>
              <a:rPr lang="en-US" altLang="zh-CN" sz="2000">
                <a:solidFill>
                  <a:srgbClr val="FF00FF"/>
                </a:solidFill>
                <a:latin typeface="Consolas" pitchFamily="49" charset="0"/>
                <a:ea typeface="仿宋" pitchFamily="49" charset="-122"/>
                <a:cs typeface="Consolas" pitchFamily="49" charset="0"/>
              </a:rPr>
              <a:t>Dot(v1,v3)&lt;0</a:t>
            </a:r>
            <a:r>
              <a:rPr lang="en-US" altLang="zh-CN" sz="2000">
                <a:solidFill>
                  <a:srgbClr val="0000FF"/>
                </a:solidFill>
                <a:latin typeface="Consolas" pitchFamily="49" charset="0"/>
                <a:ea typeface="仿宋" pitchFamily="49" charset="-122"/>
                <a:cs typeface="Consolas" pitchFamily="49" charset="0"/>
              </a:rPr>
              <a:t>)					</a:t>
            </a:r>
            <a:r>
              <a:rPr lang="en-US" altLang="zh-CN" sz="2000">
                <a:solidFill>
                  <a:srgbClr val="00B0F0"/>
                </a:solidFill>
                <a:latin typeface="Consolas" pitchFamily="49" charset="0"/>
                <a:ea typeface="仿宋" pitchFamily="49" charset="-122"/>
                <a:cs typeface="Consolas" pitchFamily="49" charset="0"/>
              </a:rPr>
              <a:t>//</a:t>
            </a:r>
            <a:r>
              <a:rPr lang="zh-CN" altLang="zh-CN" sz="2000">
                <a:solidFill>
                  <a:srgbClr val="00B0F0"/>
                </a:solidFill>
                <a:latin typeface="Consolas" pitchFamily="49" charset="0"/>
                <a:ea typeface="仿宋" pitchFamily="49" charset="-122"/>
                <a:cs typeface="Consolas" pitchFamily="49" charset="0"/>
              </a:rPr>
              <a:t>满足图（</a:t>
            </a:r>
            <a:r>
              <a:rPr lang="en-US" altLang="zh-CN" sz="2000">
                <a:solidFill>
                  <a:srgbClr val="00B0F0"/>
                </a:solidFill>
                <a:latin typeface="Consolas" pitchFamily="49" charset="0"/>
                <a:ea typeface="仿宋" pitchFamily="49" charset="-122"/>
                <a:cs typeface="Consolas" pitchFamily="49" charset="0"/>
              </a:rPr>
              <a:t>a</a:t>
            </a:r>
            <a:r>
              <a:rPr lang="zh-CN" altLang="zh-CN" sz="2000">
                <a:solidFill>
                  <a:srgbClr val="00B0F0"/>
                </a:solidFill>
                <a:latin typeface="Consolas" pitchFamily="49" charset="0"/>
                <a:ea typeface="仿宋" pitchFamily="49" charset="-122"/>
                <a:cs typeface="Consolas" pitchFamily="49" charset="0"/>
              </a:rPr>
              <a:t>）条件</a:t>
            </a:r>
          </a:p>
          <a:p>
            <a:pPr defTabSz="360000">
              <a:lnSpc>
                <a:spcPts val="2800"/>
              </a:lnSpc>
            </a:pPr>
            <a:r>
              <a:rPr lang="en-US" altLang="zh-CN" sz="2000">
                <a:solidFill>
                  <a:srgbClr val="0000FF"/>
                </a:solidFill>
                <a:latin typeface="Consolas" pitchFamily="49" charset="0"/>
                <a:ea typeface="仿宋" pitchFamily="49" charset="-122"/>
                <a:cs typeface="Consolas" pitchFamily="49" charset="0"/>
              </a:rPr>
              <a:t>		return </a:t>
            </a:r>
            <a:r>
              <a:rPr lang="en-US" altLang="zh-CN" sz="2000">
                <a:solidFill>
                  <a:srgbClr val="FF0000"/>
                </a:solidFill>
                <a:latin typeface="Consolas" pitchFamily="49" charset="0"/>
                <a:ea typeface="仿宋" pitchFamily="49" charset="-122"/>
                <a:cs typeface="Consolas" pitchFamily="49" charset="0"/>
              </a:rPr>
              <a:t>Length</a:t>
            </a:r>
            <a:r>
              <a:rPr lang="en-US" altLang="zh-CN" sz="2000">
                <a:solidFill>
                  <a:srgbClr val="0000FF"/>
                </a:solidFill>
                <a:latin typeface="Consolas" pitchFamily="49" charset="0"/>
                <a:ea typeface="仿宋" pitchFamily="49" charset="-122"/>
                <a:cs typeface="Consolas" pitchFamily="49" charset="0"/>
              </a:rPr>
              <a:t>(v3);</a:t>
            </a:r>
            <a:endParaRPr lang="zh-CN" altLang="zh-CN" sz="2000">
              <a:solidFill>
                <a:srgbClr val="0000FF"/>
              </a:solidFill>
              <a:latin typeface="Consolas" pitchFamily="49" charset="0"/>
              <a:ea typeface="仿宋" pitchFamily="49" charset="-122"/>
              <a:cs typeface="Consolas" pitchFamily="49" charset="0"/>
            </a:endParaRPr>
          </a:p>
          <a:p>
            <a:pPr defTabSz="360000">
              <a:lnSpc>
                <a:spcPts val="2800"/>
              </a:lnSpc>
            </a:pPr>
            <a:r>
              <a:rPr lang="en-US" altLang="zh-CN" sz="2000">
                <a:solidFill>
                  <a:srgbClr val="0000FF"/>
                </a:solidFill>
                <a:latin typeface="Consolas" pitchFamily="49" charset="0"/>
                <a:ea typeface="仿宋" pitchFamily="49" charset="-122"/>
                <a:cs typeface="Consolas" pitchFamily="49" charset="0"/>
              </a:rPr>
              <a:t>   else if (</a:t>
            </a:r>
            <a:r>
              <a:rPr lang="en-US" altLang="zh-CN" sz="2000">
                <a:solidFill>
                  <a:srgbClr val="FF00FF"/>
                </a:solidFill>
                <a:latin typeface="Consolas" pitchFamily="49" charset="0"/>
                <a:ea typeface="仿宋" pitchFamily="49" charset="-122"/>
                <a:cs typeface="Consolas" pitchFamily="49" charset="0"/>
              </a:rPr>
              <a:t>Dot(v2,v4)&lt;0</a:t>
            </a:r>
            <a:r>
              <a:rPr lang="en-US" altLang="zh-CN" sz="2000">
                <a:solidFill>
                  <a:srgbClr val="0000FF"/>
                </a:solidFill>
                <a:latin typeface="Consolas" pitchFamily="49" charset="0"/>
                <a:ea typeface="仿宋" pitchFamily="49" charset="-122"/>
                <a:cs typeface="Consolas" pitchFamily="49" charset="0"/>
              </a:rPr>
              <a:t>)			</a:t>
            </a:r>
            <a:r>
              <a:rPr lang="en-US" altLang="zh-CN" sz="2000">
                <a:solidFill>
                  <a:srgbClr val="00B0F0"/>
                </a:solidFill>
                <a:latin typeface="Consolas" pitchFamily="49" charset="0"/>
                <a:ea typeface="仿宋" pitchFamily="49" charset="-122"/>
                <a:cs typeface="Consolas" pitchFamily="49" charset="0"/>
              </a:rPr>
              <a:t>//</a:t>
            </a:r>
            <a:r>
              <a:rPr lang="zh-CN" altLang="zh-CN" sz="2000">
                <a:solidFill>
                  <a:srgbClr val="00B0F0"/>
                </a:solidFill>
                <a:latin typeface="Consolas" pitchFamily="49" charset="0"/>
                <a:ea typeface="仿宋" pitchFamily="49" charset="-122"/>
                <a:cs typeface="Consolas" pitchFamily="49" charset="0"/>
              </a:rPr>
              <a:t>满足图（</a:t>
            </a:r>
            <a:r>
              <a:rPr lang="en-US" altLang="zh-CN" sz="2000">
                <a:solidFill>
                  <a:srgbClr val="00B0F0"/>
                </a:solidFill>
                <a:latin typeface="Consolas" pitchFamily="49" charset="0"/>
                <a:ea typeface="仿宋" pitchFamily="49" charset="-122"/>
                <a:cs typeface="Consolas" pitchFamily="49" charset="0"/>
              </a:rPr>
              <a:t>b</a:t>
            </a:r>
            <a:r>
              <a:rPr lang="zh-CN" altLang="zh-CN" sz="2000">
                <a:solidFill>
                  <a:srgbClr val="00B0F0"/>
                </a:solidFill>
                <a:latin typeface="Consolas" pitchFamily="49" charset="0"/>
                <a:ea typeface="仿宋" pitchFamily="49" charset="-122"/>
                <a:cs typeface="Consolas" pitchFamily="49" charset="0"/>
              </a:rPr>
              <a:t>）条件</a:t>
            </a:r>
          </a:p>
          <a:p>
            <a:pPr defTabSz="360000">
              <a:lnSpc>
                <a:spcPts val="2800"/>
              </a:lnSpc>
            </a:pPr>
            <a:r>
              <a:rPr lang="en-US" altLang="zh-CN" sz="2000">
                <a:solidFill>
                  <a:srgbClr val="0000FF"/>
                </a:solidFill>
                <a:latin typeface="Consolas" pitchFamily="49" charset="0"/>
                <a:ea typeface="仿宋" pitchFamily="49" charset="-122"/>
                <a:cs typeface="Consolas" pitchFamily="49" charset="0"/>
              </a:rPr>
              <a:t>		return </a:t>
            </a:r>
            <a:r>
              <a:rPr lang="en-US" altLang="zh-CN" sz="2000">
                <a:solidFill>
                  <a:srgbClr val="FF0000"/>
                </a:solidFill>
                <a:latin typeface="Consolas" pitchFamily="49" charset="0"/>
                <a:ea typeface="仿宋" pitchFamily="49" charset="-122"/>
                <a:cs typeface="Consolas" pitchFamily="49" charset="0"/>
              </a:rPr>
              <a:t>Length</a:t>
            </a:r>
            <a:r>
              <a:rPr lang="en-US" altLang="zh-CN" sz="2000">
                <a:solidFill>
                  <a:srgbClr val="0000FF"/>
                </a:solidFill>
                <a:latin typeface="Consolas" pitchFamily="49" charset="0"/>
                <a:ea typeface="仿宋" pitchFamily="49" charset="-122"/>
                <a:cs typeface="Consolas" pitchFamily="49" charset="0"/>
              </a:rPr>
              <a:t>(v4);</a:t>
            </a:r>
            <a:endParaRPr lang="zh-CN" altLang="zh-CN" sz="2000">
              <a:solidFill>
                <a:srgbClr val="0000FF"/>
              </a:solidFill>
              <a:latin typeface="Consolas" pitchFamily="49" charset="0"/>
              <a:ea typeface="仿宋" pitchFamily="49" charset="-122"/>
              <a:cs typeface="Consolas" pitchFamily="49" charset="0"/>
            </a:endParaRPr>
          </a:p>
          <a:p>
            <a:pPr defTabSz="360000">
              <a:lnSpc>
                <a:spcPts val="2800"/>
              </a:lnSpc>
            </a:pPr>
            <a:r>
              <a:rPr lang="en-US" altLang="zh-CN" sz="2000">
                <a:solidFill>
                  <a:srgbClr val="0000FF"/>
                </a:solidFill>
                <a:latin typeface="Consolas" pitchFamily="49" charset="0"/>
                <a:ea typeface="仿宋" pitchFamily="49" charset="-122"/>
                <a:cs typeface="Consolas" pitchFamily="49" charset="0"/>
              </a:rPr>
              <a:t>   else										</a:t>
            </a:r>
            <a:r>
              <a:rPr lang="en-US" altLang="zh-CN" sz="2000">
                <a:solidFill>
                  <a:srgbClr val="00B0F0"/>
                </a:solidFill>
                <a:latin typeface="Consolas" pitchFamily="49" charset="0"/>
                <a:ea typeface="仿宋" pitchFamily="49" charset="-122"/>
                <a:cs typeface="Consolas" pitchFamily="49" charset="0"/>
              </a:rPr>
              <a:t>//</a:t>
            </a:r>
            <a:r>
              <a:rPr lang="zh-CN" altLang="zh-CN" sz="2000">
                <a:solidFill>
                  <a:srgbClr val="00B0F0"/>
                </a:solidFill>
                <a:latin typeface="Consolas" pitchFamily="49" charset="0"/>
                <a:ea typeface="仿宋" pitchFamily="49" charset="-122"/>
                <a:cs typeface="Consolas" pitchFamily="49" charset="0"/>
              </a:rPr>
              <a:t>满足图（</a:t>
            </a:r>
            <a:r>
              <a:rPr lang="en-US" altLang="zh-CN" sz="2000">
                <a:solidFill>
                  <a:srgbClr val="00B0F0"/>
                </a:solidFill>
                <a:latin typeface="Consolas" pitchFamily="49" charset="0"/>
                <a:ea typeface="仿宋" pitchFamily="49" charset="-122"/>
                <a:cs typeface="Consolas" pitchFamily="49" charset="0"/>
              </a:rPr>
              <a:t>c</a:t>
            </a:r>
            <a:r>
              <a:rPr lang="zh-CN" altLang="zh-CN" sz="2000">
                <a:solidFill>
                  <a:srgbClr val="00B0F0"/>
                </a:solidFill>
                <a:latin typeface="Consolas" pitchFamily="49" charset="0"/>
                <a:ea typeface="仿宋" pitchFamily="49" charset="-122"/>
                <a:cs typeface="Consolas" pitchFamily="49" charset="0"/>
              </a:rPr>
              <a:t>）条件</a:t>
            </a:r>
          </a:p>
          <a:p>
            <a:pPr defTabSz="360000">
              <a:lnSpc>
                <a:spcPts val="2800"/>
              </a:lnSpc>
            </a:pPr>
            <a:r>
              <a:rPr lang="en-US" altLang="zh-CN" sz="2000">
                <a:solidFill>
                  <a:srgbClr val="0000FF"/>
                </a:solidFill>
                <a:latin typeface="Consolas" pitchFamily="49" charset="0"/>
                <a:ea typeface="仿宋" pitchFamily="49" charset="-122"/>
                <a:cs typeface="Consolas" pitchFamily="49" charset="0"/>
              </a:rPr>
              <a:t>		return fabs(</a:t>
            </a:r>
            <a:r>
              <a:rPr lang="en-US" altLang="zh-CN" sz="2000">
                <a:solidFill>
                  <a:srgbClr val="FF0000"/>
                </a:solidFill>
                <a:latin typeface="Consolas" pitchFamily="49" charset="0"/>
                <a:ea typeface="仿宋" pitchFamily="49" charset="-122"/>
                <a:cs typeface="Consolas" pitchFamily="49" charset="0"/>
              </a:rPr>
              <a:t>Det</a:t>
            </a:r>
            <a:r>
              <a:rPr lang="en-US" altLang="zh-CN" sz="2000">
                <a:solidFill>
                  <a:srgbClr val="0000FF"/>
                </a:solidFill>
                <a:latin typeface="Consolas" pitchFamily="49" charset="0"/>
                <a:ea typeface="仿宋" pitchFamily="49" charset="-122"/>
                <a:cs typeface="Consolas" pitchFamily="49" charset="0"/>
              </a:rPr>
              <a:t>(v1,v3))/</a:t>
            </a:r>
            <a:r>
              <a:rPr lang="en-US" altLang="zh-CN" sz="2000">
                <a:solidFill>
                  <a:srgbClr val="FF0000"/>
                </a:solidFill>
                <a:latin typeface="Consolas" pitchFamily="49" charset="0"/>
                <a:ea typeface="仿宋" pitchFamily="49" charset="-122"/>
                <a:cs typeface="Consolas" pitchFamily="49" charset="0"/>
              </a:rPr>
              <a:t>Length</a:t>
            </a:r>
            <a:r>
              <a:rPr lang="en-US" altLang="zh-CN" sz="2000">
                <a:solidFill>
                  <a:srgbClr val="0000FF"/>
                </a:solidFill>
                <a:latin typeface="Consolas" pitchFamily="49" charset="0"/>
                <a:ea typeface="仿宋" pitchFamily="49" charset="-122"/>
                <a:cs typeface="Consolas" pitchFamily="49" charset="0"/>
              </a:rPr>
              <a:t>(v1);</a:t>
            </a:r>
            <a:endParaRPr lang="zh-CN" altLang="zh-CN" sz="2000">
              <a:solidFill>
                <a:srgbClr val="0000FF"/>
              </a:solidFill>
              <a:latin typeface="Consolas" pitchFamily="49" charset="0"/>
              <a:ea typeface="仿宋" pitchFamily="49" charset="-122"/>
              <a:cs typeface="Consolas" pitchFamily="49" charset="0"/>
            </a:endParaRPr>
          </a:p>
          <a:p>
            <a:pPr defTabSz="360000">
              <a:lnSpc>
                <a:spcPts val="2800"/>
              </a:lnSpc>
            </a:pPr>
            <a:r>
              <a:rPr lang="en-US" altLang="zh-CN" sz="2000">
                <a:solidFill>
                  <a:srgbClr val="0000FF"/>
                </a:solidFill>
                <a:latin typeface="Consolas" pitchFamily="49" charset="0"/>
                <a:ea typeface="仿宋" pitchFamily="49" charset="-122"/>
                <a:cs typeface="Consolas" pitchFamily="49" charset="0"/>
              </a:rPr>
              <a:t>}</a:t>
            </a:r>
            <a:endParaRPr lang="zh-CN" altLang="zh-CN" sz="2000">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38</a:t>
            </a:fld>
            <a:r>
              <a:rPr lang="en-US" altLang="zh-CN"/>
              <a:t>/167</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Text Box 2"/>
          <p:cNvSpPr txBox="1">
            <a:spLocks noChangeArrowheads="1"/>
          </p:cNvSpPr>
          <p:nvPr/>
        </p:nvSpPr>
        <p:spPr bwMode="auto">
          <a:xfrm>
            <a:off x="323850" y="333375"/>
            <a:ext cx="6462728" cy="52322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spcBef>
                <a:spcPct val="50000"/>
              </a:spcBef>
              <a:defRPr/>
            </a:pP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10.1.2 </a:t>
            </a:r>
            <a:r>
              <a:rPr lang="zh-CN" altLang="en-US"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判断一个点是否在一个矩形内</a:t>
            </a:r>
          </a:p>
        </p:txBody>
      </p:sp>
      <p:sp>
        <p:nvSpPr>
          <p:cNvPr id="9220" name="Text Box 3"/>
          <p:cNvSpPr txBox="1">
            <a:spLocks noChangeArrowheads="1"/>
          </p:cNvSpPr>
          <p:nvPr/>
        </p:nvSpPr>
        <p:spPr bwMode="auto">
          <a:xfrm>
            <a:off x="214282" y="1142984"/>
            <a:ext cx="8715436" cy="2192267"/>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nSpc>
                <a:spcPts val="32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设一个矩形的左上角为点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、右下角为点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，另有一个点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，现要判断该点是否在指定的矩形内。</a:t>
            </a:r>
          </a:p>
          <a:p>
            <a:pPr marL="457200" indent="-457200">
              <a:lnSpc>
                <a:spcPts val="32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将</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看成是具有公共起点的两个线段，把</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作为原点，显然</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两线段的夹角</a:t>
            </a:r>
            <a:r>
              <a:rPr lang="en-US" altLang="zh-CN">
                <a:solidFill>
                  <a:srgbClr val="0000FF"/>
                </a:solidFill>
                <a:latin typeface="Consolas" pitchFamily="49" charset="0"/>
                <a:ea typeface="仿宋" pitchFamily="49" charset="-122"/>
                <a:cs typeface="Consolas" pitchFamily="49" charset="0"/>
                <a:sym typeface="Symbol"/>
              </a:rPr>
              <a:t></a:t>
            </a:r>
            <a:r>
              <a:rPr lang="zh-CN" altLang="zh-CN">
                <a:solidFill>
                  <a:srgbClr val="0000FF"/>
                </a:solidFill>
                <a:latin typeface="Consolas" pitchFamily="49" charset="0"/>
                <a:ea typeface="仿宋" pitchFamily="49" charset="-122"/>
                <a:cs typeface="Consolas" pitchFamily="49" charset="0"/>
              </a:rPr>
              <a:t>为直角或钝角时，点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便落在该矩形内（含点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），如</a:t>
            </a:r>
            <a:r>
              <a:rPr lang="zh-CN" altLang="en-US">
                <a:solidFill>
                  <a:srgbClr val="0000FF"/>
                </a:solidFill>
                <a:latin typeface="Consolas" pitchFamily="49" charset="0"/>
                <a:ea typeface="仿宋" pitchFamily="49" charset="-122"/>
                <a:cs typeface="Consolas" pitchFamily="49" charset="0"/>
              </a:rPr>
              <a:t>下</a:t>
            </a:r>
            <a:r>
              <a:rPr lang="zh-CN" altLang="zh-CN">
                <a:solidFill>
                  <a:srgbClr val="0000FF"/>
                </a:solidFill>
                <a:latin typeface="Consolas" pitchFamily="49" charset="0"/>
                <a:ea typeface="仿宋" pitchFamily="49" charset="-122"/>
                <a:cs typeface="Consolas" pitchFamily="49" charset="0"/>
              </a:rPr>
              <a:t>图所示。</a:t>
            </a:r>
            <a:endParaRPr lang="en-US" altLang="zh-CN">
              <a:solidFill>
                <a:srgbClr val="0000FF"/>
              </a:solidFill>
              <a:latin typeface="Consolas" pitchFamily="49" charset="0"/>
              <a:ea typeface="仿宋" pitchFamily="49" charset="-122"/>
              <a:cs typeface="Consolas" pitchFamily="49" charset="0"/>
            </a:endParaRPr>
          </a:p>
        </p:txBody>
      </p:sp>
      <p:sp>
        <p:nvSpPr>
          <p:cNvPr id="2" name="Rectangle 4"/>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latin typeface="Consolas" pitchFamily="49" charset="0"/>
              <a:cs typeface="Consolas" pitchFamily="49" charset="0"/>
            </a:endParaRPr>
          </a:p>
        </p:txBody>
      </p:sp>
      <p:grpSp>
        <p:nvGrpSpPr>
          <p:cNvPr id="25" name="组合 24"/>
          <p:cNvGrpSpPr/>
          <p:nvPr/>
        </p:nvGrpSpPr>
        <p:grpSpPr>
          <a:xfrm>
            <a:off x="2857488" y="3605630"/>
            <a:ext cx="2786876" cy="1966510"/>
            <a:chOff x="3999702" y="4107284"/>
            <a:chExt cx="2786876" cy="1966510"/>
          </a:xfrm>
        </p:grpSpPr>
        <p:cxnSp>
          <p:nvCxnSpPr>
            <p:cNvPr id="10" name="直接箭头连接符 9"/>
            <p:cNvCxnSpPr/>
            <p:nvPr/>
          </p:nvCxnSpPr>
          <p:spPr>
            <a:xfrm rot="5400000" flipH="1" flipV="1">
              <a:off x="3143240" y="5214950"/>
              <a:ext cx="1714512"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2" name="直接箭头连接符 11"/>
            <p:cNvCxnSpPr/>
            <p:nvPr/>
          </p:nvCxnSpPr>
          <p:spPr>
            <a:xfrm>
              <a:off x="4000496" y="6072206"/>
              <a:ext cx="2714644"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3" name="矩形 12"/>
            <p:cNvSpPr/>
            <p:nvPr/>
          </p:nvSpPr>
          <p:spPr>
            <a:xfrm>
              <a:off x="4357686" y="4500570"/>
              <a:ext cx="2000264" cy="1357322"/>
            </a:xfrm>
            <a:prstGeom prst="rect">
              <a:avLst/>
            </a:prstGeom>
            <a:solidFill>
              <a:schemeClr val="accent1">
                <a:alpha val="0"/>
              </a:schemeClr>
            </a:solidFill>
            <a:ln>
              <a:solidFill>
                <a:srgbClr val="99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cxnSp>
          <p:nvCxnSpPr>
            <p:cNvPr id="15" name="直接箭头连接符 14"/>
            <p:cNvCxnSpPr/>
            <p:nvPr/>
          </p:nvCxnSpPr>
          <p:spPr>
            <a:xfrm>
              <a:off x="4857752" y="5429264"/>
              <a:ext cx="1500198" cy="42862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17" name="直接箭头连接符 16"/>
            <p:cNvCxnSpPr/>
            <p:nvPr/>
          </p:nvCxnSpPr>
          <p:spPr>
            <a:xfrm rot="16200000" flipV="1">
              <a:off x="4143372" y="4714884"/>
              <a:ext cx="928694" cy="500066"/>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
          <p:nvSpPr>
            <p:cNvPr id="20" name="TextBox 19"/>
            <p:cNvSpPr txBox="1"/>
            <p:nvPr/>
          </p:nvSpPr>
          <p:spPr>
            <a:xfrm>
              <a:off x="6357950" y="5600658"/>
              <a:ext cx="428628"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21" name="TextBox 20"/>
            <p:cNvSpPr txBox="1"/>
            <p:nvPr/>
          </p:nvSpPr>
          <p:spPr>
            <a:xfrm>
              <a:off x="4572000" y="5314906"/>
              <a:ext cx="428628"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sp>
          <p:nvSpPr>
            <p:cNvPr id="22" name="TextBox 21"/>
            <p:cNvSpPr txBox="1"/>
            <p:nvPr/>
          </p:nvSpPr>
          <p:spPr>
            <a:xfrm>
              <a:off x="4071934" y="4107284"/>
              <a:ext cx="428628"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23" name="任意多边形 22"/>
            <p:cNvSpPr/>
            <p:nvPr/>
          </p:nvSpPr>
          <p:spPr>
            <a:xfrm>
              <a:off x="4764505" y="5233737"/>
              <a:ext cx="300790" cy="252663"/>
            </a:xfrm>
            <a:custGeom>
              <a:avLst/>
              <a:gdLst>
                <a:gd name="connsiteX0" fmla="*/ 0 w 300790"/>
                <a:gd name="connsiteY0" fmla="*/ 0 h 252663"/>
                <a:gd name="connsiteX1" fmla="*/ 228600 w 300790"/>
                <a:gd name="connsiteY1" fmla="*/ 72189 h 252663"/>
                <a:gd name="connsiteX2" fmla="*/ 300790 w 300790"/>
                <a:gd name="connsiteY2" fmla="*/ 252663 h 252663"/>
              </a:gdLst>
              <a:ahLst/>
              <a:cxnLst>
                <a:cxn ang="0">
                  <a:pos x="connsiteX0" y="connsiteY0"/>
                </a:cxn>
                <a:cxn ang="0">
                  <a:pos x="connsiteX1" y="connsiteY1"/>
                </a:cxn>
                <a:cxn ang="0">
                  <a:pos x="connsiteX2" y="connsiteY2"/>
                </a:cxn>
              </a:cxnLst>
              <a:rect l="l" t="t" r="r" b="b"/>
              <a:pathLst>
                <a:path w="300790" h="252663">
                  <a:moveTo>
                    <a:pt x="0" y="0"/>
                  </a:moveTo>
                  <a:cubicBezTo>
                    <a:pt x="89234" y="15039"/>
                    <a:pt x="178468" y="30079"/>
                    <a:pt x="228600" y="72189"/>
                  </a:cubicBezTo>
                  <a:cubicBezTo>
                    <a:pt x="278732" y="114299"/>
                    <a:pt x="289761" y="183481"/>
                    <a:pt x="300790" y="252663"/>
                  </a:cubicBez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24" name="TextBox 23"/>
            <p:cNvSpPr txBox="1"/>
            <p:nvPr/>
          </p:nvSpPr>
          <p:spPr>
            <a:xfrm>
              <a:off x="4929190" y="4929198"/>
              <a:ext cx="285752" cy="400110"/>
            </a:xfrm>
            <a:prstGeom prst="rect">
              <a:avLst/>
            </a:prstGeom>
            <a:noFill/>
          </p:spPr>
          <p:txBody>
            <a:bodyPr wrap="square" rtlCol="0">
              <a:spAutoFit/>
            </a:bodyPr>
            <a:lstStyle/>
            <a:p>
              <a:r>
                <a:rPr lang="en-US" altLang="zh-CN" sz="2000">
                  <a:solidFill>
                    <a:srgbClr val="0000FF"/>
                  </a:solidFill>
                  <a:latin typeface="Consolas" pitchFamily="49" charset="0"/>
                  <a:ea typeface="楷体" pitchFamily="49" charset="-122"/>
                  <a:cs typeface="Consolas" pitchFamily="49" charset="0"/>
                  <a:sym typeface="Symbol"/>
                </a:rPr>
                <a:t></a:t>
              </a:r>
              <a:endParaRPr lang="zh-CN" altLang="en-US" sz="2000">
                <a:latin typeface="Consolas" pitchFamily="49" charset="0"/>
                <a:cs typeface="Consolas" pitchFamily="49" charset="0"/>
              </a:endParaRPr>
            </a:p>
          </p:txBody>
        </p:sp>
      </p:grpSp>
      <p:sp>
        <p:nvSpPr>
          <p:cNvPr id="26" name="TextBox 25"/>
          <p:cNvSpPr txBox="1"/>
          <p:nvPr/>
        </p:nvSpPr>
        <p:spPr>
          <a:xfrm>
            <a:off x="357158" y="5857892"/>
            <a:ext cx="8429684" cy="461665"/>
          </a:xfrm>
          <a:prstGeom prst="rect">
            <a:avLst/>
          </a:prstGeom>
          <a:noFill/>
        </p:spPr>
        <p:txBody>
          <a:bodyPr wrap="square" rtlCol="0">
            <a:spAutoFit/>
          </a:bodyPr>
          <a:lstStyle/>
          <a:p>
            <a:r>
              <a:rPr lang="zh-CN" altLang="zh-CN">
                <a:solidFill>
                  <a:srgbClr val="0000FF"/>
                </a:solidFill>
                <a:latin typeface="Consolas" pitchFamily="49" charset="0"/>
                <a:ea typeface="仿宋" pitchFamily="49" charset="-122"/>
                <a:cs typeface="Consolas" pitchFamily="49" charset="0"/>
              </a:rPr>
              <a:t>所以点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在该矩形内应满足以下条件：</a:t>
            </a:r>
            <a:r>
              <a:rPr lang="en-US" altLang="zh-CN">
                <a:solidFill>
                  <a:srgbClr val="FF0000"/>
                </a:solidFill>
                <a:latin typeface="Consolas" pitchFamily="49" charset="0"/>
                <a:ea typeface="仿宋" pitchFamily="49" charset="-122"/>
                <a:cs typeface="Consolas" pitchFamily="49" charset="0"/>
              </a:rPr>
              <a:t>(p</a:t>
            </a:r>
            <a:r>
              <a:rPr lang="en-US" altLang="zh-CN" baseline="-25000">
                <a:solidFill>
                  <a:srgbClr val="FF0000"/>
                </a:solidFill>
                <a:latin typeface="Consolas" pitchFamily="49" charset="0"/>
                <a:ea typeface="仿宋" pitchFamily="49" charset="-122"/>
                <a:cs typeface="Consolas" pitchFamily="49" charset="0"/>
              </a:rPr>
              <a:t>1</a:t>
            </a:r>
            <a:r>
              <a:rPr lang="en-US" altLang="zh-CN">
                <a:solidFill>
                  <a:srgbClr val="FF0000"/>
                </a:solidFill>
                <a:latin typeface="Consolas" pitchFamily="49" charset="0"/>
                <a:ea typeface="仿宋" pitchFamily="49" charset="-122"/>
                <a:cs typeface="Consolas" pitchFamily="49" charset="0"/>
              </a:rPr>
              <a:t>-p</a:t>
            </a:r>
            <a:r>
              <a:rPr lang="en-US" altLang="zh-CN" baseline="-25000">
                <a:solidFill>
                  <a:srgbClr val="FF0000"/>
                </a:solidFill>
                <a:latin typeface="Consolas" pitchFamily="49" charset="0"/>
                <a:ea typeface="仿宋" pitchFamily="49" charset="-122"/>
                <a:cs typeface="Consolas" pitchFamily="49" charset="0"/>
              </a:rPr>
              <a:t>0</a:t>
            </a:r>
            <a:r>
              <a:rPr lang="en-US" altLang="zh-CN">
                <a:solidFill>
                  <a:srgbClr val="FF0000"/>
                </a:solidFill>
                <a:latin typeface="Consolas" pitchFamily="49" charset="0"/>
                <a:ea typeface="仿宋" pitchFamily="49" charset="-122"/>
                <a:cs typeface="Consolas" pitchFamily="49" charset="0"/>
              </a:rPr>
              <a:t>)·(p</a:t>
            </a:r>
            <a:r>
              <a:rPr lang="en-US" altLang="zh-CN" baseline="-25000">
                <a:solidFill>
                  <a:srgbClr val="FF0000"/>
                </a:solidFill>
                <a:latin typeface="Consolas" pitchFamily="49" charset="0"/>
                <a:ea typeface="仿宋" pitchFamily="49" charset="-122"/>
                <a:cs typeface="Consolas" pitchFamily="49" charset="0"/>
              </a:rPr>
              <a:t>2</a:t>
            </a:r>
            <a:r>
              <a:rPr lang="en-US" altLang="zh-CN">
                <a:solidFill>
                  <a:srgbClr val="FF0000"/>
                </a:solidFill>
                <a:latin typeface="Consolas" pitchFamily="49" charset="0"/>
                <a:ea typeface="仿宋" pitchFamily="49" charset="-122"/>
                <a:cs typeface="Consolas" pitchFamily="49" charset="0"/>
              </a:rPr>
              <a:t>-p</a:t>
            </a:r>
            <a:r>
              <a:rPr lang="en-US" altLang="zh-CN" baseline="-25000">
                <a:solidFill>
                  <a:srgbClr val="FF0000"/>
                </a:solidFill>
                <a:latin typeface="Consolas" pitchFamily="49" charset="0"/>
                <a:ea typeface="仿宋" pitchFamily="49" charset="-122"/>
                <a:cs typeface="Consolas" pitchFamily="49" charset="0"/>
              </a:rPr>
              <a:t>0</a:t>
            </a:r>
            <a:r>
              <a:rPr lang="en-US" altLang="zh-CN">
                <a:solidFill>
                  <a:srgbClr val="FF0000"/>
                </a:solidFill>
                <a:latin typeface="Consolas" pitchFamily="49" charset="0"/>
                <a:ea typeface="仿宋" pitchFamily="49" charset="-122"/>
                <a:cs typeface="Consolas" pitchFamily="49" charset="0"/>
              </a:rPr>
              <a:t>)</a:t>
            </a:r>
            <a:r>
              <a:rPr lang="en-US" altLang="zh-CN">
                <a:solidFill>
                  <a:srgbClr val="FF0000"/>
                </a:solidFill>
                <a:latin typeface="宋体" pitchFamily="2" charset="-122"/>
                <a:ea typeface="宋体" pitchFamily="2" charset="-122"/>
                <a:cs typeface="Consolas" pitchFamily="49" charset="0"/>
              </a:rPr>
              <a:t>≤</a:t>
            </a:r>
            <a:r>
              <a:rPr lang="en-US" altLang="zh-CN">
                <a:solidFill>
                  <a:srgbClr val="FF0000"/>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endParaRPr lang="zh-CN" altLang="en-US">
              <a:latin typeface="Consolas" pitchFamily="49" charset="0"/>
              <a:ea typeface="仿宋" pitchFamily="49" charset="-122"/>
              <a:cs typeface="Consolas" pitchFamily="49" charset="0"/>
            </a:endParaRPr>
          </a:p>
        </p:txBody>
      </p:sp>
      <p:sp>
        <p:nvSpPr>
          <p:cNvPr id="19" name="灯片编号占位符 18"/>
          <p:cNvSpPr>
            <a:spLocks noGrp="1"/>
          </p:cNvSpPr>
          <p:nvPr>
            <p:ph type="sldNum" sz="quarter" idx="12"/>
          </p:nvPr>
        </p:nvSpPr>
        <p:spPr/>
        <p:txBody>
          <a:bodyPr/>
          <a:lstStyle/>
          <a:p>
            <a:pPr>
              <a:defRPr/>
            </a:pPr>
            <a:fld id="{51116183-1013-4E64-BBE8-A5C1D5D4F838}" type="slidenum">
              <a:rPr lang="en-US" altLang="zh-CN" smtClean="0"/>
              <a:pPr>
                <a:defRPr/>
              </a:pPr>
              <a:t>39</a:t>
            </a:fld>
            <a:r>
              <a:rPr lang="en-US" altLang="zh-CN"/>
              <a:t>/167</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357158" y="1428736"/>
            <a:ext cx="8429684" cy="2671840"/>
          </a:xfrm>
          <a:prstGeom prst="rect">
            <a:avLst/>
          </a:prstGeom>
          <a:solidFill>
            <a:schemeClr val="bg1"/>
          </a:solidFill>
          <a:ln>
            <a:solidFill>
              <a:schemeClr val="accent6">
                <a:lumMod val="20000"/>
                <a:lumOff val="80000"/>
              </a:schemeClr>
            </a:solid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3000"/>
              </a:lnSpc>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InRectangle</a:t>
            </a:r>
            <a:r>
              <a:rPr lang="en-US" altLang="zh-CN" sz="2000">
                <a:solidFill>
                  <a:srgbClr val="0000FF"/>
                </a:solidFill>
                <a:latin typeface="Consolas" pitchFamily="49" charset="0"/>
                <a:ea typeface="仿宋" pitchFamily="49" charset="-122"/>
              </a:rPr>
              <a:t>(Point p0,Point p1,Point p2) {	</a:t>
            </a:r>
          </a:p>
          <a:p>
            <a:pPr defTabSz="360000">
              <a:lnSpc>
                <a:spcPts val="30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判断点</a:t>
            </a:r>
            <a:r>
              <a:rPr lang="en-US" altLang="zh-CN" sz="2000">
                <a:solidFill>
                  <a:srgbClr val="00B050"/>
                </a:solidFill>
                <a:latin typeface="Consolas" pitchFamily="49" charset="0"/>
                <a:ea typeface="仿宋" pitchFamily="49" charset="-122"/>
              </a:rPr>
              <a:t>p0</a:t>
            </a:r>
            <a:r>
              <a:rPr lang="zh-CN" altLang="zh-CN" sz="2000">
                <a:solidFill>
                  <a:srgbClr val="00B050"/>
                </a:solidFill>
                <a:latin typeface="Consolas" pitchFamily="49" charset="0"/>
                <a:ea typeface="仿宋" pitchFamily="49" charset="-122"/>
              </a:rPr>
              <a:t>是否在</a:t>
            </a:r>
            <a:r>
              <a:rPr lang="en-US" altLang="zh-CN" sz="2000">
                <a:solidFill>
                  <a:srgbClr val="00B050"/>
                </a:solidFill>
                <a:latin typeface="Consolas" pitchFamily="49" charset="0"/>
                <a:ea typeface="仿宋" pitchFamily="49" charset="-122"/>
              </a:rPr>
              <a:t>p1</a:t>
            </a:r>
            <a:r>
              <a:rPr lang="zh-CN" altLang="zh-CN" sz="2000">
                <a:solidFill>
                  <a:srgbClr val="00B050"/>
                </a:solidFill>
                <a:latin typeface="Consolas" pitchFamily="49" charset="0"/>
                <a:ea typeface="仿宋" pitchFamily="49" charset="-122"/>
              </a:rPr>
              <a:t>和</a:t>
            </a:r>
            <a:r>
              <a:rPr lang="en-US" altLang="zh-CN" sz="2000">
                <a:solidFill>
                  <a:srgbClr val="00B050"/>
                </a:solidFill>
                <a:latin typeface="Consolas" pitchFamily="49" charset="0"/>
                <a:ea typeface="仿宋" pitchFamily="49" charset="-122"/>
              </a:rPr>
              <a:t>p2</a:t>
            </a:r>
            <a:r>
              <a:rPr lang="zh-CN" altLang="zh-CN" sz="2000">
                <a:solidFill>
                  <a:srgbClr val="00B050"/>
                </a:solidFill>
                <a:latin typeface="Consolas" pitchFamily="49" charset="0"/>
                <a:ea typeface="仿宋" pitchFamily="49" charset="-122"/>
              </a:rPr>
              <a:t>表示的矩形内</a:t>
            </a:r>
          </a:p>
          <a:p>
            <a:pPr defTabSz="360000">
              <a:lnSpc>
                <a:spcPts val="3000"/>
              </a:lnSpc>
            </a:pPr>
            <a:r>
              <a:rPr lang="en-US" altLang="zh-CN" sz="2000">
                <a:solidFill>
                  <a:srgbClr val="0000FF"/>
                </a:solidFill>
                <a:latin typeface="Consolas" pitchFamily="49" charset="0"/>
                <a:ea typeface="仿宋" pitchFamily="49" charset="-122"/>
              </a:rPr>
              <a:t>	return Dot(p1-p0,p2-p0)&lt;=0;</a:t>
            </a:r>
            <a:endParaRPr lang="zh-CN" altLang="zh-CN" sz="2000">
              <a:solidFill>
                <a:srgbClr val="0000FF"/>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a:t>
            </a:r>
            <a:r>
              <a:rPr lang="zh-CN" altLang="zh-CN" sz="2000">
                <a:solidFill>
                  <a:srgbClr val="006600"/>
                </a:solidFill>
                <a:latin typeface="Consolas" pitchFamily="49" charset="0"/>
                <a:ea typeface="仿宋" pitchFamily="49" charset="-122"/>
              </a:rPr>
              <a:t>或者</a:t>
            </a:r>
            <a:r>
              <a:rPr lang="en-US" altLang="zh-CN" sz="2000">
                <a:solidFill>
                  <a:srgbClr val="006600"/>
                </a:solidFill>
                <a:latin typeface="Consolas" pitchFamily="49" charset="0"/>
                <a:ea typeface="仿宋" pitchFamily="49" charset="-122"/>
              </a:rPr>
              <a:t>return (p1.x-p0.x)*(p1.x-p0.x)</a:t>
            </a:r>
          </a:p>
          <a:p>
            <a:pPr defTabSz="360000">
              <a:lnSpc>
                <a:spcPts val="3000"/>
              </a:lnSpc>
            </a:pPr>
            <a:r>
              <a:rPr lang="en-US" altLang="zh-CN" sz="2000">
                <a:solidFill>
                  <a:srgbClr val="006600"/>
                </a:solidFill>
                <a:latin typeface="Consolas" pitchFamily="49" charset="0"/>
                <a:ea typeface="仿宋" pitchFamily="49" charset="-122"/>
              </a:rPr>
              <a:t>	//				  +(p1.y-p0.y)*(p2.y-p0.y)&lt;=0;</a:t>
            </a:r>
            <a:endParaRPr lang="zh-CN" altLang="zh-CN" sz="2000">
              <a:solidFill>
                <a:srgbClr val="006600"/>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40</a:t>
            </a:fld>
            <a:r>
              <a:rPr lang="en-US" altLang="zh-CN"/>
              <a:t>/167</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642918"/>
            <a:ext cx="8429684" cy="1354217"/>
          </a:xfrm>
          <a:prstGeom prst="rect">
            <a:avLst/>
          </a:prstGeom>
          <a:noFill/>
        </p:spPr>
        <p:txBody>
          <a:bodyPr wrap="square" rtlCol="0">
            <a:spAutoFit/>
          </a:bodyPr>
          <a:lstStyle/>
          <a:p>
            <a:pPr>
              <a:spcBef>
                <a:spcPts val="0"/>
              </a:spcBef>
            </a:pPr>
            <a:r>
              <a:rPr lang="zh-CN" altLang="zh-CN">
                <a:solidFill>
                  <a:srgbClr val="0000FF"/>
                </a:solidFill>
                <a:latin typeface="Consolas" pitchFamily="49" charset="0"/>
                <a:ea typeface="仿宋" pitchFamily="49" charset="-122"/>
              </a:rPr>
              <a:t>另一种更直观的判断方法是，</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在该矩形内应满足以下条件：</a:t>
            </a:r>
          </a:p>
          <a:p>
            <a:pPr>
              <a:spcBef>
                <a:spcPts val="1200"/>
              </a:spcBef>
            </a:pPr>
            <a:r>
              <a:rPr lang="en-US" altLang="zh-CN">
                <a:solidFill>
                  <a:srgbClr val="006600"/>
                </a:solidFill>
                <a:latin typeface="Consolas" pitchFamily="49" charset="0"/>
                <a:ea typeface="仿宋" pitchFamily="49" charset="-122"/>
              </a:rPr>
              <a:t>     min(p</a:t>
            </a:r>
            <a:r>
              <a:rPr lang="en-US" altLang="zh-CN" baseline="-25000">
                <a:solidFill>
                  <a:srgbClr val="006600"/>
                </a:solidFill>
                <a:latin typeface="Consolas" pitchFamily="49" charset="0"/>
                <a:ea typeface="仿宋" pitchFamily="49" charset="-122"/>
              </a:rPr>
              <a:t>1</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x</a:t>
            </a:r>
            <a:r>
              <a:rPr lang="zh-CN" altLang="zh-CN">
                <a:solidFill>
                  <a:srgbClr val="006600"/>
                </a:solidFill>
                <a:latin typeface="Consolas" pitchFamily="49" charset="0"/>
                <a:ea typeface="仿宋" pitchFamily="49" charset="-122"/>
              </a:rPr>
              <a:t>，</a:t>
            </a:r>
            <a:r>
              <a:rPr lang="en-US" altLang="zh-CN">
                <a:solidFill>
                  <a:srgbClr val="006600"/>
                </a:solidFill>
                <a:latin typeface="Consolas" pitchFamily="49" charset="0"/>
                <a:ea typeface="仿宋" pitchFamily="49" charset="-122"/>
              </a:rPr>
              <a:t>p</a:t>
            </a:r>
            <a:r>
              <a:rPr lang="en-US" altLang="zh-CN" baseline="-25000">
                <a:solidFill>
                  <a:srgbClr val="006600"/>
                </a:solidFill>
                <a:latin typeface="Consolas" pitchFamily="49" charset="0"/>
                <a:ea typeface="仿宋" pitchFamily="49" charset="-122"/>
              </a:rPr>
              <a:t>2</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x</a:t>
            </a:r>
            <a:r>
              <a:rPr lang="en-US" altLang="zh-CN">
                <a:solidFill>
                  <a:srgbClr val="006600"/>
                </a:solidFill>
                <a:latin typeface="Consolas" pitchFamily="49" charset="0"/>
                <a:ea typeface="仿宋" pitchFamily="49" charset="-122"/>
              </a:rPr>
              <a:t>)</a:t>
            </a:r>
            <a:r>
              <a:rPr lang="zh-CN" altLang="zh-CN">
                <a:solidFill>
                  <a:srgbClr val="006600"/>
                </a:solidFill>
                <a:latin typeface="宋体" pitchFamily="2" charset="-122"/>
                <a:ea typeface="宋体" pitchFamily="2" charset="-122"/>
              </a:rPr>
              <a:t>≤</a:t>
            </a:r>
            <a:r>
              <a:rPr lang="en-US" altLang="zh-CN">
                <a:solidFill>
                  <a:srgbClr val="006600"/>
                </a:solidFill>
                <a:latin typeface="Consolas" pitchFamily="49" charset="0"/>
                <a:ea typeface="仿宋" pitchFamily="49" charset="-122"/>
              </a:rPr>
              <a:t>p</a:t>
            </a:r>
            <a:r>
              <a:rPr lang="en-US" altLang="zh-CN" baseline="-25000">
                <a:solidFill>
                  <a:srgbClr val="006600"/>
                </a:solidFill>
                <a:latin typeface="Consolas" pitchFamily="49" charset="0"/>
                <a:ea typeface="仿宋" pitchFamily="49" charset="-122"/>
              </a:rPr>
              <a:t>0</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x</a:t>
            </a:r>
            <a:r>
              <a:rPr lang="zh-CN" altLang="zh-CN">
                <a:solidFill>
                  <a:srgbClr val="006600"/>
                </a:solidFill>
                <a:latin typeface="宋体" pitchFamily="2" charset="-122"/>
                <a:ea typeface="宋体" pitchFamily="2" charset="-122"/>
              </a:rPr>
              <a:t>≤</a:t>
            </a:r>
            <a:r>
              <a:rPr lang="en-US" altLang="zh-CN">
                <a:solidFill>
                  <a:srgbClr val="006600"/>
                </a:solidFill>
                <a:latin typeface="Consolas" pitchFamily="49" charset="0"/>
                <a:ea typeface="仿宋" pitchFamily="49" charset="-122"/>
              </a:rPr>
              <a:t>max(p</a:t>
            </a:r>
            <a:r>
              <a:rPr lang="en-US" altLang="zh-CN" baseline="-25000">
                <a:solidFill>
                  <a:srgbClr val="006600"/>
                </a:solidFill>
                <a:latin typeface="Consolas" pitchFamily="49" charset="0"/>
                <a:ea typeface="仿宋" pitchFamily="49" charset="-122"/>
              </a:rPr>
              <a:t>1</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x</a:t>
            </a:r>
            <a:r>
              <a:rPr lang="zh-CN" altLang="zh-CN">
                <a:solidFill>
                  <a:srgbClr val="006600"/>
                </a:solidFill>
                <a:latin typeface="Consolas" pitchFamily="49" charset="0"/>
                <a:ea typeface="仿宋" pitchFamily="49" charset="-122"/>
              </a:rPr>
              <a:t>，</a:t>
            </a:r>
            <a:r>
              <a:rPr lang="en-US" altLang="zh-CN">
                <a:solidFill>
                  <a:srgbClr val="006600"/>
                </a:solidFill>
                <a:latin typeface="Consolas" pitchFamily="49" charset="0"/>
                <a:ea typeface="仿宋" pitchFamily="49" charset="-122"/>
              </a:rPr>
              <a:t>p</a:t>
            </a:r>
            <a:r>
              <a:rPr lang="en-US" altLang="zh-CN" baseline="-25000">
                <a:solidFill>
                  <a:srgbClr val="006600"/>
                </a:solidFill>
                <a:latin typeface="Consolas" pitchFamily="49" charset="0"/>
                <a:ea typeface="仿宋" pitchFamily="49" charset="-122"/>
              </a:rPr>
              <a:t>2</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x</a:t>
            </a:r>
            <a:r>
              <a:rPr lang="en-US" altLang="zh-CN">
                <a:solidFill>
                  <a:srgbClr val="006600"/>
                </a:solidFill>
                <a:latin typeface="Consolas" pitchFamily="49" charset="0"/>
                <a:ea typeface="仿宋" pitchFamily="49" charset="-122"/>
              </a:rPr>
              <a:t>) </a:t>
            </a:r>
          </a:p>
          <a:p>
            <a:pPr>
              <a:spcBef>
                <a:spcPts val="0"/>
              </a:spcBef>
            </a:pPr>
            <a:r>
              <a:rPr lang="en-US" altLang="zh-CN">
                <a:solidFill>
                  <a:srgbClr val="006600"/>
                </a:solidFill>
                <a:latin typeface="Consolas" pitchFamily="49" charset="0"/>
                <a:ea typeface="仿宋" pitchFamily="49" charset="-122"/>
              </a:rPr>
              <a:t>  &amp;&amp; min(p</a:t>
            </a:r>
            <a:r>
              <a:rPr lang="en-US" altLang="zh-CN" baseline="-25000">
                <a:solidFill>
                  <a:srgbClr val="006600"/>
                </a:solidFill>
                <a:latin typeface="Consolas" pitchFamily="49" charset="0"/>
                <a:ea typeface="仿宋" pitchFamily="49" charset="-122"/>
              </a:rPr>
              <a:t>1</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y</a:t>
            </a:r>
            <a:r>
              <a:rPr lang="zh-CN" altLang="zh-CN">
                <a:solidFill>
                  <a:srgbClr val="006600"/>
                </a:solidFill>
                <a:latin typeface="Consolas" pitchFamily="49" charset="0"/>
                <a:ea typeface="仿宋" pitchFamily="49" charset="-122"/>
              </a:rPr>
              <a:t>，</a:t>
            </a:r>
            <a:r>
              <a:rPr lang="en-US" altLang="zh-CN">
                <a:solidFill>
                  <a:srgbClr val="006600"/>
                </a:solidFill>
                <a:latin typeface="Consolas" pitchFamily="49" charset="0"/>
                <a:ea typeface="仿宋" pitchFamily="49" charset="-122"/>
              </a:rPr>
              <a:t>p</a:t>
            </a:r>
            <a:r>
              <a:rPr lang="en-US" altLang="zh-CN" baseline="-25000">
                <a:solidFill>
                  <a:srgbClr val="006600"/>
                </a:solidFill>
                <a:latin typeface="Consolas" pitchFamily="49" charset="0"/>
                <a:ea typeface="仿宋" pitchFamily="49" charset="-122"/>
              </a:rPr>
              <a:t>2</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y</a:t>
            </a:r>
            <a:r>
              <a:rPr lang="en-US" altLang="zh-CN">
                <a:solidFill>
                  <a:srgbClr val="006600"/>
                </a:solidFill>
                <a:latin typeface="Consolas" pitchFamily="49" charset="0"/>
                <a:ea typeface="仿宋" pitchFamily="49" charset="-122"/>
              </a:rPr>
              <a:t>)</a:t>
            </a:r>
            <a:r>
              <a:rPr lang="zh-CN" altLang="zh-CN">
                <a:solidFill>
                  <a:srgbClr val="006600"/>
                </a:solidFill>
                <a:latin typeface="宋体" pitchFamily="2" charset="-122"/>
                <a:ea typeface="宋体" pitchFamily="2" charset="-122"/>
              </a:rPr>
              <a:t>≤</a:t>
            </a:r>
            <a:r>
              <a:rPr lang="en-US" altLang="zh-CN">
                <a:solidFill>
                  <a:srgbClr val="006600"/>
                </a:solidFill>
                <a:latin typeface="Consolas" pitchFamily="49" charset="0"/>
                <a:ea typeface="仿宋" pitchFamily="49" charset="-122"/>
              </a:rPr>
              <a:t>p</a:t>
            </a:r>
            <a:r>
              <a:rPr lang="en-US" altLang="zh-CN" baseline="-25000">
                <a:solidFill>
                  <a:srgbClr val="006600"/>
                </a:solidFill>
                <a:latin typeface="Consolas" pitchFamily="49" charset="0"/>
                <a:ea typeface="仿宋" pitchFamily="49" charset="-122"/>
              </a:rPr>
              <a:t>0</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y</a:t>
            </a:r>
            <a:r>
              <a:rPr lang="zh-CN" altLang="zh-CN">
                <a:solidFill>
                  <a:srgbClr val="006600"/>
                </a:solidFill>
                <a:latin typeface="宋体" pitchFamily="2" charset="-122"/>
                <a:ea typeface="宋体" pitchFamily="2" charset="-122"/>
              </a:rPr>
              <a:t>≤</a:t>
            </a:r>
            <a:r>
              <a:rPr lang="en-US" altLang="zh-CN">
                <a:solidFill>
                  <a:srgbClr val="006600"/>
                </a:solidFill>
                <a:latin typeface="Consolas" pitchFamily="49" charset="0"/>
                <a:ea typeface="仿宋" pitchFamily="49" charset="-122"/>
              </a:rPr>
              <a:t>max(p</a:t>
            </a:r>
            <a:r>
              <a:rPr lang="en-US" altLang="zh-CN" baseline="-25000">
                <a:solidFill>
                  <a:srgbClr val="006600"/>
                </a:solidFill>
                <a:latin typeface="Consolas" pitchFamily="49" charset="0"/>
                <a:ea typeface="仿宋" pitchFamily="49" charset="-122"/>
              </a:rPr>
              <a:t>1</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y</a:t>
            </a:r>
            <a:r>
              <a:rPr lang="zh-CN" altLang="zh-CN">
                <a:solidFill>
                  <a:srgbClr val="006600"/>
                </a:solidFill>
                <a:latin typeface="Consolas" pitchFamily="49" charset="0"/>
                <a:ea typeface="仿宋" pitchFamily="49" charset="-122"/>
              </a:rPr>
              <a:t>，</a:t>
            </a:r>
            <a:r>
              <a:rPr lang="en-US" altLang="zh-CN">
                <a:solidFill>
                  <a:srgbClr val="006600"/>
                </a:solidFill>
                <a:latin typeface="Consolas" pitchFamily="49" charset="0"/>
                <a:ea typeface="仿宋" pitchFamily="49" charset="-122"/>
              </a:rPr>
              <a:t>p</a:t>
            </a:r>
            <a:r>
              <a:rPr lang="en-US" altLang="zh-CN" baseline="-25000">
                <a:solidFill>
                  <a:srgbClr val="006600"/>
                </a:solidFill>
                <a:latin typeface="Consolas" pitchFamily="49" charset="0"/>
                <a:ea typeface="仿宋" pitchFamily="49" charset="-122"/>
              </a:rPr>
              <a:t>2</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y</a:t>
            </a:r>
            <a:r>
              <a:rPr lang="en-US" altLang="zh-CN">
                <a:solidFill>
                  <a:srgbClr val="006600"/>
                </a:solidFill>
                <a:latin typeface="Consolas" pitchFamily="49" charset="0"/>
                <a:ea typeface="仿宋" pitchFamily="49" charset="-122"/>
              </a:rPr>
              <a:t>)</a:t>
            </a:r>
            <a:endParaRPr lang="zh-CN" altLang="zh-CN">
              <a:solidFill>
                <a:srgbClr val="006600"/>
              </a:solidFill>
              <a:latin typeface="Consolas" pitchFamily="49" charset="0"/>
              <a:ea typeface="仿宋" pitchFamily="49" charset="-122"/>
            </a:endParaRPr>
          </a:p>
        </p:txBody>
      </p:sp>
      <p:grpSp>
        <p:nvGrpSpPr>
          <p:cNvPr id="5" name="组合 4"/>
          <p:cNvGrpSpPr/>
          <p:nvPr/>
        </p:nvGrpSpPr>
        <p:grpSpPr>
          <a:xfrm>
            <a:off x="2428860" y="2786058"/>
            <a:ext cx="2786876" cy="1966510"/>
            <a:chOff x="3999702" y="4107284"/>
            <a:chExt cx="2786876" cy="1966510"/>
          </a:xfrm>
        </p:grpSpPr>
        <p:cxnSp>
          <p:nvCxnSpPr>
            <p:cNvPr id="6" name="直接箭头连接符 5"/>
            <p:cNvCxnSpPr/>
            <p:nvPr/>
          </p:nvCxnSpPr>
          <p:spPr>
            <a:xfrm rot="5400000" flipH="1" flipV="1">
              <a:off x="3143240" y="5214950"/>
              <a:ext cx="1714512"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直接箭头连接符 6"/>
            <p:cNvCxnSpPr/>
            <p:nvPr/>
          </p:nvCxnSpPr>
          <p:spPr>
            <a:xfrm>
              <a:off x="4000496" y="6072206"/>
              <a:ext cx="2714644"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矩形 7"/>
            <p:cNvSpPr/>
            <p:nvPr/>
          </p:nvSpPr>
          <p:spPr>
            <a:xfrm>
              <a:off x="4357686" y="4500570"/>
              <a:ext cx="2000264" cy="1357322"/>
            </a:xfrm>
            <a:prstGeom prst="rect">
              <a:avLst/>
            </a:prstGeom>
            <a:solidFill>
              <a:schemeClr val="accent1">
                <a:alpha val="0"/>
              </a:schemeClr>
            </a:solidFill>
            <a:ln>
              <a:solidFill>
                <a:srgbClr val="99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cxnSp>
          <p:nvCxnSpPr>
            <p:cNvPr id="9" name="直接箭头连接符 8"/>
            <p:cNvCxnSpPr/>
            <p:nvPr/>
          </p:nvCxnSpPr>
          <p:spPr>
            <a:xfrm>
              <a:off x="4857752" y="5429264"/>
              <a:ext cx="1500198" cy="42862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10" name="直接箭头连接符 9"/>
            <p:cNvCxnSpPr/>
            <p:nvPr/>
          </p:nvCxnSpPr>
          <p:spPr>
            <a:xfrm rot="16200000" flipV="1">
              <a:off x="4143372" y="4714884"/>
              <a:ext cx="928694" cy="500066"/>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
          <p:nvSpPr>
            <p:cNvPr id="11" name="TextBox 10"/>
            <p:cNvSpPr txBox="1"/>
            <p:nvPr/>
          </p:nvSpPr>
          <p:spPr>
            <a:xfrm>
              <a:off x="6357950" y="5600658"/>
              <a:ext cx="428628"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12" name="TextBox 11"/>
            <p:cNvSpPr txBox="1"/>
            <p:nvPr/>
          </p:nvSpPr>
          <p:spPr>
            <a:xfrm>
              <a:off x="4572000" y="5314906"/>
              <a:ext cx="428628"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sp>
          <p:nvSpPr>
            <p:cNvPr id="13" name="TextBox 12"/>
            <p:cNvSpPr txBox="1"/>
            <p:nvPr/>
          </p:nvSpPr>
          <p:spPr>
            <a:xfrm>
              <a:off x="4071934" y="4107284"/>
              <a:ext cx="428628" cy="400110"/>
            </a:xfrm>
            <a:prstGeom prst="rect">
              <a:avLst/>
            </a:prstGeom>
            <a:noFill/>
          </p:spPr>
          <p:txBody>
            <a:bodyPr wrap="square" rtlCol="0">
              <a:spAutoFit/>
            </a:bodyPr>
            <a:lstStyle/>
            <a:p>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14" name="任意多边形 13"/>
            <p:cNvSpPr/>
            <p:nvPr/>
          </p:nvSpPr>
          <p:spPr>
            <a:xfrm>
              <a:off x="4764505" y="5233737"/>
              <a:ext cx="300790" cy="252663"/>
            </a:xfrm>
            <a:custGeom>
              <a:avLst/>
              <a:gdLst>
                <a:gd name="connsiteX0" fmla="*/ 0 w 300790"/>
                <a:gd name="connsiteY0" fmla="*/ 0 h 252663"/>
                <a:gd name="connsiteX1" fmla="*/ 228600 w 300790"/>
                <a:gd name="connsiteY1" fmla="*/ 72189 h 252663"/>
                <a:gd name="connsiteX2" fmla="*/ 300790 w 300790"/>
                <a:gd name="connsiteY2" fmla="*/ 252663 h 252663"/>
              </a:gdLst>
              <a:ahLst/>
              <a:cxnLst>
                <a:cxn ang="0">
                  <a:pos x="connsiteX0" y="connsiteY0"/>
                </a:cxn>
                <a:cxn ang="0">
                  <a:pos x="connsiteX1" y="connsiteY1"/>
                </a:cxn>
                <a:cxn ang="0">
                  <a:pos x="connsiteX2" y="connsiteY2"/>
                </a:cxn>
              </a:cxnLst>
              <a:rect l="l" t="t" r="r" b="b"/>
              <a:pathLst>
                <a:path w="300790" h="252663">
                  <a:moveTo>
                    <a:pt x="0" y="0"/>
                  </a:moveTo>
                  <a:cubicBezTo>
                    <a:pt x="89234" y="15039"/>
                    <a:pt x="178468" y="30079"/>
                    <a:pt x="228600" y="72189"/>
                  </a:cubicBezTo>
                  <a:cubicBezTo>
                    <a:pt x="278732" y="114299"/>
                    <a:pt x="289761" y="183481"/>
                    <a:pt x="300790" y="252663"/>
                  </a:cubicBez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15" name="TextBox 14"/>
            <p:cNvSpPr txBox="1"/>
            <p:nvPr/>
          </p:nvSpPr>
          <p:spPr>
            <a:xfrm>
              <a:off x="4929190" y="4929198"/>
              <a:ext cx="285752" cy="400110"/>
            </a:xfrm>
            <a:prstGeom prst="rect">
              <a:avLst/>
            </a:prstGeom>
            <a:noFill/>
          </p:spPr>
          <p:txBody>
            <a:bodyPr wrap="square" rtlCol="0">
              <a:spAutoFit/>
            </a:bodyPr>
            <a:lstStyle/>
            <a:p>
              <a:r>
                <a:rPr lang="en-US" altLang="zh-CN" sz="2000">
                  <a:solidFill>
                    <a:srgbClr val="0000FF"/>
                  </a:solidFill>
                  <a:latin typeface="Consolas" pitchFamily="49" charset="0"/>
                  <a:ea typeface="楷体" pitchFamily="49" charset="-122"/>
                  <a:cs typeface="Consolas" pitchFamily="49" charset="0"/>
                  <a:sym typeface="Symbol"/>
                </a:rPr>
                <a:t></a:t>
              </a:r>
              <a:endParaRPr lang="zh-CN" altLang="en-US" sz="2000">
                <a:latin typeface="Consolas" pitchFamily="49" charset="0"/>
                <a:cs typeface="Consolas" pitchFamily="49" charset="0"/>
              </a:endParaRPr>
            </a:p>
          </p:txBody>
        </p:sp>
      </p:grpSp>
      <p:sp>
        <p:nvSpPr>
          <p:cNvPr id="16" name="灯片编号占位符 15"/>
          <p:cNvSpPr>
            <a:spLocks noGrp="1"/>
          </p:cNvSpPr>
          <p:nvPr>
            <p:ph type="sldNum" sz="quarter" idx="12"/>
          </p:nvPr>
        </p:nvSpPr>
        <p:spPr/>
        <p:txBody>
          <a:bodyPr/>
          <a:lstStyle/>
          <a:p>
            <a:pPr>
              <a:defRPr/>
            </a:pPr>
            <a:fld id="{51116183-1013-4E64-BBE8-A5C1D5D4F838}" type="slidenum">
              <a:rPr lang="en-US" altLang="zh-CN" smtClean="0"/>
              <a:pPr>
                <a:defRPr/>
              </a:pPr>
              <a:t>41</a:t>
            </a:fld>
            <a:r>
              <a:rPr lang="en-US" altLang="zh-CN"/>
              <a:t>/167</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Text Box 2"/>
          <p:cNvSpPr txBox="1">
            <a:spLocks noChangeArrowheads="1"/>
          </p:cNvSpPr>
          <p:nvPr/>
        </p:nvSpPr>
        <p:spPr bwMode="auto">
          <a:xfrm>
            <a:off x="395288" y="404812"/>
            <a:ext cx="6748480" cy="52322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spcBef>
                <a:spcPct val="50000"/>
              </a:spcBef>
              <a:defRPr/>
            </a:pP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10.1.3 </a:t>
            </a:r>
            <a:r>
              <a:rPr lang="zh-CN" altLang="en-US"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判断一个点是否在一条线段上</a:t>
            </a:r>
          </a:p>
        </p:txBody>
      </p:sp>
      <p:sp>
        <p:nvSpPr>
          <p:cNvPr id="5" name="TextBox 4"/>
          <p:cNvSpPr txBox="1"/>
          <p:nvPr/>
        </p:nvSpPr>
        <p:spPr>
          <a:xfrm>
            <a:off x="857224" y="2571744"/>
            <a:ext cx="7572428" cy="2322138"/>
          </a:xfrm>
          <a:prstGeom prst="rect">
            <a:avLst/>
          </a:prstGeom>
          <a:ln>
            <a:solidFill>
              <a:schemeClr val="accent6">
                <a:lumMod val="40000"/>
                <a:lumOff val="60000"/>
              </a:schemeClr>
            </a:solidFill>
          </a:ln>
        </p:spPr>
        <p:style>
          <a:lnRef idx="2">
            <a:schemeClr val="accent2"/>
          </a:lnRef>
          <a:fillRef idx="1">
            <a:schemeClr val="lt1"/>
          </a:fillRef>
          <a:effectRef idx="0">
            <a:schemeClr val="accent2"/>
          </a:effectRef>
          <a:fontRef idx="minor">
            <a:schemeClr val="dk1"/>
          </a:fontRef>
        </p:style>
        <p:txBody>
          <a:bodyPr wrap="square" lIns="180000" tIns="144000" rIns="180000" bIns="144000" rtlCol="0">
            <a:spAutoFit/>
          </a:bodyPr>
          <a:lstStyle/>
          <a:p>
            <a:pPr marL="457200" indent="-457200">
              <a:lnSpc>
                <a:spcPct val="150000"/>
              </a:lnSpc>
              <a:buBlip>
                <a:blip r:embed="rId2"/>
              </a:buBlip>
            </a:pPr>
            <a:r>
              <a:rPr lang="zh-CN" altLang="zh-CN" sz="2200">
                <a:solidFill>
                  <a:srgbClr val="0000FF"/>
                </a:solidFill>
                <a:latin typeface="Consolas" pitchFamily="49" charset="0"/>
                <a:ea typeface="仿宋" pitchFamily="49" charset="-122"/>
                <a:cs typeface="Consolas" pitchFamily="49" charset="0"/>
              </a:rPr>
              <a:t>点</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0</a:t>
            </a:r>
            <a:r>
              <a:rPr lang="zh-CN" altLang="zh-CN" sz="2200">
                <a:solidFill>
                  <a:srgbClr val="0000FF"/>
                </a:solidFill>
                <a:latin typeface="Consolas" pitchFamily="49" charset="0"/>
                <a:ea typeface="仿宋" pitchFamily="49" charset="-122"/>
                <a:cs typeface="Consolas" pitchFamily="49" charset="0"/>
              </a:rPr>
              <a:t>在线段为</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1</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2</a:t>
            </a:r>
            <a:r>
              <a:rPr lang="zh-CN" altLang="zh-CN" sz="2200">
                <a:solidFill>
                  <a:srgbClr val="0000FF"/>
                </a:solidFill>
                <a:latin typeface="Consolas" pitchFamily="49" charset="0"/>
                <a:ea typeface="仿宋" pitchFamily="49" charset="-122"/>
                <a:cs typeface="Consolas" pitchFamily="49" charset="0"/>
              </a:rPr>
              <a:t>所在的直线上应满足的条件是：</a:t>
            </a:r>
            <a:r>
              <a:rPr lang="en-US" altLang="zh-CN" sz="2200">
                <a:solidFill>
                  <a:srgbClr val="0000FF"/>
                </a:solidFill>
                <a:latin typeface="Consolas" pitchFamily="49" charset="0"/>
                <a:ea typeface="仿宋" pitchFamily="49" charset="-122"/>
                <a:cs typeface="Consolas" pitchFamily="49" charset="0"/>
              </a:rPr>
              <a:t>                               </a:t>
            </a:r>
            <a:r>
              <a:rPr lang="en-US" altLang="zh-CN" sz="2200">
                <a:solidFill>
                  <a:srgbClr val="006600"/>
                </a:solidFill>
                <a:latin typeface="Consolas" pitchFamily="49" charset="0"/>
                <a:ea typeface="仿宋" pitchFamily="49" charset="-122"/>
                <a:cs typeface="Consolas" pitchFamily="49" charset="0"/>
              </a:rPr>
              <a:t>(p</a:t>
            </a:r>
            <a:r>
              <a:rPr lang="en-US" altLang="zh-CN" sz="2200" baseline="-25000">
                <a:solidFill>
                  <a:srgbClr val="006600"/>
                </a:solidFill>
                <a:latin typeface="Consolas" pitchFamily="49" charset="0"/>
                <a:ea typeface="仿宋" pitchFamily="49" charset="-122"/>
                <a:cs typeface="Consolas" pitchFamily="49" charset="0"/>
              </a:rPr>
              <a:t>1</a:t>
            </a:r>
            <a:r>
              <a:rPr lang="en-US" altLang="zh-CN" sz="2200">
                <a:solidFill>
                  <a:srgbClr val="006600"/>
                </a:solidFill>
                <a:latin typeface="Consolas" pitchFamily="49" charset="0"/>
                <a:ea typeface="仿宋" pitchFamily="49" charset="-122"/>
                <a:cs typeface="Consolas" pitchFamily="49" charset="0"/>
              </a:rPr>
              <a:t>-p</a:t>
            </a:r>
            <a:r>
              <a:rPr lang="en-US" altLang="zh-CN" sz="2200" baseline="-25000">
                <a:solidFill>
                  <a:srgbClr val="006600"/>
                </a:solidFill>
                <a:latin typeface="Consolas" pitchFamily="49" charset="0"/>
                <a:ea typeface="仿宋" pitchFamily="49" charset="-122"/>
                <a:cs typeface="Consolas" pitchFamily="49" charset="0"/>
              </a:rPr>
              <a:t>0</a:t>
            </a:r>
            <a:r>
              <a:rPr lang="en-US" altLang="zh-CN" sz="2200">
                <a:solidFill>
                  <a:srgbClr val="006600"/>
                </a:solidFill>
                <a:latin typeface="Consolas" pitchFamily="49" charset="0"/>
                <a:ea typeface="仿宋" pitchFamily="49" charset="-122"/>
                <a:cs typeface="Consolas" pitchFamily="49" charset="0"/>
              </a:rPr>
              <a:t>)×(p</a:t>
            </a:r>
            <a:r>
              <a:rPr lang="en-US" altLang="zh-CN" sz="2200" baseline="-25000">
                <a:solidFill>
                  <a:srgbClr val="006600"/>
                </a:solidFill>
                <a:latin typeface="Consolas" pitchFamily="49" charset="0"/>
                <a:ea typeface="仿宋" pitchFamily="49" charset="-122"/>
                <a:cs typeface="Consolas" pitchFamily="49" charset="0"/>
              </a:rPr>
              <a:t>2</a:t>
            </a:r>
            <a:r>
              <a:rPr lang="en-US" altLang="zh-CN" sz="2200">
                <a:solidFill>
                  <a:srgbClr val="006600"/>
                </a:solidFill>
                <a:latin typeface="Consolas" pitchFamily="49" charset="0"/>
                <a:ea typeface="仿宋" pitchFamily="49" charset="-122"/>
                <a:cs typeface="Consolas" pitchFamily="49" charset="0"/>
              </a:rPr>
              <a:t>-p</a:t>
            </a:r>
            <a:r>
              <a:rPr lang="en-US" altLang="zh-CN" sz="2200" baseline="-25000">
                <a:solidFill>
                  <a:srgbClr val="006600"/>
                </a:solidFill>
                <a:latin typeface="Consolas" pitchFamily="49" charset="0"/>
                <a:ea typeface="仿宋" pitchFamily="49" charset="-122"/>
                <a:cs typeface="Consolas" pitchFamily="49" charset="0"/>
              </a:rPr>
              <a:t>0</a:t>
            </a:r>
            <a:r>
              <a:rPr lang="en-US" altLang="zh-CN" sz="2200">
                <a:solidFill>
                  <a:srgbClr val="006600"/>
                </a:solidFill>
                <a:latin typeface="Consolas" pitchFamily="49" charset="0"/>
                <a:ea typeface="仿宋" pitchFamily="49" charset="-122"/>
                <a:cs typeface="Consolas" pitchFamily="49" charset="0"/>
              </a:rPr>
              <a:t>)=0</a:t>
            </a:r>
            <a:r>
              <a:rPr lang="zh-CN" altLang="zh-CN" sz="2200">
                <a:solidFill>
                  <a:srgbClr val="006600"/>
                </a:solidFill>
                <a:latin typeface="Consolas" pitchFamily="49" charset="0"/>
                <a:ea typeface="仿宋" pitchFamily="49" charset="-122"/>
                <a:cs typeface="Consolas" pitchFamily="49" charset="0"/>
              </a:rPr>
              <a:t>。</a:t>
            </a:r>
          </a:p>
          <a:p>
            <a:pPr marL="457200" indent="-457200">
              <a:lnSpc>
                <a:spcPct val="150000"/>
              </a:lnSpc>
              <a:buBlip>
                <a:blip r:embed="rId2"/>
              </a:buBlip>
            </a:pPr>
            <a:r>
              <a:rPr lang="zh-CN" altLang="zh-CN" sz="2200">
                <a:solidFill>
                  <a:srgbClr val="0000FF"/>
                </a:solidFill>
                <a:latin typeface="Consolas" pitchFamily="49" charset="0"/>
                <a:ea typeface="仿宋" pitchFamily="49" charset="-122"/>
                <a:cs typeface="Consolas" pitchFamily="49" charset="0"/>
              </a:rPr>
              <a:t>点</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0</a:t>
            </a:r>
            <a:r>
              <a:rPr lang="zh-CN" altLang="zh-CN" sz="2200">
                <a:solidFill>
                  <a:srgbClr val="0000FF"/>
                </a:solidFill>
                <a:latin typeface="Consolas" pitchFamily="49" charset="0"/>
                <a:ea typeface="仿宋" pitchFamily="49" charset="-122"/>
                <a:cs typeface="Consolas" pitchFamily="49" charset="0"/>
              </a:rPr>
              <a:t>在以</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2</a:t>
            </a:r>
            <a:r>
              <a:rPr lang="zh-CN" altLang="zh-CN" sz="2200">
                <a:solidFill>
                  <a:srgbClr val="0000FF"/>
                </a:solidFill>
                <a:latin typeface="Consolas" pitchFamily="49" charset="0"/>
                <a:ea typeface="仿宋" pitchFamily="49" charset="-122"/>
                <a:cs typeface="Consolas" pitchFamily="49" charset="0"/>
              </a:rPr>
              <a:t>为对角顶点的矩形内应满足的条件是：</a:t>
            </a:r>
            <a:r>
              <a:rPr lang="en-US" altLang="zh-CN" sz="2200">
                <a:solidFill>
                  <a:srgbClr val="0000FF"/>
                </a:solidFill>
                <a:latin typeface="Consolas" pitchFamily="49" charset="0"/>
                <a:ea typeface="仿宋" pitchFamily="49" charset="-122"/>
                <a:cs typeface="Consolas" pitchFamily="49" charset="0"/>
              </a:rPr>
              <a:t>                  </a:t>
            </a:r>
            <a:r>
              <a:rPr lang="en-US" altLang="zh-CN" sz="2200">
                <a:solidFill>
                  <a:srgbClr val="006600"/>
                </a:solidFill>
                <a:latin typeface="Consolas" pitchFamily="49" charset="0"/>
                <a:ea typeface="仿宋" pitchFamily="49" charset="-122"/>
                <a:cs typeface="Consolas" pitchFamily="49" charset="0"/>
              </a:rPr>
              <a:t>(p</a:t>
            </a:r>
            <a:r>
              <a:rPr lang="en-US" altLang="zh-CN" sz="2200" baseline="-25000">
                <a:solidFill>
                  <a:srgbClr val="006600"/>
                </a:solidFill>
                <a:latin typeface="Consolas" pitchFamily="49" charset="0"/>
                <a:ea typeface="仿宋" pitchFamily="49" charset="-122"/>
                <a:cs typeface="Consolas" pitchFamily="49" charset="0"/>
              </a:rPr>
              <a:t>1</a:t>
            </a:r>
            <a:r>
              <a:rPr lang="en-US" altLang="zh-CN" sz="2200">
                <a:solidFill>
                  <a:srgbClr val="006600"/>
                </a:solidFill>
                <a:latin typeface="Consolas" pitchFamily="49" charset="0"/>
                <a:ea typeface="仿宋" pitchFamily="49" charset="-122"/>
                <a:cs typeface="Consolas" pitchFamily="49" charset="0"/>
              </a:rPr>
              <a:t>-p</a:t>
            </a:r>
            <a:r>
              <a:rPr lang="en-US" altLang="zh-CN" sz="2200" baseline="-25000">
                <a:solidFill>
                  <a:srgbClr val="006600"/>
                </a:solidFill>
                <a:latin typeface="Consolas" pitchFamily="49" charset="0"/>
                <a:ea typeface="仿宋" pitchFamily="49" charset="-122"/>
                <a:cs typeface="Consolas" pitchFamily="49" charset="0"/>
              </a:rPr>
              <a:t>0</a:t>
            </a:r>
            <a:r>
              <a:rPr lang="en-US" altLang="zh-CN" sz="2200">
                <a:solidFill>
                  <a:srgbClr val="006600"/>
                </a:solidFill>
                <a:latin typeface="Consolas" pitchFamily="49" charset="0"/>
                <a:ea typeface="仿宋" pitchFamily="49" charset="-122"/>
                <a:cs typeface="Consolas" pitchFamily="49" charset="0"/>
              </a:rPr>
              <a:t>)·(p</a:t>
            </a:r>
            <a:r>
              <a:rPr lang="en-US" altLang="zh-CN" sz="2200" baseline="-25000">
                <a:solidFill>
                  <a:srgbClr val="006600"/>
                </a:solidFill>
                <a:latin typeface="Consolas" pitchFamily="49" charset="0"/>
                <a:ea typeface="仿宋" pitchFamily="49" charset="-122"/>
                <a:cs typeface="Consolas" pitchFamily="49" charset="0"/>
              </a:rPr>
              <a:t>2</a:t>
            </a:r>
            <a:r>
              <a:rPr lang="en-US" altLang="zh-CN" sz="2200">
                <a:solidFill>
                  <a:srgbClr val="006600"/>
                </a:solidFill>
                <a:latin typeface="Consolas" pitchFamily="49" charset="0"/>
                <a:ea typeface="仿宋" pitchFamily="49" charset="-122"/>
                <a:cs typeface="Consolas" pitchFamily="49" charset="0"/>
              </a:rPr>
              <a:t>-p</a:t>
            </a:r>
            <a:r>
              <a:rPr lang="en-US" altLang="zh-CN" sz="2200" baseline="-25000">
                <a:solidFill>
                  <a:srgbClr val="006600"/>
                </a:solidFill>
                <a:latin typeface="Consolas" pitchFamily="49" charset="0"/>
                <a:ea typeface="仿宋" pitchFamily="49" charset="-122"/>
                <a:cs typeface="Consolas" pitchFamily="49" charset="0"/>
              </a:rPr>
              <a:t>0</a:t>
            </a:r>
            <a:r>
              <a:rPr lang="en-US" altLang="zh-CN" sz="2200">
                <a:solidFill>
                  <a:srgbClr val="006600"/>
                </a:solidFill>
                <a:latin typeface="Consolas" pitchFamily="49" charset="0"/>
                <a:ea typeface="仿宋" pitchFamily="49" charset="-122"/>
                <a:cs typeface="Consolas" pitchFamily="49" charset="0"/>
              </a:rPr>
              <a:t>)</a:t>
            </a:r>
            <a:r>
              <a:rPr lang="en-US" altLang="zh-CN" sz="2200">
                <a:solidFill>
                  <a:srgbClr val="006600"/>
                </a:solidFill>
                <a:latin typeface="宋体" pitchFamily="2" charset="-122"/>
                <a:ea typeface="宋体" pitchFamily="2" charset="-122"/>
                <a:cs typeface="Consolas" pitchFamily="49" charset="0"/>
              </a:rPr>
              <a:t>≤</a:t>
            </a:r>
            <a:r>
              <a:rPr lang="en-US" altLang="zh-CN" sz="2200">
                <a:solidFill>
                  <a:srgbClr val="006600"/>
                </a:solidFill>
                <a:latin typeface="Consolas" pitchFamily="49" charset="0"/>
                <a:ea typeface="仿宋" pitchFamily="49" charset="-122"/>
                <a:cs typeface="Consolas" pitchFamily="49" charset="0"/>
              </a:rPr>
              <a:t>0</a:t>
            </a:r>
            <a:r>
              <a:rPr lang="zh-CN" altLang="zh-CN" sz="2200">
                <a:solidFill>
                  <a:srgbClr val="006600"/>
                </a:solidFill>
                <a:latin typeface="Consolas" pitchFamily="49" charset="0"/>
                <a:ea typeface="仿宋" pitchFamily="49" charset="-122"/>
                <a:cs typeface="Consolas" pitchFamily="49" charset="0"/>
              </a:rPr>
              <a:t>。</a:t>
            </a:r>
          </a:p>
        </p:txBody>
      </p:sp>
      <p:sp>
        <p:nvSpPr>
          <p:cNvPr id="7" name="TextBox 6"/>
          <p:cNvSpPr txBox="1"/>
          <p:nvPr/>
        </p:nvSpPr>
        <p:spPr>
          <a:xfrm>
            <a:off x="500034" y="1428736"/>
            <a:ext cx="8143932" cy="830997"/>
          </a:xfrm>
          <a:prstGeom prst="rect">
            <a:avLst/>
          </a:prstGeom>
          <a:noFill/>
        </p:spPr>
        <p:txBody>
          <a:bodyPr wrap="square" rtlCol="0">
            <a:spAutoFit/>
          </a:bodyPr>
          <a:lstStyle/>
          <a:p>
            <a:r>
              <a:rPr lang="zh-CN" altLang="zh-CN">
                <a:solidFill>
                  <a:srgbClr val="0000FF"/>
                </a:solidFill>
                <a:latin typeface="Consolas" pitchFamily="49" charset="0"/>
                <a:ea typeface="仿宋" pitchFamily="49" charset="-122"/>
                <a:cs typeface="Consolas" pitchFamily="49" charset="0"/>
              </a:rPr>
              <a:t>设点为</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，线段为</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，若点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在该线段上（含点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），应同时满足两个条件：</a:t>
            </a:r>
            <a:endParaRPr lang="en-US" altLang="zh-CN">
              <a:solidFill>
                <a:srgbClr val="0000FF"/>
              </a:solidFill>
              <a:latin typeface="Consolas" pitchFamily="49" charset="0"/>
              <a:ea typeface="仿宋" pitchFamily="49" charset="-122"/>
              <a:cs typeface="Consolas" pitchFamily="49" charset="0"/>
            </a:endParaRPr>
          </a:p>
        </p:txBody>
      </p:sp>
      <p:sp>
        <p:nvSpPr>
          <p:cNvPr id="8" name="灯片编号占位符 7"/>
          <p:cNvSpPr>
            <a:spLocks noGrp="1"/>
          </p:cNvSpPr>
          <p:nvPr>
            <p:ph type="sldNum" sz="quarter" idx="12"/>
          </p:nvPr>
        </p:nvSpPr>
        <p:spPr/>
        <p:txBody>
          <a:bodyPr/>
          <a:lstStyle/>
          <a:p>
            <a:pPr>
              <a:defRPr/>
            </a:pPr>
            <a:fld id="{51116183-1013-4E64-BBE8-A5C1D5D4F838}" type="slidenum">
              <a:rPr lang="en-US" altLang="zh-CN" smtClean="0"/>
              <a:pPr>
                <a:defRPr/>
              </a:pPr>
              <a:t>42</a:t>
            </a:fld>
            <a:r>
              <a:rPr lang="en-US" altLang="zh-CN"/>
              <a:t>/167</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500034" y="1393473"/>
            <a:ext cx="8286808" cy="1975102"/>
          </a:xfrm>
          <a:prstGeom prst="rect">
            <a:avLst/>
          </a:prstGeom>
          <a:solidFill>
            <a:schemeClr val="bg1"/>
          </a:solidFill>
          <a:ln>
            <a:solidFill>
              <a:schemeClr val="accent6">
                <a:lumMod val="20000"/>
                <a:lumOff val="80000"/>
              </a:schemeClr>
            </a:solid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180000" tIns="216000" bIns="216000">
            <a:spAutoFit/>
          </a:bodyPr>
          <a:lstStyle/>
          <a:p>
            <a:r>
              <a:rPr lang="en-US" altLang="zh-CN" sz="2000" dirty="0" err="1">
                <a:solidFill>
                  <a:srgbClr val="0000FF"/>
                </a:solidFill>
                <a:latin typeface="Consolas" pitchFamily="49" charset="0"/>
                <a:ea typeface="楷体" pitchFamily="49" charset="-122"/>
                <a:cs typeface="Consolas" pitchFamily="49" charset="0"/>
              </a:rPr>
              <a:t>bool</a:t>
            </a:r>
            <a:r>
              <a:rPr lang="en-US" altLang="zh-CN" sz="2000" dirty="0">
                <a:solidFill>
                  <a:srgbClr val="0000FF"/>
                </a:solidFill>
                <a:latin typeface="Consolas" pitchFamily="49" charset="0"/>
                <a:ea typeface="楷体" pitchFamily="49" charset="-122"/>
                <a:cs typeface="Consolas" pitchFamily="49" charset="0"/>
              </a:rPr>
              <a:t> </a:t>
            </a:r>
            <a:r>
              <a:rPr lang="en-US" altLang="zh-CN" sz="2000" err="1">
                <a:solidFill>
                  <a:srgbClr val="FF0000"/>
                </a:solidFill>
                <a:latin typeface="Consolas" pitchFamily="49" charset="0"/>
                <a:ea typeface="楷体" pitchFamily="49" charset="-122"/>
                <a:cs typeface="Consolas" pitchFamily="49" charset="0"/>
              </a:rPr>
              <a:t>OnSegment</a:t>
            </a:r>
            <a:r>
              <a:rPr lang="en-US" altLang="zh-CN" sz="2000">
                <a:solidFill>
                  <a:srgbClr val="0000FF"/>
                </a:solidFill>
                <a:latin typeface="Consolas" pitchFamily="49" charset="0"/>
                <a:ea typeface="楷体" pitchFamily="49" charset="-122"/>
                <a:cs typeface="Consolas" pitchFamily="49" charset="0"/>
              </a:rPr>
              <a:t>(Point p0</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Point p1</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Point </a:t>
            </a:r>
            <a:r>
              <a:rPr lang="en-US" altLang="zh-CN" sz="2000" dirty="0" err="1">
                <a:solidFill>
                  <a:srgbClr val="0000FF"/>
                </a:solidFill>
                <a:latin typeface="Consolas" pitchFamily="49" charset="0"/>
                <a:ea typeface="楷体" pitchFamily="49" charset="-122"/>
                <a:cs typeface="Consolas" pitchFamily="49" charset="0"/>
              </a:rPr>
              <a:t>p2</a:t>
            </a:r>
            <a:r>
              <a:rPr lang="en-US" altLang="zh-CN" sz="2000" dirty="0">
                <a:solidFill>
                  <a:srgbClr val="0000FF"/>
                </a:solidFill>
                <a:latin typeface="Consolas" pitchFamily="49" charset="0"/>
                <a:ea typeface="楷体" pitchFamily="49" charset="-122"/>
                <a:cs typeface="Consolas" pitchFamily="49" charset="0"/>
              </a:rPr>
              <a:t>)</a:t>
            </a:r>
          </a:p>
          <a:p>
            <a:r>
              <a:rPr lang="en-US" altLang="zh-CN" sz="2000" dirty="0">
                <a:solidFill>
                  <a:srgbClr val="00B050"/>
                </a:solidFill>
                <a:latin typeface="Consolas" pitchFamily="49" charset="0"/>
                <a:ea typeface="楷体" pitchFamily="49" charset="-122"/>
                <a:cs typeface="Consolas" pitchFamily="49" charset="0"/>
              </a:rPr>
              <a:t>//</a:t>
            </a:r>
            <a:r>
              <a:rPr lang="zh-CN" altLang="en-US" sz="2000" dirty="0">
                <a:solidFill>
                  <a:srgbClr val="00B050"/>
                </a:solidFill>
                <a:latin typeface="Consolas" pitchFamily="49" charset="0"/>
                <a:ea typeface="楷体" pitchFamily="49" charset="-122"/>
                <a:cs typeface="Consolas" pitchFamily="49" charset="0"/>
              </a:rPr>
              <a:t>判断点</a:t>
            </a:r>
            <a:r>
              <a:rPr lang="en-US" altLang="zh-CN" sz="2000" dirty="0" err="1">
                <a:solidFill>
                  <a:srgbClr val="00B050"/>
                </a:solidFill>
                <a:latin typeface="Consolas" pitchFamily="49" charset="0"/>
                <a:ea typeface="楷体" pitchFamily="49" charset="-122"/>
                <a:cs typeface="Consolas" pitchFamily="49" charset="0"/>
              </a:rPr>
              <a:t>p</a:t>
            </a:r>
            <a:r>
              <a:rPr lang="en-US" altLang="zh-CN" sz="2000" baseline="-25000" dirty="0" err="1">
                <a:solidFill>
                  <a:srgbClr val="00B050"/>
                </a:solidFill>
                <a:latin typeface="Consolas" pitchFamily="49" charset="0"/>
                <a:ea typeface="楷体" pitchFamily="49" charset="-122"/>
                <a:cs typeface="Consolas" pitchFamily="49" charset="0"/>
              </a:rPr>
              <a:t>0</a:t>
            </a:r>
            <a:r>
              <a:rPr lang="zh-CN" altLang="en-US" sz="2000" dirty="0">
                <a:solidFill>
                  <a:srgbClr val="00B050"/>
                </a:solidFill>
                <a:latin typeface="Consolas" pitchFamily="49" charset="0"/>
                <a:ea typeface="楷体" pitchFamily="49" charset="-122"/>
                <a:cs typeface="Consolas" pitchFamily="49" charset="0"/>
              </a:rPr>
              <a:t>是否在线段</a:t>
            </a:r>
            <a:r>
              <a:rPr lang="en-US" altLang="zh-CN" sz="2000" dirty="0" err="1">
                <a:solidFill>
                  <a:srgbClr val="00B050"/>
                </a:solidFill>
                <a:latin typeface="Consolas" pitchFamily="49" charset="0"/>
                <a:ea typeface="楷体" pitchFamily="49" charset="-122"/>
                <a:cs typeface="Consolas" pitchFamily="49" charset="0"/>
              </a:rPr>
              <a:t>p</a:t>
            </a:r>
            <a:r>
              <a:rPr lang="en-US" altLang="zh-CN" sz="2000" baseline="-25000" dirty="0" err="1">
                <a:solidFill>
                  <a:srgbClr val="00B050"/>
                </a:solidFill>
                <a:latin typeface="Consolas" pitchFamily="49" charset="0"/>
                <a:ea typeface="楷体" pitchFamily="49" charset="-122"/>
                <a:cs typeface="Consolas" pitchFamily="49" charset="0"/>
              </a:rPr>
              <a:t>1</a:t>
            </a:r>
            <a:r>
              <a:rPr lang="en-US" altLang="zh-CN" sz="2000" dirty="0" err="1">
                <a:solidFill>
                  <a:srgbClr val="00B050"/>
                </a:solidFill>
                <a:latin typeface="Consolas" pitchFamily="49" charset="0"/>
                <a:ea typeface="楷体" pitchFamily="49" charset="-122"/>
                <a:cs typeface="Consolas" pitchFamily="49" charset="0"/>
              </a:rPr>
              <a:t>p</a:t>
            </a:r>
            <a:r>
              <a:rPr lang="en-US" altLang="zh-CN" sz="2000" baseline="-25000" dirty="0" err="1">
                <a:solidFill>
                  <a:srgbClr val="00B050"/>
                </a:solidFill>
                <a:latin typeface="Consolas" pitchFamily="49" charset="0"/>
                <a:ea typeface="楷体" pitchFamily="49" charset="-122"/>
                <a:cs typeface="Consolas" pitchFamily="49" charset="0"/>
              </a:rPr>
              <a:t>2</a:t>
            </a:r>
            <a:r>
              <a:rPr lang="zh-CN" altLang="en-US" sz="2000" dirty="0">
                <a:solidFill>
                  <a:srgbClr val="00B050"/>
                </a:solidFill>
                <a:latin typeface="Consolas" pitchFamily="49" charset="0"/>
                <a:ea typeface="楷体" pitchFamily="49" charset="-122"/>
                <a:cs typeface="Consolas" pitchFamily="49" charset="0"/>
              </a:rPr>
              <a:t>上</a:t>
            </a:r>
          </a:p>
          <a:p>
            <a:r>
              <a:rPr lang="en-US" altLang="zh-CN" sz="2000" dirty="0">
                <a:solidFill>
                  <a:srgbClr val="0000FF"/>
                </a:solidFill>
                <a:latin typeface="Consolas" pitchFamily="49" charset="0"/>
                <a:ea typeface="楷体" pitchFamily="49" charset="-122"/>
                <a:cs typeface="Consolas" pitchFamily="49" charset="0"/>
              </a:rPr>
              <a:t>{</a:t>
            </a:r>
          </a:p>
          <a:p>
            <a:r>
              <a:rPr lang="zh-CN" altLang="en-US" sz="2000" dirty="0">
                <a:solidFill>
                  <a:srgbClr val="0000FF"/>
                </a:solidFill>
                <a:latin typeface="Consolas" pitchFamily="49" charset="0"/>
                <a:ea typeface="楷体" pitchFamily="49" charset="-122"/>
                <a:cs typeface="Consolas" pitchFamily="49" charset="0"/>
              </a:rPr>
              <a:t>　　</a:t>
            </a:r>
            <a:r>
              <a:rPr lang="en-US" altLang="zh-CN" sz="2000">
                <a:solidFill>
                  <a:srgbClr val="0000FF"/>
                </a:solidFill>
                <a:latin typeface="Consolas" pitchFamily="49" charset="0"/>
                <a:ea typeface="楷体" pitchFamily="49" charset="-122"/>
                <a:cs typeface="Consolas" pitchFamily="49" charset="0"/>
              </a:rPr>
              <a:t>return </a:t>
            </a:r>
            <a:r>
              <a:rPr lang="en-US" altLang="zh-CN" sz="2000">
                <a:solidFill>
                  <a:srgbClr val="FF0000"/>
                </a:solidFill>
                <a:latin typeface="Consolas" pitchFamily="49" charset="0"/>
                <a:ea typeface="楷体" pitchFamily="49" charset="-122"/>
                <a:cs typeface="Consolas" pitchFamily="49" charset="0"/>
              </a:rPr>
              <a:t>Det</a:t>
            </a:r>
            <a:r>
              <a:rPr lang="en-US" altLang="zh-CN" sz="2000">
                <a:solidFill>
                  <a:srgbClr val="0000FF"/>
                </a:solidFill>
                <a:latin typeface="Consolas" pitchFamily="49" charset="0"/>
                <a:ea typeface="楷体" pitchFamily="49" charset="-122"/>
                <a:cs typeface="Consolas" pitchFamily="49" charset="0"/>
              </a:rPr>
              <a:t>(p1-p0</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p2-p0</a:t>
            </a:r>
            <a:r>
              <a:rPr lang="en-US" altLang="zh-CN" sz="2000" dirty="0">
                <a:solidFill>
                  <a:srgbClr val="0000FF"/>
                </a:solidFill>
                <a:latin typeface="Consolas" pitchFamily="49" charset="0"/>
                <a:ea typeface="楷体" pitchFamily="49" charset="-122"/>
                <a:cs typeface="Consolas" pitchFamily="49" charset="0"/>
              </a:rPr>
              <a:t>)==0 </a:t>
            </a:r>
            <a:r>
              <a:rPr lang="en-US" altLang="zh-CN" sz="2000">
                <a:solidFill>
                  <a:srgbClr val="0000FF"/>
                </a:solidFill>
                <a:latin typeface="Consolas" pitchFamily="49" charset="0"/>
                <a:ea typeface="楷体" pitchFamily="49" charset="-122"/>
                <a:cs typeface="Consolas" pitchFamily="49" charset="0"/>
              </a:rPr>
              <a:t>&amp;&amp; </a:t>
            </a:r>
            <a:r>
              <a:rPr lang="en-US" altLang="zh-CN" sz="2000">
                <a:solidFill>
                  <a:srgbClr val="FF0000"/>
                </a:solidFill>
                <a:latin typeface="Consolas" pitchFamily="49" charset="0"/>
                <a:ea typeface="楷体" pitchFamily="49" charset="-122"/>
                <a:cs typeface="Consolas" pitchFamily="49" charset="0"/>
              </a:rPr>
              <a:t>Dot</a:t>
            </a:r>
            <a:r>
              <a:rPr lang="en-US" altLang="zh-CN" sz="2000">
                <a:solidFill>
                  <a:srgbClr val="0000FF"/>
                </a:solidFill>
                <a:latin typeface="Consolas" pitchFamily="49" charset="0"/>
                <a:ea typeface="楷体" pitchFamily="49" charset="-122"/>
                <a:cs typeface="Consolas" pitchFamily="49" charset="0"/>
              </a:rPr>
              <a:t>(p1-p0</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p2-p0</a:t>
            </a:r>
            <a:r>
              <a:rPr lang="en-US" altLang="zh-CN" sz="2000" dirty="0">
                <a:solidFill>
                  <a:srgbClr val="0000FF"/>
                </a:solidFill>
                <a:latin typeface="Consolas" pitchFamily="49" charset="0"/>
                <a:ea typeface="楷体" pitchFamily="49" charset="-122"/>
                <a:cs typeface="Consolas" pitchFamily="49" charset="0"/>
              </a:rPr>
              <a:t>)&lt;=0;</a:t>
            </a:r>
          </a:p>
          <a:p>
            <a:r>
              <a:rPr lang="en-US" altLang="zh-CN" sz="2000" dirty="0">
                <a:solidFill>
                  <a:srgbClr val="0000FF"/>
                </a:solidFill>
                <a:latin typeface="Consolas" pitchFamily="49" charset="0"/>
                <a:ea typeface="楷体" pitchFamily="49" charset="-122"/>
                <a:cs typeface="Consolas" pitchFamily="49" charset="0"/>
              </a:rPr>
              <a:t>}</a:t>
            </a: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43</a:t>
            </a:fld>
            <a:r>
              <a:rPr lang="en-US" altLang="zh-CN"/>
              <a:t>/167</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Text Box 2"/>
          <p:cNvSpPr txBox="1">
            <a:spLocks noChangeArrowheads="1"/>
          </p:cNvSpPr>
          <p:nvPr/>
        </p:nvSpPr>
        <p:spPr bwMode="auto">
          <a:xfrm>
            <a:off x="357158" y="500042"/>
            <a:ext cx="5545137" cy="51911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p>
            <a:pPr algn="ctr">
              <a:spcBef>
                <a:spcPct val="50000"/>
              </a:spcBef>
              <a:defRPr/>
            </a:pP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10.1.4 </a:t>
            </a:r>
            <a:r>
              <a:rPr lang="zh-CN" altLang="en-US"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判断两条线段是否平行</a:t>
            </a:r>
          </a:p>
        </p:txBody>
      </p:sp>
      <p:sp>
        <p:nvSpPr>
          <p:cNvPr id="52227" name="Text Box 3"/>
          <p:cNvSpPr txBox="1">
            <a:spLocks noChangeArrowheads="1"/>
          </p:cNvSpPr>
          <p:nvPr/>
        </p:nvSpPr>
        <p:spPr bwMode="auto">
          <a:xfrm>
            <a:off x="357158" y="1357298"/>
            <a:ext cx="8286808" cy="1400383"/>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nSpc>
                <a:spcPts val="3200"/>
              </a:lnSpc>
              <a:spcBef>
                <a:spcPts val="600"/>
              </a:spcBef>
            </a:pPr>
            <a:r>
              <a:rPr lang="zh-CN" altLang="en-US" dirty="0">
                <a:solidFill>
                  <a:srgbClr val="0000FF"/>
                </a:solidFill>
                <a:latin typeface="Consolas" pitchFamily="49" charset="0"/>
                <a:ea typeface="仿宋" pitchFamily="49" charset="-122"/>
                <a:cs typeface="Consolas" pitchFamily="49" charset="0"/>
              </a:rPr>
              <a:t>　　设两条线段为</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1</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3</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4</a:t>
            </a:r>
            <a:r>
              <a:rPr lang="zh-CN" altLang="en-US">
                <a:solidFill>
                  <a:srgbClr val="0000FF"/>
                </a:solidFill>
                <a:latin typeface="Consolas" pitchFamily="49" charset="0"/>
                <a:ea typeface="仿宋" pitchFamily="49" charset="-122"/>
                <a:cs typeface="Consolas" pitchFamily="49" charset="0"/>
              </a:rPr>
              <a:t>，如</a:t>
            </a:r>
            <a:r>
              <a:rPr lang="zh-CN" altLang="en-US" dirty="0">
                <a:solidFill>
                  <a:srgbClr val="0000FF"/>
                </a:solidFill>
                <a:latin typeface="Consolas" pitchFamily="49" charset="0"/>
                <a:ea typeface="仿宋" pitchFamily="49" charset="-122"/>
                <a:cs typeface="Consolas" pitchFamily="49" charset="0"/>
              </a:rPr>
              <a:t>果它们的夹角</a:t>
            </a:r>
            <a:r>
              <a:rPr lang="zh-CN" altLang="en-US">
                <a:solidFill>
                  <a:srgbClr val="0000FF"/>
                </a:solidFill>
                <a:latin typeface="Consolas" pitchFamily="49" charset="0"/>
                <a:ea typeface="仿宋" pitchFamily="49" charset="-122"/>
                <a:cs typeface="Consolas" pitchFamily="49" charset="0"/>
              </a:rPr>
              <a:t>为零。可以推出两</a:t>
            </a:r>
            <a:r>
              <a:rPr lang="zh-CN" altLang="en-US" dirty="0">
                <a:solidFill>
                  <a:srgbClr val="0000FF"/>
                </a:solidFill>
                <a:latin typeface="Consolas" pitchFamily="49" charset="0"/>
                <a:ea typeface="仿宋" pitchFamily="49" charset="-122"/>
                <a:cs typeface="Consolas" pitchFamily="49" charset="0"/>
              </a:rPr>
              <a:t>条线段</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1</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2</a:t>
            </a:r>
            <a:r>
              <a:rPr lang="zh-CN" altLang="en-US" dirty="0">
                <a:solidFill>
                  <a:srgbClr val="0000FF"/>
                </a:solidFill>
                <a:latin typeface="Consolas" pitchFamily="49" charset="0"/>
                <a:ea typeface="仿宋" pitchFamily="49" charset="-122"/>
                <a:cs typeface="Consolas" pitchFamily="49" charset="0"/>
              </a:rPr>
              <a:t>和</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3</a:t>
            </a:r>
            <a:r>
              <a:rPr lang="en-US" altLang="zh-CN" dirty="0" err="1">
                <a:solidFill>
                  <a:srgbClr val="0000FF"/>
                </a:solidFill>
                <a:latin typeface="Consolas" pitchFamily="49" charset="0"/>
                <a:ea typeface="仿宋" pitchFamily="49" charset="-122"/>
                <a:cs typeface="Consolas" pitchFamily="49" charset="0"/>
              </a:rPr>
              <a:t>p</a:t>
            </a:r>
            <a:r>
              <a:rPr lang="en-US" altLang="zh-CN" baseline="-25000" dirty="0" err="1">
                <a:solidFill>
                  <a:srgbClr val="0000FF"/>
                </a:solidFill>
                <a:latin typeface="Consolas" pitchFamily="49" charset="0"/>
                <a:ea typeface="仿宋" pitchFamily="49" charset="-122"/>
                <a:cs typeface="Consolas" pitchFamily="49" charset="0"/>
              </a:rPr>
              <a:t>4</a:t>
            </a:r>
            <a:r>
              <a:rPr lang="zh-CN" altLang="en-US" dirty="0">
                <a:solidFill>
                  <a:srgbClr val="0000FF"/>
                </a:solidFill>
                <a:latin typeface="Consolas" pitchFamily="49" charset="0"/>
                <a:ea typeface="仿宋" pitchFamily="49" charset="-122"/>
                <a:cs typeface="Consolas" pitchFamily="49" charset="0"/>
              </a:rPr>
              <a:t>平行应满足的条件是：</a:t>
            </a:r>
          </a:p>
          <a:p>
            <a:pPr>
              <a:lnSpc>
                <a:spcPts val="3200"/>
              </a:lnSpc>
              <a:spcBef>
                <a:spcPts val="600"/>
              </a:spcBef>
            </a:pPr>
            <a:r>
              <a:rPr lang="zh-CN" altLang="en-US" dirty="0">
                <a:solidFill>
                  <a:srgbClr val="0000FF"/>
                </a:solidFill>
                <a:latin typeface="Consolas" pitchFamily="49" charset="0"/>
                <a:ea typeface="仿宋" pitchFamily="49" charset="-122"/>
                <a:cs typeface="Consolas" pitchFamily="49" charset="0"/>
              </a:rPr>
              <a:t>　　</a:t>
            </a:r>
            <a:r>
              <a:rPr lang="en-US" altLang="zh-CN" dirty="0">
                <a:solidFill>
                  <a:srgbClr val="C00000"/>
                </a:solidFill>
                <a:latin typeface="Consolas" pitchFamily="49" charset="0"/>
                <a:ea typeface="仿宋" pitchFamily="49" charset="-122"/>
                <a:cs typeface="Consolas" pitchFamily="49" charset="0"/>
              </a:rPr>
              <a:t>(</a:t>
            </a:r>
            <a:r>
              <a:rPr lang="en-US" altLang="zh-CN" dirty="0" err="1">
                <a:solidFill>
                  <a:srgbClr val="C00000"/>
                </a:solidFill>
                <a:latin typeface="Consolas" pitchFamily="49" charset="0"/>
                <a:ea typeface="仿宋" pitchFamily="49" charset="-122"/>
                <a:cs typeface="Consolas" pitchFamily="49" charset="0"/>
              </a:rPr>
              <a:t>p</a:t>
            </a:r>
            <a:r>
              <a:rPr lang="en-US" altLang="zh-CN" baseline="-25000" dirty="0" err="1">
                <a:solidFill>
                  <a:srgbClr val="C00000"/>
                </a:solidFill>
                <a:latin typeface="Consolas" pitchFamily="49" charset="0"/>
                <a:ea typeface="仿宋" pitchFamily="49" charset="-122"/>
                <a:cs typeface="Consolas" pitchFamily="49" charset="0"/>
              </a:rPr>
              <a:t>2</a:t>
            </a:r>
            <a:r>
              <a:rPr lang="en-US" altLang="zh-CN" dirty="0" err="1">
                <a:solidFill>
                  <a:srgbClr val="C00000"/>
                </a:solidFill>
                <a:latin typeface="Consolas" pitchFamily="49" charset="0"/>
                <a:ea typeface="仿宋" pitchFamily="49" charset="-122"/>
                <a:cs typeface="Consolas" pitchFamily="49" charset="0"/>
              </a:rPr>
              <a:t>-p</a:t>
            </a:r>
            <a:r>
              <a:rPr lang="en-US" altLang="zh-CN" baseline="-25000" dirty="0" err="1">
                <a:solidFill>
                  <a:srgbClr val="C00000"/>
                </a:solidFill>
                <a:latin typeface="Consolas" pitchFamily="49" charset="0"/>
                <a:ea typeface="仿宋" pitchFamily="49" charset="-122"/>
                <a:cs typeface="Consolas" pitchFamily="49" charset="0"/>
              </a:rPr>
              <a:t>1</a:t>
            </a:r>
            <a:r>
              <a:rPr lang="en-US" altLang="zh-CN" dirty="0">
                <a:solidFill>
                  <a:srgbClr val="C00000"/>
                </a:solidFill>
                <a:latin typeface="Consolas" pitchFamily="49" charset="0"/>
                <a:ea typeface="仿宋" pitchFamily="49" charset="-122"/>
                <a:cs typeface="Consolas" pitchFamily="49" charset="0"/>
              </a:rPr>
              <a:t>)×(</a:t>
            </a:r>
            <a:r>
              <a:rPr lang="en-US" altLang="zh-CN" dirty="0" err="1">
                <a:solidFill>
                  <a:srgbClr val="C00000"/>
                </a:solidFill>
                <a:latin typeface="Consolas" pitchFamily="49" charset="0"/>
                <a:ea typeface="仿宋" pitchFamily="49" charset="-122"/>
                <a:cs typeface="Consolas" pitchFamily="49" charset="0"/>
              </a:rPr>
              <a:t>p</a:t>
            </a:r>
            <a:r>
              <a:rPr lang="en-US" altLang="zh-CN" baseline="-25000" dirty="0" err="1">
                <a:solidFill>
                  <a:srgbClr val="C00000"/>
                </a:solidFill>
                <a:latin typeface="Consolas" pitchFamily="49" charset="0"/>
                <a:ea typeface="仿宋" pitchFamily="49" charset="-122"/>
                <a:cs typeface="Consolas" pitchFamily="49" charset="0"/>
              </a:rPr>
              <a:t>4</a:t>
            </a:r>
            <a:r>
              <a:rPr lang="en-US" altLang="zh-CN" dirty="0" err="1">
                <a:solidFill>
                  <a:srgbClr val="C00000"/>
                </a:solidFill>
                <a:latin typeface="Consolas" pitchFamily="49" charset="0"/>
                <a:ea typeface="仿宋" pitchFamily="49" charset="-122"/>
                <a:cs typeface="Consolas" pitchFamily="49" charset="0"/>
              </a:rPr>
              <a:t>-p</a:t>
            </a:r>
            <a:r>
              <a:rPr lang="en-US" altLang="zh-CN" baseline="-25000" dirty="0" err="1">
                <a:solidFill>
                  <a:srgbClr val="C00000"/>
                </a:solidFill>
                <a:latin typeface="Consolas" pitchFamily="49" charset="0"/>
                <a:ea typeface="仿宋" pitchFamily="49" charset="-122"/>
                <a:cs typeface="Consolas" pitchFamily="49" charset="0"/>
              </a:rPr>
              <a:t>3</a:t>
            </a:r>
            <a:r>
              <a:rPr lang="en-US" altLang="zh-CN" dirty="0">
                <a:solidFill>
                  <a:srgbClr val="C00000"/>
                </a:solidFill>
                <a:latin typeface="Consolas" pitchFamily="49" charset="0"/>
                <a:ea typeface="仿宋" pitchFamily="49" charset="-122"/>
                <a:cs typeface="Consolas" pitchFamily="49" charset="0"/>
              </a:rPr>
              <a:t>)=0</a:t>
            </a:r>
          </a:p>
        </p:txBody>
      </p:sp>
      <p:sp>
        <p:nvSpPr>
          <p:cNvPr id="5" name="Text Box 2"/>
          <p:cNvSpPr txBox="1">
            <a:spLocks noChangeArrowheads="1"/>
          </p:cNvSpPr>
          <p:nvPr/>
        </p:nvSpPr>
        <p:spPr bwMode="auto">
          <a:xfrm>
            <a:off x="500034" y="3357562"/>
            <a:ext cx="8215369" cy="1453297"/>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80000" bIns="216000">
            <a:spAutoFit/>
          </a:bodyPr>
          <a:lstStyle/>
          <a:p>
            <a:pPr>
              <a:lnSpc>
                <a:spcPts val="2800"/>
              </a:lnSpc>
            </a:pPr>
            <a:r>
              <a:rPr lang="en-US" altLang="zh-CN" sz="2000">
                <a:solidFill>
                  <a:srgbClr val="0000FF"/>
                </a:solidFill>
                <a:latin typeface="Consolas" pitchFamily="49" charset="0"/>
                <a:ea typeface="楷体" pitchFamily="49" charset="-122"/>
                <a:cs typeface="Consolas" pitchFamily="49" charset="0"/>
              </a:rPr>
              <a:t>bool </a:t>
            </a:r>
            <a:r>
              <a:rPr lang="en-US" altLang="zh-CN" sz="2000">
                <a:solidFill>
                  <a:srgbClr val="FF0000"/>
                </a:solidFill>
                <a:latin typeface="Consolas" pitchFamily="49" charset="0"/>
                <a:ea typeface="楷体" pitchFamily="49" charset="-122"/>
                <a:cs typeface="Consolas" pitchFamily="49" charset="0"/>
              </a:rPr>
              <a:t>Parallel</a:t>
            </a:r>
            <a:r>
              <a:rPr lang="en-US" altLang="zh-CN" sz="2000">
                <a:solidFill>
                  <a:srgbClr val="0000FF"/>
                </a:solidFill>
                <a:latin typeface="Consolas" pitchFamily="49" charset="0"/>
                <a:ea typeface="楷体" pitchFamily="49" charset="-122"/>
                <a:cs typeface="Consolas" pitchFamily="49" charset="0"/>
              </a:rPr>
              <a:t>(Point p1</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Point p2</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Point p3</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Point p4) {</a:t>
            </a:r>
          </a:p>
          <a:p>
            <a:pPr>
              <a:lnSpc>
                <a:spcPts val="2800"/>
              </a:lnSpc>
            </a:pPr>
            <a:r>
              <a:rPr lang="zh-CN" altLang="en-US" sz="2000">
                <a:solidFill>
                  <a:srgbClr val="0000FF"/>
                </a:solidFill>
                <a:latin typeface="Consolas" pitchFamily="49" charset="0"/>
                <a:ea typeface="楷体" pitchFamily="49" charset="-122"/>
                <a:cs typeface="Consolas" pitchFamily="49" charset="0"/>
              </a:rPr>
              <a:t>　　</a:t>
            </a:r>
            <a:r>
              <a:rPr lang="en-US" altLang="zh-CN" sz="2000">
                <a:solidFill>
                  <a:srgbClr val="0000FF"/>
                </a:solidFill>
                <a:latin typeface="Consolas" pitchFamily="49" charset="0"/>
                <a:ea typeface="楷体" pitchFamily="49" charset="-122"/>
                <a:cs typeface="Consolas" pitchFamily="49" charset="0"/>
              </a:rPr>
              <a:t>return </a:t>
            </a:r>
            <a:r>
              <a:rPr lang="en-US" altLang="zh-CN" sz="2000">
                <a:solidFill>
                  <a:srgbClr val="FF0000"/>
                </a:solidFill>
                <a:latin typeface="Consolas" pitchFamily="49" charset="0"/>
                <a:ea typeface="楷体" pitchFamily="49" charset="-122"/>
                <a:cs typeface="Consolas" pitchFamily="49" charset="0"/>
              </a:rPr>
              <a:t>Det</a:t>
            </a:r>
            <a:r>
              <a:rPr lang="en-US" altLang="zh-CN" sz="2000">
                <a:solidFill>
                  <a:srgbClr val="0000FF"/>
                </a:solidFill>
                <a:latin typeface="Consolas" pitchFamily="49" charset="0"/>
                <a:ea typeface="楷体" pitchFamily="49" charset="-122"/>
                <a:cs typeface="Consolas" pitchFamily="49" charset="0"/>
              </a:rPr>
              <a:t>(p2-p1</a:t>
            </a:r>
            <a:r>
              <a:rPr lang="zh-CN" altLang="en-US"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p4-p3)==0;</a:t>
            </a:r>
          </a:p>
          <a:p>
            <a:pPr>
              <a:lnSpc>
                <a:spcPts val="2800"/>
              </a:lnSpc>
            </a:pPr>
            <a:r>
              <a:rPr lang="en-US" altLang="zh-CN" sz="2000">
                <a:solidFill>
                  <a:srgbClr val="0000FF"/>
                </a:solidFill>
                <a:latin typeface="Consolas" pitchFamily="49" charset="0"/>
                <a:ea typeface="楷体" pitchFamily="49" charset="-122"/>
                <a:cs typeface="Consolas" pitchFamily="49" charset="0"/>
              </a:rPr>
              <a:t>}</a:t>
            </a:r>
          </a:p>
        </p:txBody>
      </p:sp>
      <p:sp>
        <p:nvSpPr>
          <p:cNvPr id="6" name="灯片编号占位符 5"/>
          <p:cNvSpPr>
            <a:spLocks noGrp="1"/>
          </p:cNvSpPr>
          <p:nvPr>
            <p:ph type="sldNum" sz="quarter" idx="12"/>
          </p:nvPr>
        </p:nvSpPr>
        <p:spPr/>
        <p:txBody>
          <a:bodyPr/>
          <a:lstStyle/>
          <a:p>
            <a:pPr>
              <a:defRPr/>
            </a:pPr>
            <a:fld id="{51116183-1013-4E64-BBE8-A5C1D5D4F838}" type="slidenum">
              <a:rPr lang="en-US" altLang="zh-CN" smtClean="0"/>
              <a:pPr>
                <a:defRPr/>
              </a:pPr>
              <a:t>44</a:t>
            </a:fld>
            <a:r>
              <a:rPr lang="en-US" altLang="zh-CN"/>
              <a:t>/167</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ext Box 3"/>
          <p:cNvSpPr txBox="1">
            <a:spLocks noChangeArrowheads="1"/>
          </p:cNvSpPr>
          <p:nvPr/>
        </p:nvSpPr>
        <p:spPr bwMode="auto">
          <a:xfrm>
            <a:off x="642910" y="1714488"/>
            <a:ext cx="7891488" cy="861774"/>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a:lnSpc>
                <a:spcPts val="3100"/>
              </a:lnSpc>
              <a:spcBef>
                <a:spcPts val="0"/>
              </a:spcBef>
              <a:buBlip>
                <a:blip r:embed="rId3"/>
              </a:buBlip>
            </a:pPr>
            <a:r>
              <a:rPr lang="zh-CN" altLang="zh-CN">
                <a:solidFill>
                  <a:srgbClr val="0000FF"/>
                </a:solidFill>
                <a:latin typeface="Consolas" pitchFamily="49" charset="0"/>
                <a:ea typeface="仿宋" pitchFamily="49" charset="-122"/>
                <a:cs typeface="Consolas" pitchFamily="49" charset="0"/>
              </a:rPr>
              <a:t>设两条线段为</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和</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3</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，如</a:t>
            </a:r>
            <a:r>
              <a:rPr lang="zh-CN" altLang="en-US">
                <a:solidFill>
                  <a:srgbClr val="0000FF"/>
                </a:solidFill>
                <a:latin typeface="Consolas" pitchFamily="49" charset="0"/>
                <a:ea typeface="仿宋" pitchFamily="49" charset="-122"/>
                <a:cs typeface="Consolas" pitchFamily="49" charset="0"/>
              </a:rPr>
              <a:t>下</a:t>
            </a:r>
            <a:r>
              <a:rPr lang="zh-CN" altLang="zh-CN">
                <a:solidFill>
                  <a:srgbClr val="0000FF"/>
                </a:solidFill>
                <a:latin typeface="Consolas" pitchFamily="49" charset="0"/>
                <a:ea typeface="仿宋" pitchFamily="49" charset="-122"/>
                <a:cs typeface="Consolas" pitchFamily="49" charset="0"/>
              </a:rPr>
              <a:t>图所示，要判断它们是否相交（包含端点）</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p:txBody>
      </p:sp>
      <p:sp>
        <p:nvSpPr>
          <p:cNvPr id="10245" name="Rectangle 5"/>
          <p:cNvSpPr>
            <a:spLocks noChangeArrowheads="1"/>
          </p:cNvSpPr>
          <p:nvPr/>
        </p:nvSpPr>
        <p:spPr bwMode="auto">
          <a:xfrm>
            <a:off x="0" y="3105150"/>
            <a:ext cx="184731" cy="461665"/>
          </a:xfrm>
          <a:prstGeom prst="rect">
            <a:avLst/>
          </a:prstGeom>
          <a:noFill/>
          <a:ln w="9525">
            <a:noFill/>
            <a:miter lim="800000"/>
            <a:headEnd/>
            <a:tailEnd/>
          </a:ln>
        </p:spPr>
        <p:txBody>
          <a:bodyPr wrap="none" anchor="ctr">
            <a:spAutoFit/>
          </a:bodyPr>
          <a:lstStyle/>
          <a:p>
            <a:pPr algn="l">
              <a:lnSpc>
                <a:spcPct val="100000"/>
              </a:lnSpc>
            </a:pPr>
            <a:endParaRPr lang="zh-CN" altLang="en-US">
              <a:latin typeface="Consolas" pitchFamily="49" charset="0"/>
              <a:cs typeface="Consolas" pitchFamily="49" charset="0"/>
            </a:endParaRPr>
          </a:p>
        </p:txBody>
      </p:sp>
      <p:grpSp>
        <p:nvGrpSpPr>
          <p:cNvPr id="2" name="组合 18"/>
          <p:cNvGrpSpPr/>
          <p:nvPr/>
        </p:nvGrpSpPr>
        <p:grpSpPr>
          <a:xfrm>
            <a:off x="2500298" y="3429000"/>
            <a:ext cx="3357586" cy="2257498"/>
            <a:chOff x="3428992" y="3429000"/>
            <a:chExt cx="3357586" cy="2257498"/>
          </a:xfrm>
        </p:grpSpPr>
        <p:cxnSp>
          <p:nvCxnSpPr>
            <p:cNvPr id="7" name="直接连接符 6"/>
            <p:cNvCxnSpPr/>
            <p:nvPr/>
          </p:nvCxnSpPr>
          <p:spPr>
            <a:xfrm>
              <a:off x="3786182" y="3786190"/>
              <a:ext cx="2428892" cy="1500198"/>
            </a:xfrm>
            <a:prstGeom prst="line">
              <a:avLst/>
            </a:prstGeom>
          </p:spPr>
          <p:style>
            <a:lnRef idx="2">
              <a:schemeClr val="dk1"/>
            </a:lnRef>
            <a:fillRef idx="0">
              <a:schemeClr val="dk1"/>
            </a:fillRef>
            <a:effectRef idx="1">
              <a:schemeClr val="dk1"/>
            </a:effectRef>
            <a:fontRef idx="minor">
              <a:schemeClr val="tx1"/>
            </a:fontRef>
          </p:style>
        </p:cxnSp>
        <p:cxnSp>
          <p:nvCxnSpPr>
            <p:cNvPr id="9" name="直接连接符 8"/>
            <p:cNvCxnSpPr/>
            <p:nvPr/>
          </p:nvCxnSpPr>
          <p:spPr>
            <a:xfrm flipV="1">
              <a:off x="4000496" y="3714752"/>
              <a:ext cx="2286016" cy="1643074"/>
            </a:xfrm>
            <a:prstGeom prst="line">
              <a:avLst/>
            </a:prstGeom>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6215074" y="5214950"/>
              <a:ext cx="428628"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3</a:t>
              </a:r>
              <a:endParaRPr lang="zh-CN" altLang="en-US" sz="2000" baseline="-25000">
                <a:solidFill>
                  <a:srgbClr val="0000FF"/>
                </a:solidFill>
                <a:latin typeface="Consolas" pitchFamily="49" charset="0"/>
                <a:cs typeface="Consolas" pitchFamily="49" charset="0"/>
              </a:endParaRPr>
            </a:p>
          </p:txBody>
        </p:sp>
        <p:sp>
          <p:nvSpPr>
            <p:cNvPr id="16" name="TextBox 15"/>
            <p:cNvSpPr txBox="1"/>
            <p:nvPr/>
          </p:nvSpPr>
          <p:spPr>
            <a:xfrm>
              <a:off x="3643306" y="5286388"/>
              <a:ext cx="428628"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17" name="TextBox 16"/>
            <p:cNvSpPr txBox="1"/>
            <p:nvPr/>
          </p:nvSpPr>
          <p:spPr>
            <a:xfrm>
              <a:off x="6357950" y="3429000"/>
              <a:ext cx="428628"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18" name="TextBox 17"/>
            <p:cNvSpPr txBox="1"/>
            <p:nvPr/>
          </p:nvSpPr>
          <p:spPr>
            <a:xfrm>
              <a:off x="3428992" y="3429000"/>
              <a:ext cx="428628"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4</a:t>
              </a:r>
              <a:endParaRPr lang="zh-CN" altLang="en-US" sz="2000" baseline="-25000">
                <a:solidFill>
                  <a:srgbClr val="0000FF"/>
                </a:solidFill>
                <a:latin typeface="Consolas" pitchFamily="49" charset="0"/>
                <a:cs typeface="Consolas" pitchFamily="49" charset="0"/>
              </a:endParaRPr>
            </a:p>
          </p:txBody>
        </p:sp>
      </p:grpSp>
      <p:sp>
        <p:nvSpPr>
          <p:cNvPr id="14" name="灯片编号占位符 13"/>
          <p:cNvSpPr>
            <a:spLocks noGrp="1"/>
          </p:cNvSpPr>
          <p:nvPr>
            <p:ph type="sldNum" sz="quarter" idx="12"/>
          </p:nvPr>
        </p:nvSpPr>
        <p:spPr/>
        <p:txBody>
          <a:bodyPr/>
          <a:lstStyle/>
          <a:p>
            <a:fld id="{7AF016A1-9F15-429F-9EFD-84004B73C732}" type="slidenum">
              <a:rPr lang="en-US" altLang="zh-CN" smtClean="0"/>
              <a:pPr/>
              <a:t>45</a:t>
            </a:fld>
            <a:r>
              <a:rPr lang="en-US" altLang="zh-CN"/>
              <a:t>/7</a:t>
            </a:r>
          </a:p>
        </p:txBody>
      </p:sp>
      <p:sp>
        <p:nvSpPr>
          <p:cNvPr id="13" name="Text Box 2"/>
          <p:cNvSpPr txBox="1">
            <a:spLocks noChangeArrowheads="1"/>
          </p:cNvSpPr>
          <p:nvPr/>
        </p:nvSpPr>
        <p:spPr bwMode="auto">
          <a:xfrm>
            <a:off x="395288" y="476250"/>
            <a:ext cx="5113337" cy="51911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p>
            <a:pPr algn="ctr">
              <a:spcBef>
                <a:spcPct val="50000"/>
              </a:spcBef>
              <a:defRPr/>
            </a:pP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10.1.5 </a:t>
            </a:r>
            <a:r>
              <a:rPr lang="zh-CN" altLang="en-US"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判断两线段是否相交</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3"/>
          <p:cNvSpPr txBox="1">
            <a:spLocks noChangeArrowheads="1"/>
          </p:cNvSpPr>
          <p:nvPr/>
        </p:nvSpPr>
        <p:spPr bwMode="auto">
          <a:xfrm>
            <a:off x="285720" y="1120786"/>
            <a:ext cx="8643998" cy="861774"/>
          </a:xfrm>
          <a:prstGeom prst="rect">
            <a:avLst/>
          </a:prstGeom>
          <a:noFill/>
          <a:ln w="9525">
            <a:noFill/>
            <a:miter lim="800000"/>
            <a:headEnd/>
            <a:tailEnd/>
          </a:ln>
        </p:spPr>
        <p:txBody>
          <a:bodyPr wrap="square">
            <a:spAutoFit/>
          </a:bodyPr>
          <a:lstStyle/>
          <a:p>
            <a:pPr marL="360000" indent="-360000" algn="l">
              <a:lnSpc>
                <a:spcPct val="100000"/>
              </a:lnSpc>
              <a:buBlip>
                <a:blip r:embed="rId3"/>
              </a:buBlip>
            </a:pPr>
            <a:r>
              <a:rPr lang="en-US" altLang="zh-CN" sz="2000" i="1">
                <a:solidFill>
                  <a:srgbClr val="0000FF"/>
                </a:solidFill>
                <a:latin typeface="Consolas" pitchFamily="49" charset="0"/>
                <a:ea typeface="仿宋" pitchFamily="49" charset="-122"/>
                <a:cs typeface="Consolas" pitchFamily="49" charset="0"/>
              </a:rPr>
              <a:t>d</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4</a:t>
            </a:r>
            <a:r>
              <a:rPr lang="en-US" altLang="zh-CN" sz="2000">
                <a:solidFill>
                  <a:srgbClr val="0000FF"/>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Direction</a:t>
            </a:r>
            <a:r>
              <a:rPr lang="en-US" altLang="zh-CN" sz="2000">
                <a:solidFill>
                  <a:srgbClr val="0000FF"/>
                </a:solidFill>
                <a:latin typeface="Consolas" pitchFamily="49" charset="0"/>
                <a:ea typeface="仿宋" pitchFamily="49" charset="-122"/>
                <a:cs typeface="Consolas" pitchFamily="49" charset="0"/>
              </a:rPr>
              <a:t>(p3</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p1</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p4)  </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1</a:t>
            </a:r>
            <a:r>
              <a:rPr lang="zh-CN" altLang="en-US" sz="2000">
                <a:solidFill>
                  <a:srgbClr val="00B0F0"/>
                </a:solidFill>
                <a:latin typeface="Consolas" pitchFamily="49" charset="0"/>
                <a:ea typeface="仿宋" pitchFamily="49" charset="-122"/>
                <a:cs typeface="Consolas" pitchFamily="49" charset="0"/>
              </a:rPr>
              <a:t>在</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3</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4</a:t>
            </a:r>
            <a:r>
              <a:rPr lang="zh-CN" altLang="en-US" sz="2000">
                <a:solidFill>
                  <a:srgbClr val="00B0F0"/>
                </a:solidFill>
                <a:latin typeface="Consolas" pitchFamily="49" charset="0"/>
                <a:ea typeface="仿宋" pitchFamily="49" charset="-122"/>
                <a:cs typeface="Consolas" pitchFamily="49" charset="0"/>
              </a:rPr>
              <a:t>的哪个方向上</a:t>
            </a:r>
            <a:endParaRPr lang="zh-CN" altLang="en-US" sz="2000" i="1">
              <a:solidFill>
                <a:srgbClr val="00B0F0"/>
              </a:solidFill>
              <a:latin typeface="Consolas" pitchFamily="49" charset="0"/>
              <a:ea typeface="仿宋" pitchFamily="49" charset="-122"/>
              <a:cs typeface="Consolas" pitchFamily="49" charset="0"/>
            </a:endParaRPr>
          </a:p>
          <a:p>
            <a:pPr marL="360000" indent="-360000" algn="l">
              <a:lnSpc>
                <a:spcPct val="100000"/>
              </a:lnSpc>
              <a:buBlip>
                <a:blip r:embed="rId3"/>
              </a:buBlip>
            </a:pPr>
            <a:r>
              <a:rPr lang="en-US" altLang="zh-CN" sz="2000" i="1">
                <a:solidFill>
                  <a:srgbClr val="0000FF"/>
                </a:solidFill>
                <a:latin typeface="Consolas" pitchFamily="49" charset="0"/>
                <a:ea typeface="仿宋" pitchFamily="49" charset="-122"/>
                <a:cs typeface="Consolas" pitchFamily="49" charset="0"/>
              </a:rPr>
              <a:t>d</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4</a:t>
            </a:r>
            <a:r>
              <a:rPr lang="en-US" altLang="zh-CN" sz="2000">
                <a:solidFill>
                  <a:srgbClr val="0000FF"/>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Direction</a:t>
            </a:r>
            <a:r>
              <a:rPr lang="en-US" altLang="zh-CN" sz="2000">
                <a:solidFill>
                  <a:srgbClr val="0000FF"/>
                </a:solidFill>
                <a:latin typeface="Consolas" pitchFamily="49" charset="0"/>
                <a:ea typeface="仿宋" pitchFamily="49" charset="-122"/>
                <a:cs typeface="Consolas" pitchFamily="49" charset="0"/>
              </a:rPr>
              <a:t>(p3</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p2</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p4)  </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2</a:t>
            </a:r>
            <a:r>
              <a:rPr lang="zh-CN" altLang="en-US" sz="2000">
                <a:solidFill>
                  <a:srgbClr val="00B0F0"/>
                </a:solidFill>
                <a:latin typeface="Consolas" pitchFamily="49" charset="0"/>
                <a:ea typeface="仿宋" pitchFamily="49" charset="-122"/>
                <a:cs typeface="Consolas" pitchFamily="49" charset="0"/>
              </a:rPr>
              <a:t>在</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3</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4</a:t>
            </a:r>
            <a:r>
              <a:rPr lang="zh-CN" altLang="en-US" sz="2000">
                <a:solidFill>
                  <a:srgbClr val="00B0F0"/>
                </a:solidFill>
                <a:latin typeface="Consolas" pitchFamily="49" charset="0"/>
                <a:ea typeface="仿宋" pitchFamily="49" charset="-122"/>
                <a:cs typeface="Consolas" pitchFamily="49" charset="0"/>
              </a:rPr>
              <a:t>的哪个方向上</a:t>
            </a:r>
            <a:endParaRPr lang="zh-CN" altLang="en-US" sz="2000" i="1">
              <a:solidFill>
                <a:srgbClr val="00B0F0"/>
              </a:solidFill>
              <a:latin typeface="Consolas" pitchFamily="49" charset="0"/>
              <a:ea typeface="仿宋" pitchFamily="49" charset="-122"/>
              <a:cs typeface="Consolas" pitchFamily="49" charset="0"/>
            </a:endParaRPr>
          </a:p>
        </p:txBody>
      </p:sp>
      <p:sp>
        <p:nvSpPr>
          <p:cNvPr id="4" name="TextBox 3"/>
          <p:cNvSpPr txBox="1"/>
          <p:nvPr/>
        </p:nvSpPr>
        <p:spPr>
          <a:xfrm>
            <a:off x="214282" y="549282"/>
            <a:ext cx="6643734" cy="461665"/>
          </a:xfrm>
          <a:prstGeom prst="rect">
            <a:avLst/>
          </a:prstGeom>
          <a:noFill/>
        </p:spPr>
        <p:txBody>
          <a:bodyPr wrap="square" rtlCol="0">
            <a:spAutoFit/>
          </a:bodyPr>
          <a:lstStyle/>
          <a:p>
            <a:pPr algn="l">
              <a:lnSpc>
                <a:spcPct val="100000"/>
              </a:lnSpc>
            </a:pPr>
            <a:r>
              <a:rPr lang="zh-CN" altLang="en-US">
                <a:solidFill>
                  <a:srgbClr val="0000FF"/>
                </a:solidFill>
                <a:latin typeface="Consolas" pitchFamily="49" charset="0"/>
                <a:ea typeface="仿宋" pitchFamily="49" charset="-122"/>
                <a:cs typeface="Consolas" pitchFamily="49" charset="0"/>
              </a:rPr>
              <a:t>如何判断两点是否在一条线段的两边呢？令：</a:t>
            </a:r>
            <a:endParaRPr lang="zh-CN" altLang="en-US" i="1">
              <a:solidFill>
                <a:srgbClr val="0000FF"/>
              </a:solidFill>
              <a:latin typeface="Consolas" pitchFamily="49" charset="0"/>
              <a:ea typeface="仿宋" pitchFamily="49" charset="-122"/>
              <a:cs typeface="Consolas" pitchFamily="49" charset="0"/>
            </a:endParaRPr>
          </a:p>
        </p:txBody>
      </p:sp>
      <p:grpSp>
        <p:nvGrpSpPr>
          <p:cNvPr id="2" name="组合 29"/>
          <p:cNvGrpSpPr/>
          <p:nvPr/>
        </p:nvGrpSpPr>
        <p:grpSpPr>
          <a:xfrm>
            <a:off x="785786" y="3500438"/>
            <a:ext cx="3079434" cy="1900308"/>
            <a:chOff x="785786" y="3500438"/>
            <a:chExt cx="3079434" cy="1900308"/>
          </a:xfrm>
        </p:grpSpPr>
        <p:cxnSp>
          <p:nvCxnSpPr>
            <p:cNvPr id="6" name="直接连接符 5"/>
            <p:cNvCxnSpPr/>
            <p:nvPr/>
          </p:nvCxnSpPr>
          <p:spPr>
            <a:xfrm>
              <a:off x="1168815" y="3794319"/>
              <a:ext cx="2067142" cy="1234308"/>
            </a:xfrm>
            <a:prstGeom prst="line">
              <a:avLst/>
            </a:prstGeom>
            <a:ln>
              <a:solidFill>
                <a:srgbClr val="FF0000"/>
              </a:solidFill>
              <a:headEnd type="arrow"/>
              <a:tailEnd type="none"/>
            </a:ln>
          </p:spPr>
          <p:style>
            <a:lnRef idx="2">
              <a:schemeClr val="dk1"/>
            </a:lnRef>
            <a:fillRef idx="0">
              <a:schemeClr val="dk1"/>
            </a:fillRef>
            <a:effectRef idx="1">
              <a:schemeClr val="dk1"/>
            </a:effectRef>
            <a:fontRef idx="minor">
              <a:schemeClr val="tx1"/>
            </a:fontRef>
          </p:style>
        </p:cxnSp>
        <p:cxnSp>
          <p:nvCxnSpPr>
            <p:cNvPr id="7" name="直接连接符 6"/>
            <p:cNvCxnSpPr/>
            <p:nvPr/>
          </p:nvCxnSpPr>
          <p:spPr>
            <a:xfrm flipV="1">
              <a:off x="1351210" y="3735543"/>
              <a:ext cx="1945546" cy="1351861"/>
            </a:xfrm>
            <a:prstGeom prst="line">
              <a:avLst/>
            </a:prstGeom>
          </p:spPr>
          <p:style>
            <a:lnRef idx="2">
              <a:schemeClr val="dk1"/>
            </a:lnRef>
            <a:fillRef idx="0">
              <a:schemeClr val="dk1"/>
            </a:fillRef>
            <a:effectRef idx="1">
              <a:schemeClr val="dk1"/>
            </a:effectRef>
            <a:fontRef idx="minor">
              <a:schemeClr val="tx1"/>
            </a:fontRef>
          </p:style>
        </p:cxnSp>
        <p:cxnSp>
          <p:nvCxnSpPr>
            <p:cNvPr id="9" name="直接箭头连接符 8"/>
            <p:cNvCxnSpPr/>
            <p:nvPr/>
          </p:nvCxnSpPr>
          <p:spPr>
            <a:xfrm rot="10800000" flipV="1">
              <a:off x="1351210" y="5028627"/>
              <a:ext cx="1884748" cy="58777"/>
            </a:xfrm>
            <a:prstGeom prst="straightConnector1">
              <a:avLst/>
            </a:prstGeom>
            <a:ln>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235958" y="4969852"/>
              <a:ext cx="557824"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3</a:t>
              </a:r>
              <a:endParaRPr lang="zh-CN" altLang="en-US" sz="2000" baseline="-25000">
                <a:solidFill>
                  <a:srgbClr val="0000FF"/>
                </a:solidFill>
                <a:latin typeface="Consolas" pitchFamily="49" charset="0"/>
                <a:cs typeface="Consolas" pitchFamily="49" charset="0"/>
              </a:endParaRPr>
            </a:p>
          </p:txBody>
        </p:sp>
        <p:sp>
          <p:nvSpPr>
            <p:cNvPr id="11" name="TextBox 10"/>
            <p:cNvSpPr txBox="1"/>
            <p:nvPr/>
          </p:nvSpPr>
          <p:spPr>
            <a:xfrm>
              <a:off x="1032019" y="5000636"/>
              <a:ext cx="547185"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12" name="TextBox 11"/>
            <p:cNvSpPr txBox="1"/>
            <p:nvPr/>
          </p:nvSpPr>
          <p:spPr>
            <a:xfrm>
              <a:off x="3357554" y="3500438"/>
              <a:ext cx="507666"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13" name="TextBox 12"/>
            <p:cNvSpPr txBox="1"/>
            <p:nvPr/>
          </p:nvSpPr>
          <p:spPr>
            <a:xfrm>
              <a:off x="785786" y="3500438"/>
              <a:ext cx="507666"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4</a:t>
              </a:r>
              <a:endParaRPr lang="zh-CN" altLang="en-US" sz="2000" baseline="-25000">
                <a:solidFill>
                  <a:srgbClr val="0000FF"/>
                </a:solidFill>
                <a:latin typeface="Consolas" pitchFamily="49" charset="0"/>
                <a:cs typeface="Consolas" pitchFamily="49" charset="0"/>
              </a:endParaRPr>
            </a:p>
          </p:txBody>
        </p:sp>
        <p:sp>
          <p:nvSpPr>
            <p:cNvPr id="14" name="椭圆 13"/>
            <p:cNvSpPr/>
            <p:nvPr/>
          </p:nvSpPr>
          <p:spPr>
            <a:xfrm>
              <a:off x="3150840" y="4929198"/>
              <a:ext cx="144000" cy="142876"/>
            </a:xfrm>
            <a:prstGeom prst="ellipse">
              <a:avLst/>
            </a:prstGeom>
            <a:solidFill>
              <a:schemeClr val="tx1"/>
            </a:solidFill>
            <a:ln w="19050">
              <a:solidFill>
                <a:schemeClr val="tx1"/>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grpSp>
        <p:nvGrpSpPr>
          <p:cNvPr id="3" name="组合 28"/>
          <p:cNvGrpSpPr/>
          <p:nvPr/>
        </p:nvGrpSpPr>
        <p:grpSpPr>
          <a:xfrm>
            <a:off x="4500562" y="3457518"/>
            <a:ext cx="3079434" cy="1900308"/>
            <a:chOff x="4500562" y="3457518"/>
            <a:chExt cx="3079434" cy="1900308"/>
          </a:xfrm>
        </p:grpSpPr>
        <p:cxnSp>
          <p:nvCxnSpPr>
            <p:cNvPr id="19" name="直接连接符 18"/>
            <p:cNvCxnSpPr/>
            <p:nvPr/>
          </p:nvCxnSpPr>
          <p:spPr>
            <a:xfrm>
              <a:off x="4883591" y="3751399"/>
              <a:ext cx="2067142" cy="1234308"/>
            </a:xfrm>
            <a:prstGeom prst="line">
              <a:avLst/>
            </a:prstGeom>
            <a:ln>
              <a:solidFill>
                <a:srgbClr val="FF0000"/>
              </a:solidFill>
              <a:headEnd type="arrow"/>
              <a:tailEnd type="none"/>
            </a:ln>
          </p:spPr>
          <p:style>
            <a:lnRef idx="2">
              <a:schemeClr val="dk1"/>
            </a:lnRef>
            <a:fillRef idx="0">
              <a:schemeClr val="dk1"/>
            </a:fillRef>
            <a:effectRef idx="1">
              <a:schemeClr val="dk1"/>
            </a:effectRef>
            <a:fontRef idx="minor">
              <a:schemeClr val="tx1"/>
            </a:fontRef>
          </p:style>
        </p:cxnSp>
        <p:cxnSp>
          <p:nvCxnSpPr>
            <p:cNvPr id="20" name="直接连接符 19"/>
            <p:cNvCxnSpPr/>
            <p:nvPr/>
          </p:nvCxnSpPr>
          <p:spPr>
            <a:xfrm flipV="1">
              <a:off x="5065986" y="3692623"/>
              <a:ext cx="1945546" cy="1351861"/>
            </a:xfrm>
            <a:prstGeom prst="line">
              <a:avLst/>
            </a:prstGeom>
          </p:spPr>
          <p:style>
            <a:lnRef idx="2">
              <a:schemeClr val="dk1"/>
            </a:lnRef>
            <a:fillRef idx="0">
              <a:schemeClr val="dk1"/>
            </a:fillRef>
            <a:effectRef idx="1">
              <a:schemeClr val="dk1"/>
            </a:effectRef>
            <a:fontRef idx="minor">
              <a:schemeClr val="tx1"/>
            </a:fontRef>
          </p:style>
        </p:cxnSp>
        <p:sp>
          <p:nvSpPr>
            <p:cNvPr id="22" name="TextBox 21"/>
            <p:cNvSpPr txBox="1"/>
            <p:nvPr/>
          </p:nvSpPr>
          <p:spPr>
            <a:xfrm>
              <a:off x="6950734" y="4926932"/>
              <a:ext cx="557824"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3</a:t>
              </a:r>
              <a:endParaRPr lang="zh-CN" altLang="en-US" sz="2000" baseline="-25000">
                <a:solidFill>
                  <a:srgbClr val="0000FF"/>
                </a:solidFill>
                <a:latin typeface="Consolas" pitchFamily="49" charset="0"/>
                <a:cs typeface="Consolas" pitchFamily="49" charset="0"/>
              </a:endParaRPr>
            </a:p>
          </p:txBody>
        </p:sp>
        <p:sp>
          <p:nvSpPr>
            <p:cNvPr id="23" name="TextBox 22"/>
            <p:cNvSpPr txBox="1"/>
            <p:nvPr/>
          </p:nvSpPr>
          <p:spPr>
            <a:xfrm>
              <a:off x="4746795" y="4957716"/>
              <a:ext cx="547185"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24" name="TextBox 23"/>
            <p:cNvSpPr txBox="1"/>
            <p:nvPr/>
          </p:nvSpPr>
          <p:spPr>
            <a:xfrm>
              <a:off x="7072330" y="3457518"/>
              <a:ext cx="507666"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25" name="TextBox 24"/>
            <p:cNvSpPr txBox="1"/>
            <p:nvPr/>
          </p:nvSpPr>
          <p:spPr>
            <a:xfrm>
              <a:off x="4500562" y="3457518"/>
              <a:ext cx="507666"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4</a:t>
              </a:r>
              <a:endParaRPr lang="zh-CN" altLang="en-US" sz="2000" baseline="-25000">
                <a:solidFill>
                  <a:srgbClr val="0000FF"/>
                </a:solidFill>
                <a:latin typeface="Consolas" pitchFamily="49" charset="0"/>
                <a:cs typeface="Consolas" pitchFamily="49" charset="0"/>
              </a:endParaRPr>
            </a:p>
          </p:txBody>
        </p:sp>
        <p:sp>
          <p:nvSpPr>
            <p:cNvPr id="26" name="椭圆 25"/>
            <p:cNvSpPr/>
            <p:nvPr/>
          </p:nvSpPr>
          <p:spPr>
            <a:xfrm>
              <a:off x="6865616" y="4886278"/>
              <a:ext cx="144000" cy="142876"/>
            </a:xfrm>
            <a:prstGeom prst="ellipse">
              <a:avLst/>
            </a:prstGeom>
            <a:solidFill>
              <a:schemeClr val="tx1"/>
            </a:solidFill>
            <a:ln w="19050">
              <a:solidFill>
                <a:schemeClr val="tx1"/>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cxnSp>
          <p:nvCxnSpPr>
            <p:cNvPr id="28" name="直接箭头连接符 27"/>
            <p:cNvCxnSpPr>
              <a:stCxn id="26" idx="0"/>
            </p:cNvCxnSpPr>
            <p:nvPr/>
          </p:nvCxnSpPr>
          <p:spPr>
            <a:xfrm rot="5400000" flipH="1" flipV="1">
              <a:off x="6383491" y="4268877"/>
              <a:ext cx="1171526" cy="63276"/>
            </a:xfrm>
            <a:prstGeom prst="straightConnector1">
              <a:avLst/>
            </a:pr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cxnSp>
      </p:grpSp>
      <p:cxnSp>
        <p:nvCxnSpPr>
          <p:cNvPr id="32" name="直接箭头连接符 31"/>
          <p:cNvCxnSpPr/>
          <p:nvPr/>
        </p:nvCxnSpPr>
        <p:spPr>
          <a:xfrm rot="5400000" flipH="1" flipV="1">
            <a:off x="1750993" y="2535231"/>
            <a:ext cx="2214578" cy="1588"/>
          </a:xfrm>
          <a:prstGeom prst="straightConnector1">
            <a:avLst/>
          </a:prstGeom>
          <a:ln w="19050">
            <a:solidFill>
              <a:srgbClr val="00B0F0"/>
            </a:solidFill>
            <a:prstDash val="dash"/>
            <a:tailEnd type="arrow"/>
          </a:ln>
        </p:spPr>
        <p:style>
          <a:lnRef idx="2">
            <a:schemeClr val="dk1"/>
          </a:lnRef>
          <a:fillRef idx="0">
            <a:schemeClr val="dk1"/>
          </a:fillRef>
          <a:effectRef idx="1">
            <a:schemeClr val="dk1"/>
          </a:effectRef>
          <a:fontRef idx="minor">
            <a:schemeClr val="tx1"/>
          </a:fontRef>
        </p:style>
      </p:cxnSp>
      <p:cxnSp>
        <p:nvCxnSpPr>
          <p:cNvPr id="34" name="直接箭头连接符 33"/>
          <p:cNvCxnSpPr/>
          <p:nvPr/>
        </p:nvCxnSpPr>
        <p:spPr>
          <a:xfrm rot="10800000">
            <a:off x="3786182" y="1928802"/>
            <a:ext cx="2000264" cy="1714512"/>
          </a:xfrm>
          <a:prstGeom prst="straightConnector1">
            <a:avLst/>
          </a:prstGeom>
          <a:ln w="19050">
            <a:solidFill>
              <a:srgbClr val="00B0F0"/>
            </a:solidFill>
            <a:prstDash val="dash"/>
            <a:tailEnd type="arrow"/>
          </a:ln>
        </p:spPr>
        <p:style>
          <a:lnRef idx="2">
            <a:schemeClr val="dk1"/>
          </a:lnRef>
          <a:fillRef idx="0">
            <a:schemeClr val="dk1"/>
          </a:fillRef>
          <a:effectRef idx="1">
            <a:schemeClr val="dk1"/>
          </a:effectRef>
          <a:fontRef idx="minor">
            <a:schemeClr val="tx1"/>
          </a:fontRef>
        </p:style>
      </p:cxnSp>
      <p:sp>
        <p:nvSpPr>
          <p:cNvPr id="35" name="灯片编号占位符 34"/>
          <p:cNvSpPr>
            <a:spLocks noGrp="1"/>
          </p:cNvSpPr>
          <p:nvPr>
            <p:ph type="sldNum" sz="quarter" idx="12"/>
          </p:nvPr>
        </p:nvSpPr>
        <p:spPr/>
        <p:txBody>
          <a:bodyPr/>
          <a:lstStyle/>
          <a:p>
            <a:fld id="{7AF016A1-9F15-429F-9EFD-84004B73C732}" type="slidenum">
              <a:rPr lang="en-US" altLang="zh-CN" smtClean="0"/>
              <a:pPr/>
              <a:t>46</a:t>
            </a:fld>
            <a:r>
              <a:rPr lang="en-US" altLang="zh-CN"/>
              <a:t>/7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4286256"/>
            <a:ext cx="8572560" cy="4616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600"/>
              </a:spcBef>
              <a:buBlip>
                <a:blip r:embed="rId3"/>
              </a:buBlip>
            </a:pPr>
            <a:r>
              <a:rPr lang="zh-CN" altLang="en-US">
                <a:solidFill>
                  <a:srgbClr val="0000FF"/>
                </a:solidFill>
                <a:latin typeface="Consolas" pitchFamily="49" charset="0"/>
                <a:ea typeface="仿宋" pitchFamily="49" charset="-122"/>
                <a:cs typeface="Consolas" pitchFamily="49" charset="0"/>
              </a:rPr>
              <a:t>若</a:t>
            </a:r>
            <a:r>
              <a:rPr lang="en-US" altLang="zh-CN" i="1">
                <a:solidFill>
                  <a:srgbClr val="FF0000"/>
                </a:solidFill>
                <a:latin typeface="Consolas" pitchFamily="49" charset="0"/>
                <a:ea typeface="仿宋" pitchFamily="49" charset="-122"/>
                <a:cs typeface="Consolas" pitchFamily="49" charset="0"/>
              </a:rPr>
              <a:t>d</a:t>
            </a:r>
            <a:r>
              <a:rPr lang="en-US" altLang="zh-CN" baseline="-25000">
                <a:solidFill>
                  <a:srgbClr val="FF0000"/>
                </a:solidFill>
                <a:latin typeface="Consolas" pitchFamily="49" charset="0"/>
                <a:ea typeface="仿宋" pitchFamily="49" charset="-122"/>
                <a:cs typeface="Consolas" pitchFamily="49" charset="0"/>
              </a:rPr>
              <a:t>1</a:t>
            </a:r>
            <a:r>
              <a:rPr lang="en-US" altLang="zh-CN">
                <a:solidFill>
                  <a:srgbClr val="FF0000"/>
                </a:solidFill>
                <a:latin typeface="Consolas" pitchFamily="49" charset="0"/>
                <a:ea typeface="仿宋" pitchFamily="49" charset="-122"/>
                <a:cs typeface="Consolas" pitchFamily="49" charset="0"/>
              </a:rPr>
              <a:t>×</a:t>
            </a:r>
            <a:r>
              <a:rPr lang="en-US" altLang="zh-CN" i="1">
                <a:solidFill>
                  <a:srgbClr val="FF0000"/>
                </a:solidFill>
                <a:latin typeface="Consolas" pitchFamily="49" charset="0"/>
                <a:ea typeface="仿宋" pitchFamily="49" charset="-122"/>
                <a:cs typeface="Consolas" pitchFamily="49" charset="0"/>
              </a:rPr>
              <a:t>d</a:t>
            </a:r>
            <a:r>
              <a:rPr lang="en-US" altLang="zh-CN" baseline="-25000">
                <a:solidFill>
                  <a:srgbClr val="FF0000"/>
                </a:solidFill>
                <a:latin typeface="Consolas" pitchFamily="49" charset="0"/>
                <a:ea typeface="仿宋" pitchFamily="49" charset="-122"/>
                <a:cs typeface="Consolas" pitchFamily="49" charset="0"/>
              </a:rPr>
              <a:t>2</a:t>
            </a:r>
            <a:r>
              <a:rPr lang="en-US" altLang="zh-CN">
                <a:solidFill>
                  <a:srgbClr val="FF0000"/>
                </a:solidFill>
                <a:latin typeface="Consolas" pitchFamily="49" charset="0"/>
                <a:ea typeface="仿宋" pitchFamily="49" charset="-122"/>
                <a:cs typeface="Consolas" pitchFamily="49" charset="0"/>
              </a:rPr>
              <a:t>&lt;0</a:t>
            </a:r>
            <a:r>
              <a:rPr lang="zh-CN" altLang="en-US">
                <a:solidFill>
                  <a:srgbClr val="0000FF"/>
                </a:solidFill>
                <a:latin typeface="Consolas" pitchFamily="49" charset="0"/>
                <a:ea typeface="仿宋" pitchFamily="49" charset="-122"/>
                <a:cs typeface="Consolas" pitchFamily="49" charset="0"/>
              </a:rPr>
              <a:t>，则</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两个点在</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3</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线段的两边</a:t>
            </a:r>
            <a:r>
              <a:rPr lang="zh-CN" altLang="en-US">
                <a:solidFill>
                  <a:srgbClr val="0000FF"/>
                </a:solidFill>
                <a:latin typeface="Consolas" pitchFamily="49" charset="0"/>
                <a:ea typeface="仿宋" pitchFamily="49" charset="-122"/>
                <a:cs typeface="Consolas" pitchFamily="49" charset="0"/>
              </a:rPr>
              <a:t>。</a:t>
            </a:r>
            <a:endParaRPr lang="zh-CN" altLang="zh-CN">
              <a:solidFill>
                <a:srgbClr val="0000FF"/>
              </a:solidFill>
              <a:latin typeface="Consolas" pitchFamily="49" charset="0"/>
              <a:ea typeface="仿宋" pitchFamily="49" charset="-122"/>
              <a:cs typeface="Consolas" pitchFamily="49" charset="0"/>
            </a:endParaRPr>
          </a:p>
        </p:txBody>
      </p:sp>
      <p:grpSp>
        <p:nvGrpSpPr>
          <p:cNvPr id="2" name="组合 24"/>
          <p:cNvGrpSpPr/>
          <p:nvPr/>
        </p:nvGrpSpPr>
        <p:grpSpPr>
          <a:xfrm>
            <a:off x="785786" y="814312"/>
            <a:ext cx="3079434" cy="1900308"/>
            <a:chOff x="785786" y="3500438"/>
            <a:chExt cx="3079434" cy="1900308"/>
          </a:xfrm>
        </p:grpSpPr>
        <p:cxnSp>
          <p:nvCxnSpPr>
            <p:cNvPr id="26" name="直接连接符 25"/>
            <p:cNvCxnSpPr/>
            <p:nvPr/>
          </p:nvCxnSpPr>
          <p:spPr>
            <a:xfrm>
              <a:off x="1168815" y="3794319"/>
              <a:ext cx="2067142" cy="1234308"/>
            </a:xfrm>
            <a:prstGeom prst="line">
              <a:avLst/>
            </a:prstGeom>
            <a:ln>
              <a:solidFill>
                <a:srgbClr val="FF0000"/>
              </a:solidFill>
              <a:headEnd type="arrow"/>
              <a:tailEnd type="none"/>
            </a:ln>
          </p:spPr>
          <p:style>
            <a:lnRef idx="2">
              <a:schemeClr val="dk1"/>
            </a:lnRef>
            <a:fillRef idx="0">
              <a:schemeClr val="dk1"/>
            </a:fillRef>
            <a:effectRef idx="1">
              <a:schemeClr val="dk1"/>
            </a:effectRef>
            <a:fontRef idx="minor">
              <a:schemeClr val="tx1"/>
            </a:fontRef>
          </p:style>
        </p:cxnSp>
        <p:cxnSp>
          <p:nvCxnSpPr>
            <p:cNvPr id="27" name="直接连接符 26"/>
            <p:cNvCxnSpPr/>
            <p:nvPr/>
          </p:nvCxnSpPr>
          <p:spPr>
            <a:xfrm flipV="1">
              <a:off x="1351210" y="3735543"/>
              <a:ext cx="1945546" cy="1351861"/>
            </a:xfrm>
            <a:prstGeom prst="line">
              <a:avLst/>
            </a:prstGeom>
          </p:spPr>
          <p:style>
            <a:lnRef idx="2">
              <a:schemeClr val="dk1"/>
            </a:lnRef>
            <a:fillRef idx="0">
              <a:schemeClr val="dk1"/>
            </a:fillRef>
            <a:effectRef idx="1">
              <a:schemeClr val="dk1"/>
            </a:effectRef>
            <a:fontRef idx="minor">
              <a:schemeClr val="tx1"/>
            </a:fontRef>
          </p:style>
        </p:cxnSp>
        <p:cxnSp>
          <p:nvCxnSpPr>
            <p:cNvPr id="28" name="直接箭头连接符 27"/>
            <p:cNvCxnSpPr/>
            <p:nvPr/>
          </p:nvCxnSpPr>
          <p:spPr>
            <a:xfrm rot="10800000" flipV="1">
              <a:off x="1351210" y="5028627"/>
              <a:ext cx="1884748" cy="58777"/>
            </a:xfrm>
            <a:prstGeom prst="straightConnector1">
              <a:avLst/>
            </a:prstGeom>
            <a:ln>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235958" y="4969852"/>
              <a:ext cx="557824"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3</a:t>
              </a:r>
              <a:endParaRPr lang="zh-CN" altLang="en-US" sz="2000" baseline="-25000">
                <a:solidFill>
                  <a:srgbClr val="0000FF"/>
                </a:solidFill>
                <a:latin typeface="Consolas" pitchFamily="49" charset="0"/>
                <a:cs typeface="Consolas" pitchFamily="49" charset="0"/>
              </a:endParaRPr>
            </a:p>
          </p:txBody>
        </p:sp>
        <p:sp>
          <p:nvSpPr>
            <p:cNvPr id="30" name="TextBox 29"/>
            <p:cNvSpPr txBox="1"/>
            <p:nvPr/>
          </p:nvSpPr>
          <p:spPr>
            <a:xfrm>
              <a:off x="1032019" y="5000636"/>
              <a:ext cx="547185" cy="400110"/>
            </a:xfrm>
            <a:prstGeom prst="rect">
              <a:avLst/>
            </a:prstGeom>
            <a:noFill/>
          </p:spPr>
          <p:txBody>
            <a:bodyPr wrap="square" rtlCol="0">
              <a:spAutoFit/>
            </a:bodyPr>
            <a:lstStyle/>
            <a:p>
              <a:pPr algn="l">
                <a:lnSpc>
                  <a:spcPct val="100000"/>
                </a:lnSpc>
              </a:pPr>
              <a:r>
                <a:rPr lang="en-US" altLang="zh-CN" sz="2000">
                  <a:solidFill>
                    <a:srgbClr val="FF0000"/>
                  </a:solidFill>
                  <a:latin typeface="Consolas" pitchFamily="49" charset="0"/>
                  <a:cs typeface="Consolas" pitchFamily="49" charset="0"/>
                </a:rPr>
                <a:t>p</a:t>
              </a:r>
              <a:r>
                <a:rPr lang="en-US" altLang="zh-CN" sz="2000" baseline="-25000">
                  <a:solidFill>
                    <a:srgbClr val="FF0000"/>
                  </a:solidFill>
                  <a:latin typeface="Consolas" pitchFamily="49" charset="0"/>
                  <a:cs typeface="Consolas" pitchFamily="49" charset="0"/>
                </a:rPr>
                <a:t>1</a:t>
              </a:r>
              <a:endParaRPr lang="zh-CN" altLang="en-US" sz="2000" baseline="-25000">
                <a:solidFill>
                  <a:srgbClr val="FF0000"/>
                </a:solidFill>
                <a:latin typeface="Consolas" pitchFamily="49" charset="0"/>
                <a:cs typeface="Consolas" pitchFamily="49" charset="0"/>
              </a:endParaRPr>
            </a:p>
          </p:txBody>
        </p:sp>
        <p:sp>
          <p:nvSpPr>
            <p:cNvPr id="31" name="TextBox 30"/>
            <p:cNvSpPr txBox="1"/>
            <p:nvPr/>
          </p:nvSpPr>
          <p:spPr>
            <a:xfrm>
              <a:off x="3357554" y="3500438"/>
              <a:ext cx="507666"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32" name="TextBox 31"/>
            <p:cNvSpPr txBox="1"/>
            <p:nvPr/>
          </p:nvSpPr>
          <p:spPr>
            <a:xfrm>
              <a:off x="785786" y="3500438"/>
              <a:ext cx="507666"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4</a:t>
              </a:r>
              <a:endParaRPr lang="zh-CN" altLang="en-US" sz="2000" baseline="-25000">
                <a:solidFill>
                  <a:srgbClr val="0000FF"/>
                </a:solidFill>
                <a:latin typeface="Consolas" pitchFamily="49" charset="0"/>
                <a:cs typeface="Consolas" pitchFamily="49" charset="0"/>
              </a:endParaRPr>
            </a:p>
          </p:txBody>
        </p:sp>
        <p:sp>
          <p:nvSpPr>
            <p:cNvPr id="33" name="椭圆 32"/>
            <p:cNvSpPr/>
            <p:nvPr/>
          </p:nvSpPr>
          <p:spPr>
            <a:xfrm>
              <a:off x="3150840" y="4929198"/>
              <a:ext cx="144000" cy="142876"/>
            </a:xfrm>
            <a:prstGeom prst="ellipse">
              <a:avLst/>
            </a:prstGeom>
            <a:solidFill>
              <a:schemeClr val="tx1"/>
            </a:solidFill>
            <a:ln w="19050">
              <a:solidFill>
                <a:schemeClr val="tx1"/>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grpSp>
        <p:nvGrpSpPr>
          <p:cNvPr id="3" name="组合 33"/>
          <p:cNvGrpSpPr/>
          <p:nvPr/>
        </p:nvGrpSpPr>
        <p:grpSpPr>
          <a:xfrm>
            <a:off x="4500562" y="771392"/>
            <a:ext cx="3079434" cy="1900308"/>
            <a:chOff x="4500562" y="3457518"/>
            <a:chExt cx="3079434" cy="1900308"/>
          </a:xfrm>
        </p:grpSpPr>
        <p:cxnSp>
          <p:nvCxnSpPr>
            <p:cNvPr id="35" name="直接连接符 34"/>
            <p:cNvCxnSpPr/>
            <p:nvPr/>
          </p:nvCxnSpPr>
          <p:spPr>
            <a:xfrm>
              <a:off x="4883591" y="3751399"/>
              <a:ext cx="2067142" cy="1234308"/>
            </a:xfrm>
            <a:prstGeom prst="line">
              <a:avLst/>
            </a:prstGeom>
            <a:ln>
              <a:solidFill>
                <a:srgbClr val="FF0000"/>
              </a:solidFill>
              <a:headEnd type="arrow"/>
              <a:tailEnd type="none"/>
            </a:ln>
          </p:spPr>
          <p:style>
            <a:lnRef idx="2">
              <a:schemeClr val="dk1"/>
            </a:lnRef>
            <a:fillRef idx="0">
              <a:schemeClr val="dk1"/>
            </a:fillRef>
            <a:effectRef idx="1">
              <a:schemeClr val="dk1"/>
            </a:effectRef>
            <a:fontRef idx="minor">
              <a:schemeClr val="tx1"/>
            </a:fontRef>
          </p:style>
        </p:cxnSp>
        <p:cxnSp>
          <p:nvCxnSpPr>
            <p:cNvPr id="36" name="直接连接符 35"/>
            <p:cNvCxnSpPr/>
            <p:nvPr/>
          </p:nvCxnSpPr>
          <p:spPr>
            <a:xfrm flipV="1">
              <a:off x="5065986" y="3692623"/>
              <a:ext cx="1945546" cy="1351861"/>
            </a:xfrm>
            <a:prstGeom prst="line">
              <a:avLst/>
            </a:prstGeom>
          </p:spPr>
          <p:style>
            <a:lnRef idx="2">
              <a:schemeClr val="dk1"/>
            </a:lnRef>
            <a:fillRef idx="0">
              <a:schemeClr val="dk1"/>
            </a:fillRef>
            <a:effectRef idx="1">
              <a:schemeClr val="dk1"/>
            </a:effectRef>
            <a:fontRef idx="minor">
              <a:schemeClr val="tx1"/>
            </a:fontRef>
          </p:style>
        </p:cxnSp>
        <p:sp>
          <p:nvSpPr>
            <p:cNvPr id="37" name="TextBox 36"/>
            <p:cNvSpPr txBox="1"/>
            <p:nvPr/>
          </p:nvSpPr>
          <p:spPr>
            <a:xfrm>
              <a:off x="6950734" y="4926932"/>
              <a:ext cx="557824"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3</a:t>
              </a:r>
              <a:endParaRPr lang="zh-CN" altLang="en-US" sz="2000" baseline="-25000">
                <a:solidFill>
                  <a:srgbClr val="0000FF"/>
                </a:solidFill>
                <a:latin typeface="Consolas" pitchFamily="49" charset="0"/>
                <a:cs typeface="Consolas" pitchFamily="49" charset="0"/>
              </a:endParaRPr>
            </a:p>
          </p:txBody>
        </p:sp>
        <p:sp>
          <p:nvSpPr>
            <p:cNvPr id="38" name="TextBox 37"/>
            <p:cNvSpPr txBox="1"/>
            <p:nvPr/>
          </p:nvSpPr>
          <p:spPr>
            <a:xfrm>
              <a:off x="4746795" y="4957716"/>
              <a:ext cx="547185"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39" name="TextBox 38"/>
            <p:cNvSpPr txBox="1"/>
            <p:nvPr/>
          </p:nvSpPr>
          <p:spPr>
            <a:xfrm>
              <a:off x="7072330" y="3457518"/>
              <a:ext cx="507666" cy="400110"/>
            </a:xfrm>
            <a:prstGeom prst="rect">
              <a:avLst/>
            </a:prstGeom>
            <a:noFill/>
          </p:spPr>
          <p:txBody>
            <a:bodyPr wrap="square" rtlCol="0">
              <a:spAutoFit/>
            </a:bodyPr>
            <a:lstStyle/>
            <a:p>
              <a:pPr algn="l">
                <a:lnSpc>
                  <a:spcPct val="100000"/>
                </a:lnSpc>
              </a:pPr>
              <a:r>
                <a:rPr lang="en-US" altLang="zh-CN" sz="2000">
                  <a:solidFill>
                    <a:srgbClr val="FF0000"/>
                  </a:solidFill>
                  <a:latin typeface="Consolas" pitchFamily="49" charset="0"/>
                  <a:cs typeface="Consolas" pitchFamily="49" charset="0"/>
                </a:rPr>
                <a:t>p</a:t>
              </a:r>
              <a:r>
                <a:rPr lang="en-US" altLang="zh-CN" sz="2000" baseline="-25000">
                  <a:solidFill>
                    <a:srgbClr val="FF0000"/>
                  </a:solidFill>
                  <a:latin typeface="Consolas" pitchFamily="49" charset="0"/>
                  <a:cs typeface="Consolas" pitchFamily="49" charset="0"/>
                </a:rPr>
                <a:t>2</a:t>
              </a:r>
              <a:endParaRPr lang="zh-CN" altLang="en-US" sz="2000" baseline="-25000">
                <a:solidFill>
                  <a:srgbClr val="FF0000"/>
                </a:solidFill>
                <a:latin typeface="Consolas" pitchFamily="49" charset="0"/>
                <a:cs typeface="Consolas" pitchFamily="49" charset="0"/>
              </a:endParaRPr>
            </a:p>
          </p:txBody>
        </p:sp>
        <p:sp>
          <p:nvSpPr>
            <p:cNvPr id="40" name="TextBox 39"/>
            <p:cNvSpPr txBox="1"/>
            <p:nvPr/>
          </p:nvSpPr>
          <p:spPr>
            <a:xfrm>
              <a:off x="4500562" y="3457518"/>
              <a:ext cx="507666" cy="400110"/>
            </a:xfrm>
            <a:prstGeom prst="rect">
              <a:avLst/>
            </a:prstGeom>
            <a:noFill/>
          </p:spPr>
          <p:txBody>
            <a:bodyPr wrap="square" rtlCol="0">
              <a:spAutoFit/>
            </a:bodyPr>
            <a:lstStyle/>
            <a:p>
              <a:pPr algn="l">
                <a:lnSpc>
                  <a:spcPct val="100000"/>
                </a:lnSpc>
              </a:pPr>
              <a:r>
                <a:rPr lang="en-US" altLang="zh-CN" sz="2000">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4</a:t>
              </a:r>
              <a:endParaRPr lang="zh-CN" altLang="en-US" sz="2000" baseline="-25000">
                <a:solidFill>
                  <a:srgbClr val="0000FF"/>
                </a:solidFill>
                <a:latin typeface="Consolas" pitchFamily="49" charset="0"/>
                <a:cs typeface="Consolas" pitchFamily="49" charset="0"/>
              </a:endParaRPr>
            </a:p>
          </p:txBody>
        </p:sp>
        <p:sp>
          <p:nvSpPr>
            <p:cNvPr id="41" name="椭圆 40"/>
            <p:cNvSpPr/>
            <p:nvPr/>
          </p:nvSpPr>
          <p:spPr>
            <a:xfrm>
              <a:off x="6865616" y="4886278"/>
              <a:ext cx="144000" cy="142876"/>
            </a:xfrm>
            <a:prstGeom prst="ellipse">
              <a:avLst/>
            </a:prstGeom>
            <a:solidFill>
              <a:schemeClr val="tx1"/>
            </a:solidFill>
            <a:ln w="19050">
              <a:solidFill>
                <a:schemeClr val="tx1"/>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cxnSp>
          <p:nvCxnSpPr>
            <p:cNvPr id="42" name="直接箭头连接符 41"/>
            <p:cNvCxnSpPr>
              <a:stCxn id="41" idx="0"/>
            </p:cNvCxnSpPr>
            <p:nvPr/>
          </p:nvCxnSpPr>
          <p:spPr>
            <a:xfrm rot="5400000" flipH="1" flipV="1">
              <a:off x="6383491" y="4268877"/>
              <a:ext cx="1171526" cy="63276"/>
            </a:xfrm>
            <a:prstGeom prst="straightConnector1">
              <a:avLst/>
            </a:prstGeom>
            <a:ln w="19050">
              <a:solidFill>
                <a:srgbClr val="FF0000"/>
              </a:solidFill>
              <a:prstDash val="dash"/>
              <a:tailEnd type="arrow"/>
            </a:ln>
          </p:spPr>
          <p:style>
            <a:lnRef idx="2">
              <a:schemeClr val="dk1"/>
            </a:lnRef>
            <a:fillRef idx="0">
              <a:schemeClr val="dk1"/>
            </a:fillRef>
            <a:effectRef idx="1">
              <a:schemeClr val="dk1"/>
            </a:effectRef>
            <a:fontRef idx="minor">
              <a:schemeClr val="tx1"/>
            </a:fontRef>
          </p:style>
        </p:cxnSp>
      </p:grpSp>
      <p:sp>
        <p:nvSpPr>
          <p:cNvPr id="43" name="TextBox 42"/>
          <p:cNvSpPr txBox="1"/>
          <p:nvPr/>
        </p:nvSpPr>
        <p:spPr>
          <a:xfrm>
            <a:off x="571472" y="3071810"/>
            <a:ext cx="3714776"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仿宋" pitchFamily="49" charset="-122"/>
                <a:cs typeface="Consolas" pitchFamily="49" charset="0"/>
              </a:rPr>
              <a:t>d</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Direction</a:t>
            </a:r>
            <a:r>
              <a:rPr lang="en-US" altLang="zh-CN" sz="2000">
                <a:solidFill>
                  <a:srgbClr val="0000FF"/>
                </a:solidFill>
                <a:latin typeface="Consolas" pitchFamily="49" charset="0"/>
                <a:ea typeface="仿宋" pitchFamily="49" charset="-122"/>
                <a:cs typeface="Consolas" pitchFamily="49" charset="0"/>
              </a:rPr>
              <a:t>(p3</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p1</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p4)</a:t>
            </a:r>
            <a:endParaRPr lang="zh-CN" altLang="en-US" sz="2000">
              <a:solidFill>
                <a:srgbClr val="0000FF"/>
              </a:solidFill>
              <a:latin typeface="Consolas" pitchFamily="49" charset="0"/>
              <a:ea typeface="楷体" pitchFamily="49" charset="-122"/>
              <a:cs typeface="Consolas" pitchFamily="49" charset="0"/>
            </a:endParaRPr>
          </a:p>
        </p:txBody>
      </p:sp>
      <p:sp>
        <p:nvSpPr>
          <p:cNvPr id="44" name="TextBox 43"/>
          <p:cNvSpPr txBox="1"/>
          <p:nvPr/>
        </p:nvSpPr>
        <p:spPr>
          <a:xfrm>
            <a:off x="4643438" y="3071810"/>
            <a:ext cx="3714776"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仿宋" pitchFamily="49" charset="-122"/>
                <a:cs typeface="Consolas" pitchFamily="49" charset="0"/>
              </a:rPr>
              <a:t>d</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Direction</a:t>
            </a:r>
            <a:r>
              <a:rPr lang="en-US" altLang="zh-CN" sz="2000">
                <a:solidFill>
                  <a:srgbClr val="0000FF"/>
                </a:solidFill>
                <a:latin typeface="Consolas" pitchFamily="49" charset="0"/>
                <a:ea typeface="仿宋" pitchFamily="49" charset="-122"/>
                <a:cs typeface="Consolas" pitchFamily="49" charset="0"/>
              </a:rPr>
              <a:t>(p3</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p2</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p4)</a:t>
            </a:r>
            <a:endParaRPr lang="zh-CN" altLang="en-US" sz="2000">
              <a:solidFill>
                <a:srgbClr val="0000FF"/>
              </a:solidFill>
              <a:latin typeface="Consolas" pitchFamily="49" charset="0"/>
              <a:ea typeface="楷体" pitchFamily="49" charset="-122"/>
              <a:cs typeface="Consolas" pitchFamily="49" charset="0"/>
            </a:endParaRPr>
          </a:p>
        </p:txBody>
      </p:sp>
      <p:sp>
        <p:nvSpPr>
          <p:cNvPr id="45" name="下箭头 44"/>
          <p:cNvSpPr/>
          <p:nvPr/>
        </p:nvSpPr>
        <p:spPr>
          <a:xfrm>
            <a:off x="4000496" y="3571876"/>
            <a:ext cx="285752"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46" name="灯片编号占位符 45"/>
          <p:cNvSpPr>
            <a:spLocks noGrp="1"/>
          </p:cNvSpPr>
          <p:nvPr>
            <p:ph type="sldNum" sz="quarter" idx="12"/>
          </p:nvPr>
        </p:nvSpPr>
        <p:spPr/>
        <p:txBody>
          <a:bodyPr/>
          <a:lstStyle/>
          <a:p>
            <a:fld id="{7AF016A1-9F15-429F-9EFD-84004B73C732}" type="slidenum">
              <a:rPr lang="en-US" altLang="zh-CN" smtClean="0"/>
              <a:pPr/>
              <a:t>47</a:t>
            </a:fld>
            <a:r>
              <a:rPr lang="en-US" altLang="zh-CN"/>
              <a:t>/7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4348" y="2857496"/>
            <a:ext cx="7358114" cy="4616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spcBef>
                <a:spcPts val="600"/>
              </a:spcBef>
              <a:buBlip>
                <a:blip r:embed="rId3"/>
              </a:buBlip>
            </a:pPr>
            <a:r>
              <a:rPr lang="zh-CN" altLang="zh-CN">
                <a:solidFill>
                  <a:srgbClr val="0000FF"/>
                </a:solidFill>
                <a:latin typeface="Consolas" pitchFamily="49" charset="0"/>
                <a:ea typeface="仿宋" pitchFamily="49" charset="-122"/>
                <a:cs typeface="Consolas" pitchFamily="49" charset="0"/>
              </a:rPr>
              <a:t>若</a:t>
            </a:r>
            <a:r>
              <a:rPr lang="en-US" altLang="zh-CN" i="1">
                <a:solidFill>
                  <a:srgbClr val="C00000"/>
                </a:solidFill>
                <a:latin typeface="Consolas" pitchFamily="49" charset="0"/>
                <a:ea typeface="仿宋" pitchFamily="49" charset="-122"/>
                <a:cs typeface="Consolas" pitchFamily="49" charset="0"/>
              </a:rPr>
              <a:t>d</a:t>
            </a:r>
            <a:r>
              <a:rPr lang="en-US" altLang="zh-CN" baseline="-25000">
                <a:solidFill>
                  <a:srgbClr val="C00000"/>
                </a:solidFill>
                <a:latin typeface="Consolas" pitchFamily="49" charset="0"/>
                <a:ea typeface="仿宋" pitchFamily="49" charset="-122"/>
                <a:cs typeface="Consolas" pitchFamily="49" charset="0"/>
              </a:rPr>
              <a:t>3</a:t>
            </a:r>
            <a:r>
              <a:rPr lang="en-US" altLang="zh-CN">
                <a:solidFill>
                  <a:srgbClr val="C00000"/>
                </a:solidFill>
                <a:latin typeface="Consolas" pitchFamily="49" charset="0"/>
                <a:ea typeface="仿宋" pitchFamily="49" charset="-122"/>
                <a:cs typeface="Consolas" pitchFamily="49" charset="0"/>
              </a:rPr>
              <a:t>×</a:t>
            </a:r>
            <a:r>
              <a:rPr lang="en-US" altLang="zh-CN" i="1">
                <a:solidFill>
                  <a:srgbClr val="C00000"/>
                </a:solidFill>
                <a:latin typeface="Consolas" pitchFamily="49" charset="0"/>
                <a:ea typeface="仿宋" pitchFamily="49" charset="-122"/>
                <a:cs typeface="Consolas" pitchFamily="49" charset="0"/>
              </a:rPr>
              <a:t>d</a:t>
            </a:r>
            <a:r>
              <a:rPr lang="en-US" altLang="zh-CN" baseline="-25000">
                <a:solidFill>
                  <a:srgbClr val="C00000"/>
                </a:solidFill>
                <a:latin typeface="Consolas" pitchFamily="49" charset="0"/>
                <a:ea typeface="仿宋" pitchFamily="49" charset="-122"/>
                <a:cs typeface="Consolas" pitchFamily="49" charset="0"/>
              </a:rPr>
              <a:t>4</a:t>
            </a:r>
            <a:r>
              <a:rPr lang="en-US" altLang="zh-CN">
                <a:solidFill>
                  <a:srgbClr val="C00000"/>
                </a:solidFill>
                <a:latin typeface="Consolas" pitchFamily="49" charset="0"/>
                <a:ea typeface="仿宋" pitchFamily="49" charset="-122"/>
                <a:cs typeface="Consolas" pitchFamily="49" charset="0"/>
              </a:rPr>
              <a:t>&lt;0</a:t>
            </a:r>
            <a:r>
              <a:rPr lang="zh-CN" altLang="zh-CN">
                <a:solidFill>
                  <a:srgbClr val="0000FF"/>
                </a:solidFill>
                <a:latin typeface="Consolas" pitchFamily="49" charset="0"/>
                <a:ea typeface="仿宋" pitchFamily="49" charset="-122"/>
                <a:cs typeface="Consolas" pitchFamily="49" charset="0"/>
              </a:rPr>
              <a:t>，则</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两个点在</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线段的两边。</a:t>
            </a:r>
          </a:p>
        </p:txBody>
      </p:sp>
      <p:sp>
        <p:nvSpPr>
          <p:cNvPr id="45" name="下箭头 44"/>
          <p:cNvSpPr/>
          <p:nvPr/>
        </p:nvSpPr>
        <p:spPr>
          <a:xfrm>
            <a:off x="3714744" y="2071678"/>
            <a:ext cx="285752"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5" name="TextBox 24"/>
          <p:cNvSpPr txBox="1"/>
          <p:nvPr/>
        </p:nvSpPr>
        <p:spPr>
          <a:xfrm>
            <a:off x="285720" y="1071546"/>
            <a:ext cx="8429684" cy="861774"/>
          </a:xfrm>
          <a:prstGeom prst="rect">
            <a:avLst/>
          </a:prstGeom>
          <a:noFill/>
        </p:spPr>
        <p:txBody>
          <a:bodyPr wrap="square" rtlCol="0">
            <a:spAutoFit/>
          </a:bodyPr>
          <a:lstStyle/>
          <a:p>
            <a:pPr marL="360000" indent="-360000" algn="l">
              <a:lnSpc>
                <a:spcPct val="100000"/>
              </a:lnSpc>
              <a:buBlip>
                <a:blip r:embed="rId4"/>
              </a:buBlip>
            </a:pPr>
            <a:r>
              <a:rPr lang="en-US" altLang="zh-CN" sz="2000" i="1">
                <a:solidFill>
                  <a:srgbClr val="0000FF"/>
                </a:solidFill>
                <a:latin typeface="Consolas" pitchFamily="49" charset="0"/>
                <a:ea typeface="仿宋" pitchFamily="49" charset="-122"/>
                <a:cs typeface="Consolas" pitchFamily="49" charset="0"/>
              </a:rPr>
              <a:t>d</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Direction</a:t>
            </a:r>
            <a:r>
              <a:rPr lang="en-US" altLang="zh-CN" sz="2000">
                <a:solidFill>
                  <a:srgbClr val="0000FF"/>
                </a:solidFill>
                <a:latin typeface="Consolas" pitchFamily="49" charset="0"/>
                <a:ea typeface="仿宋" pitchFamily="49" charset="-122"/>
                <a:cs typeface="Consolas" pitchFamily="49" charset="0"/>
              </a:rPr>
              <a:t>(p1</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p3</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p2)  </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3</a:t>
            </a:r>
            <a:r>
              <a:rPr lang="zh-CN" altLang="en-US" sz="2000">
                <a:solidFill>
                  <a:srgbClr val="00B0F0"/>
                </a:solidFill>
                <a:latin typeface="Consolas" pitchFamily="49" charset="0"/>
                <a:ea typeface="仿宋" pitchFamily="49" charset="-122"/>
                <a:cs typeface="Consolas" pitchFamily="49" charset="0"/>
              </a:rPr>
              <a:t>在</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1</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2</a:t>
            </a:r>
            <a:r>
              <a:rPr lang="zh-CN" altLang="en-US" sz="2000">
                <a:solidFill>
                  <a:srgbClr val="00B0F0"/>
                </a:solidFill>
                <a:latin typeface="Consolas" pitchFamily="49" charset="0"/>
                <a:ea typeface="仿宋" pitchFamily="49" charset="-122"/>
                <a:cs typeface="Consolas" pitchFamily="49" charset="0"/>
              </a:rPr>
              <a:t>的哪个方向上</a:t>
            </a:r>
            <a:endParaRPr lang="zh-CN" altLang="en-US" sz="2000" i="1">
              <a:solidFill>
                <a:srgbClr val="00B0F0"/>
              </a:solidFill>
              <a:latin typeface="Consolas" pitchFamily="49" charset="0"/>
              <a:ea typeface="仿宋" pitchFamily="49" charset="-122"/>
              <a:cs typeface="Consolas" pitchFamily="49" charset="0"/>
            </a:endParaRPr>
          </a:p>
          <a:p>
            <a:pPr marL="360000" indent="-360000" algn="l">
              <a:lnSpc>
                <a:spcPct val="100000"/>
              </a:lnSpc>
              <a:buBlip>
                <a:blip r:embed="rId4"/>
              </a:buBlip>
            </a:pPr>
            <a:r>
              <a:rPr lang="en-US" altLang="zh-CN" sz="2000" i="1">
                <a:solidFill>
                  <a:srgbClr val="0000FF"/>
                </a:solidFill>
                <a:latin typeface="Consolas" pitchFamily="49" charset="0"/>
                <a:ea typeface="仿宋" pitchFamily="49" charset="-122"/>
                <a:cs typeface="Consolas" pitchFamily="49" charset="0"/>
              </a:rPr>
              <a:t>d</a:t>
            </a:r>
            <a:r>
              <a:rPr lang="en-US" altLang="zh-CN" sz="2000" baseline="-25000">
                <a:solidFill>
                  <a:srgbClr val="0000FF"/>
                </a:solidFill>
                <a:latin typeface="Consolas" pitchFamily="49" charset="0"/>
                <a:ea typeface="仿宋" pitchFamily="49" charset="-122"/>
                <a:cs typeface="Consolas" pitchFamily="49" charset="0"/>
              </a:rPr>
              <a:t>4</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4</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p</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a:t>
            </a:r>
            <a:r>
              <a:rPr lang="en-US" altLang="zh-CN" sz="2000">
                <a:solidFill>
                  <a:srgbClr val="FF0000"/>
                </a:solidFill>
                <a:latin typeface="Consolas" pitchFamily="49" charset="0"/>
                <a:ea typeface="仿宋" pitchFamily="49" charset="-122"/>
                <a:cs typeface="Consolas" pitchFamily="49" charset="0"/>
              </a:rPr>
              <a:t>Direction</a:t>
            </a:r>
            <a:r>
              <a:rPr lang="en-US" altLang="zh-CN" sz="2000">
                <a:solidFill>
                  <a:srgbClr val="0000FF"/>
                </a:solidFill>
                <a:latin typeface="Consolas" pitchFamily="49" charset="0"/>
                <a:ea typeface="仿宋" pitchFamily="49" charset="-122"/>
                <a:cs typeface="Consolas" pitchFamily="49" charset="0"/>
              </a:rPr>
              <a:t>(p1</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p4</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p2)  </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4</a:t>
            </a:r>
            <a:r>
              <a:rPr lang="zh-CN" altLang="en-US" sz="2000">
                <a:solidFill>
                  <a:srgbClr val="00B0F0"/>
                </a:solidFill>
                <a:latin typeface="Consolas" pitchFamily="49" charset="0"/>
                <a:ea typeface="仿宋" pitchFamily="49" charset="-122"/>
                <a:cs typeface="Consolas" pitchFamily="49" charset="0"/>
              </a:rPr>
              <a:t>在</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1</a:t>
            </a:r>
            <a:r>
              <a:rPr lang="en-US" altLang="zh-CN" sz="2000">
                <a:solidFill>
                  <a:srgbClr val="00B0F0"/>
                </a:solidFill>
                <a:latin typeface="Consolas" pitchFamily="49" charset="0"/>
                <a:ea typeface="仿宋" pitchFamily="49" charset="-122"/>
                <a:cs typeface="Consolas" pitchFamily="49" charset="0"/>
              </a:rPr>
              <a:t>p</a:t>
            </a:r>
            <a:r>
              <a:rPr lang="en-US" altLang="zh-CN" sz="2000" baseline="-25000">
                <a:solidFill>
                  <a:srgbClr val="00B0F0"/>
                </a:solidFill>
                <a:latin typeface="Consolas" pitchFamily="49" charset="0"/>
                <a:ea typeface="仿宋" pitchFamily="49" charset="-122"/>
                <a:cs typeface="Consolas" pitchFamily="49" charset="0"/>
              </a:rPr>
              <a:t>2</a:t>
            </a:r>
            <a:r>
              <a:rPr lang="zh-CN" altLang="en-US" sz="2000">
                <a:solidFill>
                  <a:srgbClr val="00B0F0"/>
                </a:solidFill>
                <a:latin typeface="Consolas" pitchFamily="49" charset="0"/>
                <a:ea typeface="仿宋" pitchFamily="49" charset="-122"/>
                <a:cs typeface="Consolas" pitchFamily="49" charset="0"/>
              </a:rPr>
              <a:t>的哪个方向上</a:t>
            </a:r>
          </a:p>
        </p:txBody>
      </p:sp>
      <p:sp>
        <p:nvSpPr>
          <p:cNvPr id="34" name="TextBox 33"/>
          <p:cNvSpPr txBox="1"/>
          <p:nvPr/>
        </p:nvSpPr>
        <p:spPr>
          <a:xfrm>
            <a:off x="428596" y="357166"/>
            <a:ext cx="192882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cs typeface="Consolas" pitchFamily="49" charset="0"/>
              </a:rPr>
              <a:t>同理</a:t>
            </a:r>
            <a:endParaRPr lang="zh-CN" altLang="en-US">
              <a:solidFill>
                <a:srgbClr val="0000FF"/>
              </a:solidFill>
              <a:latin typeface="Consolas" pitchFamily="49" charset="0"/>
              <a:ea typeface="楷体" pitchFamily="49" charset="-122"/>
              <a:cs typeface="Consolas" pitchFamily="49" charset="0"/>
            </a:endParaRPr>
          </a:p>
        </p:txBody>
      </p:sp>
      <p:sp>
        <p:nvSpPr>
          <p:cNvPr id="46" name="灯片编号占位符 45"/>
          <p:cNvSpPr>
            <a:spLocks noGrp="1"/>
          </p:cNvSpPr>
          <p:nvPr>
            <p:ph type="sldNum" sz="quarter" idx="12"/>
          </p:nvPr>
        </p:nvSpPr>
        <p:spPr/>
        <p:txBody>
          <a:bodyPr/>
          <a:lstStyle/>
          <a:p>
            <a:fld id="{7AF016A1-9F15-429F-9EFD-84004B73C732}" type="slidenum">
              <a:rPr lang="en-US" altLang="zh-CN" smtClean="0"/>
              <a:pPr/>
              <a:t>48</a:t>
            </a:fld>
            <a:r>
              <a:rPr lang="en-US" altLang="zh-CN"/>
              <a:t>/7</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2910" y="1500174"/>
            <a:ext cx="7929618" cy="141320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1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另外，若</a:t>
            </a:r>
            <a:r>
              <a:rPr lang="en-US" altLang="zh-CN" i="1">
                <a:solidFill>
                  <a:srgbClr val="0000FF"/>
                </a:solidFill>
                <a:latin typeface="Consolas" pitchFamily="49" charset="0"/>
                <a:ea typeface="仿宋" pitchFamily="49" charset="-122"/>
                <a:cs typeface="Consolas" pitchFamily="49" charset="0"/>
              </a:rPr>
              <a:t>d</a:t>
            </a:r>
            <a:r>
              <a:rPr lang="en-US" altLang="zh-CN" i="1" baseline="-25000">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宋体" pitchFamily="2" charset="-122"/>
                <a:ea typeface="宋体" pitchFamily="2"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宋体" pitchFamily="2" charset="-122"/>
                <a:ea typeface="宋体" pitchFamily="2"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），还需要判断对应的点是否在线段上，例如若</a:t>
            </a:r>
            <a:r>
              <a:rPr lang="en-US" altLang="zh-CN" i="1">
                <a:solidFill>
                  <a:srgbClr val="0000FF"/>
                </a:solidFill>
                <a:latin typeface="Consolas" pitchFamily="49" charset="0"/>
                <a:ea typeface="仿宋" pitchFamily="49" charset="-122"/>
                <a:cs typeface="Consolas" pitchFamily="49" charset="0"/>
              </a:rPr>
              <a:t>d</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，表示</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三点共线</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1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还需要判断点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在</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3</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4</a:t>
            </a:r>
            <a:r>
              <a:rPr lang="zh-CN" altLang="zh-CN">
                <a:solidFill>
                  <a:srgbClr val="0000FF"/>
                </a:solidFill>
                <a:latin typeface="Consolas" pitchFamily="49" charset="0"/>
                <a:ea typeface="仿宋" pitchFamily="49" charset="-122"/>
                <a:cs typeface="Consolas" pitchFamily="49" charset="0"/>
              </a:rPr>
              <a:t>线段上</a:t>
            </a:r>
            <a:r>
              <a:rPr lang="zh-CN" altLang="en-US">
                <a:solidFill>
                  <a:srgbClr val="0000FF"/>
                </a:solidFill>
                <a:latin typeface="Consolas" pitchFamily="49" charset="0"/>
                <a:ea typeface="仿宋" pitchFamily="49" charset="-122"/>
                <a:cs typeface="Consolas" pitchFamily="49" charset="0"/>
              </a:rPr>
              <a:t>的情况，以此类推</a:t>
            </a:r>
            <a:r>
              <a:rPr lang="zh-CN" altLang="zh-CN">
                <a:solidFill>
                  <a:srgbClr val="0000FF"/>
                </a:solidFill>
                <a:latin typeface="Consolas" pitchFamily="49" charset="0"/>
                <a:ea typeface="仿宋" pitchFamily="49" charset="-122"/>
                <a:cs typeface="Consolas" pitchFamily="49" charset="0"/>
              </a:rPr>
              <a:t>。</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49</a:t>
            </a:fld>
            <a:r>
              <a:rPr lang="en-US" altLang="zh-CN"/>
              <a:t>/7</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142844" y="142852"/>
            <a:ext cx="8786842" cy="6723819"/>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72000" tIns="36000" bIns="3600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SegIntersect</a:t>
            </a:r>
            <a:r>
              <a:rPr lang="en-US" altLang="zh-CN" sz="2000">
                <a:solidFill>
                  <a:srgbClr val="0000FF"/>
                </a:solidFill>
                <a:latin typeface="Consolas" pitchFamily="49" charset="0"/>
                <a:ea typeface="仿宋" pitchFamily="49" charset="-122"/>
              </a:rPr>
              <a:t>(Point p1,Point p2,Point p3,Point p4) {	</a:t>
            </a:r>
          </a:p>
          <a:p>
            <a:pPr algn="l" defTabSz="360000">
              <a:lnSpc>
                <a:spcPts val="2600"/>
              </a:lnSpc>
              <a:spcBef>
                <a:spcPts val="0"/>
              </a:spcBef>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判断两线段是否相交</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d1,d2,d3,d4;</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d1=</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(p3,p1,p4);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p1</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p3p4</a:t>
            </a:r>
            <a:r>
              <a:rPr lang="zh-CN" altLang="zh-CN" sz="2000">
                <a:solidFill>
                  <a:srgbClr val="00B0F0"/>
                </a:solidFill>
                <a:latin typeface="Consolas" pitchFamily="49" charset="0"/>
                <a:ea typeface="仿宋" pitchFamily="49" charset="-122"/>
              </a:rPr>
              <a:t>的哪个方向上</a:t>
            </a:r>
          </a:p>
          <a:p>
            <a:pPr algn="l" defTabSz="360000">
              <a:lnSpc>
                <a:spcPts val="2600"/>
              </a:lnSpc>
              <a:spcBef>
                <a:spcPts val="0"/>
              </a:spcBef>
            </a:pPr>
            <a:r>
              <a:rPr lang="en-US" altLang="zh-CN" sz="2000">
                <a:solidFill>
                  <a:srgbClr val="0000FF"/>
                </a:solidFill>
                <a:latin typeface="Consolas" pitchFamily="49" charset="0"/>
                <a:ea typeface="仿宋" pitchFamily="49" charset="-122"/>
              </a:rPr>
              <a:t>	d2=</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(p3,p2,p4);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p2</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p3p4</a:t>
            </a:r>
            <a:r>
              <a:rPr lang="zh-CN" altLang="zh-CN" sz="2000">
                <a:solidFill>
                  <a:srgbClr val="00B0F0"/>
                </a:solidFill>
                <a:latin typeface="Consolas" pitchFamily="49" charset="0"/>
                <a:ea typeface="仿宋" pitchFamily="49" charset="-122"/>
              </a:rPr>
              <a:t>的哪个方向上</a:t>
            </a:r>
          </a:p>
          <a:p>
            <a:pPr algn="l" defTabSz="360000">
              <a:lnSpc>
                <a:spcPts val="2600"/>
              </a:lnSpc>
              <a:spcBef>
                <a:spcPts val="0"/>
              </a:spcBef>
            </a:pPr>
            <a:r>
              <a:rPr lang="en-US" altLang="zh-CN" sz="2000">
                <a:solidFill>
                  <a:srgbClr val="0000FF"/>
                </a:solidFill>
                <a:latin typeface="Consolas" pitchFamily="49" charset="0"/>
                <a:ea typeface="仿宋" pitchFamily="49" charset="-122"/>
              </a:rPr>
              <a:t>	d3=</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(p1,p3,p2);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p3</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p1p2</a:t>
            </a:r>
            <a:r>
              <a:rPr lang="zh-CN" altLang="zh-CN" sz="2000">
                <a:solidFill>
                  <a:srgbClr val="00B0F0"/>
                </a:solidFill>
                <a:latin typeface="Consolas" pitchFamily="49" charset="0"/>
                <a:ea typeface="仿宋" pitchFamily="49" charset="-122"/>
              </a:rPr>
              <a:t>的哪个方向上</a:t>
            </a:r>
          </a:p>
          <a:p>
            <a:pPr algn="l" defTabSz="360000">
              <a:lnSpc>
                <a:spcPts val="2600"/>
              </a:lnSpc>
              <a:spcBef>
                <a:spcPts val="0"/>
              </a:spcBef>
            </a:pPr>
            <a:r>
              <a:rPr lang="en-US" altLang="zh-CN" sz="2000">
                <a:solidFill>
                  <a:srgbClr val="0000FF"/>
                </a:solidFill>
                <a:latin typeface="Consolas" pitchFamily="49" charset="0"/>
                <a:ea typeface="仿宋" pitchFamily="49" charset="-122"/>
              </a:rPr>
              <a:t>	d4=</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(p1,p4,p2);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p4</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p1p2</a:t>
            </a:r>
            <a:r>
              <a:rPr lang="zh-CN" altLang="zh-CN" sz="2000">
                <a:solidFill>
                  <a:srgbClr val="00B0F0"/>
                </a:solidFill>
                <a:latin typeface="Consolas" pitchFamily="49" charset="0"/>
                <a:ea typeface="仿宋" pitchFamily="49" charset="-122"/>
              </a:rPr>
              <a:t>的哪个方向上</a:t>
            </a:r>
          </a:p>
          <a:p>
            <a:pPr algn="l" defTabSz="360000">
              <a:lnSpc>
                <a:spcPts val="2600"/>
              </a:lnSpc>
              <a:spcBef>
                <a:spcPts val="0"/>
              </a:spcBef>
            </a:pPr>
            <a:r>
              <a:rPr lang="en-US" altLang="zh-CN" sz="2000">
                <a:solidFill>
                  <a:srgbClr val="0000FF"/>
                </a:solidFill>
                <a:latin typeface="Consolas" pitchFamily="49" charset="0"/>
                <a:ea typeface="仿宋" pitchFamily="49" charset="-122"/>
              </a:rPr>
              <a:t>	if (d1*d2&lt;0 &amp;&amp; d3*d4&lt;0)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true;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(d1==0 &amp;&amp; </a:t>
            </a:r>
            <a:r>
              <a:rPr lang="en-US" altLang="zh-CN" sz="2000">
                <a:solidFill>
                  <a:srgbClr val="FF0000"/>
                </a:solidFill>
                <a:latin typeface="Consolas" pitchFamily="49" charset="0"/>
                <a:ea typeface="仿宋" pitchFamily="49" charset="-122"/>
              </a:rPr>
              <a:t>OnSegment</a:t>
            </a:r>
            <a:r>
              <a:rPr lang="en-US" altLang="zh-CN" sz="2000">
                <a:solidFill>
                  <a:srgbClr val="0000FF"/>
                </a:solidFill>
                <a:latin typeface="Consolas" pitchFamily="49" charset="0"/>
                <a:ea typeface="仿宋" pitchFamily="49" charset="-122"/>
              </a:rPr>
              <a:t>(p1,p3,p4))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true;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若</a:t>
            </a:r>
            <a:r>
              <a:rPr lang="en-US" altLang="zh-CN" sz="2000">
                <a:solidFill>
                  <a:srgbClr val="00B0F0"/>
                </a:solidFill>
                <a:latin typeface="Consolas" pitchFamily="49" charset="0"/>
                <a:ea typeface="仿宋" pitchFamily="49" charset="-122"/>
              </a:rPr>
              <a:t>d1</a:t>
            </a:r>
            <a:r>
              <a:rPr lang="zh-CN" altLang="zh-CN" sz="2000">
                <a:solidFill>
                  <a:srgbClr val="00B0F0"/>
                </a:solidFill>
                <a:latin typeface="Consolas" pitchFamily="49" charset="0"/>
                <a:ea typeface="仿宋" pitchFamily="49" charset="-122"/>
              </a:rPr>
              <a:t>为</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且</a:t>
            </a:r>
            <a:r>
              <a:rPr lang="en-US" altLang="zh-CN" sz="2000">
                <a:solidFill>
                  <a:srgbClr val="00B0F0"/>
                </a:solidFill>
                <a:latin typeface="Consolas" pitchFamily="49" charset="0"/>
                <a:ea typeface="仿宋" pitchFamily="49" charset="-122"/>
              </a:rPr>
              <a:t>p1</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p3p4</a:t>
            </a:r>
            <a:r>
              <a:rPr lang="zh-CN" altLang="zh-CN" sz="2000">
                <a:solidFill>
                  <a:srgbClr val="00B0F0"/>
                </a:solidFill>
                <a:latin typeface="Consolas" pitchFamily="49" charset="0"/>
                <a:ea typeface="仿宋" pitchFamily="49" charset="-122"/>
              </a:rPr>
              <a:t>线段上</a:t>
            </a:r>
          </a:p>
          <a:p>
            <a:pPr algn="l" defTabSz="360000">
              <a:lnSpc>
                <a:spcPts val="2600"/>
              </a:lnSpc>
              <a:spcBef>
                <a:spcPts val="0"/>
              </a:spcBef>
            </a:pPr>
            <a:r>
              <a:rPr lang="en-US" altLang="zh-CN" sz="2000">
                <a:solidFill>
                  <a:srgbClr val="0000FF"/>
                </a:solidFill>
                <a:latin typeface="Consolas" pitchFamily="49" charset="0"/>
                <a:ea typeface="仿宋" pitchFamily="49" charset="-122"/>
              </a:rPr>
              <a:t>	else if (d2==0 &amp;&amp; </a:t>
            </a:r>
            <a:r>
              <a:rPr lang="en-US" altLang="zh-CN" sz="2000">
                <a:solidFill>
                  <a:srgbClr val="FF0000"/>
                </a:solidFill>
                <a:latin typeface="Consolas" pitchFamily="49" charset="0"/>
                <a:ea typeface="仿宋" pitchFamily="49" charset="-122"/>
              </a:rPr>
              <a:t>OnSegment</a:t>
            </a:r>
            <a:r>
              <a:rPr lang="en-US" altLang="zh-CN" sz="2000">
                <a:solidFill>
                  <a:srgbClr val="0000FF"/>
                </a:solidFill>
                <a:latin typeface="Consolas" pitchFamily="49" charset="0"/>
                <a:ea typeface="仿宋" pitchFamily="49" charset="-122"/>
              </a:rPr>
              <a:t>(p2,p3,p4))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true;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若</a:t>
            </a:r>
            <a:r>
              <a:rPr lang="en-US" altLang="zh-CN" sz="2000">
                <a:solidFill>
                  <a:srgbClr val="00B0F0"/>
                </a:solidFill>
                <a:latin typeface="Consolas" pitchFamily="49" charset="0"/>
                <a:ea typeface="仿宋" pitchFamily="49" charset="-122"/>
              </a:rPr>
              <a:t>d2</a:t>
            </a:r>
            <a:r>
              <a:rPr lang="zh-CN" altLang="zh-CN" sz="2000">
                <a:solidFill>
                  <a:srgbClr val="00B0F0"/>
                </a:solidFill>
                <a:latin typeface="Consolas" pitchFamily="49" charset="0"/>
                <a:ea typeface="仿宋" pitchFamily="49" charset="-122"/>
              </a:rPr>
              <a:t>为</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且</a:t>
            </a:r>
            <a:r>
              <a:rPr lang="en-US" altLang="zh-CN" sz="2000">
                <a:solidFill>
                  <a:srgbClr val="00B0F0"/>
                </a:solidFill>
                <a:latin typeface="Consolas" pitchFamily="49" charset="0"/>
                <a:ea typeface="仿宋" pitchFamily="49" charset="-122"/>
              </a:rPr>
              <a:t>p2</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p3p4</a:t>
            </a:r>
            <a:r>
              <a:rPr lang="zh-CN" altLang="zh-CN" sz="2000">
                <a:solidFill>
                  <a:srgbClr val="00B0F0"/>
                </a:solidFill>
                <a:latin typeface="Consolas" pitchFamily="49" charset="0"/>
                <a:ea typeface="仿宋" pitchFamily="49" charset="-122"/>
              </a:rPr>
              <a:t>线段上</a:t>
            </a:r>
          </a:p>
          <a:p>
            <a:pPr algn="l" defTabSz="360000">
              <a:lnSpc>
                <a:spcPts val="2600"/>
              </a:lnSpc>
              <a:spcBef>
                <a:spcPts val="0"/>
              </a:spcBef>
            </a:pPr>
            <a:r>
              <a:rPr lang="en-US" altLang="zh-CN" sz="2000">
                <a:solidFill>
                  <a:srgbClr val="0000FF"/>
                </a:solidFill>
                <a:latin typeface="Consolas" pitchFamily="49" charset="0"/>
                <a:ea typeface="仿宋" pitchFamily="49" charset="-122"/>
              </a:rPr>
              <a:t>	else if (d3==0 &amp;&amp; </a:t>
            </a:r>
            <a:r>
              <a:rPr lang="en-US" altLang="zh-CN" sz="2000">
                <a:solidFill>
                  <a:srgbClr val="FF0000"/>
                </a:solidFill>
                <a:latin typeface="Consolas" pitchFamily="49" charset="0"/>
                <a:ea typeface="仿宋" pitchFamily="49" charset="-122"/>
              </a:rPr>
              <a:t>OnSegment</a:t>
            </a:r>
            <a:r>
              <a:rPr lang="en-US" altLang="zh-CN" sz="2000">
                <a:solidFill>
                  <a:srgbClr val="0000FF"/>
                </a:solidFill>
                <a:latin typeface="Consolas" pitchFamily="49" charset="0"/>
                <a:ea typeface="仿宋" pitchFamily="49" charset="-122"/>
              </a:rPr>
              <a:t>(p3,p1,p2))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true;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若</a:t>
            </a:r>
            <a:r>
              <a:rPr lang="en-US" altLang="zh-CN" sz="2000">
                <a:solidFill>
                  <a:srgbClr val="00B0F0"/>
                </a:solidFill>
                <a:latin typeface="Consolas" pitchFamily="49" charset="0"/>
                <a:ea typeface="仿宋" pitchFamily="49" charset="-122"/>
              </a:rPr>
              <a:t>d3</a:t>
            </a:r>
            <a:r>
              <a:rPr lang="zh-CN" altLang="zh-CN" sz="2000">
                <a:solidFill>
                  <a:srgbClr val="00B0F0"/>
                </a:solidFill>
                <a:latin typeface="Consolas" pitchFamily="49" charset="0"/>
                <a:ea typeface="仿宋" pitchFamily="49" charset="-122"/>
              </a:rPr>
              <a:t>为</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且</a:t>
            </a:r>
            <a:r>
              <a:rPr lang="en-US" altLang="zh-CN" sz="2000">
                <a:solidFill>
                  <a:srgbClr val="00B0F0"/>
                </a:solidFill>
                <a:latin typeface="Consolas" pitchFamily="49" charset="0"/>
                <a:ea typeface="仿宋" pitchFamily="49" charset="-122"/>
              </a:rPr>
              <a:t>p3</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p1p2</a:t>
            </a:r>
            <a:r>
              <a:rPr lang="zh-CN" altLang="zh-CN" sz="2000">
                <a:solidFill>
                  <a:srgbClr val="00B0F0"/>
                </a:solidFill>
                <a:latin typeface="Consolas" pitchFamily="49" charset="0"/>
                <a:ea typeface="仿宋" pitchFamily="49" charset="-122"/>
              </a:rPr>
              <a:t>线段上</a:t>
            </a:r>
          </a:p>
          <a:p>
            <a:pPr algn="l" defTabSz="360000">
              <a:lnSpc>
                <a:spcPts val="2600"/>
              </a:lnSpc>
              <a:spcBef>
                <a:spcPts val="0"/>
              </a:spcBef>
            </a:pPr>
            <a:r>
              <a:rPr lang="en-US" altLang="zh-CN" sz="2000">
                <a:solidFill>
                  <a:srgbClr val="0000FF"/>
                </a:solidFill>
                <a:latin typeface="Consolas" pitchFamily="49" charset="0"/>
                <a:ea typeface="仿宋" pitchFamily="49" charset="-122"/>
              </a:rPr>
              <a:t>	else if (d4==0 &amp;&amp; </a:t>
            </a:r>
            <a:r>
              <a:rPr lang="en-US" altLang="zh-CN" sz="2000">
                <a:solidFill>
                  <a:srgbClr val="FF0000"/>
                </a:solidFill>
                <a:latin typeface="Consolas" pitchFamily="49" charset="0"/>
                <a:ea typeface="仿宋" pitchFamily="49" charset="-122"/>
              </a:rPr>
              <a:t>OnSegment</a:t>
            </a:r>
            <a:r>
              <a:rPr lang="en-US" altLang="zh-CN" sz="2000">
                <a:solidFill>
                  <a:srgbClr val="0000FF"/>
                </a:solidFill>
                <a:latin typeface="Consolas" pitchFamily="49" charset="0"/>
                <a:ea typeface="仿宋" pitchFamily="49" charset="-122"/>
              </a:rPr>
              <a:t>(p4,p1,p2))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true;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若</a:t>
            </a:r>
            <a:r>
              <a:rPr lang="en-US" altLang="zh-CN" sz="2000">
                <a:solidFill>
                  <a:srgbClr val="00B0F0"/>
                </a:solidFill>
                <a:latin typeface="Consolas" pitchFamily="49" charset="0"/>
                <a:ea typeface="仿宋" pitchFamily="49" charset="-122"/>
              </a:rPr>
              <a:t>d4</a:t>
            </a:r>
            <a:r>
              <a:rPr lang="zh-CN" altLang="zh-CN" sz="2000">
                <a:solidFill>
                  <a:srgbClr val="00B0F0"/>
                </a:solidFill>
                <a:latin typeface="Consolas" pitchFamily="49" charset="0"/>
                <a:ea typeface="仿宋" pitchFamily="49" charset="-122"/>
              </a:rPr>
              <a:t>为</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且</a:t>
            </a:r>
            <a:r>
              <a:rPr lang="en-US" altLang="zh-CN" sz="2000">
                <a:solidFill>
                  <a:srgbClr val="00B0F0"/>
                </a:solidFill>
                <a:latin typeface="Consolas" pitchFamily="49" charset="0"/>
                <a:ea typeface="仿宋" pitchFamily="49" charset="-122"/>
              </a:rPr>
              <a:t>p4</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p1p2</a:t>
            </a:r>
            <a:r>
              <a:rPr lang="zh-CN" altLang="zh-CN" sz="2000">
                <a:solidFill>
                  <a:srgbClr val="00B0F0"/>
                </a:solidFill>
                <a:latin typeface="Consolas" pitchFamily="49" charset="0"/>
                <a:ea typeface="仿宋" pitchFamily="49" charset="-122"/>
              </a:rPr>
              <a:t>线段上</a:t>
            </a:r>
          </a:p>
          <a:p>
            <a:pPr algn="l" defTabSz="360000">
              <a:lnSpc>
                <a:spcPts val="2600"/>
              </a:lnSpc>
              <a:spcBef>
                <a:spcPts val="0"/>
              </a:spcBef>
            </a:pPr>
            <a:r>
              <a:rPr lang="en-US" altLang="zh-CN" sz="2000">
                <a:solidFill>
                  <a:srgbClr val="0000FF"/>
                </a:solidFill>
                <a:latin typeface="Consolas" pitchFamily="49" charset="0"/>
                <a:ea typeface="仿宋" pitchFamily="49" charset="-122"/>
              </a:rPr>
              <a:t>	else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false;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50</a:t>
            </a:fld>
            <a:r>
              <a:rPr lang="en-US" altLang="zh-CN"/>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17" end="1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8" end="1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142844" y="1857364"/>
            <a:ext cx="8786874" cy="1938750"/>
          </a:xfrm>
          <a:prstGeom prst="rect">
            <a:avLst/>
          </a:prstGeom>
          <a:ln>
            <a:noFill/>
            <a:headEnd/>
            <a:tailEnd/>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80000" bIns="216000">
            <a:spAutoFit/>
          </a:bodyPr>
          <a:lstStyle/>
          <a:p>
            <a:pPr algn="l" defTabSz="360000">
              <a:lnSpc>
                <a:spcPct val="100000"/>
              </a:lnSpc>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LineIntersect</a:t>
            </a:r>
            <a:r>
              <a:rPr lang="en-US" altLang="zh-CN" sz="2000">
                <a:solidFill>
                  <a:srgbClr val="0000FF"/>
                </a:solidFill>
                <a:latin typeface="Consolas" pitchFamily="49" charset="0"/>
                <a:ea typeface="仿宋" pitchFamily="49" charset="-122"/>
              </a:rPr>
              <a:t>(Point p1,Point p2,Point p3,Point p4)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判断两直线是否相交</a:t>
            </a:r>
          </a:p>
          <a:p>
            <a:pPr algn="l" defTabSz="360000">
              <a:lnSpc>
                <a:spcPct val="100000"/>
              </a:lnSpc>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sgn</a:t>
            </a:r>
            <a:r>
              <a:rPr lang="en-US" altLang="zh-CN" sz="2000">
                <a:solidFill>
                  <a:srgbClr val="0000FF"/>
                </a:solidFill>
                <a:latin typeface="Consolas" pitchFamily="49" charset="0"/>
                <a:ea typeface="仿宋" pitchFamily="49" charset="-122"/>
              </a:rPr>
              <a:t>(</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(p3,p1,p2))*</a:t>
            </a:r>
            <a:r>
              <a:rPr lang="en-US" altLang="zh-CN" sz="2000">
                <a:solidFill>
                  <a:srgbClr val="FF0000"/>
                </a:solidFill>
                <a:latin typeface="Consolas" pitchFamily="49" charset="0"/>
                <a:ea typeface="仿宋" pitchFamily="49" charset="-122"/>
              </a:rPr>
              <a:t>sgn</a:t>
            </a:r>
            <a:r>
              <a:rPr lang="en-US" altLang="zh-CN" sz="2000">
                <a:solidFill>
                  <a:srgbClr val="0000FF"/>
                </a:solidFill>
                <a:latin typeface="Consolas" pitchFamily="49" charset="0"/>
                <a:ea typeface="仿宋" pitchFamily="49" charset="-122"/>
              </a:rPr>
              <a:t>(</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(p4,p1,p2)&lt;=0;</a:t>
            </a:r>
            <a:endParaRPr lang="zh-CN" altLang="zh-CN" sz="2000">
              <a:solidFill>
                <a:srgbClr val="0000FF"/>
              </a:solidFill>
              <a:latin typeface="Consolas" pitchFamily="49" charset="0"/>
              <a:ea typeface="仿宋" pitchFamily="49" charset="-122"/>
            </a:endParaRPr>
          </a:p>
          <a:p>
            <a:pPr algn="l" defTabSz="360000">
              <a:lnSpc>
                <a:spcPct val="1000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TextBox 4"/>
          <p:cNvSpPr txBox="1"/>
          <p:nvPr/>
        </p:nvSpPr>
        <p:spPr>
          <a:xfrm>
            <a:off x="285720" y="428604"/>
            <a:ext cx="8501122" cy="884216"/>
          </a:xfrm>
          <a:prstGeom prst="rect">
            <a:avLst/>
          </a:prstGeom>
          <a:noFill/>
        </p:spPr>
        <p:txBody>
          <a:bodyPr wrap="square" rtlCol="0">
            <a:spAutoFit/>
          </a:bodyPr>
          <a:lstStyle/>
          <a:p>
            <a:pPr algn="l">
              <a:lnSpc>
                <a:spcPts val="3200"/>
              </a:lnSpc>
            </a:pPr>
            <a:r>
              <a:rPr lang="zh-CN" altLang="zh-CN">
                <a:solidFill>
                  <a:srgbClr val="0000FF"/>
                </a:solidFill>
                <a:latin typeface="Consolas" pitchFamily="49" charset="0"/>
                <a:ea typeface="仿宋" pitchFamily="49" charset="-122"/>
              </a:rPr>
              <a:t>如果用</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表示一条直线</a:t>
            </a:r>
            <a:r>
              <a:rPr lang="en-US" altLang="zh-CN">
                <a:solidFill>
                  <a:srgbClr val="0000FF"/>
                </a:solidFill>
                <a:latin typeface="Consolas" pitchFamily="49" charset="0"/>
                <a:ea typeface="仿宋" pitchFamily="49" charset="-122"/>
              </a:rPr>
              <a:t>L1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表示另外一条直线</a:t>
            </a:r>
            <a:r>
              <a:rPr lang="en-US" altLang="zh-CN">
                <a:solidFill>
                  <a:srgbClr val="0000FF"/>
                </a:solidFill>
                <a:latin typeface="Consolas" pitchFamily="49" charset="0"/>
                <a:ea typeface="仿宋" pitchFamily="49" charset="-122"/>
              </a:rPr>
              <a:t>L2</a:t>
            </a:r>
            <a:r>
              <a:rPr lang="zh-CN" altLang="zh-CN">
                <a:solidFill>
                  <a:srgbClr val="0000FF"/>
                </a:solidFill>
                <a:latin typeface="Consolas" pitchFamily="49" charset="0"/>
                <a:ea typeface="仿宋" pitchFamily="49" charset="-122"/>
              </a:rPr>
              <a:t>，判断直线</a:t>
            </a:r>
            <a:r>
              <a:rPr lang="en-US" altLang="zh-CN">
                <a:solidFill>
                  <a:srgbClr val="0000FF"/>
                </a:solidFill>
                <a:latin typeface="Consolas" pitchFamily="49" charset="0"/>
                <a:ea typeface="仿宋" pitchFamily="49" charset="-122"/>
              </a:rPr>
              <a:t>L1</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L2</a:t>
            </a:r>
            <a:r>
              <a:rPr lang="zh-CN" altLang="zh-CN">
                <a:solidFill>
                  <a:srgbClr val="0000FF"/>
                </a:solidFill>
                <a:latin typeface="Consolas" pitchFamily="49" charset="0"/>
                <a:ea typeface="仿宋" pitchFamily="49" charset="-122"/>
              </a:rPr>
              <a:t>是否相交的算法</a:t>
            </a:r>
            <a:r>
              <a:rPr lang="zh-CN" altLang="en-US">
                <a:solidFill>
                  <a:srgbClr val="0000FF"/>
                </a:solidFill>
                <a:latin typeface="Consolas" pitchFamily="49" charset="0"/>
                <a:ea typeface="仿宋" pitchFamily="49" charset="-122"/>
              </a:rPr>
              <a:t>。</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51</a:t>
            </a:fld>
            <a:r>
              <a:rPr lang="en-US" altLang="zh-CN"/>
              <a:t>/7</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
          <p:cNvGrpSpPr/>
          <p:nvPr/>
        </p:nvGrpSpPr>
        <p:grpSpPr>
          <a:xfrm>
            <a:off x="642910" y="571480"/>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9" name="TextBox 8"/>
          <p:cNvSpPr txBox="1"/>
          <p:nvPr/>
        </p:nvSpPr>
        <p:spPr>
          <a:xfrm>
            <a:off x="428596" y="1785926"/>
            <a:ext cx="8358246" cy="478656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12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10.2</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简单几何问题（</a:t>
            </a:r>
            <a:r>
              <a:rPr lang="en-US" altLang="zh-CN">
                <a:solidFill>
                  <a:srgbClr val="0000FF"/>
                </a:solidFill>
                <a:latin typeface="Consolas" pitchFamily="49" charset="0"/>
                <a:ea typeface="仿宋" pitchFamily="49" charset="-122"/>
              </a:rPr>
              <a:t>HDU1086</a:t>
            </a:r>
            <a:r>
              <a:rPr lang="zh-CN" altLang="zh-CN">
                <a:solidFill>
                  <a:srgbClr val="0000FF"/>
                </a:solidFill>
                <a:latin typeface="Consolas" pitchFamily="49" charset="0"/>
                <a:ea typeface="仿宋" pitchFamily="49" charset="-122"/>
              </a:rPr>
              <a:t>，时间限制：</a:t>
            </a:r>
            <a:r>
              <a:rPr lang="en-US" altLang="zh-CN">
                <a:solidFill>
                  <a:srgbClr val="0000FF"/>
                </a:solidFill>
                <a:latin typeface="Consolas" pitchFamily="49" charset="0"/>
                <a:ea typeface="仿宋" pitchFamily="49" charset="-122"/>
              </a:rPr>
              <a:t>1000ms</a:t>
            </a:r>
            <a:r>
              <a:rPr lang="zh-CN" altLang="zh-CN">
                <a:solidFill>
                  <a:srgbClr val="0000FF"/>
                </a:solidFill>
                <a:latin typeface="Consolas" pitchFamily="49" charset="0"/>
                <a:ea typeface="仿宋" pitchFamily="49" charset="-122"/>
              </a:rPr>
              <a:t>，空间限制：</a:t>
            </a:r>
            <a:r>
              <a:rPr lang="en-US" altLang="zh-CN">
                <a:solidFill>
                  <a:srgbClr val="0000FF"/>
                </a:solidFill>
                <a:latin typeface="Consolas" pitchFamily="49" charset="0"/>
                <a:ea typeface="仿宋" pitchFamily="49" charset="-122"/>
              </a:rPr>
              <a:t>32768KB</a:t>
            </a:r>
            <a:r>
              <a:rPr lang="zh-CN" altLang="zh-CN">
                <a:solidFill>
                  <a:srgbClr val="0000FF"/>
                </a:solidFill>
                <a:latin typeface="Consolas" pitchFamily="49" charset="0"/>
                <a:ea typeface="仿宋" pitchFamily="49" charset="-122"/>
              </a:rPr>
              <a:t>）。给定</a:t>
            </a:r>
            <a:r>
              <a:rPr lang="en-US" altLang="zh-CN">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条线段，求它们</a:t>
            </a:r>
            <a:r>
              <a:rPr lang="zh-CN" altLang="zh-CN">
                <a:solidFill>
                  <a:srgbClr val="FF00FF"/>
                </a:solidFill>
                <a:latin typeface="Consolas" pitchFamily="49" charset="0"/>
                <a:ea typeface="仿宋" pitchFamily="49" charset="-122"/>
              </a:rPr>
              <a:t>交点的个数</a:t>
            </a:r>
            <a:r>
              <a:rPr lang="zh-CN" altLang="zh-CN">
                <a:solidFill>
                  <a:srgbClr val="0000FF"/>
                </a:solidFill>
                <a:latin typeface="Consolas" pitchFamily="49" charset="0"/>
                <a:ea typeface="仿宋" pitchFamily="49" charset="-122"/>
              </a:rPr>
              <a:t>。如果</a:t>
            </a:r>
            <a:r>
              <a:rPr lang="en-US" altLang="zh-CN">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M&gt;2</a:t>
            </a:r>
            <a:r>
              <a:rPr lang="zh-CN" altLang="zh-CN">
                <a:solidFill>
                  <a:srgbClr val="0000FF"/>
                </a:solidFill>
                <a:latin typeface="Consolas" pitchFamily="49" charset="0"/>
                <a:ea typeface="仿宋" pitchFamily="49" charset="-122"/>
              </a:rPr>
              <a:t>）条线段在同一点相交，则应重复计数。</a:t>
            </a:r>
          </a:p>
          <a:p>
            <a:pPr algn="l">
              <a:lnSpc>
                <a:spcPts val="3400"/>
              </a:lnSpc>
              <a:spcBef>
                <a:spcPts val="1200"/>
              </a:spcBef>
            </a:pPr>
            <a:r>
              <a:rPr lang="zh-CN" altLang="zh-CN">
                <a:solidFill>
                  <a:srgbClr val="FF0000"/>
                </a:solidFill>
                <a:latin typeface="Consolas" pitchFamily="49" charset="0"/>
                <a:ea typeface="仿宋" pitchFamily="49" charset="-122"/>
              </a:rPr>
              <a:t>输入格式</a:t>
            </a:r>
            <a:r>
              <a:rPr lang="zh-CN" altLang="zh-CN">
                <a:solidFill>
                  <a:srgbClr val="0000FF"/>
                </a:solidFill>
                <a:latin typeface="Consolas" pitchFamily="49" charset="0"/>
                <a:ea typeface="仿宋" pitchFamily="49" charset="-122"/>
              </a:rPr>
              <a:t>：输入包含多个测试用例。每个测试用例的第一行是整数</a:t>
            </a:r>
            <a:r>
              <a:rPr lang="en-US" altLang="zh-CN">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宋体" pitchFamily="2" charset="-122"/>
                <a:ea typeface="宋体" pitchFamily="2" charset="-122"/>
              </a:rPr>
              <a:t>≤</a:t>
            </a:r>
            <a:r>
              <a:rPr lang="en-US" altLang="zh-CN">
                <a:solidFill>
                  <a:srgbClr val="0000FF"/>
                </a:solidFill>
                <a:latin typeface="Consolas" pitchFamily="49" charset="0"/>
                <a:ea typeface="仿宋" pitchFamily="49" charset="-122"/>
              </a:rPr>
              <a:t>N</a:t>
            </a:r>
            <a:r>
              <a:rPr lang="zh-CN" altLang="zh-CN">
                <a:solidFill>
                  <a:srgbClr val="0000FF"/>
                </a:solidFill>
                <a:latin typeface="宋体" pitchFamily="2" charset="-122"/>
                <a:ea typeface="宋体" pitchFamily="2" charset="-122"/>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），然后是</a:t>
            </a:r>
            <a:r>
              <a:rPr lang="en-US" altLang="zh-CN">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行，每行描述一个线段，有</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个浮点值</a:t>
            </a:r>
            <a:r>
              <a:rPr lang="en-US" altLang="zh-CN">
                <a:solidFill>
                  <a:srgbClr val="0000FF"/>
                </a:solidFill>
                <a:latin typeface="Consolas" pitchFamily="49" charset="0"/>
                <a:ea typeface="仿宋" pitchFamily="49" charset="-122"/>
              </a:rPr>
              <a:t>x1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y1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x2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y2</a:t>
            </a:r>
            <a:r>
              <a:rPr lang="zh-CN" altLang="zh-CN">
                <a:solidFill>
                  <a:srgbClr val="0000FF"/>
                </a:solidFill>
                <a:latin typeface="Consolas" pitchFamily="49" charset="0"/>
                <a:ea typeface="仿宋" pitchFamily="49" charset="-122"/>
              </a:rPr>
              <a:t>，分别表示线段的起始和结束坐标。以</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开头的测试用例终止输入，并且该测试用例不被处理。</a:t>
            </a:r>
            <a:r>
              <a:rPr lang="en-US" altLang="zh-CN">
                <a:solidFill>
                  <a:srgbClr val="0000FF"/>
                </a:solidFill>
                <a:latin typeface="Consolas" pitchFamily="49" charset="0"/>
                <a:ea typeface="仿宋" pitchFamily="49" charset="-122"/>
              </a:rPr>
              <a:t> </a:t>
            </a:r>
            <a:endParaRPr lang="zh-CN" altLang="zh-CN">
              <a:solidFill>
                <a:srgbClr val="0000FF"/>
              </a:solidFill>
              <a:latin typeface="Consolas" pitchFamily="49" charset="0"/>
              <a:ea typeface="仿宋" pitchFamily="49" charset="-122"/>
            </a:endParaRPr>
          </a:p>
          <a:p>
            <a:pPr algn="l">
              <a:lnSpc>
                <a:spcPts val="3400"/>
              </a:lnSpc>
              <a:spcBef>
                <a:spcPts val="1200"/>
              </a:spcBef>
            </a:pPr>
            <a:r>
              <a:rPr lang="zh-CN" altLang="zh-CN">
                <a:solidFill>
                  <a:srgbClr val="FF0000"/>
                </a:solidFill>
                <a:latin typeface="Consolas" pitchFamily="49" charset="0"/>
                <a:ea typeface="仿宋" pitchFamily="49" charset="-122"/>
              </a:rPr>
              <a:t>输出格式</a:t>
            </a:r>
            <a:r>
              <a:rPr lang="zh-CN" altLang="zh-CN">
                <a:solidFill>
                  <a:srgbClr val="0000FF"/>
                </a:solidFill>
                <a:latin typeface="Consolas" pitchFamily="49" charset="0"/>
                <a:ea typeface="仿宋" pitchFamily="49" charset="-122"/>
              </a:rPr>
              <a:t>：对于每个测试用例在一行中输出一个整数表示交点的数量。</a:t>
            </a:r>
            <a:r>
              <a:rPr lang="en-US" altLang="zh-CN">
                <a:solidFill>
                  <a:srgbClr val="0000FF"/>
                </a:solidFill>
                <a:latin typeface="Consolas" pitchFamily="49" charset="0"/>
                <a:ea typeface="仿宋" pitchFamily="49" charset="-122"/>
              </a:rPr>
              <a:t> </a:t>
            </a:r>
            <a:endParaRPr lang="zh-CN" altLang="en-US">
              <a:solidFill>
                <a:srgbClr val="0000FF"/>
              </a:solidFill>
              <a:latin typeface="Consolas" pitchFamily="49" charset="0"/>
              <a:ea typeface="仿宋" pitchFamily="49" charset="-122"/>
            </a:endParaRPr>
          </a:p>
        </p:txBody>
      </p:sp>
      <p:sp>
        <p:nvSpPr>
          <p:cNvPr id="11" name="灯片编号占位符 10"/>
          <p:cNvSpPr>
            <a:spLocks noGrp="1"/>
          </p:cNvSpPr>
          <p:nvPr>
            <p:ph type="sldNum" sz="quarter" idx="12"/>
          </p:nvPr>
        </p:nvSpPr>
        <p:spPr/>
        <p:txBody>
          <a:bodyPr/>
          <a:lstStyle/>
          <a:p>
            <a:fld id="{7AF016A1-9F15-429F-9EFD-84004B73C732}" type="slidenum">
              <a:rPr lang="en-US" altLang="zh-CN" smtClean="0"/>
              <a:pPr/>
              <a:t>52</a:t>
            </a:fld>
            <a:r>
              <a:rPr lang="en-US" altLang="zh-CN"/>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28596" y="857232"/>
            <a:ext cx="8143932" cy="4808221"/>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52000" tIns="72000" bIns="72000" rtlCol="0">
            <a:spAutoFit/>
          </a:bodyPr>
          <a:lstStyle/>
          <a:p>
            <a:pPr algn="l">
              <a:lnSpc>
                <a:spcPct val="100000"/>
              </a:lnSpc>
              <a:spcBef>
                <a:spcPts val="600"/>
              </a:spcBef>
            </a:pPr>
            <a:r>
              <a:rPr lang="zh-CN" altLang="zh-CN">
                <a:solidFill>
                  <a:srgbClr val="FF0000"/>
                </a:solidFill>
                <a:latin typeface="Consolas" pitchFamily="49" charset="0"/>
                <a:ea typeface="仿宋" pitchFamily="49" charset="-122"/>
              </a:rPr>
              <a:t>输入样例：</a:t>
            </a:r>
          </a:p>
          <a:p>
            <a:pPr algn="l">
              <a:lnSpc>
                <a:spcPct val="100000"/>
              </a:lnSpc>
              <a:spcBef>
                <a:spcPts val="600"/>
              </a:spcBef>
            </a:pPr>
            <a:r>
              <a:rPr lang="en-US" altLang="zh-CN" sz="2000">
                <a:solidFill>
                  <a:srgbClr val="0000FF"/>
                </a:solidFill>
                <a:latin typeface="Consolas" pitchFamily="49" charset="0"/>
                <a:ea typeface="仿宋" pitchFamily="49" charset="-122"/>
              </a:rPr>
              <a:t>2</a:t>
            </a:r>
            <a:endParaRPr lang="zh-CN" altLang="zh-CN" sz="2000">
              <a:solidFill>
                <a:srgbClr val="0000FF"/>
              </a:solidFill>
              <a:latin typeface="Consolas" pitchFamily="49" charset="0"/>
              <a:ea typeface="仿宋" pitchFamily="49" charset="-122"/>
            </a:endParaRPr>
          </a:p>
          <a:p>
            <a:pPr algn="l">
              <a:lnSpc>
                <a:spcPct val="100000"/>
              </a:lnSpc>
              <a:spcBef>
                <a:spcPts val="600"/>
              </a:spcBef>
            </a:pPr>
            <a:r>
              <a:rPr lang="en-US" altLang="zh-CN" sz="2000">
                <a:solidFill>
                  <a:srgbClr val="0000FF"/>
                </a:solidFill>
                <a:latin typeface="Consolas" pitchFamily="49" charset="0"/>
                <a:ea typeface="仿宋" pitchFamily="49" charset="-122"/>
              </a:rPr>
              <a:t>0.00 0.00 1.00 1.00</a:t>
            </a:r>
            <a:endParaRPr lang="zh-CN" altLang="zh-CN" sz="2000">
              <a:solidFill>
                <a:srgbClr val="0000FF"/>
              </a:solidFill>
              <a:latin typeface="Consolas" pitchFamily="49" charset="0"/>
              <a:ea typeface="仿宋" pitchFamily="49" charset="-122"/>
            </a:endParaRPr>
          </a:p>
          <a:p>
            <a:pPr algn="l">
              <a:lnSpc>
                <a:spcPct val="100000"/>
              </a:lnSpc>
              <a:spcBef>
                <a:spcPts val="600"/>
              </a:spcBef>
            </a:pPr>
            <a:r>
              <a:rPr lang="en-US" altLang="zh-CN" sz="2000">
                <a:solidFill>
                  <a:srgbClr val="0000FF"/>
                </a:solidFill>
                <a:latin typeface="Consolas" pitchFamily="49" charset="0"/>
                <a:ea typeface="仿宋" pitchFamily="49" charset="-122"/>
              </a:rPr>
              <a:t>0.00 1.00 1.00 0.00</a:t>
            </a:r>
            <a:endParaRPr lang="zh-CN" altLang="zh-CN" sz="2000">
              <a:solidFill>
                <a:srgbClr val="0000FF"/>
              </a:solidFill>
              <a:latin typeface="Consolas" pitchFamily="49" charset="0"/>
              <a:ea typeface="仿宋" pitchFamily="49" charset="-122"/>
            </a:endParaRPr>
          </a:p>
          <a:p>
            <a:pPr algn="l">
              <a:lnSpc>
                <a:spcPct val="100000"/>
              </a:lnSpc>
              <a:spcBef>
                <a:spcPts val="600"/>
              </a:spcBef>
            </a:pPr>
            <a:r>
              <a:rPr lang="en-US" altLang="zh-CN" sz="2000">
                <a:solidFill>
                  <a:srgbClr val="0000FF"/>
                </a:solidFill>
                <a:latin typeface="Consolas" pitchFamily="49" charset="0"/>
                <a:ea typeface="仿宋" pitchFamily="49" charset="-122"/>
              </a:rPr>
              <a:t>3</a:t>
            </a:r>
            <a:endParaRPr lang="zh-CN" altLang="zh-CN" sz="2000">
              <a:solidFill>
                <a:srgbClr val="0000FF"/>
              </a:solidFill>
              <a:latin typeface="Consolas" pitchFamily="49" charset="0"/>
              <a:ea typeface="仿宋" pitchFamily="49" charset="-122"/>
            </a:endParaRPr>
          </a:p>
          <a:p>
            <a:pPr algn="l">
              <a:lnSpc>
                <a:spcPct val="100000"/>
              </a:lnSpc>
              <a:spcBef>
                <a:spcPts val="600"/>
              </a:spcBef>
            </a:pPr>
            <a:r>
              <a:rPr lang="en-US" altLang="zh-CN" sz="2000">
                <a:solidFill>
                  <a:srgbClr val="0000FF"/>
                </a:solidFill>
                <a:latin typeface="Consolas" pitchFamily="49" charset="0"/>
                <a:ea typeface="仿宋" pitchFamily="49" charset="-122"/>
              </a:rPr>
              <a:t>0.00 0.00 1.00 1.00</a:t>
            </a:r>
            <a:endParaRPr lang="zh-CN" altLang="zh-CN" sz="2000">
              <a:solidFill>
                <a:srgbClr val="0000FF"/>
              </a:solidFill>
              <a:latin typeface="Consolas" pitchFamily="49" charset="0"/>
              <a:ea typeface="仿宋" pitchFamily="49" charset="-122"/>
            </a:endParaRPr>
          </a:p>
          <a:p>
            <a:pPr algn="l">
              <a:lnSpc>
                <a:spcPct val="100000"/>
              </a:lnSpc>
              <a:spcBef>
                <a:spcPts val="600"/>
              </a:spcBef>
            </a:pPr>
            <a:r>
              <a:rPr lang="en-US" altLang="zh-CN" sz="2000">
                <a:solidFill>
                  <a:srgbClr val="0000FF"/>
                </a:solidFill>
                <a:latin typeface="Consolas" pitchFamily="49" charset="0"/>
                <a:ea typeface="仿宋" pitchFamily="49" charset="-122"/>
              </a:rPr>
              <a:t>0.00 1.00 1.00 0.000</a:t>
            </a:r>
            <a:endParaRPr lang="zh-CN" altLang="zh-CN" sz="2000">
              <a:solidFill>
                <a:srgbClr val="0000FF"/>
              </a:solidFill>
              <a:latin typeface="Consolas" pitchFamily="49" charset="0"/>
              <a:ea typeface="仿宋" pitchFamily="49" charset="-122"/>
            </a:endParaRPr>
          </a:p>
          <a:p>
            <a:pPr algn="l">
              <a:lnSpc>
                <a:spcPct val="100000"/>
              </a:lnSpc>
              <a:spcBef>
                <a:spcPts val="600"/>
              </a:spcBef>
            </a:pPr>
            <a:r>
              <a:rPr lang="en-US" altLang="zh-CN" sz="2000">
                <a:solidFill>
                  <a:srgbClr val="0000FF"/>
                </a:solidFill>
                <a:latin typeface="Consolas" pitchFamily="49" charset="0"/>
                <a:ea typeface="仿宋" pitchFamily="49" charset="-122"/>
              </a:rPr>
              <a:t>0.00 0.00 1.00 0.00</a:t>
            </a:r>
            <a:endParaRPr lang="zh-CN" altLang="zh-CN" sz="2000">
              <a:solidFill>
                <a:srgbClr val="0000FF"/>
              </a:solidFill>
              <a:latin typeface="Consolas" pitchFamily="49" charset="0"/>
              <a:ea typeface="仿宋" pitchFamily="49" charset="-122"/>
            </a:endParaRPr>
          </a:p>
          <a:p>
            <a:pPr algn="l">
              <a:lnSpc>
                <a:spcPct val="100000"/>
              </a:lnSpc>
              <a:spcBef>
                <a:spcPts val="600"/>
              </a:spcBef>
            </a:pPr>
            <a:r>
              <a:rPr lang="en-US" altLang="zh-CN" sz="2000">
                <a:solidFill>
                  <a:srgbClr val="0000FF"/>
                </a:solidFill>
                <a:latin typeface="Consolas" pitchFamily="49" charset="0"/>
                <a:ea typeface="仿宋" pitchFamily="49" charset="-122"/>
              </a:rPr>
              <a:t>0</a:t>
            </a:r>
            <a:endParaRPr lang="zh-CN" altLang="zh-CN" sz="2000">
              <a:solidFill>
                <a:srgbClr val="0000FF"/>
              </a:solidFill>
              <a:latin typeface="Consolas" pitchFamily="49" charset="0"/>
              <a:ea typeface="仿宋" pitchFamily="49" charset="-122"/>
            </a:endParaRPr>
          </a:p>
          <a:p>
            <a:pPr algn="l">
              <a:lnSpc>
                <a:spcPct val="100000"/>
              </a:lnSpc>
              <a:spcBef>
                <a:spcPts val="600"/>
              </a:spcBef>
            </a:pPr>
            <a:r>
              <a:rPr lang="zh-CN" altLang="zh-CN">
                <a:solidFill>
                  <a:srgbClr val="FF0000"/>
                </a:solidFill>
                <a:latin typeface="Consolas" pitchFamily="49" charset="0"/>
                <a:ea typeface="仿宋" pitchFamily="49" charset="-122"/>
              </a:rPr>
              <a:t>输出样例：</a:t>
            </a:r>
          </a:p>
          <a:p>
            <a:pPr algn="l">
              <a:lnSpc>
                <a:spcPct val="100000"/>
              </a:lnSpc>
              <a:spcBef>
                <a:spcPts val="600"/>
              </a:spcBef>
            </a:pPr>
            <a:r>
              <a:rPr lang="en-US" altLang="zh-CN" sz="2000">
                <a:solidFill>
                  <a:srgbClr val="0000FF"/>
                </a:solidFill>
                <a:latin typeface="Consolas" pitchFamily="49" charset="0"/>
                <a:ea typeface="仿宋" pitchFamily="49" charset="-122"/>
              </a:rPr>
              <a:t>1</a:t>
            </a:r>
            <a:endParaRPr lang="zh-CN" altLang="zh-CN" sz="2000">
              <a:solidFill>
                <a:srgbClr val="0000FF"/>
              </a:solidFill>
              <a:latin typeface="Consolas" pitchFamily="49" charset="0"/>
              <a:ea typeface="仿宋" pitchFamily="49" charset="-122"/>
            </a:endParaRPr>
          </a:p>
          <a:p>
            <a:pPr algn="l">
              <a:lnSpc>
                <a:spcPct val="100000"/>
              </a:lnSpc>
              <a:spcBef>
                <a:spcPts val="600"/>
              </a:spcBef>
            </a:pPr>
            <a:r>
              <a:rPr lang="en-US" altLang="zh-CN" sz="2000">
                <a:solidFill>
                  <a:srgbClr val="0000FF"/>
                </a:solidFill>
                <a:latin typeface="Consolas" pitchFamily="49" charset="0"/>
                <a:ea typeface="仿宋" pitchFamily="49" charset="-122"/>
              </a:rPr>
              <a:t>3</a:t>
            </a:r>
            <a:endParaRPr lang="zh-CN" altLang="en-US"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53</a:t>
            </a:fld>
            <a:r>
              <a:rPr lang="en-US" altLang="zh-CN"/>
              <a:t>/8</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1713034"/>
            <a:ext cx="7858180" cy="147732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题目就是给定</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条线段，求它们中交点个数（含重复交点）</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直接利用</a:t>
            </a:r>
            <a:r>
              <a:rPr lang="zh-CN" altLang="en-US">
                <a:solidFill>
                  <a:srgbClr val="0000FF"/>
                </a:solidFill>
                <a:latin typeface="Consolas" pitchFamily="49" charset="0"/>
                <a:ea typeface="仿宋" pitchFamily="49" charset="-122"/>
              </a:rPr>
              <a:t>前面</a:t>
            </a:r>
            <a:r>
              <a:rPr lang="zh-CN" altLang="zh-CN">
                <a:solidFill>
                  <a:srgbClr val="0000FF"/>
                </a:solidFill>
                <a:latin typeface="Consolas" pitchFamily="49" charset="0"/>
                <a:ea typeface="仿宋" pitchFamily="49" charset="-122"/>
              </a:rPr>
              <a:t>判断两线段是否相交</a:t>
            </a:r>
            <a:r>
              <a:rPr lang="zh-CN" altLang="en-US">
                <a:solidFill>
                  <a:srgbClr val="0000FF"/>
                </a:solidFill>
                <a:latin typeface="Consolas" pitchFamily="49" charset="0"/>
                <a:ea typeface="仿宋" pitchFamily="49" charset="-122"/>
              </a:rPr>
              <a:t>的算法求解。</a:t>
            </a:r>
            <a:endParaRPr lang="zh-CN" altLang="zh-CN">
              <a:solidFill>
                <a:srgbClr val="0000FF"/>
              </a:solidFill>
              <a:latin typeface="Consolas" pitchFamily="49" charset="0"/>
              <a:ea typeface="仿宋" pitchFamily="49" charset="-122"/>
            </a:endParaRPr>
          </a:p>
        </p:txBody>
      </p:sp>
      <p:pic>
        <p:nvPicPr>
          <p:cNvPr id="7" name="Picture 5"/>
          <p:cNvPicPr>
            <a:picLocks noChangeAspect="1" noChangeArrowheads="1"/>
          </p:cNvPicPr>
          <p:nvPr/>
        </p:nvPicPr>
        <p:blipFill>
          <a:blip r:embed="rId3" cstate="print"/>
          <a:srcRect/>
          <a:stretch>
            <a:fillRect/>
          </a:stretch>
        </p:blipFill>
        <p:spPr bwMode="auto">
          <a:xfrm>
            <a:off x="571472" y="714356"/>
            <a:ext cx="642942" cy="782903"/>
          </a:xfrm>
          <a:prstGeom prst="rect">
            <a:avLst/>
          </a:prstGeom>
          <a:noFill/>
          <a:ln w="9525">
            <a:noFill/>
            <a:miter lim="800000"/>
            <a:headEnd/>
            <a:tailEnd/>
          </a:ln>
        </p:spPr>
      </p:pic>
      <p:sp>
        <p:nvSpPr>
          <p:cNvPr id="8" name="灯片编号占位符 7"/>
          <p:cNvSpPr>
            <a:spLocks noGrp="1"/>
          </p:cNvSpPr>
          <p:nvPr>
            <p:ph type="sldNum" sz="quarter" idx="12"/>
          </p:nvPr>
        </p:nvSpPr>
        <p:spPr/>
        <p:txBody>
          <a:bodyPr/>
          <a:lstStyle/>
          <a:p>
            <a:fld id="{7AF016A1-9F15-429F-9EFD-84004B73C732}" type="slidenum">
              <a:rPr lang="en-US" altLang="zh-CN" smtClean="0"/>
              <a:pPr/>
              <a:t>54</a:t>
            </a:fld>
            <a:r>
              <a:rPr lang="en-US" altLang="zh-CN"/>
              <a:t>/8</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357158" y="357166"/>
            <a:ext cx="8424863" cy="5366745"/>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lIns="216000" tIns="180000" bIns="18000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#include&lt;iostream&gt;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#include&lt;cmath&gt;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using namespace std;</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const int MAXN=110;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class </a:t>
            </a:r>
            <a:r>
              <a:rPr lang="en-US" altLang="zh-CN" sz="2000">
                <a:solidFill>
                  <a:srgbClr val="FF0000"/>
                </a:solidFill>
                <a:latin typeface="Consolas" pitchFamily="49" charset="0"/>
                <a:ea typeface="仿宋" pitchFamily="49" charset="-122"/>
              </a:rPr>
              <a:t>Point</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点类</a:t>
            </a:r>
          </a:p>
          <a:p>
            <a:pPr algn="l" defTabSz="360000">
              <a:lnSpc>
                <a:spcPts val="2800"/>
              </a:lnSpc>
              <a:spcBef>
                <a:spcPts val="0"/>
              </a:spcBef>
            </a:pPr>
            <a:r>
              <a:rPr lang="en-US" altLang="zh-CN" sz="2000">
                <a:solidFill>
                  <a:srgbClr val="0000FF"/>
                </a:solidFill>
                <a:latin typeface="Consolas" pitchFamily="49" charset="0"/>
                <a:ea typeface="仿宋" pitchFamily="49" charset="-122"/>
              </a:rPr>
              <a:t>public: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double x,y;</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Point() {}</a:t>
            </a:r>
          </a:p>
          <a:p>
            <a:pPr algn="l" defTabSz="360000">
              <a:lnSpc>
                <a:spcPts val="2800"/>
              </a:lnSpc>
              <a:spcBef>
                <a:spcPts val="0"/>
              </a:spcBef>
            </a:pP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Point(double x1,double y1):x(x1),y(y1)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Point operator </a:t>
            </a:r>
            <a:r>
              <a:rPr lang="en-US" altLang="zh-CN" sz="2000">
                <a:solidFill>
                  <a:srgbClr val="FF0000"/>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(const Point &amp;p1)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重载</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运算符</a:t>
            </a: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Point(x-p1.x,y-p1.y);</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55</a:t>
            </a:fld>
            <a:r>
              <a:rPr lang="en-US" altLang="zh-CN"/>
              <a:t>/8</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14282" y="460396"/>
            <a:ext cx="8643998" cy="3930454"/>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Point p[MAXN],p1[MAXN];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a:t>
            </a:r>
            <a:r>
              <a:rPr lang="en-US" altLang="zh-CN" sz="2000">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条线段的起始点和终点</a:t>
            </a:r>
            <a:endParaRPr lang="en-US" altLang="zh-CN" sz="2000">
              <a:solidFill>
                <a:srgbClr val="00B0F0"/>
              </a:solidFill>
              <a:latin typeface="Consolas" pitchFamily="49" charset="0"/>
              <a:ea typeface="仿宋" pitchFamily="49" charset="-122"/>
            </a:endParaRPr>
          </a:p>
          <a:p>
            <a:pPr algn="l" defTabSz="360000">
              <a:lnSpc>
                <a:spcPts val="2800"/>
              </a:lnSpc>
              <a:spcBef>
                <a:spcPts val="0"/>
              </a:spcBef>
            </a:pP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Det</a:t>
            </a:r>
            <a:r>
              <a:rPr lang="en-US" altLang="zh-CN" sz="2000">
                <a:solidFill>
                  <a:srgbClr val="0000FF"/>
                </a:solidFill>
                <a:latin typeface="Consolas" pitchFamily="49" charset="0"/>
                <a:ea typeface="仿宋" pitchFamily="49" charset="-122"/>
              </a:rPr>
              <a:t>(Point p1,Point p2)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两个向量的叉积</a:t>
            </a: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p1.x*p2.y-p1.y*p2.x;</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p>
          <a:p>
            <a:pPr algn="l" defTabSz="360000">
              <a:lnSpc>
                <a:spcPts val="2800"/>
              </a:lnSpc>
              <a:spcBef>
                <a:spcPts val="0"/>
              </a:spcBef>
            </a:pP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(Point p0,Point p1,Point p2)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判断两线段</a:t>
            </a:r>
            <a:r>
              <a:rPr lang="en-US" altLang="zh-CN" sz="2000">
                <a:solidFill>
                  <a:srgbClr val="00B0F0"/>
                </a:solidFill>
                <a:latin typeface="Consolas" pitchFamily="49" charset="0"/>
                <a:ea typeface="仿宋" pitchFamily="49" charset="-122"/>
              </a:rPr>
              <a:t>p0p1</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p0p2</a:t>
            </a:r>
            <a:r>
              <a:rPr lang="zh-CN" altLang="zh-CN" sz="2000">
                <a:solidFill>
                  <a:srgbClr val="00B0F0"/>
                </a:solidFill>
                <a:latin typeface="Consolas" pitchFamily="49" charset="0"/>
                <a:ea typeface="仿宋" pitchFamily="49" charset="-122"/>
              </a:rPr>
              <a:t>的方向</a:t>
            </a: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Det</a:t>
            </a:r>
            <a:r>
              <a:rPr lang="en-US" altLang="zh-CN" sz="2000">
                <a:solidFill>
                  <a:srgbClr val="0000FF"/>
                </a:solidFill>
                <a:latin typeface="Consolas" pitchFamily="49" charset="0"/>
                <a:ea typeface="仿宋" pitchFamily="49" charset="-122"/>
              </a:rPr>
              <a:t>((p1-p0),(p2-p0));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56</a:t>
            </a:fld>
            <a:r>
              <a:rPr lang="en-US" altLang="zh-CN"/>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14282" y="460396"/>
            <a:ext cx="8643998" cy="3441281"/>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Dot</a:t>
            </a:r>
            <a:r>
              <a:rPr lang="en-US" altLang="zh-CN" sz="2000">
                <a:solidFill>
                  <a:srgbClr val="0000FF"/>
                </a:solidFill>
                <a:latin typeface="Consolas" pitchFamily="49" charset="0"/>
                <a:ea typeface="仿宋" pitchFamily="49" charset="-122"/>
              </a:rPr>
              <a:t>(Point p1,Point p2)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两个向量的点积</a:t>
            </a: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p1.x*p2.x+p1.y*p2.y;</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endParaRPr lang="en-US"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OnSegmen</a:t>
            </a:r>
            <a:r>
              <a:rPr lang="en-US" altLang="zh-CN" sz="2000">
                <a:solidFill>
                  <a:srgbClr val="0000FF"/>
                </a:solidFill>
                <a:latin typeface="Consolas" pitchFamily="49" charset="0"/>
                <a:ea typeface="仿宋" pitchFamily="49" charset="-122"/>
              </a:rPr>
              <a:t>t(Point p0,Point p1,Point p2)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判断点</a:t>
            </a:r>
            <a:r>
              <a:rPr lang="en-US" altLang="zh-CN" sz="2000">
                <a:solidFill>
                  <a:srgbClr val="00B050"/>
                </a:solidFill>
                <a:latin typeface="Consolas" pitchFamily="49" charset="0"/>
                <a:ea typeface="仿宋" pitchFamily="49" charset="-122"/>
              </a:rPr>
              <a:t>p0</a:t>
            </a:r>
            <a:r>
              <a:rPr lang="zh-CN" altLang="zh-CN" sz="2000">
                <a:solidFill>
                  <a:srgbClr val="00B050"/>
                </a:solidFill>
                <a:latin typeface="Consolas" pitchFamily="49" charset="0"/>
                <a:ea typeface="仿宋" pitchFamily="49" charset="-122"/>
              </a:rPr>
              <a:t>是否在线段</a:t>
            </a:r>
            <a:r>
              <a:rPr lang="en-US" altLang="zh-CN" sz="2000">
                <a:solidFill>
                  <a:srgbClr val="00B050"/>
                </a:solidFill>
                <a:latin typeface="Consolas" pitchFamily="49" charset="0"/>
                <a:ea typeface="仿宋" pitchFamily="49" charset="-122"/>
              </a:rPr>
              <a:t>p1p2</a:t>
            </a:r>
            <a:r>
              <a:rPr lang="zh-CN" altLang="zh-CN" sz="2000">
                <a:solidFill>
                  <a:srgbClr val="00B050"/>
                </a:solidFill>
                <a:latin typeface="Consolas" pitchFamily="49" charset="0"/>
                <a:ea typeface="仿宋" pitchFamily="49" charset="-122"/>
              </a:rPr>
              <a:t>上</a:t>
            </a: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Det</a:t>
            </a:r>
            <a:r>
              <a:rPr lang="en-US" altLang="zh-CN" sz="2000">
                <a:solidFill>
                  <a:srgbClr val="0000FF"/>
                </a:solidFill>
                <a:latin typeface="Consolas" pitchFamily="49" charset="0"/>
                <a:ea typeface="仿宋" pitchFamily="49" charset="-122"/>
              </a:rPr>
              <a:t>(p1-p0,p2-p0)==0 &amp;&amp; </a:t>
            </a:r>
            <a:r>
              <a:rPr lang="en-US" altLang="zh-CN" sz="2000">
                <a:solidFill>
                  <a:srgbClr val="FF0000"/>
                </a:solidFill>
                <a:latin typeface="Consolas" pitchFamily="49" charset="0"/>
                <a:ea typeface="仿宋" pitchFamily="49" charset="-122"/>
              </a:rPr>
              <a:t>Dot</a:t>
            </a:r>
            <a:r>
              <a:rPr lang="en-US" altLang="zh-CN" sz="2000">
                <a:solidFill>
                  <a:srgbClr val="0000FF"/>
                </a:solidFill>
                <a:latin typeface="Consolas" pitchFamily="49" charset="0"/>
                <a:ea typeface="仿宋" pitchFamily="49" charset="-122"/>
              </a:rPr>
              <a:t>(p1-p0,p2-p0)&lt;=0;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57</a:t>
            </a:fld>
            <a:r>
              <a:rPr lang="en-US" altLang="zh-CN"/>
              <a:t>/8</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357158" y="71414"/>
            <a:ext cx="8424863" cy="6424727"/>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lIns="216000" tIns="180000" bIns="18000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Segments</a:t>
            </a:r>
            <a:r>
              <a:rPr lang="en-US" altLang="zh-CN" sz="2000">
                <a:solidFill>
                  <a:srgbClr val="0000FF"/>
                </a:solidFill>
                <a:latin typeface="Consolas" pitchFamily="49" charset="0"/>
                <a:ea typeface="仿宋" pitchFamily="49" charset="-122"/>
              </a:rPr>
              <a:t>(Point&amp;p1,Point&amp;p2,Point&amp;p3,Point&amp;p4){	</a:t>
            </a:r>
          </a:p>
          <a:p>
            <a:pPr algn="l" defTabSz="360000">
              <a:lnSpc>
                <a:spcPts val="2600"/>
              </a:lnSpc>
              <a:spcBef>
                <a:spcPts val="0"/>
              </a:spcBef>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推断两条线段是否相交</a:t>
            </a:r>
          </a:p>
          <a:p>
            <a:pPr algn="l" defTabSz="360000">
              <a:lnSpc>
                <a:spcPts val="2600"/>
              </a:lnSpc>
              <a:spcBef>
                <a:spcPts val="0"/>
              </a:spcBef>
            </a:pPr>
            <a:r>
              <a:rPr lang="en-US" altLang="zh-CN" sz="2000">
                <a:solidFill>
                  <a:srgbClr val="0000FF"/>
                </a:solidFill>
                <a:latin typeface="Consolas" pitchFamily="49" charset="0"/>
                <a:ea typeface="仿宋" pitchFamily="49" charset="-122"/>
              </a:rPr>
              <a:t>	double d1,d2,d3,d4;</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d1=</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(p3,p4,p1);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d2=</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(p3,p4,p2);</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d3=</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(p1,p2,p3);</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d4=</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(p1,p2,p4);</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if(d1*d2&lt;=0 &amp;&amp; d3*d4&lt;=0) return true;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(d1==0 &amp;&amp; </a:t>
            </a:r>
            <a:r>
              <a:rPr lang="en-US" altLang="zh-CN" sz="2000">
                <a:solidFill>
                  <a:srgbClr val="FF0000"/>
                </a:solidFill>
                <a:latin typeface="Consolas" pitchFamily="49" charset="0"/>
                <a:ea typeface="仿宋" pitchFamily="49" charset="-122"/>
              </a:rPr>
              <a:t>OnSegment</a:t>
            </a:r>
            <a:r>
              <a:rPr lang="en-US" altLang="zh-CN" sz="2000">
                <a:solidFill>
                  <a:srgbClr val="0000FF"/>
                </a:solidFill>
                <a:latin typeface="Consolas" pitchFamily="49" charset="0"/>
                <a:ea typeface="仿宋" pitchFamily="49" charset="-122"/>
              </a:rPr>
              <a:t>(p1,p3,p4))	</a:t>
            </a: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true;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else if (d2==0 &amp;&amp; </a:t>
            </a:r>
            <a:r>
              <a:rPr lang="en-US" altLang="zh-CN" sz="2000">
                <a:solidFill>
                  <a:srgbClr val="FF0000"/>
                </a:solidFill>
                <a:latin typeface="Consolas" pitchFamily="49" charset="0"/>
                <a:ea typeface="仿宋" pitchFamily="49" charset="-122"/>
              </a:rPr>
              <a:t>OnSegment</a:t>
            </a:r>
            <a:r>
              <a:rPr lang="en-US" altLang="zh-CN" sz="2000">
                <a:solidFill>
                  <a:srgbClr val="0000FF"/>
                </a:solidFill>
                <a:latin typeface="Consolas" pitchFamily="49" charset="0"/>
                <a:ea typeface="仿宋" pitchFamily="49" charset="-122"/>
              </a:rPr>
              <a:t>(p2,p3,p4))									return true;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else if (d3==0 &amp;&amp; </a:t>
            </a:r>
            <a:r>
              <a:rPr lang="en-US" altLang="zh-CN" sz="2000">
                <a:solidFill>
                  <a:srgbClr val="FF0000"/>
                </a:solidFill>
                <a:latin typeface="Consolas" pitchFamily="49" charset="0"/>
                <a:ea typeface="仿宋" pitchFamily="49" charset="-122"/>
              </a:rPr>
              <a:t>OnSegment</a:t>
            </a:r>
            <a:r>
              <a:rPr lang="en-US" altLang="zh-CN" sz="2000">
                <a:solidFill>
                  <a:srgbClr val="0000FF"/>
                </a:solidFill>
                <a:latin typeface="Consolas" pitchFamily="49" charset="0"/>
                <a:ea typeface="仿宋" pitchFamily="49" charset="-122"/>
              </a:rPr>
              <a:t>(p3,p1,p2))									return true;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else if (d4==0 &amp;&amp; </a:t>
            </a:r>
            <a:r>
              <a:rPr lang="en-US" altLang="zh-CN" sz="2000">
                <a:solidFill>
                  <a:srgbClr val="FF0000"/>
                </a:solidFill>
                <a:latin typeface="Consolas" pitchFamily="49" charset="0"/>
                <a:ea typeface="仿宋" pitchFamily="49" charset="-122"/>
              </a:rPr>
              <a:t>OnSegment</a:t>
            </a:r>
            <a:r>
              <a:rPr lang="en-US" altLang="zh-CN" sz="2000">
                <a:solidFill>
                  <a:srgbClr val="0000FF"/>
                </a:solidFill>
                <a:latin typeface="Consolas" pitchFamily="49" charset="0"/>
                <a:ea typeface="仿宋" pitchFamily="49" charset="-122"/>
              </a:rPr>
              <a:t>(p4,p1,p2))									return true;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else	return false;</a:t>
            </a:r>
            <a:endParaRPr lang="zh-CN" altLang="zh-CN" sz="2000">
              <a:solidFill>
                <a:srgbClr val="0000FF"/>
              </a:solidFill>
              <a:latin typeface="Consolas" pitchFamily="49" charset="0"/>
              <a:ea typeface="仿宋" pitchFamily="49" charset="-122"/>
            </a:endParaRPr>
          </a:p>
          <a:p>
            <a:pPr algn="l" defTabSz="360000">
              <a:lnSpc>
                <a:spcPts val="2600"/>
              </a:lnSpc>
              <a:spcBef>
                <a:spcPts val="60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58</a:t>
            </a:fld>
            <a:r>
              <a:rPr lang="en-US" altLang="zh-CN"/>
              <a:t>/8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357158" y="142852"/>
            <a:ext cx="8424863" cy="6014358"/>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lIns="216000" tIns="180000" bIns="18000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main</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while(~scanf("%d",&amp;n) &amp;&amp; 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i=0;i&lt;n;i++)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scanf("%lf%lf%lf%lf",</a:t>
            </a:r>
          </a:p>
          <a:p>
            <a:pPr algn="l" defTabSz="360000">
              <a:lnSpc>
                <a:spcPts val="2600"/>
              </a:lnSpc>
              <a:spcBef>
                <a:spcPts val="0"/>
              </a:spcBef>
            </a:pPr>
            <a:r>
              <a:rPr lang="en-US" altLang="zh-CN" sz="2000">
                <a:solidFill>
                  <a:srgbClr val="0000FF"/>
                </a:solidFill>
                <a:latin typeface="Consolas" pitchFamily="49" charset="0"/>
                <a:ea typeface="仿宋" pitchFamily="49" charset="-122"/>
              </a:rPr>
              <a:t>				&amp;p[i].x,&amp;p[i].y,&amp;p1[i].x,&amp;p1[i].y);</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006600"/>
                </a:solidFill>
                <a:latin typeface="Consolas" pitchFamily="49" charset="0"/>
                <a:ea typeface="仿宋" pitchFamily="49" charset="-122"/>
              </a:rPr>
              <a:t>ans</a:t>
            </a:r>
            <a:r>
              <a:rPr lang="en-US" altLang="zh-CN" sz="2000">
                <a:solidFill>
                  <a:srgbClr val="0000FF"/>
                </a:solidFill>
                <a:latin typeface="Consolas" pitchFamily="49" charset="0"/>
                <a:ea typeface="仿宋" pitchFamily="49" charset="-122"/>
              </a:rPr>
              <a:t>=0;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i=0;i&lt;n;i++)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j=i+1;j&lt;n;j++)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00"/>
                </a:solidFill>
                <a:latin typeface="Consolas" pitchFamily="49" charset="0"/>
                <a:ea typeface="仿宋" pitchFamily="49" charset="-122"/>
              </a:rPr>
              <a:t>Segments</a:t>
            </a:r>
            <a:r>
              <a:rPr lang="en-US" altLang="zh-CN" sz="2000">
                <a:solidFill>
                  <a:srgbClr val="0000FF"/>
                </a:solidFill>
                <a:latin typeface="Consolas" pitchFamily="49" charset="0"/>
                <a:ea typeface="仿宋" pitchFamily="49" charset="-122"/>
              </a:rPr>
              <a:t>(p[i],p1[i],p[j],p1[j]))	</a:t>
            </a:r>
            <a:r>
              <a:rPr lang="en-US" altLang="zh-CN" sz="2000">
                <a:solidFill>
                  <a:srgbClr val="006600"/>
                </a:solidFill>
                <a:latin typeface="Consolas" pitchFamily="49" charset="0"/>
                <a:ea typeface="仿宋" pitchFamily="49" charset="-122"/>
              </a:rPr>
              <a:t>ans</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printf("%d\n",</a:t>
            </a:r>
            <a:r>
              <a:rPr lang="en-US" altLang="zh-CN" sz="2000">
                <a:solidFill>
                  <a:srgbClr val="006600"/>
                </a:solidFill>
                <a:latin typeface="Consolas" pitchFamily="49" charset="0"/>
                <a:ea typeface="仿宋" pitchFamily="49" charset="-122"/>
              </a:rPr>
              <a:t>ans</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9"/>
          <p:cNvGrpSpPr/>
          <p:nvPr/>
        </p:nvGrpSpPr>
        <p:grpSpPr>
          <a:xfrm>
            <a:off x="785786" y="6215082"/>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46ms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1736KB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1071538" y="6286520"/>
              <a:ext cx="785818" cy="44396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 </a:t>
              </a:r>
              <a:endParaRPr lang="zh-CN" altLang="en-US" sz="2000">
                <a:solidFill>
                  <a:srgbClr val="FF3300"/>
                </a:solidFill>
                <a:latin typeface="Forte" pitchFamily="66" charset="0"/>
                <a:ea typeface="仿宋" pitchFamily="49" charset="-122"/>
                <a:cs typeface="Consolas" pitchFamily="49" charset="0"/>
              </a:endParaRPr>
            </a:p>
          </p:txBody>
        </p:sp>
      </p:grpSp>
      <p:sp>
        <p:nvSpPr>
          <p:cNvPr id="9" name="灯片编号占位符 8"/>
          <p:cNvSpPr>
            <a:spLocks noGrp="1"/>
          </p:cNvSpPr>
          <p:nvPr>
            <p:ph type="sldNum" sz="quarter" idx="12"/>
          </p:nvPr>
        </p:nvSpPr>
        <p:spPr/>
        <p:txBody>
          <a:bodyPr/>
          <a:lstStyle/>
          <a:p>
            <a:fld id="{7AF016A1-9F15-429F-9EFD-84004B73C732}" type="slidenum">
              <a:rPr lang="en-US" altLang="zh-CN" smtClean="0"/>
              <a:pPr/>
              <a:t>59</a:t>
            </a:fld>
            <a:r>
              <a:rPr lang="en-US" altLang="zh-CN"/>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395288" y="333375"/>
            <a:ext cx="6105538" cy="52322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spcBef>
                <a:spcPct val="50000"/>
              </a:spcBef>
              <a:defRPr/>
            </a:pP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10.1.6 </a:t>
            </a:r>
            <a:r>
              <a:rPr lang="zh-CN" altLang="en-US" sz="28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判断一个点是否在多边形内</a:t>
            </a:r>
          </a:p>
        </p:txBody>
      </p:sp>
      <p:sp>
        <p:nvSpPr>
          <p:cNvPr id="55299" name="Text Box 3"/>
          <p:cNvSpPr txBox="1">
            <a:spLocks noChangeArrowheads="1"/>
          </p:cNvSpPr>
          <p:nvPr/>
        </p:nvSpPr>
        <p:spPr bwMode="auto">
          <a:xfrm>
            <a:off x="357158" y="1428736"/>
            <a:ext cx="8280400" cy="1858842"/>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一个多边形由</a:t>
            </a:r>
            <a:r>
              <a:rPr lang="en-US" altLang="zh-CN" i="1">
                <a:solidFill>
                  <a:srgbClr val="0000FF"/>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个顶点</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[0..</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构成（</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），假设其所有的边不相交，称之为简单多边形，这里讨论的默认都指简单多边形。</a:t>
            </a:r>
          </a:p>
          <a:p>
            <a:pPr marL="457200" indent="-457200">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现有一个点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，要判断点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是否在该多边形内（含边界）。</a:t>
            </a: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60</a:t>
            </a:fld>
            <a:r>
              <a:rPr lang="en-US" altLang="zh-CN"/>
              <a:t>/167</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2"/>
          <p:cNvSpPr txBox="1">
            <a:spLocks noChangeArrowheads="1"/>
          </p:cNvSpPr>
          <p:nvPr/>
        </p:nvSpPr>
        <p:spPr bwMode="auto">
          <a:xfrm>
            <a:off x="428596" y="482252"/>
            <a:ext cx="8501122" cy="1631216"/>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nSpc>
                <a:spcPts val="3000"/>
              </a:lnSpc>
              <a:buBlip>
                <a:blip r:embed="rId2"/>
              </a:buBlip>
            </a:pPr>
            <a:r>
              <a:rPr lang="zh-CN" altLang="en-US">
                <a:solidFill>
                  <a:srgbClr val="FF0000"/>
                </a:solidFill>
                <a:latin typeface="微软雅黑" pitchFamily="34" charset="-122"/>
                <a:ea typeface="微软雅黑" pitchFamily="34" charset="-122"/>
                <a:cs typeface="Consolas" pitchFamily="49" charset="0"/>
              </a:rPr>
              <a:t>思路</a:t>
            </a:r>
            <a:r>
              <a:rPr lang="zh-CN" altLang="en-US">
                <a:solidFill>
                  <a:srgbClr val="0000FF"/>
                </a:solidFill>
                <a:latin typeface="Consolas" pitchFamily="49" charset="0"/>
                <a:ea typeface="仿宋" pitchFamily="49" charset="-122"/>
                <a:cs typeface="Consolas" pitchFamily="49" charset="0"/>
              </a:rPr>
              <a:t>：从点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引一条水平向右的射线，统计该射线与多边形相交的情况，如果相交次数是奇数个，那么就在多边形内，否则在多边形外。</a:t>
            </a:r>
          </a:p>
          <a:p>
            <a:pPr marL="457200" indent="-457200">
              <a:lnSpc>
                <a:spcPts val="3000"/>
              </a:lnSpc>
              <a:buBlip>
                <a:blip r:embed="rId2"/>
              </a:buBlip>
            </a:pPr>
            <a:r>
              <a:rPr lang="zh-CN" altLang="en-US">
                <a:solidFill>
                  <a:srgbClr val="0000FF"/>
                </a:solidFill>
                <a:latin typeface="Consolas" pitchFamily="49" charset="0"/>
                <a:ea typeface="仿宋" pitchFamily="49" charset="-122"/>
                <a:cs typeface="Consolas" pitchFamily="49" charset="0"/>
              </a:rPr>
              <a:t>例如：</a:t>
            </a:r>
          </a:p>
        </p:txBody>
      </p:sp>
      <p:sp>
        <p:nvSpPr>
          <p:cNvPr id="13316" name="Rectangle 4"/>
          <p:cNvSpPr>
            <a:spLocks noChangeArrowheads="1"/>
          </p:cNvSpPr>
          <p:nvPr/>
        </p:nvSpPr>
        <p:spPr bwMode="auto">
          <a:xfrm>
            <a:off x="0" y="2943225"/>
            <a:ext cx="184731" cy="461665"/>
          </a:xfrm>
          <a:prstGeom prst="rect">
            <a:avLst/>
          </a:prstGeom>
          <a:noFill/>
          <a:ln w="9525">
            <a:noFill/>
            <a:miter lim="800000"/>
            <a:headEnd/>
            <a:tailEnd/>
          </a:ln>
        </p:spPr>
        <p:txBody>
          <a:bodyPr wrap="none" anchor="ctr">
            <a:spAutoFit/>
          </a:bodyPr>
          <a:lstStyle/>
          <a:p>
            <a:endParaRPr lang="zh-CN" altLang="en-US">
              <a:latin typeface="Consolas" pitchFamily="49" charset="0"/>
              <a:cs typeface="Consolas" pitchFamily="49" charset="0"/>
            </a:endParaRPr>
          </a:p>
        </p:txBody>
      </p:sp>
      <p:grpSp>
        <p:nvGrpSpPr>
          <p:cNvPr id="45" name="组合 44"/>
          <p:cNvGrpSpPr/>
          <p:nvPr/>
        </p:nvGrpSpPr>
        <p:grpSpPr>
          <a:xfrm>
            <a:off x="2214546" y="2062618"/>
            <a:ext cx="3643338" cy="2795142"/>
            <a:chOff x="3714744" y="1853646"/>
            <a:chExt cx="3643338" cy="2795142"/>
          </a:xfrm>
        </p:grpSpPr>
        <p:cxnSp>
          <p:nvCxnSpPr>
            <p:cNvPr id="7" name="直接连接符 6"/>
            <p:cNvCxnSpPr/>
            <p:nvPr/>
          </p:nvCxnSpPr>
          <p:spPr>
            <a:xfrm rot="5400000" flipH="1" flipV="1">
              <a:off x="4357686" y="2500306"/>
              <a:ext cx="928694" cy="642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6200000" flipH="1">
              <a:off x="5072066" y="2466446"/>
              <a:ext cx="571504" cy="428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flipH="1" flipV="1">
              <a:off x="5464975" y="2321711"/>
              <a:ext cx="785818" cy="571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rot="16200000" flipH="1">
              <a:off x="5977567" y="2439535"/>
              <a:ext cx="928694" cy="571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10800000" flipV="1">
              <a:off x="5740060" y="3210968"/>
              <a:ext cx="1000132" cy="50006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rot="16200000" flipH="1">
              <a:off x="5643570" y="3929066"/>
              <a:ext cx="714380" cy="428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rot="10800000">
              <a:off x="4857752" y="4143380"/>
              <a:ext cx="1357322" cy="3571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rot="16200000" flipH="1">
              <a:off x="4250529" y="3536157"/>
              <a:ext cx="857256" cy="357190"/>
            </a:xfrm>
            <a:prstGeom prst="line">
              <a:avLst/>
            </a:prstGeom>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a:off x="6139918" y="4429132"/>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3" name="椭圆 22"/>
            <p:cNvSpPr/>
            <p:nvPr/>
          </p:nvSpPr>
          <p:spPr>
            <a:xfrm>
              <a:off x="5715008" y="3668366"/>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4" name="椭圆 23"/>
            <p:cNvSpPr/>
            <p:nvPr/>
          </p:nvSpPr>
          <p:spPr>
            <a:xfrm>
              <a:off x="6656228" y="3118196"/>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5" name="椭圆 24"/>
            <p:cNvSpPr/>
            <p:nvPr/>
          </p:nvSpPr>
          <p:spPr>
            <a:xfrm>
              <a:off x="6068480" y="2155642"/>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6" name="椭圆 25"/>
            <p:cNvSpPr/>
            <p:nvPr/>
          </p:nvSpPr>
          <p:spPr>
            <a:xfrm>
              <a:off x="5525746" y="2891356"/>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7" name="椭圆 26"/>
            <p:cNvSpPr/>
            <p:nvPr/>
          </p:nvSpPr>
          <p:spPr>
            <a:xfrm>
              <a:off x="5072066" y="2277184"/>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8" name="椭圆 27"/>
            <p:cNvSpPr/>
            <p:nvPr/>
          </p:nvSpPr>
          <p:spPr>
            <a:xfrm>
              <a:off x="4404072" y="3202160"/>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29" name="椭圆 28"/>
            <p:cNvSpPr/>
            <p:nvPr/>
          </p:nvSpPr>
          <p:spPr>
            <a:xfrm>
              <a:off x="4782596" y="4096994"/>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30" name="TextBox 29"/>
            <p:cNvSpPr txBox="1"/>
            <p:nvPr/>
          </p:nvSpPr>
          <p:spPr>
            <a:xfrm>
              <a:off x="6240126" y="4248678"/>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a</a:t>
              </a:r>
              <a:r>
                <a:rPr lang="en-US" altLang="zh-CN" sz="2000" baseline="-25000">
                  <a:solidFill>
                    <a:srgbClr val="0000FF"/>
                  </a:solidFill>
                  <a:latin typeface="Consolas" pitchFamily="49" charset="0"/>
                  <a:cs typeface="Consolas" pitchFamily="49" charset="0"/>
                </a:rPr>
                <a:t>5</a:t>
              </a:r>
              <a:endParaRPr lang="zh-CN" altLang="en-US" sz="2000" baseline="-25000">
                <a:solidFill>
                  <a:srgbClr val="0000FF"/>
                </a:solidFill>
                <a:latin typeface="Consolas" pitchFamily="49" charset="0"/>
                <a:cs typeface="Consolas" pitchFamily="49" charset="0"/>
              </a:endParaRPr>
            </a:p>
          </p:txBody>
        </p:sp>
        <p:sp>
          <p:nvSpPr>
            <p:cNvPr id="31" name="TextBox 30"/>
            <p:cNvSpPr txBox="1"/>
            <p:nvPr/>
          </p:nvSpPr>
          <p:spPr>
            <a:xfrm>
              <a:off x="5357818" y="3479104"/>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a</a:t>
              </a:r>
              <a:r>
                <a:rPr lang="en-US" altLang="zh-CN" sz="2000" baseline="-25000">
                  <a:solidFill>
                    <a:srgbClr val="0000FF"/>
                  </a:solidFill>
                  <a:latin typeface="Consolas" pitchFamily="49" charset="0"/>
                  <a:cs typeface="Consolas" pitchFamily="49" charset="0"/>
                </a:rPr>
                <a:t>4</a:t>
              </a:r>
              <a:endParaRPr lang="zh-CN" altLang="en-US" sz="2000" baseline="-25000">
                <a:solidFill>
                  <a:srgbClr val="0000FF"/>
                </a:solidFill>
                <a:latin typeface="Consolas" pitchFamily="49" charset="0"/>
                <a:cs typeface="Consolas" pitchFamily="49" charset="0"/>
              </a:endParaRPr>
            </a:p>
          </p:txBody>
        </p:sp>
        <p:sp>
          <p:nvSpPr>
            <p:cNvPr id="32" name="TextBox 31"/>
            <p:cNvSpPr txBox="1"/>
            <p:nvPr/>
          </p:nvSpPr>
          <p:spPr>
            <a:xfrm>
              <a:off x="6786578" y="2961170"/>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a</a:t>
              </a:r>
              <a:r>
                <a:rPr lang="en-US" altLang="zh-CN" sz="2000" baseline="-25000">
                  <a:solidFill>
                    <a:srgbClr val="0000FF"/>
                  </a:solidFill>
                  <a:latin typeface="Consolas" pitchFamily="49" charset="0"/>
                  <a:cs typeface="Consolas" pitchFamily="49" charset="0"/>
                </a:rPr>
                <a:t>3</a:t>
              </a:r>
              <a:endParaRPr lang="zh-CN" altLang="en-US" sz="2000" baseline="-25000">
                <a:solidFill>
                  <a:srgbClr val="0000FF"/>
                </a:solidFill>
                <a:latin typeface="Consolas" pitchFamily="49" charset="0"/>
                <a:cs typeface="Consolas" pitchFamily="49" charset="0"/>
              </a:endParaRPr>
            </a:p>
          </p:txBody>
        </p:sp>
        <p:sp>
          <p:nvSpPr>
            <p:cNvPr id="33" name="TextBox 32"/>
            <p:cNvSpPr txBox="1"/>
            <p:nvPr/>
          </p:nvSpPr>
          <p:spPr>
            <a:xfrm>
              <a:off x="6190022" y="1891224"/>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a</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34" name="TextBox 33"/>
            <p:cNvSpPr txBox="1"/>
            <p:nvPr/>
          </p:nvSpPr>
          <p:spPr>
            <a:xfrm>
              <a:off x="4946806" y="1853646"/>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a</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sp>
          <p:nvSpPr>
            <p:cNvPr id="35" name="TextBox 34"/>
            <p:cNvSpPr txBox="1"/>
            <p:nvPr/>
          </p:nvSpPr>
          <p:spPr>
            <a:xfrm>
              <a:off x="4038074" y="3028890"/>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a</a:t>
              </a:r>
              <a:r>
                <a:rPr lang="en-US" altLang="zh-CN" sz="2000" baseline="-25000">
                  <a:solidFill>
                    <a:srgbClr val="0000FF"/>
                  </a:solidFill>
                  <a:latin typeface="Consolas" pitchFamily="49" charset="0"/>
                  <a:cs typeface="Consolas" pitchFamily="49" charset="0"/>
                </a:rPr>
                <a:t>7</a:t>
              </a:r>
              <a:endParaRPr lang="zh-CN" altLang="en-US" sz="2000" baseline="-25000">
                <a:solidFill>
                  <a:srgbClr val="0000FF"/>
                </a:solidFill>
                <a:latin typeface="Consolas" pitchFamily="49" charset="0"/>
                <a:cs typeface="Consolas" pitchFamily="49" charset="0"/>
              </a:endParaRPr>
            </a:p>
          </p:txBody>
        </p:sp>
        <p:sp>
          <p:nvSpPr>
            <p:cNvPr id="36" name="TextBox 35"/>
            <p:cNvSpPr txBox="1"/>
            <p:nvPr/>
          </p:nvSpPr>
          <p:spPr>
            <a:xfrm>
              <a:off x="4500562" y="4100460"/>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a</a:t>
              </a:r>
              <a:r>
                <a:rPr lang="en-US" altLang="zh-CN" sz="2000" baseline="-25000">
                  <a:solidFill>
                    <a:srgbClr val="0000FF"/>
                  </a:solidFill>
                  <a:latin typeface="Consolas" pitchFamily="49" charset="0"/>
                  <a:cs typeface="Consolas" pitchFamily="49" charset="0"/>
                </a:rPr>
                <a:t>6</a:t>
              </a:r>
              <a:endParaRPr lang="zh-CN" altLang="en-US" sz="2000" baseline="-25000">
                <a:solidFill>
                  <a:srgbClr val="0000FF"/>
                </a:solidFill>
                <a:latin typeface="Consolas" pitchFamily="49" charset="0"/>
                <a:cs typeface="Consolas" pitchFamily="49" charset="0"/>
              </a:endParaRPr>
            </a:p>
          </p:txBody>
        </p:sp>
        <p:sp>
          <p:nvSpPr>
            <p:cNvPr id="37" name="TextBox 36"/>
            <p:cNvSpPr txBox="1"/>
            <p:nvPr/>
          </p:nvSpPr>
          <p:spPr>
            <a:xfrm>
              <a:off x="5572132" y="2886014"/>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a</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cxnSp>
          <p:nvCxnSpPr>
            <p:cNvPr id="39" name="直接连接符 38"/>
            <p:cNvCxnSpPr/>
            <p:nvPr/>
          </p:nvCxnSpPr>
          <p:spPr>
            <a:xfrm flipV="1">
              <a:off x="3929058" y="3500438"/>
              <a:ext cx="3429024" cy="0"/>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40" name="椭圆 39"/>
            <p:cNvSpPr/>
            <p:nvPr/>
          </p:nvSpPr>
          <p:spPr>
            <a:xfrm>
              <a:off x="3866428" y="3413008"/>
              <a:ext cx="142876" cy="142876"/>
            </a:xfrm>
            <a:prstGeom prst="ellipse">
              <a:avLst/>
            </a:prstGeom>
            <a:solidFill>
              <a:srgbClr val="FF0000"/>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41" name="TextBox 40"/>
            <p:cNvSpPr txBox="1"/>
            <p:nvPr/>
          </p:nvSpPr>
          <p:spPr>
            <a:xfrm>
              <a:off x="3714744" y="3457518"/>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cxnSp>
          <p:nvCxnSpPr>
            <p:cNvPr id="42" name="直接连接符 41"/>
            <p:cNvCxnSpPr/>
            <p:nvPr/>
          </p:nvCxnSpPr>
          <p:spPr>
            <a:xfrm flipV="1">
              <a:off x="5223750" y="2702094"/>
              <a:ext cx="1800000" cy="0"/>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43" name="椭圆 42"/>
            <p:cNvSpPr/>
            <p:nvPr/>
          </p:nvSpPr>
          <p:spPr>
            <a:xfrm>
              <a:off x="5060912" y="2639716"/>
              <a:ext cx="142876" cy="142876"/>
            </a:xfrm>
            <a:prstGeom prst="ellipse">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44" name="TextBox 43"/>
            <p:cNvSpPr txBox="1"/>
            <p:nvPr/>
          </p:nvSpPr>
          <p:spPr>
            <a:xfrm>
              <a:off x="4929190" y="2671700"/>
              <a:ext cx="428628"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p</a:t>
              </a:r>
              <a:r>
                <a:rPr lang="en-US" altLang="zh-CN" sz="2000" baseline="-25000">
                  <a:solidFill>
                    <a:srgbClr val="0000FF"/>
                  </a:solidFill>
                  <a:latin typeface="Consolas" pitchFamily="49" charset="0"/>
                  <a:cs typeface="Consolas" pitchFamily="49" charset="0"/>
                </a:rPr>
                <a:t>0</a:t>
              </a:r>
              <a:endParaRPr lang="zh-CN" altLang="en-US" sz="2000" baseline="-25000">
                <a:solidFill>
                  <a:srgbClr val="0000FF"/>
                </a:solidFill>
                <a:latin typeface="Consolas" pitchFamily="49" charset="0"/>
                <a:cs typeface="Consolas" pitchFamily="49" charset="0"/>
              </a:endParaRPr>
            </a:p>
          </p:txBody>
        </p:sp>
      </p:grpSp>
      <p:grpSp>
        <p:nvGrpSpPr>
          <p:cNvPr id="47" name="组合 46"/>
          <p:cNvGrpSpPr/>
          <p:nvPr/>
        </p:nvGrpSpPr>
        <p:grpSpPr>
          <a:xfrm>
            <a:off x="500034" y="5072074"/>
            <a:ext cx="8358246" cy="1246495"/>
            <a:chOff x="500034" y="5072074"/>
            <a:chExt cx="8358246" cy="1246495"/>
          </a:xfrm>
        </p:grpSpPr>
        <p:sp>
          <p:nvSpPr>
            <p:cNvPr id="5" name="TextBox 4"/>
            <p:cNvSpPr txBox="1"/>
            <p:nvPr/>
          </p:nvSpPr>
          <p:spPr>
            <a:xfrm>
              <a:off x="1071538" y="5072074"/>
              <a:ext cx="7786742" cy="1246495"/>
            </a:xfrm>
            <a:prstGeom prst="rect">
              <a:avLst/>
            </a:prstGeom>
            <a:noFill/>
          </p:spPr>
          <p:txBody>
            <a:bodyPr wrap="square" rtlCol="0">
              <a:spAutoFit/>
            </a:bodyPr>
            <a:lstStyle/>
            <a:p>
              <a:pPr>
                <a:lnSpc>
                  <a:spcPts val="3000"/>
                </a:lnSpc>
              </a:pPr>
              <a:r>
                <a:rPr lang="zh-CN" altLang="en-US" sz="2200">
                  <a:solidFill>
                    <a:srgbClr val="0000FF"/>
                  </a:solidFill>
                  <a:latin typeface="Consolas" pitchFamily="49" charset="0"/>
                  <a:ea typeface="仿宋" pitchFamily="49" charset="-122"/>
                  <a:cs typeface="Consolas" pitchFamily="49" charset="0"/>
                </a:rPr>
                <a:t>多边形由</a:t>
              </a:r>
              <a:r>
                <a:rPr lang="en-US" altLang="zh-CN" sz="22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个顶点构成，从点</a:t>
              </a:r>
              <a:r>
                <a:rPr lang="en-US" altLang="zh-CN" sz="2200">
                  <a:solidFill>
                    <a:srgbClr val="FF0000"/>
                  </a:solidFill>
                  <a:latin typeface="Consolas" pitchFamily="49" charset="0"/>
                  <a:ea typeface="仿宋" pitchFamily="49" charset="-122"/>
                  <a:cs typeface="Consolas" pitchFamily="49" charset="0"/>
                </a:rPr>
                <a:t>p</a:t>
              </a:r>
              <a:r>
                <a:rPr lang="en-US" altLang="zh-CN" sz="2200" baseline="-25000">
                  <a:solidFill>
                    <a:srgbClr val="FF0000"/>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引出的射线与多边形相交的交点个数为</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，它在多边形内，而从点</a:t>
              </a:r>
              <a:r>
                <a:rPr lang="en-US" altLang="zh-CN" sz="2200">
                  <a:solidFill>
                    <a:srgbClr val="FF0000"/>
                  </a:solidFill>
                  <a:latin typeface="Consolas" pitchFamily="49" charset="0"/>
                  <a:ea typeface="仿宋" pitchFamily="49" charset="-122"/>
                  <a:cs typeface="Consolas" pitchFamily="49" charset="0"/>
                </a:rPr>
                <a:t>p</a:t>
              </a:r>
              <a:r>
                <a:rPr lang="en-US" altLang="zh-CN" sz="2200" baseline="-25000">
                  <a:solidFill>
                    <a:srgbClr val="FF0000"/>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引出的射线与多边形相交的交点个数为</a:t>
              </a:r>
              <a:r>
                <a:rPr lang="en-US" altLang="zh-CN" sz="22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，它在多边形外。</a:t>
              </a:r>
            </a:p>
          </p:txBody>
        </p:sp>
        <p:sp>
          <p:nvSpPr>
            <p:cNvPr id="46" name="TextBox 45"/>
            <p:cNvSpPr txBox="1"/>
            <p:nvPr/>
          </p:nvSpPr>
          <p:spPr>
            <a:xfrm>
              <a:off x="500034" y="5241209"/>
              <a:ext cx="500066" cy="830997"/>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b="0">
                  <a:ln w="18415" cmpd="sng">
                    <a:solidFill>
                      <a:srgbClr val="FFFFFF"/>
                    </a:solidFill>
                    <a:prstDash val="solid"/>
                  </a:ln>
                  <a:solidFill>
                    <a:srgbClr val="FFFFFF"/>
                  </a:solidFill>
                  <a:effectLst>
                    <a:outerShdw blurRad="63500" dir="3600000" algn="tl" rotWithShape="0">
                      <a:srgbClr val="000000">
                        <a:alpha val="70000"/>
                      </a:srgbClr>
                    </a:outerShdw>
                  </a:effectLst>
                  <a:latin typeface="华文中宋" pitchFamily="2" charset="-122"/>
                  <a:ea typeface="华文中宋" pitchFamily="2" charset="-122"/>
                </a:rPr>
                <a:t>说明</a:t>
              </a:r>
            </a:p>
          </p:txBody>
        </p:sp>
      </p:grpSp>
      <p:sp>
        <p:nvSpPr>
          <p:cNvPr id="48" name="灯片编号占位符 47"/>
          <p:cNvSpPr>
            <a:spLocks noGrp="1"/>
          </p:cNvSpPr>
          <p:nvPr>
            <p:ph type="sldNum" sz="quarter" idx="12"/>
          </p:nvPr>
        </p:nvSpPr>
        <p:spPr/>
        <p:txBody>
          <a:bodyPr/>
          <a:lstStyle/>
          <a:p>
            <a:pPr>
              <a:defRPr/>
            </a:pPr>
            <a:fld id="{51116183-1013-4E64-BBE8-A5C1D5D4F838}" type="slidenum">
              <a:rPr lang="en-US" altLang="zh-CN" smtClean="0"/>
              <a:pPr>
                <a:defRPr/>
              </a:pPr>
              <a:t>61</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428596" y="714356"/>
            <a:ext cx="6818331" cy="461665"/>
          </a:xfrm>
          <a:prstGeom prst="rect">
            <a:avLst/>
          </a:prstGeom>
          <a:noFill/>
          <a:ln w="9525">
            <a:noFill/>
            <a:miter lim="800000"/>
            <a:headEnd/>
            <a:tailEnd/>
          </a:ln>
        </p:spPr>
        <p:txBody>
          <a:bodyPr wrap="square">
            <a:spAutoFit/>
          </a:bodyPr>
          <a:lstStyle/>
          <a:p>
            <a:pPr>
              <a:spcBef>
                <a:spcPct val="50000"/>
              </a:spcBef>
            </a:pPr>
            <a:r>
              <a:rPr lang="zh-CN" altLang="en-US">
                <a:solidFill>
                  <a:srgbClr val="0000FF"/>
                </a:solidFill>
                <a:latin typeface="Consolas" pitchFamily="49" charset="0"/>
                <a:ea typeface="仿宋" pitchFamily="49" charset="-122"/>
                <a:cs typeface="Consolas" pitchFamily="49" charset="0"/>
              </a:rPr>
              <a:t>判断点</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是否在多边形</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[0..</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zh-CN" altLang="en-US">
                <a:solidFill>
                  <a:srgbClr val="0000FF"/>
                </a:solidFill>
                <a:latin typeface="Consolas" pitchFamily="49" charset="0"/>
                <a:ea typeface="仿宋" pitchFamily="49" charset="-122"/>
                <a:cs typeface="Consolas" pitchFamily="49" charset="0"/>
              </a:rPr>
              <a:t>中的步骤如下：</a:t>
            </a:r>
          </a:p>
        </p:txBody>
      </p:sp>
      <p:sp>
        <p:nvSpPr>
          <p:cNvPr id="56323" name="Text Box 3"/>
          <p:cNvSpPr txBox="1">
            <a:spLocks noChangeArrowheads="1"/>
          </p:cNvSpPr>
          <p:nvPr/>
        </p:nvSpPr>
        <p:spPr bwMode="auto">
          <a:xfrm>
            <a:off x="357158" y="1643050"/>
            <a:ext cx="8353425" cy="3618125"/>
          </a:xfrm>
          <a:prstGeom prst="rect">
            <a:avLst/>
          </a:prstGeom>
          <a:solidFill>
            <a:schemeClr val="bg1"/>
          </a:solidFill>
          <a:ln w="9525">
            <a:solidFill>
              <a:schemeClr val="bg1">
                <a:lumMod val="50000"/>
              </a:schemeClr>
            </a:solid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lIns="144000" tIns="180000" bIns="180000">
            <a:spAutoFit/>
          </a:bodyPr>
          <a:lstStyle/>
          <a:p>
            <a:pPr marL="342900" indent="-342900">
              <a:lnSpc>
                <a:spcPts val="2800"/>
              </a:lnSpc>
              <a:spcBef>
                <a:spcPts val="1200"/>
              </a:spcBef>
              <a:buFontTx/>
              <a:buAutoNum type="circleNumDbPlain"/>
            </a:pPr>
            <a:r>
              <a:rPr lang="zh-CN" altLang="en-US" sz="2200">
                <a:solidFill>
                  <a:srgbClr val="0000FF"/>
                </a:solidFill>
                <a:latin typeface="Consolas" pitchFamily="49" charset="0"/>
                <a:ea typeface="仿宋" pitchFamily="49" charset="-122"/>
                <a:cs typeface="Consolas" pitchFamily="49" charset="0"/>
              </a:rPr>
              <a:t>置</a:t>
            </a:r>
            <a:r>
              <a:rPr lang="en-US" altLang="zh-CN" sz="2200">
                <a:solidFill>
                  <a:srgbClr val="0000FF"/>
                </a:solidFill>
                <a:latin typeface="Consolas" pitchFamily="49" charset="0"/>
                <a:ea typeface="仿宋" pitchFamily="49" charset="-122"/>
                <a:cs typeface="Consolas" pitchFamily="49" charset="0"/>
              </a:rPr>
              <a:t>cnt=0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i</a:t>
            </a:r>
            <a:r>
              <a:rPr lang="zh-CN" altLang="en-US" sz="2200" dirty="0">
                <a:solidFill>
                  <a:srgbClr val="0000FF"/>
                </a:solidFill>
                <a:latin typeface="Consolas" pitchFamily="49" charset="0"/>
                <a:ea typeface="仿宋" pitchFamily="49" charset="-122"/>
                <a:cs typeface="Consolas" pitchFamily="49" charset="0"/>
              </a:rPr>
              <a:t>从</a:t>
            </a:r>
            <a:r>
              <a:rPr lang="en-US" altLang="zh-CN" sz="2200" dirty="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到</a:t>
            </a:r>
            <a:r>
              <a:rPr lang="en-US" altLang="zh-CN" sz="2200" i="1">
                <a:solidFill>
                  <a:srgbClr val="0000FF"/>
                </a:solidFill>
                <a:latin typeface="Consolas" pitchFamily="49" charset="0"/>
                <a:ea typeface="仿宋" pitchFamily="49" charset="-122"/>
                <a:cs typeface="Consolas" pitchFamily="49" charset="0"/>
              </a:rPr>
              <a:t>n</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循环（最后边为</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n</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n</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endParaRPr lang="zh-CN" altLang="en-US" sz="2200" dirty="0">
              <a:solidFill>
                <a:srgbClr val="0000FF"/>
              </a:solidFill>
              <a:latin typeface="Consolas" pitchFamily="49" charset="0"/>
              <a:ea typeface="仿宋" pitchFamily="49" charset="-122"/>
              <a:cs typeface="Consolas" pitchFamily="49" charset="0"/>
            </a:endParaRPr>
          </a:p>
          <a:p>
            <a:pPr marL="342900" indent="-342900">
              <a:lnSpc>
                <a:spcPts val="2800"/>
              </a:lnSpc>
              <a:spcBef>
                <a:spcPts val="1200"/>
              </a:spcBef>
              <a:buFontTx/>
              <a:buAutoNum type="circleNumDbPlain"/>
            </a:pPr>
            <a:r>
              <a:rPr lang="en-US" altLang="zh-CN" sz="2200" err="1">
                <a:solidFill>
                  <a:srgbClr val="0000FF"/>
                </a:solidFill>
                <a:latin typeface="Consolas" pitchFamily="49" charset="0"/>
                <a:ea typeface="仿宋" pitchFamily="49" charset="-122"/>
                <a:cs typeface="Consolas" pitchFamily="49" charset="0"/>
              </a:rPr>
              <a:t>p</a:t>
            </a:r>
            <a:r>
              <a:rPr lang="en-US" altLang="zh-CN" sz="2200" baseline="-25000" err="1">
                <a:solidFill>
                  <a:srgbClr val="0000FF"/>
                </a:solidFill>
                <a:latin typeface="Consolas" pitchFamily="49" charset="0"/>
                <a:ea typeface="仿宋" pitchFamily="49" charset="-122"/>
                <a:cs typeface="Consolas" pitchFamily="49" charset="0"/>
              </a:rPr>
              <a:t>1</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a:t>
            </a:r>
            <a:r>
              <a:rPr lang="en-US" altLang="zh-CN" sz="2200" i="1" err="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2</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，若</a:t>
            </a:r>
            <a:r>
              <a:rPr lang="en-US" altLang="zh-CN" sz="2200" dirty="0" err="1">
                <a:solidFill>
                  <a:srgbClr val="0000FF"/>
                </a:solidFill>
                <a:latin typeface="Consolas" pitchFamily="49" charset="0"/>
                <a:ea typeface="仿宋" pitchFamily="49" charset="-122"/>
                <a:cs typeface="Consolas" pitchFamily="49" charset="0"/>
              </a:rPr>
              <a:t>p</a:t>
            </a:r>
            <a:r>
              <a:rPr lang="en-US" altLang="zh-CN" sz="2200" baseline="-25000" dirty="0" err="1">
                <a:solidFill>
                  <a:srgbClr val="0000FF"/>
                </a:solidFill>
                <a:latin typeface="Consolas" pitchFamily="49" charset="0"/>
                <a:ea typeface="仿宋" pitchFamily="49" charset="-122"/>
                <a:cs typeface="Consolas" pitchFamily="49" charset="0"/>
              </a:rPr>
              <a:t>0</a:t>
            </a:r>
            <a:r>
              <a:rPr lang="zh-CN" altLang="en-US" sz="2200" dirty="0">
                <a:solidFill>
                  <a:srgbClr val="0000FF"/>
                </a:solidFill>
                <a:latin typeface="Consolas" pitchFamily="49" charset="0"/>
                <a:ea typeface="仿宋" pitchFamily="49" charset="-122"/>
                <a:cs typeface="Consolas" pitchFamily="49" charset="0"/>
              </a:rPr>
              <a:t>在</a:t>
            </a:r>
            <a:r>
              <a:rPr lang="en-US" altLang="zh-CN" sz="2200" dirty="0" err="1">
                <a:solidFill>
                  <a:srgbClr val="0000FF"/>
                </a:solidFill>
                <a:latin typeface="Consolas" pitchFamily="49" charset="0"/>
                <a:ea typeface="仿宋" pitchFamily="49" charset="-122"/>
                <a:cs typeface="Consolas" pitchFamily="49" charset="0"/>
              </a:rPr>
              <a:t>p</a:t>
            </a:r>
            <a:r>
              <a:rPr lang="en-US" altLang="zh-CN" sz="2200" baseline="-25000" dirty="0" err="1">
                <a:solidFill>
                  <a:srgbClr val="0000FF"/>
                </a:solidFill>
                <a:latin typeface="Consolas" pitchFamily="49" charset="0"/>
                <a:ea typeface="仿宋" pitchFamily="49" charset="-122"/>
                <a:cs typeface="Consolas" pitchFamily="49" charset="0"/>
              </a:rPr>
              <a:t>1</a:t>
            </a:r>
            <a:r>
              <a:rPr lang="en-US" altLang="zh-CN" sz="2200" dirty="0" err="1">
                <a:solidFill>
                  <a:srgbClr val="0000FF"/>
                </a:solidFill>
                <a:latin typeface="Consolas" pitchFamily="49" charset="0"/>
                <a:ea typeface="仿宋" pitchFamily="49" charset="-122"/>
                <a:cs typeface="Consolas" pitchFamily="49" charset="0"/>
              </a:rPr>
              <a:t>p</a:t>
            </a:r>
            <a:r>
              <a:rPr lang="en-US" altLang="zh-CN" sz="2200" baseline="-25000" dirty="0" err="1">
                <a:solidFill>
                  <a:srgbClr val="0000FF"/>
                </a:solidFill>
                <a:latin typeface="Consolas" pitchFamily="49" charset="0"/>
                <a:ea typeface="仿宋" pitchFamily="49" charset="-122"/>
                <a:cs typeface="Consolas" pitchFamily="49" charset="0"/>
              </a:rPr>
              <a:t>2</a:t>
            </a:r>
            <a:r>
              <a:rPr lang="zh-CN" altLang="en-US" sz="2200" dirty="0">
                <a:solidFill>
                  <a:srgbClr val="0000FF"/>
                </a:solidFill>
                <a:latin typeface="Consolas" pitchFamily="49" charset="0"/>
                <a:ea typeface="仿宋" pitchFamily="49" charset="-122"/>
                <a:cs typeface="Consolas" pitchFamily="49" charset="0"/>
              </a:rPr>
              <a:t>线</a:t>
            </a:r>
            <a:r>
              <a:rPr lang="zh-CN" altLang="en-US" sz="2200">
                <a:solidFill>
                  <a:srgbClr val="0000FF"/>
                </a:solidFill>
                <a:latin typeface="Consolas" pitchFamily="49" charset="0"/>
                <a:ea typeface="仿宋" pitchFamily="49" charset="-122"/>
                <a:cs typeface="Consolas" pitchFamily="49" charset="0"/>
              </a:rPr>
              <a:t>段上，则</a:t>
            </a:r>
            <a:r>
              <a:rPr lang="zh-CN" altLang="en-US" sz="2200" dirty="0">
                <a:solidFill>
                  <a:srgbClr val="0000FF"/>
                </a:solidFill>
                <a:latin typeface="Consolas" pitchFamily="49" charset="0"/>
                <a:ea typeface="仿宋" pitchFamily="49" charset="-122"/>
                <a:cs typeface="Consolas" pitchFamily="49" charset="0"/>
              </a:rPr>
              <a:t>返回</a:t>
            </a:r>
            <a:r>
              <a:rPr lang="en-US" altLang="zh-CN" sz="2200" dirty="0">
                <a:solidFill>
                  <a:srgbClr val="0000FF"/>
                </a:solidFill>
                <a:latin typeface="Consolas" pitchFamily="49" charset="0"/>
                <a:ea typeface="仿宋" pitchFamily="49" charset="-122"/>
                <a:cs typeface="Consolas" pitchFamily="49" charset="0"/>
              </a:rPr>
              <a:t>true</a:t>
            </a:r>
            <a:r>
              <a:rPr lang="zh-CN" altLang="en-US" sz="2200" dirty="0">
                <a:solidFill>
                  <a:srgbClr val="0000FF"/>
                </a:solidFill>
                <a:latin typeface="Consolas" pitchFamily="49" charset="0"/>
                <a:ea typeface="仿宋" pitchFamily="49" charset="-122"/>
                <a:cs typeface="Consolas" pitchFamily="49" charset="0"/>
              </a:rPr>
              <a:t>。</a:t>
            </a:r>
          </a:p>
          <a:p>
            <a:pPr marL="342900" indent="-342900">
              <a:lnSpc>
                <a:spcPts val="2800"/>
              </a:lnSpc>
              <a:spcBef>
                <a:spcPts val="1200"/>
              </a:spcBef>
              <a:buFontTx/>
              <a:buAutoNum type="circleNumDbPlain"/>
            </a:pPr>
            <a:r>
              <a:rPr lang="zh-CN" altLang="en-US" sz="2200" dirty="0">
                <a:solidFill>
                  <a:srgbClr val="0000FF"/>
                </a:solidFill>
                <a:latin typeface="Consolas" pitchFamily="49" charset="0"/>
                <a:ea typeface="仿宋" pitchFamily="49" charset="-122"/>
                <a:cs typeface="Consolas" pitchFamily="49" charset="0"/>
              </a:rPr>
              <a:t>若</a:t>
            </a:r>
            <a:r>
              <a:rPr lang="en-US" altLang="zh-CN" sz="2200" dirty="0" err="1">
                <a:solidFill>
                  <a:srgbClr val="0000FF"/>
                </a:solidFill>
                <a:latin typeface="Consolas" pitchFamily="49" charset="0"/>
                <a:ea typeface="仿宋" pitchFamily="49" charset="-122"/>
                <a:cs typeface="Consolas" pitchFamily="49" charset="0"/>
              </a:rPr>
              <a:t>p</a:t>
            </a:r>
            <a:r>
              <a:rPr lang="en-US" altLang="zh-CN" sz="2200" baseline="-25000" dirty="0" err="1">
                <a:solidFill>
                  <a:srgbClr val="0000FF"/>
                </a:solidFill>
                <a:latin typeface="Consolas" pitchFamily="49" charset="0"/>
                <a:ea typeface="仿宋" pitchFamily="49" charset="-122"/>
                <a:cs typeface="Consolas" pitchFamily="49" charset="0"/>
              </a:rPr>
              <a:t>1</a:t>
            </a:r>
            <a:r>
              <a:rPr lang="en-US" altLang="zh-CN" sz="2200" dirty="0" err="1">
                <a:solidFill>
                  <a:srgbClr val="0000FF"/>
                </a:solidFill>
                <a:latin typeface="Consolas" pitchFamily="49" charset="0"/>
                <a:ea typeface="仿宋" pitchFamily="49" charset="-122"/>
                <a:cs typeface="Consolas" pitchFamily="49" charset="0"/>
              </a:rPr>
              <a:t>p</a:t>
            </a:r>
            <a:r>
              <a:rPr lang="en-US" altLang="zh-CN" sz="2200" baseline="-25000" dirty="0" err="1">
                <a:solidFill>
                  <a:srgbClr val="0000FF"/>
                </a:solidFill>
                <a:latin typeface="Consolas" pitchFamily="49" charset="0"/>
                <a:ea typeface="仿宋" pitchFamily="49" charset="-122"/>
                <a:cs typeface="Consolas" pitchFamily="49" charset="0"/>
              </a:rPr>
              <a:t>2</a:t>
            </a:r>
            <a:r>
              <a:rPr lang="zh-CN" altLang="en-US" sz="2200" dirty="0">
                <a:solidFill>
                  <a:srgbClr val="0000FF"/>
                </a:solidFill>
                <a:latin typeface="Consolas" pitchFamily="49" charset="0"/>
                <a:ea typeface="仿宋" pitchFamily="49" charset="-122"/>
                <a:cs typeface="Consolas" pitchFamily="49" charset="0"/>
              </a:rPr>
              <a:t>是一条水</a:t>
            </a:r>
            <a:r>
              <a:rPr lang="zh-CN" altLang="en-US" sz="2200">
                <a:solidFill>
                  <a:srgbClr val="0000FF"/>
                </a:solidFill>
                <a:latin typeface="Consolas" pitchFamily="49" charset="0"/>
                <a:ea typeface="仿宋" pitchFamily="49" charset="-122"/>
                <a:cs typeface="Consolas" pitchFamily="49" charset="0"/>
              </a:rPr>
              <a:t>平线，或</a:t>
            </a:r>
            <a:r>
              <a:rPr lang="zh-CN" altLang="en-US" sz="2200" dirty="0">
                <a:solidFill>
                  <a:srgbClr val="0000FF"/>
                </a:solidFill>
                <a:latin typeface="Consolas" pitchFamily="49" charset="0"/>
                <a:ea typeface="仿宋" pitchFamily="49" charset="-122"/>
                <a:cs typeface="Consolas" pitchFamily="49" charset="0"/>
              </a:rPr>
              <a:t>者</a:t>
            </a:r>
            <a:r>
              <a:rPr lang="en-US" altLang="zh-CN" sz="2200" dirty="0" err="1">
                <a:solidFill>
                  <a:srgbClr val="0000FF"/>
                </a:solidFill>
                <a:latin typeface="Consolas" pitchFamily="49" charset="0"/>
                <a:ea typeface="仿宋" pitchFamily="49" charset="-122"/>
                <a:cs typeface="Consolas" pitchFamily="49" charset="0"/>
              </a:rPr>
              <a:t>p</a:t>
            </a:r>
            <a:r>
              <a:rPr lang="en-US" altLang="zh-CN" sz="2200" baseline="-25000" dirty="0" err="1">
                <a:solidFill>
                  <a:srgbClr val="0000FF"/>
                </a:solidFill>
                <a:latin typeface="Consolas" pitchFamily="49" charset="0"/>
                <a:ea typeface="仿宋" pitchFamily="49" charset="-122"/>
                <a:cs typeface="Consolas" pitchFamily="49" charset="0"/>
              </a:rPr>
              <a:t>0</a:t>
            </a:r>
            <a:r>
              <a:rPr lang="zh-CN" altLang="en-US" sz="2200" dirty="0">
                <a:solidFill>
                  <a:srgbClr val="0000FF"/>
                </a:solidFill>
                <a:latin typeface="Consolas" pitchFamily="49" charset="0"/>
                <a:ea typeface="仿宋" pitchFamily="49" charset="-122"/>
                <a:cs typeface="Consolas" pitchFamily="49" charset="0"/>
              </a:rPr>
              <a:t>在</a:t>
            </a:r>
            <a:r>
              <a:rPr lang="en-US" altLang="zh-CN" sz="2200" dirty="0" err="1">
                <a:solidFill>
                  <a:srgbClr val="0000FF"/>
                </a:solidFill>
                <a:latin typeface="Consolas" pitchFamily="49" charset="0"/>
                <a:ea typeface="仿宋" pitchFamily="49" charset="-122"/>
                <a:cs typeface="Consolas" pitchFamily="49" charset="0"/>
              </a:rPr>
              <a:t>p</a:t>
            </a:r>
            <a:r>
              <a:rPr lang="en-US" altLang="zh-CN" sz="2200" baseline="-25000" dirty="0" err="1">
                <a:solidFill>
                  <a:srgbClr val="0000FF"/>
                </a:solidFill>
                <a:latin typeface="Consolas" pitchFamily="49" charset="0"/>
                <a:ea typeface="仿宋" pitchFamily="49" charset="-122"/>
                <a:cs typeface="Consolas" pitchFamily="49" charset="0"/>
              </a:rPr>
              <a:t>1</a:t>
            </a:r>
            <a:r>
              <a:rPr lang="en-US" altLang="zh-CN" sz="2200" dirty="0" err="1">
                <a:solidFill>
                  <a:srgbClr val="0000FF"/>
                </a:solidFill>
                <a:latin typeface="Consolas" pitchFamily="49" charset="0"/>
                <a:ea typeface="仿宋" pitchFamily="49" charset="-122"/>
                <a:cs typeface="Consolas" pitchFamily="49" charset="0"/>
              </a:rPr>
              <a:t>p</a:t>
            </a:r>
            <a:r>
              <a:rPr lang="en-US" altLang="zh-CN" sz="2200" baseline="-25000" dirty="0" err="1">
                <a:solidFill>
                  <a:srgbClr val="0000FF"/>
                </a:solidFill>
                <a:latin typeface="Consolas" pitchFamily="49" charset="0"/>
                <a:ea typeface="仿宋" pitchFamily="49" charset="-122"/>
                <a:cs typeface="Consolas" pitchFamily="49" charset="0"/>
              </a:rPr>
              <a:t>2</a:t>
            </a:r>
            <a:r>
              <a:rPr lang="zh-CN" altLang="en-US" sz="2200" dirty="0">
                <a:solidFill>
                  <a:srgbClr val="0000FF"/>
                </a:solidFill>
                <a:latin typeface="Consolas" pitchFamily="49" charset="0"/>
                <a:ea typeface="仿宋" pitchFamily="49" charset="-122"/>
                <a:cs typeface="Consolas" pitchFamily="49" charset="0"/>
              </a:rPr>
              <a:t>线段的上方或</a:t>
            </a:r>
            <a:r>
              <a:rPr lang="zh-CN" altLang="en-US" sz="2200">
                <a:solidFill>
                  <a:srgbClr val="0000FF"/>
                </a:solidFill>
                <a:latin typeface="Consolas" pitchFamily="49" charset="0"/>
                <a:ea typeface="仿宋" pitchFamily="49" charset="-122"/>
                <a:cs typeface="Consolas" pitchFamily="49" charset="0"/>
              </a:rPr>
              <a:t>下方，则</a:t>
            </a:r>
            <a:r>
              <a:rPr lang="zh-CN" altLang="en-US" sz="2200" dirty="0">
                <a:solidFill>
                  <a:srgbClr val="0000FF"/>
                </a:solidFill>
                <a:latin typeface="Consolas" pitchFamily="49" charset="0"/>
                <a:ea typeface="仿宋" pitchFamily="49" charset="-122"/>
                <a:cs typeface="Consolas" pitchFamily="49" charset="0"/>
              </a:rPr>
              <a:t>没有</a:t>
            </a:r>
            <a:r>
              <a:rPr lang="zh-CN" altLang="en-US" sz="2200">
                <a:solidFill>
                  <a:srgbClr val="0000FF"/>
                </a:solidFill>
                <a:latin typeface="Consolas" pitchFamily="49" charset="0"/>
                <a:ea typeface="仿宋" pitchFamily="49" charset="-122"/>
                <a:cs typeface="Consolas" pitchFamily="49" charset="0"/>
              </a:rPr>
              <a:t>交点，转</a:t>
            </a:r>
            <a:r>
              <a:rPr lang="zh-CN" altLang="en-US" sz="2200" dirty="0">
                <a:solidFill>
                  <a:srgbClr val="0000FF"/>
                </a:solidFill>
                <a:latin typeface="Consolas" pitchFamily="49" charset="0"/>
                <a:ea typeface="仿宋" pitchFamily="49" charset="-122"/>
                <a:cs typeface="Consolas" pitchFamily="49" charset="0"/>
              </a:rPr>
              <a:t>向下一条线段进行求解。</a:t>
            </a:r>
          </a:p>
          <a:p>
            <a:pPr marL="342900" indent="-342900">
              <a:lnSpc>
                <a:spcPts val="2800"/>
              </a:lnSpc>
              <a:spcBef>
                <a:spcPts val="1200"/>
              </a:spcBef>
              <a:buFontTx/>
              <a:buAutoNum type="circleNumDbPlain"/>
            </a:pPr>
            <a:r>
              <a:rPr lang="zh-CN" altLang="en-US" sz="2200" dirty="0">
                <a:solidFill>
                  <a:srgbClr val="0000FF"/>
                </a:solidFill>
                <a:latin typeface="Consolas" pitchFamily="49" charset="0"/>
                <a:ea typeface="仿宋" pitchFamily="49" charset="-122"/>
                <a:cs typeface="Consolas" pitchFamily="49" charset="0"/>
              </a:rPr>
              <a:t>求出射线与线段</a:t>
            </a:r>
            <a:r>
              <a:rPr lang="en-US" altLang="zh-CN" sz="2200" dirty="0" err="1">
                <a:solidFill>
                  <a:srgbClr val="0000FF"/>
                </a:solidFill>
                <a:latin typeface="Consolas" pitchFamily="49" charset="0"/>
                <a:ea typeface="仿宋" pitchFamily="49" charset="-122"/>
                <a:cs typeface="Consolas" pitchFamily="49" charset="0"/>
              </a:rPr>
              <a:t>p</a:t>
            </a:r>
            <a:r>
              <a:rPr lang="en-US" altLang="zh-CN" sz="2200" baseline="-25000" dirty="0" err="1">
                <a:solidFill>
                  <a:srgbClr val="0000FF"/>
                </a:solidFill>
                <a:latin typeface="Consolas" pitchFamily="49" charset="0"/>
                <a:ea typeface="仿宋" pitchFamily="49" charset="-122"/>
                <a:cs typeface="Consolas" pitchFamily="49" charset="0"/>
              </a:rPr>
              <a:t>1</a:t>
            </a:r>
            <a:r>
              <a:rPr lang="en-US" altLang="zh-CN" sz="2200" dirty="0" err="1">
                <a:solidFill>
                  <a:srgbClr val="0000FF"/>
                </a:solidFill>
                <a:latin typeface="Consolas" pitchFamily="49" charset="0"/>
                <a:ea typeface="仿宋" pitchFamily="49" charset="-122"/>
                <a:cs typeface="Consolas" pitchFamily="49" charset="0"/>
              </a:rPr>
              <a:t>p</a:t>
            </a:r>
            <a:r>
              <a:rPr lang="en-US" altLang="zh-CN" sz="2200" baseline="-25000" dirty="0" err="1">
                <a:solidFill>
                  <a:srgbClr val="0000FF"/>
                </a:solidFill>
                <a:latin typeface="Consolas" pitchFamily="49" charset="0"/>
                <a:ea typeface="仿宋" pitchFamily="49" charset="-122"/>
                <a:cs typeface="Consolas" pitchFamily="49" charset="0"/>
              </a:rPr>
              <a:t>2</a:t>
            </a:r>
            <a:r>
              <a:rPr lang="zh-CN" altLang="en-US" sz="2200" dirty="0">
                <a:solidFill>
                  <a:srgbClr val="0000FF"/>
                </a:solidFill>
                <a:latin typeface="Consolas" pitchFamily="49" charset="0"/>
                <a:ea typeface="仿宋" pitchFamily="49" charset="-122"/>
                <a:cs typeface="Consolas" pitchFamily="49" charset="0"/>
              </a:rPr>
              <a:t>的交点的</a:t>
            </a:r>
            <a:r>
              <a:rPr lang="en-US" altLang="zh-CN" sz="2200" i="1" dirty="0">
                <a:solidFill>
                  <a:srgbClr val="0000FF"/>
                </a:solidFill>
                <a:latin typeface="Consolas" pitchFamily="49" charset="0"/>
                <a:ea typeface="仿宋" pitchFamily="49" charset="-122"/>
                <a:cs typeface="Consolas" pitchFamily="49" charset="0"/>
              </a:rPr>
              <a:t>x</a:t>
            </a:r>
            <a:r>
              <a:rPr lang="zh-CN" altLang="en-US" sz="2200" dirty="0">
                <a:solidFill>
                  <a:srgbClr val="0000FF"/>
                </a:solidFill>
                <a:latin typeface="Consolas" pitchFamily="49" charset="0"/>
                <a:ea typeface="仿宋" pitchFamily="49" charset="-122"/>
                <a:cs typeface="Consolas" pitchFamily="49" charset="0"/>
              </a:rPr>
              <a:t>。</a:t>
            </a:r>
          </a:p>
          <a:p>
            <a:pPr marL="342900" indent="-342900">
              <a:lnSpc>
                <a:spcPts val="2800"/>
              </a:lnSpc>
              <a:spcBef>
                <a:spcPts val="1200"/>
              </a:spcBef>
              <a:buFontTx/>
              <a:buAutoNum type="circleNumDbPlain"/>
            </a:pPr>
            <a:r>
              <a:rPr lang="zh-CN" altLang="en-US" sz="2200">
                <a:solidFill>
                  <a:srgbClr val="0000FF"/>
                </a:solidFill>
                <a:latin typeface="Consolas" pitchFamily="49" charset="0"/>
                <a:ea typeface="仿宋" pitchFamily="49" charset="-122"/>
                <a:cs typeface="Consolas" pitchFamily="49" charset="0"/>
              </a:rPr>
              <a:t>若</a:t>
            </a:r>
            <a:r>
              <a:rPr lang="en-US" altLang="zh-CN" sz="2200" i="1">
                <a:solidFill>
                  <a:srgbClr val="0000FF"/>
                </a:solidFill>
                <a:latin typeface="Consolas" pitchFamily="49" charset="0"/>
                <a:ea typeface="仿宋" pitchFamily="49" charset="-122"/>
                <a:cs typeface="Consolas" pitchFamily="49" charset="0"/>
              </a:rPr>
              <a:t>x</a:t>
            </a:r>
            <a:r>
              <a:rPr lang="en-US" altLang="zh-CN" sz="2200">
                <a:solidFill>
                  <a:srgbClr val="0000FF"/>
                </a:solidFill>
                <a:latin typeface="Consolas" pitchFamily="49" charset="0"/>
                <a:ea typeface="仿宋" pitchFamily="49" charset="-122"/>
                <a:cs typeface="Consolas" pitchFamily="49" charset="0"/>
              </a:rPr>
              <a:t>&gt;p</a:t>
            </a:r>
            <a:r>
              <a:rPr lang="en-US" altLang="zh-CN" sz="2200" baseline="-25000">
                <a:solidFill>
                  <a:srgbClr val="0000FF"/>
                </a:solidFill>
                <a:latin typeface="Consolas" pitchFamily="49" charset="0"/>
                <a:ea typeface="仿宋" pitchFamily="49" charset="-122"/>
                <a:cs typeface="Consolas" pitchFamily="49" charset="0"/>
              </a:rPr>
              <a:t>0</a:t>
            </a:r>
            <a:r>
              <a:rPr lang="en-US" altLang="zh-CN" sz="2200">
                <a:solidFill>
                  <a:srgbClr val="0000FF"/>
                </a:solidFill>
                <a:latin typeface="Consolas" pitchFamily="49" charset="0"/>
                <a:ea typeface="仿宋" pitchFamily="49" charset="-122"/>
                <a:cs typeface="Consolas" pitchFamily="49" charset="0"/>
              </a:rPr>
              <a:t>.x</a:t>
            </a:r>
            <a:r>
              <a:rPr lang="zh-CN" altLang="en-US" sz="2200">
                <a:solidFill>
                  <a:srgbClr val="0000FF"/>
                </a:solidFill>
                <a:latin typeface="Consolas" pitchFamily="49" charset="0"/>
                <a:ea typeface="仿宋" pitchFamily="49" charset="-122"/>
                <a:cs typeface="Consolas" pitchFamily="49" charset="0"/>
              </a:rPr>
              <a:t>，则</a:t>
            </a:r>
            <a:r>
              <a:rPr lang="zh-CN" altLang="en-US" sz="2200" dirty="0">
                <a:solidFill>
                  <a:srgbClr val="0000FF"/>
                </a:solidFill>
                <a:latin typeface="Consolas" pitchFamily="49" charset="0"/>
                <a:ea typeface="仿宋" pitchFamily="49" charset="-122"/>
                <a:cs typeface="Consolas" pitchFamily="49" charset="0"/>
              </a:rPr>
              <a:t>交点个数</a:t>
            </a:r>
            <a:r>
              <a:rPr lang="en-US" altLang="zh-CN" sz="2200" dirty="0" err="1">
                <a:solidFill>
                  <a:srgbClr val="0000FF"/>
                </a:solidFill>
                <a:latin typeface="Consolas" pitchFamily="49" charset="0"/>
                <a:ea typeface="仿宋" pitchFamily="49" charset="-122"/>
                <a:cs typeface="Consolas" pitchFamily="49" charset="0"/>
              </a:rPr>
              <a:t>cnt</a:t>
            </a:r>
            <a:r>
              <a:rPr lang="zh-CN" altLang="en-US" sz="2200" dirty="0">
                <a:solidFill>
                  <a:srgbClr val="0000FF"/>
                </a:solidFill>
                <a:latin typeface="Consolas" pitchFamily="49" charset="0"/>
                <a:ea typeface="仿宋" pitchFamily="49" charset="-122"/>
                <a:cs typeface="Consolas" pitchFamily="49" charset="0"/>
              </a:rPr>
              <a:t>增</a:t>
            </a:r>
            <a:r>
              <a:rPr lang="en-US" altLang="zh-CN" sz="2200" dirty="0">
                <a:solidFill>
                  <a:srgbClr val="0000FF"/>
                </a:solidFill>
                <a:latin typeface="Consolas" pitchFamily="49" charset="0"/>
                <a:ea typeface="仿宋" pitchFamily="49" charset="-122"/>
                <a:cs typeface="Consolas" pitchFamily="49" charset="0"/>
              </a:rPr>
              <a:t>1</a:t>
            </a:r>
            <a:r>
              <a:rPr lang="zh-CN" altLang="en-US" sz="2200" dirty="0">
                <a:solidFill>
                  <a:srgbClr val="0000FF"/>
                </a:solidFill>
                <a:latin typeface="Consolas" pitchFamily="49" charset="0"/>
                <a:ea typeface="仿宋" pitchFamily="49" charset="-122"/>
                <a:cs typeface="Consolas" pitchFamily="49" charset="0"/>
              </a:rPr>
              <a:t>。</a:t>
            </a:r>
          </a:p>
          <a:p>
            <a:pPr marL="342900" indent="-342900">
              <a:lnSpc>
                <a:spcPts val="2800"/>
              </a:lnSpc>
              <a:spcBef>
                <a:spcPts val="1200"/>
              </a:spcBef>
              <a:buFontTx/>
              <a:buAutoNum type="circleNumDbPlain"/>
            </a:pPr>
            <a:r>
              <a:rPr lang="zh-CN" altLang="en-US" sz="2200" dirty="0">
                <a:solidFill>
                  <a:srgbClr val="0000FF"/>
                </a:solidFill>
                <a:latin typeface="Consolas" pitchFamily="49" charset="0"/>
                <a:ea typeface="仿宋" pitchFamily="49" charset="-122"/>
                <a:cs typeface="Consolas" pitchFamily="49" charset="0"/>
              </a:rPr>
              <a:t>循环结束后返回</a:t>
            </a:r>
            <a:r>
              <a:rPr lang="en-US" altLang="zh-CN" sz="2200" dirty="0" err="1">
                <a:solidFill>
                  <a:srgbClr val="0000FF"/>
                </a:solidFill>
                <a:latin typeface="Consolas" pitchFamily="49" charset="0"/>
                <a:ea typeface="仿宋" pitchFamily="49" charset="-122"/>
                <a:cs typeface="Consolas" pitchFamily="49" charset="0"/>
              </a:rPr>
              <a:t>cnt%2</a:t>
            </a:r>
            <a:r>
              <a:rPr lang="en-US" altLang="zh-CN" sz="2200" dirty="0">
                <a:solidFill>
                  <a:srgbClr val="0000FF"/>
                </a:solidFill>
                <a:latin typeface="Consolas" pitchFamily="49" charset="0"/>
                <a:ea typeface="仿宋" pitchFamily="49" charset="-122"/>
                <a:cs typeface="Consolas" pitchFamily="49" charset="0"/>
              </a:rPr>
              <a:t>==1</a:t>
            </a:r>
            <a:r>
              <a:rPr lang="zh-CN" altLang="en-US" sz="2200" dirty="0">
                <a:solidFill>
                  <a:srgbClr val="0000FF"/>
                </a:solidFill>
                <a:latin typeface="Consolas" pitchFamily="49" charset="0"/>
                <a:ea typeface="仿宋" pitchFamily="49" charset="-122"/>
                <a:cs typeface="Consolas" pitchFamily="49" charset="0"/>
              </a:rPr>
              <a:t>值。</a:t>
            </a: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62</a:t>
            </a:fld>
            <a:r>
              <a:rPr lang="en-US" altLang="zh-CN"/>
              <a:t>/167</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357158" y="576552"/>
            <a:ext cx="8572560" cy="3566828"/>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2800"/>
              </a:lnSpc>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PointInPolygon</a:t>
            </a:r>
            <a:r>
              <a:rPr lang="en-US" altLang="zh-CN" sz="2000">
                <a:solidFill>
                  <a:srgbClr val="0000FF"/>
                </a:solidFill>
                <a:latin typeface="Consolas" pitchFamily="49" charset="0"/>
                <a:ea typeface="仿宋" pitchFamily="49" charset="-122"/>
              </a:rPr>
              <a:t>(Point p0,vector&lt;Point&gt; a) {	</a:t>
            </a:r>
          </a:p>
          <a:p>
            <a:pPr defTabSz="360000">
              <a:lnSpc>
                <a:spcPts val="28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判断点</a:t>
            </a:r>
            <a:r>
              <a:rPr lang="en-US" altLang="zh-CN" sz="2000">
                <a:solidFill>
                  <a:srgbClr val="00B050"/>
                </a:solidFill>
                <a:latin typeface="Consolas" pitchFamily="49" charset="0"/>
                <a:ea typeface="仿宋" pitchFamily="49" charset="-122"/>
              </a:rPr>
              <a:t>p0</a:t>
            </a:r>
            <a:r>
              <a:rPr lang="zh-CN" altLang="zh-CN" sz="2000">
                <a:solidFill>
                  <a:srgbClr val="00B050"/>
                </a:solidFill>
                <a:latin typeface="Consolas" pitchFamily="49" charset="0"/>
                <a:ea typeface="仿宋" pitchFamily="49" charset="-122"/>
              </a:rPr>
              <a:t>是否在点集</a:t>
            </a:r>
            <a:r>
              <a:rPr lang="en-US" altLang="zh-CN" sz="2000">
                <a:solidFill>
                  <a:srgbClr val="00B050"/>
                </a:solidFill>
                <a:latin typeface="Consolas" pitchFamily="49" charset="0"/>
                <a:ea typeface="仿宋" pitchFamily="49" charset="-122"/>
              </a:rPr>
              <a:t>a</a:t>
            </a:r>
            <a:r>
              <a:rPr lang="zh-CN" altLang="zh-CN" sz="2000">
                <a:solidFill>
                  <a:srgbClr val="00B050"/>
                </a:solidFill>
                <a:latin typeface="Consolas" pitchFamily="49" charset="0"/>
                <a:ea typeface="仿宋" pitchFamily="49" charset="-122"/>
              </a:rPr>
              <a:t>的多边形内</a:t>
            </a:r>
          </a:p>
          <a:p>
            <a:pPr defTabSz="360000">
              <a:lnSpc>
                <a:spcPts val="2800"/>
              </a:lnSpc>
            </a:pPr>
            <a:r>
              <a:rPr lang="en-US" altLang="zh-CN" sz="2000">
                <a:solidFill>
                  <a:srgbClr val="0000FF"/>
                </a:solidFill>
                <a:latin typeface="Consolas" pitchFamily="49" charset="0"/>
                <a:ea typeface="仿宋" pitchFamily="49" charset="-122"/>
              </a:rPr>
              <a:t>	int cnt=0;							</a:t>
            </a:r>
            <a:r>
              <a:rPr lang="en-US" altLang="zh-CN" sz="2000">
                <a:solidFill>
                  <a:srgbClr val="00B0F0"/>
                </a:solidFill>
                <a:latin typeface="Consolas" pitchFamily="49" charset="0"/>
                <a:ea typeface="仿宋" pitchFamily="49" charset="-122"/>
              </a:rPr>
              <a:t>//cnt</a:t>
            </a:r>
            <a:r>
              <a:rPr lang="zh-CN" altLang="zh-CN" sz="2000">
                <a:solidFill>
                  <a:srgbClr val="00B0F0"/>
                </a:solidFill>
                <a:latin typeface="Consolas" pitchFamily="49" charset="0"/>
                <a:ea typeface="仿宋" pitchFamily="49" charset="-122"/>
              </a:rPr>
              <a:t>累加交点个数</a:t>
            </a:r>
          </a:p>
          <a:p>
            <a:pPr defTabSz="360000">
              <a:lnSpc>
                <a:spcPts val="2800"/>
              </a:lnSpc>
            </a:pPr>
            <a:r>
              <a:rPr lang="en-US" altLang="zh-CN" sz="2000">
                <a:solidFill>
                  <a:srgbClr val="0000FF"/>
                </a:solidFill>
                <a:latin typeface="Consolas" pitchFamily="49" charset="0"/>
                <a:ea typeface="仿宋" pitchFamily="49" charset="-122"/>
              </a:rPr>
              <a:t>	double x;</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Point p1,p2;</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for (int i=0;i&lt;a.size();i++)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p1=a[i]; p2=a[i+1];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取多边形的一条边</a:t>
            </a:r>
          </a:p>
          <a:p>
            <a:pPr defTabSz="360000">
              <a:lnSpc>
                <a:spcPts val="2800"/>
              </a:lnSpc>
            </a:pPr>
            <a:r>
              <a:rPr lang="en-US" altLang="zh-CN" sz="2000">
                <a:solidFill>
                  <a:srgbClr val="0000FF"/>
                </a:solidFill>
                <a:latin typeface="Consolas" pitchFamily="49" charset="0"/>
                <a:ea typeface="仿宋" pitchFamily="49" charset="-122"/>
              </a:rPr>
              <a:t>		if (OnSegment(p0,p1,p2))</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return true;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点</a:t>
            </a:r>
            <a:r>
              <a:rPr lang="en-US" altLang="zh-CN" sz="2000">
                <a:solidFill>
                  <a:srgbClr val="00B0F0"/>
                </a:solidFill>
                <a:latin typeface="Consolas" pitchFamily="49" charset="0"/>
                <a:ea typeface="仿宋" pitchFamily="49" charset="-122"/>
              </a:rPr>
              <a:t>p0</a:t>
            </a:r>
            <a:r>
              <a:rPr lang="zh-CN" altLang="zh-CN" sz="2000">
                <a:solidFill>
                  <a:srgbClr val="00B0F0"/>
                </a:solidFill>
                <a:latin typeface="Consolas" pitchFamily="49" charset="0"/>
                <a:ea typeface="仿宋" pitchFamily="49" charset="-122"/>
              </a:rPr>
              <a:t>在多边形边</a:t>
            </a:r>
            <a:r>
              <a:rPr lang="en-US" altLang="zh-CN" sz="2000">
                <a:solidFill>
                  <a:srgbClr val="00B0F0"/>
                </a:solidFill>
                <a:latin typeface="Consolas" pitchFamily="49" charset="0"/>
                <a:ea typeface="仿宋" pitchFamily="49" charset="-122"/>
              </a:rPr>
              <a:t>p1p2</a:t>
            </a:r>
            <a:r>
              <a:rPr lang="zh-CN" altLang="zh-CN" sz="2000">
                <a:solidFill>
                  <a:srgbClr val="00B0F0"/>
                </a:solidFill>
                <a:latin typeface="Consolas" pitchFamily="49" charset="0"/>
                <a:ea typeface="仿宋" pitchFamily="49" charset="-122"/>
              </a:rPr>
              <a:t>上</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返回</a:t>
            </a:r>
            <a:r>
              <a:rPr lang="en-US" altLang="zh-CN" sz="2000">
                <a:solidFill>
                  <a:srgbClr val="00B0F0"/>
                </a:solidFill>
                <a:latin typeface="Consolas" pitchFamily="49" charset="0"/>
                <a:ea typeface="仿宋" pitchFamily="49" charset="-122"/>
              </a:rPr>
              <a:t>true</a:t>
            </a:r>
            <a:endParaRPr lang="zh-CN" altLang="zh-CN" sz="2000">
              <a:solidFill>
                <a:srgbClr val="00B0F0"/>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63</a:t>
            </a:fld>
            <a:r>
              <a:rPr lang="en-US" altLang="zh-CN"/>
              <a:t>/167</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357158" y="357166"/>
            <a:ext cx="8424863" cy="5014084"/>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lIns="216000" tIns="180000" bIns="180000">
            <a:spAutoFit/>
          </a:bodyPr>
          <a:lstStyle/>
          <a:p>
            <a:pPr defTabSz="360000">
              <a:lnSpc>
                <a:spcPts val="2600"/>
              </a:lnSpc>
            </a:pPr>
            <a:r>
              <a:rPr lang="en-US" altLang="zh-CN" sz="2000">
                <a:solidFill>
                  <a:srgbClr val="0000FF"/>
                </a:solidFill>
                <a:latin typeface="Consolas" pitchFamily="49" charset="0"/>
                <a:ea typeface="仿宋" pitchFamily="49" charset="-122"/>
              </a:rPr>
              <a:t>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以下求解</a:t>
            </a:r>
            <a:r>
              <a:rPr lang="en-US" altLang="zh-CN" sz="2000">
                <a:solidFill>
                  <a:srgbClr val="00B050"/>
                </a:solidFill>
                <a:latin typeface="Consolas" pitchFamily="49" charset="0"/>
                <a:ea typeface="仿宋" pitchFamily="49" charset="-122"/>
              </a:rPr>
              <a:t>y=p0.y</a:t>
            </a:r>
            <a:r>
              <a:rPr lang="zh-CN" altLang="zh-CN" sz="2000">
                <a:solidFill>
                  <a:srgbClr val="00B050"/>
                </a:solidFill>
                <a:latin typeface="Consolas" pitchFamily="49" charset="0"/>
                <a:ea typeface="仿宋" pitchFamily="49" charset="-122"/>
              </a:rPr>
              <a:t>与</a:t>
            </a:r>
            <a:r>
              <a:rPr lang="en-US" altLang="zh-CN" sz="2000">
                <a:solidFill>
                  <a:srgbClr val="00B050"/>
                </a:solidFill>
                <a:latin typeface="Consolas" pitchFamily="49" charset="0"/>
                <a:ea typeface="仿宋" pitchFamily="49" charset="-122"/>
              </a:rPr>
              <a:t>p1p2</a:t>
            </a:r>
            <a:r>
              <a:rPr lang="zh-CN" altLang="zh-CN" sz="2000">
                <a:solidFill>
                  <a:srgbClr val="00B050"/>
                </a:solidFill>
                <a:latin typeface="Consolas" pitchFamily="49" charset="0"/>
                <a:ea typeface="仿宋" pitchFamily="49" charset="-122"/>
              </a:rPr>
              <a:t>的交点</a:t>
            </a:r>
          </a:p>
          <a:p>
            <a:pPr defTabSz="360000">
              <a:lnSpc>
                <a:spcPts val="2600"/>
              </a:lnSpc>
            </a:pPr>
            <a:r>
              <a:rPr lang="en-US" altLang="zh-CN" sz="2000">
                <a:solidFill>
                  <a:srgbClr val="0000FF"/>
                </a:solidFill>
                <a:latin typeface="Consolas" pitchFamily="49" charset="0"/>
                <a:ea typeface="仿宋" pitchFamily="49" charset="-122"/>
              </a:rPr>
              <a:t>		if (p1.y==p2.y)</a:t>
            </a:r>
          </a:p>
          <a:p>
            <a:pPr defTabSz="360000">
              <a:lnSpc>
                <a:spcPts val="2600"/>
              </a:lnSpc>
            </a:pPr>
            <a:r>
              <a:rPr lang="en-US" altLang="zh-CN" sz="2000">
                <a:solidFill>
                  <a:srgbClr val="0000FF"/>
                </a:solidFill>
                <a:latin typeface="Consolas" pitchFamily="49" charset="0"/>
                <a:ea typeface="仿宋" pitchFamily="49" charset="-122"/>
              </a:rPr>
              <a:t>			continue;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如果</a:t>
            </a:r>
            <a:r>
              <a:rPr lang="en-US" altLang="zh-CN" sz="2000">
                <a:solidFill>
                  <a:srgbClr val="00B0F0"/>
                </a:solidFill>
                <a:latin typeface="Consolas" pitchFamily="49" charset="0"/>
                <a:ea typeface="仿宋" pitchFamily="49" charset="-122"/>
              </a:rPr>
              <a:t>p1p2</a:t>
            </a:r>
            <a:r>
              <a:rPr lang="zh-CN" altLang="zh-CN" sz="2000">
                <a:solidFill>
                  <a:srgbClr val="00B0F0"/>
                </a:solidFill>
                <a:latin typeface="Consolas" pitchFamily="49" charset="0"/>
                <a:ea typeface="仿宋" pitchFamily="49" charset="-122"/>
              </a:rPr>
              <a:t>是水平线</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直接跳过</a:t>
            </a:r>
          </a:p>
          <a:p>
            <a:pPr defTabSz="360000">
              <a:lnSpc>
                <a:spcPts val="2600"/>
              </a:lnSpc>
            </a:pPr>
            <a:r>
              <a:rPr lang="en-US" altLang="zh-CN" sz="2000">
                <a:solidFill>
                  <a:srgbClr val="0000FF"/>
                </a:solidFill>
                <a:latin typeface="Consolas" pitchFamily="49" charset="0"/>
                <a:ea typeface="仿宋" pitchFamily="49" charset="-122"/>
              </a:rPr>
              <a:t>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以下两种情况是交点在</a:t>
            </a:r>
            <a:r>
              <a:rPr lang="en-US" altLang="zh-CN" sz="2000">
                <a:solidFill>
                  <a:srgbClr val="00B050"/>
                </a:solidFill>
                <a:latin typeface="Consolas" pitchFamily="49" charset="0"/>
                <a:ea typeface="仿宋" pitchFamily="49" charset="-122"/>
              </a:rPr>
              <a:t>p1p2</a:t>
            </a:r>
            <a:r>
              <a:rPr lang="zh-CN" altLang="zh-CN" sz="2000">
                <a:solidFill>
                  <a:srgbClr val="00B050"/>
                </a:solidFill>
                <a:latin typeface="Consolas" pitchFamily="49" charset="0"/>
                <a:ea typeface="仿宋" pitchFamily="49" charset="-122"/>
              </a:rPr>
              <a:t>延长线上</a:t>
            </a:r>
          </a:p>
          <a:p>
            <a:pPr defTabSz="360000">
              <a:lnSpc>
                <a:spcPts val="2600"/>
              </a:lnSpc>
            </a:pPr>
            <a:r>
              <a:rPr lang="en-US" altLang="zh-CN" sz="2000">
                <a:solidFill>
                  <a:srgbClr val="0000FF"/>
                </a:solidFill>
                <a:latin typeface="Consolas" pitchFamily="49" charset="0"/>
                <a:ea typeface="仿宋" pitchFamily="49" charset="-122"/>
              </a:rPr>
              <a:t>		if (p0.y&lt;p1.y &amp;&amp; p0.y&lt;p2.y)</a:t>
            </a:r>
          </a:p>
          <a:p>
            <a:pPr defTabSz="360000">
              <a:lnSpc>
                <a:spcPts val="2600"/>
              </a:lnSpc>
            </a:pPr>
            <a:r>
              <a:rPr lang="en-US" altLang="zh-CN" sz="2000">
                <a:solidFill>
                  <a:srgbClr val="0000FF"/>
                </a:solidFill>
                <a:latin typeface="Consolas" pitchFamily="49" charset="0"/>
                <a:ea typeface="仿宋" pitchFamily="49" charset="-122"/>
              </a:rPr>
              <a:t>			continue;				</a:t>
            </a:r>
            <a:r>
              <a:rPr lang="en-US" altLang="zh-CN" sz="2000">
                <a:solidFill>
                  <a:srgbClr val="00B0F0"/>
                </a:solidFill>
                <a:latin typeface="Consolas" pitchFamily="49" charset="0"/>
                <a:ea typeface="仿宋" pitchFamily="49" charset="-122"/>
              </a:rPr>
              <a:t>//p0</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p1p2</a:t>
            </a:r>
            <a:r>
              <a:rPr lang="zh-CN" altLang="zh-CN" sz="2000">
                <a:solidFill>
                  <a:srgbClr val="00B0F0"/>
                </a:solidFill>
                <a:latin typeface="Consolas" pitchFamily="49" charset="0"/>
                <a:ea typeface="仿宋" pitchFamily="49" charset="-122"/>
              </a:rPr>
              <a:t>线段下方</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直接跳过</a:t>
            </a:r>
          </a:p>
          <a:p>
            <a:pPr defTabSz="360000">
              <a:lnSpc>
                <a:spcPts val="2600"/>
              </a:lnSpc>
            </a:pPr>
            <a:r>
              <a:rPr lang="en-US" altLang="zh-CN" sz="2000">
                <a:solidFill>
                  <a:srgbClr val="0000FF"/>
                </a:solidFill>
                <a:latin typeface="Consolas" pitchFamily="49" charset="0"/>
                <a:ea typeface="仿宋" pitchFamily="49" charset="-122"/>
              </a:rPr>
              <a:t>		if (p0.y&gt;=p1.y &amp;&amp; p0.y&gt;=p2.y)</a:t>
            </a:r>
          </a:p>
          <a:p>
            <a:pPr defTabSz="360000">
              <a:lnSpc>
                <a:spcPts val="2600"/>
              </a:lnSpc>
            </a:pPr>
            <a:r>
              <a:rPr lang="en-US" altLang="zh-CN" sz="2000">
                <a:solidFill>
                  <a:srgbClr val="0000FF"/>
                </a:solidFill>
                <a:latin typeface="Consolas" pitchFamily="49" charset="0"/>
                <a:ea typeface="仿宋" pitchFamily="49" charset="-122"/>
              </a:rPr>
              <a:t>			continue;				</a:t>
            </a:r>
            <a:r>
              <a:rPr lang="en-US" altLang="zh-CN" sz="2000">
                <a:solidFill>
                  <a:srgbClr val="00B0F0"/>
                </a:solidFill>
                <a:latin typeface="Consolas" pitchFamily="49" charset="0"/>
                <a:ea typeface="仿宋" pitchFamily="49" charset="-122"/>
              </a:rPr>
              <a:t>//p0</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p1p2</a:t>
            </a:r>
            <a:r>
              <a:rPr lang="zh-CN" altLang="zh-CN" sz="2000">
                <a:solidFill>
                  <a:srgbClr val="00B0F0"/>
                </a:solidFill>
                <a:latin typeface="Consolas" pitchFamily="49" charset="0"/>
                <a:ea typeface="仿宋" pitchFamily="49" charset="-122"/>
              </a:rPr>
              <a:t>线段上方</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直接跳过</a:t>
            </a:r>
          </a:p>
          <a:p>
            <a:pPr defTabSz="360000">
              <a:lnSpc>
                <a:spcPts val="2600"/>
              </a:lnSpc>
            </a:pPr>
            <a:r>
              <a:rPr lang="en-US" altLang="zh-CN" sz="2000">
                <a:solidFill>
                  <a:srgbClr val="0000FF"/>
                </a:solidFill>
                <a:latin typeface="Consolas" pitchFamily="49" charset="0"/>
                <a:ea typeface="仿宋" pitchFamily="49" charset="-122"/>
              </a:rPr>
              <a:t>		x=(p0.y-p1.y)*(p2.x-p1.x)/(p2.y-p1.y)+p1.x;</a:t>
            </a:r>
          </a:p>
          <a:p>
            <a:pPr defTabSz="360000">
              <a:lnSpc>
                <a:spcPts val="26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求交点坐标的</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值</a:t>
            </a:r>
          </a:p>
          <a:p>
            <a:pPr defTabSz="360000">
              <a:lnSpc>
                <a:spcPts val="2600"/>
              </a:lnSpc>
            </a:pPr>
            <a:r>
              <a:rPr lang="en-US" altLang="zh-CN" sz="2000">
                <a:solidFill>
                  <a:srgbClr val="0000FF"/>
                </a:solidFill>
                <a:latin typeface="Consolas" pitchFamily="49" charset="0"/>
                <a:ea typeface="仿宋" pitchFamily="49" charset="-122"/>
              </a:rPr>
              <a:t>		if (x&gt;p0.x) cnt++;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只统计射线的一边</a:t>
            </a:r>
          </a:p>
          <a:p>
            <a:pPr defTabSz="360000">
              <a:lnSpc>
                <a:spcPts val="26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	return (cnt%2==1);</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64</a:t>
            </a:fld>
            <a:r>
              <a:rPr lang="en-US" altLang="zh-CN"/>
              <a:t>/167</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2910" y="357166"/>
            <a:ext cx="5929354" cy="52322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10.1.7 </a:t>
            </a:r>
            <a:r>
              <a:rPr lang="zh-CN"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求</a:t>
            </a: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3</a:t>
            </a:r>
            <a:r>
              <a:rPr lang="zh-CN"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个点构成的三角形面积</a:t>
            </a:r>
          </a:p>
        </p:txBody>
      </p:sp>
      <p:sp>
        <p:nvSpPr>
          <p:cNvPr id="3" name="TextBox 2"/>
          <p:cNvSpPr txBox="1"/>
          <p:nvPr/>
        </p:nvSpPr>
        <p:spPr>
          <a:xfrm>
            <a:off x="214282" y="1357298"/>
            <a:ext cx="8643998" cy="83933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nSpc>
                <a:spcPts val="3000"/>
              </a:lnSpc>
              <a:spcBef>
                <a:spcPts val="600"/>
              </a:spcBef>
              <a:buBlip>
                <a:blip r:embed="rId2"/>
              </a:buBlip>
            </a:pP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个顶点</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构成的三角形，求面积有多种计算公式。从向量的角度看，</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个向量构成的三角形如图</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所示</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p:txBody>
      </p:sp>
      <p:grpSp>
        <p:nvGrpSpPr>
          <p:cNvPr id="5" name="组合 4"/>
          <p:cNvGrpSpPr/>
          <p:nvPr/>
        </p:nvGrpSpPr>
        <p:grpSpPr>
          <a:xfrm>
            <a:off x="2558485" y="2571744"/>
            <a:ext cx="3442275" cy="3319461"/>
            <a:chOff x="714348" y="1752613"/>
            <a:chExt cx="3442275" cy="3319461"/>
          </a:xfrm>
        </p:grpSpPr>
        <p:sp>
          <p:nvSpPr>
            <p:cNvPr id="6" name="AutoShape 21"/>
            <p:cNvSpPr>
              <a:spLocks noChangeArrowheads="1"/>
            </p:cNvSpPr>
            <p:nvPr/>
          </p:nvSpPr>
          <p:spPr bwMode="auto">
            <a:xfrm rot="19046840">
              <a:off x="1711679" y="2409428"/>
              <a:ext cx="1752102" cy="736085"/>
            </a:xfrm>
            <a:prstGeom prst="triangle">
              <a:avLst>
                <a:gd name="adj" fmla="val 80130"/>
              </a:avLst>
            </a:prstGeom>
            <a:solidFill>
              <a:schemeClr val="accent6">
                <a:lumMod val="20000"/>
                <a:lumOff val="80000"/>
              </a:schemeClr>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7" name="Oval 30"/>
            <p:cNvSpPr>
              <a:spLocks noChangeArrowheads="1"/>
            </p:cNvSpPr>
            <p:nvPr/>
          </p:nvSpPr>
          <p:spPr bwMode="auto">
            <a:xfrm>
              <a:off x="2630307" y="2103669"/>
              <a:ext cx="145793" cy="127966"/>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8" name="Oval 29"/>
            <p:cNvSpPr>
              <a:spLocks noChangeArrowheads="1"/>
            </p:cNvSpPr>
            <p:nvPr/>
          </p:nvSpPr>
          <p:spPr bwMode="auto">
            <a:xfrm>
              <a:off x="3423786" y="2398280"/>
              <a:ext cx="145793" cy="127966"/>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 name="Rectangle 28"/>
            <p:cNvSpPr>
              <a:spLocks noChangeArrowheads="1"/>
            </p:cNvSpPr>
            <p:nvPr/>
          </p:nvSpPr>
          <p:spPr bwMode="auto">
            <a:xfrm>
              <a:off x="1373644" y="3974458"/>
              <a:ext cx="912340" cy="3057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AutoShape 27"/>
            <p:cNvSpPr>
              <a:spLocks noChangeShapeType="1"/>
            </p:cNvSpPr>
            <p:nvPr/>
          </p:nvSpPr>
          <p:spPr bwMode="auto">
            <a:xfrm flipV="1">
              <a:off x="724670" y="3870274"/>
              <a:ext cx="3071985" cy="2265"/>
            </a:xfrm>
            <a:prstGeom prst="straightConnector1">
              <a:avLst/>
            </a:prstGeom>
            <a:noFill/>
            <a:ln w="9525">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 name="AutoShape 26"/>
            <p:cNvSpPr>
              <a:spLocks noChangeShapeType="1"/>
            </p:cNvSpPr>
            <p:nvPr/>
          </p:nvSpPr>
          <p:spPr bwMode="auto">
            <a:xfrm flipH="1" flipV="1">
              <a:off x="1229141" y="2103669"/>
              <a:ext cx="1290" cy="2299983"/>
            </a:xfrm>
            <a:prstGeom prst="straightConnector1">
              <a:avLst/>
            </a:prstGeom>
            <a:noFill/>
            <a:ln w="9525">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 name="Rectangle 25"/>
            <p:cNvSpPr>
              <a:spLocks noChangeArrowheads="1"/>
            </p:cNvSpPr>
            <p:nvPr/>
          </p:nvSpPr>
          <p:spPr bwMode="auto">
            <a:xfrm>
              <a:off x="2448387" y="3453536"/>
              <a:ext cx="289007" cy="3057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p</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3" name="Rectangle 24"/>
            <p:cNvSpPr>
              <a:spLocks noChangeArrowheads="1"/>
            </p:cNvSpPr>
            <p:nvPr/>
          </p:nvSpPr>
          <p:spPr bwMode="auto">
            <a:xfrm>
              <a:off x="3688277" y="2321098"/>
              <a:ext cx="292877" cy="3057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p</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Rectangle 22"/>
            <p:cNvSpPr>
              <a:spLocks noChangeArrowheads="1"/>
            </p:cNvSpPr>
            <p:nvPr/>
          </p:nvSpPr>
          <p:spPr bwMode="auto">
            <a:xfrm>
              <a:off x="2685786" y="1752613"/>
              <a:ext cx="241269" cy="3057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p</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Oval 20"/>
            <p:cNvSpPr>
              <a:spLocks noChangeArrowheads="1"/>
            </p:cNvSpPr>
            <p:nvPr/>
          </p:nvSpPr>
          <p:spPr bwMode="auto">
            <a:xfrm>
              <a:off x="2152930" y="3496569"/>
              <a:ext cx="145793" cy="127966"/>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6" name="AutoShape 19"/>
            <p:cNvSpPr>
              <a:spLocks noChangeShapeType="1"/>
            </p:cNvSpPr>
            <p:nvPr/>
          </p:nvSpPr>
          <p:spPr bwMode="auto">
            <a:xfrm flipV="1">
              <a:off x="1195596" y="3578104"/>
              <a:ext cx="994750" cy="30236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7" name="AutoShape 18"/>
            <p:cNvSpPr>
              <a:spLocks noChangeShapeType="1"/>
            </p:cNvSpPr>
            <p:nvPr/>
          </p:nvSpPr>
          <p:spPr bwMode="auto">
            <a:xfrm flipV="1">
              <a:off x="1204627" y="2203324"/>
              <a:ext cx="1461806" cy="167827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8" name="Rectangle 4"/>
            <p:cNvSpPr>
              <a:spLocks noChangeArrowheads="1"/>
            </p:cNvSpPr>
            <p:nvPr/>
          </p:nvSpPr>
          <p:spPr bwMode="auto">
            <a:xfrm>
              <a:off x="714348" y="4766316"/>
              <a:ext cx="3442275" cy="3057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 3</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个向量构成的三角形</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 name="AutoShape 2"/>
            <p:cNvSpPr>
              <a:spLocks noChangeShapeType="1"/>
            </p:cNvSpPr>
            <p:nvPr/>
          </p:nvSpPr>
          <p:spPr bwMode="auto">
            <a:xfrm flipV="1">
              <a:off x="1196564" y="2440156"/>
              <a:ext cx="2269999" cy="144367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grpSp>
      <p:sp>
        <p:nvSpPr>
          <p:cNvPr id="20" name="灯片编号占位符 19"/>
          <p:cNvSpPr>
            <a:spLocks noGrp="1"/>
          </p:cNvSpPr>
          <p:nvPr>
            <p:ph type="sldNum" sz="quarter" idx="12"/>
          </p:nvPr>
        </p:nvSpPr>
        <p:spPr/>
        <p:txBody>
          <a:bodyPr/>
          <a:lstStyle/>
          <a:p>
            <a:pPr>
              <a:defRPr/>
            </a:pPr>
            <a:fld id="{51116183-1013-4E64-BBE8-A5C1D5D4F838}" type="slidenum">
              <a:rPr lang="en-US" altLang="zh-CN" smtClean="0"/>
              <a:pPr>
                <a:defRPr/>
              </a:pPr>
              <a:t>65</a:t>
            </a:fld>
            <a:r>
              <a:rPr lang="en-US" altLang="zh-CN"/>
              <a:t>/167</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500042"/>
            <a:ext cx="8643998" cy="170816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nSpc>
                <a:spcPts val="3000"/>
              </a:lnSpc>
              <a:spcBef>
                <a:spcPts val="600"/>
              </a:spcBef>
              <a:buBlip>
                <a:blip r:embed="rId2"/>
              </a:buBlip>
            </a:pPr>
            <a:r>
              <a:rPr lang="zh-CN" altLang="zh-CN">
                <a:solidFill>
                  <a:srgbClr val="0000FF"/>
                </a:solidFill>
                <a:latin typeface="Consolas" pitchFamily="49" charset="0"/>
                <a:ea typeface="仿宋" pitchFamily="49" charset="-122"/>
              </a:rPr>
              <a:t>可以将其两条边看成以</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为原点的三角形，这两条边分别是</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，如图</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所示</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nSpc>
                <a:spcPts val="3000"/>
              </a:lnSpc>
              <a:spcBef>
                <a:spcPts val="600"/>
              </a:spcBef>
              <a:buBlip>
                <a:blip r:embed="rId2"/>
              </a:buBlip>
            </a:pPr>
            <a:r>
              <a:rPr lang="zh-CN" altLang="zh-CN">
                <a:solidFill>
                  <a:srgbClr val="0000FF"/>
                </a:solidFill>
                <a:latin typeface="Consolas" pitchFamily="49" charset="0"/>
                <a:ea typeface="仿宋" pitchFamily="49" charset="-122"/>
              </a:rPr>
              <a:t>则该三角形面积</a:t>
            </a:r>
            <a:r>
              <a:rPr lang="en-US" altLang="zh-CN" i="1">
                <a:solidFill>
                  <a:srgbClr val="0000FF"/>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以</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向量构成的平行四边形面积的一半</a:t>
            </a:r>
            <a:r>
              <a:rPr lang="en-US" altLang="zh-CN">
                <a:solidFill>
                  <a:srgbClr val="0000FF"/>
                </a:solidFill>
                <a:latin typeface="Consolas" pitchFamily="49" charset="0"/>
                <a:ea typeface="仿宋" pitchFamily="49" charset="-122"/>
              </a:rPr>
              <a:t>=</a:t>
            </a:r>
            <a:r>
              <a:rPr lang="en-US" altLang="zh-CN">
                <a:solidFill>
                  <a:srgbClr val="C00000"/>
                </a:solidFill>
                <a:latin typeface="Consolas" pitchFamily="49" charset="0"/>
                <a:ea typeface="仿宋" pitchFamily="49" charset="-122"/>
              </a:rPr>
              <a:t>(p</a:t>
            </a:r>
            <a:r>
              <a:rPr lang="en-US" altLang="zh-CN" baseline="-25000">
                <a:solidFill>
                  <a:srgbClr val="C00000"/>
                </a:solidFill>
                <a:latin typeface="Consolas" pitchFamily="49" charset="0"/>
                <a:ea typeface="仿宋" pitchFamily="49" charset="-122"/>
              </a:rPr>
              <a:t>1</a:t>
            </a:r>
            <a:r>
              <a:rPr lang="en-US" altLang="zh-CN">
                <a:solidFill>
                  <a:srgbClr val="C00000"/>
                </a:solidFill>
                <a:latin typeface="Consolas" pitchFamily="49" charset="0"/>
                <a:ea typeface="仿宋" pitchFamily="49" charset="-122"/>
              </a:rPr>
              <a:t>-p</a:t>
            </a:r>
            <a:r>
              <a:rPr lang="en-US" altLang="zh-CN" baseline="-25000">
                <a:solidFill>
                  <a:srgbClr val="C00000"/>
                </a:solidFill>
                <a:latin typeface="Consolas" pitchFamily="49" charset="0"/>
                <a:ea typeface="仿宋" pitchFamily="49" charset="-122"/>
              </a:rPr>
              <a:t>0</a:t>
            </a:r>
            <a:r>
              <a:rPr lang="en-US" altLang="zh-CN">
                <a:solidFill>
                  <a:srgbClr val="C00000"/>
                </a:solidFill>
                <a:latin typeface="Consolas" pitchFamily="49" charset="0"/>
                <a:ea typeface="仿宋" pitchFamily="49" charset="-122"/>
              </a:rPr>
              <a:t>)×(p</a:t>
            </a:r>
            <a:r>
              <a:rPr lang="en-US" altLang="zh-CN" baseline="-25000">
                <a:solidFill>
                  <a:srgbClr val="C00000"/>
                </a:solidFill>
                <a:latin typeface="Consolas" pitchFamily="49" charset="0"/>
                <a:ea typeface="仿宋" pitchFamily="49" charset="-122"/>
              </a:rPr>
              <a:t>2</a:t>
            </a:r>
            <a:r>
              <a:rPr lang="en-US" altLang="zh-CN">
                <a:solidFill>
                  <a:srgbClr val="C00000"/>
                </a:solidFill>
                <a:latin typeface="Consolas" pitchFamily="49" charset="0"/>
                <a:ea typeface="仿宋" pitchFamily="49" charset="-122"/>
              </a:rPr>
              <a:t>-p</a:t>
            </a:r>
            <a:r>
              <a:rPr lang="en-US" altLang="zh-CN" baseline="-25000">
                <a:solidFill>
                  <a:srgbClr val="C00000"/>
                </a:solidFill>
                <a:latin typeface="Consolas" pitchFamily="49" charset="0"/>
                <a:ea typeface="仿宋" pitchFamily="49" charset="-122"/>
              </a:rPr>
              <a:t>0</a:t>
            </a:r>
            <a:r>
              <a:rPr lang="en-US" altLang="zh-CN">
                <a:solidFill>
                  <a:srgbClr val="C00000"/>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endParaRPr lang="zh-CN" altLang="zh-CN">
              <a:solidFill>
                <a:srgbClr val="0000FF"/>
              </a:solidFill>
              <a:latin typeface="Consolas" pitchFamily="49" charset="0"/>
              <a:ea typeface="仿宋" pitchFamily="49" charset="-122"/>
              <a:cs typeface="Consolas" pitchFamily="49" charset="0"/>
            </a:endParaRPr>
          </a:p>
        </p:txBody>
      </p:sp>
      <p:grpSp>
        <p:nvGrpSpPr>
          <p:cNvPr id="5" name="组合 4"/>
          <p:cNvGrpSpPr/>
          <p:nvPr/>
        </p:nvGrpSpPr>
        <p:grpSpPr>
          <a:xfrm>
            <a:off x="1714480" y="3000372"/>
            <a:ext cx="3643338" cy="3130808"/>
            <a:chOff x="5000629" y="1907292"/>
            <a:chExt cx="3643338" cy="3130808"/>
          </a:xfrm>
        </p:grpSpPr>
        <p:sp>
          <p:nvSpPr>
            <p:cNvPr id="6" name="Rectangle 17"/>
            <p:cNvSpPr>
              <a:spLocks noChangeArrowheads="1"/>
            </p:cNvSpPr>
            <p:nvPr/>
          </p:nvSpPr>
          <p:spPr bwMode="auto">
            <a:xfrm>
              <a:off x="5867439" y="3985782"/>
              <a:ext cx="289007" cy="3057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p</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 name="Rectangle 16"/>
            <p:cNvSpPr>
              <a:spLocks noChangeArrowheads="1"/>
            </p:cNvSpPr>
            <p:nvPr/>
          </p:nvSpPr>
          <p:spPr bwMode="auto">
            <a:xfrm>
              <a:off x="6593407" y="3071810"/>
              <a:ext cx="836113" cy="3057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p</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-p</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Oval 15"/>
            <p:cNvSpPr>
              <a:spLocks noChangeArrowheads="1"/>
            </p:cNvSpPr>
            <p:nvPr/>
          </p:nvSpPr>
          <p:spPr bwMode="auto">
            <a:xfrm>
              <a:off x="6088064" y="3077567"/>
              <a:ext cx="145793" cy="127966"/>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9" name="Rectangle 14"/>
            <p:cNvSpPr>
              <a:spLocks noChangeArrowheads="1"/>
            </p:cNvSpPr>
            <p:nvPr/>
          </p:nvSpPr>
          <p:spPr bwMode="auto">
            <a:xfrm>
              <a:off x="5429256" y="2786058"/>
              <a:ext cx="783156" cy="3057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p</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-p</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AutoShape 13"/>
            <p:cNvSpPr>
              <a:spLocks noChangeArrowheads="1"/>
            </p:cNvSpPr>
            <p:nvPr/>
          </p:nvSpPr>
          <p:spPr bwMode="auto">
            <a:xfrm rot="19046840">
              <a:off x="5259751" y="2737835"/>
              <a:ext cx="1752102" cy="736085"/>
            </a:xfrm>
            <a:prstGeom prst="triangle">
              <a:avLst>
                <a:gd name="adj" fmla="val 80130"/>
              </a:avLst>
            </a:prstGeom>
            <a:solidFill>
              <a:schemeClr val="accent6">
                <a:lumMod val="20000"/>
                <a:lumOff val="80000"/>
              </a:schemeClr>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1" name="Oval 12"/>
            <p:cNvSpPr>
              <a:spLocks noChangeArrowheads="1"/>
            </p:cNvSpPr>
            <p:nvPr/>
          </p:nvSpPr>
          <p:spPr bwMode="auto">
            <a:xfrm>
              <a:off x="5701002" y="3824976"/>
              <a:ext cx="145793" cy="127966"/>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2" name="AutoShape 11"/>
            <p:cNvSpPr>
              <a:spLocks noChangeShapeType="1"/>
            </p:cNvSpPr>
            <p:nvPr/>
          </p:nvSpPr>
          <p:spPr bwMode="auto">
            <a:xfrm flipH="1" flipV="1">
              <a:off x="5770673" y="2126318"/>
              <a:ext cx="1290" cy="2299983"/>
            </a:xfrm>
            <a:prstGeom prst="straightConnector1">
              <a:avLst/>
            </a:prstGeom>
            <a:noFill/>
            <a:ln w="9525">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3" name="AutoShape 10"/>
            <p:cNvSpPr>
              <a:spLocks noChangeShapeType="1"/>
            </p:cNvSpPr>
            <p:nvPr/>
          </p:nvSpPr>
          <p:spPr bwMode="auto">
            <a:xfrm flipV="1">
              <a:off x="5266202" y="3892922"/>
              <a:ext cx="3071985" cy="2265"/>
            </a:xfrm>
            <a:prstGeom prst="straightConnector1">
              <a:avLst/>
            </a:prstGeom>
            <a:noFill/>
            <a:ln w="9525">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4" name="AutoShape 9"/>
            <p:cNvSpPr>
              <a:spLocks noChangeShapeType="1"/>
            </p:cNvSpPr>
            <p:nvPr/>
          </p:nvSpPr>
          <p:spPr bwMode="auto">
            <a:xfrm flipV="1">
              <a:off x="5790349" y="2868784"/>
              <a:ext cx="1127816" cy="104207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 name="AutoShape 8"/>
            <p:cNvSpPr>
              <a:spLocks noChangeShapeType="1"/>
            </p:cNvSpPr>
            <p:nvPr/>
          </p:nvSpPr>
          <p:spPr bwMode="auto">
            <a:xfrm flipV="1">
              <a:off x="5800348" y="2554274"/>
              <a:ext cx="439961" cy="130456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6" name="AutoShape 7"/>
            <p:cNvSpPr>
              <a:spLocks noChangeArrowheads="1"/>
            </p:cNvSpPr>
            <p:nvPr/>
          </p:nvSpPr>
          <p:spPr bwMode="auto">
            <a:xfrm rot="8220000">
              <a:off x="6256424" y="1907292"/>
              <a:ext cx="1766409" cy="649403"/>
            </a:xfrm>
            <a:prstGeom prst="triangle">
              <a:avLst>
                <a:gd name="adj" fmla="val 81047"/>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7" name="Oval 6"/>
            <p:cNvSpPr>
              <a:spLocks noChangeArrowheads="1"/>
            </p:cNvSpPr>
            <p:nvPr/>
          </p:nvSpPr>
          <p:spPr bwMode="auto">
            <a:xfrm>
              <a:off x="6881546" y="2783133"/>
              <a:ext cx="145793" cy="127966"/>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8" name="Oval 5"/>
            <p:cNvSpPr>
              <a:spLocks noChangeArrowheads="1"/>
            </p:cNvSpPr>
            <p:nvPr/>
          </p:nvSpPr>
          <p:spPr bwMode="auto">
            <a:xfrm>
              <a:off x="6189668" y="2488522"/>
              <a:ext cx="145793" cy="127966"/>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9" name="Rectangle 3"/>
            <p:cNvSpPr>
              <a:spLocks noChangeArrowheads="1"/>
            </p:cNvSpPr>
            <p:nvPr/>
          </p:nvSpPr>
          <p:spPr bwMode="auto">
            <a:xfrm>
              <a:off x="5000629" y="4732342"/>
              <a:ext cx="3643338" cy="3057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269875"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(b) </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以</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p</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0</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为原点构成的三角形</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20" name="灯片编号占位符 19"/>
          <p:cNvSpPr>
            <a:spLocks noGrp="1"/>
          </p:cNvSpPr>
          <p:nvPr>
            <p:ph type="sldNum" sz="quarter" idx="12"/>
          </p:nvPr>
        </p:nvSpPr>
        <p:spPr/>
        <p:txBody>
          <a:bodyPr/>
          <a:lstStyle/>
          <a:p>
            <a:pPr>
              <a:defRPr/>
            </a:pPr>
            <a:fld id="{51116183-1013-4E64-BBE8-A5C1D5D4F838}" type="slidenum">
              <a:rPr lang="en-US" altLang="zh-CN" smtClean="0"/>
              <a:pPr>
                <a:defRPr/>
              </a:pPr>
              <a:t>66</a:t>
            </a:fld>
            <a:r>
              <a:rPr lang="en-US" altLang="zh-CN"/>
              <a:t>/167</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571480"/>
            <a:ext cx="8286808" cy="147732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200"/>
              </a:lnSpc>
              <a:spcBef>
                <a:spcPts val="600"/>
              </a:spcBef>
            </a:pPr>
            <a:r>
              <a:rPr lang="en-US" altLang="zh-CN">
                <a:solidFill>
                  <a:srgbClr val="0000FF"/>
                </a:solidFill>
                <a:latin typeface="Consolas" pitchFamily="49" charset="0"/>
                <a:ea typeface="仿宋" pitchFamily="49" charset="-122"/>
                <a:cs typeface="Consolas" pitchFamily="49" charset="0"/>
              </a:rPr>
              <a:t>   </a:t>
            </a:r>
            <a:r>
              <a:rPr lang="zh-CN" altLang="zh-CN">
                <a:solidFill>
                  <a:srgbClr val="0000FF"/>
                </a:solidFill>
                <a:latin typeface="Consolas" pitchFamily="49" charset="0"/>
                <a:ea typeface="仿宋" pitchFamily="49" charset="-122"/>
                <a:cs typeface="Consolas" pitchFamily="49" charset="0"/>
              </a:rPr>
              <a:t>而</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1</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3</a:t>
            </a:r>
            <a:r>
              <a:rPr lang="en-US" altLang="zh-CN">
                <a:solidFill>
                  <a:srgbClr val="C00000"/>
                </a:solidFill>
                <a:latin typeface="Consolas" pitchFamily="49" charset="0"/>
                <a:ea typeface="仿宋" pitchFamily="49" charset="-122"/>
                <a:cs typeface="Consolas" pitchFamily="49" charset="0"/>
              </a:rPr>
              <a:t>-p</a:t>
            </a:r>
            <a:r>
              <a:rPr lang="en-US" altLang="zh-CN" baseline="-25000">
                <a:solidFill>
                  <a:srgbClr val="C00000"/>
                </a:solidFill>
                <a:latin typeface="Consolas" pitchFamily="49" charset="0"/>
                <a:ea typeface="仿宋" pitchFamily="49" charset="-122"/>
                <a:cs typeface="Consolas" pitchFamily="49" charset="0"/>
              </a:rPr>
              <a:t>2</a:t>
            </a:r>
            <a:r>
              <a:rPr lang="en-US" altLang="zh-CN">
                <a:solidFill>
                  <a:srgbClr val="C00000"/>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的结果有正有负，所以</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a:lnSpc>
                <a:spcPts val="3200"/>
              </a:lnSpc>
              <a:spcBef>
                <a:spcPts val="600"/>
              </a:spcBef>
            </a:pPr>
            <a:r>
              <a:rPr lang="en-US" altLang="zh-CN" i="1">
                <a:solidFill>
                  <a:srgbClr val="0000FF"/>
                </a:solidFill>
                <a:latin typeface="Consolas" pitchFamily="49" charset="0"/>
                <a:ea typeface="仿宋" pitchFamily="49" charset="-122"/>
                <a:cs typeface="Consolas" pitchFamily="49" charset="0"/>
              </a:rPr>
              <a:t>     </a:t>
            </a:r>
            <a:r>
              <a:rPr lang="en-US" altLang="zh-CN" i="1">
                <a:solidFill>
                  <a:srgbClr val="006600"/>
                </a:solidFill>
                <a:latin typeface="Consolas" pitchFamily="49" charset="0"/>
                <a:ea typeface="仿宋" pitchFamily="49" charset="-122"/>
                <a:cs typeface="Consolas" pitchFamily="49" charset="0"/>
              </a:rPr>
              <a:t>S</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1</a:t>
            </a:r>
            <a:r>
              <a:rPr lang="zh-CN" altLang="zh-CN">
                <a:solidFill>
                  <a:srgbClr val="006600"/>
                </a:solidFill>
                <a:latin typeface="Consolas" pitchFamily="49" charset="0"/>
                <a:ea typeface="仿宋" pitchFamily="49" charset="-122"/>
                <a:cs typeface="Consolas" pitchFamily="49" charset="0"/>
              </a:rPr>
              <a:t>，</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2</a:t>
            </a:r>
            <a:r>
              <a:rPr lang="zh-CN" altLang="zh-CN">
                <a:solidFill>
                  <a:srgbClr val="006600"/>
                </a:solidFill>
                <a:latin typeface="Consolas" pitchFamily="49" charset="0"/>
                <a:ea typeface="仿宋" pitchFamily="49" charset="-122"/>
                <a:cs typeface="Consolas" pitchFamily="49" charset="0"/>
              </a:rPr>
              <a:t>，</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3</a:t>
            </a:r>
            <a:r>
              <a:rPr lang="en-US" altLang="zh-CN">
                <a:solidFill>
                  <a:srgbClr val="006600"/>
                </a:solidFill>
                <a:latin typeface="Consolas" pitchFamily="49" charset="0"/>
                <a:ea typeface="仿宋" pitchFamily="49" charset="-122"/>
                <a:cs typeface="Consolas" pitchFamily="49" charset="0"/>
              </a:rPr>
              <a:t>)= (p</a:t>
            </a:r>
            <a:r>
              <a:rPr lang="en-US" altLang="zh-CN" baseline="-25000">
                <a:solidFill>
                  <a:srgbClr val="006600"/>
                </a:solidFill>
                <a:latin typeface="Consolas" pitchFamily="49" charset="0"/>
                <a:ea typeface="仿宋" pitchFamily="49" charset="-122"/>
                <a:cs typeface="Consolas" pitchFamily="49" charset="0"/>
              </a:rPr>
              <a:t>1</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2</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3</a:t>
            </a:r>
            <a:r>
              <a:rPr lang="en-US" altLang="zh-CN">
                <a:solidFill>
                  <a:srgbClr val="006600"/>
                </a:solidFill>
                <a:latin typeface="Consolas" pitchFamily="49" charset="0"/>
                <a:ea typeface="仿宋" pitchFamily="49" charset="-122"/>
                <a:cs typeface="Consolas" pitchFamily="49" charset="0"/>
              </a:rPr>
              <a:t>-p</a:t>
            </a:r>
            <a:r>
              <a:rPr lang="en-US" altLang="zh-CN" baseline="-25000">
                <a:solidFill>
                  <a:srgbClr val="006600"/>
                </a:solidFill>
                <a:latin typeface="Consolas" pitchFamily="49" charset="0"/>
                <a:ea typeface="仿宋" pitchFamily="49" charset="-122"/>
                <a:cs typeface="Consolas" pitchFamily="49" charset="0"/>
              </a:rPr>
              <a:t>2</a:t>
            </a:r>
            <a:r>
              <a:rPr lang="en-US" altLang="zh-CN">
                <a:solidFill>
                  <a:srgbClr val="006600"/>
                </a:solidFill>
                <a:latin typeface="Consolas" pitchFamily="49" charset="0"/>
                <a:ea typeface="仿宋" pitchFamily="49" charset="-122"/>
                <a:cs typeface="Consolas" pitchFamily="49" charset="0"/>
              </a:rPr>
              <a:t>)/2</a:t>
            </a:r>
          </a:p>
          <a:p>
            <a:pPr>
              <a:lnSpc>
                <a:spcPts val="3200"/>
              </a:lnSpc>
              <a:spcBef>
                <a:spcPts val="600"/>
              </a:spcBef>
            </a:pPr>
            <a:r>
              <a:rPr lang="zh-CN" altLang="zh-CN">
                <a:solidFill>
                  <a:srgbClr val="0000FF"/>
                </a:solidFill>
                <a:latin typeface="Consolas" pitchFamily="49" charset="0"/>
                <a:ea typeface="仿宋" pitchFamily="49" charset="-122"/>
                <a:cs typeface="Consolas" pitchFamily="49" charset="0"/>
              </a:rPr>
              <a:t>称为</a:t>
            </a:r>
            <a:r>
              <a:rPr lang="zh-CN" altLang="zh-CN">
                <a:solidFill>
                  <a:srgbClr val="FF0000"/>
                </a:solidFill>
                <a:latin typeface="Consolas" pitchFamily="49" charset="0"/>
                <a:ea typeface="仿宋" pitchFamily="49" charset="-122"/>
                <a:cs typeface="Consolas" pitchFamily="49" charset="0"/>
              </a:rPr>
              <a:t>有向面积</a:t>
            </a:r>
            <a:r>
              <a:rPr lang="zh-CN" altLang="zh-CN">
                <a:solidFill>
                  <a:srgbClr val="0000FF"/>
                </a:solidFill>
                <a:latin typeface="Consolas" pitchFamily="49" charset="0"/>
                <a:ea typeface="仿宋" pitchFamily="49" charset="-122"/>
                <a:cs typeface="Consolas" pitchFamily="49" charset="0"/>
              </a:rPr>
              <a:t>，实际面积为其绝对值。</a:t>
            </a:r>
            <a:endParaRPr lang="en-US" altLang="zh-CN">
              <a:solidFill>
                <a:srgbClr val="0000FF"/>
              </a:solidFill>
              <a:latin typeface="Consolas" pitchFamily="49" charset="0"/>
              <a:ea typeface="仿宋" pitchFamily="49" charset="-122"/>
              <a:cs typeface="Consolas" pitchFamily="49" charset="0"/>
            </a:endParaRPr>
          </a:p>
        </p:txBody>
      </p:sp>
      <p:sp>
        <p:nvSpPr>
          <p:cNvPr id="5" name="Text Box 2"/>
          <p:cNvSpPr txBox="1">
            <a:spLocks noChangeArrowheads="1"/>
          </p:cNvSpPr>
          <p:nvPr/>
        </p:nvSpPr>
        <p:spPr bwMode="auto">
          <a:xfrm>
            <a:off x="714348" y="2571744"/>
            <a:ext cx="7643866" cy="1902398"/>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3000"/>
              </a:lnSpc>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triangleArea</a:t>
            </a:r>
            <a:r>
              <a:rPr lang="en-US" altLang="zh-CN" sz="2000">
                <a:solidFill>
                  <a:srgbClr val="0000FF"/>
                </a:solidFill>
                <a:latin typeface="Consolas" pitchFamily="49" charset="0"/>
                <a:ea typeface="仿宋" pitchFamily="49" charset="-122"/>
              </a:rPr>
              <a:t>(Point p0,Point p1,Point p2) {</a:t>
            </a:r>
          </a:p>
          <a:p>
            <a:pPr defTabSz="360000">
              <a:lnSpc>
                <a:spcPts val="30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求三角形面积</a:t>
            </a:r>
          </a:p>
          <a:p>
            <a:pPr defTabSz="360000">
              <a:lnSpc>
                <a:spcPts val="3000"/>
              </a:lnSpc>
            </a:pPr>
            <a:r>
              <a:rPr lang="en-US" altLang="zh-CN" sz="2000">
                <a:solidFill>
                  <a:srgbClr val="0000FF"/>
                </a:solidFill>
                <a:latin typeface="Consolas" pitchFamily="49" charset="0"/>
                <a:ea typeface="仿宋" pitchFamily="49" charset="-122"/>
              </a:rPr>
              <a:t>	return fabs(</a:t>
            </a:r>
            <a:r>
              <a:rPr lang="en-US" altLang="zh-CN" sz="2000">
                <a:solidFill>
                  <a:srgbClr val="FF0000"/>
                </a:solidFill>
                <a:latin typeface="Consolas" pitchFamily="49" charset="0"/>
                <a:ea typeface="仿宋" pitchFamily="49" charset="-122"/>
              </a:rPr>
              <a:t>Det</a:t>
            </a:r>
            <a:r>
              <a:rPr lang="en-US" altLang="zh-CN" sz="2000">
                <a:solidFill>
                  <a:srgbClr val="0000FF"/>
                </a:solidFill>
                <a:latin typeface="Consolas" pitchFamily="49" charset="0"/>
                <a:ea typeface="仿宋" pitchFamily="49" charset="-122"/>
              </a:rPr>
              <a:t>(p1-p0,p2-p0))/2;</a:t>
            </a:r>
            <a:endParaRPr lang="zh-CN" altLang="zh-CN" sz="2000">
              <a:solidFill>
                <a:srgbClr val="0000FF"/>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pPr>
              <a:defRPr/>
            </a:pPr>
            <a:fld id="{51116183-1013-4E64-BBE8-A5C1D5D4F838}" type="slidenum">
              <a:rPr lang="en-US" altLang="zh-CN" smtClean="0"/>
              <a:pPr>
                <a:defRPr/>
              </a:pPr>
              <a:t>67</a:t>
            </a:fld>
            <a:r>
              <a:rPr lang="en-US" altLang="zh-CN"/>
              <a:t>/167</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357166"/>
            <a:ext cx="7786742" cy="461665"/>
          </a:xfrm>
          <a:prstGeom prst="rect">
            <a:avLst/>
          </a:prstGeom>
          <a:noFill/>
        </p:spPr>
        <p:txBody>
          <a:bodyPr wrap="square" rtlCol="0">
            <a:spAutoFit/>
          </a:bodyPr>
          <a:lstStyle/>
          <a:p>
            <a:r>
              <a:rPr lang="zh-CN" altLang="zh-CN">
                <a:solidFill>
                  <a:srgbClr val="0000FF"/>
                </a:solidFill>
                <a:latin typeface="Consolas" pitchFamily="49" charset="0"/>
                <a:ea typeface="仿宋" pitchFamily="49" charset="-122"/>
                <a:cs typeface="Consolas" pitchFamily="49" charset="0"/>
              </a:rPr>
              <a:t>根据向量叉积运算规则有：</a:t>
            </a:r>
          </a:p>
        </p:txBody>
      </p:sp>
      <p:sp>
        <p:nvSpPr>
          <p:cNvPr id="3" name="TextBox 2"/>
          <p:cNvSpPr txBox="1"/>
          <p:nvPr/>
        </p:nvSpPr>
        <p:spPr>
          <a:xfrm>
            <a:off x="428596" y="1000108"/>
            <a:ext cx="8358246" cy="2335466"/>
          </a:xfrm>
          <a:prstGeom prst="rect">
            <a:avLst/>
          </a:prstGeom>
          <a:ln>
            <a:solidFill>
              <a:schemeClr val="accent6">
                <a:lumMod val="40000"/>
                <a:lumOff val="60000"/>
              </a:schemeClr>
            </a:solidFill>
          </a:ln>
        </p:spPr>
        <p:style>
          <a:lnRef idx="2">
            <a:schemeClr val="accent2"/>
          </a:lnRef>
          <a:fillRef idx="1">
            <a:schemeClr val="lt1"/>
          </a:fillRef>
          <a:effectRef idx="0">
            <a:schemeClr val="accent2"/>
          </a:effectRef>
          <a:fontRef idx="minor">
            <a:schemeClr val="dk1"/>
          </a:fontRef>
        </p:style>
        <p:txBody>
          <a:bodyPr wrap="square" lIns="180000" tIns="180000" bIns="180000" rtlCol="0">
            <a:spAutoFit/>
          </a:bodyPr>
          <a:lstStyle/>
          <a:p>
            <a:pPr marL="457200" indent="-457200">
              <a:lnSpc>
                <a:spcPct val="150000"/>
              </a:lnSpc>
              <a:buBlip>
                <a:blip r:embed="rId2"/>
              </a:buBlip>
            </a:pPr>
            <a:r>
              <a:rPr lang="zh-CN" altLang="zh-CN" sz="2200">
                <a:solidFill>
                  <a:srgbClr val="0000FF"/>
                </a:solidFill>
                <a:latin typeface="Consolas" pitchFamily="49" charset="0"/>
                <a:ea typeface="仿宋" pitchFamily="49" charset="-122"/>
                <a:cs typeface="Consolas" pitchFamily="49" charset="0"/>
              </a:rPr>
              <a:t>若</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1</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2</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在</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3</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2</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的顺时针方向，或者说</a:t>
            </a:r>
            <a:r>
              <a:rPr lang="en-US" altLang="zh-CN" sz="2200">
                <a:solidFill>
                  <a:srgbClr val="FF00FF"/>
                </a:solidFill>
                <a:latin typeface="Consolas" pitchFamily="49" charset="0"/>
                <a:ea typeface="仿宋" pitchFamily="49" charset="-122"/>
                <a:cs typeface="Consolas" pitchFamily="49" charset="0"/>
              </a:rPr>
              <a:t>p</a:t>
            </a:r>
            <a:r>
              <a:rPr lang="en-US" altLang="zh-CN" sz="2200" baseline="-25000">
                <a:solidFill>
                  <a:srgbClr val="FF00FF"/>
                </a:solidFill>
                <a:latin typeface="Consolas" pitchFamily="49" charset="0"/>
                <a:ea typeface="仿宋" pitchFamily="49" charset="-122"/>
                <a:cs typeface="Consolas" pitchFamily="49" charset="0"/>
              </a:rPr>
              <a:t>0</a:t>
            </a:r>
            <a:r>
              <a:rPr lang="zh-CN" altLang="zh-CN" sz="2200">
                <a:solidFill>
                  <a:srgbClr val="FF00FF"/>
                </a:solidFill>
                <a:latin typeface="Consolas" pitchFamily="49" charset="0"/>
                <a:ea typeface="仿宋" pitchFamily="49" charset="-122"/>
                <a:cs typeface="Consolas" pitchFamily="49" charset="0"/>
              </a:rPr>
              <a:t>、</a:t>
            </a:r>
            <a:r>
              <a:rPr lang="en-US" altLang="zh-CN" sz="2200">
                <a:solidFill>
                  <a:srgbClr val="FF00FF"/>
                </a:solidFill>
                <a:latin typeface="Consolas" pitchFamily="49" charset="0"/>
                <a:ea typeface="仿宋" pitchFamily="49" charset="-122"/>
                <a:cs typeface="Consolas" pitchFamily="49" charset="0"/>
              </a:rPr>
              <a:t>p</a:t>
            </a:r>
            <a:r>
              <a:rPr lang="en-US" altLang="zh-CN" sz="2200" baseline="-25000">
                <a:solidFill>
                  <a:srgbClr val="FF00FF"/>
                </a:solidFill>
                <a:latin typeface="Consolas" pitchFamily="49" charset="0"/>
                <a:ea typeface="仿宋" pitchFamily="49" charset="-122"/>
                <a:cs typeface="Consolas" pitchFamily="49" charset="0"/>
              </a:rPr>
              <a:t>1</a:t>
            </a:r>
            <a:r>
              <a:rPr lang="zh-CN" altLang="zh-CN" sz="2200">
                <a:solidFill>
                  <a:srgbClr val="FF00FF"/>
                </a:solidFill>
                <a:latin typeface="Consolas" pitchFamily="49" charset="0"/>
                <a:ea typeface="仿宋" pitchFamily="49" charset="-122"/>
                <a:cs typeface="Consolas" pitchFamily="49" charset="0"/>
              </a:rPr>
              <a:t>、</a:t>
            </a:r>
            <a:r>
              <a:rPr lang="en-US" altLang="zh-CN" sz="2200">
                <a:solidFill>
                  <a:srgbClr val="FF00FF"/>
                </a:solidFill>
                <a:latin typeface="Consolas" pitchFamily="49" charset="0"/>
                <a:ea typeface="仿宋" pitchFamily="49" charset="-122"/>
                <a:cs typeface="Consolas" pitchFamily="49" charset="0"/>
              </a:rPr>
              <a:t>p</a:t>
            </a:r>
            <a:r>
              <a:rPr lang="en-US" altLang="zh-CN" sz="2200" baseline="-25000">
                <a:solidFill>
                  <a:srgbClr val="FF00FF"/>
                </a:solidFill>
                <a:latin typeface="Consolas" pitchFamily="49" charset="0"/>
                <a:ea typeface="仿宋" pitchFamily="49" charset="-122"/>
                <a:cs typeface="Consolas" pitchFamily="49" charset="0"/>
              </a:rPr>
              <a:t>2</a:t>
            </a:r>
            <a:r>
              <a:rPr lang="zh-CN" altLang="zh-CN" sz="2200">
                <a:solidFill>
                  <a:srgbClr val="FF00FF"/>
                </a:solidFill>
                <a:latin typeface="Consolas" pitchFamily="49" charset="0"/>
                <a:ea typeface="仿宋" pitchFamily="49" charset="-122"/>
                <a:cs typeface="Consolas" pitchFamily="49" charset="0"/>
              </a:rPr>
              <a:t>在右手螺旋方向上</a:t>
            </a:r>
            <a:r>
              <a:rPr lang="zh-CN" altLang="zh-CN" sz="2200">
                <a:solidFill>
                  <a:srgbClr val="0000FF"/>
                </a:solidFill>
                <a:latin typeface="Consolas" pitchFamily="49" charset="0"/>
                <a:ea typeface="仿宋" pitchFamily="49" charset="-122"/>
                <a:cs typeface="Consolas" pitchFamily="49" charset="0"/>
              </a:rPr>
              <a:t>，则</a:t>
            </a:r>
            <a:r>
              <a:rPr lang="en-US" altLang="zh-CN" sz="2200">
                <a:solidFill>
                  <a:srgbClr val="C00000"/>
                </a:solidFill>
                <a:latin typeface="Consolas" pitchFamily="49" charset="0"/>
                <a:ea typeface="仿宋" pitchFamily="49" charset="-122"/>
                <a:cs typeface="Consolas" pitchFamily="49" charset="0"/>
              </a:rPr>
              <a:t>(p</a:t>
            </a:r>
            <a:r>
              <a:rPr lang="en-US" altLang="zh-CN" sz="2200" baseline="-25000">
                <a:solidFill>
                  <a:srgbClr val="C00000"/>
                </a:solidFill>
                <a:latin typeface="Consolas" pitchFamily="49" charset="0"/>
                <a:ea typeface="仿宋" pitchFamily="49" charset="-122"/>
                <a:cs typeface="Consolas" pitchFamily="49" charset="0"/>
              </a:rPr>
              <a:t>1</a:t>
            </a:r>
            <a:r>
              <a:rPr lang="en-US" altLang="zh-CN" sz="2200">
                <a:solidFill>
                  <a:srgbClr val="C00000"/>
                </a:solidFill>
                <a:latin typeface="Consolas" pitchFamily="49" charset="0"/>
                <a:ea typeface="仿宋" pitchFamily="49" charset="-122"/>
                <a:cs typeface="Consolas" pitchFamily="49" charset="0"/>
              </a:rPr>
              <a:t>-p</a:t>
            </a:r>
            <a:r>
              <a:rPr lang="en-US" altLang="zh-CN" sz="2200" baseline="-25000">
                <a:solidFill>
                  <a:srgbClr val="C00000"/>
                </a:solidFill>
                <a:latin typeface="Consolas" pitchFamily="49" charset="0"/>
                <a:ea typeface="仿宋" pitchFamily="49" charset="-122"/>
                <a:cs typeface="Consolas" pitchFamily="49" charset="0"/>
              </a:rPr>
              <a:t>2</a:t>
            </a:r>
            <a:r>
              <a:rPr lang="en-US" altLang="zh-CN" sz="2200">
                <a:solidFill>
                  <a:srgbClr val="C00000"/>
                </a:solidFill>
                <a:latin typeface="Consolas" pitchFamily="49" charset="0"/>
                <a:ea typeface="仿宋" pitchFamily="49" charset="-122"/>
                <a:cs typeface="Consolas" pitchFamily="49" charset="0"/>
              </a:rPr>
              <a:t>)×(p</a:t>
            </a:r>
            <a:r>
              <a:rPr lang="en-US" altLang="zh-CN" sz="2200" baseline="-25000">
                <a:solidFill>
                  <a:srgbClr val="C00000"/>
                </a:solidFill>
                <a:latin typeface="Consolas" pitchFamily="49" charset="0"/>
                <a:ea typeface="仿宋" pitchFamily="49" charset="-122"/>
                <a:cs typeface="Consolas" pitchFamily="49" charset="0"/>
              </a:rPr>
              <a:t>3</a:t>
            </a:r>
            <a:r>
              <a:rPr lang="en-US" altLang="zh-CN" sz="2200">
                <a:solidFill>
                  <a:srgbClr val="C00000"/>
                </a:solidFill>
                <a:latin typeface="Consolas" pitchFamily="49" charset="0"/>
                <a:ea typeface="仿宋" pitchFamily="49" charset="-122"/>
                <a:cs typeface="Consolas" pitchFamily="49" charset="0"/>
              </a:rPr>
              <a:t>-p</a:t>
            </a:r>
            <a:r>
              <a:rPr lang="en-US" altLang="zh-CN" sz="2200" baseline="-25000">
                <a:solidFill>
                  <a:srgbClr val="C00000"/>
                </a:solidFill>
                <a:latin typeface="Consolas" pitchFamily="49" charset="0"/>
                <a:ea typeface="仿宋" pitchFamily="49" charset="-122"/>
                <a:cs typeface="Consolas" pitchFamily="49" charset="0"/>
              </a:rPr>
              <a:t>2</a:t>
            </a:r>
            <a:r>
              <a:rPr lang="en-US" altLang="zh-CN" sz="2200">
                <a:solidFill>
                  <a:srgbClr val="C00000"/>
                </a:solidFill>
                <a:latin typeface="Consolas" pitchFamily="49" charset="0"/>
                <a:ea typeface="仿宋" pitchFamily="49" charset="-122"/>
                <a:cs typeface="Consolas" pitchFamily="49" charset="0"/>
              </a:rPr>
              <a:t>)&gt;0</a:t>
            </a:r>
            <a:r>
              <a:rPr lang="zh-CN" altLang="zh-CN" sz="2200">
                <a:solidFill>
                  <a:srgbClr val="0000FF"/>
                </a:solidFill>
                <a:latin typeface="Consolas" pitchFamily="49" charset="0"/>
                <a:ea typeface="仿宋" pitchFamily="49" charset="-122"/>
                <a:cs typeface="Consolas" pitchFamily="49" charset="0"/>
              </a:rPr>
              <a:t>。</a:t>
            </a:r>
          </a:p>
          <a:p>
            <a:pPr marL="457200" indent="-457200">
              <a:lnSpc>
                <a:spcPct val="150000"/>
              </a:lnSpc>
              <a:buBlip>
                <a:blip r:embed="rId2"/>
              </a:buBlip>
            </a:pPr>
            <a:r>
              <a:rPr lang="zh-CN" altLang="zh-CN" sz="2200">
                <a:solidFill>
                  <a:srgbClr val="0000FF"/>
                </a:solidFill>
                <a:latin typeface="Consolas" pitchFamily="49" charset="0"/>
                <a:ea typeface="仿宋" pitchFamily="49" charset="-122"/>
                <a:cs typeface="Consolas" pitchFamily="49" charset="0"/>
              </a:rPr>
              <a:t>若</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1</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2</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在</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3</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2</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的逆时针方向，或者说</a:t>
            </a:r>
            <a:r>
              <a:rPr lang="en-US" altLang="zh-CN" sz="2200">
                <a:solidFill>
                  <a:srgbClr val="FF00FF"/>
                </a:solidFill>
                <a:latin typeface="Consolas" pitchFamily="49" charset="0"/>
                <a:ea typeface="仿宋" pitchFamily="49" charset="-122"/>
                <a:cs typeface="Consolas" pitchFamily="49" charset="0"/>
              </a:rPr>
              <a:t>p</a:t>
            </a:r>
            <a:r>
              <a:rPr lang="en-US" altLang="zh-CN" sz="2200" baseline="-25000">
                <a:solidFill>
                  <a:srgbClr val="FF00FF"/>
                </a:solidFill>
                <a:latin typeface="Consolas" pitchFamily="49" charset="0"/>
                <a:ea typeface="仿宋" pitchFamily="49" charset="-122"/>
                <a:cs typeface="Consolas" pitchFamily="49" charset="0"/>
              </a:rPr>
              <a:t>0</a:t>
            </a:r>
            <a:r>
              <a:rPr lang="zh-CN" altLang="zh-CN" sz="2200">
                <a:solidFill>
                  <a:srgbClr val="FF00FF"/>
                </a:solidFill>
                <a:latin typeface="Consolas" pitchFamily="49" charset="0"/>
                <a:ea typeface="仿宋" pitchFamily="49" charset="-122"/>
                <a:cs typeface="Consolas" pitchFamily="49" charset="0"/>
              </a:rPr>
              <a:t>、</a:t>
            </a:r>
            <a:r>
              <a:rPr lang="en-US" altLang="zh-CN" sz="2200">
                <a:solidFill>
                  <a:srgbClr val="FF00FF"/>
                </a:solidFill>
                <a:latin typeface="Consolas" pitchFamily="49" charset="0"/>
                <a:ea typeface="仿宋" pitchFamily="49" charset="-122"/>
                <a:cs typeface="Consolas" pitchFamily="49" charset="0"/>
              </a:rPr>
              <a:t>p</a:t>
            </a:r>
            <a:r>
              <a:rPr lang="en-US" altLang="zh-CN" sz="2200" baseline="-25000">
                <a:solidFill>
                  <a:srgbClr val="FF00FF"/>
                </a:solidFill>
                <a:latin typeface="Consolas" pitchFamily="49" charset="0"/>
                <a:ea typeface="仿宋" pitchFamily="49" charset="-122"/>
                <a:cs typeface="Consolas" pitchFamily="49" charset="0"/>
              </a:rPr>
              <a:t>1</a:t>
            </a:r>
            <a:r>
              <a:rPr lang="zh-CN" altLang="zh-CN" sz="2200">
                <a:solidFill>
                  <a:srgbClr val="FF00FF"/>
                </a:solidFill>
                <a:latin typeface="Consolas" pitchFamily="49" charset="0"/>
                <a:ea typeface="仿宋" pitchFamily="49" charset="-122"/>
                <a:cs typeface="Consolas" pitchFamily="49" charset="0"/>
              </a:rPr>
              <a:t>、</a:t>
            </a:r>
            <a:r>
              <a:rPr lang="en-US" altLang="zh-CN" sz="2200">
                <a:solidFill>
                  <a:srgbClr val="FF00FF"/>
                </a:solidFill>
                <a:latin typeface="Consolas" pitchFamily="49" charset="0"/>
                <a:ea typeface="仿宋" pitchFamily="49" charset="-122"/>
                <a:cs typeface="Consolas" pitchFamily="49" charset="0"/>
              </a:rPr>
              <a:t>p</a:t>
            </a:r>
            <a:r>
              <a:rPr lang="en-US" altLang="zh-CN" sz="2200" baseline="-25000">
                <a:solidFill>
                  <a:srgbClr val="FF00FF"/>
                </a:solidFill>
                <a:latin typeface="Consolas" pitchFamily="49" charset="0"/>
                <a:ea typeface="仿宋" pitchFamily="49" charset="-122"/>
                <a:cs typeface="Consolas" pitchFamily="49" charset="0"/>
              </a:rPr>
              <a:t>2</a:t>
            </a:r>
            <a:r>
              <a:rPr lang="zh-CN" altLang="zh-CN" sz="2200">
                <a:solidFill>
                  <a:srgbClr val="FF00FF"/>
                </a:solidFill>
                <a:latin typeface="Consolas" pitchFamily="49" charset="0"/>
                <a:ea typeface="仿宋" pitchFamily="49" charset="-122"/>
                <a:cs typeface="Consolas" pitchFamily="49" charset="0"/>
              </a:rPr>
              <a:t>在左手螺旋方向上</a:t>
            </a:r>
            <a:r>
              <a:rPr lang="zh-CN" altLang="zh-CN" sz="2200">
                <a:solidFill>
                  <a:srgbClr val="0000FF"/>
                </a:solidFill>
                <a:latin typeface="Consolas" pitchFamily="49" charset="0"/>
                <a:ea typeface="仿宋" pitchFamily="49" charset="-122"/>
                <a:cs typeface="Consolas" pitchFamily="49" charset="0"/>
              </a:rPr>
              <a:t>，则</a:t>
            </a:r>
            <a:r>
              <a:rPr lang="en-US" altLang="zh-CN" sz="2200">
                <a:solidFill>
                  <a:srgbClr val="C00000"/>
                </a:solidFill>
                <a:latin typeface="Consolas" pitchFamily="49" charset="0"/>
                <a:ea typeface="仿宋" pitchFamily="49" charset="-122"/>
                <a:cs typeface="Consolas" pitchFamily="49" charset="0"/>
              </a:rPr>
              <a:t>(p</a:t>
            </a:r>
            <a:r>
              <a:rPr lang="en-US" altLang="zh-CN" sz="2200" baseline="-25000">
                <a:solidFill>
                  <a:srgbClr val="C00000"/>
                </a:solidFill>
                <a:latin typeface="Consolas" pitchFamily="49" charset="0"/>
                <a:ea typeface="仿宋" pitchFamily="49" charset="-122"/>
                <a:cs typeface="Consolas" pitchFamily="49" charset="0"/>
              </a:rPr>
              <a:t>1</a:t>
            </a:r>
            <a:r>
              <a:rPr lang="en-US" altLang="zh-CN" sz="2200">
                <a:solidFill>
                  <a:srgbClr val="C00000"/>
                </a:solidFill>
                <a:latin typeface="Consolas" pitchFamily="49" charset="0"/>
                <a:ea typeface="仿宋" pitchFamily="49" charset="-122"/>
                <a:cs typeface="Consolas" pitchFamily="49" charset="0"/>
              </a:rPr>
              <a:t>-p</a:t>
            </a:r>
            <a:r>
              <a:rPr lang="en-US" altLang="zh-CN" sz="2200" baseline="-25000">
                <a:solidFill>
                  <a:srgbClr val="C00000"/>
                </a:solidFill>
                <a:latin typeface="Consolas" pitchFamily="49" charset="0"/>
                <a:ea typeface="仿宋" pitchFamily="49" charset="-122"/>
                <a:cs typeface="Consolas" pitchFamily="49" charset="0"/>
              </a:rPr>
              <a:t>2</a:t>
            </a:r>
            <a:r>
              <a:rPr lang="en-US" altLang="zh-CN" sz="2200">
                <a:solidFill>
                  <a:srgbClr val="C00000"/>
                </a:solidFill>
                <a:latin typeface="Consolas" pitchFamily="49" charset="0"/>
                <a:ea typeface="仿宋" pitchFamily="49" charset="-122"/>
                <a:cs typeface="Consolas" pitchFamily="49" charset="0"/>
              </a:rPr>
              <a:t>)×(p</a:t>
            </a:r>
            <a:r>
              <a:rPr lang="en-US" altLang="zh-CN" sz="2200" baseline="-25000">
                <a:solidFill>
                  <a:srgbClr val="C00000"/>
                </a:solidFill>
                <a:latin typeface="Consolas" pitchFamily="49" charset="0"/>
                <a:ea typeface="仿宋" pitchFamily="49" charset="-122"/>
                <a:cs typeface="Consolas" pitchFamily="49" charset="0"/>
              </a:rPr>
              <a:t>3</a:t>
            </a:r>
            <a:r>
              <a:rPr lang="en-US" altLang="zh-CN" sz="2200">
                <a:solidFill>
                  <a:srgbClr val="C00000"/>
                </a:solidFill>
                <a:latin typeface="Consolas" pitchFamily="49" charset="0"/>
                <a:ea typeface="仿宋" pitchFamily="49" charset="-122"/>
                <a:cs typeface="Consolas" pitchFamily="49" charset="0"/>
              </a:rPr>
              <a:t>-p</a:t>
            </a:r>
            <a:r>
              <a:rPr lang="en-US" altLang="zh-CN" sz="2200" baseline="-25000">
                <a:solidFill>
                  <a:srgbClr val="C00000"/>
                </a:solidFill>
                <a:latin typeface="Consolas" pitchFamily="49" charset="0"/>
                <a:ea typeface="仿宋" pitchFamily="49" charset="-122"/>
                <a:cs typeface="Consolas" pitchFamily="49" charset="0"/>
              </a:rPr>
              <a:t>2</a:t>
            </a:r>
            <a:r>
              <a:rPr lang="en-US" altLang="zh-CN" sz="2200">
                <a:solidFill>
                  <a:srgbClr val="C00000"/>
                </a:solidFill>
                <a:latin typeface="Consolas" pitchFamily="49" charset="0"/>
                <a:ea typeface="仿宋" pitchFamily="49" charset="-122"/>
                <a:cs typeface="Consolas" pitchFamily="49" charset="0"/>
              </a:rPr>
              <a:t>)&lt;0</a:t>
            </a:r>
            <a:r>
              <a:rPr lang="zh-CN" altLang="zh-CN" sz="2200">
                <a:solidFill>
                  <a:srgbClr val="0000FF"/>
                </a:solidFill>
                <a:latin typeface="Consolas" pitchFamily="49" charset="0"/>
                <a:ea typeface="仿宋" pitchFamily="49" charset="-122"/>
                <a:cs typeface="Consolas" pitchFamily="49" charset="0"/>
              </a:rPr>
              <a:t>。</a:t>
            </a:r>
          </a:p>
        </p:txBody>
      </p:sp>
      <p:grpSp>
        <p:nvGrpSpPr>
          <p:cNvPr id="5" name="组合 4"/>
          <p:cNvGrpSpPr/>
          <p:nvPr/>
        </p:nvGrpSpPr>
        <p:grpSpPr>
          <a:xfrm>
            <a:off x="714348" y="3643314"/>
            <a:ext cx="2179577" cy="2737178"/>
            <a:chOff x="714348" y="3904782"/>
            <a:chExt cx="2179577" cy="2737178"/>
          </a:xfrm>
        </p:grpSpPr>
        <p:sp>
          <p:nvSpPr>
            <p:cNvPr id="6" name="TextBox 5"/>
            <p:cNvSpPr txBox="1"/>
            <p:nvPr/>
          </p:nvSpPr>
          <p:spPr>
            <a:xfrm>
              <a:off x="1428728" y="6131502"/>
              <a:ext cx="500066"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endParaRPr lang="zh-CN" altLang="en-US" sz="1800">
                <a:solidFill>
                  <a:srgbClr val="0000FF"/>
                </a:solidFill>
                <a:latin typeface="Consolas" pitchFamily="49" charset="0"/>
                <a:cs typeface="Consolas" pitchFamily="49" charset="0"/>
              </a:endParaRPr>
            </a:p>
          </p:txBody>
        </p:sp>
        <p:sp>
          <p:nvSpPr>
            <p:cNvPr id="7" name="TextBox 6"/>
            <p:cNvSpPr txBox="1"/>
            <p:nvPr/>
          </p:nvSpPr>
          <p:spPr>
            <a:xfrm>
              <a:off x="714348" y="5202808"/>
              <a:ext cx="428628"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0</a:t>
              </a:r>
              <a:endParaRPr lang="zh-CN" altLang="en-US" sz="1800">
                <a:solidFill>
                  <a:srgbClr val="0000FF"/>
                </a:solidFill>
                <a:latin typeface="Consolas" pitchFamily="49" charset="0"/>
                <a:cs typeface="Consolas" pitchFamily="49" charset="0"/>
              </a:endParaRPr>
            </a:p>
          </p:txBody>
        </p:sp>
        <p:cxnSp>
          <p:nvCxnSpPr>
            <p:cNvPr id="8" name="直接箭头连接符 7"/>
            <p:cNvCxnSpPr/>
            <p:nvPr/>
          </p:nvCxnSpPr>
          <p:spPr>
            <a:xfrm flipV="1">
              <a:off x="1071538" y="4190534"/>
              <a:ext cx="1357322" cy="1319744"/>
            </a:xfrm>
            <a:prstGeom prst="straightConnector1">
              <a:avLst/>
            </a:prstGeom>
            <a:ln>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9" name="直接箭头连接符 8"/>
            <p:cNvCxnSpPr/>
            <p:nvPr/>
          </p:nvCxnSpPr>
          <p:spPr>
            <a:xfrm rot="16200000" flipH="1">
              <a:off x="922238" y="5673713"/>
              <a:ext cx="720000" cy="396000"/>
            </a:xfrm>
            <a:prstGeom prst="straightConnector1">
              <a:avLst/>
            </a:prstGeom>
            <a:ln>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2428860" y="3904782"/>
              <a:ext cx="428628"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cxnSp>
          <p:nvCxnSpPr>
            <p:cNvPr id="11" name="直接连接符 10"/>
            <p:cNvCxnSpPr/>
            <p:nvPr/>
          </p:nvCxnSpPr>
          <p:spPr>
            <a:xfrm rot="5400000">
              <a:off x="1006450" y="4805930"/>
              <a:ext cx="1890726" cy="903294"/>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12" name="任意多边形 11"/>
            <p:cNvSpPr/>
            <p:nvPr/>
          </p:nvSpPr>
          <p:spPr>
            <a:xfrm>
              <a:off x="864158" y="3989195"/>
              <a:ext cx="2029767" cy="2652765"/>
            </a:xfrm>
            <a:custGeom>
              <a:avLst/>
              <a:gdLst>
                <a:gd name="connsiteX0" fmla="*/ 0 w 2029767"/>
                <a:gd name="connsiteY0" fmla="*/ 1678074 h 2666162"/>
                <a:gd name="connsiteX1" fmla="*/ 160774 w 2029767"/>
                <a:gd name="connsiteY1" fmla="*/ 2110153 h 2666162"/>
                <a:gd name="connsiteX2" fmla="*/ 592853 w 2029767"/>
                <a:gd name="connsiteY2" fmla="*/ 2602523 h 2666162"/>
                <a:gd name="connsiteX3" fmla="*/ 1095271 w 2029767"/>
                <a:gd name="connsiteY3" fmla="*/ 2411604 h 2666162"/>
                <a:gd name="connsiteX4" fmla="*/ 1808704 w 2029767"/>
                <a:gd name="connsiteY4" fmla="*/ 1075173 h 2666162"/>
                <a:gd name="connsiteX5" fmla="*/ 2029767 w 2029767"/>
                <a:gd name="connsiteY5" fmla="*/ 0 h 2666162"/>
                <a:gd name="connsiteX0" fmla="*/ 0 w 2029767"/>
                <a:gd name="connsiteY0" fmla="*/ 1678074 h 2652765"/>
                <a:gd name="connsiteX1" fmla="*/ 160774 w 2029767"/>
                <a:gd name="connsiteY1" fmla="*/ 2110153 h 2652765"/>
                <a:gd name="connsiteX2" fmla="*/ 592853 w 2029767"/>
                <a:gd name="connsiteY2" fmla="*/ 2602523 h 2652765"/>
                <a:gd name="connsiteX3" fmla="*/ 1095271 w 2029767"/>
                <a:gd name="connsiteY3" fmla="*/ 2411604 h 2652765"/>
                <a:gd name="connsiteX4" fmla="*/ 1564702 w 2029767"/>
                <a:gd name="connsiteY4" fmla="*/ 1797258 h 2652765"/>
                <a:gd name="connsiteX5" fmla="*/ 1808704 w 2029767"/>
                <a:gd name="connsiteY5" fmla="*/ 1075173 h 2652765"/>
                <a:gd name="connsiteX6" fmla="*/ 2029767 w 2029767"/>
                <a:gd name="connsiteY6" fmla="*/ 0 h 265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767" h="2652765">
                  <a:moveTo>
                    <a:pt x="0" y="1678074"/>
                  </a:moveTo>
                  <a:cubicBezTo>
                    <a:pt x="30982" y="1817076"/>
                    <a:pt x="61965" y="1956078"/>
                    <a:pt x="160774" y="2110153"/>
                  </a:cubicBezTo>
                  <a:cubicBezTo>
                    <a:pt x="259583" y="2264228"/>
                    <a:pt x="437104" y="2552281"/>
                    <a:pt x="592853" y="2602523"/>
                  </a:cubicBezTo>
                  <a:cubicBezTo>
                    <a:pt x="748602" y="2652765"/>
                    <a:pt x="933296" y="2545815"/>
                    <a:pt x="1095271" y="2411604"/>
                  </a:cubicBezTo>
                  <a:cubicBezTo>
                    <a:pt x="1257246" y="2277393"/>
                    <a:pt x="1445797" y="2019997"/>
                    <a:pt x="1564702" y="1797258"/>
                  </a:cubicBezTo>
                  <a:cubicBezTo>
                    <a:pt x="1683608" y="1574520"/>
                    <a:pt x="1731193" y="1374716"/>
                    <a:pt x="1808704" y="1075173"/>
                  </a:cubicBezTo>
                  <a:cubicBezTo>
                    <a:pt x="1886215" y="775630"/>
                    <a:pt x="1997110" y="336619"/>
                    <a:pt x="2029767" y="0"/>
                  </a:cubicBezTo>
                </a:path>
              </a:pathLst>
            </a:custGeom>
            <a:ln w="28575">
              <a:solidFill>
                <a:srgbClr val="FF0000"/>
              </a:solidFill>
              <a:prstDash val="sys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3" name="组合 12"/>
          <p:cNvGrpSpPr/>
          <p:nvPr/>
        </p:nvGrpSpPr>
        <p:grpSpPr>
          <a:xfrm>
            <a:off x="5214942" y="3643314"/>
            <a:ext cx="2234236" cy="2794092"/>
            <a:chOff x="5214942" y="3778180"/>
            <a:chExt cx="2234236" cy="2794092"/>
          </a:xfrm>
        </p:grpSpPr>
        <p:sp>
          <p:nvSpPr>
            <p:cNvPr id="14" name="TextBox 13"/>
            <p:cNvSpPr txBox="1"/>
            <p:nvPr/>
          </p:nvSpPr>
          <p:spPr>
            <a:xfrm>
              <a:off x="6049718" y="6202940"/>
              <a:ext cx="500066"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sp>
          <p:nvSpPr>
            <p:cNvPr id="15" name="TextBox 14"/>
            <p:cNvSpPr txBox="1"/>
            <p:nvPr/>
          </p:nvSpPr>
          <p:spPr>
            <a:xfrm>
              <a:off x="5214942" y="5202808"/>
              <a:ext cx="428628"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0</a:t>
              </a:r>
              <a:endParaRPr lang="zh-CN" altLang="en-US" sz="1800">
                <a:solidFill>
                  <a:srgbClr val="0000FF"/>
                </a:solidFill>
                <a:latin typeface="Consolas" pitchFamily="49" charset="0"/>
                <a:cs typeface="Consolas" pitchFamily="49" charset="0"/>
              </a:endParaRPr>
            </a:p>
          </p:txBody>
        </p:sp>
        <p:cxnSp>
          <p:nvCxnSpPr>
            <p:cNvPr id="16" name="直接箭头连接符 15"/>
            <p:cNvCxnSpPr/>
            <p:nvPr/>
          </p:nvCxnSpPr>
          <p:spPr>
            <a:xfrm flipV="1">
              <a:off x="5549652" y="4190534"/>
              <a:ext cx="1357322" cy="1319744"/>
            </a:xfrm>
            <a:prstGeom prst="straightConnector1">
              <a:avLst/>
            </a:prstGeom>
            <a:ln>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17" name="直接箭头连接符 16"/>
            <p:cNvCxnSpPr/>
            <p:nvPr/>
          </p:nvCxnSpPr>
          <p:spPr>
            <a:xfrm rot="16200000" flipH="1">
              <a:off x="5400352" y="5673713"/>
              <a:ext cx="720000" cy="396000"/>
            </a:xfrm>
            <a:prstGeom prst="straightConnector1">
              <a:avLst/>
            </a:prstGeom>
            <a:ln>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18" name="TextBox 17"/>
            <p:cNvSpPr txBox="1"/>
            <p:nvPr/>
          </p:nvSpPr>
          <p:spPr>
            <a:xfrm>
              <a:off x="6906974" y="3904782"/>
              <a:ext cx="428628" cy="369332"/>
            </a:xfrm>
            <a:prstGeom prst="rect">
              <a:avLst/>
            </a:prstGeom>
            <a:noFill/>
          </p:spPr>
          <p:txBody>
            <a:bodyPr wrap="square"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endParaRPr lang="zh-CN" altLang="en-US" sz="1800">
                <a:solidFill>
                  <a:srgbClr val="0000FF"/>
                </a:solidFill>
                <a:latin typeface="Consolas" pitchFamily="49" charset="0"/>
                <a:cs typeface="Consolas" pitchFamily="49" charset="0"/>
              </a:endParaRPr>
            </a:p>
          </p:txBody>
        </p:sp>
        <p:cxnSp>
          <p:nvCxnSpPr>
            <p:cNvPr id="19" name="直接连接符 18"/>
            <p:cNvCxnSpPr/>
            <p:nvPr/>
          </p:nvCxnSpPr>
          <p:spPr>
            <a:xfrm rot="5400000">
              <a:off x="5484564" y="4805930"/>
              <a:ext cx="1890726" cy="903294"/>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20" name="任意多边形 19"/>
            <p:cNvSpPr/>
            <p:nvPr/>
          </p:nvSpPr>
          <p:spPr>
            <a:xfrm>
              <a:off x="5476352" y="3778180"/>
              <a:ext cx="1972826" cy="2542233"/>
            </a:xfrm>
            <a:custGeom>
              <a:avLst/>
              <a:gdLst>
                <a:gd name="connsiteX0" fmla="*/ 0 w 1972826"/>
                <a:gd name="connsiteY0" fmla="*/ 1356528 h 2542233"/>
                <a:gd name="connsiteX1" fmla="*/ 582804 w 1972826"/>
                <a:gd name="connsiteY1" fmla="*/ 743578 h 2542233"/>
                <a:gd name="connsiteX2" fmla="*/ 1436914 w 1972826"/>
                <a:gd name="connsiteY2" fmla="*/ 90435 h 2542233"/>
                <a:gd name="connsiteX3" fmla="*/ 1929283 w 1972826"/>
                <a:gd name="connsiteY3" fmla="*/ 200967 h 2542233"/>
                <a:gd name="connsiteX4" fmla="*/ 1698171 w 1972826"/>
                <a:gd name="connsiteY4" fmla="*/ 1125416 h 2542233"/>
                <a:gd name="connsiteX5" fmla="*/ 1024932 w 1972826"/>
                <a:gd name="connsiteY5" fmla="*/ 2542233 h 254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72826" h="2542233">
                  <a:moveTo>
                    <a:pt x="0" y="1356528"/>
                  </a:moveTo>
                  <a:cubicBezTo>
                    <a:pt x="171659" y="1155560"/>
                    <a:pt x="343318" y="954593"/>
                    <a:pt x="582804" y="743578"/>
                  </a:cubicBezTo>
                  <a:cubicBezTo>
                    <a:pt x="822290" y="532563"/>
                    <a:pt x="1212501" y="180870"/>
                    <a:pt x="1436914" y="90435"/>
                  </a:cubicBezTo>
                  <a:cubicBezTo>
                    <a:pt x="1661327" y="0"/>
                    <a:pt x="1885740" y="28470"/>
                    <a:pt x="1929283" y="200967"/>
                  </a:cubicBezTo>
                  <a:cubicBezTo>
                    <a:pt x="1972826" y="373464"/>
                    <a:pt x="1848896" y="735205"/>
                    <a:pt x="1698171" y="1125416"/>
                  </a:cubicBezTo>
                  <a:cubicBezTo>
                    <a:pt x="1547446" y="1515627"/>
                    <a:pt x="1286189" y="2028930"/>
                    <a:pt x="1024932" y="2542233"/>
                  </a:cubicBezTo>
                </a:path>
              </a:pathLst>
            </a:custGeom>
            <a:ln w="28575">
              <a:solidFill>
                <a:srgbClr val="FF0000"/>
              </a:solidFill>
              <a:prstDash val="sys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1" name="灯片编号占位符 20"/>
          <p:cNvSpPr>
            <a:spLocks noGrp="1"/>
          </p:cNvSpPr>
          <p:nvPr>
            <p:ph type="sldNum" sz="quarter" idx="12"/>
          </p:nvPr>
        </p:nvSpPr>
        <p:spPr/>
        <p:txBody>
          <a:bodyPr/>
          <a:lstStyle/>
          <a:p>
            <a:pPr>
              <a:defRPr/>
            </a:pPr>
            <a:fld id="{51116183-1013-4E64-BBE8-A5C1D5D4F838}" type="slidenum">
              <a:rPr lang="en-US" altLang="zh-CN" smtClean="0"/>
              <a:pPr>
                <a:defRPr/>
              </a:pPr>
              <a:t>68</a:t>
            </a:fld>
            <a:r>
              <a:rPr lang="en-US" altLang="zh-CN"/>
              <a:t>/167</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2910" y="357166"/>
            <a:ext cx="5286412" cy="52322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10.1.8 </a:t>
            </a:r>
            <a:r>
              <a:rPr lang="zh-CN"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求一个多边形的面积</a:t>
            </a:r>
          </a:p>
        </p:txBody>
      </p:sp>
      <p:pic>
        <p:nvPicPr>
          <p:cNvPr id="145410" name="Picture 2"/>
          <p:cNvPicPr>
            <a:picLocks noChangeAspect="1" noChangeArrowheads="1"/>
          </p:cNvPicPr>
          <p:nvPr/>
        </p:nvPicPr>
        <p:blipFill>
          <a:blip r:embed="rId2" cstate="print"/>
          <a:srcRect/>
          <a:stretch>
            <a:fillRect/>
          </a:stretch>
        </p:blipFill>
        <p:spPr bwMode="auto">
          <a:xfrm>
            <a:off x="2500298" y="3438544"/>
            <a:ext cx="3228975" cy="2705100"/>
          </a:xfrm>
          <a:prstGeom prst="rect">
            <a:avLst/>
          </a:prstGeom>
          <a:noFill/>
          <a:ln w="9525">
            <a:noFill/>
            <a:miter lim="800000"/>
            <a:headEnd/>
            <a:tailEnd/>
          </a:ln>
        </p:spPr>
      </p:pic>
      <p:sp>
        <p:nvSpPr>
          <p:cNvPr id="4" name="TextBox 3"/>
          <p:cNvSpPr txBox="1"/>
          <p:nvPr/>
        </p:nvSpPr>
        <p:spPr>
          <a:xfrm>
            <a:off x="500034" y="1285860"/>
            <a:ext cx="8286808" cy="219226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nSpc>
                <a:spcPts val="3200"/>
              </a:lnSpc>
              <a:spcBef>
                <a:spcPts val="600"/>
              </a:spcBef>
              <a:buBlip>
                <a:blip r:embed="rId3"/>
              </a:buBlip>
            </a:pPr>
            <a:r>
              <a:rPr lang="zh-CN" altLang="zh-CN">
                <a:solidFill>
                  <a:srgbClr val="0000FF"/>
                </a:solidFill>
                <a:latin typeface="Consolas" pitchFamily="49" charset="0"/>
                <a:ea typeface="仿宋" pitchFamily="49" charset="-122"/>
                <a:cs typeface="Consolas" pitchFamily="49" charset="0"/>
              </a:rPr>
              <a:t>若一个多边形由</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个顶点构成，采用</a:t>
            </a:r>
            <a:r>
              <a:rPr lang="en-US" altLang="zh-CN">
                <a:solidFill>
                  <a:srgbClr val="0000FF"/>
                </a:solidFill>
                <a:latin typeface="Consolas" pitchFamily="49" charset="0"/>
                <a:ea typeface="仿宋" pitchFamily="49" charset="-122"/>
                <a:cs typeface="Consolas" pitchFamily="49" charset="0"/>
              </a:rPr>
              <a:t>vector&lt;Point&gt; p</a:t>
            </a:r>
            <a:r>
              <a:rPr lang="zh-CN" altLang="zh-CN">
                <a:solidFill>
                  <a:srgbClr val="0000FF"/>
                </a:solidFill>
                <a:latin typeface="Consolas" pitchFamily="49" charset="0"/>
                <a:ea typeface="仿宋" pitchFamily="49" charset="-122"/>
                <a:cs typeface="Consolas" pitchFamily="49" charset="0"/>
              </a:rPr>
              <a:t>存储，求其面积的方法有多种。</a:t>
            </a:r>
            <a:endParaRPr lang="en-US" altLang="zh-CN">
              <a:solidFill>
                <a:srgbClr val="0000FF"/>
              </a:solidFill>
              <a:latin typeface="Consolas" pitchFamily="49" charset="0"/>
              <a:ea typeface="仿宋" pitchFamily="49" charset="-122"/>
              <a:cs typeface="Consolas" pitchFamily="49" charset="0"/>
            </a:endParaRPr>
          </a:p>
          <a:p>
            <a:pPr marL="457200" indent="-457200">
              <a:lnSpc>
                <a:spcPts val="3200"/>
              </a:lnSpc>
              <a:spcBef>
                <a:spcPts val="600"/>
              </a:spcBef>
              <a:buBlip>
                <a:blip r:embed="rId3"/>
              </a:buBlip>
            </a:pPr>
            <a:r>
              <a:rPr lang="zh-CN" altLang="zh-CN">
                <a:solidFill>
                  <a:srgbClr val="0000FF"/>
                </a:solidFill>
                <a:latin typeface="Consolas" pitchFamily="49" charset="0"/>
                <a:ea typeface="仿宋" pitchFamily="49" charset="-122"/>
                <a:cs typeface="Consolas" pitchFamily="49" charset="0"/>
              </a:rPr>
              <a:t>常用的是采用三角形剖分的方法，取一个顶点作为剖分出的三角形的顶点，三角形的其他顶点为多边形上相邻的点</a:t>
            </a:r>
            <a:r>
              <a:rPr lang="zh-CN" altLang="en-US">
                <a:solidFill>
                  <a:srgbClr val="0000FF"/>
                </a:solidFill>
                <a:latin typeface="Consolas" pitchFamily="49" charset="0"/>
                <a:ea typeface="仿宋" pitchFamily="49" charset="-122"/>
                <a:cs typeface="Consolas" pitchFamily="49" charset="0"/>
              </a:rPr>
              <a:t>。</a:t>
            </a:r>
          </a:p>
        </p:txBody>
      </p:sp>
      <p:sp>
        <p:nvSpPr>
          <p:cNvPr id="6" name="灯片编号占位符 5"/>
          <p:cNvSpPr>
            <a:spLocks noGrp="1"/>
          </p:cNvSpPr>
          <p:nvPr>
            <p:ph type="sldNum" sz="quarter" idx="12"/>
          </p:nvPr>
        </p:nvSpPr>
        <p:spPr/>
        <p:txBody>
          <a:bodyPr/>
          <a:lstStyle/>
          <a:p>
            <a:pPr>
              <a:defRPr/>
            </a:pPr>
            <a:fld id="{51116183-1013-4E64-BBE8-A5C1D5D4F838}" type="slidenum">
              <a:rPr lang="en-US" altLang="zh-CN" smtClean="0"/>
              <a:pPr>
                <a:defRPr/>
              </a:pPr>
              <a:t>69</a:t>
            </a:fld>
            <a:r>
              <a:rPr lang="en-US" altLang="zh-CN"/>
              <a:t>/167</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2500298" y="1498441"/>
          <a:ext cx="3030680" cy="3016260"/>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0"/>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1"/>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2"/>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3"/>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4"/>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5"/>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6"/>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7"/>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8"/>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9"/>
                  </a:ext>
                </a:extLst>
              </a:tr>
            </a:tbl>
          </a:graphicData>
        </a:graphic>
      </p:graphicFrame>
      <p:sp>
        <p:nvSpPr>
          <p:cNvPr id="4" name="TextBox 3"/>
          <p:cNvSpPr txBox="1"/>
          <p:nvPr/>
        </p:nvSpPr>
        <p:spPr>
          <a:xfrm>
            <a:off x="2071670" y="4754415"/>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5" name="TextBox 4"/>
          <p:cNvSpPr txBox="1"/>
          <p:nvPr/>
        </p:nvSpPr>
        <p:spPr>
          <a:xfrm>
            <a:off x="2740012" y="4754415"/>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6" name="TextBox 5"/>
          <p:cNvSpPr txBox="1"/>
          <p:nvPr/>
        </p:nvSpPr>
        <p:spPr>
          <a:xfrm>
            <a:off x="3038464" y="4754415"/>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7" name="TextBox 6"/>
          <p:cNvSpPr txBox="1"/>
          <p:nvPr/>
        </p:nvSpPr>
        <p:spPr>
          <a:xfrm>
            <a:off x="3344854" y="4754415"/>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3643306" y="4754415"/>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3941758" y="4754415"/>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278310" y="4754415"/>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576762" y="4754415"/>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4883152" y="4754415"/>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181604" y="4754415"/>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480056" y="4754415"/>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2143108" y="412084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2143108" y="380969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2143108" y="349203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2143108" y="320484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2143108" y="290639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2143108" y="259524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2143108" y="23094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2143108" y="197770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2143108" y="168544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2000232" y="138222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729030" y="4464716"/>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28" name="椭圆 27"/>
          <p:cNvSpPr/>
          <p:nvPr/>
        </p:nvSpPr>
        <p:spPr>
          <a:xfrm>
            <a:off x="2441560" y="2670320"/>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9" name="TextBox 28"/>
          <p:cNvSpPr txBox="1"/>
          <p:nvPr/>
        </p:nvSpPr>
        <p:spPr>
          <a:xfrm>
            <a:off x="2428860" y="2241385"/>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32" name="椭圆 31"/>
          <p:cNvSpPr/>
          <p:nvPr/>
        </p:nvSpPr>
        <p:spPr>
          <a:xfrm>
            <a:off x="5494294" y="237186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3" name="TextBox 32"/>
          <p:cNvSpPr txBox="1"/>
          <p:nvPr/>
        </p:nvSpPr>
        <p:spPr>
          <a:xfrm>
            <a:off x="5640394" y="2132154"/>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4" name="椭圆 33"/>
          <p:cNvSpPr/>
          <p:nvPr/>
        </p:nvSpPr>
        <p:spPr>
          <a:xfrm>
            <a:off x="3675006" y="1765595"/>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5" name="TextBox 34"/>
          <p:cNvSpPr txBox="1"/>
          <p:nvPr/>
        </p:nvSpPr>
        <p:spPr>
          <a:xfrm>
            <a:off x="3821106" y="1563981"/>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53" name="椭圆 52"/>
          <p:cNvSpPr/>
          <p:nvPr/>
        </p:nvSpPr>
        <p:spPr>
          <a:xfrm>
            <a:off x="5200604" y="3597583"/>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4" name="TextBox 53"/>
          <p:cNvSpPr txBox="1"/>
          <p:nvPr/>
        </p:nvSpPr>
        <p:spPr>
          <a:xfrm>
            <a:off x="5346704" y="3509191"/>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55" name="椭圆 54"/>
          <p:cNvSpPr/>
          <p:nvPr/>
        </p:nvSpPr>
        <p:spPr>
          <a:xfrm>
            <a:off x="3370254" y="2921303"/>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6" name="TextBox 55"/>
          <p:cNvSpPr txBox="1"/>
          <p:nvPr/>
        </p:nvSpPr>
        <p:spPr>
          <a:xfrm>
            <a:off x="3357554" y="2565237"/>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57" name="椭圆 56"/>
          <p:cNvSpPr/>
          <p:nvPr/>
        </p:nvSpPr>
        <p:spPr>
          <a:xfrm>
            <a:off x="2454260" y="3857935"/>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8" name="TextBox 57"/>
          <p:cNvSpPr txBox="1"/>
          <p:nvPr/>
        </p:nvSpPr>
        <p:spPr>
          <a:xfrm>
            <a:off x="2428860" y="3955897"/>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cxnSp>
        <p:nvCxnSpPr>
          <p:cNvPr id="60" name="直接连接符 59"/>
          <p:cNvCxnSpPr/>
          <p:nvPr/>
        </p:nvCxnSpPr>
        <p:spPr>
          <a:xfrm flipV="1">
            <a:off x="4037058" y="3707795"/>
            <a:ext cx="1179362" cy="807468"/>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rot="5400000" flipH="1" flipV="1">
            <a:off x="4843740" y="2939517"/>
            <a:ext cx="1102803" cy="25550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34" idx="6"/>
            <a:endCxn id="32" idx="1"/>
          </p:cNvCxnSpPr>
          <p:nvPr/>
        </p:nvCxnSpPr>
        <p:spPr>
          <a:xfrm>
            <a:off x="3783006" y="1837595"/>
            <a:ext cx="1727104" cy="55536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34" idx="3"/>
            <a:endCxn id="28" idx="7"/>
          </p:cNvCxnSpPr>
          <p:nvPr/>
        </p:nvCxnSpPr>
        <p:spPr>
          <a:xfrm rot="5400000">
            <a:off x="2710833" y="1711418"/>
            <a:ext cx="802901" cy="11570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28" idx="6"/>
            <a:endCxn id="55" idx="2"/>
          </p:cNvCxnSpPr>
          <p:nvPr/>
        </p:nvCxnSpPr>
        <p:spPr>
          <a:xfrm>
            <a:off x="2549560" y="2742320"/>
            <a:ext cx="820694" cy="2509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endCxn id="57" idx="7"/>
          </p:cNvCxnSpPr>
          <p:nvPr/>
        </p:nvCxnSpPr>
        <p:spPr>
          <a:xfrm rot="5400000">
            <a:off x="2526089" y="3047558"/>
            <a:ext cx="851820" cy="81111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a:endCxn id="26" idx="2"/>
          </p:cNvCxnSpPr>
          <p:nvPr/>
        </p:nvCxnSpPr>
        <p:spPr>
          <a:xfrm>
            <a:off x="2571736" y="3955897"/>
            <a:ext cx="1357322" cy="57206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26" idx="6"/>
            <a:endCxn id="32" idx="3"/>
          </p:cNvCxnSpPr>
          <p:nvPr/>
        </p:nvCxnSpPr>
        <p:spPr>
          <a:xfrm flipV="1">
            <a:off x="4037058" y="2494780"/>
            <a:ext cx="1473052" cy="2033183"/>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78" name="直接连接符 77"/>
          <p:cNvCxnSpPr>
            <a:stCxn id="26" idx="6"/>
            <a:endCxn id="34" idx="4"/>
          </p:cNvCxnSpPr>
          <p:nvPr/>
        </p:nvCxnSpPr>
        <p:spPr>
          <a:xfrm flipH="1" flipV="1">
            <a:off x="3729006" y="1909595"/>
            <a:ext cx="308052" cy="2618368"/>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rot="16200000" flipV="1">
            <a:off x="2987493" y="3481060"/>
            <a:ext cx="1411748" cy="538058"/>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82" name="直接连接符 81"/>
          <p:cNvCxnSpPr>
            <a:stCxn id="27" idx="0"/>
            <a:endCxn id="28" idx="5"/>
          </p:cNvCxnSpPr>
          <p:nvPr/>
        </p:nvCxnSpPr>
        <p:spPr>
          <a:xfrm rot="16200000" flipV="1">
            <a:off x="2376212" y="2950764"/>
            <a:ext cx="1671484" cy="1356419"/>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3929058" y="4455963"/>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4" name="TextBox 83"/>
          <p:cNvSpPr txBox="1"/>
          <p:nvPr/>
        </p:nvSpPr>
        <p:spPr>
          <a:xfrm>
            <a:off x="2786050" y="571480"/>
            <a:ext cx="2143140" cy="461665"/>
          </a:xfrm>
          <a:prstGeom prst="rect">
            <a:avLst/>
          </a:prstGeom>
          <a:noFill/>
        </p:spPr>
        <p:txBody>
          <a:bodyPr wrap="square" rtlCol="0">
            <a:spAutoFit/>
          </a:bodyPr>
          <a:lstStyle/>
          <a:p>
            <a:r>
              <a:rPr lang="zh-CN" altLang="zh-CN">
                <a:solidFill>
                  <a:srgbClr val="0000FF"/>
                </a:solidFill>
                <a:latin typeface="Consolas" pitchFamily="49" charset="0"/>
                <a:ea typeface="仿宋" pitchFamily="49" charset="-122"/>
                <a:cs typeface="Consolas" pitchFamily="49" charset="0"/>
              </a:rPr>
              <a:t>以</a:t>
            </a:r>
            <a:r>
              <a:rPr lang="en-US" altLang="zh-CN">
                <a:solidFill>
                  <a:srgbClr val="0000FF"/>
                </a:solidFill>
                <a:latin typeface="Consolas" pitchFamily="49" charset="0"/>
                <a:ea typeface="仿宋" pitchFamily="49" charset="-122"/>
                <a:cs typeface="Consolas" pitchFamily="49" charset="0"/>
              </a:rPr>
              <a:t>p</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为剖分点</a:t>
            </a:r>
            <a:endParaRPr lang="zh-CN" altLang="en-US">
              <a:solidFill>
                <a:srgbClr val="0000FF"/>
              </a:solidFill>
              <a:latin typeface="Consolas" pitchFamily="49" charset="0"/>
              <a:ea typeface="仿宋" pitchFamily="49" charset="-122"/>
              <a:cs typeface="Consolas" pitchFamily="49" charset="0"/>
            </a:endParaRPr>
          </a:p>
        </p:txBody>
      </p:sp>
      <p:sp>
        <p:nvSpPr>
          <p:cNvPr id="50" name="TextBox 49"/>
          <p:cNvSpPr txBox="1"/>
          <p:nvPr/>
        </p:nvSpPr>
        <p:spPr>
          <a:xfrm>
            <a:off x="1785918" y="5357826"/>
            <a:ext cx="6000792" cy="400110"/>
          </a:xfrm>
          <a:prstGeom prst="rect">
            <a:avLst/>
          </a:prstGeom>
          <a:noFill/>
        </p:spPr>
        <p:txBody>
          <a:bodyPr wrap="square" rtlCol="0">
            <a:spAutoFit/>
          </a:bodyPr>
          <a:lstStyle/>
          <a:p>
            <a:r>
              <a:rPr lang="zh-CN" altLang="zh-CN" sz="2000">
                <a:solidFill>
                  <a:srgbClr val="0000FF"/>
                </a:solidFill>
                <a:latin typeface="Consolas" pitchFamily="49" charset="0"/>
                <a:ea typeface="华文中宋" pitchFamily="2" charset="-122"/>
                <a:cs typeface="Consolas" pitchFamily="49" charset="0"/>
              </a:rPr>
              <a:t>剖分</a:t>
            </a:r>
            <a:r>
              <a:rPr lang="zh-CN" altLang="en-US" sz="2000">
                <a:solidFill>
                  <a:srgbClr val="0000FF"/>
                </a:solidFill>
                <a:latin typeface="Consolas" pitchFamily="49" charset="0"/>
                <a:ea typeface="华文中宋" pitchFamily="2" charset="-122"/>
                <a:cs typeface="Consolas" pitchFamily="49" charset="0"/>
              </a:rPr>
              <a:t>为</a:t>
            </a:r>
            <a:r>
              <a:rPr lang="en-US" altLang="zh-CN" sz="2000">
                <a:solidFill>
                  <a:srgbClr val="0000FF"/>
                </a:solidFill>
                <a:latin typeface="Consolas" pitchFamily="49" charset="0"/>
                <a:ea typeface="华文中宋" pitchFamily="2" charset="-122"/>
                <a:cs typeface="Consolas" pitchFamily="49" charset="0"/>
              </a:rPr>
              <a:t>5</a:t>
            </a:r>
            <a:r>
              <a:rPr lang="zh-CN" altLang="en-US" sz="2000">
                <a:solidFill>
                  <a:srgbClr val="0000FF"/>
                </a:solidFill>
                <a:latin typeface="Consolas" pitchFamily="49" charset="0"/>
                <a:ea typeface="华文中宋" pitchFamily="2" charset="-122"/>
                <a:cs typeface="Consolas" pitchFamily="49" charset="0"/>
              </a:rPr>
              <a:t>个三角形！</a:t>
            </a:r>
            <a:r>
              <a:rPr lang="zh-CN" altLang="en-US" sz="2000">
                <a:solidFill>
                  <a:srgbClr val="0000FF"/>
                </a:solidFill>
                <a:latin typeface="Consolas" pitchFamily="49" charset="0"/>
                <a:ea typeface="华文中宋" pitchFamily="2" charset="-122"/>
                <a:cs typeface="Consolas" pitchFamily="49" charset="0"/>
                <a:sym typeface="Wingdings"/>
              </a:rPr>
              <a:t> </a:t>
            </a:r>
            <a:r>
              <a:rPr lang="en-US" altLang="zh-CN" sz="2000" i="1">
                <a:solidFill>
                  <a:srgbClr val="0000FF"/>
                </a:solidFill>
                <a:latin typeface="Consolas" pitchFamily="49" charset="0"/>
                <a:ea typeface="华文中宋" pitchFamily="2" charset="-122"/>
                <a:cs typeface="Consolas" pitchFamily="49" charset="0"/>
                <a:sym typeface="Wingdings"/>
              </a:rPr>
              <a:t>n</a:t>
            </a:r>
            <a:r>
              <a:rPr lang="zh-CN" altLang="en-US" sz="2000">
                <a:solidFill>
                  <a:srgbClr val="0000FF"/>
                </a:solidFill>
                <a:latin typeface="Consolas" pitchFamily="49" charset="0"/>
                <a:ea typeface="华文中宋" pitchFamily="2" charset="-122"/>
                <a:cs typeface="Consolas" pitchFamily="49" charset="0"/>
                <a:sym typeface="Wingdings"/>
              </a:rPr>
              <a:t>个顶点对应</a:t>
            </a:r>
            <a:r>
              <a:rPr lang="en-US" altLang="zh-CN" sz="2000" i="1">
                <a:solidFill>
                  <a:srgbClr val="0000FF"/>
                </a:solidFill>
                <a:latin typeface="Consolas" pitchFamily="49" charset="0"/>
                <a:ea typeface="华文中宋" pitchFamily="2" charset="-122"/>
                <a:cs typeface="Consolas" pitchFamily="49" charset="0"/>
                <a:sym typeface="Wingdings"/>
              </a:rPr>
              <a:t>n</a:t>
            </a:r>
            <a:r>
              <a:rPr lang="en-US" altLang="zh-CN" sz="2000">
                <a:solidFill>
                  <a:srgbClr val="0000FF"/>
                </a:solidFill>
                <a:latin typeface="Consolas" pitchFamily="49" charset="0"/>
                <a:ea typeface="华文中宋" pitchFamily="2" charset="-122"/>
                <a:cs typeface="Consolas" pitchFamily="49" charset="0"/>
                <a:sym typeface="Wingdings"/>
              </a:rPr>
              <a:t>-2</a:t>
            </a:r>
            <a:r>
              <a:rPr lang="zh-CN" altLang="en-US" sz="2000">
                <a:solidFill>
                  <a:srgbClr val="0000FF"/>
                </a:solidFill>
                <a:latin typeface="Consolas" pitchFamily="49" charset="0"/>
                <a:ea typeface="华文中宋" pitchFamily="2" charset="-122"/>
                <a:cs typeface="Consolas" pitchFamily="49" charset="0"/>
                <a:sym typeface="Wingdings"/>
              </a:rPr>
              <a:t>个</a:t>
            </a:r>
            <a:r>
              <a:rPr lang="zh-CN" altLang="en-US" sz="2000">
                <a:solidFill>
                  <a:srgbClr val="0000FF"/>
                </a:solidFill>
                <a:latin typeface="Consolas" pitchFamily="49" charset="0"/>
                <a:ea typeface="华文中宋" pitchFamily="2" charset="-122"/>
                <a:cs typeface="Consolas" pitchFamily="49" charset="0"/>
              </a:rPr>
              <a:t>三角形</a:t>
            </a:r>
            <a:endParaRPr lang="zh-CN" altLang="en-US" sz="2000">
              <a:latin typeface="Consolas" pitchFamily="49" charset="0"/>
              <a:ea typeface="华文中宋" pitchFamily="2" charset="-122"/>
              <a:cs typeface="Consolas" pitchFamily="49" charset="0"/>
            </a:endParaRPr>
          </a:p>
        </p:txBody>
      </p:sp>
      <p:grpSp>
        <p:nvGrpSpPr>
          <p:cNvPr id="59" name="组合 58"/>
          <p:cNvGrpSpPr/>
          <p:nvPr/>
        </p:nvGrpSpPr>
        <p:grpSpPr>
          <a:xfrm>
            <a:off x="1218459" y="357166"/>
            <a:ext cx="853211" cy="761171"/>
            <a:chOff x="6862060" y="4310903"/>
            <a:chExt cx="1128915" cy="1130667"/>
          </a:xfrm>
        </p:grpSpPr>
        <p:grpSp>
          <p:nvGrpSpPr>
            <p:cNvPr id="61" name="Group 103"/>
            <p:cNvGrpSpPr>
              <a:grpSpLocks/>
            </p:cNvGrpSpPr>
            <p:nvPr/>
          </p:nvGrpSpPr>
          <p:grpSpPr bwMode="auto">
            <a:xfrm>
              <a:off x="6862060" y="4310903"/>
              <a:ext cx="1128915" cy="1130667"/>
              <a:chOff x="2880" y="1515"/>
              <a:chExt cx="644" cy="645"/>
            </a:xfrm>
          </p:grpSpPr>
          <p:sp>
            <p:nvSpPr>
              <p:cNvPr id="64" name="Oval 104"/>
              <p:cNvSpPr>
                <a:spLocks noChangeArrowheads="1"/>
              </p:cNvSpPr>
              <p:nvPr/>
            </p:nvSpPr>
            <p:spPr bwMode="auto">
              <a:xfrm>
                <a:off x="2880" y="1516"/>
                <a:ext cx="644" cy="644"/>
              </a:xfrm>
              <a:prstGeom prst="ellipse">
                <a:avLst/>
              </a:prstGeom>
              <a:gradFill rotWithShape="1">
                <a:gsLst>
                  <a:gs pos="0">
                    <a:srgbClr val="10942F"/>
                  </a:gs>
                  <a:gs pos="100000">
                    <a:srgbClr val="16D83B"/>
                  </a:gs>
                </a:gsLst>
                <a:lin ang="5400000" scaled="1"/>
              </a:gradFill>
              <a:ln w="9525" algn="ctr">
                <a:noFill/>
                <a:round/>
                <a:headEnd/>
                <a:tailEnd/>
              </a:ln>
              <a:effectLst>
                <a:outerShdw blurRad="76200" dir="18900000" sy="23000" kx="-1200000" algn="bl" rotWithShape="0">
                  <a:prstClr val="black">
                    <a:alpha val="20000"/>
                  </a:prstClr>
                </a:outerShdw>
              </a:effectLst>
            </p:spPr>
            <p:txBody>
              <a:bodyPr wrap="none" anchor="ctr"/>
              <a:lstStyle/>
              <a:p>
                <a:endParaRPr lang="zh-CN" altLang="en-US"/>
              </a:p>
            </p:txBody>
          </p:sp>
          <p:sp>
            <p:nvSpPr>
              <p:cNvPr id="66" name="Freeform 105"/>
              <p:cNvSpPr>
                <a:spLocks/>
              </p:cNvSpPr>
              <p:nvPr/>
            </p:nvSpPr>
            <p:spPr bwMode="auto">
              <a:xfrm>
                <a:off x="2887" y="1515"/>
                <a:ext cx="630" cy="441"/>
              </a:xfrm>
              <a:custGeom>
                <a:avLst/>
                <a:gdLst/>
                <a:ahLst/>
                <a:cxnLst>
                  <a:cxn ang="0">
                    <a:pos x="1400" y="275"/>
                  </a:cxn>
                  <a:cxn ang="0">
                    <a:pos x="1596" y="795"/>
                  </a:cxn>
                  <a:cxn ang="0">
                    <a:pos x="0" y="795"/>
                  </a:cxn>
                  <a:cxn ang="0">
                    <a:pos x="217" y="252"/>
                  </a:cxn>
                  <a:cxn ang="0">
                    <a:pos x="796" y="0"/>
                  </a:cxn>
                  <a:cxn ang="0">
                    <a:pos x="1400" y="275"/>
                  </a:cxn>
                </a:cxnLst>
                <a:rect l="0" t="0" r="r" b="b"/>
                <a:pathLst>
                  <a:path w="1596" h="1118">
                    <a:moveTo>
                      <a:pt x="1400" y="275"/>
                    </a:moveTo>
                    <a:cubicBezTo>
                      <a:pt x="1522" y="417"/>
                      <a:pt x="1596" y="597"/>
                      <a:pt x="1596" y="795"/>
                    </a:cubicBezTo>
                    <a:cubicBezTo>
                      <a:pt x="1037" y="1118"/>
                      <a:pt x="668" y="611"/>
                      <a:pt x="0" y="795"/>
                    </a:cubicBezTo>
                    <a:cubicBezTo>
                      <a:pt x="0" y="585"/>
                      <a:pt x="83" y="392"/>
                      <a:pt x="217" y="252"/>
                    </a:cubicBezTo>
                    <a:cubicBezTo>
                      <a:pt x="364" y="95"/>
                      <a:pt x="570" y="0"/>
                      <a:pt x="796" y="0"/>
                    </a:cubicBezTo>
                    <a:cubicBezTo>
                      <a:pt x="1039" y="0"/>
                      <a:pt x="1253" y="108"/>
                      <a:pt x="1400" y="275"/>
                    </a:cubicBezTo>
                    <a:close/>
                  </a:path>
                </a:pathLst>
              </a:custGeom>
              <a:gradFill rotWithShape="1">
                <a:gsLst>
                  <a:gs pos="0">
                    <a:schemeClr val="bg1">
                      <a:alpha val="53000"/>
                    </a:schemeClr>
                  </a:gs>
                  <a:gs pos="100000">
                    <a:schemeClr val="bg1">
                      <a:gamma/>
                      <a:shade val="46275"/>
                      <a:invGamma/>
                      <a:alpha val="0"/>
                    </a:schemeClr>
                  </a:gs>
                </a:gsLst>
                <a:lin ang="5400000" scaled="1"/>
              </a:gradFill>
              <a:ln w="9525">
                <a:noFill/>
                <a:round/>
                <a:headEnd/>
                <a:tailEnd/>
              </a:ln>
            </p:spPr>
            <p:txBody>
              <a:bodyPr/>
              <a:lstStyle/>
              <a:p>
                <a:endParaRPr lang="zh-CN" altLang="en-US"/>
              </a:p>
            </p:txBody>
          </p:sp>
        </p:grpSp>
        <p:sp>
          <p:nvSpPr>
            <p:cNvPr id="63" name="Text Box 71"/>
            <p:cNvSpPr txBox="1">
              <a:spLocks noChangeArrowheads="1"/>
            </p:cNvSpPr>
            <p:nvPr/>
          </p:nvSpPr>
          <p:spPr bwMode="auto">
            <a:xfrm>
              <a:off x="6923115" y="4640482"/>
              <a:ext cx="1039812" cy="466324"/>
            </a:xfrm>
            <a:prstGeom prst="rect">
              <a:avLst/>
            </a:prstGeom>
            <a:noFill/>
            <a:ln w="9525">
              <a:noFill/>
              <a:miter lim="800000"/>
              <a:headEnd/>
              <a:tailEnd/>
            </a:ln>
            <a:effectLst/>
          </p:spPr>
          <p:txBody>
            <a:bodyPr anchor="ctr">
              <a:spAutoFit/>
            </a:bodyPr>
            <a:lstStyle/>
            <a:p>
              <a:pPr algn="ctr">
                <a:spcBef>
                  <a:spcPct val="50000"/>
                </a:spcBef>
              </a:pPr>
              <a:r>
                <a:rPr lang="zh-CN" altLang="en-US" sz="1800">
                  <a:solidFill>
                    <a:srgbClr val="FF0000"/>
                  </a:solidFill>
                  <a:latin typeface="微软雅黑" pitchFamily="34" charset="-122"/>
                  <a:ea typeface="微软雅黑" pitchFamily="34" charset="-122"/>
                </a:rPr>
                <a:t>示例</a:t>
              </a:r>
              <a:endParaRPr lang="en-GB" altLang="zh-CN" sz="1800">
                <a:solidFill>
                  <a:srgbClr val="FF0000"/>
                </a:solidFill>
                <a:latin typeface="微软雅黑" pitchFamily="34" charset="-122"/>
                <a:ea typeface="微软雅黑" pitchFamily="34" charset="-122"/>
              </a:endParaRPr>
            </a:p>
          </p:txBody>
        </p:sp>
      </p:grpSp>
      <p:sp>
        <p:nvSpPr>
          <p:cNvPr id="68" name="灯片编号占位符 67"/>
          <p:cNvSpPr>
            <a:spLocks noGrp="1"/>
          </p:cNvSpPr>
          <p:nvPr>
            <p:ph type="sldNum" sz="quarter" idx="12"/>
          </p:nvPr>
        </p:nvSpPr>
        <p:spPr/>
        <p:txBody>
          <a:bodyPr/>
          <a:lstStyle/>
          <a:p>
            <a:pPr>
              <a:defRPr/>
            </a:pPr>
            <a:fld id="{51116183-1013-4E64-BBE8-A5C1D5D4F838}" type="slidenum">
              <a:rPr lang="en-US" altLang="zh-CN" smtClean="0"/>
              <a:pPr>
                <a:defRPr/>
              </a:pPr>
              <a:t>70</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3" fill="hold" nodeType="clickEffect">
                                  <p:stCondLst>
                                    <p:cond delay="0"/>
                                  </p:stCondLst>
                                  <p:childTnLst>
                                    <p:set>
                                      <p:cBhvr>
                                        <p:cTn id="10" dur="1" fill="hold">
                                          <p:stCondLst>
                                            <p:cond delay="0"/>
                                          </p:stCondLst>
                                        </p:cTn>
                                        <p:tgtEl>
                                          <p:spTgt spid="76"/>
                                        </p:tgtEl>
                                        <p:attrNameLst>
                                          <p:attrName>style.visibility</p:attrName>
                                        </p:attrNameLst>
                                      </p:cBhvr>
                                      <p:to>
                                        <p:strVal val="visible"/>
                                      </p:to>
                                    </p:set>
                                    <p:animEffect transition="in" filter="strips(upRight)">
                                      <p:cBhvr>
                                        <p:cTn id="11" dur="500"/>
                                        <p:tgtEl>
                                          <p:spTgt spid="76"/>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3" fill="hold" nodeType="clickEffect">
                                  <p:stCondLst>
                                    <p:cond delay="0"/>
                                  </p:stCondLst>
                                  <p:childTnLst>
                                    <p:set>
                                      <p:cBhvr>
                                        <p:cTn id="15" dur="1" fill="hold">
                                          <p:stCondLst>
                                            <p:cond delay="0"/>
                                          </p:stCondLst>
                                        </p:cTn>
                                        <p:tgtEl>
                                          <p:spTgt spid="78"/>
                                        </p:tgtEl>
                                        <p:attrNameLst>
                                          <p:attrName>style.visibility</p:attrName>
                                        </p:attrNameLst>
                                      </p:cBhvr>
                                      <p:to>
                                        <p:strVal val="visible"/>
                                      </p:to>
                                    </p:set>
                                    <p:animEffect transition="in" filter="strips(upRight)">
                                      <p:cBhvr>
                                        <p:cTn id="16" dur="500"/>
                                        <p:tgtEl>
                                          <p:spTgt spid="78"/>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3" fill="hold" nodeType="clickEffect">
                                  <p:stCondLst>
                                    <p:cond delay="0"/>
                                  </p:stCondLst>
                                  <p:childTnLst>
                                    <p:set>
                                      <p:cBhvr>
                                        <p:cTn id="20" dur="1" fill="hold">
                                          <p:stCondLst>
                                            <p:cond delay="0"/>
                                          </p:stCondLst>
                                        </p:cTn>
                                        <p:tgtEl>
                                          <p:spTgt spid="82"/>
                                        </p:tgtEl>
                                        <p:attrNameLst>
                                          <p:attrName>style.visibility</p:attrName>
                                        </p:attrNameLst>
                                      </p:cBhvr>
                                      <p:to>
                                        <p:strVal val="visible"/>
                                      </p:to>
                                    </p:set>
                                    <p:animEffect transition="in" filter="strips(upRight)">
                                      <p:cBhvr>
                                        <p:cTn id="21" dur="500"/>
                                        <p:tgtEl>
                                          <p:spTgt spid="82"/>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3" fill="hold" nodeType="clickEffect">
                                  <p:stCondLst>
                                    <p:cond delay="0"/>
                                  </p:stCondLst>
                                  <p:childTnLst>
                                    <p:set>
                                      <p:cBhvr>
                                        <p:cTn id="25" dur="1" fill="hold">
                                          <p:stCondLst>
                                            <p:cond delay="0"/>
                                          </p:stCondLst>
                                        </p:cTn>
                                        <p:tgtEl>
                                          <p:spTgt spid="80"/>
                                        </p:tgtEl>
                                        <p:attrNameLst>
                                          <p:attrName>style.visibility</p:attrName>
                                        </p:attrNameLst>
                                      </p:cBhvr>
                                      <p:to>
                                        <p:strVal val="visible"/>
                                      </p:to>
                                    </p:set>
                                    <p:animEffect transition="in" filter="strips(upRight)">
                                      <p:cBhvr>
                                        <p:cTn id="26" dur="500"/>
                                        <p:tgtEl>
                                          <p:spTgt spid="8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0034" y="357166"/>
            <a:ext cx="2928958" cy="461665"/>
          </a:xfrm>
          <a:prstGeom prst="rect">
            <a:avLst/>
          </a:prstGeom>
          <a:noFill/>
        </p:spPr>
        <p:txBody>
          <a:bodyPr wrap="square" rtlCol="0">
            <a:spAutoFit/>
          </a:bodyPr>
          <a:lstStyle/>
          <a:p>
            <a:r>
              <a:rPr lang="zh-CN" altLang="zh-CN">
                <a:solidFill>
                  <a:srgbClr val="0000FF"/>
                </a:solidFill>
                <a:latin typeface="Consolas" pitchFamily="49" charset="0"/>
                <a:ea typeface="仿宋" pitchFamily="49" charset="-122"/>
                <a:cs typeface="Consolas" pitchFamily="49" charset="0"/>
              </a:rPr>
              <a:t>求解</a:t>
            </a:r>
            <a:r>
              <a:rPr lang="zh-CN" altLang="en-US">
                <a:solidFill>
                  <a:srgbClr val="0000FF"/>
                </a:solidFill>
                <a:latin typeface="Consolas" pitchFamily="49" charset="0"/>
                <a:ea typeface="仿宋" pitchFamily="49" charset="-122"/>
                <a:cs typeface="Consolas" pitchFamily="49" charset="0"/>
              </a:rPr>
              <a:t>面积</a:t>
            </a:r>
            <a:r>
              <a:rPr lang="zh-CN" altLang="zh-CN">
                <a:solidFill>
                  <a:srgbClr val="0000FF"/>
                </a:solidFill>
                <a:latin typeface="Consolas" pitchFamily="49" charset="0"/>
                <a:ea typeface="仿宋" pitchFamily="49" charset="-122"/>
                <a:cs typeface="Consolas" pitchFamily="49" charset="0"/>
              </a:rPr>
              <a:t>过程如下：</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357126" y="4786322"/>
            <a:ext cx="8501154" cy="1068736"/>
          </a:xfrm>
          <a:prstGeom prst="rect">
            <a:avLst/>
          </a:prstGeom>
          <a:ln>
            <a:solidFill>
              <a:schemeClr val="accent6">
                <a:lumMod val="40000"/>
                <a:lumOff val="60000"/>
              </a:schemeClr>
            </a:solidFill>
          </a:ln>
        </p:spPr>
        <p:style>
          <a:lnRef idx="2">
            <a:schemeClr val="accent2"/>
          </a:lnRef>
          <a:fillRef idx="1">
            <a:schemeClr val="lt1"/>
          </a:fillRef>
          <a:effectRef idx="0">
            <a:schemeClr val="accent2"/>
          </a:effectRef>
          <a:fontRef idx="minor">
            <a:schemeClr val="dk1"/>
          </a:fontRef>
        </p:style>
        <p:txBody>
          <a:bodyPr wrap="square" lIns="288000" tIns="72000" bIns="72000" rtlCol="0">
            <a:spAutoFit/>
          </a:bodyPr>
          <a:lstStyle/>
          <a:p>
            <a:pPr marL="457200" indent="-457200">
              <a:lnSpc>
                <a:spcPct val="150000"/>
              </a:lnSpc>
              <a:buFont typeface="+mj-ea"/>
              <a:buAutoNum type="circleNumDbPlain"/>
            </a:pPr>
            <a:r>
              <a:rPr lang="en-US" altLang="zh-CN" sz="2000">
                <a:solidFill>
                  <a:srgbClr val="0000FF"/>
                </a:solidFill>
                <a:latin typeface="Consolas" pitchFamily="49" charset="0"/>
                <a:ea typeface="楷体" pitchFamily="49" charset="-122"/>
                <a:cs typeface="Consolas" pitchFamily="49" charset="0"/>
              </a:rPr>
              <a:t>(p[1]-p[0])×(p[2]-p[0])/2=6.5</a:t>
            </a:r>
            <a:r>
              <a:rPr lang="zh-CN" altLang="zh-CN" sz="2000">
                <a:solidFill>
                  <a:srgbClr val="0000FF"/>
                </a:solidFill>
                <a:latin typeface="Consolas" pitchFamily="49" charset="0"/>
                <a:ea typeface="楷体" pitchFamily="49" charset="-122"/>
                <a:cs typeface="Consolas" pitchFamily="49" charset="0"/>
              </a:rPr>
              <a:t>，得到</a:t>
            </a:r>
            <a:r>
              <a:rPr lang="en-US" altLang="zh-CN" sz="2000" i="1">
                <a:solidFill>
                  <a:srgbClr val="FF0000"/>
                </a:solidFill>
                <a:latin typeface="Consolas" pitchFamily="49" charset="0"/>
                <a:ea typeface="楷体" pitchFamily="49" charset="-122"/>
                <a:cs typeface="Consolas" pitchFamily="49" charset="0"/>
              </a:rPr>
              <a:t>S</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0</a:t>
            </a:r>
            <a:r>
              <a:rPr lang="zh-CN" altLang="zh-CN" sz="2000">
                <a:solidFill>
                  <a:srgbClr val="FF0000"/>
                </a:solidFill>
                <a:latin typeface="Consolas" pitchFamily="49" charset="0"/>
                <a:ea typeface="楷体" pitchFamily="49" charset="-122"/>
                <a:cs typeface="Consolas" pitchFamily="49" charset="0"/>
              </a:rPr>
              <a:t>，</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1</a:t>
            </a:r>
            <a:r>
              <a:rPr lang="zh-CN" altLang="zh-CN" sz="2000">
                <a:solidFill>
                  <a:srgbClr val="FF0000"/>
                </a:solidFill>
                <a:latin typeface="Consolas" pitchFamily="49" charset="0"/>
                <a:ea typeface="楷体" pitchFamily="49" charset="-122"/>
                <a:cs typeface="Consolas" pitchFamily="49" charset="0"/>
              </a:rPr>
              <a:t>，</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2</a:t>
            </a:r>
            <a:r>
              <a:rPr lang="en-US" altLang="zh-CN" sz="2000">
                <a:solidFill>
                  <a:srgbClr val="FF0000"/>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=6.5</a:t>
            </a:r>
            <a:r>
              <a:rPr lang="zh-CN" altLang="zh-CN" sz="2000">
                <a:solidFill>
                  <a:srgbClr val="0000FF"/>
                </a:solidFill>
                <a:latin typeface="Consolas" pitchFamily="49" charset="0"/>
                <a:ea typeface="楷体" pitchFamily="49" charset="-122"/>
                <a:cs typeface="Consolas" pitchFamily="49" charset="0"/>
              </a:rPr>
              <a:t>。</a:t>
            </a:r>
          </a:p>
          <a:p>
            <a:pPr marL="457200" indent="-457200">
              <a:lnSpc>
                <a:spcPct val="150000"/>
              </a:lnSpc>
              <a:buFont typeface="+mj-ea"/>
              <a:buAutoNum type="circleNumDbPlain"/>
            </a:pPr>
            <a:r>
              <a:rPr lang="en-US" altLang="zh-CN" sz="2000">
                <a:solidFill>
                  <a:srgbClr val="0000FF"/>
                </a:solidFill>
                <a:latin typeface="Consolas" pitchFamily="49" charset="0"/>
                <a:ea typeface="楷体" pitchFamily="49" charset="-122"/>
                <a:cs typeface="Consolas" pitchFamily="49" charset="0"/>
              </a:rPr>
              <a:t>(p[2]-p[0])×(p[3]-p[0])/2=26</a:t>
            </a:r>
            <a:r>
              <a:rPr lang="zh-CN" altLang="zh-CN" sz="2000">
                <a:solidFill>
                  <a:srgbClr val="0000FF"/>
                </a:solidFill>
                <a:latin typeface="Consolas" pitchFamily="49" charset="0"/>
                <a:ea typeface="楷体" pitchFamily="49" charset="-122"/>
                <a:cs typeface="Consolas" pitchFamily="49" charset="0"/>
              </a:rPr>
              <a:t>，得到</a:t>
            </a:r>
            <a:r>
              <a:rPr lang="en-US" altLang="zh-CN" sz="2000" i="1">
                <a:solidFill>
                  <a:srgbClr val="FF0000"/>
                </a:solidFill>
                <a:latin typeface="Consolas" pitchFamily="49" charset="0"/>
                <a:ea typeface="楷体" pitchFamily="49" charset="-122"/>
                <a:cs typeface="Consolas" pitchFamily="49" charset="0"/>
              </a:rPr>
              <a:t>S</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0</a:t>
            </a:r>
            <a:r>
              <a:rPr lang="zh-CN" altLang="zh-CN" sz="2000">
                <a:solidFill>
                  <a:srgbClr val="FF0000"/>
                </a:solidFill>
                <a:latin typeface="Consolas" pitchFamily="49" charset="0"/>
                <a:ea typeface="楷体" pitchFamily="49" charset="-122"/>
                <a:cs typeface="Consolas" pitchFamily="49" charset="0"/>
              </a:rPr>
              <a:t>，</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2</a:t>
            </a:r>
            <a:r>
              <a:rPr lang="zh-CN" altLang="zh-CN" sz="2000">
                <a:solidFill>
                  <a:srgbClr val="FF0000"/>
                </a:solidFill>
                <a:latin typeface="Consolas" pitchFamily="49" charset="0"/>
                <a:ea typeface="楷体" pitchFamily="49" charset="-122"/>
                <a:cs typeface="Consolas" pitchFamily="49" charset="0"/>
              </a:rPr>
              <a:t>，</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3</a:t>
            </a:r>
            <a:r>
              <a:rPr lang="en-US" altLang="zh-CN" sz="2000">
                <a:solidFill>
                  <a:srgbClr val="FF0000"/>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=26</a:t>
            </a:r>
            <a:r>
              <a:rPr lang="zh-CN" altLang="zh-CN" sz="2000">
                <a:solidFill>
                  <a:srgbClr val="0000FF"/>
                </a:solidFill>
                <a:latin typeface="Consolas" pitchFamily="49" charset="0"/>
                <a:ea typeface="楷体" pitchFamily="49" charset="-122"/>
                <a:cs typeface="Consolas" pitchFamily="49" charset="0"/>
              </a:rPr>
              <a:t>。</a:t>
            </a:r>
          </a:p>
        </p:txBody>
      </p:sp>
      <p:graphicFrame>
        <p:nvGraphicFramePr>
          <p:cNvPr id="10" name="表格 9"/>
          <p:cNvGraphicFramePr>
            <a:graphicFrameLocks noGrp="1"/>
          </p:cNvGraphicFramePr>
          <p:nvPr/>
        </p:nvGraphicFramePr>
        <p:xfrm>
          <a:off x="2500298" y="1116320"/>
          <a:ext cx="3030680" cy="3016260"/>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0"/>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1"/>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2"/>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3"/>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4"/>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5"/>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6"/>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7"/>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8"/>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9"/>
                  </a:ext>
                </a:extLst>
              </a:tr>
            </a:tbl>
          </a:graphicData>
        </a:graphic>
      </p:graphicFrame>
      <p:sp>
        <p:nvSpPr>
          <p:cNvPr id="11" name="TextBox 10"/>
          <p:cNvSpPr txBox="1"/>
          <p:nvPr/>
        </p:nvSpPr>
        <p:spPr>
          <a:xfrm>
            <a:off x="2071670" y="4372294"/>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2740012" y="437229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3038464" y="437229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3344854" y="437229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3643306" y="437229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3941758" y="437229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4278310" y="437229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4576762" y="437229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4883152" y="437229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5181604" y="437229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5480056" y="4372294"/>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2143108" y="3738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2143108" y="3427569"/>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2143108" y="310991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2143108" y="2822727"/>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2143108" y="2524275"/>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2143108" y="221312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2143108" y="192737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9" name="TextBox 28"/>
          <p:cNvSpPr txBox="1"/>
          <p:nvPr/>
        </p:nvSpPr>
        <p:spPr>
          <a:xfrm>
            <a:off x="2143108" y="159558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30" name="TextBox 29"/>
          <p:cNvSpPr txBox="1"/>
          <p:nvPr/>
        </p:nvSpPr>
        <p:spPr>
          <a:xfrm>
            <a:off x="2143108" y="130332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31" name="TextBox 30"/>
          <p:cNvSpPr txBox="1"/>
          <p:nvPr/>
        </p:nvSpPr>
        <p:spPr>
          <a:xfrm>
            <a:off x="2000232" y="1000108"/>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32" name="TextBox 31"/>
          <p:cNvSpPr txBox="1"/>
          <p:nvPr/>
        </p:nvSpPr>
        <p:spPr>
          <a:xfrm>
            <a:off x="3729030" y="4082595"/>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33" name="椭圆 32"/>
          <p:cNvSpPr/>
          <p:nvPr/>
        </p:nvSpPr>
        <p:spPr>
          <a:xfrm>
            <a:off x="2441560" y="2288199"/>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TextBox 33"/>
          <p:cNvSpPr txBox="1"/>
          <p:nvPr/>
        </p:nvSpPr>
        <p:spPr>
          <a:xfrm>
            <a:off x="2428860" y="1859264"/>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36" name="TextBox 35"/>
          <p:cNvSpPr txBox="1"/>
          <p:nvPr/>
        </p:nvSpPr>
        <p:spPr>
          <a:xfrm>
            <a:off x="5640394" y="1750033"/>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8" name="TextBox 37"/>
          <p:cNvSpPr txBox="1"/>
          <p:nvPr/>
        </p:nvSpPr>
        <p:spPr>
          <a:xfrm>
            <a:off x="3821106" y="1181860"/>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0" name="TextBox 39"/>
          <p:cNvSpPr txBox="1"/>
          <p:nvPr/>
        </p:nvSpPr>
        <p:spPr>
          <a:xfrm>
            <a:off x="5346704" y="3127070"/>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1" name="椭圆 40"/>
          <p:cNvSpPr/>
          <p:nvPr/>
        </p:nvSpPr>
        <p:spPr>
          <a:xfrm>
            <a:off x="3370254" y="253918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TextBox 41"/>
          <p:cNvSpPr txBox="1"/>
          <p:nvPr/>
        </p:nvSpPr>
        <p:spPr>
          <a:xfrm>
            <a:off x="3357554" y="2183116"/>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3" name="椭圆 42"/>
          <p:cNvSpPr/>
          <p:nvPr/>
        </p:nvSpPr>
        <p:spPr>
          <a:xfrm>
            <a:off x="2454260" y="347581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4" name="TextBox 43"/>
          <p:cNvSpPr txBox="1"/>
          <p:nvPr/>
        </p:nvSpPr>
        <p:spPr>
          <a:xfrm>
            <a:off x="2428860" y="3573776"/>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cxnSp>
        <p:nvCxnSpPr>
          <p:cNvPr id="45" name="直接连接符 44"/>
          <p:cNvCxnSpPr/>
          <p:nvPr/>
        </p:nvCxnSpPr>
        <p:spPr>
          <a:xfrm flipV="1">
            <a:off x="4037058" y="3325674"/>
            <a:ext cx="1179362" cy="807468"/>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rot="5400000" flipH="1" flipV="1">
            <a:off x="4843740" y="2557396"/>
            <a:ext cx="1102803" cy="25550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7" idx="6"/>
            <a:endCxn id="35" idx="1"/>
          </p:cNvCxnSpPr>
          <p:nvPr/>
        </p:nvCxnSpPr>
        <p:spPr>
          <a:xfrm>
            <a:off x="3783006" y="1455474"/>
            <a:ext cx="1727104" cy="55536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37" idx="3"/>
            <a:endCxn id="33" idx="7"/>
          </p:cNvCxnSpPr>
          <p:nvPr/>
        </p:nvCxnSpPr>
        <p:spPr>
          <a:xfrm rot="5400000">
            <a:off x="2710833" y="1329297"/>
            <a:ext cx="802901" cy="11570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33" idx="6"/>
            <a:endCxn id="41" idx="2"/>
          </p:cNvCxnSpPr>
          <p:nvPr/>
        </p:nvCxnSpPr>
        <p:spPr>
          <a:xfrm>
            <a:off x="2549560" y="2360199"/>
            <a:ext cx="820694" cy="2509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endCxn id="43" idx="7"/>
          </p:cNvCxnSpPr>
          <p:nvPr/>
        </p:nvCxnSpPr>
        <p:spPr>
          <a:xfrm rot="5400000">
            <a:off x="2526089" y="2665437"/>
            <a:ext cx="851820" cy="81111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endCxn id="56" idx="2"/>
          </p:cNvCxnSpPr>
          <p:nvPr/>
        </p:nvCxnSpPr>
        <p:spPr>
          <a:xfrm>
            <a:off x="2571736" y="3573776"/>
            <a:ext cx="1357322" cy="57206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56" idx="6"/>
            <a:endCxn id="35" idx="3"/>
          </p:cNvCxnSpPr>
          <p:nvPr/>
        </p:nvCxnSpPr>
        <p:spPr>
          <a:xfrm flipV="1">
            <a:off x="4037058" y="2112659"/>
            <a:ext cx="1473052" cy="2033183"/>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56" idx="6"/>
            <a:endCxn id="37" idx="4"/>
          </p:cNvCxnSpPr>
          <p:nvPr/>
        </p:nvCxnSpPr>
        <p:spPr>
          <a:xfrm flipH="1" flipV="1">
            <a:off x="3729006" y="1527474"/>
            <a:ext cx="308052" cy="2618368"/>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rot="16200000" flipV="1">
            <a:off x="2987493" y="3098939"/>
            <a:ext cx="1411748" cy="538058"/>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32" idx="0"/>
            <a:endCxn id="33" idx="5"/>
          </p:cNvCxnSpPr>
          <p:nvPr/>
        </p:nvCxnSpPr>
        <p:spPr>
          <a:xfrm rot="16200000" flipV="1">
            <a:off x="2376212" y="2568643"/>
            <a:ext cx="1671484" cy="1356419"/>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58" name="任意多边形 57"/>
          <p:cNvSpPr/>
          <p:nvPr/>
        </p:nvSpPr>
        <p:spPr>
          <a:xfrm>
            <a:off x="4010297" y="2063931"/>
            <a:ext cx="1541417" cy="2090058"/>
          </a:xfrm>
          <a:custGeom>
            <a:avLst/>
            <a:gdLst>
              <a:gd name="connsiteX0" fmla="*/ 0 w 1541417"/>
              <a:gd name="connsiteY0" fmla="*/ 2090058 h 2090058"/>
              <a:gd name="connsiteX1" fmla="*/ 1267097 w 1541417"/>
              <a:gd name="connsiteY1" fmla="*/ 1214846 h 2090058"/>
              <a:gd name="connsiteX2" fmla="*/ 1541417 w 1541417"/>
              <a:gd name="connsiteY2" fmla="*/ 0 h 2090058"/>
              <a:gd name="connsiteX3" fmla="*/ 0 w 1541417"/>
              <a:gd name="connsiteY3" fmla="*/ 2090058 h 2090058"/>
            </a:gdLst>
            <a:ahLst/>
            <a:cxnLst>
              <a:cxn ang="0">
                <a:pos x="connsiteX0" y="connsiteY0"/>
              </a:cxn>
              <a:cxn ang="0">
                <a:pos x="connsiteX1" y="connsiteY1"/>
              </a:cxn>
              <a:cxn ang="0">
                <a:pos x="connsiteX2" y="connsiteY2"/>
              </a:cxn>
              <a:cxn ang="0">
                <a:pos x="connsiteX3" y="connsiteY3"/>
              </a:cxn>
            </a:cxnLst>
            <a:rect l="l" t="t" r="r" b="b"/>
            <a:pathLst>
              <a:path w="1541417" h="2090058">
                <a:moveTo>
                  <a:pt x="0" y="2090058"/>
                </a:moveTo>
                <a:lnTo>
                  <a:pt x="1267097" y="1214846"/>
                </a:lnTo>
                <a:lnTo>
                  <a:pt x="1541417" y="0"/>
                </a:lnTo>
                <a:lnTo>
                  <a:pt x="0" y="2090058"/>
                </a:lnTo>
                <a:close/>
              </a:path>
            </a:pathLst>
          </a:custGeom>
          <a:blipFill>
            <a:blip r:embed="rId3"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任意多边形 59"/>
          <p:cNvSpPr/>
          <p:nvPr/>
        </p:nvSpPr>
        <p:spPr>
          <a:xfrm>
            <a:off x="3696789" y="1449977"/>
            <a:ext cx="1867988" cy="2690949"/>
          </a:xfrm>
          <a:custGeom>
            <a:avLst/>
            <a:gdLst>
              <a:gd name="connsiteX0" fmla="*/ 300445 w 1867988"/>
              <a:gd name="connsiteY0" fmla="*/ 2690949 h 2690949"/>
              <a:gd name="connsiteX1" fmla="*/ 1867988 w 1867988"/>
              <a:gd name="connsiteY1" fmla="*/ 574766 h 2690949"/>
              <a:gd name="connsiteX2" fmla="*/ 0 w 1867988"/>
              <a:gd name="connsiteY2" fmla="*/ 0 h 2690949"/>
              <a:gd name="connsiteX3" fmla="*/ 300445 w 1867988"/>
              <a:gd name="connsiteY3" fmla="*/ 2690949 h 2690949"/>
            </a:gdLst>
            <a:ahLst/>
            <a:cxnLst>
              <a:cxn ang="0">
                <a:pos x="connsiteX0" y="connsiteY0"/>
              </a:cxn>
              <a:cxn ang="0">
                <a:pos x="connsiteX1" y="connsiteY1"/>
              </a:cxn>
              <a:cxn ang="0">
                <a:pos x="connsiteX2" y="connsiteY2"/>
              </a:cxn>
              <a:cxn ang="0">
                <a:pos x="connsiteX3" y="connsiteY3"/>
              </a:cxn>
            </a:cxnLst>
            <a:rect l="l" t="t" r="r" b="b"/>
            <a:pathLst>
              <a:path w="1867988" h="2690949">
                <a:moveTo>
                  <a:pt x="300445" y="2690949"/>
                </a:moveTo>
                <a:lnTo>
                  <a:pt x="1867988" y="574766"/>
                </a:lnTo>
                <a:lnTo>
                  <a:pt x="0" y="0"/>
                </a:lnTo>
                <a:lnTo>
                  <a:pt x="300445" y="2690949"/>
                </a:lnTo>
                <a:close/>
              </a:path>
            </a:pathLst>
          </a:custGeom>
          <a:blipFill>
            <a:blip r:embed="rId4"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5494294" y="1989747"/>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9" name="椭圆 38"/>
          <p:cNvSpPr/>
          <p:nvPr/>
        </p:nvSpPr>
        <p:spPr>
          <a:xfrm>
            <a:off x="5200604" y="321546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6" name="椭圆 55"/>
          <p:cNvSpPr/>
          <p:nvPr/>
        </p:nvSpPr>
        <p:spPr>
          <a:xfrm>
            <a:off x="3929058" y="407384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椭圆 36"/>
          <p:cNvSpPr/>
          <p:nvPr/>
        </p:nvSpPr>
        <p:spPr>
          <a:xfrm>
            <a:off x="3675006" y="138347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7" name="灯片编号占位符 56"/>
          <p:cNvSpPr>
            <a:spLocks noGrp="1"/>
          </p:cNvSpPr>
          <p:nvPr>
            <p:ph type="sldNum" sz="quarter" idx="12"/>
          </p:nvPr>
        </p:nvSpPr>
        <p:spPr/>
        <p:txBody>
          <a:bodyPr/>
          <a:lstStyle/>
          <a:p>
            <a:pPr>
              <a:defRPr/>
            </a:pPr>
            <a:fld id="{51116183-1013-4E64-BBE8-A5C1D5D4F838}" type="slidenum">
              <a:rPr lang="en-US" altLang="zh-CN" smtClean="0"/>
              <a:pPr>
                <a:defRPr/>
              </a:pPr>
              <a:t>71</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xit" presetSubtype="4" fill="hold" grpId="1" nodeType="clickEffect">
                                  <p:stCondLst>
                                    <p:cond delay="0"/>
                                  </p:stCondLst>
                                  <p:childTnLst>
                                    <p:animEffect transition="out" filter="wipe(down)">
                                      <p:cBhvr>
                                        <p:cTn id="10" dur="500"/>
                                        <p:tgtEl>
                                          <p:spTgt spid="58"/>
                                        </p:tgtEl>
                                      </p:cBhvr>
                                    </p:animEffect>
                                    <p:set>
                                      <p:cBhvr>
                                        <p:cTn id="11" dur="1" fill="hold">
                                          <p:stCondLst>
                                            <p:cond delay="499"/>
                                          </p:stCondLst>
                                        </p:cTn>
                                        <p:tgtEl>
                                          <p:spTgt spid="58"/>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6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844" y="3857628"/>
            <a:ext cx="8786874" cy="2064769"/>
          </a:xfrm>
          <a:prstGeom prst="rect">
            <a:avLst/>
          </a:prstGeom>
          <a:ln>
            <a:solidFill>
              <a:schemeClr val="accent6">
                <a:lumMod val="40000"/>
                <a:lumOff val="60000"/>
              </a:schemeClr>
            </a:solidFill>
          </a:ln>
        </p:spPr>
        <p:style>
          <a:lnRef idx="2">
            <a:schemeClr val="accent2"/>
          </a:lnRef>
          <a:fillRef idx="1">
            <a:schemeClr val="lt1"/>
          </a:fillRef>
          <a:effectRef idx="0">
            <a:schemeClr val="accent2"/>
          </a:effectRef>
          <a:fontRef idx="minor">
            <a:schemeClr val="dk1"/>
          </a:fontRef>
        </p:style>
        <p:txBody>
          <a:bodyPr wrap="square" lIns="252000" tIns="72000" bIns="72000" rtlCol="0">
            <a:spAutoFit/>
          </a:bodyPr>
          <a:lstStyle/>
          <a:p>
            <a:pPr marL="457200" indent="-457200">
              <a:lnSpc>
                <a:spcPct val="150000"/>
              </a:lnSpc>
              <a:buFont typeface="+mj-ea"/>
              <a:buAutoNum type="circleNumDbPlain" startAt="3"/>
            </a:pPr>
            <a:r>
              <a:rPr lang="en-US" altLang="zh-CN" sz="2000">
                <a:solidFill>
                  <a:srgbClr val="0000FF"/>
                </a:solidFill>
                <a:latin typeface="Consolas" pitchFamily="49" charset="0"/>
                <a:ea typeface="楷体" pitchFamily="49" charset="-122"/>
                <a:cs typeface="Consolas" pitchFamily="49" charset="0"/>
              </a:rPr>
              <a:t>(p[3]-p[0])×(p[4]-p[0])/2=19.5</a:t>
            </a:r>
            <a:r>
              <a:rPr lang="zh-CN" altLang="zh-CN" sz="2000">
                <a:solidFill>
                  <a:srgbClr val="0000FF"/>
                </a:solidFill>
                <a:latin typeface="Consolas" pitchFamily="49" charset="0"/>
                <a:ea typeface="楷体" pitchFamily="49" charset="-122"/>
                <a:cs typeface="Consolas" pitchFamily="49" charset="0"/>
              </a:rPr>
              <a:t>，得到</a:t>
            </a:r>
            <a:r>
              <a:rPr lang="en-US" altLang="zh-CN" sz="2000" i="1">
                <a:solidFill>
                  <a:srgbClr val="FF0000"/>
                </a:solidFill>
                <a:latin typeface="Consolas" pitchFamily="49" charset="0"/>
                <a:ea typeface="楷体" pitchFamily="49" charset="-122"/>
                <a:cs typeface="Consolas" pitchFamily="49" charset="0"/>
              </a:rPr>
              <a:t>S</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0</a:t>
            </a:r>
            <a:r>
              <a:rPr lang="zh-CN" altLang="zh-CN" sz="2000">
                <a:solidFill>
                  <a:srgbClr val="FF0000"/>
                </a:solidFill>
                <a:latin typeface="Consolas" pitchFamily="49" charset="0"/>
                <a:ea typeface="楷体" pitchFamily="49" charset="-122"/>
                <a:cs typeface="Consolas" pitchFamily="49" charset="0"/>
              </a:rPr>
              <a:t>，</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3</a:t>
            </a:r>
            <a:r>
              <a:rPr lang="zh-CN" altLang="zh-CN" sz="2000">
                <a:solidFill>
                  <a:srgbClr val="FF0000"/>
                </a:solidFill>
                <a:latin typeface="Consolas" pitchFamily="49" charset="0"/>
                <a:ea typeface="楷体" pitchFamily="49" charset="-122"/>
                <a:cs typeface="Consolas" pitchFamily="49" charset="0"/>
              </a:rPr>
              <a:t>，</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4</a:t>
            </a:r>
            <a:r>
              <a:rPr lang="en-US" altLang="zh-CN" sz="2000">
                <a:solidFill>
                  <a:srgbClr val="FF0000"/>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=19.5</a:t>
            </a:r>
            <a:r>
              <a:rPr lang="zh-CN" altLang="zh-CN" sz="2000">
                <a:solidFill>
                  <a:srgbClr val="0000FF"/>
                </a:solidFill>
                <a:latin typeface="Consolas" pitchFamily="49" charset="0"/>
                <a:ea typeface="楷体" pitchFamily="49" charset="-122"/>
                <a:cs typeface="Consolas" pitchFamily="49" charset="0"/>
              </a:rPr>
              <a:t>，含</a:t>
            </a:r>
            <a:r>
              <a:rPr lang="en-US" altLang="zh-CN" sz="2000">
                <a:solidFill>
                  <a:srgbClr val="0000FF"/>
                </a:solidFill>
                <a:latin typeface="Consolas" pitchFamily="49" charset="0"/>
                <a:ea typeface="楷体" pitchFamily="49" charset="-122"/>
                <a:cs typeface="Consolas" pitchFamily="49" charset="0"/>
              </a:rPr>
              <a:t>p</a:t>
            </a:r>
            <a:r>
              <a:rPr lang="en-US" altLang="zh-CN" sz="2000" baseline="-25000">
                <a:solidFill>
                  <a:srgbClr val="0000FF"/>
                </a:solidFill>
                <a:latin typeface="Consolas" pitchFamily="49" charset="0"/>
                <a:ea typeface="楷体" pitchFamily="49" charset="-122"/>
                <a:cs typeface="Consolas" pitchFamily="49" charset="0"/>
              </a:rPr>
              <a:t>4</a:t>
            </a:r>
            <a:r>
              <a:rPr lang="en-US" altLang="zh-CN" sz="2000">
                <a:solidFill>
                  <a:srgbClr val="0000FF"/>
                </a:solidFill>
                <a:latin typeface="Consolas" pitchFamily="49" charset="0"/>
                <a:ea typeface="楷体" pitchFamily="49" charset="-122"/>
                <a:cs typeface="Consolas" pitchFamily="49" charset="0"/>
              </a:rPr>
              <a:t>-p</a:t>
            </a:r>
            <a:r>
              <a:rPr lang="en-US" altLang="zh-CN" sz="2000" baseline="-25000">
                <a:solidFill>
                  <a:srgbClr val="0000FF"/>
                </a:solidFill>
                <a:latin typeface="Consolas" pitchFamily="49" charset="0"/>
                <a:ea typeface="楷体" pitchFamily="49" charset="-122"/>
                <a:cs typeface="Consolas" pitchFamily="49" charset="0"/>
              </a:rPr>
              <a:t>5</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x</a:t>
            </a:r>
            <a:r>
              <a:rPr lang="zh-CN" altLang="zh-CN" sz="2000">
                <a:solidFill>
                  <a:srgbClr val="0000FF"/>
                </a:solidFill>
                <a:latin typeface="Consolas" pitchFamily="49" charset="0"/>
                <a:ea typeface="楷体" pitchFamily="49" charset="-122"/>
                <a:cs typeface="Consolas" pitchFamily="49" charset="0"/>
              </a:rPr>
              <a:t>部分（不应该包括在多边形面积中）面积和</a:t>
            </a:r>
            <a:r>
              <a:rPr lang="en-US" altLang="zh-CN" sz="2000">
                <a:solidFill>
                  <a:srgbClr val="0000FF"/>
                </a:solidFill>
                <a:latin typeface="Consolas" pitchFamily="49" charset="0"/>
                <a:ea typeface="楷体" pitchFamily="49" charset="-122"/>
                <a:cs typeface="Consolas" pitchFamily="49" charset="0"/>
              </a:rPr>
              <a:t>p</a:t>
            </a:r>
            <a:r>
              <a:rPr lang="en-US" altLang="zh-CN" sz="2000" baseline="-25000">
                <a:solidFill>
                  <a:srgbClr val="0000FF"/>
                </a:solidFill>
                <a:latin typeface="Consolas" pitchFamily="49" charset="0"/>
                <a:ea typeface="楷体" pitchFamily="49" charset="-122"/>
                <a:cs typeface="Consolas" pitchFamily="49" charset="0"/>
              </a:rPr>
              <a:t>0</a:t>
            </a:r>
            <a:r>
              <a:rPr lang="en-US" altLang="zh-CN" sz="2000">
                <a:solidFill>
                  <a:srgbClr val="0000FF"/>
                </a:solidFill>
                <a:latin typeface="Consolas" pitchFamily="49" charset="0"/>
                <a:ea typeface="楷体" pitchFamily="49" charset="-122"/>
                <a:cs typeface="Consolas" pitchFamily="49" charset="0"/>
              </a:rPr>
              <a:t>-p</a:t>
            </a:r>
            <a:r>
              <a:rPr lang="en-US" altLang="zh-CN" sz="2000" baseline="-25000">
                <a:solidFill>
                  <a:srgbClr val="0000FF"/>
                </a:solidFill>
                <a:latin typeface="Consolas" pitchFamily="49" charset="0"/>
                <a:ea typeface="楷体" pitchFamily="49" charset="-122"/>
                <a:cs typeface="Consolas" pitchFamily="49" charset="0"/>
              </a:rPr>
              <a:t>5</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x</a:t>
            </a:r>
            <a:r>
              <a:rPr lang="zh-CN" altLang="zh-CN" sz="2000">
                <a:solidFill>
                  <a:srgbClr val="0000FF"/>
                </a:solidFill>
                <a:latin typeface="Consolas" pitchFamily="49" charset="0"/>
                <a:ea typeface="楷体" pitchFamily="49" charset="-122"/>
                <a:cs typeface="Consolas" pitchFamily="49" charset="0"/>
              </a:rPr>
              <a:t>部分面积</a:t>
            </a:r>
            <a:r>
              <a:rPr lang="zh-CN" altLang="en-US" sz="2000">
                <a:solidFill>
                  <a:srgbClr val="0000FF"/>
                </a:solidFill>
                <a:latin typeface="Consolas" pitchFamily="49" charset="0"/>
                <a:ea typeface="楷体" pitchFamily="49" charset="-122"/>
                <a:cs typeface="Consolas" pitchFamily="49" charset="0"/>
              </a:rPr>
              <a:t>。</a:t>
            </a:r>
            <a:endParaRPr lang="en-US" altLang="zh-CN" sz="2000">
              <a:solidFill>
                <a:srgbClr val="0000FF"/>
              </a:solidFill>
              <a:latin typeface="Consolas" pitchFamily="49" charset="0"/>
              <a:ea typeface="楷体" pitchFamily="49" charset="-122"/>
              <a:cs typeface="Consolas" pitchFamily="49" charset="0"/>
            </a:endParaRPr>
          </a:p>
          <a:p>
            <a:pPr marL="457200" indent="-457200">
              <a:lnSpc>
                <a:spcPct val="150000"/>
              </a:lnSpc>
              <a:buFont typeface="+mj-ea"/>
              <a:buAutoNum type="circleNumDbPlain" startAt="3"/>
            </a:pPr>
            <a:r>
              <a:rPr lang="en-US" altLang="zh-CN" sz="2000">
                <a:solidFill>
                  <a:srgbClr val="0000FF"/>
                </a:solidFill>
                <a:latin typeface="Consolas" pitchFamily="49" charset="0"/>
                <a:ea typeface="楷体" pitchFamily="49" charset="-122"/>
                <a:cs typeface="Consolas" pitchFamily="49" charset="0"/>
              </a:rPr>
              <a:t>(p[4]-p[0])×(p[5]-p[0])/2=-6.5</a:t>
            </a:r>
            <a:r>
              <a:rPr lang="zh-CN" altLang="zh-CN" sz="2000">
                <a:solidFill>
                  <a:srgbClr val="0000FF"/>
                </a:solidFill>
                <a:latin typeface="Consolas" pitchFamily="49" charset="0"/>
                <a:ea typeface="楷体" pitchFamily="49" charset="-122"/>
                <a:cs typeface="Consolas" pitchFamily="49" charset="0"/>
              </a:rPr>
              <a:t>，得到</a:t>
            </a:r>
            <a:r>
              <a:rPr lang="en-US" altLang="zh-CN" sz="2000" i="1">
                <a:solidFill>
                  <a:srgbClr val="FF0000"/>
                </a:solidFill>
                <a:latin typeface="Consolas" pitchFamily="49" charset="0"/>
                <a:ea typeface="楷体" pitchFamily="49" charset="-122"/>
                <a:cs typeface="Consolas" pitchFamily="49" charset="0"/>
              </a:rPr>
              <a:t>S</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0</a:t>
            </a:r>
            <a:r>
              <a:rPr lang="zh-CN" altLang="zh-CN" sz="2000">
                <a:solidFill>
                  <a:srgbClr val="FF0000"/>
                </a:solidFill>
                <a:latin typeface="Consolas" pitchFamily="49" charset="0"/>
                <a:ea typeface="楷体" pitchFamily="49" charset="-122"/>
                <a:cs typeface="Consolas" pitchFamily="49" charset="0"/>
              </a:rPr>
              <a:t>，</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4</a:t>
            </a:r>
            <a:r>
              <a:rPr lang="zh-CN" altLang="zh-CN" sz="2000">
                <a:solidFill>
                  <a:srgbClr val="FF0000"/>
                </a:solidFill>
                <a:latin typeface="Consolas" pitchFamily="49" charset="0"/>
                <a:ea typeface="楷体" pitchFamily="49" charset="-122"/>
                <a:cs typeface="Consolas" pitchFamily="49" charset="0"/>
              </a:rPr>
              <a:t>，</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5</a:t>
            </a:r>
            <a:r>
              <a:rPr lang="en-US" altLang="zh-CN" sz="2000">
                <a:solidFill>
                  <a:srgbClr val="FF0000"/>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a:t>
            </a:r>
            <a:r>
              <a:rPr lang="en-US" altLang="zh-CN" sz="2000">
                <a:solidFill>
                  <a:srgbClr val="FF00FF"/>
                </a:solidFill>
                <a:latin typeface="Consolas" pitchFamily="49" charset="0"/>
                <a:ea typeface="楷体" pitchFamily="49" charset="-122"/>
                <a:cs typeface="Consolas" pitchFamily="49" charset="0"/>
              </a:rPr>
              <a:t>-6.5</a:t>
            </a:r>
            <a:r>
              <a:rPr lang="zh-CN" altLang="zh-CN" sz="2000">
                <a:solidFill>
                  <a:srgbClr val="0000FF"/>
                </a:solidFill>
                <a:latin typeface="Consolas" pitchFamily="49" charset="0"/>
                <a:ea typeface="楷体" pitchFamily="49" charset="-122"/>
                <a:cs typeface="Consolas" pitchFamily="49" charset="0"/>
              </a:rPr>
              <a:t>。</a:t>
            </a:r>
            <a:endParaRPr lang="en-US" altLang="zh-CN" sz="2000">
              <a:solidFill>
                <a:srgbClr val="0000FF"/>
              </a:solidFill>
              <a:latin typeface="Consolas" pitchFamily="49" charset="0"/>
              <a:ea typeface="楷体" pitchFamily="49" charset="-122"/>
              <a:cs typeface="Consolas" pitchFamily="49" charset="0"/>
            </a:endParaRPr>
          </a:p>
          <a:p>
            <a:pPr marL="457200" indent="-457200">
              <a:lnSpc>
                <a:spcPct val="150000"/>
              </a:lnSpc>
              <a:buFont typeface="+mj-ea"/>
              <a:buAutoNum type="circleNumDbPlain" startAt="3"/>
            </a:pPr>
            <a:r>
              <a:rPr lang="en-US" altLang="zh-CN" sz="2000">
                <a:solidFill>
                  <a:srgbClr val="0000FF"/>
                </a:solidFill>
                <a:latin typeface="Consolas" pitchFamily="49" charset="0"/>
                <a:ea typeface="楷体" pitchFamily="49" charset="-122"/>
                <a:cs typeface="Consolas" pitchFamily="49" charset="0"/>
              </a:rPr>
              <a:t>(p[5]-p[0])×(p[6]-p[0])/2=10.5</a:t>
            </a:r>
            <a:r>
              <a:rPr lang="zh-CN" altLang="zh-CN" sz="2000">
                <a:solidFill>
                  <a:srgbClr val="0000FF"/>
                </a:solidFill>
                <a:latin typeface="Consolas" pitchFamily="49" charset="0"/>
                <a:ea typeface="楷体" pitchFamily="49" charset="-122"/>
                <a:cs typeface="Consolas" pitchFamily="49" charset="0"/>
              </a:rPr>
              <a:t>，得到</a:t>
            </a:r>
            <a:r>
              <a:rPr lang="en-US" altLang="zh-CN" sz="2000" i="1">
                <a:solidFill>
                  <a:srgbClr val="FF0000"/>
                </a:solidFill>
                <a:latin typeface="Consolas" pitchFamily="49" charset="0"/>
                <a:ea typeface="楷体" pitchFamily="49" charset="-122"/>
                <a:cs typeface="Consolas" pitchFamily="49" charset="0"/>
              </a:rPr>
              <a:t>S</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0</a:t>
            </a:r>
            <a:r>
              <a:rPr lang="zh-CN" altLang="zh-CN" sz="2000">
                <a:solidFill>
                  <a:srgbClr val="FF0000"/>
                </a:solidFill>
                <a:latin typeface="Consolas" pitchFamily="49" charset="0"/>
                <a:ea typeface="楷体" pitchFamily="49" charset="-122"/>
                <a:cs typeface="Consolas" pitchFamily="49" charset="0"/>
              </a:rPr>
              <a:t>，</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5</a:t>
            </a:r>
            <a:r>
              <a:rPr lang="zh-CN" altLang="zh-CN" sz="2000">
                <a:solidFill>
                  <a:srgbClr val="FF0000"/>
                </a:solidFill>
                <a:latin typeface="Consolas" pitchFamily="49" charset="0"/>
                <a:ea typeface="楷体" pitchFamily="49" charset="-122"/>
                <a:cs typeface="Consolas" pitchFamily="49" charset="0"/>
              </a:rPr>
              <a:t>，</a:t>
            </a:r>
            <a:r>
              <a:rPr lang="en-US" altLang="zh-CN" sz="2000">
                <a:solidFill>
                  <a:srgbClr val="FF0000"/>
                </a:solidFill>
                <a:latin typeface="Consolas" pitchFamily="49" charset="0"/>
                <a:ea typeface="楷体" pitchFamily="49" charset="-122"/>
                <a:cs typeface="Consolas" pitchFamily="49" charset="0"/>
              </a:rPr>
              <a:t>p</a:t>
            </a:r>
            <a:r>
              <a:rPr lang="en-US" altLang="zh-CN" sz="2000" baseline="-25000">
                <a:solidFill>
                  <a:srgbClr val="FF0000"/>
                </a:solidFill>
                <a:latin typeface="Consolas" pitchFamily="49" charset="0"/>
                <a:ea typeface="楷体" pitchFamily="49" charset="-122"/>
                <a:cs typeface="Consolas" pitchFamily="49" charset="0"/>
              </a:rPr>
              <a:t>6</a:t>
            </a:r>
            <a:r>
              <a:rPr lang="en-US" altLang="zh-CN" sz="2000">
                <a:solidFill>
                  <a:srgbClr val="FF0000"/>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=10.5</a:t>
            </a:r>
            <a:r>
              <a:rPr lang="zh-CN" altLang="zh-CN" sz="2000">
                <a:solidFill>
                  <a:srgbClr val="0000FF"/>
                </a:solidFill>
                <a:latin typeface="Consolas" pitchFamily="49" charset="0"/>
                <a:ea typeface="楷体" pitchFamily="49" charset="-122"/>
                <a:cs typeface="Consolas" pitchFamily="49" charset="0"/>
              </a:rPr>
              <a:t>。</a:t>
            </a:r>
          </a:p>
        </p:txBody>
      </p:sp>
      <p:graphicFrame>
        <p:nvGraphicFramePr>
          <p:cNvPr id="10" name="表格 9"/>
          <p:cNvGraphicFramePr>
            <a:graphicFrameLocks noGrp="1"/>
          </p:cNvGraphicFramePr>
          <p:nvPr/>
        </p:nvGraphicFramePr>
        <p:xfrm>
          <a:off x="2500298" y="330502"/>
          <a:ext cx="3030680" cy="3016260"/>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0"/>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1"/>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2"/>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3"/>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4"/>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5"/>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6"/>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7"/>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8"/>
                  </a:ext>
                </a:extLst>
              </a:tr>
              <a:tr h="301626">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tc>
                  <a:txBody>
                    <a:bodyPr/>
                    <a:lstStyle/>
                    <a:p>
                      <a:endParaRPr lang="zh-CN" altLang="en-US"/>
                    </a:p>
                  </a:txBody>
                  <a:tcPr marL="0" marR="0" marT="0" marB="0"/>
                </a:tc>
                <a:extLst>
                  <a:ext uri="{0D108BD9-81ED-4DB2-BD59-A6C34878D82A}">
                    <a16:rowId xmlns:a16="http://schemas.microsoft.com/office/drawing/2014/main" val="10009"/>
                  </a:ext>
                </a:extLst>
              </a:tr>
            </a:tbl>
          </a:graphicData>
        </a:graphic>
      </p:graphicFrame>
      <p:sp>
        <p:nvSpPr>
          <p:cNvPr id="11" name="TextBox 10"/>
          <p:cNvSpPr txBox="1"/>
          <p:nvPr/>
        </p:nvSpPr>
        <p:spPr>
          <a:xfrm>
            <a:off x="2071670" y="3586476"/>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2740012" y="358647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3038464" y="358647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3344854" y="358647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3643306" y="358647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3941758" y="358647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4278310" y="358647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4576762" y="358647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4883152" y="358647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5181604" y="358647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5480056" y="3586476"/>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2143108" y="295290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2143108" y="264175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2143108" y="23240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2143108" y="2036909"/>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2143108" y="1738457"/>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2143108" y="1427305"/>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2143108" y="114155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9" name="TextBox 28"/>
          <p:cNvSpPr txBox="1"/>
          <p:nvPr/>
        </p:nvSpPr>
        <p:spPr>
          <a:xfrm>
            <a:off x="2143108" y="80976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30" name="TextBox 29"/>
          <p:cNvSpPr txBox="1"/>
          <p:nvPr/>
        </p:nvSpPr>
        <p:spPr>
          <a:xfrm>
            <a:off x="2143108" y="51750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31" name="TextBox 30"/>
          <p:cNvSpPr txBox="1"/>
          <p:nvPr/>
        </p:nvSpPr>
        <p:spPr>
          <a:xfrm>
            <a:off x="2000232" y="214290"/>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32" name="TextBox 31"/>
          <p:cNvSpPr txBox="1"/>
          <p:nvPr/>
        </p:nvSpPr>
        <p:spPr>
          <a:xfrm>
            <a:off x="3729030" y="3296777"/>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34" name="TextBox 33"/>
          <p:cNvSpPr txBox="1"/>
          <p:nvPr/>
        </p:nvSpPr>
        <p:spPr>
          <a:xfrm>
            <a:off x="2428860" y="1073446"/>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35" name="椭圆 34"/>
          <p:cNvSpPr/>
          <p:nvPr/>
        </p:nvSpPr>
        <p:spPr>
          <a:xfrm>
            <a:off x="5494294" y="1203929"/>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TextBox 35"/>
          <p:cNvSpPr txBox="1"/>
          <p:nvPr/>
        </p:nvSpPr>
        <p:spPr>
          <a:xfrm>
            <a:off x="5640394" y="964215"/>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7" name="椭圆 36"/>
          <p:cNvSpPr/>
          <p:nvPr/>
        </p:nvSpPr>
        <p:spPr>
          <a:xfrm>
            <a:off x="3675006" y="59765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TextBox 37"/>
          <p:cNvSpPr txBox="1"/>
          <p:nvPr/>
        </p:nvSpPr>
        <p:spPr>
          <a:xfrm>
            <a:off x="3821106" y="396042"/>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39" name="椭圆 38"/>
          <p:cNvSpPr/>
          <p:nvPr/>
        </p:nvSpPr>
        <p:spPr>
          <a:xfrm>
            <a:off x="5200604" y="24296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TextBox 39"/>
          <p:cNvSpPr txBox="1"/>
          <p:nvPr/>
        </p:nvSpPr>
        <p:spPr>
          <a:xfrm>
            <a:off x="5346704" y="2341252"/>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1" name="椭圆 40"/>
          <p:cNvSpPr/>
          <p:nvPr/>
        </p:nvSpPr>
        <p:spPr>
          <a:xfrm>
            <a:off x="3370254" y="175336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TextBox 41"/>
          <p:cNvSpPr txBox="1"/>
          <p:nvPr/>
        </p:nvSpPr>
        <p:spPr>
          <a:xfrm>
            <a:off x="3357554" y="1397298"/>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4" name="TextBox 43"/>
          <p:cNvSpPr txBox="1"/>
          <p:nvPr/>
        </p:nvSpPr>
        <p:spPr>
          <a:xfrm>
            <a:off x="2428860" y="2787958"/>
            <a:ext cx="322266" cy="2769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p</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cxnSp>
        <p:nvCxnSpPr>
          <p:cNvPr id="45" name="直接连接符 44"/>
          <p:cNvCxnSpPr/>
          <p:nvPr/>
        </p:nvCxnSpPr>
        <p:spPr>
          <a:xfrm flipV="1">
            <a:off x="4037058" y="2539856"/>
            <a:ext cx="1179362" cy="807468"/>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rot="5400000" flipH="1" flipV="1">
            <a:off x="4843740" y="1771578"/>
            <a:ext cx="1102803" cy="25550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7" idx="6"/>
            <a:endCxn id="35" idx="1"/>
          </p:cNvCxnSpPr>
          <p:nvPr/>
        </p:nvCxnSpPr>
        <p:spPr>
          <a:xfrm>
            <a:off x="3783006" y="669656"/>
            <a:ext cx="1727104" cy="55536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37" idx="3"/>
            <a:endCxn id="33" idx="7"/>
          </p:cNvCxnSpPr>
          <p:nvPr/>
        </p:nvCxnSpPr>
        <p:spPr>
          <a:xfrm rot="5400000">
            <a:off x="2710833" y="543479"/>
            <a:ext cx="802901" cy="115707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33" idx="6"/>
            <a:endCxn id="41" idx="2"/>
          </p:cNvCxnSpPr>
          <p:nvPr/>
        </p:nvCxnSpPr>
        <p:spPr>
          <a:xfrm>
            <a:off x="2549560" y="1574381"/>
            <a:ext cx="820694" cy="2509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endCxn id="43" idx="7"/>
          </p:cNvCxnSpPr>
          <p:nvPr/>
        </p:nvCxnSpPr>
        <p:spPr>
          <a:xfrm rot="5400000">
            <a:off x="2526089" y="1879619"/>
            <a:ext cx="851820" cy="81111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endCxn id="56" idx="2"/>
          </p:cNvCxnSpPr>
          <p:nvPr/>
        </p:nvCxnSpPr>
        <p:spPr>
          <a:xfrm>
            <a:off x="2571736" y="2787958"/>
            <a:ext cx="1357322" cy="57206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56" idx="6"/>
            <a:endCxn id="35" idx="3"/>
          </p:cNvCxnSpPr>
          <p:nvPr/>
        </p:nvCxnSpPr>
        <p:spPr>
          <a:xfrm flipV="1">
            <a:off x="4037058" y="1326841"/>
            <a:ext cx="1473052" cy="2033183"/>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56" idx="6"/>
            <a:endCxn id="37" idx="4"/>
          </p:cNvCxnSpPr>
          <p:nvPr/>
        </p:nvCxnSpPr>
        <p:spPr>
          <a:xfrm flipH="1" flipV="1">
            <a:off x="3729006" y="741656"/>
            <a:ext cx="308052" cy="2618368"/>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rot="16200000" flipV="1">
            <a:off x="2987493" y="2313121"/>
            <a:ext cx="1411748" cy="538058"/>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32" idx="0"/>
            <a:endCxn id="33" idx="5"/>
          </p:cNvCxnSpPr>
          <p:nvPr/>
        </p:nvCxnSpPr>
        <p:spPr>
          <a:xfrm rot="16200000" flipV="1">
            <a:off x="2376212" y="1782825"/>
            <a:ext cx="1671484" cy="1356419"/>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57" name="任意多边形 56"/>
          <p:cNvSpPr/>
          <p:nvPr/>
        </p:nvSpPr>
        <p:spPr>
          <a:xfrm>
            <a:off x="2508069" y="731520"/>
            <a:ext cx="1502228" cy="2717075"/>
          </a:xfrm>
          <a:custGeom>
            <a:avLst/>
            <a:gdLst>
              <a:gd name="connsiteX0" fmla="*/ 1502228 w 1502228"/>
              <a:gd name="connsiteY0" fmla="*/ 2664823 h 2717075"/>
              <a:gd name="connsiteX1" fmla="*/ 1214845 w 1502228"/>
              <a:gd name="connsiteY1" fmla="*/ 0 h 2717075"/>
              <a:gd name="connsiteX2" fmla="*/ 0 w 1502228"/>
              <a:gd name="connsiteY2" fmla="*/ 836023 h 2717075"/>
              <a:gd name="connsiteX3" fmla="*/ 1476102 w 1502228"/>
              <a:gd name="connsiteY3" fmla="*/ 2717075 h 2717075"/>
            </a:gdLst>
            <a:ahLst/>
            <a:cxnLst>
              <a:cxn ang="0">
                <a:pos x="connsiteX0" y="connsiteY0"/>
              </a:cxn>
              <a:cxn ang="0">
                <a:pos x="connsiteX1" y="connsiteY1"/>
              </a:cxn>
              <a:cxn ang="0">
                <a:pos x="connsiteX2" y="connsiteY2"/>
              </a:cxn>
              <a:cxn ang="0">
                <a:pos x="connsiteX3" y="connsiteY3"/>
              </a:cxn>
            </a:cxnLst>
            <a:rect l="l" t="t" r="r" b="b"/>
            <a:pathLst>
              <a:path w="1502228" h="2717075">
                <a:moveTo>
                  <a:pt x="1502228" y="2664823"/>
                </a:moveTo>
                <a:lnTo>
                  <a:pt x="1214845" y="0"/>
                </a:lnTo>
                <a:lnTo>
                  <a:pt x="0" y="836023"/>
                </a:lnTo>
                <a:lnTo>
                  <a:pt x="1476102" y="2717075"/>
                </a:lnTo>
              </a:path>
            </a:pathLst>
          </a:custGeom>
          <a:solidFill>
            <a:srgbClr val="00B0F0">
              <a:alpha val="17000"/>
            </a:srgbClr>
          </a:solidFill>
          <a:ln w="28575">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9" name="TextBox 58"/>
          <p:cNvSpPr txBox="1"/>
          <p:nvPr/>
        </p:nvSpPr>
        <p:spPr>
          <a:xfrm>
            <a:off x="2972648" y="2285992"/>
            <a:ext cx="215904"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x</a:t>
            </a:r>
            <a:endParaRPr lang="zh-CN" altLang="en-US" sz="1800" i="1">
              <a:solidFill>
                <a:srgbClr val="0000FF"/>
              </a:solidFill>
              <a:latin typeface="Consolas" pitchFamily="49" charset="0"/>
              <a:cs typeface="Consolas" pitchFamily="49" charset="0"/>
            </a:endParaRPr>
          </a:p>
        </p:txBody>
      </p:sp>
      <p:sp>
        <p:nvSpPr>
          <p:cNvPr id="61" name="任意多边形 60"/>
          <p:cNvSpPr/>
          <p:nvPr/>
        </p:nvSpPr>
        <p:spPr>
          <a:xfrm>
            <a:off x="2481943" y="1567543"/>
            <a:ext cx="1502228" cy="1815737"/>
          </a:xfrm>
          <a:custGeom>
            <a:avLst/>
            <a:gdLst>
              <a:gd name="connsiteX0" fmla="*/ 0 w 1502228"/>
              <a:gd name="connsiteY0" fmla="*/ 0 h 1815737"/>
              <a:gd name="connsiteX1" fmla="*/ 1502228 w 1502228"/>
              <a:gd name="connsiteY1" fmla="*/ 1815737 h 1815737"/>
              <a:gd name="connsiteX2" fmla="*/ 953588 w 1502228"/>
              <a:gd name="connsiteY2" fmla="*/ 300446 h 1815737"/>
              <a:gd name="connsiteX3" fmla="*/ 0 w 1502228"/>
              <a:gd name="connsiteY3" fmla="*/ 0 h 1815737"/>
            </a:gdLst>
            <a:ahLst/>
            <a:cxnLst>
              <a:cxn ang="0">
                <a:pos x="connsiteX0" y="connsiteY0"/>
              </a:cxn>
              <a:cxn ang="0">
                <a:pos x="connsiteX1" y="connsiteY1"/>
              </a:cxn>
              <a:cxn ang="0">
                <a:pos x="connsiteX2" y="connsiteY2"/>
              </a:cxn>
              <a:cxn ang="0">
                <a:pos x="connsiteX3" y="connsiteY3"/>
              </a:cxn>
            </a:cxnLst>
            <a:rect l="l" t="t" r="r" b="b"/>
            <a:pathLst>
              <a:path w="1502228" h="1815737">
                <a:moveTo>
                  <a:pt x="0" y="0"/>
                </a:moveTo>
                <a:lnTo>
                  <a:pt x="1502228" y="1815737"/>
                </a:lnTo>
                <a:lnTo>
                  <a:pt x="953588" y="300446"/>
                </a:lnTo>
                <a:lnTo>
                  <a:pt x="0" y="0"/>
                </a:lnTo>
                <a:close/>
              </a:path>
            </a:pathLst>
          </a:cu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任意多边形 61"/>
          <p:cNvSpPr/>
          <p:nvPr/>
        </p:nvSpPr>
        <p:spPr>
          <a:xfrm>
            <a:off x="2481943" y="1802674"/>
            <a:ext cx="1502228" cy="1593669"/>
          </a:xfrm>
          <a:custGeom>
            <a:avLst/>
            <a:gdLst>
              <a:gd name="connsiteX0" fmla="*/ 940526 w 1502228"/>
              <a:gd name="connsiteY0" fmla="*/ 0 h 1593669"/>
              <a:gd name="connsiteX1" fmla="*/ 0 w 1502228"/>
              <a:gd name="connsiteY1" fmla="*/ 966652 h 1593669"/>
              <a:gd name="connsiteX2" fmla="*/ 1502228 w 1502228"/>
              <a:gd name="connsiteY2" fmla="*/ 1593669 h 1593669"/>
              <a:gd name="connsiteX3" fmla="*/ 940526 w 1502228"/>
              <a:gd name="connsiteY3" fmla="*/ 0 h 1593669"/>
            </a:gdLst>
            <a:ahLst/>
            <a:cxnLst>
              <a:cxn ang="0">
                <a:pos x="connsiteX0" y="connsiteY0"/>
              </a:cxn>
              <a:cxn ang="0">
                <a:pos x="connsiteX1" y="connsiteY1"/>
              </a:cxn>
              <a:cxn ang="0">
                <a:pos x="connsiteX2" y="connsiteY2"/>
              </a:cxn>
              <a:cxn ang="0">
                <a:pos x="connsiteX3" y="connsiteY3"/>
              </a:cxn>
            </a:cxnLst>
            <a:rect l="l" t="t" r="r" b="b"/>
            <a:pathLst>
              <a:path w="1502228" h="1593669">
                <a:moveTo>
                  <a:pt x="940526" y="0"/>
                </a:moveTo>
                <a:lnTo>
                  <a:pt x="0" y="966652"/>
                </a:lnTo>
                <a:lnTo>
                  <a:pt x="1502228" y="1593669"/>
                </a:lnTo>
                <a:lnTo>
                  <a:pt x="940526" y="0"/>
                </a:lnTo>
                <a:close/>
              </a:path>
            </a:pathLst>
          </a:custGeom>
          <a:solidFill>
            <a:srgbClr val="FF00FF">
              <a:alpha val="3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TextBox 62"/>
          <p:cNvSpPr txBox="1"/>
          <p:nvPr/>
        </p:nvSpPr>
        <p:spPr>
          <a:xfrm>
            <a:off x="714348" y="5929330"/>
            <a:ext cx="8072494" cy="707886"/>
          </a:xfrm>
          <a:prstGeom prst="rect">
            <a:avLst/>
          </a:prstGeom>
          <a:noFill/>
        </p:spPr>
        <p:txBody>
          <a:bodyPr wrap="square" rtlCol="0">
            <a:spAutoFit/>
          </a:bodyPr>
          <a:lstStyle/>
          <a:p>
            <a:r>
              <a:rPr lang="en-US" altLang="zh-CN" sz="2000" i="1">
                <a:solidFill>
                  <a:srgbClr val="FF0000"/>
                </a:solidFill>
                <a:latin typeface="Consolas" pitchFamily="49" charset="0"/>
                <a:ea typeface="仿宋" pitchFamily="49" charset="-122"/>
                <a:cs typeface="Consolas" pitchFamily="49" charset="0"/>
              </a:rPr>
              <a:t>S</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0</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3</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4</a:t>
            </a:r>
            <a:r>
              <a:rPr lang="en-US" altLang="zh-CN" sz="2000">
                <a:solidFill>
                  <a:srgbClr val="FF0000"/>
                </a:solidFill>
                <a:latin typeface="Consolas" pitchFamily="49" charset="0"/>
                <a:ea typeface="仿宋" pitchFamily="49" charset="-122"/>
                <a:cs typeface="Consolas" pitchFamily="49" charset="0"/>
              </a:rPr>
              <a:t>)+</a:t>
            </a:r>
            <a:r>
              <a:rPr lang="en-US" altLang="zh-CN" sz="2000" i="1">
                <a:solidFill>
                  <a:srgbClr val="FF0000"/>
                </a:solidFill>
                <a:latin typeface="Consolas" pitchFamily="49" charset="0"/>
                <a:ea typeface="仿宋" pitchFamily="49" charset="-122"/>
                <a:cs typeface="Consolas" pitchFamily="49" charset="0"/>
              </a:rPr>
              <a:t>S</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0</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4</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5</a:t>
            </a:r>
            <a:r>
              <a:rPr lang="en-US" altLang="zh-CN" sz="2000">
                <a:solidFill>
                  <a:srgbClr val="FF0000"/>
                </a:solidFill>
                <a:latin typeface="Consolas" pitchFamily="49" charset="0"/>
                <a:ea typeface="仿宋" pitchFamily="49" charset="-122"/>
                <a:cs typeface="Consolas" pitchFamily="49" charset="0"/>
              </a:rPr>
              <a:t>)+</a:t>
            </a:r>
            <a:r>
              <a:rPr lang="en-US" altLang="zh-CN" sz="2000" i="1">
                <a:solidFill>
                  <a:srgbClr val="FF0000"/>
                </a:solidFill>
                <a:latin typeface="Consolas" pitchFamily="49" charset="0"/>
                <a:ea typeface="仿宋" pitchFamily="49" charset="-122"/>
                <a:cs typeface="Consolas" pitchFamily="49" charset="0"/>
              </a:rPr>
              <a:t>S</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0</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5</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6</a:t>
            </a:r>
            <a:r>
              <a:rPr lang="en-US" altLang="zh-CN" sz="2000">
                <a:solidFill>
                  <a:srgbClr val="FF0000"/>
                </a:solidFill>
                <a:latin typeface="Consolas" pitchFamily="49" charset="0"/>
                <a:ea typeface="仿宋" pitchFamily="49" charset="-122"/>
                <a:cs typeface="Consolas" pitchFamily="49" charset="0"/>
              </a:rPr>
              <a:t>)</a:t>
            </a:r>
            <a:r>
              <a:rPr lang="zh-CN" altLang="en-US" sz="2000">
                <a:solidFill>
                  <a:srgbClr val="FF0000"/>
                </a:solidFill>
                <a:latin typeface="Consolas" pitchFamily="49" charset="0"/>
                <a:ea typeface="仿宋" pitchFamily="49" charset="-122"/>
                <a:cs typeface="Consolas" pitchFamily="49" charset="0"/>
              </a:rPr>
              <a:t>恰好为</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0</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3</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4</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5</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6</a:t>
            </a:r>
            <a:r>
              <a:rPr lang="en-US" altLang="zh-CN" sz="2000">
                <a:solidFill>
                  <a:srgbClr val="FF0000"/>
                </a:solidFill>
                <a:latin typeface="Consolas" pitchFamily="49" charset="0"/>
                <a:ea typeface="仿宋" pitchFamily="49" charset="-122"/>
                <a:cs typeface="Consolas" pitchFamily="49" charset="0"/>
              </a:rPr>
              <a:t>-p</a:t>
            </a:r>
            <a:r>
              <a:rPr lang="en-US" altLang="zh-CN" sz="2000" baseline="-25000">
                <a:solidFill>
                  <a:srgbClr val="FF0000"/>
                </a:solidFill>
                <a:latin typeface="Consolas" pitchFamily="49" charset="0"/>
                <a:ea typeface="仿宋" pitchFamily="49" charset="-122"/>
                <a:cs typeface="Consolas" pitchFamily="49" charset="0"/>
              </a:rPr>
              <a:t>0</a:t>
            </a:r>
            <a:r>
              <a:rPr lang="zh-CN" altLang="en-US" sz="2000">
                <a:solidFill>
                  <a:srgbClr val="FF0000"/>
                </a:solidFill>
                <a:latin typeface="Consolas" pitchFamily="49" charset="0"/>
                <a:ea typeface="仿宋" pitchFamily="49" charset="-122"/>
                <a:cs typeface="Consolas" pitchFamily="49" charset="0"/>
              </a:rPr>
              <a:t>凹多边形的面积。</a:t>
            </a:r>
          </a:p>
        </p:txBody>
      </p:sp>
      <p:sp>
        <p:nvSpPr>
          <p:cNvPr id="56" name="椭圆 55"/>
          <p:cNvSpPr/>
          <p:nvPr/>
        </p:nvSpPr>
        <p:spPr>
          <a:xfrm>
            <a:off x="3929058" y="328802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3" name="椭圆 32"/>
          <p:cNvSpPr/>
          <p:nvPr/>
        </p:nvSpPr>
        <p:spPr>
          <a:xfrm>
            <a:off x="2441560" y="1502381"/>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3" name="椭圆 42"/>
          <p:cNvSpPr/>
          <p:nvPr/>
        </p:nvSpPr>
        <p:spPr>
          <a:xfrm>
            <a:off x="2454260" y="26899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8" name="灯片编号占位符 57"/>
          <p:cNvSpPr>
            <a:spLocks noGrp="1"/>
          </p:cNvSpPr>
          <p:nvPr>
            <p:ph type="sldNum" sz="quarter" idx="12"/>
          </p:nvPr>
        </p:nvSpPr>
        <p:spPr/>
        <p:txBody>
          <a:bodyPr/>
          <a:lstStyle/>
          <a:p>
            <a:pPr>
              <a:defRPr/>
            </a:pPr>
            <a:fld id="{51116183-1013-4E64-BBE8-A5C1D5D4F838}" type="slidenum">
              <a:rPr lang="en-US" altLang="zh-CN" smtClean="0"/>
              <a:pPr>
                <a:defRPr/>
              </a:pPr>
              <a:t>72</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1" grpId="0" animBg="1"/>
      <p:bldP spid="62" grpId="0" animBg="1"/>
      <p:bldP spid="6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857364"/>
            <a:ext cx="7072362" cy="562238"/>
          </a:xfrm>
          <a:prstGeom prst="rect">
            <a:avLst/>
          </a:prstGeom>
          <a:ln>
            <a:solidFill>
              <a:schemeClr val="accent6">
                <a:lumMod val="40000"/>
                <a:lumOff val="60000"/>
              </a:schemeClr>
            </a:solidFill>
          </a:ln>
        </p:spPr>
        <p:style>
          <a:lnRef idx="2">
            <a:schemeClr val="accent2"/>
          </a:lnRef>
          <a:fillRef idx="1">
            <a:schemeClr val="lt1"/>
          </a:fillRef>
          <a:effectRef idx="0">
            <a:schemeClr val="accent2"/>
          </a:effectRef>
          <a:fontRef idx="minor">
            <a:schemeClr val="dk1"/>
          </a:fontRef>
        </p:style>
        <p:txBody>
          <a:bodyPr wrap="square" lIns="180000" tIns="144000" bIns="108000" rtlCol="0">
            <a:spAutoFit/>
          </a:bodyPr>
          <a:lstStyle/>
          <a:p>
            <a:pPr marL="457200" indent="-457200">
              <a:buFont typeface="+mj-ea"/>
              <a:buAutoNum type="circleNumDbPlain" startAt="6"/>
            </a:pPr>
            <a:r>
              <a:rPr lang="zh-CN" altLang="zh-CN" sz="2000">
                <a:solidFill>
                  <a:srgbClr val="0000FF"/>
                </a:solidFill>
                <a:latin typeface="Consolas" pitchFamily="49" charset="0"/>
                <a:ea typeface="楷体" pitchFamily="49" charset="-122"/>
                <a:cs typeface="Consolas" pitchFamily="49" charset="0"/>
              </a:rPr>
              <a:t>上述所有有向面积相加得到</a:t>
            </a:r>
            <a:r>
              <a:rPr lang="zh-CN" altLang="zh-CN" sz="2000">
                <a:solidFill>
                  <a:srgbClr val="C00000"/>
                </a:solidFill>
                <a:latin typeface="Consolas" pitchFamily="49" charset="0"/>
                <a:ea typeface="楷体" pitchFamily="49" charset="-122"/>
                <a:cs typeface="Consolas" pitchFamily="49" charset="0"/>
              </a:rPr>
              <a:t>多边形的面积</a:t>
            </a:r>
            <a:r>
              <a:rPr lang="en-US" altLang="zh-CN" sz="2000">
                <a:solidFill>
                  <a:srgbClr val="C00000"/>
                </a:solidFill>
                <a:latin typeface="Consolas" pitchFamily="49" charset="0"/>
                <a:ea typeface="楷体" pitchFamily="49" charset="-122"/>
                <a:cs typeface="Consolas" pitchFamily="49" charset="0"/>
              </a:rPr>
              <a:t>56</a:t>
            </a:r>
            <a:r>
              <a:rPr lang="zh-CN" altLang="zh-CN" sz="2000">
                <a:solidFill>
                  <a:srgbClr val="0000FF"/>
                </a:solidFill>
                <a:latin typeface="Consolas" pitchFamily="49" charset="0"/>
                <a:ea typeface="楷体" pitchFamily="49" charset="-122"/>
                <a:cs typeface="Consolas" pitchFamily="49" charset="0"/>
              </a:rPr>
              <a:t>。</a:t>
            </a: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73</a:t>
            </a:fld>
            <a:r>
              <a:rPr lang="en-US" altLang="zh-CN"/>
              <a:t>/167</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571480"/>
            <a:ext cx="8715436" cy="3026360"/>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pPr defTabSz="360000">
              <a:lnSpc>
                <a:spcPts val="3000"/>
              </a:lnSpc>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polyArea</a:t>
            </a:r>
            <a:r>
              <a:rPr lang="en-US" altLang="zh-CN" sz="2000">
                <a:solidFill>
                  <a:srgbClr val="0000FF"/>
                </a:solidFill>
                <a:latin typeface="Consolas" pitchFamily="49" charset="0"/>
                <a:ea typeface="仿宋" pitchFamily="49" charset="-122"/>
              </a:rPr>
              <a:t>(vector&lt;Point&gt; p)	{	</a:t>
            </a:r>
          </a:p>
          <a:p>
            <a:pPr defTabSz="360000">
              <a:lnSpc>
                <a:spcPts val="30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求多边形面积</a:t>
            </a:r>
          </a:p>
          <a:p>
            <a:pPr defTabSz="360000">
              <a:lnSpc>
                <a:spcPts val="3000"/>
              </a:lnSpc>
            </a:pPr>
            <a:r>
              <a:rPr lang="en-US" altLang="zh-CN" sz="2000">
                <a:solidFill>
                  <a:srgbClr val="0000FF"/>
                </a:solidFill>
                <a:latin typeface="Consolas" pitchFamily="49" charset="0"/>
                <a:ea typeface="仿宋" pitchFamily="49" charset="-122"/>
              </a:rPr>
              <a:t>	double ans=0.0;</a:t>
            </a:r>
            <a:endParaRPr lang="zh-CN" altLang="zh-CN" sz="2000">
              <a:solidFill>
                <a:srgbClr val="0000FF"/>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	for (int i=1;i&lt;p.size()-1;i++)</a:t>
            </a:r>
            <a:endParaRPr lang="zh-CN" altLang="zh-CN" sz="2000">
              <a:solidFill>
                <a:srgbClr val="0000FF"/>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		ans+=Det(p[i]-p[0],p[i+1]-p[0]);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累计有向面积</a:t>
            </a:r>
          </a:p>
          <a:p>
            <a:pPr defTabSz="360000">
              <a:lnSpc>
                <a:spcPts val="3000"/>
              </a:lnSpc>
            </a:pPr>
            <a:r>
              <a:rPr lang="en-US" altLang="zh-CN" sz="2000">
                <a:solidFill>
                  <a:srgbClr val="0000FF"/>
                </a:solidFill>
                <a:latin typeface="Consolas" pitchFamily="49" charset="0"/>
                <a:ea typeface="仿宋" pitchFamily="49" charset="-122"/>
              </a:rPr>
              <a:t>	return fabs(ans)/2;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累计有向面积的绝对值</a:t>
            </a:r>
          </a:p>
          <a:p>
            <a:pPr defTabSz="360000">
              <a:lnSpc>
                <a:spcPts val="30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74</a:t>
            </a:fld>
            <a:r>
              <a:rPr lang="en-US" altLang="zh-CN"/>
              <a:t>/167</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8596" y="214290"/>
            <a:ext cx="1041400" cy="1044575"/>
            <a:chOff x="857224" y="1071546"/>
            <a:chExt cx="1041400" cy="1044575"/>
          </a:xfrm>
        </p:grpSpPr>
        <p:sp>
          <p:nvSpPr>
            <p:cNvPr id="4"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5"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6" name="TextBox 5"/>
          <p:cNvSpPr txBox="1"/>
          <p:nvPr/>
        </p:nvSpPr>
        <p:spPr>
          <a:xfrm>
            <a:off x="428596" y="1285860"/>
            <a:ext cx="8358246" cy="3013004"/>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200"/>
              </a:lnSpc>
              <a:spcBef>
                <a:spcPts val="6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10.3</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面积（</a:t>
            </a:r>
            <a:r>
              <a:rPr lang="en-US" altLang="zh-CN">
                <a:solidFill>
                  <a:srgbClr val="0000FF"/>
                </a:solidFill>
                <a:latin typeface="Consolas" pitchFamily="49" charset="0"/>
                <a:ea typeface="仿宋" pitchFamily="49" charset="-122"/>
              </a:rPr>
              <a:t>POJ1654</a:t>
            </a:r>
            <a:r>
              <a:rPr lang="zh-CN" altLang="zh-CN">
                <a:solidFill>
                  <a:srgbClr val="0000FF"/>
                </a:solidFill>
                <a:latin typeface="Consolas" pitchFamily="49" charset="0"/>
                <a:ea typeface="仿宋" pitchFamily="49" charset="-122"/>
              </a:rPr>
              <a:t>，时间限制：</a:t>
            </a:r>
            <a:r>
              <a:rPr lang="en-US" altLang="zh-CN">
                <a:solidFill>
                  <a:srgbClr val="0000FF"/>
                </a:solidFill>
                <a:latin typeface="Consolas" pitchFamily="49" charset="0"/>
                <a:ea typeface="仿宋" pitchFamily="49" charset="-122"/>
              </a:rPr>
              <a:t>1000ms</a:t>
            </a:r>
            <a:r>
              <a:rPr lang="zh-CN" altLang="zh-CN">
                <a:solidFill>
                  <a:srgbClr val="0000FF"/>
                </a:solidFill>
                <a:latin typeface="Consolas" pitchFamily="49" charset="0"/>
                <a:ea typeface="仿宋" pitchFamily="49" charset="-122"/>
              </a:rPr>
              <a:t>，空间限制：</a:t>
            </a:r>
            <a:r>
              <a:rPr lang="en-US" altLang="zh-CN">
                <a:solidFill>
                  <a:srgbClr val="0000FF"/>
                </a:solidFill>
                <a:latin typeface="Consolas" pitchFamily="49" charset="0"/>
                <a:ea typeface="仿宋" pitchFamily="49" charset="-122"/>
              </a:rPr>
              <a:t>10000KB</a:t>
            </a:r>
            <a:r>
              <a:rPr lang="zh-CN" altLang="zh-CN">
                <a:solidFill>
                  <a:srgbClr val="0000FF"/>
                </a:solidFill>
                <a:latin typeface="Consolas" pitchFamily="49" charset="0"/>
                <a:ea typeface="仿宋" pitchFamily="49" charset="-122"/>
              </a:rPr>
              <a:t>）。你要计算一种特殊多边形的面积。多边形的一个顶点是正交坐标系的原点。从这个顶点可以一步一步地走到多边形的后续顶点直到回到最初的顶点。每一步可以以</a:t>
            </a:r>
            <a:r>
              <a:rPr lang="en-US" altLang="zh-CN">
                <a:solidFill>
                  <a:srgbClr val="0000FF"/>
                </a:solidFill>
                <a:latin typeface="Consolas" pitchFamily="49" charset="0"/>
                <a:ea typeface="仿宋" pitchFamily="49" charset="-122"/>
              </a:rPr>
              <a:t>1 </a:t>
            </a:r>
            <a:r>
              <a:rPr lang="zh-CN" altLang="zh-CN">
                <a:solidFill>
                  <a:srgbClr val="0000FF"/>
                </a:solidFill>
                <a:latin typeface="Consolas" pitchFamily="49" charset="0"/>
                <a:ea typeface="仿宋" pitchFamily="49" charset="-122"/>
              </a:rPr>
              <a:t>个单位的步长向北、向西、向南或向东移动，或者以</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的平方根步长向西北、东北、西南或东南方向移动。</a:t>
            </a:r>
            <a:endParaRPr lang="en-US" altLang="zh-CN">
              <a:solidFill>
                <a:srgbClr val="0000FF"/>
              </a:solidFill>
              <a:latin typeface="Consolas" pitchFamily="49" charset="0"/>
              <a:ea typeface="仿宋" pitchFamily="49" charset="-122"/>
            </a:endParaRPr>
          </a:p>
          <a:p>
            <a:pPr>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例如，如图所示的合法多边形的面积为</a:t>
            </a:r>
            <a:r>
              <a:rPr lang="en-US" altLang="zh-CN">
                <a:solidFill>
                  <a:srgbClr val="0000FF"/>
                </a:solidFill>
                <a:latin typeface="Consolas" pitchFamily="49" charset="0"/>
                <a:ea typeface="仿宋" pitchFamily="49" charset="-122"/>
              </a:rPr>
              <a:t>2.5</a:t>
            </a:r>
            <a:r>
              <a:rPr lang="zh-CN" altLang="zh-CN">
                <a:solidFill>
                  <a:srgbClr val="0000FF"/>
                </a:solidFill>
                <a:latin typeface="Consolas" pitchFamily="49" charset="0"/>
                <a:ea typeface="仿宋" pitchFamily="49" charset="-122"/>
              </a:rPr>
              <a:t>。</a:t>
            </a:r>
          </a:p>
        </p:txBody>
      </p:sp>
      <p:pic>
        <p:nvPicPr>
          <p:cNvPr id="7" name="图片 6"/>
          <p:cNvPicPr/>
          <p:nvPr/>
        </p:nvPicPr>
        <p:blipFill>
          <a:blip r:embed="rId3" cstate="print"/>
          <a:srcRect/>
          <a:stretch>
            <a:fillRect/>
          </a:stretch>
        </p:blipFill>
        <p:spPr bwMode="auto">
          <a:xfrm>
            <a:off x="2928926" y="4500570"/>
            <a:ext cx="2786082" cy="2000264"/>
          </a:xfrm>
          <a:prstGeom prst="rect">
            <a:avLst/>
          </a:prstGeom>
          <a:noFill/>
          <a:ln w="9525">
            <a:noFill/>
            <a:miter lim="800000"/>
            <a:headEnd/>
            <a:tailEnd/>
          </a:ln>
        </p:spPr>
      </p:pic>
      <p:sp>
        <p:nvSpPr>
          <p:cNvPr id="8" name="灯片编号占位符 7"/>
          <p:cNvSpPr>
            <a:spLocks noGrp="1"/>
          </p:cNvSpPr>
          <p:nvPr>
            <p:ph type="sldNum" sz="quarter" idx="12"/>
          </p:nvPr>
        </p:nvSpPr>
        <p:spPr/>
        <p:txBody>
          <a:bodyPr/>
          <a:lstStyle/>
          <a:p>
            <a:pPr>
              <a:defRPr/>
            </a:pPr>
            <a:fld id="{51116183-1013-4E64-BBE8-A5C1D5D4F838}" type="slidenum">
              <a:rPr lang="en-US" altLang="zh-CN" smtClean="0"/>
              <a:pPr>
                <a:defRPr/>
              </a:pPr>
              <a:t>75</a:t>
            </a:fld>
            <a:r>
              <a:rPr lang="en-US" altLang="zh-CN"/>
              <a:t>/167</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00034" y="785794"/>
            <a:ext cx="8358246" cy="3833742"/>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200"/>
              </a:lnSpc>
              <a:spcBef>
                <a:spcPts val="600"/>
              </a:spcBef>
            </a:pPr>
            <a:r>
              <a:rPr lang="zh-CN" altLang="zh-CN">
                <a:solidFill>
                  <a:srgbClr val="FF0000"/>
                </a:solidFill>
                <a:latin typeface="Consolas" pitchFamily="49" charset="0"/>
                <a:ea typeface="仿宋" pitchFamily="49" charset="-122"/>
              </a:rPr>
              <a:t>输入格式</a:t>
            </a:r>
            <a:r>
              <a:rPr lang="zh-CN" altLang="zh-CN">
                <a:solidFill>
                  <a:srgbClr val="0000FF"/>
                </a:solidFill>
                <a:latin typeface="Consolas" pitchFamily="49" charset="0"/>
                <a:ea typeface="仿宋" pitchFamily="49" charset="-122"/>
              </a:rPr>
              <a:t>：输入的第一行是一个整数</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宋体" pitchFamily="2" charset="-122"/>
                <a:ea typeface="宋体" pitchFamily="2" charset="-122"/>
              </a:rPr>
              <a:t>≤</a:t>
            </a:r>
            <a:r>
              <a:rPr lang="en-US" altLang="zh-CN">
                <a:solidFill>
                  <a:srgbClr val="0000FF"/>
                </a:solidFill>
                <a:latin typeface="Consolas" pitchFamily="49" charset="0"/>
                <a:ea typeface="仿宋" pitchFamily="49" charset="-122"/>
              </a:rPr>
              <a:t>t</a:t>
            </a:r>
            <a:r>
              <a:rPr lang="zh-CN" altLang="zh-CN">
                <a:solidFill>
                  <a:srgbClr val="0000FF"/>
                </a:solidFill>
                <a:latin typeface="宋体" pitchFamily="2" charset="-122"/>
                <a:ea typeface="宋体" pitchFamily="2" charset="-122"/>
              </a:rPr>
              <a:t>≤</a:t>
            </a:r>
            <a:r>
              <a:rPr lang="en-US" altLang="zh-CN">
                <a:solidFill>
                  <a:srgbClr val="0000FF"/>
                </a:solidFill>
                <a:latin typeface="Consolas" pitchFamily="49" charset="0"/>
                <a:ea typeface="仿宋" pitchFamily="49" charset="-122"/>
              </a:rPr>
              <a:t>20</a:t>
            </a:r>
            <a:r>
              <a:rPr lang="zh-CN" altLang="zh-CN">
                <a:solidFill>
                  <a:srgbClr val="0000FF"/>
                </a:solidFill>
                <a:latin typeface="Consolas" pitchFamily="49" charset="0"/>
                <a:ea typeface="仿宋" pitchFamily="49" charset="-122"/>
              </a:rPr>
              <a:t>），表示测试多边形的数量。每个测试用例对应一行，每行包含一个由数字</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9</a:t>
            </a:r>
            <a:r>
              <a:rPr lang="zh-CN" altLang="zh-CN">
                <a:solidFill>
                  <a:srgbClr val="0000FF"/>
                </a:solidFill>
                <a:latin typeface="Consolas" pitchFamily="49" charset="0"/>
                <a:ea typeface="仿宋" pitchFamily="49" charset="-122"/>
              </a:rPr>
              <a:t>组成的字符串，描述如何通过从原点步行形成多边形。这里的</a:t>
            </a:r>
            <a:r>
              <a:rPr lang="en-US" altLang="zh-CN">
                <a:solidFill>
                  <a:srgbClr val="0000FF"/>
                </a:solidFill>
                <a:latin typeface="Consolas" pitchFamily="49" charset="0"/>
                <a:ea typeface="仿宋" pitchFamily="49" charset="-122"/>
              </a:rPr>
              <a:t>8</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6</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代表北、南、东、西，而</a:t>
            </a:r>
            <a:r>
              <a:rPr lang="en-US" altLang="zh-CN">
                <a:solidFill>
                  <a:srgbClr val="0000FF"/>
                </a:solidFill>
                <a:latin typeface="Consolas" pitchFamily="49" charset="0"/>
                <a:ea typeface="仿宋" pitchFamily="49" charset="-122"/>
              </a:rPr>
              <a:t>9</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7</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分别代表东北、西北、东南和西南。数字</a:t>
            </a:r>
            <a:r>
              <a:rPr lang="en-US" altLang="zh-CN">
                <a:solidFill>
                  <a:srgbClr val="FF0000"/>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仅出现在序列的末尾，表示停止行走。你可以假设输入多边形是有效的，这意味着端点始终是起点并且多边形的边不相互交叉，每行最多包含</a:t>
            </a:r>
            <a:r>
              <a:rPr lang="en-US" altLang="zh-CN">
                <a:solidFill>
                  <a:srgbClr val="0000FF"/>
                </a:solidFill>
                <a:latin typeface="Consolas" pitchFamily="49" charset="0"/>
                <a:ea typeface="仿宋" pitchFamily="49" charset="-122"/>
              </a:rPr>
              <a:t>1000000</a:t>
            </a:r>
            <a:r>
              <a:rPr lang="zh-CN" altLang="zh-CN">
                <a:solidFill>
                  <a:srgbClr val="0000FF"/>
                </a:solidFill>
                <a:latin typeface="Consolas" pitchFamily="49" charset="0"/>
                <a:ea typeface="仿宋" pitchFamily="49" charset="-122"/>
              </a:rPr>
              <a:t>个数字。</a:t>
            </a:r>
          </a:p>
          <a:p>
            <a:pPr>
              <a:lnSpc>
                <a:spcPts val="3200"/>
              </a:lnSpc>
              <a:spcBef>
                <a:spcPts val="600"/>
              </a:spcBef>
            </a:pPr>
            <a:r>
              <a:rPr lang="zh-CN" altLang="zh-CN">
                <a:solidFill>
                  <a:srgbClr val="FF0000"/>
                </a:solidFill>
                <a:latin typeface="Consolas" pitchFamily="49" charset="0"/>
                <a:ea typeface="仿宋" pitchFamily="49" charset="-122"/>
              </a:rPr>
              <a:t>输出格式</a:t>
            </a:r>
            <a:r>
              <a:rPr lang="zh-CN" altLang="zh-CN">
                <a:solidFill>
                  <a:srgbClr val="0000FF"/>
                </a:solidFill>
                <a:latin typeface="Consolas" pitchFamily="49" charset="0"/>
                <a:ea typeface="仿宋" pitchFamily="49" charset="-122"/>
              </a:rPr>
              <a:t>：对于每个多边形，在一行中输出其面积。</a:t>
            </a: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76</a:t>
            </a:fld>
            <a:r>
              <a:rPr lang="en-US" altLang="zh-CN"/>
              <a:t>/167</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00034" y="642918"/>
            <a:ext cx="8358246" cy="4413686"/>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nSpc>
                <a:spcPts val="3000"/>
              </a:lnSpc>
            </a:pPr>
            <a:r>
              <a:rPr lang="zh-CN" altLang="zh-CN">
                <a:solidFill>
                  <a:srgbClr val="FF0000"/>
                </a:solidFill>
                <a:latin typeface="Consolas" pitchFamily="49" charset="0"/>
                <a:ea typeface="仿宋" pitchFamily="49" charset="-122"/>
              </a:rPr>
              <a:t>输入样例：</a:t>
            </a:r>
          </a:p>
          <a:p>
            <a:pPr>
              <a:lnSpc>
                <a:spcPts val="3000"/>
              </a:lnSpc>
            </a:pPr>
            <a:r>
              <a:rPr lang="en-US" altLang="zh-CN" sz="2000">
                <a:solidFill>
                  <a:srgbClr val="0000FF"/>
                </a:solidFill>
                <a:latin typeface="Consolas" pitchFamily="49" charset="0"/>
                <a:ea typeface="仿宋" pitchFamily="49" charset="-122"/>
              </a:rPr>
              <a:t>4</a:t>
            </a:r>
            <a:endParaRPr lang="zh-CN" altLang="zh-CN" sz="2000">
              <a:solidFill>
                <a:srgbClr val="0000FF"/>
              </a:solidFill>
              <a:latin typeface="Consolas" pitchFamily="49" charset="0"/>
              <a:ea typeface="仿宋" pitchFamily="49" charset="-122"/>
            </a:endParaRPr>
          </a:p>
          <a:p>
            <a:pPr>
              <a:lnSpc>
                <a:spcPts val="3000"/>
              </a:lnSpc>
            </a:pPr>
            <a:r>
              <a:rPr lang="en-US" altLang="zh-CN" sz="2000">
                <a:solidFill>
                  <a:srgbClr val="0000FF"/>
                </a:solidFill>
                <a:latin typeface="Consolas" pitchFamily="49" charset="0"/>
                <a:ea typeface="仿宋" pitchFamily="49" charset="-122"/>
              </a:rPr>
              <a:t>5</a:t>
            </a:r>
            <a:endParaRPr lang="zh-CN" altLang="zh-CN" sz="2000">
              <a:solidFill>
                <a:srgbClr val="0000FF"/>
              </a:solidFill>
              <a:latin typeface="Consolas" pitchFamily="49" charset="0"/>
              <a:ea typeface="仿宋" pitchFamily="49" charset="-122"/>
            </a:endParaRPr>
          </a:p>
          <a:p>
            <a:pPr>
              <a:lnSpc>
                <a:spcPts val="3000"/>
              </a:lnSpc>
            </a:pPr>
            <a:r>
              <a:rPr lang="en-US" altLang="zh-CN" sz="2000">
                <a:solidFill>
                  <a:srgbClr val="0000FF"/>
                </a:solidFill>
                <a:latin typeface="Consolas" pitchFamily="49" charset="0"/>
                <a:ea typeface="仿宋" pitchFamily="49" charset="-122"/>
              </a:rPr>
              <a:t>825</a:t>
            </a:r>
            <a:endParaRPr lang="zh-CN" altLang="zh-CN" sz="2000">
              <a:solidFill>
                <a:srgbClr val="0000FF"/>
              </a:solidFill>
              <a:latin typeface="Consolas" pitchFamily="49" charset="0"/>
              <a:ea typeface="仿宋" pitchFamily="49" charset="-122"/>
            </a:endParaRPr>
          </a:p>
          <a:p>
            <a:pPr>
              <a:lnSpc>
                <a:spcPts val="3000"/>
              </a:lnSpc>
            </a:pPr>
            <a:r>
              <a:rPr lang="en-US" altLang="zh-CN" sz="2000">
                <a:solidFill>
                  <a:srgbClr val="0000FF"/>
                </a:solidFill>
                <a:latin typeface="Consolas" pitchFamily="49" charset="0"/>
                <a:ea typeface="仿宋" pitchFamily="49" charset="-122"/>
              </a:rPr>
              <a:t>6725</a:t>
            </a:r>
            <a:endParaRPr lang="zh-CN" altLang="zh-CN" sz="2000">
              <a:solidFill>
                <a:srgbClr val="0000FF"/>
              </a:solidFill>
              <a:latin typeface="Consolas" pitchFamily="49" charset="0"/>
              <a:ea typeface="仿宋" pitchFamily="49" charset="-122"/>
            </a:endParaRPr>
          </a:p>
          <a:p>
            <a:pPr>
              <a:lnSpc>
                <a:spcPts val="3000"/>
              </a:lnSpc>
            </a:pPr>
            <a:r>
              <a:rPr lang="en-US" altLang="zh-CN" sz="2000">
                <a:solidFill>
                  <a:srgbClr val="0000FF"/>
                </a:solidFill>
                <a:latin typeface="Consolas" pitchFamily="49" charset="0"/>
                <a:ea typeface="仿宋" pitchFamily="49" charset="-122"/>
              </a:rPr>
              <a:t>6244865</a:t>
            </a:r>
            <a:endParaRPr lang="zh-CN" altLang="zh-CN" sz="2000">
              <a:solidFill>
                <a:srgbClr val="0000FF"/>
              </a:solidFill>
              <a:latin typeface="Consolas" pitchFamily="49" charset="0"/>
              <a:ea typeface="仿宋" pitchFamily="49" charset="-122"/>
            </a:endParaRPr>
          </a:p>
          <a:p>
            <a:pPr>
              <a:lnSpc>
                <a:spcPts val="3000"/>
              </a:lnSpc>
            </a:pPr>
            <a:r>
              <a:rPr lang="zh-CN" altLang="zh-CN">
                <a:solidFill>
                  <a:srgbClr val="FF0000"/>
                </a:solidFill>
                <a:latin typeface="Consolas" pitchFamily="49" charset="0"/>
                <a:ea typeface="仿宋" pitchFamily="49" charset="-122"/>
              </a:rPr>
              <a:t>输出样例：</a:t>
            </a:r>
          </a:p>
          <a:p>
            <a:pPr>
              <a:lnSpc>
                <a:spcPts val="3000"/>
              </a:lnSpc>
            </a:pPr>
            <a:r>
              <a:rPr lang="en-US" altLang="zh-CN" sz="2000">
                <a:solidFill>
                  <a:srgbClr val="0000FF"/>
                </a:solidFill>
                <a:latin typeface="Consolas" pitchFamily="49" charset="0"/>
                <a:ea typeface="仿宋" pitchFamily="49" charset="-122"/>
              </a:rPr>
              <a:t>0</a:t>
            </a:r>
            <a:endParaRPr lang="zh-CN" altLang="zh-CN" sz="2000">
              <a:solidFill>
                <a:srgbClr val="0000FF"/>
              </a:solidFill>
              <a:latin typeface="Consolas" pitchFamily="49" charset="0"/>
              <a:ea typeface="仿宋" pitchFamily="49" charset="-122"/>
            </a:endParaRPr>
          </a:p>
          <a:p>
            <a:pPr>
              <a:lnSpc>
                <a:spcPts val="3000"/>
              </a:lnSpc>
            </a:pPr>
            <a:r>
              <a:rPr lang="en-US" altLang="zh-CN" sz="2000">
                <a:solidFill>
                  <a:srgbClr val="0000FF"/>
                </a:solidFill>
                <a:latin typeface="Consolas" pitchFamily="49" charset="0"/>
                <a:ea typeface="仿宋" pitchFamily="49" charset="-122"/>
              </a:rPr>
              <a:t>0</a:t>
            </a:r>
            <a:endParaRPr lang="zh-CN" altLang="zh-CN" sz="2000">
              <a:solidFill>
                <a:srgbClr val="0000FF"/>
              </a:solidFill>
              <a:latin typeface="Consolas" pitchFamily="49" charset="0"/>
              <a:ea typeface="仿宋" pitchFamily="49" charset="-122"/>
            </a:endParaRPr>
          </a:p>
          <a:p>
            <a:pPr>
              <a:lnSpc>
                <a:spcPts val="3000"/>
              </a:lnSpc>
            </a:pPr>
            <a:r>
              <a:rPr lang="en-US" altLang="zh-CN" sz="2000">
                <a:solidFill>
                  <a:srgbClr val="0000FF"/>
                </a:solidFill>
                <a:latin typeface="Consolas" pitchFamily="49" charset="0"/>
                <a:ea typeface="仿宋" pitchFamily="49" charset="-122"/>
              </a:rPr>
              <a:t>0.5</a:t>
            </a:r>
            <a:endParaRPr lang="zh-CN" altLang="zh-CN" sz="2000">
              <a:solidFill>
                <a:srgbClr val="0000FF"/>
              </a:solidFill>
              <a:latin typeface="Consolas" pitchFamily="49" charset="0"/>
              <a:ea typeface="仿宋" pitchFamily="49" charset="-122"/>
            </a:endParaRPr>
          </a:p>
          <a:p>
            <a:pPr>
              <a:lnSpc>
                <a:spcPts val="3000"/>
              </a:lnSpc>
            </a:pPr>
            <a:r>
              <a:rPr lang="en-US" altLang="zh-CN" sz="2000">
                <a:solidFill>
                  <a:srgbClr val="0000FF"/>
                </a:solidFill>
                <a:latin typeface="Consolas" pitchFamily="49" charset="0"/>
                <a:ea typeface="仿宋" pitchFamily="49" charset="-122"/>
              </a:rPr>
              <a:t>2</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77</a:t>
            </a:fld>
            <a:r>
              <a:rPr lang="en-US" altLang="zh-CN"/>
              <a:t>/167</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500042"/>
            <a:ext cx="642942"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500034" y="1258900"/>
            <a:ext cx="7858212" cy="88421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nSpc>
                <a:spcPts val="3200"/>
              </a:lnSpc>
              <a:spcBef>
                <a:spcPts val="600"/>
              </a:spcBef>
              <a:buBlip>
                <a:blip r:embed="rId2"/>
              </a:buBlip>
            </a:pPr>
            <a:r>
              <a:rPr lang="zh-CN" altLang="zh-CN">
                <a:solidFill>
                  <a:srgbClr val="0000FF"/>
                </a:solidFill>
                <a:latin typeface="Consolas" pitchFamily="49" charset="0"/>
                <a:ea typeface="仿宋" pitchFamily="49" charset="-122"/>
              </a:rPr>
              <a:t>题目中的方位图如图所示，用</a:t>
            </a:r>
            <a:r>
              <a:rPr lang="en-US" altLang="zh-CN">
                <a:solidFill>
                  <a:srgbClr val="0000FF"/>
                </a:solidFill>
                <a:latin typeface="Consolas" pitchFamily="49" charset="0"/>
                <a:ea typeface="仿宋" pitchFamily="49" charset="-122"/>
              </a:rPr>
              <a:t>dx</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dy</a:t>
            </a:r>
            <a:r>
              <a:rPr lang="zh-CN" altLang="zh-CN">
                <a:solidFill>
                  <a:srgbClr val="0000FF"/>
                </a:solidFill>
                <a:latin typeface="Consolas" pitchFamily="49" charset="0"/>
                <a:ea typeface="仿宋" pitchFamily="49" charset="-122"/>
              </a:rPr>
              <a:t>数组表示</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和</a:t>
            </a:r>
            <a:r>
              <a:rPr lang="en-US" altLang="zh-CN" i="1">
                <a:solidFill>
                  <a:srgbClr val="0000FF"/>
                </a:solidFill>
                <a:latin typeface="Consolas" pitchFamily="49" charset="0"/>
                <a:ea typeface="仿宋" pitchFamily="49" charset="-122"/>
              </a:rPr>
              <a:t>y</a:t>
            </a:r>
            <a:r>
              <a:rPr lang="zh-CN" altLang="zh-CN">
                <a:solidFill>
                  <a:srgbClr val="0000FF"/>
                </a:solidFill>
                <a:latin typeface="Consolas" pitchFamily="49" charset="0"/>
                <a:ea typeface="仿宋" pitchFamily="49" charset="-122"/>
              </a:rPr>
              <a:t>方向的偏移量。</a:t>
            </a:r>
            <a:endParaRPr lang="en-US" altLang="zh-CN">
              <a:solidFill>
                <a:srgbClr val="0000FF"/>
              </a:solidFill>
              <a:latin typeface="Consolas" pitchFamily="49" charset="0"/>
              <a:ea typeface="仿宋" pitchFamily="49" charset="-122"/>
            </a:endParaRPr>
          </a:p>
        </p:txBody>
      </p:sp>
      <p:sp>
        <p:nvSpPr>
          <p:cNvPr id="199695"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0" name="组合 19"/>
          <p:cNvGrpSpPr/>
          <p:nvPr/>
        </p:nvGrpSpPr>
        <p:grpSpPr>
          <a:xfrm>
            <a:off x="1428728" y="2667985"/>
            <a:ext cx="5857916" cy="3307980"/>
            <a:chOff x="857224" y="2025043"/>
            <a:chExt cx="5857916" cy="3307980"/>
          </a:xfrm>
        </p:grpSpPr>
        <p:sp>
          <p:nvSpPr>
            <p:cNvPr id="199693" name="Rectangle 13"/>
            <p:cNvSpPr>
              <a:spLocks noChangeArrowheads="1"/>
            </p:cNvSpPr>
            <p:nvPr/>
          </p:nvSpPr>
          <p:spPr bwMode="auto">
            <a:xfrm>
              <a:off x="3357554" y="5000636"/>
              <a:ext cx="1357322" cy="3323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南</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(0,-1):2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9692" name="AutoShape 12"/>
            <p:cNvSpPr>
              <a:spLocks noChangeShapeType="1"/>
            </p:cNvSpPr>
            <p:nvPr/>
          </p:nvSpPr>
          <p:spPr bwMode="auto">
            <a:xfrm flipV="1">
              <a:off x="2298926" y="3650210"/>
              <a:ext cx="3205667" cy="1227"/>
            </a:xfrm>
            <a:prstGeom prst="straightConnector1">
              <a:avLst/>
            </a:prstGeom>
            <a:noFill/>
            <a:ln w="2857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99691" name="AutoShape 11"/>
            <p:cNvSpPr>
              <a:spLocks noChangeShapeType="1"/>
            </p:cNvSpPr>
            <p:nvPr/>
          </p:nvSpPr>
          <p:spPr bwMode="auto">
            <a:xfrm flipV="1">
              <a:off x="3945576" y="2404065"/>
              <a:ext cx="0" cy="2468986"/>
            </a:xfrm>
            <a:prstGeom prst="straightConnector1">
              <a:avLst/>
            </a:prstGeom>
            <a:noFill/>
            <a:ln w="2857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99690" name="AutoShape 10"/>
            <p:cNvSpPr>
              <a:spLocks noChangeShapeType="1"/>
            </p:cNvSpPr>
            <p:nvPr/>
          </p:nvSpPr>
          <p:spPr bwMode="auto">
            <a:xfrm flipH="1">
              <a:off x="2796455" y="2654275"/>
              <a:ext cx="2248773" cy="2026212"/>
            </a:xfrm>
            <a:prstGeom prst="straightConnector1">
              <a:avLst/>
            </a:prstGeom>
            <a:noFill/>
            <a:ln w="2857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99689" name="AutoShape 9"/>
            <p:cNvSpPr>
              <a:spLocks noChangeShapeType="1"/>
            </p:cNvSpPr>
            <p:nvPr/>
          </p:nvSpPr>
          <p:spPr bwMode="auto">
            <a:xfrm>
              <a:off x="2745571" y="2803911"/>
              <a:ext cx="2448067" cy="1712222"/>
            </a:xfrm>
            <a:prstGeom prst="straightConnector1">
              <a:avLst/>
            </a:prstGeom>
            <a:noFill/>
            <a:ln w="2857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99688" name="Rectangle 8"/>
            <p:cNvSpPr>
              <a:spLocks noChangeArrowheads="1"/>
            </p:cNvSpPr>
            <p:nvPr/>
          </p:nvSpPr>
          <p:spPr bwMode="auto">
            <a:xfrm>
              <a:off x="857224" y="3523878"/>
              <a:ext cx="1357322" cy="33116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西</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(-1,0):4</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9687" name="Rectangle 7"/>
            <p:cNvSpPr>
              <a:spLocks noChangeArrowheads="1"/>
            </p:cNvSpPr>
            <p:nvPr/>
          </p:nvSpPr>
          <p:spPr bwMode="auto">
            <a:xfrm>
              <a:off x="3367482" y="2025043"/>
              <a:ext cx="1275956" cy="3323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北</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(0,1):8</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9686" name="Rectangle 6"/>
            <p:cNvSpPr>
              <a:spLocks noChangeArrowheads="1"/>
            </p:cNvSpPr>
            <p:nvPr/>
          </p:nvSpPr>
          <p:spPr bwMode="auto">
            <a:xfrm>
              <a:off x="4997171" y="4647371"/>
              <a:ext cx="1575094" cy="33116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东南</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(1,-1):3</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9685" name="Rectangle 5"/>
            <p:cNvSpPr>
              <a:spLocks noChangeArrowheads="1"/>
            </p:cNvSpPr>
            <p:nvPr/>
          </p:nvSpPr>
          <p:spPr bwMode="auto">
            <a:xfrm>
              <a:off x="5506007" y="3512839"/>
              <a:ext cx="1209133" cy="3323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东</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(1,0):6</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9684" name="Rectangle 4"/>
            <p:cNvSpPr>
              <a:spLocks noChangeArrowheads="1"/>
            </p:cNvSpPr>
            <p:nvPr/>
          </p:nvSpPr>
          <p:spPr bwMode="auto">
            <a:xfrm>
              <a:off x="1071538" y="2503413"/>
              <a:ext cx="1571636" cy="3336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西北</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(-1,1):7</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9683" name="Rectangle 3"/>
            <p:cNvSpPr>
              <a:spLocks noChangeArrowheads="1"/>
            </p:cNvSpPr>
            <p:nvPr/>
          </p:nvSpPr>
          <p:spPr bwMode="auto">
            <a:xfrm>
              <a:off x="5188104" y="2454897"/>
              <a:ext cx="1384160" cy="33116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东北</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(1,1):9</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99682" name="Rectangle 2"/>
            <p:cNvSpPr>
              <a:spLocks noChangeArrowheads="1"/>
            </p:cNvSpPr>
            <p:nvPr/>
          </p:nvSpPr>
          <p:spPr bwMode="auto">
            <a:xfrm>
              <a:off x="1142976" y="4747946"/>
              <a:ext cx="1714512" cy="3323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西南</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(-1,-1):1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21" name="灯片编号占位符 20"/>
          <p:cNvSpPr>
            <a:spLocks noGrp="1"/>
          </p:cNvSpPr>
          <p:nvPr>
            <p:ph type="sldNum" sz="quarter" idx="12"/>
          </p:nvPr>
        </p:nvSpPr>
        <p:spPr/>
        <p:txBody>
          <a:bodyPr/>
          <a:lstStyle/>
          <a:p>
            <a:pPr>
              <a:defRPr/>
            </a:pPr>
            <a:fld id="{51116183-1013-4E64-BBE8-A5C1D5D4F838}" type="slidenum">
              <a:rPr lang="en-US" altLang="zh-CN" smtClean="0"/>
              <a:pPr>
                <a:defRPr/>
              </a:pPr>
              <a:t>78</a:t>
            </a:fld>
            <a:r>
              <a:rPr lang="en-US" altLang="zh-CN"/>
              <a:t>/167</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76" y="773328"/>
            <a:ext cx="8929718" cy="301621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nSpc>
                <a:spcPts val="3200"/>
              </a:lnSpc>
              <a:spcBef>
                <a:spcPts val="1200"/>
              </a:spcBef>
              <a:buBlip>
                <a:blip r:embed="rId2"/>
              </a:buBlip>
            </a:pPr>
            <a:r>
              <a:rPr lang="zh-CN" altLang="zh-CN">
                <a:solidFill>
                  <a:srgbClr val="0000FF"/>
                </a:solidFill>
                <a:latin typeface="Consolas" pitchFamily="49" charset="0"/>
                <a:ea typeface="仿宋" pitchFamily="49" charset="-122"/>
              </a:rPr>
              <a:t>多边形的起始点是</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，若当前点为</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(px</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py)</a:t>
            </a:r>
            <a:r>
              <a:rPr lang="zh-CN" altLang="zh-CN">
                <a:solidFill>
                  <a:srgbClr val="0000FF"/>
                </a:solidFill>
                <a:latin typeface="Consolas" pitchFamily="49" charset="0"/>
                <a:ea typeface="仿宋" pitchFamily="49" charset="-122"/>
              </a:rPr>
              <a:t>，沿着方位</a:t>
            </a:r>
            <a:r>
              <a:rPr lang="en-US" altLang="zh-CN">
                <a:solidFill>
                  <a:srgbClr val="0000FF"/>
                </a:solidFill>
                <a:latin typeface="Consolas" pitchFamily="49" charset="0"/>
                <a:ea typeface="仿宋" pitchFamily="49" charset="-122"/>
              </a:rPr>
              <a:t>di</a:t>
            </a:r>
            <a:r>
              <a:rPr lang="zh-CN" altLang="zh-CN">
                <a:solidFill>
                  <a:srgbClr val="0000FF"/>
                </a:solidFill>
                <a:latin typeface="Consolas" pitchFamily="49" charset="0"/>
                <a:ea typeface="仿宋" pitchFamily="49" charset="-122"/>
              </a:rPr>
              <a:t>一定一步到达</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(nx</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ny)</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nSpc>
                <a:spcPts val="3200"/>
              </a:lnSpc>
              <a:spcBef>
                <a:spcPts val="1200"/>
              </a:spcBef>
              <a:buBlip>
                <a:blip r:embed="rId2"/>
              </a:buBlip>
            </a:pPr>
            <a:r>
              <a:rPr lang="zh-CN" altLang="zh-CN">
                <a:solidFill>
                  <a:srgbClr val="0000FF"/>
                </a:solidFill>
                <a:latin typeface="Consolas" pitchFamily="49" charset="0"/>
                <a:ea typeface="仿宋" pitchFamily="49" charset="-122"/>
              </a:rPr>
              <a:t>由</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构成的三角形有向面积</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为</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1</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2</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en-US" altLang="zh-CN">
                <a:solidFill>
                  <a:srgbClr val="0000FF"/>
                </a:solidFill>
                <a:latin typeface="Consolas" pitchFamily="49" charset="0"/>
                <a:ea typeface="仿宋" pitchFamily="49" charset="-122"/>
              </a:rPr>
              <a:t>)/2</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nSpc>
                <a:spcPts val="3200"/>
              </a:lnSpc>
              <a:spcBef>
                <a:spcPts val="1200"/>
              </a:spcBef>
              <a:buBlip>
                <a:blip r:embed="rId2"/>
              </a:buBlip>
            </a:pPr>
            <a:r>
              <a:rPr lang="zh-CN" altLang="zh-CN">
                <a:solidFill>
                  <a:srgbClr val="0000FF"/>
                </a:solidFill>
                <a:latin typeface="Consolas" pitchFamily="49" charset="0"/>
                <a:ea typeface="仿宋" pitchFamily="49" charset="-122"/>
              </a:rPr>
              <a:t>由于</a:t>
            </a:r>
            <a:r>
              <a:rPr lang="en-US" altLang="zh-CN">
                <a:solidFill>
                  <a:srgbClr val="0000FF"/>
                </a:solidFill>
                <a:latin typeface="Consolas" pitchFamily="49" charset="0"/>
                <a:ea typeface="仿宋" pitchFamily="49" charset="-122"/>
              </a:rPr>
              <a:t>p</a:t>
            </a:r>
            <a:r>
              <a:rPr lang="en-US"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为原点</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，则</a:t>
            </a:r>
            <a:r>
              <a:rPr lang="zh-CN" altLang="en-US">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			</a:t>
            </a:r>
            <a:r>
              <a:rPr lang="en-US" altLang="zh-CN">
                <a:solidFill>
                  <a:srgbClr val="C00000"/>
                </a:solidFill>
                <a:latin typeface="Consolas" pitchFamily="49" charset="0"/>
                <a:ea typeface="仿宋" pitchFamily="49" charset="-122"/>
              </a:rPr>
              <a:t>S=(p</a:t>
            </a:r>
            <a:r>
              <a:rPr lang="en-US" altLang="zh-CN" baseline="-25000">
                <a:solidFill>
                  <a:srgbClr val="C00000"/>
                </a:solidFill>
                <a:latin typeface="Consolas" pitchFamily="49" charset="0"/>
                <a:ea typeface="仿宋" pitchFamily="49" charset="-122"/>
              </a:rPr>
              <a:t>1</a:t>
            </a:r>
            <a:r>
              <a:rPr lang="zh-CN" altLang="zh-CN">
                <a:solidFill>
                  <a:srgbClr val="C00000"/>
                </a:solidFill>
                <a:latin typeface="Consolas" pitchFamily="49" charset="0"/>
                <a:ea typeface="仿宋" pitchFamily="49" charset="-122"/>
              </a:rPr>
              <a:t>×</a:t>
            </a:r>
            <a:r>
              <a:rPr lang="en-US" altLang="zh-CN">
                <a:solidFill>
                  <a:srgbClr val="C00000"/>
                </a:solidFill>
                <a:latin typeface="Consolas" pitchFamily="49" charset="0"/>
                <a:ea typeface="仿宋" pitchFamily="49" charset="-122"/>
              </a:rPr>
              <a:t>p</a:t>
            </a:r>
            <a:r>
              <a:rPr lang="en-US" altLang="zh-CN" baseline="-25000">
                <a:solidFill>
                  <a:srgbClr val="C00000"/>
                </a:solidFill>
                <a:latin typeface="Consolas" pitchFamily="49" charset="0"/>
                <a:ea typeface="仿宋" pitchFamily="49" charset="-122"/>
              </a:rPr>
              <a:t>2</a:t>
            </a:r>
            <a:r>
              <a:rPr lang="en-US" altLang="zh-CN">
                <a:solidFill>
                  <a:srgbClr val="C00000"/>
                </a:solidFill>
                <a:latin typeface="Consolas" pitchFamily="49" charset="0"/>
                <a:ea typeface="仿宋" pitchFamily="49" charset="-122"/>
              </a:rPr>
              <a:t>)/2=(px*ny-py*nx)/2</a:t>
            </a:r>
            <a:r>
              <a:rPr lang="zh-CN" altLang="zh-CN">
                <a:solidFill>
                  <a:srgbClr val="C00000"/>
                </a:solidFill>
                <a:latin typeface="Consolas" pitchFamily="49" charset="0"/>
                <a:ea typeface="仿宋" pitchFamily="49" charset="-122"/>
              </a:rPr>
              <a:t>。</a:t>
            </a:r>
            <a:endParaRPr lang="en-US" altLang="zh-CN">
              <a:solidFill>
                <a:srgbClr val="C00000"/>
              </a:solidFill>
              <a:latin typeface="Consolas" pitchFamily="49" charset="0"/>
              <a:ea typeface="仿宋" pitchFamily="49" charset="-122"/>
            </a:endParaRPr>
          </a:p>
          <a:p>
            <a:pPr marL="457200" indent="-457200">
              <a:lnSpc>
                <a:spcPts val="3200"/>
              </a:lnSpc>
              <a:spcBef>
                <a:spcPts val="1200"/>
              </a:spcBef>
              <a:buBlip>
                <a:blip r:embed="rId2"/>
              </a:buBlip>
            </a:pPr>
            <a:r>
              <a:rPr lang="zh-CN" altLang="zh-CN">
                <a:solidFill>
                  <a:srgbClr val="0000FF"/>
                </a:solidFill>
                <a:latin typeface="Consolas" pitchFamily="49" charset="0"/>
                <a:ea typeface="仿宋" pitchFamily="49" charset="-122"/>
              </a:rPr>
              <a:t>为了方便，求面积中除</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在最后一起执行。</a:t>
            </a:r>
          </a:p>
        </p:txBody>
      </p:sp>
      <p:sp>
        <p:nvSpPr>
          <p:cNvPr id="199695"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6"/>
          <p:cNvSpPr>
            <a:spLocks noGrp="1"/>
          </p:cNvSpPr>
          <p:nvPr>
            <p:ph type="sldNum" sz="quarter" idx="12"/>
          </p:nvPr>
        </p:nvSpPr>
        <p:spPr/>
        <p:txBody>
          <a:bodyPr/>
          <a:lstStyle/>
          <a:p>
            <a:pPr>
              <a:defRPr/>
            </a:pPr>
            <a:fld id="{51116183-1013-4E64-BBE8-A5C1D5D4F838}" type="slidenum">
              <a:rPr lang="en-US" altLang="zh-CN" smtClean="0"/>
              <a:pPr>
                <a:defRPr/>
              </a:pPr>
              <a:t>79</a:t>
            </a:fld>
            <a:r>
              <a:rPr lang="en-US" altLang="zh-CN"/>
              <a:t>/167</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357158" y="357166"/>
            <a:ext cx="8424863" cy="3212309"/>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lIns="216000" tIns="180000" bIns="180000">
            <a:spAutoFit/>
          </a:bodyPr>
          <a:lstStyle/>
          <a:p>
            <a:pPr>
              <a:lnSpc>
                <a:spcPts val="2800"/>
              </a:lnSpc>
            </a:pPr>
            <a:r>
              <a:rPr lang="en-US" altLang="zh-CN" sz="2000">
                <a:solidFill>
                  <a:srgbClr val="0000FF"/>
                </a:solidFill>
                <a:latin typeface="Consolas" pitchFamily="49" charset="0"/>
                <a:ea typeface="仿宋" pitchFamily="49" charset="-122"/>
              </a:rPr>
              <a:t>#include&lt;iostream&gt;</a:t>
            </a:r>
            <a:endParaRPr lang="zh-CN" altLang="zh-CN" sz="2000">
              <a:solidFill>
                <a:srgbClr val="0000FF"/>
              </a:solidFill>
              <a:latin typeface="Consolas" pitchFamily="49" charset="0"/>
              <a:ea typeface="仿宋" pitchFamily="49" charset="-122"/>
            </a:endParaRPr>
          </a:p>
          <a:p>
            <a:pPr>
              <a:lnSpc>
                <a:spcPts val="2800"/>
              </a:lnSpc>
            </a:pPr>
            <a:r>
              <a:rPr lang="en-US" altLang="zh-CN" sz="2000">
                <a:solidFill>
                  <a:srgbClr val="0000FF"/>
                </a:solidFill>
                <a:latin typeface="Consolas" pitchFamily="49" charset="0"/>
                <a:ea typeface="仿宋" pitchFamily="49" charset="-122"/>
              </a:rPr>
              <a:t>#include&lt;string&gt;</a:t>
            </a:r>
            <a:endParaRPr lang="zh-CN" altLang="zh-CN" sz="2000">
              <a:solidFill>
                <a:srgbClr val="0000FF"/>
              </a:solidFill>
              <a:latin typeface="Consolas" pitchFamily="49" charset="0"/>
              <a:ea typeface="仿宋" pitchFamily="49" charset="-122"/>
            </a:endParaRPr>
          </a:p>
          <a:p>
            <a:pPr>
              <a:lnSpc>
                <a:spcPts val="2800"/>
              </a:lnSpc>
            </a:pPr>
            <a:r>
              <a:rPr lang="en-US" altLang="zh-CN" sz="2000">
                <a:solidFill>
                  <a:srgbClr val="0000FF"/>
                </a:solidFill>
                <a:latin typeface="Consolas" pitchFamily="49" charset="0"/>
                <a:ea typeface="仿宋" pitchFamily="49" charset="-122"/>
              </a:rPr>
              <a:t>#include&lt;cmath&gt;</a:t>
            </a:r>
            <a:endParaRPr lang="zh-CN" altLang="zh-CN" sz="2000">
              <a:solidFill>
                <a:srgbClr val="0000FF"/>
              </a:solidFill>
              <a:latin typeface="Consolas" pitchFamily="49" charset="0"/>
              <a:ea typeface="仿宋" pitchFamily="49" charset="-122"/>
            </a:endParaRPr>
          </a:p>
          <a:p>
            <a:pPr>
              <a:lnSpc>
                <a:spcPts val="2800"/>
              </a:lnSpc>
            </a:pPr>
            <a:r>
              <a:rPr lang="en-US" altLang="zh-CN" sz="2000">
                <a:solidFill>
                  <a:srgbClr val="0000FF"/>
                </a:solidFill>
                <a:latin typeface="Consolas" pitchFamily="49" charset="0"/>
                <a:ea typeface="仿宋" pitchFamily="49" charset="-122"/>
              </a:rPr>
              <a:t>using namespace std;</a:t>
            </a:r>
            <a:endParaRPr lang="zh-CN" altLang="zh-CN" sz="2000">
              <a:solidFill>
                <a:srgbClr val="0000FF"/>
              </a:solidFill>
              <a:latin typeface="Consolas" pitchFamily="49" charset="0"/>
              <a:ea typeface="仿宋" pitchFamily="49" charset="-122"/>
            </a:endParaRPr>
          </a:p>
          <a:p>
            <a:pPr>
              <a:lnSpc>
                <a:spcPts val="2800"/>
              </a:lnSpc>
            </a:pPr>
            <a:r>
              <a:rPr lang="en-US" altLang="zh-CN" sz="2000">
                <a:solidFill>
                  <a:srgbClr val="0000FF"/>
                </a:solidFill>
                <a:latin typeface="Consolas" pitchFamily="49" charset="0"/>
                <a:ea typeface="仿宋" pitchFamily="49" charset="-122"/>
              </a:rPr>
              <a:t>typedef long long LL;</a:t>
            </a:r>
            <a:endParaRPr lang="zh-CN" altLang="zh-CN" sz="2000">
              <a:solidFill>
                <a:srgbClr val="0000FF"/>
              </a:solidFill>
              <a:latin typeface="Consolas" pitchFamily="49" charset="0"/>
              <a:ea typeface="仿宋" pitchFamily="49" charset="-122"/>
            </a:endParaRPr>
          </a:p>
          <a:p>
            <a:pPr>
              <a:lnSpc>
                <a:spcPts val="2800"/>
              </a:lnSpc>
            </a:pPr>
            <a:r>
              <a:rPr lang="en-US" altLang="zh-CN" sz="2000">
                <a:solidFill>
                  <a:srgbClr val="0000FF"/>
                </a:solidFill>
                <a:latin typeface="Consolas" pitchFamily="49" charset="0"/>
                <a:ea typeface="仿宋" pitchFamily="49" charset="-122"/>
              </a:rPr>
              <a:t>int dx[10]={0,-1,0,1,-1,0,1,-1,0,1};</a:t>
            </a:r>
            <a:endParaRPr lang="zh-CN" altLang="zh-CN" sz="2000">
              <a:solidFill>
                <a:srgbClr val="0000FF"/>
              </a:solidFill>
              <a:latin typeface="Consolas" pitchFamily="49" charset="0"/>
              <a:ea typeface="仿宋" pitchFamily="49" charset="-122"/>
            </a:endParaRPr>
          </a:p>
          <a:p>
            <a:pPr>
              <a:lnSpc>
                <a:spcPts val="2800"/>
              </a:lnSpc>
            </a:pPr>
            <a:r>
              <a:rPr lang="en-US" altLang="zh-CN" sz="2000">
                <a:solidFill>
                  <a:srgbClr val="0000FF"/>
                </a:solidFill>
                <a:latin typeface="Consolas" pitchFamily="49" charset="0"/>
                <a:ea typeface="仿宋" pitchFamily="49" charset="-122"/>
              </a:rPr>
              <a:t>int dy[10]={0,-1,-1,-1,0,0,0,1,1,1};</a:t>
            </a:r>
            <a:endParaRPr lang="zh-CN" altLang="zh-CN" sz="2000">
              <a:solidFill>
                <a:srgbClr val="0000FF"/>
              </a:solidFill>
              <a:latin typeface="Consolas" pitchFamily="49" charset="0"/>
              <a:ea typeface="仿宋" pitchFamily="49" charset="-122"/>
            </a:endParaRPr>
          </a:p>
          <a:p>
            <a:pPr>
              <a:lnSpc>
                <a:spcPts val="2800"/>
              </a:lnSpc>
            </a:pPr>
            <a:r>
              <a:rPr lang="en-US" altLang="zh-CN" sz="2000">
                <a:solidFill>
                  <a:srgbClr val="0000FF"/>
                </a:solidFill>
                <a:latin typeface="Consolas" pitchFamily="49" charset="0"/>
                <a:ea typeface="仿宋" pitchFamily="49" charset="-122"/>
              </a:rPr>
              <a:t>string str;</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80</a:t>
            </a:fld>
            <a:r>
              <a:rPr lang="en-US" altLang="zh-CN"/>
              <a:t>/167</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14282" y="460396"/>
            <a:ext cx="8643998" cy="5287941"/>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2400"/>
              </a:lnSpc>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main</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int t;</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scanf("%d",&amp;t);</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while(t--)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cin &gt;&gt; str;</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LL ans=0,px=0,py=0,nx=0,ny=0;</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int n=str.size();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最后一个</a:t>
            </a:r>
            <a:r>
              <a:rPr lang="en-US" altLang="zh-CN" sz="2000">
                <a:solidFill>
                  <a:srgbClr val="00B0F0"/>
                </a:solidFill>
                <a:latin typeface="Consolas" pitchFamily="49" charset="0"/>
                <a:ea typeface="仿宋" pitchFamily="49" charset="-122"/>
              </a:rPr>
              <a:t>5</a:t>
            </a:r>
            <a:r>
              <a:rPr lang="zh-CN" altLang="zh-CN" sz="2000">
                <a:solidFill>
                  <a:srgbClr val="00B0F0"/>
                </a:solidFill>
                <a:latin typeface="Consolas" pitchFamily="49" charset="0"/>
                <a:ea typeface="仿宋" pitchFamily="49" charset="-122"/>
              </a:rPr>
              <a:t>不用</a:t>
            </a:r>
          </a:p>
          <a:p>
            <a:pPr defTabSz="360000">
              <a:lnSpc>
                <a:spcPts val="2400"/>
              </a:lnSpc>
            </a:pPr>
            <a:r>
              <a:rPr lang="en-US" altLang="zh-CN" sz="2000">
                <a:solidFill>
                  <a:srgbClr val="0000FF"/>
                </a:solidFill>
                <a:latin typeface="Consolas" pitchFamily="49" charset="0"/>
                <a:ea typeface="仿宋" pitchFamily="49" charset="-122"/>
              </a:rPr>
              <a:t>    	for(int i=0;i&lt;n-1;i++){</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int di=str[i]-'0';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移动方位为</a:t>
            </a:r>
            <a:r>
              <a:rPr lang="en-US" altLang="zh-CN" sz="2000">
                <a:solidFill>
                  <a:srgbClr val="00B0F0"/>
                </a:solidFill>
                <a:latin typeface="Consolas" pitchFamily="49" charset="0"/>
                <a:ea typeface="仿宋" pitchFamily="49" charset="-122"/>
              </a:rPr>
              <a:t>di</a:t>
            </a:r>
            <a:endParaRPr lang="zh-CN" altLang="zh-CN" sz="2000">
              <a:solidFill>
                <a:srgbClr val="00B0F0"/>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nx=px+dx[di];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按</a:t>
            </a:r>
            <a:r>
              <a:rPr lang="en-US" altLang="zh-CN" sz="2000">
                <a:solidFill>
                  <a:srgbClr val="00B0F0"/>
                </a:solidFill>
                <a:latin typeface="Consolas" pitchFamily="49" charset="0"/>
                <a:ea typeface="仿宋" pitchFamily="49" charset="-122"/>
              </a:rPr>
              <a:t>di</a:t>
            </a:r>
            <a:r>
              <a:rPr lang="zh-CN" altLang="zh-CN" sz="2000">
                <a:solidFill>
                  <a:srgbClr val="00B0F0"/>
                </a:solidFill>
                <a:latin typeface="Consolas" pitchFamily="49" charset="0"/>
                <a:ea typeface="仿宋" pitchFamily="49" charset="-122"/>
              </a:rPr>
              <a:t>方位移动到</a:t>
            </a:r>
            <a:r>
              <a:rPr lang="en-US" altLang="zh-CN" sz="2000">
                <a:solidFill>
                  <a:srgbClr val="00B0F0"/>
                </a:solidFill>
                <a:latin typeface="Consolas" pitchFamily="49" charset="0"/>
                <a:ea typeface="仿宋" pitchFamily="49" charset="-122"/>
              </a:rPr>
              <a:t>(nx,ny)</a:t>
            </a:r>
            <a:endParaRPr lang="zh-CN" altLang="zh-CN" sz="2000">
              <a:solidFill>
                <a:srgbClr val="00B0F0"/>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ny=py+dy[di];</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ans+=(px*ny-py*nx);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a:t>
            </a:r>
            <a:r>
              <a:rPr lang="en-US" altLang="zh-CN" sz="2000">
                <a:solidFill>
                  <a:srgbClr val="00B0F0"/>
                </a:solidFill>
                <a:latin typeface="Consolas" pitchFamily="49" charset="0"/>
                <a:ea typeface="仿宋" pitchFamily="49" charset="-122"/>
              </a:rPr>
              <a:t>(0,0),(px,py)</a:t>
            </a:r>
            <a:r>
              <a:rPr lang="zh-CN" altLang="zh-CN" sz="2000">
                <a:solidFill>
                  <a:srgbClr val="00B0F0"/>
                </a:solidFill>
                <a:latin typeface="Consolas" pitchFamily="49" charset="0"/>
                <a:ea typeface="仿宋" pitchFamily="49" charset="-122"/>
              </a:rPr>
              <a:t>和</a:t>
            </a:r>
            <a:r>
              <a:rPr lang="en-US" altLang="zh-CN" sz="2000">
                <a:solidFill>
                  <a:srgbClr val="00B0F0"/>
                </a:solidFill>
                <a:latin typeface="Consolas" pitchFamily="49" charset="0"/>
                <a:ea typeface="仿宋" pitchFamily="49" charset="-122"/>
              </a:rPr>
              <a:t>(nx,ny)</a:t>
            </a:r>
          </a:p>
          <a:p>
            <a:pPr defTabSz="360000">
              <a:lnSpc>
                <a:spcPts val="24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的有向面积</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两倍面积</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px=nx;</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py=ny;</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81</a:t>
            </a:fld>
            <a:r>
              <a:rPr lang="en-US" altLang="zh-CN"/>
              <a:t>/167</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357158" y="570306"/>
            <a:ext cx="8424863" cy="2787256"/>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lIns="216000" tIns="180000" bIns="180000">
            <a:spAutoFit/>
          </a:bodyPr>
          <a:lstStyle/>
          <a:p>
            <a:pPr defTabSz="360000">
              <a:lnSpc>
                <a:spcPts val="2700"/>
              </a:lnSpc>
            </a:pPr>
            <a:r>
              <a:rPr lang="en-US" altLang="zh-CN" sz="2000">
                <a:solidFill>
                  <a:srgbClr val="0000FF"/>
                </a:solidFill>
                <a:latin typeface="Consolas" pitchFamily="49" charset="0"/>
                <a:ea typeface="仿宋" pitchFamily="49" charset="-122"/>
              </a:rPr>
              <a:t>		if(ans&lt;0) ans=-ans;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改为正面积</a:t>
            </a:r>
          </a:p>
          <a:p>
            <a:pPr defTabSz="360000">
              <a:lnSpc>
                <a:spcPts val="2700"/>
              </a:lnSpc>
            </a:pPr>
            <a:r>
              <a:rPr lang="en-US" altLang="zh-CN" sz="2000">
                <a:solidFill>
                  <a:srgbClr val="0000FF"/>
                </a:solidFill>
                <a:latin typeface="Consolas" pitchFamily="49" charset="0"/>
                <a:ea typeface="仿宋" pitchFamily="49" charset="-122"/>
              </a:rPr>
              <a:t> 		cout &lt;&lt; ans/2;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输出实际面积</a:t>
            </a:r>
          </a:p>
          <a:p>
            <a:pPr defTabSz="360000">
              <a:lnSpc>
                <a:spcPts val="2700"/>
              </a:lnSpc>
            </a:pPr>
            <a:r>
              <a:rPr lang="en-US" altLang="zh-CN" sz="2000">
                <a:solidFill>
                  <a:srgbClr val="0000FF"/>
                </a:solidFill>
                <a:latin typeface="Consolas" pitchFamily="49" charset="0"/>
                <a:ea typeface="仿宋" pitchFamily="49" charset="-122"/>
              </a:rPr>
              <a:t>   	if(ans%2) cout&lt;&lt;".5";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如果原</a:t>
            </a:r>
            <a:r>
              <a:rPr lang="en-US" altLang="zh-CN" sz="2000">
                <a:solidFill>
                  <a:srgbClr val="00B0F0"/>
                </a:solidFill>
                <a:latin typeface="Consolas" pitchFamily="49" charset="0"/>
                <a:ea typeface="仿宋" pitchFamily="49" charset="-122"/>
              </a:rPr>
              <a:t>ans</a:t>
            </a:r>
            <a:r>
              <a:rPr lang="zh-CN" altLang="zh-CN" sz="2000">
                <a:solidFill>
                  <a:srgbClr val="00B0F0"/>
                </a:solidFill>
                <a:latin typeface="Consolas" pitchFamily="49" charset="0"/>
                <a:ea typeface="仿宋" pitchFamily="49" charset="-122"/>
              </a:rPr>
              <a:t>为奇数，加上</a:t>
            </a:r>
            <a:r>
              <a:rPr lang="en-US" altLang="zh-CN" sz="2000">
                <a:solidFill>
                  <a:srgbClr val="00B0F0"/>
                </a:solidFill>
                <a:latin typeface="Consolas" pitchFamily="49" charset="0"/>
                <a:ea typeface="仿宋" pitchFamily="49" charset="-122"/>
              </a:rPr>
              <a:t>".5"</a:t>
            </a:r>
            <a:endParaRPr lang="zh-CN" altLang="zh-CN" sz="2000">
              <a:solidFill>
                <a:srgbClr val="00B0F0"/>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cout &lt;&lt; endl;</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return 0;</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9"/>
          <p:cNvGrpSpPr/>
          <p:nvPr/>
        </p:nvGrpSpPr>
        <p:grpSpPr>
          <a:xfrm>
            <a:off x="642910" y="4000504"/>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79ms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1768KB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1071538" y="6286520"/>
              <a:ext cx="785818" cy="44396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 </a:t>
              </a:r>
              <a:endParaRPr lang="zh-CN" altLang="en-US" sz="2000">
                <a:solidFill>
                  <a:srgbClr val="FF3300"/>
                </a:solidFill>
                <a:latin typeface="Forte" pitchFamily="66" charset="0"/>
                <a:ea typeface="仿宋" pitchFamily="49" charset="-122"/>
                <a:cs typeface="Consolas" pitchFamily="49" charset="0"/>
              </a:endParaRPr>
            </a:p>
          </p:txBody>
        </p:sp>
      </p:grpSp>
      <p:sp>
        <p:nvSpPr>
          <p:cNvPr id="8" name="灯片编号占位符 7"/>
          <p:cNvSpPr>
            <a:spLocks noGrp="1"/>
          </p:cNvSpPr>
          <p:nvPr>
            <p:ph type="sldNum" sz="quarter" idx="12"/>
          </p:nvPr>
        </p:nvSpPr>
        <p:spPr/>
        <p:txBody>
          <a:bodyPr/>
          <a:lstStyle/>
          <a:p>
            <a:pPr>
              <a:defRPr/>
            </a:pPr>
            <a:fld id="{51116183-1013-4E64-BBE8-A5C1D5D4F838}" type="slidenum">
              <a:rPr lang="en-US" altLang="zh-CN" smtClean="0"/>
              <a:pPr>
                <a:defRPr/>
              </a:pPr>
              <a:t>82</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Text Box 3"/>
          <p:cNvSpPr txBox="1">
            <a:spLocks noChangeArrowheads="1"/>
          </p:cNvSpPr>
          <p:nvPr/>
        </p:nvSpPr>
        <p:spPr bwMode="auto">
          <a:xfrm>
            <a:off x="285752" y="1559563"/>
            <a:ext cx="8715404" cy="2298065"/>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defTabSz="360000">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简单多边形分凸多边形和凹多边形两类。直观上，凸多边形是没有任何“凹陷处”的，而凹多边形至少有一个顶点处于“凹陷处”（称为凹点）。</a:t>
            </a:r>
          </a:p>
          <a:p>
            <a:pPr marL="457200" indent="-457200" defTabSz="360000">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凸多边形上任意两顶点的连线都包含在多边形中，在凹多边形中，总能找到一对顶点，它们的连线有一部分在多边形外。</a:t>
            </a:r>
            <a:endParaRPr lang="en-US" altLang="zh-CN">
              <a:solidFill>
                <a:srgbClr val="0000FF"/>
              </a:solidFill>
              <a:latin typeface="Consolas" pitchFamily="49" charset="0"/>
              <a:ea typeface="仿宋" pitchFamily="49" charset="-122"/>
              <a:cs typeface="Consolas" pitchFamily="49" charset="0"/>
            </a:endParaRPr>
          </a:p>
        </p:txBody>
      </p:sp>
      <p:sp>
        <p:nvSpPr>
          <p:cNvPr id="14342" name="Rectangle 5"/>
          <p:cNvSpPr>
            <a:spLocks noChangeArrowheads="1"/>
          </p:cNvSpPr>
          <p:nvPr/>
        </p:nvSpPr>
        <p:spPr bwMode="auto">
          <a:xfrm>
            <a:off x="0" y="2919413"/>
            <a:ext cx="184731" cy="461665"/>
          </a:xfrm>
          <a:prstGeom prst="rect">
            <a:avLst/>
          </a:prstGeom>
          <a:noFill/>
          <a:ln w="9525">
            <a:noFill/>
            <a:miter lim="800000"/>
            <a:headEnd/>
            <a:tailEnd/>
          </a:ln>
        </p:spPr>
        <p:txBody>
          <a:bodyPr wrap="none" anchor="ctr">
            <a:spAutoFit/>
          </a:bodyPr>
          <a:lstStyle/>
          <a:p>
            <a:endParaRPr lang="zh-CN" altLang="en-US">
              <a:latin typeface="Consolas" pitchFamily="49" charset="0"/>
              <a:cs typeface="Consolas" pitchFamily="49" charset="0"/>
            </a:endParaRPr>
          </a:p>
        </p:txBody>
      </p:sp>
      <p:sp>
        <p:nvSpPr>
          <p:cNvPr id="6" name="TextBox 5">
            <a:hlinkClick r:id="rId3" action="ppaction://hlinksldjump"/>
          </p:cNvPr>
          <p:cNvSpPr txBox="1"/>
          <p:nvPr/>
        </p:nvSpPr>
        <p:spPr>
          <a:xfrm>
            <a:off x="2285984" y="428604"/>
            <a:ext cx="371477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10.2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凸包问题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7" name="任意多边形 6"/>
          <p:cNvSpPr/>
          <p:nvPr/>
        </p:nvSpPr>
        <p:spPr>
          <a:xfrm>
            <a:off x="1857356" y="4286256"/>
            <a:ext cx="1473200" cy="1638300"/>
          </a:xfrm>
          <a:custGeom>
            <a:avLst/>
            <a:gdLst>
              <a:gd name="connsiteX0" fmla="*/ 457200 w 1473200"/>
              <a:gd name="connsiteY0" fmla="*/ 0 h 1638300"/>
              <a:gd name="connsiteX1" fmla="*/ 0 w 1473200"/>
              <a:gd name="connsiteY1" fmla="*/ 508000 h 1638300"/>
              <a:gd name="connsiteX2" fmla="*/ 101600 w 1473200"/>
              <a:gd name="connsiteY2" fmla="*/ 1130300 h 1638300"/>
              <a:gd name="connsiteX3" fmla="*/ 723900 w 1473200"/>
              <a:gd name="connsiteY3" fmla="*/ 1638300 h 1638300"/>
              <a:gd name="connsiteX4" fmla="*/ 1473200 w 1473200"/>
              <a:gd name="connsiteY4" fmla="*/ 1066800 h 1638300"/>
              <a:gd name="connsiteX5" fmla="*/ 1193800 w 1473200"/>
              <a:gd name="connsiteY5" fmla="*/ 444500 h 1638300"/>
              <a:gd name="connsiteX6" fmla="*/ 457200 w 1473200"/>
              <a:gd name="connsiteY6" fmla="*/ 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3200" h="1638300">
                <a:moveTo>
                  <a:pt x="457200" y="0"/>
                </a:moveTo>
                <a:lnTo>
                  <a:pt x="0" y="508000"/>
                </a:lnTo>
                <a:lnTo>
                  <a:pt x="101600" y="1130300"/>
                </a:lnTo>
                <a:lnTo>
                  <a:pt x="723900" y="1638300"/>
                </a:lnTo>
                <a:lnTo>
                  <a:pt x="1473200" y="1066800"/>
                </a:lnTo>
                <a:lnTo>
                  <a:pt x="1193800" y="444500"/>
                </a:lnTo>
                <a:lnTo>
                  <a:pt x="457200" y="0"/>
                </a:lnTo>
                <a:close/>
              </a:path>
            </a:pathLst>
          </a:cu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7"/>
          <p:cNvSpPr/>
          <p:nvPr/>
        </p:nvSpPr>
        <p:spPr>
          <a:xfrm>
            <a:off x="4714876" y="4071942"/>
            <a:ext cx="1718319" cy="1841500"/>
          </a:xfrm>
          <a:custGeom>
            <a:avLst/>
            <a:gdLst>
              <a:gd name="connsiteX0" fmla="*/ 228600 w 1718319"/>
              <a:gd name="connsiteY0" fmla="*/ 76200 h 1841500"/>
              <a:gd name="connsiteX1" fmla="*/ 622300 w 1718319"/>
              <a:gd name="connsiteY1" fmla="*/ 660400 h 1841500"/>
              <a:gd name="connsiteX2" fmla="*/ 0 w 1718319"/>
              <a:gd name="connsiteY2" fmla="*/ 825500 h 1841500"/>
              <a:gd name="connsiteX3" fmla="*/ 165100 w 1718319"/>
              <a:gd name="connsiteY3" fmla="*/ 1638300 h 1841500"/>
              <a:gd name="connsiteX4" fmla="*/ 1130300 w 1718319"/>
              <a:gd name="connsiteY4" fmla="*/ 1841500 h 1841500"/>
              <a:gd name="connsiteX5" fmla="*/ 1130300 w 1718319"/>
              <a:gd name="connsiteY5" fmla="*/ 1181100 h 1841500"/>
              <a:gd name="connsiteX6" fmla="*/ 1714500 w 1718319"/>
              <a:gd name="connsiteY6" fmla="*/ 889000 h 1841500"/>
              <a:gd name="connsiteX7" fmla="*/ 1231900 w 1718319"/>
              <a:gd name="connsiteY7" fmla="*/ 0 h 1841500"/>
              <a:gd name="connsiteX8" fmla="*/ 228600 w 1718319"/>
              <a:gd name="connsiteY8" fmla="*/ 76200 h 184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8319" h="1841500">
                <a:moveTo>
                  <a:pt x="228600" y="76200"/>
                </a:moveTo>
                <a:lnTo>
                  <a:pt x="622300" y="660400"/>
                </a:lnTo>
                <a:lnTo>
                  <a:pt x="0" y="825500"/>
                </a:lnTo>
                <a:lnTo>
                  <a:pt x="165100" y="1638300"/>
                </a:lnTo>
                <a:lnTo>
                  <a:pt x="1130300" y="1841500"/>
                </a:lnTo>
                <a:lnTo>
                  <a:pt x="1130300" y="1181100"/>
                </a:lnTo>
                <a:cubicBezTo>
                  <a:pt x="1718319" y="899874"/>
                  <a:pt x="1714500" y="1117558"/>
                  <a:pt x="1714500" y="889000"/>
                </a:cubicBezTo>
                <a:lnTo>
                  <a:pt x="1231900" y="0"/>
                </a:lnTo>
                <a:lnTo>
                  <a:pt x="228600" y="76200"/>
                </a:lnTo>
                <a:close/>
              </a:path>
            </a:pathLst>
          </a:custGeom>
          <a:solidFill>
            <a:srgbClr val="33CC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p:cNvSpPr txBox="1"/>
          <p:nvPr/>
        </p:nvSpPr>
        <p:spPr>
          <a:xfrm>
            <a:off x="2000232" y="6072206"/>
            <a:ext cx="1428760" cy="369332"/>
          </a:xfrm>
          <a:prstGeom prst="rect">
            <a:avLst/>
          </a:prstGeom>
          <a:noFill/>
        </p:spPr>
        <p:txBody>
          <a:bodyPr wrap="square" rtlCol="0">
            <a:spAutoFit/>
          </a:bodyPr>
          <a:lstStyle/>
          <a:p>
            <a:r>
              <a:rPr lang="zh-CN" altLang="en-US" sz="1800">
                <a:solidFill>
                  <a:srgbClr val="0000FF"/>
                </a:solidFill>
                <a:latin typeface="Consolas" pitchFamily="49" charset="0"/>
                <a:ea typeface="楷体" pitchFamily="49" charset="-122"/>
                <a:cs typeface="Consolas" pitchFamily="49" charset="0"/>
              </a:rPr>
              <a:t>凸多边形</a:t>
            </a:r>
            <a:endParaRPr lang="zh-CN" altLang="en-US" sz="1800">
              <a:solidFill>
                <a:srgbClr val="0000FF"/>
              </a:solidFill>
            </a:endParaRPr>
          </a:p>
        </p:txBody>
      </p:sp>
      <p:sp>
        <p:nvSpPr>
          <p:cNvPr id="11" name="TextBox 10"/>
          <p:cNvSpPr txBox="1"/>
          <p:nvPr/>
        </p:nvSpPr>
        <p:spPr>
          <a:xfrm>
            <a:off x="5143504" y="6072206"/>
            <a:ext cx="1214446" cy="369332"/>
          </a:xfrm>
          <a:prstGeom prst="rect">
            <a:avLst/>
          </a:prstGeom>
          <a:noFill/>
        </p:spPr>
        <p:txBody>
          <a:bodyPr wrap="square" rtlCol="0">
            <a:spAutoFit/>
          </a:bodyPr>
          <a:lstStyle/>
          <a:p>
            <a:r>
              <a:rPr lang="zh-CN" altLang="en-US" sz="1800">
                <a:solidFill>
                  <a:srgbClr val="0000FF"/>
                </a:solidFill>
                <a:latin typeface="Consolas" pitchFamily="49" charset="0"/>
                <a:ea typeface="楷体" pitchFamily="49" charset="-122"/>
                <a:cs typeface="Consolas" pitchFamily="49" charset="0"/>
              </a:rPr>
              <a:t>凹多边形</a:t>
            </a:r>
            <a:endParaRPr lang="zh-CN" altLang="en-US" sz="1800">
              <a:solidFill>
                <a:srgbClr val="0000FF"/>
              </a:solidFill>
            </a:endParaRPr>
          </a:p>
        </p:txBody>
      </p:sp>
      <p:sp>
        <p:nvSpPr>
          <p:cNvPr id="12" name="灯片编号占位符 11"/>
          <p:cNvSpPr>
            <a:spLocks noGrp="1"/>
          </p:cNvSpPr>
          <p:nvPr>
            <p:ph type="sldNum" sz="quarter" idx="12"/>
          </p:nvPr>
        </p:nvSpPr>
        <p:spPr/>
        <p:txBody>
          <a:bodyPr/>
          <a:lstStyle/>
          <a:p>
            <a:pPr>
              <a:defRPr/>
            </a:pPr>
            <a:fld id="{51116183-1013-4E64-BBE8-A5C1D5D4F838}" type="slidenum">
              <a:rPr lang="en-US" altLang="zh-CN" smtClean="0"/>
              <a:pPr>
                <a:defRPr/>
              </a:pPr>
              <a:t>83</a:t>
            </a:fld>
            <a:r>
              <a:rPr lang="en-US" altLang="zh-CN"/>
              <a:t>/167</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2"/>
          <p:cNvSpPr txBox="1">
            <a:spLocks noChangeArrowheads="1"/>
          </p:cNvSpPr>
          <p:nvPr/>
        </p:nvSpPr>
        <p:spPr bwMode="auto">
          <a:xfrm>
            <a:off x="142844" y="201682"/>
            <a:ext cx="8786874" cy="2839880"/>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nSpc>
                <a:spcPts val="3000"/>
              </a:lnSpc>
              <a:spcBef>
                <a:spcPts val="600"/>
              </a:spcBef>
              <a:buBlip>
                <a:blip r:embed="rId2"/>
              </a:buBlip>
            </a:pPr>
            <a:r>
              <a:rPr lang="zh-CN" altLang="en-US">
                <a:solidFill>
                  <a:srgbClr val="0000FF"/>
                </a:solidFill>
                <a:latin typeface="Consolas" pitchFamily="49" charset="0"/>
                <a:ea typeface="仿宋" pitchFamily="49" charset="-122"/>
                <a:cs typeface="Consolas" pitchFamily="49" charset="0"/>
              </a:rPr>
              <a:t>点集</a:t>
            </a:r>
            <a:r>
              <a:rPr lang="en-US" altLang="zh-CN">
                <a:solidFill>
                  <a:srgbClr val="0000FF"/>
                </a:solidFill>
                <a:latin typeface="Consolas" pitchFamily="49" charset="0"/>
                <a:ea typeface="仿宋" pitchFamily="49" charset="-122"/>
                <a:cs typeface="Consolas" pitchFamily="49" charset="0"/>
              </a:rPr>
              <a:t>A</a:t>
            </a:r>
            <a:r>
              <a:rPr lang="zh-CN" altLang="en-US">
                <a:solidFill>
                  <a:srgbClr val="0000FF"/>
                </a:solidFill>
                <a:latin typeface="Consolas" pitchFamily="49" charset="0"/>
                <a:ea typeface="仿宋" pitchFamily="49" charset="-122"/>
                <a:cs typeface="Consolas" pitchFamily="49" charset="0"/>
              </a:rPr>
              <a:t>的</a:t>
            </a:r>
            <a:r>
              <a:rPr lang="zh-CN" altLang="en-US">
                <a:solidFill>
                  <a:srgbClr val="FF0000"/>
                </a:solidFill>
                <a:latin typeface="Consolas" pitchFamily="49" charset="0"/>
                <a:ea typeface="仿宋" pitchFamily="49" charset="-122"/>
                <a:cs typeface="Consolas" pitchFamily="49" charset="0"/>
              </a:rPr>
              <a:t>凸包</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Convex Hull</a:t>
            </a:r>
            <a:r>
              <a:rPr lang="zh-CN" altLang="en-US">
                <a:solidFill>
                  <a:srgbClr val="0000FF"/>
                </a:solidFill>
                <a:latin typeface="Consolas" pitchFamily="49" charset="0"/>
                <a:ea typeface="仿宋" pitchFamily="49" charset="-122"/>
                <a:cs typeface="Consolas" pitchFamily="49" charset="0"/>
              </a:rPr>
              <a:t>）是指一个最小凸多边形，满足</a:t>
            </a:r>
            <a:r>
              <a:rPr lang="en-US" altLang="zh-CN">
                <a:solidFill>
                  <a:srgbClr val="0000FF"/>
                </a:solidFill>
                <a:latin typeface="Consolas" pitchFamily="49" charset="0"/>
                <a:ea typeface="仿宋" pitchFamily="49" charset="-122"/>
                <a:cs typeface="Consolas" pitchFamily="49" charset="0"/>
              </a:rPr>
              <a:t>A</a:t>
            </a:r>
            <a:r>
              <a:rPr lang="zh-CN" altLang="en-US">
                <a:solidFill>
                  <a:srgbClr val="0000FF"/>
                </a:solidFill>
                <a:latin typeface="Consolas" pitchFamily="49" charset="0"/>
                <a:ea typeface="仿宋" pitchFamily="49" charset="-122"/>
                <a:cs typeface="Consolas" pitchFamily="49" charset="0"/>
              </a:rPr>
              <a:t>中的点或者在多边形边上或者在其内，也就是说任意两点的连线都在</a:t>
            </a:r>
            <a:r>
              <a:rPr lang="en-US" altLang="zh-CN">
                <a:solidFill>
                  <a:srgbClr val="0000FF"/>
                </a:solidFill>
                <a:latin typeface="Consolas" pitchFamily="49" charset="0"/>
                <a:ea typeface="仿宋" pitchFamily="49" charset="-122"/>
                <a:cs typeface="Consolas" pitchFamily="49" charset="0"/>
              </a:rPr>
              <a:t>A</a:t>
            </a:r>
            <a:r>
              <a:rPr lang="zh-CN" altLang="en-US">
                <a:solidFill>
                  <a:srgbClr val="0000FF"/>
                </a:solidFill>
                <a:latin typeface="Consolas" pitchFamily="49" charset="0"/>
                <a:ea typeface="仿宋" pitchFamily="49" charset="-122"/>
                <a:cs typeface="Consolas" pitchFamily="49" charset="0"/>
              </a:rPr>
              <a:t>点集内的点集就是一个凸包。</a:t>
            </a:r>
          </a:p>
          <a:p>
            <a:pPr marL="457200" indent="-457200">
              <a:lnSpc>
                <a:spcPts val="3000"/>
              </a:lnSpc>
              <a:spcBef>
                <a:spcPts val="600"/>
              </a:spcBef>
              <a:buBlip>
                <a:blip r:embed="rId2"/>
              </a:buBlip>
            </a:pPr>
            <a:r>
              <a:rPr lang="zh-CN" altLang="en-US">
                <a:solidFill>
                  <a:srgbClr val="0000FF"/>
                </a:solidFill>
                <a:latin typeface="Consolas" pitchFamily="49" charset="0"/>
                <a:ea typeface="仿宋" pitchFamily="49" charset="-122"/>
                <a:cs typeface="Consolas" pitchFamily="49" charset="0"/>
              </a:rPr>
              <a:t>下图所示的二维平面上有</a:t>
            </a:r>
            <a:r>
              <a:rPr lang="en-US" altLang="zh-CN">
                <a:solidFill>
                  <a:srgbClr val="0000FF"/>
                </a:solidFill>
                <a:latin typeface="Consolas" pitchFamily="49" charset="0"/>
                <a:ea typeface="仿宋" pitchFamily="49" charset="-122"/>
                <a:cs typeface="Consolas" pitchFamily="49" charset="0"/>
              </a:rPr>
              <a:t>10</a:t>
            </a:r>
            <a:r>
              <a:rPr lang="zh-CN" altLang="en-US">
                <a:solidFill>
                  <a:srgbClr val="0000FF"/>
                </a:solidFill>
                <a:latin typeface="Consolas" pitchFamily="49" charset="0"/>
                <a:ea typeface="仿宋" pitchFamily="49" charset="-122"/>
                <a:cs typeface="Consolas" pitchFamily="49" charset="0"/>
              </a:rPr>
              <a:t>个点，即</a:t>
            </a:r>
            <a:r>
              <a:rPr lang="en-US" altLang="zh-CN" i="1">
                <a:solidFill>
                  <a:srgbClr val="0000FF"/>
                </a:solidFill>
                <a:latin typeface="Consolas" pitchFamily="49" charset="0"/>
                <a:ea typeface="仿宋" pitchFamily="49" charset="-122"/>
                <a:cs typeface="Consolas" pitchFamily="49" charset="0"/>
              </a:rPr>
              <a:t>a</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(4</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10)</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a</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(3</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7)</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a</a:t>
            </a:r>
            <a:r>
              <a:rPr lang="en-US" altLang="zh-CN" baseline="-25000">
                <a:solidFill>
                  <a:srgbClr val="0000FF"/>
                </a:solidFill>
                <a:latin typeface="Consolas" pitchFamily="49" charset="0"/>
                <a:ea typeface="仿宋" pitchFamily="49" charset="-122"/>
                <a:cs typeface="Consolas" pitchFamily="49" charset="0"/>
              </a:rPr>
              <a:t>2</a:t>
            </a:r>
            <a:r>
              <a:rPr lang="en-US" altLang="zh-CN">
                <a:solidFill>
                  <a:srgbClr val="0000FF"/>
                </a:solidFill>
                <a:latin typeface="Consolas" pitchFamily="49" charset="0"/>
                <a:ea typeface="仿宋" pitchFamily="49" charset="-122"/>
                <a:cs typeface="Consolas" pitchFamily="49" charset="0"/>
              </a:rPr>
              <a:t>(9</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7)</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a</a:t>
            </a:r>
            <a:r>
              <a:rPr lang="en-US" altLang="zh-CN" baseline="-25000">
                <a:solidFill>
                  <a:srgbClr val="0000FF"/>
                </a:solidFill>
                <a:latin typeface="Consolas" pitchFamily="49" charset="0"/>
                <a:ea typeface="仿宋" pitchFamily="49" charset="-122"/>
                <a:cs typeface="Consolas" pitchFamily="49" charset="0"/>
              </a:rPr>
              <a:t>3</a:t>
            </a:r>
            <a:r>
              <a:rPr lang="en-US" altLang="zh-CN">
                <a:solidFill>
                  <a:srgbClr val="0000FF"/>
                </a:solidFill>
                <a:latin typeface="Consolas" pitchFamily="49" charset="0"/>
                <a:ea typeface="仿宋" pitchFamily="49" charset="-122"/>
                <a:cs typeface="Consolas" pitchFamily="49" charset="0"/>
              </a:rPr>
              <a:t>(3</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4)</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a</a:t>
            </a:r>
            <a:r>
              <a:rPr lang="en-US" altLang="zh-CN" baseline="-25000">
                <a:solidFill>
                  <a:srgbClr val="0000FF"/>
                </a:solidFill>
                <a:latin typeface="Consolas" pitchFamily="49" charset="0"/>
                <a:ea typeface="仿宋" pitchFamily="49" charset="-122"/>
                <a:cs typeface="Consolas" pitchFamily="49" charset="0"/>
              </a:rPr>
              <a:t>4</a:t>
            </a:r>
            <a:r>
              <a:rPr lang="en-US" altLang="zh-CN">
                <a:solidFill>
                  <a:srgbClr val="0000FF"/>
                </a:solidFill>
                <a:latin typeface="Consolas" pitchFamily="49" charset="0"/>
                <a:ea typeface="仿宋" pitchFamily="49" charset="-122"/>
                <a:cs typeface="Consolas" pitchFamily="49" charset="0"/>
              </a:rPr>
              <a:t>(5</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6)</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a</a:t>
            </a:r>
            <a:r>
              <a:rPr lang="en-US" altLang="zh-CN" baseline="-25000">
                <a:solidFill>
                  <a:srgbClr val="0000FF"/>
                </a:solidFill>
                <a:latin typeface="Consolas" pitchFamily="49" charset="0"/>
                <a:ea typeface="仿宋" pitchFamily="49" charset="-122"/>
                <a:cs typeface="Consolas" pitchFamily="49" charset="0"/>
              </a:rPr>
              <a:t>5</a:t>
            </a:r>
            <a:r>
              <a:rPr lang="en-US" altLang="zh-CN">
                <a:solidFill>
                  <a:srgbClr val="0000FF"/>
                </a:solidFill>
                <a:latin typeface="Consolas" pitchFamily="49" charset="0"/>
                <a:ea typeface="仿宋" pitchFamily="49" charset="-122"/>
                <a:cs typeface="Consolas" pitchFamily="49" charset="0"/>
              </a:rPr>
              <a:t>(5</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4)</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a</a:t>
            </a:r>
            <a:r>
              <a:rPr lang="en-US" altLang="zh-CN" baseline="-25000">
                <a:solidFill>
                  <a:srgbClr val="0000FF"/>
                </a:solidFill>
                <a:latin typeface="Consolas" pitchFamily="49" charset="0"/>
                <a:ea typeface="仿宋" pitchFamily="49" charset="-122"/>
                <a:cs typeface="Consolas" pitchFamily="49" charset="0"/>
              </a:rPr>
              <a:t>6</a:t>
            </a:r>
            <a:r>
              <a:rPr lang="en-US" altLang="zh-CN">
                <a:solidFill>
                  <a:srgbClr val="0000FF"/>
                </a:solidFill>
                <a:latin typeface="Consolas" pitchFamily="49" charset="0"/>
                <a:ea typeface="仿宋" pitchFamily="49" charset="-122"/>
                <a:cs typeface="Consolas" pitchFamily="49" charset="0"/>
              </a:rPr>
              <a:t>(6</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3)</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a</a:t>
            </a:r>
            <a:r>
              <a:rPr lang="en-US" altLang="zh-CN" baseline="-25000">
                <a:solidFill>
                  <a:srgbClr val="0000FF"/>
                </a:solidFill>
                <a:latin typeface="Consolas" pitchFamily="49" charset="0"/>
                <a:ea typeface="仿宋" pitchFamily="49" charset="-122"/>
                <a:cs typeface="Consolas" pitchFamily="49" charset="0"/>
              </a:rPr>
              <a:t>7</a:t>
            </a:r>
            <a:r>
              <a:rPr lang="en-US" altLang="zh-CN">
                <a:solidFill>
                  <a:srgbClr val="0000FF"/>
                </a:solidFill>
                <a:latin typeface="Consolas" pitchFamily="49" charset="0"/>
                <a:ea typeface="仿宋" pitchFamily="49" charset="-122"/>
                <a:cs typeface="Consolas" pitchFamily="49" charset="0"/>
              </a:rPr>
              <a:t>(8</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a</a:t>
            </a:r>
            <a:r>
              <a:rPr lang="en-US" altLang="zh-CN" baseline="-25000">
                <a:solidFill>
                  <a:srgbClr val="0000FF"/>
                </a:solidFill>
                <a:latin typeface="Consolas" pitchFamily="49" charset="0"/>
                <a:ea typeface="仿宋" pitchFamily="49" charset="-122"/>
                <a:cs typeface="Consolas" pitchFamily="49" charset="0"/>
              </a:rPr>
              <a:t>8</a:t>
            </a:r>
            <a:r>
              <a:rPr lang="en-US" altLang="zh-CN">
                <a:solidFill>
                  <a:srgbClr val="0000FF"/>
                </a:solidFill>
                <a:latin typeface="Consolas" pitchFamily="49" charset="0"/>
                <a:ea typeface="仿宋" pitchFamily="49" charset="-122"/>
                <a:cs typeface="Consolas" pitchFamily="49" charset="0"/>
              </a:rPr>
              <a:t>(3</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和</a:t>
            </a:r>
            <a:r>
              <a:rPr lang="en-US" altLang="zh-CN" i="1">
                <a:solidFill>
                  <a:srgbClr val="0000FF"/>
                </a:solidFill>
                <a:latin typeface="Consolas" pitchFamily="49" charset="0"/>
                <a:ea typeface="仿宋" pitchFamily="49" charset="-122"/>
                <a:cs typeface="Consolas" pitchFamily="49" charset="0"/>
              </a:rPr>
              <a:t>a</a:t>
            </a:r>
            <a:r>
              <a:rPr lang="en-US" altLang="zh-CN" baseline="-25000">
                <a:solidFill>
                  <a:srgbClr val="0000FF"/>
                </a:solidFill>
                <a:latin typeface="Consolas" pitchFamily="49" charset="0"/>
                <a:ea typeface="仿宋" pitchFamily="49" charset="-122"/>
                <a:cs typeface="Consolas" pitchFamily="49" charset="0"/>
              </a:rPr>
              <a:t>9</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6)</a:t>
            </a:r>
            <a:r>
              <a:rPr lang="zh-CN" altLang="en-US">
                <a:solidFill>
                  <a:srgbClr val="0000FF"/>
                </a:solidFill>
                <a:latin typeface="Consolas" pitchFamily="49" charset="0"/>
                <a:ea typeface="仿宋" pitchFamily="49" charset="-122"/>
                <a:cs typeface="Consolas" pitchFamily="49" charset="0"/>
              </a:rPr>
              <a:t>，其凸包是由</a:t>
            </a:r>
            <a:r>
              <a:rPr lang="zh-CN" altLang="en-US">
                <a:solidFill>
                  <a:srgbClr val="FF0000"/>
                </a:solidFill>
                <a:latin typeface="Consolas" pitchFamily="49" charset="0"/>
                <a:ea typeface="仿宋" pitchFamily="49" charset="-122"/>
                <a:cs typeface="Consolas" pitchFamily="49" charset="0"/>
              </a:rPr>
              <a:t>点</a:t>
            </a:r>
            <a:r>
              <a:rPr lang="en-US" altLang="zh-CN" i="1">
                <a:solidFill>
                  <a:srgbClr val="FF0000"/>
                </a:solidFill>
                <a:latin typeface="Consolas" pitchFamily="49" charset="0"/>
                <a:ea typeface="仿宋" pitchFamily="49" charset="-122"/>
                <a:cs typeface="Consolas" pitchFamily="49" charset="0"/>
              </a:rPr>
              <a:t>a</a:t>
            </a:r>
            <a:r>
              <a:rPr lang="en-US" altLang="zh-CN" baseline="-25000">
                <a:solidFill>
                  <a:srgbClr val="FF0000"/>
                </a:solidFill>
                <a:latin typeface="Consolas" pitchFamily="49" charset="0"/>
                <a:ea typeface="仿宋" pitchFamily="49" charset="-122"/>
                <a:cs typeface="Consolas" pitchFamily="49" charset="0"/>
              </a:rPr>
              <a:t>0</a:t>
            </a:r>
            <a:r>
              <a:rPr lang="zh-CN" altLang="en-US">
                <a:solidFill>
                  <a:srgbClr val="FF0000"/>
                </a:solidFill>
                <a:latin typeface="Consolas" pitchFamily="49" charset="0"/>
                <a:ea typeface="仿宋" pitchFamily="49" charset="-122"/>
                <a:cs typeface="Consolas" pitchFamily="49" charset="0"/>
              </a:rPr>
              <a:t>、</a:t>
            </a:r>
            <a:r>
              <a:rPr lang="en-US" altLang="zh-CN" i="1">
                <a:solidFill>
                  <a:srgbClr val="FF0000"/>
                </a:solidFill>
                <a:latin typeface="Consolas" pitchFamily="49" charset="0"/>
                <a:ea typeface="仿宋" pitchFamily="49" charset="-122"/>
                <a:cs typeface="Consolas" pitchFamily="49" charset="0"/>
              </a:rPr>
              <a:t>a</a:t>
            </a:r>
            <a:r>
              <a:rPr lang="en-US" altLang="zh-CN" baseline="-25000">
                <a:solidFill>
                  <a:srgbClr val="FF0000"/>
                </a:solidFill>
                <a:latin typeface="Consolas" pitchFamily="49" charset="0"/>
                <a:ea typeface="仿宋" pitchFamily="49" charset="-122"/>
                <a:cs typeface="Consolas" pitchFamily="49" charset="0"/>
              </a:rPr>
              <a:t>2</a:t>
            </a:r>
            <a:r>
              <a:rPr lang="zh-CN" altLang="en-US">
                <a:solidFill>
                  <a:srgbClr val="FF0000"/>
                </a:solidFill>
                <a:latin typeface="Consolas" pitchFamily="49" charset="0"/>
                <a:ea typeface="仿宋" pitchFamily="49" charset="-122"/>
                <a:cs typeface="Consolas" pitchFamily="49" charset="0"/>
              </a:rPr>
              <a:t>、</a:t>
            </a:r>
            <a:r>
              <a:rPr lang="en-US" altLang="zh-CN" i="1">
                <a:solidFill>
                  <a:srgbClr val="FF0000"/>
                </a:solidFill>
                <a:latin typeface="Consolas" pitchFamily="49" charset="0"/>
                <a:ea typeface="仿宋" pitchFamily="49" charset="-122"/>
                <a:cs typeface="Consolas" pitchFamily="49" charset="0"/>
              </a:rPr>
              <a:t>a</a:t>
            </a:r>
            <a:r>
              <a:rPr lang="en-US" altLang="zh-CN" baseline="-25000">
                <a:solidFill>
                  <a:srgbClr val="FF0000"/>
                </a:solidFill>
                <a:latin typeface="Consolas" pitchFamily="49" charset="0"/>
                <a:ea typeface="仿宋" pitchFamily="49" charset="-122"/>
                <a:cs typeface="Consolas" pitchFamily="49" charset="0"/>
              </a:rPr>
              <a:t>7</a:t>
            </a:r>
            <a:r>
              <a:rPr lang="zh-CN" altLang="en-US">
                <a:solidFill>
                  <a:srgbClr val="FF0000"/>
                </a:solidFill>
                <a:latin typeface="Consolas" pitchFamily="49" charset="0"/>
                <a:ea typeface="仿宋" pitchFamily="49" charset="-122"/>
                <a:cs typeface="Consolas" pitchFamily="49" charset="0"/>
              </a:rPr>
              <a:t>、</a:t>
            </a:r>
            <a:r>
              <a:rPr lang="en-US" altLang="zh-CN" i="1">
                <a:solidFill>
                  <a:srgbClr val="FF0000"/>
                </a:solidFill>
                <a:latin typeface="Consolas" pitchFamily="49" charset="0"/>
                <a:ea typeface="仿宋" pitchFamily="49" charset="-122"/>
                <a:cs typeface="Consolas" pitchFamily="49" charset="0"/>
              </a:rPr>
              <a:t>a</a:t>
            </a:r>
            <a:r>
              <a:rPr lang="en-US" altLang="zh-CN" baseline="-25000">
                <a:solidFill>
                  <a:srgbClr val="FF0000"/>
                </a:solidFill>
                <a:latin typeface="Consolas" pitchFamily="49" charset="0"/>
                <a:ea typeface="仿宋" pitchFamily="49" charset="-122"/>
                <a:cs typeface="Consolas" pitchFamily="49" charset="0"/>
              </a:rPr>
              <a:t>8</a:t>
            </a:r>
            <a:r>
              <a:rPr lang="zh-CN" altLang="en-US">
                <a:solidFill>
                  <a:srgbClr val="FF0000"/>
                </a:solidFill>
                <a:latin typeface="Consolas" pitchFamily="49" charset="0"/>
                <a:ea typeface="仿宋" pitchFamily="49" charset="-122"/>
                <a:cs typeface="Consolas" pitchFamily="49" charset="0"/>
              </a:rPr>
              <a:t>和</a:t>
            </a:r>
            <a:r>
              <a:rPr lang="en-US" altLang="zh-CN" i="1">
                <a:solidFill>
                  <a:srgbClr val="FF0000"/>
                </a:solidFill>
                <a:latin typeface="Consolas" pitchFamily="49" charset="0"/>
                <a:ea typeface="仿宋" pitchFamily="49" charset="-122"/>
                <a:cs typeface="Consolas" pitchFamily="49" charset="0"/>
              </a:rPr>
              <a:t>a</a:t>
            </a:r>
            <a:r>
              <a:rPr lang="en-US" altLang="zh-CN" baseline="-25000">
                <a:solidFill>
                  <a:srgbClr val="FF0000"/>
                </a:solidFill>
                <a:latin typeface="Consolas" pitchFamily="49" charset="0"/>
                <a:ea typeface="仿宋" pitchFamily="49" charset="-122"/>
                <a:cs typeface="Consolas" pitchFamily="49" charset="0"/>
              </a:rPr>
              <a:t>9</a:t>
            </a:r>
            <a:r>
              <a:rPr lang="zh-CN" altLang="en-US">
                <a:solidFill>
                  <a:srgbClr val="FF0000"/>
                </a:solidFill>
                <a:latin typeface="Consolas" pitchFamily="49" charset="0"/>
                <a:ea typeface="仿宋" pitchFamily="49" charset="-122"/>
                <a:cs typeface="Consolas" pitchFamily="49" charset="0"/>
              </a:rPr>
              <a:t>构成</a:t>
            </a:r>
            <a:r>
              <a:rPr lang="zh-CN" altLang="en-US">
                <a:solidFill>
                  <a:srgbClr val="0000FF"/>
                </a:solidFill>
                <a:latin typeface="Consolas" pitchFamily="49" charset="0"/>
                <a:ea typeface="仿宋" pitchFamily="49" charset="-122"/>
                <a:cs typeface="Consolas" pitchFamily="49" charset="0"/>
              </a:rPr>
              <a:t>的。</a:t>
            </a:r>
          </a:p>
        </p:txBody>
      </p:sp>
      <p:graphicFrame>
        <p:nvGraphicFramePr>
          <p:cNvPr id="6" name="表格 5"/>
          <p:cNvGraphicFramePr>
            <a:graphicFrameLocks noGrp="1"/>
          </p:cNvGraphicFramePr>
          <p:nvPr/>
        </p:nvGraphicFramePr>
        <p:xfrm>
          <a:off x="4429124" y="3073241"/>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7" name="组合 6"/>
          <p:cNvGrpSpPr/>
          <p:nvPr/>
        </p:nvGrpSpPr>
        <p:grpSpPr>
          <a:xfrm>
            <a:off x="4000496" y="2981166"/>
            <a:ext cx="3643338" cy="3733982"/>
            <a:chOff x="3357554" y="1408099"/>
            <a:chExt cx="3643338" cy="3733982"/>
          </a:xfrm>
        </p:grpSpPr>
        <p:sp>
          <p:nvSpPr>
            <p:cNvPr id="8" name="TextBox 7"/>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9" name="TextBox 28"/>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30" name="椭圆 29"/>
            <p:cNvSpPr/>
            <p:nvPr/>
          </p:nvSpPr>
          <p:spPr>
            <a:xfrm>
              <a:off x="4640214" y="474028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1" name="TextBox 30"/>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2" name="椭圆 31"/>
            <p:cNvSpPr/>
            <p:nvPr/>
          </p:nvSpPr>
          <p:spPr>
            <a:xfrm>
              <a:off x="4046534" y="2927810"/>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3" name="TextBox 32"/>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4" name="椭圆 33"/>
            <p:cNvSpPr/>
            <p:nvPr/>
          </p:nvSpPr>
          <p:spPr>
            <a:xfrm>
              <a:off x="6162636" y="445453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5" name="TextBox 34"/>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6" name="椭圆 35"/>
            <p:cNvSpPr/>
            <p:nvPr/>
          </p:nvSpPr>
          <p:spPr>
            <a:xfrm>
              <a:off x="6473788" y="265475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TextBox 36"/>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8" name="椭圆 37"/>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9" name="TextBox 38"/>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40" name="椭圆 39"/>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1" name="TextBox 40"/>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2" name="椭圆 41"/>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3" name="TextBox 42"/>
            <p:cNvSpPr txBox="1"/>
            <p:nvPr/>
          </p:nvSpPr>
          <p:spPr>
            <a:xfrm>
              <a:off x="4764138" y="331833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4" name="椭圆 43"/>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5" name="TextBox 44"/>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6" name="椭圆 45"/>
            <p:cNvSpPr/>
            <p:nvPr/>
          </p:nvSpPr>
          <p:spPr>
            <a:xfrm>
              <a:off x="5272042" y="352107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7" name="TextBox 46"/>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8" name="椭圆 47"/>
            <p:cNvSpPr/>
            <p:nvPr/>
          </p:nvSpPr>
          <p:spPr>
            <a:xfrm>
              <a:off x="5553032" y="385762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9" name="TextBox 48"/>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grpSp>
        <p:nvGrpSpPr>
          <p:cNvPr id="50" name="组合 49"/>
          <p:cNvGrpSpPr/>
          <p:nvPr/>
        </p:nvGrpSpPr>
        <p:grpSpPr>
          <a:xfrm>
            <a:off x="4773437" y="3377545"/>
            <a:ext cx="2397293" cy="3028332"/>
            <a:chOff x="4130495" y="1804478"/>
            <a:chExt cx="2397293" cy="3028332"/>
          </a:xfrm>
        </p:grpSpPr>
        <p:cxnSp>
          <p:nvCxnSpPr>
            <p:cNvPr id="51" name="直接连接符 50"/>
            <p:cNvCxnSpPr>
              <a:stCxn id="30" idx="7"/>
              <a:endCxn id="34" idx="2"/>
            </p:cNvCxnSpPr>
            <p:nvPr/>
          </p:nvCxnSpPr>
          <p:spPr>
            <a:xfrm rot="5400000" flipH="1" flipV="1">
              <a:off x="5330097" y="4000271"/>
              <a:ext cx="234840" cy="1430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34" idx="0"/>
              <a:endCxn id="36" idx="4"/>
            </p:cNvCxnSpPr>
            <p:nvPr/>
          </p:nvCxnSpPr>
          <p:spPr>
            <a:xfrm rot="5400000" flipH="1" flipV="1">
              <a:off x="5544325" y="3542507"/>
              <a:ext cx="1655774" cy="31115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36" idx="0"/>
              <a:endCxn id="38" idx="6"/>
            </p:cNvCxnSpPr>
            <p:nvPr/>
          </p:nvCxnSpPr>
          <p:spPr>
            <a:xfrm rot="16200000" flipV="1">
              <a:off x="5364204" y="1562612"/>
              <a:ext cx="855570" cy="147159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rot="10800000" flipV="1">
              <a:off x="4130495" y="1804478"/>
              <a:ext cx="804818" cy="112974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32" idx="5"/>
              <a:endCxn id="30" idx="1"/>
            </p:cNvCxnSpPr>
            <p:nvPr/>
          </p:nvCxnSpPr>
          <p:spPr>
            <a:xfrm rot="16200000" flipH="1">
              <a:off x="3542049" y="3718829"/>
              <a:ext cx="1710650" cy="51731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6" name="灯片编号占位符 55"/>
          <p:cNvSpPr>
            <a:spLocks noGrp="1"/>
          </p:cNvSpPr>
          <p:nvPr>
            <p:ph type="sldNum" sz="quarter" idx="12"/>
          </p:nvPr>
        </p:nvSpPr>
        <p:spPr/>
        <p:txBody>
          <a:bodyPr/>
          <a:lstStyle/>
          <a:p>
            <a:pPr>
              <a:defRPr/>
            </a:pPr>
            <a:fld id="{51116183-1013-4E64-BBE8-A5C1D5D4F838}" type="slidenum">
              <a:rPr lang="en-US" altLang="zh-CN" smtClean="0"/>
              <a:pPr>
                <a:defRPr/>
              </a:pPr>
              <a:t>84</a:t>
            </a:fld>
            <a:r>
              <a:rPr lang="en-US" altLang="zh-CN"/>
              <a:t>/167</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395288" y="476250"/>
            <a:ext cx="4319588" cy="52322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spcBef>
                <a:spcPct val="50000"/>
              </a:spcBef>
              <a:defRPr/>
            </a:pP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10.2.1 </a:t>
            </a:r>
            <a:r>
              <a:rPr lang="zh-CN" altLang="en-US"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礼品包裹算法</a:t>
            </a:r>
          </a:p>
        </p:txBody>
      </p:sp>
      <p:sp>
        <p:nvSpPr>
          <p:cNvPr id="58371" name="Text Box 3"/>
          <p:cNvSpPr txBox="1">
            <a:spLocks noChangeArrowheads="1"/>
          </p:cNvSpPr>
          <p:nvPr/>
        </p:nvSpPr>
        <p:spPr bwMode="auto">
          <a:xfrm>
            <a:off x="395288" y="1628775"/>
            <a:ext cx="8064500" cy="884216"/>
          </a:xfrm>
          <a:prstGeom prst="rect">
            <a:avLst/>
          </a:prstGeom>
          <a:noFill/>
          <a:ln w="9525">
            <a:noFill/>
            <a:miter lim="800000"/>
            <a:headEnd/>
            <a:tailEnd/>
          </a:ln>
        </p:spPr>
        <p:txBody>
          <a:bodyPr>
            <a:spAutoFit/>
          </a:bodyPr>
          <a:lstStyle/>
          <a:p>
            <a:pPr>
              <a:lnSpc>
                <a:spcPts val="3200"/>
              </a:lnSpc>
              <a:spcBef>
                <a:spcPts val="0"/>
              </a:spcBef>
            </a:pPr>
            <a:r>
              <a:rPr lang="zh-CN" altLang="en-US" dirty="0">
                <a:solidFill>
                  <a:srgbClr val="0000FF"/>
                </a:solidFill>
                <a:latin typeface="Consolas" pitchFamily="49" charset="0"/>
                <a:ea typeface="仿宋" pitchFamily="49" charset="-122"/>
                <a:cs typeface="Consolas" pitchFamily="49" charset="0"/>
              </a:rPr>
              <a:t>　　对于给定的</a:t>
            </a:r>
            <a:r>
              <a:rPr lang="en-US" altLang="zh-CN" i="1" dirty="0">
                <a:solidFill>
                  <a:srgbClr val="0000FF"/>
                </a:solidFill>
                <a:latin typeface="Consolas" pitchFamily="49" charset="0"/>
                <a:ea typeface="仿宋" pitchFamily="49" charset="-122"/>
                <a:cs typeface="Consolas" pitchFamily="49" charset="0"/>
              </a:rPr>
              <a:t>n</a:t>
            </a:r>
            <a:r>
              <a:rPr lang="zh-CN" altLang="en-US" dirty="0">
                <a:solidFill>
                  <a:srgbClr val="0000FF"/>
                </a:solidFill>
                <a:latin typeface="Consolas" pitchFamily="49" charset="0"/>
                <a:ea typeface="仿宋" pitchFamily="49" charset="-122"/>
                <a:cs typeface="Consolas" pitchFamily="49" charset="0"/>
              </a:rPr>
              <a:t>个点</a:t>
            </a:r>
            <a:r>
              <a:rPr lang="en-US" altLang="zh-CN" i="1" dirty="0">
                <a:solidFill>
                  <a:srgbClr val="0000FF"/>
                </a:solidFill>
                <a:latin typeface="Consolas" pitchFamily="49" charset="0"/>
                <a:ea typeface="仿宋" pitchFamily="49" charset="-122"/>
                <a:cs typeface="Consolas" pitchFamily="49" charset="0"/>
              </a:rPr>
              <a:t>a</a:t>
            </a:r>
            <a:r>
              <a:rPr lang="en-US" altLang="zh-CN" dirty="0">
                <a:solidFill>
                  <a:srgbClr val="0000FF"/>
                </a:solidFill>
                <a:latin typeface="Consolas" pitchFamily="49" charset="0"/>
                <a:ea typeface="仿宋" pitchFamily="49" charset="-122"/>
                <a:cs typeface="Consolas" pitchFamily="49" charset="0"/>
              </a:rPr>
              <a:t>[</a:t>
            </a:r>
            <a:r>
              <a:rPr lang="en-US" altLang="zh-CN" dirty="0" err="1">
                <a:solidFill>
                  <a:srgbClr val="0000FF"/>
                </a:solidFill>
                <a:latin typeface="Consolas" pitchFamily="49" charset="0"/>
                <a:ea typeface="仿宋" pitchFamily="49" charset="-122"/>
                <a:cs typeface="Consolas" pitchFamily="49" charset="0"/>
              </a:rPr>
              <a:t>0..</a:t>
            </a:r>
            <a:r>
              <a:rPr lang="en-US" altLang="zh-CN" i="1" err="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，求</a:t>
            </a:r>
            <a:r>
              <a:rPr lang="zh-CN" altLang="en-US" dirty="0">
                <a:solidFill>
                  <a:srgbClr val="0000FF"/>
                </a:solidFill>
                <a:latin typeface="Consolas" pitchFamily="49" charset="0"/>
                <a:ea typeface="仿宋" pitchFamily="49" charset="-122"/>
                <a:cs typeface="Consolas" pitchFamily="49" charset="0"/>
              </a:rPr>
              <a:t>解的凸包顶点序列存放在凸包数组</a:t>
            </a:r>
            <a:r>
              <a:rPr lang="en-US" altLang="zh-CN" err="1">
                <a:solidFill>
                  <a:srgbClr val="0000FF"/>
                </a:solidFill>
                <a:latin typeface="Consolas" pitchFamily="49" charset="0"/>
                <a:ea typeface="仿宋" pitchFamily="49" charset="-122"/>
                <a:cs typeface="Consolas" pitchFamily="49" charset="0"/>
              </a:rPr>
              <a:t>ch</a:t>
            </a:r>
            <a:r>
              <a:rPr lang="zh-CN" altLang="en-US">
                <a:solidFill>
                  <a:srgbClr val="0000FF"/>
                </a:solidFill>
                <a:latin typeface="Consolas" pitchFamily="49" charset="0"/>
                <a:ea typeface="仿宋" pitchFamily="49" charset="-122"/>
                <a:cs typeface="Consolas" pitchFamily="49" charset="0"/>
              </a:rPr>
              <a:t>中，其</a:t>
            </a:r>
            <a:r>
              <a:rPr lang="zh-CN" altLang="en-US" dirty="0">
                <a:solidFill>
                  <a:srgbClr val="0000FF"/>
                </a:solidFill>
                <a:latin typeface="Consolas" pitchFamily="49" charset="0"/>
                <a:ea typeface="仿宋" pitchFamily="49" charset="-122"/>
                <a:cs typeface="Consolas" pitchFamily="49" charset="0"/>
              </a:rPr>
              <a:t>步骤如下：</a:t>
            </a:r>
          </a:p>
        </p:txBody>
      </p:sp>
      <p:sp>
        <p:nvSpPr>
          <p:cNvPr id="58372" name="Text Box 4"/>
          <p:cNvSpPr txBox="1">
            <a:spLocks noChangeArrowheads="1"/>
          </p:cNvSpPr>
          <p:nvPr/>
        </p:nvSpPr>
        <p:spPr bwMode="auto">
          <a:xfrm>
            <a:off x="428596" y="2786058"/>
            <a:ext cx="8215370" cy="1741603"/>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tIns="108000" bIns="108000">
            <a:spAutoFit/>
          </a:bodyPr>
          <a:lstStyle/>
          <a:p>
            <a:pPr>
              <a:lnSpc>
                <a:spcPct val="150000"/>
              </a:lnSpc>
            </a:pPr>
            <a:r>
              <a:rPr lang="zh-CN" altLang="en-US" sz="2200">
                <a:solidFill>
                  <a:srgbClr val="0000FF"/>
                </a:solidFill>
                <a:latin typeface="Consolas" pitchFamily="49" charset="0"/>
                <a:ea typeface="仿宋" pitchFamily="49" charset="-122"/>
                <a:cs typeface="Consolas" pitchFamily="49" charset="0"/>
              </a:rPr>
              <a:t>　（</a:t>
            </a:r>
            <a:r>
              <a:rPr lang="en-US" altLang="zh-CN" sz="2200" dirty="0">
                <a:solidFill>
                  <a:srgbClr val="0000FF"/>
                </a:solidFill>
                <a:latin typeface="Consolas" pitchFamily="49" charset="0"/>
                <a:ea typeface="仿宋" pitchFamily="49" charset="-122"/>
                <a:cs typeface="Consolas" pitchFamily="49" charset="0"/>
              </a:rPr>
              <a:t>1</a:t>
            </a:r>
            <a:r>
              <a:rPr lang="zh-CN" altLang="en-US" sz="2200" dirty="0">
                <a:solidFill>
                  <a:srgbClr val="0000FF"/>
                </a:solidFill>
                <a:latin typeface="Consolas" pitchFamily="49" charset="0"/>
                <a:ea typeface="仿宋" pitchFamily="49" charset="-122"/>
                <a:cs typeface="Consolas" pitchFamily="49" charset="0"/>
              </a:rPr>
              <a:t>）从所有点中求出最左边的最低点</a:t>
            </a:r>
            <a:r>
              <a:rPr lang="en-US" altLang="zh-CN" sz="2200" i="1" dirty="0" err="1">
                <a:solidFill>
                  <a:srgbClr val="0000FF"/>
                </a:solidFill>
                <a:latin typeface="Consolas" pitchFamily="49" charset="0"/>
                <a:ea typeface="仿宋" pitchFamily="49" charset="-122"/>
                <a:cs typeface="Consolas" pitchFamily="49" charset="0"/>
              </a:rPr>
              <a:t>a</a:t>
            </a:r>
            <a:r>
              <a:rPr lang="en-US" altLang="zh-CN" sz="2200" i="1" baseline="-25000" dirty="0" err="1">
                <a:solidFill>
                  <a:srgbClr val="0000FF"/>
                </a:solidFill>
                <a:latin typeface="Consolas" pitchFamily="49" charset="0"/>
                <a:ea typeface="仿宋" pitchFamily="49" charset="-122"/>
                <a:cs typeface="Consolas" pitchFamily="49" charset="0"/>
              </a:rPr>
              <a:t>j</a:t>
            </a:r>
            <a:r>
              <a:rPr lang="zh-CN" altLang="en-US" sz="2200" dirty="0">
                <a:solidFill>
                  <a:srgbClr val="0000FF"/>
                </a:solidFill>
                <a:latin typeface="Consolas" pitchFamily="49" charset="0"/>
                <a:ea typeface="仿宋" pitchFamily="49" charset="-122"/>
                <a:cs typeface="Consolas" pitchFamily="49" charset="0"/>
              </a:rPr>
              <a:t>（</a:t>
            </a:r>
            <a:r>
              <a:rPr lang="en-US" altLang="zh-CN" sz="2200" i="1" dirty="0">
                <a:solidFill>
                  <a:srgbClr val="0000FF"/>
                </a:solidFill>
                <a:latin typeface="Consolas" pitchFamily="49" charset="0"/>
                <a:ea typeface="仿宋" pitchFamily="49" charset="-122"/>
                <a:cs typeface="Consolas" pitchFamily="49" charset="0"/>
              </a:rPr>
              <a:t>x</a:t>
            </a:r>
            <a:r>
              <a:rPr lang="zh-CN" altLang="en-US" sz="2200" dirty="0">
                <a:solidFill>
                  <a:srgbClr val="0000FF"/>
                </a:solidFill>
                <a:latin typeface="Consolas" pitchFamily="49" charset="0"/>
                <a:ea typeface="仿宋" pitchFamily="49" charset="-122"/>
                <a:cs typeface="Consolas" pitchFamily="49" charset="0"/>
              </a:rPr>
              <a:t>坐标最</a:t>
            </a:r>
            <a:r>
              <a:rPr lang="zh-CN" altLang="en-US" sz="2200">
                <a:solidFill>
                  <a:srgbClr val="0000FF"/>
                </a:solidFill>
                <a:latin typeface="Consolas" pitchFamily="49" charset="0"/>
                <a:ea typeface="仿宋" pitchFamily="49" charset="-122"/>
                <a:cs typeface="Consolas" pitchFamily="49" charset="0"/>
              </a:rPr>
              <a:t>小者，若</a:t>
            </a:r>
            <a:r>
              <a:rPr lang="zh-CN" altLang="en-US" sz="2200" dirty="0">
                <a:solidFill>
                  <a:srgbClr val="0000FF"/>
                </a:solidFill>
                <a:latin typeface="Consolas" pitchFamily="49" charset="0"/>
                <a:ea typeface="仿宋" pitchFamily="49" charset="-122"/>
                <a:cs typeface="Consolas" pitchFamily="49" charset="0"/>
              </a:rPr>
              <a:t>有多个这样</a:t>
            </a:r>
            <a:r>
              <a:rPr lang="zh-CN" altLang="en-US" sz="2200">
                <a:solidFill>
                  <a:srgbClr val="0000FF"/>
                </a:solidFill>
                <a:latin typeface="Consolas" pitchFamily="49" charset="0"/>
                <a:ea typeface="仿宋" pitchFamily="49" charset="-122"/>
                <a:cs typeface="Consolas" pitchFamily="49" charset="0"/>
              </a:rPr>
              <a:t>的点，选</a:t>
            </a:r>
            <a:r>
              <a:rPr lang="zh-CN" altLang="en-US" sz="2200" dirty="0">
                <a:solidFill>
                  <a:srgbClr val="0000FF"/>
                </a:solidFill>
                <a:latin typeface="Consolas" pitchFamily="49" charset="0"/>
                <a:ea typeface="仿宋" pitchFamily="49" charset="-122"/>
                <a:cs typeface="Consolas" pitchFamily="49" charset="0"/>
              </a:rPr>
              <a:t>其中</a:t>
            </a:r>
            <a:r>
              <a:rPr lang="en-US" altLang="zh-CN" sz="2200" i="1" dirty="0">
                <a:solidFill>
                  <a:srgbClr val="0000FF"/>
                </a:solidFill>
                <a:latin typeface="Consolas" pitchFamily="49" charset="0"/>
                <a:ea typeface="仿宋" pitchFamily="49" charset="-122"/>
                <a:cs typeface="Consolas" pitchFamily="49" charset="0"/>
              </a:rPr>
              <a:t>y</a:t>
            </a:r>
            <a:r>
              <a:rPr lang="zh-CN" altLang="en-US" sz="2200" dirty="0">
                <a:solidFill>
                  <a:srgbClr val="0000FF"/>
                </a:solidFill>
                <a:latin typeface="Consolas" pitchFamily="49" charset="0"/>
                <a:ea typeface="仿宋" pitchFamily="49" charset="-122"/>
                <a:cs typeface="Consolas" pitchFamily="49" charset="0"/>
              </a:rPr>
              <a:t>坐标最小</a:t>
            </a:r>
            <a:r>
              <a:rPr lang="zh-CN" altLang="en-US" sz="2200">
                <a:solidFill>
                  <a:srgbClr val="0000FF"/>
                </a:solidFill>
                <a:latin typeface="Consolas" pitchFamily="49" charset="0"/>
                <a:ea typeface="仿宋" pitchFamily="49" charset="-122"/>
                <a:cs typeface="Consolas" pitchFamily="49" charset="0"/>
              </a:rPr>
              <a:t>者），置</a:t>
            </a:r>
            <a:r>
              <a:rPr lang="en-US" altLang="zh-CN" sz="2200" dirty="0" err="1">
                <a:solidFill>
                  <a:srgbClr val="006600"/>
                </a:solidFill>
                <a:latin typeface="Consolas" pitchFamily="49" charset="0"/>
                <a:ea typeface="仿宋" pitchFamily="49" charset="-122"/>
                <a:cs typeface="Consolas" pitchFamily="49" charset="0"/>
              </a:rPr>
              <a:t>tmp</a:t>
            </a:r>
            <a:r>
              <a:rPr lang="en-US" altLang="zh-CN" sz="2200" dirty="0">
                <a:solidFill>
                  <a:srgbClr val="006600"/>
                </a:solidFill>
                <a:latin typeface="Consolas" pitchFamily="49" charset="0"/>
                <a:ea typeface="仿宋" pitchFamily="49" charset="-122"/>
                <a:cs typeface="Consolas" pitchFamily="49" charset="0"/>
              </a:rPr>
              <a:t>=</a:t>
            </a:r>
            <a:r>
              <a:rPr lang="en-US" altLang="zh-CN" sz="2200" i="1" dirty="0">
                <a:solidFill>
                  <a:srgbClr val="006600"/>
                </a:solidFill>
                <a:latin typeface="Consolas" pitchFamily="49" charset="0"/>
                <a:ea typeface="仿宋" pitchFamily="49" charset="-122"/>
                <a:cs typeface="Consolas" pitchFamily="49" charset="0"/>
              </a:rPr>
              <a:t>j</a:t>
            </a:r>
            <a:r>
              <a:rPr lang="zh-CN" altLang="en-US" sz="2200" dirty="0">
                <a:solidFill>
                  <a:srgbClr val="0000FF"/>
                </a:solidFill>
                <a:latin typeface="Consolas" pitchFamily="49" charset="0"/>
                <a:ea typeface="仿宋" pitchFamily="49" charset="-122"/>
                <a:cs typeface="Consolas" pitchFamily="49" charset="0"/>
              </a:rPr>
              <a:t>。</a:t>
            </a:r>
          </a:p>
          <a:p>
            <a:pPr>
              <a:lnSpc>
                <a:spcPct val="150000"/>
              </a:lnSpc>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）重复：将</a:t>
            </a:r>
            <a:r>
              <a:rPr lang="en-US" altLang="zh-CN" sz="2200" i="1">
                <a:solidFill>
                  <a:srgbClr val="FF0000"/>
                </a:solidFill>
                <a:latin typeface="Consolas" pitchFamily="49" charset="0"/>
                <a:ea typeface="仿宋" pitchFamily="49" charset="-122"/>
                <a:cs typeface="Consolas" pitchFamily="49" charset="0"/>
              </a:rPr>
              <a:t>a</a:t>
            </a:r>
            <a:r>
              <a:rPr lang="en-US" altLang="zh-CN" sz="2200" i="1" baseline="-25000">
                <a:solidFill>
                  <a:srgbClr val="FF0000"/>
                </a:solidFill>
                <a:latin typeface="Consolas" pitchFamily="49" charset="0"/>
                <a:ea typeface="仿宋" pitchFamily="49" charset="-122"/>
                <a:cs typeface="Consolas" pitchFamily="49" charset="0"/>
              </a:rPr>
              <a:t>j</a:t>
            </a:r>
            <a:r>
              <a:rPr lang="zh-CN" altLang="en-US" sz="2200" dirty="0">
                <a:solidFill>
                  <a:srgbClr val="0000FF"/>
                </a:solidFill>
                <a:latin typeface="Consolas" pitchFamily="49" charset="0"/>
                <a:ea typeface="仿宋" pitchFamily="49" charset="-122"/>
                <a:cs typeface="Consolas" pitchFamily="49" charset="0"/>
              </a:rPr>
              <a:t>作为凸包中的</a:t>
            </a:r>
            <a:r>
              <a:rPr lang="zh-CN" altLang="en-US" sz="2200">
                <a:solidFill>
                  <a:srgbClr val="0000FF"/>
                </a:solidFill>
                <a:latin typeface="Consolas" pitchFamily="49" charset="0"/>
                <a:ea typeface="仿宋" pitchFamily="49" charset="-122"/>
                <a:cs typeface="Consolas" pitchFamily="49" charset="0"/>
              </a:rPr>
              <a:t>一个点，即将</a:t>
            </a:r>
            <a:r>
              <a:rPr lang="en-US" altLang="zh-CN" sz="2200" i="1">
                <a:solidFill>
                  <a:srgbClr val="0000FF"/>
                </a:solidFill>
                <a:latin typeface="Consolas" pitchFamily="49" charset="0"/>
                <a:ea typeface="仿宋" pitchFamily="49" charset="-122"/>
                <a:cs typeface="Consolas" pitchFamily="49" charset="0"/>
              </a:rPr>
              <a:t>j</a:t>
            </a:r>
            <a:r>
              <a:rPr lang="zh-CN" altLang="en-US" sz="2200">
                <a:solidFill>
                  <a:srgbClr val="0000FF"/>
                </a:solidFill>
                <a:latin typeface="Consolas" pitchFamily="49" charset="0"/>
                <a:ea typeface="仿宋" pitchFamily="49" charset="-122"/>
                <a:cs typeface="Consolas" pitchFamily="49" charset="0"/>
              </a:rPr>
              <a:t>存</a:t>
            </a:r>
            <a:r>
              <a:rPr lang="zh-CN" altLang="en-US" sz="2200" dirty="0">
                <a:solidFill>
                  <a:srgbClr val="0000FF"/>
                </a:solidFill>
                <a:latin typeface="Consolas" pitchFamily="49" charset="0"/>
                <a:ea typeface="仿宋" pitchFamily="49" charset="-122"/>
                <a:cs typeface="Consolas" pitchFamily="49" charset="0"/>
              </a:rPr>
              <a:t>放到</a:t>
            </a:r>
            <a:r>
              <a:rPr lang="en-US" altLang="zh-CN" sz="2200" dirty="0" err="1">
                <a:solidFill>
                  <a:srgbClr val="0000FF"/>
                </a:solidFill>
                <a:latin typeface="Consolas" pitchFamily="49" charset="0"/>
                <a:ea typeface="仿宋" pitchFamily="49" charset="-122"/>
                <a:cs typeface="Consolas" pitchFamily="49" charset="0"/>
              </a:rPr>
              <a:t>ch</a:t>
            </a:r>
            <a:r>
              <a:rPr lang="zh-CN" altLang="en-US" sz="2200" dirty="0">
                <a:solidFill>
                  <a:srgbClr val="0000FF"/>
                </a:solidFill>
                <a:latin typeface="Consolas" pitchFamily="49" charset="0"/>
                <a:ea typeface="仿宋" pitchFamily="49" charset="-122"/>
                <a:cs typeface="Consolas" pitchFamily="49" charset="0"/>
              </a:rPr>
              <a:t>中。</a:t>
            </a:r>
          </a:p>
        </p:txBody>
      </p:sp>
      <p:sp>
        <p:nvSpPr>
          <p:cNvPr id="6" name="灯片编号占位符 5"/>
          <p:cNvSpPr>
            <a:spLocks noGrp="1"/>
          </p:cNvSpPr>
          <p:nvPr>
            <p:ph type="sldNum" sz="quarter" idx="12"/>
          </p:nvPr>
        </p:nvSpPr>
        <p:spPr/>
        <p:txBody>
          <a:bodyPr/>
          <a:lstStyle/>
          <a:p>
            <a:pPr>
              <a:defRPr/>
            </a:pPr>
            <a:fld id="{51116183-1013-4E64-BBE8-A5C1D5D4F838}" type="slidenum">
              <a:rPr lang="en-US" altLang="zh-CN" smtClean="0"/>
              <a:pPr>
                <a:defRPr/>
              </a:pPr>
              <a:t>85</a:t>
            </a:fld>
            <a:r>
              <a:rPr lang="en-US" altLang="zh-CN"/>
              <a:t>/167</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2"/>
          <p:cNvSpPr txBox="1">
            <a:spLocks noChangeArrowheads="1"/>
          </p:cNvSpPr>
          <p:nvPr/>
        </p:nvSpPr>
        <p:spPr bwMode="auto">
          <a:xfrm>
            <a:off x="500034" y="571480"/>
            <a:ext cx="8247092" cy="1913344"/>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nSpc>
                <a:spcPts val="3400"/>
              </a:lnSpc>
              <a:spcBef>
                <a:spcPts val="6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）对于</a:t>
            </a:r>
            <a:r>
              <a:rPr lang="zh-CN" altLang="zh-CN" sz="2200">
                <a:solidFill>
                  <a:srgbClr val="FF0000"/>
                </a:solidFill>
                <a:latin typeface="Consolas" pitchFamily="49" charset="0"/>
                <a:ea typeface="仿宋" pitchFamily="49" charset="-122"/>
              </a:rPr>
              <a:t>点</a:t>
            </a:r>
            <a:r>
              <a:rPr lang="en-US" altLang="zh-CN" sz="2200" i="1">
                <a:solidFill>
                  <a:srgbClr val="FF0000"/>
                </a:solidFill>
                <a:latin typeface="Consolas" pitchFamily="49" charset="0"/>
                <a:ea typeface="仿宋" pitchFamily="49" charset="-122"/>
              </a:rPr>
              <a:t>a</a:t>
            </a:r>
            <a:r>
              <a:rPr lang="en-US" altLang="zh-CN" sz="2200" i="1" baseline="-25000">
                <a:solidFill>
                  <a:srgbClr val="FF0000"/>
                </a:solidFill>
                <a:latin typeface="Consolas" pitchFamily="49" charset="0"/>
                <a:ea typeface="仿宋" pitchFamily="49" charset="-122"/>
              </a:rPr>
              <a:t>j</a:t>
            </a:r>
            <a:r>
              <a:rPr lang="zh-CN" altLang="zh-CN" sz="2200">
                <a:solidFill>
                  <a:srgbClr val="0000FF"/>
                </a:solidFill>
                <a:latin typeface="Consolas" pitchFamily="49" charset="0"/>
                <a:ea typeface="仿宋" pitchFamily="49" charset="-122"/>
              </a:rPr>
              <a:t>，找一个点</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k</a:t>
            </a:r>
            <a:r>
              <a:rPr lang="zh-CN" altLang="zh-CN" sz="2200">
                <a:solidFill>
                  <a:srgbClr val="0000FF"/>
                </a:solidFill>
                <a:latin typeface="Consolas" pitchFamily="49" charset="0"/>
                <a:ea typeface="仿宋" pitchFamily="49" charset="-122"/>
              </a:rPr>
              <a:t>，使得</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j</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k</a:t>
            </a:r>
            <a:r>
              <a:rPr lang="zh-CN" altLang="zh-CN" sz="2200">
                <a:solidFill>
                  <a:srgbClr val="0000FF"/>
                </a:solidFill>
                <a:latin typeface="Consolas" pitchFamily="49" charset="0"/>
                <a:ea typeface="仿宋" pitchFamily="49" charset="-122"/>
              </a:rPr>
              <a:t>与以</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j</a:t>
            </a:r>
            <a:r>
              <a:rPr lang="zh-CN" altLang="zh-CN" sz="2200">
                <a:solidFill>
                  <a:srgbClr val="0000FF"/>
                </a:solidFill>
                <a:latin typeface="Consolas" pitchFamily="49" charset="0"/>
                <a:ea typeface="仿宋" pitchFamily="49" charset="-122"/>
              </a:rPr>
              <a:t>为起点的水平方向射线的角度最小。找点</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k</a:t>
            </a:r>
            <a:r>
              <a:rPr lang="zh-CN" altLang="zh-CN" sz="2200">
                <a:solidFill>
                  <a:srgbClr val="0000FF"/>
                </a:solidFill>
                <a:latin typeface="Consolas" pitchFamily="49" charset="0"/>
                <a:ea typeface="仿宋" pitchFamily="49" charset="-122"/>
              </a:rPr>
              <a:t>的过程是：</a:t>
            </a:r>
            <a:endParaRPr lang="en-US" altLang="zh-CN" sz="2200">
              <a:solidFill>
                <a:srgbClr val="0000FF"/>
              </a:solidFill>
              <a:latin typeface="Consolas" pitchFamily="49" charset="0"/>
              <a:ea typeface="仿宋" pitchFamily="49" charset="-122"/>
            </a:endParaRPr>
          </a:p>
          <a:p>
            <a:pPr>
              <a:lnSpc>
                <a:spcPts val="3400"/>
              </a:lnSpc>
              <a:spcBef>
                <a:spcPts val="600"/>
              </a:spcBef>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先初始化</a:t>
            </a:r>
            <a:r>
              <a:rPr lang="en-US" altLang="zh-CN" sz="2200" i="1">
                <a:solidFill>
                  <a:srgbClr val="0000FF"/>
                </a:solidFill>
                <a:latin typeface="Consolas" pitchFamily="49" charset="0"/>
                <a:ea typeface="仿宋" pitchFamily="49" charset="-122"/>
              </a:rPr>
              <a:t>k</a:t>
            </a:r>
            <a:r>
              <a:rPr lang="zh-CN" altLang="zh-CN" sz="2200">
                <a:solidFill>
                  <a:srgbClr val="0000FF"/>
                </a:solidFill>
                <a:latin typeface="Consolas" pitchFamily="49" charset="0"/>
                <a:ea typeface="仿宋" pitchFamily="49" charset="-122"/>
              </a:rPr>
              <a:t>为</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从</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到</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循环，当</a:t>
            </a:r>
            <a:r>
              <a:rPr lang="en-US" altLang="zh-CN" sz="2200" i="1">
                <a:solidFill>
                  <a:srgbClr val="0000FF"/>
                </a:solidFill>
                <a:latin typeface="Consolas" pitchFamily="49" charset="0"/>
                <a:ea typeface="仿宋" pitchFamily="49" charset="-122"/>
              </a:rPr>
              <a:t>i</a:t>
            </a:r>
            <a:r>
              <a:rPr lang="zh-CN" altLang="zh-CN" sz="2200">
                <a:solidFill>
                  <a:srgbClr val="0000FF"/>
                </a:solidFill>
                <a:latin typeface="宋体" pitchFamily="2" charset="-122"/>
                <a:ea typeface="宋体" pitchFamily="2" charset="-122"/>
              </a:rPr>
              <a:t>≠</a:t>
            </a:r>
            <a:r>
              <a:rPr lang="en-US" altLang="zh-CN" sz="2200" i="1">
                <a:solidFill>
                  <a:srgbClr val="0000FF"/>
                </a:solidFill>
                <a:latin typeface="Consolas" pitchFamily="49" charset="0"/>
                <a:ea typeface="仿宋" pitchFamily="49" charset="-122"/>
              </a:rPr>
              <a:t>j</a:t>
            </a:r>
            <a:r>
              <a:rPr lang="zh-CN" altLang="zh-CN" sz="2200">
                <a:solidFill>
                  <a:srgbClr val="0000FF"/>
                </a:solidFill>
                <a:latin typeface="Consolas" pitchFamily="49" charset="0"/>
                <a:ea typeface="仿宋" pitchFamily="49" charset="-122"/>
              </a:rPr>
              <a:t>并且</a:t>
            </a:r>
            <a:r>
              <a:rPr lang="en-US" altLang="zh-CN" sz="2200" i="1">
                <a:solidFill>
                  <a:srgbClr val="0000FF"/>
                </a:solidFill>
                <a:latin typeface="Consolas" pitchFamily="49" charset="0"/>
                <a:ea typeface="仿宋" pitchFamily="49" charset="-122"/>
              </a:rPr>
              <a:t>k</a:t>
            </a:r>
            <a:r>
              <a:rPr lang="zh-CN" altLang="zh-CN" sz="2200">
                <a:solidFill>
                  <a:srgbClr val="0000FF"/>
                </a:solidFill>
                <a:latin typeface="宋体" pitchFamily="2" charset="-122"/>
                <a:ea typeface="宋体" pitchFamily="2" charset="-122"/>
              </a:rPr>
              <a:t>≠</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（保证</a:t>
            </a:r>
            <a:r>
              <a:rPr lang="en-US" altLang="zh-CN" sz="2200" i="1">
                <a:solidFill>
                  <a:srgbClr val="0000FF"/>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j</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k</a:t>
            </a:r>
            <a:r>
              <a:rPr lang="zh-CN" altLang="zh-CN" sz="2200">
                <a:solidFill>
                  <a:srgbClr val="0000FF"/>
                </a:solidFill>
                <a:latin typeface="Consolas" pitchFamily="49" charset="0"/>
                <a:ea typeface="仿宋" pitchFamily="49" charset="-122"/>
              </a:rPr>
              <a:t>为</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个不同点的有效下标）时，分为</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种情况：</a:t>
            </a:r>
          </a:p>
        </p:txBody>
      </p:sp>
      <p:sp>
        <p:nvSpPr>
          <p:cNvPr id="16388" name="Rectangle 4"/>
          <p:cNvSpPr>
            <a:spLocks noChangeArrowheads="1"/>
          </p:cNvSpPr>
          <p:nvPr/>
        </p:nvSpPr>
        <p:spPr bwMode="auto">
          <a:xfrm>
            <a:off x="0" y="3009900"/>
            <a:ext cx="9144000" cy="0"/>
          </a:xfrm>
          <a:prstGeom prst="rect">
            <a:avLst/>
          </a:prstGeom>
          <a:noFill/>
          <a:ln w="9525">
            <a:noFill/>
            <a:miter lim="800000"/>
            <a:headEnd/>
            <a:tailEnd/>
          </a:ln>
        </p:spPr>
        <p:txBody>
          <a:bodyPr wrap="none" anchor="ctr">
            <a:spAutoFit/>
          </a:bodyPr>
          <a:lstStyle/>
          <a:p>
            <a:endParaRPr lang="zh-CN" altLang="en-US"/>
          </a:p>
        </p:txBody>
      </p:sp>
      <p:grpSp>
        <p:nvGrpSpPr>
          <p:cNvPr id="27" name="组合 26"/>
          <p:cNvGrpSpPr/>
          <p:nvPr/>
        </p:nvGrpSpPr>
        <p:grpSpPr>
          <a:xfrm>
            <a:off x="2782519" y="3134121"/>
            <a:ext cx="2398687" cy="2239133"/>
            <a:chOff x="2782519" y="3134121"/>
            <a:chExt cx="2398687" cy="2239133"/>
          </a:xfrm>
        </p:grpSpPr>
        <p:sp>
          <p:nvSpPr>
            <p:cNvPr id="9" name="Text Box 18"/>
            <p:cNvSpPr txBox="1">
              <a:spLocks noChangeArrowheads="1"/>
            </p:cNvSpPr>
            <p:nvPr/>
          </p:nvSpPr>
          <p:spPr bwMode="auto">
            <a:xfrm>
              <a:off x="3843006" y="3252442"/>
              <a:ext cx="406952" cy="4051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FF0000"/>
                  </a:solidFill>
                  <a:effectLst/>
                  <a:latin typeface="Consolas" pitchFamily="49" charset="0"/>
                  <a:ea typeface="仿宋" pitchFamily="49" charset="-122"/>
                  <a:cs typeface="Times New Roman" pitchFamily="18" charset="0"/>
                </a:rPr>
                <a:t>k</a:t>
              </a:r>
              <a:endParaRPr kumimoji="0" lang="en-US" altLang="zh-CN" sz="2000" b="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11" name="Text Box 16"/>
            <p:cNvSpPr txBox="1">
              <a:spLocks noChangeArrowheads="1"/>
            </p:cNvSpPr>
            <p:nvPr/>
          </p:nvSpPr>
          <p:spPr bwMode="auto">
            <a:xfrm>
              <a:off x="2848850" y="4966302"/>
              <a:ext cx="406952" cy="40695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FF0000"/>
                  </a:solidFill>
                  <a:effectLst/>
                  <a:latin typeface="Consolas" pitchFamily="49" charset="0"/>
                  <a:ea typeface="仿宋" pitchFamily="49" charset="-122"/>
                  <a:cs typeface="Times New Roman" pitchFamily="18" charset="0"/>
                </a:rPr>
                <a:t>j</a:t>
              </a:r>
              <a:endParaRPr kumimoji="0" lang="en-US" altLang="zh-CN" sz="2000" b="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12" name="Freeform 15"/>
            <p:cNvSpPr>
              <a:spLocks/>
            </p:cNvSpPr>
            <p:nvPr/>
          </p:nvSpPr>
          <p:spPr bwMode="auto">
            <a:xfrm>
              <a:off x="2844005" y="3506621"/>
              <a:ext cx="387232" cy="1496938"/>
            </a:xfrm>
            <a:custGeom>
              <a:avLst/>
              <a:gdLst/>
              <a:ahLst/>
              <a:cxnLst>
                <a:cxn ang="0">
                  <a:pos x="0" y="0"/>
                </a:cxn>
                <a:cxn ang="0">
                  <a:pos x="216" y="834"/>
                </a:cxn>
              </a:cxnLst>
              <a:rect l="0" t="0" r="r" b="b"/>
              <a:pathLst>
                <a:path w="216" h="834">
                  <a:moveTo>
                    <a:pt x="0" y="0"/>
                  </a:moveTo>
                  <a:lnTo>
                    <a:pt x="216" y="834"/>
                  </a:lnTo>
                </a:path>
              </a:pathLst>
            </a:custGeom>
            <a:noFill/>
            <a:ln w="19050">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 name="Oval 12"/>
            <p:cNvSpPr>
              <a:spLocks noChangeArrowheads="1"/>
            </p:cNvSpPr>
            <p:nvPr/>
          </p:nvSpPr>
          <p:spPr bwMode="auto">
            <a:xfrm>
              <a:off x="3187678" y="4914312"/>
              <a:ext cx="102186" cy="10218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6" name="Oval 11"/>
            <p:cNvSpPr>
              <a:spLocks noChangeArrowheads="1"/>
            </p:cNvSpPr>
            <p:nvPr/>
          </p:nvSpPr>
          <p:spPr bwMode="auto">
            <a:xfrm>
              <a:off x="2782519" y="3388690"/>
              <a:ext cx="102186" cy="10218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7" name="Oval 10"/>
            <p:cNvSpPr>
              <a:spLocks noChangeArrowheads="1"/>
            </p:cNvSpPr>
            <p:nvPr/>
          </p:nvSpPr>
          <p:spPr bwMode="auto">
            <a:xfrm>
              <a:off x="3445833" y="3134121"/>
              <a:ext cx="100393" cy="10218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8" name="Oval 9"/>
            <p:cNvSpPr>
              <a:spLocks noChangeArrowheads="1"/>
            </p:cNvSpPr>
            <p:nvPr/>
          </p:nvSpPr>
          <p:spPr bwMode="auto">
            <a:xfrm>
              <a:off x="3200227" y="3827912"/>
              <a:ext cx="100393" cy="10218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9" name="Oval 8"/>
            <p:cNvSpPr>
              <a:spLocks noChangeArrowheads="1"/>
            </p:cNvSpPr>
            <p:nvPr/>
          </p:nvSpPr>
          <p:spPr bwMode="auto">
            <a:xfrm>
              <a:off x="3766733" y="3424545"/>
              <a:ext cx="102186" cy="10218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0" name="Freeform 7"/>
            <p:cNvSpPr>
              <a:spLocks/>
            </p:cNvSpPr>
            <p:nvPr/>
          </p:nvSpPr>
          <p:spPr bwMode="auto">
            <a:xfrm>
              <a:off x="3268352" y="3532109"/>
              <a:ext cx="521687" cy="1394752"/>
            </a:xfrm>
            <a:custGeom>
              <a:avLst/>
              <a:gdLst/>
              <a:ahLst/>
              <a:cxnLst>
                <a:cxn ang="0">
                  <a:pos x="0" y="777"/>
                </a:cxn>
                <a:cxn ang="0">
                  <a:pos x="291" y="0"/>
                </a:cxn>
              </a:cxnLst>
              <a:rect l="0" t="0" r="r" b="b"/>
              <a:pathLst>
                <a:path w="291" h="777">
                  <a:moveTo>
                    <a:pt x="0" y="777"/>
                  </a:moveTo>
                  <a:lnTo>
                    <a:pt x="291" y="0"/>
                  </a:lnTo>
                </a:path>
              </a:pathLst>
            </a:cu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2" name="Line 5"/>
            <p:cNvSpPr>
              <a:spLocks noChangeShapeType="1"/>
            </p:cNvSpPr>
            <p:nvPr/>
          </p:nvSpPr>
          <p:spPr bwMode="auto">
            <a:xfrm>
              <a:off x="3245046" y="4984229"/>
              <a:ext cx="1936160" cy="0"/>
            </a:xfrm>
            <a:prstGeom prst="line">
              <a:avLst/>
            </a:prstGeom>
            <a:noFill/>
            <a:ln w="38100">
              <a:solidFill>
                <a:srgbClr val="0066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3" name="Freeform 4"/>
            <p:cNvSpPr>
              <a:spLocks/>
            </p:cNvSpPr>
            <p:nvPr/>
          </p:nvSpPr>
          <p:spPr bwMode="auto">
            <a:xfrm>
              <a:off x="3343647" y="4774479"/>
              <a:ext cx="116528" cy="204372"/>
            </a:xfrm>
            <a:custGeom>
              <a:avLst/>
              <a:gdLst/>
              <a:ahLst/>
              <a:cxnLst>
                <a:cxn ang="0">
                  <a:pos x="0" y="0"/>
                </a:cxn>
                <a:cxn ang="0">
                  <a:pos x="60" y="57"/>
                </a:cxn>
                <a:cxn ang="0">
                  <a:pos x="60" y="114"/>
                </a:cxn>
              </a:cxnLst>
              <a:rect l="0" t="0" r="r" b="b"/>
              <a:pathLst>
                <a:path w="65" h="114">
                  <a:moveTo>
                    <a:pt x="0" y="0"/>
                  </a:moveTo>
                  <a:cubicBezTo>
                    <a:pt x="10" y="9"/>
                    <a:pt x="50" y="38"/>
                    <a:pt x="60" y="57"/>
                  </a:cubicBezTo>
                  <a:cubicBezTo>
                    <a:pt x="65" y="71"/>
                    <a:pt x="60" y="102"/>
                    <a:pt x="60" y="114"/>
                  </a:cubicBezTo>
                </a:path>
              </a:pathLst>
            </a:cu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5" name="Text Box 2"/>
            <p:cNvSpPr txBox="1">
              <a:spLocks noChangeArrowheads="1"/>
            </p:cNvSpPr>
            <p:nvPr/>
          </p:nvSpPr>
          <p:spPr bwMode="auto">
            <a:xfrm>
              <a:off x="3714744" y="5072075"/>
              <a:ext cx="1290773" cy="28575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水平射线</a:t>
              </a:r>
              <a:endParaRPr kumimoji="0" 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grpSp>
      <p:sp>
        <p:nvSpPr>
          <p:cNvPr id="21" name="灯片编号占位符 20"/>
          <p:cNvSpPr>
            <a:spLocks noGrp="1"/>
          </p:cNvSpPr>
          <p:nvPr>
            <p:ph type="sldNum" sz="quarter" idx="12"/>
          </p:nvPr>
        </p:nvSpPr>
        <p:spPr/>
        <p:txBody>
          <a:bodyPr/>
          <a:lstStyle/>
          <a:p>
            <a:pPr>
              <a:defRPr/>
            </a:pPr>
            <a:fld id="{51116183-1013-4E64-BBE8-A5C1D5D4F838}" type="slidenum">
              <a:rPr lang="en-US" altLang="zh-CN" smtClean="0"/>
              <a:pPr>
                <a:defRPr/>
              </a:pPr>
              <a:t>86</a:t>
            </a:fld>
            <a:r>
              <a:rPr lang="en-US" altLang="zh-CN"/>
              <a:t>/167</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2"/>
          <p:cNvSpPr txBox="1">
            <a:spLocks noChangeArrowheads="1"/>
          </p:cNvSpPr>
          <p:nvPr/>
        </p:nvSpPr>
        <p:spPr bwMode="auto">
          <a:xfrm>
            <a:off x="571472" y="642918"/>
            <a:ext cx="8247092" cy="861774"/>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nSpc>
                <a:spcPts val="3000"/>
              </a:lnSpc>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①若</a:t>
            </a:r>
            <a:r>
              <a:rPr lang="en-US" altLang="zh-CN" sz="2200">
                <a:solidFill>
                  <a:srgbClr val="FF0000"/>
                </a:solidFill>
                <a:latin typeface="Consolas" pitchFamily="49" charset="0"/>
                <a:ea typeface="仿宋" pitchFamily="49" charset="-122"/>
              </a:rPr>
              <a:t>Direction</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j</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k</a:t>
            </a:r>
            <a:r>
              <a:rPr lang="en-US" altLang="zh-CN" sz="2200">
                <a:solidFill>
                  <a:srgbClr val="0000FF"/>
                </a:solidFill>
                <a:latin typeface="Consolas" pitchFamily="49" charset="0"/>
                <a:ea typeface="仿宋" pitchFamily="49" charset="-122"/>
              </a:rPr>
              <a:t>)&gt;0</a:t>
            </a:r>
            <a:r>
              <a:rPr lang="zh-CN" altLang="zh-CN" sz="2200">
                <a:solidFill>
                  <a:srgbClr val="0000FF"/>
                </a:solidFill>
                <a:latin typeface="Consolas" pitchFamily="49" charset="0"/>
                <a:ea typeface="仿宋" pitchFamily="49" charset="-122"/>
              </a:rPr>
              <a:t>，如图所示，说明</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j</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与以</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j</a:t>
            </a:r>
            <a:r>
              <a:rPr lang="zh-CN" altLang="zh-CN" sz="2200">
                <a:solidFill>
                  <a:srgbClr val="0000FF"/>
                </a:solidFill>
                <a:latin typeface="Consolas" pitchFamily="49" charset="0"/>
                <a:ea typeface="仿宋" pitchFamily="49" charset="-122"/>
              </a:rPr>
              <a:t>为起点的水平方向射线的角度更小，置</a:t>
            </a:r>
            <a:r>
              <a:rPr lang="en-US" altLang="zh-CN" sz="2200" i="1">
                <a:solidFill>
                  <a:srgbClr val="FF0000"/>
                </a:solidFill>
                <a:latin typeface="Consolas" pitchFamily="49" charset="0"/>
                <a:ea typeface="仿宋" pitchFamily="49" charset="-122"/>
              </a:rPr>
              <a:t>k</a:t>
            </a:r>
            <a:r>
              <a:rPr lang="en-US" altLang="zh-CN" sz="2200">
                <a:solidFill>
                  <a:srgbClr val="FF0000"/>
                </a:solidFill>
                <a:latin typeface="Consolas" pitchFamily="49" charset="0"/>
                <a:ea typeface="仿宋" pitchFamily="49" charset="-122"/>
              </a:rPr>
              <a:t>=</a:t>
            </a:r>
            <a:r>
              <a:rPr lang="en-US" altLang="zh-CN" sz="2200" i="1">
                <a:solidFill>
                  <a:srgbClr val="FF0000"/>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继续查找。</a:t>
            </a:r>
          </a:p>
        </p:txBody>
      </p:sp>
      <p:sp>
        <p:nvSpPr>
          <p:cNvPr id="16388" name="Rectangle 4"/>
          <p:cNvSpPr>
            <a:spLocks noChangeArrowheads="1"/>
          </p:cNvSpPr>
          <p:nvPr/>
        </p:nvSpPr>
        <p:spPr bwMode="auto">
          <a:xfrm>
            <a:off x="0" y="3009900"/>
            <a:ext cx="9144000" cy="0"/>
          </a:xfrm>
          <a:prstGeom prst="rect">
            <a:avLst/>
          </a:prstGeom>
          <a:noFill/>
          <a:ln w="9525">
            <a:noFill/>
            <a:miter lim="800000"/>
            <a:headEnd/>
            <a:tailEnd/>
          </a:ln>
        </p:spPr>
        <p:txBody>
          <a:bodyPr wrap="none" anchor="ctr">
            <a:spAutoFit/>
          </a:bodyPr>
          <a:lstStyle/>
          <a:p>
            <a:endParaRPr lang="zh-CN" altLang="en-US"/>
          </a:p>
        </p:txBody>
      </p:sp>
      <p:sp>
        <p:nvSpPr>
          <p:cNvPr id="152598"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7" name="组合 46"/>
          <p:cNvGrpSpPr/>
          <p:nvPr/>
        </p:nvGrpSpPr>
        <p:grpSpPr>
          <a:xfrm>
            <a:off x="1797001" y="1858904"/>
            <a:ext cx="6132585" cy="2555886"/>
            <a:chOff x="1797001" y="1858904"/>
            <a:chExt cx="6132585" cy="2555886"/>
          </a:xfrm>
        </p:grpSpPr>
        <p:sp>
          <p:nvSpPr>
            <p:cNvPr id="152596" name="Text Box 20"/>
            <p:cNvSpPr txBox="1">
              <a:spLocks noChangeArrowheads="1"/>
            </p:cNvSpPr>
            <p:nvPr/>
          </p:nvSpPr>
          <p:spPr bwMode="auto">
            <a:xfrm>
              <a:off x="3051919" y="3529176"/>
              <a:ext cx="405159" cy="40695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endParaRPr>
            </a:p>
          </p:txBody>
        </p:sp>
        <p:sp>
          <p:nvSpPr>
            <p:cNvPr id="152595" name="Text Box 19"/>
            <p:cNvSpPr txBox="1">
              <a:spLocks noChangeArrowheads="1"/>
            </p:cNvSpPr>
            <p:nvPr/>
          </p:nvSpPr>
          <p:spPr bwMode="auto">
            <a:xfrm>
              <a:off x="2474657" y="3227996"/>
              <a:ext cx="406952" cy="40695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endParaRPr>
            </a:p>
          </p:txBody>
        </p:sp>
        <p:sp>
          <p:nvSpPr>
            <p:cNvPr id="152594" name="Text Box 18"/>
            <p:cNvSpPr txBox="1">
              <a:spLocks noChangeArrowheads="1"/>
            </p:cNvSpPr>
            <p:nvPr/>
          </p:nvSpPr>
          <p:spPr bwMode="auto">
            <a:xfrm>
              <a:off x="2857488" y="2189999"/>
              <a:ext cx="406952" cy="4051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k</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2593" name="Text Box 17"/>
            <p:cNvSpPr txBox="1">
              <a:spLocks noChangeArrowheads="1"/>
            </p:cNvSpPr>
            <p:nvPr/>
          </p:nvSpPr>
          <p:spPr bwMode="auto">
            <a:xfrm>
              <a:off x="3616122" y="3036172"/>
              <a:ext cx="406952" cy="40695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r>
                <a:rPr kumimoji="0" lang="en-US" altLang="zh-CN" sz="2000" i="1" u="none" strike="noStrike" cap="none" normalizeH="0" baseline="-30000">
                  <a:ln>
                    <a:noFill/>
                  </a:ln>
                  <a:solidFill>
                    <a:srgbClr val="FF0000"/>
                  </a:solidFill>
                  <a:effectLst/>
                  <a:latin typeface="Consolas" pitchFamily="49" charset="0"/>
                  <a:ea typeface="仿宋" pitchFamily="49" charset="-122"/>
                  <a:cs typeface="Times New Roman" pitchFamily="18" charset="0"/>
                </a:rPr>
                <a:t>i</a:t>
              </a:r>
              <a:endParaRPr kumimoji="0" lang="en-US" altLang="zh-CN" sz="200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152592" name="Text Box 16"/>
            <p:cNvSpPr txBox="1">
              <a:spLocks noChangeArrowheads="1"/>
            </p:cNvSpPr>
            <p:nvPr/>
          </p:nvSpPr>
          <p:spPr bwMode="auto">
            <a:xfrm>
              <a:off x="1863332" y="3903859"/>
              <a:ext cx="406952" cy="40695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2591" name="Freeform 15"/>
            <p:cNvSpPr>
              <a:spLocks/>
            </p:cNvSpPr>
            <p:nvPr/>
          </p:nvSpPr>
          <p:spPr bwMode="auto">
            <a:xfrm>
              <a:off x="1858487" y="2444178"/>
              <a:ext cx="387232" cy="1496938"/>
            </a:xfrm>
            <a:custGeom>
              <a:avLst/>
              <a:gdLst/>
              <a:ahLst/>
              <a:cxnLst>
                <a:cxn ang="0">
                  <a:pos x="0" y="0"/>
                </a:cxn>
                <a:cxn ang="0">
                  <a:pos x="216" y="834"/>
                </a:cxn>
              </a:cxnLst>
              <a:rect l="0" t="0" r="r" b="b"/>
              <a:pathLst>
                <a:path w="216" h="834">
                  <a:moveTo>
                    <a:pt x="0" y="0"/>
                  </a:moveTo>
                  <a:lnTo>
                    <a:pt x="216" y="834"/>
                  </a:lnTo>
                </a:path>
              </a:pathLst>
            </a:custGeom>
            <a:noFill/>
            <a:ln w="19050">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2590" name="Freeform 14"/>
            <p:cNvSpPr>
              <a:spLocks/>
            </p:cNvSpPr>
            <p:nvPr/>
          </p:nvSpPr>
          <p:spPr bwMode="auto">
            <a:xfrm>
              <a:off x="2309725" y="3206483"/>
              <a:ext cx="1242369" cy="677656"/>
            </a:xfrm>
            <a:custGeom>
              <a:avLst/>
              <a:gdLst/>
              <a:ahLst/>
              <a:cxnLst>
                <a:cxn ang="0">
                  <a:pos x="0" y="378"/>
                </a:cxn>
                <a:cxn ang="0">
                  <a:pos x="693" y="0"/>
                </a:cxn>
              </a:cxnLst>
              <a:rect l="0" t="0" r="r" b="b"/>
              <a:pathLst>
                <a:path w="693" h="378">
                  <a:moveTo>
                    <a:pt x="0" y="378"/>
                  </a:moveTo>
                  <a:lnTo>
                    <a:pt x="693" y="0"/>
                  </a:lnTo>
                </a:path>
              </a:pathLst>
            </a:cu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2589" name="Oval 13"/>
            <p:cNvSpPr>
              <a:spLocks noChangeArrowheads="1"/>
            </p:cNvSpPr>
            <p:nvPr/>
          </p:nvSpPr>
          <p:spPr bwMode="auto">
            <a:xfrm>
              <a:off x="3557472" y="3131188"/>
              <a:ext cx="100393" cy="10218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2588" name="Oval 12"/>
            <p:cNvSpPr>
              <a:spLocks noChangeArrowheads="1"/>
            </p:cNvSpPr>
            <p:nvPr/>
          </p:nvSpPr>
          <p:spPr bwMode="auto">
            <a:xfrm>
              <a:off x="2202160" y="3851869"/>
              <a:ext cx="102186" cy="10218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2587" name="Oval 11"/>
            <p:cNvSpPr>
              <a:spLocks noChangeArrowheads="1"/>
            </p:cNvSpPr>
            <p:nvPr/>
          </p:nvSpPr>
          <p:spPr bwMode="auto">
            <a:xfrm>
              <a:off x="1797001" y="2326247"/>
              <a:ext cx="102186" cy="10218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2586" name="Oval 10"/>
            <p:cNvSpPr>
              <a:spLocks noChangeArrowheads="1"/>
            </p:cNvSpPr>
            <p:nvPr/>
          </p:nvSpPr>
          <p:spPr bwMode="auto">
            <a:xfrm>
              <a:off x="2460315" y="2071678"/>
              <a:ext cx="100393" cy="10218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2585" name="Oval 9"/>
            <p:cNvSpPr>
              <a:spLocks noChangeArrowheads="1"/>
            </p:cNvSpPr>
            <p:nvPr/>
          </p:nvSpPr>
          <p:spPr bwMode="auto">
            <a:xfrm>
              <a:off x="2214709" y="2765469"/>
              <a:ext cx="100393" cy="10218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2584" name="Oval 8"/>
            <p:cNvSpPr>
              <a:spLocks noChangeArrowheads="1"/>
            </p:cNvSpPr>
            <p:nvPr/>
          </p:nvSpPr>
          <p:spPr bwMode="auto">
            <a:xfrm>
              <a:off x="2781215" y="2362102"/>
              <a:ext cx="102186" cy="10218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2583" name="Freeform 7"/>
            <p:cNvSpPr>
              <a:spLocks/>
            </p:cNvSpPr>
            <p:nvPr/>
          </p:nvSpPr>
          <p:spPr bwMode="auto">
            <a:xfrm>
              <a:off x="2282834" y="2469666"/>
              <a:ext cx="521687" cy="1394752"/>
            </a:xfrm>
            <a:custGeom>
              <a:avLst/>
              <a:gdLst/>
              <a:ahLst/>
              <a:cxnLst>
                <a:cxn ang="0">
                  <a:pos x="0" y="777"/>
                </a:cxn>
                <a:cxn ang="0">
                  <a:pos x="291" y="0"/>
                </a:cxn>
              </a:cxnLst>
              <a:rect l="0" t="0" r="r" b="b"/>
              <a:pathLst>
                <a:path w="291" h="777">
                  <a:moveTo>
                    <a:pt x="0" y="777"/>
                  </a:moveTo>
                  <a:lnTo>
                    <a:pt x="291" y="0"/>
                  </a:lnTo>
                </a:path>
              </a:pathLst>
            </a:cu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2582" name="Text Box 6"/>
            <p:cNvSpPr txBox="1">
              <a:spLocks noChangeArrowheads="1"/>
            </p:cNvSpPr>
            <p:nvPr/>
          </p:nvSpPr>
          <p:spPr bwMode="auto">
            <a:xfrm>
              <a:off x="4702653" y="2469666"/>
              <a:ext cx="3226933" cy="112046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若</a:t>
              </a: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Direction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k</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)&gt;0</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，则</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k</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在右手螺旋方向上），即</a:t>
              </a:r>
              <a:r>
                <a:rPr kumimoji="0" lang="zh-CN" altLang="en-US" sz="2000" b="0" i="1"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&lt;</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zh-CN" altLang="en-US" sz="2000" b="0" i="1"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a:t>
              </a:r>
            </a:p>
          </p:txBody>
        </p:sp>
        <p:sp>
          <p:nvSpPr>
            <p:cNvPr id="152581" name="Line 5"/>
            <p:cNvSpPr>
              <a:spLocks noChangeShapeType="1"/>
            </p:cNvSpPr>
            <p:nvPr/>
          </p:nvSpPr>
          <p:spPr bwMode="auto">
            <a:xfrm>
              <a:off x="2259528" y="3921786"/>
              <a:ext cx="1936160" cy="0"/>
            </a:xfrm>
            <a:prstGeom prst="line">
              <a:avLst/>
            </a:prstGeom>
            <a:noFill/>
            <a:ln w="38100">
              <a:solidFill>
                <a:srgbClr val="0066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2580" name="Freeform 4"/>
            <p:cNvSpPr>
              <a:spLocks/>
            </p:cNvSpPr>
            <p:nvPr/>
          </p:nvSpPr>
          <p:spPr bwMode="auto">
            <a:xfrm>
              <a:off x="2358129" y="3712036"/>
              <a:ext cx="116528" cy="204372"/>
            </a:xfrm>
            <a:custGeom>
              <a:avLst/>
              <a:gdLst/>
              <a:ahLst/>
              <a:cxnLst>
                <a:cxn ang="0">
                  <a:pos x="0" y="0"/>
                </a:cxn>
                <a:cxn ang="0">
                  <a:pos x="60" y="57"/>
                </a:cxn>
                <a:cxn ang="0">
                  <a:pos x="60" y="114"/>
                </a:cxn>
              </a:cxnLst>
              <a:rect l="0" t="0" r="r" b="b"/>
              <a:pathLst>
                <a:path w="65" h="114">
                  <a:moveTo>
                    <a:pt x="0" y="0"/>
                  </a:moveTo>
                  <a:cubicBezTo>
                    <a:pt x="10" y="9"/>
                    <a:pt x="50" y="38"/>
                    <a:pt x="60" y="57"/>
                  </a:cubicBezTo>
                  <a:cubicBezTo>
                    <a:pt x="65" y="71"/>
                    <a:pt x="60" y="102"/>
                    <a:pt x="60" y="114"/>
                  </a:cubicBezTo>
                </a:path>
              </a:pathLst>
            </a:cu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2579" name="Freeform 3"/>
            <p:cNvSpPr>
              <a:spLocks/>
            </p:cNvSpPr>
            <p:nvPr/>
          </p:nvSpPr>
          <p:spPr bwMode="auto">
            <a:xfrm>
              <a:off x="2820656" y="3604471"/>
              <a:ext cx="87844" cy="311937"/>
            </a:xfrm>
            <a:custGeom>
              <a:avLst/>
              <a:gdLst/>
              <a:ahLst/>
              <a:cxnLst>
                <a:cxn ang="0">
                  <a:pos x="0" y="0"/>
                </a:cxn>
                <a:cxn ang="0">
                  <a:pos x="36" y="51"/>
                </a:cxn>
                <a:cxn ang="0">
                  <a:pos x="45" y="117"/>
                </a:cxn>
                <a:cxn ang="0">
                  <a:pos x="33" y="174"/>
                </a:cxn>
              </a:cxnLst>
              <a:rect l="0" t="0" r="r" b="b"/>
              <a:pathLst>
                <a:path w="49" h="174">
                  <a:moveTo>
                    <a:pt x="0" y="0"/>
                  </a:moveTo>
                  <a:cubicBezTo>
                    <a:pt x="6" y="8"/>
                    <a:pt x="28" y="32"/>
                    <a:pt x="36" y="51"/>
                  </a:cubicBezTo>
                  <a:cubicBezTo>
                    <a:pt x="44" y="70"/>
                    <a:pt x="45" y="97"/>
                    <a:pt x="45" y="117"/>
                  </a:cubicBezTo>
                  <a:cubicBezTo>
                    <a:pt x="49" y="137"/>
                    <a:pt x="35" y="162"/>
                    <a:pt x="33" y="174"/>
                  </a:cubicBezTo>
                </a:path>
              </a:pathLst>
            </a:cu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152578" name="Text Box 2"/>
            <p:cNvSpPr txBox="1">
              <a:spLocks noChangeArrowheads="1"/>
            </p:cNvSpPr>
            <p:nvPr/>
          </p:nvSpPr>
          <p:spPr bwMode="auto">
            <a:xfrm>
              <a:off x="2729226" y="4009631"/>
              <a:ext cx="1290773" cy="4051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水平射线</a:t>
              </a:r>
              <a:endParaRPr kumimoji="0" 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6" name="任意多边形 45"/>
            <p:cNvSpPr/>
            <p:nvPr/>
          </p:nvSpPr>
          <p:spPr>
            <a:xfrm>
              <a:off x="2889956" y="1858904"/>
              <a:ext cx="1431807" cy="1685807"/>
            </a:xfrm>
            <a:custGeom>
              <a:avLst/>
              <a:gdLst>
                <a:gd name="connsiteX0" fmla="*/ 993422 w 1431807"/>
                <a:gd name="connsiteY0" fmla="*/ 1685807 h 1685807"/>
                <a:gd name="connsiteX1" fmla="*/ 1377244 w 1431807"/>
                <a:gd name="connsiteY1" fmla="*/ 1358429 h 1685807"/>
                <a:gd name="connsiteX2" fmla="*/ 1320800 w 1431807"/>
                <a:gd name="connsiteY2" fmla="*/ 602074 h 1685807"/>
                <a:gd name="connsiteX3" fmla="*/ 1061155 w 1431807"/>
                <a:gd name="connsiteY3" fmla="*/ 229540 h 1685807"/>
                <a:gd name="connsiteX4" fmla="*/ 541866 w 1431807"/>
                <a:gd name="connsiteY4" fmla="*/ 37629 h 1685807"/>
                <a:gd name="connsiteX5" fmla="*/ 0 w 1431807"/>
                <a:gd name="connsiteY5" fmla="*/ 3763 h 1685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1807" h="1685807">
                  <a:moveTo>
                    <a:pt x="993422" y="1685807"/>
                  </a:moveTo>
                  <a:cubicBezTo>
                    <a:pt x="1158051" y="1612429"/>
                    <a:pt x="1322681" y="1539051"/>
                    <a:pt x="1377244" y="1358429"/>
                  </a:cubicBezTo>
                  <a:cubicBezTo>
                    <a:pt x="1431807" y="1177807"/>
                    <a:pt x="1373481" y="790222"/>
                    <a:pt x="1320800" y="602074"/>
                  </a:cubicBezTo>
                  <a:cubicBezTo>
                    <a:pt x="1268119" y="413926"/>
                    <a:pt x="1190977" y="323614"/>
                    <a:pt x="1061155" y="229540"/>
                  </a:cubicBezTo>
                  <a:cubicBezTo>
                    <a:pt x="931333" y="135466"/>
                    <a:pt x="718725" y="75258"/>
                    <a:pt x="541866" y="37629"/>
                  </a:cubicBezTo>
                  <a:cubicBezTo>
                    <a:pt x="365007" y="0"/>
                    <a:pt x="182503" y="1881"/>
                    <a:pt x="0" y="3763"/>
                  </a:cubicBezTo>
                </a:path>
              </a:pathLst>
            </a:cu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8" name="灯片编号占位符 27"/>
          <p:cNvSpPr>
            <a:spLocks noGrp="1"/>
          </p:cNvSpPr>
          <p:nvPr>
            <p:ph type="sldNum" sz="quarter" idx="12"/>
          </p:nvPr>
        </p:nvSpPr>
        <p:spPr/>
        <p:txBody>
          <a:bodyPr/>
          <a:lstStyle/>
          <a:p>
            <a:pPr>
              <a:defRPr/>
            </a:pPr>
            <a:fld id="{51116183-1013-4E64-BBE8-A5C1D5D4F838}" type="slidenum">
              <a:rPr lang="en-US" altLang="zh-CN" smtClean="0"/>
              <a:pPr>
                <a:defRPr/>
              </a:pPr>
              <a:t>87</a:t>
            </a:fld>
            <a:r>
              <a:rPr lang="en-US" altLang="zh-CN"/>
              <a:t>/167</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2"/>
          <p:cNvSpPr txBox="1">
            <a:spLocks noChangeArrowheads="1"/>
          </p:cNvSpPr>
          <p:nvPr/>
        </p:nvSpPr>
        <p:spPr bwMode="auto">
          <a:xfrm>
            <a:off x="285720" y="642918"/>
            <a:ext cx="8532844" cy="938719"/>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nSpc>
                <a:spcPts val="3300"/>
              </a:lnSpc>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②若</a:t>
            </a:r>
            <a:r>
              <a:rPr lang="en-US" altLang="zh-CN" sz="2200">
                <a:solidFill>
                  <a:srgbClr val="FF0000"/>
                </a:solidFill>
                <a:latin typeface="Consolas" pitchFamily="49" charset="0"/>
                <a:ea typeface="仿宋" pitchFamily="49" charset="-122"/>
              </a:rPr>
              <a:t>Direction</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j</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k</a:t>
            </a:r>
            <a:r>
              <a:rPr lang="en-US" altLang="zh-CN" sz="2200">
                <a:solidFill>
                  <a:srgbClr val="0000FF"/>
                </a:solidFill>
                <a:latin typeface="Consolas" pitchFamily="49" charset="0"/>
                <a:ea typeface="仿宋" pitchFamily="49" charset="-122"/>
              </a:rPr>
              <a:t>)&lt;0</a:t>
            </a:r>
            <a:r>
              <a:rPr lang="zh-CN" altLang="zh-CN" sz="2200">
                <a:solidFill>
                  <a:srgbClr val="0000FF"/>
                </a:solidFill>
                <a:latin typeface="Consolas" pitchFamily="49" charset="0"/>
                <a:ea typeface="仿宋" pitchFamily="49" charset="-122"/>
              </a:rPr>
              <a:t>，如图所示，说明</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j</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k</a:t>
            </a:r>
            <a:r>
              <a:rPr lang="zh-CN" altLang="zh-CN" sz="2200">
                <a:solidFill>
                  <a:srgbClr val="0000FF"/>
                </a:solidFill>
                <a:latin typeface="Consolas" pitchFamily="49" charset="0"/>
                <a:ea typeface="仿宋" pitchFamily="49" charset="-122"/>
              </a:rPr>
              <a:t>与以</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j</a:t>
            </a:r>
            <a:r>
              <a:rPr lang="zh-CN" altLang="zh-CN" sz="2200">
                <a:solidFill>
                  <a:srgbClr val="0000FF"/>
                </a:solidFill>
                <a:latin typeface="Consolas" pitchFamily="49" charset="0"/>
                <a:ea typeface="仿宋" pitchFamily="49" charset="-122"/>
              </a:rPr>
              <a:t>为起点的水平方向射线的角度更小，</a:t>
            </a:r>
            <a:r>
              <a:rPr lang="zh-CN" altLang="zh-CN" sz="2200">
                <a:solidFill>
                  <a:srgbClr val="FF0000"/>
                </a:solidFill>
                <a:latin typeface="Consolas" pitchFamily="49" charset="0"/>
                <a:ea typeface="仿宋" pitchFamily="49" charset="-122"/>
              </a:rPr>
              <a:t>不需要改变</a:t>
            </a:r>
            <a:r>
              <a:rPr lang="en-US" altLang="zh-CN" sz="2200" i="1">
                <a:solidFill>
                  <a:srgbClr val="FF0000"/>
                </a:solidFill>
                <a:latin typeface="Consolas" pitchFamily="49" charset="0"/>
                <a:ea typeface="仿宋" pitchFamily="49" charset="-122"/>
              </a:rPr>
              <a:t>k</a:t>
            </a:r>
            <a:r>
              <a:rPr lang="zh-CN" altLang="zh-CN" sz="2200">
                <a:solidFill>
                  <a:srgbClr val="0000FF"/>
                </a:solidFill>
                <a:latin typeface="Consolas" pitchFamily="49" charset="0"/>
                <a:ea typeface="仿宋" pitchFamily="49" charset="-122"/>
              </a:rPr>
              <a:t>，置</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继续查找。</a:t>
            </a:r>
          </a:p>
        </p:txBody>
      </p:sp>
      <p:sp>
        <p:nvSpPr>
          <p:cNvPr id="16388" name="Rectangle 4"/>
          <p:cNvSpPr>
            <a:spLocks noChangeArrowheads="1"/>
          </p:cNvSpPr>
          <p:nvPr/>
        </p:nvSpPr>
        <p:spPr bwMode="auto">
          <a:xfrm>
            <a:off x="0" y="3009900"/>
            <a:ext cx="9144000" cy="0"/>
          </a:xfrm>
          <a:prstGeom prst="rect">
            <a:avLst/>
          </a:prstGeom>
          <a:noFill/>
          <a:ln w="9525">
            <a:noFill/>
            <a:miter lim="800000"/>
            <a:headEnd/>
            <a:tailEnd/>
          </a:ln>
        </p:spPr>
        <p:txBody>
          <a:bodyPr wrap="none" anchor="ctr">
            <a:spAutoFit/>
          </a:bodyPr>
          <a:lstStyle/>
          <a:p>
            <a:endParaRPr lang="zh-CN" altLang="en-US"/>
          </a:p>
        </p:txBody>
      </p:sp>
      <p:sp>
        <p:nvSpPr>
          <p:cNvPr id="152598"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9" name="Text Box 20"/>
          <p:cNvSpPr txBox="1">
            <a:spLocks noChangeArrowheads="1"/>
          </p:cNvSpPr>
          <p:nvPr/>
        </p:nvSpPr>
        <p:spPr bwMode="auto">
          <a:xfrm>
            <a:off x="2813597" y="3891636"/>
            <a:ext cx="442063" cy="44394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endParaRPr>
          </a:p>
        </p:txBody>
      </p:sp>
      <p:sp>
        <p:nvSpPr>
          <p:cNvPr id="30" name="Text Box 19"/>
          <p:cNvSpPr txBox="1">
            <a:spLocks noChangeArrowheads="1"/>
          </p:cNvSpPr>
          <p:nvPr/>
        </p:nvSpPr>
        <p:spPr bwMode="auto">
          <a:xfrm>
            <a:off x="2183755" y="3580677"/>
            <a:ext cx="444019" cy="44394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endParaRPr>
          </a:p>
        </p:txBody>
      </p:sp>
      <p:sp>
        <p:nvSpPr>
          <p:cNvPr id="31" name="Text Box 18"/>
          <p:cNvSpPr txBox="1">
            <a:spLocks noChangeArrowheads="1"/>
          </p:cNvSpPr>
          <p:nvPr/>
        </p:nvSpPr>
        <p:spPr bwMode="auto">
          <a:xfrm>
            <a:off x="2571736" y="2430715"/>
            <a:ext cx="444019" cy="4419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i</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2" name="Text Box 17"/>
          <p:cNvSpPr txBox="1">
            <a:spLocks noChangeArrowheads="1"/>
          </p:cNvSpPr>
          <p:nvPr/>
        </p:nvSpPr>
        <p:spPr bwMode="auto">
          <a:xfrm>
            <a:off x="3428992" y="3353814"/>
            <a:ext cx="445975" cy="44394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r>
              <a:rPr kumimoji="0" lang="en-US" altLang="zh-CN" sz="2000" i="1" u="none" strike="noStrike" cap="none" normalizeH="0" baseline="-30000">
                <a:ln>
                  <a:noFill/>
                </a:ln>
                <a:solidFill>
                  <a:srgbClr val="FF0000"/>
                </a:solidFill>
                <a:effectLst/>
                <a:latin typeface="Consolas" pitchFamily="49" charset="0"/>
                <a:ea typeface="仿宋" pitchFamily="49" charset="-122"/>
                <a:cs typeface="Times New Roman" pitchFamily="18" charset="0"/>
              </a:rPr>
              <a:t>k</a:t>
            </a:r>
            <a:endParaRPr kumimoji="0" lang="en-US" altLang="zh-CN" sz="200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33" name="Text Box 16"/>
          <p:cNvSpPr txBox="1">
            <a:spLocks noChangeArrowheads="1"/>
          </p:cNvSpPr>
          <p:nvPr/>
        </p:nvSpPr>
        <p:spPr bwMode="auto">
          <a:xfrm>
            <a:off x="1814066" y="4337888"/>
            <a:ext cx="445975" cy="44394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4" name="Freeform 15"/>
          <p:cNvSpPr>
            <a:spLocks/>
          </p:cNvSpPr>
          <p:nvPr/>
        </p:nvSpPr>
        <p:spPr bwMode="auto">
          <a:xfrm>
            <a:off x="1497189" y="2634110"/>
            <a:ext cx="422502" cy="1633024"/>
          </a:xfrm>
          <a:custGeom>
            <a:avLst/>
            <a:gdLst/>
            <a:ahLst/>
            <a:cxnLst>
              <a:cxn ang="0">
                <a:pos x="0" y="0"/>
              </a:cxn>
              <a:cxn ang="0">
                <a:pos x="216" y="834"/>
              </a:cxn>
            </a:cxnLst>
            <a:rect l="0" t="0" r="r" b="b"/>
            <a:pathLst>
              <a:path w="216" h="834">
                <a:moveTo>
                  <a:pt x="0" y="0"/>
                </a:moveTo>
                <a:lnTo>
                  <a:pt x="216" y="834"/>
                </a:lnTo>
              </a:path>
            </a:pathLst>
          </a:custGeom>
          <a:noFill/>
          <a:ln w="19050">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35" name="Freeform 14"/>
          <p:cNvSpPr>
            <a:spLocks/>
          </p:cNvSpPr>
          <p:nvPr/>
        </p:nvSpPr>
        <p:spPr bwMode="auto">
          <a:xfrm>
            <a:off x="2001845" y="3539607"/>
            <a:ext cx="1355528" cy="739261"/>
          </a:xfrm>
          <a:custGeom>
            <a:avLst/>
            <a:gdLst/>
            <a:ahLst/>
            <a:cxnLst>
              <a:cxn ang="0">
                <a:pos x="0" y="378"/>
              </a:cxn>
              <a:cxn ang="0">
                <a:pos x="693" y="0"/>
              </a:cxn>
            </a:cxnLst>
            <a:rect l="0" t="0" r="r" b="b"/>
            <a:pathLst>
              <a:path w="693" h="378">
                <a:moveTo>
                  <a:pt x="0" y="378"/>
                </a:moveTo>
                <a:lnTo>
                  <a:pt x="693" y="0"/>
                </a:lnTo>
              </a:path>
            </a:pathLst>
          </a:cu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36" name="Oval 13"/>
          <p:cNvSpPr>
            <a:spLocks noChangeArrowheads="1"/>
          </p:cNvSpPr>
          <p:nvPr/>
        </p:nvSpPr>
        <p:spPr bwMode="auto">
          <a:xfrm>
            <a:off x="3365197" y="3457467"/>
            <a:ext cx="109538" cy="11147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37" name="Oval 12"/>
          <p:cNvSpPr>
            <a:spLocks noChangeArrowheads="1"/>
          </p:cNvSpPr>
          <p:nvPr/>
        </p:nvSpPr>
        <p:spPr bwMode="auto">
          <a:xfrm>
            <a:off x="1886439" y="4243665"/>
            <a:ext cx="111494" cy="11147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38" name="Oval 11"/>
          <p:cNvSpPr>
            <a:spLocks noChangeArrowheads="1"/>
          </p:cNvSpPr>
          <p:nvPr/>
        </p:nvSpPr>
        <p:spPr bwMode="auto">
          <a:xfrm>
            <a:off x="1444376" y="2579350"/>
            <a:ext cx="111494" cy="11147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39" name="Oval 10"/>
          <p:cNvSpPr>
            <a:spLocks noChangeArrowheads="1"/>
          </p:cNvSpPr>
          <p:nvPr/>
        </p:nvSpPr>
        <p:spPr bwMode="auto">
          <a:xfrm>
            <a:off x="2168107" y="2301638"/>
            <a:ext cx="109538" cy="11147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0" name="Oval 9"/>
          <p:cNvSpPr>
            <a:spLocks noChangeArrowheads="1"/>
          </p:cNvSpPr>
          <p:nvPr/>
        </p:nvSpPr>
        <p:spPr bwMode="auto">
          <a:xfrm>
            <a:off x="1900131" y="3058500"/>
            <a:ext cx="109538" cy="11147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1" name="Oval 8"/>
          <p:cNvSpPr>
            <a:spLocks noChangeArrowheads="1"/>
          </p:cNvSpPr>
          <p:nvPr/>
        </p:nvSpPr>
        <p:spPr bwMode="auto">
          <a:xfrm>
            <a:off x="2518236" y="2618464"/>
            <a:ext cx="111494" cy="11147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2" name="Freeform 7"/>
          <p:cNvSpPr>
            <a:spLocks/>
          </p:cNvSpPr>
          <p:nvPr/>
        </p:nvSpPr>
        <p:spPr bwMode="auto">
          <a:xfrm>
            <a:off x="1974460" y="2735807"/>
            <a:ext cx="569205" cy="1521548"/>
          </a:xfrm>
          <a:custGeom>
            <a:avLst/>
            <a:gdLst/>
            <a:ahLst/>
            <a:cxnLst>
              <a:cxn ang="0">
                <a:pos x="0" y="777"/>
              </a:cxn>
              <a:cxn ang="0">
                <a:pos x="291" y="0"/>
              </a:cxn>
            </a:cxnLst>
            <a:rect l="0" t="0" r="r" b="b"/>
            <a:pathLst>
              <a:path w="291" h="777">
                <a:moveTo>
                  <a:pt x="0" y="777"/>
                </a:moveTo>
                <a:lnTo>
                  <a:pt x="291" y="0"/>
                </a:lnTo>
              </a:path>
            </a:pathLst>
          </a:custGeom>
          <a:noFill/>
          <a:ln w="19050">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3" name="Text Box 6"/>
          <p:cNvSpPr txBox="1">
            <a:spLocks noChangeArrowheads="1"/>
          </p:cNvSpPr>
          <p:nvPr/>
        </p:nvSpPr>
        <p:spPr bwMode="auto">
          <a:xfrm>
            <a:off x="4043939" y="2735807"/>
            <a:ext cx="3885647" cy="97894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若</a:t>
            </a: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Direction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k</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)&lt;0</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，则</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k</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在左手螺旋方向上），即</a:t>
            </a:r>
            <a:r>
              <a:rPr kumimoji="0" lang="zh-CN" altLang="en-US" sz="2000" b="0" i="1"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&gt;</a:t>
            </a:r>
            <a:r>
              <a:rPr kumimoji="0" lang="en-US" altLang="zh-CN" sz="20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r>
              <a:rPr kumimoji="0" lang="zh-CN" altLang="en-US" sz="2000" b="0" i="1"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a:t>
            </a:r>
          </a:p>
        </p:txBody>
      </p:sp>
      <p:sp>
        <p:nvSpPr>
          <p:cNvPr id="44" name="Line 5"/>
          <p:cNvSpPr>
            <a:spLocks noChangeShapeType="1"/>
          </p:cNvSpPr>
          <p:nvPr/>
        </p:nvSpPr>
        <p:spPr bwMode="auto">
          <a:xfrm>
            <a:off x="1949032" y="4319938"/>
            <a:ext cx="2112512" cy="0"/>
          </a:xfrm>
          <a:prstGeom prst="line">
            <a:avLst/>
          </a:prstGeom>
          <a:noFill/>
          <a:ln w="38100">
            <a:solidFill>
              <a:srgbClr val="0066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5" name="Freeform 4"/>
          <p:cNvSpPr>
            <a:spLocks/>
          </p:cNvSpPr>
          <p:nvPr/>
        </p:nvSpPr>
        <p:spPr bwMode="auto">
          <a:xfrm>
            <a:off x="2056613" y="4091119"/>
            <a:ext cx="127142" cy="222952"/>
          </a:xfrm>
          <a:custGeom>
            <a:avLst/>
            <a:gdLst/>
            <a:ahLst/>
            <a:cxnLst>
              <a:cxn ang="0">
                <a:pos x="0" y="0"/>
              </a:cxn>
              <a:cxn ang="0">
                <a:pos x="60" y="57"/>
              </a:cxn>
              <a:cxn ang="0">
                <a:pos x="60" y="114"/>
              </a:cxn>
            </a:cxnLst>
            <a:rect l="0" t="0" r="r" b="b"/>
            <a:pathLst>
              <a:path w="65" h="114">
                <a:moveTo>
                  <a:pt x="0" y="0"/>
                </a:moveTo>
                <a:cubicBezTo>
                  <a:pt x="10" y="9"/>
                  <a:pt x="50" y="38"/>
                  <a:pt x="60" y="57"/>
                </a:cubicBezTo>
                <a:cubicBezTo>
                  <a:pt x="65" y="71"/>
                  <a:pt x="60" y="102"/>
                  <a:pt x="60" y="114"/>
                </a:cubicBezTo>
              </a:path>
            </a:pathLst>
          </a:cu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7" name="Freeform 3"/>
          <p:cNvSpPr>
            <a:spLocks/>
          </p:cNvSpPr>
          <p:nvPr/>
        </p:nvSpPr>
        <p:spPr bwMode="auto">
          <a:xfrm>
            <a:off x="2561269" y="3973776"/>
            <a:ext cx="95845" cy="340295"/>
          </a:xfrm>
          <a:custGeom>
            <a:avLst/>
            <a:gdLst/>
            <a:ahLst/>
            <a:cxnLst>
              <a:cxn ang="0">
                <a:pos x="0" y="0"/>
              </a:cxn>
              <a:cxn ang="0">
                <a:pos x="36" y="51"/>
              </a:cxn>
              <a:cxn ang="0">
                <a:pos x="45" y="117"/>
              </a:cxn>
              <a:cxn ang="0">
                <a:pos x="33" y="174"/>
              </a:cxn>
            </a:cxnLst>
            <a:rect l="0" t="0" r="r" b="b"/>
            <a:pathLst>
              <a:path w="49" h="174">
                <a:moveTo>
                  <a:pt x="0" y="0"/>
                </a:moveTo>
                <a:cubicBezTo>
                  <a:pt x="6" y="8"/>
                  <a:pt x="28" y="32"/>
                  <a:pt x="36" y="51"/>
                </a:cubicBezTo>
                <a:cubicBezTo>
                  <a:pt x="44" y="70"/>
                  <a:pt x="45" y="97"/>
                  <a:pt x="45" y="117"/>
                </a:cubicBezTo>
                <a:cubicBezTo>
                  <a:pt x="49" y="137"/>
                  <a:pt x="35" y="162"/>
                  <a:pt x="33" y="174"/>
                </a:cubicBezTo>
              </a:path>
            </a:pathLst>
          </a:cu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48" name="Text Box 2"/>
          <p:cNvSpPr txBox="1">
            <a:spLocks noChangeArrowheads="1"/>
          </p:cNvSpPr>
          <p:nvPr/>
        </p:nvSpPr>
        <p:spPr bwMode="auto">
          <a:xfrm>
            <a:off x="2459555" y="4415768"/>
            <a:ext cx="1410297" cy="4419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水平射线</a:t>
            </a:r>
            <a:endParaRPr kumimoji="0" 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6" name="灯片编号占位符 25"/>
          <p:cNvSpPr>
            <a:spLocks noGrp="1"/>
          </p:cNvSpPr>
          <p:nvPr>
            <p:ph type="sldNum" sz="quarter" idx="12"/>
          </p:nvPr>
        </p:nvSpPr>
        <p:spPr/>
        <p:txBody>
          <a:bodyPr/>
          <a:lstStyle/>
          <a:p>
            <a:pPr>
              <a:defRPr/>
            </a:pPr>
            <a:fld id="{51116183-1013-4E64-BBE8-A5C1D5D4F838}" type="slidenum">
              <a:rPr lang="en-US" altLang="zh-CN" smtClean="0"/>
              <a:pPr>
                <a:defRPr/>
              </a:pPr>
              <a:t>88</a:t>
            </a:fld>
            <a:r>
              <a:rPr lang="en-US" altLang="zh-CN"/>
              <a:t>/167</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2"/>
          <p:cNvSpPr txBox="1">
            <a:spLocks noChangeArrowheads="1"/>
          </p:cNvSpPr>
          <p:nvPr/>
        </p:nvSpPr>
        <p:spPr bwMode="auto">
          <a:xfrm>
            <a:off x="571472" y="571480"/>
            <a:ext cx="8247092" cy="1323439"/>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nSpc>
                <a:spcPts val="3200"/>
              </a:lnSpc>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③若</a:t>
            </a:r>
            <a:r>
              <a:rPr lang="en-US" altLang="zh-CN" sz="2200">
                <a:solidFill>
                  <a:srgbClr val="FF0000"/>
                </a:solidFill>
                <a:latin typeface="Consolas" pitchFamily="49" charset="0"/>
                <a:ea typeface="仿宋" pitchFamily="49" charset="-122"/>
              </a:rPr>
              <a:t>Direction</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j</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k</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，如果需要保留所有共线的点就选取离</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j</a:t>
            </a:r>
            <a:r>
              <a:rPr lang="zh-CN" altLang="zh-CN" sz="2200">
                <a:solidFill>
                  <a:srgbClr val="0000FF"/>
                </a:solidFill>
                <a:latin typeface="Consolas" pitchFamily="49" charset="0"/>
                <a:ea typeface="仿宋" pitchFamily="49" charset="-122"/>
              </a:rPr>
              <a:t>最近的点，如果仅仅需要凸包极点就选取离</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j</a:t>
            </a:r>
            <a:r>
              <a:rPr lang="zh-CN" altLang="zh-CN" sz="2200">
                <a:solidFill>
                  <a:srgbClr val="0000FF"/>
                </a:solidFill>
                <a:latin typeface="Consolas" pitchFamily="49" charset="0"/>
                <a:ea typeface="仿宋" pitchFamily="49" charset="-122"/>
              </a:rPr>
              <a:t>最远的点。这里采用后一种方式，如图所示，置</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继续查找。</a:t>
            </a:r>
          </a:p>
        </p:txBody>
      </p:sp>
      <p:sp>
        <p:nvSpPr>
          <p:cNvPr id="16388" name="Rectangle 4"/>
          <p:cNvSpPr>
            <a:spLocks noChangeArrowheads="1"/>
          </p:cNvSpPr>
          <p:nvPr/>
        </p:nvSpPr>
        <p:spPr bwMode="auto">
          <a:xfrm>
            <a:off x="0" y="3009900"/>
            <a:ext cx="9144000" cy="0"/>
          </a:xfrm>
          <a:prstGeom prst="rect">
            <a:avLst/>
          </a:prstGeom>
          <a:noFill/>
          <a:ln w="9525">
            <a:noFill/>
            <a:miter lim="800000"/>
            <a:headEnd/>
            <a:tailEnd/>
          </a:ln>
        </p:spPr>
        <p:txBody>
          <a:bodyPr wrap="none" anchor="ctr">
            <a:spAutoFit/>
          </a:bodyPr>
          <a:lstStyle/>
          <a:p>
            <a:endParaRPr lang="zh-CN" altLang="en-US"/>
          </a:p>
        </p:txBody>
      </p:sp>
      <p:sp>
        <p:nvSpPr>
          <p:cNvPr id="218134"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8159" name="Rectangle 4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8157" name="Text Box 45"/>
          <p:cNvSpPr txBox="1">
            <a:spLocks noChangeArrowheads="1"/>
          </p:cNvSpPr>
          <p:nvPr/>
        </p:nvSpPr>
        <p:spPr bwMode="auto">
          <a:xfrm>
            <a:off x="2905639" y="3334204"/>
            <a:ext cx="367333" cy="36567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k</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8156" name="Text Box 44"/>
          <p:cNvSpPr txBox="1">
            <a:spLocks noChangeArrowheads="1"/>
          </p:cNvSpPr>
          <p:nvPr/>
        </p:nvSpPr>
        <p:spPr bwMode="auto">
          <a:xfrm>
            <a:off x="3418849" y="3034573"/>
            <a:ext cx="367333" cy="36567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lang="en-US" altLang="zh-CN" sz="2000" b="0" i="1" baseline="-30000">
                <a:solidFill>
                  <a:srgbClr val="0000FF"/>
                </a:solidFill>
                <a:latin typeface="Consolas" pitchFamily="49" charset="0"/>
                <a:ea typeface="仿宋" pitchFamily="49" charset="-122"/>
                <a:cs typeface="Times New Roman" pitchFamily="18" charset="0"/>
              </a:rPr>
              <a:t>i</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8155" name="Text Box 43"/>
          <p:cNvSpPr txBox="1">
            <a:spLocks noChangeArrowheads="1"/>
          </p:cNvSpPr>
          <p:nvPr/>
        </p:nvSpPr>
        <p:spPr bwMode="auto">
          <a:xfrm>
            <a:off x="2045306" y="3770763"/>
            <a:ext cx="367333" cy="36567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8154" name="Freeform 42"/>
          <p:cNvSpPr>
            <a:spLocks/>
          </p:cNvSpPr>
          <p:nvPr/>
        </p:nvSpPr>
        <p:spPr bwMode="auto">
          <a:xfrm>
            <a:off x="1876139" y="2799379"/>
            <a:ext cx="256167" cy="987492"/>
          </a:xfrm>
          <a:custGeom>
            <a:avLst/>
            <a:gdLst/>
            <a:ahLst/>
            <a:cxnLst>
              <a:cxn ang="0">
                <a:pos x="0" y="0"/>
              </a:cxn>
              <a:cxn ang="0">
                <a:pos x="159" y="613"/>
              </a:cxn>
            </a:cxnLst>
            <a:rect l="0" t="0" r="r" b="b"/>
            <a:pathLst>
              <a:path w="159" h="613">
                <a:moveTo>
                  <a:pt x="0" y="0"/>
                </a:moveTo>
                <a:lnTo>
                  <a:pt x="159" y="613"/>
                </a:lnTo>
              </a:path>
            </a:pathLst>
          </a:custGeom>
          <a:noFill/>
          <a:ln w="19050">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18153" name="Freeform 41"/>
          <p:cNvSpPr>
            <a:spLocks/>
          </p:cNvSpPr>
          <p:nvPr/>
        </p:nvSpPr>
        <p:spPr bwMode="auto">
          <a:xfrm>
            <a:off x="2199972" y="3187611"/>
            <a:ext cx="1116499" cy="608927"/>
          </a:xfrm>
          <a:custGeom>
            <a:avLst/>
            <a:gdLst/>
            <a:ahLst/>
            <a:cxnLst>
              <a:cxn ang="0">
                <a:pos x="0" y="378"/>
              </a:cxn>
              <a:cxn ang="0">
                <a:pos x="693" y="0"/>
              </a:cxn>
            </a:cxnLst>
            <a:rect l="0" t="0" r="r" b="b"/>
            <a:pathLst>
              <a:path w="693" h="378">
                <a:moveTo>
                  <a:pt x="0" y="378"/>
                </a:moveTo>
                <a:lnTo>
                  <a:pt x="69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18152" name="Oval 40"/>
          <p:cNvSpPr>
            <a:spLocks noChangeArrowheads="1"/>
          </p:cNvSpPr>
          <p:nvPr/>
        </p:nvSpPr>
        <p:spPr bwMode="auto">
          <a:xfrm>
            <a:off x="3322916" y="3119952"/>
            <a:ext cx="90222" cy="91822"/>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18151" name="Oval 39"/>
          <p:cNvSpPr>
            <a:spLocks noChangeArrowheads="1"/>
          </p:cNvSpPr>
          <p:nvPr/>
        </p:nvSpPr>
        <p:spPr bwMode="auto">
          <a:xfrm>
            <a:off x="2104917" y="3767541"/>
            <a:ext cx="91833" cy="91822"/>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18150" name="Oval 38"/>
          <p:cNvSpPr>
            <a:spLocks noChangeArrowheads="1"/>
          </p:cNvSpPr>
          <p:nvPr/>
        </p:nvSpPr>
        <p:spPr bwMode="auto">
          <a:xfrm>
            <a:off x="1798806" y="2701113"/>
            <a:ext cx="91833" cy="91822"/>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18149" name="Oval 37"/>
          <p:cNvSpPr>
            <a:spLocks noChangeArrowheads="1"/>
          </p:cNvSpPr>
          <p:nvPr/>
        </p:nvSpPr>
        <p:spPr bwMode="auto">
          <a:xfrm>
            <a:off x="2412639" y="3095788"/>
            <a:ext cx="90222" cy="91822"/>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18148" name="Oval 36"/>
          <p:cNvSpPr>
            <a:spLocks noChangeArrowheads="1"/>
          </p:cNvSpPr>
          <p:nvPr/>
        </p:nvSpPr>
        <p:spPr bwMode="auto">
          <a:xfrm>
            <a:off x="2116195" y="2791325"/>
            <a:ext cx="90222" cy="91822"/>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18147" name="Oval 35"/>
          <p:cNvSpPr>
            <a:spLocks noChangeArrowheads="1"/>
          </p:cNvSpPr>
          <p:nvPr/>
        </p:nvSpPr>
        <p:spPr bwMode="auto">
          <a:xfrm>
            <a:off x="2625305" y="2428868"/>
            <a:ext cx="91833" cy="91822"/>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18146" name="Text Box 34"/>
          <p:cNvSpPr txBox="1">
            <a:spLocks noChangeArrowheads="1"/>
          </p:cNvSpPr>
          <p:nvPr/>
        </p:nvSpPr>
        <p:spPr bwMode="auto">
          <a:xfrm>
            <a:off x="4026971" y="2945974"/>
            <a:ext cx="3473987" cy="68445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若</a:t>
            </a:r>
            <a:r>
              <a:rPr kumimoji="0" lang="en-US" altLang="zh-CN" sz="2000" b="0" i="0" u="none" strike="noStrike" cap="none" normalizeH="0" baseline="0">
                <a:ln>
                  <a:noFill/>
                </a:ln>
                <a:solidFill>
                  <a:srgbClr val="FF0000"/>
                </a:solidFill>
                <a:effectLst/>
                <a:latin typeface="Consolas" pitchFamily="49" charset="0"/>
                <a:ea typeface="仿宋" pitchFamily="49" charset="-122"/>
                <a:cs typeface="Times New Roman" pitchFamily="18" charset="0"/>
              </a:rPr>
              <a:t>Direction</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i</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k</a:t>
            </a: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)=0</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，选择距离</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b="0" i="1" u="none" strike="noStrike" cap="none" normalizeH="0" baseline="-30000">
                <a:ln>
                  <a:noFill/>
                </a:ln>
                <a:solidFill>
                  <a:srgbClr val="0000FF"/>
                </a:solidFill>
                <a:effectLst/>
                <a:latin typeface="Consolas" pitchFamily="49" charset="0"/>
                <a:ea typeface="仿宋" pitchFamily="49" charset="-122"/>
                <a:cs typeface="Times New Roman" pitchFamily="18" charset="0"/>
              </a:rPr>
              <a:t>j</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较远者。</a:t>
            </a:r>
            <a:endParaRPr kumimoji="0" lang="zh-CN" altLang="en-US"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8145" name="Line 33"/>
          <p:cNvSpPr>
            <a:spLocks noChangeShapeType="1"/>
          </p:cNvSpPr>
          <p:nvPr/>
        </p:nvSpPr>
        <p:spPr bwMode="auto">
          <a:xfrm>
            <a:off x="2156472" y="3830367"/>
            <a:ext cx="1739999" cy="0"/>
          </a:xfrm>
          <a:prstGeom prst="line">
            <a:avLst/>
          </a:prstGeom>
          <a:noFill/>
          <a:ln w="38100">
            <a:solidFill>
              <a:srgbClr val="0066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218144" name="Text Box 32"/>
          <p:cNvSpPr txBox="1">
            <a:spLocks noChangeArrowheads="1"/>
          </p:cNvSpPr>
          <p:nvPr/>
        </p:nvSpPr>
        <p:spPr bwMode="auto">
          <a:xfrm>
            <a:off x="2576972" y="3909302"/>
            <a:ext cx="1161611" cy="3640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水平射线</a:t>
            </a:r>
            <a:endParaRPr kumimoji="0" lang="zh-CN" sz="20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18143" name="Oval 31"/>
          <p:cNvSpPr>
            <a:spLocks noChangeArrowheads="1"/>
          </p:cNvSpPr>
          <p:nvPr/>
        </p:nvSpPr>
        <p:spPr bwMode="auto">
          <a:xfrm>
            <a:off x="2839583" y="3376088"/>
            <a:ext cx="90222" cy="91822"/>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endParaRPr>
          </a:p>
        </p:txBody>
      </p:sp>
      <p:sp>
        <p:nvSpPr>
          <p:cNvPr id="63" name="TextBox 62"/>
          <p:cNvSpPr txBox="1"/>
          <p:nvPr/>
        </p:nvSpPr>
        <p:spPr>
          <a:xfrm>
            <a:off x="571472" y="4929198"/>
            <a:ext cx="8286808" cy="91307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200"/>
              </a:lnSpc>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4</a:t>
            </a:r>
            <a:r>
              <a:rPr lang="zh-CN" altLang="zh-CN" sz="2200">
                <a:solidFill>
                  <a:srgbClr val="0000FF"/>
                </a:solidFill>
                <a:latin typeface="Consolas" pitchFamily="49" charset="0"/>
                <a:ea typeface="仿宋" pitchFamily="49" charset="-122"/>
              </a:rPr>
              <a:t>）对于步骤（</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）找到的</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k</a:t>
            </a:r>
            <a:r>
              <a:rPr lang="zh-CN" altLang="zh-CN" sz="2200">
                <a:solidFill>
                  <a:srgbClr val="0000FF"/>
                </a:solidFill>
                <a:latin typeface="Consolas" pitchFamily="49" charset="0"/>
                <a:ea typeface="仿宋" pitchFamily="49" charset="-122"/>
              </a:rPr>
              <a:t>，如果</a:t>
            </a:r>
            <a:r>
              <a:rPr lang="en-US" altLang="zh-CN" sz="2200" i="1">
                <a:solidFill>
                  <a:srgbClr val="006600"/>
                </a:solidFill>
                <a:latin typeface="Consolas" pitchFamily="49" charset="0"/>
                <a:ea typeface="仿宋" pitchFamily="49" charset="-122"/>
              </a:rPr>
              <a:t>k</a:t>
            </a:r>
            <a:r>
              <a:rPr lang="en-US" altLang="zh-CN" sz="2200">
                <a:solidFill>
                  <a:srgbClr val="006600"/>
                </a:solidFill>
                <a:latin typeface="Consolas" pitchFamily="49" charset="0"/>
                <a:ea typeface="仿宋" pitchFamily="49" charset="-122"/>
              </a:rPr>
              <a:t>=tmp</a:t>
            </a:r>
            <a:r>
              <a:rPr lang="zh-CN" altLang="zh-CN" sz="2200">
                <a:solidFill>
                  <a:srgbClr val="0000FF"/>
                </a:solidFill>
                <a:latin typeface="Consolas" pitchFamily="49" charset="0"/>
                <a:ea typeface="仿宋" pitchFamily="49" charset="-122"/>
              </a:rPr>
              <a:t>，表示已求出凸包顶点序列</a:t>
            </a:r>
            <a:r>
              <a:rPr lang="en-US" altLang="zh-CN" sz="2200">
                <a:solidFill>
                  <a:srgbClr val="0000FF"/>
                </a:solidFill>
                <a:latin typeface="Consolas" pitchFamily="49" charset="0"/>
                <a:ea typeface="仿宋" pitchFamily="49" charset="-122"/>
              </a:rPr>
              <a:t>ch</a:t>
            </a:r>
            <a:r>
              <a:rPr lang="zh-CN" altLang="zh-CN" sz="2200">
                <a:solidFill>
                  <a:srgbClr val="0000FF"/>
                </a:solidFill>
                <a:latin typeface="Consolas" pitchFamily="49" charset="0"/>
                <a:ea typeface="仿宋" pitchFamily="49" charset="-122"/>
              </a:rPr>
              <a:t>，算法结束，否则置</a:t>
            </a:r>
            <a:r>
              <a:rPr lang="en-US" altLang="zh-CN" sz="2200" i="1">
                <a:solidFill>
                  <a:srgbClr val="0000FF"/>
                </a:solidFill>
                <a:latin typeface="Consolas" pitchFamily="49" charset="0"/>
                <a:ea typeface="仿宋" pitchFamily="49" charset="-122"/>
              </a:rPr>
              <a:t>j</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k</a:t>
            </a:r>
            <a:r>
              <a:rPr lang="zh-CN" altLang="zh-CN" sz="2200">
                <a:solidFill>
                  <a:srgbClr val="0000FF"/>
                </a:solidFill>
                <a:latin typeface="Consolas" pitchFamily="49" charset="0"/>
                <a:ea typeface="仿宋" pitchFamily="49" charset="-122"/>
              </a:rPr>
              <a:t>，转（</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p>
        </p:txBody>
      </p:sp>
      <p:sp>
        <p:nvSpPr>
          <p:cNvPr id="24" name="灯片编号占位符 23"/>
          <p:cNvSpPr>
            <a:spLocks noGrp="1"/>
          </p:cNvSpPr>
          <p:nvPr>
            <p:ph type="sldNum" sz="quarter" idx="12"/>
          </p:nvPr>
        </p:nvSpPr>
        <p:spPr/>
        <p:txBody>
          <a:bodyPr/>
          <a:lstStyle/>
          <a:p>
            <a:pPr>
              <a:defRPr/>
            </a:pPr>
            <a:fld id="{51116183-1013-4E64-BBE8-A5C1D5D4F838}" type="slidenum">
              <a:rPr lang="en-US" altLang="zh-CN" smtClean="0"/>
              <a:pPr>
                <a:defRPr/>
              </a:pPr>
              <a:t>89</a:t>
            </a:fld>
            <a:r>
              <a:rPr lang="en-US" altLang="zh-CN"/>
              <a:t>/167</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2"/>
          <p:cNvSpPr txBox="1">
            <a:spLocks noChangeArrowheads="1"/>
          </p:cNvSpPr>
          <p:nvPr/>
        </p:nvSpPr>
        <p:spPr bwMode="auto">
          <a:xfrm>
            <a:off x="1428728" y="357166"/>
            <a:ext cx="6500858" cy="646331"/>
          </a:xfrm>
          <a:prstGeom prst="rect">
            <a:avLst/>
          </a:prstGeom>
          <a:noFill/>
          <a:ln w="9525">
            <a:noFill/>
            <a:miter lim="800000"/>
            <a:headEnd/>
            <a:tailEnd/>
          </a:ln>
        </p:spPr>
        <p:txBody>
          <a:bodyPr wrap="square">
            <a:spAutoFit/>
          </a:bodyPr>
          <a:lstStyle/>
          <a:p>
            <a:pPr>
              <a:lnSpc>
                <a:spcPct val="150000"/>
              </a:lnSpc>
              <a:spcBef>
                <a:spcPct val="50000"/>
              </a:spcBef>
            </a:pPr>
            <a:r>
              <a:rPr lang="zh-CN" altLang="en-US">
                <a:solidFill>
                  <a:srgbClr val="0000FF"/>
                </a:solidFill>
                <a:latin typeface="Consolas" pitchFamily="49" charset="0"/>
                <a:ea typeface="仿宋" pitchFamily="49" charset="-122"/>
                <a:cs typeface="Consolas" pitchFamily="49" charset="0"/>
              </a:rPr>
              <a:t>对于点集</a:t>
            </a:r>
            <a:r>
              <a:rPr lang="en-US" altLang="zh-CN" i="1">
                <a:solidFill>
                  <a:srgbClr val="0000FF"/>
                </a:solidFill>
                <a:latin typeface="Consolas" pitchFamily="49" charset="0"/>
                <a:ea typeface="仿宋" pitchFamily="49" charset="-122"/>
                <a:cs typeface="Consolas" pitchFamily="49" charset="0"/>
              </a:rPr>
              <a:t>a</a:t>
            </a:r>
            <a:r>
              <a:rPr lang="zh-CN" altLang="en-US">
                <a:solidFill>
                  <a:srgbClr val="0000FF"/>
                </a:solidFill>
                <a:latin typeface="Consolas" pitchFamily="49" charset="0"/>
                <a:ea typeface="仿宋" pitchFamily="49" charset="-122"/>
                <a:cs typeface="Consolas" pitchFamily="49" charset="0"/>
              </a:rPr>
              <a:t>，采用礼品包裹算法求凸包的过程。</a:t>
            </a:r>
          </a:p>
        </p:txBody>
      </p:sp>
      <p:sp>
        <p:nvSpPr>
          <p:cNvPr id="17412" name="Text Box 4"/>
          <p:cNvSpPr txBox="1">
            <a:spLocks noChangeArrowheads="1"/>
          </p:cNvSpPr>
          <p:nvPr/>
        </p:nvSpPr>
        <p:spPr bwMode="auto">
          <a:xfrm>
            <a:off x="714348" y="5500702"/>
            <a:ext cx="5214974" cy="483960"/>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tIns="72000" bIns="72000">
            <a:spAutoFit/>
          </a:bodyPr>
          <a:lstStyle/>
          <a:p>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）选取最左边最下点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a:t>
            </a:r>
          </a:p>
        </p:txBody>
      </p:sp>
      <p:graphicFrame>
        <p:nvGraphicFramePr>
          <p:cNvPr id="6" name="表格 5"/>
          <p:cNvGraphicFramePr>
            <a:graphicFrameLocks noGrp="1"/>
          </p:cNvGraphicFramePr>
          <p:nvPr/>
        </p:nvGraphicFramePr>
        <p:xfrm>
          <a:off x="2143108" y="1500174"/>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6"/>
          <p:cNvGrpSpPr/>
          <p:nvPr/>
        </p:nvGrpSpPr>
        <p:grpSpPr>
          <a:xfrm>
            <a:off x="1714480" y="1408099"/>
            <a:ext cx="3643338" cy="3733982"/>
            <a:chOff x="3357554" y="1408099"/>
            <a:chExt cx="3643338" cy="3733982"/>
          </a:xfrm>
        </p:grpSpPr>
        <p:sp>
          <p:nvSpPr>
            <p:cNvPr id="8" name="TextBox 7"/>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9" name="TextBox 28"/>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30" name="椭圆 29"/>
            <p:cNvSpPr/>
            <p:nvPr/>
          </p:nvSpPr>
          <p:spPr>
            <a:xfrm>
              <a:off x="4640214" y="474028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1" name="TextBox 30"/>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2" name="椭圆 31"/>
            <p:cNvSpPr/>
            <p:nvPr/>
          </p:nvSpPr>
          <p:spPr>
            <a:xfrm>
              <a:off x="4046534" y="2927810"/>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3" name="TextBox 32"/>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4" name="椭圆 33"/>
            <p:cNvSpPr/>
            <p:nvPr/>
          </p:nvSpPr>
          <p:spPr>
            <a:xfrm>
              <a:off x="6162636" y="445453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5" name="TextBox 34"/>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6" name="椭圆 35"/>
            <p:cNvSpPr/>
            <p:nvPr/>
          </p:nvSpPr>
          <p:spPr>
            <a:xfrm>
              <a:off x="6473788" y="265475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TextBox 36"/>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8" name="椭圆 37"/>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9" name="TextBox 38"/>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40" name="椭圆 39"/>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1" name="TextBox 40"/>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2" name="椭圆 41"/>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3" name="TextBox 42"/>
            <p:cNvSpPr txBox="1"/>
            <p:nvPr/>
          </p:nvSpPr>
          <p:spPr>
            <a:xfrm>
              <a:off x="4764138" y="331833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4" name="椭圆 43"/>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5" name="TextBox 44"/>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6" name="椭圆 45"/>
            <p:cNvSpPr/>
            <p:nvPr/>
          </p:nvSpPr>
          <p:spPr>
            <a:xfrm>
              <a:off x="5272042" y="352107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7" name="TextBox 46"/>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8" name="椭圆 47"/>
            <p:cNvSpPr/>
            <p:nvPr/>
          </p:nvSpPr>
          <p:spPr>
            <a:xfrm>
              <a:off x="5553032" y="385762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9" name="TextBox 48"/>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grpSp>
        <p:nvGrpSpPr>
          <p:cNvPr id="50" name="组合 49"/>
          <p:cNvGrpSpPr/>
          <p:nvPr/>
        </p:nvGrpSpPr>
        <p:grpSpPr>
          <a:xfrm>
            <a:off x="500034" y="285728"/>
            <a:ext cx="853211" cy="761171"/>
            <a:chOff x="6862060" y="4310903"/>
            <a:chExt cx="1128915" cy="1130667"/>
          </a:xfrm>
        </p:grpSpPr>
        <p:grpSp>
          <p:nvGrpSpPr>
            <p:cNvPr id="51" name="Group 103"/>
            <p:cNvGrpSpPr>
              <a:grpSpLocks/>
            </p:cNvGrpSpPr>
            <p:nvPr/>
          </p:nvGrpSpPr>
          <p:grpSpPr bwMode="auto">
            <a:xfrm>
              <a:off x="6862060" y="4310903"/>
              <a:ext cx="1128915" cy="1130667"/>
              <a:chOff x="2880" y="1515"/>
              <a:chExt cx="644" cy="645"/>
            </a:xfrm>
          </p:grpSpPr>
          <p:sp>
            <p:nvSpPr>
              <p:cNvPr id="53" name="Oval 104"/>
              <p:cNvSpPr>
                <a:spLocks noChangeArrowheads="1"/>
              </p:cNvSpPr>
              <p:nvPr/>
            </p:nvSpPr>
            <p:spPr bwMode="auto">
              <a:xfrm>
                <a:off x="2880" y="1516"/>
                <a:ext cx="644" cy="644"/>
              </a:xfrm>
              <a:prstGeom prst="ellipse">
                <a:avLst/>
              </a:prstGeom>
              <a:gradFill rotWithShape="1">
                <a:gsLst>
                  <a:gs pos="0">
                    <a:srgbClr val="10942F"/>
                  </a:gs>
                  <a:gs pos="100000">
                    <a:srgbClr val="16D83B"/>
                  </a:gs>
                </a:gsLst>
                <a:lin ang="5400000" scaled="1"/>
              </a:gradFill>
              <a:ln w="9525" algn="ctr">
                <a:noFill/>
                <a:round/>
                <a:headEnd/>
                <a:tailEnd/>
              </a:ln>
              <a:effectLst>
                <a:outerShdw blurRad="76200" dir="18900000" sy="23000" kx="-1200000" algn="bl" rotWithShape="0">
                  <a:prstClr val="black">
                    <a:alpha val="20000"/>
                  </a:prstClr>
                </a:outerShdw>
              </a:effectLst>
            </p:spPr>
            <p:txBody>
              <a:bodyPr wrap="none" anchor="ctr"/>
              <a:lstStyle/>
              <a:p>
                <a:endParaRPr lang="zh-CN" altLang="en-US"/>
              </a:p>
            </p:txBody>
          </p:sp>
          <p:sp>
            <p:nvSpPr>
              <p:cNvPr id="54" name="Freeform 105"/>
              <p:cNvSpPr>
                <a:spLocks/>
              </p:cNvSpPr>
              <p:nvPr/>
            </p:nvSpPr>
            <p:spPr bwMode="auto">
              <a:xfrm>
                <a:off x="2887" y="1515"/>
                <a:ext cx="630" cy="441"/>
              </a:xfrm>
              <a:custGeom>
                <a:avLst/>
                <a:gdLst/>
                <a:ahLst/>
                <a:cxnLst>
                  <a:cxn ang="0">
                    <a:pos x="1400" y="275"/>
                  </a:cxn>
                  <a:cxn ang="0">
                    <a:pos x="1596" y="795"/>
                  </a:cxn>
                  <a:cxn ang="0">
                    <a:pos x="0" y="795"/>
                  </a:cxn>
                  <a:cxn ang="0">
                    <a:pos x="217" y="252"/>
                  </a:cxn>
                  <a:cxn ang="0">
                    <a:pos x="796" y="0"/>
                  </a:cxn>
                  <a:cxn ang="0">
                    <a:pos x="1400" y="275"/>
                  </a:cxn>
                </a:cxnLst>
                <a:rect l="0" t="0" r="r" b="b"/>
                <a:pathLst>
                  <a:path w="1596" h="1118">
                    <a:moveTo>
                      <a:pt x="1400" y="275"/>
                    </a:moveTo>
                    <a:cubicBezTo>
                      <a:pt x="1522" y="417"/>
                      <a:pt x="1596" y="597"/>
                      <a:pt x="1596" y="795"/>
                    </a:cubicBezTo>
                    <a:cubicBezTo>
                      <a:pt x="1037" y="1118"/>
                      <a:pt x="668" y="611"/>
                      <a:pt x="0" y="795"/>
                    </a:cubicBezTo>
                    <a:cubicBezTo>
                      <a:pt x="0" y="585"/>
                      <a:pt x="83" y="392"/>
                      <a:pt x="217" y="252"/>
                    </a:cubicBezTo>
                    <a:cubicBezTo>
                      <a:pt x="364" y="95"/>
                      <a:pt x="570" y="0"/>
                      <a:pt x="796" y="0"/>
                    </a:cubicBezTo>
                    <a:cubicBezTo>
                      <a:pt x="1039" y="0"/>
                      <a:pt x="1253" y="108"/>
                      <a:pt x="1400" y="275"/>
                    </a:cubicBezTo>
                    <a:close/>
                  </a:path>
                </a:pathLst>
              </a:custGeom>
              <a:gradFill rotWithShape="1">
                <a:gsLst>
                  <a:gs pos="0">
                    <a:schemeClr val="bg1">
                      <a:alpha val="53000"/>
                    </a:schemeClr>
                  </a:gs>
                  <a:gs pos="100000">
                    <a:schemeClr val="bg1">
                      <a:gamma/>
                      <a:shade val="46275"/>
                      <a:invGamma/>
                      <a:alpha val="0"/>
                    </a:schemeClr>
                  </a:gs>
                </a:gsLst>
                <a:lin ang="5400000" scaled="1"/>
              </a:gradFill>
              <a:ln w="9525">
                <a:noFill/>
                <a:round/>
                <a:headEnd/>
                <a:tailEnd/>
              </a:ln>
            </p:spPr>
            <p:txBody>
              <a:bodyPr/>
              <a:lstStyle/>
              <a:p>
                <a:endParaRPr lang="zh-CN" altLang="en-US"/>
              </a:p>
            </p:txBody>
          </p:sp>
        </p:grpSp>
        <p:sp>
          <p:nvSpPr>
            <p:cNvPr id="52" name="Text Box 71"/>
            <p:cNvSpPr txBox="1">
              <a:spLocks noChangeArrowheads="1"/>
            </p:cNvSpPr>
            <p:nvPr/>
          </p:nvSpPr>
          <p:spPr bwMode="auto">
            <a:xfrm>
              <a:off x="6923115" y="4640482"/>
              <a:ext cx="1039812" cy="466324"/>
            </a:xfrm>
            <a:prstGeom prst="rect">
              <a:avLst/>
            </a:prstGeom>
            <a:noFill/>
            <a:ln w="9525">
              <a:noFill/>
              <a:miter lim="800000"/>
              <a:headEnd/>
              <a:tailEnd/>
            </a:ln>
            <a:effectLst/>
          </p:spPr>
          <p:txBody>
            <a:bodyPr anchor="ctr">
              <a:spAutoFit/>
            </a:bodyPr>
            <a:lstStyle/>
            <a:p>
              <a:pPr algn="ctr">
                <a:spcBef>
                  <a:spcPct val="50000"/>
                </a:spcBef>
              </a:pPr>
              <a:r>
                <a:rPr lang="zh-CN" altLang="en-US" sz="1800">
                  <a:solidFill>
                    <a:srgbClr val="FF0000"/>
                  </a:solidFill>
                  <a:latin typeface="微软雅黑" pitchFamily="34" charset="-122"/>
                  <a:ea typeface="微软雅黑" pitchFamily="34" charset="-122"/>
                </a:rPr>
                <a:t>示例</a:t>
              </a:r>
              <a:endParaRPr lang="en-GB" altLang="zh-CN" sz="1800">
                <a:solidFill>
                  <a:srgbClr val="FF0000"/>
                </a:solidFill>
                <a:latin typeface="微软雅黑" pitchFamily="34" charset="-122"/>
                <a:ea typeface="微软雅黑" pitchFamily="34" charset="-122"/>
              </a:endParaRPr>
            </a:p>
          </p:txBody>
        </p:sp>
      </p:grpSp>
      <p:sp>
        <p:nvSpPr>
          <p:cNvPr id="55" name="灯片编号占位符 54"/>
          <p:cNvSpPr>
            <a:spLocks noGrp="1"/>
          </p:cNvSpPr>
          <p:nvPr>
            <p:ph type="sldNum" sz="quarter" idx="12"/>
          </p:nvPr>
        </p:nvSpPr>
        <p:spPr/>
        <p:txBody>
          <a:bodyPr/>
          <a:lstStyle/>
          <a:p>
            <a:pPr>
              <a:defRPr/>
            </a:pPr>
            <a:fld id="{51116183-1013-4E64-BBE8-A5C1D5D4F838}" type="slidenum">
              <a:rPr lang="en-US" altLang="zh-CN" smtClean="0"/>
              <a:pPr>
                <a:defRPr/>
              </a:pPr>
              <a:t>90</a:t>
            </a:fld>
            <a:r>
              <a:rPr lang="en-US" altLang="zh-CN"/>
              <a:t>/167</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ext Box 4"/>
          <p:cNvSpPr txBox="1">
            <a:spLocks noChangeArrowheads="1"/>
          </p:cNvSpPr>
          <p:nvPr/>
        </p:nvSpPr>
        <p:spPr bwMode="auto">
          <a:xfrm>
            <a:off x="428596" y="357166"/>
            <a:ext cx="8501122" cy="483960"/>
          </a:xfrm>
          <a:prstGeom prst="rect">
            <a:avLst/>
          </a:prstGeom>
          <a:ln>
            <a:solidFill>
              <a:schemeClr val="accent6">
                <a:lumMod val="60000"/>
                <a:lumOff val="40000"/>
              </a:schemeClr>
            </a:solidFill>
            <a:headEnd/>
            <a:tailEnd/>
          </a:ln>
        </p:spPr>
        <p:style>
          <a:lnRef idx="2">
            <a:schemeClr val="accent2"/>
          </a:lnRef>
          <a:fillRef idx="1">
            <a:schemeClr val="lt1"/>
          </a:fillRef>
          <a:effectRef idx="0">
            <a:schemeClr val="accent2"/>
          </a:effectRef>
          <a:fontRef idx="minor">
            <a:schemeClr val="dk1"/>
          </a:fontRef>
        </p:style>
        <p:txBody>
          <a:bodyPr wrap="square" tIns="72000" bIns="72000">
            <a:spAutoFit/>
          </a:bodyPr>
          <a:lstStyle/>
          <a:p>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）当前点为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，从</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出发在其余所有点中找到角度最小的点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p>
        </p:txBody>
      </p:sp>
      <p:graphicFrame>
        <p:nvGraphicFramePr>
          <p:cNvPr id="6" name="表格 5"/>
          <p:cNvGraphicFramePr>
            <a:graphicFrameLocks noGrp="1"/>
          </p:cNvGraphicFramePr>
          <p:nvPr/>
        </p:nvGraphicFramePr>
        <p:xfrm>
          <a:off x="928662" y="1520811"/>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6"/>
          <p:cNvGrpSpPr/>
          <p:nvPr/>
        </p:nvGrpSpPr>
        <p:grpSpPr>
          <a:xfrm>
            <a:off x="500034" y="1428736"/>
            <a:ext cx="3643338" cy="3733982"/>
            <a:chOff x="3357554" y="1408099"/>
            <a:chExt cx="3643338" cy="3733982"/>
          </a:xfrm>
        </p:grpSpPr>
        <p:sp>
          <p:nvSpPr>
            <p:cNvPr id="8" name="TextBox 7"/>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9" name="TextBox 28"/>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30" name="椭圆 29"/>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1" name="TextBox 30"/>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2" name="椭圆 31"/>
            <p:cNvSpPr/>
            <p:nvPr/>
          </p:nvSpPr>
          <p:spPr>
            <a:xfrm>
              <a:off x="4046534" y="2927810"/>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3" name="TextBox 32"/>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4" name="椭圆 33"/>
            <p:cNvSpPr/>
            <p:nvPr/>
          </p:nvSpPr>
          <p:spPr>
            <a:xfrm>
              <a:off x="6162636" y="445453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5" name="TextBox 34"/>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6" name="椭圆 35"/>
            <p:cNvSpPr/>
            <p:nvPr/>
          </p:nvSpPr>
          <p:spPr>
            <a:xfrm>
              <a:off x="6473788" y="265475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TextBox 36"/>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8" name="椭圆 37"/>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9" name="TextBox 38"/>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40" name="椭圆 39"/>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1" name="TextBox 40"/>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2" name="椭圆 41"/>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3" name="TextBox 42"/>
            <p:cNvSpPr txBox="1"/>
            <p:nvPr/>
          </p:nvSpPr>
          <p:spPr>
            <a:xfrm>
              <a:off x="4617312" y="320711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4" name="椭圆 43"/>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5" name="TextBox 44"/>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6" name="椭圆 45"/>
            <p:cNvSpPr/>
            <p:nvPr/>
          </p:nvSpPr>
          <p:spPr>
            <a:xfrm>
              <a:off x="5272042" y="352107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7" name="TextBox 46"/>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8" name="椭圆 47"/>
            <p:cNvSpPr/>
            <p:nvPr/>
          </p:nvSpPr>
          <p:spPr>
            <a:xfrm>
              <a:off x="5553032" y="385762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9" name="TextBox 48"/>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cxnSp>
        <p:nvCxnSpPr>
          <p:cNvPr id="51" name="直接连接符 50"/>
          <p:cNvCxnSpPr/>
          <p:nvPr/>
        </p:nvCxnSpPr>
        <p:spPr>
          <a:xfrm rot="16200000" flipH="1">
            <a:off x="675981" y="3659480"/>
            <a:ext cx="1689562" cy="5554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4286248" y="1571612"/>
            <a:ext cx="4643438" cy="3323987"/>
          </a:xfrm>
          <a:prstGeom prst="rect">
            <a:avLst/>
          </a:prstGeom>
          <a:noFill/>
        </p:spPr>
        <p:txBody>
          <a:bodyPr wrap="square" rtlCol="0">
            <a:spAutoFit/>
          </a:bodyPr>
          <a:lstStyle/>
          <a:p>
            <a:pPr marL="457200" indent="-457200">
              <a:lnSpc>
                <a:spcPct val="150000"/>
              </a:lnSpc>
              <a:buBlip>
                <a:blip r:embed="rId3"/>
              </a:buBlip>
            </a:pPr>
            <a:r>
              <a:rPr lang="en-US" altLang="zh-CN" sz="2000" i="1">
                <a:solidFill>
                  <a:srgbClr val="0000FF"/>
                </a:solidFill>
                <a:latin typeface="Consolas" pitchFamily="49" charset="0"/>
                <a:ea typeface="楷体" pitchFamily="49" charset="-122"/>
                <a:cs typeface="Consolas" pitchFamily="49" charset="0"/>
              </a:rPr>
              <a:t>k</a:t>
            </a:r>
            <a:r>
              <a:rPr lang="en-US" altLang="zh-CN" sz="2000">
                <a:solidFill>
                  <a:srgbClr val="0000FF"/>
                </a:solidFill>
                <a:latin typeface="Consolas" pitchFamily="49" charset="0"/>
                <a:ea typeface="楷体" pitchFamily="49" charset="-122"/>
                <a:cs typeface="Consolas" pitchFamily="49" charset="0"/>
              </a:rPr>
              <a:t>=-1</a:t>
            </a:r>
          </a:p>
          <a:p>
            <a:pPr marL="457200" indent="-457200">
              <a:lnSpc>
                <a:spcPct val="150000"/>
              </a:lnSpc>
              <a:buBlip>
                <a:blip r:embed="rId3"/>
              </a:buBlip>
            </a:pPr>
            <a:r>
              <a:rPr lang="en-US" altLang="zh-CN" sz="2000">
                <a:solidFill>
                  <a:srgbClr val="0000FF"/>
                </a:solidFill>
                <a:latin typeface="Consolas" pitchFamily="49" charset="0"/>
                <a:ea typeface="楷体" pitchFamily="49" charset="-122"/>
                <a:cs typeface="Consolas" pitchFamily="49" charset="0"/>
              </a:rPr>
              <a:t>Dir(</a:t>
            </a:r>
            <a:r>
              <a:rPr lang="en-US" altLang="zh-CN" sz="2000" i="1">
                <a:solidFill>
                  <a:srgbClr val="0000FF"/>
                </a:solidFill>
                <a:latin typeface="Consolas" pitchFamily="49" charset="0"/>
                <a:ea typeface="楷体" pitchFamily="49" charset="-122"/>
                <a:cs typeface="Consolas" pitchFamily="49" charset="0"/>
              </a:rPr>
              <a:t>a</a:t>
            </a:r>
            <a:r>
              <a:rPr lang="en-US" altLang="zh-CN" sz="2000" baseline="-25000">
                <a:solidFill>
                  <a:srgbClr val="0000FF"/>
                </a:solidFill>
                <a:latin typeface="Consolas" pitchFamily="49" charset="0"/>
                <a:ea typeface="楷体" pitchFamily="49" charset="-122"/>
                <a:cs typeface="Consolas" pitchFamily="49" charset="0"/>
              </a:rPr>
              <a:t>9</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FF00FF"/>
                </a:solidFill>
                <a:latin typeface="Consolas" pitchFamily="49" charset="0"/>
                <a:ea typeface="楷体" pitchFamily="49" charset="-122"/>
                <a:cs typeface="Consolas" pitchFamily="49" charset="0"/>
              </a:rPr>
              <a:t>a</a:t>
            </a:r>
            <a:r>
              <a:rPr lang="en-US" altLang="zh-CN" sz="2000" baseline="-25000">
                <a:solidFill>
                  <a:srgbClr val="FF00FF"/>
                </a:solidFill>
                <a:latin typeface="Consolas" pitchFamily="49" charset="0"/>
                <a:ea typeface="楷体" pitchFamily="49" charset="-122"/>
                <a:cs typeface="Consolas" pitchFamily="49" charset="0"/>
              </a:rPr>
              <a:t>0</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k</a:t>
            </a:r>
            <a:r>
              <a:rPr lang="en-US" altLang="zh-CN" sz="2000">
                <a:solidFill>
                  <a:srgbClr val="0000FF"/>
                </a:solidFill>
                <a:latin typeface="Consolas" pitchFamily="49" charset="0"/>
                <a:ea typeface="楷体" pitchFamily="49" charset="-122"/>
                <a:cs typeface="Consolas" pitchFamily="49" charset="0"/>
              </a:rPr>
              <a:t>)&gt;0 </a:t>
            </a:r>
            <a:r>
              <a:rPr lang="en-US" altLang="zh-CN" sz="2000">
                <a:solidFill>
                  <a:srgbClr val="C00000"/>
                </a:solidFill>
                <a:latin typeface="Consolas" pitchFamily="49" charset="0"/>
                <a:ea typeface="楷体" pitchFamily="49" charset="-122"/>
                <a:cs typeface="Consolas" pitchFamily="49" charset="0"/>
                <a:sym typeface="Wingdings"/>
              </a:rPr>
              <a:t></a:t>
            </a:r>
            <a:r>
              <a:rPr lang="en-US" altLang="zh-CN" sz="2000">
                <a:solidFill>
                  <a:srgbClr val="0000FF"/>
                </a:solidFill>
                <a:latin typeface="Consolas" pitchFamily="49" charset="0"/>
                <a:ea typeface="楷体" pitchFamily="49" charset="-122"/>
                <a:cs typeface="Consolas" pitchFamily="49" charset="0"/>
                <a:sym typeface="Wingdings"/>
              </a:rPr>
              <a:t> </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0</a:t>
            </a:r>
            <a:r>
              <a:rPr lang="zh-CN" altLang="en-US"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0000FF"/>
                </a:solidFill>
                <a:latin typeface="Consolas" pitchFamily="49" charset="0"/>
                <a:ea typeface="楷体" pitchFamily="49" charset="-122"/>
                <a:cs typeface="Consolas" pitchFamily="49" charset="0"/>
                <a:sym typeface="Wingdings"/>
              </a:rPr>
              <a:t>k</a:t>
            </a:r>
            <a:r>
              <a:rPr lang="en-US" altLang="zh-CN" sz="2000">
                <a:solidFill>
                  <a:srgbClr val="0000FF"/>
                </a:solidFill>
                <a:latin typeface="Consolas" pitchFamily="49" charset="0"/>
                <a:ea typeface="楷体" pitchFamily="49" charset="-122"/>
                <a:cs typeface="Consolas" pitchFamily="49" charset="0"/>
                <a:sym typeface="Wingdings"/>
              </a:rPr>
              <a:t>=0</a:t>
            </a:r>
          </a:p>
          <a:p>
            <a:pPr marL="457200" indent="-457200">
              <a:lnSpc>
                <a:spcPct val="150000"/>
              </a:lnSpc>
              <a:buBlip>
                <a:blip r:embed="rId3"/>
              </a:buBlip>
            </a:pPr>
            <a:r>
              <a:rPr lang="en-US" altLang="zh-CN" sz="2000">
                <a:solidFill>
                  <a:srgbClr val="0000FF"/>
                </a:solidFill>
                <a:latin typeface="Consolas" pitchFamily="49" charset="0"/>
                <a:ea typeface="楷体" pitchFamily="49" charset="-122"/>
                <a:cs typeface="Consolas" pitchFamily="49" charset="0"/>
                <a:sym typeface="Wingdings"/>
              </a:rPr>
              <a:t>Dir(</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9</a:t>
            </a:r>
            <a:r>
              <a:rPr lang="en-US" altLang="zh-CN"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FF00FF"/>
                </a:solidFill>
                <a:latin typeface="Consolas" pitchFamily="49" charset="0"/>
                <a:ea typeface="楷体" pitchFamily="49" charset="-122"/>
                <a:cs typeface="Consolas" pitchFamily="49" charset="0"/>
                <a:sym typeface="Wingdings"/>
              </a:rPr>
              <a:t>a</a:t>
            </a:r>
            <a:r>
              <a:rPr lang="en-US" altLang="zh-CN" sz="2000" baseline="-25000">
                <a:solidFill>
                  <a:srgbClr val="FF00FF"/>
                </a:solidFill>
                <a:latin typeface="Consolas" pitchFamily="49" charset="0"/>
                <a:ea typeface="楷体" pitchFamily="49" charset="-122"/>
                <a:cs typeface="Consolas" pitchFamily="49" charset="0"/>
                <a:sym typeface="Wingdings"/>
              </a:rPr>
              <a:t>1</a:t>
            </a:r>
            <a:r>
              <a:rPr lang="en-US" altLang="zh-CN"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i="1" baseline="-25000">
                <a:solidFill>
                  <a:srgbClr val="0000FF"/>
                </a:solidFill>
                <a:latin typeface="Consolas" pitchFamily="49" charset="0"/>
                <a:ea typeface="楷体" pitchFamily="49" charset="-122"/>
                <a:cs typeface="Consolas" pitchFamily="49" charset="0"/>
                <a:sym typeface="Wingdings"/>
              </a:rPr>
              <a:t>0</a:t>
            </a:r>
            <a:r>
              <a:rPr lang="en-US" altLang="zh-CN" sz="2000">
                <a:solidFill>
                  <a:srgbClr val="0000FF"/>
                </a:solidFill>
                <a:latin typeface="Consolas" pitchFamily="49" charset="0"/>
                <a:ea typeface="楷体" pitchFamily="49" charset="-122"/>
                <a:cs typeface="Consolas" pitchFamily="49" charset="0"/>
                <a:sym typeface="Wingdings"/>
              </a:rPr>
              <a:t>)&gt;0 </a:t>
            </a:r>
            <a:r>
              <a:rPr lang="en-US" altLang="zh-CN" sz="2000">
                <a:solidFill>
                  <a:srgbClr val="C00000"/>
                </a:solidFill>
                <a:latin typeface="Consolas" pitchFamily="49" charset="0"/>
                <a:ea typeface="楷体" pitchFamily="49" charset="-122"/>
                <a:cs typeface="Consolas" pitchFamily="49" charset="0"/>
                <a:sym typeface="Wingdings"/>
              </a:rPr>
              <a:t></a:t>
            </a:r>
            <a:r>
              <a:rPr lang="en-US" altLang="zh-CN" sz="2000">
                <a:solidFill>
                  <a:srgbClr val="0000FF"/>
                </a:solidFill>
                <a:latin typeface="Consolas" pitchFamily="49" charset="0"/>
                <a:ea typeface="楷体" pitchFamily="49" charset="-122"/>
                <a:cs typeface="Consolas" pitchFamily="49" charset="0"/>
                <a:sym typeface="Wingdings"/>
              </a:rPr>
              <a:t> </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1</a:t>
            </a:r>
            <a:r>
              <a:rPr lang="zh-CN" altLang="en-US"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0000FF"/>
                </a:solidFill>
                <a:latin typeface="Consolas" pitchFamily="49" charset="0"/>
                <a:ea typeface="楷体" pitchFamily="49" charset="-122"/>
                <a:cs typeface="Consolas" pitchFamily="49" charset="0"/>
                <a:sym typeface="Wingdings"/>
              </a:rPr>
              <a:t>k</a:t>
            </a:r>
            <a:r>
              <a:rPr lang="en-US" altLang="zh-CN" sz="2000">
                <a:solidFill>
                  <a:srgbClr val="0000FF"/>
                </a:solidFill>
                <a:latin typeface="Consolas" pitchFamily="49" charset="0"/>
                <a:ea typeface="楷体" pitchFamily="49" charset="-122"/>
                <a:cs typeface="Consolas" pitchFamily="49" charset="0"/>
                <a:sym typeface="Wingdings"/>
              </a:rPr>
              <a:t>=1</a:t>
            </a:r>
            <a:endParaRPr lang="en-US" altLang="zh-CN" sz="2000" baseline="-25000">
              <a:solidFill>
                <a:srgbClr val="0000FF"/>
              </a:solidFill>
              <a:latin typeface="Consolas" pitchFamily="49" charset="0"/>
              <a:ea typeface="楷体" pitchFamily="49" charset="-122"/>
              <a:cs typeface="Consolas" pitchFamily="49" charset="0"/>
              <a:sym typeface="Wingdings"/>
            </a:endParaRPr>
          </a:p>
          <a:p>
            <a:pPr marL="457200" indent="-457200">
              <a:lnSpc>
                <a:spcPct val="150000"/>
              </a:lnSpc>
              <a:buBlip>
                <a:blip r:embed="rId3"/>
              </a:buBlip>
            </a:pPr>
            <a:r>
              <a:rPr lang="en-US" altLang="zh-CN" sz="2000">
                <a:solidFill>
                  <a:srgbClr val="0000FF"/>
                </a:solidFill>
                <a:latin typeface="Consolas" pitchFamily="49" charset="0"/>
                <a:ea typeface="楷体" pitchFamily="49" charset="-122"/>
                <a:cs typeface="Consolas" pitchFamily="49" charset="0"/>
                <a:sym typeface="Wingdings"/>
              </a:rPr>
              <a:t>Dir(</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9</a:t>
            </a:r>
            <a:r>
              <a:rPr lang="en-US" altLang="zh-CN"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FF00FF"/>
                </a:solidFill>
                <a:latin typeface="Consolas" pitchFamily="49" charset="0"/>
                <a:ea typeface="楷体" pitchFamily="49" charset="-122"/>
                <a:cs typeface="Consolas" pitchFamily="49" charset="0"/>
                <a:sym typeface="Wingdings"/>
              </a:rPr>
              <a:t>a</a:t>
            </a:r>
            <a:r>
              <a:rPr lang="en-US" altLang="zh-CN" sz="2000" baseline="-25000">
                <a:solidFill>
                  <a:srgbClr val="FF00FF"/>
                </a:solidFill>
                <a:latin typeface="Consolas" pitchFamily="49" charset="0"/>
                <a:ea typeface="楷体" pitchFamily="49" charset="-122"/>
                <a:cs typeface="Consolas" pitchFamily="49" charset="0"/>
                <a:sym typeface="Wingdings"/>
              </a:rPr>
              <a:t>2</a:t>
            </a:r>
            <a:r>
              <a:rPr lang="en-US" altLang="zh-CN"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1</a:t>
            </a:r>
            <a:r>
              <a:rPr lang="en-US" altLang="zh-CN" sz="2000">
                <a:solidFill>
                  <a:srgbClr val="0000FF"/>
                </a:solidFill>
                <a:latin typeface="Consolas" pitchFamily="49" charset="0"/>
                <a:ea typeface="楷体" pitchFamily="49" charset="-122"/>
                <a:cs typeface="Consolas" pitchFamily="49" charset="0"/>
                <a:sym typeface="Wingdings"/>
              </a:rPr>
              <a:t>)&gt;0 </a:t>
            </a:r>
            <a:r>
              <a:rPr lang="en-US" altLang="zh-CN" sz="2000">
                <a:solidFill>
                  <a:srgbClr val="C00000"/>
                </a:solidFill>
                <a:latin typeface="Consolas" pitchFamily="49" charset="0"/>
                <a:ea typeface="楷体" pitchFamily="49" charset="-122"/>
                <a:cs typeface="Consolas" pitchFamily="49" charset="0"/>
                <a:sym typeface="Wingdings"/>
              </a:rPr>
              <a:t></a:t>
            </a:r>
            <a:r>
              <a:rPr lang="en-US" altLang="zh-CN" sz="2000">
                <a:solidFill>
                  <a:srgbClr val="0000FF"/>
                </a:solidFill>
                <a:latin typeface="Consolas" pitchFamily="49" charset="0"/>
                <a:ea typeface="楷体" pitchFamily="49" charset="-122"/>
                <a:cs typeface="Consolas" pitchFamily="49" charset="0"/>
                <a:sym typeface="Wingdings"/>
              </a:rPr>
              <a:t> </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2</a:t>
            </a:r>
            <a:r>
              <a:rPr lang="zh-CN" altLang="en-US"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0000FF"/>
                </a:solidFill>
                <a:latin typeface="Consolas" pitchFamily="49" charset="0"/>
                <a:ea typeface="楷体" pitchFamily="49" charset="-122"/>
                <a:cs typeface="Consolas" pitchFamily="49" charset="0"/>
                <a:sym typeface="Wingdings"/>
              </a:rPr>
              <a:t>k</a:t>
            </a:r>
            <a:r>
              <a:rPr lang="en-US" altLang="zh-CN" sz="2000">
                <a:solidFill>
                  <a:srgbClr val="0000FF"/>
                </a:solidFill>
                <a:latin typeface="Consolas" pitchFamily="49" charset="0"/>
                <a:ea typeface="楷体" pitchFamily="49" charset="-122"/>
                <a:cs typeface="Consolas" pitchFamily="49" charset="0"/>
                <a:sym typeface="Wingdings"/>
              </a:rPr>
              <a:t>=2</a:t>
            </a:r>
            <a:endParaRPr lang="en-US" altLang="zh-CN" sz="2000" baseline="-25000">
              <a:solidFill>
                <a:srgbClr val="0000FF"/>
              </a:solidFill>
              <a:latin typeface="Consolas" pitchFamily="49" charset="0"/>
              <a:ea typeface="楷体" pitchFamily="49" charset="-122"/>
              <a:cs typeface="Consolas" pitchFamily="49" charset="0"/>
              <a:sym typeface="Wingdings"/>
            </a:endParaRPr>
          </a:p>
          <a:p>
            <a:pPr marL="457200" indent="-457200">
              <a:lnSpc>
                <a:spcPct val="150000"/>
              </a:lnSpc>
              <a:buBlip>
                <a:blip r:embed="rId3"/>
              </a:buBlip>
            </a:pPr>
            <a:r>
              <a:rPr lang="en-US" altLang="zh-CN" sz="2000">
                <a:solidFill>
                  <a:srgbClr val="0000FF"/>
                </a:solidFill>
                <a:latin typeface="Consolas" pitchFamily="49" charset="0"/>
                <a:ea typeface="楷体" pitchFamily="49" charset="-122"/>
                <a:cs typeface="Consolas" pitchFamily="49" charset="0"/>
                <a:sym typeface="Wingdings"/>
              </a:rPr>
              <a:t>Dir(</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9</a:t>
            </a:r>
            <a:r>
              <a:rPr lang="en-US" altLang="zh-CN"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FF00FF"/>
                </a:solidFill>
                <a:latin typeface="Consolas" pitchFamily="49" charset="0"/>
                <a:ea typeface="楷体" pitchFamily="49" charset="-122"/>
                <a:cs typeface="Consolas" pitchFamily="49" charset="0"/>
                <a:sym typeface="Wingdings"/>
              </a:rPr>
              <a:t>a</a:t>
            </a:r>
            <a:r>
              <a:rPr lang="en-US" altLang="zh-CN" sz="2000" baseline="-25000">
                <a:solidFill>
                  <a:srgbClr val="FF00FF"/>
                </a:solidFill>
                <a:latin typeface="Consolas" pitchFamily="49" charset="0"/>
                <a:ea typeface="楷体" pitchFamily="49" charset="-122"/>
                <a:cs typeface="Consolas" pitchFamily="49" charset="0"/>
                <a:sym typeface="Wingdings"/>
              </a:rPr>
              <a:t>3</a:t>
            </a:r>
            <a:r>
              <a:rPr lang="en-US" altLang="zh-CN"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2</a:t>
            </a:r>
            <a:r>
              <a:rPr lang="en-US" altLang="zh-CN" sz="2000">
                <a:solidFill>
                  <a:srgbClr val="0000FF"/>
                </a:solidFill>
                <a:latin typeface="Consolas" pitchFamily="49" charset="0"/>
                <a:ea typeface="楷体" pitchFamily="49" charset="-122"/>
                <a:cs typeface="Consolas" pitchFamily="49" charset="0"/>
                <a:sym typeface="Wingdings"/>
              </a:rPr>
              <a:t>)&gt;0 </a:t>
            </a:r>
            <a:r>
              <a:rPr lang="en-US" altLang="zh-CN" sz="2000">
                <a:solidFill>
                  <a:srgbClr val="C00000"/>
                </a:solidFill>
                <a:latin typeface="Consolas" pitchFamily="49" charset="0"/>
                <a:ea typeface="楷体" pitchFamily="49" charset="-122"/>
                <a:cs typeface="Consolas" pitchFamily="49" charset="0"/>
                <a:sym typeface="Wingdings"/>
              </a:rPr>
              <a:t></a:t>
            </a:r>
            <a:r>
              <a:rPr lang="en-US" altLang="zh-CN" sz="2000">
                <a:solidFill>
                  <a:srgbClr val="0000FF"/>
                </a:solidFill>
                <a:latin typeface="Consolas" pitchFamily="49" charset="0"/>
                <a:ea typeface="楷体" pitchFamily="49" charset="-122"/>
                <a:cs typeface="Consolas" pitchFamily="49" charset="0"/>
                <a:sym typeface="Wingdings"/>
              </a:rPr>
              <a:t> </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3</a:t>
            </a:r>
            <a:r>
              <a:rPr lang="zh-CN" altLang="en-US"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0000FF"/>
                </a:solidFill>
                <a:latin typeface="Consolas" pitchFamily="49" charset="0"/>
                <a:ea typeface="楷体" pitchFamily="49" charset="-122"/>
                <a:cs typeface="Consolas" pitchFamily="49" charset="0"/>
                <a:sym typeface="Wingdings"/>
              </a:rPr>
              <a:t>k</a:t>
            </a:r>
            <a:r>
              <a:rPr lang="en-US" altLang="zh-CN" sz="2000">
                <a:solidFill>
                  <a:srgbClr val="0000FF"/>
                </a:solidFill>
                <a:latin typeface="Consolas" pitchFamily="49" charset="0"/>
                <a:ea typeface="楷体" pitchFamily="49" charset="-122"/>
                <a:cs typeface="Consolas" pitchFamily="49" charset="0"/>
                <a:sym typeface="Wingdings"/>
              </a:rPr>
              <a:t>=3</a:t>
            </a:r>
            <a:endParaRPr lang="en-US" altLang="zh-CN" sz="2000" baseline="-25000">
              <a:solidFill>
                <a:srgbClr val="0000FF"/>
              </a:solidFill>
              <a:latin typeface="Consolas" pitchFamily="49" charset="0"/>
              <a:ea typeface="楷体" pitchFamily="49" charset="-122"/>
              <a:cs typeface="Consolas" pitchFamily="49" charset="0"/>
              <a:sym typeface="Wingdings"/>
            </a:endParaRPr>
          </a:p>
          <a:p>
            <a:pPr marL="457200" indent="-457200">
              <a:lnSpc>
                <a:spcPct val="150000"/>
              </a:lnSpc>
              <a:buBlip>
                <a:blip r:embed="rId3"/>
              </a:buBlip>
            </a:pP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4</a:t>
            </a:r>
            <a:r>
              <a:rPr lang="en-US" altLang="zh-CN"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5</a:t>
            </a:r>
            <a:r>
              <a:rPr lang="en-US" altLang="zh-CN"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6</a:t>
            </a:r>
            <a:r>
              <a:rPr lang="en-US" altLang="zh-CN"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7</a:t>
            </a:r>
            <a:r>
              <a:rPr lang="zh-CN" altLang="en-US" sz="2000">
                <a:solidFill>
                  <a:srgbClr val="0000FF"/>
                </a:solidFill>
                <a:latin typeface="Consolas" pitchFamily="49" charset="0"/>
                <a:ea typeface="楷体" pitchFamily="49" charset="-122"/>
                <a:cs typeface="Consolas" pitchFamily="49" charset="0"/>
                <a:sym typeface="Wingdings"/>
              </a:rPr>
              <a:t>到</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9</a:t>
            </a:r>
            <a:r>
              <a:rPr lang="zh-CN" altLang="en-US" sz="2000">
                <a:solidFill>
                  <a:srgbClr val="0000FF"/>
                </a:solidFill>
                <a:latin typeface="Consolas" pitchFamily="49" charset="0"/>
                <a:ea typeface="楷体" pitchFamily="49" charset="-122"/>
                <a:cs typeface="Consolas" pitchFamily="49" charset="0"/>
                <a:sym typeface="Wingdings"/>
              </a:rPr>
              <a:t>的</a:t>
            </a:r>
            <a:r>
              <a:rPr lang="zh-CN" altLang="en-US" sz="2000">
                <a:solidFill>
                  <a:srgbClr val="0000FF"/>
                </a:solidFill>
                <a:latin typeface="Consolas" pitchFamily="49" charset="0"/>
                <a:ea typeface="楷体" pitchFamily="49" charset="-122"/>
                <a:cs typeface="Consolas" pitchFamily="49" charset="0"/>
              </a:rPr>
              <a:t>角度比</a:t>
            </a:r>
            <a:r>
              <a:rPr lang="en-US" altLang="zh-CN" sz="2000" i="1">
                <a:solidFill>
                  <a:srgbClr val="0000FF"/>
                </a:solidFill>
                <a:latin typeface="Consolas" pitchFamily="49" charset="0"/>
                <a:ea typeface="楷体" pitchFamily="49" charset="-122"/>
                <a:cs typeface="Consolas" pitchFamily="49" charset="0"/>
              </a:rPr>
              <a:t>a</a:t>
            </a:r>
            <a:r>
              <a:rPr lang="en-US" altLang="zh-CN" sz="2000" baseline="-25000">
                <a:solidFill>
                  <a:srgbClr val="0000FF"/>
                </a:solidFill>
                <a:latin typeface="Consolas" pitchFamily="49" charset="0"/>
                <a:ea typeface="楷体" pitchFamily="49" charset="-122"/>
                <a:cs typeface="Consolas" pitchFamily="49" charset="0"/>
              </a:rPr>
              <a:t>3</a:t>
            </a:r>
            <a:r>
              <a:rPr lang="en-US" altLang="zh-CN" sz="2000" i="1">
                <a:solidFill>
                  <a:srgbClr val="0000FF"/>
                </a:solidFill>
                <a:latin typeface="Consolas" pitchFamily="49" charset="0"/>
                <a:ea typeface="楷体" pitchFamily="49" charset="-122"/>
                <a:cs typeface="Consolas" pitchFamily="49" charset="0"/>
              </a:rPr>
              <a:t>a</a:t>
            </a:r>
            <a:r>
              <a:rPr lang="en-US" altLang="zh-CN" sz="2000" baseline="-25000">
                <a:solidFill>
                  <a:srgbClr val="0000FF"/>
                </a:solidFill>
                <a:latin typeface="Consolas" pitchFamily="49" charset="0"/>
                <a:ea typeface="楷体" pitchFamily="49" charset="-122"/>
                <a:cs typeface="Consolas" pitchFamily="49" charset="0"/>
              </a:rPr>
              <a:t>9</a:t>
            </a:r>
            <a:r>
              <a:rPr lang="zh-CN" altLang="en-US" sz="2000">
                <a:solidFill>
                  <a:srgbClr val="0000FF"/>
                </a:solidFill>
                <a:latin typeface="Consolas" pitchFamily="49" charset="0"/>
                <a:ea typeface="楷体" pitchFamily="49" charset="-122"/>
                <a:cs typeface="Consolas" pitchFamily="49" charset="0"/>
              </a:rPr>
              <a:t>更大</a:t>
            </a:r>
            <a:endParaRPr lang="en-US" altLang="zh-CN" sz="2000">
              <a:solidFill>
                <a:srgbClr val="0000FF"/>
              </a:solidFill>
              <a:latin typeface="Consolas" pitchFamily="49" charset="0"/>
              <a:ea typeface="楷体" pitchFamily="49" charset="-122"/>
              <a:cs typeface="Consolas" pitchFamily="49" charset="0"/>
              <a:sym typeface="Wingdings"/>
            </a:endParaRPr>
          </a:p>
          <a:p>
            <a:pPr marL="457200" indent="-457200">
              <a:lnSpc>
                <a:spcPct val="150000"/>
              </a:lnSpc>
              <a:buBlip>
                <a:blip r:embed="rId3"/>
              </a:buBlip>
            </a:pPr>
            <a:r>
              <a:rPr lang="en-US" altLang="zh-CN" sz="2000">
                <a:solidFill>
                  <a:srgbClr val="0000FF"/>
                </a:solidFill>
                <a:latin typeface="Consolas" pitchFamily="49" charset="0"/>
                <a:ea typeface="楷体" pitchFamily="49" charset="-122"/>
                <a:cs typeface="Consolas" pitchFamily="49" charset="0"/>
                <a:sym typeface="Wingdings"/>
              </a:rPr>
              <a:t>Dir(</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9</a:t>
            </a:r>
            <a:r>
              <a:rPr lang="en-US" altLang="zh-CN"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FF00FF"/>
                </a:solidFill>
                <a:latin typeface="Consolas" pitchFamily="49" charset="0"/>
                <a:ea typeface="楷体" pitchFamily="49" charset="-122"/>
                <a:cs typeface="Consolas" pitchFamily="49" charset="0"/>
                <a:sym typeface="Wingdings"/>
              </a:rPr>
              <a:t>a</a:t>
            </a:r>
            <a:r>
              <a:rPr lang="en-US" altLang="zh-CN" sz="2000" baseline="-25000">
                <a:solidFill>
                  <a:srgbClr val="FF00FF"/>
                </a:solidFill>
                <a:latin typeface="Consolas" pitchFamily="49" charset="0"/>
                <a:ea typeface="楷体" pitchFamily="49" charset="-122"/>
                <a:cs typeface="Consolas" pitchFamily="49" charset="0"/>
                <a:sym typeface="Wingdings"/>
              </a:rPr>
              <a:t>8</a:t>
            </a:r>
            <a:r>
              <a:rPr lang="en-US" altLang="zh-CN" sz="2000">
                <a:solidFill>
                  <a:srgbClr val="0000FF"/>
                </a:solidFill>
                <a:latin typeface="Consolas" pitchFamily="49" charset="0"/>
                <a:ea typeface="楷体" pitchFamily="49" charset="-122"/>
                <a:cs typeface="Consolas" pitchFamily="49" charset="0"/>
                <a:sym typeface="Wingdings"/>
              </a:rPr>
              <a:t>,</a:t>
            </a:r>
            <a:r>
              <a:rPr lang="en-US" altLang="zh-CN" sz="2000" i="1">
                <a:solidFill>
                  <a:srgbClr val="0000FF"/>
                </a:solidFill>
                <a:latin typeface="Consolas" pitchFamily="49" charset="0"/>
                <a:ea typeface="楷体" pitchFamily="49" charset="-122"/>
                <a:cs typeface="Consolas" pitchFamily="49" charset="0"/>
                <a:sym typeface="Wingdings"/>
              </a:rPr>
              <a:t>a</a:t>
            </a:r>
            <a:r>
              <a:rPr lang="en-US" altLang="zh-CN" sz="2000" baseline="-25000">
                <a:solidFill>
                  <a:srgbClr val="0000FF"/>
                </a:solidFill>
                <a:latin typeface="Consolas" pitchFamily="49" charset="0"/>
                <a:ea typeface="楷体" pitchFamily="49" charset="-122"/>
                <a:cs typeface="Consolas" pitchFamily="49" charset="0"/>
                <a:sym typeface="Wingdings"/>
              </a:rPr>
              <a:t>3</a:t>
            </a:r>
            <a:r>
              <a:rPr lang="en-US" altLang="zh-CN" sz="2000">
                <a:solidFill>
                  <a:srgbClr val="0000FF"/>
                </a:solidFill>
                <a:latin typeface="Consolas" pitchFamily="49" charset="0"/>
                <a:ea typeface="楷体" pitchFamily="49" charset="-122"/>
                <a:cs typeface="Consolas" pitchFamily="49" charset="0"/>
                <a:sym typeface="Wingdings"/>
              </a:rPr>
              <a:t>)&gt;0 </a:t>
            </a:r>
            <a:r>
              <a:rPr lang="en-US" altLang="zh-CN" sz="2000">
                <a:solidFill>
                  <a:srgbClr val="C00000"/>
                </a:solidFill>
                <a:latin typeface="Consolas" pitchFamily="49" charset="0"/>
                <a:ea typeface="楷体" pitchFamily="49" charset="-122"/>
                <a:cs typeface="Consolas" pitchFamily="49" charset="0"/>
                <a:sym typeface="Wingdings"/>
              </a:rPr>
              <a:t></a:t>
            </a:r>
            <a:r>
              <a:rPr lang="en-US" altLang="zh-CN" sz="2000">
                <a:solidFill>
                  <a:srgbClr val="0000FF"/>
                </a:solidFill>
                <a:latin typeface="Consolas" pitchFamily="49" charset="0"/>
                <a:ea typeface="楷体" pitchFamily="49" charset="-122"/>
                <a:cs typeface="Consolas" pitchFamily="49" charset="0"/>
                <a:sym typeface="Wingdings"/>
              </a:rPr>
              <a:t> </a:t>
            </a:r>
            <a:r>
              <a:rPr lang="en-US" altLang="zh-CN" sz="2000" i="1">
                <a:solidFill>
                  <a:srgbClr val="FF00FF"/>
                </a:solidFill>
                <a:latin typeface="Consolas" pitchFamily="49" charset="0"/>
                <a:ea typeface="楷体" pitchFamily="49" charset="-122"/>
                <a:cs typeface="Consolas" pitchFamily="49" charset="0"/>
                <a:sym typeface="Wingdings"/>
              </a:rPr>
              <a:t>a</a:t>
            </a:r>
            <a:r>
              <a:rPr lang="en-US" altLang="zh-CN" sz="2000" baseline="-25000">
                <a:solidFill>
                  <a:srgbClr val="FF00FF"/>
                </a:solidFill>
                <a:latin typeface="Consolas" pitchFamily="49" charset="0"/>
                <a:ea typeface="楷体" pitchFamily="49" charset="-122"/>
                <a:cs typeface="Consolas" pitchFamily="49" charset="0"/>
                <a:sym typeface="Wingdings"/>
              </a:rPr>
              <a:t>8</a:t>
            </a:r>
            <a:endParaRPr lang="zh-CN" altLang="en-US" sz="2000" baseline="-25000">
              <a:solidFill>
                <a:srgbClr val="FF00FF"/>
              </a:solidFill>
              <a:latin typeface="Consolas" pitchFamily="49" charset="0"/>
              <a:ea typeface="楷体" pitchFamily="49" charset="-122"/>
              <a:cs typeface="Consolas" pitchFamily="49" charset="0"/>
            </a:endParaRPr>
          </a:p>
        </p:txBody>
      </p:sp>
      <p:grpSp>
        <p:nvGrpSpPr>
          <p:cNvPr id="3" name="组合 61"/>
          <p:cNvGrpSpPr/>
          <p:nvPr/>
        </p:nvGrpSpPr>
        <p:grpSpPr>
          <a:xfrm>
            <a:off x="1281198" y="2747395"/>
            <a:ext cx="2335070" cy="895919"/>
            <a:chOff x="1281198" y="2747395"/>
            <a:chExt cx="2335070" cy="895919"/>
          </a:xfrm>
        </p:grpSpPr>
        <p:cxnSp>
          <p:nvCxnSpPr>
            <p:cNvPr id="57" name="直接连接符 56"/>
            <p:cNvCxnSpPr>
              <a:stCxn id="32" idx="5"/>
              <a:endCxn id="42" idx="2"/>
            </p:cNvCxnSpPr>
            <p:nvPr/>
          </p:nvCxnSpPr>
          <p:spPr>
            <a:xfrm rot="16200000" flipH="1">
              <a:off x="1256593" y="3095964"/>
              <a:ext cx="553930" cy="504720"/>
            </a:xfrm>
            <a:prstGeom prst="line">
              <a:avLst/>
            </a:prstGeom>
            <a:ln w="28575">
              <a:solidFill>
                <a:srgbClr val="FF00FF"/>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32" idx="6"/>
              <a:endCxn id="36" idx="2"/>
            </p:cNvCxnSpPr>
            <p:nvPr/>
          </p:nvCxnSpPr>
          <p:spPr>
            <a:xfrm flipV="1">
              <a:off x="1297014" y="2747395"/>
              <a:ext cx="2319254" cy="273052"/>
            </a:xfrm>
            <a:prstGeom prst="line">
              <a:avLst/>
            </a:prstGeom>
            <a:ln w="28575">
              <a:solidFill>
                <a:srgbClr val="FF00FF"/>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p:cNvCxnSpPr>
              <a:endCxn id="36" idx="2"/>
            </p:cNvCxnSpPr>
            <p:nvPr/>
          </p:nvCxnSpPr>
          <p:spPr>
            <a:xfrm flipV="1">
              <a:off x="1857356" y="2747395"/>
              <a:ext cx="1758912" cy="895919"/>
            </a:xfrm>
            <a:prstGeom prst="line">
              <a:avLst/>
            </a:prstGeom>
            <a:ln w="28575">
              <a:solidFill>
                <a:srgbClr val="FF00FF"/>
              </a:solidFill>
              <a:prstDash val="dash"/>
            </a:ln>
          </p:spPr>
          <p:style>
            <a:lnRef idx="1">
              <a:schemeClr val="accent1"/>
            </a:lnRef>
            <a:fillRef idx="0">
              <a:schemeClr val="accent1"/>
            </a:fillRef>
            <a:effectRef idx="0">
              <a:schemeClr val="accent1"/>
            </a:effectRef>
            <a:fontRef idx="minor">
              <a:schemeClr val="tx1"/>
            </a:fontRef>
          </p:style>
        </p:cxnSp>
      </p:grpSp>
      <p:grpSp>
        <p:nvGrpSpPr>
          <p:cNvPr id="4" name="组合 70"/>
          <p:cNvGrpSpPr/>
          <p:nvPr/>
        </p:nvGrpSpPr>
        <p:grpSpPr>
          <a:xfrm>
            <a:off x="1243014" y="3058295"/>
            <a:ext cx="596904" cy="1774626"/>
            <a:chOff x="1243014" y="3058295"/>
            <a:chExt cx="596904" cy="1774626"/>
          </a:xfrm>
        </p:grpSpPr>
        <p:cxnSp>
          <p:nvCxnSpPr>
            <p:cNvPr id="64" name="直接连接符 63"/>
            <p:cNvCxnSpPr>
              <a:stCxn id="32" idx="4"/>
              <a:endCxn id="42" idx="3"/>
            </p:cNvCxnSpPr>
            <p:nvPr/>
          </p:nvCxnSpPr>
          <p:spPr>
            <a:xfrm rot="16200000" flipH="1">
              <a:off x="1230497" y="3104964"/>
              <a:ext cx="583754" cy="558720"/>
            </a:xfrm>
            <a:prstGeom prst="line">
              <a:avLst/>
            </a:prstGeom>
            <a:ln w="28575">
              <a:solidFill>
                <a:srgbClr val="FF00FF"/>
              </a:solidFill>
              <a:prstDash val="dash"/>
            </a:ln>
          </p:spPr>
          <p:style>
            <a:lnRef idx="1">
              <a:schemeClr val="accent1"/>
            </a:lnRef>
            <a:fillRef idx="0">
              <a:schemeClr val="accent1"/>
            </a:fillRef>
            <a:effectRef idx="0">
              <a:schemeClr val="accent1"/>
            </a:effectRef>
            <a:fontRef idx="minor">
              <a:schemeClr val="tx1"/>
            </a:fontRef>
          </p:style>
        </p:cxnSp>
        <p:cxnSp>
          <p:nvCxnSpPr>
            <p:cNvPr id="66" name="直接连接符 65"/>
            <p:cNvCxnSpPr>
              <a:stCxn id="42" idx="4"/>
              <a:endCxn id="30" idx="0"/>
            </p:cNvCxnSpPr>
            <p:nvPr/>
          </p:nvCxnSpPr>
          <p:spPr>
            <a:xfrm rot="5400000">
              <a:off x="1306490" y="4227493"/>
              <a:ext cx="1063632" cy="3224"/>
            </a:xfrm>
            <a:prstGeom prst="line">
              <a:avLst/>
            </a:prstGeom>
            <a:ln w="28575">
              <a:solidFill>
                <a:srgbClr val="FF00FF"/>
              </a:solidFill>
              <a:prstDash val="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a:endCxn id="30" idx="2"/>
            </p:cNvCxnSpPr>
            <p:nvPr/>
          </p:nvCxnSpPr>
          <p:spPr>
            <a:xfrm rot="16200000" flipH="1">
              <a:off x="626043" y="3676270"/>
              <a:ext cx="1774626" cy="538675"/>
            </a:xfrm>
            <a:prstGeom prst="line">
              <a:avLst/>
            </a:prstGeom>
            <a:ln w="28575">
              <a:solidFill>
                <a:srgbClr val="FF00FF"/>
              </a:solidFill>
              <a:prstDash val="dash"/>
            </a:ln>
          </p:spPr>
          <p:style>
            <a:lnRef idx="1">
              <a:schemeClr val="accent1"/>
            </a:lnRef>
            <a:fillRef idx="0">
              <a:schemeClr val="accent1"/>
            </a:fillRef>
            <a:effectRef idx="0">
              <a:schemeClr val="accent1"/>
            </a:effectRef>
            <a:fontRef idx="minor">
              <a:schemeClr val="tx1"/>
            </a:fontRef>
          </p:style>
        </p:cxnSp>
      </p:grpSp>
      <p:sp>
        <p:nvSpPr>
          <p:cNvPr id="58" name="TextBox 57"/>
          <p:cNvSpPr txBox="1"/>
          <p:nvPr/>
        </p:nvSpPr>
        <p:spPr>
          <a:xfrm>
            <a:off x="4786314" y="5000636"/>
            <a:ext cx="3500462" cy="400110"/>
          </a:xfrm>
          <a:prstGeom prst="rect">
            <a:avLst/>
          </a:prstGeom>
          <a:noFill/>
        </p:spPr>
        <p:txBody>
          <a:bodyPr wrap="square" rtlCol="0">
            <a:spAutoFit/>
          </a:bodyPr>
          <a:lstStyle/>
          <a:p>
            <a:r>
              <a:rPr lang="en-US" altLang="zh-CN" sz="2000">
                <a:solidFill>
                  <a:srgbClr val="0000FF"/>
                </a:solidFill>
                <a:latin typeface="Consolas" pitchFamily="49" charset="0"/>
                <a:ea typeface="仿宋" pitchFamily="49" charset="-122"/>
              </a:rPr>
              <a:t>Dir</a:t>
            </a:r>
            <a:r>
              <a:rPr lang="zh-CN" altLang="en-US" sz="2000">
                <a:solidFill>
                  <a:srgbClr val="0000FF"/>
                </a:solidFill>
                <a:latin typeface="Consolas" pitchFamily="49" charset="0"/>
                <a:ea typeface="仿宋" pitchFamily="49" charset="-122"/>
              </a:rPr>
              <a:t>为</a:t>
            </a:r>
            <a:r>
              <a:rPr lang="en-US" altLang="zh-CN" sz="2000">
                <a:solidFill>
                  <a:srgbClr val="0000FF"/>
                </a:solidFill>
                <a:latin typeface="Consolas" pitchFamily="49" charset="0"/>
                <a:ea typeface="仿宋" pitchFamily="49" charset="-122"/>
              </a:rPr>
              <a:t>Direction</a:t>
            </a:r>
            <a:r>
              <a:rPr lang="zh-CN" altLang="en-US" sz="2000">
                <a:solidFill>
                  <a:srgbClr val="0000FF"/>
                </a:solidFill>
                <a:latin typeface="Consolas" pitchFamily="49" charset="0"/>
                <a:ea typeface="仿宋" pitchFamily="49" charset="-122"/>
              </a:rPr>
              <a:t>的简写</a:t>
            </a:r>
          </a:p>
        </p:txBody>
      </p:sp>
      <p:sp>
        <p:nvSpPr>
          <p:cNvPr id="60" name="灯片编号占位符 59"/>
          <p:cNvSpPr>
            <a:spLocks noGrp="1"/>
          </p:cNvSpPr>
          <p:nvPr>
            <p:ph type="sldNum" sz="quarter" idx="12"/>
          </p:nvPr>
        </p:nvSpPr>
        <p:spPr/>
        <p:txBody>
          <a:bodyPr/>
          <a:lstStyle/>
          <a:p>
            <a:pPr>
              <a:defRPr/>
            </a:pPr>
            <a:fld id="{51116183-1013-4E64-BBE8-A5C1D5D4F838}" type="slidenum">
              <a:rPr lang="en-US" altLang="zh-CN" smtClean="0"/>
              <a:pPr>
                <a:defRPr/>
              </a:pPr>
              <a:t>91</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
                                            <p:txEl>
                                              <p:pRg st="4" end="4"/>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nodeType="clickEffect">
                                  <p:stCondLst>
                                    <p:cond delay="0"/>
                                  </p:stCondLst>
                                  <p:childTnLst>
                                    <p:animEffect transition="out" filter="wipe(down)">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
                                            <p:txEl>
                                              <p:pRg st="6" end="6"/>
                                            </p:txEl>
                                          </p:spTgt>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xit" presetSubtype="4" fill="hold" nodeType="clickEffect">
                                  <p:stCondLst>
                                    <p:cond delay="0"/>
                                  </p:stCondLst>
                                  <p:childTnLst>
                                    <p:animEffect transition="out" filter="wipe(down)">
                                      <p:cBhvr>
                                        <p:cTn id="37" dur="500"/>
                                        <p:tgtEl>
                                          <p:spTgt spid="4"/>
                                        </p:tgtEl>
                                      </p:cBhvr>
                                    </p:animEffect>
                                    <p:set>
                                      <p:cBhvr>
                                        <p:cTn id="38" dur="1" fill="hold">
                                          <p:stCondLst>
                                            <p:cond delay="499"/>
                                          </p:stCondLst>
                                        </p:cTn>
                                        <p:tgtEl>
                                          <p:spTgt spid="4"/>
                                        </p:tgtEl>
                                        <p:attrNameLst>
                                          <p:attrName>style.visibility</p:attrName>
                                        </p:attrNameLst>
                                      </p:cBhvr>
                                      <p:to>
                                        <p:strVal val="hidden"/>
                                      </p:to>
                                    </p:set>
                                  </p:childTnLst>
                                </p:cTn>
                              </p:par>
                            </p:childTnLst>
                          </p:cTn>
                        </p:par>
                        <p:par>
                          <p:cTn id="39" fill="hold">
                            <p:stCondLst>
                              <p:cond delay="500"/>
                            </p:stCondLst>
                            <p:childTnLst>
                              <p:par>
                                <p:cTn id="40" presetID="18" presetClass="entr" presetSubtype="12" fill="hold" nodeType="after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strips(downLeft)">
                                      <p:cBhvr>
                                        <p:cTn id="4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ext Box 4"/>
          <p:cNvSpPr txBox="1">
            <a:spLocks noChangeArrowheads="1"/>
          </p:cNvSpPr>
          <p:nvPr/>
        </p:nvSpPr>
        <p:spPr bwMode="auto">
          <a:xfrm>
            <a:off x="214282" y="1000108"/>
            <a:ext cx="8567739" cy="483960"/>
          </a:xfrm>
          <a:prstGeom prst="rect">
            <a:avLst/>
          </a:prstGeom>
          <a:ln>
            <a:solidFill>
              <a:schemeClr val="accent6">
                <a:lumMod val="60000"/>
                <a:lumOff val="40000"/>
              </a:schemeClr>
            </a:solidFill>
            <a:headEnd/>
            <a:tailEnd/>
          </a:ln>
        </p:spPr>
        <p:style>
          <a:lnRef idx="2">
            <a:schemeClr val="accent2"/>
          </a:lnRef>
          <a:fillRef idx="1">
            <a:schemeClr val="lt1"/>
          </a:fillRef>
          <a:effectRef idx="0">
            <a:schemeClr val="accent2"/>
          </a:effectRef>
          <a:fontRef idx="minor">
            <a:schemeClr val="dk1"/>
          </a:fontRef>
        </p:style>
        <p:txBody>
          <a:bodyPr wrap="square" tIns="72000" bIns="72000">
            <a:spAutoFit/>
          </a:bodyPr>
          <a:lstStyle/>
          <a:p>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）当前点为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，从</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出发在其余所有点中找到角度最小的点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p>
        </p:txBody>
      </p:sp>
      <p:graphicFrame>
        <p:nvGraphicFramePr>
          <p:cNvPr id="6" name="表格 5"/>
          <p:cNvGraphicFramePr>
            <a:graphicFrameLocks noGrp="1"/>
          </p:cNvGraphicFramePr>
          <p:nvPr/>
        </p:nvGraphicFramePr>
        <p:xfrm>
          <a:off x="2571736" y="2092315"/>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6"/>
          <p:cNvGrpSpPr/>
          <p:nvPr/>
        </p:nvGrpSpPr>
        <p:grpSpPr>
          <a:xfrm>
            <a:off x="2143108" y="2000240"/>
            <a:ext cx="3643338" cy="3733982"/>
            <a:chOff x="3357554" y="1408099"/>
            <a:chExt cx="3643338" cy="3733982"/>
          </a:xfrm>
        </p:grpSpPr>
        <p:sp>
          <p:nvSpPr>
            <p:cNvPr id="8" name="TextBox 7"/>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9" name="TextBox 28"/>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30" name="椭圆 29"/>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1" name="TextBox 30"/>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2" name="椭圆 31"/>
            <p:cNvSpPr/>
            <p:nvPr/>
          </p:nvSpPr>
          <p:spPr>
            <a:xfrm>
              <a:off x="4046534" y="2927810"/>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3" name="TextBox 32"/>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4" name="椭圆 33"/>
            <p:cNvSpPr/>
            <p:nvPr/>
          </p:nvSpPr>
          <p:spPr>
            <a:xfrm>
              <a:off x="6162636" y="445453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5" name="TextBox 34"/>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6" name="椭圆 35"/>
            <p:cNvSpPr/>
            <p:nvPr/>
          </p:nvSpPr>
          <p:spPr>
            <a:xfrm>
              <a:off x="6473788" y="265475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TextBox 36"/>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8" name="椭圆 37"/>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9" name="TextBox 38"/>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40" name="椭圆 39"/>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1" name="TextBox 40"/>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2" name="椭圆 41"/>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3" name="TextBox 42"/>
            <p:cNvSpPr txBox="1"/>
            <p:nvPr/>
          </p:nvSpPr>
          <p:spPr>
            <a:xfrm>
              <a:off x="4764138" y="331833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4" name="椭圆 43"/>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5" name="TextBox 44"/>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6" name="椭圆 45"/>
            <p:cNvSpPr/>
            <p:nvPr/>
          </p:nvSpPr>
          <p:spPr>
            <a:xfrm>
              <a:off x="5272042" y="352107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7" name="TextBox 46"/>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8" name="椭圆 47"/>
            <p:cNvSpPr/>
            <p:nvPr/>
          </p:nvSpPr>
          <p:spPr>
            <a:xfrm>
              <a:off x="5553032" y="385762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9" name="TextBox 48"/>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cxnSp>
        <p:nvCxnSpPr>
          <p:cNvPr id="51" name="直接连接符 50"/>
          <p:cNvCxnSpPr/>
          <p:nvPr/>
        </p:nvCxnSpPr>
        <p:spPr>
          <a:xfrm rot="16200000" flipH="1">
            <a:off x="2319055" y="4230984"/>
            <a:ext cx="1689562" cy="5554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5400000" flipH="1" flipV="1">
            <a:off x="4115651" y="4520974"/>
            <a:ext cx="234840" cy="1430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 name="灯片编号占位符 49"/>
          <p:cNvSpPr>
            <a:spLocks noGrp="1"/>
          </p:cNvSpPr>
          <p:nvPr>
            <p:ph type="sldNum" sz="quarter" idx="12"/>
          </p:nvPr>
        </p:nvSpPr>
        <p:spPr/>
        <p:txBody>
          <a:bodyPr/>
          <a:lstStyle/>
          <a:p>
            <a:pPr>
              <a:defRPr/>
            </a:pPr>
            <a:fld id="{51116183-1013-4E64-BBE8-A5C1D5D4F838}" type="slidenum">
              <a:rPr lang="en-US" altLang="zh-CN" smtClean="0"/>
              <a:pPr>
                <a:defRPr/>
              </a:pPr>
              <a:t>92</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strips(upRight)">
                                      <p:cBhvr>
                                        <p:cTn id="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ext Box 4"/>
          <p:cNvSpPr txBox="1">
            <a:spLocks noChangeArrowheads="1"/>
          </p:cNvSpPr>
          <p:nvPr/>
        </p:nvSpPr>
        <p:spPr bwMode="auto">
          <a:xfrm>
            <a:off x="285720" y="1142984"/>
            <a:ext cx="8572560" cy="483960"/>
          </a:xfrm>
          <a:prstGeom prst="rect">
            <a:avLst/>
          </a:prstGeom>
          <a:ln>
            <a:solidFill>
              <a:schemeClr val="accent6">
                <a:lumMod val="60000"/>
                <a:lumOff val="40000"/>
              </a:schemeClr>
            </a:solidFill>
            <a:headEnd/>
            <a:tailEnd/>
          </a:ln>
        </p:spPr>
        <p:style>
          <a:lnRef idx="2">
            <a:schemeClr val="accent2"/>
          </a:lnRef>
          <a:fillRef idx="1">
            <a:schemeClr val="lt1"/>
          </a:fillRef>
          <a:effectRef idx="0">
            <a:schemeClr val="accent2"/>
          </a:effectRef>
          <a:fontRef idx="minor">
            <a:schemeClr val="dk1"/>
          </a:fontRef>
        </p:style>
        <p:txBody>
          <a:bodyPr wrap="square" tIns="72000" bIns="72000">
            <a:spAutoFit/>
          </a:bodyPr>
          <a:lstStyle/>
          <a:p>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）当前点为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，从</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出发在其余所有点中找到角度最小的点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p>
        </p:txBody>
      </p:sp>
      <p:graphicFrame>
        <p:nvGraphicFramePr>
          <p:cNvPr id="6" name="表格 5"/>
          <p:cNvGraphicFramePr>
            <a:graphicFrameLocks noGrp="1"/>
          </p:cNvGraphicFramePr>
          <p:nvPr/>
        </p:nvGraphicFramePr>
        <p:xfrm>
          <a:off x="2571736" y="2092315"/>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6"/>
          <p:cNvGrpSpPr/>
          <p:nvPr/>
        </p:nvGrpSpPr>
        <p:grpSpPr>
          <a:xfrm>
            <a:off x="2143108" y="2000240"/>
            <a:ext cx="3643338" cy="3733982"/>
            <a:chOff x="3357554" y="1408099"/>
            <a:chExt cx="3643338" cy="3733982"/>
          </a:xfrm>
        </p:grpSpPr>
        <p:sp>
          <p:nvSpPr>
            <p:cNvPr id="8" name="TextBox 7"/>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9" name="TextBox 28"/>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30" name="椭圆 29"/>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1" name="TextBox 30"/>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2" name="椭圆 31"/>
            <p:cNvSpPr/>
            <p:nvPr/>
          </p:nvSpPr>
          <p:spPr>
            <a:xfrm>
              <a:off x="4046534" y="2927810"/>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3" name="TextBox 32"/>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4" name="椭圆 33"/>
            <p:cNvSpPr/>
            <p:nvPr/>
          </p:nvSpPr>
          <p:spPr>
            <a:xfrm>
              <a:off x="6162636" y="445453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5" name="TextBox 34"/>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6" name="椭圆 35"/>
            <p:cNvSpPr/>
            <p:nvPr/>
          </p:nvSpPr>
          <p:spPr>
            <a:xfrm>
              <a:off x="6473788" y="265475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TextBox 36"/>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8" name="椭圆 37"/>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9" name="TextBox 38"/>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40" name="椭圆 39"/>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1" name="TextBox 40"/>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2" name="椭圆 41"/>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3" name="TextBox 42"/>
            <p:cNvSpPr txBox="1"/>
            <p:nvPr/>
          </p:nvSpPr>
          <p:spPr>
            <a:xfrm>
              <a:off x="4764138" y="331833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4" name="椭圆 43"/>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5" name="TextBox 44"/>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6" name="椭圆 45"/>
            <p:cNvSpPr/>
            <p:nvPr/>
          </p:nvSpPr>
          <p:spPr>
            <a:xfrm>
              <a:off x="5272042" y="352107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7" name="TextBox 46"/>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8" name="椭圆 47"/>
            <p:cNvSpPr/>
            <p:nvPr/>
          </p:nvSpPr>
          <p:spPr>
            <a:xfrm>
              <a:off x="5553032" y="385762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9" name="TextBox 48"/>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cxnSp>
        <p:nvCxnSpPr>
          <p:cNvPr id="51" name="直接连接符 50"/>
          <p:cNvCxnSpPr/>
          <p:nvPr/>
        </p:nvCxnSpPr>
        <p:spPr>
          <a:xfrm rot="16200000" flipH="1">
            <a:off x="2319055" y="4230984"/>
            <a:ext cx="1689562" cy="5554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5400000" flipH="1" flipV="1">
            <a:off x="4115651" y="4520974"/>
            <a:ext cx="234840" cy="1430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36" idx="4"/>
          </p:cNvCxnSpPr>
          <p:nvPr/>
        </p:nvCxnSpPr>
        <p:spPr>
          <a:xfrm rot="5400000">
            <a:off x="4329879" y="4063210"/>
            <a:ext cx="1655774" cy="31115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灯片编号占位符 54"/>
          <p:cNvSpPr>
            <a:spLocks noGrp="1"/>
          </p:cNvSpPr>
          <p:nvPr>
            <p:ph type="sldNum" sz="quarter" idx="12"/>
          </p:nvPr>
        </p:nvSpPr>
        <p:spPr/>
        <p:txBody>
          <a:bodyPr/>
          <a:lstStyle/>
          <a:p>
            <a:pPr>
              <a:defRPr/>
            </a:pPr>
            <a:fld id="{51116183-1013-4E64-BBE8-A5C1D5D4F838}" type="slidenum">
              <a:rPr lang="en-US" altLang="zh-CN" smtClean="0"/>
              <a:pPr>
                <a:defRPr/>
              </a:pPr>
              <a:t>93</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strips(upRight)">
                                      <p:cBhvr>
                                        <p:cTn id="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ext Box 4"/>
          <p:cNvSpPr txBox="1">
            <a:spLocks noChangeArrowheads="1"/>
          </p:cNvSpPr>
          <p:nvPr/>
        </p:nvSpPr>
        <p:spPr bwMode="auto">
          <a:xfrm>
            <a:off x="428596" y="1142984"/>
            <a:ext cx="8353425" cy="483960"/>
          </a:xfrm>
          <a:prstGeom prst="rect">
            <a:avLst/>
          </a:prstGeom>
          <a:ln>
            <a:solidFill>
              <a:schemeClr val="accent6">
                <a:lumMod val="60000"/>
                <a:lumOff val="40000"/>
              </a:schemeClr>
            </a:solidFill>
            <a:headEnd/>
            <a:tailEnd/>
          </a:ln>
        </p:spPr>
        <p:style>
          <a:lnRef idx="2">
            <a:schemeClr val="accent2"/>
          </a:lnRef>
          <a:fillRef idx="1">
            <a:schemeClr val="lt1"/>
          </a:fillRef>
          <a:effectRef idx="0">
            <a:schemeClr val="accent2"/>
          </a:effectRef>
          <a:fontRef idx="minor">
            <a:schemeClr val="dk1"/>
          </a:fontRef>
        </p:style>
        <p:txBody>
          <a:bodyPr tIns="72000" bIns="72000">
            <a:spAutoFit/>
          </a:bodyPr>
          <a:lstStyle/>
          <a:p>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）当前点为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，从</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出发在其余所有点中找到角度最小的点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p>
        </p:txBody>
      </p:sp>
      <p:graphicFrame>
        <p:nvGraphicFramePr>
          <p:cNvPr id="6" name="表格 5"/>
          <p:cNvGraphicFramePr>
            <a:graphicFrameLocks noGrp="1"/>
          </p:cNvGraphicFramePr>
          <p:nvPr/>
        </p:nvGraphicFramePr>
        <p:xfrm>
          <a:off x="2571736" y="2073109"/>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6"/>
          <p:cNvGrpSpPr/>
          <p:nvPr/>
        </p:nvGrpSpPr>
        <p:grpSpPr>
          <a:xfrm>
            <a:off x="2143108" y="1981034"/>
            <a:ext cx="3643338" cy="3733982"/>
            <a:chOff x="3357554" y="1408099"/>
            <a:chExt cx="3643338" cy="3733982"/>
          </a:xfrm>
        </p:grpSpPr>
        <p:sp>
          <p:nvSpPr>
            <p:cNvPr id="8" name="TextBox 7"/>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9" name="TextBox 28"/>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30" name="椭圆 29"/>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1" name="TextBox 30"/>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2" name="椭圆 31"/>
            <p:cNvSpPr/>
            <p:nvPr/>
          </p:nvSpPr>
          <p:spPr>
            <a:xfrm>
              <a:off x="4046534" y="2927810"/>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3" name="TextBox 32"/>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4" name="椭圆 33"/>
            <p:cNvSpPr/>
            <p:nvPr/>
          </p:nvSpPr>
          <p:spPr>
            <a:xfrm>
              <a:off x="6162636" y="445453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5" name="TextBox 34"/>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6" name="椭圆 35"/>
            <p:cNvSpPr/>
            <p:nvPr/>
          </p:nvSpPr>
          <p:spPr>
            <a:xfrm>
              <a:off x="6473788" y="265475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TextBox 36"/>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8" name="椭圆 37"/>
            <p:cNvSpPr/>
            <p:nvPr/>
          </p:nvSpPr>
          <p:spPr>
            <a:xfrm>
              <a:off x="4948190" y="172718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9" name="TextBox 38"/>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40" name="椭圆 39"/>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1" name="TextBox 40"/>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2" name="椭圆 41"/>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3" name="TextBox 42"/>
            <p:cNvSpPr txBox="1"/>
            <p:nvPr/>
          </p:nvSpPr>
          <p:spPr>
            <a:xfrm>
              <a:off x="4764138" y="331833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4" name="椭圆 43"/>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5" name="TextBox 44"/>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6" name="椭圆 45"/>
            <p:cNvSpPr/>
            <p:nvPr/>
          </p:nvSpPr>
          <p:spPr>
            <a:xfrm>
              <a:off x="5272042" y="352107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7" name="TextBox 46"/>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8" name="椭圆 47"/>
            <p:cNvSpPr/>
            <p:nvPr/>
          </p:nvSpPr>
          <p:spPr>
            <a:xfrm>
              <a:off x="5553032" y="385762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9" name="TextBox 48"/>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cxnSp>
        <p:nvCxnSpPr>
          <p:cNvPr id="51" name="直接连接符 50"/>
          <p:cNvCxnSpPr/>
          <p:nvPr/>
        </p:nvCxnSpPr>
        <p:spPr>
          <a:xfrm rot="16200000" flipH="1">
            <a:off x="2319055" y="4211778"/>
            <a:ext cx="1689562" cy="5554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5400000" flipH="1" flipV="1">
            <a:off x="4115651" y="4501768"/>
            <a:ext cx="234840" cy="1430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rot="5400000">
            <a:off x="4300243" y="4052552"/>
            <a:ext cx="1676862" cy="27296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3841744" y="2372123"/>
            <a:ext cx="1433414" cy="876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灯片编号占位符 54"/>
          <p:cNvSpPr>
            <a:spLocks noGrp="1"/>
          </p:cNvSpPr>
          <p:nvPr>
            <p:ph type="sldNum" sz="quarter" idx="12"/>
          </p:nvPr>
        </p:nvSpPr>
        <p:spPr/>
        <p:txBody>
          <a:bodyPr/>
          <a:lstStyle/>
          <a:p>
            <a:pPr>
              <a:defRPr/>
            </a:pPr>
            <a:fld id="{51116183-1013-4E64-BBE8-A5C1D5D4F838}" type="slidenum">
              <a:rPr lang="en-US" altLang="zh-CN" smtClean="0"/>
              <a:pPr>
                <a:defRPr/>
              </a:pPr>
              <a:t>94</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strips(downLeft)">
                                      <p:cBhvr>
                                        <p:cTn id="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ext Box 4"/>
          <p:cNvSpPr txBox="1">
            <a:spLocks noChangeArrowheads="1"/>
          </p:cNvSpPr>
          <p:nvPr/>
        </p:nvSpPr>
        <p:spPr bwMode="auto">
          <a:xfrm>
            <a:off x="428596" y="428604"/>
            <a:ext cx="8429684" cy="483960"/>
          </a:xfrm>
          <a:prstGeom prst="rect">
            <a:avLst/>
          </a:prstGeom>
          <a:ln>
            <a:solidFill>
              <a:schemeClr val="accent6">
                <a:lumMod val="60000"/>
                <a:lumOff val="40000"/>
              </a:schemeClr>
            </a:solidFill>
            <a:headEnd/>
            <a:tailEnd/>
          </a:ln>
        </p:spPr>
        <p:style>
          <a:lnRef idx="2">
            <a:schemeClr val="accent2"/>
          </a:lnRef>
          <a:fillRef idx="1">
            <a:schemeClr val="lt1"/>
          </a:fillRef>
          <a:effectRef idx="0">
            <a:schemeClr val="accent2"/>
          </a:effectRef>
          <a:fontRef idx="minor">
            <a:schemeClr val="dk1"/>
          </a:fontRef>
        </p:style>
        <p:txBody>
          <a:bodyPr wrap="square" tIns="72000" bIns="72000">
            <a:spAutoFit/>
          </a:bodyPr>
          <a:lstStyle/>
          <a:p>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）当前点为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，从</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出发在其余所有点中找到角度最小的点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a:t>
            </a:r>
          </a:p>
        </p:txBody>
      </p:sp>
      <p:graphicFrame>
        <p:nvGraphicFramePr>
          <p:cNvPr id="6" name="表格 5"/>
          <p:cNvGraphicFramePr>
            <a:graphicFrameLocks noGrp="1"/>
          </p:cNvGraphicFramePr>
          <p:nvPr/>
        </p:nvGraphicFramePr>
        <p:xfrm>
          <a:off x="2571736" y="1449373"/>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6"/>
          <p:cNvGrpSpPr/>
          <p:nvPr/>
        </p:nvGrpSpPr>
        <p:grpSpPr>
          <a:xfrm>
            <a:off x="2143108" y="1357298"/>
            <a:ext cx="3643338" cy="3733982"/>
            <a:chOff x="3357554" y="1408099"/>
            <a:chExt cx="3643338" cy="3733982"/>
          </a:xfrm>
        </p:grpSpPr>
        <p:sp>
          <p:nvSpPr>
            <p:cNvPr id="8" name="TextBox 7"/>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9" name="TextBox 28"/>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30" name="椭圆 29"/>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1" name="TextBox 30"/>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2" name="椭圆 31"/>
            <p:cNvSpPr/>
            <p:nvPr/>
          </p:nvSpPr>
          <p:spPr>
            <a:xfrm>
              <a:off x="4046534" y="2927810"/>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3" name="TextBox 32"/>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4" name="椭圆 33"/>
            <p:cNvSpPr/>
            <p:nvPr/>
          </p:nvSpPr>
          <p:spPr>
            <a:xfrm>
              <a:off x="6162636" y="445453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5" name="TextBox 34"/>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6" name="椭圆 35"/>
            <p:cNvSpPr/>
            <p:nvPr/>
          </p:nvSpPr>
          <p:spPr>
            <a:xfrm>
              <a:off x="6473788" y="265475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TextBox 36"/>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8" name="椭圆 37"/>
            <p:cNvSpPr/>
            <p:nvPr/>
          </p:nvSpPr>
          <p:spPr>
            <a:xfrm>
              <a:off x="4948190" y="172718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9" name="TextBox 38"/>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40" name="椭圆 39"/>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1" name="TextBox 40"/>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2" name="椭圆 41"/>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3" name="TextBox 42"/>
            <p:cNvSpPr txBox="1"/>
            <p:nvPr/>
          </p:nvSpPr>
          <p:spPr>
            <a:xfrm>
              <a:off x="4764138" y="331833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4" name="椭圆 43"/>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5" name="TextBox 44"/>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6" name="椭圆 45"/>
            <p:cNvSpPr/>
            <p:nvPr/>
          </p:nvSpPr>
          <p:spPr>
            <a:xfrm>
              <a:off x="5272042" y="352107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7" name="TextBox 46"/>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8" name="椭圆 47"/>
            <p:cNvSpPr/>
            <p:nvPr/>
          </p:nvSpPr>
          <p:spPr>
            <a:xfrm>
              <a:off x="5553032" y="385762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9" name="TextBox 48"/>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cxnSp>
        <p:nvCxnSpPr>
          <p:cNvPr id="51" name="直接连接符 50"/>
          <p:cNvCxnSpPr/>
          <p:nvPr/>
        </p:nvCxnSpPr>
        <p:spPr>
          <a:xfrm rot="16200000" flipH="1">
            <a:off x="2319055" y="3588042"/>
            <a:ext cx="1689562" cy="5554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5400000" flipH="1" flipV="1">
            <a:off x="4115651" y="3878032"/>
            <a:ext cx="234840" cy="143023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rot="5400000">
            <a:off x="4300243" y="3428816"/>
            <a:ext cx="1676862" cy="27296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3841744" y="1748387"/>
            <a:ext cx="1433414" cy="876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38" idx="3"/>
            <a:endCxn id="32" idx="7"/>
          </p:cNvCxnSpPr>
          <p:nvPr/>
        </p:nvCxnSpPr>
        <p:spPr>
          <a:xfrm rot="5400000">
            <a:off x="2787517" y="1936054"/>
            <a:ext cx="1098798" cy="8252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8" name="Text Box 4"/>
          <p:cNvSpPr txBox="1">
            <a:spLocks noChangeArrowheads="1"/>
          </p:cNvSpPr>
          <p:nvPr/>
        </p:nvSpPr>
        <p:spPr bwMode="auto">
          <a:xfrm>
            <a:off x="395288" y="5470769"/>
            <a:ext cx="8353425" cy="886250"/>
          </a:xfrm>
          <a:prstGeom prst="rect">
            <a:avLst/>
          </a:prstGeom>
          <a:ln>
            <a:solidFill>
              <a:schemeClr val="accent6">
                <a:lumMod val="60000"/>
                <a:lumOff val="40000"/>
              </a:schemeClr>
            </a:solidFill>
            <a:headEnd/>
            <a:tailEnd/>
          </a:ln>
        </p:spPr>
        <p:style>
          <a:lnRef idx="2">
            <a:schemeClr val="accent2"/>
          </a:lnRef>
          <a:fillRef idx="1">
            <a:schemeClr val="lt1"/>
          </a:fillRef>
          <a:effectRef idx="0">
            <a:schemeClr val="accent2"/>
          </a:effectRef>
          <a:fontRef idx="minor">
            <a:schemeClr val="dk1"/>
          </a:fontRef>
        </p:style>
        <p:txBody>
          <a:bodyPr tIns="72000" bIns="72000">
            <a:spAutoFit/>
          </a:bodyPr>
          <a:lstStyle/>
          <a:p>
            <a:pPr>
              <a:lnSpc>
                <a:spcPts val="3000"/>
              </a:lnSpc>
            </a:pP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）回到起点，算法结束。</a:t>
            </a:r>
            <a:endParaRPr lang="en-US" altLang="zh-CN" sz="2200">
              <a:solidFill>
                <a:srgbClr val="0000FF"/>
              </a:solidFill>
              <a:latin typeface="Consolas" pitchFamily="49" charset="0"/>
              <a:ea typeface="仿宋" pitchFamily="49" charset="-122"/>
              <a:cs typeface="Consolas" pitchFamily="49" charset="0"/>
            </a:endParaRPr>
          </a:p>
          <a:p>
            <a:pPr>
              <a:lnSpc>
                <a:spcPts val="3000"/>
              </a:lnSpc>
            </a:pPr>
            <a:r>
              <a:rPr lang="zh-CN" altLang="en-US" sz="2200">
                <a:solidFill>
                  <a:srgbClr val="0000FF"/>
                </a:solidFill>
                <a:latin typeface="Consolas" pitchFamily="49" charset="0"/>
                <a:ea typeface="仿宋" pitchFamily="49" charset="-122"/>
                <a:cs typeface="Consolas" pitchFamily="49" charset="0"/>
              </a:rPr>
              <a:t>找到的凸包顶点序列是</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p>
        </p:txBody>
      </p:sp>
      <p:sp>
        <p:nvSpPr>
          <p:cNvPr id="55" name="灯片编号占位符 54"/>
          <p:cNvSpPr>
            <a:spLocks noGrp="1"/>
          </p:cNvSpPr>
          <p:nvPr>
            <p:ph type="sldNum" sz="quarter" idx="12"/>
          </p:nvPr>
        </p:nvSpPr>
        <p:spPr/>
        <p:txBody>
          <a:bodyPr/>
          <a:lstStyle/>
          <a:p>
            <a:pPr>
              <a:defRPr/>
            </a:pPr>
            <a:fld id="{51116183-1013-4E64-BBE8-A5C1D5D4F838}" type="slidenum">
              <a:rPr lang="en-US" altLang="zh-CN" smtClean="0"/>
              <a:pPr>
                <a:defRPr/>
              </a:pPr>
              <a:t>95</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strips(downLeft)">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2428860" y="3857628"/>
            <a:ext cx="2916258" cy="2481694"/>
            <a:chOff x="1941494" y="1928802"/>
            <a:chExt cx="2916258" cy="2481694"/>
          </a:xfrm>
        </p:grpSpPr>
        <p:sp>
          <p:nvSpPr>
            <p:cNvPr id="19" name="TextBox 18"/>
            <p:cNvSpPr txBox="1"/>
            <p:nvPr/>
          </p:nvSpPr>
          <p:spPr>
            <a:xfrm>
              <a:off x="3500430" y="1928802"/>
              <a:ext cx="428628" cy="400110"/>
            </a:xfrm>
            <a:prstGeom prst="rect">
              <a:avLst/>
            </a:prstGeom>
            <a:noFill/>
          </p:spPr>
          <p:txBody>
            <a:bodyPr wrap="square" rtlCol="0">
              <a:spAutoFit/>
            </a:bodyPr>
            <a:lstStyle/>
            <a:p>
              <a:r>
                <a:rPr lang="en-US" sz="2000" i="1">
                  <a:solidFill>
                    <a:srgbClr val="0000FF"/>
                  </a:solidFill>
                  <a:latin typeface="Consolas" pitchFamily="49" charset="0"/>
                  <a:cs typeface="Consolas" pitchFamily="49" charset="0"/>
                  <a:sym typeface="Symbol"/>
                </a:rPr>
                <a:t>a</a:t>
              </a:r>
              <a:r>
                <a:rPr lang="en-US" altLang="zh-CN" sz="2000" i="1" baseline="-25000">
                  <a:solidFill>
                    <a:srgbClr val="0000FF"/>
                  </a:solidFill>
                  <a:latin typeface="Consolas" pitchFamily="49" charset="0"/>
                  <a:cs typeface="Consolas" pitchFamily="49" charset="0"/>
                  <a:sym typeface="Symbol"/>
                </a:rPr>
                <a:t>k</a:t>
              </a:r>
              <a:endParaRPr lang="zh-CN" altLang="en-US" sz="2000" i="1" baseline="-25000">
                <a:solidFill>
                  <a:srgbClr val="0000FF"/>
                </a:solidFill>
                <a:latin typeface="Consolas" pitchFamily="49" charset="0"/>
                <a:cs typeface="Consolas" pitchFamily="49" charset="0"/>
              </a:endParaRPr>
            </a:p>
          </p:txBody>
        </p:sp>
        <p:sp>
          <p:nvSpPr>
            <p:cNvPr id="20" name="TextBox 19"/>
            <p:cNvSpPr txBox="1"/>
            <p:nvPr/>
          </p:nvSpPr>
          <p:spPr>
            <a:xfrm>
              <a:off x="2928926" y="4071942"/>
              <a:ext cx="1143008" cy="338554"/>
            </a:xfrm>
            <a:prstGeom prst="rect">
              <a:avLst/>
            </a:prstGeom>
            <a:noFill/>
          </p:spPr>
          <p:txBody>
            <a:bodyPr wrap="square" rtlCol="0">
              <a:spAutoFit/>
            </a:bodyPr>
            <a:lstStyle/>
            <a:p>
              <a:r>
                <a:rPr lang="zh-CN" altLang="en-US" sz="1600">
                  <a:solidFill>
                    <a:srgbClr val="0000FF"/>
                  </a:solidFill>
                  <a:latin typeface="微软雅黑" pitchFamily="34" charset="-122"/>
                  <a:ea typeface="微软雅黑" pitchFamily="34" charset="-122"/>
                </a:rPr>
                <a:t>水平射线</a:t>
              </a:r>
            </a:p>
          </p:txBody>
        </p:sp>
        <p:sp>
          <p:nvSpPr>
            <p:cNvPr id="21" name="椭圆 20"/>
            <p:cNvSpPr/>
            <p:nvPr/>
          </p:nvSpPr>
          <p:spPr>
            <a:xfrm>
              <a:off x="1941494" y="2285992"/>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22" name="直接连接符 21"/>
            <p:cNvCxnSpPr>
              <a:stCxn id="21" idx="4"/>
            </p:cNvCxnSpPr>
            <p:nvPr/>
          </p:nvCxnSpPr>
          <p:spPr>
            <a:xfrm rot="16200000" flipH="1">
              <a:off x="1548585" y="2893215"/>
              <a:ext cx="1500198" cy="571504"/>
            </a:xfrm>
            <a:prstGeom prst="line">
              <a:avLst/>
            </a:prstGeom>
            <a:ln>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23" name="直接箭头连接符 22"/>
            <p:cNvCxnSpPr/>
            <p:nvPr/>
          </p:nvCxnSpPr>
          <p:spPr>
            <a:xfrm rot="5400000" flipH="1" flipV="1">
              <a:off x="2178827" y="2607463"/>
              <a:ext cx="1714512" cy="928694"/>
            </a:xfrm>
            <a:prstGeom prst="straightConnector1">
              <a:avLst/>
            </a:prstGeom>
            <a:ln>
              <a:solidFill>
                <a:srgbClr val="9900FF"/>
              </a:solidFill>
              <a:tailEnd type="arrow"/>
            </a:ln>
          </p:spPr>
          <p:style>
            <a:lnRef idx="2">
              <a:schemeClr val="dk1"/>
            </a:lnRef>
            <a:fillRef idx="0">
              <a:schemeClr val="dk1"/>
            </a:fillRef>
            <a:effectRef idx="1">
              <a:schemeClr val="dk1"/>
            </a:effectRef>
            <a:fontRef idx="minor">
              <a:schemeClr val="tx1"/>
            </a:fontRef>
          </p:style>
        </p:cxnSp>
        <p:cxnSp>
          <p:nvCxnSpPr>
            <p:cNvPr id="24" name="直接箭头连接符 23"/>
            <p:cNvCxnSpPr/>
            <p:nvPr/>
          </p:nvCxnSpPr>
          <p:spPr>
            <a:xfrm>
              <a:off x="2571736" y="3929066"/>
              <a:ext cx="2286016"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5" name="直接箭头连接符 24"/>
            <p:cNvCxnSpPr/>
            <p:nvPr/>
          </p:nvCxnSpPr>
          <p:spPr>
            <a:xfrm flipV="1">
              <a:off x="2571736" y="3071810"/>
              <a:ext cx="1428760" cy="857256"/>
            </a:xfrm>
            <a:prstGeom prst="straightConnector1">
              <a:avLst/>
            </a:prstGeom>
            <a:ln>
              <a:solidFill>
                <a:srgbClr val="C00000"/>
              </a:solidFill>
              <a:tailEnd type="arrow"/>
            </a:ln>
          </p:spPr>
          <p:style>
            <a:lnRef idx="2">
              <a:schemeClr val="dk1"/>
            </a:lnRef>
            <a:fillRef idx="0">
              <a:schemeClr val="dk1"/>
            </a:fillRef>
            <a:effectRef idx="1">
              <a:schemeClr val="dk1"/>
            </a:effectRef>
            <a:fontRef idx="minor">
              <a:schemeClr val="tx1"/>
            </a:fontRef>
          </p:style>
        </p:cxnSp>
        <p:sp>
          <p:nvSpPr>
            <p:cNvPr id="26" name="椭圆 25"/>
            <p:cNvSpPr/>
            <p:nvPr/>
          </p:nvSpPr>
          <p:spPr>
            <a:xfrm>
              <a:off x="2428860" y="2786058"/>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椭圆 26"/>
            <p:cNvSpPr/>
            <p:nvPr/>
          </p:nvSpPr>
          <p:spPr>
            <a:xfrm>
              <a:off x="2500298" y="2214554"/>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28" name="直接连接符 27"/>
            <p:cNvCxnSpPr/>
            <p:nvPr/>
          </p:nvCxnSpPr>
          <p:spPr>
            <a:xfrm rot="16200000" flipH="1">
              <a:off x="2916226" y="3773490"/>
              <a:ext cx="214314" cy="71438"/>
            </a:xfrm>
            <a:prstGeom prst="line">
              <a:avLst/>
            </a:prstGeom>
          </p:spPr>
          <p:style>
            <a:lnRef idx="1">
              <a:schemeClr val="accent2"/>
            </a:lnRef>
            <a:fillRef idx="0">
              <a:schemeClr val="accent2"/>
            </a:fillRef>
            <a:effectRef idx="0">
              <a:schemeClr val="accent2"/>
            </a:effectRef>
            <a:fontRef idx="minor">
              <a:schemeClr val="tx1"/>
            </a:fontRef>
          </p:style>
        </p:cxnSp>
        <p:sp>
          <p:nvSpPr>
            <p:cNvPr id="29" name="TextBox 28"/>
            <p:cNvSpPr txBox="1"/>
            <p:nvPr/>
          </p:nvSpPr>
          <p:spPr>
            <a:xfrm>
              <a:off x="3011478" y="3559734"/>
              <a:ext cx="428628" cy="369332"/>
            </a:xfrm>
            <a:prstGeom prst="rect">
              <a:avLst/>
            </a:prstGeom>
            <a:noFill/>
          </p:spPr>
          <p:txBody>
            <a:bodyPr wrap="square" rtlCol="0">
              <a:spAutoFit/>
            </a:bodyPr>
            <a:lstStyle/>
            <a:p>
              <a:r>
                <a:rPr lang="en-US" sz="1800">
                  <a:solidFill>
                    <a:srgbClr val="006600"/>
                  </a:solidFill>
                  <a:sym typeface="Symbol"/>
                </a:rPr>
                <a:t></a:t>
              </a:r>
              <a:r>
                <a:rPr lang="en-US" sz="1800" baseline="-25000">
                  <a:solidFill>
                    <a:srgbClr val="006600"/>
                  </a:solidFill>
                </a:rPr>
                <a:t>1</a:t>
              </a:r>
              <a:endParaRPr lang="zh-CN" altLang="en-US" sz="1800">
                <a:solidFill>
                  <a:srgbClr val="006600"/>
                </a:solidFill>
              </a:endParaRPr>
            </a:p>
          </p:txBody>
        </p:sp>
        <p:sp>
          <p:nvSpPr>
            <p:cNvPr id="30" name="任意多边形 29"/>
            <p:cNvSpPr/>
            <p:nvPr/>
          </p:nvSpPr>
          <p:spPr>
            <a:xfrm>
              <a:off x="3009900" y="3124200"/>
              <a:ext cx="529167" cy="800100"/>
            </a:xfrm>
            <a:custGeom>
              <a:avLst/>
              <a:gdLst>
                <a:gd name="connsiteX0" fmla="*/ 0 w 529167"/>
                <a:gd name="connsiteY0" fmla="*/ 0 h 800100"/>
                <a:gd name="connsiteX1" fmla="*/ 241300 w 529167"/>
                <a:gd name="connsiteY1" fmla="*/ 177800 h 800100"/>
                <a:gd name="connsiteX2" fmla="*/ 482600 w 529167"/>
                <a:gd name="connsiteY2" fmla="*/ 647700 h 800100"/>
                <a:gd name="connsiteX3" fmla="*/ 520700 w 529167"/>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529167" h="800100">
                  <a:moveTo>
                    <a:pt x="0" y="0"/>
                  </a:moveTo>
                  <a:cubicBezTo>
                    <a:pt x="80433" y="34925"/>
                    <a:pt x="160867" y="69850"/>
                    <a:pt x="241300" y="177800"/>
                  </a:cubicBezTo>
                  <a:cubicBezTo>
                    <a:pt x="321733" y="285750"/>
                    <a:pt x="436033" y="543983"/>
                    <a:pt x="482600" y="647700"/>
                  </a:cubicBezTo>
                  <a:cubicBezTo>
                    <a:pt x="529167" y="751417"/>
                    <a:pt x="524933" y="775758"/>
                    <a:pt x="520700" y="800100"/>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TextBox 30"/>
            <p:cNvSpPr txBox="1"/>
            <p:nvPr/>
          </p:nvSpPr>
          <p:spPr>
            <a:xfrm>
              <a:off x="3163878" y="2954892"/>
              <a:ext cx="428628" cy="369332"/>
            </a:xfrm>
            <a:prstGeom prst="rect">
              <a:avLst/>
            </a:prstGeom>
            <a:noFill/>
          </p:spPr>
          <p:txBody>
            <a:bodyPr wrap="square" rtlCol="0">
              <a:spAutoFit/>
            </a:bodyPr>
            <a:lstStyle/>
            <a:p>
              <a:r>
                <a:rPr lang="en-US" sz="1800">
                  <a:solidFill>
                    <a:srgbClr val="006600"/>
                  </a:solidFill>
                  <a:sym typeface="Symbol"/>
                </a:rPr>
                <a:t></a:t>
              </a:r>
              <a:r>
                <a:rPr lang="en-US" sz="1800" baseline="-25000">
                  <a:solidFill>
                    <a:srgbClr val="006600"/>
                  </a:solidFill>
                  <a:sym typeface="Symbol"/>
                </a:rPr>
                <a:t>2</a:t>
              </a:r>
              <a:endParaRPr lang="zh-CN" altLang="en-US" sz="1800">
                <a:solidFill>
                  <a:srgbClr val="006600"/>
                </a:solidFill>
              </a:endParaRPr>
            </a:p>
          </p:txBody>
        </p:sp>
        <p:sp>
          <p:nvSpPr>
            <p:cNvPr id="32" name="TextBox 31"/>
            <p:cNvSpPr txBox="1"/>
            <p:nvPr/>
          </p:nvSpPr>
          <p:spPr>
            <a:xfrm>
              <a:off x="4000496" y="2814576"/>
              <a:ext cx="428628" cy="400110"/>
            </a:xfrm>
            <a:prstGeom prst="rect">
              <a:avLst/>
            </a:prstGeom>
            <a:noFill/>
          </p:spPr>
          <p:txBody>
            <a:bodyPr wrap="square" rtlCol="0">
              <a:spAutoFit/>
            </a:bodyPr>
            <a:lstStyle/>
            <a:p>
              <a:r>
                <a:rPr lang="en-US" sz="2000" i="1">
                  <a:solidFill>
                    <a:srgbClr val="0000FF"/>
                  </a:solidFill>
                  <a:latin typeface="Consolas" pitchFamily="49" charset="0"/>
                  <a:cs typeface="Consolas" pitchFamily="49" charset="0"/>
                  <a:sym typeface="Symbol"/>
                </a:rPr>
                <a:t>a</a:t>
              </a:r>
              <a:r>
                <a:rPr lang="en-US" altLang="zh-CN" sz="2000" i="1" baseline="-25000">
                  <a:solidFill>
                    <a:srgbClr val="0000FF"/>
                  </a:solidFill>
                  <a:latin typeface="Consolas" pitchFamily="49" charset="0"/>
                  <a:cs typeface="Consolas" pitchFamily="49" charset="0"/>
                  <a:sym typeface="Symbol"/>
                </a:rPr>
                <a:t>i</a:t>
              </a:r>
              <a:endParaRPr lang="zh-CN" altLang="en-US" sz="2000" i="1" baseline="-25000">
                <a:solidFill>
                  <a:srgbClr val="0000FF"/>
                </a:solidFill>
                <a:latin typeface="Consolas" pitchFamily="49" charset="0"/>
                <a:cs typeface="Consolas" pitchFamily="49" charset="0"/>
              </a:endParaRPr>
            </a:p>
          </p:txBody>
        </p:sp>
        <p:sp>
          <p:nvSpPr>
            <p:cNvPr id="33" name="TextBox 32"/>
            <p:cNvSpPr txBox="1"/>
            <p:nvPr/>
          </p:nvSpPr>
          <p:spPr>
            <a:xfrm>
              <a:off x="2214546" y="3857628"/>
              <a:ext cx="428628" cy="400110"/>
            </a:xfrm>
            <a:prstGeom prst="rect">
              <a:avLst/>
            </a:prstGeom>
            <a:noFill/>
          </p:spPr>
          <p:txBody>
            <a:bodyPr wrap="square" rtlCol="0">
              <a:spAutoFit/>
            </a:bodyPr>
            <a:lstStyle/>
            <a:p>
              <a:r>
                <a:rPr lang="en-US" sz="2000" i="1">
                  <a:solidFill>
                    <a:srgbClr val="0000FF"/>
                  </a:solidFill>
                  <a:latin typeface="Consolas" pitchFamily="49" charset="0"/>
                  <a:cs typeface="Consolas" pitchFamily="49" charset="0"/>
                  <a:sym typeface="Symbol"/>
                </a:rPr>
                <a:t>a</a:t>
              </a:r>
              <a:r>
                <a:rPr lang="en-US" sz="2000" i="1" baseline="-25000">
                  <a:solidFill>
                    <a:srgbClr val="0000FF"/>
                  </a:solidFill>
                  <a:latin typeface="Consolas" pitchFamily="49" charset="0"/>
                  <a:cs typeface="Consolas" pitchFamily="49" charset="0"/>
                  <a:sym typeface="Symbol"/>
                </a:rPr>
                <a:t>j</a:t>
              </a:r>
              <a:endParaRPr lang="zh-CN" altLang="en-US" sz="2000" i="1" baseline="-25000">
                <a:solidFill>
                  <a:srgbClr val="0000FF"/>
                </a:solidFill>
                <a:latin typeface="Consolas" pitchFamily="49" charset="0"/>
                <a:cs typeface="Consolas" pitchFamily="49" charset="0"/>
              </a:endParaRPr>
            </a:p>
          </p:txBody>
        </p:sp>
      </p:grpSp>
      <p:sp>
        <p:nvSpPr>
          <p:cNvPr id="35" name="Text Box 2"/>
          <p:cNvSpPr txBox="1">
            <a:spLocks noChangeArrowheads="1"/>
          </p:cNvSpPr>
          <p:nvPr/>
        </p:nvSpPr>
        <p:spPr bwMode="auto">
          <a:xfrm>
            <a:off x="214282" y="570306"/>
            <a:ext cx="8786874" cy="3441281"/>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2400"/>
              </a:lnSpc>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cmp</a:t>
            </a:r>
            <a:r>
              <a:rPr lang="en-US" altLang="zh-CN" sz="2000">
                <a:solidFill>
                  <a:srgbClr val="0000FF"/>
                </a:solidFill>
                <a:latin typeface="Consolas" pitchFamily="49" charset="0"/>
                <a:ea typeface="仿宋" pitchFamily="49" charset="-122"/>
              </a:rPr>
              <a:t>(Point aj,Point ai,Point ak) {	</a:t>
            </a:r>
          </a:p>
          <a:p>
            <a:pPr defTabSz="360000">
              <a:lnSpc>
                <a:spcPts val="24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比较两个向量方向的函数</a:t>
            </a:r>
          </a:p>
          <a:p>
            <a:pPr defTabSz="360000">
              <a:lnSpc>
                <a:spcPts val="2400"/>
              </a:lnSpc>
            </a:pPr>
            <a:r>
              <a:rPr lang="en-US" altLang="zh-CN" sz="2000">
                <a:solidFill>
                  <a:srgbClr val="0000FF"/>
                </a:solidFill>
                <a:latin typeface="Consolas" pitchFamily="49" charset="0"/>
                <a:ea typeface="仿宋" pitchFamily="49" charset="-122"/>
              </a:rPr>
              <a:t>	int d=</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(aj,ai,ak);</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if (d==0)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共线时</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若</a:t>
            </a:r>
            <a:r>
              <a:rPr lang="en-US" altLang="zh-CN" sz="2000">
                <a:solidFill>
                  <a:srgbClr val="00B0F0"/>
                </a:solidFill>
                <a:latin typeface="Consolas" pitchFamily="49" charset="0"/>
                <a:ea typeface="仿宋" pitchFamily="49" charset="-122"/>
              </a:rPr>
              <a:t>a</a:t>
            </a:r>
            <a:r>
              <a:rPr lang="en-US" altLang="zh-CN" sz="2000" baseline="-25000">
                <a:solidFill>
                  <a:srgbClr val="00B0F0"/>
                </a:solidFill>
                <a:latin typeface="Consolas" pitchFamily="49" charset="0"/>
                <a:ea typeface="仿宋" pitchFamily="49" charset="-122"/>
              </a:rPr>
              <a:t>j</a:t>
            </a:r>
            <a:r>
              <a:rPr lang="en-US" altLang="zh-CN" sz="2000">
                <a:solidFill>
                  <a:srgbClr val="00B0F0"/>
                </a:solidFill>
                <a:latin typeface="Consolas" pitchFamily="49" charset="0"/>
                <a:ea typeface="仿宋" pitchFamily="49" charset="-122"/>
              </a:rPr>
              <a:t>a</a:t>
            </a:r>
            <a:r>
              <a:rPr lang="en-US" altLang="zh-CN" sz="2000" baseline="-25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更长则返回</a:t>
            </a:r>
            <a:r>
              <a:rPr lang="en-US" altLang="zh-CN" sz="2000">
                <a:solidFill>
                  <a:srgbClr val="00B0F0"/>
                </a:solidFill>
                <a:latin typeface="Consolas" pitchFamily="49" charset="0"/>
                <a:ea typeface="仿宋" pitchFamily="49" charset="-122"/>
              </a:rPr>
              <a:t>true</a:t>
            </a:r>
            <a:endParaRPr lang="zh-CN" altLang="zh-CN" sz="2000">
              <a:solidFill>
                <a:srgbClr val="00B0F0"/>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Distance(aj,ak)</a:t>
            </a:r>
            <a:r>
              <a:rPr lang="en-US" altLang="zh-CN" sz="2000">
                <a:solidFill>
                  <a:srgbClr val="0000FF"/>
                </a:solidFill>
                <a:latin typeface="Consolas" pitchFamily="49" charset="0"/>
                <a:ea typeface="仿宋" pitchFamily="49" charset="-122"/>
              </a:rPr>
              <a:t>&lt;</a:t>
            </a:r>
            <a:r>
              <a:rPr lang="en-US" altLang="zh-CN" sz="2000">
                <a:solidFill>
                  <a:srgbClr val="FF0000"/>
                </a:solidFill>
                <a:latin typeface="Consolas" pitchFamily="49" charset="0"/>
                <a:ea typeface="仿宋" pitchFamily="49" charset="-122"/>
              </a:rPr>
              <a:t>Distance(aj,ai)</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else if (d&gt;0)				</a:t>
            </a:r>
            <a:r>
              <a:rPr lang="en-US" altLang="zh-CN" sz="2000">
                <a:solidFill>
                  <a:srgbClr val="00B0F0"/>
                </a:solidFill>
                <a:latin typeface="Consolas" pitchFamily="49" charset="0"/>
                <a:ea typeface="仿宋" pitchFamily="49" charset="-122"/>
              </a:rPr>
              <a:t>//a</a:t>
            </a:r>
            <a:r>
              <a:rPr lang="en-US" altLang="zh-CN" sz="2000" baseline="-25000">
                <a:solidFill>
                  <a:srgbClr val="00B0F0"/>
                </a:solidFill>
                <a:latin typeface="Consolas" pitchFamily="49" charset="0"/>
                <a:ea typeface="仿宋" pitchFamily="49" charset="-122"/>
              </a:rPr>
              <a:t>j</a:t>
            </a:r>
            <a:r>
              <a:rPr lang="en-US" altLang="zh-CN" sz="2000">
                <a:solidFill>
                  <a:srgbClr val="00B0F0"/>
                </a:solidFill>
                <a:latin typeface="Consolas" pitchFamily="49" charset="0"/>
                <a:ea typeface="仿宋" pitchFamily="49" charset="-122"/>
              </a:rPr>
              <a:t>a</a:t>
            </a:r>
            <a:r>
              <a:rPr lang="en-US" altLang="zh-CN" sz="2000" baseline="-25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a</a:t>
            </a:r>
            <a:r>
              <a:rPr lang="en-US" altLang="zh-CN" sz="2000" baseline="-25000">
                <a:solidFill>
                  <a:srgbClr val="00B0F0"/>
                </a:solidFill>
                <a:latin typeface="Consolas" pitchFamily="49" charset="0"/>
                <a:ea typeface="仿宋" pitchFamily="49" charset="-122"/>
              </a:rPr>
              <a:t>j</a:t>
            </a:r>
            <a:r>
              <a:rPr lang="en-US" altLang="zh-CN" sz="2000">
                <a:solidFill>
                  <a:srgbClr val="00B0F0"/>
                </a:solidFill>
                <a:latin typeface="Consolas" pitchFamily="49" charset="0"/>
                <a:ea typeface="仿宋" pitchFamily="49" charset="-122"/>
              </a:rPr>
              <a:t>a</a:t>
            </a:r>
            <a:r>
              <a:rPr lang="en-US" altLang="zh-CN" sz="2000" baseline="-25000">
                <a:solidFill>
                  <a:srgbClr val="00B0F0"/>
                </a:solidFill>
                <a:latin typeface="Consolas" pitchFamily="49" charset="0"/>
                <a:ea typeface="仿宋" pitchFamily="49" charset="-122"/>
              </a:rPr>
              <a:t>k</a:t>
            </a:r>
            <a:r>
              <a:rPr lang="zh-CN" altLang="zh-CN" sz="2000">
                <a:solidFill>
                  <a:srgbClr val="00B0F0"/>
                </a:solidFill>
                <a:latin typeface="Consolas" pitchFamily="49" charset="0"/>
                <a:ea typeface="仿宋" pitchFamily="49" charset="-122"/>
              </a:rPr>
              <a:t>的顺时针方向上</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返回</a:t>
            </a:r>
            <a:r>
              <a:rPr lang="en-US" altLang="zh-CN" sz="2000">
                <a:solidFill>
                  <a:srgbClr val="00B0F0"/>
                </a:solidFill>
                <a:latin typeface="Consolas" pitchFamily="49" charset="0"/>
                <a:ea typeface="仿宋" pitchFamily="49" charset="-122"/>
              </a:rPr>
              <a:t>true</a:t>
            </a:r>
            <a:endParaRPr lang="zh-CN" altLang="zh-CN" sz="2000">
              <a:solidFill>
                <a:srgbClr val="00B0F0"/>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return true;</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else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否则返回</a:t>
            </a:r>
            <a:r>
              <a:rPr lang="en-US" altLang="zh-CN" sz="2000">
                <a:solidFill>
                  <a:srgbClr val="00B0F0"/>
                </a:solidFill>
                <a:latin typeface="Consolas" pitchFamily="49" charset="0"/>
                <a:ea typeface="仿宋" pitchFamily="49" charset="-122"/>
              </a:rPr>
              <a:t>false</a:t>
            </a:r>
            <a:endParaRPr lang="zh-CN" altLang="zh-CN" sz="2000">
              <a:solidFill>
                <a:srgbClr val="00B0F0"/>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return false;</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36" name="灯片编号占位符 35"/>
          <p:cNvSpPr>
            <a:spLocks noGrp="1"/>
          </p:cNvSpPr>
          <p:nvPr>
            <p:ph type="sldNum" sz="quarter" idx="12"/>
          </p:nvPr>
        </p:nvSpPr>
        <p:spPr/>
        <p:txBody>
          <a:bodyPr/>
          <a:lstStyle/>
          <a:p>
            <a:pPr>
              <a:defRPr/>
            </a:pPr>
            <a:fld id="{51116183-1013-4E64-BBE8-A5C1D5D4F838}" type="slidenum">
              <a:rPr lang="en-US" altLang="zh-CN" smtClean="0"/>
              <a:pPr>
                <a:defRPr/>
              </a:pPr>
              <a:t>96</a:t>
            </a:fld>
            <a:r>
              <a:rPr lang="en-US" altLang="zh-CN"/>
              <a:t>/167</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357158" y="570306"/>
            <a:ext cx="8643998" cy="3236097"/>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2800"/>
              </a:lnSpc>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Package</a:t>
            </a:r>
            <a:r>
              <a:rPr lang="en-US" altLang="zh-CN" sz="2000">
                <a:solidFill>
                  <a:srgbClr val="0000FF"/>
                </a:solidFill>
                <a:latin typeface="Consolas" pitchFamily="49" charset="0"/>
                <a:ea typeface="仿宋" pitchFamily="49" charset="-122"/>
              </a:rPr>
              <a:t>(vector&lt;Point&gt;&amp;a,vector&lt;int&gt;&amp;ch) {</a:t>
            </a:r>
          </a:p>
          <a:p>
            <a:pPr defTabSz="360000">
              <a:lnSpc>
                <a:spcPts val="28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礼品包裹算法</a:t>
            </a:r>
          </a:p>
          <a:p>
            <a:pPr defTabSz="360000">
              <a:lnSpc>
                <a:spcPts val="2800"/>
              </a:lnSpc>
            </a:pPr>
            <a:r>
              <a:rPr lang="en-US" altLang="zh-CN" sz="2000">
                <a:solidFill>
                  <a:srgbClr val="0000FF"/>
                </a:solidFill>
                <a:latin typeface="Consolas" pitchFamily="49" charset="0"/>
                <a:ea typeface="仿宋" pitchFamily="49" charset="-122"/>
              </a:rPr>
              <a:t>	int j=0;</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for (int i=1;i&lt;a.size();i++)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找最左下基准点</a:t>
            </a:r>
            <a:r>
              <a:rPr lang="en-US" altLang="zh-CN" sz="2000">
                <a:solidFill>
                  <a:srgbClr val="00B0F0"/>
                </a:solidFill>
                <a:latin typeface="Consolas" pitchFamily="49" charset="0"/>
                <a:ea typeface="仿宋" pitchFamily="49" charset="-122"/>
              </a:rPr>
              <a:t>a</a:t>
            </a:r>
            <a:r>
              <a:rPr lang="en-US" altLang="zh-CN" sz="2000" baseline="-25000">
                <a:solidFill>
                  <a:srgbClr val="00B0F0"/>
                </a:solidFill>
                <a:latin typeface="Consolas" pitchFamily="49" charset="0"/>
                <a:ea typeface="仿宋" pitchFamily="49" charset="-122"/>
              </a:rPr>
              <a:t>j</a:t>
            </a:r>
            <a:endParaRPr lang="zh-CN" altLang="zh-CN" sz="2000">
              <a:solidFill>
                <a:srgbClr val="00B0F0"/>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a[i].x&lt;a[j].x</a:t>
            </a:r>
            <a:r>
              <a:rPr lang="en-US" altLang="zh-CN" sz="2000">
                <a:solidFill>
                  <a:srgbClr val="0000FF"/>
                </a:solidFill>
                <a:latin typeface="Consolas" pitchFamily="49" charset="0"/>
                <a:ea typeface="仿宋" pitchFamily="49" charset="-122"/>
              </a:rPr>
              <a:t> || (</a:t>
            </a:r>
            <a:r>
              <a:rPr lang="en-US" altLang="zh-CN" sz="2000">
                <a:solidFill>
                  <a:srgbClr val="FF00FF"/>
                </a:solidFill>
                <a:latin typeface="Consolas" pitchFamily="49" charset="0"/>
                <a:ea typeface="仿宋" pitchFamily="49" charset="-122"/>
              </a:rPr>
              <a:t>a[i].x==a[j].x &amp;&amp; a[i].y&lt;a[j].y)</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j=i;</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int tmp=j;												</a:t>
            </a:r>
            <a:r>
              <a:rPr lang="en-US" altLang="zh-CN" sz="2000">
                <a:solidFill>
                  <a:srgbClr val="00B0F0"/>
                </a:solidFill>
                <a:latin typeface="Consolas" pitchFamily="49" charset="0"/>
                <a:ea typeface="仿宋" pitchFamily="49" charset="-122"/>
              </a:rPr>
              <a:t>//tmp</a:t>
            </a:r>
            <a:r>
              <a:rPr lang="zh-CN" altLang="zh-CN" sz="2000">
                <a:solidFill>
                  <a:srgbClr val="00B0F0"/>
                </a:solidFill>
                <a:latin typeface="Consolas" pitchFamily="49" charset="0"/>
                <a:ea typeface="仿宋" pitchFamily="49" charset="-122"/>
              </a:rPr>
              <a:t>保存起点</a:t>
            </a: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97</a:t>
            </a:fld>
            <a:r>
              <a:rPr lang="en-US" altLang="zh-CN"/>
              <a:t>/167</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357158" y="570306"/>
            <a:ext cx="8643998" cy="4056834"/>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2400"/>
              </a:lnSpc>
            </a:pPr>
            <a:r>
              <a:rPr lang="en-US" altLang="zh-CN" sz="2000">
                <a:solidFill>
                  <a:srgbClr val="0000FF"/>
                </a:solidFill>
                <a:latin typeface="Consolas" pitchFamily="49" charset="0"/>
                <a:ea typeface="仿宋" pitchFamily="49" charset="-122"/>
              </a:rPr>
              <a:t>	while(true)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ch.push_back(j);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aj</a:t>
            </a:r>
            <a:r>
              <a:rPr lang="zh-CN" altLang="zh-CN" sz="2000">
                <a:solidFill>
                  <a:srgbClr val="00B0F0"/>
                </a:solidFill>
                <a:latin typeface="Consolas" pitchFamily="49" charset="0"/>
                <a:ea typeface="仿宋" pitchFamily="49" charset="-122"/>
              </a:rPr>
              <a:t>作为凸包上的一个点</a:t>
            </a:r>
          </a:p>
          <a:p>
            <a:pPr defTabSz="360000">
              <a:lnSpc>
                <a:spcPts val="2400"/>
              </a:lnSpc>
            </a:pPr>
            <a:r>
              <a:rPr lang="en-US" altLang="zh-CN" sz="2000">
                <a:solidFill>
                  <a:srgbClr val="0000FF"/>
                </a:solidFill>
                <a:latin typeface="Consolas" pitchFamily="49" charset="0"/>
                <a:ea typeface="仿宋" pitchFamily="49" charset="-122"/>
              </a:rPr>
              <a:t>		int k=-1;</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for (int i=0;i&lt;a.size();i++)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i!=j</a:t>
            </a:r>
            <a:r>
              <a:rPr lang="en-US" altLang="zh-CN" sz="2000">
                <a:solidFill>
                  <a:srgbClr val="0000FF"/>
                </a:solidFill>
                <a:latin typeface="Consolas" pitchFamily="49" charset="0"/>
                <a:ea typeface="仿宋" pitchFamily="49" charset="-122"/>
              </a:rPr>
              <a:t> &amp;&amp; (</a:t>
            </a:r>
            <a:r>
              <a:rPr lang="en-US" altLang="zh-CN" sz="2000">
                <a:solidFill>
                  <a:srgbClr val="FF00FF"/>
                </a:solidFill>
                <a:latin typeface="Consolas" pitchFamily="49" charset="0"/>
                <a:ea typeface="仿宋" pitchFamily="49" charset="-122"/>
              </a:rPr>
              <a:t>k==-1 || cmp(a[j],a[i],a[k]))</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k=i;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找与</a:t>
            </a:r>
            <a:r>
              <a:rPr lang="en-US" altLang="zh-CN" sz="2000">
                <a:solidFill>
                  <a:srgbClr val="00B0F0"/>
                </a:solidFill>
                <a:latin typeface="Consolas" pitchFamily="49" charset="0"/>
                <a:ea typeface="仿宋" pitchFamily="49" charset="-122"/>
              </a:rPr>
              <a:t>a</a:t>
            </a:r>
            <a:r>
              <a:rPr lang="en-US" altLang="zh-CN" sz="2000" baseline="-25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水平射线角度最小的点</a:t>
            </a:r>
            <a:r>
              <a:rPr lang="en-US" altLang="zh-CN" sz="2000">
                <a:solidFill>
                  <a:srgbClr val="00B0F0"/>
                </a:solidFill>
                <a:latin typeface="Consolas" pitchFamily="49" charset="0"/>
                <a:ea typeface="仿宋" pitchFamily="49" charset="-122"/>
              </a:rPr>
              <a:t>a</a:t>
            </a:r>
            <a:r>
              <a:rPr lang="en-US" altLang="zh-CN" sz="2000" baseline="-25000">
                <a:solidFill>
                  <a:srgbClr val="00B0F0"/>
                </a:solidFill>
                <a:latin typeface="Consolas" pitchFamily="49" charset="0"/>
                <a:ea typeface="仿宋" pitchFamily="49" charset="-122"/>
              </a:rPr>
              <a:t>k</a:t>
            </a:r>
            <a:endParaRPr lang="zh-CN" altLang="zh-CN" sz="2000">
              <a:solidFill>
                <a:srgbClr val="00B0F0"/>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if (k==tmp) break;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找出起点时结束</a:t>
            </a:r>
          </a:p>
          <a:p>
            <a:pPr defTabSz="360000">
              <a:lnSpc>
                <a:spcPts val="2400"/>
              </a:lnSpc>
            </a:pPr>
            <a:r>
              <a:rPr lang="en-US" altLang="zh-CN" sz="2000">
                <a:solidFill>
                  <a:srgbClr val="0000FF"/>
                </a:solidFill>
                <a:latin typeface="Consolas" pitchFamily="49" charset="0"/>
                <a:ea typeface="仿宋" pitchFamily="49" charset="-122"/>
              </a:rPr>
              <a:t>		j=k;</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Text Box 2"/>
          <p:cNvSpPr txBox="1">
            <a:spLocks noChangeArrowheads="1"/>
          </p:cNvSpPr>
          <p:nvPr/>
        </p:nvSpPr>
        <p:spPr bwMode="auto">
          <a:xfrm>
            <a:off x="500034" y="5000636"/>
            <a:ext cx="8215370" cy="878061"/>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nSpc>
                <a:spcPts val="3200"/>
              </a:lnSpc>
              <a:spcBef>
                <a:spcPts val="0"/>
              </a:spcBef>
              <a:tabLst>
                <a:tab pos="6731000" algn="l"/>
              </a:tabLst>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Package</a:t>
            </a:r>
            <a:r>
              <a:rPr lang="zh-CN" altLang="en-US" sz="2200">
                <a:solidFill>
                  <a:srgbClr val="FF0000"/>
                </a:solidFill>
                <a:latin typeface="Consolas" pitchFamily="49" charset="0"/>
                <a:ea typeface="楷体" pitchFamily="49" charset="-122"/>
                <a:cs typeface="Consolas" pitchFamily="49" charset="0"/>
              </a:rPr>
              <a:t>算法分析</a:t>
            </a:r>
            <a:r>
              <a:rPr lang="zh-CN" altLang="en-US" sz="2200">
                <a:solidFill>
                  <a:srgbClr val="FF0000"/>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上述算法的时间复杂度为</a:t>
            </a:r>
            <a:r>
              <a:rPr lang="en-US" altLang="zh-CN" sz="2200">
                <a:solidFill>
                  <a:srgbClr val="0000FF"/>
                </a:solidFill>
                <a:latin typeface="Consolas" pitchFamily="49" charset="0"/>
                <a:ea typeface="仿宋" pitchFamily="49" charset="-122"/>
                <a:cs typeface="Consolas" pitchFamily="49" charset="0"/>
              </a:rPr>
              <a:t>O(</a:t>
            </a:r>
            <a:r>
              <a:rPr lang="en-US" altLang="zh-CN" sz="2200" i="1">
                <a:solidFill>
                  <a:srgbClr val="0000FF"/>
                </a:solidFill>
                <a:latin typeface="Consolas" pitchFamily="49" charset="0"/>
                <a:ea typeface="仿宋" pitchFamily="49" charset="-122"/>
                <a:cs typeface="Consolas" pitchFamily="49" charset="0"/>
              </a:rPr>
              <a:t>nh</a:t>
            </a:r>
            <a:r>
              <a:rPr lang="en-US"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或</a:t>
            </a:r>
            <a:r>
              <a:rPr lang="en-US" altLang="zh-CN" sz="2200">
                <a:solidFill>
                  <a:srgbClr val="0000FF"/>
                </a:solidFill>
                <a:latin typeface="Consolas" pitchFamily="49" charset="0"/>
                <a:ea typeface="仿宋" pitchFamily="49" charset="-122"/>
                <a:cs typeface="Consolas" pitchFamily="49" charset="0"/>
              </a:rPr>
              <a:t>O(</a:t>
            </a:r>
            <a:r>
              <a:rPr lang="en-US" altLang="zh-CN" sz="2200" i="1">
                <a:solidFill>
                  <a:srgbClr val="0000FF"/>
                </a:solidFill>
                <a:latin typeface="Consolas" pitchFamily="49" charset="0"/>
                <a:ea typeface="仿宋" pitchFamily="49" charset="-122"/>
                <a:cs typeface="Consolas" pitchFamily="49" charset="0"/>
              </a:rPr>
              <a:t>n</a:t>
            </a:r>
            <a:r>
              <a:rPr lang="en-US" altLang="zh-CN" sz="2200" baseline="30000">
                <a:solidFill>
                  <a:srgbClr val="0000FF"/>
                </a:solidFill>
                <a:latin typeface="Consolas" pitchFamily="49" charset="0"/>
                <a:ea typeface="仿宋" pitchFamily="49" charset="-122"/>
                <a:cs typeface="Consolas" pitchFamily="49" charset="0"/>
              </a:rPr>
              <a:t>2</a:t>
            </a:r>
            <a:r>
              <a:rPr lang="en-US"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，其中</a:t>
            </a:r>
            <a:r>
              <a:rPr lang="en-US" altLang="zh-CN" sz="2200" i="1">
                <a:solidFill>
                  <a:srgbClr val="0000FF"/>
                </a:solidFill>
                <a:latin typeface="Consolas" pitchFamily="49" charset="0"/>
                <a:ea typeface="仿宋" pitchFamily="49" charset="-122"/>
                <a:cs typeface="Consolas" pitchFamily="49" charset="0"/>
              </a:rPr>
              <a:t>n</a:t>
            </a:r>
            <a:r>
              <a:rPr lang="zh-CN" altLang="en-US" sz="2200">
                <a:solidFill>
                  <a:srgbClr val="0000FF"/>
                </a:solidFill>
                <a:latin typeface="Consolas" pitchFamily="49" charset="0"/>
                <a:ea typeface="仿宋" pitchFamily="49" charset="-122"/>
                <a:cs typeface="Consolas" pitchFamily="49" charset="0"/>
              </a:rPr>
              <a:t>为所有点的个数，</a:t>
            </a:r>
            <a:r>
              <a:rPr lang="en-US" altLang="zh-CN" sz="2200" i="1">
                <a:solidFill>
                  <a:srgbClr val="0000FF"/>
                </a:solidFill>
                <a:latin typeface="Consolas" pitchFamily="49" charset="0"/>
                <a:ea typeface="仿宋" pitchFamily="49" charset="-122"/>
                <a:cs typeface="Consolas" pitchFamily="49" charset="0"/>
              </a:rPr>
              <a:t>h</a:t>
            </a:r>
            <a:r>
              <a:rPr lang="zh-CN" altLang="en-US" sz="2200">
                <a:solidFill>
                  <a:srgbClr val="0000FF"/>
                </a:solidFill>
                <a:latin typeface="Consolas" pitchFamily="49" charset="0"/>
                <a:ea typeface="仿宋" pitchFamily="49" charset="-122"/>
                <a:cs typeface="Consolas" pitchFamily="49" charset="0"/>
              </a:rPr>
              <a:t>为求得的凸包中的点数。</a:t>
            </a:r>
          </a:p>
        </p:txBody>
      </p:sp>
      <p:sp>
        <p:nvSpPr>
          <p:cNvPr id="6" name="灯片编号占位符 5"/>
          <p:cNvSpPr>
            <a:spLocks noGrp="1"/>
          </p:cNvSpPr>
          <p:nvPr>
            <p:ph type="sldNum" sz="quarter" idx="12"/>
          </p:nvPr>
        </p:nvSpPr>
        <p:spPr/>
        <p:txBody>
          <a:bodyPr/>
          <a:lstStyle/>
          <a:p>
            <a:pPr>
              <a:defRPr/>
            </a:pPr>
            <a:fld id="{51116183-1013-4E64-BBE8-A5C1D5D4F838}" type="slidenum">
              <a:rPr lang="en-US" altLang="zh-CN" smtClean="0"/>
              <a:pPr>
                <a:defRPr/>
              </a:pPr>
              <a:t>98</a:t>
            </a:fld>
            <a:r>
              <a:rPr lang="en-US" altLang="zh-CN"/>
              <a:t>/167</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2"/>
          <p:cNvSpPr txBox="1">
            <a:spLocks noChangeArrowheads="1"/>
          </p:cNvSpPr>
          <p:nvPr/>
        </p:nvSpPr>
        <p:spPr bwMode="auto">
          <a:xfrm>
            <a:off x="468313" y="476250"/>
            <a:ext cx="4603753" cy="52322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spcBef>
                <a:spcPct val="50000"/>
              </a:spcBef>
              <a:defRPr/>
            </a:pP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10.2.2 Graham</a:t>
            </a:r>
            <a:r>
              <a:rPr lang="zh-CN" altLang="en-US"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扫描算法</a:t>
            </a:r>
          </a:p>
        </p:txBody>
      </p:sp>
      <p:sp>
        <p:nvSpPr>
          <p:cNvPr id="62467" name="Text Box 3"/>
          <p:cNvSpPr txBox="1">
            <a:spLocks noChangeArrowheads="1"/>
          </p:cNvSpPr>
          <p:nvPr/>
        </p:nvSpPr>
        <p:spPr bwMode="auto">
          <a:xfrm>
            <a:off x="611188" y="1412875"/>
            <a:ext cx="7993062" cy="1294585"/>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nSpc>
                <a:spcPts val="3200"/>
              </a:lnSpc>
              <a:spcBef>
                <a:spcPts val="1200"/>
              </a:spcBef>
              <a:buBlip>
                <a:blip r:embed="rId2"/>
              </a:buBlip>
            </a:pPr>
            <a:r>
              <a:rPr lang="en-US" altLang="zh-CN">
                <a:solidFill>
                  <a:srgbClr val="C00000"/>
                </a:solidFill>
                <a:latin typeface="Consolas" pitchFamily="49" charset="0"/>
                <a:ea typeface="仿宋" pitchFamily="49" charset="-122"/>
                <a:cs typeface="Consolas" pitchFamily="49" charset="0"/>
              </a:rPr>
              <a:t>Graham</a:t>
            </a:r>
            <a:r>
              <a:rPr lang="zh-CN" altLang="en-US" dirty="0">
                <a:solidFill>
                  <a:srgbClr val="C00000"/>
                </a:solidFill>
                <a:latin typeface="Consolas" pitchFamily="49" charset="0"/>
                <a:ea typeface="仿宋" pitchFamily="49" charset="-122"/>
                <a:cs typeface="Consolas" pitchFamily="49" charset="0"/>
              </a:rPr>
              <a:t>扫描法（葛立恒扫描法）的</a:t>
            </a:r>
            <a:r>
              <a:rPr lang="zh-CN" altLang="en-US">
                <a:solidFill>
                  <a:srgbClr val="C00000"/>
                </a:solidFill>
                <a:latin typeface="Consolas" pitchFamily="49" charset="0"/>
                <a:ea typeface="仿宋" pitchFamily="49" charset="-122"/>
                <a:cs typeface="Consolas" pitchFamily="49" charset="0"/>
              </a:rPr>
              <a:t>原理</a:t>
            </a:r>
            <a:r>
              <a:rPr lang="zh-CN" altLang="en-US">
                <a:solidFill>
                  <a:srgbClr val="0000FF"/>
                </a:solidFill>
                <a:latin typeface="Consolas" pitchFamily="49" charset="0"/>
                <a:ea typeface="仿宋" pitchFamily="49" charset="-122"/>
                <a:cs typeface="Consolas" pitchFamily="49" charset="0"/>
              </a:rPr>
              <a:t>：求凸包时沿</a:t>
            </a:r>
            <a:r>
              <a:rPr lang="zh-CN" altLang="en-US" dirty="0">
                <a:solidFill>
                  <a:srgbClr val="0000FF"/>
                </a:solidFill>
                <a:latin typeface="Consolas" pitchFamily="49" charset="0"/>
                <a:ea typeface="仿宋" pitchFamily="49" charset="-122"/>
                <a:cs typeface="Consolas" pitchFamily="49" charset="0"/>
              </a:rPr>
              <a:t>逆时针</a:t>
            </a:r>
            <a:r>
              <a:rPr lang="zh-CN" altLang="en-US">
                <a:solidFill>
                  <a:srgbClr val="0000FF"/>
                </a:solidFill>
                <a:latin typeface="Consolas" pitchFamily="49" charset="0"/>
                <a:ea typeface="仿宋" pitchFamily="49" charset="-122"/>
                <a:cs typeface="Consolas" pitchFamily="49" charset="0"/>
              </a:rPr>
              <a:t>方向</a:t>
            </a:r>
            <a:r>
              <a:rPr lang="zh-CN" altLang="zh-CN">
                <a:solidFill>
                  <a:srgbClr val="0000FF"/>
                </a:solidFill>
                <a:latin typeface="Consolas" pitchFamily="49" charset="0"/>
                <a:ea typeface="仿宋" pitchFamily="49" charset="-122"/>
              </a:rPr>
              <a:t>扫描点集</a:t>
            </a:r>
            <a:r>
              <a:rPr lang="en-US" altLang="zh-CN" i="1">
                <a:solidFill>
                  <a:srgbClr val="0000FF"/>
                </a:solidFill>
                <a:latin typeface="Consolas" pitchFamily="49" charset="0"/>
                <a:ea typeface="仿宋" pitchFamily="49" charset="-122"/>
              </a:rPr>
              <a:t>a</a:t>
            </a:r>
            <a:r>
              <a:rPr lang="zh-CN" altLang="en-US">
                <a:solidFill>
                  <a:srgbClr val="0000FF"/>
                </a:solidFill>
                <a:latin typeface="Consolas" pitchFamily="49" charset="0"/>
                <a:ea typeface="仿宋" pitchFamily="49" charset="-122"/>
                <a:cs typeface="Consolas" pitchFamily="49" charset="0"/>
              </a:rPr>
              <a:t>，在</a:t>
            </a:r>
            <a:r>
              <a:rPr lang="zh-CN" altLang="en-US" dirty="0">
                <a:solidFill>
                  <a:srgbClr val="0000FF"/>
                </a:solidFill>
                <a:latin typeface="Consolas" pitchFamily="49" charset="0"/>
                <a:ea typeface="仿宋" pitchFamily="49" charset="-122"/>
                <a:cs typeface="Consolas" pitchFamily="49" charset="0"/>
              </a:rPr>
              <a:t>每个点处应该向</a:t>
            </a:r>
            <a:r>
              <a:rPr lang="zh-CN" altLang="en-US">
                <a:solidFill>
                  <a:srgbClr val="0000FF"/>
                </a:solidFill>
                <a:latin typeface="Consolas" pitchFamily="49" charset="0"/>
                <a:ea typeface="仿宋" pitchFamily="49" charset="-122"/>
                <a:cs typeface="Consolas" pitchFamily="49" charset="0"/>
              </a:rPr>
              <a:t>左拐，为此删</a:t>
            </a:r>
            <a:r>
              <a:rPr lang="zh-CN" altLang="en-US" dirty="0">
                <a:solidFill>
                  <a:srgbClr val="0000FF"/>
                </a:solidFill>
                <a:latin typeface="Consolas" pitchFamily="49" charset="0"/>
                <a:ea typeface="仿宋" pitchFamily="49" charset="-122"/>
                <a:cs typeface="Consolas" pitchFamily="49" charset="0"/>
              </a:rPr>
              <a:t>除出现右拐的</a:t>
            </a:r>
            <a:r>
              <a:rPr lang="zh-CN" altLang="en-US">
                <a:solidFill>
                  <a:srgbClr val="0000FF"/>
                </a:solidFill>
                <a:latin typeface="Consolas" pitchFamily="49" charset="0"/>
                <a:ea typeface="仿宋" pitchFamily="49" charset="-122"/>
                <a:cs typeface="Consolas" pitchFamily="49" charset="0"/>
              </a:rPr>
              <a:t>点。</a:t>
            </a:r>
            <a:endParaRPr lang="zh-CN" altLang="en-US" dirty="0">
              <a:solidFill>
                <a:srgbClr val="0000FF"/>
              </a:solidFill>
              <a:latin typeface="Consolas" pitchFamily="49" charset="0"/>
              <a:ea typeface="仿宋" pitchFamily="49" charset="-122"/>
              <a:cs typeface="Consolas" pitchFamily="49" charset="0"/>
            </a:endParaRPr>
          </a:p>
        </p:txBody>
      </p:sp>
      <p:sp>
        <p:nvSpPr>
          <p:cNvPr id="17" name="椭圆 16"/>
          <p:cNvSpPr/>
          <p:nvPr/>
        </p:nvSpPr>
        <p:spPr>
          <a:xfrm>
            <a:off x="2857488" y="3714752"/>
            <a:ext cx="108000" cy="142876"/>
          </a:xfrm>
          <a:prstGeom prst="ellipse">
            <a:avLst/>
          </a:prstGeom>
          <a:solidFill>
            <a:sysClr val="windowText" lastClr="000000"/>
          </a:solidFill>
          <a:ln w="25400" cap="flat" cmpd="sng" algn="ctr">
            <a:solidFill>
              <a:sysClr val="windowText" lastClr="000000">
                <a:shade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Franklin Gothic Book"/>
              <a:ea typeface="华文楷体"/>
              <a:cs typeface="+mn-cs"/>
            </a:endParaRPr>
          </a:p>
        </p:txBody>
      </p:sp>
      <p:cxnSp>
        <p:nvCxnSpPr>
          <p:cNvPr id="18" name="直接箭头连接符 17"/>
          <p:cNvCxnSpPr/>
          <p:nvPr/>
        </p:nvCxnSpPr>
        <p:spPr>
          <a:xfrm rot="5400000" flipH="1" flipV="1">
            <a:off x="2881350" y="4214818"/>
            <a:ext cx="928694" cy="642942"/>
          </a:xfrm>
          <a:prstGeom prst="straightConnector1">
            <a:avLst/>
          </a:prstGeom>
          <a:noFill/>
          <a:ln w="25400" cap="flat" cmpd="sng" algn="ctr">
            <a:solidFill>
              <a:srgbClr val="C00000"/>
            </a:solidFill>
            <a:prstDash val="dash"/>
            <a:tailEnd type="arrow"/>
          </a:ln>
          <a:effectLst>
            <a:outerShdw blurRad="76200" dist="50800" dir="5400000" rotWithShape="0">
              <a:srgbClr val="4E3B30">
                <a:alpha val="60000"/>
              </a:srgbClr>
            </a:outerShdw>
          </a:effectLst>
        </p:spPr>
      </p:cxnSp>
      <p:sp>
        <p:nvSpPr>
          <p:cNvPr id="19" name="椭圆 18"/>
          <p:cNvSpPr/>
          <p:nvPr/>
        </p:nvSpPr>
        <p:spPr>
          <a:xfrm>
            <a:off x="2773350" y="4071942"/>
            <a:ext cx="108000" cy="142876"/>
          </a:xfrm>
          <a:prstGeom prst="ellipse">
            <a:avLst/>
          </a:prstGeom>
          <a:solidFill>
            <a:sysClr val="windowText" lastClr="000000"/>
          </a:solidFill>
          <a:ln w="25400" cap="flat" cmpd="sng" algn="ctr">
            <a:solidFill>
              <a:sysClr val="windowText" lastClr="000000">
                <a:shade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Franklin Gothic Book"/>
              <a:ea typeface="华文楷体"/>
              <a:cs typeface="+mn-cs"/>
            </a:endParaRPr>
          </a:p>
        </p:txBody>
      </p:sp>
      <p:sp>
        <p:nvSpPr>
          <p:cNvPr id="20" name="椭圆 19"/>
          <p:cNvSpPr/>
          <p:nvPr/>
        </p:nvSpPr>
        <p:spPr>
          <a:xfrm>
            <a:off x="4214810" y="3714752"/>
            <a:ext cx="108000" cy="142876"/>
          </a:xfrm>
          <a:prstGeom prst="ellipse">
            <a:avLst/>
          </a:prstGeom>
          <a:solidFill>
            <a:sysClr val="windowText" lastClr="000000"/>
          </a:solidFill>
          <a:ln w="25400" cap="flat" cmpd="sng" algn="ctr">
            <a:solidFill>
              <a:sysClr val="windowText" lastClr="000000">
                <a:shade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Franklin Gothic Book"/>
              <a:ea typeface="华文楷体"/>
              <a:cs typeface="+mn-cs"/>
            </a:endParaRPr>
          </a:p>
        </p:txBody>
      </p:sp>
      <p:sp>
        <p:nvSpPr>
          <p:cNvPr id="21" name="TextBox 20"/>
          <p:cNvSpPr txBox="1"/>
          <p:nvPr/>
        </p:nvSpPr>
        <p:spPr>
          <a:xfrm>
            <a:off x="2595598" y="4600526"/>
            <a:ext cx="428628" cy="400110"/>
          </a:xfrm>
          <a:prstGeom prst="rect">
            <a:avLst/>
          </a:prstGeom>
          <a:noFill/>
        </p:spPr>
        <p:txBody>
          <a:bodyPr wrap="square" rtlCol="0">
            <a:spAutoFit/>
          </a:bodyPr>
          <a:lstStyle/>
          <a:p>
            <a:r>
              <a:rPr lang="en-US" sz="2000" i="1">
                <a:solidFill>
                  <a:srgbClr val="0000FF"/>
                </a:solidFill>
                <a:latin typeface="Consolas" pitchFamily="49" charset="0"/>
                <a:cs typeface="Consolas" pitchFamily="49" charset="0"/>
                <a:sym typeface="Symbol"/>
              </a:rPr>
              <a:t>p</a:t>
            </a:r>
            <a:r>
              <a:rPr lang="en-US" sz="2000" baseline="-25000">
                <a:solidFill>
                  <a:srgbClr val="0000FF"/>
                </a:solidFill>
                <a:latin typeface="Consolas" pitchFamily="49" charset="0"/>
                <a:cs typeface="Consolas" pitchFamily="49" charset="0"/>
                <a:sym typeface="Symbol"/>
              </a:rPr>
              <a:t>0</a:t>
            </a:r>
            <a:endParaRPr lang="zh-CN" altLang="en-US" sz="2000" baseline="-25000">
              <a:solidFill>
                <a:srgbClr val="0000FF"/>
              </a:solidFill>
              <a:latin typeface="Consolas" pitchFamily="49" charset="0"/>
              <a:cs typeface="Consolas" pitchFamily="49" charset="0"/>
            </a:endParaRPr>
          </a:p>
        </p:txBody>
      </p:sp>
      <p:sp>
        <p:nvSpPr>
          <p:cNvPr id="22" name="任意多边形 21"/>
          <p:cNvSpPr/>
          <p:nvPr/>
        </p:nvSpPr>
        <p:spPr>
          <a:xfrm>
            <a:off x="4381548" y="3143248"/>
            <a:ext cx="660400" cy="1676400"/>
          </a:xfrm>
          <a:custGeom>
            <a:avLst/>
            <a:gdLst>
              <a:gd name="connsiteX0" fmla="*/ 0 w 660400"/>
              <a:gd name="connsiteY0" fmla="*/ 0 h 1676400"/>
              <a:gd name="connsiteX1" fmla="*/ 355600 w 660400"/>
              <a:gd name="connsiteY1" fmla="*/ 419100 h 1676400"/>
              <a:gd name="connsiteX2" fmla="*/ 609600 w 660400"/>
              <a:gd name="connsiteY2" fmla="*/ 1181100 h 1676400"/>
              <a:gd name="connsiteX3" fmla="*/ 660400 w 660400"/>
              <a:gd name="connsiteY3" fmla="*/ 1676400 h 1676400"/>
            </a:gdLst>
            <a:ahLst/>
            <a:cxnLst>
              <a:cxn ang="0">
                <a:pos x="connsiteX0" y="connsiteY0"/>
              </a:cxn>
              <a:cxn ang="0">
                <a:pos x="connsiteX1" y="connsiteY1"/>
              </a:cxn>
              <a:cxn ang="0">
                <a:pos x="connsiteX2" y="connsiteY2"/>
              </a:cxn>
              <a:cxn ang="0">
                <a:pos x="connsiteX3" y="connsiteY3"/>
              </a:cxn>
            </a:cxnLst>
            <a:rect l="l" t="t" r="r" b="b"/>
            <a:pathLst>
              <a:path w="660400" h="1676400">
                <a:moveTo>
                  <a:pt x="0" y="0"/>
                </a:moveTo>
                <a:cubicBezTo>
                  <a:pt x="127000" y="111125"/>
                  <a:pt x="254000" y="222250"/>
                  <a:pt x="355600" y="419100"/>
                </a:cubicBezTo>
                <a:cubicBezTo>
                  <a:pt x="457200" y="615950"/>
                  <a:pt x="558800" y="971550"/>
                  <a:pt x="609600" y="1181100"/>
                </a:cubicBezTo>
                <a:cubicBezTo>
                  <a:pt x="660400" y="1390650"/>
                  <a:pt x="660400" y="1533525"/>
                  <a:pt x="660400" y="1676400"/>
                </a:cubicBezTo>
              </a:path>
            </a:pathLst>
          </a:custGeom>
          <a:noFill/>
          <a:ln w="38100" cap="flat" cmpd="sng" algn="ctr">
            <a:solidFill>
              <a:srgbClr val="FF0000"/>
            </a:solidFill>
            <a:prstDash val="dash"/>
            <a:headEnd type="arrow"/>
            <a:tailEnd type="none"/>
          </a:ln>
          <a:effectLst>
            <a:outerShdw blurRad="76200" dist="50800" dir="5400000" rotWithShape="0">
              <a:srgbClr val="4E3B30">
                <a:alpha val="6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Franklin Gothic Book"/>
              <a:ea typeface="华文楷体"/>
              <a:cs typeface="+mn-cs"/>
            </a:endParaRPr>
          </a:p>
        </p:txBody>
      </p:sp>
      <p:sp>
        <p:nvSpPr>
          <p:cNvPr id="23" name="椭圆 22"/>
          <p:cNvSpPr/>
          <p:nvPr/>
        </p:nvSpPr>
        <p:spPr>
          <a:xfrm>
            <a:off x="3654105" y="3987441"/>
            <a:ext cx="108000" cy="142876"/>
          </a:xfrm>
          <a:prstGeom prst="ellipse">
            <a:avLst/>
          </a:prstGeom>
          <a:solidFill>
            <a:sysClr val="windowText" lastClr="000000"/>
          </a:solidFill>
          <a:ln w="25400" cap="flat" cmpd="sng" algn="ctr">
            <a:solidFill>
              <a:sysClr val="windowText" lastClr="000000">
                <a:shade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Franklin Gothic Book"/>
              <a:ea typeface="华文楷体"/>
              <a:cs typeface="+mn-cs"/>
            </a:endParaRPr>
          </a:p>
        </p:txBody>
      </p:sp>
      <p:sp>
        <p:nvSpPr>
          <p:cNvPr id="24" name="椭圆 23"/>
          <p:cNvSpPr/>
          <p:nvPr/>
        </p:nvSpPr>
        <p:spPr>
          <a:xfrm>
            <a:off x="3952920" y="4214818"/>
            <a:ext cx="108000" cy="142876"/>
          </a:xfrm>
          <a:prstGeom prst="ellipse">
            <a:avLst/>
          </a:prstGeom>
          <a:solidFill>
            <a:srgbClr val="FF0000"/>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Franklin Gothic Book"/>
              <a:ea typeface="华文楷体"/>
              <a:cs typeface="+mn-cs"/>
            </a:endParaRPr>
          </a:p>
        </p:txBody>
      </p:sp>
      <p:cxnSp>
        <p:nvCxnSpPr>
          <p:cNvPr id="25" name="直接箭头连接符 24"/>
          <p:cNvCxnSpPr>
            <a:stCxn id="23" idx="6"/>
            <a:endCxn id="24" idx="1"/>
          </p:cNvCxnSpPr>
          <p:nvPr/>
        </p:nvCxnSpPr>
        <p:spPr>
          <a:xfrm>
            <a:off x="3762105" y="4058879"/>
            <a:ext cx="206631" cy="176863"/>
          </a:xfrm>
          <a:prstGeom prst="straightConnector1">
            <a:avLst/>
          </a:prstGeom>
          <a:noFill/>
          <a:ln w="25400" cap="flat" cmpd="sng" algn="ctr">
            <a:solidFill>
              <a:srgbClr val="006600"/>
            </a:solidFill>
            <a:prstDash val="solid"/>
            <a:tailEnd type="arrow"/>
          </a:ln>
          <a:effectLst>
            <a:outerShdw blurRad="76200" dist="50800" dir="5400000" rotWithShape="0">
              <a:srgbClr val="4E3B30">
                <a:alpha val="60000"/>
              </a:srgbClr>
            </a:outerShdw>
          </a:effectLst>
        </p:spPr>
      </p:cxnSp>
      <p:sp>
        <p:nvSpPr>
          <p:cNvPr id="26" name="TextBox 25"/>
          <p:cNvSpPr txBox="1"/>
          <p:nvPr/>
        </p:nvSpPr>
        <p:spPr>
          <a:xfrm>
            <a:off x="4024358" y="4214818"/>
            <a:ext cx="428628" cy="400110"/>
          </a:xfrm>
          <a:prstGeom prst="rect">
            <a:avLst/>
          </a:prstGeom>
          <a:noFill/>
        </p:spPr>
        <p:txBody>
          <a:bodyPr wrap="square" rtlCol="0">
            <a:spAutoFit/>
          </a:bodyPr>
          <a:lstStyle/>
          <a:p>
            <a:r>
              <a:rPr lang="en-US" sz="2000" i="1">
                <a:solidFill>
                  <a:srgbClr val="FF0000"/>
                </a:solidFill>
                <a:latin typeface="Consolas" pitchFamily="49" charset="0"/>
                <a:cs typeface="Consolas" pitchFamily="49" charset="0"/>
                <a:sym typeface="Symbol"/>
              </a:rPr>
              <a:t>p</a:t>
            </a:r>
            <a:r>
              <a:rPr lang="en-US" sz="2000" baseline="-25000">
                <a:solidFill>
                  <a:srgbClr val="FF0000"/>
                </a:solidFill>
                <a:latin typeface="Consolas" pitchFamily="49" charset="0"/>
                <a:cs typeface="Consolas" pitchFamily="49" charset="0"/>
                <a:sym typeface="Symbol"/>
              </a:rPr>
              <a:t>2</a:t>
            </a:r>
            <a:endParaRPr lang="zh-CN" altLang="en-US" sz="2000" baseline="-25000">
              <a:solidFill>
                <a:srgbClr val="FF0000"/>
              </a:solidFill>
              <a:latin typeface="Consolas" pitchFamily="49" charset="0"/>
              <a:cs typeface="Consolas" pitchFamily="49" charset="0"/>
            </a:endParaRPr>
          </a:p>
        </p:txBody>
      </p:sp>
      <p:sp>
        <p:nvSpPr>
          <p:cNvPr id="27" name="TextBox 26"/>
          <p:cNvSpPr txBox="1"/>
          <p:nvPr/>
        </p:nvSpPr>
        <p:spPr>
          <a:xfrm>
            <a:off x="3452854" y="3600394"/>
            <a:ext cx="428628" cy="400110"/>
          </a:xfrm>
          <a:prstGeom prst="rect">
            <a:avLst/>
          </a:prstGeom>
          <a:noFill/>
        </p:spPr>
        <p:txBody>
          <a:bodyPr wrap="square" rtlCol="0">
            <a:spAutoFit/>
          </a:bodyPr>
          <a:lstStyle/>
          <a:p>
            <a:r>
              <a:rPr lang="en-US" sz="2000" i="1">
                <a:solidFill>
                  <a:srgbClr val="0000FF"/>
                </a:solidFill>
                <a:latin typeface="Consolas" pitchFamily="49" charset="0"/>
                <a:cs typeface="Consolas" pitchFamily="49" charset="0"/>
                <a:sym typeface="Symbol"/>
              </a:rPr>
              <a:t>p</a:t>
            </a:r>
            <a:r>
              <a:rPr lang="en-US" sz="2000" baseline="-25000">
                <a:solidFill>
                  <a:srgbClr val="0000FF"/>
                </a:solidFill>
                <a:latin typeface="Consolas" pitchFamily="49" charset="0"/>
                <a:cs typeface="Consolas" pitchFamily="49" charset="0"/>
                <a:sym typeface="Symbol"/>
              </a:rPr>
              <a:t>1</a:t>
            </a:r>
            <a:endParaRPr lang="zh-CN" altLang="en-US" sz="2000" baseline="-25000">
              <a:solidFill>
                <a:srgbClr val="0000FF"/>
              </a:solidFill>
              <a:latin typeface="Consolas" pitchFamily="49" charset="0"/>
              <a:cs typeface="Consolas" pitchFamily="49" charset="0"/>
            </a:endParaRPr>
          </a:p>
        </p:txBody>
      </p:sp>
      <p:sp>
        <p:nvSpPr>
          <p:cNvPr id="28" name="椭圆 27"/>
          <p:cNvSpPr/>
          <p:nvPr/>
        </p:nvSpPr>
        <p:spPr>
          <a:xfrm>
            <a:off x="2925750" y="4974510"/>
            <a:ext cx="108000" cy="142876"/>
          </a:xfrm>
          <a:prstGeom prst="ellipse">
            <a:avLst/>
          </a:prstGeom>
          <a:solidFill>
            <a:sysClr val="windowText" lastClr="000000"/>
          </a:solidFill>
          <a:ln w="25400" cap="flat" cmpd="sng" algn="ctr">
            <a:solidFill>
              <a:sysClr val="windowText" lastClr="000000">
                <a:shade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Franklin Gothic Book"/>
              <a:ea typeface="华文楷体"/>
              <a:cs typeface="+mn-cs"/>
            </a:endParaRPr>
          </a:p>
        </p:txBody>
      </p:sp>
      <p:sp>
        <p:nvSpPr>
          <p:cNvPr id="31" name="TextBox 30"/>
          <p:cNvSpPr txBox="1"/>
          <p:nvPr/>
        </p:nvSpPr>
        <p:spPr>
          <a:xfrm>
            <a:off x="3071802" y="5143512"/>
            <a:ext cx="2714644" cy="430887"/>
          </a:xfrm>
          <a:prstGeom prst="rect">
            <a:avLst/>
          </a:prstGeom>
          <a:noFill/>
        </p:spPr>
        <p:txBody>
          <a:bodyPr wrap="square" rtlCol="0">
            <a:spAutoFit/>
          </a:bodyPr>
          <a:lstStyle/>
          <a:p>
            <a:r>
              <a:rPr lang="zh-CN" altLang="en-US" sz="2200">
                <a:solidFill>
                  <a:srgbClr val="0000FF"/>
                </a:solidFill>
                <a:latin typeface="Consolas" pitchFamily="49" charset="0"/>
                <a:ea typeface="仿宋" pitchFamily="49" charset="-122"/>
              </a:rPr>
              <a:t>删除</a:t>
            </a:r>
            <a:r>
              <a:rPr lang="zh-CN" altLang="en-US" sz="2200">
                <a:solidFill>
                  <a:srgbClr val="0000FF"/>
                </a:solidFill>
                <a:latin typeface="Consolas" pitchFamily="49" charset="0"/>
                <a:ea typeface="仿宋" pitchFamily="49" charset="-122"/>
                <a:cs typeface="Consolas" pitchFamily="49" charset="0"/>
              </a:rPr>
              <a:t>右拐的点</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1</a:t>
            </a:r>
            <a:endParaRPr lang="zh-CN" altLang="en-US" sz="2200" baseline="-25000">
              <a:solidFill>
                <a:srgbClr val="0000FF"/>
              </a:solidFill>
              <a:latin typeface="Consolas" pitchFamily="49" charset="0"/>
              <a:ea typeface="仿宋" pitchFamily="49" charset="-122"/>
            </a:endParaRPr>
          </a:p>
        </p:txBody>
      </p:sp>
      <p:sp>
        <p:nvSpPr>
          <p:cNvPr id="30" name="灯片编号占位符 29"/>
          <p:cNvSpPr>
            <a:spLocks noGrp="1"/>
          </p:cNvSpPr>
          <p:nvPr>
            <p:ph type="sldNum" sz="quarter" idx="12"/>
          </p:nvPr>
        </p:nvSpPr>
        <p:spPr/>
        <p:txBody>
          <a:bodyPr/>
          <a:lstStyle/>
          <a:p>
            <a:pPr>
              <a:defRPr/>
            </a:pPr>
            <a:fld id="{51116183-1013-4E64-BBE8-A5C1D5D4F838}" type="slidenum">
              <a:rPr lang="en-US" altLang="zh-CN" smtClean="0"/>
              <a:pPr>
                <a:defRPr/>
              </a:pPr>
              <a:t>99</a:t>
            </a:fld>
            <a:r>
              <a:rPr lang="en-US" altLang="zh-CN"/>
              <a:t>/167</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Text Box 3"/>
          <p:cNvSpPr txBox="1">
            <a:spLocks noChangeArrowheads="1"/>
          </p:cNvSpPr>
          <p:nvPr/>
        </p:nvSpPr>
        <p:spPr bwMode="auto">
          <a:xfrm>
            <a:off x="571472" y="1142984"/>
            <a:ext cx="7993062" cy="1887696"/>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通</a:t>
            </a:r>
            <a:r>
              <a:rPr lang="zh-CN" altLang="en-US" dirty="0">
                <a:solidFill>
                  <a:srgbClr val="0000FF"/>
                </a:solidFill>
                <a:latin typeface="Consolas" pitchFamily="49" charset="0"/>
                <a:ea typeface="仿宋" pitchFamily="49" charset="-122"/>
                <a:cs typeface="Consolas" pitchFamily="49" charset="0"/>
              </a:rPr>
              <a:t>过设置一个关于</a:t>
            </a:r>
            <a:r>
              <a:rPr lang="zh-CN" altLang="en-US" dirty="0">
                <a:solidFill>
                  <a:srgbClr val="C00000"/>
                </a:solidFill>
                <a:latin typeface="Consolas" pitchFamily="49" charset="0"/>
                <a:ea typeface="仿宋" pitchFamily="49" charset="-122"/>
                <a:cs typeface="Consolas" pitchFamily="49" charset="0"/>
              </a:rPr>
              <a:t>候选点的栈</a:t>
            </a:r>
            <a:r>
              <a:rPr lang="en-US" altLang="zh-CN" err="1">
                <a:solidFill>
                  <a:srgbClr val="C00000"/>
                </a:solidFill>
                <a:latin typeface="Consolas" pitchFamily="49" charset="0"/>
                <a:ea typeface="仿宋" pitchFamily="49" charset="-122"/>
                <a:cs typeface="Consolas" pitchFamily="49" charset="0"/>
              </a:rPr>
              <a:t>ch</a:t>
            </a:r>
            <a:r>
              <a:rPr lang="zh-CN" altLang="en-US">
                <a:solidFill>
                  <a:srgbClr val="0000FF"/>
                </a:solidFill>
                <a:latin typeface="Consolas" pitchFamily="49" charset="0"/>
                <a:ea typeface="仿宋" pitchFamily="49" charset="-122"/>
                <a:cs typeface="Consolas" pitchFamily="49" charset="0"/>
              </a:rPr>
              <a:t>来存放凸包。</a:t>
            </a:r>
            <a:endParaRPr lang="en-US" altLang="zh-CN">
              <a:solidFill>
                <a:srgbClr val="0000FF"/>
              </a:solidFill>
              <a:latin typeface="Consolas" pitchFamily="49" charset="0"/>
              <a:ea typeface="仿宋" pitchFamily="49" charset="-122"/>
              <a:cs typeface="Consolas" pitchFamily="49" charset="0"/>
            </a:endParaRPr>
          </a:p>
          <a:p>
            <a:pPr marL="457200" indent="-457200">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点集</a:t>
            </a:r>
            <a:r>
              <a:rPr lang="en-US" altLang="zh-CN" i="1">
                <a:solidFill>
                  <a:srgbClr val="0000FF"/>
                </a:solidFill>
                <a:latin typeface="Consolas" pitchFamily="49" charset="0"/>
                <a:ea typeface="仿宋" pitchFamily="49" charset="-122"/>
                <a:cs typeface="Consolas" pitchFamily="49" charset="0"/>
              </a:rPr>
              <a:t>a</a:t>
            </a:r>
            <a:r>
              <a:rPr lang="zh-CN" altLang="en-US">
                <a:solidFill>
                  <a:srgbClr val="0000FF"/>
                </a:solidFill>
                <a:latin typeface="Consolas" pitchFamily="49" charset="0"/>
                <a:ea typeface="仿宋" pitchFamily="49" charset="-122"/>
                <a:cs typeface="Consolas" pitchFamily="49" charset="0"/>
              </a:rPr>
              <a:t>中</a:t>
            </a:r>
            <a:r>
              <a:rPr lang="zh-CN" altLang="en-US" dirty="0">
                <a:solidFill>
                  <a:srgbClr val="0000FF"/>
                </a:solidFill>
                <a:latin typeface="Consolas" pitchFamily="49" charset="0"/>
                <a:ea typeface="仿宋" pitchFamily="49" charset="-122"/>
                <a:cs typeface="Consolas" pitchFamily="49" charset="0"/>
              </a:rPr>
              <a:t>的每个点都进栈</a:t>
            </a:r>
            <a:r>
              <a:rPr lang="zh-CN" altLang="en-US">
                <a:solidFill>
                  <a:srgbClr val="0000FF"/>
                </a:solidFill>
                <a:latin typeface="Consolas" pitchFamily="49" charset="0"/>
                <a:ea typeface="仿宋" pitchFamily="49" charset="-122"/>
                <a:cs typeface="Consolas" pitchFamily="49" charset="0"/>
              </a:rPr>
              <a:t>一次，非</a:t>
            </a:r>
            <a:r>
              <a:rPr lang="zh-CN" altLang="en-US" dirty="0">
                <a:solidFill>
                  <a:srgbClr val="0000FF"/>
                </a:solidFill>
                <a:latin typeface="Consolas" pitchFamily="49" charset="0"/>
                <a:ea typeface="仿宋" pitchFamily="49" charset="-122"/>
                <a:cs typeface="Consolas" pitchFamily="49" charset="0"/>
              </a:rPr>
              <a:t>凸包中的顶点最终将</a:t>
            </a:r>
            <a:r>
              <a:rPr lang="zh-CN" altLang="en-US">
                <a:solidFill>
                  <a:srgbClr val="0000FF"/>
                </a:solidFill>
                <a:latin typeface="Consolas" pitchFamily="49" charset="0"/>
                <a:ea typeface="仿宋" pitchFamily="49" charset="-122"/>
                <a:cs typeface="Consolas" pitchFamily="49" charset="0"/>
              </a:rPr>
              <a:t>出栈，当</a:t>
            </a:r>
            <a:r>
              <a:rPr lang="zh-CN" altLang="en-US" dirty="0">
                <a:solidFill>
                  <a:srgbClr val="0000FF"/>
                </a:solidFill>
                <a:latin typeface="Consolas" pitchFamily="49" charset="0"/>
                <a:ea typeface="仿宋" pitchFamily="49" charset="-122"/>
                <a:cs typeface="Consolas" pitchFamily="49" charset="0"/>
              </a:rPr>
              <a:t>算法终</a:t>
            </a:r>
            <a:r>
              <a:rPr lang="zh-CN" altLang="en-US">
                <a:solidFill>
                  <a:srgbClr val="0000FF"/>
                </a:solidFill>
                <a:latin typeface="Consolas" pitchFamily="49" charset="0"/>
                <a:ea typeface="仿宋" pitchFamily="49" charset="-122"/>
                <a:cs typeface="Consolas" pitchFamily="49" charset="0"/>
              </a:rPr>
              <a:t>止时，栈</a:t>
            </a:r>
            <a:r>
              <a:rPr lang="zh-CN" altLang="en-US" dirty="0">
                <a:solidFill>
                  <a:srgbClr val="0000FF"/>
                </a:solidFill>
                <a:latin typeface="Consolas" pitchFamily="49" charset="0"/>
                <a:ea typeface="仿宋" pitchFamily="49" charset="-122"/>
                <a:cs typeface="Consolas" pitchFamily="49" charset="0"/>
              </a:rPr>
              <a:t>中仅包含凸包中</a:t>
            </a:r>
            <a:r>
              <a:rPr lang="zh-CN" altLang="en-US">
                <a:solidFill>
                  <a:srgbClr val="0000FF"/>
                </a:solidFill>
                <a:latin typeface="Consolas" pitchFamily="49" charset="0"/>
                <a:ea typeface="仿宋" pitchFamily="49" charset="-122"/>
                <a:cs typeface="Consolas" pitchFamily="49" charset="0"/>
              </a:rPr>
              <a:t>的点，其</a:t>
            </a:r>
            <a:r>
              <a:rPr lang="zh-CN" altLang="en-US" dirty="0">
                <a:solidFill>
                  <a:srgbClr val="0000FF"/>
                </a:solidFill>
                <a:latin typeface="Consolas" pitchFamily="49" charset="0"/>
                <a:ea typeface="仿宋" pitchFamily="49" charset="-122"/>
                <a:cs typeface="Consolas" pitchFamily="49" charset="0"/>
              </a:rPr>
              <a:t>顺序为各点在边界上出现的逆时针方向排列的顺序。</a:t>
            </a: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100</a:t>
            </a:fld>
            <a:r>
              <a:rPr lang="en-US" altLang="zh-CN"/>
              <a:t>/167</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2"/>
          <p:cNvSpPr txBox="1">
            <a:spLocks noChangeArrowheads="1"/>
          </p:cNvSpPr>
          <p:nvPr/>
        </p:nvSpPr>
        <p:spPr bwMode="auto">
          <a:xfrm>
            <a:off x="285720" y="645174"/>
            <a:ext cx="8501122" cy="461665"/>
          </a:xfrm>
          <a:prstGeom prst="rect">
            <a:avLst/>
          </a:prstGeom>
          <a:noFill/>
          <a:ln w="9525">
            <a:noFill/>
            <a:miter lim="800000"/>
            <a:headEnd/>
            <a:tailEnd/>
          </a:ln>
        </p:spPr>
        <p:txBody>
          <a:bodyPr wrap="square">
            <a:spAutoFit/>
          </a:bodyPr>
          <a:lstStyle/>
          <a:p>
            <a:pPr>
              <a:spcBef>
                <a:spcPct val="50000"/>
              </a:spcBef>
            </a:pPr>
            <a:r>
              <a:rPr lang="zh-CN" altLang="en-US">
                <a:solidFill>
                  <a:srgbClr val="0000FF"/>
                </a:solidFill>
                <a:latin typeface="Consolas" pitchFamily="49" charset="0"/>
                <a:ea typeface="仿宋" pitchFamily="49" charset="-122"/>
                <a:cs typeface="Consolas" pitchFamily="49" charset="0"/>
              </a:rPr>
              <a:t>对于给定的</a:t>
            </a:r>
            <a:r>
              <a:rPr lang="en-US" altLang="zh-CN" i="1">
                <a:solidFill>
                  <a:srgbClr val="0000FF"/>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个点</a:t>
            </a:r>
            <a:r>
              <a:rPr lang="en-US" altLang="zh-CN" i="1">
                <a:solidFill>
                  <a:srgbClr val="0000FF"/>
                </a:solidFill>
                <a:latin typeface="Consolas" pitchFamily="49" charset="0"/>
                <a:ea typeface="仿宋" pitchFamily="49" charset="-122"/>
                <a:cs typeface="Consolas" pitchFamily="49" charset="0"/>
              </a:rPr>
              <a:t>a</a:t>
            </a:r>
            <a:r>
              <a:rPr lang="en-US" altLang="zh-CN">
                <a:solidFill>
                  <a:srgbClr val="0000FF"/>
                </a:solidFill>
                <a:latin typeface="Consolas" pitchFamily="49" charset="0"/>
                <a:ea typeface="仿宋" pitchFamily="49" charset="-122"/>
                <a:cs typeface="Consolas" pitchFamily="49" charset="0"/>
              </a:rPr>
              <a:t>[0..</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Graham</a:t>
            </a:r>
            <a:r>
              <a:rPr lang="zh-CN" altLang="en-US">
                <a:solidFill>
                  <a:srgbClr val="0000FF"/>
                </a:solidFill>
                <a:latin typeface="Consolas" pitchFamily="49" charset="0"/>
                <a:ea typeface="仿宋" pitchFamily="49" charset="-122"/>
                <a:cs typeface="Consolas" pitchFamily="49" charset="0"/>
              </a:rPr>
              <a:t>扫描法求凸包步骤如下：</a:t>
            </a:r>
          </a:p>
        </p:txBody>
      </p:sp>
      <p:sp>
        <p:nvSpPr>
          <p:cNvPr id="18436" name="Text Box 3"/>
          <p:cNvSpPr txBox="1">
            <a:spLocks noChangeArrowheads="1"/>
          </p:cNvSpPr>
          <p:nvPr/>
        </p:nvSpPr>
        <p:spPr bwMode="auto">
          <a:xfrm>
            <a:off x="357158" y="1497628"/>
            <a:ext cx="8358246" cy="1323439"/>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nSpc>
                <a:spcPts val="3200"/>
              </a:lnSpc>
              <a:spcBef>
                <a:spcPts val="600"/>
              </a:spcBef>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）从所有点中求出找最下且偏左的点</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k</a:t>
            </a:r>
            <a:r>
              <a:rPr lang="en-US"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y</a:t>
            </a:r>
            <a:r>
              <a:rPr lang="zh-CN" altLang="en-US" sz="2200">
                <a:solidFill>
                  <a:srgbClr val="0000FF"/>
                </a:solidFill>
                <a:latin typeface="Consolas" pitchFamily="49" charset="0"/>
                <a:ea typeface="仿宋" pitchFamily="49" charset="-122"/>
                <a:cs typeface="Consolas" pitchFamily="49" charset="0"/>
              </a:rPr>
              <a:t>坐标最小者，若有多个这样的点，选其中</a:t>
            </a:r>
            <a:r>
              <a:rPr lang="en-US" altLang="zh-CN" sz="2200" i="1">
                <a:solidFill>
                  <a:srgbClr val="0000FF"/>
                </a:solidFill>
                <a:latin typeface="Consolas" pitchFamily="49" charset="0"/>
                <a:ea typeface="仿宋" pitchFamily="49" charset="-122"/>
                <a:cs typeface="Consolas" pitchFamily="49" charset="0"/>
              </a:rPr>
              <a:t>x</a:t>
            </a:r>
            <a:r>
              <a:rPr lang="zh-CN" altLang="en-US" sz="2200">
                <a:solidFill>
                  <a:srgbClr val="0000FF"/>
                </a:solidFill>
                <a:latin typeface="Consolas" pitchFamily="49" charset="0"/>
                <a:ea typeface="仿宋" pitchFamily="49" charset="-122"/>
                <a:cs typeface="Consolas" pitchFamily="49" charset="0"/>
              </a:rPr>
              <a:t>坐标最小者）。通过交换将</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k</a:t>
            </a:r>
            <a:r>
              <a:rPr lang="en-US"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放到</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中，并置全局变量</a:t>
            </a:r>
            <a:r>
              <a:rPr lang="en-US" altLang="zh-CN" sz="2200">
                <a:solidFill>
                  <a:srgbClr val="FF0000"/>
                </a:solidFill>
                <a:latin typeface="Consolas" pitchFamily="49" charset="0"/>
                <a:ea typeface="仿宋" pitchFamily="49" charset="-122"/>
                <a:cs typeface="Consolas" pitchFamily="49" charset="0"/>
              </a:rPr>
              <a:t>p</a:t>
            </a:r>
            <a:r>
              <a:rPr lang="en-US" altLang="zh-CN" sz="2200" baseline="-25000">
                <a:solidFill>
                  <a:srgbClr val="FF0000"/>
                </a:solidFill>
                <a:latin typeface="Consolas" pitchFamily="49" charset="0"/>
                <a:ea typeface="仿宋" pitchFamily="49" charset="-122"/>
                <a:cs typeface="Consolas" pitchFamily="49" charset="0"/>
              </a:rPr>
              <a:t>0</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　　</a:t>
            </a:r>
          </a:p>
        </p:txBody>
      </p:sp>
      <p:sp>
        <p:nvSpPr>
          <p:cNvPr id="18437" name="Rectangle 5"/>
          <p:cNvSpPr>
            <a:spLocks noChangeArrowheads="1"/>
          </p:cNvSpPr>
          <p:nvPr/>
        </p:nvSpPr>
        <p:spPr bwMode="auto">
          <a:xfrm>
            <a:off x="0" y="3009900"/>
            <a:ext cx="9144000" cy="0"/>
          </a:xfrm>
          <a:prstGeom prst="rect">
            <a:avLst/>
          </a:prstGeom>
          <a:noFill/>
          <a:ln w="9525">
            <a:noFill/>
            <a:miter lim="800000"/>
            <a:headEnd/>
            <a:tailEnd/>
          </a:ln>
        </p:spPr>
        <p:txBody>
          <a:bodyPr wrap="none" anchor="ctr">
            <a:spAutoFit/>
          </a:bodyPr>
          <a:lstStyle/>
          <a:p>
            <a:endParaRPr lang="zh-CN" altLang="en-US"/>
          </a:p>
        </p:txBody>
      </p:sp>
      <p:sp>
        <p:nvSpPr>
          <p:cNvPr id="7" name="灯片编号占位符 6"/>
          <p:cNvSpPr>
            <a:spLocks noGrp="1"/>
          </p:cNvSpPr>
          <p:nvPr>
            <p:ph type="sldNum" sz="quarter" idx="12"/>
          </p:nvPr>
        </p:nvSpPr>
        <p:spPr/>
        <p:txBody>
          <a:bodyPr/>
          <a:lstStyle/>
          <a:p>
            <a:pPr>
              <a:defRPr/>
            </a:pPr>
            <a:fld id="{51116183-1013-4E64-BBE8-A5C1D5D4F838}" type="slidenum">
              <a:rPr lang="en-US" altLang="zh-CN" smtClean="0"/>
              <a:pPr>
                <a:defRPr/>
              </a:pPr>
              <a:t>101</a:t>
            </a:fld>
            <a:r>
              <a:rPr lang="en-US" altLang="zh-CN"/>
              <a:t>/167</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
          <p:cNvSpPr txBox="1">
            <a:spLocks noChangeArrowheads="1"/>
          </p:cNvSpPr>
          <p:nvPr/>
        </p:nvSpPr>
        <p:spPr bwMode="auto">
          <a:xfrm>
            <a:off x="357158" y="214290"/>
            <a:ext cx="8358246" cy="3221395"/>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nSpc>
                <a:spcPts val="3200"/>
              </a:lnSpc>
              <a:spcBef>
                <a:spcPts val="600"/>
              </a:spcBef>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）对</a:t>
            </a:r>
            <a:r>
              <a:rPr lang="en-US" altLang="zh-CN" sz="2200" i="1">
                <a:solidFill>
                  <a:srgbClr val="0000FF"/>
                </a:solidFill>
                <a:latin typeface="Consolas" pitchFamily="49" charset="0"/>
                <a:ea typeface="仿宋" pitchFamily="49" charset="-122"/>
                <a:cs typeface="Consolas" pitchFamily="49" charset="0"/>
              </a:rPr>
              <a:t>a</a:t>
            </a:r>
            <a:r>
              <a:rPr lang="zh-CN" altLang="en-US" sz="2200">
                <a:solidFill>
                  <a:srgbClr val="0000FF"/>
                </a:solidFill>
                <a:latin typeface="Consolas" pitchFamily="49" charset="0"/>
                <a:ea typeface="仿宋" pitchFamily="49" charset="-122"/>
                <a:cs typeface="Consolas" pitchFamily="49" charset="0"/>
              </a:rPr>
              <a:t>中所有点按以</a:t>
            </a:r>
            <a:r>
              <a:rPr lang="en-US" altLang="zh-CN" sz="2200">
                <a:solidFill>
                  <a:srgbClr val="0000FF"/>
                </a:solidFill>
                <a:latin typeface="Consolas" pitchFamily="49" charset="0"/>
                <a:ea typeface="仿宋" pitchFamily="49" charset="-122"/>
                <a:cs typeface="Consolas" pitchFamily="49" charset="0"/>
              </a:rPr>
              <a:t>p</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为中心的极角从小到大排序。</a:t>
            </a:r>
            <a:r>
              <a:rPr lang="zh-CN" altLang="zh-CN" sz="2200">
                <a:solidFill>
                  <a:srgbClr val="0000FF"/>
                </a:solidFill>
                <a:latin typeface="Consolas" pitchFamily="49" charset="0"/>
                <a:ea typeface="仿宋" pitchFamily="49" charset="-122"/>
              </a:rPr>
              <a:t>对于两个点</a:t>
            </a:r>
            <a:r>
              <a:rPr lang="en-US" altLang="zh-CN" sz="2200" i="1">
                <a:solidFill>
                  <a:srgbClr val="0000FF"/>
                </a:solidFill>
                <a:latin typeface="Consolas" pitchFamily="49" charset="0"/>
                <a:ea typeface="仿宋" pitchFamily="49" charset="-122"/>
              </a:rPr>
              <a:t>x</a:t>
            </a:r>
            <a:r>
              <a:rPr lang="zh-CN" altLang="zh-CN" sz="2200">
                <a:solidFill>
                  <a:srgbClr val="0000FF"/>
                </a:solidFill>
                <a:latin typeface="Consolas" pitchFamily="49" charset="0"/>
                <a:ea typeface="仿宋" pitchFamily="49" charset="-122"/>
              </a:rPr>
              <a:t>和</a:t>
            </a:r>
            <a:r>
              <a:rPr lang="en-US" altLang="zh-CN" sz="2200" i="1">
                <a:solidFill>
                  <a:srgbClr val="0000FF"/>
                </a:solidFill>
                <a:latin typeface="Consolas" pitchFamily="49" charset="0"/>
                <a:ea typeface="仿宋" pitchFamily="49" charset="-122"/>
              </a:rPr>
              <a:t>y</a:t>
            </a:r>
            <a:r>
              <a:rPr lang="zh-CN" altLang="zh-CN" sz="2200">
                <a:solidFill>
                  <a:srgbClr val="0000FF"/>
                </a:solidFill>
                <a:latin typeface="Consolas" pitchFamily="49" charset="0"/>
                <a:ea typeface="仿宋" pitchFamily="49" charset="-122"/>
              </a:rPr>
              <a:t>在排序中的比较方式（用</a:t>
            </a:r>
            <a:r>
              <a:rPr lang="en-US" altLang="zh-CN" sz="2200">
                <a:solidFill>
                  <a:srgbClr val="0000FF"/>
                </a:solidFill>
                <a:latin typeface="Consolas" pitchFamily="49" charset="0"/>
                <a:ea typeface="仿宋" pitchFamily="49" charset="-122"/>
              </a:rPr>
              <a:t>cmp</a:t>
            </a:r>
            <a:r>
              <a:rPr lang="zh-CN" altLang="zh-CN" sz="2200">
                <a:solidFill>
                  <a:srgbClr val="0000FF"/>
                </a:solidFill>
                <a:latin typeface="Consolas" pitchFamily="49" charset="0"/>
                <a:ea typeface="仿宋" pitchFamily="49" charset="-122"/>
              </a:rPr>
              <a:t>函数实现）如下：</a:t>
            </a:r>
          </a:p>
          <a:p>
            <a:pPr marL="914400" lvl="1" indent="-457200">
              <a:lnSpc>
                <a:spcPts val="3000"/>
              </a:lnSpc>
              <a:buFont typeface="+mj-ea"/>
              <a:buAutoNum type="circleNumDbPlain"/>
            </a:pPr>
            <a:r>
              <a:rPr lang="zh-CN" altLang="zh-CN" sz="2200">
                <a:solidFill>
                  <a:srgbClr val="0000FF"/>
                </a:solidFill>
                <a:latin typeface="Consolas" pitchFamily="49" charset="0"/>
                <a:ea typeface="仿宋" pitchFamily="49" charset="-122"/>
              </a:rPr>
              <a:t>若</a:t>
            </a:r>
            <a:r>
              <a:rPr lang="en-US" altLang="zh-CN" sz="2200">
                <a:solidFill>
                  <a:srgbClr val="FF0000"/>
                </a:solidFill>
                <a:latin typeface="Consolas" pitchFamily="49" charset="0"/>
                <a:ea typeface="仿宋" pitchFamily="49" charset="-122"/>
              </a:rPr>
              <a:t>Direction</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0</a:t>
            </a:r>
            <a:r>
              <a:rPr lang="zh-CN" altLang="zh-CN" sz="2200" baseline="-250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x</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y</a:t>
            </a:r>
            <a:r>
              <a:rPr lang="en-US" altLang="zh-CN" sz="2200">
                <a:solidFill>
                  <a:srgbClr val="0000FF"/>
                </a:solidFill>
                <a:latin typeface="Consolas" pitchFamily="49" charset="0"/>
                <a:ea typeface="仿宋" pitchFamily="49" charset="-122"/>
              </a:rPr>
              <a:t>)&gt;0</a:t>
            </a:r>
            <a:r>
              <a:rPr lang="zh-CN" altLang="zh-CN" sz="2200">
                <a:solidFill>
                  <a:srgbClr val="0000FF"/>
                </a:solidFill>
                <a:latin typeface="Consolas" pitchFamily="49" charset="0"/>
                <a:ea typeface="仿宋" pitchFamily="49" charset="-122"/>
              </a:rPr>
              <a:t>，如图所示，将点</a:t>
            </a:r>
            <a:r>
              <a:rPr lang="en-US" altLang="zh-CN" sz="2200" i="1">
                <a:solidFill>
                  <a:srgbClr val="0000FF"/>
                </a:solidFill>
                <a:latin typeface="Consolas" pitchFamily="49" charset="0"/>
                <a:ea typeface="仿宋" pitchFamily="49" charset="-122"/>
              </a:rPr>
              <a:t>x</a:t>
            </a:r>
            <a:r>
              <a:rPr lang="zh-CN" altLang="zh-CN" sz="2200">
                <a:solidFill>
                  <a:srgbClr val="0000FF"/>
                </a:solidFill>
                <a:latin typeface="Consolas" pitchFamily="49" charset="0"/>
                <a:ea typeface="仿宋" pitchFamily="49" charset="-122"/>
              </a:rPr>
              <a:t>排在点</a:t>
            </a:r>
            <a:r>
              <a:rPr lang="en-US" altLang="zh-CN" sz="2200" i="1">
                <a:solidFill>
                  <a:srgbClr val="0000FF"/>
                </a:solidFill>
                <a:latin typeface="Consolas" pitchFamily="49" charset="0"/>
                <a:ea typeface="仿宋" pitchFamily="49" charset="-122"/>
              </a:rPr>
              <a:t>y</a:t>
            </a:r>
            <a:r>
              <a:rPr lang="zh-CN" altLang="zh-CN" sz="2200">
                <a:solidFill>
                  <a:srgbClr val="0000FF"/>
                </a:solidFill>
                <a:latin typeface="Consolas" pitchFamily="49" charset="0"/>
                <a:ea typeface="仿宋" pitchFamily="49" charset="-122"/>
              </a:rPr>
              <a:t>的前面，即返回</a:t>
            </a:r>
            <a:r>
              <a:rPr lang="en-US" altLang="zh-CN" sz="2200">
                <a:solidFill>
                  <a:srgbClr val="0000FF"/>
                </a:solidFill>
                <a:latin typeface="Consolas" pitchFamily="49" charset="0"/>
                <a:ea typeface="仿宋" pitchFamily="49" charset="-122"/>
              </a:rPr>
              <a:t>true</a:t>
            </a:r>
            <a:r>
              <a:rPr lang="zh-CN" altLang="zh-CN" sz="2200">
                <a:solidFill>
                  <a:srgbClr val="0000FF"/>
                </a:solidFill>
                <a:latin typeface="Consolas" pitchFamily="49" charset="0"/>
                <a:ea typeface="仿宋" pitchFamily="49" charset="-122"/>
              </a:rPr>
              <a:t>。</a:t>
            </a:r>
          </a:p>
          <a:p>
            <a:pPr marL="914400" lvl="1" indent="-457200">
              <a:lnSpc>
                <a:spcPts val="3000"/>
              </a:lnSpc>
              <a:buFont typeface="+mj-ea"/>
              <a:buAutoNum type="circleNumDbPlain"/>
            </a:pPr>
            <a:r>
              <a:rPr lang="zh-CN" altLang="zh-CN" sz="2200">
                <a:solidFill>
                  <a:srgbClr val="0000FF"/>
                </a:solidFill>
                <a:latin typeface="Consolas" pitchFamily="49" charset="0"/>
                <a:ea typeface="仿宋" pitchFamily="49" charset="-122"/>
              </a:rPr>
              <a:t>若</a:t>
            </a:r>
            <a:r>
              <a:rPr lang="en-US" altLang="zh-CN" sz="2200">
                <a:solidFill>
                  <a:srgbClr val="FF0000"/>
                </a:solidFill>
                <a:latin typeface="Consolas" pitchFamily="49" charset="0"/>
                <a:ea typeface="仿宋" pitchFamily="49" charset="-122"/>
              </a:rPr>
              <a:t>Direction</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0</a:t>
            </a:r>
            <a:r>
              <a:rPr lang="zh-CN" altLang="zh-CN" sz="2200" baseline="-250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x</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y</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，表示</a:t>
            </a:r>
            <a:r>
              <a:rPr lang="en-US" altLang="zh-CN" sz="2200">
                <a:solidFill>
                  <a:srgbClr val="0000FF"/>
                </a:solidFill>
                <a:latin typeface="Consolas" pitchFamily="49" charset="0"/>
                <a:ea typeface="仿宋" pitchFamily="49" charset="-122"/>
              </a:rPr>
              <a:t>3</a:t>
            </a:r>
            <a:r>
              <a:rPr lang="zh-CN" altLang="zh-CN" sz="2200">
                <a:solidFill>
                  <a:srgbClr val="0000FF"/>
                </a:solidFill>
                <a:latin typeface="Consolas" pitchFamily="49" charset="0"/>
                <a:ea typeface="仿宋" pitchFamily="49" charset="-122"/>
              </a:rPr>
              <a:t>点共线，若</a:t>
            </a:r>
            <a:r>
              <a:rPr lang="en-US" altLang="zh-CN" sz="2200" i="1">
                <a:solidFill>
                  <a:srgbClr val="0000FF"/>
                </a:solidFill>
                <a:latin typeface="Consolas" pitchFamily="49" charset="0"/>
                <a:ea typeface="仿宋" pitchFamily="49" charset="-122"/>
              </a:rPr>
              <a:t>y</a:t>
            </a:r>
            <a:r>
              <a:rPr lang="zh-CN" altLang="zh-CN" sz="2200">
                <a:solidFill>
                  <a:srgbClr val="0000FF"/>
                </a:solidFill>
                <a:latin typeface="Consolas" pitchFamily="49" charset="0"/>
                <a:ea typeface="仿宋" pitchFamily="49" charset="-122"/>
              </a:rPr>
              <a:t>距离</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更长则将点</a:t>
            </a:r>
            <a:r>
              <a:rPr lang="en-US" altLang="zh-CN" sz="2200" i="1">
                <a:solidFill>
                  <a:srgbClr val="0000FF"/>
                </a:solidFill>
                <a:latin typeface="Consolas" pitchFamily="49" charset="0"/>
                <a:ea typeface="仿宋" pitchFamily="49" charset="-122"/>
              </a:rPr>
              <a:t>x</a:t>
            </a:r>
            <a:r>
              <a:rPr lang="zh-CN" altLang="zh-CN" sz="2200">
                <a:solidFill>
                  <a:srgbClr val="0000FF"/>
                </a:solidFill>
                <a:latin typeface="Consolas" pitchFamily="49" charset="0"/>
                <a:ea typeface="仿宋" pitchFamily="49" charset="-122"/>
              </a:rPr>
              <a:t>排在点</a:t>
            </a:r>
            <a:r>
              <a:rPr lang="en-US" altLang="zh-CN" sz="2200" i="1">
                <a:solidFill>
                  <a:srgbClr val="0000FF"/>
                </a:solidFill>
                <a:latin typeface="Consolas" pitchFamily="49" charset="0"/>
                <a:ea typeface="仿宋" pitchFamily="49" charset="-122"/>
              </a:rPr>
              <a:t>y</a:t>
            </a:r>
            <a:r>
              <a:rPr lang="zh-CN" altLang="zh-CN" sz="2200">
                <a:solidFill>
                  <a:srgbClr val="0000FF"/>
                </a:solidFill>
                <a:latin typeface="Consolas" pitchFamily="49" charset="0"/>
                <a:ea typeface="仿宋" pitchFamily="49" charset="-122"/>
              </a:rPr>
              <a:t>的前面（共线时优先选择与</a:t>
            </a:r>
            <a:r>
              <a:rPr lang="en-US" altLang="zh-CN" sz="2200">
                <a:solidFill>
                  <a:srgbClr val="0000FF"/>
                </a:solidFill>
                <a:latin typeface="Consolas" pitchFamily="49" charset="0"/>
                <a:ea typeface="仿宋" pitchFamily="49" charset="-122"/>
              </a:rPr>
              <a:t>p</a:t>
            </a:r>
            <a:r>
              <a:rPr lang="en-US" altLang="zh-CN" sz="2200" baseline="-250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接近的点），即返回</a:t>
            </a:r>
            <a:r>
              <a:rPr lang="en-US" altLang="zh-CN" sz="2200">
                <a:solidFill>
                  <a:srgbClr val="0000FF"/>
                </a:solidFill>
                <a:latin typeface="Consolas" pitchFamily="49" charset="0"/>
                <a:ea typeface="仿宋" pitchFamily="49" charset="-122"/>
              </a:rPr>
              <a:t>true</a:t>
            </a:r>
            <a:r>
              <a:rPr lang="zh-CN" altLang="zh-CN" sz="2200">
                <a:solidFill>
                  <a:srgbClr val="0000FF"/>
                </a:solidFill>
                <a:latin typeface="Consolas" pitchFamily="49" charset="0"/>
                <a:ea typeface="仿宋" pitchFamily="49" charset="-122"/>
              </a:rPr>
              <a:t>。</a:t>
            </a:r>
          </a:p>
          <a:p>
            <a:pPr marL="914400" lvl="1" indent="-457200">
              <a:lnSpc>
                <a:spcPts val="3000"/>
              </a:lnSpc>
              <a:buFont typeface="+mj-ea"/>
              <a:buAutoNum type="circleNumDbPlain"/>
            </a:pPr>
            <a:r>
              <a:rPr lang="zh-CN" altLang="zh-CN" sz="2200">
                <a:solidFill>
                  <a:srgbClr val="0000FF"/>
                </a:solidFill>
                <a:latin typeface="Consolas" pitchFamily="49" charset="0"/>
                <a:ea typeface="仿宋" pitchFamily="49" charset="-122"/>
              </a:rPr>
              <a:t>其他情况点</a:t>
            </a:r>
            <a:r>
              <a:rPr lang="en-US" altLang="zh-CN" sz="2200" i="1">
                <a:solidFill>
                  <a:srgbClr val="0000FF"/>
                </a:solidFill>
                <a:latin typeface="Consolas" pitchFamily="49" charset="0"/>
                <a:ea typeface="仿宋" pitchFamily="49" charset="-122"/>
              </a:rPr>
              <a:t>y</a:t>
            </a:r>
            <a:r>
              <a:rPr lang="zh-CN" altLang="zh-CN" sz="2200">
                <a:solidFill>
                  <a:srgbClr val="0000FF"/>
                </a:solidFill>
                <a:latin typeface="Consolas" pitchFamily="49" charset="0"/>
                <a:ea typeface="仿宋" pitchFamily="49" charset="-122"/>
              </a:rPr>
              <a:t>排在点</a:t>
            </a:r>
            <a:r>
              <a:rPr lang="en-US" altLang="zh-CN" sz="2200" i="1">
                <a:solidFill>
                  <a:srgbClr val="0000FF"/>
                </a:solidFill>
                <a:latin typeface="Consolas" pitchFamily="49" charset="0"/>
                <a:ea typeface="仿宋" pitchFamily="49" charset="-122"/>
              </a:rPr>
              <a:t>x</a:t>
            </a:r>
            <a:r>
              <a:rPr lang="zh-CN" altLang="zh-CN" sz="2200">
                <a:solidFill>
                  <a:srgbClr val="0000FF"/>
                </a:solidFill>
                <a:latin typeface="Consolas" pitchFamily="49" charset="0"/>
                <a:ea typeface="仿宋" pitchFamily="49" charset="-122"/>
              </a:rPr>
              <a:t>的前面，即返回</a:t>
            </a:r>
            <a:r>
              <a:rPr lang="en-US" altLang="zh-CN" sz="2200">
                <a:solidFill>
                  <a:srgbClr val="0000FF"/>
                </a:solidFill>
                <a:latin typeface="Consolas" pitchFamily="49" charset="0"/>
                <a:ea typeface="仿宋" pitchFamily="49" charset="-122"/>
              </a:rPr>
              <a:t>false</a:t>
            </a:r>
            <a:r>
              <a:rPr lang="zh-CN" altLang="zh-CN"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cs typeface="Consolas" pitchFamily="49" charset="0"/>
            </a:endParaRPr>
          </a:p>
        </p:txBody>
      </p:sp>
      <p:sp>
        <p:nvSpPr>
          <p:cNvPr id="18437" name="Rectangle 5"/>
          <p:cNvSpPr>
            <a:spLocks noChangeArrowheads="1"/>
          </p:cNvSpPr>
          <p:nvPr/>
        </p:nvSpPr>
        <p:spPr bwMode="auto">
          <a:xfrm>
            <a:off x="0" y="3009900"/>
            <a:ext cx="9144000" cy="0"/>
          </a:xfrm>
          <a:prstGeom prst="rect">
            <a:avLst/>
          </a:prstGeom>
          <a:noFill/>
          <a:ln w="9525">
            <a:noFill/>
            <a:miter lim="800000"/>
            <a:headEnd/>
            <a:tailEnd/>
          </a:ln>
        </p:spPr>
        <p:txBody>
          <a:bodyPr wrap="none" anchor="ctr">
            <a:spAutoFit/>
          </a:bodyPr>
          <a:lstStyle/>
          <a:p>
            <a:endParaRPr lang="zh-CN" altLang="en-US"/>
          </a:p>
        </p:txBody>
      </p:sp>
      <p:sp>
        <p:nvSpPr>
          <p:cNvPr id="22" name="TextBox 21"/>
          <p:cNvSpPr txBox="1"/>
          <p:nvPr/>
        </p:nvSpPr>
        <p:spPr>
          <a:xfrm>
            <a:off x="4286248" y="4447768"/>
            <a:ext cx="3929090" cy="1131079"/>
          </a:xfrm>
          <a:prstGeom prst="rect">
            <a:avLst/>
          </a:prstGeom>
          <a:noFill/>
        </p:spPr>
        <p:txBody>
          <a:bodyPr wrap="square" rtlCol="0">
            <a:spAutoFit/>
          </a:bodyPr>
          <a:lstStyle/>
          <a:p>
            <a:pPr>
              <a:lnSpc>
                <a:spcPts val="2700"/>
              </a:lnSpc>
            </a:pPr>
            <a:r>
              <a:rPr lang="zh-CN" altLang="zh-CN" sz="2000">
                <a:solidFill>
                  <a:srgbClr val="0000FF"/>
                </a:solidFill>
                <a:latin typeface="Consolas" pitchFamily="49" charset="0"/>
                <a:ea typeface="仿宋" pitchFamily="49" charset="-122"/>
              </a:rPr>
              <a:t>若</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a:t>
            </a:r>
            <a:r>
              <a:rPr lang="en-US" altLang="zh-CN" sz="2000" baseline="-25000">
                <a:solidFill>
                  <a:srgbClr val="0000FF"/>
                </a:solidFill>
                <a:latin typeface="Consolas" pitchFamily="49" charset="0"/>
                <a:ea typeface="仿宋" pitchFamily="49" charset="-122"/>
              </a:rPr>
              <a:t>0</a:t>
            </a:r>
            <a:r>
              <a:rPr lang="en-US" altLang="zh-CN" sz="2000">
                <a:solidFill>
                  <a:srgbClr val="0000FF"/>
                </a:solidFill>
                <a:latin typeface="Consolas" pitchFamily="49" charset="0"/>
                <a:ea typeface="仿宋" pitchFamily="49" charset="-122"/>
              </a:rPr>
              <a:t>,x,y)&gt;0</a:t>
            </a:r>
            <a:r>
              <a:rPr lang="zh-CN" altLang="zh-CN" sz="2000">
                <a:solidFill>
                  <a:srgbClr val="0000FF"/>
                </a:solidFill>
                <a:latin typeface="Consolas" pitchFamily="49" charset="0"/>
                <a:ea typeface="仿宋" pitchFamily="49" charset="-122"/>
              </a:rPr>
              <a:t>，则</a:t>
            </a:r>
            <a:r>
              <a:rPr lang="en-US" altLang="zh-CN" sz="2000">
                <a:solidFill>
                  <a:srgbClr val="0000FF"/>
                </a:solidFill>
                <a:latin typeface="Consolas" pitchFamily="49" charset="0"/>
                <a:ea typeface="仿宋" pitchFamily="49" charset="-122"/>
              </a:rPr>
              <a:t>p</a:t>
            </a:r>
            <a:r>
              <a:rPr lang="en-US" altLang="zh-CN" sz="2000" baseline="-25000">
                <a:solidFill>
                  <a:srgbClr val="0000FF"/>
                </a:solidFill>
                <a:latin typeface="Consolas" pitchFamily="49" charset="0"/>
                <a:ea typeface="仿宋" pitchFamily="49" charset="-122"/>
              </a:rPr>
              <a:t>0</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x</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y</a:t>
            </a:r>
            <a:r>
              <a:rPr lang="zh-CN" altLang="zh-CN" sz="2000">
                <a:solidFill>
                  <a:srgbClr val="0000FF"/>
                </a:solidFill>
                <a:latin typeface="Consolas" pitchFamily="49" charset="0"/>
                <a:ea typeface="仿宋" pitchFamily="49" charset="-122"/>
              </a:rPr>
              <a:t>在右手螺旋方向上，即极角关系为</a:t>
            </a:r>
            <a:r>
              <a:rPr lang="en-US" altLang="zh-CN" sz="2000">
                <a:solidFill>
                  <a:srgbClr val="0000FF"/>
                </a:solidFill>
                <a:latin typeface="Consolas" pitchFamily="49" charset="0"/>
                <a:ea typeface="仿宋" pitchFamily="49" charset="-122"/>
                <a:sym typeface="Symbol"/>
              </a:rPr>
              <a:t></a:t>
            </a:r>
            <a:r>
              <a:rPr lang="en-US" altLang="zh-CN" sz="2000" baseline="-25000">
                <a:solidFill>
                  <a:srgbClr val="0000FF"/>
                </a:solidFill>
                <a:latin typeface="Consolas" pitchFamily="49" charset="0"/>
                <a:ea typeface="仿宋" pitchFamily="49" charset="-122"/>
              </a:rPr>
              <a:t>1</a:t>
            </a:r>
            <a:r>
              <a:rPr lang="en-US" altLang="zh-CN" sz="2000">
                <a:solidFill>
                  <a:srgbClr val="0000FF"/>
                </a:solidFill>
                <a:latin typeface="Consolas" pitchFamily="49" charset="0"/>
                <a:ea typeface="仿宋" pitchFamily="49" charset="-122"/>
              </a:rPr>
              <a:t>&lt;</a:t>
            </a:r>
            <a:r>
              <a:rPr lang="en-US" altLang="zh-CN" sz="2000">
                <a:solidFill>
                  <a:srgbClr val="0000FF"/>
                </a:solidFill>
                <a:latin typeface="Consolas" pitchFamily="49" charset="0"/>
                <a:ea typeface="仿宋" pitchFamily="49" charset="-122"/>
                <a:sym typeface="Symbol"/>
              </a:rPr>
              <a:t></a:t>
            </a:r>
            <a:r>
              <a:rPr lang="en-US" altLang="zh-CN" sz="2000" baseline="-25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，则</a:t>
            </a:r>
            <a:r>
              <a:rPr lang="en-US" altLang="zh-CN" sz="2000" i="1">
                <a:solidFill>
                  <a:srgbClr val="0000FF"/>
                </a:solidFill>
                <a:latin typeface="Consolas" pitchFamily="49" charset="0"/>
                <a:ea typeface="仿宋" pitchFamily="49" charset="-122"/>
              </a:rPr>
              <a:t>x</a:t>
            </a:r>
            <a:r>
              <a:rPr lang="zh-CN" altLang="zh-CN" sz="2000">
                <a:solidFill>
                  <a:srgbClr val="0000FF"/>
                </a:solidFill>
                <a:latin typeface="Consolas" pitchFamily="49" charset="0"/>
                <a:ea typeface="仿宋" pitchFamily="49" charset="-122"/>
              </a:rPr>
              <a:t>排在</a:t>
            </a:r>
            <a:r>
              <a:rPr lang="en-US" altLang="zh-CN" sz="2000" i="1">
                <a:solidFill>
                  <a:srgbClr val="0000FF"/>
                </a:solidFill>
                <a:latin typeface="Consolas" pitchFamily="49" charset="0"/>
                <a:ea typeface="仿宋" pitchFamily="49" charset="-122"/>
              </a:rPr>
              <a:t>y</a:t>
            </a:r>
            <a:r>
              <a:rPr lang="zh-CN" altLang="zh-CN" sz="2000">
                <a:solidFill>
                  <a:srgbClr val="0000FF"/>
                </a:solidFill>
                <a:latin typeface="Consolas" pitchFamily="49" charset="0"/>
                <a:ea typeface="仿宋" pitchFamily="49" charset="-122"/>
              </a:rPr>
              <a:t>的前面</a:t>
            </a:r>
            <a:endParaRPr lang="zh-CN" altLang="en-US" sz="2000">
              <a:solidFill>
                <a:srgbClr val="0000FF"/>
              </a:solidFill>
              <a:latin typeface="Consolas" pitchFamily="49" charset="0"/>
              <a:ea typeface="仿宋" pitchFamily="49" charset="-122"/>
              <a:cs typeface="Consolas" pitchFamily="49" charset="0"/>
            </a:endParaRPr>
          </a:p>
        </p:txBody>
      </p:sp>
      <p:grpSp>
        <p:nvGrpSpPr>
          <p:cNvPr id="2" name="组合 23"/>
          <p:cNvGrpSpPr/>
          <p:nvPr/>
        </p:nvGrpSpPr>
        <p:grpSpPr>
          <a:xfrm>
            <a:off x="1071538" y="4019140"/>
            <a:ext cx="2916258" cy="2481694"/>
            <a:chOff x="2428860" y="3857628"/>
            <a:chExt cx="2916258" cy="2481694"/>
          </a:xfrm>
        </p:grpSpPr>
        <p:sp>
          <p:nvSpPr>
            <p:cNvPr id="7" name="TextBox 6"/>
            <p:cNvSpPr txBox="1"/>
            <p:nvPr/>
          </p:nvSpPr>
          <p:spPr>
            <a:xfrm>
              <a:off x="3987796" y="3857628"/>
              <a:ext cx="428628" cy="400110"/>
            </a:xfrm>
            <a:prstGeom prst="rect">
              <a:avLst/>
            </a:prstGeom>
            <a:noFill/>
          </p:spPr>
          <p:txBody>
            <a:bodyPr wrap="square" rtlCol="0">
              <a:spAutoFit/>
            </a:bodyPr>
            <a:lstStyle/>
            <a:p>
              <a:r>
                <a:rPr lang="en-US" altLang="zh-CN" sz="2000" i="1">
                  <a:solidFill>
                    <a:srgbClr val="FF0000"/>
                  </a:solidFill>
                  <a:latin typeface="Consolas" pitchFamily="49" charset="0"/>
                  <a:cs typeface="Consolas" pitchFamily="49" charset="0"/>
                  <a:sym typeface="Symbol"/>
                </a:rPr>
                <a:t>y</a:t>
              </a:r>
              <a:endParaRPr lang="zh-CN" altLang="en-US" sz="2000" i="1" baseline="-25000">
                <a:solidFill>
                  <a:srgbClr val="FF0000"/>
                </a:solidFill>
                <a:latin typeface="Consolas" pitchFamily="49" charset="0"/>
                <a:cs typeface="Consolas" pitchFamily="49" charset="0"/>
              </a:endParaRPr>
            </a:p>
          </p:txBody>
        </p:sp>
        <p:sp>
          <p:nvSpPr>
            <p:cNvPr id="8" name="TextBox 7"/>
            <p:cNvSpPr txBox="1"/>
            <p:nvPr/>
          </p:nvSpPr>
          <p:spPr>
            <a:xfrm>
              <a:off x="3416292" y="6000768"/>
              <a:ext cx="1143008" cy="338554"/>
            </a:xfrm>
            <a:prstGeom prst="rect">
              <a:avLst/>
            </a:prstGeom>
            <a:noFill/>
          </p:spPr>
          <p:txBody>
            <a:bodyPr wrap="square" rtlCol="0">
              <a:spAutoFit/>
            </a:bodyPr>
            <a:lstStyle/>
            <a:p>
              <a:r>
                <a:rPr lang="zh-CN" altLang="en-US" sz="1600">
                  <a:solidFill>
                    <a:srgbClr val="0000FF"/>
                  </a:solidFill>
                  <a:latin typeface="微软雅黑" pitchFamily="34" charset="-122"/>
                  <a:ea typeface="微软雅黑" pitchFamily="34" charset="-122"/>
                </a:rPr>
                <a:t>水平射线</a:t>
              </a:r>
            </a:p>
          </p:txBody>
        </p:sp>
        <p:sp>
          <p:nvSpPr>
            <p:cNvPr id="9" name="椭圆 8"/>
            <p:cNvSpPr/>
            <p:nvPr/>
          </p:nvSpPr>
          <p:spPr>
            <a:xfrm>
              <a:off x="2428860" y="4214818"/>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0" name="直接连接符 9"/>
            <p:cNvCxnSpPr>
              <a:stCxn id="9" idx="4"/>
            </p:cNvCxnSpPr>
            <p:nvPr/>
          </p:nvCxnSpPr>
          <p:spPr>
            <a:xfrm rot="16200000" flipH="1">
              <a:off x="2035951" y="4822041"/>
              <a:ext cx="1500198" cy="571504"/>
            </a:xfrm>
            <a:prstGeom prst="line">
              <a:avLst/>
            </a:prstGeom>
            <a:ln>
              <a:headEnd type="arrow" w="med" len="med"/>
              <a:tailEnd type="none" w="med" len="med"/>
            </a:ln>
          </p:spPr>
          <p:style>
            <a:lnRef idx="2">
              <a:schemeClr val="dk1"/>
            </a:lnRef>
            <a:fillRef idx="0">
              <a:schemeClr val="dk1"/>
            </a:fillRef>
            <a:effectRef idx="1">
              <a:schemeClr val="dk1"/>
            </a:effectRef>
            <a:fontRef idx="minor">
              <a:schemeClr val="tx1"/>
            </a:fontRef>
          </p:style>
        </p:cxnSp>
        <p:cxnSp>
          <p:nvCxnSpPr>
            <p:cNvPr id="11" name="直接箭头连接符 10"/>
            <p:cNvCxnSpPr/>
            <p:nvPr/>
          </p:nvCxnSpPr>
          <p:spPr>
            <a:xfrm rot="5400000" flipH="1" flipV="1">
              <a:off x="2666193" y="4536289"/>
              <a:ext cx="1714512" cy="928694"/>
            </a:xfrm>
            <a:prstGeom prst="straightConnector1">
              <a:avLst/>
            </a:prstGeom>
            <a:ln>
              <a:solidFill>
                <a:srgbClr val="9900FF"/>
              </a:solidFill>
              <a:tailEnd type="arrow"/>
            </a:ln>
          </p:spPr>
          <p:style>
            <a:lnRef idx="2">
              <a:schemeClr val="dk1"/>
            </a:lnRef>
            <a:fillRef idx="0">
              <a:schemeClr val="dk1"/>
            </a:fillRef>
            <a:effectRef idx="1">
              <a:schemeClr val="dk1"/>
            </a:effectRef>
            <a:fontRef idx="minor">
              <a:schemeClr val="tx1"/>
            </a:fontRef>
          </p:style>
        </p:cxnSp>
        <p:cxnSp>
          <p:nvCxnSpPr>
            <p:cNvPr id="12" name="直接箭头连接符 11"/>
            <p:cNvCxnSpPr/>
            <p:nvPr/>
          </p:nvCxnSpPr>
          <p:spPr>
            <a:xfrm>
              <a:off x="3059102" y="5857892"/>
              <a:ext cx="2286016" cy="1588"/>
            </a:xfrm>
            <a:prstGeom prst="straightConnector1">
              <a:avLst/>
            </a:prstGeom>
            <a:ln>
              <a:solidFill>
                <a:srgbClr val="006600"/>
              </a:solidFill>
              <a:tailEnd type="arrow"/>
            </a:ln>
          </p:spPr>
          <p:style>
            <a:lnRef idx="2">
              <a:schemeClr val="dk1"/>
            </a:lnRef>
            <a:fillRef idx="0">
              <a:schemeClr val="dk1"/>
            </a:fillRef>
            <a:effectRef idx="1">
              <a:schemeClr val="dk1"/>
            </a:effectRef>
            <a:fontRef idx="minor">
              <a:schemeClr val="tx1"/>
            </a:fontRef>
          </p:style>
        </p:cxnSp>
        <p:cxnSp>
          <p:nvCxnSpPr>
            <p:cNvPr id="13" name="直接箭头连接符 12"/>
            <p:cNvCxnSpPr/>
            <p:nvPr/>
          </p:nvCxnSpPr>
          <p:spPr>
            <a:xfrm flipV="1">
              <a:off x="3059102" y="5000636"/>
              <a:ext cx="1428760" cy="857256"/>
            </a:xfrm>
            <a:prstGeom prst="straightConnector1">
              <a:avLst/>
            </a:prstGeom>
            <a:ln>
              <a:solidFill>
                <a:srgbClr val="C00000"/>
              </a:solidFill>
              <a:prstDash val="dash"/>
              <a:tailEnd type="arrow"/>
            </a:ln>
          </p:spPr>
          <p:style>
            <a:lnRef idx="2">
              <a:schemeClr val="dk1"/>
            </a:lnRef>
            <a:fillRef idx="0">
              <a:schemeClr val="dk1"/>
            </a:fillRef>
            <a:effectRef idx="1">
              <a:schemeClr val="dk1"/>
            </a:effectRef>
            <a:fontRef idx="minor">
              <a:schemeClr val="tx1"/>
            </a:fontRef>
          </p:style>
        </p:cxnSp>
        <p:sp>
          <p:nvSpPr>
            <p:cNvPr id="14" name="椭圆 13"/>
            <p:cNvSpPr/>
            <p:nvPr/>
          </p:nvSpPr>
          <p:spPr>
            <a:xfrm>
              <a:off x="2916226" y="4714884"/>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 name="椭圆 14"/>
            <p:cNvSpPr/>
            <p:nvPr/>
          </p:nvSpPr>
          <p:spPr>
            <a:xfrm>
              <a:off x="2987664" y="4143380"/>
              <a:ext cx="142876" cy="1428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6" name="直接连接符 15"/>
            <p:cNvCxnSpPr/>
            <p:nvPr/>
          </p:nvCxnSpPr>
          <p:spPr>
            <a:xfrm rot="16200000" flipH="1">
              <a:off x="3403592" y="5702316"/>
              <a:ext cx="214314" cy="71438"/>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3498844" y="5488560"/>
              <a:ext cx="428628" cy="369332"/>
            </a:xfrm>
            <a:prstGeom prst="rect">
              <a:avLst/>
            </a:prstGeom>
            <a:noFill/>
          </p:spPr>
          <p:txBody>
            <a:bodyPr wrap="square" rtlCol="0">
              <a:spAutoFit/>
            </a:bodyPr>
            <a:lstStyle/>
            <a:p>
              <a:r>
                <a:rPr lang="en-US" sz="1800">
                  <a:solidFill>
                    <a:srgbClr val="006600"/>
                  </a:solidFill>
                  <a:sym typeface="Symbol"/>
                </a:rPr>
                <a:t></a:t>
              </a:r>
              <a:r>
                <a:rPr lang="en-US" sz="1800" baseline="-25000">
                  <a:solidFill>
                    <a:srgbClr val="006600"/>
                  </a:solidFill>
                </a:rPr>
                <a:t>1</a:t>
              </a:r>
              <a:endParaRPr lang="zh-CN" altLang="en-US" sz="1800">
                <a:solidFill>
                  <a:srgbClr val="006600"/>
                </a:solidFill>
              </a:endParaRPr>
            </a:p>
          </p:txBody>
        </p:sp>
        <p:sp>
          <p:nvSpPr>
            <p:cNvPr id="18" name="任意多边形 17"/>
            <p:cNvSpPr/>
            <p:nvPr/>
          </p:nvSpPr>
          <p:spPr>
            <a:xfrm>
              <a:off x="3497266" y="5053026"/>
              <a:ext cx="529167" cy="800100"/>
            </a:xfrm>
            <a:custGeom>
              <a:avLst/>
              <a:gdLst>
                <a:gd name="connsiteX0" fmla="*/ 0 w 529167"/>
                <a:gd name="connsiteY0" fmla="*/ 0 h 800100"/>
                <a:gd name="connsiteX1" fmla="*/ 241300 w 529167"/>
                <a:gd name="connsiteY1" fmla="*/ 177800 h 800100"/>
                <a:gd name="connsiteX2" fmla="*/ 482600 w 529167"/>
                <a:gd name="connsiteY2" fmla="*/ 647700 h 800100"/>
                <a:gd name="connsiteX3" fmla="*/ 520700 w 529167"/>
                <a:gd name="connsiteY3" fmla="*/ 800100 h 800100"/>
              </a:gdLst>
              <a:ahLst/>
              <a:cxnLst>
                <a:cxn ang="0">
                  <a:pos x="connsiteX0" y="connsiteY0"/>
                </a:cxn>
                <a:cxn ang="0">
                  <a:pos x="connsiteX1" y="connsiteY1"/>
                </a:cxn>
                <a:cxn ang="0">
                  <a:pos x="connsiteX2" y="connsiteY2"/>
                </a:cxn>
                <a:cxn ang="0">
                  <a:pos x="connsiteX3" y="connsiteY3"/>
                </a:cxn>
              </a:cxnLst>
              <a:rect l="l" t="t" r="r" b="b"/>
              <a:pathLst>
                <a:path w="529167" h="800100">
                  <a:moveTo>
                    <a:pt x="0" y="0"/>
                  </a:moveTo>
                  <a:cubicBezTo>
                    <a:pt x="80433" y="34925"/>
                    <a:pt x="160867" y="69850"/>
                    <a:pt x="241300" y="177800"/>
                  </a:cubicBezTo>
                  <a:cubicBezTo>
                    <a:pt x="321733" y="285750"/>
                    <a:pt x="436033" y="543983"/>
                    <a:pt x="482600" y="647700"/>
                  </a:cubicBezTo>
                  <a:cubicBezTo>
                    <a:pt x="529167" y="751417"/>
                    <a:pt x="524933" y="775758"/>
                    <a:pt x="520700" y="800100"/>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TextBox 18"/>
            <p:cNvSpPr txBox="1"/>
            <p:nvPr/>
          </p:nvSpPr>
          <p:spPr>
            <a:xfrm>
              <a:off x="3651244" y="4883718"/>
              <a:ext cx="428628" cy="369332"/>
            </a:xfrm>
            <a:prstGeom prst="rect">
              <a:avLst/>
            </a:prstGeom>
            <a:noFill/>
          </p:spPr>
          <p:txBody>
            <a:bodyPr wrap="square" rtlCol="0">
              <a:spAutoFit/>
            </a:bodyPr>
            <a:lstStyle/>
            <a:p>
              <a:r>
                <a:rPr lang="en-US" sz="1800">
                  <a:solidFill>
                    <a:srgbClr val="006600"/>
                  </a:solidFill>
                  <a:sym typeface="Symbol"/>
                </a:rPr>
                <a:t></a:t>
              </a:r>
              <a:r>
                <a:rPr lang="en-US" sz="1800" baseline="-25000">
                  <a:solidFill>
                    <a:srgbClr val="006600"/>
                  </a:solidFill>
                  <a:sym typeface="Symbol"/>
                </a:rPr>
                <a:t>2</a:t>
              </a:r>
              <a:endParaRPr lang="zh-CN" altLang="en-US" sz="1800">
                <a:solidFill>
                  <a:srgbClr val="006600"/>
                </a:solidFill>
              </a:endParaRPr>
            </a:p>
          </p:txBody>
        </p:sp>
        <p:sp>
          <p:nvSpPr>
            <p:cNvPr id="20" name="TextBox 19"/>
            <p:cNvSpPr txBox="1"/>
            <p:nvPr/>
          </p:nvSpPr>
          <p:spPr>
            <a:xfrm>
              <a:off x="4487862" y="4743402"/>
              <a:ext cx="428628" cy="400110"/>
            </a:xfrm>
            <a:prstGeom prst="rect">
              <a:avLst/>
            </a:prstGeom>
            <a:noFill/>
          </p:spPr>
          <p:txBody>
            <a:bodyPr wrap="square" rtlCol="0">
              <a:spAutoFit/>
            </a:bodyPr>
            <a:lstStyle/>
            <a:p>
              <a:r>
                <a:rPr lang="en-US" altLang="zh-CN" sz="2000" i="1">
                  <a:solidFill>
                    <a:srgbClr val="FF0000"/>
                  </a:solidFill>
                  <a:latin typeface="Consolas" pitchFamily="49" charset="0"/>
                  <a:cs typeface="Consolas" pitchFamily="49" charset="0"/>
                  <a:sym typeface="Symbol"/>
                </a:rPr>
                <a:t>x</a:t>
              </a:r>
              <a:endParaRPr lang="zh-CN" altLang="en-US" sz="2000" i="1" baseline="-25000">
                <a:solidFill>
                  <a:srgbClr val="FF0000"/>
                </a:solidFill>
                <a:latin typeface="Consolas" pitchFamily="49" charset="0"/>
                <a:cs typeface="Consolas" pitchFamily="49" charset="0"/>
              </a:endParaRPr>
            </a:p>
          </p:txBody>
        </p:sp>
        <p:sp>
          <p:nvSpPr>
            <p:cNvPr id="21" name="TextBox 20"/>
            <p:cNvSpPr txBox="1"/>
            <p:nvPr/>
          </p:nvSpPr>
          <p:spPr>
            <a:xfrm>
              <a:off x="2701912" y="5786454"/>
              <a:ext cx="428628" cy="400110"/>
            </a:xfrm>
            <a:prstGeom prst="rect">
              <a:avLst/>
            </a:prstGeom>
            <a:noFill/>
          </p:spPr>
          <p:txBody>
            <a:bodyPr wrap="square" rtlCol="0">
              <a:spAutoFit/>
            </a:bodyPr>
            <a:lstStyle/>
            <a:p>
              <a:r>
                <a:rPr lang="en-US" sz="2000" i="1">
                  <a:solidFill>
                    <a:srgbClr val="0000FF"/>
                  </a:solidFill>
                  <a:latin typeface="Consolas" pitchFamily="49" charset="0"/>
                  <a:cs typeface="Consolas" pitchFamily="49" charset="0"/>
                  <a:sym typeface="Symbol"/>
                </a:rPr>
                <a:t>p</a:t>
              </a:r>
              <a:r>
                <a:rPr lang="en-US" sz="2000" baseline="-25000">
                  <a:solidFill>
                    <a:srgbClr val="0000FF"/>
                  </a:solidFill>
                  <a:latin typeface="Consolas" pitchFamily="49" charset="0"/>
                  <a:cs typeface="Consolas" pitchFamily="49" charset="0"/>
                  <a:sym typeface="Symbol"/>
                </a:rPr>
                <a:t>0</a:t>
              </a:r>
              <a:endParaRPr lang="zh-CN" altLang="en-US" sz="2000" baseline="-25000">
                <a:solidFill>
                  <a:srgbClr val="0000FF"/>
                </a:solidFill>
                <a:latin typeface="Consolas" pitchFamily="49" charset="0"/>
                <a:cs typeface="Consolas" pitchFamily="49" charset="0"/>
              </a:endParaRPr>
            </a:p>
          </p:txBody>
        </p:sp>
        <p:sp>
          <p:nvSpPr>
            <p:cNvPr id="23" name="任意多边形 22"/>
            <p:cNvSpPr/>
            <p:nvPr/>
          </p:nvSpPr>
          <p:spPr>
            <a:xfrm>
              <a:off x="4554542" y="3967178"/>
              <a:ext cx="660400" cy="1676400"/>
            </a:xfrm>
            <a:custGeom>
              <a:avLst/>
              <a:gdLst>
                <a:gd name="connsiteX0" fmla="*/ 0 w 660400"/>
                <a:gd name="connsiteY0" fmla="*/ 0 h 1676400"/>
                <a:gd name="connsiteX1" fmla="*/ 355600 w 660400"/>
                <a:gd name="connsiteY1" fmla="*/ 419100 h 1676400"/>
                <a:gd name="connsiteX2" fmla="*/ 609600 w 660400"/>
                <a:gd name="connsiteY2" fmla="*/ 1181100 h 1676400"/>
                <a:gd name="connsiteX3" fmla="*/ 660400 w 660400"/>
                <a:gd name="connsiteY3" fmla="*/ 1676400 h 1676400"/>
              </a:gdLst>
              <a:ahLst/>
              <a:cxnLst>
                <a:cxn ang="0">
                  <a:pos x="connsiteX0" y="connsiteY0"/>
                </a:cxn>
                <a:cxn ang="0">
                  <a:pos x="connsiteX1" y="connsiteY1"/>
                </a:cxn>
                <a:cxn ang="0">
                  <a:pos x="connsiteX2" y="connsiteY2"/>
                </a:cxn>
                <a:cxn ang="0">
                  <a:pos x="connsiteX3" y="connsiteY3"/>
                </a:cxn>
              </a:cxnLst>
              <a:rect l="l" t="t" r="r" b="b"/>
              <a:pathLst>
                <a:path w="660400" h="1676400">
                  <a:moveTo>
                    <a:pt x="0" y="0"/>
                  </a:moveTo>
                  <a:cubicBezTo>
                    <a:pt x="127000" y="111125"/>
                    <a:pt x="254000" y="222250"/>
                    <a:pt x="355600" y="419100"/>
                  </a:cubicBezTo>
                  <a:cubicBezTo>
                    <a:pt x="457200" y="615950"/>
                    <a:pt x="558800" y="971550"/>
                    <a:pt x="609600" y="1181100"/>
                  </a:cubicBezTo>
                  <a:cubicBezTo>
                    <a:pt x="660400" y="1390650"/>
                    <a:pt x="660400" y="1533525"/>
                    <a:pt x="660400" y="1676400"/>
                  </a:cubicBezTo>
                </a:path>
              </a:pathLst>
            </a:custGeom>
            <a:ln>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p>
          </p:txBody>
        </p:sp>
      </p:grpSp>
      <p:sp>
        <p:nvSpPr>
          <p:cNvPr id="24" name="灯片编号占位符 23"/>
          <p:cNvSpPr>
            <a:spLocks noGrp="1"/>
          </p:cNvSpPr>
          <p:nvPr>
            <p:ph type="sldNum" sz="quarter" idx="12"/>
          </p:nvPr>
        </p:nvSpPr>
        <p:spPr/>
        <p:txBody>
          <a:bodyPr/>
          <a:lstStyle/>
          <a:p>
            <a:pPr>
              <a:defRPr/>
            </a:pPr>
            <a:fld id="{51116183-1013-4E64-BBE8-A5C1D5D4F838}" type="slidenum">
              <a:rPr lang="en-US" altLang="zh-CN" smtClean="0"/>
              <a:pPr>
                <a:defRPr/>
              </a:pPr>
              <a:t>102</a:t>
            </a:fld>
            <a:r>
              <a:rPr lang="en-US" altLang="zh-CN"/>
              <a:t>/167</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2"/>
          <p:cNvSpPr txBox="1">
            <a:spLocks noChangeArrowheads="1"/>
          </p:cNvSpPr>
          <p:nvPr/>
        </p:nvSpPr>
        <p:spPr bwMode="auto">
          <a:xfrm>
            <a:off x="250825" y="840087"/>
            <a:ext cx="8642350" cy="1137198"/>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tIns="144000" bIns="144000">
            <a:spAutoFit/>
          </a:bodyPr>
          <a:lstStyle/>
          <a:p>
            <a:pPr>
              <a:lnSpc>
                <a:spcPts val="3300"/>
              </a:lnSpc>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）在点集</a:t>
            </a:r>
            <a:r>
              <a:rPr lang="en-US" altLang="zh-CN" sz="2200" i="1">
                <a:solidFill>
                  <a:srgbClr val="0000FF"/>
                </a:solidFill>
                <a:latin typeface="Consolas" pitchFamily="49" charset="0"/>
                <a:ea typeface="仿宋" pitchFamily="49" charset="-122"/>
                <a:cs typeface="Consolas" pitchFamily="49" charset="0"/>
              </a:rPr>
              <a:t>a</a:t>
            </a:r>
            <a:r>
              <a:rPr lang="zh-CN" altLang="en-US" sz="2200">
                <a:solidFill>
                  <a:srgbClr val="0000FF"/>
                </a:solidFill>
                <a:latin typeface="Consolas" pitchFamily="49" charset="0"/>
                <a:ea typeface="仿宋" pitchFamily="49" charset="-122"/>
                <a:cs typeface="Consolas" pitchFamily="49" charset="0"/>
              </a:rPr>
              <a:t>排序后，先将</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和</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三个点进栈到</a:t>
            </a:r>
            <a:r>
              <a:rPr lang="en-US" altLang="zh-CN" sz="2200">
                <a:solidFill>
                  <a:srgbClr val="0000FF"/>
                </a:solidFill>
                <a:latin typeface="Consolas" pitchFamily="49" charset="0"/>
                <a:ea typeface="仿宋" pitchFamily="49" charset="-122"/>
                <a:cs typeface="Consolas" pitchFamily="49" charset="0"/>
              </a:rPr>
              <a:t>ch</a:t>
            </a:r>
            <a:r>
              <a:rPr lang="zh-CN" altLang="en-US" sz="2200">
                <a:solidFill>
                  <a:srgbClr val="0000FF"/>
                </a:solidFill>
                <a:latin typeface="Consolas" pitchFamily="49" charset="0"/>
                <a:ea typeface="仿宋" pitchFamily="49" charset="-122"/>
                <a:cs typeface="Consolas" pitchFamily="49" charset="0"/>
              </a:rPr>
              <a:t>中，因为一个凸包至少含有</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个点。　　</a:t>
            </a:r>
          </a:p>
        </p:txBody>
      </p:sp>
      <p:sp>
        <p:nvSpPr>
          <p:cNvPr id="19460" name="Rectangle 4"/>
          <p:cNvSpPr>
            <a:spLocks noChangeArrowheads="1"/>
          </p:cNvSpPr>
          <p:nvPr/>
        </p:nvSpPr>
        <p:spPr bwMode="auto">
          <a:xfrm>
            <a:off x="0" y="3009900"/>
            <a:ext cx="9144000" cy="0"/>
          </a:xfrm>
          <a:prstGeom prst="rect">
            <a:avLst/>
          </a:prstGeom>
          <a:noFill/>
          <a:ln w="9525">
            <a:noFill/>
            <a:miter lim="800000"/>
            <a:headEnd/>
            <a:tailEnd/>
          </a:ln>
        </p:spPr>
        <p:txBody>
          <a:bodyPr wrap="none" anchor="ctr">
            <a:spAutoFit/>
          </a:bodyPr>
          <a:lstStyle/>
          <a:p>
            <a:endParaRPr lang="zh-CN" altLang="en-US"/>
          </a:p>
        </p:txBody>
      </p:sp>
      <p:sp>
        <p:nvSpPr>
          <p:cNvPr id="6" name="灯片编号占位符 5"/>
          <p:cNvSpPr>
            <a:spLocks noGrp="1"/>
          </p:cNvSpPr>
          <p:nvPr>
            <p:ph type="sldNum" sz="quarter" idx="12"/>
          </p:nvPr>
        </p:nvSpPr>
        <p:spPr/>
        <p:txBody>
          <a:bodyPr/>
          <a:lstStyle/>
          <a:p>
            <a:pPr>
              <a:defRPr/>
            </a:pPr>
            <a:fld id="{51116183-1013-4E64-BBE8-A5C1D5D4F838}" type="slidenum">
              <a:rPr lang="en-US" altLang="zh-CN" smtClean="0"/>
              <a:pPr>
                <a:defRPr/>
              </a:pPr>
              <a:t>103</a:t>
            </a:fld>
            <a:r>
              <a:rPr lang="en-US" altLang="zh-CN"/>
              <a:t>/167</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2"/>
          <p:cNvSpPr txBox="1">
            <a:spLocks noChangeArrowheads="1"/>
          </p:cNvSpPr>
          <p:nvPr/>
        </p:nvSpPr>
        <p:spPr bwMode="auto">
          <a:xfrm>
            <a:off x="250825" y="333375"/>
            <a:ext cx="8642350" cy="2829969"/>
          </a:xfrm>
          <a:prstGeom prst="rect">
            <a:avLst/>
          </a:prstGeom>
          <a:ln>
            <a:solidFill>
              <a:schemeClr val="accent6">
                <a:lumMod val="60000"/>
                <a:lumOff val="40000"/>
              </a:schemeClr>
            </a:solidFill>
            <a:headEnd/>
            <a:tailEnd/>
          </a:ln>
        </p:spPr>
        <p:style>
          <a:lnRef idx="2">
            <a:schemeClr val="accent2"/>
          </a:lnRef>
          <a:fillRef idx="1">
            <a:schemeClr val="lt1"/>
          </a:fillRef>
          <a:effectRef idx="0">
            <a:schemeClr val="accent2"/>
          </a:effectRef>
          <a:fontRef idx="minor">
            <a:schemeClr val="dk1"/>
          </a:fontRef>
        </p:style>
        <p:txBody>
          <a:bodyPr tIns="144000" bIns="144000">
            <a:spAutoFit/>
          </a:bodyPr>
          <a:lstStyle/>
          <a:p>
            <a:pPr>
              <a:lnSpc>
                <a:spcPts val="3300"/>
              </a:lnSpc>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）扫描点集</a:t>
            </a:r>
            <a:r>
              <a:rPr lang="en-US" altLang="zh-CN" sz="2200" i="1">
                <a:solidFill>
                  <a:srgbClr val="0000FF"/>
                </a:solidFill>
                <a:latin typeface="Consolas" pitchFamily="49" charset="0"/>
                <a:ea typeface="仿宋" pitchFamily="49" charset="-122"/>
                <a:cs typeface="Consolas" pitchFamily="49" charset="0"/>
              </a:rPr>
              <a:t>a</a:t>
            </a:r>
            <a:r>
              <a:rPr lang="zh-CN" altLang="en-US" sz="2200">
                <a:solidFill>
                  <a:srgbClr val="0000FF"/>
                </a:solidFill>
                <a:latin typeface="Consolas" pitchFamily="49" charset="0"/>
                <a:ea typeface="仿宋" pitchFamily="49" charset="-122"/>
                <a:cs typeface="Consolas" pitchFamily="49" charset="0"/>
              </a:rPr>
              <a:t>中余下的所有点（从</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开始）。若扫描点</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，栈顶点为</a:t>
            </a:r>
            <a:r>
              <a:rPr lang="en-US" altLang="zh-CN" sz="2200">
                <a:solidFill>
                  <a:srgbClr val="0000FF"/>
                </a:solidFill>
                <a:latin typeface="Consolas" pitchFamily="49" charset="0"/>
                <a:ea typeface="仿宋" pitchFamily="49" charset="-122"/>
                <a:cs typeface="Consolas" pitchFamily="49" charset="0"/>
              </a:rPr>
              <a:t>ch[top]</a:t>
            </a:r>
            <a:r>
              <a:rPr lang="zh-CN" altLang="en-US" sz="2200">
                <a:solidFill>
                  <a:srgbClr val="0000FF"/>
                </a:solidFill>
                <a:latin typeface="Consolas" pitchFamily="49" charset="0"/>
                <a:ea typeface="仿宋" pitchFamily="49" charset="-122"/>
                <a:cs typeface="Consolas" pitchFamily="49" charset="0"/>
              </a:rPr>
              <a:t>，次栈顶点为</a:t>
            </a:r>
            <a:r>
              <a:rPr lang="en-US" altLang="zh-CN" sz="2200">
                <a:solidFill>
                  <a:srgbClr val="0000FF"/>
                </a:solidFill>
                <a:latin typeface="Consolas" pitchFamily="49" charset="0"/>
                <a:ea typeface="仿宋" pitchFamily="49" charset="-122"/>
                <a:cs typeface="Consolas" pitchFamily="49" charset="0"/>
              </a:rPr>
              <a:t>ch[top-1]:</a:t>
            </a:r>
          </a:p>
          <a:p>
            <a:pPr marL="914400" lvl="1" indent="-457200">
              <a:lnSpc>
                <a:spcPts val="3300"/>
              </a:lnSpc>
              <a:buFont typeface="+mj-ea"/>
              <a:buAutoNum type="circleNumDbPlain"/>
            </a:pPr>
            <a:r>
              <a:rPr lang="zh-CN" altLang="en-US" sz="2200">
                <a:solidFill>
                  <a:srgbClr val="0000FF"/>
                </a:solidFill>
                <a:latin typeface="Consolas" pitchFamily="49" charset="0"/>
                <a:ea typeface="仿宋" pitchFamily="49" charset="-122"/>
                <a:cs typeface="Consolas" pitchFamily="49" charset="0"/>
              </a:rPr>
              <a:t>若有</a:t>
            </a:r>
            <a:r>
              <a:rPr lang="en-US" altLang="zh-CN" sz="2200">
                <a:solidFill>
                  <a:srgbClr val="FF0000"/>
                </a:solidFill>
                <a:latin typeface="Consolas" pitchFamily="49" charset="0"/>
                <a:ea typeface="仿宋" pitchFamily="49" charset="-122"/>
                <a:cs typeface="Consolas" pitchFamily="49" charset="0"/>
              </a:rPr>
              <a:t>Direction</a:t>
            </a:r>
            <a:r>
              <a:rPr lang="en-US" altLang="zh-CN" sz="2200">
                <a:solidFill>
                  <a:srgbClr val="0000FF"/>
                </a:solidFill>
                <a:latin typeface="Consolas" pitchFamily="49" charset="0"/>
                <a:ea typeface="仿宋" pitchFamily="49" charset="-122"/>
                <a:cs typeface="Consolas" pitchFamily="49" charset="0"/>
              </a:rPr>
              <a:t>(ch[top-1]</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ch[top])&gt;0</a:t>
            </a:r>
            <a:r>
              <a:rPr lang="zh-CN" altLang="en-US" sz="2200">
                <a:solidFill>
                  <a:srgbClr val="0000FF"/>
                </a:solidFill>
                <a:latin typeface="Consolas" pitchFamily="49" charset="0"/>
                <a:ea typeface="仿宋" pitchFamily="49" charset="-122"/>
                <a:cs typeface="Consolas" pitchFamily="49" charset="0"/>
              </a:rPr>
              <a:t>，如图所示，存在着右拐，则栈顶点</a:t>
            </a:r>
            <a:r>
              <a:rPr lang="en-US" altLang="zh-CN" sz="2200">
                <a:solidFill>
                  <a:srgbClr val="FF00FF"/>
                </a:solidFill>
                <a:latin typeface="Consolas" pitchFamily="49" charset="0"/>
                <a:ea typeface="仿宋" pitchFamily="49" charset="-122"/>
                <a:cs typeface="Consolas" pitchFamily="49" charset="0"/>
              </a:rPr>
              <a:t>ch[top]</a:t>
            </a:r>
            <a:r>
              <a:rPr lang="zh-CN" altLang="en-US" sz="2200">
                <a:solidFill>
                  <a:srgbClr val="0000FF"/>
                </a:solidFill>
                <a:latin typeface="Consolas" pitchFamily="49" charset="0"/>
                <a:ea typeface="仿宋" pitchFamily="49" charset="-122"/>
                <a:cs typeface="Consolas" pitchFamily="49" charset="0"/>
              </a:rPr>
              <a:t>一定不是凸包中的点，将其退栈，如此循环直到该条件不成立或者栈中少于两个元素为止，然后将当前扫描点</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进栈。</a:t>
            </a:r>
          </a:p>
        </p:txBody>
      </p:sp>
      <p:sp>
        <p:nvSpPr>
          <p:cNvPr id="19460" name="Rectangle 4"/>
          <p:cNvSpPr>
            <a:spLocks noChangeArrowheads="1"/>
          </p:cNvSpPr>
          <p:nvPr/>
        </p:nvSpPr>
        <p:spPr bwMode="auto">
          <a:xfrm>
            <a:off x="0" y="3009900"/>
            <a:ext cx="9144000" cy="0"/>
          </a:xfrm>
          <a:prstGeom prst="rect">
            <a:avLst/>
          </a:prstGeom>
          <a:noFill/>
          <a:ln w="9525">
            <a:noFill/>
            <a:miter lim="800000"/>
            <a:headEnd/>
            <a:tailEnd/>
          </a:ln>
        </p:spPr>
        <p:txBody>
          <a:bodyPr wrap="none" anchor="ctr">
            <a:spAutoFit/>
          </a:bodyPr>
          <a:lstStyle/>
          <a:p>
            <a:endParaRPr lang="zh-CN" altLang="en-US"/>
          </a:p>
        </p:txBody>
      </p:sp>
      <p:sp>
        <p:nvSpPr>
          <p:cNvPr id="224278"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8" name="组合 47"/>
          <p:cNvGrpSpPr/>
          <p:nvPr/>
        </p:nvGrpSpPr>
        <p:grpSpPr>
          <a:xfrm>
            <a:off x="1500166" y="3643314"/>
            <a:ext cx="2928958" cy="2000264"/>
            <a:chOff x="1643042" y="4071942"/>
            <a:chExt cx="2928958" cy="2000264"/>
          </a:xfrm>
        </p:grpSpPr>
        <p:sp>
          <p:nvSpPr>
            <p:cNvPr id="224276" name="Text Box 20"/>
            <p:cNvSpPr txBox="1">
              <a:spLocks noChangeArrowheads="1"/>
            </p:cNvSpPr>
            <p:nvPr/>
          </p:nvSpPr>
          <p:spPr bwMode="auto">
            <a:xfrm>
              <a:off x="3115170" y="5367324"/>
              <a:ext cx="355556" cy="3231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endParaRPr>
            </a:p>
          </p:txBody>
        </p:sp>
        <p:sp>
          <p:nvSpPr>
            <p:cNvPr id="224275" name="Text Box 19"/>
            <p:cNvSpPr txBox="1">
              <a:spLocks noChangeArrowheads="1"/>
            </p:cNvSpPr>
            <p:nvPr/>
          </p:nvSpPr>
          <p:spPr bwMode="auto">
            <a:xfrm>
              <a:off x="2669165" y="5220056"/>
              <a:ext cx="353997" cy="32456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endParaRPr>
            </a:p>
          </p:txBody>
        </p:sp>
        <p:sp>
          <p:nvSpPr>
            <p:cNvPr id="224274" name="Text Box 18"/>
            <p:cNvSpPr txBox="1">
              <a:spLocks noChangeArrowheads="1"/>
            </p:cNvSpPr>
            <p:nvPr/>
          </p:nvSpPr>
          <p:spPr bwMode="auto">
            <a:xfrm>
              <a:off x="2407176" y="4290698"/>
              <a:ext cx="843666" cy="324560"/>
            </a:xfrm>
            <a:prstGeom prst="rect">
              <a:avLst/>
            </a:prstGeom>
            <a:solidFill>
              <a:srgbClr val="FFFFFF"/>
            </a:solidFill>
            <a:ln w="9525">
              <a:solidFill>
                <a:schemeClr val="bg1"/>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Times New Roman" pitchFamily="18" charset="0"/>
                </a:rPr>
                <a:t>ch[top]</a:t>
              </a:r>
              <a:endPar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224273" name="Freeform 17"/>
            <p:cNvSpPr>
              <a:spLocks/>
            </p:cNvSpPr>
            <p:nvPr/>
          </p:nvSpPr>
          <p:spPr bwMode="auto">
            <a:xfrm>
              <a:off x="1997039" y="4447974"/>
              <a:ext cx="336843" cy="1192437"/>
            </a:xfrm>
            <a:custGeom>
              <a:avLst/>
              <a:gdLst/>
              <a:ahLst/>
              <a:cxnLst>
                <a:cxn ang="0">
                  <a:pos x="0" y="0"/>
                </a:cxn>
                <a:cxn ang="0">
                  <a:pos x="216" y="834"/>
                </a:cxn>
              </a:cxnLst>
              <a:rect l="0" t="0" r="r" b="b"/>
              <a:pathLst>
                <a:path w="216" h="834">
                  <a:moveTo>
                    <a:pt x="0" y="0"/>
                  </a:moveTo>
                  <a:lnTo>
                    <a:pt x="216" y="834"/>
                  </a:lnTo>
                </a:path>
              </a:pathLst>
            </a:custGeom>
            <a:noFill/>
            <a:ln w="19050">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4272" name="Freeform 16"/>
            <p:cNvSpPr>
              <a:spLocks/>
            </p:cNvSpPr>
            <p:nvPr/>
          </p:nvSpPr>
          <p:spPr bwMode="auto">
            <a:xfrm>
              <a:off x="2399379" y="5215767"/>
              <a:ext cx="1260042" cy="433224"/>
            </a:xfrm>
            <a:custGeom>
              <a:avLst/>
              <a:gdLst/>
              <a:ahLst/>
              <a:cxnLst>
                <a:cxn ang="0">
                  <a:pos x="0" y="303"/>
                </a:cxn>
                <a:cxn ang="0">
                  <a:pos x="807" y="0"/>
                </a:cxn>
              </a:cxnLst>
              <a:rect l="0" t="0" r="r" b="b"/>
              <a:pathLst>
                <a:path w="807" h="303">
                  <a:moveTo>
                    <a:pt x="0" y="303"/>
                  </a:moveTo>
                  <a:lnTo>
                    <a:pt x="807" y="0"/>
                  </a:lnTo>
                </a:path>
              </a:pathLst>
            </a:custGeom>
            <a:noFill/>
            <a:ln w="19050">
              <a:solidFill>
                <a:srgbClr val="000000"/>
              </a:solidFill>
              <a:prstDash val="sysDot"/>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4271" name="Oval 15"/>
            <p:cNvSpPr>
              <a:spLocks noChangeArrowheads="1"/>
            </p:cNvSpPr>
            <p:nvPr/>
          </p:nvSpPr>
          <p:spPr bwMode="auto">
            <a:xfrm>
              <a:off x="2308930" y="5623255"/>
              <a:ext cx="87330" cy="8149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4270" name="Oval 14"/>
            <p:cNvSpPr>
              <a:spLocks noChangeArrowheads="1"/>
            </p:cNvSpPr>
            <p:nvPr/>
          </p:nvSpPr>
          <p:spPr bwMode="auto">
            <a:xfrm>
              <a:off x="1956493" y="4406511"/>
              <a:ext cx="88889" cy="8149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4269" name="Oval 13"/>
            <p:cNvSpPr>
              <a:spLocks noChangeArrowheads="1"/>
            </p:cNvSpPr>
            <p:nvPr/>
          </p:nvSpPr>
          <p:spPr bwMode="auto">
            <a:xfrm>
              <a:off x="2531933" y="4203482"/>
              <a:ext cx="88889" cy="8149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4268" name="Oval 12"/>
            <p:cNvSpPr>
              <a:spLocks noChangeArrowheads="1"/>
            </p:cNvSpPr>
            <p:nvPr/>
          </p:nvSpPr>
          <p:spPr bwMode="auto">
            <a:xfrm>
              <a:off x="2318287" y="4758237"/>
              <a:ext cx="88889" cy="8149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4267" name="Oval 11"/>
            <p:cNvSpPr>
              <a:spLocks noChangeArrowheads="1"/>
            </p:cNvSpPr>
            <p:nvPr/>
          </p:nvSpPr>
          <p:spPr bwMode="auto">
            <a:xfrm>
              <a:off x="3341291" y="4433676"/>
              <a:ext cx="176219" cy="161566"/>
            </a:xfrm>
            <a:prstGeom prst="ellipse">
              <a:avLst/>
            </a:prstGeom>
            <a:solidFill>
              <a:srgbClr val="FF00FF"/>
            </a:solidFill>
            <a:ln w="9525">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6600"/>
                </a:solidFill>
                <a:latin typeface="Consolas" pitchFamily="49" charset="0"/>
                <a:ea typeface="仿宋" pitchFamily="49" charset="-122"/>
              </a:endParaRPr>
            </a:p>
          </p:txBody>
        </p:sp>
        <p:sp>
          <p:nvSpPr>
            <p:cNvPr id="224266" name="Line 10"/>
            <p:cNvSpPr>
              <a:spLocks noChangeShapeType="1"/>
            </p:cNvSpPr>
            <p:nvPr/>
          </p:nvSpPr>
          <p:spPr bwMode="auto">
            <a:xfrm>
              <a:off x="2358833" y="5679017"/>
              <a:ext cx="1682655" cy="0"/>
            </a:xfrm>
            <a:prstGeom prst="line">
              <a:avLst/>
            </a:prstGeom>
            <a:noFill/>
            <a:ln w="28575">
              <a:solidFill>
                <a:srgbClr val="0066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4265" name="Freeform 9"/>
            <p:cNvSpPr>
              <a:spLocks/>
            </p:cNvSpPr>
            <p:nvPr/>
          </p:nvSpPr>
          <p:spPr bwMode="auto">
            <a:xfrm>
              <a:off x="2503862" y="5494574"/>
              <a:ext cx="95127" cy="184442"/>
            </a:xfrm>
            <a:custGeom>
              <a:avLst/>
              <a:gdLst/>
              <a:ahLst/>
              <a:cxnLst>
                <a:cxn ang="0">
                  <a:pos x="0" y="0"/>
                </a:cxn>
                <a:cxn ang="0">
                  <a:pos x="57" y="42"/>
                </a:cxn>
                <a:cxn ang="0">
                  <a:pos x="57" y="129"/>
                </a:cxn>
              </a:cxnLst>
              <a:rect l="0" t="0" r="r" b="b"/>
              <a:pathLst>
                <a:path w="62" h="129">
                  <a:moveTo>
                    <a:pt x="0" y="0"/>
                  </a:moveTo>
                  <a:cubicBezTo>
                    <a:pt x="9" y="7"/>
                    <a:pt x="48" y="21"/>
                    <a:pt x="57" y="42"/>
                  </a:cubicBezTo>
                  <a:cubicBezTo>
                    <a:pt x="62" y="56"/>
                    <a:pt x="57" y="111"/>
                    <a:pt x="57" y="129"/>
                  </a:cubicBezTo>
                </a:path>
              </a:pathLst>
            </a:cu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4264" name="Freeform 8"/>
            <p:cNvSpPr>
              <a:spLocks/>
            </p:cNvSpPr>
            <p:nvPr/>
          </p:nvSpPr>
          <p:spPr bwMode="auto">
            <a:xfrm>
              <a:off x="2943629" y="5460259"/>
              <a:ext cx="48343" cy="214468"/>
            </a:xfrm>
            <a:custGeom>
              <a:avLst/>
              <a:gdLst/>
              <a:ahLst/>
              <a:cxnLst>
                <a:cxn ang="0">
                  <a:pos x="0" y="0"/>
                </a:cxn>
                <a:cxn ang="0">
                  <a:pos x="18" y="27"/>
                </a:cxn>
                <a:cxn ang="0">
                  <a:pos x="27" y="93"/>
                </a:cxn>
                <a:cxn ang="0">
                  <a:pos x="15" y="150"/>
                </a:cxn>
              </a:cxnLst>
              <a:rect l="0" t="0" r="r" b="b"/>
              <a:pathLst>
                <a:path w="31" h="150">
                  <a:moveTo>
                    <a:pt x="0" y="0"/>
                  </a:moveTo>
                  <a:cubicBezTo>
                    <a:pt x="3" y="5"/>
                    <a:pt x="14" y="12"/>
                    <a:pt x="18" y="27"/>
                  </a:cubicBezTo>
                  <a:cubicBezTo>
                    <a:pt x="22" y="42"/>
                    <a:pt x="27" y="73"/>
                    <a:pt x="27" y="93"/>
                  </a:cubicBezTo>
                  <a:cubicBezTo>
                    <a:pt x="31" y="113"/>
                    <a:pt x="17" y="138"/>
                    <a:pt x="15" y="150"/>
                  </a:cubicBezTo>
                </a:path>
              </a:pathLst>
            </a:cu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4263" name="Text Box 7"/>
            <p:cNvSpPr txBox="1">
              <a:spLocks noChangeArrowheads="1"/>
            </p:cNvSpPr>
            <p:nvPr/>
          </p:nvSpPr>
          <p:spPr bwMode="auto">
            <a:xfrm>
              <a:off x="3809128" y="5088517"/>
              <a:ext cx="441326" cy="32456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r>
                <a:rPr kumimoji="0" lang="en-US" altLang="zh-CN" sz="1800" b="0" i="0" u="none" strike="noStrike" cap="none" normalizeH="0" baseline="0">
                  <a:ln>
                    <a:noFill/>
                  </a:ln>
                  <a:solidFill>
                    <a:srgbClr val="FF0000"/>
                  </a:solidFill>
                  <a:effectLst/>
                  <a:latin typeface="Consolas" pitchFamily="49" charset="0"/>
                  <a:ea typeface="仿宋" pitchFamily="49" charset="-122"/>
                  <a:cs typeface="Times New Roman" pitchFamily="18" charset="0"/>
                </a:rPr>
                <a:t>[</a:t>
              </a:r>
              <a:r>
                <a:rPr kumimoji="0" lang="en-US" altLang="zh-CN" sz="1800" b="0" i="1" u="none" strike="noStrike" cap="none" normalizeH="0" baseline="0">
                  <a:ln>
                    <a:noFill/>
                  </a:ln>
                  <a:solidFill>
                    <a:srgbClr val="FF0000"/>
                  </a:solidFill>
                  <a:effectLst/>
                  <a:latin typeface="Consolas" pitchFamily="49" charset="0"/>
                  <a:ea typeface="仿宋" pitchFamily="49" charset="-122"/>
                  <a:cs typeface="Times New Roman" pitchFamily="18" charset="0"/>
                </a:rPr>
                <a:t>i</a:t>
              </a:r>
              <a:r>
                <a:rPr kumimoji="0" lang="en-US" altLang="zh-CN" sz="1800" b="0" i="0" u="none" strike="noStrike" cap="none" normalizeH="0" baseline="0">
                  <a:ln>
                    <a:noFill/>
                  </a:ln>
                  <a:solidFill>
                    <a:srgbClr val="FF0000"/>
                  </a:solidFill>
                  <a:effectLst/>
                  <a:latin typeface="Consolas" pitchFamily="49" charset="0"/>
                  <a:ea typeface="仿宋" pitchFamily="49" charset="-122"/>
                  <a:cs typeface="Times New Roman" pitchFamily="18" charset="0"/>
                </a:rPr>
                <a:t>]</a:t>
              </a:r>
              <a:endParaRPr kumimoji="0" lang="en-US" altLang="zh-CN" sz="1800" b="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224262" name="Oval 6"/>
            <p:cNvSpPr>
              <a:spLocks noChangeArrowheads="1"/>
            </p:cNvSpPr>
            <p:nvPr/>
          </p:nvSpPr>
          <p:spPr bwMode="auto">
            <a:xfrm>
              <a:off x="3673456" y="5164295"/>
              <a:ext cx="88889" cy="8149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4261" name="Text Box 5"/>
            <p:cNvSpPr txBox="1">
              <a:spLocks noChangeArrowheads="1"/>
            </p:cNvSpPr>
            <p:nvPr/>
          </p:nvSpPr>
          <p:spPr bwMode="auto">
            <a:xfrm>
              <a:off x="1643042" y="5747646"/>
              <a:ext cx="1121250" cy="32456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ch[top-1]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4260" name="Freeform 4"/>
            <p:cNvSpPr>
              <a:spLocks/>
            </p:cNvSpPr>
            <p:nvPr/>
          </p:nvSpPr>
          <p:spPr bwMode="auto">
            <a:xfrm>
              <a:off x="3233689" y="4256384"/>
              <a:ext cx="687721" cy="2859"/>
            </a:xfrm>
            <a:custGeom>
              <a:avLst/>
              <a:gdLst/>
              <a:ahLst/>
              <a:cxnLst>
                <a:cxn ang="0">
                  <a:pos x="0" y="0"/>
                </a:cxn>
                <a:cxn ang="0">
                  <a:pos x="441" y="126"/>
                </a:cxn>
              </a:cxnLst>
              <a:rect l="0" t="0" r="r" b="b"/>
              <a:pathLst>
                <a:path w="441" h="126">
                  <a:moveTo>
                    <a:pt x="0" y="0"/>
                  </a:moveTo>
                  <a:lnTo>
                    <a:pt x="441" y="126"/>
                  </a:lnTo>
                </a:path>
              </a:pathLst>
            </a:custGeom>
            <a:noFill/>
            <a:ln w="38100">
              <a:solidFill>
                <a:srgbClr val="FF00FF"/>
              </a:solidFill>
              <a:prstDash val="sysDot"/>
              <a:round/>
              <a:headEnd/>
              <a:tailEnd type="arrow"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4259" name="Text Box 3"/>
            <p:cNvSpPr txBox="1">
              <a:spLocks noChangeArrowheads="1"/>
            </p:cNvSpPr>
            <p:nvPr/>
          </p:nvSpPr>
          <p:spPr bwMode="auto">
            <a:xfrm>
              <a:off x="3915171" y="4071942"/>
              <a:ext cx="656829" cy="32456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FF0000"/>
                  </a:solidFill>
                  <a:effectLst/>
                  <a:latin typeface="Consolas" pitchFamily="49" charset="0"/>
                  <a:ea typeface="仿宋" pitchFamily="49" charset="-122"/>
                  <a:cs typeface="Times New Roman" pitchFamily="18" charset="0"/>
                </a:rPr>
                <a:t>右拐</a:t>
              </a:r>
              <a:endParaRPr kumimoji="0" lang="zh-CN" sz="200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224258" name="AutoShape 2"/>
            <p:cNvSpPr>
              <a:spLocks noChangeShapeType="1"/>
            </p:cNvSpPr>
            <p:nvPr/>
          </p:nvSpPr>
          <p:spPr bwMode="auto">
            <a:xfrm flipV="1">
              <a:off x="2358833" y="4570936"/>
              <a:ext cx="1008969" cy="110808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grpSp>
      <p:sp>
        <p:nvSpPr>
          <p:cNvPr id="49" name="左箭头 48"/>
          <p:cNvSpPr/>
          <p:nvPr/>
        </p:nvSpPr>
        <p:spPr>
          <a:xfrm>
            <a:off x="4643438" y="4429132"/>
            <a:ext cx="571504" cy="285752"/>
          </a:xfrm>
          <a:prstGeom prst="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50" name="TextBox 49"/>
          <p:cNvSpPr txBox="1"/>
          <p:nvPr/>
        </p:nvSpPr>
        <p:spPr>
          <a:xfrm>
            <a:off x="5357818" y="4363634"/>
            <a:ext cx="3000396" cy="400110"/>
          </a:xfrm>
          <a:prstGeom prst="rect">
            <a:avLst/>
          </a:prstGeom>
          <a:noFill/>
        </p:spPr>
        <p:txBody>
          <a:bodyPr wrap="square" rtlCol="0">
            <a:spAutoFit/>
          </a:bodyPr>
          <a:lstStyle/>
          <a:p>
            <a:r>
              <a:rPr lang="zh-CN" altLang="en-US" sz="2000">
                <a:solidFill>
                  <a:srgbClr val="0000FF"/>
                </a:solidFill>
                <a:latin typeface="Consolas" pitchFamily="49" charset="0"/>
                <a:ea typeface="仿宋" pitchFamily="49" charset="-122"/>
              </a:rPr>
              <a:t>删除</a:t>
            </a:r>
            <a:r>
              <a:rPr lang="en-US" altLang="zh-CN" sz="2000">
                <a:solidFill>
                  <a:srgbClr val="0000FF"/>
                </a:solidFill>
                <a:latin typeface="Consolas" pitchFamily="49" charset="0"/>
                <a:ea typeface="仿宋" pitchFamily="49" charset="-122"/>
              </a:rPr>
              <a:t>ch[top]</a:t>
            </a:r>
            <a:r>
              <a:rPr lang="zh-CN" altLang="en-US" sz="2000">
                <a:solidFill>
                  <a:srgbClr val="0000FF"/>
                </a:solidFill>
                <a:latin typeface="Consolas" pitchFamily="49" charset="0"/>
                <a:ea typeface="仿宋" pitchFamily="49" charset="-122"/>
              </a:rPr>
              <a:t>即将其退栈</a:t>
            </a:r>
          </a:p>
        </p:txBody>
      </p:sp>
      <p:sp>
        <p:nvSpPr>
          <p:cNvPr id="29" name="灯片编号占位符 28"/>
          <p:cNvSpPr>
            <a:spLocks noGrp="1"/>
          </p:cNvSpPr>
          <p:nvPr>
            <p:ph type="sldNum" sz="quarter" idx="12"/>
          </p:nvPr>
        </p:nvSpPr>
        <p:spPr/>
        <p:txBody>
          <a:bodyPr/>
          <a:lstStyle/>
          <a:p>
            <a:pPr>
              <a:defRPr/>
            </a:pPr>
            <a:fld id="{51116183-1013-4E64-BBE8-A5C1D5D4F838}" type="slidenum">
              <a:rPr lang="en-US" altLang="zh-CN" smtClean="0"/>
              <a:pPr>
                <a:defRPr/>
              </a:pPr>
              <a:t>104</a:t>
            </a:fld>
            <a:r>
              <a:rPr lang="en-US" altLang="zh-CN"/>
              <a:t>/167</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2"/>
          <p:cNvSpPr txBox="1">
            <a:spLocks noChangeArrowheads="1"/>
          </p:cNvSpPr>
          <p:nvPr/>
        </p:nvSpPr>
        <p:spPr bwMode="auto">
          <a:xfrm>
            <a:off x="357158" y="571480"/>
            <a:ext cx="8642350" cy="1983584"/>
          </a:xfrm>
          <a:prstGeom prst="rect">
            <a:avLst/>
          </a:prstGeom>
          <a:ln>
            <a:solidFill>
              <a:schemeClr val="accent6">
                <a:lumMod val="60000"/>
                <a:lumOff val="40000"/>
              </a:schemeClr>
            </a:solidFill>
            <a:headEnd/>
            <a:tailEnd/>
          </a:ln>
        </p:spPr>
        <p:style>
          <a:lnRef idx="2">
            <a:schemeClr val="accent2"/>
          </a:lnRef>
          <a:fillRef idx="1">
            <a:schemeClr val="lt1"/>
          </a:fillRef>
          <a:effectRef idx="0">
            <a:schemeClr val="accent2"/>
          </a:effectRef>
          <a:fontRef idx="minor">
            <a:schemeClr val="dk1"/>
          </a:fontRef>
        </p:style>
        <p:txBody>
          <a:bodyPr tIns="144000" bIns="144000">
            <a:spAutoFit/>
          </a:bodyPr>
          <a:lstStyle/>
          <a:p>
            <a:pPr marL="457200" indent="-457200">
              <a:lnSpc>
                <a:spcPts val="3300"/>
              </a:lnSpc>
              <a:buFont typeface="+mj-ea"/>
              <a:buAutoNum type="circleNumDbPlain" startAt="2"/>
            </a:pPr>
            <a:r>
              <a:rPr lang="zh-CN" altLang="zh-CN" sz="2200">
                <a:solidFill>
                  <a:srgbClr val="0000FF"/>
                </a:solidFill>
                <a:latin typeface="Consolas" pitchFamily="49" charset="0"/>
                <a:ea typeface="仿宋" pitchFamily="49" charset="-122"/>
              </a:rPr>
              <a:t>若</a:t>
            </a:r>
            <a:r>
              <a:rPr lang="en-US" altLang="zh-CN" sz="2200">
                <a:solidFill>
                  <a:srgbClr val="FF0000"/>
                </a:solidFill>
                <a:latin typeface="Consolas" pitchFamily="49" charset="0"/>
                <a:ea typeface="仿宋" pitchFamily="49" charset="-122"/>
              </a:rPr>
              <a:t>Direction</a:t>
            </a:r>
            <a:r>
              <a:rPr lang="en-US" altLang="zh-CN" sz="2200">
                <a:solidFill>
                  <a:srgbClr val="0000FF"/>
                </a:solidFill>
                <a:latin typeface="Consolas" pitchFamily="49" charset="0"/>
                <a:ea typeface="仿宋" pitchFamily="49" charset="-122"/>
              </a:rPr>
              <a:t>(ch[top-1]</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a</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ch[top])</a:t>
            </a:r>
            <a:r>
              <a:rPr lang="zh-CN" altLang="zh-CN" sz="2200">
                <a:solidFill>
                  <a:srgbClr val="0000FF"/>
                </a:solidFill>
                <a:latin typeface="宋体" pitchFamily="2" charset="-122"/>
                <a:ea typeface="宋体" pitchFamily="2" charset="-122"/>
              </a:rPr>
              <a:t>≤</a:t>
            </a:r>
            <a:r>
              <a:rPr lang="en-US" altLang="zh-CN" sz="2200">
                <a:solidFill>
                  <a:srgbClr val="0000FF"/>
                </a:solidFill>
                <a:latin typeface="Consolas" pitchFamily="49" charset="0"/>
                <a:ea typeface="仿宋" pitchFamily="49" charset="-122"/>
              </a:rPr>
              <a:t>0</a:t>
            </a:r>
            <a:r>
              <a:rPr lang="zh-CN" altLang="zh-CN" sz="2200">
                <a:solidFill>
                  <a:srgbClr val="0000FF"/>
                </a:solidFill>
                <a:latin typeface="Consolas" pitchFamily="49" charset="0"/>
                <a:ea typeface="仿宋" pitchFamily="49" charset="-122"/>
              </a:rPr>
              <a:t>，如图所示，</a:t>
            </a:r>
            <a:r>
              <a:rPr lang="en-US" altLang="zh-CN" sz="2200">
                <a:solidFill>
                  <a:srgbClr val="0000FF"/>
                </a:solidFill>
                <a:latin typeface="Consolas" pitchFamily="49" charset="0"/>
                <a:ea typeface="仿宋" pitchFamily="49" charset="-122"/>
              </a:rPr>
              <a:t>ch[top-1]-</a:t>
            </a:r>
            <a:r>
              <a:rPr lang="en-US" altLang="zh-CN" sz="2200" i="1">
                <a:solidFill>
                  <a:srgbClr val="0000FF"/>
                </a:solidFill>
                <a:latin typeface="Consolas" pitchFamily="49" charset="0"/>
                <a:ea typeface="仿宋" pitchFamily="49" charset="-122"/>
              </a:rPr>
              <a:t>a</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]-ch[top]</a:t>
            </a:r>
            <a:r>
              <a:rPr lang="zh-CN" altLang="zh-CN" sz="2200">
                <a:solidFill>
                  <a:srgbClr val="0000FF"/>
                </a:solidFill>
                <a:latin typeface="Consolas" pitchFamily="49" charset="0"/>
                <a:ea typeface="仿宋" pitchFamily="49" charset="-122"/>
              </a:rPr>
              <a:t>在左手螺旋方向上即对于</a:t>
            </a:r>
            <a:r>
              <a:rPr lang="en-US" altLang="zh-CN" sz="2200">
                <a:solidFill>
                  <a:srgbClr val="FF00FF"/>
                </a:solidFill>
                <a:latin typeface="Consolas" pitchFamily="49" charset="0"/>
                <a:ea typeface="仿宋" pitchFamily="49" charset="-122"/>
              </a:rPr>
              <a:t>ch[top]</a:t>
            </a:r>
            <a:r>
              <a:rPr lang="zh-CN" altLang="zh-CN" sz="2200">
                <a:solidFill>
                  <a:srgbClr val="0000FF"/>
                </a:solidFill>
                <a:latin typeface="Consolas" pitchFamily="49" charset="0"/>
                <a:ea typeface="仿宋" pitchFamily="49" charset="-122"/>
              </a:rPr>
              <a:t>而言存在着左拐，则栈顶点</a:t>
            </a:r>
            <a:r>
              <a:rPr lang="en-US" altLang="zh-CN" sz="2200">
                <a:solidFill>
                  <a:srgbClr val="0000FF"/>
                </a:solidFill>
                <a:latin typeface="Consolas" pitchFamily="49" charset="0"/>
                <a:ea typeface="仿宋" pitchFamily="49" charset="-122"/>
              </a:rPr>
              <a:t>ch[top]</a:t>
            </a:r>
            <a:r>
              <a:rPr lang="zh-CN" altLang="zh-CN" sz="2200">
                <a:solidFill>
                  <a:srgbClr val="0000FF"/>
                </a:solidFill>
                <a:latin typeface="Consolas" pitchFamily="49" charset="0"/>
                <a:ea typeface="仿宋" pitchFamily="49" charset="-122"/>
              </a:rPr>
              <a:t>可能是凸包中的点，不退栈，然后将当前点</a:t>
            </a:r>
            <a:r>
              <a:rPr lang="en-US" altLang="zh-CN" sz="2200" i="1">
                <a:solidFill>
                  <a:srgbClr val="0000FF"/>
                </a:solidFill>
                <a:latin typeface="Consolas" pitchFamily="49" charset="0"/>
                <a:ea typeface="仿宋" pitchFamily="49" charset="-122"/>
              </a:rPr>
              <a:t>a</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i</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进栈。</a:t>
            </a:r>
          </a:p>
        </p:txBody>
      </p:sp>
      <p:sp>
        <p:nvSpPr>
          <p:cNvPr id="19460" name="Rectangle 4"/>
          <p:cNvSpPr>
            <a:spLocks noChangeArrowheads="1"/>
          </p:cNvSpPr>
          <p:nvPr/>
        </p:nvSpPr>
        <p:spPr bwMode="auto">
          <a:xfrm>
            <a:off x="0" y="3009900"/>
            <a:ext cx="9144000" cy="0"/>
          </a:xfrm>
          <a:prstGeom prst="rect">
            <a:avLst/>
          </a:prstGeom>
          <a:noFill/>
          <a:ln w="9525">
            <a:noFill/>
            <a:miter lim="800000"/>
            <a:headEnd/>
            <a:tailEnd/>
          </a:ln>
        </p:spPr>
        <p:txBody>
          <a:bodyPr wrap="none" anchor="ctr">
            <a:spAutoFit/>
          </a:bodyPr>
          <a:lstStyle/>
          <a:p>
            <a:endParaRPr lang="zh-CN" altLang="en-US"/>
          </a:p>
        </p:txBody>
      </p:sp>
      <p:sp>
        <p:nvSpPr>
          <p:cNvPr id="222230"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7" name="组合 46"/>
          <p:cNvGrpSpPr/>
          <p:nvPr/>
        </p:nvGrpSpPr>
        <p:grpSpPr>
          <a:xfrm>
            <a:off x="1571603" y="3299485"/>
            <a:ext cx="3429025" cy="2201217"/>
            <a:chOff x="1571603" y="3299485"/>
            <a:chExt cx="3215519" cy="2201217"/>
          </a:xfrm>
        </p:grpSpPr>
        <p:sp>
          <p:nvSpPr>
            <p:cNvPr id="222228" name="Text Box 20"/>
            <p:cNvSpPr txBox="1">
              <a:spLocks noChangeArrowheads="1"/>
            </p:cNvSpPr>
            <p:nvPr/>
          </p:nvSpPr>
          <p:spPr bwMode="auto">
            <a:xfrm>
              <a:off x="2852373" y="4658962"/>
              <a:ext cx="344358" cy="37744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endParaRPr>
            </a:p>
          </p:txBody>
        </p:sp>
        <p:sp>
          <p:nvSpPr>
            <p:cNvPr id="222227" name="Text Box 19"/>
            <p:cNvSpPr txBox="1">
              <a:spLocks noChangeArrowheads="1"/>
            </p:cNvSpPr>
            <p:nvPr/>
          </p:nvSpPr>
          <p:spPr bwMode="auto">
            <a:xfrm>
              <a:off x="2420415" y="4441846"/>
              <a:ext cx="342848" cy="37911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rPr>
                <a:t></a:t>
              </a:r>
              <a:r>
                <a:rPr kumimoji="0" lang="en-US" altLang="zh-CN" sz="1800" b="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sym typeface="Symbol" pitchFamily="18" charset="2"/>
              </a:endParaRPr>
            </a:p>
          </p:txBody>
        </p:sp>
        <p:sp>
          <p:nvSpPr>
            <p:cNvPr id="222226" name="Text Box 18"/>
            <p:cNvSpPr txBox="1">
              <a:spLocks noChangeArrowheads="1"/>
            </p:cNvSpPr>
            <p:nvPr/>
          </p:nvSpPr>
          <p:spPr bwMode="auto">
            <a:xfrm>
              <a:off x="3970027" y="4278175"/>
              <a:ext cx="817095" cy="37911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FF00FF"/>
                  </a:solidFill>
                  <a:effectLst/>
                  <a:latin typeface="Consolas" pitchFamily="49" charset="0"/>
                  <a:ea typeface="仿宋" pitchFamily="49" charset="-122"/>
                  <a:cs typeface="Times New Roman" pitchFamily="18" charset="0"/>
                </a:rPr>
                <a:t>ch[top]</a:t>
              </a:r>
              <a:endParaRPr kumimoji="0" lang="en-US" altLang="zh-CN" sz="1800" b="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222225" name="Freeform 17"/>
            <p:cNvSpPr>
              <a:spLocks/>
            </p:cNvSpPr>
            <p:nvPr/>
          </p:nvSpPr>
          <p:spPr bwMode="auto">
            <a:xfrm>
              <a:off x="1769458" y="3585075"/>
              <a:ext cx="326234" cy="1392879"/>
            </a:xfrm>
            <a:custGeom>
              <a:avLst/>
              <a:gdLst/>
              <a:ahLst/>
              <a:cxnLst>
                <a:cxn ang="0">
                  <a:pos x="0" y="0"/>
                </a:cxn>
                <a:cxn ang="0">
                  <a:pos x="216" y="834"/>
                </a:cxn>
              </a:cxnLst>
              <a:rect l="0" t="0" r="r" b="b"/>
              <a:pathLst>
                <a:path w="216" h="834">
                  <a:moveTo>
                    <a:pt x="0" y="0"/>
                  </a:moveTo>
                  <a:lnTo>
                    <a:pt x="216" y="834"/>
                  </a:lnTo>
                </a:path>
              </a:pathLst>
            </a:custGeom>
            <a:noFill/>
            <a:ln w="19050">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2224" name="Oval 16"/>
            <p:cNvSpPr>
              <a:spLocks noChangeArrowheads="1"/>
            </p:cNvSpPr>
            <p:nvPr/>
          </p:nvSpPr>
          <p:spPr bwMode="auto">
            <a:xfrm>
              <a:off x="2071526" y="4957913"/>
              <a:ext cx="84579" cy="95197"/>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2223" name="Oval 15"/>
            <p:cNvSpPr>
              <a:spLocks noChangeArrowheads="1"/>
            </p:cNvSpPr>
            <p:nvPr/>
          </p:nvSpPr>
          <p:spPr bwMode="auto">
            <a:xfrm>
              <a:off x="1730189" y="3536642"/>
              <a:ext cx="86090" cy="95197"/>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2222" name="Oval 14"/>
            <p:cNvSpPr>
              <a:spLocks noChangeArrowheads="1"/>
            </p:cNvSpPr>
            <p:nvPr/>
          </p:nvSpPr>
          <p:spPr bwMode="auto">
            <a:xfrm>
              <a:off x="2287505" y="3299485"/>
              <a:ext cx="86090" cy="95197"/>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2221" name="Oval 13"/>
            <p:cNvSpPr>
              <a:spLocks noChangeArrowheads="1"/>
            </p:cNvSpPr>
            <p:nvPr/>
          </p:nvSpPr>
          <p:spPr bwMode="auto">
            <a:xfrm>
              <a:off x="2080588" y="3947491"/>
              <a:ext cx="86090" cy="95197"/>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2220" name="Oval 12"/>
            <p:cNvSpPr>
              <a:spLocks noChangeArrowheads="1"/>
            </p:cNvSpPr>
            <p:nvPr/>
          </p:nvSpPr>
          <p:spPr bwMode="auto">
            <a:xfrm>
              <a:off x="3071373" y="3568374"/>
              <a:ext cx="86090" cy="95197"/>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2219" name="Line 11"/>
            <p:cNvSpPr>
              <a:spLocks noChangeShapeType="1"/>
            </p:cNvSpPr>
            <p:nvPr/>
          </p:nvSpPr>
          <p:spPr bwMode="auto">
            <a:xfrm>
              <a:off x="2119857" y="5023048"/>
              <a:ext cx="1629659" cy="0"/>
            </a:xfrm>
            <a:prstGeom prst="line">
              <a:avLst/>
            </a:prstGeom>
            <a:noFill/>
            <a:ln w="38100">
              <a:solidFill>
                <a:srgbClr val="0066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2218" name="Freeform 10"/>
            <p:cNvSpPr>
              <a:spLocks/>
            </p:cNvSpPr>
            <p:nvPr/>
          </p:nvSpPr>
          <p:spPr bwMode="auto">
            <a:xfrm>
              <a:off x="2260319" y="4807603"/>
              <a:ext cx="92131" cy="215445"/>
            </a:xfrm>
            <a:custGeom>
              <a:avLst/>
              <a:gdLst/>
              <a:ahLst/>
              <a:cxnLst>
                <a:cxn ang="0">
                  <a:pos x="0" y="0"/>
                </a:cxn>
                <a:cxn ang="0">
                  <a:pos x="57" y="42"/>
                </a:cxn>
                <a:cxn ang="0">
                  <a:pos x="57" y="129"/>
                </a:cxn>
              </a:cxnLst>
              <a:rect l="0" t="0" r="r" b="b"/>
              <a:pathLst>
                <a:path w="62" h="129">
                  <a:moveTo>
                    <a:pt x="0" y="0"/>
                  </a:moveTo>
                  <a:cubicBezTo>
                    <a:pt x="9" y="7"/>
                    <a:pt x="48" y="21"/>
                    <a:pt x="57" y="42"/>
                  </a:cubicBezTo>
                  <a:cubicBezTo>
                    <a:pt x="62" y="56"/>
                    <a:pt x="57" y="111"/>
                    <a:pt x="57" y="129"/>
                  </a:cubicBezTo>
                </a:path>
              </a:pathLst>
            </a:cu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2217" name="Freeform 9"/>
            <p:cNvSpPr>
              <a:spLocks/>
            </p:cNvSpPr>
            <p:nvPr/>
          </p:nvSpPr>
          <p:spPr bwMode="auto">
            <a:xfrm>
              <a:off x="2686236" y="4767520"/>
              <a:ext cx="46821" cy="250518"/>
            </a:xfrm>
            <a:custGeom>
              <a:avLst/>
              <a:gdLst/>
              <a:ahLst/>
              <a:cxnLst>
                <a:cxn ang="0">
                  <a:pos x="0" y="0"/>
                </a:cxn>
                <a:cxn ang="0">
                  <a:pos x="18" y="27"/>
                </a:cxn>
                <a:cxn ang="0">
                  <a:pos x="27" y="93"/>
                </a:cxn>
                <a:cxn ang="0">
                  <a:pos x="15" y="150"/>
                </a:cxn>
              </a:cxnLst>
              <a:rect l="0" t="0" r="r" b="b"/>
              <a:pathLst>
                <a:path w="31" h="150">
                  <a:moveTo>
                    <a:pt x="0" y="0"/>
                  </a:moveTo>
                  <a:cubicBezTo>
                    <a:pt x="3" y="5"/>
                    <a:pt x="14" y="12"/>
                    <a:pt x="18" y="27"/>
                  </a:cubicBezTo>
                  <a:cubicBezTo>
                    <a:pt x="22" y="42"/>
                    <a:pt x="27" y="73"/>
                    <a:pt x="27" y="93"/>
                  </a:cubicBezTo>
                  <a:cubicBezTo>
                    <a:pt x="31" y="113"/>
                    <a:pt x="17" y="138"/>
                    <a:pt x="15" y="150"/>
                  </a:cubicBezTo>
                </a:path>
              </a:pathLst>
            </a:cu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2216" name="Text Box 8"/>
            <p:cNvSpPr txBox="1">
              <a:spLocks noChangeArrowheads="1"/>
            </p:cNvSpPr>
            <p:nvPr/>
          </p:nvSpPr>
          <p:spPr bwMode="auto">
            <a:xfrm>
              <a:off x="2582022" y="3394682"/>
              <a:ext cx="427427" cy="37911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a:ln>
                    <a:noFill/>
                  </a:ln>
                  <a:solidFill>
                    <a:srgbClr val="FF0000"/>
                  </a:solidFill>
                  <a:effectLst/>
                  <a:latin typeface="Consolas" pitchFamily="49" charset="0"/>
                  <a:ea typeface="仿宋" pitchFamily="49" charset="-122"/>
                  <a:cs typeface="Times New Roman" pitchFamily="18" charset="0"/>
                </a:rPr>
                <a:t>a</a:t>
              </a:r>
              <a:r>
                <a:rPr kumimoji="0" lang="en-US" altLang="zh-CN" sz="1800" b="0" i="0" u="none" strike="noStrike" cap="none" normalizeH="0" baseline="0">
                  <a:ln>
                    <a:noFill/>
                  </a:ln>
                  <a:solidFill>
                    <a:srgbClr val="FF0000"/>
                  </a:solidFill>
                  <a:effectLst/>
                  <a:latin typeface="Consolas" pitchFamily="49" charset="0"/>
                  <a:ea typeface="仿宋" pitchFamily="49" charset="-122"/>
                  <a:cs typeface="Times New Roman" pitchFamily="18" charset="0"/>
                </a:rPr>
                <a:t>[</a:t>
              </a:r>
              <a:r>
                <a:rPr kumimoji="0" lang="en-US" altLang="zh-CN" sz="1800" b="0" i="1" u="none" strike="noStrike" cap="none" normalizeH="0" baseline="0">
                  <a:ln>
                    <a:noFill/>
                  </a:ln>
                  <a:solidFill>
                    <a:srgbClr val="FF0000"/>
                  </a:solidFill>
                  <a:effectLst/>
                  <a:latin typeface="Consolas" pitchFamily="49" charset="0"/>
                  <a:ea typeface="仿宋" pitchFamily="49" charset="-122"/>
                  <a:cs typeface="Times New Roman" pitchFamily="18" charset="0"/>
                </a:rPr>
                <a:t>i</a:t>
              </a:r>
              <a:r>
                <a:rPr kumimoji="0" lang="en-US" altLang="zh-CN" sz="1800" b="0" i="0" u="none" strike="noStrike" cap="none" normalizeH="0" baseline="0">
                  <a:ln>
                    <a:noFill/>
                  </a:ln>
                  <a:solidFill>
                    <a:srgbClr val="FF0000"/>
                  </a:solidFill>
                  <a:effectLst/>
                  <a:latin typeface="Consolas" pitchFamily="49" charset="0"/>
                  <a:ea typeface="仿宋" pitchFamily="49" charset="-122"/>
                  <a:cs typeface="Times New Roman" pitchFamily="18" charset="0"/>
                </a:rPr>
                <a:t>]</a:t>
              </a:r>
              <a:endParaRPr kumimoji="0" lang="en-US" altLang="zh-CN" sz="1800" b="0" i="0" u="none" strike="noStrike" cap="none" normalizeH="0" baseline="0">
                <a:ln>
                  <a:noFill/>
                </a:ln>
                <a:solidFill>
                  <a:srgbClr val="FF0000"/>
                </a:solidFill>
                <a:effectLst/>
                <a:latin typeface="Consolas" pitchFamily="49" charset="0"/>
                <a:ea typeface="仿宋" pitchFamily="49" charset="-122"/>
                <a:cs typeface="宋体" pitchFamily="2" charset="-122"/>
              </a:endParaRPr>
            </a:p>
          </p:txBody>
        </p:sp>
        <p:sp>
          <p:nvSpPr>
            <p:cNvPr id="222215" name="Oval 7"/>
            <p:cNvSpPr>
              <a:spLocks noChangeArrowheads="1"/>
            </p:cNvSpPr>
            <p:nvPr/>
          </p:nvSpPr>
          <p:spPr bwMode="auto">
            <a:xfrm>
              <a:off x="3719310" y="4241432"/>
              <a:ext cx="170669" cy="188723"/>
            </a:xfrm>
            <a:prstGeom prst="ellipse">
              <a:avLst/>
            </a:prstGeom>
            <a:solidFill>
              <a:srgbClr val="FF00FF"/>
            </a:solidFill>
            <a:ln w="9525">
              <a:solidFill>
                <a:srgbClr val="FF00FF"/>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FF00FF"/>
                </a:solidFill>
                <a:latin typeface="Consolas" pitchFamily="49" charset="0"/>
                <a:ea typeface="仿宋" pitchFamily="49" charset="-122"/>
              </a:endParaRPr>
            </a:p>
          </p:txBody>
        </p:sp>
        <p:sp>
          <p:nvSpPr>
            <p:cNvPr id="222214" name="Text Box 6"/>
            <p:cNvSpPr txBox="1">
              <a:spLocks noChangeArrowheads="1"/>
            </p:cNvSpPr>
            <p:nvPr/>
          </p:nvSpPr>
          <p:spPr bwMode="auto">
            <a:xfrm>
              <a:off x="1571603" y="5121585"/>
              <a:ext cx="1085936" cy="37911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Times New Roman" pitchFamily="18" charset="0"/>
                </a:rPr>
                <a:t>ch[top-1]</a:t>
              </a:r>
              <a:endParaRPr kumimoji="0" lang="en-US" altLang="zh-CN" sz="1800" b="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2213" name="Freeform 5"/>
            <p:cNvSpPr>
              <a:spLocks/>
            </p:cNvSpPr>
            <p:nvPr/>
          </p:nvSpPr>
          <p:spPr bwMode="auto">
            <a:xfrm>
              <a:off x="3510883" y="3947491"/>
              <a:ext cx="666061" cy="3340"/>
            </a:xfrm>
            <a:custGeom>
              <a:avLst/>
              <a:gdLst/>
              <a:ahLst/>
              <a:cxnLst>
                <a:cxn ang="0">
                  <a:pos x="0" y="0"/>
                </a:cxn>
                <a:cxn ang="0">
                  <a:pos x="441" y="126"/>
                </a:cxn>
              </a:cxnLst>
              <a:rect l="0" t="0" r="r" b="b"/>
              <a:pathLst>
                <a:path w="441" h="126">
                  <a:moveTo>
                    <a:pt x="0" y="0"/>
                  </a:moveTo>
                  <a:lnTo>
                    <a:pt x="441" y="126"/>
                  </a:lnTo>
                </a:path>
              </a:pathLst>
            </a:custGeom>
            <a:noFill/>
            <a:ln w="38100">
              <a:solidFill>
                <a:srgbClr val="FF00FF"/>
              </a:solidFill>
              <a:prstDash val="sysDot"/>
              <a:round/>
              <a:headEnd type="arrow" w="sm" len="sm"/>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2212" name="Text Box 4"/>
            <p:cNvSpPr txBox="1">
              <a:spLocks noChangeArrowheads="1"/>
            </p:cNvSpPr>
            <p:nvPr/>
          </p:nvSpPr>
          <p:spPr bwMode="auto">
            <a:xfrm>
              <a:off x="3532027" y="3446455"/>
              <a:ext cx="705330" cy="37911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FF00FF"/>
                  </a:solidFill>
                  <a:effectLst/>
                  <a:latin typeface="Consolas" pitchFamily="49" charset="0"/>
                  <a:ea typeface="仿宋" pitchFamily="49" charset="-122"/>
                  <a:cs typeface="Times New Roman" pitchFamily="18" charset="0"/>
                </a:rPr>
                <a:t>左拐</a:t>
              </a:r>
              <a:endParaRPr kumimoji="0" lang="zh-CN" sz="2000" i="0" u="none" strike="noStrike" cap="none" normalizeH="0" baseline="0">
                <a:ln>
                  <a:noFill/>
                </a:ln>
                <a:solidFill>
                  <a:srgbClr val="FF00FF"/>
                </a:solidFill>
                <a:effectLst/>
                <a:latin typeface="Consolas" pitchFamily="49" charset="0"/>
                <a:ea typeface="仿宋" pitchFamily="49" charset="-122"/>
                <a:cs typeface="宋体" pitchFamily="2" charset="-122"/>
              </a:endParaRPr>
            </a:p>
          </p:txBody>
        </p:sp>
        <p:sp>
          <p:nvSpPr>
            <p:cNvPr id="222211" name="AutoShape 3"/>
            <p:cNvSpPr>
              <a:spLocks noChangeShapeType="1"/>
            </p:cNvSpPr>
            <p:nvPr/>
          </p:nvSpPr>
          <p:spPr bwMode="auto">
            <a:xfrm flipV="1">
              <a:off x="2119857" y="3650210"/>
              <a:ext cx="963598" cy="1372838"/>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2210" name="AutoShape 2"/>
            <p:cNvSpPr>
              <a:spLocks noChangeShapeType="1"/>
            </p:cNvSpPr>
            <p:nvPr/>
          </p:nvSpPr>
          <p:spPr bwMode="auto">
            <a:xfrm flipV="1">
              <a:off x="2119857" y="4401764"/>
              <a:ext cx="1625128" cy="62128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grpSp>
      <p:sp>
        <p:nvSpPr>
          <p:cNvPr id="48" name="左箭头 47"/>
          <p:cNvSpPr/>
          <p:nvPr/>
        </p:nvSpPr>
        <p:spPr>
          <a:xfrm>
            <a:off x="5143504" y="4282552"/>
            <a:ext cx="571504" cy="285752"/>
          </a:xfrm>
          <a:prstGeom prst="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49" name="TextBox 48"/>
          <p:cNvSpPr txBox="1"/>
          <p:nvPr/>
        </p:nvSpPr>
        <p:spPr>
          <a:xfrm>
            <a:off x="5857884" y="4217054"/>
            <a:ext cx="2071702" cy="400110"/>
          </a:xfrm>
          <a:prstGeom prst="rect">
            <a:avLst/>
          </a:prstGeom>
          <a:noFill/>
        </p:spPr>
        <p:txBody>
          <a:bodyPr wrap="square" rtlCol="0">
            <a:spAutoFit/>
          </a:bodyPr>
          <a:lstStyle/>
          <a:p>
            <a:r>
              <a:rPr lang="en-US" altLang="zh-CN" sz="2000">
                <a:solidFill>
                  <a:srgbClr val="0000FF"/>
                </a:solidFill>
                <a:latin typeface="Consolas" pitchFamily="49" charset="0"/>
                <a:ea typeface="仿宋" pitchFamily="49" charset="-122"/>
              </a:rPr>
              <a:t>ch[top]</a:t>
            </a:r>
            <a:r>
              <a:rPr lang="zh-CN" altLang="en-US" sz="2000">
                <a:solidFill>
                  <a:srgbClr val="0000FF"/>
                </a:solidFill>
                <a:latin typeface="Consolas" pitchFamily="49" charset="0"/>
                <a:ea typeface="仿宋" pitchFamily="49" charset="-122"/>
              </a:rPr>
              <a:t>不退栈</a:t>
            </a:r>
          </a:p>
        </p:txBody>
      </p:sp>
      <p:sp>
        <p:nvSpPr>
          <p:cNvPr id="29" name="灯片编号占位符 28"/>
          <p:cNvSpPr>
            <a:spLocks noGrp="1"/>
          </p:cNvSpPr>
          <p:nvPr>
            <p:ph type="sldNum" sz="quarter" idx="12"/>
          </p:nvPr>
        </p:nvSpPr>
        <p:spPr/>
        <p:txBody>
          <a:bodyPr/>
          <a:lstStyle/>
          <a:p>
            <a:pPr>
              <a:defRPr/>
            </a:pPr>
            <a:fld id="{51116183-1013-4E64-BBE8-A5C1D5D4F838}" type="slidenum">
              <a:rPr lang="en-US" altLang="zh-CN" smtClean="0"/>
              <a:pPr>
                <a:defRPr/>
              </a:pPr>
              <a:t>105</a:t>
            </a:fld>
            <a:r>
              <a:rPr lang="en-US" altLang="zh-CN"/>
              <a:t>/167</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Text Box 2"/>
          <p:cNvSpPr txBox="1">
            <a:spLocks noChangeArrowheads="1"/>
          </p:cNvSpPr>
          <p:nvPr/>
        </p:nvSpPr>
        <p:spPr bwMode="auto">
          <a:xfrm>
            <a:off x="1285852" y="428604"/>
            <a:ext cx="7072362" cy="646331"/>
          </a:xfrm>
          <a:prstGeom prst="rect">
            <a:avLst/>
          </a:prstGeom>
          <a:noFill/>
          <a:ln w="9525">
            <a:noFill/>
            <a:miter lim="800000"/>
            <a:headEnd/>
            <a:tailEnd/>
          </a:ln>
        </p:spPr>
        <p:txBody>
          <a:bodyPr wrap="square">
            <a:spAutoFit/>
          </a:bodyPr>
          <a:lstStyle/>
          <a:p>
            <a:pPr>
              <a:lnSpc>
                <a:spcPct val="150000"/>
              </a:lnSpc>
              <a:spcBef>
                <a:spcPct val="50000"/>
              </a:spcBef>
            </a:pPr>
            <a:r>
              <a:rPr lang="zh-CN" altLang="en-US">
                <a:solidFill>
                  <a:srgbClr val="0000FF"/>
                </a:solidFill>
                <a:latin typeface="Consolas" pitchFamily="49" charset="0"/>
                <a:ea typeface="仿宋" pitchFamily="49" charset="-122"/>
                <a:cs typeface="Consolas" pitchFamily="49" charset="0"/>
              </a:rPr>
              <a:t>对于点集</a:t>
            </a:r>
            <a:r>
              <a:rPr lang="en-US" altLang="zh-CN" i="1">
                <a:solidFill>
                  <a:srgbClr val="0000FF"/>
                </a:solidFill>
                <a:latin typeface="Consolas" pitchFamily="49" charset="0"/>
                <a:ea typeface="仿宋" pitchFamily="49" charset="-122"/>
                <a:cs typeface="Consolas" pitchFamily="49" charset="0"/>
              </a:rPr>
              <a:t>a</a:t>
            </a:r>
            <a:r>
              <a:rPr lang="zh-CN" altLang="en-US">
                <a:solidFill>
                  <a:srgbClr val="0000FF"/>
                </a:solidFill>
                <a:latin typeface="Consolas" pitchFamily="49" charset="0"/>
                <a:ea typeface="仿宋" pitchFamily="49" charset="-122"/>
                <a:cs typeface="Consolas" pitchFamily="49" charset="0"/>
              </a:rPr>
              <a:t>，采用</a:t>
            </a:r>
            <a:r>
              <a:rPr lang="en-US" altLang="zh-CN">
                <a:solidFill>
                  <a:srgbClr val="0000FF"/>
                </a:solidFill>
                <a:latin typeface="Consolas" pitchFamily="49" charset="0"/>
                <a:ea typeface="仿宋" pitchFamily="49" charset="-122"/>
                <a:cs typeface="Consolas" pitchFamily="49" charset="0"/>
              </a:rPr>
              <a:t>Graham</a:t>
            </a:r>
            <a:r>
              <a:rPr lang="zh-CN" altLang="en-US">
                <a:solidFill>
                  <a:srgbClr val="0000FF"/>
                </a:solidFill>
                <a:latin typeface="Consolas" pitchFamily="49" charset="0"/>
                <a:ea typeface="仿宋" pitchFamily="49" charset="-122"/>
                <a:cs typeface="Consolas" pitchFamily="49" charset="0"/>
              </a:rPr>
              <a:t>扫描法求凸包的过程。</a:t>
            </a:r>
          </a:p>
        </p:txBody>
      </p:sp>
      <p:sp>
        <p:nvSpPr>
          <p:cNvPr id="20485" name="Text Box 4"/>
          <p:cNvSpPr txBox="1">
            <a:spLocks noChangeArrowheads="1"/>
          </p:cNvSpPr>
          <p:nvPr/>
        </p:nvSpPr>
        <p:spPr bwMode="auto">
          <a:xfrm>
            <a:off x="1000100" y="5429264"/>
            <a:ext cx="6715172" cy="628478"/>
          </a:xfrm>
          <a:prstGeom prst="rect">
            <a:avLst/>
          </a:prstGeom>
          <a:solidFill>
            <a:schemeClr val="bg1"/>
          </a:solidFill>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tIns="108000" bIns="108000">
            <a:spAutoFit/>
          </a:bodyPr>
          <a:lstStyle/>
          <a:p>
            <a:pPr>
              <a:lnSpc>
                <a:spcPts val="3200"/>
              </a:lnSpc>
            </a:pP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）先求出起点为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p>
        </p:txBody>
      </p:sp>
      <p:sp>
        <p:nvSpPr>
          <p:cNvPr id="20486" name="Rectangle 6"/>
          <p:cNvSpPr>
            <a:spLocks noChangeArrowheads="1"/>
          </p:cNvSpPr>
          <p:nvPr/>
        </p:nvSpPr>
        <p:spPr bwMode="auto">
          <a:xfrm>
            <a:off x="0" y="27479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8" name="表格 7"/>
          <p:cNvGraphicFramePr>
            <a:graphicFrameLocks noGrp="1"/>
          </p:cNvGraphicFramePr>
          <p:nvPr/>
        </p:nvGraphicFramePr>
        <p:xfrm>
          <a:off x="2143108" y="1500174"/>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8"/>
          <p:cNvGrpSpPr/>
          <p:nvPr/>
        </p:nvGrpSpPr>
        <p:grpSpPr>
          <a:xfrm>
            <a:off x="1714480" y="1408099"/>
            <a:ext cx="3643338" cy="3733982"/>
            <a:chOff x="3357554" y="1408099"/>
            <a:chExt cx="3643338" cy="3733982"/>
          </a:xfrm>
        </p:grpSpPr>
        <p:sp>
          <p:nvSpPr>
            <p:cNvPr id="10" name="TextBox 9"/>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9" name="TextBox 28"/>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30" name="TextBox 29"/>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31" name="TextBox 30"/>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32" name="椭圆 31"/>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3" name="TextBox 32"/>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4" name="椭圆 33"/>
            <p:cNvSpPr/>
            <p:nvPr/>
          </p:nvSpPr>
          <p:spPr>
            <a:xfrm>
              <a:off x="4046534" y="2927810"/>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5" name="TextBox 34"/>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6" name="椭圆 35"/>
            <p:cNvSpPr/>
            <p:nvPr/>
          </p:nvSpPr>
          <p:spPr>
            <a:xfrm>
              <a:off x="6162636" y="445453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TextBox 36"/>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8" name="椭圆 37"/>
            <p:cNvSpPr/>
            <p:nvPr/>
          </p:nvSpPr>
          <p:spPr>
            <a:xfrm>
              <a:off x="6473788" y="265475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9" name="TextBox 38"/>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40" name="椭圆 39"/>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1" name="TextBox 40"/>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42" name="椭圆 41"/>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3" name="TextBox 42"/>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4" name="椭圆 43"/>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5" name="TextBox 44"/>
            <p:cNvSpPr txBox="1"/>
            <p:nvPr/>
          </p:nvSpPr>
          <p:spPr>
            <a:xfrm>
              <a:off x="4764138" y="331833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6" name="椭圆 45"/>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7" name="TextBox 46"/>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8" name="椭圆 47"/>
            <p:cNvSpPr/>
            <p:nvPr/>
          </p:nvSpPr>
          <p:spPr>
            <a:xfrm>
              <a:off x="5272042" y="352107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9" name="TextBox 48"/>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50" name="椭圆 49"/>
            <p:cNvSpPr/>
            <p:nvPr/>
          </p:nvSpPr>
          <p:spPr>
            <a:xfrm>
              <a:off x="5553032" y="385762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1" name="TextBox 50"/>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grpSp>
        <p:nvGrpSpPr>
          <p:cNvPr id="52" name="组合 51"/>
          <p:cNvGrpSpPr/>
          <p:nvPr/>
        </p:nvGrpSpPr>
        <p:grpSpPr>
          <a:xfrm>
            <a:off x="500034" y="285728"/>
            <a:ext cx="853211" cy="761171"/>
            <a:chOff x="6862060" y="4310903"/>
            <a:chExt cx="1128915" cy="1130667"/>
          </a:xfrm>
        </p:grpSpPr>
        <p:grpSp>
          <p:nvGrpSpPr>
            <p:cNvPr id="53" name="Group 103"/>
            <p:cNvGrpSpPr>
              <a:grpSpLocks/>
            </p:cNvGrpSpPr>
            <p:nvPr/>
          </p:nvGrpSpPr>
          <p:grpSpPr bwMode="auto">
            <a:xfrm>
              <a:off x="6862060" y="4310903"/>
              <a:ext cx="1128915" cy="1130667"/>
              <a:chOff x="2880" y="1515"/>
              <a:chExt cx="644" cy="645"/>
            </a:xfrm>
          </p:grpSpPr>
          <p:sp>
            <p:nvSpPr>
              <p:cNvPr id="55" name="Oval 104"/>
              <p:cNvSpPr>
                <a:spLocks noChangeArrowheads="1"/>
              </p:cNvSpPr>
              <p:nvPr/>
            </p:nvSpPr>
            <p:spPr bwMode="auto">
              <a:xfrm>
                <a:off x="2880" y="1516"/>
                <a:ext cx="644" cy="644"/>
              </a:xfrm>
              <a:prstGeom prst="ellipse">
                <a:avLst/>
              </a:prstGeom>
              <a:gradFill rotWithShape="1">
                <a:gsLst>
                  <a:gs pos="0">
                    <a:srgbClr val="10942F"/>
                  </a:gs>
                  <a:gs pos="100000">
                    <a:srgbClr val="16D83B"/>
                  </a:gs>
                </a:gsLst>
                <a:lin ang="5400000" scaled="1"/>
              </a:gradFill>
              <a:ln w="9525" algn="ctr">
                <a:noFill/>
                <a:round/>
                <a:headEnd/>
                <a:tailEnd/>
              </a:ln>
              <a:effectLst>
                <a:outerShdw blurRad="76200" dir="18900000" sy="23000" kx="-1200000" algn="bl" rotWithShape="0">
                  <a:prstClr val="black">
                    <a:alpha val="20000"/>
                  </a:prstClr>
                </a:outerShdw>
              </a:effectLst>
            </p:spPr>
            <p:txBody>
              <a:bodyPr wrap="none" anchor="ctr"/>
              <a:lstStyle/>
              <a:p>
                <a:endParaRPr lang="zh-CN" altLang="en-US"/>
              </a:p>
            </p:txBody>
          </p:sp>
          <p:sp>
            <p:nvSpPr>
              <p:cNvPr id="56" name="Freeform 105"/>
              <p:cNvSpPr>
                <a:spLocks/>
              </p:cNvSpPr>
              <p:nvPr/>
            </p:nvSpPr>
            <p:spPr bwMode="auto">
              <a:xfrm>
                <a:off x="2887" y="1515"/>
                <a:ext cx="630" cy="441"/>
              </a:xfrm>
              <a:custGeom>
                <a:avLst/>
                <a:gdLst/>
                <a:ahLst/>
                <a:cxnLst>
                  <a:cxn ang="0">
                    <a:pos x="1400" y="275"/>
                  </a:cxn>
                  <a:cxn ang="0">
                    <a:pos x="1596" y="795"/>
                  </a:cxn>
                  <a:cxn ang="0">
                    <a:pos x="0" y="795"/>
                  </a:cxn>
                  <a:cxn ang="0">
                    <a:pos x="217" y="252"/>
                  </a:cxn>
                  <a:cxn ang="0">
                    <a:pos x="796" y="0"/>
                  </a:cxn>
                  <a:cxn ang="0">
                    <a:pos x="1400" y="275"/>
                  </a:cxn>
                </a:cxnLst>
                <a:rect l="0" t="0" r="r" b="b"/>
                <a:pathLst>
                  <a:path w="1596" h="1118">
                    <a:moveTo>
                      <a:pt x="1400" y="275"/>
                    </a:moveTo>
                    <a:cubicBezTo>
                      <a:pt x="1522" y="417"/>
                      <a:pt x="1596" y="597"/>
                      <a:pt x="1596" y="795"/>
                    </a:cubicBezTo>
                    <a:cubicBezTo>
                      <a:pt x="1037" y="1118"/>
                      <a:pt x="668" y="611"/>
                      <a:pt x="0" y="795"/>
                    </a:cubicBezTo>
                    <a:cubicBezTo>
                      <a:pt x="0" y="585"/>
                      <a:pt x="83" y="392"/>
                      <a:pt x="217" y="252"/>
                    </a:cubicBezTo>
                    <a:cubicBezTo>
                      <a:pt x="364" y="95"/>
                      <a:pt x="570" y="0"/>
                      <a:pt x="796" y="0"/>
                    </a:cubicBezTo>
                    <a:cubicBezTo>
                      <a:pt x="1039" y="0"/>
                      <a:pt x="1253" y="108"/>
                      <a:pt x="1400" y="275"/>
                    </a:cubicBezTo>
                    <a:close/>
                  </a:path>
                </a:pathLst>
              </a:custGeom>
              <a:gradFill rotWithShape="1">
                <a:gsLst>
                  <a:gs pos="0">
                    <a:schemeClr val="bg1">
                      <a:alpha val="53000"/>
                    </a:schemeClr>
                  </a:gs>
                  <a:gs pos="100000">
                    <a:schemeClr val="bg1">
                      <a:gamma/>
                      <a:shade val="46275"/>
                      <a:invGamma/>
                      <a:alpha val="0"/>
                    </a:schemeClr>
                  </a:gs>
                </a:gsLst>
                <a:lin ang="5400000" scaled="1"/>
              </a:gradFill>
              <a:ln w="9525">
                <a:noFill/>
                <a:round/>
                <a:headEnd/>
                <a:tailEnd/>
              </a:ln>
            </p:spPr>
            <p:txBody>
              <a:bodyPr/>
              <a:lstStyle/>
              <a:p>
                <a:endParaRPr lang="zh-CN" altLang="en-US"/>
              </a:p>
            </p:txBody>
          </p:sp>
        </p:grpSp>
        <p:sp>
          <p:nvSpPr>
            <p:cNvPr id="54" name="Text Box 71"/>
            <p:cNvSpPr txBox="1">
              <a:spLocks noChangeArrowheads="1"/>
            </p:cNvSpPr>
            <p:nvPr/>
          </p:nvSpPr>
          <p:spPr bwMode="auto">
            <a:xfrm>
              <a:off x="6923115" y="4640482"/>
              <a:ext cx="1039812" cy="466324"/>
            </a:xfrm>
            <a:prstGeom prst="rect">
              <a:avLst/>
            </a:prstGeom>
            <a:noFill/>
            <a:ln w="9525">
              <a:noFill/>
              <a:miter lim="800000"/>
              <a:headEnd/>
              <a:tailEnd/>
            </a:ln>
            <a:effectLst/>
          </p:spPr>
          <p:txBody>
            <a:bodyPr anchor="ctr">
              <a:spAutoFit/>
            </a:bodyPr>
            <a:lstStyle/>
            <a:p>
              <a:pPr algn="ctr">
                <a:spcBef>
                  <a:spcPct val="50000"/>
                </a:spcBef>
              </a:pPr>
              <a:r>
                <a:rPr lang="zh-CN" altLang="en-US" sz="1800">
                  <a:solidFill>
                    <a:srgbClr val="FF0000"/>
                  </a:solidFill>
                  <a:latin typeface="微软雅黑" pitchFamily="34" charset="-122"/>
                  <a:ea typeface="微软雅黑" pitchFamily="34" charset="-122"/>
                </a:rPr>
                <a:t>示例</a:t>
              </a:r>
              <a:endParaRPr lang="en-GB" altLang="zh-CN" sz="1800">
                <a:solidFill>
                  <a:srgbClr val="FF0000"/>
                </a:solidFill>
                <a:latin typeface="微软雅黑" pitchFamily="34" charset="-122"/>
                <a:ea typeface="微软雅黑" pitchFamily="34" charset="-122"/>
              </a:endParaRPr>
            </a:p>
          </p:txBody>
        </p:sp>
      </p:grpSp>
      <p:sp>
        <p:nvSpPr>
          <p:cNvPr id="57" name="灯片编号占位符 56"/>
          <p:cNvSpPr>
            <a:spLocks noGrp="1"/>
          </p:cNvSpPr>
          <p:nvPr>
            <p:ph type="sldNum" sz="quarter" idx="12"/>
          </p:nvPr>
        </p:nvSpPr>
        <p:spPr/>
        <p:txBody>
          <a:bodyPr/>
          <a:lstStyle/>
          <a:p>
            <a:pPr>
              <a:defRPr/>
            </a:pPr>
            <a:fld id="{51116183-1013-4E64-BBE8-A5C1D5D4F838}" type="slidenum">
              <a:rPr lang="en-US" altLang="zh-CN" smtClean="0"/>
              <a:pPr>
                <a:defRPr/>
              </a:pPr>
              <a:t>106</a:t>
            </a:fld>
            <a:r>
              <a:rPr lang="en-US" altLang="zh-CN"/>
              <a:t>/167</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Text Box 4"/>
          <p:cNvSpPr txBox="1">
            <a:spLocks noChangeArrowheads="1"/>
          </p:cNvSpPr>
          <p:nvPr/>
        </p:nvSpPr>
        <p:spPr bwMode="auto">
          <a:xfrm>
            <a:off x="500034" y="428604"/>
            <a:ext cx="8353425" cy="1412864"/>
          </a:xfrm>
          <a:prstGeom prst="rect">
            <a:avLst/>
          </a:prstGeom>
          <a:solidFill>
            <a:schemeClr val="bg1"/>
          </a:solidFill>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tIns="72000" bIns="72000">
            <a:spAutoFit/>
          </a:bodyPr>
          <a:lstStyle/>
          <a:p>
            <a:pPr>
              <a:lnSpc>
                <a:spcPts val="3200"/>
              </a:lnSpc>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）按极角从小到大排序后得到：</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en-US" altLang="zh-CN" sz="22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6</a:t>
            </a:r>
            <a:r>
              <a:rPr lang="en-US" altLang="zh-CN" sz="22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en-US" altLang="zh-CN" sz="22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5</a:t>
            </a:r>
            <a:r>
              <a:rPr lang="en-US" altLang="zh-CN" sz="22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4</a:t>
            </a:r>
            <a:r>
              <a:rPr lang="en-US" altLang="zh-CN" sz="22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en-US" altLang="zh-CN" sz="22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10)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3</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a:t>
            </a:r>
          </a:p>
        </p:txBody>
      </p:sp>
      <p:sp>
        <p:nvSpPr>
          <p:cNvPr id="20486" name="Rectangle 6"/>
          <p:cNvSpPr>
            <a:spLocks noChangeArrowheads="1"/>
          </p:cNvSpPr>
          <p:nvPr/>
        </p:nvSpPr>
        <p:spPr bwMode="auto">
          <a:xfrm>
            <a:off x="0" y="27479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1" name="表格 50"/>
          <p:cNvGraphicFramePr>
            <a:graphicFrameLocks noGrp="1"/>
          </p:cNvGraphicFramePr>
          <p:nvPr/>
        </p:nvGraphicFramePr>
        <p:xfrm>
          <a:off x="3071802" y="2787489"/>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51"/>
          <p:cNvGrpSpPr/>
          <p:nvPr/>
        </p:nvGrpSpPr>
        <p:grpSpPr>
          <a:xfrm>
            <a:off x="2643174" y="2695414"/>
            <a:ext cx="3643338" cy="3733982"/>
            <a:chOff x="3357554" y="1408099"/>
            <a:chExt cx="3643338" cy="3733982"/>
          </a:xfrm>
        </p:grpSpPr>
        <p:sp>
          <p:nvSpPr>
            <p:cNvPr id="53" name="TextBox 52"/>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54" name="TextBox 53"/>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55" name="TextBox 54"/>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56" name="TextBox 55"/>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57" name="TextBox 56"/>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58" name="TextBox 57"/>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59" name="TextBox 58"/>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60" name="TextBox 59"/>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61" name="TextBox 60"/>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62" name="TextBox 61"/>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63" name="TextBox 62"/>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64" name="TextBox 63"/>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65" name="TextBox 64"/>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66" name="TextBox 65"/>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67" name="TextBox 66"/>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68" name="TextBox 67"/>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69" name="TextBox 68"/>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70" name="TextBox 69"/>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71" name="TextBox 70"/>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72" name="TextBox 71"/>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73" name="TextBox 72"/>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74" name="TextBox 73"/>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75" name="椭圆 74"/>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6" name="TextBox 75"/>
            <p:cNvSpPr txBox="1"/>
            <p:nvPr/>
          </p:nvSpPr>
          <p:spPr>
            <a:xfrm>
              <a:off x="4357686"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77" name="椭圆 76"/>
            <p:cNvSpPr/>
            <p:nvPr/>
          </p:nvSpPr>
          <p:spPr>
            <a:xfrm>
              <a:off x="4046534" y="2927810"/>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8" name="TextBox 77"/>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79" name="椭圆 78"/>
            <p:cNvSpPr/>
            <p:nvPr/>
          </p:nvSpPr>
          <p:spPr>
            <a:xfrm>
              <a:off x="6162636" y="445453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0" name="TextBox 79"/>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81" name="椭圆 80"/>
            <p:cNvSpPr/>
            <p:nvPr/>
          </p:nvSpPr>
          <p:spPr>
            <a:xfrm>
              <a:off x="6473788" y="265475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2" name="TextBox 81"/>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83" name="椭圆 82"/>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4" name="TextBox 83"/>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85" name="椭圆 84"/>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6" name="TextBox 85"/>
            <p:cNvSpPr txBox="1"/>
            <p:nvPr/>
          </p:nvSpPr>
          <p:spPr>
            <a:xfrm>
              <a:off x="4500562" y="2355999"/>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87" name="椭圆 86"/>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8" name="TextBox 87"/>
            <p:cNvSpPr txBox="1"/>
            <p:nvPr/>
          </p:nvSpPr>
          <p:spPr>
            <a:xfrm>
              <a:off x="4429124" y="3284693"/>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89" name="椭圆 88"/>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0" name="TextBox 89"/>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91" name="椭圆 90"/>
            <p:cNvSpPr/>
            <p:nvPr/>
          </p:nvSpPr>
          <p:spPr>
            <a:xfrm>
              <a:off x="5272042" y="352107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2" name="TextBox 91"/>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93" name="椭圆 92"/>
            <p:cNvSpPr/>
            <p:nvPr/>
          </p:nvSpPr>
          <p:spPr>
            <a:xfrm>
              <a:off x="5553032" y="385762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4" name="TextBox 93"/>
            <p:cNvSpPr txBox="1"/>
            <p:nvPr/>
          </p:nvSpPr>
          <p:spPr>
            <a:xfrm>
              <a:off x="5678494" y="379351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grpSp>
        <p:nvGrpSpPr>
          <p:cNvPr id="3" name="组合 111"/>
          <p:cNvGrpSpPr/>
          <p:nvPr/>
        </p:nvGrpSpPr>
        <p:grpSpPr>
          <a:xfrm>
            <a:off x="3424338" y="3158503"/>
            <a:ext cx="2350886" cy="2941096"/>
            <a:chOff x="3424338" y="3158503"/>
            <a:chExt cx="2350886" cy="2941096"/>
          </a:xfrm>
        </p:grpSpPr>
        <p:cxnSp>
          <p:nvCxnSpPr>
            <p:cNvPr id="96" name="直接连接符 95"/>
            <p:cNvCxnSpPr>
              <a:stCxn id="75" idx="6"/>
              <a:endCxn id="79" idx="2"/>
            </p:cNvCxnSpPr>
            <p:nvPr/>
          </p:nvCxnSpPr>
          <p:spPr>
            <a:xfrm flipV="1">
              <a:off x="4033834" y="5813847"/>
              <a:ext cx="1414422" cy="28575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98" name="直接连接符 97"/>
            <p:cNvCxnSpPr>
              <a:stCxn id="75" idx="7"/>
              <a:endCxn id="93" idx="3"/>
            </p:cNvCxnSpPr>
            <p:nvPr/>
          </p:nvCxnSpPr>
          <p:spPr>
            <a:xfrm rot="5400000" flipH="1" flipV="1">
              <a:off x="4045827" y="5240046"/>
              <a:ext cx="780832" cy="83645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75" idx="1"/>
              <a:endCxn id="77" idx="5"/>
            </p:cNvCxnSpPr>
            <p:nvPr/>
          </p:nvCxnSpPr>
          <p:spPr>
            <a:xfrm rot="16200000" flipV="1">
              <a:off x="2827669" y="4934706"/>
              <a:ext cx="1710650" cy="51731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75" idx="7"/>
              <a:endCxn id="85" idx="4"/>
            </p:cNvCxnSpPr>
            <p:nvPr/>
          </p:nvCxnSpPr>
          <p:spPr>
            <a:xfrm rot="16200000" flipV="1">
              <a:off x="3015824" y="5046493"/>
              <a:ext cx="1969428" cy="3496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75" idx="7"/>
              <a:endCxn id="91" idx="3"/>
            </p:cNvCxnSpPr>
            <p:nvPr/>
          </p:nvCxnSpPr>
          <p:spPr>
            <a:xfrm rot="5400000" flipH="1" flipV="1">
              <a:off x="3737056" y="5212265"/>
              <a:ext cx="1117384" cy="55546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107" name="直接连接符 106"/>
            <p:cNvCxnSpPr>
              <a:endCxn id="89" idx="3"/>
            </p:cNvCxnSpPr>
            <p:nvPr/>
          </p:nvCxnSpPr>
          <p:spPr>
            <a:xfrm rot="5400000" flipH="1" flipV="1">
              <a:off x="3453034" y="4904086"/>
              <a:ext cx="1644145" cy="54922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109" name="直接连接符 108"/>
            <p:cNvCxnSpPr>
              <a:stCxn id="75" idx="7"/>
              <a:endCxn id="83" idx="4"/>
            </p:cNvCxnSpPr>
            <p:nvPr/>
          </p:nvCxnSpPr>
          <p:spPr>
            <a:xfrm rot="5400000" flipH="1" flipV="1">
              <a:off x="2707822" y="4468699"/>
              <a:ext cx="2890184" cy="26979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75" idx="7"/>
              <a:endCxn id="81" idx="3"/>
            </p:cNvCxnSpPr>
            <p:nvPr/>
          </p:nvCxnSpPr>
          <p:spPr>
            <a:xfrm rot="5400000" flipH="1" flipV="1">
              <a:off x="3904770" y="4178233"/>
              <a:ext cx="1983702" cy="1757206"/>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grpSp>
      <p:sp>
        <p:nvSpPr>
          <p:cNvPr id="95" name="灯片编号占位符 94"/>
          <p:cNvSpPr>
            <a:spLocks noGrp="1"/>
          </p:cNvSpPr>
          <p:nvPr>
            <p:ph type="sldNum" sz="quarter" idx="12"/>
          </p:nvPr>
        </p:nvSpPr>
        <p:spPr/>
        <p:txBody>
          <a:bodyPr/>
          <a:lstStyle/>
          <a:p>
            <a:pPr>
              <a:defRPr/>
            </a:pPr>
            <a:fld id="{51116183-1013-4E64-BBE8-A5C1D5D4F838}" type="slidenum">
              <a:rPr lang="en-US" altLang="zh-CN" smtClean="0"/>
              <a:pPr>
                <a:defRPr/>
              </a:pPr>
              <a:t>107</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642910" y="2928934"/>
            <a:ext cx="8034364" cy="1105088"/>
          </a:xfrm>
          <a:prstGeom prst="rect">
            <a:avLst/>
          </a:prstGeom>
          <a:solidFill>
            <a:schemeClr val="bg1"/>
          </a:solidFill>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lIns="216000" tIns="72000" rIns="216000" bIns="72000">
            <a:spAutoFit/>
          </a:bodyPr>
          <a:lstStyle/>
          <a:p>
            <a:pPr>
              <a:lnSpc>
                <a:spcPct val="150000"/>
              </a:lnSpc>
            </a:pP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）将</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和</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三个点进栈。</a:t>
            </a:r>
            <a:endParaRPr lang="en-US" altLang="zh-CN" sz="2200">
              <a:solidFill>
                <a:srgbClr val="0000FF"/>
              </a:solidFill>
              <a:latin typeface="Consolas" pitchFamily="49" charset="0"/>
              <a:ea typeface="仿宋" pitchFamily="49" charset="-122"/>
              <a:cs typeface="Consolas" pitchFamily="49" charset="0"/>
            </a:endParaRPr>
          </a:p>
          <a:p>
            <a:pPr>
              <a:lnSpc>
                <a:spcPct val="150000"/>
              </a:lnSpc>
            </a:pPr>
            <a:r>
              <a:rPr lang="en-US" altLang="zh-CN" sz="2200">
                <a:solidFill>
                  <a:srgbClr val="0000FF"/>
                </a:solidFill>
                <a:latin typeface="Consolas" pitchFamily="49" charset="0"/>
                <a:ea typeface="仿宋" pitchFamily="49" charset="-122"/>
                <a:cs typeface="Consolas" pitchFamily="49" charset="0"/>
              </a:rPr>
              <a:t> </a:t>
            </a:r>
            <a:r>
              <a:rPr lang="zh-CN" altLang="en-US" sz="2200">
                <a:solidFill>
                  <a:srgbClr val="0000FF"/>
                </a:solidFill>
                <a:latin typeface="Consolas" pitchFamily="49" charset="0"/>
                <a:ea typeface="仿宋" pitchFamily="49" charset="-122"/>
                <a:cs typeface="Consolas" pitchFamily="49" charset="0"/>
              </a:rPr>
              <a:t>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　　</a:t>
            </a:r>
          </a:p>
        </p:txBody>
      </p:sp>
      <p:sp>
        <p:nvSpPr>
          <p:cNvPr id="5" name="TextBox 4"/>
          <p:cNvSpPr txBox="1"/>
          <p:nvPr/>
        </p:nvSpPr>
        <p:spPr>
          <a:xfrm>
            <a:off x="500034" y="857232"/>
            <a:ext cx="8286808" cy="878061"/>
          </a:xfrm>
          <a:prstGeom prst="rect">
            <a:avLst/>
          </a:prstGeom>
          <a:noFill/>
        </p:spPr>
        <p:txBody>
          <a:bodyPr wrap="square" rtlCol="0">
            <a:spAutoFit/>
          </a:bodyPr>
          <a:lstStyle/>
          <a:p>
            <a:pPr>
              <a:lnSpc>
                <a:spcPts val="3200"/>
              </a:lnSpc>
            </a:pPr>
            <a:r>
              <a:rPr lang="zh-CN" altLang="en-US" sz="2200">
                <a:solidFill>
                  <a:srgbClr val="FF0000"/>
                </a:solidFill>
                <a:latin typeface="Consolas" pitchFamily="49" charset="0"/>
                <a:ea typeface="仿宋" pitchFamily="49" charset="-122"/>
                <a:cs typeface="Consolas" pitchFamily="49" charset="0"/>
              </a:rPr>
              <a:t>排序结果</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en-US" altLang="zh-CN" sz="22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6</a:t>
            </a:r>
            <a:r>
              <a:rPr lang="en-US" altLang="zh-CN" sz="22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en-US" altLang="zh-CN" sz="22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5</a:t>
            </a:r>
            <a:r>
              <a:rPr lang="en-US" altLang="zh-CN" sz="22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4</a:t>
            </a:r>
            <a:r>
              <a:rPr lang="en-US" altLang="zh-CN" sz="22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en-US" altLang="zh-CN" sz="22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10)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3</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 。</a:t>
            </a:r>
            <a:endParaRPr lang="zh-CN" altLang="en-US" sz="2200">
              <a:latin typeface="Consolas" pitchFamily="49" charset="0"/>
              <a:ea typeface="仿宋" pitchFamily="49" charset="-122"/>
            </a:endParaRPr>
          </a:p>
        </p:txBody>
      </p:sp>
      <p:sp>
        <p:nvSpPr>
          <p:cNvPr id="6" name="下箭头 5"/>
          <p:cNvSpPr/>
          <p:nvPr/>
        </p:nvSpPr>
        <p:spPr>
          <a:xfrm>
            <a:off x="3714744" y="2214554"/>
            <a:ext cx="285752" cy="500066"/>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sp>
        <p:nvSpPr>
          <p:cNvPr id="7" name="灯片编号占位符 6"/>
          <p:cNvSpPr>
            <a:spLocks noGrp="1"/>
          </p:cNvSpPr>
          <p:nvPr>
            <p:ph type="sldNum" sz="quarter" idx="12"/>
          </p:nvPr>
        </p:nvSpPr>
        <p:spPr/>
        <p:txBody>
          <a:bodyPr/>
          <a:lstStyle/>
          <a:p>
            <a:pPr>
              <a:defRPr/>
            </a:pPr>
            <a:fld id="{51116183-1013-4E64-BBE8-A5C1D5D4F838}" type="slidenum">
              <a:rPr lang="en-US" altLang="zh-CN" smtClean="0"/>
              <a:pPr>
                <a:defRPr/>
              </a:pPr>
              <a:t>108</a:t>
            </a:fld>
            <a:r>
              <a:rPr lang="en-US" altLang="zh-CN"/>
              <a:t>/167</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71406" y="214290"/>
            <a:ext cx="9001156" cy="1483447"/>
          </a:xfrm>
          <a:prstGeom prst="rect">
            <a:avLst/>
          </a:prstGeom>
          <a:solidFill>
            <a:schemeClr val="bg1"/>
          </a:solidFill>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lIns="216000" tIns="144000" rIns="216000" bIns="144000">
            <a:spAutoFit/>
          </a:bodyPr>
          <a:lstStyle/>
          <a:p>
            <a:pPr>
              <a:lnSpc>
                <a:spcPts val="3100"/>
              </a:lnSpc>
            </a:pPr>
            <a:r>
              <a:rPr lang="zh-CN" altLang="en-US" sz="2200">
                <a:solidFill>
                  <a:srgbClr val="0000FF"/>
                </a:solidFill>
                <a:latin typeface="Consolas" pitchFamily="49" charset="0"/>
                <a:ea typeface="仿宋" pitchFamily="49" charset="-122"/>
                <a:cs typeface="Consolas" pitchFamily="49" charset="0"/>
              </a:rPr>
              <a:t>   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。剩余点：</a:t>
            </a:r>
            <a:r>
              <a:rPr lang="en-US" altLang="zh-CN" sz="2200" i="1">
                <a:solidFill>
                  <a:srgbClr val="0000FF"/>
                </a:solidFill>
                <a:latin typeface="Consolas" pitchFamily="49" charset="0"/>
                <a:ea typeface="仿宋" pitchFamily="49" charset="-122"/>
                <a:cs typeface="Consolas" pitchFamily="49" charset="0"/>
              </a:rPr>
              <a:t> 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宋体" pitchFamily="2" charset="-122"/>
                <a:ea typeface="宋体" pitchFamily="2"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 </a:t>
            </a:r>
            <a:endParaRPr lang="en-US" altLang="zh-CN" sz="2200">
              <a:solidFill>
                <a:srgbClr val="0000FF"/>
              </a:solidFill>
              <a:latin typeface="Consolas" pitchFamily="49" charset="0"/>
              <a:ea typeface="仿宋" pitchFamily="49" charset="-122"/>
              <a:cs typeface="Consolas" pitchFamily="49" charset="0"/>
            </a:endParaRPr>
          </a:p>
          <a:p>
            <a:pPr>
              <a:lnSpc>
                <a:spcPts val="3100"/>
              </a:lnSpc>
            </a:pPr>
            <a:r>
              <a:rPr lang="en-US" altLang="zh-CN" sz="2200">
                <a:solidFill>
                  <a:srgbClr val="0000FF"/>
                </a:solidFill>
                <a:latin typeface="Consolas" pitchFamily="49" charset="0"/>
                <a:ea typeface="仿宋" pitchFamily="49" charset="-122"/>
                <a:cs typeface="Consolas" pitchFamily="49" charset="0"/>
              </a:rPr>
              <a:t>  </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zh-CN" altLang="en-US" sz="2200">
                <a:solidFill>
                  <a:srgbClr val="FF0000"/>
                </a:solidFill>
                <a:latin typeface="Consolas" pitchFamily="49" charset="0"/>
                <a:ea typeface="仿宋" pitchFamily="49" charset="-122"/>
                <a:cs typeface="Consolas" pitchFamily="49" charset="0"/>
              </a:rPr>
              <a:t>处理点</a:t>
            </a:r>
            <a:r>
              <a:rPr lang="en-US" altLang="zh-CN" sz="2200" i="1">
                <a:solidFill>
                  <a:srgbClr val="FF0000"/>
                </a:solidFill>
                <a:latin typeface="Consolas" pitchFamily="49" charset="0"/>
                <a:ea typeface="仿宋" pitchFamily="49" charset="-122"/>
                <a:cs typeface="Consolas" pitchFamily="49" charset="0"/>
              </a:rPr>
              <a:t>a</a:t>
            </a:r>
            <a:r>
              <a:rPr lang="en-US" altLang="zh-CN" sz="2200" baseline="-25000">
                <a:solidFill>
                  <a:srgbClr val="FF0000"/>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存在右拐关系，将其退栈，如图所示，点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进栈。栈中元素从栈底到栈顶为：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p>
        </p:txBody>
      </p:sp>
      <p:graphicFrame>
        <p:nvGraphicFramePr>
          <p:cNvPr id="5" name="表格 4"/>
          <p:cNvGraphicFramePr>
            <a:graphicFrameLocks noGrp="1"/>
          </p:cNvGraphicFramePr>
          <p:nvPr/>
        </p:nvGraphicFramePr>
        <p:xfrm>
          <a:off x="2071670" y="2163753"/>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5"/>
          <p:cNvGrpSpPr/>
          <p:nvPr/>
        </p:nvGrpSpPr>
        <p:grpSpPr>
          <a:xfrm>
            <a:off x="1643042" y="2071678"/>
            <a:ext cx="3643338" cy="3733982"/>
            <a:chOff x="3357554" y="1408099"/>
            <a:chExt cx="3643338" cy="3733982"/>
          </a:xfrm>
        </p:grpSpPr>
        <p:sp>
          <p:nvSpPr>
            <p:cNvPr id="7" name="TextBox 6"/>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29" name="椭圆 28"/>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0" name="TextBox 29"/>
            <p:cNvSpPr txBox="1"/>
            <p:nvPr/>
          </p:nvSpPr>
          <p:spPr>
            <a:xfrm>
              <a:off x="4357686"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1" name="椭圆 30"/>
            <p:cNvSpPr/>
            <p:nvPr/>
          </p:nvSpPr>
          <p:spPr>
            <a:xfrm>
              <a:off x="4046534" y="2927810"/>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TextBox 31"/>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3" name="椭圆 32"/>
            <p:cNvSpPr/>
            <p:nvPr/>
          </p:nvSpPr>
          <p:spPr>
            <a:xfrm>
              <a:off x="6162636" y="445453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TextBox 33"/>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5" name="椭圆 34"/>
            <p:cNvSpPr/>
            <p:nvPr/>
          </p:nvSpPr>
          <p:spPr>
            <a:xfrm>
              <a:off x="6473788" y="2654758"/>
              <a:ext cx="108000" cy="144000"/>
            </a:xfrm>
            <a:prstGeom prst="ellipse">
              <a:avLst/>
            </a:prstGeom>
            <a:solidFill>
              <a:srgbClr val="006600"/>
            </a:solidFill>
            <a:ln>
              <a:solidFill>
                <a:srgbClr val="0066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TextBox 35"/>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2</a:t>
              </a:r>
              <a:endParaRPr lang="zh-CN" altLang="en-US" sz="1800" baseline="-25000">
                <a:solidFill>
                  <a:srgbClr val="FF0000"/>
                </a:solidFill>
                <a:latin typeface="Consolas" pitchFamily="49" charset="0"/>
                <a:cs typeface="Consolas" pitchFamily="49" charset="0"/>
              </a:endParaRPr>
            </a:p>
          </p:txBody>
        </p:sp>
        <p:sp>
          <p:nvSpPr>
            <p:cNvPr id="37" name="椭圆 36"/>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TextBox 37"/>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39" name="椭圆 38"/>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TextBox 39"/>
            <p:cNvSpPr txBox="1"/>
            <p:nvPr/>
          </p:nvSpPr>
          <p:spPr>
            <a:xfrm>
              <a:off x="4500562" y="2355999"/>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1" name="椭圆 40"/>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TextBox 41"/>
            <p:cNvSpPr txBox="1"/>
            <p:nvPr/>
          </p:nvSpPr>
          <p:spPr>
            <a:xfrm>
              <a:off x="4429124" y="3284693"/>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3" name="椭圆 42"/>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4" name="TextBox 43"/>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5" name="椭圆 44"/>
            <p:cNvSpPr/>
            <p:nvPr/>
          </p:nvSpPr>
          <p:spPr>
            <a:xfrm>
              <a:off x="5272042" y="352107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6" name="TextBox 45"/>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7" name="椭圆 46"/>
            <p:cNvSpPr/>
            <p:nvPr/>
          </p:nvSpPr>
          <p:spPr>
            <a:xfrm>
              <a:off x="5553032" y="385762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8" name="TextBox 47"/>
            <p:cNvSpPr txBox="1"/>
            <p:nvPr/>
          </p:nvSpPr>
          <p:spPr>
            <a:xfrm>
              <a:off x="5678494" y="379351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grpSp>
        <p:nvGrpSpPr>
          <p:cNvPr id="3" name="组合 48"/>
          <p:cNvGrpSpPr/>
          <p:nvPr/>
        </p:nvGrpSpPr>
        <p:grpSpPr>
          <a:xfrm>
            <a:off x="2391957" y="2534767"/>
            <a:ext cx="2363949" cy="2894496"/>
            <a:chOff x="3392089" y="3158503"/>
            <a:chExt cx="2363949" cy="2894496"/>
          </a:xfrm>
        </p:grpSpPr>
        <p:cxnSp>
          <p:nvCxnSpPr>
            <p:cNvPr id="52" name="直接连接符 51"/>
            <p:cNvCxnSpPr/>
            <p:nvPr/>
          </p:nvCxnSpPr>
          <p:spPr>
            <a:xfrm rot="16200000" flipV="1">
              <a:off x="2795420" y="4934706"/>
              <a:ext cx="1710650" cy="51731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rot="16200000" flipV="1">
              <a:off x="2983575" y="5046493"/>
              <a:ext cx="1969428" cy="3496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29" idx="7"/>
              <a:endCxn id="45" idx="3"/>
            </p:cNvCxnSpPr>
            <p:nvPr/>
          </p:nvCxnSpPr>
          <p:spPr>
            <a:xfrm rot="5400000" flipH="1" flipV="1">
              <a:off x="3665618" y="5212265"/>
              <a:ext cx="1117384" cy="55546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rot="5400000" flipH="1" flipV="1">
              <a:off x="3453034" y="4956317"/>
              <a:ext cx="1644145" cy="54922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rot="5400000" flipH="1" flipV="1">
              <a:off x="2688636" y="4468699"/>
              <a:ext cx="2890184" cy="26979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rot="5400000" flipH="1" flipV="1">
              <a:off x="3885584" y="4178233"/>
              <a:ext cx="1983702" cy="1757206"/>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grpSp>
      <p:grpSp>
        <p:nvGrpSpPr>
          <p:cNvPr id="4" name="组合 66"/>
          <p:cNvGrpSpPr/>
          <p:nvPr/>
        </p:nvGrpSpPr>
        <p:grpSpPr>
          <a:xfrm>
            <a:off x="3929059" y="3441249"/>
            <a:ext cx="922401" cy="1697950"/>
            <a:chOff x="3929059" y="3441249"/>
            <a:chExt cx="922401" cy="1697950"/>
          </a:xfrm>
        </p:grpSpPr>
        <p:cxnSp>
          <p:nvCxnSpPr>
            <p:cNvPr id="59" name="直接连接符 58"/>
            <p:cNvCxnSpPr/>
            <p:nvPr/>
          </p:nvCxnSpPr>
          <p:spPr>
            <a:xfrm rot="16200000" flipH="1">
              <a:off x="3949782" y="4625041"/>
              <a:ext cx="495080" cy="533236"/>
            </a:xfrm>
            <a:prstGeom prst="line">
              <a:avLst/>
            </a:prstGeom>
            <a:ln w="28575">
              <a:solidFill>
                <a:srgbClr val="FF00FF"/>
              </a:solidFill>
              <a:prstDash val="dash"/>
              <a:headEnd type="none"/>
              <a:tailEnd type="arrow"/>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rot="5400000">
              <a:off x="3838361" y="4105012"/>
              <a:ext cx="1676862" cy="349336"/>
            </a:xfrm>
            <a:prstGeom prst="line">
              <a:avLst/>
            </a:prstGeom>
            <a:ln w="28575">
              <a:solidFill>
                <a:srgbClr val="FF00FF"/>
              </a:solidFill>
              <a:prstDash val="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rot="5400000" flipH="1" flipV="1">
              <a:off x="3822415" y="3547893"/>
              <a:ext cx="1059321" cy="846034"/>
            </a:xfrm>
            <a:prstGeom prst="line">
              <a:avLst/>
            </a:prstGeom>
            <a:ln w="28575">
              <a:solidFill>
                <a:srgbClr val="FF00FF"/>
              </a:solidFill>
              <a:prstDash val="dash"/>
              <a:headEnd type="arrow"/>
              <a:tailEnd type="none"/>
            </a:ln>
          </p:spPr>
          <p:style>
            <a:lnRef idx="1">
              <a:schemeClr val="accent1"/>
            </a:lnRef>
            <a:fillRef idx="0">
              <a:schemeClr val="accent1"/>
            </a:fillRef>
            <a:effectRef idx="0">
              <a:schemeClr val="accent1"/>
            </a:effectRef>
            <a:fontRef idx="minor">
              <a:schemeClr val="tx1"/>
            </a:fontRef>
          </p:style>
        </p:cxnSp>
      </p:grpSp>
      <p:sp>
        <p:nvSpPr>
          <p:cNvPr id="66" name="TextBox 65"/>
          <p:cNvSpPr txBox="1"/>
          <p:nvPr/>
        </p:nvSpPr>
        <p:spPr>
          <a:xfrm>
            <a:off x="5500694" y="3286124"/>
            <a:ext cx="3071834" cy="1477328"/>
          </a:xfrm>
          <a:prstGeom prst="rect">
            <a:avLst/>
          </a:prstGeom>
          <a:noFill/>
        </p:spPr>
        <p:txBody>
          <a:bodyPr wrap="square" rtlCol="0">
            <a:spAutoFit/>
          </a:bodyPr>
          <a:lstStyle/>
          <a:p>
            <a:pPr>
              <a:lnSpc>
                <a:spcPct val="150000"/>
              </a:lnSpc>
            </a:pPr>
            <a:r>
              <a:rPr lang="zh-CN" altLang="en-US" sz="2000">
                <a:solidFill>
                  <a:srgbClr val="FF0000"/>
                </a:solidFill>
                <a:latin typeface="Consolas" pitchFamily="49" charset="0"/>
                <a:ea typeface="仿宋" pitchFamily="49" charset="-122"/>
                <a:cs typeface="Consolas" pitchFamily="49" charset="0"/>
              </a:rPr>
              <a:t>处理点</a:t>
            </a:r>
            <a:r>
              <a:rPr lang="en-US" sz="2000" i="1">
                <a:solidFill>
                  <a:srgbClr val="FF0000"/>
                </a:solidFill>
                <a:latin typeface="Consolas" pitchFamily="49" charset="0"/>
                <a:ea typeface="仿宋" pitchFamily="49" charset="-122"/>
                <a:cs typeface="Consolas" pitchFamily="49" charset="0"/>
              </a:rPr>
              <a:t>a</a:t>
            </a:r>
            <a:r>
              <a:rPr lang="en-US" sz="2000" baseline="-25000">
                <a:solidFill>
                  <a:srgbClr val="FF0000"/>
                </a:solidFill>
                <a:latin typeface="Consolas" pitchFamily="49" charset="0"/>
                <a:ea typeface="仿宋" pitchFamily="49" charset="-122"/>
                <a:cs typeface="Consolas" pitchFamily="49" charset="0"/>
              </a:rPr>
              <a:t>2 </a:t>
            </a:r>
          </a:p>
          <a:p>
            <a:pPr>
              <a:lnSpc>
                <a:spcPct val="150000"/>
              </a:lnSpc>
            </a:pPr>
            <a:r>
              <a:rPr lang="en-US" altLang="zh-CN" sz="2000">
                <a:solidFill>
                  <a:srgbClr val="0000FF"/>
                </a:solidFill>
                <a:latin typeface="Consolas" pitchFamily="49" charset="0"/>
                <a:ea typeface="仿宋" pitchFamily="49" charset="-122"/>
                <a:cs typeface="Consolas" pitchFamily="49" charset="0"/>
              </a:rPr>
              <a:t>Dir(</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7</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6</a:t>
            </a:r>
            <a:r>
              <a:rPr lang="en-US" altLang="zh-CN" sz="2000">
                <a:solidFill>
                  <a:srgbClr val="0000FF"/>
                </a:solidFill>
                <a:latin typeface="Consolas" pitchFamily="49" charset="0"/>
                <a:ea typeface="仿宋" pitchFamily="49" charset="-122"/>
                <a:cs typeface="Consolas" pitchFamily="49" charset="0"/>
              </a:rPr>
              <a:t>)&gt;0 </a:t>
            </a:r>
            <a:r>
              <a:rPr lang="en-US" altLang="zh-CN" sz="2000">
                <a:solidFill>
                  <a:srgbClr val="FF00FF"/>
                </a:solidFill>
                <a:latin typeface="Consolas" pitchFamily="49" charset="0"/>
                <a:ea typeface="仿宋" pitchFamily="49" charset="-122"/>
                <a:cs typeface="Consolas" pitchFamily="49" charset="0"/>
                <a:sym typeface="Wingdings"/>
              </a:rPr>
              <a:t></a:t>
            </a:r>
            <a:r>
              <a:rPr lang="en-US" altLang="zh-CN" sz="2000">
                <a:solidFill>
                  <a:srgbClr val="0000FF"/>
                </a:solidFill>
                <a:latin typeface="Consolas" pitchFamily="49" charset="0"/>
                <a:ea typeface="仿宋" pitchFamily="49" charset="-122"/>
                <a:cs typeface="Consolas" pitchFamily="49" charset="0"/>
                <a:sym typeface="Wingdings"/>
              </a:rPr>
              <a:t> </a:t>
            </a:r>
            <a:r>
              <a:rPr lang="en-US" sz="2000" i="1">
                <a:solidFill>
                  <a:srgbClr val="0000FF"/>
                </a:solidFill>
                <a:latin typeface="Consolas" pitchFamily="49" charset="0"/>
                <a:ea typeface="仿宋" pitchFamily="49" charset="-122"/>
                <a:cs typeface="Consolas" pitchFamily="49" charset="0"/>
              </a:rPr>
              <a:t>a</a:t>
            </a:r>
            <a:r>
              <a:rPr lang="en-US" sz="2000" baseline="-25000">
                <a:solidFill>
                  <a:srgbClr val="0000FF"/>
                </a:solidFill>
                <a:latin typeface="Consolas" pitchFamily="49" charset="0"/>
                <a:ea typeface="仿宋" pitchFamily="49" charset="-122"/>
                <a:cs typeface="Consolas" pitchFamily="49" charset="0"/>
              </a:rPr>
              <a:t>6</a:t>
            </a:r>
            <a:r>
              <a:rPr lang="zh-CN" altLang="en-US" sz="2000">
                <a:solidFill>
                  <a:srgbClr val="0000FF"/>
                </a:solidFill>
                <a:latin typeface="Consolas" pitchFamily="49" charset="0"/>
                <a:ea typeface="仿宋" pitchFamily="49" charset="-122"/>
                <a:cs typeface="Consolas" pitchFamily="49" charset="0"/>
              </a:rPr>
              <a:t>右拐，删除之，</a:t>
            </a:r>
            <a:r>
              <a:rPr lang="en-US" altLang="zh-CN" sz="2000" i="1">
                <a:solidFill>
                  <a:srgbClr val="0000FF"/>
                </a:solidFill>
                <a:latin typeface="Consolas" pitchFamily="49" charset="0"/>
                <a:ea typeface="楷体" pitchFamily="49" charset="-122"/>
                <a:cs typeface="Consolas" pitchFamily="49" charset="0"/>
              </a:rPr>
              <a:t>a</a:t>
            </a:r>
            <a:r>
              <a:rPr lang="en-US" altLang="zh-CN" sz="2000" baseline="-25000">
                <a:solidFill>
                  <a:srgbClr val="0000FF"/>
                </a:solidFill>
                <a:latin typeface="Consolas" pitchFamily="49" charset="0"/>
                <a:ea typeface="楷体" pitchFamily="49" charset="-122"/>
                <a:cs typeface="Consolas" pitchFamily="49" charset="0"/>
              </a:rPr>
              <a:t>2</a:t>
            </a:r>
            <a:r>
              <a:rPr lang="zh-CN" altLang="en-US" sz="2000">
                <a:solidFill>
                  <a:srgbClr val="0000FF"/>
                </a:solidFill>
                <a:latin typeface="Consolas" pitchFamily="49" charset="0"/>
                <a:ea typeface="楷体" pitchFamily="49" charset="-122"/>
                <a:cs typeface="Consolas" pitchFamily="49" charset="0"/>
              </a:rPr>
              <a:t>进栈</a:t>
            </a:r>
            <a:endParaRPr lang="zh-CN" altLang="en-US" sz="2000">
              <a:solidFill>
                <a:srgbClr val="0000FF"/>
              </a:solidFill>
              <a:latin typeface="Consolas" pitchFamily="49" charset="0"/>
              <a:ea typeface="仿宋" pitchFamily="49" charset="-122"/>
              <a:cs typeface="Consolas" pitchFamily="49" charset="0"/>
            </a:endParaRPr>
          </a:p>
        </p:txBody>
      </p:sp>
      <p:sp>
        <p:nvSpPr>
          <p:cNvPr id="60" name="灯片编号占位符 59"/>
          <p:cNvSpPr>
            <a:spLocks noGrp="1"/>
          </p:cNvSpPr>
          <p:nvPr>
            <p:ph type="sldNum" sz="quarter" idx="12"/>
          </p:nvPr>
        </p:nvSpPr>
        <p:spPr/>
        <p:txBody>
          <a:bodyPr/>
          <a:lstStyle/>
          <a:p>
            <a:pPr>
              <a:defRPr/>
            </a:pPr>
            <a:fld id="{51116183-1013-4E64-BBE8-A5C1D5D4F838}" type="slidenum">
              <a:rPr lang="en-US" altLang="zh-CN" smtClean="0"/>
              <a:pPr>
                <a:defRPr/>
              </a:pPr>
              <a:t>109</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468312" y="404813"/>
            <a:ext cx="8318529" cy="1383419"/>
          </a:xfrm>
          <a:prstGeom prst="rect">
            <a:avLst/>
          </a:prstGeom>
          <a:solidFill>
            <a:schemeClr val="bg1"/>
          </a:solidFill>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tIns="144000" bIns="144000">
            <a:spAutoFit/>
          </a:bodyPr>
          <a:lstStyle/>
          <a:p>
            <a:pPr>
              <a:spcBef>
                <a:spcPts val="600"/>
              </a:spcBef>
            </a:pPr>
            <a:r>
              <a:rPr lang="zh-CN" altLang="en-US" sz="2200">
                <a:solidFill>
                  <a:srgbClr val="0000FF"/>
                </a:solidFill>
                <a:latin typeface="Consolas" pitchFamily="49" charset="0"/>
                <a:ea typeface="仿宋" pitchFamily="49" charset="-122"/>
                <a:cs typeface="Consolas" pitchFamily="49" charset="0"/>
              </a:rPr>
              <a:t>   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。剩余点：</a:t>
            </a:r>
            <a:r>
              <a:rPr lang="en-US" altLang="zh-CN" sz="2200" i="1">
                <a:solidFill>
                  <a:srgbClr val="0000FF"/>
                </a:solidFill>
                <a:latin typeface="Consolas" pitchFamily="49" charset="0"/>
                <a:ea typeface="仿宋" pitchFamily="49" charset="-122"/>
                <a:cs typeface="Consolas" pitchFamily="49" charset="0"/>
              </a:rPr>
              <a:t> a</a:t>
            </a:r>
            <a:r>
              <a:rPr lang="en-US" altLang="zh-CN"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宋体" pitchFamily="2" charset="-122"/>
                <a:ea typeface="宋体" pitchFamily="2"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 </a:t>
            </a:r>
            <a:endParaRPr lang="en-US" altLang="zh-CN" sz="2200">
              <a:solidFill>
                <a:srgbClr val="0000FF"/>
              </a:solidFill>
              <a:latin typeface="Consolas" pitchFamily="49" charset="0"/>
              <a:ea typeface="仿宋" pitchFamily="49" charset="-122"/>
              <a:cs typeface="Consolas" pitchFamily="49" charset="0"/>
            </a:endParaRPr>
          </a:p>
          <a:p>
            <a:pPr>
              <a:spcBef>
                <a:spcPts val="600"/>
              </a:spcBef>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r>
              <a:rPr lang="zh-CN" altLang="en-US" sz="2200">
                <a:solidFill>
                  <a:srgbClr val="FF0000"/>
                </a:solidFill>
                <a:latin typeface="Consolas" pitchFamily="49" charset="0"/>
                <a:ea typeface="仿宋" pitchFamily="49" charset="-122"/>
                <a:cs typeface="Consolas" pitchFamily="49" charset="0"/>
              </a:rPr>
              <a:t>处理点</a:t>
            </a:r>
            <a:r>
              <a:rPr lang="en-US" altLang="zh-CN" sz="2200" i="1">
                <a:solidFill>
                  <a:srgbClr val="FF0000"/>
                </a:solidFill>
                <a:latin typeface="Consolas" pitchFamily="49" charset="0"/>
                <a:ea typeface="仿宋" pitchFamily="49" charset="-122"/>
                <a:cs typeface="Consolas" pitchFamily="49" charset="0"/>
              </a:rPr>
              <a:t>a</a:t>
            </a:r>
            <a:r>
              <a:rPr lang="en-US" altLang="zh-CN" sz="2200" baseline="-25000">
                <a:solidFill>
                  <a:srgbClr val="FF0000"/>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：不存在右拐关系，点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进栈。栈中元素从栈底到栈顶为：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p>
        </p:txBody>
      </p:sp>
      <p:graphicFrame>
        <p:nvGraphicFramePr>
          <p:cNvPr id="5" name="表格 4"/>
          <p:cNvGraphicFramePr>
            <a:graphicFrameLocks noGrp="1"/>
          </p:cNvGraphicFramePr>
          <p:nvPr/>
        </p:nvGraphicFramePr>
        <p:xfrm>
          <a:off x="2071670" y="2163753"/>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5"/>
          <p:cNvGrpSpPr/>
          <p:nvPr/>
        </p:nvGrpSpPr>
        <p:grpSpPr>
          <a:xfrm>
            <a:off x="1643042" y="2071678"/>
            <a:ext cx="3643338" cy="3733982"/>
            <a:chOff x="3357554" y="1408099"/>
            <a:chExt cx="3643338" cy="3733982"/>
          </a:xfrm>
        </p:grpSpPr>
        <p:sp>
          <p:nvSpPr>
            <p:cNvPr id="7" name="TextBox 6"/>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29" name="椭圆 28"/>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0" name="TextBox 29"/>
            <p:cNvSpPr txBox="1"/>
            <p:nvPr/>
          </p:nvSpPr>
          <p:spPr>
            <a:xfrm>
              <a:off x="4357686"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1" name="椭圆 30"/>
            <p:cNvSpPr/>
            <p:nvPr/>
          </p:nvSpPr>
          <p:spPr>
            <a:xfrm>
              <a:off x="4046534" y="2927810"/>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TextBox 31"/>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3" name="椭圆 32"/>
            <p:cNvSpPr/>
            <p:nvPr/>
          </p:nvSpPr>
          <p:spPr>
            <a:xfrm>
              <a:off x="6162636" y="445453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TextBox 33"/>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5" name="椭圆 34"/>
            <p:cNvSpPr/>
            <p:nvPr/>
          </p:nvSpPr>
          <p:spPr>
            <a:xfrm>
              <a:off x="6473788" y="265475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TextBox 35"/>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7" name="椭圆 36"/>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TextBox 37"/>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39" name="椭圆 38"/>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TextBox 39"/>
            <p:cNvSpPr txBox="1"/>
            <p:nvPr/>
          </p:nvSpPr>
          <p:spPr>
            <a:xfrm>
              <a:off x="4500562" y="2355999"/>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1" name="椭圆 40"/>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TextBox 41"/>
            <p:cNvSpPr txBox="1"/>
            <p:nvPr/>
          </p:nvSpPr>
          <p:spPr>
            <a:xfrm>
              <a:off x="4429124" y="3284693"/>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3" name="椭圆 42"/>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4" name="TextBox 43"/>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5" name="椭圆 44"/>
            <p:cNvSpPr/>
            <p:nvPr/>
          </p:nvSpPr>
          <p:spPr>
            <a:xfrm>
              <a:off x="5272042" y="3521076"/>
              <a:ext cx="108000" cy="144000"/>
            </a:xfrm>
            <a:prstGeom prst="ellipse">
              <a:avLst/>
            </a:prstGeom>
            <a:solidFill>
              <a:srgbClr val="006600"/>
            </a:solidFill>
            <a:ln>
              <a:solidFill>
                <a:srgbClr val="0066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6" name="TextBox 45"/>
            <p:cNvSpPr txBox="1"/>
            <p:nvPr/>
          </p:nvSpPr>
          <p:spPr>
            <a:xfrm>
              <a:off x="5214942" y="3702868"/>
              <a:ext cx="322266"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5</a:t>
              </a:r>
              <a:endParaRPr lang="zh-CN" altLang="en-US" sz="1800" baseline="-25000">
                <a:solidFill>
                  <a:srgbClr val="FF0000"/>
                </a:solidFill>
                <a:latin typeface="Consolas" pitchFamily="49" charset="0"/>
                <a:cs typeface="Consolas" pitchFamily="49" charset="0"/>
              </a:endParaRPr>
            </a:p>
          </p:txBody>
        </p:sp>
        <p:sp>
          <p:nvSpPr>
            <p:cNvPr id="47" name="椭圆 46"/>
            <p:cNvSpPr/>
            <p:nvPr/>
          </p:nvSpPr>
          <p:spPr>
            <a:xfrm>
              <a:off x="5553032" y="3857628"/>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8" name="TextBox 47"/>
            <p:cNvSpPr txBox="1"/>
            <p:nvPr/>
          </p:nvSpPr>
          <p:spPr>
            <a:xfrm>
              <a:off x="5678494" y="3622677"/>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grpSp>
        <p:nvGrpSpPr>
          <p:cNvPr id="3" name="组合 48"/>
          <p:cNvGrpSpPr/>
          <p:nvPr/>
        </p:nvGrpSpPr>
        <p:grpSpPr>
          <a:xfrm>
            <a:off x="2391957" y="2534767"/>
            <a:ext cx="1984729" cy="2941096"/>
            <a:chOff x="3392089" y="3158503"/>
            <a:chExt cx="1984729" cy="2941096"/>
          </a:xfrm>
        </p:grpSpPr>
        <p:cxnSp>
          <p:nvCxnSpPr>
            <p:cNvPr id="50" name="直接连接符 49"/>
            <p:cNvCxnSpPr>
              <a:stCxn id="29" idx="6"/>
              <a:endCxn id="33" idx="2"/>
            </p:cNvCxnSpPr>
            <p:nvPr/>
          </p:nvCxnSpPr>
          <p:spPr>
            <a:xfrm flipV="1">
              <a:off x="3962396" y="5813847"/>
              <a:ext cx="1414422" cy="28575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16200000" flipV="1">
              <a:off x="2795420" y="4934706"/>
              <a:ext cx="1710650" cy="51731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rot="16200000" flipV="1">
              <a:off x="2983575" y="5046493"/>
              <a:ext cx="1969428" cy="3496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29" idx="7"/>
              <a:endCxn id="45" idx="3"/>
            </p:cNvCxnSpPr>
            <p:nvPr/>
          </p:nvCxnSpPr>
          <p:spPr>
            <a:xfrm rot="5400000" flipH="1" flipV="1">
              <a:off x="3665618" y="5212265"/>
              <a:ext cx="1117384" cy="55546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rot="5400000" flipH="1" flipV="1">
              <a:off x="3453034" y="4956317"/>
              <a:ext cx="1644145" cy="54922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rot="5400000" flipH="1" flipV="1">
              <a:off x="2688636" y="4468699"/>
              <a:ext cx="2890184" cy="26979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grpSp>
      <p:sp>
        <p:nvSpPr>
          <p:cNvPr id="62" name="TextBox 61"/>
          <p:cNvSpPr txBox="1"/>
          <p:nvPr/>
        </p:nvSpPr>
        <p:spPr>
          <a:xfrm>
            <a:off x="5500694" y="3286124"/>
            <a:ext cx="2786082" cy="1477328"/>
          </a:xfrm>
          <a:prstGeom prst="rect">
            <a:avLst/>
          </a:prstGeom>
          <a:noFill/>
        </p:spPr>
        <p:txBody>
          <a:bodyPr wrap="square" rtlCol="0">
            <a:spAutoFit/>
          </a:bodyPr>
          <a:lstStyle/>
          <a:p>
            <a:pPr>
              <a:lnSpc>
                <a:spcPct val="150000"/>
              </a:lnSpc>
            </a:pPr>
            <a:r>
              <a:rPr lang="zh-CN" altLang="en-US" sz="2000">
                <a:solidFill>
                  <a:srgbClr val="FF0000"/>
                </a:solidFill>
                <a:latin typeface="Consolas" pitchFamily="49" charset="0"/>
                <a:ea typeface="仿宋" pitchFamily="49" charset="-122"/>
                <a:cs typeface="Consolas" pitchFamily="49" charset="0"/>
              </a:rPr>
              <a:t>处理点</a:t>
            </a:r>
            <a:r>
              <a:rPr lang="en-US" sz="2000" i="1">
                <a:solidFill>
                  <a:srgbClr val="FF0000"/>
                </a:solidFill>
                <a:latin typeface="Consolas" pitchFamily="49" charset="0"/>
                <a:ea typeface="仿宋" pitchFamily="49" charset="-122"/>
                <a:cs typeface="Consolas" pitchFamily="49" charset="0"/>
              </a:rPr>
              <a:t>a</a:t>
            </a:r>
            <a:r>
              <a:rPr lang="en-US" sz="2000" baseline="-25000">
                <a:solidFill>
                  <a:srgbClr val="FF0000"/>
                </a:solidFill>
                <a:latin typeface="Consolas" pitchFamily="49" charset="0"/>
                <a:ea typeface="仿宋" pitchFamily="49" charset="-122"/>
                <a:cs typeface="Consolas" pitchFamily="49" charset="0"/>
              </a:rPr>
              <a:t>5 </a:t>
            </a:r>
          </a:p>
          <a:p>
            <a:pPr>
              <a:lnSpc>
                <a:spcPct val="150000"/>
              </a:lnSpc>
            </a:pPr>
            <a:r>
              <a:rPr lang="en-US" altLang="zh-CN" sz="2000">
                <a:solidFill>
                  <a:srgbClr val="0000FF"/>
                </a:solidFill>
                <a:latin typeface="Consolas" pitchFamily="49" charset="0"/>
                <a:ea typeface="仿宋" pitchFamily="49" charset="-122"/>
                <a:cs typeface="Consolas" pitchFamily="49" charset="0"/>
              </a:rPr>
              <a:t>Dir(</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7</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5</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)&lt;0 </a:t>
            </a:r>
            <a:r>
              <a:rPr lang="en-US" altLang="zh-CN" sz="2000">
                <a:solidFill>
                  <a:srgbClr val="FF00FF"/>
                </a:solidFill>
                <a:latin typeface="Consolas" pitchFamily="49" charset="0"/>
                <a:ea typeface="仿宋" pitchFamily="49" charset="-122"/>
                <a:cs typeface="Consolas" pitchFamily="49" charset="0"/>
                <a:sym typeface="Wingdings"/>
              </a:rPr>
              <a:t></a:t>
            </a:r>
            <a:r>
              <a:rPr lang="en-US" altLang="zh-CN" sz="2000">
                <a:solidFill>
                  <a:srgbClr val="0000FF"/>
                </a:solidFill>
                <a:latin typeface="Consolas" pitchFamily="49" charset="0"/>
                <a:ea typeface="仿宋" pitchFamily="49" charset="-122"/>
                <a:cs typeface="Consolas" pitchFamily="49" charset="0"/>
                <a:sym typeface="Wingdings"/>
              </a:rPr>
              <a:t> </a:t>
            </a:r>
            <a:r>
              <a:rPr lang="en-US" sz="2000" i="1">
                <a:solidFill>
                  <a:srgbClr val="0000FF"/>
                </a:solidFill>
                <a:latin typeface="Consolas" pitchFamily="49" charset="0"/>
                <a:ea typeface="仿宋" pitchFamily="49" charset="-122"/>
                <a:cs typeface="Consolas" pitchFamily="49" charset="0"/>
              </a:rPr>
              <a:t>a</a:t>
            </a:r>
            <a:r>
              <a:rPr lang="en-US" sz="2000" baseline="-25000">
                <a:solidFill>
                  <a:srgbClr val="0000FF"/>
                </a:solidFill>
                <a:latin typeface="Consolas" pitchFamily="49" charset="0"/>
                <a:ea typeface="仿宋" pitchFamily="49" charset="-122"/>
                <a:cs typeface="Consolas" pitchFamily="49" charset="0"/>
              </a:rPr>
              <a:t>2</a:t>
            </a:r>
            <a:r>
              <a:rPr lang="zh-CN" altLang="en-US" sz="2000">
                <a:solidFill>
                  <a:srgbClr val="0000FF"/>
                </a:solidFill>
                <a:latin typeface="Consolas" pitchFamily="49" charset="0"/>
                <a:ea typeface="仿宋" pitchFamily="49" charset="-122"/>
                <a:cs typeface="Consolas" pitchFamily="49" charset="0"/>
              </a:rPr>
              <a:t>没有右拐，进栈</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5</a:t>
            </a:r>
            <a:endParaRPr lang="zh-CN" altLang="en-US" sz="2000" baseline="-25000">
              <a:solidFill>
                <a:srgbClr val="0000FF"/>
              </a:solidFill>
              <a:latin typeface="Consolas" pitchFamily="49" charset="0"/>
              <a:ea typeface="仿宋" pitchFamily="49" charset="-122"/>
              <a:cs typeface="Consolas" pitchFamily="49" charset="0"/>
            </a:endParaRPr>
          </a:p>
        </p:txBody>
      </p:sp>
      <p:cxnSp>
        <p:nvCxnSpPr>
          <p:cNvPr id="64" name="直接连接符 63"/>
          <p:cNvCxnSpPr>
            <a:stCxn id="45" idx="5"/>
            <a:endCxn id="33" idx="1"/>
          </p:cNvCxnSpPr>
          <p:nvPr/>
        </p:nvCxnSpPr>
        <p:spPr>
          <a:xfrm rot="16200000" flipH="1">
            <a:off x="3641011" y="4316270"/>
            <a:ext cx="831632" cy="814226"/>
          </a:xfrm>
          <a:prstGeom prst="line">
            <a:avLst/>
          </a:prstGeom>
          <a:ln w="28575">
            <a:solidFill>
              <a:srgbClr val="FF00FF"/>
            </a:solidFill>
            <a:prstDash val="dash"/>
            <a:headEnd type="arrow"/>
          </a:ln>
        </p:spPr>
        <p:style>
          <a:lnRef idx="1">
            <a:schemeClr val="accent1"/>
          </a:lnRef>
          <a:fillRef idx="0">
            <a:schemeClr val="accent1"/>
          </a:fillRef>
          <a:effectRef idx="0">
            <a:schemeClr val="accent1"/>
          </a:effectRef>
          <a:fontRef idx="minor">
            <a:schemeClr val="tx1"/>
          </a:fontRef>
        </p:style>
      </p:cxnSp>
      <p:cxnSp>
        <p:nvCxnSpPr>
          <p:cNvPr id="66" name="直接连接符 65"/>
          <p:cNvCxnSpPr>
            <a:endCxn id="33" idx="0"/>
          </p:cNvCxnSpPr>
          <p:nvPr/>
        </p:nvCxnSpPr>
        <p:spPr>
          <a:xfrm rot="5400000">
            <a:off x="3871102" y="4202898"/>
            <a:ext cx="1546235" cy="284190"/>
          </a:xfrm>
          <a:prstGeom prst="line">
            <a:avLst/>
          </a:pr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8" name="直接连接符 67"/>
          <p:cNvCxnSpPr>
            <a:endCxn id="35" idx="3"/>
          </p:cNvCxnSpPr>
          <p:nvPr/>
        </p:nvCxnSpPr>
        <p:spPr>
          <a:xfrm flipV="1">
            <a:off x="3643306" y="3441249"/>
            <a:ext cx="1131786" cy="773569"/>
          </a:xfrm>
          <a:prstGeom prst="line">
            <a:avLst/>
          </a:pr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60" name="灯片编号占位符 59"/>
          <p:cNvSpPr>
            <a:spLocks noGrp="1"/>
          </p:cNvSpPr>
          <p:nvPr>
            <p:ph type="sldNum" sz="quarter" idx="12"/>
          </p:nvPr>
        </p:nvSpPr>
        <p:spPr/>
        <p:txBody>
          <a:bodyPr/>
          <a:lstStyle/>
          <a:p>
            <a:pPr>
              <a:defRPr/>
            </a:pPr>
            <a:fld id="{51116183-1013-4E64-BBE8-A5C1D5D4F838}" type="slidenum">
              <a:rPr lang="en-US" altLang="zh-CN" smtClean="0"/>
              <a:pPr>
                <a:defRPr/>
              </a:pPr>
              <a:t>110</a:t>
            </a:fld>
            <a:r>
              <a:rPr lang="en-US" altLang="zh-CN"/>
              <a:t>/167</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147698" y="110119"/>
            <a:ext cx="8853458" cy="1444975"/>
          </a:xfrm>
          <a:prstGeom prst="rect">
            <a:avLst/>
          </a:prstGeom>
          <a:solidFill>
            <a:schemeClr val="bg1"/>
          </a:solidFill>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tIns="144000" bIns="144000">
            <a:spAutoFit/>
          </a:bodyPr>
          <a:lstStyle/>
          <a:p>
            <a:pPr>
              <a:lnSpc>
                <a:spcPts val="3000"/>
              </a:lnSpc>
              <a:spcBef>
                <a:spcPts val="0"/>
              </a:spcBef>
            </a:pPr>
            <a:r>
              <a:rPr lang="zh-CN" altLang="en-US" sz="2200">
                <a:solidFill>
                  <a:srgbClr val="0000FF"/>
                </a:solidFill>
                <a:latin typeface="Consolas" pitchFamily="49" charset="0"/>
                <a:ea typeface="仿宋" pitchFamily="49" charset="-122"/>
                <a:cs typeface="Consolas" pitchFamily="49" charset="0"/>
              </a:rPr>
              <a:t>     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。剩余点：</a:t>
            </a:r>
            <a:r>
              <a:rPr lang="en-US" altLang="zh-CN" sz="2200" i="1">
                <a:solidFill>
                  <a:srgbClr val="0000FF"/>
                </a:solidFill>
                <a:latin typeface="Consolas" pitchFamily="49" charset="0"/>
                <a:ea typeface="仿宋" pitchFamily="49" charset="-122"/>
                <a:cs typeface="Consolas" pitchFamily="49" charset="0"/>
              </a:rPr>
              <a:t> a</a:t>
            </a:r>
            <a:r>
              <a:rPr lang="en-US" altLang="zh-CN" sz="2200" baseline="-250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 </a:t>
            </a:r>
            <a:endParaRPr lang="en-US" altLang="zh-CN" sz="2200">
              <a:solidFill>
                <a:srgbClr val="0000FF"/>
              </a:solidFill>
              <a:latin typeface="Consolas" pitchFamily="49" charset="0"/>
              <a:ea typeface="仿宋" pitchFamily="49" charset="-122"/>
              <a:cs typeface="Consolas" pitchFamily="49" charset="0"/>
            </a:endParaRPr>
          </a:p>
          <a:p>
            <a:pPr>
              <a:lnSpc>
                <a:spcPts val="3000"/>
              </a:lnSpc>
              <a:spcBef>
                <a:spcPts val="0"/>
              </a:spcBef>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a:t>
            </a:r>
            <a:r>
              <a:rPr lang="zh-CN" altLang="en-US" sz="2200">
                <a:solidFill>
                  <a:srgbClr val="FF0000"/>
                </a:solidFill>
                <a:latin typeface="Consolas" pitchFamily="49" charset="0"/>
                <a:ea typeface="仿宋" pitchFamily="49" charset="-122"/>
                <a:cs typeface="Consolas" pitchFamily="49" charset="0"/>
              </a:rPr>
              <a:t>处理点</a:t>
            </a:r>
            <a:r>
              <a:rPr lang="en-US" altLang="zh-CN" sz="2200" i="1">
                <a:solidFill>
                  <a:srgbClr val="FF0000"/>
                </a:solidFill>
                <a:latin typeface="Consolas" pitchFamily="49" charset="0"/>
                <a:ea typeface="仿宋" pitchFamily="49" charset="-122"/>
                <a:cs typeface="Consolas" pitchFamily="49" charset="0"/>
              </a:rPr>
              <a:t>a</a:t>
            </a:r>
            <a:r>
              <a:rPr lang="en-US" altLang="zh-CN" sz="2200" baseline="-25000">
                <a:solidFill>
                  <a:srgbClr val="FF0000"/>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存在右拐关系，将其退栈，如图所示，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进栈。栈中元素从栈底到栈顶为：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p>
        </p:txBody>
      </p:sp>
      <p:graphicFrame>
        <p:nvGraphicFramePr>
          <p:cNvPr id="5" name="表格 4"/>
          <p:cNvGraphicFramePr>
            <a:graphicFrameLocks noGrp="1"/>
          </p:cNvGraphicFramePr>
          <p:nvPr/>
        </p:nvGraphicFramePr>
        <p:xfrm>
          <a:off x="2071670" y="2163753"/>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5"/>
          <p:cNvGrpSpPr/>
          <p:nvPr/>
        </p:nvGrpSpPr>
        <p:grpSpPr>
          <a:xfrm>
            <a:off x="1643042" y="2071678"/>
            <a:ext cx="3643338" cy="3733982"/>
            <a:chOff x="3357554" y="1408099"/>
            <a:chExt cx="3643338" cy="3733982"/>
          </a:xfrm>
        </p:grpSpPr>
        <p:sp>
          <p:nvSpPr>
            <p:cNvPr id="7" name="TextBox 6"/>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29" name="椭圆 28"/>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0" name="TextBox 29"/>
            <p:cNvSpPr txBox="1"/>
            <p:nvPr/>
          </p:nvSpPr>
          <p:spPr>
            <a:xfrm>
              <a:off x="4357686"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1" name="椭圆 30"/>
            <p:cNvSpPr/>
            <p:nvPr/>
          </p:nvSpPr>
          <p:spPr>
            <a:xfrm>
              <a:off x="4046534" y="2927810"/>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TextBox 31"/>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3" name="椭圆 32"/>
            <p:cNvSpPr/>
            <p:nvPr/>
          </p:nvSpPr>
          <p:spPr>
            <a:xfrm>
              <a:off x="6162636" y="445453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TextBox 33"/>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5" name="椭圆 34"/>
            <p:cNvSpPr/>
            <p:nvPr/>
          </p:nvSpPr>
          <p:spPr>
            <a:xfrm>
              <a:off x="6473788" y="265475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TextBox 35"/>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7" name="椭圆 36"/>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TextBox 37"/>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39" name="椭圆 38"/>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TextBox 39"/>
            <p:cNvSpPr txBox="1"/>
            <p:nvPr/>
          </p:nvSpPr>
          <p:spPr>
            <a:xfrm>
              <a:off x="4500562" y="2355999"/>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1" name="椭圆 40"/>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TextBox 41"/>
            <p:cNvSpPr txBox="1"/>
            <p:nvPr/>
          </p:nvSpPr>
          <p:spPr>
            <a:xfrm>
              <a:off x="4429124" y="3284693"/>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3" name="椭圆 42"/>
            <p:cNvSpPr/>
            <p:nvPr/>
          </p:nvSpPr>
          <p:spPr>
            <a:xfrm>
              <a:off x="5248280" y="2946396"/>
              <a:ext cx="108000" cy="144000"/>
            </a:xfrm>
            <a:prstGeom prst="ellipse">
              <a:avLst/>
            </a:prstGeom>
            <a:solidFill>
              <a:srgbClr val="006600"/>
            </a:solidFill>
            <a:ln>
              <a:solidFill>
                <a:srgbClr val="0066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4" name="TextBox 43"/>
            <p:cNvSpPr txBox="1"/>
            <p:nvPr/>
          </p:nvSpPr>
          <p:spPr>
            <a:xfrm>
              <a:off x="5317454" y="2551107"/>
              <a:ext cx="322266"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4</a:t>
              </a:r>
              <a:endParaRPr lang="zh-CN" altLang="en-US" sz="1800" baseline="-25000">
                <a:solidFill>
                  <a:srgbClr val="FF0000"/>
                </a:solidFill>
                <a:latin typeface="Consolas" pitchFamily="49" charset="0"/>
                <a:cs typeface="Consolas" pitchFamily="49" charset="0"/>
              </a:endParaRPr>
            </a:p>
          </p:txBody>
        </p:sp>
        <p:sp>
          <p:nvSpPr>
            <p:cNvPr id="45" name="椭圆 44"/>
            <p:cNvSpPr/>
            <p:nvPr/>
          </p:nvSpPr>
          <p:spPr>
            <a:xfrm>
              <a:off x="5272042" y="3521076"/>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6" name="TextBox 45"/>
            <p:cNvSpPr txBox="1"/>
            <p:nvPr/>
          </p:nvSpPr>
          <p:spPr>
            <a:xfrm>
              <a:off x="5214942" y="370286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7" name="椭圆 46"/>
            <p:cNvSpPr/>
            <p:nvPr/>
          </p:nvSpPr>
          <p:spPr>
            <a:xfrm>
              <a:off x="5553032" y="3857628"/>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8" name="TextBox 47"/>
            <p:cNvSpPr txBox="1"/>
            <p:nvPr/>
          </p:nvSpPr>
          <p:spPr>
            <a:xfrm>
              <a:off x="5678494" y="3622677"/>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grpSp>
        <p:nvGrpSpPr>
          <p:cNvPr id="3" name="组合 48"/>
          <p:cNvGrpSpPr/>
          <p:nvPr/>
        </p:nvGrpSpPr>
        <p:grpSpPr>
          <a:xfrm>
            <a:off x="2391957" y="2534767"/>
            <a:ext cx="1157628" cy="2894496"/>
            <a:chOff x="3392089" y="3158503"/>
            <a:chExt cx="1157628" cy="2894496"/>
          </a:xfrm>
        </p:grpSpPr>
        <p:cxnSp>
          <p:nvCxnSpPr>
            <p:cNvPr id="51" name="直接连接符 50"/>
            <p:cNvCxnSpPr/>
            <p:nvPr/>
          </p:nvCxnSpPr>
          <p:spPr>
            <a:xfrm rot="16200000" flipV="1">
              <a:off x="2795420" y="4934706"/>
              <a:ext cx="1710650" cy="51731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16200000" flipV="1">
              <a:off x="2983575" y="5046493"/>
              <a:ext cx="1969428" cy="3496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rot="5400000" flipH="1" flipV="1">
              <a:off x="3453034" y="4956317"/>
              <a:ext cx="1644145" cy="54922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rot="5400000" flipH="1" flipV="1">
              <a:off x="2688636" y="4468699"/>
              <a:ext cx="2890184" cy="26979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grpSp>
      <p:sp>
        <p:nvSpPr>
          <p:cNvPr id="56" name="TextBox 55"/>
          <p:cNvSpPr txBox="1"/>
          <p:nvPr/>
        </p:nvSpPr>
        <p:spPr>
          <a:xfrm>
            <a:off x="5500694" y="3286124"/>
            <a:ext cx="3214710" cy="1477328"/>
          </a:xfrm>
          <a:prstGeom prst="rect">
            <a:avLst/>
          </a:prstGeom>
          <a:noFill/>
        </p:spPr>
        <p:txBody>
          <a:bodyPr wrap="square" rtlCol="0">
            <a:spAutoFit/>
          </a:bodyPr>
          <a:lstStyle/>
          <a:p>
            <a:pPr>
              <a:lnSpc>
                <a:spcPct val="150000"/>
              </a:lnSpc>
            </a:pPr>
            <a:r>
              <a:rPr lang="zh-CN" altLang="en-US" sz="2000">
                <a:solidFill>
                  <a:srgbClr val="FF0000"/>
                </a:solidFill>
                <a:latin typeface="Consolas" pitchFamily="49" charset="0"/>
                <a:ea typeface="仿宋" pitchFamily="49" charset="-122"/>
                <a:cs typeface="Consolas" pitchFamily="49" charset="0"/>
              </a:rPr>
              <a:t>处理点</a:t>
            </a:r>
            <a:r>
              <a:rPr lang="en-US" sz="2000" i="1">
                <a:solidFill>
                  <a:srgbClr val="FF0000"/>
                </a:solidFill>
                <a:latin typeface="Consolas" pitchFamily="49" charset="0"/>
                <a:ea typeface="仿宋" pitchFamily="49" charset="-122"/>
                <a:cs typeface="Consolas" pitchFamily="49" charset="0"/>
              </a:rPr>
              <a:t>a</a:t>
            </a:r>
            <a:r>
              <a:rPr lang="en-US" sz="2000" baseline="-25000">
                <a:solidFill>
                  <a:srgbClr val="FF0000"/>
                </a:solidFill>
                <a:latin typeface="Consolas" pitchFamily="49" charset="0"/>
                <a:ea typeface="仿宋" pitchFamily="49" charset="-122"/>
                <a:cs typeface="Consolas" pitchFamily="49" charset="0"/>
              </a:rPr>
              <a:t>4</a:t>
            </a:r>
          </a:p>
          <a:p>
            <a:pPr>
              <a:lnSpc>
                <a:spcPct val="150000"/>
              </a:lnSpc>
            </a:pPr>
            <a:r>
              <a:rPr lang="en-US" altLang="zh-CN" sz="2000">
                <a:solidFill>
                  <a:srgbClr val="0000FF"/>
                </a:solidFill>
                <a:latin typeface="Consolas" pitchFamily="49" charset="0"/>
                <a:ea typeface="仿宋" pitchFamily="49" charset="-122"/>
                <a:cs typeface="Consolas" pitchFamily="49" charset="0"/>
              </a:rPr>
              <a:t>Dir(</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4</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5</a:t>
            </a:r>
            <a:r>
              <a:rPr lang="en-US" altLang="zh-CN" sz="2000">
                <a:solidFill>
                  <a:srgbClr val="0000FF"/>
                </a:solidFill>
                <a:latin typeface="Consolas" pitchFamily="49" charset="0"/>
                <a:ea typeface="仿宋" pitchFamily="49" charset="-122"/>
                <a:cs typeface="Consolas" pitchFamily="49" charset="0"/>
              </a:rPr>
              <a:t>)&gt;0 </a:t>
            </a:r>
            <a:r>
              <a:rPr lang="en-US" altLang="zh-CN" sz="2000">
                <a:solidFill>
                  <a:srgbClr val="FF00FF"/>
                </a:solidFill>
                <a:latin typeface="Consolas" pitchFamily="49" charset="0"/>
                <a:ea typeface="仿宋" pitchFamily="49" charset="-122"/>
                <a:cs typeface="Consolas" pitchFamily="49" charset="0"/>
                <a:sym typeface="Wingdings"/>
              </a:rPr>
              <a:t></a:t>
            </a:r>
            <a:r>
              <a:rPr lang="en-US" altLang="zh-CN" sz="2000">
                <a:solidFill>
                  <a:srgbClr val="0000FF"/>
                </a:solidFill>
                <a:latin typeface="Consolas" pitchFamily="49" charset="0"/>
                <a:ea typeface="仿宋" pitchFamily="49" charset="-122"/>
                <a:cs typeface="Consolas" pitchFamily="49" charset="0"/>
                <a:sym typeface="Wingdings"/>
              </a:rPr>
              <a:t> </a:t>
            </a:r>
            <a:r>
              <a:rPr lang="en-US" sz="2000" i="1">
                <a:solidFill>
                  <a:srgbClr val="0000FF"/>
                </a:solidFill>
                <a:latin typeface="Consolas" pitchFamily="49" charset="0"/>
                <a:ea typeface="仿宋" pitchFamily="49" charset="-122"/>
                <a:cs typeface="Consolas" pitchFamily="49" charset="0"/>
              </a:rPr>
              <a:t>a</a:t>
            </a:r>
            <a:r>
              <a:rPr lang="en-US" sz="2000" baseline="-25000">
                <a:solidFill>
                  <a:srgbClr val="0000FF"/>
                </a:solidFill>
                <a:latin typeface="Consolas" pitchFamily="49" charset="0"/>
                <a:ea typeface="仿宋" pitchFamily="49" charset="-122"/>
                <a:cs typeface="Consolas" pitchFamily="49" charset="0"/>
              </a:rPr>
              <a:t>5</a:t>
            </a:r>
            <a:r>
              <a:rPr lang="zh-CN" altLang="en-US" sz="2000">
                <a:solidFill>
                  <a:srgbClr val="0000FF"/>
                </a:solidFill>
                <a:latin typeface="Consolas" pitchFamily="49" charset="0"/>
                <a:ea typeface="仿宋" pitchFamily="49" charset="-122"/>
                <a:cs typeface="Consolas" pitchFamily="49" charset="0"/>
              </a:rPr>
              <a:t>右拐，</a:t>
            </a:r>
            <a:r>
              <a:rPr lang="zh-CN" altLang="en-US" sz="2000">
                <a:solidFill>
                  <a:srgbClr val="0000FF"/>
                </a:solidFill>
                <a:latin typeface="仿宋" pitchFamily="49" charset="-122"/>
                <a:ea typeface="仿宋" pitchFamily="49" charset="-122"/>
                <a:cs typeface="Consolas" pitchFamily="49" charset="0"/>
              </a:rPr>
              <a:t>退栈</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5</a:t>
            </a:r>
            <a:r>
              <a:rPr lang="zh-CN" altLang="en-US"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 a</a:t>
            </a:r>
            <a:r>
              <a:rPr lang="en-US" altLang="zh-CN" sz="2000" baseline="-25000">
                <a:solidFill>
                  <a:srgbClr val="0000FF"/>
                </a:solidFill>
                <a:latin typeface="Consolas" pitchFamily="49" charset="0"/>
                <a:ea typeface="楷体" pitchFamily="49" charset="-122"/>
                <a:cs typeface="Consolas" pitchFamily="49" charset="0"/>
              </a:rPr>
              <a:t>4</a:t>
            </a:r>
            <a:r>
              <a:rPr lang="zh-CN" altLang="en-US" sz="2000">
                <a:solidFill>
                  <a:srgbClr val="0000FF"/>
                </a:solidFill>
                <a:latin typeface="Consolas" pitchFamily="49" charset="0"/>
                <a:ea typeface="楷体" pitchFamily="49" charset="-122"/>
                <a:cs typeface="Consolas" pitchFamily="49" charset="0"/>
              </a:rPr>
              <a:t>进栈</a:t>
            </a:r>
            <a:endParaRPr lang="zh-CN" altLang="en-US" sz="2000" baseline="-25000">
              <a:solidFill>
                <a:srgbClr val="0000FF"/>
              </a:solidFill>
              <a:latin typeface="Consolas" pitchFamily="49" charset="0"/>
              <a:ea typeface="仿宋" pitchFamily="49" charset="-122"/>
              <a:cs typeface="Consolas" pitchFamily="49" charset="0"/>
            </a:endParaRPr>
          </a:p>
        </p:txBody>
      </p:sp>
      <p:cxnSp>
        <p:nvCxnSpPr>
          <p:cNvPr id="59" name="直接连接符 58"/>
          <p:cNvCxnSpPr>
            <a:endCxn id="35" idx="3"/>
          </p:cNvCxnSpPr>
          <p:nvPr/>
        </p:nvCxnSpPr>
        <p:spPr>
          <a:xfrm flipV="1">
            <a:off x="3643306" y="3441249"/>
            <a:ext cx="1131786" cy="773569"/>
          </a:xfrm>
          <a:prstGeom prst="line">
            <a:avLst/>
          </a:prstGeom>
          <a:ln w="28575">
            <a:solidFill>
              <a:srgbClr val="FF00FF"/>
            </a:solidFill>
            <a:prstDash val="dash"/>
            <a:headEnd type="none"/>
            <a:tailEnd type="arrow"/>
          </a:ln>
        </p:spPr>
        <p:style>
          <a:lnRef idx="1">
            <a:schemeClr val="accent1"/>
          </a:lnRef>
          <a:fillRef idx="0">
            <a:schemeClr val="accent1"/>
          </a:fillRef>
          <a:effectRef idx="0">
            <a:schemeClr val="accent1"/>
          </a:effectRef>
          <a:fontRef idx="minor">
            <a:schemeClr val="tx1"/>
          </a:fontRef>
        </p:style>
      </p:cxnSp>
      <p:cxnSp>
        <p:nvCxnSpPr>
          <p:cNvPr id="61" name="直接连接符 60"/>
          <p:cNvCxnSpPr>
            <a:endCxn id="35" idx="2"/>
          </p:cNvCxnSpPr>
          <p:nvPr/>
        </p:nvCxnSpPr>
        <p:spPr>
          <a:xfrm flipV="1">
            <a:off x="3643306" y="3390337"/>
            <a:ext cx="1115970" cy="252977"/>
          </a:xfrm>
          <a:prstGeom prst="line">
            <a:avLst/>
          </a:prstGeom>
          <a:ln w="28575">
            <a:solidFill>
              <a:srgbClr val="FF00FF"/>
            </a:solidFill>
            <a:prstDash val="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rot="5400000">
            <a:off x="3373942" y="3958771"/>
            <a:ext cx="451768" cy="0"/>
          </a:xfrm>
          <a:prstGeom prst="line">
            <a:avLst/>
          </a:pr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7" name="灯片编号占位符 56"/>
          <p:cNvSpPr>
            <a:spLocks noGrp="1"/>
          </p:cNvSpPr>
          <p:nvPr>
            <p:ph type="sldNum" sz="quarter" idx="12"/>
          </p:nvPr>
        </p:nvSpPr>
        <p:spPr/>
        <p:txBody>
          <a:bodyPr/>
          <a:lstStyle/>
          <a:p>
            <a:pPr>
              <a:defRPr/>
            </a:pPr>
            <a:fld id="{51116183-1013-4E64-BBE8-A5C1D5D4F838}" type="slidenum">
              <a:rPr lang="en-US" altLang="zh-CN" smtClean="0"/>
              <a:pPr>
                <a:defRPr/>
              </a:pPr>
              <a:t>111</a:t>
            </a:fld>
            <a:r>
              <a:rPr lang="en-US" altLang="zh-CN"/>
              <a:t>/167</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395288" y="404813"/>
            <a:ext cx="8534430" cy="1444975"/>
          </a:xfrm>
          <a:prstGeom prst="rect">
            <a:avLst/>
          </a:prstGeom>
          <a:solidFill>
            <a:schemeClr val="bg1"/>
          </a:solidFill>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tIns="144000" bIns="144000">
            <a:spAutoFit/>
          </a:bodyPr>
          <a:lstStyle/>
          <a:p>
            <a:pPr>
              <a:lnSpc>
                <a:spcPts val="3000"/>
              </a:lnSpc>
              <a:spcBef>
                <a:spcPts val="0"/>
              </a:spcBef>
            </a:pPr>
            <a:r>
              <a:rPr lang="zh-CN" altLang="en-US" sz="2200">
                <a:solidFill>
                  <a:srgbClr val="0000FF"/>
                </a:solidFill>
                <a:latin typeface="Consolas" pitchFamily="49" charset="0"/>
                <a:ea typeface="仿宋" pitchFamily="49" charset="-122"/>
                <a:cs typeface="Consolas" pitchFamily="49" charset="0"/>
              </a:rPr>
              <a:t>   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。剩余点：</a:t>
            </a:r>
            <a:r>
              <a:rPr lang="en-US" altLang="zh-CN" sz="2200" i="1">
                <a:solidFill>
                  <a:srgbClr val="0000FF"/>
                </a:solidFill>
                <a:latin typeface="Consolas" pitchFamily="49" charset="0"/>
                <a:ea typeface="仿宋" pitchFamily="49" charset="-122"/>
                <a:cs typeface="Consolas" pitchFamily="49" charset="0"/>
              </a:rPr>
              <a:t> 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宋体" pitchFamily="2" charset="-122"/>
                <a:ea typeface="宋体" pitchFamily="2"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 </a:t>
            </a:r>
            <a:endParaRPr lang="en-US" altLang="zh-CN" sz="2200">
              <a:solidFill>
                <a:srgbClr val="0000FF"/>
              </a:solidFill>
              <a:latin typeface="Consolas" pitchFamily="49" charset="0"/>
              <a:ea typeface="仿宋" pitchFamily="49" charset="-122"/>
              <a:cs typeface="Consolas" pitchFamily="49" charset="0"/>
            </a:endParaRPr>
          </a:p>
          <a:p>
            <a:pPr>
              <a:lnSpc>
                <a:spcPts val="3000"/>
              </a:lnSpc>
              <a:spcBef>
                <a:spcPts val="0"/>
              </a:spcBef>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zh-CN" altLang="en-US" sz="2200">
                <a:solidFill>
                  <a:srgbClr val="FF0000"/>
                </a:solidFill>
                <a:latin typeface="Consolas" pitchFamily="49" charset="0"/>
                <a:ea typeface="仿宋" pitchFamily="49" charset="-122"/>
                <a:cs typeface="Consolas" pitchFamily="49" charset="0"/>
              </a:rPr>
              <a:t>处理点</a:t>
            </a:r>
            <a:r>
              <a:rPr lang="en-US" altLang="zh-CN" sz="2200" i="1">
                <a:solidFill>
                  <a:srgbClr val="FF0000"/>
                </a:solidFill>
                <a:latin typeface="Consolas" pitchFamily="49" charset="0"/>
                <a:ea typeface="仿宋" pitchFamily="49" charset="-122"/>
                <a:cs typeface="Consolas" pitchFamily="49" charset="0"/>
              </a:rPr>
              <a:t>a</a:t>
            </a:r>
            <a:r>
              <a:rPr lang="en-US" altLang="zh-CN" sz="2200" baseline="-25000">
                <a:solidFill>
                  <a:srgbClr val="FF0000"/>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存在右拐关系，将其退栈，</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进栈。栈中元素从栈底到栈顶为：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p>
        </p:txBody>
      </p:sp>
      <p:graphicFrame>
        <p:nvGraphicFramePr>
          <p:cNvPr id="5" name="表格 4"/>
          <p:cNvGraphicFramePr>
            <a:graphicFrameLocks noGrp="1"/>
          </p:cNvGraphicFramePr>
          <p:nvPr/>
        </p:nvGraphicFramePr>
        <p:xfrm>
          <a:off x="2071670" y="2163753"/>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5"/>
          <p:cNvGrpSpPr/>
          <p:nvPr/>
        </p:nvGrpSpPr>
        <p:grpSpPr>
          <a:xfrm>
            <a:off x="1643042" y="2071678"/>
            <a:ext cx="3643338" cy="3733982"/>
            <a:chOff x="3357554" y="1408099"/>
            <a:chExt cx="3643338" cy="3733982"/>
          </a:xfrm>
        </p:grpSpPr>
        <p:sp>
          <p:nvSpPr>
            <p:cNvPr id="7" name="TextBox 6"/>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29" name="椭圆 28"/>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0" name="TextBox 29"/>
            <p:cNvSpPr txBox="1"/>
            <p:nvPr/>
          </p:nvSpPr>
          <p:spPr>
            <a:xfrm>
              <a:off x="4357686"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1" name="椭圆 30"/>
            <p:cNvSpPr/>
            <p:nvPr/>
          </p:nvSpPr>
          <p:spPr>
            <a:xfrm>
              <a:off x="4046534" y="2927810"/>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TextBox 31"/>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3" name="椭圆 32"/>
            <p:cNvSpPr/>
            <p:nvPr/>
          </p:nvSpPr>
          <p:spPr>
            <a:xfrm>
              <a:off x="6162636" y="445453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TextBox 33"/>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5" name="椭圆 34"/>
            <p:cNvSpPr/>
            <p:nvPr/>
          </p:nvSpPr>
          <p:spPr>
            <a:xfrm>
              <a:off x="6473788" y="265475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TextBox 35"/>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7" name="椭圆 36"/>
            <p:cNvSpPr/>
            <p:nvPr/>
          </p:nvSpPr>
          <p:spPr>
            <a:xfrm>
              <a:off x="4948190" y="1727188"/>
              <a:ext cx="108000" cy="144000"/>
            </a:xfrm>
            <a:prstGeom prst="ellipse">
              <a:avLst/>
            </a:prstGeom>
            <a:solidFill>
              <a:srgbClr val="006600"/>
            </a:solidFill>
            <a:ln>
              <a:solidFill>
                <a:srgbClr val="0066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TextBox 37"/>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0</a:t>
              </a:r>
              <a:endParaRPr lang="zh-CN" altLang="en-US" sz="1800" baseline="-25000">
                <a:solidFill>
                  <a:srgbClr val="FF0000"/>
                </a:solidFill>
                <a:latin typeface="Consolas" pitchFamily="49" charset="0"/>
                <a:cs typeface="Consolas" pitchFamily="49" charset="0"/>
              </a:endParaRPr>
            </a:p>
          </p:txBody>
        </p:sp>
        <p:sp>
          <p:nvSpPr>
            <p:cNvPr id="39" name="椭圆 38"/>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TextBox 39"/>
            <p:cNvSpPr txBox="1"/>
            <p:nvPr/>
          </p:nvSpPr>
          <p:spPr>
            <a:xfrm>
              <a:off x="4500562" y="2355999"/>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1" name="椭圆 40"/>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TextBox 41"/>
            <p:cNvSpPr txBox="1"/>
            <p:nvPr/>
          </p:nvSpPr>
          <p:spPr>
            <a:xfrm>
              <a:off x="4429124" y="3284693"/>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3" name="椭圆 42"/>
            <p:cNvSpPr/>
            <p:nvPr/>
          </p:nvSpPr>
          <p:spPr>
            <a:xfrm>
              <a:off x="5248280" y="2946396"/>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4" name="TextBox 43"/>
            <p:cNvSpPr txBox="1"/>
            <p:nvPr/>
          </p:nvSpPr>
          <p:spPr>
            <a:xfrm>
              <a:off x="5317454" y="2551107"/>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5" name="椭圆 44"/>
            <p:cNvSpPr/>
            <p:nvPr/>
          </p:nvSpPr>
          <p:spPr>
            <a:xfrm>
              <a:off x="5272042" y="3521076"/>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6" name="TextBox 45"/>
            <p:cNvSpPr txBox="1"/>
            <p:nvPr/>
          </p:nvSpPr>
          <p:spPr>
            <a:xfrm>
              <a:off x="5214942" y="370286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7" name="椭圆 46"/>
            <p:cNvSpPr/>
            <p:nvPr/>
          </p:nvSpPr>
          <p:spPr>
            <a:xfrm>
              <a:off x="5553032" y="3857628"/>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8" name="TextBox 47"/>
            <p:cNvSpPr txBox="1"/>
            <p:nvPr/>
          </p:nvSpPr>
          <p:spPr>
            <a:xfrm>
              <a:off x="5678494" y="3622677"/>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grpSp>
        <p:nvGrpSpPr>
          <p:cNvPr id="3" name="组合 48"/>
          <p:cNvGrpSpPr/>
          <p:nvPr/>
        </p:nvGrpSpPr>
        <p:grpSpPr>
          <a:xfrm>
            <a:off x="2391957" y="2534767"/>
            <a:ext cx="1157628" cy="2894496"/>
            <a:chOff x="3392089" y="3158503"/>
            <a:chExt cx="1157628" cy="2894496"/>
          </a:xfrm>
        </p:grpSpPr>
        <p:cxnSp>
          <p:nvCxnSpPr>
            <p:cNvPr id="50" name="直接连接符 49"/>
            <p:cNvCxnSpPr/>
            <p:nvPr/>
          </p:nvCxnSpPr>
          <p:spPr>
            <a:xfrm rot="16200000" flipV="1">
              <a:off x="2795420" y="4934706"/>
              <a:ext cx="1710650" cy="51731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16200000" flipV="1">
              <a:off x="2983575" y="5046493"/>
              <a:ext cx="1969428" cy="3496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5400000" flipH="1" flipV="1">
              <a:off x="3453034" y="4956317"/>
              <a:ext cx="1644145" cy="54922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rot="5400000" flipH="1" flipV="1">
              <a:off x="2688636" y="4468699"/>
              <a:ext cx="2890184" cy="26979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grpSp>
      <p:sp>
        <p:nvSpPr>
          <p:cNvPr id="54" name="TextBox 53"/>
          <p:cNvSpPr txBox="1"/>
          <p:nvPr/>
        </p:nvSpPr>
        <p:spPr>
          <a:xfrm>
            <a:off x="5500694" y="3286124"/>
            <a:ext cx="3214710" cy="1477328"/>
          </a:xfrm>
          <a:prstGeom prst="rect">
            <a:avLst/>
          </a:prstGeom>
          <a:noFill/>
        </p:spPr>
        <p:txBody>
          <a:bodyPr wrap="square" rtlCol="0">
            <a:spAutoFit/>
          </a:bodyPr>
          <a:lstStyle/>
          <a:p>
            <a:pPr>
              <a:lnSpc>
                <a:spcPct val="150000"/>
              </a:lnSpc>
            </a:pPr>
            <a:r>
              <a:rPr lang="zh-CN" altLang="en-US" sz="2000">
                <a:solidFill>
                  <a:srgbClr val="FF0000"/>
                </a:solidFill>
                <a:latin typeface="Consolas" pitchFamily="49" charset="0"/>
                <a:ea typeface="仿宋" pitchFamily="49" charset="-122"/>
                <a:cs typeface="Consolas" pitchFamily="49" charset="0"/>
              </a:rPr>
              <a:t>处理点</a:t>
            </a:r>
            <a:r>
              <a:rPr lang="en-US" sz="2000" i="1">
                <a:solidFill>
                  <a:srgbClr val="FF0000"/>
                </a:solidFill>
                <a:latin typeface="Consolas" pitchFamily="49" charset="0"/>
                <a:ea typeface="仿宋" pitchFamily="49" charset="-122"/>
                <a:cs typeface="Consolas" pitchFamily="49" charset="0"/>
              </a:rPr>
              <a:t>a</a:t>
            </a:r>
            <a:r>
              <a:rPr lang="en-US" sz="2000" baseline="-25000">
                <a:solidFill>
                  <a:srgbClr val="FF0000"/>
                </a:solidFill>
                <a:latin typeface="Consolas" pitchFamily="49" charset="0"/>
                <a:ea typeface="仿宋" pitchFamily="49" charset="-122"/>
                <a:cs typeface="Consolas" pitchFamily="49" charset="0"/>
              </a:rPr>
              <a:t>0</a:t>
            </a:r>
          </a:p>
          <a:p>
            <a:pPr>
              <a:lnSpc>
                <a:spcPct val="150000"/>
              </a:lnSpc>
            </a:pPr>
            <a:r>
              <a:rPr lang="en-US" altLang="zh-CN" sz="2000">
                <a:solidFill>
                  <a:srgbClr val="0000FF"/>
                </a:solidFill>
                <a:latin typeface="Consolas" pitchFamily="49" charset="0"/>
                <a:ea typeface="仿宋" pitchFamily="49" charset="-122"/>
                <a:cs typeface="Consolas" pitchFamily="49" charset="0"/>
              </a:rPr>
              <a:t>Dir(</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0</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4</a:t>
            </a:r>
            <a:r>
              <a:rPr lang="en-US" altLang="zh-CN" sz="2000">
                <a:solidFill>
                  <a:srgbClr val="0000FF"/>
                </a:solidFill>
                <a:latin typeface="Consolas" pitchFamily="49" charset="0"/>
                <a:ea typeface="仿宋" pitchFamily="49" charset="-122"/>
                <a:cs typeface="Consolas" pitchFamily="49" charset="0"/>
              </a:rPr>
              <a:t>)&gt;0 </a:t>
            </a:r>
            <a:r>
              <a:rPr lang="en-US" altLang="zh-CN" sz="2000">
                <a:solidFill>
                  <a:srgbClr val="FF00FF"/>
                </a:solidFill>
                <a:latin typeface="Consolas" pitchFamily="49" charset="0"/>
                <a:ea typeface="仿宋" pitchFamily="49" charset="-122"/>
                <a:cs typeface="Consolas" pitchFamily="49" charset="0"/>
                <a:sym typeface="Wingdings"/>
              </a:rPr>
              <a:t></a:t>
            </a:r>
            <a:r>
              <a:rPr lang="en-US" altLang="zh-CN" sz="2000">
                <a:solidFill>
                  <a:srgbClr val="0000FF"/>
                </a:solidFill>
                <a:latin typeface="Consolas" pitchFamily="49" charset="0"/>
                <a:ea typeface="仿宋" pitchFamily="49" charset="-122"/>
                <a:cs typeface="Consolas" pitchFamily="49" charset="0"/>
                <a:sym typeface="Wingdings"/>
              </a:rPr>
              <a:t> </a:t>
            </a:r>
            <a:r>
              <a:rPr lang="en-US" sz="2000" i="1">
                <a:solidFill>
                  <a:srgbClr val="0000FF"/>
                </a:solidFill>
                <a:latin typeface="Consolas" pitchFamily="49" charset="0"/>
                <a:ea typeface="仿宋" pitchFamily="49" charset="-122"/>
                <a:cs typeface="Consolas" pitchFamily="49" charset="0"/>
              </a:rPr>
              <a:t>a</a:t>
            </a:r>
            <a:r>
              <a:rPr lang="en-US" sz="2000" baseline="-25000">
                <a:solidFill>
                  <a:srgbClr val="0000FF"/>
                </a:solidFill>
                <a:latin typeface="Consolas" pitchFamily="49" charset="0"/>
                <a:ea typeface="仿宋" pitchFamily="49" charset="-122"/>
                <a:cs typeface="Consolas" pitchFamily="49" charset="0"/>
              </a:rPr>
              <a:t>4</a:t>
            </a:r>
            <a:r>
              <a:rPr lang="zh-CN" altLang="en-US" sz="2000">
                <a:solidFill>
                  <a:srgbClr val="0000FF"/>
                </a:solidFill>
                <a:latin typeface="Consolas" pitchFamily="49" charset="0"/>
                <a:ea typeface="仿宋" pitchFamily="49" charset="-122"/>
                <a:cs typeface="Consolas" pitchFamily="49" charset="0"/>
              </a:rPr>
              <a:t>右拐，</a:t>
            </a:r>
            <a:r>
              <a:rPr lang="zh-CN" altLang="en-US" sz="2000">
                <a:solidFill>
                  <a:srgbClr val="0000FF"/>
                </a:solidFill>
                <a:latin typeface="仿宋" pitchFamily="49" charset="-122"/>
                <a:ea typeface="仿宋" pitchFamily="49" charset="-122"/>
                <a:cs typeface="Consolas" pitchFamily="49" charset="0"/>
              </a:rPr>
              <a:t>退栈</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4</a:t>
            </a:r>
            <a:r>
              <a:rPr lang="zh-CN" altLang="en-US"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 a</a:t>
            </a:r>
            <a:r>
              <a:rPr lang="en-US" altLang="zh-CN" sz="2000" baseline="-25000">
                <a:solidFill>
                  <a:srgbClr val="0000FF"/>
                </a:solidFill>
                <a:latin typeface="Consolas" pitchFamily="49" charset="0"/>
                <a:ea typeface="楷体" pitchFamily="49" charset="-122"/>
                <a:cs typeface="Consolas" pitchFamily="49" charset="0"/>
              </a:rPr>
              <a:t>0</a:t>
            </a:r>
            <a:r>
              <a:rPr lang="zh-CN" altLang="en-US" sz="2000">
                <a:solidFill>
                  <a:srgbClr val="0000FF"/>
                </a:solidFill>
                <a:latin typeface="Consolas" pitchFamily="49" charset="0"/>
                <a:ea typeface="楷体" pitchFamily="49" charset="-122"/>
                <a:cs typeface="Consolas" pitchFamily="49" charset="0"/>
              </a:rPr>
              <a:t>进栈</a:t>
            </a:r>
            <a:endParaRPr lang="zh-CN" altLang="en-US" sz="2000" baseline="-25000">
              <a:solidFill>
                <a:srgbClr val="0000FF"/>
              </a:solidFill>
              <a:latin typeface="Consolas" pitchFamily="49" charset="0"/>
              <a:ea typeface="仿宋" pitchFamily="49" charset="-122"/>
              <a:cs typeface="Consolas" pitchFamily="49" charset="0"/>
            </a:endParaRPr>
          </a:p>
        </p:txBody>
      </p:sp>
      <p:cxnSp>
        <p:nvCxnSpPr>
          <p:cNvPr id="59" name="直接连接符 58"/>
          <p:cNvCxnSpPr>
            <a:stCxn id="43" idx="7"/>
            <a:endCxn id="35" idx="3"/>
          </p:cNvCxnSpPr>
          <p:nvPr/>
        </p:nvCxnSpPr>
        <p:spPr>
          <a:xfrm rot="5400000" flipH="1" flipV="1">
            <a:off x="4105615" y="2961586"/>
            <a:ext cx="189814" cy="1149140"/>
          </a:xfrm>
          <a:prstGeom prst="line">
            <a:avLst/>
          </a:pr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37" idx="4"/>
            <a:endCxn id="43" idx="0"/>
          </p:cNvCxnSpPr>
          <p:nvPr/>
        </p:nvCxnSpPr>
        <p:spPr>
          <a:xfrm rot="16200000" flipH="1">
            <a:off x="2900119" y="2922326"/>
            <a:ext cx="1075208" cy="300090"/>
          </a:xfrm>
          <a:prstGeom prst="line">
            <a:avLst/>
          </a:pr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37" idx="5"/>
            <a:endCxn id="35" idx="1"/>
          </p:cNvCxnSpPr>
          <p:nvPr/>
        </p:nvCxnSpPr>
        <p:spPr>
          <a:xfrm rot="16200000" flipH="1">
            <a:off x="3637604" y="2201937"/>
            <a:ext cx="825746" cy="1449230"/>
          </a:xfrm>
          <a:prstGeom prst="line">
            <a:avLst/>
          </a:prstGeom>
          <a:ln w="28575">
            <a:solidFill>
              <a:srgbClr val="FF00FF"/>
            </a:solidFill>
            <a:prstDash val="dash"/>
            <a:headEnd type="arrow"/>
            <a:tailEnd type="none"/>
          </a:ln>
        </p:spPr>
        <p:style>
          <a:lnRef idx="1">
            <a:schemeClr val="accent1"/>
          </a:lnRef>
          <a:fillRef idx="0">
            <a:schemeClr val="accent1"/>
          </a:fillRef>
          <a:effectRef idx="0">
            <a:schemeClr val="accent1"/>
          </a:effectRef>
          <a:fontRef idx="minor">
            <a:schemeClr val="tx1"/>
          </a:fontRef>
        </p:style>
      </p:cxnSp>
      <p:sp>
        <p:nvSpPr>
          <p:cNvPr id="58" name="灯片编号占位符 57"/>
          <p:cNvSpPr>
            <a:spLocks noGrp="1"/>
          </p:cNvSpPr>
          <p:nvPr>
            <p:ph type="sldNum" sz="quarter" idx="12"/>
          </p:nvPr>
        </p:nvSpPr>
        <p:spPr/>
        <p:txBody>
          <a:bodyPr/>
          <a:lstStyle/>
          <a:p>
            <a:pPr>
              <a:defRPr/>
            </a:pPr>
            <a:fld id="{51116183-1013-4E64-BBE8-A5C1D5D4F838}" type="slidenum">
              <a:rPr lang="en-US" altLang="zh-CN" smtClean="0"/>
              <a:pPr>
                <a:defRPr/>
              </a:pPr>
              <a:t>112</a:t>
            </a:fld>
            <a:r>
              <a:rPr lang="en-US" altLang="zh-CN"/>
              <a:t>/167</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214282" y="404813"/>
            <a:ext cx="8675687" cy="1444975"/>
          </a:xfrm>
          <a:prstGeom prst="rect">
            <a:avLst/>
          </a:prstGeom>
          <a:solidFill>
            <a:schemeClr val="bg1"/>
          </a:solidFill>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tIns="144000" bIns="144000">
            <a:spAutoFit/>
          </a:bodyPr>
          <a:lstStyle/>
          <a:p>
            <a:pPr defTabSz="360000">
              <a:lnSpc>
                <a:spcPts val="3000"/>
              </a:lnSpc>
              <a:spcBef>
                <a:spcPts val="0"/>
              </a:spcBef>
            </a:pPr>
            <a:r>
              <a:rPr lang="zh-CN" altLang="en-US" sz="2200">
                <a:solidFill>
                  <a:srgbClr val="0000FF"/>
                </a:solidFill>
                <a:latin typeface="Consolas" pitchFamily="49" charset="0"/>
                <a:ea typeface="仿宋" pitchFamily="49" charset="-122"/>
                <a:cs typeface="Consolas" pitchFamily="49" charset="0"/>
              </a:rPr>
              <a:t>   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。剩余点：</a:t>
            </a:r>
            <a:r>
              <a:rPr lang="en-US" altLang="zh-CN" sz="2200" i="1">
                <a:solidFill>
                  <a:srgbClr val="0000FF"/>
                </a:solidFill>
                <a:latin typeface="Consolas" pitchFamily="49" charset="0"/>
                <a:ea typeface="仿宋" pitchFamily="49" charset="-122"/>
                <a:cs typeface="Consolas" pitchFamily="49" charset="0"/>
              </a:rPr>
              <a:t> a</a:t>
            </a:r>
            <a:r>
              <a:rPr lang="en-US" altLang="zh-CN"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宋体" pitchFamily="2" charset="-122"/>
                <a:ea typeface="宋体" pitchFamily="2"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 </a:t>
            </a:r>
            <a:endParaRPr lang="en-US" altLang="zh-CN" sz="2200">
              <a:solidFill>
                <a:srgbClr val="0000FF"/>
              </a:solidFill>
              <a:latin typeface="Consolas" pitchFamily="49" charset="0"/>
              <a:ea typeface="仿宋" pitchFamily="49" charset="-122"/>
              <a:cs typeface="Consolas" pitchFamily="49" charset="0"/>
            </a:endParaRPr>
          </a:p>
          <a:p>
            <a:pPr defTabSz="360000">
              <a:lnSpc>
                <a:spcPts val="3000"/>
              </a:lnSpc>
              <a:spcBef>
                <a:spcPts val="0"/>
              </a:spcBef>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zh-CN" altLang="en-US" sz="2200">
                <a:solidFill>
                  <a:srgbClr val="FF0000"/>
                </a:solidFill>
                <a:latin typeface="Consolas" pitchFamily="49" charset="0"/>
                <a:ea typeface="仿宋" pitchFamily="49" charset="-122"/>
                <a:cs typeface="Consolas" pitchFamily="49" charset="0"/>
              </a:rPr>
              <a:t>处理点</a:t>
            </a:r>
            <a:r>
              <a:rPr lang="en-US" altLang="zh-CN" sz="2200" i="1">
                <a:solidFill>
                  <a:srgbClr val="FF0000"/>
                </a:solidFill>
                <a:latin typeface="Consolas" pitchFamily="49" charset="0"/>
                <a:ea typeface="仿宋" pitchFamily="49" charset="-122"/>
                <a:cs typeface="Consolas" pitchFamily="49" charset="0"/>
              </a:rPr>
              <a:t>a</a:t>
            </a:r>
            <a:r>
              <a:rPr lang="en-US" altLang="zh-CN" sz="2200" baseline="-25000">
                <a:solidFill>
                  <a:srgbClr val="FF0000"/>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：不存在右拐关系，</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进栈。栈中元素从栈底到栈顶为：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p>
        </p:txBody>
      </p:sp>
      <p:graphicFrame>
        <p:nvGraphicFramePr>
          <p:cNvPr id="5" name="表格 4"/>
          <p:cNvGraphicFramePr>
            <a:graphicFrameLocks noGrp="1"/>
          </p:cNvGraphicFramePr>
          <p:nvPr/>
        </p:nvGraphicFramePr>
        <p:xfrm>
          <a:off x="2071670" y="2163753"/>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5"/>
          <p:cNvGrpSpPr/>
          <p:nvPr/>
        </p:nvGrpSpPr>
        <p:grpSpPr>
          <a:xfrm>
            <a:off x="1643042" y="2071678"/>
            <a:ext cx="3643338" cy="3733982"/>
            <a:chOff x="3357554" y="1408099"/>
            <a:chExt cx="3643338" cy="3733982"/>
          </a:xfrm>
        </p:grpSpPr>
        <p:sp>
          <p:nvSpPr>
            <p:cNvPr id="7" name="TextBox 6"/>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29" name="椭圆 28"/>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0" name="TextBox 29"/>
            <p:cNvSpPr txBox="1"/>
            <p:nvPr/>
          </p:nvSpPr>
          <p:spPr>
            <a:xfrm>
              <a:off x="4357686"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1" name="椭圆 30"/>
            <p:cNvSpPr/>
            <p:nvPr/>
          </p:nvSpPr>
          <p:spPr>
            <a:xfrm>
              <a:off x="4046534" y="2927810"/>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TextBox 31"/>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3" name="椭圆 32"/>
            <p:cNvSpPr/>
            <p:nvPr/>
          </p:nvSpPr>
          <p:spPr>
            <a:xfrm>
              <a:off x="6162636" y="445453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TextBox 33"/>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5" name="椭圆 34"/>
            <p:cNvSpPr/>
            <p:nvPr/>
          </p:nvSpPr>
          <p:spPr>
            <a:xfrm>
              <a:off x="6473788" y="265475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TextBox 35"/>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7" name="椭圆 36"/>
            <p:cNvSpPr/>
            <p:nvPr/>
          </p:nvSpPr>
          <p:spPr>
            <a:xfrm>
              <a:off x="4948190" y="172718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TextBox 37"/>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39" name="椭圆 38"/>
            <p:cNvSpPr/>
            <p:nvPr/>
          </p:nvSpPr>
          <p:spPr>
            <a:xfrm>
              <a:off x="4643438" y="2647944"/>
              <a:ext cx="108000" cy="144000"/>
            </a:xfrm>
            <a:prstGeom prst="ellipse">
              <a:avLst/>
            </a:prstGeom>
            <a:solidFill>
              <a:srgbClr val="006600"/>
            </a:solidFill>
            <a:ln>
              <a:solidFill>
                <a:srgbClr val="0066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TextBox 39"/>
            <p:cNvSpPr txBox="1"/>
            <p:nvPr/>
          </p:nvSpPr>
          <p:spPr>
            <a:xfrm>
              <a:off x="4429124" y="2355999"/>
              <a:ext cx="322266"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1</a:t>
              </a:r>
              <a:endParaRPr lang="zh-CN" altLang="en-US" sz="1800" baseline="-25000">
                <a:solidFill>
                  <a:srgbClr val="FF0000"/>
                </a:solidFill>
                <a:latin typeface="Consolas" pitchFamily="49" charset="0"/>
                <a:cs typeface="Consolas" pitchFamily="49" charset="0"/>
              </a:endParaRPr>
            </a:p>
          </p:txBody>
        </p:sp>
        <p:sp>
          <p:nvSpPr>
            <p:cNvPr id="41" name="椭圆 40"/>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TextBox 41"/>
            <p:cNvSpPr txBox="1"/>
            <p:nvPr/>
          </p:nvSpPr>
          <p:spPr>
            <a:xfrm>
              <a:off x="4429124" y="3284693"/>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3" name="椭圆 42"/>
            <p:cNvSpPr/>
            <p:nvPr/>
          </p:nvSpPr>
          <p:spPr>
            <a:xfrm>
              <a:off x="5248280" y="2946396"/>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4" name="TextBox 43"/>
            <p:cNvSpPr txBox="1"/>
            <p:nvPr/>
          </p:nvSpPr>
          <p:spPr>
            <a:xfrm>
              <a:off x="5392742" y="284561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5" name="椭圆 44"/>
            <p:cNvSpPr/>
            <p:nvPr/>
          </p:nvSpPr>
          <p:spPr>
            <a:xfrm>
              <a:off x="5272042" y="3521076"/>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6" name="TextBox 45"/>
            <p:cNvSpPr txBox="1"/>
            <p:nvPr/>
          </p:nvSpPr>
          <p:spPr>
            <a:xfrm>
              <a:off x="5214942" y="370286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7" name="椭圆 46"/>
            <p:cNvSpPr/>
            <p:nvPr/>
          </p:nvSpPr>
          <p:spPr>
            <a:xfrm>
              <a:off x="5553032" y="3857628"/>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8" name="TextBox 47"/>
            <p:cNvSpPr txBox="1"/>
            <p:nvPr/>
          </p:nvSpPr>
          <p:spPr>
            <a:xfrm>
              <a:off x="5678494" y="3622677"/>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grpSp>
        <p:nvGrpSpPr>
          <p:cNvPr id="3" name="组合 48"/>
          <p:cNvGrpSpPr/>
          <p:nvPr/>
        </p:nvGrpSpPr>
        <p:grpSpPr>
          <a:xfrm>
            <a:off x="2391957" y="2534767"/>
            <a:ext cx="876535" cy="2890184"/>
            <a:chOff x="3392089" y="3158503"/>
            <a:chExt cx="876535" cy="2890184"/>
          </a:xfrm>
        </p:grpSpPr>
        <p:cxnSp>
          <p:nvCxnSpPr>
            <p:cNvPr id="50" name="直接连接符 49"/>
            <p:cNvCxnSpPr/>
            <p:nvPr/>
          </p:nvCxnSpPr>
          <p:spPr>
            <a:xfrm rot="16200000" flipV="1">
              <a:off x="2795420" y="4934706"/>
              <a:ext cx="1710650" cy="51731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16200000" flipV="1">
              <a:off x="2983575" y="5046493"/>
              <a:ext cx="1969428" cy="34960"/>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rot="5400000" flipH="1" flipV="1">
              <a:off x="2688636" y="4468699"/>
              <a:ext cx="2890184" cy="26979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grpSp>
      <p:sp>
        <p:nvSpPr>
          <p:cNvPr id="54" name="TextBox 53"/>
          <p:cNvSpPr txBox="1"/>
          <p:nvPr/>
        </p:nvSpPr>
        <p:spPr>
          <a:xfrm>
            <a:off x="5500694" y="3286124"/>
            <a:ext cx="3000396" cy="1477328"/>
          </a:xfrm>
          <a:prstGeom prst="rect">
            <a:avLst/>
          </a:prstGeom>
          <a:noFill/>
        </p:spPr>
        <p:txBody>
          <a:bodyPr wrap="square" rtlCol="0">
            <a:spAutoFit/>
          </a:bodyPr>
          <a:lstStyle/>
          <a:p>
            <a:pPr>
              <a:lnSpc>
                <a:spcPct val="150000"/>
              </a:lnSpc>
            </a:pPr>
            <a:r>
              <a:rPr lang="zh-CN" altLang="en-US" sz="2000">
                <a:solidFill>
                  <a:srgbClr val="FF0000"/>
                </a:solidFill>
                <a:latin typeface="Consolas" pitchFamily="49" charset="0"/>
                <a:ea typeface="仿宋" pitchFamily="49" charset="-122"/>
                <a:cs typeface="Consolas" pitchFamily="49" charset="0"/>
              </a:rPr>
              <a:t>处理点</a:t>
            </a:r>
            <a:r>
              <a:rPr lang="en-US" sz="2000" i="1">
                <a:solidFill>
                  <a:srgbClr val="FF0000"/>
                </a:solidFill>
                <a:latin typeface="Consolas" pitchFamily="49" charset="0"/>
                <a:ea typeface="仿宋" pitchFamily="49" charset="-122"/>
                <a:cs typeface="Consolas" pitchFamily="49" charset="0"/>
              </a:rPr>
              <a:t>a</a:t>
            </a:r>
            <a:r>
              <a:rPr lang="en-US" sz="2000" baseline="-25000">
                <a:solidFill>
                  <a:srgbClr val="FF0000"/>
                </a:solidFill>
                <a:latin typeface="Consolas" pitchFamily="49" charset="0"/>
                <a:ea typeface="仿宋" pitchFamily="49" charset="-122"/>
                <a:cs typeface="Consolas" pitchFamily="49" charset="0"/>
              </a:rPr>
              <a:t>1</a:t>
            </a:r>
          </a:p>
          <a:p>
            <a:pPr>
              <a:lnSpc>
                <a:spcPct val="150000"/>
              </a:lnSpc>
            </a:pPr>
            <a:r>
              <a:rPr lang="en-US" altLang="zh-CN" sz="2000">
                <a:solidFill>
                  <a:srgbClr val="0000FF"/>
                </a:solidFill>
                <a:latin typeface="Consolas" pitchFamily="49" charset="0"/>
                <a:ea typeface="仿宋" pitchFamily="49" charset="-122"/>
                <a:cs typeface="Consolas" pitchFamily="49" charset="0"/>
              </a:rPr>
              <a:t>Dir(</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0</a:t>
            </a:r>
            <a:r>
              <a:rPr lang="en-US" altLang="zh-CN" sz="2000">
                <a:solidFill>
                  <a:srgbClr val="0000FF"/>
                </a:solidFill>
                <a:latin typeface="Consolas" pitchFamily="49" charset="0"/>
                <a:ea typeface="仿宋" pitchFamily="49" charset="-122"/>
                <a:cs typeface="Consolas" pitchFamily="49" charset="0"/>
              </a:rPr>
              <a:t>)&lt;0 </a:t>
            </a:r>
            <a:r>
              <a:rPr lang="en-US" altLang="zh-CN" sz="2000">
                <a:solidFill>
                  <a:srgbClr val="FF00FF"/>
                </a:solidFill>
                <a:latin typeface="Consolas" pitchFamily="49" charset="0"/>
                <a:ea typeface="仿宋" pitchFamily="49" charset="-122"/>
                <a:cs typeface="Consolas" pitchFamily="49" charset="0"/>
                <a:sym typeface="Wingdings"/>
              </a:rPr>
              <a:t> </a:t>
            </a:r>
            <a:r>
              <a:rPr lang="en-US" altLang="zh-CN" sz="2000" i="1">
                <a:solidFill>
                  <a:srgbClr val="0000FF"/>
                </a:solidFill>
                <a:latin typeface="Consolas" pitchFamily="49" charset="0"/>
                <a:ea typeface="仿宋" pitchFamily="49" charset="-122"/>
                <a:cs typeface="Consolas" pitchFamily="49" charset="0"/>
                <a:sym typeface="Wingdings"/>
              </a:rPr>
              <a:t>a</a:t>
            </a:r>
            <a:r>
              <a:rPr lang="en-US" altLang="zh-CN" sz="2000" baseline="-25000">
                <a:solidFill>
                  <a:srgbClr val="0000FF"/>
                </a:solidFill>
                <a:latin typeface="Consolas" pitchFamily="49" charset="0"/>
                <a:ea typeface="仿宋" pitchFamily="49" charset="-122"/>
                <a:cs typeface="Consolas" pitchFamily="49" charset="0"/>
                <a:sym typeface="Wingdings"/>
              </a:rPr>
              <a:t>0</a:t>
            </a:r>
            <a:r>
              <a:rPr lang="zh-CN" altLang="en-US" sz="2000">
                <a:solidFill>
                  <a:srgbClr val="0000FF"/>
                </a:solidFill>
                <a:latin typeface="Consolas" pitchFamily="49" charset="0"/>
                <a:ea typeface="仿宋" pitchFamily="49" charset="-122"/>
                <a:cs typeface="Consolas" pitchFamily="49" charset="0"/>
              </a:rPr>
              <a:t>没有右拐，进栈</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1</a:t>
            </a:r>
            <a:endParaRPr lang="zh-CN" altLang="en-US" sz="2000" baseline="-25000">
              <a:solidFill>
                <a:srgbClr val="0000FF"/>
              </a:solidFill>
              <a:latin typeface="Consolas" pitchFamily="49" charset="0"/>
              <a:ea typeface="仿宋" pitchFamily="49" charset="-122"/>
              <a:cs typeface="Consolas" pitchFamily="49" charset="0"/>
            </a:endParaRPr>
          </a:p>
        </p:txBody>
      </p:sp>
      <p:cxnSp>
        <p:nvCxnSpPr>
          <p:cNvPr id="59" name="直接连接符 58"/>
          <p:cNvCxnSpPr>
            <a:stCxn id="35" idx="1"/>
            <a:endCxn id="37" idx="5"/>
          </p:cNvCxnSpPr>
          <p:nvPr/>
        </p:nvCxnSpPr>
        <p:spPr>
          <a:xfrm rot="16200000" flipV="1">
            <a:off x="3637604" y="2201937"/>
            <a:ext cx="825746" cy="1449230"/>
          </a:xfrm>
          <a:prstGeom prst="line">
            <a:avLst/>
          </a:prstGeom>
          <a:ln w="28575">
            <a:solidFill>
              <a:srgbClr val="FF00FF"/>
            </a:solidFill>
            <a:prstDash val="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37" idx="3"/>
            <a:endCxn id="39" idx="0"/>
          </p:cNvCxnSpPr>
          <p:nvPr/>
        </p:nvCxnSpPr>
        <p:spPr>
          <a:xfrm rot="5400000">
            <a:off x="2717288" y="2779317"/>
            <a:ext cx="797844" cy="266568"/>
          </a:xfrm>
          <a:prstGeom prst="line">
            <a:avLst/>
          </a:prstGeom>
          <a:ln w="28575">
            <a:solidFill>
              <a:srgbClr val="FF00FF"/>
            </a:solidFill>
            <a:prstDash val="dash"/>
            <a:headEnd type="arrow"/>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39" idx="7"/>
          </p:cNvCxnSpPr>
          <p:nvPr/>
        </p:nvCxnSpPr>
        <p:spPr>
          <a:xfrm rot="16200000" flipH="1">
            <a:off x="3819798" y="2533922"/>
            <a:ext cx="96389" cy="1693766"/>
          </a:xfrm>
          <a:prstGeom prst="line">
            <a:avLst/>
          </a:prstGeom>
          <a:ln w="28575">
            <a:solidFill>
              <a:srgbClr val="FF00FF"/>
            </a:solidFill>
            <a:prstDash val="dash"/>
            <a:headEnd type="arrow"/>
            <a:tailEnd type="none"/>
          </a:ln>
        </p:spPr>
        <p:style>
          <a:lnRef idx="1">
            <a:schemeClr val="accent1"/>
          </a:lnRef>
          <a:fillRef idx="0">
            <a:schemeClr val="accent1"/>
          </a:fillRef>
          <a:effectRef idx="0">
            <a:schemeClr val="accent1"/>
          </a:effectRef>
          <a:fontRef idx="minor">
            <a:schemeClr val="tx1"/>
          </a:fontRef>
        </p:style>
      </p:cxnSp>
      <p:sp>
        <p:nvSpPr>
          <p:cNvPr id="57" name="灯片编号占位符 56"/>
          <p:cNvSpPr>
            <a:spLocks noGrp="1"/>
          </p:cNvSpPr>
          <p:nvPr>
            <p:ph type="sldNum" sz="quarter" idx="12"/>
          </p:nvPr>
        </p:nvSpPr>
        <p:spPr/>
        <p:txBody>
          <a:bodyPr/>
          <a:lstStyle/>
          <a:p>
            <a:pPr>
              <a:defRPr/>
            </a:pPr>
            <a:fld id="{51116183-1013-4E64-BBE8-A5C1D5D4F838}" type="slidenum">
              <a:rPr lang="en-US" altLang="zh-CN" smtClean="0"/>
              <a:pPr>
                <a:defRPr/>
              </a:pPr>
              <a:t>113</a:t>
            </a:fld>
            <a:r>
              <a:rPr lang="en-US" altLang="zh-CN"/>
              <a:t>/167</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142844" y="404813"/>
            <a:ext cx="8858312" cy="1481326"/>
          </a:xfrm>
          <a:prstGeom prst="rect">
            <a:avLst/>
          </a:prstGeom>
          <a:solidFill>
            <a:schemeClr val="bg1"/>
          </a:solidFill>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tIns="144000" bIns="180000">
            <a:spAutoFit/>
          </a:bodyPr>
          <a:lstStyle/>
          <a:p>
            <a:pPr>
              <a:lnSpc>
                <a:spcPts val="3000"/>
              </a:lnSpc>
              <a:spcBef>
                <a:spcPts val="0"/>
              </a:spcBef>
            </a:pPr>
            <a:r>
              <a:rPr lang="zh-CN" altLang="en-US" sz="2200">
                <a:solidFill>
                  <a:srgbClr val="0000FF"/>
                </a:solidFill>
                <a:latin typeface="Consolas" pitchFamily="49" charset="0"/>
                <a:ea typeface="仿宋" pitchFamily="49" charset="-122"/>
                <a:cs typeface="Consolas" pitchFamily="49" charset="0"/>
              </a:rPr>
              <a:t>   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。剩余点：</a:t>
            </a:r>
            <a:r>
              <a:rPr lang="en-US" altLang="zh-CN" sz="2200" i="1">
                <a:solidFill>
                  <a:srgbClr val="0000FF"/>
                </a:solidFill>
                <a:latin typeface="Consolas" pitchFamily="49" charset="0"/>
                <a:ea typeface="仿宋" pitchFamily="49" charset="-122"/>
                <a:cs typeface="Consolas" pitchFamily="49" charset="0"/>
              </a:rPr>
              <a:t> a</a:t>
            </a:r>
            <a:r>
              <a:rPr lang="en-US" altLang="zh-CN" sz="2200" baseline="-250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宋体" pitchFamily="2" charset="-122"/>
                <a:ea typeface="宋体" pitchFamily="2"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 </a:t>
            </a:r>
            <a:endParaRPr lang="en-US" altLang="zh-CN" sz="2200">
              <a:solidFill>
                <a:srgbClr val="0000FF"/>
              </a:solidFill>
              <a:latin typeface="Consolas" pitchFamily="49" charset="0"/>
              <a:ea typeface="仿宋" pitchFamily="49" charset="-122"/>
              <a:cs typeface="Consolas" pitchFamily="49" charset="0"/>
            </a:endParaRPr>
          </a:p>
          <a:p>
            <a:pPr>
              <a:lnSpc>
                <a:spcPts val="3000"/>
              </a:lnSpc>
              <a:spcBef>
                <a:spcPts val="0"/>
              </a:spcBef>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a:t>
            </a:r>
            <a:r>
              <a:rPr lang="zh-CN" altLang="en-US" sz="2200">
                <a:solidFill>
                  <a:srgbClr val="FF0000"/>
                </a:solidFill>
                <a:latin typeface="Consolas" pitchFamily="49" charset="0"/>
                <a:ea typeface="仿宋" pitchFamily="49" charset="-122"/>
                <a:cs typeface="Consolas" pitchFamily="49" charset="0"/>
              </a:rPr>
              <a:t>处理点</a:t>
            </a:r>
            <a:r>
              <a:rPr lang="en-US" altLang="zh-CN" sz="2200" i="1">
                <a:solidFill>
                  <a:srgbClr val="FF0000"/>
                </a:solidFill>
                <a:latin typeface="Consolas" pitchFamily="49" charset="0"/>
                <a:ea typeface="仿宋" pitchFamily="49" charset="-122"/>
                <a:cs typeface="Consolas" pitchFamily="49" charset="0"/>
              </a:rPr>
              <a:t>a</a:t>
            </a:r>
            <a:r>
              <a:rPr lang="en-US" altLang="zh-CN" sz="2200" baseline="-25000">
                <a:solidFill>
                  <a:srgbClr val="FF0000"/>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：不存在右拐关系，如图所示，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进栈。栈中元素从栈底到栈顶为：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p>
        </p:txBody>
      </p:sp>
      <p:graphicFrame>
        <p:nvGraphicFramePr>
          <p:cNvPr id="5" name="表格 4"/>
          <p:cNvGraphicFramePr>
            <a:graphicFrameLocks noGrp="1"/>
          </p:cNvGraphicFramePr>
          <p:nvPr/>
        </p:nvGraphicFramePr>
        <p:xfrm>
          <a:off x="2071670" y="2163753"/>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5"/>
          <p:cNvGrpSpPr/>
          <p:nvPr/>
        </p:nvGrpSpPr>
        <p:grpSpPr>
          <a:xfrm>
            <a:off x="1643042" y="2071678"/>
            <a:ext cx="3643338" cy="3733982"/>
            <a:chOff x="3357554" y="1408099"/>
            <a:chExt cx="3643338" cy="3733982"/>
          </a:xfrm>
        </p:grpSpPr>
        <p:sp>
          <p:nvSpPr>
            <p:cNvPr id="7" name="TextBox 6"/>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29" name="椭圆 28"/>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0" name="TextBox 29"/>
            <p:cNvSpPr txBox="1"/>
            <p:nvPr/>
          </p:nvSpPr>
          <p:spPr>
            <a:xfrm>
              <a:off x="4357686"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1" name="椭圆 30"/>
            <p:cNvSpPr/>
            <p:nvPr/>
          </p:nvSpPr>
          <p:spPr>
            <a:xfrm>
              <a:off x="4046534" y="2927810"/>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TextBox 31"/>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3" name="椭圆 32"/>
            <p:cNvSpPr/>
            <p:nvPr/>
          </p:nvSpPr>
          <p:spPr>
            <a:xfrm>
              <a:off x="6162636" y="445453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TextBox 33"/>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5" name="椭圆 34"/>
            <p:cNvSpPr/>
            <p:nvPr/>
          </p:nvSpPr>
          <p:spPr>
            <a:xfrm>
              <a:off x="6473788" y="265475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TextBox 35"/>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7" name="椭圆 36"/>
            <p:cNvSpPr/>
            <p:nvPr/>
          </p:nvSpPr>
          <p:spPr>
            <a:xfrm>
              <a:off x="4948190" y="172718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TextBox 37"/>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39" name="椭圆 38"/>
            <p:cNvSpPr/>
            <p:nvPr/>
          </p:nvSpPr>
          <p:spPr>
            <a:xfrm>
              <a:off x="4643438" y="264794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TextBox 39"/>
            <p:cNvSpPr txBox="1"/>
            <p:nvPr/>
          </p:nvSpPr>
          <p:spPr>
            <a:xfrm>
              <a:off x="4429124" y="2355999"/>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1" name="椭圆 40"/>
            <p:cNvSpPr/>
            <p:nvPr/>
          </p:nvSpPr>
          <p:spPr>
            <a:xfrm>
              <a:off x="4643438" y="3532652"/>
              <a:ext cx="108000" cy="144000"/>
            </a:xfrm>
            <a:prstGeom prst="ellipse">
              <a:avLst/>
            </a:prstGeom>
            <a:solidFill>
              <a:srgbClr val="006600"/>
            </a:solidFill>
            <a:ln>
              <a:solidFill>
                <a:srgbClr val="0066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TextBox 41"/>
            <p:cNvSpPr txBox="1"/>
            <p:nvPr/>
          </p:nvSpPr>
          <p:spPr>
            <a:xfrm>
              <a:off x="4357686" y="3345678"/>
              <a:ext cx="214314"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3</a:t>
              </a:r>
              <a:endParaRPr lang="zh-CN" altLang="en-US" sz="1800" baseline="-25000">
                <a:solidFill>
                  <a:srgbClr val="FF0000"/>
                </a:solidFill>
                <a:latin typeface="Consolas" pitchFamily="49" charset="0"/>
                <a:cs typeface="Consolas" pitchFamily="49" charset="0"/>
              </a:endParaRPr>
            </a:p>
          </p:txBody>
        </p:sp>
        <p:sp>
          <p:nvSpPr>
            <p:cNvPr id="43" name="椭圆 42"/>
            <p:cNvSpPr/>
            <p:nvPr/>
          </p:nvSpPr>
          <p:spPr>
            <a:xfrm>
              <a:off x="5248280" y="2946396"/>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4" name="TextBox 43"/>
            <p:cNvSpPr txBox="1"/>
            <p:nvPr/>
          </p:nvSpPr>
          <p:spPr>
            <a:xfrm>
              <a:off x="5392742" y="284561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5" name="椭圆 44"/>
            <p:cNvSpPr/>
            <p:nvPr/>
          </p:nvSpPr>
          <p:spPr>
            <a:xfrm>
              <a:off x="5272042" y="3521076"/>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6" name="TextBox 45"/>
            <p:cNvSpPr txBox="1"/>
            <p:nvPr/>
          </p:nvSpPr>
          <p:spPr>
            <a:xfrm>
              <a:off x="5214942" y="370286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7" name="椭圆 46"/>
            <p:cNvSpPr/>
            <p:nvPr/>
          </p:nvSpPr>
          <p:spPr>
            <a:xfrm>
              <a:off x="5553032" y="3857628"/>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8" name="TextBox 47"/>
            <p:cNvSpPr txBox="1"/>
            <p:nvPr/>
          </p:nvSpPr>
          <p:spPr>
            <a:xfrm>
              <a:off x="5678494" y="3622677"/>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grpSp>
        <p:nvGrpSpPr>
          <p:cNvPr id="3" name="组合 48"/>
          <p:cNvGrpSpPr/>
          <p:nvPr/>
        </p:nvGrpSpPr>
        <p:grpSpPr>
          <a:xfrm>
            <a:off x="2391957" y="2534767"/>
            <a:ext cx="876535" cy="2890184"/>
            <a:chOff x="3392089" y="3158503"/>
            <a:chExt cx="876535" cy="2890184"/>
          </a:xfrm>
        </p:grpSpPr>
        <p:cxnSp>
          <p:nvCxnSpPr>
            <p:cNvPr id="50" name="直接连接符 49"/>
            <p:cNvCxnSpPr/>
            <p:nvPr/>
          </p:nvCxnSpPr>
          <p:spPr>
            <a:xfrm rot="16200000" flipV="1">
              <a:off x="2795420" y="4934706"/>
              <a:ext cx="1710650" cy="51731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5400000" flipH="1" flipV="1">
              <a:off x="2688636" y="4468699"/>
              <a:ext cx="2890184" cy="26979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grpSp>
      <p:sp>
        <p:nvSpPr>
          <p:cNvPr id="53" name="TextBox 52"/>
          <p:cNvSpPr txBox="1"/>
          <p:nvPr/>
        </p:nvSpPr>
        <p:spPr>
          <a:xfrm>
            <a:off x="5500694" y="3286124"/>
            <a:ext cx="3143272" cy="1477328"/>
          </a:xfrm>
          <a:prstGeom prst="rect">
            <a:avLst/>
          </a:prstGeom>
          <a:noFill/>
        </p:spPr>
        <p:txBody>
          <a:bodyPr wrap="square" rtlCol="0">
            <a:spAutoFit/>
          </a:bodyPr>
          <a:lstStyle/>
          <a:p>
            <a:pPr>
              <a:lnSpc>
                <a:spcPct val="150000"/>
              </a:lnSpc>
            </a:pPr>
            <a:r>
              <a:rPr lang="zh-CN" altLang="en-US" sz="2000">
                <a:solidFill>
                  <a:srgbClr val="FF0000"/>
                </a:solidFill>
                <a:latin typeface="Consolas" pitchFamily="49" charset="0"/>
                <a:ea typeface="仿宋" pitchFamily="49" charset="-122"/>
                <a:cs typeface="Consolas" pitchFamily="49" charset="0"/>
              </a:rPr>
              <a:t>处理点</a:t>
            </a:r>
            <a:r>
              <a:rPr lang="en-US" sz="2000" i="1">
                <a:solidFill>
                  <a:srgbClr val="FF0000"/>
                </a:solidFill>
                <a:latin typeface="Consolas" pitchFamily="49" charset="0"/>
                <a:ea typeface="仿宋" pitchFamily="49" charset="-122"/>
                <a:cs typeface="Consolas" pitchFamily="49" charset="0"/>
              </a:rPr>
              <a:t>a</a:t>
            </a:r>
            <a:r>
              <a:rPr lang="en-US" sz="2000" baseline="-25000">
                <a:solidFill>
                  <a:srgbClr val="FF0000"/>
                </a:solidFill>
                <a:latin typeface="Consolas" pitchFamily="49" charset="0"/>
                <a:ea typeface="仿宋" pitchFamily="49" charset="-122"/>
                <a:cs typeface="Consolas" pitchFamily="49" charset="0"/>
              </a:rPr>
              <a:t>3</a:t>
            </a:r>
          </a:p>
          <a:p>
            <a:pPr>
              <a:lnSpc>
                <a:spcPct val="150000"/>
              </a:lnSpc>
            </a:pPr>
            <a:r>
              <a:rPr lang="en-US" altLang="zh-CN" sz="2000">
                <a:solidFill>
                  <a:srgbClr val="0000FF"/>
                </a:solidFill>
                <a:latin typeface="Consolas" pitchFamily="49" charset="0"/>
                <a:ea typeface="仿宋" pitchFamily="49" charset="-122"/>
                <a:cs typeface="Consolas" pitchFamily="49" charset="0"/>
              </a:rPr>
              <a:t>Dir(</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0</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)&lt;0 </a:t>
            </a:r>
            <a:r>
              <a:rPr lang="en-US" altLang="zh-CN" sz="2000">
                <a:solidFill>
                  <a:srgbClr val="FF00FF"/>
                </a:solidFill>
                <a:latin typeface="Consolas" pitchFamily="49" charset="0"/>
                <a:ea typeface="仿宋" pitchFamily="49" charset="-122"/>
                <a:cs typeface="Consolas" pitchFamily="49" charset="0"/>
                <a:sym typeface="Wingdings"/>
              </a:rPr>
              <a:t> </a:t>
            </a:r>
            <a:r>
              <a:rPr lang="en-US" altLang="zh-CN" sz="2000" i="1">
                <a:solidFill>
                  <a:srgbClr val="0000FF"/>
                </a:solidFill>
                <a:latin typeface="Consolas" pitchFamily="49" charset="0"/>
                <a:ea typeface="仿宋" pitchFamily="49" charset="-122"/>
                <a:cs typeface="Consolas" pitchFamily="49" charset="0"/>
                <a:sym typeface="Wingdings"/>
              </a:rPr>
              <a:t>a</a:t>
            </a:r>
            <a:r>
              <a:rPr lang="en-US" altLang="zh-CN" sz="2000" baseline="-25000">
                <a:solidFill>
                  <a:srgbClr val="0000FF"/>
                </a:solidFill>
                <a:latin typeface="Consolas" pitchFamily="49" charset="0"/>
                <a:ea typeface="仿宋" pitchFamily="49" charset="-122"/>
                <a:cs typeface="Consolas" pitchFamily="49" charset="0"/>
                <a:sym typeface="Wingdings"/>
              </a:rPr>
              <a:t>1</a:t>
            </a:r>
            <a:r>
              <a:rPr lang="zh-CN" altLang="en-US" sz="2000">
                <a:solidFill>
                  <a:srgbClr val="0000FF"/>
                </a:solidFill>
                <a:latin typeface="Consolas" pitchFamily="49" charset="0"/>
                <a:ea typeface="仿宋" pitchFamily="49" charset="-122"/>
                <a:cs typeface="Consolas" pitchFamily="49" charset="0"/>
              </a:rPr>
              <a:t>没有右拐，进栈</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3</a:t>
            </a:r>
            <a:endParaRPr lang="zh-CN" altLang="en-US" sz="2000" baseline="-25000">
              <a:solidFill>
                <a:srgbClr val="0000FF"/>
              </a:solidFill>
              <a:latin typeface="Consolas" pitchFamily="49" charset="0"/>
              <a:ea typeface="仿宋" pitchFamily="49" charset="-122"/>
              <a:cs typeface="Consolas" pitchFamily="49" charset="0"/>
            </a:endParaRPr>
          </a:p>
        </p:txBody>
      </p:sp>
      <p:cxnSp>
        <p:nvCxnSpPr>
          <p:cNvPr id="58" name="直接连接符 57"/>
          <p:cNvCxnSpPr/>
          <p:nvPr/>
        </p:nvCxnSpPr>
        <p:spPr>
          <a:xfrm rot="5400000">
            <a:off x="2590479" y="3812814"/>
            <a:ext cx="782884" cy="1588"/>
          </a:xfrm>
          <a:prstGeom prst="line">
            <a:avLst/>
          </a:prstGeom>
          <a:ln w="28575">
            <a:solidFill>
              <a:srgbClr val="FF00FF"/>
            </a:solidFill>
            <a:prstDash val="dash"/>
            <a:head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37" idx="4"/>
          </p:cNvCxnSpPr>
          <p:nvPr/>
        </p:nvCxnSpPr>
        <p:spPr>
          <a:xfrm rot="5400000">
            <a:off x="2339715" y="3195416"/>
            <a:ext cx="1608613" cy="287314"/>
          </a:xfrm>
          <a:prstGeom prst="straightConnector1">
            <a:avLst/>
          </a:pr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rot="5400000" flipH="1" flipV="1">
            <a:off x="2750331" y="2821777"/>
            <a:ext cx="714380" cy="214314"/>
          </a:xfrm>
          <a:prstGeom prst="straightConnector1">
            <a:avLst/>
          </a:pr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6" name="灯片编号占位符 55"/>
          <p:cNvSpPr>
            <a:spLocks noGrp="1"/>
          </p:cNvSpPr>
          <p:nvPr>
            <p:ph type="sldNum" sz="quarter" idx="12"/>
          </p:nvPr>
        </p:nvSpPr>
        <p:spPr/>
        <p:txBody>
          <a:bodyPr/>
          <a:lstStyle/>
          <a:p>
            <a:pPr>
              <a:defRPr/>
            </a:pPr>
            <a:fld id="{51116183-1013-4E64-BBE8-A5C1D5D4F838}" type="slidenum">
              <a:rPr lang="en-US" altLang="zh-CN" smtClean="0"/>
              <a:pPr>
                <a:defRPr/>
              </a:pPr>
              <a:t>114</a:t>
            </a:fld>
            <a:r>
              <a:rPr lang="en-US" altLang="zh-CN"/>
              <a:t>/167</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36544" y="214290"/>
            <a:ext cx="8964612" cy="1444975"/>
          </a:xfrm>
          <a:prstGeom prst="rect">
            <a:avLst/>
          </a:prstGeom>
          <a:solidFill>
            <a:schemeClr val="bg1"/>
          </a:solidFill>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tIns="144000" bIns="144000">
            <a:spAutoFit/>
          </a:bodyPr>
          <a:lstStyle/>
          <a:p>
            <a:pPr>
              <a:lnSpc>
                <a:spcPts val="3000"/>
              </a:lnSpc>
            </a:pPr>
            <a:r>
              <a:rPr lang="zh-CN" altLang="en-US" sz="2200">
                <a:solidFill>
                  <a:srgbClr val="0000FF"/>
                </a:solidFill>
                <a:latin typeface="Consolas" pitchFamily="49" charset="0"/>
                <a:ea typeface="仿宋" pitchFamily="49" charset="-122"/>
                <a:cs typeface="Consolas" pitchFamily="49" charset="0"/>
              </a:rPr>
              <a:t>   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。剩余点：</a:t>
            </a:r>
            <a:r>
              <a:rPr lang="en-US" altLang="zh-CN" sz="2200" i="1">
                <a:solidFill>
                  <a:srgbClr val="0000FF"/>
                </a:solidFill>
                <a:latin typeface="Consolas" pitchFamily="49" charset="0"/>
                <a:ea typeface="仿宋" pitchFamily="49" charset="-122"/>
                <a:cs typeface="Consolas" pitchFamily="49" charset="0"/>
              </a:rPr>
              <a:t> a</a:t>
            </a:r>
            <a:r>
              <a:rPr lang="en-US" altLang="zh-CN" sz="2200" baseline="-250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 </a:t>
            </a:r>
            <a:endParaRPr lang="en-US" altLang="zh-CN" sz="2200">
              <a:solidFill>
                <a:srgbClr val="0000FF"/>
              </a:solidFill>
              <a:latin typeface="Consolas" pitchFamily="49" charset="0"/>
              <a:ea typeface="仿宋" pitchFamily="49" charset="-122"/>
              <a:cs typeface="Consolas" pitchFamily="49" charset="0"/>
            </a:endParaRPr>
          </a:p>
          <a:p>
            <a:pPr>
              <a:lnSpc>
                <a:spcPts val="3000"/>
              </a:lnSpc>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10</a:t>
            </a:r>
            <a:r>
              <a:rPr lang="zh-CN" altLang="en-US" sz="2200">
                <a:solidFill>
                  <a:srgbClr val="0000FF"/>
                </a:solidFill>
                <a:latin typeface="Consolas" pitchFamily="49" charset="0"/>
                <a:ea typeface="仿宋" pitchFamily="49" charset="-122"/>
                <a:cs typeface="Consolas" pitchFamily="49" charset="0"/>
              </a:rPr>
              <a:t>）</a:t>
            </a:r>
            <a:r>
              <a:rPr lang="zh-CN" altLang="en-US" sz="2200">
                <a:solidFill>
                  <a:srgbClr val="FF0000"/>
                </a:solidFill>
                <a:latin typeface="Consolas" pitchFamily="49" charset="0"/>
                <a:ea typeface="仿宋" pitchFamily="49" charset="-122"/>
                <a:cs typeface="Consolas" pitchFamily="49" charset="0"/>
              </a:rPr>
              <a:t>处理点</a:t>
            </a:r>
            <a:r>
              <a:rPr lang="en-US" altLang="zh-CN" sz="2200" i="1">
                <a:solidFill>
                  <a:srgbClr val="FF0000"/>
                </a:solidFill>
                <a:latin typeface="Consolas" pitchFamily="49" charset="0"/>
                <a:ea typeface="仿宋" pitchFamily="49" charset="-122"/>
                <a:cs typeface="Consolas" pitchFamily="49" charset="0"/>
              </a:rPr>
              <a:t>a</a:t>
            </a:r>
            <a:r>
              <a:rPr lang="en-US" altLang="zh-CN" sz="2200" baseline="-25000">
                <a:solidFill>
                  <a:srgbClr val="FF0000"/>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存在右拐关系，将其退栈，将</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进栈。栈中元素从栈底到栈顶为：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 </a:t>
            </a:r>
          </a:p>
        </p:txBody>
      </p:sp>
      <p:graphicFrame>
        <p:nvGraphicFramePr>
          <p:cNvPr id="5" name="表格 4"/>
          <p:cNvGraphicFramePr>
            <a:graphicFrameLocks noGrp="1"/>
          </p:cNvGraphicFramePr>
          <p:nvPr/>
        </p:nvGraphicFramePr>
        <p:xfrm>
          <a:off x="2071670" y="2163753"/>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5"/>
          <p:cNvGrpSpPr/>
          <p:nvPr/>
        </p:nvGrpSpPr>
        <p:grpSpPr>
          <a:xfrm>
            <a:off x="1643042" y="2071678"/>
            <a:ext cx="3643338" cy="3733982"/>
            <a:chOff x="3357554" y="1408099"/>
            <a:chExt cx="3643338" cy="3733982"/>
          </a:xfrm>
        </p:grpSpPr>
        <p:sp>
          <p:nvSpPr>
            <p:cNvPr id="7" name="TextBox 6"/>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29" name="椭圆 28"/>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0" name="TextBox 29"/>
            <p:cNvSpPr txBox="1"/>
            <p:nvPr/>
          </p:nvSpPr>
          <p:spPr>
            <a:xfrm>
              <a:off x="4357686"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1" name="椭圆 30"/>
            <p:cNvSpPr/>
            <p:nvPr/>
          </p:nvSpPr>
          <p:spPr>
            <a:xfrm>
              <a:off x="4046534" y="2927810"/>
              <a:ext cx="108000" cy="144000"/>
            </a:xfrm>
            <a:prstGeom prst="ellipse">
              <a:avLst/>
            </a:prstGeom>
            <a:solidFill>
              <a:srgbClr val="006600"/>
            </a:solidFill>
            <a:ln>
              <a:solidFill>
                <a:srgbClr val="0066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TextBox 31"/>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3" name="椭圆 32"/>
            <p:cNvSpPr/>
            <p:nvPr/>
          </p:nvSpPr>
          <p:spPr>
            <a:xfrm>
              <a:off x="6162636" y="445453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TextBox 33"/>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5" name="椭圆 34"/>
            <p:cNvSpPr/>
            <p:nvPr/>
          </p:nvSpPr>
          <p:spPr>
            <a:xfrm>
              <a:off x="6473788" y="265475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TextBox 35"/>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7" name="椭圆 36"/>
            <p:cNvSpPr/>
            <p:nvPr/>
          </p:nvSpPr>
          <p:spPr>
            <a:xfrm>
              <a:off x="4948190" y="172718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TextBox 37"/>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39" name="椭圆 38"/>
            <p:cNvSpPr/>
            <p:nvPr/>
          </p:nvSpPr>
          <p:spPr>
            <a:xfrm>
              <a:off x="4643438" y="264794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TextBox 39"/>
            <p:cNvSpPr txBox="1"/>
            <p:nvPr/>
          </p:nvSpPr>
          <p:spPr>
            <a:xfrm>
              <a:off x="4429124" y="2355999"/>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1" name="椭圆 40"/>
            <p:cNvSpPr/>
            <p:nvPr/>
          </p:nvSpPr>
          <p:spPr>
            <a:xfrm>
              <a:off x="4643438" y="3532652"/>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TextBox 41"/>
            <p:cNvSpPr txBox="1"/>
            <p:nvPr/>
          </p:nvSpPr>
          <p:spPr>
            <a:xfrm>
              <a:off x="4357686" y="3488554"/>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3" name="椭圆 42"/>
            <p:cNvSpPr/>
            <p:nvPr/>
          </p:nvSpPr>
          <p:spPr>
            <a:xfrm>
              <a:off x="5248280" y="2946396"/>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4" name="TextBox 43"/>
            <p:cNvSpPr txBox="1"/>
            <p:nvPr/>
          </p:nvSpPr>
          <p:spPr>
            <a:xfrm>
              <a:off x="5392742" y="284561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5" name="椭圆 44"/>
            <p:cNvSpPr/>
            <p:nvPr/>
          </p:nvSpPr>
          <p:spPr>
            <a:xfrm>
              <a:off x="5272042" y="3521076"/>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6" name="TextBox 45"/>
            <p:cNvSpPr txBox="1"/>
            <p:nvPr/>
          </p:nvSpPr>
          <p:spPr>
            <a:xfrm>
              <a:off x="5214942" y="370286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7" name="椭圆 46"/>
            <p:cNvSpPr/>
            <p:nvPr/>
          </p:nvSpPr>
          <p:spPr>
            <a:xfrm>
              <a:off x="5553032" y="3857628"/>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8" name="TextBox 47"/>
            <p:cNvSpPr txBox="1"/>
            <p:nvPr/>
          </p:nvSpPr>
          <p:spPr>
            <a:xfrm>
              <a:off x="5678494" y="3622677"/>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grpSp>
        <p:nvGrpSpPr>
          <p:cNvPr id="3" name="组合 48"/>
          <p:cNvGrpSpPr/>
          <p:nvPr/>
        </p:nvGrpSpPr>
        <p:grpSpPr>
          <a:xfrm>
            <a:off x="2391957" y="2534767"/>
            <a:ext cx="876535" cy="2890184"/>
            <a:chOff x="3392089" y="3158503"/>
            <a:chExt cx="876535" cy="2890184"/>
          </a:xfrm>
        </p:grpSpPr>
        <p:cxnSp>
          <p:nvCxnSpPr>
            <p:cNvPr id="50" name="直接连接符 49"/>
            <p:cNvCxnSpPr/>
            <p:nvPr/>
          </p:nvCxnSpPr>
          <p:spPr>
            <a:xfrm rot="16200000" flipV="1">
              <a:off x="2795420" y="4934706"/>
              <a:ext cx="1710650" cy="51731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5400000" flipH="1" flipV="1">
              <a:off x="2688636" y="4468699"/>
              <a:ext cx="2890184" cy="269792"/>
            </a:xfrm>
            <a:prstGeom prst="line">
              <a:avLst/>
            </a:prstGeom>
            <a:ln w="28575">
              <a:solidFill>
                <a:srgbClr val="33CC33"/>
              </a:solidFill>
              <a:prstDash val="dash"/>
            </a:ln>
          </p:spPr>
          <p:style>
            <a:lnRef idx="1">
              <a:schemeClr val="accent1"/>
            </a:lnRef>
            <a:fillRef idx="0">
              <a:schemeClr val="accent1"/>
            </a:fillRef>
            <a:effectRef idx="0">
              <a:schemeClr val="accent1"/>
            </a:effectRef>
            <a:fontRef idx="minor">
              <a:schemeClr val="tx1"/>
            </a:fontRef>
          </p:style>
        </p:cxnSp>
      </p:grpSp>
      <p:sp>
        <p:nvSpPr>
          <p:cNvPr id="52" name="TextBox 51"/>
          <p:cNvSpPr txBox="1"/>
          <p:nvPr/>
        </p:nvSpPr>
        <p:spPr>
          <a:xfrm>
            <a:off x="5500694" y="3286124"/>
            <a:ext cx="3286148" cy="1477328"/>
          </a:xfrm>
          <a:prstGeom prst="rect">
            <a:avLst/>
          </a:prstGeom>
          <a:noFill/>
        </p:spPr>
        <p:txBody>
          <a:bodyPr wrap="square" rtlCol="0">
            <a:spAutoFit/>
          </a:bodyPr>
          <a:lstStyle/>
          <a:p>
            <a:pPr>
              <a:lnSpc>
                <a:spcPct val="150000"/>
              </a:lnSpc>
            </a:pPr>
            <a:r>
              <a:rPr lang="zh-CN" altLang="en-US" sz="2000">
                <a:solidFill>
                  <a:srgbClr val="FF0000"/>
                </a:solidFill>
                <a:latin typeface="Consolas" pitchFamily="49" charset="0"/>
                <a:ea typeface="仿宋" pitchFamily="49" charset="-122"/>
                <a:cs typeface="Consolas" pitchFamily="49" charset="0"/>
              </a:rPr>
              <a:t>处理点</a:t>
            </a:r>
            <a:r>
              <a:rPr lang="en-US" sz="2000" i="1">
                <a:solidFill>
                  <a:srgbClr val="FF0000"/>
                </a:solidFill>
                <a:latin typeface="Consolas" pitchFamily="49" charset="0"/>
                <a:ea typeface="仿宋" pitchFamily="49" charset="-122"/>
                <a:cs typeface="Consolas" pitchFamily="49" charset="0"/>
              </a:rPr>
              <a:t>a</a:t>
            </a:r>
            <a:r>
              <a:rPr lang="en-US" sz="2000" baseline="-25000">
                <a:solidFill>
                  <a:srgbClr val="FF0000"/>
                </a:solidFill>
                <a:latin typeface="Consolas" pitchFamily="49" charset="0"/>
                <a:ea typeface="仿宋" pitchFamily="49" charset="-122"/>
                <a:cs typeface="Consolas" pitchFamily="49" charset="0"/>
              </a:rPr>
              <a:t>9</a:t>
            </a:r>
          </a:p>
          <a:p>
            <a:pPr>
              <a:lnSpc>
                <a:spcPct val="150000"/>
              </a:lnSpc>
            </a:pPr>
            <a:r>
              <a:rPr lang="en-US" altLang="zh-CN" sz="2000">
                <a:solidFill>
                  <a:srgbClr val="0000FF"/>
                </a:solidFill>
                <a:latin typeface="Consolas" pitchFamily="49" charset="0"/>
                <a:ea typeface="仿宋" pitchFamily="49" charset="-122"/>
                <a:cs typeface="Consolas" pitchFamily="49" charset="0"/>
              </a:rPr>
              <a:t>Dir(</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9</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Consolas" pitchFamily="49" charset="0"/>
                <a:ea typeface="仿宋" pitchFamily="49" charset="-122"/>
                <a:cs typeface="Consolas" pitchFamily="49" charset="0"/>
              </a:rPr>
              <a:t>)&gt;0 </a:t>
            </a:r>
            <a:r>
              <a:rPr lang="en-US" altLang="zh-CN" sz="2000">
                <a:solidFill>
                  <a:srgbClr val="FF00FF"/>
                </a:solidFill>
                <a:latin typeface="Consolas" pitchFamily="49" charset="0"/>
                <a:ea typeface="仿宋" pitchFamily="49" charset="-122"/>
                <a:cs typeface="Consolas" pitchFamily="49" charset="0"/>
                <a:sym typeface="Wingdings"/>
              </a:rPr>
              <a:t> </a:t>
            </a:r>
            <a:r>
              <a:rPr lang="en-US" altLang="zh-CN" sz="2000" i="1">
                <a:solidFill>
                  <a:srgbClr val="0000FF"/>
                </a:solidFill>
                <a:latin typeface="Consolas" pitchFamily="49" charset="0"/>
                <a:ea typeface="仿宋" pitchFamily="49" charset="-122"/>
                <a:cs typeface="Consolas" pitchFamily="49" charset="0"/>
                <a:sym typeface="Wingdings"/>
              </a:rPr>
              <a:t>a</a:t>
            </a:r>
            <a:r>
              <a:rPr lang="en-US" altLang="zh-CN" sz="2000" baseline="-25000">
                <a:solidFill>
                  <a:srgbClr val="0000FF"/>
                </a:solidFill>
                <a:latin typeface="Consolas" pitchFamily="49" charset="0"/>
                <a:ea typeface="仿宋" pitchFamily="49" charset="-122"/>
                <a:cs typeface="Consolas" pitchFamily="49" charset="0"/>
                <a:sym typeface="Wingdings"/>
              </a:rPr>
              <a:t>3</a:t>
            </a:r>
            <a:r>
              <a:rPr lang="zh-CN" altLang="en-US" sz="2000">
                <a:solidFill>
                  <a:srgbClr val="0000FF"/>
                </a:solidFill>
                <a:latin typeface="Consolas" pitchFamily="49" charset="0"/>
                <a:ea typeface="仿宋" pitchFamily="49" charset="-122"/>
                <a:cs typeface="Consolas" pitchFamily="49" charset="0"/>
              </a:rPr>
              <a:t>右拐，</a:t>
            </a:r>
            <a:r>
              <a:rPr lang="zh-CN" altLang="en-US" sz="2000">
                <a:solidFill>
                  <a:srgbClr val="0000FF"/>
                </a:solidFill>
                <a:latin typeface="仿宋" pitchFamily="49" charset="-122"/>
                <a:ea typeface="仿宋" pitchFamily="49" charset="-122"/>
                <a:cs typeface="Consolas" pitchFamily="49" charset="0"/>
              </a:rPr>
              <a:t>退栈</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3</a:t>
            </a:r>
            <a:endParaRPr lang="zh-CN" altLang="en-US" sz="2000" baseline="-25000">
              <a:solidFill>
                <a:srgbClr val="0000FF"/>
              </a:solidFill>
              <a:latin typeface="Consolas" pitchFamily="49" charset="0"/>
              <a:ea typeface="仿宋" pitchFamily="49" charset="-122"/>
              <a:cs typeface="Consolas" pitchFamily="49" charset="0"/>
            </a:endParaRPr>
          </a:p>
        </p:txBody>
      </p:sp>
      <p:cxnSp>
        <p:nvCxnSpPr>
          <p:cNvPr id="53" name="直接连接符 52"/>
          <p:cNvCxnSpPr/>
          <p:nvPr/>
        </p:nvCxnSpPr>
        <p:spPr>
          <a:xfrm rot="5400000">
            <a:off x="2590479" y="3812814"/>
            <a:ext cx="782884" cy="1588"/>
          </a:xfrm>
          <a:prstGeom prst="line">
            <a:avLst/>
          </a:prstGeom>
          <a:ln w="28575">
            <a:solidFill>
              <a:srgbClr val="FF00FF"/>
            </a:solidFill>
            <a:prstDash val="dash"/>
            <a:headEnd type="arrow"/>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39" idx="3"/>
            <a:endCxn id="31" idx="6"/>
          </p:cNvCxnSpPr>
          <p:nvPr/>
        </p:nvCxnSpPr>
        <p:spPr>
          <a:xfrm rot="5400000">
            <a:off x="2577905" y="3296552"/>
            <a:ext cx="228954" cy="504720"/>
          </a:xfrm>
          <a:prstGeom prst="straightConnector1">
            <a:avLst/>
          </a:pr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31" idx="5"/>
            <a:endCxn id="41" idx="2"/>
          </p:cNvCxnSpPr>
          <p:nvPr/>
        </p:nvCxnSpPr>
        <p:spPr>
          <a:xfrm rot="16200000" flipH="1">
            <a:off x="2399601" y="3738906"/>
            <a:ext cx="553930" cy="504720"/>
          </a:xfrm>
          <a:prstGeom prst="straightConnector1">
            <a:avLst/>
          </a:pr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6" name="灯片编号占位符 55"/>
          <p:cNvSpPr>
            <a:spLocks noGrp="1"/>
          </p:cNvSpPr>
          <p:nvPr>
            <p:ph type="sldNum" sz="quarter" idx="12"/>
          </p:nvPr>
        </p:nvSpPr>
        <p:spPr/>
        <p:txBody>
          <a:bodyPr/>
          <a:lstStyle/>
          <a:p>
            <a:pPr>
              <a:defRPr/>
            </a:pPr>
            <a:fld id="{51116183-1013-4E64-BBE8-A5C1D5D4F838}" type="slidenum">
              <a:rPr lang="en-US" altLang="zh-CN" smtClean="0"/>
              <a:pPr>
                <a:defRPr/>
              </a:pPr>
              <a:t>115</a:t>
            </a:fld>
            <a:r>
              <a:rPr lang="en-US" altLang="zh-CN"/>
              <a:t>/167</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179388" y="214290"/>
            <a:ext cx="8748712" cy="1444975"/>
          </a:xfrm>
          <a:prstGeom prst="rect">
            <a:avLst/>
          </a:prstGeom>
          <a:solidFill>
            <a:schemeClr val="bg1"/>
          </a:solidFill>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tIns="144000" bIns="144000">
            <a:spAutoFit/>
          </a:bodyPr>
          <a:lstStyle/>
          <a:p>
            <a:pPr defTabSz="360000">
              <a:lnSpc>
                <a:spcPts val="3000"/>
              </a:lnSpc>
            </a:pPr>
            <a:r>
              <a:rPr lang="en-US" altLang="zh-CN" sz="2200">
                <a:solidFill>
                  <a:srgbClr val="FF0000"/>
                </a:solidFill>
                <a:latin typeface="楷体" pitchFamily="49" charset="-122"/>
                <a:ea typeface="楷体" pitchFamily="49" charset="-122"/>
                <a:cs typeface="Consolas" pitchFamily="49" charset="0"/>
              </a:rPr>
              <a:t>	</a:t>
            </a:r>
            <a:r>
              <a:rPr lang="zh-CN" altLang="en-US" sz="2200">
                <a:solidFill>
                  <a:srgbClr val="FF0000"/>
                </a:solidFill>
                <a:latin typeface="楷体" pitchFamily="49" charset="-122"/>
                <a:ea typeface="楷体" pitchFamily="49" charset="-122"/>
                <a:cs typeface="Consolas" pitchFamily="49" charset="0"/>
              </a:rPr>
              <a:t>继续</a:t>
            </a:r>
            <a:r>
              <a:rPr lang="zh-CN" altLang="en-US" sz="2200">
                <a:solidFill>
                  <a:srgbClr val="0000FF"/>
                </a:solidFill>
                <a:latin typeface="Consolas" pitchFamily="49" charset="0"/>
                <a:ea typeface="仿宋" pitchFamily="49" charset="-122"/>
                <a:cs typeface="Consolas" pitchFamily="49" charset="0"/>
              </a:rPr>
              <a:t>：栈中元素从栈底到栈顶为：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endParaRPr lang="en-US" altLang="zh-CN" sz="2200">
              <a:solidFill>
                <a:srgbClr val="0000FF"/>
              </a:solidFill>
              <a:latin typeface="Consolas" pitchFamily="49" charset="0"/>
              <a:ea typeface="仿宋" pitchFamily="49" charset="-122"/>
              <a:cs typeface="Consolas" pitchFamily="49" charset="0"/>
            </a:endParaRPr>
          </a:p>
          <a:p>
            <a:pPr defTabSz="360000">
              <a:lnSpc>
                <a:spcPts val="3000"/>
              </a:lnSpc>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	</a:t>
            </a:r>
            <a:r>
              <a:rPr lang="zh-CN" altLang="en-US" sz="2200">
                <a:solidFill>
                  <a:srgbClr val="0000FF"/>
                </a:solidFill>
                <a:latin typeface="Consolas" pitchFamily="49" charset="0"/>
                <a:ea typeface="仿宋" pitchFamily="49" charset="-122"/>
                <a:cs typeface="Consolas" pitchFamily="49" charset="0"/>
              </a:rPr>
              <a:t>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存在右拐关系，如图所示，将其退栈；点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进栈。栈中元素从栈底到栈顶为：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　</a:t>
            </a:r>
          </a:p>
        </p:txBody>
      </p:sp>
      <p:graphicFrame>
        <p:nvGraphicFramePr>
          <p:cNvPr id="5" name="表格 4"/>
          <p:cNvGraphicFramePr>
            <a:graphicFrameLocks noGrp="1"/>
          </p:cNvGraphicFramePr>
          <p:nvPr/>
        </p:nvGraphicFramePr>
        <p:xfrm>
          <a:off x="2071670" y="2163753"/>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5"/>
          <p:cNvGrpSpPr/>
          <p:nvPr/>
        </p:nvGrpSpPr>
        <p:grpSpPr>
          <a:xfrm>
            <a:off x="1643042" y="2071678"/>
            <a:ext cx="3643338" cy="3733982"/>
            <a:chOff x="3357554" y="1408099"/>
            <a:chExt cx="3643338" cy="3733982"/>
          </a:xfrm>
        </p:grpSpPr>
        <p:sp>
          <p:nvSpPr>
            <p:cNvPr id="7" name="TextBox 6"/>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29" name="椭圆 28"/>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0" name="TextBox 29"/>
            <p:cNvSpPr txBox="1"/>
            <p:nvPr/>
          </p:nvSpPr>
          <p:spPr>
            <a:xfrm>
              <a:off x="4357686"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1" name="椭圆 30"/>
            <p:cNvSpPr/>
            <p:nvPr/>
          </p:nvSpPr>
          <p:spPr>
            <a:xfrm>
              <a:off x="4046534" y="2927810"/>
              <a:ext cx="108000" cy="144000"/>
            </a:xfrm>
            <a:prstGeom prst="ellipse">
              <a:avLst/>
            </a:prstGeom>
            <a:solidFill>
              <a:srgbClr val="006600"/>
            </a:solidFill>
            <a:ln>
              <a:solidFill>
                <a:srgbClr val="0066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TextBox 31"/>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9</a:t>
              </a:r>
              <a:endParaRPr lang="zh-CN" altLang="en-US" sz="1800" baseline="-25000">
                <a:solidFill>
                  <a:srgbClr val="FF0000"/>
                </a:solidFill>
                <a:latin typeface="Consolas" pitchFamily="49" charset="0"/>
                <a:cs typeface="Consolas" pitchFamily="49" charset="0"/>
              </a:endParaRPr>
            </a:p>
          </p:txBody>
        </p:sp>
        <p:sp>
          <p:nvSpPr>
            <p:cNvPr id="33" name="椭圆 32"/>
            <p:cNvSpPr/>
            <p:nvPr/>
          </p:nvSpPr>
          <p:spPr>
            <a:xfrm>
              <a:off x="6162636" y="445453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TextBox 33"/>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5" name="椭圆 34"/>
            <p:cNvSpPr/>
            <p:nvPr/>
          </p:nvSpPr>
          <p:spPr>
            <a:xfrm>
              <a:off x="6473788" y="265475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TextBox 35"/>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7" name="椭圆 36"/>
            <p:cNvSpPr/>
            <p:nvPr/>
          </p:nvSpPr>
          <p:spPr>
            <a:xfrm>
              <a:off x="4948190" y="172718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TextBox 37"/>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39" name="椭圆 38"/>
            <p:cNvSpPr/>
            <p:nvPr/>
          </p:nvSpPr>
          <p:spPr>
            <a:xfrm>
              <a:off x="4643438" y="2647944"/>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TextBox 39"/>
            <p:cNvSpPr txBox="1"/>
            <p:nvPr/>
          </p:nvSpPr>
          <p:spPr>
            <a:xfrm>
              <a:off x="4786314" y="2702736"/>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1" name="椭圆 40"/>
            <p:cNvSpPr/>
            <p:nvPr/>
          </p:nvSpPr>
          <p:spPr>
            <a:xfrm>
              <a:off x="4643438" y="3532652"/>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TextBox 41"/>
            <p:cNvSpPr txBox="1"/>
            <p:nvPr/>
          </p:nvSpPr>
          <p:spPr>
            <a:xfrm>
              <a:off x="4357686" y="3488554"/>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3" name="椭圆 42"/>
            <p:cNvSpPr/>
            <p:nvPr/>
          </p:nvSpPr>
          <p:spPr>
            <a:xfrm>
              <a:off x="5248280" y="2946396"/>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4" name="TextBox 43"/>
            <p:cNvSpPr txBox="1"/>
            <p:nvPr/>
          </p:nvSpPr>
          <p:spPr>
            <a:xfrm>
              <a:off x="5392742" y="284561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5" name="椭圆 44"/>
            <p:cNvSpPr/>
            <p:nvPr/>
          </p:nvSpPr>
          <p:spPr>
            <a:xfrm>
              <a:off x="5272042" y="3521076"/>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6" name="TextBox 45"/>
            <p:cNvSpPr txBox="1"/>
            <p:nvPr/>
          </p:nvSpPr>
          <p:spPr>
            <a:xfrm>
              <a:off x="5214942" y="370286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7" name="椭圆 46"/>
            <p:cNvSpPr/>
            <p:nvPr/>
          </p:nvSpPr>
          <p:spPr>
            <a:xfrm>
              <a:off x="5553032" y="3857628"/>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8" name="TextBox 47"/>
            <p:cNvSpPr txBox="1"/>
            <p:nvPr/>
          </p:nvSpPr>
          <p:spPr>
            <a:xfrm>
              <a:off x="5678494" y="3622677"/>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sp>
        <p:nvSpPr>
          <p:cNvPr id="52" name="TextBox 51"/>
          <p:cNvSpPr txBox="1"/>
          <p:nvPr/>
        </p:nvSpPr>
        <p:spPr>
          <a:xfrm>
            <a:off x="5500694" y="3286124"/>
            <a:ext cx="3071834" cy="1477328"/>
          </a:xfrm>
          <a:prstGeom prst="rect">
            <a:avLst/>
          </a:prstGeom>
          <a:noFill/>
        </p:spPr>
        <p:txBody>
          <a:bodyPr wrap="square" rtlCol="0">
            <a:spAutoFit/>
          </a:bodyPr>
          <a:lstStyle/>
          <a:p>
            <a:pPr>
              <a:lnSpc>
                <a:spcPct val="150000"/>
              </a:lnSpc>
            </a:pPr>
            <a:r>
              <a:rPr lang="zh-CN" altLang="en-US" sz="2000">
                <a:solidFill>
                  <a:srgbClr val="FF0000"/>
                </a:solidFill>
                <a:latin typeface="Consolas" pitchFamily="49" charset="0"/>
                <a:ea typeface="仿宋" pitchFamily="49" charset="-122"/>
                <a:cs typeface="Consolas" pitchFamily="49" charset="0"/>
              </a:rPr>
              <a:t>处理点</a:t>
            </a:r>
            <a:r>
              <a:rPr lang="en-US" sz="2000" i="1">
                <a:solidFill>
                  <a:srgbClr val="FF0000"/>
                </a:solidFill>
                <a:latin typeface="Consolas" pitchFamily="49" charset="0"/>
                <a:ea typeface="仿宋" pitchFamily="49" charset="-122"/>
                <a:cs typeface="Consolas" pitchFamily="49" charset="0"/>
              </a:rPr>
              <a:t>a</a:t>
            </a:r>
            <a:r>
              <a:rPr lang="en-US" sz="2000" baseline="-25000">
                <a:solidFill>
                  <a:srgbClr val="FF0000"/>
                </a:solidFill>
                <a:latin typeface="Consolas" pitchFamily="49" charset="0"/>
                <a:ea typeface="仿宋" pitchFamily="49" charset="-122"/>
                <a:cs typeface="Consolas" pitchFamily="49" charset="0"/>
              </a:rPr>
              <a:t>9</a:t>
            </a:r>
          </a:p>
          <a:p>
            <a:pPr>
              <a:lnSpc>
                <a:spcPct val="150000"/>
              </a:lnSpc>
            </a:pPr>
            <a:r>
              <a:rPr lang="en-US" altLang="zh-CN" sz="2000">
                <a:solidFill>
                  <a:srgbClr val="0000FF"/>
                </a:solidFill>
                <a:latin typeface="Consolas" pitchFamily="49" charset="0"/>
                <a:ea typeface="仿宋" pitchFamily="49" charset="-122"/>
                <a:cs typeface="Consolas" pitchFamily="49" charset="0"/>
              </a:rPr>
              <a:t>Dir(</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0</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9</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)&gt;0 </a:t>
            </a:r>
            <a:r>
              <a:rPr lang="en-US" altLang="zh-CN" sz="2000">
                <a:solidFill>
                  <a:srgbClr val="FF00FF"/>
                </a:solidFill>
                <a:latin typeface="Consolas" pitchFamily="49" charset="0"/>
                <a:ea typeface="仿宋" pitchFamily="49" charset="-122"/>
                <a:cs typeface="Consolas" pitchFamily="49" charset="0"/>
                <a:sym typeface="Wingdings"/>
              </a:rPr>
              <a:t> </a:t>
            </a:r>
            <a:r>
              <a:rPr lang="en-US" altLang="zh-CN" sz="2000" i="1">
                <a:solidFill>
                  <a:srgbClr val="0000FF"/>
                </a:solidFill>
                <a:latin typeface="Consolas" pitchFamily="49" charset="0"/>
                <a:ea typeface="仿宋" pitchFamily="49" charset="-122"/>
                <a:cs typeface="Consolas" pitchFamily="49" charset="0"/>
                <a:sym typeface="Wingdings"/>
              </a:rPr>
              <a:t>a</a:t>
            </a:r>
            <a:r>
              <a:rPr lang="en-US" altLang="zh-CN" sz="2000" baseline="-25000">
                <a:solidFill>
                  <a:srgbClr val="0000FF"/>
                </a:solidFill>
                <a:latin typeface="Consolas" pitchFamily="49" charset="0"/>
                <a:ea typeface="仿宋" pitchFamily="49" charset="-122"/>
                <a:cs typeface="Consolas" pitchFamily="49" charset="0"/>
                <a:sym typeface="Wingdings"/>
              </a:rPr>
              <a:t>1</a:t>
            </a:r>
            <a:r>
              <a:rPr lang="zh-CN" altLang="en-US" sz="2000">
                <a:solidFill>
                  <a:srgbClr val="0000FF"/>
                </a:solidFill>
                <a:latin typeface="Consolas" pitchFamily="49" charset="0"/>
                <a:ea typeface="仿宋" pitchFamily="49" charset="-122"/>
                <a:cs typeface="Consolas" pitchFamily="49" charset="0"/>
              </a:rPr>
              <a:t>右拐，</a:t>
            </a:r>
            <a:r>
              <a:rPr lang="zh-CN" altLang="en-US" sz="2000">
                <a:solidFill>
                  <a:srgbClr val="0000FF"/>
                </a:solidFill>
                <a:latin typeface="仿宋" pitchFamily="49" charset="-122"/>
                <a:ea typeface="仿宋" pitchFamily="49" charset="-122"/>
                <a:cs typeface="Consolas" pitchFamily="49" charset="0"/>
              </a:rPr>
              <a:t>退栈</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zh-CN" altLang="en-US" sz="2000">
                <a:solidFill>
                  <a:srgbClr val="0000FF"/>
                </a:solidFill>
                <a:latin typeface="Consolas" pitchFamily="49" charset="0"/>
                <a:ea typeface="仿宋" pitchFamily="49" charset="-122"/>
                <a:cs typeface="Consolas" pitchFamily="49" charset="0"/>
              </a:rPr>
              <a:t>进栈</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9</a:t>
            </a:r>
            <a:endParaRPr lang="zh-CN" altLang="en-US" sz="2000" baseline="-25000">
              <a:solidFill>
                <a:srgbClr val="0000FF"/>
              </a:solidFill>
              <a:latin typeface="Consolas" pitchFamily="49" charset="0"/>
              <a:ea typeface="仿宋" pitchFamily="49" charset="-122"/>
              <a:cs typeface="Consolas" pitchFamily="49" charset="0"/>
            </a:endParaRPr>
          </a:p>
        </p:txBody>
      </p:sp>
      <p:cxnSp>
        <p:nvCxnSpPr>
          <p:cNvPr id="57" name="直接箭头连接符 56"/>
          <p:cNvCxnSpPr>
            <a:endCxn id="31" idx="0"/>
          </p:cNvCxnSpPr>
          <p:nvPr/>
        </p:nvCxnSpPr>
        <p:spPr>
          <a:xfrm rot="5400000">
            <a:off x="2254809" y="2631519"/>
            <a:ext cx="1091083" cy="828656"/>
          </a:xfrm>
          <a:prstGeom prst="straightConnector1">
            <a:avLst/>
          </a:pr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31" idx="6"/>
            <a:endCxn id="39" idx="2"/>
          </p:cNvCxnSpPr>
          <p:nvPr/>
        </p:nvCxnSpPr>
        <p:spPr>
          <a:xfrm flipV="1">
            <a:off x="2440022" y="3383523"/>
            <a:ext cx="488904" cy="279866"/>
          </a:xfrm>
          <a:prstGeom prst="straightConnector1">
            <a:avLst/>
          </a:pr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a:stCxn id="39" idx="7"/>
            <a:endCxn id="37" idx="5"/>
          </p:cNvCxnSpPr>
          <p:nvPr/>
        </p:nvCxnSpPr>
        <p:spPr>
          <a:xfrm rot="5400000" flipH="1" flipV="1">
            <a:off x="2764020" y="2770769"/>
            <a:ext cx="818932" cy="304752"/>
          </a:xfrm>
          <a:prstGeom prst="straightConnector1">
            <a:avLst/>
          </a:prstGeom>
          <a:ln w="28575">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4" name="灯片编号占位符 53"/>
          <p:cNvSpPr>
            <a:spLocks noGrp="1"/>
          </p:cNvSpPr>
          <p:nvPr>
            <p:ph type="sldNum" sz="quarter" idx="12"/>
          </p:nvPr>
        </p:nvSpPr>
        <p:spPr/>
        <p:txBody>
          <a:bodyPr/>
          <a:lstStyle/>
          <a:p>
            <a:pPr>
              <a:defRPr/>
            </a:pPr>
            <a:fld id="{51116183-1013-4E64-BBE8-A5C1D5D4F838}" type="slidenum">
              <a:rPr lang="en-US" altLang="zh-CN" smtClean="0"/>
              <a:pPr>
                <a:defRPr/>
              </a:pPr>
              <a:t>116</a:t>
            </a:fld>
            <a:r>
              <a:rPr lang="en-US" altLang="zh-CN"/>
              <a:t>/167</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179388" y="214290"/>
            <a:ext cx="8748712" cy="1121424"/>
          </a:xfrm>
          <a:prstGeom prst="rect">
            <a:avLst/>
          </a:prstGeom>
          <a:solidFill>
            <a:schemeClr val="bg1"/>
          </a:solidFill>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tIns="144000" bIns="144000">
            <a:spAutoFit/>
          </a:bodyPr>
          <a:lstStyle/>
          <a:p>
            <a:pPr>
              <a:lnSpc>
                <a:spcPts val="3400"/>
              </a:lnSpc>
            </a:pPr>
            <a:r>
              <a:rPr lang="zh-CN" altLang="en-US" sz="2200">
                <a:solidFill>
                  <a:srgbClr val="0000FF"/>
                </a:solidFill>
                <a:latin typeface="Consolas" pitchFamily="49" charset="0"/>
                <a:ea typeface="仿宋" pitchFamily="49" charset="-122"/>
                <a:cs typeface="Consolas" pitchFamily="49" charset="0"/>
              </a:rPr>
              <a:t>　　最后求出按逆时针方向的凸包为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en-US" altLang="zh-CN" sz="22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en-US" altLang="zh-CN" sz="22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en-US" altLang="zh-CN" sz="22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10)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a:t>
            </a:r>
          </a:p>
        </p:txBody>
      </p:sp>
      <p:graphicFrame>
        <p:nvGraphicFramePr>
          <p:cNvPr id="5" name="表格 4"/>
          <p:cNvGraphicFramePr>
            <a:graphicFrameLocks noGrp="1"/>
          </p:cNvGraphicFramePr>
          <p:nvPr/>
        </p:nvGraphicFramePr>
        <p:xfrm>
          <a:off x="2071670" y="2163753"/>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5"/>
          <p:cNvGrpSpPr/>
          <p:nvPr/>
        </p:nvGrpSpPr>
        <p:grpSpPr>
          <a:xfrm>
            <a:off x="1643042" y="2071678"/>
            <a:ext cx="3643338" cy="3733982"/>
            <a:chOff x="3357554" y="1408099"/>
            <a:chExt cx="3643338" cy="3733982"/>
          </a:xfrm>
        </p:grpSpPr>
        <p:sp>
          <p:nvSpPr>
            <p:cNvPr id="7" name="TextBox 6"/>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29" name="椭圆 28"/>
            <p:cNvSpPr/>
            <p:nvPr/>
          </p:nvSpPr>
          <p:spPr>
            <a:xfrm>
              <a:off x="4640214" y="474028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0" name="TextBox 29"/>
            <p:cNvSpPr txBox="1"/>
            <p:nvPr/>
          </p:nvSpPr>
          <p:spPr>
            <a:xfrm>
              <a:off x="4286248" y="4488686"/>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1" name="椭圆 30"/>
            <p:cNvSpPr/>
            <p:nvPr/>
          </p:nvSpPr>
          <p:spPr>
            <a:xfrm>
              <a:off x="4046534" y="2927810"/>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TextBox 31"/>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3" name="椭圆 32"/>
            <p:cNvSpPr/>
            <p:nvPr/>
          </p:nvSpPr>
          <p:spPr>
            <a:xfrm>
              <a:off x="6162636" y="445453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TextBox 33"/>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5" name="椭圆 34"/>
            <p:cNvSpPr/>
            <p:nvPr/>
          </p:nvSpPr>
          <p:spPr>
            <a:xfrm>
              <a:off x="6473788" y="265475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TextBox 35"/>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7" name="椭圆 36"/>
            <p:cNvSpPr/>
            <p:nvPr/>
          </p:nvSpPr>
          <p:spPr>
            <a:xfrm>
              <a:off x="4948190" y="172718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TextBox 37"/>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39" name="椭圆 38"/>
            <p:cNvSpPr/>
            <p:nvPr/>
          </p:nvSpPr>
          <p:spPr>
            <a:xfrm>
              <a:off x="4643438" y="2647944"/>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TextBox 39"/>
            <p:cNvSpPr txBox="1"/>
            <p:nvPr/>
          </p:nvSpPr>
          <p:spPr>
            <a:xfrm>
              <a:off x="4749800" y="241698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1" name="椭圆 40"/>
            <p:cNvSpPr/>
            <p:nvPr/>
          </p:nvSpPr>
          <p:spPr>
            <a:xfrm>
              <a:off x="4643438" y="3532652"/>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TextBox 41"/>
            <p:cNvSpPr txBox="1"/>
            <p:nvPr/>
          </p:nvSpPr>
          <p:spPr>
            <a:xfrm>
              <a:off x="4392610" y="3479801"/>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3" name="椭圆 42"/>
            <p:cNvSpPr/>
            <p:nvPr/>
          </p:nvSpPr>
          <p:spPr>
            <a:xfrm>
              <a:off x="5248280" y="2946396"/>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4" name="TextBox 43"/>
            <p:cNvSpPr txBox="1"/>
            <p:nvPr/>
          </p:nvSpPr>
          <p:spPr>
            <a:xfrm>
              <a:off x="5392742" y="284561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5" name="椭圆 44"/>
            <p:cNvSpPr/>
            <p:nvPr/>
          </p:nvSpPr>
          <p:spPr>
            <a:xfrm>
              <a:off x="5272042" y="3521076"/>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6" name="TextBox 45"/>
            <p:cNvSpPr txBox="1"/>
            <p:nvPr/>
          </p:nvSpPr>
          <p:spPr>
            <a:xfrm>
              <a:off x="5214942" y="370286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7" name="椭圆 46"/>
            <p:cNvSpPr/>
            <p:nvPr/>
          </p:nvSpPr>
          <p:spPr>
            <a:xfrm>
              <a:off x="5553032" y="3857628"/>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8" name="TextBox 47"/>
            <p:cNvSpPr txBox="1"/>
            <p:nvPr/>
          </p:nvSpPr>
          <p:spPr>
            <a:xfrm>
              <a:off x="5678494" y="3622677"/>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cxnSp>
        <p:nvCxnSpPr>
          <p:cNvPr id="57" name="直接连接符 56"/>
          <p:cNvCxnSpPr/>
          <p:nvPr/>
        </p:nvCxnSpPr>
        <p:spPr>
          <a:xfrm rot="5400000" flipH="1" flipV="1">
            <a:off x="3598037" y="4621683"/>
            <a:ext cx="285752" cy="1446054"/>
          </a:xfrm>
          <a:prstGeom prst="line">
            <a:avLst/>
          </a:prstGeom>
          <a:ln w="3810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33" idx="3"/>
            <a:endCxn id="35" idx="4"/>
          </p:cNvCxnSpPr>
          <p:nvPr/>
        </p:nvCxnSpPr>
        <p:spPr>
          <a:xfrm rot="5400000" flipH="1" flipV="1">
            <a:off x="3749265" y="4177012"/>
            <a:ext cx="1778686" cy="349336"/>
          </a:xfrm>
          <a:prstGeom prst="line">
            <a:avLst/>
          </a:prstGeom>
          <a:ln w="3810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35" idx="3"/>
            <a:endCxn id="37" idx="5"/>
          </p:cNvCxnSpPr>
          <p:nvPr/>
        </p:nvCxnSpPr>
        <p:spPr>
          <a:xfrm rot="5400000" flipH="1">
            <a:off x="3586692" y="2252849"/>
            <a:ext cx="927570" cy="1449230"/>
          </a:xfrm>
          <a:prstGeom prst="line">
            <a:avLst/>
          </a:prstGeom>
          <a:ln w="3810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37" idx="3"/>
            <a:endCxn id="31" idx="0"/>
          </p:cNvCxnSpPr>
          <p:nvPr/>
        </p:nvCxnSpPr>
        <p:spPr>
          <a:xfrm rot="5400000">
            <a:off x="2278903" y="2620798"/>
            <a:ext cx="1077710" cy="863472"/>
          </a:xfrm>
          <a:prstGeom prst="line">
            <a:avLst/>
          </a:prstGeom>
          <a:ln w="3810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66" name="直接连接符 65"/>
          <p:cNvCxnSpPr>
            <a:stCxn id="31" idx="4"/>
            <a:endCxn id="29" idx="2"/>
          </p:cNvCxnSpPr>
          <p:nvPr/>
        </p:nvCxnSpPr>
        <p:spPr>
          <a:xfrm rot="16200000" flipH="1">
            <a:off x="1785625" y="4335786"/>
            <a:ext cx="1740474" cy="539680"/>
          </a:xfrm>
          <a:prstGeom prst="line">
            <a:avLst/>
          </a:prstGeom>
          <a:ln w="38100">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54" name="灯片编号占位符 53"/>
          <p:cNvSpPr>
            <a:spLocks noGrp="1"/>
          </p:cNvSpPr>
          <p:nvPr>
            <p:ph type="sldNum" sz="quarter" idx="12"/>
          </p:nvPr>
        </p:nvSpPr>
        <p:spPr/>
        <p:txBody>
          <a:bodyPr/>
          <a:lstStyle/>
          <a:p>
            <a:pPr>
              <a:defRPr/>
            </a:pPr>
            <a:fld id="{51116183-1013-4E64-BBE8-A5C1D5D4F838}" type="slidenum">
              <a:rPr lang="en-US" altLang="zh-CN" smtClean="0"/>
              <a:pPr>
                <a:defRPr/>
              </a:pPr>
              <a:t>117</a:t>
            </a:fld>
            <a:r>
              <a:rPr lang="en-US" altLang="zh-CN"/>
              <a:t>/167</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14282" y="570306"/>
            <a:ext cx="8786874" cy="4313315"/>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2800"/>
              </a:lnSpc>
            </a:pPr>
            <a:r>
              <a:rPr lang="en-US" altLang="zh-CN" sz="2000">
                <a:solidFill>
                  <a:srgbClr val="0000FF"/>
                </a:solidFill>
                <a:latin typeface="Consolas" pitchFamily="49" charset="0"/>
                <a:ea typeface="仿宋" pitchFamily="49" charset="-122"/>
              </a:rPr>
              <a:t>Point p0;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存放起点</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全局变量</a:t>
            </a:r>
          </a:p>
          <a:p>
            <a:pPr defTabSz="360000">
              <a:lnSpc>
                <a:spcPts val="2800"/>
              </a:lnSpc>
            </a:pPr>
            <a:endParaRPr lang="en-US"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cmp</a:t>
            </a:r>
            <a:r>
              <a:rPr lang="en-US" altLang="zh-CN" sz="2000">
                <a:solidFill>
                  <a:srgbClr val="0000FF"/>
                </a:solidFill>
                <a:latin typeface="Consolas" pitchFamily="49" charset="0"/>
                <a:ea typeface="仿宋" pitchFamily="49" charset="-122"/>
              </a:rPr>
              <a:t>(Point &amp;x,Point &amp;y)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排序比较关系函数</a:t>
            </a:r>
          </a:p>
          <a:p>
            <a:pPr defTabSz="360000">
              <a:lnSpc>
                <a:spcPts val="2800"/>
              </a:lnSpc>
            </a:pPr>
            <a:r>
              <a:rPr lang="en-US" altLang="zh-CN" sz="2000">
                <a:solidFill>
                  <a:srgbClr val="0000FF"/>
                </a:solidFill>
                <a:latin typeface="Consolas" pitchFamily="49" charset="0"/>
                <a:ea typeface="仿宋" pitchFamily="49" charset="-122"/>
              </a:rPr>
              <a:t>	double d=</a:t>
            </a:r>
            <a:r>
              <a:rPr lang="en-US" altLang="zh-CN" sz="2000">
                <a:solidFill>
                  <a:srgbClr val="FF0000"/>
                </a:solidFill>
                <a:latin typeface="Consolas" pitchFamily="49" charset="0"/>
                <a:ea typeface="仿宋" pitchFamily="49" charset="-122"/>
              </a:rPr>
              <a:t>Direction</a:t>
            </a:r>
            <a:r>
              <a:rPr lang="en-US" altLang="zh-CN" sz="2000">
                <a:solidFill>
                  <a:srgbClr val="0000FF"/>
                </a:solidFill>
                <a:latin typeface="Consolas" pitchFamily="49" charset="0"/>
                <a:ea typeface="仿宋" pitchFamily="49" charset="-122"/>
              </a:rPr>
              <a:t>(p0,x,y);</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if (d==0)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共线时</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若</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距离</a:t>
            </a:r>
            <a:r>
              <a:rPr lang="en-US" altLang="zh-CN" sz="2000">
                <a:solidFill>
                  <a:srgbClr val="00B0F0"/>
                </a:solidFill>
                <a:latin typeface="Consolas" pitchFamily="49" charset="0"/>
                <a:ea typeface="仿宋" pitchFamily="49" charset="-122"/>
              </a:rPr>
              <a:t>p</a:t>
            </a:r>
            <a:r>
              <a:rPr lang="en-US" altLang="zh-CN" sz="2000" baseline="-25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更短返回</a:t>
            </a:r>
            <a:r>
              <a:rPr lang="en-US" altLang="zh-CN" sz="2000">
                <a:solidFill>
                  <a:srgbClr val="00B0F0"/>
                </a:solidFill>
                <a:latin typeface="Consolas" pitchFamily="49" charset="0"/>
                <a:ea typeface="仿宋" pitchFamily="49" charset="-122"/>
              </a:rPr>
              <a:t>true</a:t>
            </a:r>
            <a:endParaRPr lang="zh-CN" altLang="zh-CN" sz="2000">
              <a:solidFill>
                <a:srgbClr val="00B0F0"/>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Distance</a:t>
            </a:r>
            <a:r>
              <a:rPr lang="en-US" altLang="zh-CN" sz="2000">
                <a:solidFill>
                  <a:srgbClr val="0000FF"/>
                </a:solidFill>
                <a:latin typeface="Consolas" pitchFamily="49" charset="0"/>
                <a:ea typeface="仿宋" pitchFamily="49" charset="-122"/>
              </a:rPr>
              <a:t>(p0,x)&lt;Distance(p0,y);</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else if (d&gt;0)				</a:t>
            </a:r>
            <a:r>
              <a:rPr lang="en-US" altLang="zh-CN" sz="2000">
                <a:solidFill>
                  <a:srgbClr val="00B0F0"/>
                </a:solidFill>
                <a:latin typeface="Consolas" pitchFamily="49" charset="0"/>
                <a:ea typeface="仿宋" pitchFamily="49" charset="-122"/>
              </a:rPr>
              <a:t>//a</a:t>
            </a:r>
            <a:r>
              <a:rPr lang="en-US" altLang="zh-CN" sz="2000" baseline="-25000">
                <a:solidFill>
                  <a:srgbClr val="00B0F0"/>
                </a:solidFill>
                <a:latin typeface="Consolas" pitchFamily="49" charset="0"/>
                <a:ea typeface="仿宋" pitchFamily="49" charset="-122"/>
              </a:rPr>
              <a:t>j</a:t>
            </a:r>
            <a:r>
              <a:rPr lang="en-US" altLang="zh-CN" sz="2000">
                <a:solidFill>
                  <a:srgbClr val="00B0F0"/>
                </a:solidFill>
                <a:latin typeface="Consolas" pitchFamily="49" charset="0"/>
                <a:ea typeface="仿宋" pitchFamily="49" charset="-122"/>
              </a:rPr>
              <a:t>a</a:t>
            </a:r>
            <a:r>
              <a:rPr lang="en-US" altLang="zh-CN" sz="2000" baseline="-25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a</a:t>
            </a:r>
            <a:r>
              <a:rPr lang="en-US" altLang="zh-CN" sz="2000" baseline="-25000">
                <a:solidFill>
                  <a:srgbClr val="00B0F0"/>
                </a:solidFill>
                <a:latin typeface="Consolas" pitchFamily="49" charset="0"/>
                <a:ea typeface="仿宋" pitchFamily="49" charset="-122"/>
              </a:rPr>
              <a:t>j</a:t>
            </a:r>
            <a:r>
              <a:rPr lang="en-US" altLang="zh-CN" sz="2000">
                <a:solidFill>
                  <a:srgbClr val="00B0F0"/>
                </a:solidFill>
                <a:latin typeface="Consolas" pitchFamily="49" charset="0"/>
                <a:ea typeface="仿宋" pitchFamily="49" charset="-122"/>
              </a:rPr>
              <a:t>a</a:t>
            </a:r>
            <a:r>
              <a:rPr lang="en-US" altLang="zh-CN" sz="2000" baseline="-25000">
                <a:solidFill>
                  <a:srgbClr val="00B0F0"/>
                </a:solidFill>
                <a:latin typeface="Consolas" pitchFamily="49" charset="0"/>
                <a:ea typeface="仿宋" pitchFamily="49" charset="-122"/>
              </a:rPr>
              <a:t>k</a:t>
            </a:r>
            <a:r>
              <a:rPr lang="zh-CN" altLang="zh-CN" sz="2000">
                <a:solidFill>
                  <a:srgbClr val="00B0F0"/>
                </a:solidFill>
                <a:latin typeface="Consolas" pitchFamily="49" charset="0"/>
                <a:ea typeface="仿宋" pitchFamily="49" charset="-122"/>
              </a:rPr>
              <a:t>的顺时针方向上</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返回</a:t>
            </a:r>
            <a:r>
              <a:rPr lang="en-US" altLang="zh-CN" sz="2000">
                <a:solidFill>
                  <a:srgbClr val="00B0F0"/>
                </a:solidFill>
                <a:latin typeface="Consolas" pitchFamily="49" charset="0"/>
                <a:ea typeface="仿宋" pitchFamily="49" charset="-122"/>
              </a:rPr>
              <a:t>true</a:t>
            </a:r>
            <a:endParaRPr lang="zh-CN" altLang="zh-CN" sz="2000">
              <a:solidFill>
                <a:srgbClr val="00B0F0"/>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return true;</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else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否则返回</a:t>
            </a:r>
            <a:r>
              <a:rPr lang="en-US" altLang="zh-CN" sz="2000">
                <a:solidFill>
                  <a:srgbClr val="00B0F0"/>
                </a:solidFill>
                <a:latin typeface="Consolas" pitchFamily="49" charset="0"/>
                <a:ea typeface="仿宋" pitchFamily="49" charset="-122"/>
              </a:rPr>
              <a:t>false</a:t>
            </a:r>
            <a:endParaRPr lang="zh-CN" altLang="zh-CN" sz="2000">
              <a:solidFill>
                <a:srgbClr val="00B0F0"/>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return false;</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118</a:t>
            </a:fld>
            <a:r>
              <a:rPr lang="en-US" altLang="zh-CN"/>
              <a:t>/167</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14282" y="570306"/>
            <a:ext cx="8786874" cy="4672388"/>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2800"/>
              </a:lnSpc>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Graham</a:t>
            </a:r>
            <a:r>
              <a:rPr lang="en-US" altLang="zh-CN" sz="2000">
                <a:solidFill>
                  <a:srgbClr val="0000FF"/>
                </a:solidFill>
                <a:latin typeface="Consolas" pitchFamily="49" charset="0"/>
                <a:ea typeface="仿宋" pitchFamily="49" charset="-122"/>
              </a:rPr>
              <a:t>(vector&lt;Point&gt; &amp;a,Point ch[]) {		</a:t>
            </a:r>
          </a:p>
          <a:p>
            <a:pPr defTabSz="360000">
              <a:lnSpc>
                <a:spcPts val="28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求凸包的</a:t>
            </a:r>
            <a:r>
              <a:rPr lang="en-US" altLang="zh-CN" sz="2000">
                <a:solidFill>
                  <a:srgbClr val="00B050"/>
                </a:solidFill>
                <a:latin typeface="Consolas" pitchFamily="49" charset="0"/>
                <a:ea typeface="仿宋" pitchFamily="49" charset="-122"/>
              </a:rPr>
              <a:t>Graham</a:t>
            </a:r>
            <a:r>
              <a:rPr lang="zh-CN" altLang="zh-CN" sz="2000">
                <a:solidFill>
                  <a:srgbClr val="00B050"/>
                </a:solidFill>
                <a:latin typeface="Consolas" pitchFamily="49" charset="0"/>
                <a:ea typeface="仿宋" pitchFamily="49" charset="-122"/>
              </a:rPr>
              <a:t>算法</a:t>
            </a:r>
          </a:p>
          <a:p>
            <a:pPr defTabSz="360000">
              <a:lnSpc>
                <a:spcPts val="2800"/>
              </a:lnSpc>
            </a:pPr>
            <a:r>
              <a:rPr lang="en-US" altLang="zh-CN" sz="2000">
                <a:solidFill>
                  <a:srgbClr val="0000FF"/>
                </a:solidFill>
                <a:latin typeface="Consolas" pitchFamily="49" charset="0"/>
                <a:ea typeface="仿宋" pitchFamily="49" charset="-122"/>
              </a:rPr>
              <a:t>	int top=-1,k=0;									</a:t>
            </a:r>
            <a:r>
              <a:rPr lang="en-US" altLang="zh-CN" sz="2000">
                <a:solidFill>
                  <a:srgbClr val="00B0F0"/>
                </a:solidFill>
                <a:latin typeface="Consolas" pitchFamily="49" charset="0"/>
                <a:ea typeface="仿宋" pitchFamily="49" charset="-122"/>
              </a:rPr>
              <a:t>//top</a:t>
            </a:r>
            <a:r>
              <a:rPr lang="zh-CN" altLang="zh-CN" sz="2000">
                <a:solidFill>
                  <a:srgbClr val="00B0F0"/>
                </a:solidFill>
                <a:latin typeface="Consolas" pitchFamily="49" charset="0"/>
                <a:ea typeface="仿宋" pitchFamily="49" charset="-122"/>
              </a:rPr>
              <a:t>为栈顶指针</a:t>
            </a:r>
          </a:p>
          <a:p>
            <a:pPr defTabSz="360000">
              <a:lnSpc>
                <a:spcPts val="2800"/>
              </a:lnSpc>
            </a:pPr>
            <a:r>
              <a:rPr lang="en-US" altLang="zh-CN" sz="2000">
                <a:solidFill>
                  <a:srgbClr val="0000FF"/>
                </a:solidFill>
                <a:latin typeface="Consolas" pitchFamily="49" charset="0"/>
                <a:ea typeface="仿宋" pitchFamily="49" charset="-122"/>
              </a:rPr>
              <a:t>	Point tmp;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for (int i=1;i&lt;a.size();i++)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找最下且偏左的点</a:t>
            </a:r>
            <a:r>
              <a:rPr lang="en-US" altLang="zh-CN" sz="2000">
                <a:solidFill>
                  <a:srgbClr val="00B0F0"/>
                </a:solidFill>
                <a:latin typeface="Consolas" pitchFamily="49" charset="0"/>
                <a:ea typeface="仿宋" pitchFamily="49" charset="-122"/>
              </a:rPr>
              <a:t>a[k]</a:t>
            </a:r>
            <a:endParaRPr lang="zh-CN" altLang="zh-CN" sz="2000">
              <a:solidFill>
                <a:srgbClr val="00B0F0"/>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a[i].y&lt;a[k].y)</a:t>
            </a:r>
            <a:r>
              <a:rPr lang="en-US" altLang="zh-CN" sz="2000">
                <a:solidFill>
                  <a:srgbClr val="0000FF"/>
                </a:solidFill>
                <a:latin typeface="Consolas" pitchFamily="49" charset="0"/>
                <a:ea typeface="仿宋" pitchFamily="49" charset="-122"/>
              </a:rPr>
              <a:t> || </a:t>
            </a:r>
          </a:p>
          <a:p>
            <a:pPr defTabSz="360000">
              <a:lnSpc>
                <a:spcPts val="2800"/>
              </a:lnSpc>
            </a:pPr>
            <a:r>
              <a:rPr lang="en-US" altLang="zh-CN" sz="2000">
                <a:solidFill>
                  <a:srgbClr val="0000FF"/>
                </a:solidFill>
                <a:latin typeface="Consolas" pitchFamily="49" charset="0"/>
                <a:ea typeface="仿宋" pitchFamily="49" charset="-122"/>
              </a:rPr>
              <a:t>				(</a:t>
            </a:r>
            <a:r>
              <a:rPr lang="en-US" altLang="zh-CN" sz="2000">
                <a:solidFill>
                  <a:srgbClr val="FF00FF"/>
                </a:solidFill>
                <a:latin typeface="Consolas" pitchFamily="49" charset="0"/>
                <a:ea typeface="仿宋" pitchFamily="49" charset="-122"/>
              </a:rPr>
              <a:t>a[i].y==a[k].y &amp;&amp; a[i].x&lt;a[k].x)</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k=i;</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swap</a:t>
            </a:r>
            <a:r>
              <a:rPr lang="en-US" altLang="zh-CN" sz="2000">
                <a:solidFill>
                  <a:srgbClr val="0000FF"/>
                </a:solidFill>
                <a:latin typeface="Consolas" pitchFamily="49" charset="0"/>
                <a:ea typeface="仿宋" pitchFamily="49" charset="-122"/>
              </a:rPr>
              <a:t>(a[0],a[k]);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交换</a:t>
            </a:r>
            <a:r>
              <a:rPr lang="zh-CN" altLang="en-US" sz="2000">
                <a:solidFill>
                  <a:srgbClr val="00B0F0"/>
                </a:solidFill>
                <a:latin typeface="Consolas" pitchFamily="49" charset="0"/>
                <a:ea typeface="仿宋" pitchFamily="49" charset="-122"/>
              </a:rPr>
              <a:t>置</a:t>
            </a:r>
            <a:r>
              <a:rPr lang="zh-CN" altLang="zh-CN" sz="2000">
                <a:solidFill>
                  <a:srgbClr val="00B0F0"/>
                </a:solidFill>
                <a:latin typeface="Consolas" pitchFamily="49" charset="0"/>
                <a:ea typeface="仿宋" pitchFamily="49" charset="-122"/>
              </a:rPr>
              <a:t>起点</a:t>
            </a:r>
            <a:r>
              <a:rPr lang="zh-CN" altLang="en-US" sz="2000">
                <a:solidFill>
                  <a:srgbClr val="00B0F0"/>
                </a:solidFill>
                <a:latin typeface="Consolas" pitchFamily="49" charset="0"/>
                <a:ea typeface="仿宋" pitchFamily="49" charset="-122"/>
              </a:rPr>
              <a:t>为</a:t>
            </a:r>
            <a:r>
              <a:rPr lang="en-US" altLang="zh-CN" sz="2000">
                <a:solidFill>
                  <a:srgbClr val="00B0F0"/>
                </a:solidFill>
                <a:latin typeface="Consolas" pitchFamily="49" charset="0"/>
                <a:ea typeface="仿宋" pitchFamily="49" charset="-122"/>
              </a:rPr>
              <a:t>a[0]</a:t>
            </a:r>
            <a:endParaRPr lang="zh-CN" altLang="zh-CN" sz="2000">
              <a:solidFill>
                <a:srgbClr val="00B0F0"/>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p0=a[0];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将起点</a:t>
            </a:r>
            <a:r>
              <a:rPr lang="en-US" altLang="zh-CN" sz="2000">
                <a:solidFill>
                  <a:srgbClr val="00B0F0"/>
                </a:solidFill>
                <a:latin typeface="Consolas" pitchFamily="49" charset="0"/>
                <a:ea typeface="仿宋" pitchFamily="49" charset="-122"/>
              </a:rPr>
              <a:t>a[0]</a:t>
            </a:r>
            <a:r>
              <a:rPr lang="zh-CN" altLang="zh-CN" sz="2000">
                <a:solidFill>
                  <a:srgbClr val="00B0F0"/>
                </a:solidFill>
                <a:latin typeface="Consolas" pitchFamily="49" charset="0"/>
                <a:ea typeface="仿宋" pitchFamily="49" charset="-122"/>
              </a:rPr>
              <a:t>放入</a:t>
            </a:r>
            <a:r>
              <a:rPr lang="en-US" altLang="zh-CN" sz="2000">
                <a:solidFill>
                  <a:srgbClr val="00B0F0"/>
                </a:solidFill>
                <a:latin typeface="Consolas" pitchFamily="49" charset="0"/>
                <a:ea typeface="仿宋" pitchFamily="49" charset="-122"/>
              </a:rPr>
              <a:t>p0</a:t>
            </a:r>
            <a:r>
              <a:rPr lang="zh-CN" altLang="zh-CN" sz="2000">
                <a:solidFill>
                  <a:srgbClr val="00B0F0"/>
                </a:solidFill>
                <a:latin typeface="Consolas" pitchFamily="49" charset="0"/>
                <a:ea typeface="仿宋" pitchFamily="49" charset="-122"/>
              </a:rPr>
              <a:t>中</a:t>
            </a:r>
          </a:p>
          <a:p>
            <a:pPr defTabSz="360000">
              <a:lnSpc>
                <a:spcPts val="2800"/>
              </a:lnSpc>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(a.begin()+1,a.end(),cmp);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按极角从小到大排序</a:t>
            </a: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119</a:t>
            </a:fld>
            <a:r>
              <a:rPr lang="en-US" altLang="zh-CN"/>
              <a:t>/167</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14282" y="570306"/>
            <a:ext cx="8786874" cy="4289527"/>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2800"/>
              </a:lnSpc>
            </a:pPr>
            <a:r>
              <a:rPr lang="en-US" altLang="zh-CN" sz="2000">
                <a:solidFill>
                  <a:srgbClr val="0000FF"/>
                </a:solidFill>
                <a:latin typeface="Consolas" pitchFamily="49" charset="0"/>
                <a:ea typeface="仿宋" pitchFamily="49" charset="-122"/>
              </a:rPr>
              <a:t>	top++;ch[0]=a[0];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前</a:t>
            </a:r>
            <a:r>
              <a:rPr lang="en-US" altLang="zh-CN" sz="2000">
                <a:solidFill>
                  <a:srgbClr val="00B0F0"/>
                </a:solidFill>
                <a:latin typeface="Consolas" pitchFamily="49" charset="0"/>
                <a:ea typeface="仿宋" pitchFamily="49" charset="-122"/>
              </a:rPr>
              <a:t>3</a:t>
            </a:r>
            <a:r>
              <a:rPr lang="zh-CN" altLang="zh-CN" sz="2000">
                <a:solidFill>
                  <a:srgbClr val="00B0F0"/>
                </a:solidFill>
                <a:latin typeface="Consolas" pitchFamily="49" charset="0"/>
                <a:ea typeface="仿宋" pitchFamily="49" charset="-122"/>
              </a:rPr>
              <a:t>个点先进栈</a:t>
            </a:r>
          </a:p>
          <a:p>
            <a:pPr defTabSz="360000">
              <a:lnSpc>
                <a:spcPts val="2800"/>
              </a:lnSpc>
            </a:pPr>
            <a:r>
              <a:rPr lang="en-US" altLang="zh-CN" sz="2000">
                <a:solidFill>
                  <a:srgbClr val="0000FF"/>
                </a:solidFill>
                <a:latin typeface="Consolas" pitchFamily="49" charset="0"/>
                <a:ea typeface="仿宋" pitchFamily="49" charset="-122"/>
              </a:rPr>
              <a:t>	top++;ch[1]=a[1];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top++;ch[2]=a[2];</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for (int i=3;i&lt;a.size();i++) {			</a:t>
            </a:r>
            <a:r>
              <a:rPr lang="en-US" altLang="zh-CN" sz="2000">
                <a:solidFill>
                  <a:srgbClr val="00B0F0"/>
                </a:solidFill>
                <a:latin typeface="Consolas" pitchFamily="49" charset="0"/>
                <a:ea typeface="仿宋" pitchFamily="49" charset="-122"/>
              </a:rPr>
              <a:t>//</a:t>
            </a:r>
            <a:r>
              <a:rPr lang="zh-CN" altLang="en-US" sz="2000">
                <a:solidFill>
                  <a:srgbClr val="00B0F0"/>
                </a:solidFill>
                <a:latin typeface="Consolas" pitchFamily="49" charset="0"/>
                <a:ea typeface="仿宋" pitchFamily="49" charset="-122"/>
              </a:rPr>
              <a:t>扫描</a:t>
            </a:r>
            <a:r>
              <a:rPr lang="zh-CN" altLang="zh-CN" sz="2000">
                <a:solidFill>
                  <a:srgbClr val="00B0F0"/>
                </a:solidFill>
                <a:latin typeface="Consolas" pitchFamily="49" charset="0"/>
                <a:ea typeface="仿宋" pitchFamily="49" charset="-122"/>
              </a:rPr>
              <a:t>其余所有点</a:t>
            </a:r>
          </a:p>
          <a:p>
            <a:pPr defTabSz="360000">
              <a:lnSpc>
                <a:spcPts val="2800"/>
              </a:lnSpc>
            </a:pPr>
            <a:r>
              <a:rPr lang="en-US" altLang="zh-CN" sz="2000">
                <a:solidFill>
                  <a:srgbClr val="0000FF"/>
                </a:solidFill>
                <a:latin typeface="Consolas" pitchFamily="49" charset="0"/>
                <a:ea typeface="仿宋" pitchFamily="49" charset="-122"/>
              </a:rPr>
              <a:t>		while (</a:t>
            </a:r>
            <a:r>
              <a:rPr lang="en-US" altLang="zh-CN" sz="2000">
                <a:solidFill>
                  <a:srgbClr val="FF00FF"/>
                </a:solidFill>
                <a:latin typeface="Consolas" pitchFamily="49" charset="0"/>
                <a:ea typeface="仿宋" pitchFamily="49" charset="-122"/>
              </a:rPr>
              <a:t>top&gt;=0</a:t>
            </a:r>
            <a:r>
              <a:rPr lang="en-US" altLang="zh-CN" sz="2000">
                <a:solidFill>
                  <a:srgbClr val="0000FF"/>
                </a:solidFill>
                <a:latin typeface="Consolas" pitchFamily="49" charset="0"/>
                <a:ea typeface="仿宋" pitchFamily="49" charset="-122"/>
              </a:rPr>
              <a:t> &amp;&amp; </a:t>
            </a:r>
            <a:r>
              <a:rPr lang="en-US" altLang="zh-CN" sz="2000">
                <a:solidFill>
                  <a:srgbClr val="FF00FF"/>
                </a:solidFill>
                <a:latin typeface="Consolas" pitchFamily="49" charset="0"/>
                <a:ea typeface="仿宋" pitchFamily="49" charset="-122"/>
              </a:rPr>
              <a:t>Direction(ch[top-1],a[i],ch[top])&gt;0</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top--;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存在右拐关系</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出栈栈顶元素</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从凸包中删除之</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top++; ch[top]=a[i];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当前点进栈</a:t>
            </a:r>
          </a:p>
          <a:p>
            <a:pPr defTabSz="360000">
              <a:lnSpc>
                <a:spcPts val="28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return top+1;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返回栈中元素个数即凸包的顶点个数</a:t>
            </a:r>
          </a:p>
          <a:p>
            <a:pPr defTabSz="360000">
              <a:lnSpc>
                <a:spcPts val="28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120</a:t>
            </a:fld>
            <a:r>
              <a:rPr lang="en-US" altLang="zh-CN"/>
              <a:t>/167</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Text Box 3"/>
          <p:cNvSpPr txBox="1">
            <a:spLocks noChangeArrowheads="1"/>
          </p:cNvSpPr>
          <p:nvPr/>
        </p:nvSpPr>
        <p:spPr bwMode="auto">
          <a:xfrm>
            <a:off x="285720" y="1571612"/>
            <a:ext cx="8569325" cy="1323439"/>
          </a:xfrm>
          <a:prstGeom prst="rect">
            <a:avLst/>
          </a:prstGeom>
          <a:ln>
            <a:solidFill>
              <a:schemeClr val="accent6">
                <a:lumMod val="60000"/>
                <a:lumOff val="4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a:lnSpc>
                <a:spcPts val="3200"/>
              </a:lnSpc>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Graham</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：对于</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个点，该算法中排序过程的时间复杂度为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log</a:t>
            </a:r>
            <a:r>
              <a:rPr lang="en-US" altLang="zh-CN" sz="2200" baseline="-250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for</a:t>
            </a:r>
            <a:r>
              <a:rPr lang="zh-CN" altLang="zh-CN" sz="2200">
                <a:solidFill>
                  <a:srgbClr val="0000FF"/>
                </a:solidFill>
                <a:latin typeface="Consolas" pitchFamily="49" charset="0"/>
                <a:ea typeface="仿宋" pitchFamily="49" charset="-122"/>
              </a:rPr>
              <a:t>循环次数少于</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，所以整个算法的时间复杂度为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log</a:t>
            </a:r>
            <a:r>
              <a:rPr lang="en-US" altLang="zh-CN" sz="2200" baseline="-250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121</a:t>
            </a:fld>
            <a:r>
              <a:rPr lang="en-US" altLang="zh-CN"/>
              <a:t>/167</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Text Box 3"/>
          <p:cNvSpPr txBox="1">
            <a:spLocks noChangeArrowheads="1"/>
          </p:cNvSpPr>
          <p:nvPr/>
        </p:nvSpPr>
        <p:spPr bwMode="auto">
          <a:xfrm>
            <a:off x="500034" y="1781195"/>
            <a:ext cx="8286808" cy="2362185"/>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nSpc>
                <a:spcPts val="33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二维空间中最近点对问题：给定平面上</a:t>
            </a:r>
            <a:r>
              <a:rPr lang="en-US" altLang="zh-CN" i="1">
                <a:solidFill>
                  <a:srgbClr val="0000FF"/>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个点，找其中的一对点，使得在</a:t>
            </a:r>
            <a:r>
              <a:rPr lang="en-US" altLang="zh-CN" i="1">
                <a:solidFill>
                  <a:srgbClr val="0000FF"/>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个点的所有点对中该点对的</a:t>
            </a:r>
            <a:r>
              <a:rPr lang="zh-CN" altLang="en-US">
                <a:solidFill>
                  <a:srgbClr val="FF0000"/>
                </a:solidFill>
                <a:latin typeface="Consolas" pitchFamily="49" charset="0"/>
                <a:ea typeface="仿宋" pitchFamily="49" charset="-122"/>
                <a:cs typeface="Consolas" pitchFamily="49" charset="0"/>
              </a:rPr>
              <a:t>距离最小</a:t>
            </a:r>
            <a:r>
              <a:rPr lang="zh-CN" altLang="en-US">
                <a:solidFill>
                  <a:srgbClr val="0000FF"/>
                </a:solidFill>
                <a:latin typeface="Consolas" pitchFamily="49" charset="0"/>
                <a:ea typeface="仿宋" pitchFamily="49" charset="-122"/>
                <a:cs typeface="Consolas" pitchFamily="49" charset="0"/>
              </a:rPr>
              <a:t>。</a:t>
            </a:r>
          </a:p>
          <a:p>
            <a:pPr marL="457200" indent="-457200">
              <a:lnSpc>
                <a:spcPts val="33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例如，在空中交通控制问题中，若将飞机作为空间中移动的一个点来看待，则具有最大碰撞危险的</a:t>
            </a:r>
            <a:r>
              <a:rPr lang="en-US" altLang="zh-CN">
                <a:solidFill>
                  <a:srgbClr val="0000FF"/>
                </a:solidFill>
                <a:latin typeface="Consolas" pitchFamily="49" charset="0"/>
                <a:ea typeface="仿宋" pitchFamily="49" charset="-122"/>
                <a:cs typeface="Consolas" pitchFamily="49" charset="0"/>
              </a:rPr>
              <a:t>2</a:t>
            </a:r>
            <a:r>
              <a:rPr lang="zh-CN" altLang="en-US">
                <a:solidFill>
                  <a:srgbClr val="0000FF"/>
                </a:solidFill>
                <a:latin typeface="Consolas" pitchFamily="49" charset="0"/>
                <a:ea typeface="仿宋" pitchFamily="49" charset="-122"/>
                <a:cs typeface="Consolas" pitchFamily="49" charset="0"/>
              </a:rPr>
              <a:t>架飞机，就是这个空间中最接近的一对点。 </a:t>
            </a:r>
          </a:p>
        </p:txBody>
      </p:sp>
      <p:sp>
        <p:nvSpPr>
          <p:cNvPr id="6" name="TextBox 5">
            <a:hlinkClick r:id="rId3" action="ppaction://hlinksldjump"/>
          </p:cNvPr>
          <p:cNvSpPr txBox="1"/>
          <p:nvPr/>
        </p:nvSpPr>
        <p:spPr>
          <a:xfrm>
            <a:off x="2285984" y="709625"/>
            <a:ext cx="446849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10.3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最近点对问题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7" name="灯片编号占位符 6"/>
          <p:cNvSpPr>
            <a:spLocks noGrp="1"/>
          </p:cNvSpPr>
          <p:nvPr>
            <p:ph type="sldNum" sz="quarter" idx="12"/>
          </p:nvPr>
        </p:nvSpPr>
        <p:spPr/>
        <p:txBody>
          <a:bodyPr/>
          <a:lstStyle/>
          <a:p>
            <a:pPr>
              <a:defRPr/>
            </a:pPr>
            <a:fld id="{51116183-1013-4E64-BBE8-A5C1D5D4F838}" type="slidenum">
              <a:rPr lang="en-US" altLang="zh-CN" smtClean="0"/>
              <a:pPr>
                <a:defRPr/>
              </a:pPr>
              <a:t>122</a:t>
            </a:fld>
            <a:r>
              <a:rPr lang="en-US" altLang="zh-CN"/>
              <a:t>/167</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Text Box 2"/>
          <p:cNvSpPr txBox="1">
            <a:spLocks noChangeArrowheads="1"/>
          </p:cNvSpPr>
          <p:nvPr/>
        </p:nvSpPr>
        <p:spPr bwMode="auto">
          <a:xfrm>
            <a:off x="571472" y="428604"/>
            <a:ext cx="5103820" cy="51911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spcBef>
                <a:spcPct val="50000"/>
              </a:spcBef>
              <a:defRPr/>
            </a:pP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10.3.1 </a:t>
            </a:r>
            <a:r>
              <a:rPr lang="zh-CN" altLang="en-US"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用蛮力法求最近点对</a:t>
            </a:r>
          </a:p>
        </p:txBody>
      </p:sp>
      <p:sp>
        <p:nvSpPr>
          <p:cNvPr id="74755" name="Text Box 3"/>
          <p:cNvSpPr txBox="1">
            <a:spLocks noChangeArrowheads="1"/>
          </p:cNvSpPr>
          <p:nvPr/>
        </p:nvSpPr>
        <p:spPr bwMode="auto">
          <a:xfrm>
            <a:off x="500034" y="1571612"/>
            <a:ext cx="8135938" cy="929100"/>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nSpc>
                <a:spcPts val="3400"/>
              </a:lnSpc>
              <a:spcBef>
                <a:spcPts val="0"/>
              </a:spcBef>
              <a:buBlip>
                <a:blip r:embed="rId2"/>
              </a:buBlip>
            </a:pPr>
            <a:r>
              <a:rPr lang="zh-CN" altLang="en-US">
                <a:solidFill>
                  <a:srgbClr val="0000FF"/>
                </a:solidFill>
                <a:latin typeface="Consolas" pitchFamily="49" charset="0"/>
                <a:ea typeface="仿宋" pitchFamily="49" charset="-122"/>
                <a:cs typeface="Consolas" pitchFamily="49" charset="0"/>
              </a:rPr>
              <a:t>用蛮力法求最近点对：分别计算每一对点之间的距离，然后找出距离最小的那一对。</a:t>
            </a: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123</a:t>
            </a:fld>
            <a:r>
              <a:rPr lang="en-US" altLang="zh-CN"/>
              <a:t>/167</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214282" y="570306"/>
            <a:ext cx="8786874" cy="4497917"/>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2700"/>
              </a:lnSpc>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ClosestPoints1</a:t>
            </a:r>
            <a:r>
              <a:rPr lang="en-US" altLang="zh-CN" sz="2000">
                <a:solidFill>
                  <a:srgbClr val="0000FF"/>
                </a:solidFill>
                <a:latin typeface="Consolas" pitchFamily="49" charset="0"/>
                <a:ea typeface="仿宋" pitchFamily="49" charset="-122"/>
              </a:rPr>
              <a:t>(vector&lt;Point&gt;&amp;a) {</a:t>
            </a:r>
          </a:p>
          <a:p>
            <a:pPr defTabSz="360000">
              <a:lnSpc>
                <a:spcPts val="27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穷举法求</a:t>
            </a:r>
            <a:r>
              <a:rPr lang="en-US" altLang="zh-CN" sz="2000">
                <a:solidFill>
                  <a:srgbClr val="00B050"/>
                </a:solidFill>
                <a:latin typeface="Consolas" pitchFamily="49" charset="0"/>
                <a:ea typeface="仿宋" pitchFamily="49" charset="-122"/>
              </a:rPr>
              <a:t>a</a:t>
            </a:r>
            <a:r>
              <a:rPr lang="zh-CN" altLang="zh-CN" sz="2000">
                <a:solidFill>
                  <a:srgbClr val="00B050"/>
                </a:solidFill>
                <a:latin typeface="Consolas" pitchFamily="49" charset="0"/>
                <a:ea typeface="仿宋" pitchFamily="49" charset="-122"/>
              </a:rPr>
              <a:t>中的最近点对距离</a:t>
            </a:r>
          </a:p>
          <a:p>
            <a:pPr defTabSz="360000">
              <a:lnSpc>
                <a:spcPts val="2700"/>
              </a:lnSpc>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double d,</a:t>
            </a:r>
            <a:r>
              <a:rPr lang="en-US" altLang="zh-CN" sz="2000">
                <a:solidFill>
                  <a:srgbClr val="006600"/>
                </a:solidFill>
                <a:latin typeface="Consolas" pitchFamily="49" charset="0"/>
                <a:ea typeface="仿宋" pitchFamily="49" charset="-122"/>
              </a:rPr>
              <a:t>mindist=INF</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for (int i=0;i&lt;n-1;i++) {</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for (int j=i+1;j&lt;n;j++) {</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d=</a:t>
            </a:r>
            <a:r>
              <a:rPr lang="en-US" altLang="zh-CN" sz="2000">
                <a:solidFill>
                  <a:srgbClr val="FF0000"/>
                </a:solidFill>
                <a:latin typeface="Consolas" pitchFamily="49" charset="0"/>
                <a:ea typeface="仿宋" pitchFamily="49" charset="-122"/>
              </a:rPr>
              <a:t>Distance</a:t>
            </a:r>
            <a:r>
              <a:rPr lang="en-US" altLang="zh-CN" sz="2000">
                <a:solidFill>
                  <a:srgbClr val="0000FF"/>
                </a:solidFill>
                <a:latin typeface="Consolas" pitchFamily="49" charset="0"/>
                <a:ea typeface="仿宋" pitchFamily="49" charset="-122"/>
              </a:rPr>
              <a:t>(a[i],a[j]);</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mindist</a:t>
            </a:r>
            <a:r>
              <a:rPr lang="en-US" altLang="zh-CN" sz="2000">
                <a:solidFill>
                  <a:srgbClr val="0000FF"/>
                </a:solidFill>
                <a:latin typeface="Consolas" pitchFamily="49" charset="0"/>
                <a:ea typeface="仿宋" pitchFamily="49" charset="-122"/>
              </a:rPr>
              <a:t>=min(mindist,d);</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	return </a:t>
            </a:r>
            <a:r>
              <a:rPr lang="en-US" altLang="zh-CN" sz="2000">
                <a:solidFill>
                  <a:srgbClr val="006600"/>
                </a:solidFill>
                <a:latin typeface="Consolas" pitchFamily="49" charset="0"/>
                <a:ea typeface="仿宋" pitchFamily="49" charset="-122"/>
              </a:rPr>
              <a:t>mindist</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defTabSz="360000">
              <a:lnSpc>
                <a:spcPts val="27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TextBox 5"/>
          <p:cNvSpPr txBox="1"/>
          <p:nvPr/>
        </p:nvSpPr>
        <p:spPr>
          <a:xfrm>
            <a:off x="285720" y="5429264"/>
            <a:ext cx="8643998" cy="76944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ClosestPoints1</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：该算法中有两种</a:t>
            </a:r>
            <a:r>
              <a:rPr lang="en-US" altLang="zh-CN" sz="2200">
                <a:solidFill>
                  <a:srgbClr val="0000FF"/>
                </a:solidFill>
                <a:latin typeface="Consolas" pitchFamily="49" charset="0"/>
                <a:ea typeface="仿宋" pitchFamily="49" charset="-122"/>
              </a:rPr>
              <a:t>for</a:t>
            </a:r>
            <a:r>
              <a:rPr lang="zh-CN" altLang="zh-CN" sz="2200">
                <a:solidFill>
                  <a:srgbClr val="0000FF"/>
                </a:solidFill>
                <a:latin typeface="Consolas" pitchFamily="49" charset="0"/>
                <a:ea typeface="仿宋" pitchFamily="49" charset="-122"/>
              </a:rPr>
              <a:t>循环，当求</a:t>
            </a:r>
            <a:r>
              <a:rPr lang="en-US" altLang="zh-CN" sz="2200" i="1">
                <a:solidFill>
                  <a:srgbClr val="0000FF"/>
                </a:solidFill>
                <a:latin typeface="Consolas" pitchFamily="49" charset="0"/>
                <a:ea typeface="仿宋" pitchFamily="49" charset="-122"/>
              </a:rPr>
              <a:t>a</a:t>
            </a:r>
            <a:r>
              <a:rPr lang="en-US" altLang="zh-CN" sz="2200">
                <a:solidFill>
                  <a:srgbClr val="0000FF"/>
                </a:solidFill>
                <a:latin typeface="Consolas" pitchFamily="49" charset="0"/>
                <a:ea typeface="仿宋" pitchFamily="49" charset="-122"/>
              </a:rPr>
              <a:t>[0..</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中</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个点的最近点对时，算法的时间复杂度为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baseline="30000">
                <a:solidFill>
                  <a:srgbClr val="0000FF"/>
                </a:solidFill>
                <a:latin typeface="Consolas" pitchFamily="49" charset="0"/>
                <a:ea typeface="仿宋" pitchFamily="49" charset="-122"/>
              </a:rPr>
              <a:t>2</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8" name="灯片编号占位符 7"/>
          <p:cNvSpPr>
            <a:spLocks noGrp="1"/>
          </p:cNvSpPr>
          <p:nvPr>
            <p:ph type="sldNum" sz="quarter" idx="12"/>
          </p:nvPr>
        </p:nvSpPr>
        <p:spPr/>
        <p:txBody>
          <a:bodyPr/>
          <a:lstStyle/>
          <a:p>
            <a:pPr>
              <a:defRPr/>
            </a:pPr>
            <a:fld id="{51116183-1013-4E64-BBE8-A5C1D5D4F838}" type="slidenum">
              <a:rPr lang="en-US" altLang="zh-CN" smtClean="0"/>
              <a:pPr>
                <a:defRPr/>
              </a:pPr>
              <a:t>124</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Text Box 2"/>
          <p:cNvSpPr txBox="1">
            <a:spLocks noChangeArrowheads="1"/>
          </p:cNvSpPr>
          <p:nvPr/>
        </p:nvSpPr>
        <p:spPr bwMode="auto">
          <a:xfrm>
            <a:off x="285720" y="571480"/>
            <a:ext cx="5173671" cy="52322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spcBef>
                <a:spcPct val="50000"/>
              </a:spcBef>
              <a:defRPr/>
            </a:pP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10.3.2 </a:t>
            </a:r>
            <a:r>
              <a:rPr lang="zh-CN" altLang="en-US"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用分治法求最近点对</a:t>
            </a:r>
          </a:p>
        </p:txBody>
      </p:sp>
      <p:sp>
        <p:nvSpPr>
          <p:cNvPr id="75779" name="Text Box 3"/>
          <p:cNvSpPr txBox="1">
            <a:spLocks noChangeArrowheads="1"/>
          </p:cNvSpPr>
          <p:nvPr/>
        </p:nvSpPr>
        <p:spPr bwMode="auto">
          <a:xfrm>
            <a:off x="642910" y="1714488"/>
            <a:ext cx="8143932" cy="2144177"/>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nSpc>
                <a:spcPts val="3400"/>
              </a:lnSpc>
              <a:spcBef>
                <a:spcPts val="1200"/>
              </a:spcBef>
              <a:buBlip>
                <a:blip r:embed="rId2"/>
              </a:buBlip>
            </a:pPr>
            <a:r>
              <a:rPr lang="zh-CN" altLang="zh-CN">
                <a:solidFill>
                  <a:srgbClr val="0000FF"/>
                </a:solidFill>
                <a:latin typeface="Consolas" pitchFamily="49" charset="0"/>
                <a:ea typeface="仿宋" pitchFamily="49" charset="-122"/>
              </a:rPr>
              <a:t>采用分治法求点集</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中最近点对距离，为了通用先考虑点集</a:t>
            </a:r>
            <a:r>
              <a:rPr lang="en-US" altLang="zh-CN" i="1">
                <a:solidFill>
                  <a:srgbClr val="FF0000"/>
                </a:solidFill>
                <a:latin typeface="Consolas" pitchFamily="49" charset="0"/>
                <a:ea typeface="仿宋" pitchFamily="49" charset="-122"/>
              </a:rPr>
              <a:t>a</a:t>
            </a:r>
            <a:r>
              <a:rPr lang="en-US" altLang="zh-CN">
                <a:solidFill>
                  <a:srgbClr val="FF0000"/>
                </a:solidFill>
                <a:latin typeface="Consolas" pitchFamily="49" charset="0"/>
                <a:ea typeface="仿宋" pitchFamily="49" charset="-122"/>
              </a:rPr>
              <a:t>[l..r]</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nSpc>
                <a:spcPts val="3400"/>
              </a:lnSpc>
              <a:spcBef>
                <a:spcPts val="1200"/>
              </a:spcBef>
              <a:buBlip>
                <a:blip r:embed="rId2"/>
              </a:buBlip>
            </a:pPr>
            <a:r>
              <a:rPr lang="zh-CN" altLang="zh-CN">
                <a:solidFill>
                  <a:srgbClr val="0000FF"/>
                </a:solidFill>
                <a:latin typeface="Consolas" pitchFamily="49" charset="0"/>
                <a:ea typeface="仿宋" pitchFamily="49" charset="-122"/>
              </a:rPr>
              <a:t>首先对</a:t>
            </a:r>
            <a:r>
              <a:rPr lang="en-US" altLang="zh-CN" i="1">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中所有点</a:t>
            </a:r>
            <a:r>
              <a:rPr lang="zh-CN" altLang="zh-CN">
                <a:solidFill>
                  <a:srgbClr val="FF0000"/>
                </a:solidFill>
                <a:latin typeface="Consolas" pitchFamily="49" charset="0"/>
                <a:ea typeface="仿宋" pitchFamily="49" charset="-122"/>
              </a:rPr>
              <a:t>按</a:t>
            </a:r>
            <a:r>
              <a:rPr lang="en-US" altLang="zh-CN" i="1">
                <a:solidFill>
                  <a:srgbClr val="FF0000"/>
                </a:solidFill>
                <a:latin typeface="Consolas" pitchFamily="49" charset="0"/>
                <a:ea typeface="仿宋" pitchFamily="49" charset="-122"/>
              </a:rPr>
              <a:t>x</a:t>
            </a:r>
            <a:r>
              <a:rPr lang="zh-CN" altLang="zh-CN">
                <a:solidFill>
                  <a:srgbClr val="FF0000"/>
                </a:solidFill>
                <a:latin typeface="Consolas" pitchFamily="49" charset="0"/>
                <a:ea typeface="仿宋" pitchFamily="49" charset="-122"/>
              </a:rPr>
              <a:t>坐标递增排序</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nSpc>
                <a:spcPts val="3400"/>
              </a:lnSpc>
              <a:spcBef>
                <a:spcPts val="1200"/>
              </a:spcBef>
              <a:buBlip>
                <a:blip r:embed="rId2"/>
              </a:buBlip>
            </a:pPr>
            <a:r>
              <a:rPr lang="zh-CN" altLang="en-US">
                <a:solidFill>
                  <a:srgbClr val="0000FF"/>
                </a:solidFill>
                <a:latin typeface="Consolas" pitchFamily="49" charset="0"/>
                <a:ea typeface="仿宋" pitchFamily="49" charset="-122"/>
              </a:rPr>
              <a:t>分治策略</a:t>
            </a:r>
            <a:r>
              <a:rPr lang="zh-CN" altLang="zh-CN">
                <a:solidFill>
                  <a:srgbClr val="0000FF"/>
                </a:solidFill>
                <a:latin typeface="Consolas" pitchFamily="49" charset="0"/>
                <a:ea typeface="仿宋" pitchFamily="49" charset="-122"/>
              </a:rPr>
              <a:t>：</a:t>
            </a:r>
            <a:endParaRPr lang="zh-CN" altLang="en-US" dirty="0">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125</a:t>
            </a:fld>
            <a:r>
              <a:rPr lang="en-US" altLang="zh-CN"/>
              <a:t>/167</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571480"/>
            <a:ext cx="8215370" cy="1848052"/>
          </a:xfrm>
          <a:prstGeom prst="rect">
            <a:avLst/>
          </a:prstGeom>
          <a:ln>
            <a:solidFill>
              <a:schemeClr val="accent6">
                <a:lumMod val="40000"/>
                <a:lumOff val="60000"/>
              </a:schemeClr>
            </a:solidFill>
          </a:ln>
        </p:spPr>
        <p:style>
          <a:lnRef idx="2">
            <a:schemeClr val="accent2"/>
          </a:lnRef>
          <a:fillRef idx="1">
            <a:schemeClr val="lt1"/>
          </a:fillRef>
          <a:effectRef idx="0">
            <a:schemeClr val="accent2"/>
          </a:effectRef>
          <a:fontRef idx="minor">
            <a:schemeClr val="dk1"/>
          </a:fontRef>
        </p:style>
        <p:txBody>
          <a:bodyPr wrap="square" tIns="72000" bIns="72000" rtlCol="0">
            <a:spAutoFit/>
          </a:bodyPr>
          <a:lstStyle/>
          <a:p>
            <a:pPr>
              <a:lnSpc>
                <a:spcPts val="3400"/>
              </a:lnSpc>
            </a:pPr>
            <a:r>
              <a:rPr lang="en-US" altLang="zh-CN" sz="2200">
                <a:solidFill>
                  <a:srgbClr val="0000FF"/>
                </a:solidFill>
                <a:latin typeface="Consolas" pitchFamily="49" charset="0"/>
                <a:ea typeface="仿宋" pitchFamily="49" charset="-122"/>
              </a:rPr>
              <a:t>  </a:t>
            </a:r>
            <a:r>
              <a:rPr lang="zh-CN" altLang="zh-CN" sz="2200">
                <a:solidFill>
                  <a:srgbClr val="FF0000"/>
                </a:solidFill>
                <a:latin typeface="Consolas" pitchFamily="49" charset="0"/>
                <a:ea typeface="楷体" pitchFamily="49" charset="-122"/>
              </a:rPr>
              <a:t>（</a:t>
            </a:r>
            <a:r>
              <a:rPr lang="en-US" altLang="zh-CN" sz="2200">
                <a:solidFill>
                  <a:srgbClr val="FF0000"/>
                </a:solidFill>
                <a:latin typeface="Consolas" pitchFamily="49" charset="0"/>
                <a:ea typeface="楷体" pitchFamily="49" charset="-122"/>
              </a:rPr>
              <a:t>1</a:t>
            </a:r>
            <a:r>
              <a:rPr lang="zh-CN" altLang="zh-CN" sz="2200">
                <a:solidFill>
                  <a:srgbClr val="FF0000"/>
                </a:solidFill>
                <a:latin typeface="Consolas" pitchFamily="49" charset="0"/>
                <a:ea typeface="楷体" pitchFamily="49" charset="-122"/>
              </a:rPr>
              <a:t>）分解</a:t>
            </a:r>
            <a:r>
              <a:rPr lang="zh-CN" altLang="zh-CN" sz="2200">
                <a:solidFill>
                  <a:srgbClr val="0000FF"/>
                </a:solidFill>
                <a:latin typeface="Consolas" pitchFamily="49" charset="0"/>
                <a:ea typeface="仿宋" pitchFamily="49" charset="-122"/>
              </a:rPr>
              <a:t>：求出</a:t>
            </a:r>
            <a:r>
              <a:rPr lang="en-US" altLang="zh-CN" sz="2200" i="1">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的中间位置</a:t>
            </a:r>
            <a:r>
              <a:rPr lang="en-US" altLang="zh-CN" sz="2200">
                <a:solidFill>
                  <a:srgbClr val="0000FF"/>
                </a:solidFill>
                <a:latin typeface="Consolas" pitchFamily="49" charset="0"/>
                <a:ea typeface="仿宋" pitchFamily="49" charset="-122"/>
              </a:rPr>
              <a:t>mid=(l+r)/2</a:t>
            </a:r>
            <a:r>
              <a:rPr lang="zh-CN" altLang="zh-CN" sz="2200">
                <a:solidFill>
                  <a:srgbClr val="0000FF"/>
                </a:solidFill>
                <a:latin typeface="Consolas" pitchFamily="49" charset="0"/>
                <a:ea typeface="仿宋" pitchFamily="49" charset="-122"/>
              </a:rPr>
              <a:t>，以</a:t>
            </a:r>
            <a:r>
              <a:rPr lang="en-US" altLang="zh-CN" sz="2200" i="1">
                <a:solidFill>
                  <a:srgbClr val="0000FF"/>
                </a:solidFill>
                <a:latin typeface="Consolas" pitchFamily="49" charset="0"/>
                <a:ea typeface="仿宋" pitchFamily="49" charset="-122"/>
              </a:rPr>
              <a:t>a</a:t>
            </a:r>
            <a:r>
              <a:rPr lang="en-US" altLang="zh-CN" sz="2200">
                <a:solidFill>
                  <a:srgbClr val="0000FF"/>
                </a:solidFill>
                <a:latin typeface="Consolas" pitchFamily="49" charset="0"/>
                <a:ea typeface="仿宋" pitchFamily="49" charset="-122"/>
              </a:rPr>
              <a:t>[mid]</a:t>
            </a:r>
            <a:r>
              <a:rPr lang="zh-CN" altLang="zh-CN" sz="2200">
                <a:solidFill>
                  <a:srgbClr val="0000FF"/>
                </a:solidFill>
                <a:latin typeface="Consolas" pitchFamily="49" charset="0"/>
                <a:ea typeface="仿宋" pitchFamily="49" charset="-122"/>
              </a:rPr>
              <a:t>点画一条</a:t>
            </a:r>
            <a:r>
              <a:rPr lang="en-US" altLang="zh-CN" sz="2200">
                <a:solidFill>
                  <a:srgbClr val="0000FF"/>
                </a:solidFill>
                <a:latin typeface="Consolas" pitchFamily="49" charset="0"/>
                <a:ea typeface="仿宋" pitchFamily="49" charset="-122"/>
              </a:rPr>
              <a:t>Y</a:t>
            </a:r>
            <a:r>
              <a:rPr lang="zh-CN" altLang="zh-CN" sz="2200">
                <a:solidFill>
                  <a:srgbClr val="0000FF"/>
                </a:solidFill>
                <a:latin typeface="Consolas" pitchFamily="49" charset="0"/>
                <a:ea typeface="仿宋" pitchFamily="49" charset="-122"/>
              </a:rPr>
              <a:t>方向的中轴线</a:t>
            </a:r>
            <a:r>
              <a:rPr lang="en-US" altLang="zh-CN" sz="2200" i="1">
                <a:solidFill>
                  <a:srgbClr val="0000FF"/>
                </a:solidFill>
                <a:latin typeface="Consolas" pitchFamily="49" charset="0"/>
                <a:ea typeface="仿宋" pitchFamily="49" charset="-122"/>
              </a:rPr>
              <a:t>l</a:t>
            </a:r>
            <a:r>
              <a:rPr lang="zh-CN" altLang="zh-CN" sz="2200">
                <a:solidFill>
                  <a:srgbClr val="0000FF"/>
                </a:solidFill>
                <a:latin typeface="Consolas" pitchFamily="49" charset="0"/>
                <a:ea typeface="仿宋" pitchFamily="49" charset="-122"/>
              </a:rPr>
              <a:t>（对应的</a:t>
            </a:r>
            <a:r>
              <a:rPr lang="en-US" altLang="zh-CN" sz="2200" i="1">
                <a:solidFill>
                  <a:srgbClr val="0000FF"/>
                </a:solidFill>
                <a:latin typeface="Consolas" pitchFamily="49" charset="0"/>
                <a:ea typeface="仿宋" pitchFamily="49" charset="-122"/>
              </a:rPr>
              <a:t>x</a:t>
            </a:r>
            <a:r>
              <a:rPr lang="zh-CN" altLang="zh-CN" sz="2200">
                <a:solidFill>
                  <a:srgbClr val="0000FF"/>
                </a:solidFill>
                <a:latin typeface="Consolas" pitchFamily="49" charset="0"/>
                <a:ea typeface="仿宋" pitchFamily="49" charset="-122"/>
              </a:rPr>
              <a:t>坐标为</a:t>
            </a:r>
            <a:r>
              <a:rPr lang="en-US" altLang="zh-CN" sz="2200" i="1">
                <a:solidFill>
                  <a:srgbClr val="0000FF"/>
                </a:solidFill>
                <a:latin typeface="Consolas" pitchFamily="49" charset="0"/>
                <a:ea typeface="仿宋" pitchFamily="49" charset="-122"/>
              </a:rPr>
              <a:t>a</a:t>
            </a:r>
            <a:r>
              <a:rPr lang="en-US" altLang="zh-CN" sz="2200">
                <a:solidFill>
                  <a:srgbClr val="0000FF"/>
                </a:solidFill>
                <a:latin typeface="Consolas" pitchFamily="49" charset="0"/>
                <a:ea typeface="仿宋" pitchFamily="49" charset="-122"/>
              </a:rPr>
              <a:t>[mid].</a:t>
            </a:r>
            <a:r>
              <a:rPr lang="en-US" altLang="zh-CN" sz="2200" i="1">
                <a:solidFill>
                  <a:srgbClr val="0000FF"/>
                </a:solidFill>
                <a:latin typeface="Consolas" pitchFamily="49" charset="0"/>
                <a:ea typeface="仿宋" pitchFamily="49" charset="-122"/>
              </a:rPr>
              <a:t>x</a:t>
            </a:r>
            <a:r>
              <a:rPr lang="zh-CN" altLang="zh-CN" sz="2200">
                <a:solidFill>
                  <a:srgbClr val="0000FF"/>
                </a:solidFill>
                <a:latin typeface="Consolas" pitchFamily="49" charset="0"/>
                <a:ea typeface="仿宋" pitchFamily="49" charset="-122"/>
              </a:rPr>
              <a:t>），将</a:t>
            </a:r>
            <a:r>
              <a:rPr lang="en-US" altLang="zh-CN" sz="2200" i="1">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中所有点分割为点数大致相同的两个子集，左部分</a:t>
            </a:r>
            <a:r>
              <a:rPr lang="en-US" altLang="zh-CN" sz="2200">
                <a:solidFill>
                  <a:srgbClr val="0000FF"/>
                </a:solidFill>
                <a:latin typeface="Consolas" pitchFamily="49" charset="0"/>
                <a:ea typeface="仿宋" pitchFamily="49" charset="-122"/>
              </a:rPr>
              <a:t>S1</a:t>
            </a:r>
            <a:r>
              <a:rPr lang="zh-CN" altLang="zh-CN" sz="2200">
                <a:solidFill>
                  <a:srgbClr val="0000FF"/>
                </a:solidFill>
                <a:latin typeface="Consolas" pitchFamily="49" charset="0"/>
                <a:ea typeface="仿宋" pitchFamily="49" charset="-122"/>
              </a:rPr>
              <a:t>包含</a:t>
            </a:r>
            <a:r>
              <a:rPr lang="en-US" altLang="zh-CN" sz="2200" i="1">
                <a:solidFill>
                  <a:srgbClr val="0000FF"/>
                </a:solidFill>
                <a:latin typeface="Consolas" pitchFamily="49" charset="0"/>
                <a:ea typeface="仿宋" pitchFamily="49" charset="-122"/>
              </a:rPr>
              <a:t>a</a:t>
            </a:r>
            <a:r>
              <a:rPr lang="en-US" altLang="zh-CN" sz="2200">
                <a:solidFill>
                  <a:srgbClr val="0000FF"/>
                </a:solidFill>
                <a:latin typeface="Consolas" pitchFamily="49" charset="0"/>
                <a:ea typeface="仿宋" pitchFamily="49" charset="-122"/>
              </a:rPr>
              <a:t>[l..mid]</a:t>
            </a:r>
            <a:r>
              <a:rPr lang="zh-CN" altLang="zh-CN" sz="2200">
                <a:solidFill>
                  <a:srgbClr val="0000FF"/>
                </a:solidFill>
                <a:latin typeface="Consolas" pitchFamily="49" charset="0"/>
                <a:ea typeface="仿宋" pitchFamily="49" charset="-122"/>
              </a:rPr>
              <a:t>的点，右部分</a:t>
            </a:r>
            <a:r>
              <a:rPr lang="en-US" altLang="zh-CN" sz="2200">
                <a:solidFill>
                  <a:srgbClr val="0000FF"/>
                </a:solidFill>
                <a:latin typeface="Consolas" pitchFamily="49" charset="0"/>
                <a:ea typeface="仿宋" pitchFamily="49" charset="-122"/>
              </a:rPr>
              <a:t>S2</a:t>
            </a:r>
            <a:r>
              <a:rPr lang="zh-CN" altLang="zh-CN" sz="2200">
                <a:solidFill>
                  <a:srgbClr val="0000FF"/>
                </a:solidFill>
                <a:latin typeface="Consolas" pitchFamily="49" charset="0"/>
                <a:ea typeface="仿宋" pitchFamily="49" charset="-122"/>
              </a:rPr>
              <a:t>包含</a:t>
            </a:r>
            <a:r>
              <a:rPr lang="en-US" altLang="zh-CN" sz="2200" i="1">
                <a:solidFill>
                  <a:srgbClr val="0000FF"/>
                </a:solidFill>
                <a:latin typeface="Consolas" pitchFamily="49" charset="0"/>
                <a:ea typeface="仿宋" pitchFamily="49" charset="-122"/>
              </a:rPr>
              <a:t>a</a:t>
            </a:r>
            <a:r>
              <a:rPr lang="en-US" altLang="zh-CN" sz="2200">
                <a:solidFill>
                  <a:srgbClr val="0000FF"/>
                </a:solidFill>
                <a:latin typeface="Consolas" pitchFamily="49" charset="0"/>
                <a:ea typeface="仿宋" pitchFamily="49" charset="-122"/>
              </a:rPr>
              <a:t>[mid+1..r]</a:t>
            </a:r>
            <a:r>
              <a:rPr lang="zh-CN" altLang="zh-CN" sz="2200">
                <a:solidFill>
                  <a:srgbClr val="0000FF"/>
                </a:solidFill>
                <a:latin typeface="Consolas" pitchFamily="49" charset="0"/>
                <a:ea typeface="仿宋" pitchFamily="49" charset="-122"/>
              </a:rPr>
              <a:t>的点，如图所示。</a:t>
            </a:r>
          </a:p>
        </p:txBody>
      </p:sp>
      <p:sp>
        <p:nvSpPr>
          <p:cNvPr id="10" name="Text Box 38"/>
          <p:cNvSpPr txBox="1">
            <a:spLocks noChangeArrowheads="1"/>
          </p:cNvSpPr>
          <p:nvPr/>
        </p:nvSpPr>
        <p:spPr bwMode="auto">
          <a:xfrm>
            <a:off x="3792163" y="5494086"/>
            <a:ext cx="1231470" cy="27217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[mid].</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x</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2" name="AutoShape 36"/>
          <p:cNvSpPr>
            <a:spLocks/>
          </p:cNvSpPr>
          <p:nvPr/>
        </p:nvSpPr>
        <p:spPr bwMode="auto">
          <a:xfrm rot="5400000">
            <a:off x="2571694" y="1841661"/>
            <a:ext cx="246184" cy="3103305"/>
          </a:xfrm>
          <a:prstGeom prst="leftBrace">
            <a:avLst>
              <a:gd name="adj1" fmla="val 105000"/>
              <a:gd name="adj2" fmla="val 50000"/>
            </a:avLst>
          </a:prstGeom>
          <a:noFill/>
          <a:ln w="19050">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3" name="Oval 35"/>
          <p:cNvSpPr>
            <a:spLocks noChangeArrowheads="1"/>
          </p:cNvSpPr>
          <p:nvPr/>
        </p:nvSpPr>
        <p:spPr bwMode="auto">
          <a:xfrm>
            <a:off x="1444160" y="3644968"/>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4" name="Text Box 34"/>
          <p:cNvSpPr txBox="1">
            <a:spLocks noChangeArrowheads="1"/>
          </p:cNvSpPr>
          <p:nvPr/>
        </p:nvSpPr>
        <p:spPr bwMode="auto">
          <a:xfrm>
            <a:off x="2555220" y="2828457"/>
            <a:ext cx="24629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5" name="Oval 33"/>
          <p:cNvSpPr>
            <a:spLocks noChangeArrowheads="1"/>
          </p:cNvSpPr>
          <p:nvPr/>
        </p:nvSpPr>
        <p:spPr bwMode="auto">
          <a:xfrm>
            <a:off x="2248721" y="4104512"/>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6" name="Oval 32"/>
          <p:cNvSpPr>
            <a:spLocks noChangeArrowheads="1"/>
          </p:cNvSpPr>
          <p:nvPr/>
        </p:nvSpPr>
        <p:spPr bwMode="auto">
          <a:xfrm>
            <a:off x="1095244" y="4529864"/>
            <a:ext cx="77993" cy="7932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7" name="Oval 31"/>
          <p:cNvSpPr>
            <a:spLocks noChangeArrowheads="1"/>
          </p:cNvSpPr>
          <p:nvPr/>
        </p:nvSpPr>
        <p:spPr bwMode="auto">
          <a:xfrm>
            <a:off x="1813601" y="5171311"/>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8" name="Oval 30"/>
          <p:cNvSpPr>
            <a:spLocks noChangeArrowheads="1"/>
          </p:cNvSpPr>
          <p:nvPr/>
        </p:nvSpPr>
        <p:spPr bwMode="auto">
          <a:xfrm>
            <a:off x="3537659" y="4454641"/>
            <a:ext cx="79361" cy="75223"/>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9" name="Oval 29"/>
          <p:cNvSpPr>
            <a:spLocks noChangeArrowheads="1"/>
          </p:cNvSpPr>
          <p:nvPr/>
        </p:nvSpPr>
        <p:spPr bwMode="auto">
          <a:xfrm>
            <a:off x="3049176" y="4957952"/>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0" name="AutoShape 28"/>
          <p:cNvSpPr>
            <a:spLocks/>
          </p:cNvSpPr>
          <p:nvPr/>
        </p:nvSpPr>
        <p:spPr bwMode="auto">
          <a:xfrm rot="5400000">
            <a:off x="5828249" y="1841661"/>
            <a:ext cx="246184" cy="3103305"/>
          </a:xfrm>
          <a:prstGeom prst="leftBrace">
            <a:avLst>
              <a:gd name="adj1" fmla="val 105000"/>
              <a:gd name="adj2" fmla="val 50000"/>
            </a:avLst>
          </a:prstGeom>
          <a:noFill/>
          <a:ln w="19050">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1" name="Oval 27"/>
          <p:cNvSpPr>
            <a:spLocks noChangeArrowheads="1"/>
          </p:cNvSpPr>
          <p:nvPr/>
        </p:nvSpPr>
        <p:spPr bwMode="auto">
          <a:xfrm>
            <a:off x="5014055" y="4104512"/>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2" name="Text Box 26"/>
          <p:cNvSpPr txBox="1">
            <a:spLocks noChangeArrowheads="1"/>
          </p:cNvSpPr>
          <p:nvPr/>
        </p:nvSpPr>
        <p:spPr bwMode="auto">
          <a:xfrm>
            <a:off x="5811774" y="2828457"/>
            <a:ext cx="287343"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3" name="Oval 25"/>
          <p:cNvSpPr>
            <a:spLocks noChangeArrowheads="1"/>
          </p:cNvSpPr>
          <p:nvPr/>
        </p:nvSpPr>
        <p:spPr bwMode="auto">
          <a:xfrm>
            <a:off x="5453280" y="4957952"/>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4" name="Oval 24"/>
          <p:cNvSpPr>
            <a:spLocks noChangeArrowheads="1"/>
          </p:cNvSpPr>
          <p:nvPr/>
        </p:nvSpPr>
        <p:spPr bwMode="auto">
          <a:xfrm>
            <a:off x="6534237" y="4666633"/>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5" name="Oval 23"/>
          <p:cNvSpPr>
            <a:spLocks noChangeArrowheads="1"/>
          </p:cNvSpPr>
          <p:nvPr/>
        </p:nvSpPr>
        <p:spPr bwMode="auto">
          <a:xfrm>
            <a:off x="7252594" y="3677793"/>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6" name="Oval 22"/>
          <p:cNvSpPr>
            <a:spLocks noChangeArrowheads="1"/>
          </p:cNvSpPr>
          <p:nvPr/>
        </p:nvSpPr>
        <p:spPr bwMode="auto">
          <a:xfrm>
            <a:off x="6021124" y="3891153"/>
            <a:ext cx="77993" cy="7932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7" name="Line 21"/>
          <p:cNvSpPr>
            <a:spLocks noChangeShapeType="1"/>
          </p:cNvSpPr>
          <p:nvPr/>
        </p:nvSpPr>
        <p:spPr bwMode="auto">
          <a:xfrm>
            <a:off x="4312117" y="3468536"/>
            <a:ext cx="0" cy="1938018"/>
          </a:xfrm>
          <a:prstGeom prst="line">
            <a:avLst/>
          </a:prstGeom>
          <a:noFill/>
          <a:ln w="57150">
            <a:solidFill>
              <a:srgbClr val="FF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8" name="Freeform 20"/>
          <p:cNvSpPr>
            <a:spLocks/>
          </p:cNvSpPr>
          <p:nvPr/>
        </p:nvSpPr>
        <p:spPr bwMode="auto">
          <a:xfrm>
            <a:off x="1490682" y="3677793"/>
            <a:ext cx="762143" cy="447235"/>
          </a:xfrm>
          <a:custGeom>
            <a:avLst/>
            <a:gdLst/>
            <a:ahLst/>
            <a:cxnLst>
              <a:cxn ang="0">
                <a:pos x="0" y="0"/>
              </a:cxn>
              <a:cxn ang="0">
                <a:pos x="558" y="327"/>
              </a:cxn>
            </a:cxnLst>
            <a:rect l="0" t="0" r="r" b="b"/>
            <a:pathLst>
              <a:path w="558" h="327">
                <a:moveTo>
                  <a:pt x="0" y="0"/>
                </a:moveTo>
                <a:lnTo>
                  <a:pt x="558" y="327"/>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0" name="Freeform 18"/>
          <p:cNvSpPr>
            <a:spLocks/>
          </p:cNvSpPr>
          <p:nvPr/>
        </p:nvSpPr>
        <p:spPr bwMode="auto">
          <a:xfrm>
            <a:off x="6082698" y="3970479"/>
            <a:ext cx="467959" cy="704361"/>
          </a:xfrm>
          <a:custGeom>
            <a:avLst/>
            <a:gdLst/>
            <a:ahLst/>
            <a:cxnLst>
              <a:cxn ang="0">
                <a:pos x="0" y="0"/>
              </a:cxn>
              <a:cxn ang="0">
                <a:pos x="342" y="516"/>
              </a:cxn>
            </a:cxnLst>
            <a:rect l="0" t="0" r="r" b="b"/>
            <a:pathLst>
              <a:path w="342" h="516">
                <a:moveTo>
                  <a:pt x="0" y="0"/>
                </a:moveTo>
                <a:lnTo>
                  <a:pt x="342" y="516"/>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3" name="Oval 15"/>
          <p:cNvSpPr>
            <a:spLocks noChangeArrowheads="1"/>
          </p:cNvSpPr>
          <p:nvPr/>
        </p:nvSpPr>
        <p:spPr bwMode="auto">
          <a:xfrm>
            <a:off x="4273805" y="5215078"/>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4" name="Line 14"/>
          <p:cNvSpPr>
            <a:spLocks noChangeShapeType="1"/>
          </p:cNvSpPr>
          <p:nvPr/>
        </p:nvSpPr>
        <p:spPr bwMode="auto">
          <a:xfrm>
            <a:off x="857159" y="5417496"/>
            <a:ext cx="6981068" cy="1368"/>
          </a:xfrm>
          <a:prstGeom prst="line">
            <a:avLst/>
          </a:prstGeom>
          <a:noFill/>
          <a:ln w="19050">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5" name="Text Box 13"/>
          <p:cNvSpPr txBox="1">
            <a:spLocks noChangeArrowheads="1"/>
          </p:cNvSpPr>
          <p:nvPr/>
        </p:nvSpPr>
        <p:spPr bwMode="auto">
          <a:xfrm>
            <a:off x="7834122" y="5242431"/>
            <a:ext cx="24629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X</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 name="Text Box 3"/>
          <p:cNvSpPr txBox="1">
            <a:spLocks noChangeArrowheads="1"/>
          </p:cNvSpPr>
          <p:nvPr/>
        </p:nvSpPr>
        <p:spPr bwMode="auto">
          <a:xfrm>
            <a:off x="500034" y="2908737"/>
            <a:ext cx="24629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Y</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6" name="AutoShape 2"/>
          <p:cNvSpPr>
            <a:spLocks noChangeShapeType="1"/>
          </p:cNvSpPr>
          <p:nvPr/>
        </p:nvSpPr>
        <p:spPr bwMode="auto">
          <a:xfrm flipV="1">
            <a:off x="850318" y="2948814"/>
            <a:ext cx="1368" cy="2480991"/>
          </a:xfrm>
          <a:prstGeom prst="straightConnector1">
            <a:avLst/>
          </a:prstGeom>
          <a:noFill/>
          <a:ln w="19050">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9" name="灯片编号占位符 28"/>
          <p:cNvSpPr>
            <a:spLocks noGrp="1"/>
          </p:cNvSpPr>
          <p:nvPr>
            <p:ph type="sldNum" sz="quarter" idx="12"/>
          </p:nvPr>
        </p:nvSpPr>
        <p:spPr/>
        <p:txBody>
          <a:bodyPr/>
          <a:lstStyle/>
          <a:p>
            <a:pPr>
              <a:defRPr/>
            </a:pPr>
            <a:fld id="{51116183-1013-4E64-BBE8-A5C1D5D4F838}" type="slidenum">
              <a:rPr lang="en-US" altLang="zh-CN" smtClean="0"/>
              <a:pPr>
                <a:defRPr/>
              </a:pPr>
              <a:t>126</a:t>
            </a:fld>
            <a:r>
              <a:rPr lang="en-US" altLang="zh-CN"/>
              <a:t>/167</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4"/>
          <p:cNvSpPr>
            <a:spLocks noChangeArrowheads="1"/>
          </p:cNvSpPr>
          <p:nvPr/>
        </p:nvSpPr>
        <p:spPr bwMode="auto">
          <a:xfrm>
            <a:off x="0" y="2752725"/>
            <a:ext cx="9144000" cy="0"/>
          </a:xfrm>
          <a:prstGeom prst="rect">
            <a:avLst/>
          </a:prstGeom>
          <a:noFill/>
          <a:ln w="9525">
            <a:noFill/>
            <a:miter lim="800000"/>
            <a:headEnd/>
            <a:tailEnd/>
          </a:ln>
        </p:spPr>
        <p:txBody>
          <a:bodyPr wrap="none" anchor="ctr">
            <a:spAutoFit/>
          </a:bodyPr>
          <a:lstStyle/>
          <a:p>
            <a:endParaRPr lang="zh-CN" altLang="en-US"/>
          </a:p>
        </p:txBody>
      </p:sp>
      <p:sp>
        <p:nvSpPr>
          <p:cNvPr id="102442" name="Rectangle 4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9" name="TextBox 48"/>
          <p:cNvSpPr txBox="1"/>
          <p:nvPr/>
        </p:nvSpPr>
        <p:spPr>
          <a:xfrm>
            <a:off x="571472" y="571480"/>
            <a:ext cx="8001056" cy="214417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200"/>
              </a:lnSpc>
            </a:pPr>
            <a:r>
              <a:rPr lang="en-US" altLang="zh-CN" sz="2200">
                <a:solidFill>
                  <a:srgbClr val="0000FF"/>
                </a:solidFill>
                <a:latin typeface="Consolas" pitchFamily="49" charset="0"/>
                <a:ea typeface="仿宋" pitchFamily="49" charset="-122"/>
              </a:rPr>
              <a:t>  </a:t>
            </a:r>
            <a:r>
              <a:rPr lang="zh-CN" altLang="zh-CN" sz="2200">
                <a:solidFill>
                  <a:srgbClr val="FF0000"/>
                </a:solidFill>
                <a:latin typeface="Consolas" pitchFamily="49" charset="0"/>
                <a:ea typeface="楷体" pitchFamily="49" charset="-122"/>
              </a:rPr>
              <a:t>（</a:t>
            </a:r>
            <a:r>
              <a:rPr lang="en-US" altLang="zh-CN" sz="2200">
                <a:solidFill>
                  <a:srgbClr val="FF0000"/>
                </a:solidFill>
                <a:latin typeface="Consolas" pitchFamily="49" charset="0"/>
                <a:ea typeface="楷体" pitchFamily="49" charset="-122"/>
              </a:rPr>
              <a:t>2</a:t>
            </a:r>
            <a:r>
              <a:rPr lang="zh-CN" altLang="zh-CN" sz="2200">
                <a:solidFill>
                  <a:srgbClr val="FF0000"/>
                </a:solidFill>
                <a:latin typeface="Consolas" pitchFamily="49" charset="0"/>
                <a:ea typeface="楷体" pitchFamily="49" charset="-122"/>
              </a:rPr>
              <a:t>）求解子问题</a:t>
            </a:r>
            <a:r>
              <a:rPr lang="zh-CN" altLang="zh-CN" sz="2200">
                <a:solidFill>
                  <a:srgbClr val="0000FF"/>
                </a:solidFill>
                <a:latin typeface="Consolas" pitchFamily="49" charset="0"/>
                <a:ea typeface="仿宋" pitchFamily="49" charset="-122"/>
              </a:rPr>
              <a:t>：对</a:t>
            </a:r>
            <a:r>
              <a:rPr lang="en-US" altLang="zh-CN" sz="2200">
                <a:solidFill>
                  <a:srgbClr val="0000FF"/>
                </a:solidFill>
                <a:latin typeface="Consolas" pitchFamily="49" charset="0"/>
                <a:ea typeface="仿宋" pitchFamily="49" charset="-122"/>
              </a:rPr>
              <a:t>S1</a:t>
            </a:r>
            <a:r>
              <a:rPr lang="zh-CN" altLang="zh-CN" sz="2200">
                <a:solidFill>
                  <a:srgbClr val="0000FF"/>
                </a:solidFill>
                <a:latin typeface="Consolas" pitchFamily="49" charset="0"/>
                <a:ea typeface="仿宋" pitchFamily="49" charset="-122"/>
              </a:rPr>
              <a:t>的点集</a:t>
            </a:r>
            <a:r>
              <a:rPr lang="en-US" altLang="zh-CN" sz="2200" i="1">
                <a:solidFill>
                  <a:srgbClr val="0000FF"/>
                </a:solidFill>
                <a:latin typeface="Consolas" pitchFamily="49" charset="0"/>
                <a:ea typeface="仿宋" pitchFamily="49" charset="-122"/>
              </a:rPr>
              <a:t>a</a:t>
            </a:r>
            <a:r>
              <a:rPr lang="en-US" altLang="zh-CN" sz="2200">
                <a:solidFill>
                  <a:srgbClr val="0000FF"/>
                </a:solidFill>
                <a:latin typeface="Consolas" pitchFamily="49" charset="0"/>
                <a:ea typeface="仿宋" pitchFamily="49" charset="-122"/>
              </a:rPr>
              <a:t>[l..mid]</a:t>
            </a:r>
            <a:r>
              <a:rPr lang="zh-CN" altLang="zh-CN" sz="2200">
                <a:solidFill>
                  <a:srgbClr val="0000FF"/>
                </a:solidFill>
                <a:latin typeface="Consolas" pitchFamily="49" charset="0"/>
                <a:ea typeface="仿宋" pitchFamily="49" charset="-122"/>
              </a:rPr>
              <a:t>递归求出最近点对距离</a:t>
            </a:r>
            <a:r>
              <a:rPr lang="pt-BR" altLang="zh-CN" sz="2200" i="1">
                <a:solidFill>
                  <a:srgbClr val="0000FF"/>
                </a:solidFill>
                <a:latin typeface="Consolas" pitchFamily="49" charset="0"/>
                <a:ea typeface="仿宋" pitchFamily="49" charset="-122"/>
              </a:rPr>
              <a:t>d</a:t>
            </a:r>
            <a:r>
              <a:rPr lang="pt-BR" altLang="zh-CN" sz="2200" baseline="-25000">
                <a:solidFill>
                  <a:srgbClr val="0000FF"/>
                </a:solidFill>
                <a:latin typeface="Consolas" pitchFamily="49" charset="0"/>
                <a:ea typeface="仿宋" pitchFamily="49" charset="-122"/>
              </a:rPr>
              <a:t>1</a:t>
            </a:r>
            <a:r>
              <a:rPr lang="zh-CN" altLang="en-US"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如果其中只有一个点，则返回∞，如果其中只有两个点，则直接求出这两个点之间的距离并返回</a:t>
            </a:r>
            <a:r>
              <a:rPr lang="zh-CN" altLang="en-US"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。同样对</a:t>
            </a:r>
            <a:r>
              <a:rPr lang="en-US" altLang="zh-CN" sz="2200">
                <a:solidFill>
                  <a:srgbClr val="0000FF"/>
                </a:solidFill>
                <a:latin typeface="Consolas" pitchFamily="49" charset="0"/>
                <a:ea typeface="仿宋" pitchFamily="49" charset="-122"/>
              </a:rPr>
              <a:t>S2</a:t>
            </a:r>
            <a:r>
              <a:rPr lang="zh-CN" altLang="zh-CN" sz="2200">
                <a:solidFill>
                  <a:srgbClr val="0000FF"/>
                </a:solidFill>
                <a:latin typeface="Consolas" pitchFamily="49" charset="0"/>
                <a:ea typeface="仿宋" pitchFamily="49" charset="-122"/>
              </a:rPr>
              <a:t>的点集</a:t>
            </a:r>
            <a:r>
              <a:rPr lang="en-US" altLang="zh-CN" sz="2200" i="1">
                <a:solidFill>
                  <a:srgbClr val="0000FF"/>
                </a:solidFill>
                <a:latin typeface="Consolas" pitchFamily="49" charset="0"/>
                <a:ea typeface="仿宋" pitchFamily="49" charset="-122"/>
              </a:rPr>
              <a:t>a</a:t>
            </a:r>
            <a:r>
              <a:rPr lang="en-US" altLang="zh-CN" sz="2200">
                <a:solidFill>
                  <a:srgbClr val="0000FF"/>
                </a:solidFill>
                <a:latin typeface="Consolas" pitchFamily="49" charset="0"/>
                <a:ea typeface="仿宋" pitchFamily="49" charset="-122"/>
              </a:rPr>
              <a:t>[mid+1..r]</a:t>
            </a:r>
            <a:r>
              <a:rPr lang="zh-CN" altLang="zh-CN" sz="2200">
                <a:solidFill>
                  <a:srgbClr val="0000FF"/>
                </a:solidFill>
                <a:latin typeface="Consolas" pitchFamily="49" charset="0"/>
                <a:ea typeface="仿宋" pitchFamily="49" charset="-122"/>
              </a:rPr>
              <a:t>递归求出最近点对距离</a:t>
            </a:r>
            <a:r>
              <a:rPr lang="pt-BR" altLang="zh-CN" sz="2200" i="1">
                <a:solidFill>
                  <a:srgbClr val="0000FF"/>
                </a:solidFill>
                <a:latin typeface="Consolas" pitchFamily="49" charset="0"/>
                <a:ea typeface="仿宋" pitchFamily="49" charset="-122"/>
              </a:rPr>
              <a:t>d</a:t>
            </a:r>
            <a:r>
              <a:rPr lang="pt-BR" altLang="zh-CN" sz="2200" baseline="-25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endParaRPr>
          </a:p>
          <a:p>
            <a:pPr>
              <a:lnSpc>
                <a:spcPts val="3200"/>
              </a:lnSpc>
            </a:pPr>
            <a:r>
              <a:rPr lang="en-US" altLang="zh-CN" sz="2200">
                <a:solidFill>
                  <a:srgbClr val="0000FF"/>
                </a:solidFill>
                <a:latin typeface="Consolas" pitchFamily="49" charset="0"/>
                <a:ea typeface="仿宋" pitchFamily="49" charset="-122"/>
              </a:rPr>
              <a:t>   </a:t>
            </a:r>
            <a:r>
              <a:rPr lang="zh-CN" altLang="zh-CN" sz="2200">
                <a:solidFill>
                  <a:srgbClr val="0000FF"/>
                </a:solidFill>
                <a:latin typeface="Consolas" pitchFamily="49" charset="0"/>
                <a:ea typeface="仿宋" pitchFamily="49" charset="-122"/>
              </a:rPr>
              <a:t>再求出</a:t>
            </a:r>
            <a:r>
              <a:rPr lang="pt-BR" altLang="zh-CN" sz="2200" i="1">
                <a:solidFill>
                  <a:srgbClr val="0000FF"/>
                </a:solidFill>
                <a:latin typeface="Consolas" pitchFamily="49" charset="0"/>
                <a:ea typeface="仿宋" pitchFamily="49" charset="-122"/>
              </a:rPr>
              <a:t>d</a:t>
            </a:r>
            <a:r>
              <a:rPr lang="pt-BR" altLang="zh-CN" sz="2200" baseline="-250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和</a:t>
            </a:r>
            <a:r>
              <a:rPr lang="pt-BR" altLang="zh-CN" sz="2200" i="1">
                <a:solidFill>
                  <a:srgbClr val="0000FF"/>
                </a:solidFill>
                <a:latin typeface="Consolas" pitchFamily="49" charset="0"/>
                <a:ea typeface="仿宋" pitchFamily="49" charset="-122"/>
              </a:rPr>
              <a:t>d</a:t>
            </a:r>
            <a:r>
              <a:rPr lang="pt-BR" altLang="zh-CN" sz="2200" baseline="-25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的最小值</a:t>
            </a:r>
            <a:r>
              <a:rPr lang="pt-BR" altLang="zh-CN" sz="2200" i="1">
                <a:solidFill>
                  <a:srgbClr val="FF0000"/>
                </a:solidFill>
                <a:latin typeface="Consolas" pitchFamily="49" charset="0"/>
                <a:ea typeface="仿宋" pitchFamily="49" charset="-122"/>
              </a:rPr>
              <a:t>d</a:t>
            </a:r>
            <a:r>
              <a:rPr lang="pt-BR" altLang="zh-CN" sz="2200">
                <a:solidFill>
                  <a:srgbClr val="FF0000"/>
                </a:solidFill>
                <a:latin typeface="Consolas" pitchFamily="49" charset="0"/>
                <a:ea typeface="仿宋" pitchFamily="49" charset="-122"/>
              </a:rPr>
              <a:t>=min(</a:t>
            </a:r>
            <a:r>
              <a:rPr lang="pt-BR" altLang="zh-CN" sz="2200" i="1">
                <a:solidFill>
                  <a:srgbClr val="FF0000"/>
                </a:solidFill>
                <a:latin typeface="Consolas" pitchFamily="49" charset="0"/>
                <a:ea typeface="仿宋" pitchFamily="49" charset="-122"/>
              </a:rPr>
              <a:t>d</a:t>
            </a:r>
            <a:r>
              <a:rPr lang="pt-BR" altLang="zh-CN" sz="2200" baseline="-25000">
                <a:solidFill>
                  <a:srgbClr val="FF0000"/>
                </a:solidFill>
                <a:latin typeface="Consolas" pitchFamily="49" charset="0"/>
                <a:ea typeface="仿宋" pitchFamily="49" charset="-122"/>
              </a:rPr>
              <a:t>1</a:t>
            </a:r>
            <a:r>
              <a:rPr lang="zh-CN" altLang="zh-CN" sz="2200">
                <a:solidFill>
                  <a:srgbClr val="FF0000"/>
                </a:solidFill>
                <a:latin typeface="Consolas" pitchFamily="49" charset="0"/>
                <a:ea typeface="仿宋" pitchFamily="49" charset="-122"/>
              </a:rPr>
              <a:t>，</a:t>
            </a:r>
            <a:r>
              <a:rPr lang="pt-BR" altLang="zh-CN" sz="2200" i="1">
                <a:solidFill>
                  <a:srgbClr val="FF0000"/>
                </a:solidFill>
                <a:latin typeface="Consolas" pitchFamily="49" charset="0"/>
                <a:ea typeface="仿宋" pitchFamily="49" charset="-122"/>
              </a:rPr>
              <a:t>d</a:t>
            </a:r>
            <a:r>
              <a:rPr lang="pt-BR" altLang="zh-CN" sz="2200" baseline="-25000">
                <a:solidFill>
                  <a:srgbClr val="FF0000"/>
                </a:solidFill>
                <a:latin typeface="Consolas" pitchFamily="49" charset="0"/>
                <a:ea typeface="仿宋" pitchFamily="49" charset="-122"/>
              </a:rPr>
              <a:t>2</a:t>
            </a:r>
            <a:r>
              <a:rPr lang="pt-BR" altLang="zh-CN" sz="2200">
                <a:solidFill>
                  <a:srgbClr val="FF0000"/>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grpSp>
        <p:nvGrpSpPr>
          <p:cNvPr id="90" name="组合 89"/>
          <p:cNvGrpSpPr/>
          <p:nvPr/>
        </p:nvGrpSpPr>
        <p:grpSpPr>
          <a:xfrm>
            <a:off x="777832" y="2991530"/>
            <a:ext cx="7580382" cy="2937800"/>
            <a:chOff x="500034" y="2828457"/>
            <a:chExt cx="7580382" cy="2937800"/>
          </a:xfrm>
        </p:grpSpPr>
        <p:sp>
          <p:nvSpPr>
            <p:cNvPr id="53" name="Text Box 38"/>
            <p:cNvSpPr txBox="1">
              <a:spLocks noChangeArrowheads="1"/>
            </p:cNvSpPr>
            <p:nvPr/>
          </p:nvSpPr>
          <p:spPr bwMode="auto">
            <a:xfrm>
              <a:off x="3792163" y="5494086"/>
              <a:ext cx="1231470" cy="27217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[mid].</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x</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4" name="Text Box 37"/>
            <p:cNvSpPr txBox="1">
              <a:spLocks noChangeArrowheads="1"/>
            </p:cNvSpPr>
            <p:nvPr/>
          </p:nvSpPr>
          <p:spPr bwMode="auto">
            <a:xfrm>
              <a:off x="1641195" y="3464433"/>
              <a:ext cx="418700"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Times New Roman" pitchFamily="18" charset="0"/>
                </a:rPr>
                <a:t>l</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5" name="AutoShape 36"/>
            <p:cNvSpPr>
              <a:spLocks/>
            </p:cNvSpPr>
            <p:nvPr/>
          </p:nvSpPr>
          <p:spPr bwMode="auto">
            <a:xfrm rot="5400000">
              <a:off x="2571694" y="1841661"/>
              <a:ext cx="246184" cy="3103305"/>
            </a:xfrm>
            <a:prstGeom prst="leftBrace">
              <a:avLst>
                <a:gd name="adj1" fmla="val 105000"/>
                <a:gd name="adj2" fmla="val 50000"/>
              </a:avLst>
            </a:prstGeom>
            <a:noFill/>
            <a:ln w="19050">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56" name="Oval 35"/>
            <p:cNvSpPr>
              <a:spLocks noChangeArrowheads="1"/>
            </p:cNvSpPr>
            <p:nvPr/>
          </p:nvSpPr>
          <p:spPr bwMode="auto">
            <a:xfrm>
              <a:off x="1444160" y="3644968"/>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57" name="Text Box 34"/>
            <p:cNvSpPr txBox="1">
              <a:spLocks noChangeArrowheads="1"/>
            </p:cNvSpPr>
            <p:nvPr/>
          </p:nvSpPr>
          <p:spPr bwMode="auto">
            <a:xfrm>
              <a:off x="2555220" y="2828457"/>
              <a:ext cx="24629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58" name="Oval 33"/>
            <p:cNvSpPr>
              <a:spLocks noChangeArrowheads="1"/>
            </p:cNvSpPr>
            <p:nvPr/>
          </p:nvSpPr>
          <p:spPr bwMode="auto">
            <a:xfrm>
              <a:off x="2248721" y="4104512"/>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59" name="Oval 32"/>
            <p:cNvSpPr>
              <a:spLocks noChangeArrowheads="1"/>
            </p:cNvSpPr>
            <p:nvPr/>
          </p:nvSpPr>
          <p:spPr bwMode="auto">
            <a:xfrm>
              <a:off x="1095244" y="4529864"/>
              <a:ext cx="77993" cy="7932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60" name="Oval 31"/>
            <p:cNvSpPr>
              <a:spLocks noChangeArrowheads="1"/>
            </p:cNvSpPr>
            <p:nvPr/>
          </p:nvSpPr>
          <p:spPr bwMode="auto">
            <a:xfrm>
              <a:off x="1813601" y="5171311"/>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61" name="Oval 30"/>
            <p:cNvSpPr>
              <a:spLocks noChangeArrowheads="1"/>
            </p:cNvSpPr>
            <p:nvPr/>
          </p:nvSpPr>
          <p:spPr bwMode="auto">
            <a:xfrm>
              <a:off x="3537659" y="4454641"/>
              <a:ext cx="79361" cy="75223"/>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62" name="Oval 29"/>
            <p:cNvSpPr>
              <a:spLocks noChangeArrowheads="1"/>
            </p:cNvSpPr>
            <p:nvPr/>
          </p:nvSpPr>
          <p:spPr bwMode="auto">
            <a:xfrm>
              <a:off x="3049176" y="4957952"/>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63" name="AutoShape 28"/>
            <p:cNvSpPr>
              <a:spLocks/>
            </p:cNvSpPr>
            <p:nvPr/>
          </p:nvSpPr>
          <p:spPr bwMode="auto">
            <a:xfrm rot="5400000">
              <a:off x="5828249" y="1841661"/>
              <a:ext cx="246184" cy="3103305"/>
            </a:xfrm>
            <a:prstGeom prst="leftBrace">
              <a:avLst>
                <a:gd name="adj1" fmla="val 105000"/>
                <a:gd name="adj2" fmla="val 50000"/>
              </a:avLst>
            </a:prstGeom>
            <a:noFill/>
            <a:ln w="19050">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64" name="Oval 27"/>
            <p:cNvSpPr>
              <a:spLocks noChangeArrowheads="1"/>
            </p:cNvSpPr>
            <p:nvPr/>
          </p:nvSpPr>
          <p:spPr bwMode="auto">
            <a:xfrm>
              <a:off x="5014055" y="4104512"/>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65" name="Text Box 26"/>
            <p:cNvSpPr txBox="1">
              <a:spLocks noChangeArrowheads="1"/>
            </p:cNvSpPr>
            <p:nvPr/>
          </p:nvSpPr>
          <p:spPr bwMode="auto">
            <a:xfrm>
              <a:off x="5811774" y="2828457"/>
              <a:ext cx="287343"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66" name="Oval 25"/>
            <p:cNvSpPr>
              <a:spLocks noChangeArrowheads="1"/>
            </p:cNvSpPr>
            <p:nvPr/>
          </p:nvSpPr>
          <p:spPr bwMode="auto">
            <a:xfrm>
              <a:off x="5453280" y="4957952"/>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67" name="Oval 24"/>
            <p:cNvSpPr>
              <a:spLocks noChangeArrowheads="1"/>
            </p:cNvSpPr>
            <p:nvPr/>
          </p:nvSpPr>
          <p:spPr bwMode="auto">
            <a:xfrm>
              <a:off x="6534237" y="4666633"/>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68" name="Oval 23"/>
            <p:cNvSpPr>
              <a:spLocks noChangeArrowheads="1"/>
            </p:cNvSpPr>
            <p:nvPr/>
          </p:nvSpPr>
          <p:spPr bwMode="auto">
            <a:xfrm>
              <a:off x="7252594" y="3677793"/>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69" name="Oval 22"/>
            <p:cNvSpPr>
              <a:spLocks noChangeArrowheads="1"/>
            </p:cNvSpPr>
            <p:nvPr/>
          </p:nvSpPr>
          <p:spPr bwMode="auto">
            <a:xfrm>
              <a:off x="6021124" y="3891153"/>
              <a:ext cx="77993" cy="7932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70" name="Line 21"/>
            <p:cNvSpPr>
              <a:spLocks noChangeShapeType="1"/>
            </p:cNvSpPr>
            <p:nvPr/>
          </p:nvSpPr>
          <p:spPr bwMode="auto">
            <a:xfrm>
              <a:off x="4312117" y="3468536"/>
              <a:ext cx="0" cy="1938018"/>
            </a:xfrm>
            <a:prstGeom prst="line">
              <a:avLst/>
            </a:prstGeom>
            <a:noFill/>
            <a:ln w="57150">
              <a:solidFill>
                <a:srgbClr val="FF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71" name="Freeform 20"/>
            <p:cNvSpPr>
              <a:spLocks/>
            </p:cNvSpPr>
            <p:nvPr/>
          </p:nvSpPr>
          <p:spPr bwMode="auto">
            <a:xfrm>
              <a:off x="1490682" y="3677793"/>
              <a:ext cx="762143" cy="447235"/>
            </a:xfrm>
            <a:custGeom>
              <a:avLst/>
              <a:gdLst/>
              <a:ahLst/>
              <a:cxnLst>
                <a:cxn ang="0">
                  <a:pos x="0" y="0"/>
                </a:cxn>
                <a:cxn ang="0">
                  <a:pos x="558" y="327"/>
                </a:cxn>
              </a:cxnLst>
              <a:rect l="0" t="0" r="r" b="b"/>
              <a:pathLst>
                <a:path w="558" h="327">
                  <a:moveTo>
                    <a:pt x="0" y="0"/>
                  </a:moveTo>
                  <a:lnTo>
                    <a:pt x="558" y="327"/>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72" name="Text Box 19"/>
            <p:cNvSpPr txBox="1">
              <a:spLocks noChangeArrowheads="1"/>
            </p:cNvSpPr>
            <p:nvPr/>
          </p:nvSpPr>
          <p:spPr bwMode="auto">
            <a:xfrm>
              <a:off x="6404248" y="4104512"/>
              <a:ext cx="33523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73" name="Freeform 18"/>
            <p:cNvSpPr>
              <a:spLocks/>
            </p:cNvSpPr>
            <p:nvPr/>
          </p:nvSpPr>
          <p:spPr bwMode="auto">
            <a:xfrm>
              <a:off x="6082698" y="3970479"/>
              <a:ext cx="467959" cy="704361"/>
            </a:xfrm>
            <a:custGeom>
              <a:avLst/>
              <a:gdLst/>
              <a:ahLst/>
              <a:cxnLst>
                <a:cxn ang="0">
                  <a:pos x="0" y="0"/>
                </a:cxn>
                <a:cxn ang="0">
                  <a:pos x="342" y="516"/>
                </a:cxn>
              </a:cxnLst>
              <a:rect l="0" t="0" r="r" b="b"/>
              <a:pathLst>
                <a:path w="342" h="516">
                  <a:moveTo>
                    <a:pt x="0" y="0"/>
                  </a:moveTo>
                  <a:lnTo>
                    <a:pt x="342" y="516"/>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76" name="Oval 15"/>
            <p:cNvSpPr>
              <a:spLocks noChangeArrowheads="1"/>
            </p:cNvSpPr>
            <p:nvPr/>
          </p:nvSpPr>
          <p:spPr bwMode="auto">
            <a:xfrm>
              <a:off x="4273805" y="5215078"/>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77" name="Line 14"/>
            <p:cNvSpPr>
              <a:spLocks noChangeShapeType="1"/>
            </p:cNvSpPr>
            <p:nvPr/>
          </p:nvSpPr>
          <p:spPr bwMode="auto">
            <a:xfrm>
              <a:off x="857159" y="5417496"/>
              <a:ext cx="6981068" cy="1368"/>
            </a:xfrm>
            <a:prstGeom prst="line">
              <a:avLst/>
            </a:prstGeom>
            <a:noFill/>
            <a:ln w="19050">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78" name="Text Box 13"/>
            <p:cNvSpPr txBox="1">
              <a:spLocks noChangeArrowheads="1"/>
            </p:cNvSpPr>
            <p:nvPr/>
          </p:nvSpPr>
          <p:spPr bwMode="auto">
            <a:xfrm>
              <a:off x="7834122" y="5242431"/>
              <a:ext cx="24629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X</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8" name="Text Box 3"/>
            <p:cNvSpPr txBox="1">
              <a:spLocks noChangeArrowheads="1"/>
            </p:cNvSpPr>
            <p:nvPr/>
          </p:nvSpPr>
          <p:spPr bwMode="auto">
            <a:xfrm>
              <a:off x="500034" y="2908737"/>
              <a:ext cx="24629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Y</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9" name="AutoShape 2"/>
            <p:cNvSpPr>
              <a:spLocks noChangeShapeType="1"/>
            </p:cNvSpPr>
            <p:nvPr/>
          </p:nvSpPr>
          <p:spPr bwMode="auto">
            <a:xfrm flipV="1">
              <a:off x="850318" y="2948814"/>
              <a:ext cx="1368" cy="2480991"/>
            </a:xfrm>
            <a:prstGeom prst="straightConnector1">
              <a:avLst/>
            </a:prstGeom>
            <a:noFill/>
            <a:ln w="19050">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grpSp>
      <p:sp>
        <p:nvSpPr>
          <p:cNvPr id="33" name="灯片编号占位符 32"/>
          <p:cNvSpPr>
            <a:spLocks noGrp="1"/>
          </p:cNvSpPr>
          <p:nvPr>
            <p:ph type="sldNum" sz="quarter" idx="12"/>
          </p:nvPr>
        </p:nvSpPr>
        <p:spPr/>
        <p:txBody>
          <a:bodyPr/>
          <a:lstStyle/>
          <a:p>
            <a:pPr>
              <a:defRPr/>
            </a:pPr>
            <a:fld id="{51116183-1013-4E64-BBE8-A5C1D5D4F838}" type="slidenum">
              <a:rPr lang="en-US" altLang="zh-CN" smtClean="0"/>
              <a:pPr>
                <a:defRPr/>
              </a:pPr>
              <a:t>127</a:t>
            </a:fld>
            <a:r>
              <a:rPr lang="en-US" altLang="zh-CN"/>
              <a:t>/167</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571480"/>
            <a:ext cx="8286808" cy="140038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400"/>
              </a:lnSpc>
            </a:pPr>
            <a:r>
              <a:rPr lang="en-US" altLang="zh-CN" sz="2200">
                <a:solidFill>
                  <a:srgbClr val="0000FF"/>
                </a:solidFill>
                <a:latin typeface="Consolas" pitchFamily="49" charset="0"/>
                <a:ea typeface="仿宋" pitchFamily="49" charset="-122"/>
              </a:rPr>
              <a:t>  </a:t>
            </a:r>
            <a:r>
              <a:rPr lang="zh-CN" altLang="zh-CN" sz="2200">
                <a:solidFill>
                  <a:srgbClr val="FF0000"/>
                </a:solidFill>
                <a:latin typeface="Consolas" pitchFamily="49" charset="0"/>
                <a:ea typeface="楷体" pitchFamily="49" charset="-122"/>
              </a:rPr>
              <a:t>（</a:t>
            </a:r>
            <a:r>
              <a:rPr lang="en-US" altLang="zh-CN" sz="2200">
                <a:solidFill>
                  <a:srgbClr val="FF0000"/>
                </a:solidFill>
                <a:latin typeface="Consolas" pitchFamily="49" charset="0"/>
                <a:ea typeface="楷体" pitchFamily="49" charset="-122"/>
              </a:rPr>
              <a:t>3</a:t>
            </a:r>
            <a:r>
              <a:rPr lang="zh-CN" altLang="zh-CN" sz="2200">
                <a:solidFill>
                  <a:srgbClr val="FF0000"/>
                </a:solidFill>
                <a:latin typeface="Consolas" pitchFamily="49" charset="0"/>
                <a:ea typeface="楷体" pitchFamily="49" charset="-122"/>
              </a:rPr>
              <a:t>）合并</a:t>
            </a:r>
            <a:r>
              <a:rPr lang="zh-CN" altLang="zh-CN" sz="2200">
                <a:solidFill>
                  <a:srgbClr val="0000FF"/>
                </a:solidFill>
                <a:latin typeface="Consolas" pitchFamily="49" charset="0"/>
                <a:ea typeface="仿宋" pitchFamily="49" charset="-122"/>
              </a:rPr>
              <a:t>：显然</a:t>
            </a:r>
            <a:r>
              <a:rPr lang="en-US" altLang="zh-CN" sz="2200">
                <a:solidFill>
                  <a:srgbClr val="0000FF"/>
                </a:solidFill>
                <a:latin typeface="Consolas" pitchFamily="49" charset="0"/>
                <a:ea typeface="仿宋" pitchFamily="49" charset="-122"/>
              </a:rPr>
              <a:t>S</a:t>
            </a:r>
            <a:r>
              <a:rPr lang="en-US" altLang="zh-CN" sz="2200" baseline="-250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和</a:t>
            </a:r>
            <a:r>
              <a:rPr lang="en-US" altLang="zh-CN" sz="2200">
                <a:solidFill>
                  <a:srgbClr val="0000FF"/>
                </a:solidFill>
                <a:latin typeface="Consolas" pitchFamily="49" charset="0"/>
                <a:ea typeface="仿宋" pitchFamily="49" charset="-122"/>
              </a:rPr>
              <a:t>S</a:t>
            </a:r>
            <a:r>
              <a:rPr lang="en-US" altLang="zh-CN" sz="2200" baseline="-25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中任意点对之间的距离小于或等于</a:t>
            </a:r>
            <a:r>
              <a:rPr lang="en-US" altLang="zh-CN" sz="2200" i="1">
                <a:solidFill>
                  <a:srgbClr val="0000FF"/>
                </a:solidFill>
                <a:latin typeface="Consolas" pitchFamily="49" charset="0"/>
                <a:ea typeface="仿宋" pitchFamily="49" charset="-122"/>
              </a:rPr>
              <a:t>d</a:t>
            </a:r>
            <a:r>
              <a:rPr lang="zh-CN" altLang="zh-CN" sz="2200">
                <a:solidFill>
                  <a:srgbClr val="0000FF"/>
                </a:solidFill>
                <a:latin typeface="Consolas" pitchFamily="49" charset="0"/>
                <a:ea typeface="仿宋" pitchFamily="49" charset="-122"/>
              </a:rPr>
              <a:t>，但</a:t>
            </a:r>
            <a:r>
              <a:rPr lang="en-US" altLang="zh-CN" sz="2200">
                <a:solidFill>
                  <a:srgbClr val="0000FF"/>
                </a:solidFill>
                <a:latin typeface="Consolas" pitchFamily="49" charset="0"/>
                <a:ea typeface="仿宋" pitchFamily="49" charset="-122"/>
              </a:rPr>
              <a:t>S</a:t>
            </a:r>
            <a:r>
              <a:rPr lang="en-US" altLang="zh-CN" sz="2200" baseline="-250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S</a:t>
            </a:r>
            <a:r>
              <a:rPr lang="en-US" altLang="zh-CN" sz="2200" baseline="-25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交界的垂直带形区（由所有与中轴线</a:t>
            </a:r>
            <a:r>
              <a:rPr lang="en-US" altLang="zh-CN" sz="2200" i="1">
                <a:solidFill>
                  <a:srgbClr val="0000FF"/>
                </a:solidFill>
                <a:latin typeface="Consolas" pitchFamily="49" charset="0"/>
                <a:ea typeface="仿宋" pitchFamily="49" charset="-122"/>
              </a:rPr>
              <a:t>l</a:t>
            </a:r>
            <a:r>
              <a:rPr lang="zh-CN" altLang="zh-CN" sz="2200">
                <a:solidFill>
                  <a:srgbClr val="0000FF"/>
                </a:solidFill>
                <a:latin typeface="Consolas" pitchFamily="49" charset="0"/>
                <a:ea typeface="仿宋" pitchFamily="49" charset="-122"/>
              </a:rPr>
              <a:t>的</a:t>
            </a:r>
            <a:r>
              <a:rPr lang="en-US" altLang="zh-CN" sz="2200" i="1">
                <a:solidFill>
                  <a:srgbClr val="0000FF"/>
                </a:solidFill>
                <a:latin typeface="Consolas" pitchFamily="49" charset="0"/>
                <a:ea typeface="仿宋" pitchFamily="49" charset="-122"/>
              </a:rPr>
              <a:t>x</a:t>
            </a:r>
            <a:r>
              <a:rPr lang="zh-CN" altLang="zh-CN" sz="2200">
                <a:solidFill>
                  <a:srgbClr val="0000FF"/>
                </a:solidFill>
                <a:latin typeface="Consolas" pitchFamily="49" charset="0"/>
                <a:ea typeface="仿宋" pitchFamily="49" charset="-122"/>
              </a:rPr>
              <a:t>坐标值相差不超过</a:t>
            </a:r>
            <a:r>
              <a:rPr lang="en-US" altLang="zh-CN" sz="2200" i="1">
                <a:solidFill>
                  <a:srgbClr val="0000FF"/>
                </a:solidFill>
                <a:latin typeface="Consolas" pitchFamily="49" charset="0"/>
                <a:ea typeface="仿宋" pitchFamily="49" charset="-122"/>
              </a:rPr>
              <a:t>d</a:t>
            </a:r>
            <a:r>
              <a:rPr lang="zh-CN" altLang="zh-CN" sz="2200">
                <a:solidFill>
                  <a:srgbClr val="0000FF"/>
                </a:solidFill>
                <a:latin typeface="Consolas" pitchFamily="49" charset="0"/>
                <a:ea typeface="仿宋" pitchFamily="49" charset="-122"/>
              </a:rPr>
              <a:t>的点构成）中的点对之间的距离可能小于</a:t>
            </a:r>
            <a:r>
              <a:rPr lang="en-US" altLang="zh-CN" sz="2200" i="1">
                <a:solidFill>
                  <a:srgbClr val="0000FF"/>
                </a:solidFill>
                <a:latin typeface="Consolas" pitchFamily="49" charset="0"/>
                <a:ea typeface="仿宋" pitchFamily="49" charset="-122"/>
              </a:rPr>
              <a:t>d</a:t>
            </a:r>
            <a:r>
              <a:rPr lang="zh-CN" altLang="zh-CN"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endParaRPr>
          </a:p>
        </p:txBody>
      </p:sp>
      <p:grpSp>
        <p:nvGrpSpPr>
          <p:cNvPr id="48" name="组合 47"/>
          <p:cNvGrpSpPr/>
          <p:nvPr/>
        </p:nvGrpSpPr>
        <p:grpSpPr>
          <a:xfrm>
            <a:off x="706394" y="2643182"/>
            <a:ext cx="7580382" cy="2980199"/>
            <a:chOff x="500034" y="2786058"/>
            <a:chExt cx="7580382" cy="2980199"/>
          </a:xfrm>
        </p:grpSpPr>
        <p:sp>
          <p:nvSpPr>
            <p:cNvPr id="7" name="Text Box 40"/>
            <p:cNvSpPr txBox="1">
              <a:spLocks noChangeArrowheads="1"/>
            </p:cNvSpPr>
            <p:nvPr/>
          </p:nvSpPr>
          <p:spPr bwMode="auto">
            <a:xfrm>
              <a:off x="3428992" y="2786058"/>
              <a:ext cx="1857388"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垂直带形区</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a1</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Text Box 39"/>
            <p:cNvSpPr txBox="1">
              <a:spLocks noChangeArrowheads="1"/>
            </p:cNvSpPr>
            <p:nvPr/>
          </p:nvSpPr>
          <p:spPr bwMode="auto">
            <a:xfrm>
              <a:off x="3537659" y="4862213"/>
              <a:ext cx="246294" cy="3090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Times New Roman" pitchFamily="18" charset="0"/>
                </a:rPr>
                <a:t>d</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 name="Text Box 38"/>
            <p:cNvSpPr txBox="1">
              <a:spLocks noChangeArrowheads="1"/>
            </p:cNvSpPr>
            <p:nvPr/>
          </p:nvSpPr>
          <p:spPr bwMode="auto">
            <a:xfrm>
              <a:off x="3792163" y="5494086"/>
              <a:ext cx="1231470" cy="27217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[mid].</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x</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Text Box 37"/>
            <p:cNvSpPr txBox="1">
              <a:spLocks noChangeArrowheads="1"/>
            </p:cNvSpPr>
            <p:nvPr/>
          </p:nvSpPr>
          <p:spPr bwMode="auto">
            <a:xfrm>
              <a:off x="1641195" y="3464433"/>
              <a:ext cx="418700"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lang="en-US" altLang="zh-CN" sz="1800" baseline="-30000">
                  <a:solidFill>
                    <a:srgbClr val="0000FF"/>
                  </a:solidFill>
                  <a:latin typeface="Consolas" pitchFamily="49" charset="0"/>
                  <a:ea typeface="仿宋" pitchFamily="49" charset="-122"/>
                  <a:cs typeface="Times New Roman" pitchFamily="18" charset="0"/>
                </a:rPr>
                <a:t>1</a:t>
              </a:r>
              <a:endParaRPr kumimoji="0" lang="en-US" altLang="zh-CN" sz="180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 name="AutoShape 36"/>
            <p:cNvSpPr>
              <a:spLocks/>
            </p:cNvSpPr>
            <p:nvPr/>
          </p:nvSpPr>
          <p:spPr bwMode="auto">
            <a:xfrm rot="5400000">
              <a:off x="2571694" y="1841661"/>
              <a:ext cx="246184" cy="3103305"/>
            </a:xfrm>
            <a:prstGeom prst="leftBrace">
              <a:avLst>
                <a:gd name="adj1" fmla="val 105000"/>
                <a:gd name="adj2" fmla="val 50000"/>
              </a:avLst>
            </a:prstGeom>
            <a:noFill/>
            <a:ln w="19050">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2" name="Oval 35"/>
            <p:cNvSpPr>
              <a:spLocks noChangeArrowheads="1"/>
            </p:cNvSpPr>
            <p:nvPr/>
          </p:nvSpPr>
          <p:spPr bwMode="auto">
            <a:xfrm>
              <a:off x="1444160" y="3644968"/>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3" name="Text Box 34"/>
            <p:cNvSpPr txBox="1">
              <a:spLocks noChangeArrowheads="1"/>
            </p:cNvSpPr>
            <p:nvPr/>
          </p:nvSpPr>
          <p:spPr bwMode="auto">
            <a:xfrm>
              <a:off x="2555220" y="2828457"/>
              <a:ext cx="24629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Oval 33"/>
            <p:cNvSpPr>
              <a:spLocks noChangeArrowheads="1"/>
            </p:cNvSpPr>
            <p:nvPr/>
          </p:nvSpPr>
          <p:spPr bwMode="auto">
            <a:xfrm>
              <a:off x="2248721" y="4104512"/>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5" name="Oval 32"/>
            <p:cNvSpPr>
              <a:spLocks noChangeArrowheads="1"/>
            </p:cNvSpPr>
            <p:nvPr/>
          </p:nvSpPr>
          <p:spPr bwMode="auto">
            <a:xfrm>
              <a:off x="1095244" y="4529864"/>
              <a:ext cx="77993" cy="7932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6" name="Oval 31"/>
            <p:cNvSpPr>
              <a:spLocks noChangeArrowheads="1"/>
            </p:cNvSpPr>
            <p:nvPr/>
          </p:nvSpPr>
          <p:spPr bwMode="auto">
            <a:xfrm>
              <a:off x="1813601" y="5171311"/>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7" name="Oval 30"/>
            <p:cNvSpPr>
              <a:spLocks noChangeArrowheads="1"/>
            </p:cNvSpPr>
            <p:nvPr/>
          </p:nvSpPr>
          <p:spPr bwMode="auto">
            <a:xfrm>
              <a:off x="4000496" y="4353909"/>
              <a:ext cx="79361" cy="75223"/>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8" name="Oval 29"/>
            <p:cNvSpPr>
              <a:spLocks noChangeArrowheads="1"/>
            </p:cNvSpPr>
            <p:nvPr/>
          </p:nvSpPr>
          <p:spPr bwMode="auto">
            <a:xfrm>
              <a:off x="3049176" y="4957952"/>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9" name="AutoShape 28"/>
            <p:cNvSpPr>
              <a:spLocks/>
            </p:cNvSpPr>
            <p:nvPr/>
          </p:nvSpPr>
          <p:spPr bwMode="auto">
            <a:xfrm rot="5400000">
              <a:off x="5828249" y="1841661"/>
              <a:ext cx="246184" cy="3103305"/>
            </a:xfrm>
            <a:prstGeom prst="leftBrace">
              <a:avLst>
                <a:gd name="adj1" fmla="val 105000"/>
                <a:gd name="adj2" fmla="val 50000"/>
              </a:avLst>
            </a:prstGeom>
            <a:noFill/>
            <a:ln w="19050">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0" name="Oval 27"/>
            <p:cNvSpPr>
              <a:spLocks noChangeArrowheads="1"/>
            </p:cNvSpPr>
            <p:nvPr/>
          </p:nvSpPr>
          <p:spPr bwMode="auto">
            <a:xfrm>
              <a:off x="4534091" y="4496866"/>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1" name="Text Box 26"/>
            <p:cNvSpPr txBox="1">
              <a:spLocks noChangeArrowheads="1"/>
            </p:cNvSpPr>
            <p:nvPr/>
          </p:nvSpPr>
          <p:spPr bwMode="auto">
            <a:xfrm>
              <a:off x="5811774" y="2828457"/>
              <a:ext cx="287343"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 name="Oval 25"/>
            <p:cNvSpPr>
              <a:spLocks noChangeArrowheads="1"/>
            </p:cNvSpPr>
            <p:nvPr/>
          </p:nvSpPr>
          <p:spPr bwMode="auto">
            <a:xfrm>
              <a:off x="5453280" y="4957952"/>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3" name="Oval 24"/>
            <p:cNvSpPr>
              <a:spLocks noChangeArrowheads="1"/>
            </p:cNvSpPr>
            <p:nvPr/>
          </p:nvSpPr>
          <p:spPr bwMode="auto">
            <a:xfrm>
              <a:off x="6534237" y="4666633"/>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4" name="Oval 23"/>
            <p:cNvSpPr>
              <a:spLocks noChangeArrowheads="1"/>
            </p:cNvSpPr>
            <p:nvPr/>
          </p:nvSpPr>
          <p:spPr bwMode="auto">
            <a:xfrm>
              <a:off x="7252594" y="3677793"/>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5" name="Oval 22"/>
            <p:cNvSpPr>
              <a:spLocks noChangeArrowheads="1"/>
            </p:cNvSpPr>
            <p:nvPr/>
          </p:nvSpPr>
          <p:spPr bwMode="auto">
            <a:xfrm>
              <a:off x="6021124" y="3891153"/>
              <a:ext cx="77993" cy="7932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6" name="Line 21"/>
            <p:cNvSpPr>
              <a:spLocks noChangeShapeType="1"/>
            </p:cNvSpPr>
            <p:nvPr/>
          </p:nvSpPr>
          <p:spPr bwMode="auto">
            <a:xfrm>
              <a:off x="4312117" y="3468536"/>
              <a:ext cx="0" cy="1938018"/>
            </a:xfrm>
            <a:prstGeom prst="line">
              <a:avLst/>
            </a:prstGeom>
            <a:noFill/>
            <a:ln w="57150">
              <a:solidFill>
                <a:srgbClr val="FF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7" name="Freeform 20"/>
            <p:cNvSpPr>
              <a:spLocks/>
            </p:cNvSpPr>
            <p:nvPr/>
          </p:nvSpPr>
          <p:spPr bwMode="auto">
            <a:xfrm>
              <a:off x="1490682" y="3677793"/>
              <a:ext cx="762143" cy="447235"/>
            </a:xfrm>
            <a:custGeom>
              <a:avLst/>
              <a:gdLst/>
              <a:ahLst/>
              <a:cxnLst>
                <a:cxn ang="0">
                  <a:pos x="0" y="0"/>
                </a:cxn>
                <a:cxn ang="0">
                  <a:pos x="558" y="327"/>
                </a:cxn>
              </a:cxnLst>
              <a:rect l="0" t="0" r="r" b="b"/>
              <a:pathLst>
                <a:path w="558" h="327">
                  <a:moveTo>
                    <a:pt x="0" y="0"/>
                  </a:moveTo>
                  <a:lnTo>
                    <a:pt x="558" y="327"/>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8" name="Text Box 19"/>
            <p:cNvSpPr txBox="1">
              <a:spLocks noChangeArrowheads="1"/>
            </p:cNvSpPr>
            <p:nvPr/>
          </p:nvSpPr>
          <p:spPr bwMode="auto">
            <a:xfrm>
              <a:off x="6404248" y="4104512"/>
              <a:ext cx="33523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9" name="Freeform 18"/>
            <p:cNvSpPr>
              <a:spLocks/>
            </p:cNvSpPr>
            <p:nvPr/>
          </p:nvSpPr>
          <p:spPr bwMode="auto">
            <a:xfrm>
              <a:off x="6082698" y="3970479"/>
              <a:ext cx="467959" cy="704361"/>
            </a:xfrm>
            <a:custGeom>
              <a:avLst/>
              <a:gdLst/>
              <a:ahLst/>
              <a:cxnLst>
                <a:cxn ang="0">
                  <a:pos x="0" y="0"/>
                </a:cxn>
                <a:cxn ang="0">
                  <a:pos x="342" y="516"/>
                </a:cxn>
              </a:cxnLst>
              <a:rect l="0" t="0" r="r" b="b"/>
              <a:pathLst>
                <a:path w="342" h="516">
                  <a:moveTo>
                    <a:pt x="0" y="0"/>
                  </a:moveTo>
                  <a:lnTo>
                    <a:pt x="342" y="516"/>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0" name="Line 17"/>
            <p:cNvSpPr>
              <a:spLocks noChangeShapeType="1"/>
            </p:cNvSpPr>
            <p:nvPr/>
          </p:nvSpPr>
          <p:spPr bwMode="auto">
            <a:xfrm>
              <a:off x="3097067" y="3464433"/>
              <a:ext cx="0" cy="1938018"/>
            </a:xfrm>
            <a:prstGeom prst="line">
              <a:avLst/>
            </a:prstGeom>
            <a:noFill/>
            <a:ln w="28575" cap="rnd">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1" name="Line 16"/>
            <p:cNvSpPr>
              <a:spLocks noChangeShapeType="1"/>
            </p:cNvSpPr>
            <p:nvPr/>
          </p:nvSpPr>
          <p:spPr bwMode="auto">
            <a:xfrm>
              <a:off x="5491592" y="3464433"/>
              <a:ext cx="0" cy="1938018"/>
            </a:xfrm>
            <a:prstGeom prst="line">
              <a:avLst/>
            </a:prstGeom>
            <a:noFill/>
            <a:ln w="28575" cap="rnd">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2" name="Oval 15"/>
            <p:cNvSpPr>
              <a:spLocks noChangeArrowheads="1"/>
            </p:cNvSpPr>
            <p:nvPr/>
          </p:nvSpPr>
          <p:spPr bwMode="auto">
            <a:xfrm>
              <a:off x="4273805" y="5215078"/>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3" name="Line 14"/>
            <p:cNvSpPr>
              <a:spLocks noChangeShapeType="1"/>
            </p:cNvSpPr>
            <p:nvPr/>
          </p:nvSpPr>
          <p:spPr bwMode="auto">
            <a:xfrm>
              <a:off x="857159" y="5417496"/>
              <a:ext cx="6981068" cy="1368"/>
            </a:xfrm>
            <a:prstGeom prst="line">
              <a:avLst/>
            </a:prstGeom>
            <a:noFill/>
            <a:ln w="19050">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4" name="Text Box 13"/>
            <p:cNvSpPr txBox="1">
              <a:spLocks noChangeArrowheads="1"/>
            </p:cNvSpPr>
            <p:nvPr/>
          </p:nvSpPr>
          <p:spPr bwMode="auto">
            <a:xfrm>
              <a:off x="7834122" y="5242431"/>
              <a:ext cx="24629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X</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6" name="Freeform 11"/>
            <p:cNvSpPr>
              <a:spLocks/>
            </p:cNvSpPr>
            <p:nvPr/>
          </p:nvSpPr>
          <p:spPr bwMode="auto">
            <a:xfrm>
              <a:off x="3097067" y="5163105"/>
              <a:ext cx="1208209" cy="1368"/>
            </a:xfrm>
            <a:custGeom>
              <a:avLst/>
              <a:gdLst/>
              <a:ahLst/>
              <a:cxnLst>
                <a:cxn ang="0">
                  <a:pos x="0" y="0"/>
                </a:cxn>
                <a:cxn ang="0">
                  <a:pos x="882" y="10"/>
                </a:cxn>
              </a:cxnLst>
              <a:rect l="0" t="0" r="r" b="b"/>
              <a:pathLst>
                <a:path w="882" h="10">
                  <a:moveTo>
                    <a:pt x="0" y="0"/>
                  </a:moveTo>
                  <a:lnTo>
                    <a:pt x="882" y="10"/>
                  </a:lnTo>
                </a:path>
              </a:pathLst>
            </a:custGeom>
            <a:noFill/>
            <a:ln w="19050">
              <a:solidFill>
                <a:srgbClr val="00B0F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7" name="Text Box 10"/>
            <p:cNvSpPr txBox="1">
              <a:spLocks noChangeArrowheads="1"/>
            </p:cNvSpPr>
            <p:nvPr/>
          </p:nvSpPr>
          <p:spPr bwMode="auto">
            <a:xfrm>
              <a:off x="4736290" y="4862213"/>
              <a:ext cx="244926" cy="3090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Times New Roman" pitchFamily="18" charset="0"/>
                </a:rPr>
                <a:t>d</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8" name="Freeform 9"/>
            <p:cNvSpPr>
              <a:spLocks/>
            </p:cNvSpPr>
            <p:nvPr/>
          </p:nvSpPr>
          <p:spPr bwMode="auto">
            <a:xfrm>
              <a:off x="4297066" y="5163105"/>
              <a:ext cx="1206841" cy="1368"/>
            </a:xfrm>
            <a:custGeom>
              <a:avLst/>
              <a:gdLst/>
              <a:ahLst/>
              <a:cxnLst>
                <a:cxn ang="0">
                  <a:pos x="0" y="0"/>
                </a:cxn>
                <a:cxn ang="0">
                  <a:pos x="882" y="10"/>
                </a:cxn>
              </a:cxnLst>
              <a:rect l="0" t="0" r="r" b="b"/>
              <a:pathLst>
                <a:path w="882" h="10">
                  <a:moveTo>
                    <a:pt x="0" y="0"/>
                  </a:moveTo>
                  <a:lnTo>
                    <a:pt x="882" y="10"/>
                  </a:lnTo>
                </a:path>
              </a:pathLst>
            </a:custGeom>
            <a:noFill/>
            <a:ln w="19050">
              <a:solidFill>
                <a:srgbClr val="00B0F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9" name="AutoShape 8"/>
            <p:cNvSpPr>
              <a:spLocks/>
            </p:cNvSpPr>
            <p:nvPr/>
          </p:nvSpPr>
          <p:spPr bwMode="auto">
            <a:xfrm rot="5400000">
              <a:off x="4165761" y="1975839"/>
              <a:ext cx="232507" cy="2451994"/>
            </a:xfrm>
            <a:prstGeom prst="leftBrace">
              <a:avLst>
                <a:gd name="adj1" fmla="val 87843"/>
                <a:gd name="adj2" fmla="val 50000"/>
              </a:avLst>
            </a:prstGeom>
            <a:noFill/>
            <a:ln w="19050">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4" name="Text Box 3"/>
            <p:cNvSpPr txBox="1">
              <a:spLocks noChangeArrowheads="1"/>
            </p:cNvSpPr>
            <p:nvPr/>
          </p:nvSpPr>
          <p:spPr bwMode="auto">
            <a:xfrm>
              <a:off x="500034" y="2908737"/>
              <a:ext cx="24629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Y</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 name="AutoShape 2"/>
            <p:cNvSpPr>
              <a:spLocks noChangeShapeType="1"/>
            </p:cNvSpPr>
            <p:nvPr/>
          </p:nvSpPr>
          <p:spPr bwMode="auto">
            <a:xfrm flipV="1">
              <a:off x="850318" y="2948814"/>
              <a:ext cx="1368" cy="2480991"/>
            </a:xfrm>
            <a:prstGeom prst="straightConnector1">
              <a:avLst/>
            </a:prstGeom>
            <a:noFill/>
            <a:ln w="19050">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cxnSp>
          <p:nvCxnSpPr>
            <p:cNvPr id="47" name="直接连接符 46"/>
            <p:cNvCxnSpPr>
              <a:stCxn id="17" idx="5"/>
              <a:endCxn id="20" idx="2"/>
            </p:cNvCxnSpPr>
            <p:nvPr/>
          </p:nvCxnSpPr>
          <p:spPr>
            <a:xfrm rot="16200000" flipH="1">
              <a:off x="4242299" y="4244052"/>
              <a:ext cx="117729" cy="46585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40" name="灯片编号占位符 39"/>
          <p:cNvSpPr>
            <a:spLocks noGrp="1"/>
          </p:cNvSpPr>
          <p:nvPr>
            <p:ph type="sldNum" sz="quarter" idx="12"/>
          </p:nvPr>
        </p:nvSpPr>
        <p:spPr/>
        <p:txBody>
          <a:bodyPr/>
          <a:lstStyle/>
          <a:p>
            <a:pPr>
              <a:defRPr/>
            </a:pPr>
            <a:fld id="{51116183-1013-4E64-BBE8-A5C1D5D4F838}" type="slidenum">
              <a:rPr lang="en-US" altLang="zh-CN" smtClean="0"/>
              <a:pPr>
                <a:defRPr/>
              </a:pPr>
              <a:t>128</a:t>
            </a:fld>
            <a:r>
              <a:rPr lang="en-US" altLang="zh-CN"/>
              <a:t>/167</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285728"/>
            <a:ext cx="8286808" cy="263149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nSpc>
                <a:spcPts val="3200"/>
              </a:lnSpc>
              <a:spcBef>
                <a:spcPts val="600"/>
              </a:spcBef>
              <a:buBlip>
                <a:blip r:embed="rId2"/>
              </a:buBlip>
            </a:pPr>
            <a:r>
              <a:rPr lang="zh-CN" altLang="zh-CN" sz="2200">
                <a:solidFill>
                  <a:srgbClr val="0000FF"/>
                </a:solidFill>
                <a:latin typeface="Consolas" pitchFamily="49" charset="0"/>
                <a:ea typeface="仿宋" pitchFamily="49" charset="-122"/>
              </a:rPr>
              <a:t>考虑垂直带形区，将</a:t>
            </a:r>
            <a:r>
              <a:rPr lang="en-US" altLang="zh-CN" sz="2200" i="1">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中与中轴线在</a:t>
            </a:r>
            <a:r>
              <a:rPr lang="en-US" altLang="zh-CN" sz="2200">
                <a:solidFill>
                  <a:srgbClr val="0000FF"/>
                </a:solidFill>
                <a:latin typeface="Consolas" pitchFamily="49" charset="0"/>
                <a:ea typeface="仿宋" pitchFamily="49" charset="-122"/>
              </a:rPr>
              <a:t>X</a:t>
            </a:r>
            <a:r>
              <a:rPr lang="zh-CN" altLang="zh-CN" sz="2200">
                <a:solidFill>
                  <a:srgbClr val="0000FF"/>
                </a:solidFill>
                <a:latin typeface="Consolas" pitchFamily="49" charset="0"/>
                <a:ea typeface="仿宋" pitchFamily="49" charset="-122"/>
              </a:rPr>
              <a:t>方向距离小于</a:t>
            </a:r>
            <a:r>
              <a:rPr lang="en-US" altLang="zh-CN" sz="2200" i="1">
                <a:solidFill>
                  <a:srgbClr val="0000FF"/>
                </a:solidFill>
                <a:latin typeface="Consolas" pitchFamily="49" charset="0"/>
                <a:ea typeface="仿宋" pitchFamily="49" charset="-122"/>
              </a:rPr>
              <a:t>d</a:t>
            </a:r>
            <a:r>
              <a:rPr lang="zh-CN" altLang="zh-CN" sz="2200">
                <a:solidFill>
                  <a:srgbClr val="0000FF"/>
                </a:solidFill>
                <a:latin typeface="Consolas" pitchFamily="49" charset="0"/>
                <a:ea typeface="仿宋" pitchFamily="49" charset="-122"/>
              </a:rPr>
              <a:t>的所有点复制到</a:t>
            </a:r>
            <a:r>
              <a:rPr lang="zh-CN" altLang="zh-CN" sz="2200">
                <a:solidFill>
                  <a:srgbClr val="FF0000"/>
                </a:solidFill>
                <a:latin typeface="Consolas" pitchFamily="49" charset="0"/>
                <a:ea typeface="仿宋" pitchFamily="49" charset="-122"/>
              </a:rPr>
              <a:t>点集</a:t>
            </a:r>
            <a:r>
              <a:rPr lang="en-US" altLang="zh-CN" sz="2200">
                <a:solidFill>
                  <a:srgbClr val="FF0000"/>
                </a:solidFill>
                <a:latin typeface="Consolas" pitchFamily="49" charset="0"/>
                <a:ea typeface="仿宋" pitchFamily="49" charset="-122"/>
              </a:rPr>
              <a:t>a1</a:t>
            </a:r>
            <a:r>
              <a:rPr lang="zh-CN" altLang="zh-CN" sz="2200">
                <a:solidFill>
                  <a:srgbClr val="0000FF"/>
                </a:solidFill>
                <a:latin typeface="Consolas" pitchFamily="49" charset="0"/>
                <a:ea typeface="仿宋" pitchFamily="49" charset="-122"/>
              </a:rPr>
              <a:t>中，</a:t>
            </a:r>
            <a:r>
              <a:rPr lang="en-US" altLang="zh-CN" sz="2200">
                <a:solidFill>
                  <a:srgbClr val="0000FF"/>
                </a:solidFill>
                <a:latin typeface="Consolas" pitchFamily="49" charset="0"/>
                <a:ea typeface="仿宋" pitchFamily="49" charset="-122"/>
              </a:rPr>
              <a:t>a1</a:t>
            </a:r>
            <a:r>
              <a:rPr lang="zh-CN" altLang="zh-CN" sz="2200">
                <a:solidFill>
                  <a:srgbClr val="0000FF"/>
                </a:solidFill>
                <a:latin typeface="Consolas" pitchFamily="49" charset="0"/>
                <a:ea typeface="仿宋" pitchFamily="49" charset="-122"/>
              </a:rPr>
              <a:t>点集包含了垂直带形区的全部点，对</a:t>
            </a:r>
            <a:r>
              <a:rPr lang="en-US" altLang="zh-CN" sz="2200">
                <a:solidFill>
                  <a:srgbClr val="0000FF"/>
                </a:solidFill>
                <a:latin typeface="Consolas" pitchFamily="49" charset="0"/>
                <a:ea typeface="仿宋" pitchFamily="49" charset="-122"/>
              </a:rPr>
              <a:t>a1</a:t>
            </a:r>
            <a:r>
              <a:rPr lang="zh-CN" altLang="zh-CN" sz="2200">
                <a:solidFill>
                  <a:srgbClr val="0000FF"/>
                </a:solidFill>
                <a:latin typeface="Consolas" pitchFamily="49" charset="0"/>
                <a:ea typeface="仿宋" pitchFamily="49" charset="-122"/>
              </a:rPr>
              <a:t>中所有点</a:t>
            </a:r>
            <a:r>
              <a:rPr lang="zh-CN" altLang="zh-CN" sz="2200">
                <a:solidFill>
                  <a:srgbClr val="FF0000"/>
                </a:solidFill>
                <a:latin typeface="Consolas" pitchFamily="49" charset="0"/>
                <a:ea typeface="仿宋" pitchFamily="49" charset="-122"/>
              </a:rPr>
              <a:t>按</a:t>
            </a:r>
            <a:r>
              <a:rPr lang="en-US" altLang="zh-CN" sz="2200" i="1">
                <a:solidFill>
                  <a:srgbClr val="FF0000"/>
                </a:solidFill>
                <a:latin typeface="Consolas" pitchFamily="49" charset="0"/>
                <a:ea typeface="仿宋" pitchFamily="49" charset="-122"/>
              </a:rPr>
              <a:t>y</a:t>
            </a:r>
            <a:r>
              <a:rPr lang="zh-CN" altLang="zh-CN" sz="2200">
                <a:solidFill>
                  <a:srgbClr val="FF0000"/>
                </a:solidFill>
                <a:latin typeface="Consolas" pitchFamily="49" charset="0"/>
                <a:ea typeface="仿宋" pitchFamily="49" charset="-122"/>
              </a:rPr>
              <a:t>坐标递增排序</a:t>
            </a:r>
            <a:r>
              <a:rPr lang="zh-CN" altLang="zh-CN" sz="2200">
                <a:solidFill>
                  <a:srgbClr val="0000FF"/>
                </a:solidFill>
                <a:latin typeface="Consolas" pitchFamily="49" charset="0"/>
                <a:ea typeface="仿宋" pitchFamily="49" charset="-122"/>
              </a:rPr>
              <a:t>。</a:t>
            </a:r>
            <a:endParaRPr lang="en-US" altLang="zh-CN" sz="2200">
              <a:solidFill>
                <a:srgbClr val="0000FF"/>
              </a:solidFill>
              <a:latin typeface="Consolas" pitchFamily="49" charset="0"/>
              <a:ea typeface="仿宋" pitchFamily="49" charset="-122"/>
            </a:endParaRPr>
          </a:p>
          <a:p>
            <a:pPr marL="457200" indent="-457200">
              <a:lnSpc>
                <a:spcPts val="3200"/>
              </a:lnSpc>
              <a:spcBef>
                <a:spcPts val="600"/>
              </a:spcBef>
              <a:buBlip>
                <a:blip r:embed="rId2"/>
              </a:buBlip>
            </a:pPr>
            <a:r>
              <a:rPr lang="zh-CN" altLang="zh-CN" sz="2200">
                <a:solidFill>
                  <a:srgbClr val="0000FF"/>
                </a:solidFill>
                <a:latin typeface="Consolas" pitchFamily="49" charset="0"/>
                <a:ea typeface="仿宋" pitchFamily="49" charset="-122"/>
              </a:rPr>
              <a:t>对于</a:t>
            </a:r>
            <a:r>
              <a:rPr lang="en-US" altLang="zh-CN" sz="2200">
                <a:solidFill>
                  <a:srgbClr val="0000FF"/>
                </a:solidFill>
                <a:latin typeface="Consolas" pitchFamily="49" charset="0"/>
                <a:ea typeface="仿宋" pitchFamily="49" charset="-122"/>
              </a:rPr>
              <a:t>a1</a:t>
            </a:r>
            <a:r>
              <a:rPr lang="zh-CN" altLang="zh-CN" sz="2200">
                <a:solidFill>
                  <a:srgbClr val="0000FF"/>
                </a:solidFill>
                <a:latin typeface="Consolas" pitchFamily="49" charset="0"/>
                <a:ea typeface="仿宋" pitchFamily="49" charset="-122"/>
              </a:rPr>
              <a:t>中任一点</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，仅需要考虑紧随</a:t>
            </a:r>
            <a:r>
              <a:rPr lang="en-US" altLang="zh-CN" sz="2200" i="1">
                <a:solidFill>
                  <a:srgbClr val="FF0000"/>
                </a:solidFill>
                <a:latin typeface="Consolas" pitchFamily="49" charset="0"/>
                <a:ea typeface="仿宋" pitchFamily="49" charset="-122"/>
              </a:rPr>
              <a:t>a</a:t>
            </a:r>
            <a:r>
              <a:rPr lang="en-US" altLang="zh-CN" sz="2200" i="1" baseline="-25000">
                <a:solidFill>
                  <a:srgbClr val="FF0000"/>
                </a:solidFill>
                <a:latin typeface="Consolas" pitchFamily="49" charset="0"/>
                <a:ea typeface="仿宋" pitchFamily="49" charset="-122"/>
              </a:rPr>
              <a:t>i</a:t>
            </a:r>
            <a:r>
              <a:rPr lang="zh-CN" altLang="zh-CN" sz="2200">
                <a:solidFill>
                  <a:srgbClr val="FF0000"/>
                </a:solidFill>
                <a:latin typeface="Consolas" pitchFamily="49" charset="0"/>
                <a:ea typeface="仿宋" pitchFamily="49" charset="-122"/>
              </a:rPr>
              <a:t>后最多</a:t>
            </a:r>
            <a:r>
              <a:rPr lang="en-US" altLang="zh-CN" sz="2200">
                <a:solidFill>
                  <a:srgbClr val="FF0000"/>
                </a:solidFill>
                <a:latin typeface="Consolas" pitchFamily="49" charset="0"/>
                <a:ea typeface="仿宋" pitchFamily="49" charset="-122"/>
              </a:rPr>
              <a:t>7</a:t>
            </a:r>
            <a:r>
              <a:rPr lang="zh-CN" altLang="zh-CN" sz="2200">
                <a:solidFill>
                  <a:srgbClr val="FF0000"/>
                </a:solidFill>
                <a:latin typeface="Consolas" pitchFamily="49" charset="0"/>
                <a:ea typeface="仿宋" pitchFamily="49" charset="-122"/>
              </a:rPr>
              <a:t>个点</a:t>
            </a:r>
            <a:r>
              <a:rPr lang="zh-CN" altLang="zh-CN" sz="2200">
                <a:solidFill>
                  <a:srgbClr val="0000FF"/>
                </a:solidFill>
                <a:latin typeface="Consolas" pitchFamily="49" charset="0"/>
                <a:ea typeface="仿宋" pitchFamily="49" charset="-122"/>
              </a:rPr>
              <a:t>，计算出从</a:t>
            </a:r>
            <a:r>
              <a:rPr lang="en-US" altLang="zh-CN" sz="2200" i="1">
                <a:solidFill>
                  <a:srgbClr val="0000FF"/>
                </a:solidFill>
                <a:latin typeface="Consolas" pitchFamily="49" charset="0"/>
                <a:ea typeface="仿宋" pitchFamily="49" charset="-122"/>
              </a:rPr>
              <a:t>a</a:t>
            </a:r>
            <a:r>
              <a:rPr lang="en-US" altLang="zh-CN" sz="2200" i="1" baseline="-25000">
                <a:solidFill>
                  <a:srgbClr val="0000FF"/>
                </a:solidFill>
                <a:latin typeface="Consolas" pitchFamily="49" charset="0"/>
                <a:ea typeface="仿宋" pitchFamily="49" charset="-122"/>
              </a:rPr>
              <a:t>i</a:t>
            </a:r>
            <a:r>
              <a:rPr lang="zh-CN" altLang="zh-CN" sz="2200">
                <a:solidFill>
                  <a:srgbClr val="0000FF"/>
                </a:solidFill>
                <a:latin typeface="Consolas" pitchFamily="49" charset="0"/>
                <a:ea typeface="仿宋" pitchFamily="49" charset="-122"/>
              </a:rPr>
              <a:t>到这</a:t>
            </a:r>
            <a:r>
              <a:rPr lang="en-US" altLang="zh-CN" sz="2200">
                <a:solidFill>
                  <a:srgbClr val="0000FF"/>
                </a:solidFill>
                <a:latin typeface="Consolas" pitchFamily="49" charset="0"/>
                <a:ea typeface="仿宋" pitchFamily="49" charset="-122"/>
              </a:rPr>
              <a:t>7</a:t>
            </a:r>
            <a:r>
              <a:rPr lang="zh-CN" altLang="zh-CN" sz="2200">
                <a:solidFill>
                  <a:srgbClr val="0000FF"/>
                </a:solidFill>
                <a:latin typeface="Consolas" pitchFamily="49" charset="0"/>
                <a:ea typeface="仿宋" pitchFamily="49" charset="-122"/>
              </a:rPr>
              <a:t>个点的距离，并和</a:t>
            </a:r>
            <a:r>
              <a:rPr lang="en-US" altLang="zh-CN" sz="2200" i="1">
                <a:solidFill>
                  <a:srgbClr val="0000FF"/>
                </a:solidFill>
                <a:latin typeface="Consolas" pitchFamily="49" charset="0"/>
                <a:ea typeface="仿宋" pitchFamily="49" charset="-122"/>
              </a:rPr>
              <a:t>d</a:t>
            </a:r>
            <a:r>
              <a:rPr lang="zh-CN" altLang="zh-CN" sz="2200">
                <a:solidFill>
                  <a:srgbClr val="0000FF"/>
                </a:solidFill>
                <a:latin typeface="Consolas" pitchFamily="49" charset="0"/>
                <a:ea typeface="仿宋" pitchFamily="49" charset="-122"/>
              </a:rPr>
              <a:t>进行比较，将最小的距离存放在</a:t>
            </a:r>
            <a:r>
              <a:rPr lang="en-US" altLang="zh-CN" sz="2200" i="1">
                <a:solidFill>
                  <a:srgbClr val="0000FF"/>
                </a:solidFill>
                <a:latin typeface="Consolas" pitchFamily="49" charset="0"/>
                <a:ea typeface="仿宋" pitchFamily="49" charset="-122"/>
              </a:rPr>
              <a:t>d</a:t>
            </a:r>
            <a:r>
              <a:rPr lang="zh-CN" altLang="zh-CN" sz="2200">
                <a:solidFill>
                  <a:srgbClr val="0000FF"/>
                </a:solidFill>
                <a:latin typeface="Consolas" pitchFamily="49" charset="0"/>
                <a:ea typeface="仿宋" pitchFamily="49" charset="-122"/>
              </a:rPr>
              <a:t>中，最后求得的</a:t>
            </a:r>
            <a:r>
              <a:rPr lang="en-US" altLang="zh-CN" sz="2200" i="1">
                <a:solidFill>
                  <a:srgbClr val="0000FF"/>
                </a:solidFill>
                <a:latin typeface="Consolas" pitchFamily="49" charset="0"/>
                <a:ea typeface="仿宋" pitchFamily="49" charset="-122"/>
              </a:rPr>
              <a:t>d</a:t>
            </a:r>
            <a:r>
              <a:rPr lang="zh-CN" altLang="zh-CN" sz="2200">
                <a:solidFill>
                  <a:srgbClr val="0000FF"/>
                </a:solidFill>
                <a:latin typeface="Consolas" pitchFamily="49" charset="0"/>
                <a:ea typeface="仿宋" pitchFamily="49" charset="-122"/>
              </a:rPr>
              <a:t>即为</a:t>
            </a:r>
            <a:r>
              <a:rPr lang="en-US" altLang="zh-CN" sz="2200" i="1">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中所有点的最近点对距离。</a:t>
            </a:r>
          </a:p>
        </p:txBody>
      </p:sp>
      <p:grpSp>
        <p:nvGrpSpPr>
          <p:cNvPr id="2" name="组合 6"/>
          <p:cNvGrpSpPr/>
          <p:nvPr/>
        </p:nvGrpSpPr>
        <p:grpSpPr>
          <a:xfrm>
            <a:off x="634956" y="3377759"/>
            <a:ext cx="7580382" cy="2980199"/>
            <a:chOff x="500034" y="1234619"/>
            <a:chExt cx="7580382" cy="2980199"/>
          </a:xfrm>
        </p:grpSpPr>
        <p:sp>
          <p:nvSpPr>
            <p:cNvPr id="7" name="Text Box 40"/>
            <p:cNvSpPr txBox="1">
              <a:spLocks noChangeArrowheads="1"/>
            </p:cNvSpPr>
            <p:nvPr/>
          </p:nvSpPr>
          <p:spPr bwMode="auto">
            <a:xfrm>
              <a:off x="3428992" y="1234619"/>
              <a:ext cx="1857388"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垂直带形区</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a1</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8" name="Text Box 39"/>
            <p:cNvSpPr txBox="1">
              <a:spLocks noChangeArrowheads="1"/>
            </p:cNvSpPr>
            <p:nvPr/>
          </p:nvSpPr>
          <p:spPr bwMode="auto">
            <a:xfrm>
              <a:off x="3537659" y="3310774"/>
              <a:ext cx="246294" cy="3090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Times New Roman" pitchFamily="18" charset="0"/>
                </a:rPr>
                <a:t>d</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9" name="Text Box 38"/>
            <p:cNvSpPr txBox="1">
              <a:spLocks noChangeArrowheads="1"/>
            </p:cNvSpPr>
            <p:nvPr/>
          </p:nvSpPr>
          <p:spPr bwMode="auto">
            <a:xfrm>
              <a:off x="3792163" y="3942647"/>
              <a:ext cx="1231470" cy="27217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2000" i="0" u="none" strike="noStrike" cap="none" normalizeH="0" baseline="0">
                  <a:ln>
                    <a:noFill/>
                  </a:ln>
                  <a:solidFill>
                    <a:srgbClr val="0000FF"/>
                  </a:solidFill>
                  <a:effectLst/>
                  <a:latin typeface="Consolas" pitchFamily="49" charset="0"/>
                  <a:ea typeface="仿宋" pitchFamily="49" charset="-122"/>
                  <a:cs typeface="Times New Roman" pitchFamily="18" charset="0"/>
                </a:rPr>
                <a:t>[mid].</a:t>
              </a:r>
              <a:r>
                <a:rPr kumimoji="0" lang="en-US" altLang="zh-CN" sz="2000" i="1" u="none" strike="noStrike" cap="none" normalizeH="0" baseline="0">
                  <a:ln>
                    <a:noFill/>
                  </a:ln>
                  <a:solidFill>
                    <a:srgbClr val="0000FF"/>
                  </a:solidFill>
                  <a:effectLst/>
                  <a:latin typeface="Consolas" pitchFamily="49" charset="0"/>
                  <a:ea typeface="仿宋" pitchFamily="49" charset="-122"/>
                  <a:cs typeface="Times New Roman" pitchFamily="18" charset="0"/>
                </a:rPr>
                <a:t>x</a:t>
              </a:r>
              <a:endParaRPr kumimoji="0" lang="en-US" altLang="zh-CN" sz="20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0" name="Text Box 37"/>
            <p:cNvSpPr txBox="1">
              <a:spLocks noChangeArrowheads="1"/>
            </p:cNvSpPr>
            <p:nvPr/>
          </p:nvSpPr>
          <p:spPr bwMode="auto">
            <a:xfrm>
              <a:off x="1641195" y="1912994"/>
              <a:ext cx="418700"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lang="en-US" altLang="zh-CN" sz="1800" baseline="-30000">
                  <a:solidFill>
                    <a:srgbClr val="0000FF"/>
                  </a:solidFill>
                  <a:latin typeface="Consolas" pitchFamily="49" charset="0"/>
                  <a:ea typeface="仿宋" pitchFamily="49" charset="-122"/>
                  <a:cs typeface="Times New Roman" pitchFamily="18" charset="0"/>
                </a:rPr>
                <a:t>1</a:t>
              </a:r>
              <a:endParaRPr kumimoji="0" lang="en-US" altLang="zh-CN" sz="180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1" name="AutoShape 36"/>
            <p:cNvSpPr>
              <a:spLocks/>
            </p:cNvSpPr>
            <p:nvPr/>
          </p:nvSpPr>
          <p:spPr bwMode="auto">
            <a:xfrm rot="5400000">
              <a:off x="2571694" y="290222"/>
              <a:ext cx="246184" cy="3103305"/>
            </a:xfrm>
            <a:prstGeom prst="leftBrace">
              <a:avLst>
                <a:gd name="adj1" fmla="val 105000"/>
                <a:gd name="adj2" fmla="val 50000"/>
              </a:avLst>
            </a:prstGeom>
            <a:noFill/>
            <a:ln w="19050">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2" name="Oval 35"/>
            <p:cNvSpPr>
              <a:spLocks noChangeArrowheads="1"/>
            </p:cNvSpPr>
            <p:nvPr/>
          </p:nvSpPr>
          <p:spPr bwMode="auto">
            <a:xfrm>
              <a:off x="1444160" y="2093529"/>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3" name="Text Box 34"/>
            <p:cNvSpPr txBox="1">
              <a:spLocks noChangeArrowheads="1"/>
            </p:cNvSpPr>
            <p:nvPr/>
          </p:nvSpPr>
          <p:spPr bwMode="auto">
            <a:xfrm>
              <a:off x="2555220" y="1277018"/>
              <a:ext cx="24629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Times New Roman" pitchFamily="18" charset="0"/>
                </a:rPr>
                <a:t>1</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14" name="Oval 33"/>
            <p:cNvSpPr>
              <a:spLocks noChangeArrowheads="1"/>
            </p:cNvSpPr>
            <p:nvPr/>
          </p:nvSpPr>
          <p:spPr bwMode="auto">
            <a:xfrm>
              <a:off x="2248721" y="2553073"/>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5" name="Oval 32"/>
            <p:cNvSpPr>
              <a:spLocks noChangeArrowheads="1"/>
            </p:cNvSpPr>
            <p:nvPr/>
          </p:nvSpPr>
          <p:spPr bwMode="auto">
            <a:xfrm>
              <a:off x="1095244" y="2978425"/>
              <a:ext cx="77993" cy="7932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6" name="Oval 31"/>
            <p:cNvSpPr>
              <a:spLocks noChangeArrowheads="1"/>
            </p:cNvSpPr>
            <p:nvPr/>
          </p:nvSpPr>
          <p:spPr bwMode="auto">
            <a:xfrm>
              <a:off x="1813601" y="3619872"/>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7" name="Oval 30"/>
            <p:cNvSpPr>
              <a:spLocks noChangeArrowheads="1"/>
            </p:cNvSpPr>
            <p:nvPr/>
          </p:nvSpPr>
          <p:spPr bwMode="auto">
            <a:xfrm>
              <a:off x="3537659" y="2903202"/>
              <a:ext cx="79361" cy="75223"/>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8" name="Oval 29"/>
            <p:cNvSpPr>
              <a:spLocks noChangeArrowheads="1"/>
            </p:cNvSpPr>
            <p:nvPr/>
          </p:nvSpPr>
          <p:spPr bwMode="auto">
            <a:xfrm>
              <a:off x="3049176" y="3406513"/>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19" name="AutoShape 28"/>
            <p:cNvSpPr>
              <a:spLocks/>
            </p:cNvSpPr>
            <p:nvPr/>
          </p:nvSpPr>
          <p:spPr bwMode="auto">
            <a:xfrm rot="5400000">
              <a:off x="5828249" y="290222"/>
              <a:ext cx="246184" cy="3103305"/>
            </a:xfrm>
            <a:prstGeom prst="leftBrace">
              <a:avLst>
                <a:gd name="adj1" fmla="val 105000"/>
                <a:gd name="adj2" fmla="val 50000"/>
              </a:avLst>
            </a:prstGeom>
            <a:noFill/>
            <a:ln w="19050">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0" name="Oval 27"/>
            <p:cNvSpPr>
              <a:spLocks noChangeArrowheads="1"/>
            </p:cNvSpPr>
            <p:nvPr/>
          </p:nvSpPr>
          <p:spPr bwMode="auto">
            <a:xfrm>
              <a:off x="5014055" y="2553073"/>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1" name="Text Box 26"/>
            <p:cNvSpPr txBox="1">
              <a:spLocks noChangeArrowheads="1"/>
            </p:cNvSpPr>
            <p:nvPr/>
          </p:nvSpPr>
          <p:spPr bwMode="auto">
            <a:xfrm>
              <a:off x="5811774" y="1277018"/>
              <a:ext cx="287343"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S</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2" name="Oval 25"/>
            <p:cNvSpPr>
              <a:spLocks noChangeArrowheads="1"/>
            </p:cNvSpPr>
            <p:nvPr/>
          </p:nvSpPr>
          <p:spPr bwMode="auto">
            <a:xfrm>
              <a:off x="5453280" y="3406513"/>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3" name="Oval 24"/>
            <p:cNvSpPr>
              <a:spLocks noChangeArrowheads="1"/>
            </p:cNvSpPr>
            <p:nvPr/>
          </p:nvSpPr>
          <p:spPr bwMode="auto">
            <a:xfrm>
              <a:off x="6534237" y="3115194"/>
              <a:ext cx="79361"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4" name="Oval 23"/>
            <p:cNvSpPr>
              <a:spLocks noChangeArrowheads="1"/>
            </p:cNvSpPr>
            <p:nvPr/>
          </p:nvSpPr>
          <p:spPr bwMode="auto">
            <a:xfrm>
              <a:off x="7252594" y="2126354"/>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5" name="Oval 22"/>
            <p:cNvSpPr>
              <a:spLocks noChangeArrowheads="1"/>
            </p:cNvSpPr>
            <p:nvPr/>
          </p:nvSpPr>
          <p:spPr bwMode="auto">
            <a:xfrm>
              <a:off x="6021124" y="2339714"/>
              <a:ext cx="77993" cy="79326"/>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6" name="Line 21"/>
            <p:cNvSpPr>
              <a:spLocks noChangeShapeType="1"/>
            </p:cNvSpPr>
            <p:nvPr/>
          </p:nvSpPr>
          <p:spPr bwMode="auto">
            <a:xfrm>
              <a:off x="4312117" y="1917097"/>
              <a:ext cx="0" cy="1938018"/>
            </a:xfrm>
            <a:prstGeom prst="line">
              <a:avLst/>
            </a:prstGeom>
            <a:noFill/>
            <a:ln w="57150">
              <a:solidFill>
                <a:srgbClr val="FF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7" name="Freeform 20"/>
            <p:cNvSpPr>
              <a:spLocks/>
            </p:cNvSpPr>
            <p:nvPr/>
          </p:nvSpPr>
          <p:spPr bwMode="auto">
            <a:xfrm>
              <a:off x="1490682" y="2126354"/>
              <a:ext cx="762143" cy="447235"/>
            </a:xfrm>
            <a:custGeom>
              <a:avLst/>
              <a:gdLst/>
              <a:ahLst/>
              <a:cxnLst>
                <a:cxn ang="0">
                  <a:pos x="0" y="0"/>
                </a:cxn>
                <a:cxn ang="0">
                  <a:pos x="558" y="327"/>
                </a:cxn>
              </a:cxnLst>
              <a:rect l="0" t="0" r="r" b="b"/>
              <a:pathLst>
                <a:path w="558" h="327">
                  <a:moveTo>
                    <a:pt x="0" y="0"/>
                  </a:moveTo>
                  <a:lnTo>
                    <a:pt x="558" y="327"/>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28" name="Text Box 19"/>
            <p:cNvSpPr txBox="1">
              <a:spLocks noChangeArrowheads="1"/>
            </p:cNvSpPr>
            <p:nvPr/>
          </p:nvSpPr>
          <p:spPr bwMode="auto">
            <a:xfrm>
              <a:off x="6404248" y="2553073"/>
              <a:ext cx="33523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Times New Roman" pitchFamily="18" charset="0"/>
                </a:rPr>
                <a:t>d</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Times New Roman" pitchFamily="18" charset="0"/>
                </a:rPr>
                <a:t>2</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29" name="Freeform 18"/>
            <p:cNvSpPr>
              <a:spLocks/>
            </p:cNvSpPr>
            <p:nvPr/>
          </p:nvSpPr>
          <p:spPr bwMode="auto">
            <a:xfrm>
              <a:off x="6082698" y="2419040"/>
              <a:ext cx="467959" cy="704361"/>
            </a:xfrm>
            <a:custGeom>
              <a:avLst/>
              <a:gdLst/>
              <a:ahLst/>
              <a:cxnLst>
                <a:cxn ang="0">
                  <a:pos x="0" y="0"/>
                </a:cxn>
                <a:cxn ang="0">
                  <a:pos x="342" y="516"/>
                </a:cxn>
              </a:cxnLst>
              <a:rect l="0" t="0" r="r" b="b"/>
              <a:pathLst>
                <a:path w="342" h="516">
                  <a:moveTo>
                    <a:pt x="0" y="0"/>
                  </a:moveTo>
                  <a:lnTo>
                    <a:pt x="342" y="516"/>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0" name="Line 17"/>
            <p:cNvSpPr>
              <a:spLocks noChangeShapeType="1"/>
            </p:cNvSpPr>
            <p:nvPr/>
          </p:nvSpPr>
          <p:spPr bwMode="auto">
            <a:xfrm>
              <a:off x="3097067" y="1912994"/>
              <a:ext cx="0" cy="1938018"/>
            </a:xfrm>
            <a:prstGeom prst="line">
              <a:avLst/>
            </a:prstGeom>
            <a:noFill/>
            <a:ln w="28575" cap="rnd">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1" name="Line 16"/>
            <p:cNvSpPr>
              <a:spLocks noChangeShapeType="1"/>
            </p:cNvSpPr>
            <p:nvPr/>
          </p:nvSpPr>
          <p:spPr bwMode="auto">
            <a:xfrm>
              <a:off x="5491592" y="1912994"/>
              <a:ext cx="0" cy="1938018"/>
            </a:xfrm>
            <a:prstGeom prst="line">
              <a:avLst/>
            </a:prstGeom>
            <a:noFill/>
            <a:ln w="28575" cap="rnd">
              <a:solidFill>
                <a:srgbClr val="FF00FF"/>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2" name="Oval 15"/>
            <p:cNvSpPr>
              <a:spLocks noChangeArrowheads="1"/>
            </p:cNvSpPr>
            <p:nvPr/>
          </p:nvSpPr>
          <p:spPr bwMode="auto">
            <a:xfrm>
              <a:off x="4273805" y="3663639"/>
              <a:ext cx="77993" cy="77958"/>
            </a:xfrm>
            <a:prstGeom prst="ellipse">
              <a:avLst/>
            </a:prstGeom>
            <a:solidFill>
              <a:srgbClr val="000000"/>
            </a:solid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3" name="Line 14"/>
            <p:cNvSpPr>
              <a:spLocks noChangeShapeType="1"/>
            </p:cNvSpPr>
            <p:nvPr/>
          </p:nvSpPr>
          <p:spPr bwMode="auto">
            <a:xfrm>
              <a:off x="857159" y="3866057"/>
              <a:ext cx="6981068" cy="1368"/>
            </a:xfrm>
            <a:prstGeom prst="line">
              <a:avLst/>
            </a:prstGeom>
            <a:noFill/>
            <a:ln w="19050">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4" name="Text Box 13"/>
            <p:cNvSpPr txBox="1">
              <a:spLocks noChangeArrowheads="1"/>
            </p:cNvSpPr>
            <p:nvPr/>
          </p:nvSpPr>
          <p:spPr bwMode="auto">
            <a:xfrm>
              <a:off x="7834122" y="3690992"/>
              <a:ext cx="24629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X</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5" name="Freeform 12"/>
            <p:cNvSpPr>
              <a:spLocks/>
            </p:cNvSpPr>
            <p:nvPr/>
          </p:nvSpPr>
          <p:spPr bwMode="auto">
            <a:xfrm>
              <a:off x="3617021" y="2602310"/>
              <a:ext cx="1402508" cy="315937"/>
            </a:xfrm>
            <a:custGeom>
              <a:avLst/>
              <a:gdLst/>
              <a:ahLst/>
              <a:cxnLst>
                <a:cxn ang="0">
                  <a:pos x="0" y="231"/>
                </a:cxn>
                <a:cxn ang="0">
                  <a:pos x="1026" y="0"/>
                </a:cxn>
              </a:cxnLst>
              <a:rect l="0" t="0" r="r" b="b"/>
              <a:pathLst>
                <a:path w="1026" h="231">
                  <a:moveTo>
                    <a:pt x="0" y="231"/>
                  </a:moveTo>
                  <a:lnTo>
                    <a:pt x="1026" y="0"/>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6" name="Freeform 11"/>
            <p:cNvSpPr>
              <a:spLocks/>
            </p:cNvSpPr>
            <p:nvPr/>
          </p:nvSpPr>
          <p:spPr bwMode="auto">
            <a:xfrm>
              <a:off x="3097067" y="3611666"/>
              <a:ext cx="1208209" cy="1368"/>
            </a:xfrm>
            <a:custGeom>
              <a:avLst/>
              <a:gdLst/>
              <a:ahLst/>
              <a:cxnLst>
                <a:cxn ang="0">
                  <a:pos x="0" y="0"/>
                </a:cxn>
                <a:cxn ang="0">
                  <a:pos x="882" y="10"/>
                </a:cxn>
              </a:cxnLst>
              <a:rect l="0" t="0" r="r" b="b"/>
              <a:pathLst>
                <a:path w="882" h="10">
                  <a:moveTo>
                    <a:pt x="0" y="0"/>
                  </a:moveTo>
                  <a:lnTo>
                    <a:pt x="882" y="10"/>
                  </a:lnTo>
                </a:path>
              </a:pathLst>
            </a:custGeom>
            <a:noFill/>
            <a:ln w="19050">
              <a:solidFill>
                <a:srgbClr val="00B0F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7" name="Text Box 10"/>
            <p:cNvSpPr txBox="1">
              <a:spLocks noChangeArrowheads="1"/>
            </p:cNvSpPr>
            <p:nvPr/>
          </p:nvSpPr>
          <p:spPr bwMode="auto">
            <a:xfrm>
              <a:off x="4736290" y="3310774"/>
              <a:ext cx="244926" cy="3090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Times New Roman" pitchFamily="18" charset="0"/>
                </a:rPr>
                <a:t>d</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38" name="Freeform 9"/>
            <p:cNvSpPr>
              <a:spLocks/>
            </p:cNvSpPr>
            <p:nvPr/>
          </p:nvSpPr>
          <p:spPr bwMode="auto">
            <a:xfrm>
              <a:off x="4297066" y="3611666"/>
              <a:ext cx="1206841" cy="1368"/>
            </a:xfrm>
            <a:custGeom>
              <a:avLst/>
              <a:gdLst/>
              <a:ahLst/>
              <a:cxnLst>
                <a:cxn ang="0">
                  <a:pos x="0" y="0"/>
                </a:cxn>
                <a:cxn ang="0">
                  <a:pos x="882" y="10"/>
                </a:cxn>
              </a:cxnLst>
              <a:rect l="0" t="0" r="r" b="b"/>
              <a:pathLst>
                <a:path w="882" h="10">
                  <a:moveTo>
                    <a:pt x="0" y="0"/>
                  </a:moveTo>
                  <a:lnTo>
                    <a:pt x="882" y="10"/>
                  </a:lnTo>
                </a:path>
              </a:pathLst>
            </a:custGeom>
            <a:noFill/>
            <a:ln w="19050">
              <a:solidFill>
                <a:srgbClr val="00B0F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39" name="AutoShape 8"/>
            <p:cNvSpPr>
              <a:spLocks/>
            </p:cNvSpPr>
            <p:nvPr/>
          </p:nvSpPr>
          <p:spPr bwMode="auto">
            <a:xfrm rot="5400000">
              <a:off x="4165761" y="424400"/>
              <a:ext cx="232507" cy="2451994"/>
            </a:xfrm>
            <a:prstGeom prst="leftBrace">
              <a:avLst>
                <a:gd name="adj1" fmla="val 87843"/>
                <a:gd name="adj2" fmla="val 50000"/>
              </a:avLst>
            </a:prstGeom>
            <a:noFill/>
            <a:ln w="19050">
              <a:solidFill>
                <a:srgbClr val="00B0F0"/>
              </a:solidFill>
              <a:round/>
              <a:headEnd/>
              <a:tailEn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0" name="Text Box 7"/>
            <p:cNvSpPr txBox="1">
              <a:spLocks noChangeArrowheads="1"/>
            </p:cNvSpPr>
            <p:nvPr/>
          </p:nvSpPr>
          <p:spPr bwMode="auto">
            <a:xfrm>
              <a:off x="3617021" y="1978643"/>
              <a:ext cx="413227"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Times New Roman" pitchFamily="18" charset="0"/>
                </a:rPr>
                <a:t>L</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1" name="Text Box 6"/>
            <p:cNvSpPr txBox="1">
              <a:spLocks noChangeArrowheads="1"/>
            </p:cNvSpPr>
            <p:nvPr/>
          </p:nvSpPr>
          <p:spPr bwMode="auto">
            <a:xfrm>
              <a:off x="4577568" y="1978643"/>
              <a:ext cx="403649"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A</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Times New Roman" pitchFamily="18" charset="0"/>
                </a:rPr>
                <a:t>R</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2" name="Line 5"/>
            <p:cNvSpPr>
              <a:spLocks noChangeShapeType="1"/>
            </p:cNvSpPr>
            <p:nvPr/>
          </p:nvSpPr>
          <p:spPr bwMode="auto">
            <a:xfrm>
              <a:off x="4331274" y="2097632"/>
              <a:ext cx="247662" cy="0"/>
            </a:xfrm>
            <a:prstGeom prst="line">
              <a:avLst/>
            </a:prstGeom>
            <a:noFill/>
            <a:ln w="3810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3" name="Line 4"/>
            <p:cNvSpPr>
              <a:spLocks noChangeShapeType="1"/>
            </p:cNvSpPr>
            <p:nvPr/>
          </p:nvSpPr>
          <p:spPr bwMode="auto">
            <a:xfrm flipH="1">
              <a:off x="4048035" y="2237137"/>
              <a:ext cx="246294" cy="0"/>
            </a:xfrm>
            <a:prstGeom prst="line">
              <a:avLst/>
            </a:prstGeom>
            <a:noFill/>
            <a:ln w="3810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sp>
          <p:nvSpPr>
            <p:cNvPr id="44" name="Text Box 3"/>
            <p:cNvSpPr txBox="1">
              <a:spLocks noChangeArrowheads="1"/>
            </p:cNvSpPr>
            <p:nvPr/>
          </p:nvSpPr>
          <p:spPr bwMode="auto">
            <a:xfrm>
              <a:off x="500034" y="1357298"/>
              <a:ext cx="246294" cy="3104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Times New Roman" pitchFamily="18" charset="0"/>
                </a:rPr>
                <a:t>Y</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宋体" pitchFamily="2" charset="-122"/>
              </a:endParaRPr>
            </a:p>
          </p:txBody>
        </p:sp>
        <p:sp>
          <p:nvSpPr>
            <p:cNvPr id="45" name="AutoShape 2"/>
            <p:cNvSpPr>
              <a:spLocks noChangeShapeType="1"/>
            </p:cNvSpPr>
            <p:nvPr/>
          </p:nvSpPr>
          <p:spPr bwMode="auto">
            <a:xfrm flipV="1">
              <a:off x="850318" y="1397375"/>
              <a:ext cx="1368" cy="2480991"/>
            </a:xfrm>
            <a:prstGeom prst="straightConnector1">
              <a:avLst/>
            </a:prstGeom>
            <a:noFill/>
            <a:ln w="19050">
              <a:solidFill>
                <a:srgbClr val="000000"/>
              </a:solidFill>
              <a:round/>
              <a:headEnd/>
              <a:tailEnd type="arrow" w="sm" len="sm"/>
            </a:ln>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endParaRPr>
            </a:p>
          </p:txBody>
        </p:sp>
      </p:grpSp>
      <p:sp>
        <p:nvSpPr>
          <p:cNvPr id="47" name="灯片编号占位符 46"/>
          <p:cNvSpPr>
            <a:spLocks noGrp="1"/>
          </p:cNvSpPr>
          <p:nvPr>
            <p:ph type="sldNum" sz="quarter" idx="12"/>
          </p:nvPr>
        </p:nvSpPr>
        <p:spPr/>
        <p:txBody>
          <a:bodyPr/>
          <a:lstStyle/>
          <a:p>
            <a:pPr>
              <a:defRPr/>
            </a:pPr>
            <a:fld id="{51116183-1013-4E64-BBE8-A5C1D5D4F838}" type="slidenum">
              <a:rPr lang="en-US" altLang="zh-CN" smtClean="0"/>
              <a:pPr>
                <a:defRPr/>
              </a:pPr>
              <a:t>129</a:t>
            </a:fld>
            <a:r>
              <a:rPr lang="en-US" altLang="zh-CN"/>
              <a:t>/167</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786" y="1714488"/>
            <a:ext cx="7500990" cy="430887"/>
          </a:xfrm>
          <a:prstGeom prst="rect">
            <a:avLst/>
          </a:prstGeom>
          <a:noFill/>
        </p:spPr>
        <p:txBody>
          <a:bodyPr wrap="square" rtlCol="0">
            <a:spAutoFit/>
          </a:bodyPr>
          <a:lstStyle/>
          <a:p>
            <a:r>
              <a:rPr lang="zh-CN" altLang="en-US" sz="2200">
                <a:solidFill>
                  <a:srgbClr val="0000FF"/>
                </a:solidFill>
                <a:latin typeface="Consolas" pitchFamily="49" charset="0"/>
                <a:ea typeface="仿宋" pitchFamily="49" charset="-122"/>
              </a:rPr>
              <a:t>例如，</a:t>
            </a:r>
            <a:r>
              <a:rPr lang="en-US" altLang="zh-CN" sz="2200">
                <a:solidFill>
                  <a:srgbClr val="0000FF"/>
                </a:solidFill>
                <a:latin typeface="Consolas" pitchFamily="49" charset="0"/>
                <a:ea typeface="仿宋" pitchFamily="49" charset="-122"/>
              </a:rPr>
              <a:t>a[]={4,8,5,1,9}</a:t>
            </a:r>
            <a:r>
              <a:rPr lang="zh-CN" altLang="en-US" sz="2200">
                <a:solidFill>
                  <a:srgbClr val="0000FF"/>
                </a:solidFill>
                <a:latin typeface="Consolas" pitchFamily="49" charset="0"/>
                <a:ea typeface="仿宋" pitchFamily="49" charset="-122"/>
              </a:rPr>
              <a:t>，求其中两个数的最小差值。</a:t>
            </a:r>
          </a:p>
        </p:txBody>
      </p:sp>
      <p:sp>
        <p:nvSpPr>
          <p:cNvPr id="6" name="TextBox 5"/>
          <p:cNvSpPr txBox="1"/>
          <p:nvPr/>
        </p:nvSpPr>
        <p:spPr>
          <a:xfrm>
            <a:off x="1071538" y="571480"/>
            <a:ext cx="7715304" cy="461665"/>
          </a:xfrm>
          <a:prstGeom prst="rect">
            <a:avLst/>
          </a:prstGeom>
          <a:noFill/>
        </p:spPr>
        <p:txBody>
          <a:bodyPr wrap="square" rtlCol="0">
            <a:spAutoFit/>
          </a:bodyPr>
          <a:lstStyle/>
          <a:p>
            <a:r>
              <a:rPr lang="zh-CN" altLang="zh-CN">
                <a:solidFill>
                  <a:srgbClr val="0000FF"/>
                </a:solidFill>
                <a:latin typeface="Consolas" pitchFamily="49" charset="0"/>
                <a:ea typeface="仿宋" pitchFamily="49" charset="-122"/>
              </a:rPr>
              <a:t>对于</a:t>
            </a:r>
            <a:r>
              <a:rPr lang="en-US" altLang="zh-CN">
                <a:solidFill>
                  <a:srgbClr val="0000FF"/>
                </a:solidFill>
                <a:latin typeface="Consolas" pitchFamily="49" charset="0"/>
                <a:ea typeface="仿宋" pitchFamily="49" charset="-122"/>
              </a:rPr>
              <a:t>a1</a:t>
            </a:r>
            <a:r>
              <a:rPr lang="zh-CN" altLang="zh-CN">
                <a:solidFill>
                  <a:srgbClr val="0000FF"/>
                </a:solidFill>
                <a:latin typeface="Consolas" pitchFamily="49" charset="0"/>
                <a:ea typeface="仿宋" pitchFamily="49" charset="-122"/>
              </a:rPr>
              <a:t>中任一点</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，仅需要考虑紧随</a:t>
            </a:r>
            <a:r>
              <a:rPr lang="en-US" altLang="zh-CN" i="1">
                <a:solidFill>
                  <a:srgbClr val="FF0000"/>
                </a:solidFill>
                <a:latin typeface="Consolas" pitchFamily="49" charset="0"/>
                <a:ea typeface="仿宋" pitchFamily="49" charset="-122"/>
              </a:rPr>
              <a:t>a</a:t>
            </a:r>
            <a:r>
              <a:rPr lang="en-US" altLang="zh-CN" i="1" baseline="-25000">
                <a:solidFill>
                  <a:srgbClr val="FF0000"/>
                </a:solidFill>
                <a:latin typeface="Consolas" pitchFamily="49" charset="0"/>
                <a:ea typeface="仿宋" pitchFamily="49" charset="-122"/>
              </a:rPr>
              <a:t>i</a:t>
            </a:r>
            <a:r>
              <a:rPr lang="zh-CN" altLang="zh-CN">
                <a:solidFill>
                  <a:srgbClr val="FF0000"/>
                </a:solidFill>
                <a:latin typeface="Consolas" pitchFamily="49" charset="0"/>
                <a:ea typeface="仿宋" pitchFamily="49" charset="-122"/>
              </a:rPr>
              <a:t>后最多</a:t>
            </a:r>
            <a:r>
              <a:rPr lang="en-US" altLang="zh-CN">
                <a:solidFill>
                  <a:srgbClr val="FF0000"/>
                </a:solidFill>
                <a:latin typeface="Consolas" pitchFamily="49" charset="0"/>
                <a:ea typeface="仿宋" pitchFamily="49" charset="-122"/>
              </a:rPr>
              <a:t>7</a:t>
            </a:r>
            <a:r>
              <a:rPr lang="zh-CN" altLang="zh-CN">
                <a:solidFill>
                  <a:srgbClr val="FF0000"/>
                </a:solidFill>
                <a:latin typeface="Consolas" pitchFamily="49" charset="0"/>
                <a:ea typeface="仿宋" pitchFamily="49" charset="-122"/>
              </a:rPr>
              <a:t>个点</a:t>
            </a:r>
            <a:r>
              <a:rPr lang="zh-CN" altLang="en-US">
                <a:solidFill>
                  <a:srgbClr val="0000FF"/>
                </a:solidFill>
                <a:latin typeface="Consolas" pitchFamily="49" charset="0"/>
                <a:ea typeface="仿宋" pitchFamily="49" charset="-122"/>
              </a:rPr>
              <a:t>即可</a:t>
            </a:r>
            <a:endParaRPr lang="zh-CN" altLang="en-US"/>
          </a:p>
        </p:txBody>
      </p:sp>
      <p:pic>
        <p:nvPicPr>
          <p:cNvPr id="100353" name="Picture 1"/>
          <p:cNvPicPr>
            <a:picLocks noChangeAspect="1" noChangeArrowheads="1"/>
          </p:cNvPicPr>
          <p:nvPr/>
        </p:nvPicPr>
        <p:blipFill>
          <a:blip r:embed="rId2" cstate="print"/>
          <a:srcRect/>
          <a:stretch>
            <a:fillRect/>
          </a:stretch>
        </p:blipFill>
        <p:spPr bwMode="auto">
          <a:xfrm>
            <a:off x="214282" y="142852"/>
            <a:ext cx="990600" cy="1272895"/>
          </a:xfrm>
          <a:prstGeom prst="rect">
            <a:avLst/>
          </a:prstGeom>
          <a:noFill/>
          <a:ln w="9525">
            <a:noFill/>
            <a:miter lim="800000"/>
            <a:headEnd/>
            <a:tailEnd/>
          </a:ln>
        </p:spPr>
      </p:pic>
      <p:grpSp>
        <p:nvGrpSpPr>
          <p:cNvPr id="23" name="组合 22"/>
          <p:cNvGrpSpPr/>
          <p:nvPr/>
        </p:nvGrpSpPr>
        <p:grpSpPr>
          <a:xfrm>
            <a:off x="714348" y="2857496"/>
            <a:ext cx="4350310" cy="461665"/>
            <a:chOff x="714348" y="2857496"/>
            <a:chExt cx="4350310" cy="461665"/>
          </a:xfrm>
        </p:grpSpPr>
        <p:sp>
          <p:nvSpPr>
            <p:cNvPr id="7" name="TextBox 6"/>
            <p:cNvSpPr txBox="1"/>
            <p:nvPr/>
          </p:nvSpPr>
          <p:spPr>
            <a:xfrm>
              <a:off x="714348" y="2857496"/>
              <a:ext cx="1214446"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r>
                <a:rPr lang="zh-CN" altLang="en-US">
                  <a:solidFill>
                    <a:schemeClr val="bg1"/>
                  </a:solidFill>
                  <a:latin typeface="楷体" pitchFamily="49" charset="-122"/>
                  <a:ea typeface="楷体" pitchFamily="49" charset="-122"/>
                </a:rPr>
                <a:t>穷举法</a:t>
              </a:r>
            </a:p>
          </p:txBody>
        </p:sp>
        <p:sp>
          <p:nvSpPr>
            <p:cNvPr id="8" name="TextBox 7"/>
            <p:cNvSpPr txBox="1"/>
            <p:nvPr/>
          </p:nvSpPr>
          <p:spPr>
            <a:xfrm>
              <a:off x="2428860" y="2857496"/>
              <a:ext cx="428628" cy="461665"/>
            </a:xfrm>
            <a:prstGeom prst="rect">
              <a:avLst/>
            </a:prstGeom>
            <a:noFill/>
          </p:spPr>
          <p:txBody>
            <a:bodyPr wrap="square" rtlCol="0">
              <a:spAutoFit/>
            </a:bodyPr>
            <a:lstStyle/>
            <a:p>
              <a:r>
                <a:rPr lang="en-US" altLang="zh-CN">
                  <a:solidFill>
                    <a:srgbClr val="0000FF"/>
                  </a:solidFill>
                  <a:latin typeface="Consolas" pitchFamily="49" charset="0"/>
                  <a:ea typeface="仿宋" pitchFamily="49" charset="-122"/>
                </a:rPr>
                <a:t>4</a:t>
              </a:r>
              <a:endParaRPr lang="zh-CN" altLang="en-US">
                <a:solidFill>
                  <a:srgbClr val="0000FF"/>
                </a:solidFill>
                <a:latin typeface="Consolas" pitchFamily="49" charset="0"/>
                <a:ea typeface="仿宋" pitchFamily="49" charset="-122"/>
              </a:endParaRPr>
            </a:p>
          </p:txBody>
        </p:sp>
        <p:sp>
          <p:nvSpPr>
            <p:cNvPr id="9" name="TextBox 8"/>
            <p:cNvSpPr txBox="1"/>
            <p:nvPr/>
          </p:nvSpPr>
          <p:spPr>
            <a:xfrm>
              <a:off x="2928926" y="2857496"/>
              <a:ext cx="428628" cy="461665"/>
            </a:xfrm>
            <a:prstGeom prst="rect">
              <a:avLst/>
            </a:prstGeom>
            <a:noFill/>
          </p:spPr>
          <p:txBody>
            <a:bodyPr wrap="square" rtlCol="0">
              <a:spAutoFit/>
            </a:bodyPr>
            <a:lstStyle/>
            <a:p>
              <a:r>
                <a:rPr lang="en-US" altLang="zh-CN">
                  <a:solidFill>
                    <a:srgbClr val="0000FF"/>
                  </a:solidFill>
                  <a:latin typeface="Consolas" pitchFamily="49" charset="0"/>
                  <a:ea typeface="仿宋" pitchFamily="49" charset="-122"/>
                </a:rPr>
                <a:t>8</a:t>
              </a:r>
              <a:endParaRPr lang="zh-CN" altLang="en-US">
                <a:solidFill>
                  <a:srgbClr val="0000FF"/>
                </a:solidFill>
                <a:latin typeface="Consolas" pitchFamily="49" charset="0"/>
                <a:ea typeface="仿宋" pitchFamily="49" charset="-122"/>
              </a:endParaRPr>
            </a:p>
          </p:txBody>
        </p:sp>
        <p:sp>
          <p:nvSpPr>
            <p:cNvPr id="10" name="TextBox 9"/>
            <p:cNvSpPr txBox="1"/>
            <p:nvPr/>
          </p:nvSpPr>
          <p:spPr>
            <a:xfrm>
              <a:off x="3500430" y="2857496"/>
              <a:ext cx="428628" cy="461665"/>
            </a:xfrm>
            <a:prstGeom prst="rect">
              <a:avLst/>
            </a:prstGeom>
            <a:noFill/>
          </p:spPr>
          <p:txBody>
            <a:bodyPr wrap="square" rtlCol="0">
              <a:spAutoFit/>
            </a:bodyPr>
            <a:lstStyle/>
            <a:p>
              <a:r>
                <a:rPr lang="en-US" altLang="zh-CN">
                  <a:solidFill>
                    <a:srgbClr val="0000FF"/>
                  </a:solidFill>
                  <a:latin typeface="Consolas" pitchFamily="49" charset="0"/>
                  <a:ea typeface="仿宋" pitchFamily="49" charset="-122"/>
                </a:rPr>
                <a:t>5</a:t>
              </a:r>
              <a:endParaRPr lang="zh-CN" altLang="en-US">
                <a:solidFill>
                  <a:srgbClr val="0000FF"/>
                </a:solidFill>
                <a:latin typeface="Consolas" pitchFamily="49" charset="0"/>
                <a:ea typeface="仿宋" pitchFamily="49" charset="-122"/>
              </a:endParaRPr>
            </a:p>
          </p:txBody>
        </p:sp>
        <p:sp>
          <p:nvSpPr>
            <p:cNvPr id="11" name="TextBox 10"/>
            <p:cNvSpPr txBox="1"/>
            <p:nvPr/>
          </p:nvSpPr>
          <p:spPr>
            <a:xfrm>
              <a:off x="4064526" y="2857496"/>
              <a:ext cx="428628" cy="461665"/>
            </a:xfrm>
            <a:prstGeom prst="rect">
              <a:avLst/>
            </a:prstGeom>
            <a:noFill/>
          </p:spPr>
          <p:txBody>
            <a:bodyPr wrap="square" rtlCol="0">
              <a:spAutoFit/>
            </a:bodyPr>
            <a:lstStyle/>
            <a:p>
              <a:r>
                <a:rPr lang="en-US" altLang="zh-CN">
                  <a:solidFill>
                    <a:srgbClr val="0000FF"/>
                  </a:solidFill>
                  <a:latin typeface="Consolas" pitchFamily="49" charset="0"/>
                  <a:ea typeface="仿宋" pitchFamily="49" charset="-122"/>
                </a:rPr>
                <a:t>1</a:t>
              </a:r>
              <a:endParaRPr lang="zh-CN" altLang="en-US">
                <a:solidFill>
                  <a:srgbClr val="0000FF"/>
                </a:solidFill>
                <a:latin typeface="Consolas" pitchFamily="49" charset="0"/>
                <a:ea typeface="仿宋" pitchFamily="49" charset="-122"/>
              </a:endParaRPr>
            </a:p>
          </p:txBody>
        </p:sp>
        <p:sp>
          <p:nvSpPr>
            <p:cNvPr id="12" name="TextBox 11"/>
            <p:cNvSpPr txBox="1"/>
            <p:nvPr/>
          </p:nvSpPr>
          <p:spPr>
            <a:xfrm>
              <a:off x="4636030" y="2857496"/>
              <a:ext cx="428628" cy="461665"/>
            </a:xfrm>
            <a:prstGeom prst="rect">
              <a:avLst/>
            </a:prstGeom>
            <a:noFill/>
          </p:spPr>
          <p:txBody>
            <a:bodyPr wrap="square" rtlCol="0">
              <a:spAutoFit/>
            </a:bodyPr>
            <a:lstStyle/>
            <a:p>
              <a:r>
                <a:rPr lang="en-US" altLang="zh-CN">
                  <a:solidFill>
                    <a:srgbClr val="0000FF"/>
                  </a:solidFill>
                  <a:latin typeface="Consolas" pitchFamily="49" charset="0"/>
                  <a:ea typeface="仿宋" pitchFamily="49" charset="-122"/>
                </a:rPr>
                <a:t>9</a:t>
              </a:r>
              <a:endParaRPr lang="zh-CN" altLang="en-US">
                <a:solidFill>
                  <a:srgbClr val="0000FF"/>
                </a:solidFill>
                <a:latin typeface="Consolas" pitchFamily="49" charset="0"/>
                <a:ea typeface="仿宋" pitchFamily="49" charset="-122"/>
              </a:endParaRPr>
            </a:p>
          </p:txBody>
        </p:sp>
      </p:grpSp>
      <p:grpSp>
        <p:nvGrpSpPr>
          <p:cNvPr id="25" name="组合 24"/>
          <p:cNvGrpSpPr/>
          <p:nvPr/>
        </p:nvGrpSpPr>
        <p:grpSpPr>
          <a:xfrm>
            <a:off x="1785918" y="4569749"/>
            <a:ext cx="6429420" cy="1361840"/>
            <a:chOff x="2428860" y="4143380"/>
            <a:chExt cx="6429420" cy="1361840"/>
          </a:xfrm>
        </p:grpSpPr>
        <p:sp>
          <p:nvSpPr>
            <p:cNvPr id="20" name="TextBox 19"/>
            <p:cNvSpPr txBox="1"/>
            <p:nvPr/>
          </p:nvSpPr>
          <p:spPr>
            <a:xfrm>
              <a:off x="2428860" y="4143380"/>
              <a:ext cx="6429420" cy="430887"/>
            </a:xfrm>
            <a:prstGeom prst="rect">
              <a:avLst/>
            </a:prstGeom>
            <a:noFill/>
          </p:spPr>
          <p:txBody>
            <a:bodyPr wrap="square" rtlCol="0">
              <a:spAutoFit/>
            </a:bodyPr>
            <a:lstStyle/>
            <a:p>
              <a:r>
                <a:rPr lang="zh-CN" altLang="en-US" sz="2200">
                  <a:solidFill>
                    <a:srgbClr val="0000FF"/>
                  </a:solidFill>
                  <a:latin typeface="Consolas" pitchFamily="49" charset="0"/>
                  <a:ea typeface="仿宋" pitchFamily="49" charset="-122"/>
                </a:rPr>
                <a:t>每个数与后面所有数求差的绝对值，找到最小者</a:t>
              </a:r>
            </a:p>
          </p:txBody>
        </p:sp>
        <p:sp>
          <p:nvSpPr>
            <p:cNvPr id="21" name="下箭头 20"/>
            <p:cNvSpPr/>
            <p:nvPr/>
          </p:nvSpPr>
          <p:spPr>
            <a:xfrm>
              <a:off x="4929190" y="4643446"/>
              <a:ext cx="357190"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2" name="TextBox 21"/>
            <p:cNvSpPr txBox="1"/>
            <p:nvPr/>
          </p:nvSpPr>
          <p:spPr>
            <a:xfrm>
              <a:off x="4429124" y="5074333"/>
              <a:ext cx="1428760" cy="430887"/>
            </a:xfrm>
            <a:prstGeom prst="rect">
              <a:avLst/>
            </a:prstGeom>
            <a:noFill/>
          </p:spPr>
          <p:txBody>
            <a:bodyPr wrap="square" rtlCol="0">
              <a:spAutoFit/>
            </a:bodyPr>
            <a:lstStyle/>
            <a:p>
              <a:r>
                <a:rPr lang="zh-CN" altLang="en-US" sz="2200">
                  <a:solidFill>
                    <a:srgbClr val="0000FF"/>
                  </a:solidFill>
                  <a:latin typeface="Consolas" pitchFamily="49" charset="0"/>
                  <a:ea typeface="仿宋" pitchFamily="49" charset="-122"/>
                </a:rPr>
                <a:t>答案：</a:t>
              </a:r>
              <a:r>
                <a:rPr lang="en-US" altLang="zh-CN" sz="2200">
                  <a:solidFill>
                    <a:srgbClr val="FF00FF"/>
                  </a:solidFill>
                  <a:latin typeface="Consolas" pitchFamily="49" charset="0"/>
                  <a:ea typeface="仿宋" pitchFamily="49" charset="-122"/>
                </a:rPr>
                <a:t>1</a:t>
              </a:r>
              <a:endParaRPr lang="zh-CN" altLang="en-US" sz="2200">
                <a:solidFill>
                  <a:srgbClr val="FF00FF"/>
                </a:solidFill>
                <a:latin typeface="Consolas" pitchFamily="49" charset="0"/>
                <a:ea typeface="仿宋" pitchFamily="49" charset="-122"/>
              </a:endParaRPr>
            </a:p>
          </p:txBody>
        </p:sp>
      </p:grpSp>
      <p:grpSp>
        <p:nvGrpSpPr>
          <p:cNvPr id="27" name="组合 26"/>
          <p:cNvGrpSpPr/>
          <p:nvPr/>
        </p:nvGrpSpPr>
        <p:grpSpPr>
          <a:xfrm>
            <a:off x="2631092" y="3319955"/>
            <a:ext cx="3155354" cy="1142214"/>
            <a:chOff x="2631092" y="3319955"/>
            <a:chExt cx="3155354" cy="1142214"/>
          </a:xfrm>
        </p:grpSpPr>
        <p:cxnSp>
          <p:nvCxnSpPr>
            <p:cNvPr id="14" name="直接箭头连接符 13"/>
            <p:cNvCxnSpPr/>
            <p:nvPr/>
          </p:nvCxnSpPr>
          <p:spPr>
            <a:xfrm rot="5400000" flipH="1" flipV="1">
              <a:off x="2505528" y="3445519"/>
              <a:ext cx="252715"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951504" y="3429000"/>
              <a:ext cx="428628" cy="400110"/>
            </a:xfrm>
            <a:prstGeom prst="rect">
              <a:avLst/>
            </a:prstGeom>
            <a:noFill/>
          </p:spPr>
          <p:txBody>
            <a:bodyPr wrap="square" rtlCol="0">
              <a:spAutoFit/>
            </a:bodyPr>
            <a:lstStyle/>
            <a:p>
              <a:r>
                <a:rPr lang="en-US" altLang="zh-CN" sz="2000">
                  <a:solidFill>
                    <a:srgbClr val="FF00FF"/>
                  </a:solidFill>
                  <a:latin typeface="Consolas" pitchFamily="49" charset="0"/>
                  <a:ea typeface="仿宋" pitchFamily="49" charset="-122"/>
                </a:rPr>
                <a:t>4</a:t>
              </a:r>
              <a:endParaRPr lang="zh-CN" altLang="en-US" sz="2000">
                <a:solidFill>
                  <a:srgbClr val="FF00FF"/>
                </a:solidFill>
                <a:latin typeface="Consolas" pitchFamily="49" charset="0"/>
                <a:ea typeface="仿宋" pitchFamily="49" charset="-122"/>
              </a:endParaRPr>
            </a:p>
          </p:txBody>
        </p:sp>
        <p:sp>
          <p:nvSpPr>
            <p:cNvPr id="16" name="TextBox 15"/>
            <p:cNvSpPr txBox="1"/>
            <p:nvPr/>
          </p:nvSpPr>
          <p:spPr>
            <a:xfrm>
              <a:off x="3500430" y="3429000"/>
              <a:ext cx="428628" cy="400110"/>
            </a:xfrm>
            <a:prstGeom prst="rect">
              <a:avLst/>
            </a:prstGeom>
            <a:noFill/>
          </p:spPr>
          <p:txBody>
            <a:bodyPr wrap="square" rtlCol="0">
              <a:spAutoFit/>
            </a:bodyPr>
            <a:lstStyle/>
            <a:p>
              <a:r>
                <a:rPr lang="en-US" altLang="zh-CN" sz="2000">
                  <a:solidFill>
                    <a:srgbClr val="FF00FF"/>
                  </a:solidFill>
                  <a:latin typeface="Consolas" pitchFamily="49" charset="0"/>
                  <a:ea typeface="仿宋" pitchFamily="49" charset="-122"/>
                </a:rPr>
                <a:t>1</a:t>
              </a:r>
              <a:endParaRPr lang="zh-CN" altLang="en-US" sz="2000">
                <a:solidFill>
                  <a:srgbClr val="FF00FF"/>
                </a:solidFill>
                <a:latin typeface="Consolas" pitchFamily="49" charset="0"/>
                <a:ea typeface="仿宋" pitchFamily="49" charset="-122"/>
              </a:endParaRPr>
            </a:p>
          </p:txBody>
        </p:sp>
        <p:sp>
          <p:nvSpPr>
            <p:cNvPr id="17" name="TextBox 16"/>
            <p:cNvSpPr txBox="1"/>
            <p:nvPr/>
          </p:nvSpPr>
          <p:spPr>
            <a:xfrm>
              <a:off x="4064526" y="3429000"/>
              <a:ext cx="428628" cy="400110"/>
            </a:xfrm>
            <a:prstGeom prst="rect">
              <a:avLst/>
            </a:prstGeom>
            <a:noFill/>
          </p:spPr>
          <p:txBody>
            <a:bodyPr wrap="square" rtlCol="0">
              <a:spAutoFit/>
            </a:bodyPr>
            <a:lstStyle/>
            <a:p>
              <a:r>
                <a:rPr lang="en-US" altLang="zh-CN" sz="2000">
                  <a:solidFill>
                    <a:srgbClr val="FF00FF"/>
                  </a:solidFill>
                  <a:latin typeface="Consolas" pitchFamily="49" charset="0"/>
                  <a:ea typeface="仿宋" pitchFamily="49" charset="-122"/>
                </a:rPr>
                <a:t>3</a:t>
              </a:r>
              <a:endParaRPr lang="zh-CN" altLang="en-US" sz="2000">
                <a:solidFill>
                  <a:srgbClr val="FF00FF"/>
                </a:solidFill>
                <a:latin typeface="Consolas" pitchFamily="49" charset="0"/>
                <a:ea typeface="仿宋" pitchFamily="49" charset="-122"/>
              </a:endParaRPr>
            </a:p>
          </p:txBody>
        </p:sp>
        <p:sp>
          <p:nvSpPr>
            <p:cNvPr id="18" name="TextBox 17"/>
            <p:cNvSpPr txBox="1"/>
            <p:nvPr/>
          </p:nvSpPr>
          <p:spPr>
            <a:xfrm>
              <a:off x="4658608" y="3429000"/>
              <a:ext cx="428628" cy="400110"/>
            </a:xfrm>
            <a:prstGeom prst="rect">
              <a:avLst/>
            </a:prstGeom>
            <a:noFill/>
          </p:spPr>
          <p:txBody>
            <a:bodyPr wrap="square" rtlCol="0">
              <a:spAutoFit/>
            </a:bodyPr>
            <a:lstStyle/>
            <a:p>
              <a:r>
                <a:rPr lang="en-US" altLang="zh-CN" sz="2000">
                  <a:solidFill>
                    <a:srgbClr val="FF00FF"/>
                  </a:solidFill>
                  <a:latin typeface="Consolas" pitchFamily="49" charset="0"/>
                  <a:ea typeface="仿宋" pitchFamily="49" charset="-122"/>
                </a:rPr>
                <a:t>5</a:t>
              </a:r>
              <a:endParaRPr lang="zh-CN" altLang="en-US" sz="2000">
                <a:solidFill>
                  <a:srgbClr val="FF00FF"/>
                </a:solidFill>
                <a:latin typeface="Consolas" pitchFamily="49" charset="0"/>
                <a:ea typeface="仿宋" pitchFamily="49" charset="-122"/>
              </a:endParaRPr>
            </a:p>
          </p:txBody>
        </p:sp>
        <p:sp>
          <p:nvSpPr>
            <p:cNvPr id="19" name="TextBox 18"/>
            <p:cNvSpPr txBox="1"/>
            <p:nvPr/>
          </p:nvSpPr>
          <p:spPr>
            <a:xfrm>
              <a:off x="5143504" y="3429000"/>
              <a:ext cx="642942" cy="430887"/>
            </a:xfrm>
            <a:prstGeom prst="rect">
              <a:avLst/>
            </a:prstGeom>
            <a:noFill/>
          </p:spPr>
          <p:txBody>
            <a:bodyPr wrap="square" rtlCol="0">
              <a:spAutoFit/>
            </a:bodyPr>
            <a:lstStyle/>
            <a:p>
              <a:r>
                <a:rPr lang="zh-CN" altLang="en-US" sz="2200">
                  <a:solidFill>
                    <a:srgbClr val="FF00FF"/>
                  </a:solidFill>
                  <a:latin typeface="Consolas" pitchFamily="49" charset="0"/>
                  <a:ea typeface="仿宋" pitchFamily="49" charset="-122"/>
                  <a:sym typeface="Wingdings"/>
                </a:rPr>
                <a:t></a:t>
              </a:r>
              <a:r>
                <a:rPr lang="en-US" altLang="zh-CN" sz="2200">
                  <a:solidFill>
                    <a:srgbClr val="FF00FF"/>
                  </a:solidFill>
                  <a:latin typeface="Consolas" pitchFamily="49" charset="0"/>
                  <a:ea typeface="仿宋" pitchFamily="49" charset="-122"/>
                  <a:sym typeface="Wingdings"/>
                </a:rPr>
                <a:t>1</a:t>
              </a:r>
              <a:endParaRPr lang="zh-CN" altLang="en-US" sz="2200">
                <a:solidFill>
                  <a:srgbClr val="FF00FF"/>
                </a:solidFill>
                <a:latin typeface="Consolas" pitchFamily="49" charset="0"/>
                <a:ea typeface="仿宋" pitchFamily="49" charset="-122"/>
              </a:endParaRPr>
            </a:p>
          </p:txBody>
        </p:sp>
        <p:sp>
          <p:nvSpPr>
            <p:cNvPr id="26" name="TextBox 25"/>
            <p:cNvSpPr txBox="1"/>
            <p:nvPr/>
          </p:nvSpPr>
          <p:spPr>
            <a:xfrm>
              <a:off x="2928926" y="4000504"/>
              <a:ext cx="1071570" cy="461665"/>
            </a:xfrm>
            <a:prstGeom prst="rect">
              <a:avLst/>
            </a:prstGeom>
            <a:noFill/>
          </p:spPr>
          <p:txBody>
            <a:bodyPr wrap="square" rtlCol="0">
              <a:spAutoFit/>
            </a:bodyPr>
            <a:lstStyle/>
            <a:p>
              <a:r>
                <a:rPr lang="en-US" altLang="zh-CN">
                  <a:solidFill>
                    <a:srgbClr val="0000FF"/>
                  </a:solidFill>
                  <a:latin typeface="宋体" pitchFamily="2" charset="-122"/>
                  <a:ea typeface="宋体" pitchFamily="2" charset="-122"/>
                </a:rPr>
                <a:t>… …</a:t>
              </a:r>
              <a:endParaRPr lang="zh-CN" altLang="en-US">
                <a:solidFill>
                  <a:srgbClr val="0000FF"/>
                </a:solidFill>
                <a:latin typeface="宋体" pitchFamily="2" charset="-122"/>
                <a:ea typeface="宋体" pitchFamily="2" charset="-122"/>
              </a:endParaRPr>
            </a:p>
          </p:txBody>
        </p:sp>
      </p:grpSp>
      <p:sp>
        <p:nvSpPr>
          <p:cNvPr id="29" name="灯片编号占位符 28"/>
          <p:cNvSpPr>
            <a:spLocks noGrp="1"/>
          </p:cNvSpPr>
          <p:nvPr>
            <p:ph type="sldNum" sz="quarter" idx="12"/>
          </p:nvPr>
        </p:nvSpPr>
        <p:spPr/>
        <p:txBody>
          <a:bodyPr/>
          <a:lstStyle/>
          <a:p>
            <a:pPr>
              <a:defRPr/>
            </a:pPr>
            <a:fld id="{51116183-1013-4E64-BBE8-A5C1D5D4F838}" type="slidenum">
              <a:rPr lang="en-US" altLang="zh-CN" smtClean="0"/>
              <a:pPr>
                <a:defRPr/>
              </a:pPr>
              <a:t>130</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786" y="1714488"/>
            <a:ext cx="7500990" cy="430887"/>
          </a:xfrm>
          <a:prstGeom prst="rect">
            <a:avLst/>
          </a:prstGeom>
          <a:noFill/>
        </p:spPr>
        <p:txBody>
          <a:bodyPr wrap="square" rtlCol="0">
            <a:spAutoFit/>
          </a:bodyPr>
          <a:lstStyle/>
          <a:p>
            <a:r>
              <a:rPr lang="zh-CN" altLang="en-US" sz="2200">
                <a:solidFill>
                  <a:srgbClr val="0000FF"/>
                </a:solidFill>
                <a:latin typeface="Consolas" pitchFamily="49" charset="0"/>
                <a:ea typeface="仿宋" pitchFamily="49" charset="-122"/>
              </a:rPr>
              <a:t>例如，</a:t>
            </a:r>
            <a:r>
              <a:rPr lang="en-US" altLang="zh-CN" sz="2200">
                <a:solidFill>
                  <a:srgbClr val="0000FF"/>
                </a:solidFill>
                <a:latin typeface="Consolas" pitchFamily="49" charset="0"/>
                <a:ea typeface="仿宋" pitchFamily="49" charset="-122"/>
              </a:rPr>
              <a:t>a[]={4,8,5,1,9}</a:t>
            </a:r>
            <a:r>
              <a:rPr lang="zh-CN" altLang="en-US" sz="2200">
                <a:solidFill>
                  <a:srgbClr val="0000FF"/>
                </a:solidFill>
                <a:latin typeface="Consolas" pitchFamily="49" charset="0"/>
                <a:ea typeface="仿宋" pitchFamily="49" charset="-122"/>
              </a:rPr>
              <a:t>，求其中两个数的最小差值。</a:t>
            </a:r>
          </a:p>
        </p:txBody>
      </p:sp>
      <p:sp>
        <p:nvSpPr>
          <p:cNvPr id="6" name="TextBox 5"/>
          <p:cNvSpPr txBox="1"/>
          <p:nvPr/>
        </p:nvSpPr>
        <p:spPr>
          <a:xfrm>
            <a:off x="1071538" y="571480"/>
            <a:ext cx="7715304" cy="461665"/>
          </a:xfrm>
          <a:prstGeom prst="rect">
            <a:avLst/>
          </a:prstGeom>
          <a:noFill/>
        </p:spPr>
        <p:txBody>
          <a:bodyPr wrap="square" rtlCol="0">
            <a:spAutoFit/>
          </a:bodyPr>
          <a:lstStyle/>
          <a:p>
            <a:r>
              <a:rPr lang="zh-CN" altLang="zh-CN">
                <a:solidFill>
                  <a:srgbClr val="0000FF"/>
                </a:solidFill>
                <a:latin typeface="Consolas" pitchFamily="49" charset="0"/>
                <a:ea typeface="仿宋" pitchFamily="49" charset="-122"/>
              </a:rPr>
              <a:t>对于</a:t>
            </a:r>
            <a:r>
              <a:rPr lang="en-US" altLang="zh-CN">
                <a:solidFill>
                  <a:srgbClr val="0000FF"/>
                </a:solidFill>
                <a:latin typeface="Consolas" pitchFamily="49" charset="0"/>
                <a:ea typeface="仿宋" pitchFamily="49" charset="-122"/>
              </a:rPr>
              <a:t>a1</a:t>
            </a:r>
            <a:r>
              <a:rPr lang="zh-CN" altLang="zh-CN">
                <a:solidFill>
                  <a:srgbClr val="0000FF"/>
                </a:solidFill>
                <a:latin typeface="Consolas" pitchFamily="49" charset="0"/>
                <a:ea typeface="仿宋" pitchFamily="49" charset="-122"/>
              </a:rPr>
              <a:t>中任一点</a:t>
            </a:r>
            <a:r>
              <a:rPr lang="en-US" altLang="zh-CN" i="1">
                <a:solidFill>
                  <a:srgbClr val="0000FF"/>
                </a:solidFill>
                <a:latin typeface="Consolas" pitchFamily="49" charset="0"/>
                <a:ea typeface="仿宋" pitchFamily="49" charset="-122"/>
              </a:rPr>
              <a:t>a</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，仅需要考虑紧随</a:t>
            </a:r>
            <a:r>
              <a:rPr lang="en-US" altLang="zh-CN" i="1">
                <a:solidFill>
                  <a:srgbClr val="FF0000"/>
                </a:solidFill>
                <a:latin typeface="Consolas" pitchFamily="49" charset="0"/>
                <a:ea typeface="仿宋" pitchFamily="49" charset="-122"/>
              </a:rPr>
              <a:t>a</a:t>
            </a:r>
            <a:r>
              <a:rPr lang="en-US" altLang="zh-CN" i="1" baseline="-25000">
                <a:solidFill>
                  <a:srgbClr val="FF0000"/>
                </a:solidFill>
                <a:latin typeface="Consolas" pitchFamily="49" charset="0"/>
                <a:ea typeface="仿宋" pitchFamily="49" charset="-122"/>
              </a:rPr>
              <a:t>i</a:t>
            </a:r>
            <a:r>
              <a:rPr lang="zh-CN" altLang="zh-CN">
                <a:solidFill>
                  <a:srgbClr val="FF0000"/>
                </a:solidFill>
                <a:latin typeface="Consolas" pitchFamily="49" charset="0"/>
                <a:ea typeface="仿宋" pitchFamily="49" charset="-122"/>
              </a:rPr>
              <a:t>后最多</a:t>
            </a:r>
            <a:r>
              <a:rPr lang="en-US" altLang="zh-CN">
                <a:solidFill>
                  <a:srgbClr val="FF0000"/>
                </a:solidFill>
                <a:latin typeface="Consolas" pitchFamily="49" charset="0"/>
                <a:ea typeface="仿宋" pitchFamily="49" charset="-122"/>
              </a:rPr>
              <a:t>7</a:t>
            </a:r>
            <a:r>
              <a:rPr lang="zh-CN" altLang="zh-CN">
                <a:solidFill>
                  <a:srgbClr val="FF0000"/>
                </a:solidFill>
                <a:latin typeface="Consolas" pitchFamily="49" charset="0"/>
                <a:ea typeface="仿宋" pitchFamily="49" charset="-122"/>
              </a:rPr>
              <a:t>个点</a:t>
            </a:r>
            <a:r>
              <a:rPr lang="zh-CN" altLang="en-US">
                <a:solidFill>
                  <a:srgbClr val="0000FF"/>
                </a:solidFill>
                <a:latin typeface="Consolas" pitchFamily="49" charset="0"/>
                <a:ea typeface="仿宋" pitchFamily="49" charset="-122"/>
              </a:rPr>
              <a:t>即可</a:t>
            </a:r>
            <a:endParaRPr lang="zh-CN" altLang="en-US"/>
          </a:p>
        </p:txBody>
      </p:sp>
      <p:pic>
        <p:nvPicPr>
          <p:cNvPr id="100353" name="Picture 1"/>
          <p:cNvPicPr>
            <a:picLocks noChangeAspect="1" noChangeArrowheads="1"/>
          </p:cNvPicPr>
          <p:nvPr/>
        </p:nvPicPr>
        <p:blipFill>
          <a:blip r:embed="rId2" cstate="print"/>
          <a:srcRect/>
          <a:stretch>
            <a:fillRect/>
          </a:stretch>
        </p:blipFill>
        <p:spPr bwMode="auto">
          <a:xfrm>
            <a:off x="214282" y="142852"/>
            <a:ext cx="990600" cy="1272895"/>
          </a:xfrm>
          <a:prstGeom prst="rect">
            <a:avLst/>
          </a:prstGeom>
          <a:noFill/>
          <a:ln w="9525">
            <a:noFill/>
            <a:miter lim="800000"/>
            <a:headEnd/>
            <a:tailEnd/>
          </a:ln>
        </p:spPr>
      </p:pic>
      <p:sp>
        <p:nvSpPr>
          <p:cNvPr id="7" name="TextBox 6"/>
          <p:cNvSpPr txBox="1"/>
          <p:nvPr/>
        </p:nvSpPr>
        <p:spPr>
          <a:xfrm>
            <a:off x="714348" y="2857496"/>
            <a:ext cx="1643074" cy="461665"/>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r>
              <a:rPr lang="zh-CN" altLang="en-US">
                <a:solidFill>
                  <a:schemeClr val="bg1"/>
                </a:solidFill>
                <a:latin typeface="楷体" pitchFamily="49" charset="-122"/>
                <a:ea typeface="楷体" pitchFamily="49" charset="-122"/>
              </a:rPr>
              <a:t>优化</a:t>
            </a:r>
            <a:r>
              <a:rPr lang="en-US" altLang="zh-CN">
                <a:solidFill>
                  <a:schemeClr val="bg1"/>
                </a:solidFill>
                <a:latin typeface="楷体" pitchFamily="49" charset="-122"/>
                <a:ea typeface="楷体" pitchFamily="49" charset="-122"/>
              </a:rPr>
              <a:t>:</a:t>
            </a:r>
            <a:r>
              <a:rPr lang="zh-CN" altLang="en-US">
                <a:solidFill>
                  <a:schemeClr val="bg1"/>
                </a:solidFill>
                <a:latin typeface="楷体" pitchFamily="49" charset="-122"/>
                <a:ea typeface="楷体" pitchFamily="49" charset="-122"/>
              </a:rPr>
              <a:t>排序</a:t>
            </a:r>
          </a:p>
        </p:txBody>
      </p:sp>
      <p:sp>
        <p:nvSpPr>
          <p:cNvPr id="8" name="TextBox 7"/>
          <p:cNvSpPr txBox="1"/>
          <p:nvPr/>
        </p:nvSpPr>
        <p:spPr>
          <a:xfrm>
            <a:off x="3143240" y="2857496"/>
            <a:ext cx="428628" cy="461665"/>
          </a:xfrm>
          <a:prstGeom prst="rect">
            <a:avLst/>
          </a:prstGeom>
          <a:noFill/>
        </p:spPr>
        <p:txBody>
          <a:bodyPr wrap="square" rtlCol="0">
            <a:spAutoFit/>
          </a:bodyPr>
          <a:lstStyle/>
          <a:p>
            <a:r>
              <a:rPr lang="en-US" altLang="zh-CN">
                <a:solidFill>
                  <a:srgbClr val="0000FF"/>
                </a:solidFill>
                <a:latin typeface="Consolas" pitchFamily="49" charset="0"/>
                <a:ea typeface="仿宋" pitchFamily="49" charset="-122"/>
              </a:rPr>
              <a:t>1</a:t>
            </a:r>
            <a:endParaRPr lang="zh-CN" altLang="en-US">
              <a:solidFill>
                <a:srgbClr val="0000FF"/>
              </a:solidFill>
              <a:latin typeface="Consolas" pitchFamily="49" charset="0"/>
              <a:ea typeface="仿宋" pitchFamily="49" charset="-122"/>
            </a:endParaRPr>
          </a:p>
        </p:txBody>
      </p:sp>
      <p:sp>
        <p:nvSpPr>
          <p:cNvPr id="9" name="TextBox 8"/>
          <p:cNvSpPr txBox="1"/>
          <p:nvPr/>
        </p:nvSpPr>
        <p:spPr>
          <a:xfrm>
            <a:off x="3643306" y="2857496"/>
            <a:ext cx="428628" cy="461665"/>
          </a:xfrm>
          <a:prstGeom prst="rect">
            <a:avLst/>
          </a:prstGeom>
          <a:noFill/>
        </p:spPr>
        <p:txBody>
          <a:bodyPr wrap="square" rtlCol="0">
            <a:spAutoFit/>
          </a:bodyPr>
          <a:lstStyle/>
          <a:p>
            <a:r>
              <a:rPr lang="en-US" altLang="zh-CN">
                <a:solidFill>
                  <a:srgbClr val="0000FF"/>
                </a:solidFill>
                <a:latin typeface="Consolas" pitchFamily="49" charset="0"/>
                <a:ea typeface="仿宋" pitchFamily="49" charset="-122"/>
              </a:rPr>
              <a:t>4</a:t>
            </a:r>
            <a:endParaRPr lang="zh-CN" altLang="en-US">
              <a:solidFill>
                <a:srgbClr val="0000FF"/>
              </a:solidFill>
              <a:latin typeface="Consolas" pitchFamily="49" charset="0"/>
              <a:ea typeface="仿宋" pitchFamily="49" charset="-122"/>
            </a:endParaRPr>
          </a:p>
        </p:txBody>
      </p:sp>
      <p:sp>
        <p:nvSpPr>
          <p:cNvPr id="10" name="TextBox 9"/>
          <p:cNvSpPr txBox="1"/>
          <p:nvPr/>
        </p:nvSpPr>
        <p:spPr>
          <a:xfrm>
            <a:off x="4214810" y="2857496"/>
            <a:ext cx="428628" cy="461665"/>
          </a:xfrm>
          <a:prstGeom prst="rect">
            <a:avLst/>
          </a:prstGeom>
          <a:noFill/>
        </p:spPr>
        <p:txBody>
          <a:bodyPr wrap="square" rtlCol="0">
            <a:spAutoFit/>
          </a:bodyPr>
          <a:lstStyle/>
          <a:p>
            <a:r>
              <a:rPr lang="en-US" altLang="zh-CN">
                <a:solidFill>
                  <a:srgbClr val="0000FF"/>
                </a:solidFill>
                <a:latin typeface="Consolas" pitchFamily="49" charset="0"/>
                <a:ea typeface="仿宋" pitchFamily="49" charset="-122"/>
              </a:rPr>
              <a:t>5</a:t>
            </a:r>
            <a:endParaRPr lang="zh-CN" altLang="en-US">
              <a:solidFill>
                <a:srgbClr val="0000FF"/>
              </a:solidFill>
              <a:latin typeface="Consolas" pitchFamily="49" charset="0"/>
              <a:ea typeface="仿宋" pitchFamily="49" charset="-122"/>
            </a:endParaRPr>
          </a:p>
        </p:txBody>
      </p:sp>
      <p:sp>
        <p:nvSpPr>
          <p:cNvPr id="11" name="TextBox 10"/>
          <p:cNvSpPr txBox="1"/>
          <p:nvPr/>
        </p:nvSpPr>
        <p:spPr>
          <a:xfrm>
            <a:off x="4778906" y="2857496"/>
            <a:ext cx="428628" cy="461665"/>
          </a:xfrm>
          <a:prstGeom prst="rect">
            <a:avLst/>
          </a:prstGeom>
          <a:noFill/>
        </p:spPr>
        <p:txBody>
          <a:bodyPr wrap="square" rtlCol="0">
            <a:spAutoFit/>
          </a:bodyPr>
          <a:lstStyle/>
          <a:p>
            <a:r>
              <a:rPr lang="en-US" altLang="zh-CN">
                <a:solidFill>
                  <a:srgbClr val="0000FF"/>
                </a:solidFill>
                <a:latin typeface="Consolas" pitchFamily="49" charset="0"/>
                <a:ea typeface="仿宋" pitchFamily="49" charset="-122"/>
              </a:rPr>
              <a:t>8</a:t>
            </a:r>
            <a:endParaRPr lang="zh-CN" altLang="en-US">
              <a:solidFill>
                <a:srgbClr val="0000FF"/>
              </a:solidFill>
              <a:latin typeface="Consolas" pitchFamily="49" charset="0"/>
              <a:ea typeface="仿宋" pitchFamily="49" charset="-122"/>
            </a:endParaRPr>
          </a:p>
        </p:txBody>
      </p:sp>
      <p:sp>
        <p:nvSpPr>
          <p:cNvPr id="12" name="TextBox 11"/>
          <p:cNvSpPr txBox="1"/>
          <p:nvPr/>
        </p:nvSpPr>
        <p:spPr>
          <a:xfrm>
            <a:off x="5350410" y="2857496"/>
            <a:ext cx="428628" cy="461665"/>
          </a:xfrm>
          <a:prstGeom prst="rect">
            <a:avLst/>
          </a:prstGeom>
          <a:noFill/>
        </p:spPr>
        <p:txBody>
          <a:bodyPr wrap="square" rtlCol="0">
            <a:spAutoFit/>
          </a:bodyPr>
          <a:lstStyle/>
          <a:p>
            <a:r>
              <a:rPr lang="en-US" altLang="zh-CN">
                <a:solidFill>
                  <a:srgbClr val="0000FF"/>
                </a:solidFill>
                <a:latin typeface="Consolas" pitchFamily="49" charset="0"/>
                <a:ea typeface="仿宋" pitchFamily="49" charset="-122"/>
              </a:rPr>
              <a:t>9</a:t>
            </a:r>
            <a:endParaRPr lang="zh-CN" altLang="en-US">
              <a:solidFill>
                <a:srgbClr val="0000FF"/>
              </a:solidFill>
              <a:latin typeface="Consolas" pitchFamily="49" charset="0"/>
              <a:ea typeface="仿宋" pitchFamily="49" charset="-122"/>
            </a:endParaRPr>
          </a:p>
        </p:txBody>
      </p:sp>
      <p:grpSp>
        <p:nvGrpSpPr>
          <p:cNvPr id="23" name="组合 22"/>
          <p:cNvGrpSpPr/>
          <p:nvPr/>
        </p:nvGrpSpPr>
        <p:grpSpPr>
          <a:xfrm>
            <a:off x="3436400" y="3429000"/>
            <a:ext cx="3064426" cy="430887"/>
            <a:chOff x="3436400" y="3429000"/>
            <a:chExt cx="3064426" cy="430887"/>
          </a:xfrm>
        </p:grpSpPr>
        <p:sp>
          <p:nvSpPr>
            <p:cNvPr id="15" name="TextBox 14"/>
            <p:cNvSpPr txBox="1"/>
            <p:nvPr/>
          </p:nvSpPr>
          <p:spPr>
            <a:xfrm>
              <a:off x="3436400" y="3429000"/>
              <a:ext cx="428628" cy="400110"/>
            </a:xfrm>
            <a:prstGeom prst="rect">
              <a:avLst/>
            </a:prstGeom>
            <a:noFill/>
          </p:spPr>
          <p:txBody>
            <a:bodyPr wrap="square" rtlCol="0">
              <a:spAutoFit/>
            </a:bodyPr>
            <a:lstStyle/>
            <a:p>
              <a:r>
                <a:rPr lang="en-US" altLang="zh-CN" sz="2000">
                  <a:solidFill>
                    <a:srgbClr val="FF00FF"/>
                  </a:solidFill>
                  <a:latin typeface="Consolas" pitchFamily="49" charset="0"/>
                  <a:ea typeface="仿宋" pitchFamily="49" charset="-122"/>
                </a:rPr>
                <a:t>3</a:t>
              </a:r>
              <a:endParaRPr lang="zh-CN" altLang="en-US" sz="2000">
                <a:solidFill>
                  <a:srgbClr val="FF00FF"/>
                </a:solidFill>
                <a:latin typeface="Consolas" pitchFamily="49" charset="0"/>
                <a:ea typeface="仿宋" pitchFamily="49" charset="-122"/>
              </a:endParaRPr>
            </a:p>
          </p:txBody>
        </p:sp>
        <p:sp>
          <p:nvSpPr>
            <p:cNvPr id="16" name="TextBox 15"/>
            <p:cNvSpPr txBox="1"/>
            <p:nvPr/>
          </p:nvSpPr>
          <p:spPr>
            <a:xfrm>
              <a:off x="3985326" y="3429000"/>
              <a:ext cx="428628" cy="400110"/>
            </a:xfrm>
            <a:prstGeom prst="rect">
              <a:avLst/>
            </a:prstGeom>
            <a:noFill/>
          </p:spPr>
          <p:txBody>
            <a:bodyPr wrap="square" rtlCol="0">
              <a:spAutoFit/>
            </a:bodyPr>
            <a:lstStyle/>
            <a:p>
              <a:r>
                <a:rPr lang="en-US" altLang="zh-CN" sz="2000">
                  <a:solidFill>
                    <a:srgbClr val="FF00FF"/>
                  </a:solidFill>
                  <a:latin typeface="Consolas" pitchFamily="49" charset="0"/>
                  <a:ea typeface="仿宋" pitchFamily="49" charset="-122"/>
                </a:rPr>
                <a:t>1</a:t>
              </a:r>
              <a:endParaRPr lang="zh-CN" altLang="en-US" sz="2000">
                <a:solidFill>
                  <a:srgbClr val="FF00FF"/>
                </a:solidFill>
                <a:latin typeface="Consolas" pitchFamily="49" charset="0"/>
                <a:ea typeface="仿宋" pitchFamily="49" charset="-122"/>
              </a:endParaRPr>
            </a:p>
          </p:txBody>
        </p:sp>
        <p:sp>
          <p:nvSpPr>
            <p:cNvPr id="17" name="TextBox 16"/>
            <p:cNvSpPr txBox="1"/>
            <p:nvPr/>
          </p:nvSpPr>
          <p:spPr>
            <a:xfrm>
              <a:off x="4549422" y="3429000"/>
              <a:ext cx="428628" cy="400110"/>
            </a:xfrm>
            <a:prstGeom prst="rect">
              <a:avLst/>
            </a:prstGeom>
            <a:noFill/>
          </p:spPr>
          <p:txBody>
            <a:bodyPr wrap="square" rtlCol="0">
              <a:spAutoFit/>
            </a:bodyPr>
            <a:lstStyle/>
            <a:p>
              <a:r>
                <a:rPr lang="en-US" altLang="zh-CN" sz="2000">
                  <a:solidFill>
                    <a:srgbClr val="FF00FF"/>
                  </a:solidFill>
                  <a:latin typeface="Consolas" pitchFamily="49" charset="0"/>
                  <a:ea typeface="仿宋" pitchFamily="49" charset="-122"/>
                </a:rPr>
                <a:t>3</a:t>
              </a:r>
              <a:endParaRPr lang="zh-CN" altLang="en-US" sz="2000">
                <a:solidFill>
                  <a:srgbClr val="FF00FF"/>
                </a:solidFill>
                <a:latin typeface="Consolas" pitchFamily="49" charset="0"/>
                <a:ea typeface="仿宋" pitchFamily="49" charset="-122"/>
              </a:endParaRPr>
            </a:p>
          </p:txBody>
        </p:sp>
        <p:sp>
          <p:nvSpPr>
            <p:cNvPr id="18" name="TextBox 17"/>
            <p:cNvSpPr txBox="1"/>
            <p:nvPr/>
          </p:nvSpPr>
          <p:spPr>
            <a:xfrm>
              <a:off x="5143504" y="3429000"/>
              <a:ext cx="428628" cy="400110"/>
            </a:xfrm>
            <a:prstGeom prst="rect">
              <a:avLst/>
            </a:prstGeom>
            <a:noFill/>
          </p:spPr>
          <p:txBody>
            <a:bodyPr wrap="square" rtlCol="0">
              <a:spAutoFit/>
            </a:bodyPr>
            <a:lstStyle/>
            <a:p>
              <a:r>
                <a:rPr lang="en-US" altLang="zh-CN" sz="2000">
                  <a:solidFill>
                    <a:srgbClr val="FF00FF"/>
                  </a:solidFill>
                  <a:latin typeface="Consolas" pitchFamily="49" charset="0"/>
                  <a:ea typeface="仿宋" pitchFamily="49" charset="-122"/>
                </a:rPr>
                <a:t>1</a:t>
              </a:r>
              <a:endParaRPr lang="zh-CN" altLang="en-US" sz="2000">
                <a:solidFill>
                  <a:srgbClr val="FF00FF"/>
                </a:solidFill>
                <a:latin typeface="Consolas" pitchFamily="49" charset="0"/>
                <a:ea typeface="仿宋" pitchFamily="49" charset="-122"/>
              </a:endParaRPr>
            </a:p>
          </p:txBody>
        </p:sp>
        <p:sp>
          <p:nvSpPr>
            <p:cNvPr id="19" name="TextBox 18"/>
            <p:cNvSpPr txBox="1"/>
            <p:nvPr/>
          </p:nvSpPr>
          <p:spPr>
            <a:xfrm>
              <a:off x="5857884" y="3429000"/>
              <a:ext cx="642942" cy="430887"/>
            </a:xfrm>
            <a:prstGeom prst="rect">
              <a:avLst/>
            </a:prstGeom>
            <a:noFill/>
          </p:spPr>
          <p:txBody>
            <a:bodyPr wrap="square" rtlCol="0">
              <a:spAutoFit/>
            </a:bodyPr>
            <a:lstStyle/>
            <a:p>
              <a:r>
                <a:rPr lang="zh-CN" altLang="en-US" sz="2200">
                  <a:solidFill>
                    <a:srgbClr val="0000FF"/>
                  </a:solidFill>
                  <a:latin typeface="Consolas" pitchFamily="49" charset="0"/>
                  <a:ea typeface="仿宋" pitchFamily="49" charset="-122"/>
                  <a:sym typeface="Wingdings"/>
                </a:rPr>
                <a:t></a:t>
              </a:r>
              <a:r>
                <a:rPr lang="en-US" altLang="zh-CN" sz="2200">
                  <a:solidFill>
                    <a:srgbClr val="FF00FF"/>
                  </a:solidFill>
                  <a:latin typeface="Consolas" pitchFamily="49" charset="0"/>
                  <a:ea typeface="仿宋" pitchFamily="49" charset="-122"/>
                  <a:sym typeface="Wingdings"/>
                </a:rPr>
                <a:t>1</a:t>
              </a:r>
              <a:endParaRPr lang="zh-CN" altLang="en-US" sz="2200">
                <a:solidFill>
                  <a:srgbClr val="FF00FF"/>
                </a:solidFill>
                <a:latin typeface="Consolas" pitchFamily="49" charset="0"/>
                <a:ea typeface="仿宋" pitchFamily="49" charset="-122"/>
              </a:endParaRPr>
            </a:p>
          </p:txBody>
        </p:sp>
      </p:grpSp>
      <p:grpSp>
        <p:nvGrpSpPr>
          <p:cNvPr id="24" name="组合 23"/>
          <p:cNvGrpSpPr/>
          <p:nvPr/>
        </p:nvGrpSpPr>
        <p:grpSpPr>
          <a:xfrm>
            <a:off x="2071670" y="4143380"/>
            <a:ext cx="6429420" cy="1573895"/>
            <a:chOff x="2428860" y="4143380"/>
            <a:chExt cx="6429420" cy="1573895"/>
          </a:xfrm>
        </p:grpSpPr>
        <p:sp>
          <p:nvSpPr>
            <p:cNvPr id="20" name="TextBox 19"/>
            <p:cNvSpPr txBox="1"/>
            <p:nvPr/>
          </p:nvSpPr>
          <p:spPr>
            <a:xfrm>
              <a:off x="2428860" y="4143380"/>
              <a:ext cx="6429420" cy="430887"/>
            </a:xfrm>
            <a:prstGeom prst="rect">
              <a:avLst/>
            </a:prstGeom>
            <a:noFill/>
          </p:spPr>
          <p:txBody>
            <a:bodyPr wrap="square" rtlCol="0">
              <a:spAutoFit/>
            </a:bodyPr>
            <a:lstStyle/>
            <a:p>
              <a:r>
                <a:rPr lang="zh-CN" altLang="en-US" sz="2200">
                  <a:solidFill>
                    <a:srgbClr val="0000FF"/>
                  </a:solidFill>
                  <a:latin typeface="Consolas" pitchFamily="49" charset="0"/>
                  <a:ea typeface="仿宋" pitchFamily="49" charset="-122"/>
                </a:rPr>
                <a:t>每个数仅与后面一个数求差的绝对值，找到最小者</a:t>
              </a:r>
            </a:p>
          </p:txBody>
        </p:sp>
        <p:sp>
          <p:nvSpPr>
            <p:cNvPr id="21" name="下箭头 20"/>
            <p:cNvSpPr/>
            <p:nvPr/>
          </p:nvSpPr>
          <p:spPr>
            <a:xfrm>
              <a:off x="5214942" y="4643446"/>
              <a:ext cx="357190"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2" name="TextBox 21"/>
            <p:cNvSpPr txBox="1"/>
            <p:nvPr/>
          </p:nvSpPr>
          <p:spPr>
            <a:xfrm>
              <a:off x="4714876" y="5286388"/>
              <a:ext cx="1428760" cy="430887"/>
            </a:xfrm>
            <a:prstGeom prst="rect">
              <a:avLst/>
            </a:prstGeom>
            <a:noFill/>
          </p:spPr>
          <p:txBody>
            <a:bodyPr wrap="square" rtlCol="0">
              <a:spAutoFit/>
            </a:bodyPr>
            <a:lstStyle/>
            <a:p>
              <a:r>
                <a:rPr lang="zh-CN" altLang="en-US" sz="2200">
                  <a:solidFill>
                    <a:srgbClr val="0000FF"/>
                  </a:solidFill>
                  <a:latin typeface="Consolas" pitchFamily="49" charset="0"/>
                  <a:ea typeface="仿宋" pitchFamily="49" charset="-122"/>
                </a:rPr>
                <a:t>答案：</a:t>
              </a:r>
              <a:r>
                <a:rPr lang="en-US" altLang="zh-CN" sz="2200">
                  <a:solidFill>
                    <a:srgbClr val="FF00FF"/>
                  </a:solidFill>
                  <a:latin typeface="Consolas" pitchFamily="49" charset="0"/>
                  <a:ea typeface="仿宋" pitchFamily="49" charset="-122"/>
                </a:rPr>
                <a:t>1</a:t>
              </a:r>
              <a:endParaRPr lang="zh-CN" altLang="en-US" sz="2200">
                <a:solidFill>
                  <a:srgbClr val="FF00FF"/>
                </a:solidFill>
                <a:latin typeface="Consolas" pitchFamily="49" charset="0"/>
                <a:ea typeface="仿宋" pitchFamily="49" charset="-122"/>
              </a:endParaRPr>
            </a:p>
          </p:txBody>
        </p:sp>
      </p:grpSp>
      <p:sp>
        <p:nvSpPr>
          <p:cNvPr id="26" name="灯片编号占位符 25"/>
          <p:cNvSpPr>
            <a:spLocks noGrp="1"/>
          </p:cNvSpPr>
          <p:nvPr>
            <p:ph type="sldNum" sz="quarter" idx="12"/>
          </p:nvPr>
        </p:nvSpPr>
        <p:spPr/>
        <p:txBody>
          <a:bodyPr/>
          <a:lstStyle/>
          <a:p>
            <a:pPr>
              <a:defRPr/>
            </a:pPr>
            <a:fld id="{51116183-1013-4E64-BBE8-A5C1D5D4F838}" type="slidenum">
              <a:rPr lang="en-US" altLang="zh-CN" smtClean="0"/>
              <a:pPr>
                <a:defRPr/>
              </a:pPr>
              <a:t>131</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2"/>
          <p:cNvSpPr txBox="1">
            <a:spLocks noChangeArrowheads="1"/>
          </p:cNvSpPr>
          <p:nvPr/>
        </p:nvSpPr>
        <p:spPr bwMode="auto">
          <a:xfrm>
            <a:off x="1571604" y="681319"/>
            <a:ext cx="6643734" cy="461665"/>
          </a:xfrm>
          <a:prstGeom prst="rect">
            <a:avLst/>
          </a:prstGeom>
          <a:noFill/>
          <a:ln w="9525">
            <a:noFill/>
            <a:miter lim="800000"/>
            <a:headEnd/>
            <a:tailEnd/>
          </a:ln>
        </p:spPr>
        <p:txBody>
          <a:bodyPr wrap="square">
            <a:spAutoFit/>
          </a:bodyPr>
          <a:lstStyle/>
          <a:p>
            <a:pPr>
              <a:spcBef>
                <a:spcPct val="50000"/>
              </a:spcBef>
            </a:pPr>
            <a:r>
              <a:rPr lang="zh-CN" altLang="en-US">
                <a:solidFill>
                  <a:srgbClr val="0000FF"/>
                </a:solidFill>
                <a:latin typeface="Consolas" pitchFamily="49" charset="0"/>
                <a:ea typeface="仿宋" pitchFamily="49" charset="-122"/>
                <a:cs typeface="Consolas" pitchFamily="49" charset="0"/>
              </a:rPr>
              <a:t>对于如下点集</a:t>
            </a:r>
            <a:r>
              <a:rPr lang="en-US" altLang="zh-CN" i="1">
                <a:solidFill>
                  <a:srgbClr val="0000FF"/>
                </a:solidFill>
                <a:latin typeface="Consolas" pitchFamily="49" charset="0"/>
                <a:ea typeface="仿宋" pitchFamily="49" charset="-122"/>
                <a:cs typeface="Consolas" pitchFamily="49" charset="0"/>
              </a:rPr>
              <a:t>a</a:t>
            </a:r>
            <a:r>
              <a:rPr lang="zh-CN" altLang="en-US">
                <a:solidFill>
                  <a:srgbClr val="0000FF"/>
                </a:solidFill>
                <a:latin typeface="Consolas" pitchFamily="49" charset="0"/>
                <a:ea typeface="仿宋" pitchFamily="49" charset="-122"/>
                <a:cs typeface="Consolas" pitchFamily="49" charset="0"/>
              </a:rPr>
              <a:t>，采用分治法求最近点对的过程。</a:t>
            </a:r>
          </a:p>
        </p:txBody>
      </p:sp>
      <p:graphicFrame>
        <p:nvGraphicFramePr>
          <p:cNvPr id="7" name="表格 6"/>
          <p:cNvGraphicFramePr>
            <a:graphicFrameLocks noGrp="1"/>
          </p:cNvGraphicFramePr>
          <p:nvPr/>
        </p:nvGraphicFramePr>
        <p:xfrm>
          <a:off x="3071802" y="1858795"/>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7"/>
          <p:cNvGrpSpPr/>
          <p:nvPr/>
        </p:nvGrpSpPr>
        <p:grpSpPr>
          <a:xfrm>
            <a:off x="2643174" y="1766720"/>
            <a:ext cx="3643338" cy="3733982"/>
            <a:chOff x="3357554" y="1408099"/>
            <a:chExt cx="3643338" cy="3733982"/>
          </a:xfrm>
        </p:grpSpPr>
        <p:sp>
          <p:nvSpPr>
            <p:cNvPr id="9" name="TextBox 8"/>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8" name="TextBox 27"/>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9" name="TextBox 28"/>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30" name="TextBox 29"/>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31" name="椭圆 30"/>
            <p:cNvSpPr/>
            <p:nvPr/>
          </p:nvSpPr>
          <p:spPr>
            <a:xfrm>
              <a:off x="4640214" y="474028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TextBox 31"/>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3" name="椭圆 32"/>
            <p:cNvSpPr/>
            <p:nvPr/>
          </p:nvSpPr>
          <p:spPr>
            <a:xfrm>
              <a:off x="4046534" y="2927810"/>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TextBox 33"/>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5" name="椭圆 34"/>
            <p:cNvSpPr/>
            <p:nvPr/>
          </p:nvSpPr>
          <p:spPr>
            <a:xfrm>
              <a:off x="6162636" y="445453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TextBox 35"/>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7" name="椭圆 36"/>
            <p:cNvSpPr/>
            <p:nvPr/>
          </p:nvSpPr>
          <p:spPr>
            <a:xfrm>
              <a:off x="6473788" y="265475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TextBox 37"/>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9" name="椭圆 38"/>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TextBox 39"/>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41" name="椭圆 40"/>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TextBox 41"/>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3" name="椭圆 42"/>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4" name="TextBox 43"/>
            <p:cNvSpPr txBox="1"/>
            <p:nvPr/>
          </p:nvSpPr>
          <p:spPr>
            <a:xfrm>
              <a:off x="4764138" y="331833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5" name="椭圆 44"/>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6" name="TextBox 45"/>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7" name="椭圆 46"/>
            <p:cNvSpPr/>
            <p:nvPr/>
          </p:nvSpPr>
          <p:spPr>
            <a:xfrm>
              <a:off x="5272042" y="352107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8" name="TextBox 47"/>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9" name="椭圆 48"/>
            <p:cNvSpPr/>
            <p:nvPr/>
          </p:nvSpPr>
          <p:spPr>
            <a:xfrm>
              <a:off x="5553032" y="385762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0" name="TextBox 49"/>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grpSp>
        <p:nvGrpSpPr>
          <p:cNvPr id="51" name="组合 50"/>
          <p:cNvGrpSpPr/>
          <p:nvPr/>
        </p:nvGrpSpPr>
        <p:grpSpPr>
          <a:xfrm>
            <a:off x="500034" y="524689"/>
            <a:ext cx="853211" cy="761171"/>
            <a:chOff x="6862060" y="4310903"/>
            <a:chExt cx="1128915" cy="1130667"/>
          </a:xfrm>
        </p:grpSpPr>
        <p:grpSp>
          <p:nvGrpSpPr>
            <p:cNvPr id="52" name="Group 103"/>
            <p:cNvGrpSpPr>
              <a:grpSpLocks/>
            </p:cNvGrpSpPr>
            <p:nvPr/>
          </p:nvGrpSpPr>
          <p:grpSpPr bwMode="auto">
            <a:xfrm>
              <a:off x="6862060" y="4310903"/>
              <a:ext cx="1128915" cy="1130667"/>
              <a:chOff x="2880" y="1515"/>
              <a:chExt cx="644" cy="645"/>
            </a:xfrm>
          </p:grpSpPr>
          <p:sp>
            <p:nvSpPr>
              <p:cNvPr id="54" name="Oval 104"/>
              <p:cNvSpPr>
                <a:spLocks noChangeArrowheads="1"/>
              </p:cNvSpPr>
              <p:nvPr/>
            </p:nvSpPr>
            <p:spPr bwMode="auto">
              <a:xfrm>
                <a:off x="2880" y="1516"/>
                <a:ext cx="644" cy="644"/>
              </a:xfrm>
              <a:prstGeom prst="ellipse">
                <a:avLst/>
              </a:prstGeom>
              <a:gradFill rotWithShape="1">
                <a:gsLst>
                  <a:gs pos="0">
                    <a:srgbClr val="10942F"/>
                  </a:gs>
                  <a:gs pos="100000">
                    <a:srgbClr val="16D83B"/>
                  </a:gs>
                </a:gsLst>
                <a:lin ang="5400000" scaled="1"/>
              </a:gradFill>
              <a:ln w="9525" algn="ctr">
                <a:noFill/>
                <a:round/>
                <a:headEnd/>
                <a:tailEnd/>
              </a:ln>
              <a:effectLst>
                <a:outerShdw blurRad="76200" dir="18900000" sy="23000" kx="-1200000" algn="bl" rotWithShape="0">
                  <a:prstClr val="black">
                    <a:alpha val="20000"/>
                  </a:prstClr>
                </a:outerShdw>
              </a:effectLst>
            </p:spPr>
            <p:txBody>
              <a:bodyPr wrap="none" anchor="ctr"/>
              <a:lstStyle/>
              <a:p>
                <a:endParaRPr lang="zh-CN" altLang="en-US"/>
              </a:p>
            </p:txBody>
          </p:sp>
          <p:sp>
            <p:nvSpPr>
              <p:cNvPr id="55" name="Freeform 105"/>
              <p:cNvSpPr>
                <a:spLocks/>
              </p:cNvSpPr>
              <p:nvPr/>
            </p:nvSpPr>
            <p:spPr bwMode="auto">
              <a:xfrm>
                <a:off x="2887" y="1515"/>
                <a:ext cx="630" cy="441"/>
              </a:xfrm>
              <a:custGeom>
                <a:avLst/>
                <a:gdLst/>
                <a:ahLst/>
                <a:cxnLst>
                  <a:cxn ang="0">
                    <a:pos x="1400" y="275"/>
                  </a:cxn>
                  <a:cxn ang="0">
                    <a:pos x="1596" y="795"/>
                  </a:cxn>
                  <a:cxn ang="0">
                    <a:pos x="0" y="795"/>
                  </a:cxn>
                  <a:cxn ang="0">
                    <a:pos x="217" y="252"/>
                  </a:cxn>
                  <a:cxn ang="0">
                    <a:pos x="796" y="0"/>
                  </a:cxn>
                  <a:cxn ang="0">
                    <a:pos x="1400" y="275"/>
                  </a:cxn>
                </a:cxnLst>
                <a:rect l="0" t="0" r="r" b="b"/>
                <a:pathLst>
                  <a:path w="1596" h="1118">
                    <a:moveTo>
                      <a:pt x="1400" y="275"/>
                    </a:moveTo>
                    <a:cubicBezTo>
                      <a:pt x="1522" y="417"/>
                      <a:pt x="1596" y="597"/>
                      <a:pt x="1596" y="795"/>
                    </a:cubicBezTo>
                    <a:cubicBezTo>
                      <a:pt x="1037" y="1118"/>
                      <a:pt x="668" y="611"/>
                      <a:pt x="0" y="795"/>
                    </a:cubicBezTo>
                    <a:cubicBezTo>
                      <a:pt x="0" y="585"/>
                      <a:pt x="83" y="392"/>
                      <a:pt x="217" y="252"/>
                    </a:cubicBezTo>
                    <a:cubicBezTo>
                      <a:pt x="364" y="95"/>
                      <a:pt x="570" y="0"/>
                      <a:pt x="796" y="0"/>
                    </a:cubicBezTo>
                    <a:cubicBezTo>
                      <a:pt x="1039" y="0"/>
                      <a:pt x="1253" y="108"/>
                      <a:pt x="1400" y="275"/>
                    </a:cubicBezTo>
                    <a:close/>
                  </a:path>
                </a:pathLst>
              </a:custGeom>
              <a:gradFill rotWithShape="1">
                <a:gsLst>
                  <a:gs pos="0">
                    <a:schemeClr val="bg1">
                      <a:alpha val="53000"/>
                    </a:schemeClr>
                  </a:gs>
                  <a:gs pos="100000">
                    <a:schemeClr val="bg1">
                      <a:gamma/>
                      <a:shade val="46275"/>
                      <a:invGamma/>
                      <a:alpha val="0"/>
                    </a:schemeClr>
                  </a:gs>
                </a:gsLst>
                <a:lin ang="5400000" scaled="1"/>
              </a:gradFill>
              <a:ln w="9525">
                <a:noFill/>
                <a:round/>
                <a:headEnd/>
                <a:tailEnd/>
              </a:ln>
            </p:spPr>
            <p:txBody>
              <a:bodyPr/>
              <a:lstStyle/>
              <a:p>
                <a:endParaRPr lang="zh-CN" altLang="en-US"/>
              </a:p>
            </p:txBody>
          </p:sp>
        </p:grpSp>
        <p:sp>
          <p:nvSpPr>
            <p:cNvPr id="53" name="Text Box 71"/>
            <p:cNvSpPr txBox="1">
              <a:spLocks noChangeArrowheads="1"/>
            </p:cNvSpPr>
            <p:nvPr/>
          </p:nvSpPr>
          <p:spPr bwMode="auto">
            <a:xfrm>
              <a:off x="6923115" y="4640482"/>
              <a:ext cx="1039812" cy="466324"/>
            </a:xfrm>
            <a:prstGeom prst="rect">
              <a:avLst/>
            </a:prstGeom>
            <a:noFill/>
            <a:ln w="9525">
              <a:noFill/>
              <a:miter lim="800000"/>
              <a:headEnd/>
              <a:tailEnd/>
            </a:ln>
            <a:effectLst/>
          </p:spPr>
          <p:txBody>
            <a:bodyPr anchor="ctr">
              <a:spAutoFit/>
            </a:bodyPr>
            <a:lstStyle/>
            <a:p>
              <a:pPr algn="ctr">
                <a:spcBef>
                  <a:spcPct val="50000"/>
                </a:spcBef>
              </a:pPr>
              <a:r>
                <a:rPr lang="zh-CN" altLang="en-US" sz="1800">
                  <a:solidFill>
                    <a:srgbClr val="FF0000"/>
                  </a:solidFill>
                  <a:latin typeface="微软雅黑" pitchFamily="34" charset="-122"/>
                  <a:ea typeface="微软雅黑" pitchFamily="34" charset="-122"/>
                </a:rPr>
                <a:t>示例</a:t>
              </a:r>
              <a:endParaRPr lang="en-GB" altLang="zh-CN" sz="1800">
                <a:solidFill>
                  <a:srgbClr val="FF0000"/>
                </a:solidFill>
                <a:latin typeface="微软雅黑" pitchFamily="34" charset="-122"/>
                <a:ea typeface="微软雅黑" pitchFamily="34" charset="-122"/>
              </a:endParaRPr>
            </a:p>
          </p:txBody>
        </p:sp>
      </p:grpSp>
      <p:sp>
        <p:nvSpPr>
          <p:cNvPr id="57" name="灯片编号占位符 56"/>
          <p:cNvSpPr>
            <a:spLocks noGrp="1"/>
          </p:cNvSpPr>
          <p:nvPr>
            <p:ph type="sldNum" sz="quarter" idx="12"/>
          </p:nvPr>
        </p:nvSpPr>
        <p:spPr/>
        <p:txBody>
          <a:bodyPr/>
          <a:lstStyle/>
          <a:p>
            <a:pPr>
              <a:defRPr/>
            </a:pPr>
            <a:fld id="{51116183-1013-4E64-BBE8-A5C1D5D4F838}" type="slidenum">
              <a:rPr lang="en-US" altLang="zh-CN" smtClean="0"/>
              <a:pPr>
                <a:defRPr/>
              </a:pPr>
              <a:t>132</a:t>
            </a:fld>
            <a:r>
              <a:rPr lang="en-US" altLang="zh-CN"/>
              <a:t>/167</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ext Box 4"/>
          <p:cNvSpPr txBox="1">
            <a:spLocks noChangeArrowheads="1"/>
          </p:cNvSpPr>
          <p:nvPr/>
        </p:nvSpPr>
        <p:spPr bwMode="auto">
          <a:xfrm>
            <a:off x="4071934" y="2571744"/>
            <a:ext cx="4714908" cy="1368030"/>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tIns="144000" bIns="144000">
            <a:spAutoFit/>
          </a:bodyPr>
          <a:lstStyle/>
          <a:p>
            <a:pPr>
              <a:lnSpc>
                <a:spcPts val="2800"/>
              </a:lnSpc>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）对</a:t>
            </a:r>
            <a:r>
              <a:rPr lang="en-US" altLang="zh-CN" sz="2200" i="1">
                <a:solidFill>
                  <a:srgbClr val="0000FF"/>
                </a:solidFill>
                <a:latin typeface="Consolas" pitchFamily="49" charset="0"/>
                <a:ea typeface="仿宋" pitchFamily="49" charset="-122"/>
                <a:cs typeface="Consolas" pitchFamily="49" charset="0"/>
              </a:rPr>
              <a:t>a</a:t>
            </a:r>
            <a:r>
              <a:rPr lang="en-US" altLang="zh-CN" sz="2200">
                <a:solidFill>
                  <a:srgbClr val="0000FF"/>
                </a:solidFill>
                <a:latin typeface="Consolas" pitchFamily="49" charset="0"/>
                <a:ea typeface="仿宋" pitchFamily="49" charset="-122"/>
                <a:cs typeface="Consolas" pitchFamily="49" charset="0"/>
              </a:rPr>
              <a:t>[0..9]</a:t>
            </a:r>
            <a:r>
              <a:rPr lang="zh-CN" altLang="en-US" sz="2200">
                <a:solidFill>
                  <a:srgbClr val="FF00FF"/>
                </a:solidFill>
                <a:latin typeface="Consolas" pitchFamily="49" charset="0"/>
                <a:ea typeface="仿宋" pitchFamily="49" charset="-122"/>
                <a:cs typeface="Consolas" pitchFamily="49" charset="0"/>
              </a:rPr>
              <a:t>按</a:t>
            </a:r>
            <a:r>
              <a:rPr lang="en-US" altLang="zh-CN" sz="2200" i="1">
                <a:solidFill>
                  <a:srgbClr val="FF00FF"/>
                </a:solidFill>
                <a:latin typeface="Consolas" pitchFamily="49" charset="0"/>
                <a:ea typeface="仿宋" pitchFamily="49" charset="-122"/>
                <a:cs typeface="Consolas" pitchFamily="49" charset="0"/>
              </a:rPr>
              <a:t>x</a:t>
            </a:r>
            <a:r>
              <a:rPr lang="zh-CN" altLang="en-US" sz="2200">
                <a:solidFill>
                  <a:srgbClr val="FF00FF"/>
                </a:solidFill>
                <a:latin typeface="Consolas" pitchFamily="49" charset="0"/>
                <a:ea typeface="仿宋" pitchFamily="49" charset="-122"/>
                <a:cs typeface="Consolas" pitchFamily="49" charset="0"/>
              </a:rPr>
              <a:t>坐标从小到大排序</a:t>
            </a:r>
            <a:r>
              <a:rPr lang="zh-CN" altLang="en-US" sz="2200">
                <a:solidFill>
                  <a:srgbClr val="0000FF"/>
                </a:solidFill>
                <a:latin typeface="Consolas" pitchFamily="49" charset="0"/>
                <a:ea typeface="仿宋" pitchFamily="49" charset="-122"/>
                <a:cs typeface="Consolas" pitchFamily="49" charset="0"/>
              </a:rPr>
              <a:t>结果为：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a:t>
            </a:r>
            <a:endParaRPr lang="en-US" altLang="zh-CN" sz="2200">
              <a:solidFill>
                <a:srgbClr val="0000FF"/>
              </a:solidFill>
              <a:latin typeface="Consolas" pitchFamily="49" charset="0"/>
              <a:ea typeface="仿宋" pitchFamily="49" charset="-122"/>
              <a:cs typeface="Consolas" pitchFamily="49" charset="0"/>
            </a:endParaRPr>
          </a:p>
        </p:txBody>
      </p:sp>
      <p:graphicFrame>
        <p:nvGraphicFramePr>
          <p:cNvPr id="50" name="表格 49"/>
          <p:cNvGraphicFramePr>
            <a:graphicFrameLocks noGrp="1"/>
          </p:cNvGraphicFramePr>
          <p:nvPr/>
        </p:nvGraphicFramePr>
        <p:xfrm>
          <a:off x="714348" y="1430167"/>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50"/>
          <p:cNvGrpSpPr/>
          <p:nvPr/>
        </p:nvGrpSpPr>
        <p:grpSpPr>
          <a:xfrm>
            <a:off x="285720" y="1338092"/>
            <a:ext cx="3643338" cy="3733982"/>
            <a:chOff x="3357554" y="1408099"/>
            <a:chExt cx="3643338" cy="3733982"/>
          </a:xfrm>
        </p:grpSpPr>
        <p:sp>
          <p:nvSpPr>
            <p:cNvPr id="52" name="TextBox 51"/>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53" name="TextBox 52"/>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54" name="TextBox 53"/>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55" name="TextBox 54"/>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56" name="TextBox 55"/>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57" name="TextBox 56"/>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58" name="TextBox 57"/>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59" name="TextBox 58"/>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60" name="TextBox 59"/>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61" name="TextBox 60"/>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62" name="TextBox 61"/>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63" name="TextBox 62"/>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64" name="TextBox 63"/>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65" name="TextBox 64"/>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66" name="TextBox 65"/>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67" name="TextBox 66"/>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68" name="TextBox 67"/>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69" name="TextBox 68"/>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70" name="TextBox 69"/>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71" name="TextBox 70"/>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72" name="TextBox 71"/>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73" name="TextBox 72"/>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74" name="椭圆 73"/>
            <p:cNvSpPr/>
            <p:nvPr/>
          </p:nvSpPr>
          <p:spPr>
            <a:xfrm>
              <a:off x="4640214" y="474028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5" name="TextBox 74"/>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76" name="椭圆 75"/>
            <p:cNvSpPr/>
            <p:nvPr/>
          </p:nvSpPr>
          <p:spPr>
            <a:xfrm>
              <a:off x="4046534" y="2927810"/>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7" name="TextBox 76"/>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78" name="椭圆 77"/>
            <p:cNvSpPr/>
            <p:nvPr/>
          </p:nvSpPr>
          <p:spPr>
            <a:xfrm>
              <a:off x="6162636" y="445453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9" name="TextBox 78"/>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80" name="椭圆 79"/>
            <p:cNvSpPr/>
            <p:nvPr/>
          </p:nvSpPr>
          <p:spPr>
            <a:xfrm>
              <a:off x="6473788" y="265475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1" name="TextBox 80"/>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82" name="椭圆 81"/>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3" name="TextBox 82"/>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84" name="椭圆 83"/>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5" name="TextBox 84"/>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86" name="椭圆 85"/>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7" name="TextBox 86"/>
            <p:cNvSpPr txBox="1"/>
            <p:nvPr/>
          </p:nvSpPr>
          <p:spPr>
            <a:xfrm>
              <a:off x="4764138" y="331833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88" name="椭圆 87"/>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9" name="TextBox 88"/>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90" name="椭圆 89"/>
            <p:cNvSpPr/>
            <p:nvPr/>
          </p:nvSpPr>
          <p:spPr>
            <a:xfrm>
              <a:off x="5272042" y="352107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1" name="TextBox 90"/>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92" name="椭圆 91"/>
            <p:cNvSpPr/>
            <p:nvPr/>
          </p:nvSpPr>
          <p:spPr>
            <a:xfrm>
              <a:off x="5553032" y="385762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3" name="TextBox 92"/>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sp>
        <p:nvSpPr>
          <p:cNvPr id="48" name="灯片编号占位符 47"/>
          <p:cNvSpPr>
            <a:spLocks noGrp="1"/>
          </p:cNvSpPr>
          <p:nvPr>
            <p:ph type="sldNum" sz="quarter" idx="12"/>
          </p:nvPr>
        </p:nvSpPr>
        <p:spPr/>
        <p:txBody>
          <a:bodyPr/>
          <a:lstStyle/>
          <a:p>
            <a:pPr>
              <a:defRPr/>
            </a:pPr>
            <a:fld id="{51116183-1013-4E64-BBE8-A5C1D5D4F838}" type="slidenum">
              <a:rPr lang="en-US" altLang="zh-CN" smtClean="0"/>
              <a:pPr>
                <a:defRPr/>
              </a:pPr>
              <a:t>133</a:t>
            </a:fld>
            <a:r>
              <a:rPr lang="en-US" altLang="zh-CN"/>
              <a:t>/167</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ext Box 4"/>
          <p:cNvSpPr txBox="1">
            <a:spLocks noChangeArrowheads="1"/>
          </p:cNvSpPr>
          <p:nvPr/>
        </p:nvSpPr>
        <p:spPr bwMode="auto">
          <a:xfrm>
            <a:off x="428596" y="5246408"/>
            <a:ext cx="8351837" cy="822515"/>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tIns="72000" bIns="72000">
            <a:spAutoFit/>
          </a:bodyPr>
          <a:lstStyle/>
          <a:p>
            <a:r>
              <a:rPr lang="zh-CN" altLang="pt-BR" sz="2200">
                <a:solidFill>
                  <a:srgbClr val="0000FF"/>
                </a:solidFill>
                <a:latin typeface="Consolas" pitchFamily="49" charset="0"/>
                <a:ea typeface="仿宋" pitchFamily="49" charset="-122"/>
                <a:cs typeface="Consolas" pitchFamily="49" charset="0"/>
              </a:rPr>
              <a:t>　（</a:t>
            </a:r>
            <a:r>
              <a:rPr lang="pt-BR" altLang="zh-CN" sz="2200">
                <a:solidFill>
                  <a:srgbClr val="0000FF"/>
                </a:solidFill>
                <a:latin typeface="Consolas" pitchFamily="49" charset="0"/>
                <a:ea typeface="仿宋" pitchFamily="49" charset="-122"/>
                <a:cs typeface="Consolas" pitchFamily="49" charset="0"/>
              </a:rPr>
              <a:t>2</a:t>
            </a:r>
            <a:r>
              <a:rPr lang="zh-CN" altLang="pt-BR" sz="2200">
                <a:solidFill>
                  <a:srgbClr val="0000FF"/>
                </a:solidFill>
                <a:latin typeface="Consolas" pitchFamily="49" charset="0"/>
                <a:ea typeface="仿宋" pitchFamily="49" charset="-122"/>
                <a:cs typeface="Consolas" pitchFamily="49" charset="0"/>
              </a:rPr>
              <a:t>）取中间位置</a:t>
            </a:r>
            <a:r>
              <a:rPr lang="pt-BR" altLang="zh-CN" sz="2200">
                <a:solidFill>
                  <a:srgbClr val="0000FF"/>
                </a:solidFill>
                <a:latin typeface="Consolas" pitchFamily="49" charset="0"/>
                <a:ea typeface="仿宋" pitchFamily="49" charset="-122"/>
                <a:cs typeface="Consolas" pitchFamily="49" charset="0"/>
              </a:rPr>
              <a:t>midindex=4</a:t>
            </a:r>
            <a:r>
              <a:rPr lang="zh-CN" altLang="en-US" sz="2200">
                <a:solidFill>
                  <a:srgbClr val="0000FF"/>
                </a:solidFill>
                <a:latin typeface="Consolas" pitchFamily="49" charset="0"/>
                <a:ea typeface="仿宋" pitchFamily="49" charset="-122"/>
                <a:cs typeface="Consolas" pitchFamily="49" charset="0"/>
              </a:rPr>
              <a:t>（对应点</a:t>
            </a:r>
            <a:r>
              <a:rPr lang="en-US" altLang="zh-CN" sz="2200" i="1">
                <a:solidFill>
                  <a:srgbClr val="FF0000"/>
                </a:solidFill>
                <a:latin typeface="Consolas" pitchFamily="49" charset="0"/>
                <a:ea typeface="仿宋" pitchFamily="49" charset="-122"/>
                <a:cs typeface="Consolas" pitchFamily="49" charset="0"/>
              </a:rPr>
              <a:t>a</a:t>
            </a:r>
            <a:r>
              <a:rPr lang="en-US" altLang="zh-CN" sz="2200" baseline="-25000">
                <a:solidFill>
                  <a:srgbClr val="FF0000"/>
                </a:solidFill>
                <a:latin typeface="Consolas" pitchFamily="49" charset="0"/>
                <a:ea typeface="仿宋" pitchFamily="49" charset="-122"/>
                <a:cs typeface="Consolas" pitchFamily="49" charset="0"/>
              </a:rPr>
              <a:t>0</a:t>
            </a:r>
            <a:r>
              <a:rPr lang="en-US" altLang="zh-CN" sz="22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10) </a:t>
            </a:r>
            <a:r>
              <a:rPr lang="zh-CN" altLang="en-US" sz="2200">
                <a:solidFill>
                  <a:srgbClr val="0000FF"/>
                </a:solidFill>
                <a:latin typeface="Consolas" pitchFamily="49" charset="0"/>
                <a:ea typeface="仿宋" pitchFamily="49" charset="-122"/>
                <a:cs typeface="Consolas" pitchFamily="49" charset="0"/>
              </a:rPr>
              <a:t>），</a:t>
            </a:r>
            <a:r>
              <a:rPr lang="zh-CN" altLang="pt-BR" sz="2200">
                <a:solidFill>
                  <a:srgbClr val="0000FF"/>
                </a:solidFill>
                <a:latin typeface="Consolas" pitchFamily="49" charset="0"/>
                <a:ea typeface="仿宋" pitchFamily="49" charset="-122"/>
                <a:cs typeface="Consolas" pitchFamily="49" charset="0"/>
              </a:rPr>
              <a:t>左部分为</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0</a:t>
            </a:r>
            <a:r>
              <a:rPr lang="pt-BR"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a:t>
            </a:r>
            <a:r>
              <a:rPr lang="zh-CN" altLang="pt-BR" sz="2200">
                <a:solidFill>
                  <a:srgbClr val="0000FF"/>
                </a:solidFill>
                <a:latin typeface="Consolas" pitchFamily="49" charset="0"/>
                <a:ea typeface="仿宋" pitchFamily="49" charset="-122"/>
                <a:cs typeface="Consolas" pitchFamily="49" charset="0"/>
              </a:rPr>
              <a:t>右部分为</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2</a:t>
            </a:r>
            <a:r>
              <a:rPr lang="pt-BR" altLang="zh-CN" sz="2200">
                <a:solidFill>
                  <a:srgbClr val="0000FF"/>
                </a:solidFill>
                <a:latin typeface="Consolas" pitchFamily="49" charset="0"/>
                <a:ea typeface="仿宋" pitchFamily="49" charset="-122"/>
                <a:cs typeface="Consolas" pitchFamily="49" charset="0"/>
              </a:rPr>
              <a:t>}</a:t>
            </a:r>
            <a:r>
              <a:rPr lang="zh-CN" altLang="pt-BR" sz="2200">
                <a:solidFill>
                  <a:srgbClr val="0000FF"/>
                </a:solidFill>
                <a:latin typeface="Consolas" pitchFamily="49" charset="0"/>
                <a:ea typeface="仿宋" pitchFamily="49" charset="-122"/>
                <a:cs typeface="Consolas" pitchFamily="49" charset="0"/>
              </a:rPr>
              <a:t>。</a:t>
            </a:r>
            <a:endParaRPr lang="zh-CN" altLang="en-US" sz="2200">
              <a:solidFill>
                <a:srgbClr val="0000FF"/>
              </a:solidFill>
              <a:latin typeface="Consolas" pitchFamily="49" charset="0"/>
              <a:ea typeface="仿宋" pitchFamily="49" charset="-122"/>
              <a:cs typeface="Consolas" pitchFamily="49" charset="0"/>
            </a:endParaRPr>
          </a:p>
        </p:txBody>
      </p:sp>
      <p:graphicFrame>
        <p:nvGraphicFramePr>
          <p:cNvPr id="3" name="表格 2"/>
          <p:cNvGraphicFramePr>
            <a:graphicFrameLocks noGrp="1"/>
          </p:cNvGraphicFramePr>
          <p:nvPr/>
        </p:nvGraphicFramePr>
        <p:xfrm>
          <a:off x="2857488" y="1175873"/>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3"/>
          <p:cNvGrpSpPr/>
          <p:nvPr/>
        </p:nvGrpSpPr>
        <p:grpSpPr>
          <a:xfrm>
            <a:off x="2428860" y="1083798"/>
            <a:ext cx="3643338" cy="3733982"/>
            <a:chOff x="3357554" y="1408099"/>
            <a:chExt cx="3643338" cy="3733982"/>
          </a:xfrm>
        </p:grpSpPr>
        <p:sp>
          <p:nvSpPr>
            <p:cNvPr id="5" name="TextBox 4"/>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6" name="TextBox 5"/>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7" name="TextBox 6"/>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27" name="椭圆 26"/>
            <p:cNvSpPr/>
            <p:nvPr/>
          </p:nvSpPr>
          <p:spPr>
            <a:xfrm>
              <a:off x="4640214" y="474028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8" name="TextBox 27"/>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29" name="椭圆 28"/>
            <p:cNvSpPr/>
            <p:nvPr/>
          </p:nvSpPr>
          <p:spPr>
            <a:xfrm>
              <a:off x="4046534" y="2927810"/>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0" name="TextBox 29"/>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1" name="椭圆 30"/>
            <p:cNvSpPr/>
            <p:nvPr/>
          </p:nvSpPr>
          <p:spPr>
            <a:xfrm>
              <a:off x="6162636" y="445453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TextBox 31"/>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3" name="椭圆 32"/>
            <p:cNvSpPr/>
            <p:nvPr/>
          </p:nvSpPr>
          <p:spPr>
            <a:xfrm>
              <a:off x="6473788" y="265475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4" name="TextBox 33"/>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5" name="椭圆 34"/>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TextBox 35"/>
            <p:cNvSpPr txBox="1"/>
            <p:nvPr/>
          </p:nvSpPr>
          <p:spPr>
            <a:xfrm>
              <a:off x="4643438" y="1525574"/>
              <a:ext cx="322266"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0</a:t>
              </a:r>
              <a:endParaRPr lang="zh-CN" altLang="en-US" sz="1800" baseline="-25000">
                <a:solidFill>
                  <a:srgbClr val="FF0000"/>
                </a:solidFill>
                <a:latin typeface="Consolas" pitchFamily="49" charset="0"/>
                <a:cs typeface="Consolas" pitchFamily="49" charset="0"/>
              </a:endParaRPr>
            </a:p>
          </p:txBody>
        </p:sp>
        <p:sp>
          <p:nvSpPr>
            <p:cNvPr id="37" name="椭圆 36"/>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TextBox 37"/>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39" name="椭圆 38"/>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TextBox 39"/>
            <p:cNvSpPr txBox="1"/>
            <p:nvPr/>
          </p:nvSpPr>
          <p:spPr>
            <a:xfrm>
              <a:off x="4764138" y="331833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1" name="椭圆 40"/>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2" name="TextBox 41"/>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3" name="椭圆 42"/>
            <p:cNvSpPr/>
            <p:nvPr/>
          </p:nvSpPr>
          <p:spPr>
            <a:xfrm>
              <a:off x="5272042" y="352107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4" name="TextBox 43"/>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5" name="椭圆 44"/>
            <p:cNvSpPr/>
            <p:nvPr/>
          </p:nvSpPr>
          <p:spPr>
            <a:xfrm>
              <a:off x="5553032" y="385762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6" name="TextBox 45"/>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cxnSp>
        <p:nvCxnSpPr>
          <p:cNvPr id="48" name="直接连接符 47"/>
          <p:cNvCxnSpPr/>
          <p:nvPr/>
        </p:nvCxnSpPr>
        <p:spPr>
          <a:xfrm rot="5400000">
            <a:off x="1899191" y="2834361"/>
            <a:ext cx="4357718" cy="1588"/>
          </a:xfrm>
          <a:prstGeom prst="line">
            <a:avLst/>
          </a:prstGeom>
          <a:ln w="28575">
            <a:solidFill>
              <a:srgbClr val="FF0000"/>
            </a:solidFill>
          </a:ln>
        </p:spPr>
        <p:style>
          <a:lnRef idx="2">
            <a:schemeClr val="dk1"/>
          </a:lnRef>
          <a:fillRef idx="0">
            <a:schemeClr val="dk1"/>
          </a:fillRef>
          <a:effectRef idx="1">
            <a:schemeClr val="dk1"/>
          </a:effectRef>
          <a:fontRef idx="minor">
            <a:schemeClr val="tx1"/>
          </a:fontRef>
        </p:style>
      </p:cxnSp>
      <p:sp>
        <p:nvSpPr>
          <p:cNvPr id="49" name="左大括号 48"/>
          <p:cNvSpPr/>
          <p:nvPr/>
        </p:nvSpPr>
        <p:spPr>
          <a:xfrm rot="5400000">
            <a:off x="3386536" y="174356"/>
            <a:ext cx="144000" cy="122400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50" name="TextBox 49"/>
          <p:cNvSpPr txBox="1"/>
          <p:nvPr/>
        </p:nvSpPr>
        <p:spPr>
          <a:xfrm>
            <a:off x="3312242" y="285728"/>
            <a:ext cx="357190" cy="307777"/>
          </a:xfrm>
          <a:prstGeom prst="rect">
            <a:avLst/>
          </a:prstGeom>
          <a:noFill/>
        </p:spPr>
        <p:txBody>
          <a:bodyPr wrap="square" lIns="0" tIns="0" rIns="0" bIns="0"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1</a:t>
            </a:r>
            <a:endParaRPr lang="zh-CN" altLang="en-US" sz="2000" baseline="-25000">
              <a:solidFill>
                <a:srgbClr val="FF00FF"/>
              </a:solidFill>
              <a:latin typeface="Consolas" pitchFamily="49" charset="0"/>
              <a:cs typeface="Consolas" pitchFamily="49" charset="0"/>
            </a:endParaRPr>
          </a:p>
        </p:txBody>
      </p:sp>
      <p:sp>
        <p:nvSpPr>
          <p:cNvPr id="51" name="左大括号 50"/>
          <p:cNvSpPr/>
          <p:nvPr/>
        </p:nvSpPr>
        <p:spPr>
          <a:xfrm rot="5400000">
            <a:off x="4995851" y="-4801"/>
            <a:ext cx="142876" cy="158119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52" name="TextBox 51"/>
          <p:cNvSpPr txBox="1"/>
          <p:nvPr/>
        </p:nvSpPr>
        <p:spPr>
          <a:xfrm>
            <a:off x="4929190" y="285728"/>
            <a:ext cx="357190" cy="307777"/>
          </a:xfrm>
          <a:prstGeom prst="rect">
            <a:avLst/>
          </a:prstGeom>
          <a:noFill/>
        </p:spPr>
        <p:txBody>
          <a:bodyPr wrap="square" lIns="0" tIns="0" rIns="0" bIns="0"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2</a:t>
            </a:r>
            <a:endParaRPr lang="zh-CN" altLang="en-US" sz="2000" baseline="-25000">
              <a:solidFill>
                <a:srgbClr val="FF00FF"/>
              </a:solidFill>
              <a:latin typeface="Consolas" pitchFamily="49" charset="0"/>
              <a:cs typeface="Consolas" pitchFamily="49" charset="0"/>
            </a:endParaRPr>
          </a:p>
        </p:txBody>
      </p:sp>
      <p:sp>
        <p:nvSpPr>
          <p:cNvPr id="54" name="灯片编号占位符 53"/>
          <p:cNvSpPr>
            <a:spLocks noGrp="1"/>
          </p:cNvSpPr>
          <p:nvPr>
            <p:ph type="sldNum" sz="quarter" idx="12"/>
          </p:nvPr>
        </p:nvSpPr>
        <p:spPr/>
        <p:txBody>
          <a:bodyPr/>
          <a:lstStyle/>
          <a:p>
            <a:pPr>
              <a:defRPr/>
            </a:pPr>
            <a:fld id="{51116183-1013-4E64-BBE8-A5C1D5D4F838}" type="slidenum">
              <a:rPr lang="en-US" altLang="zh-CN" smtClean="0"/>
              <a:pPr>
                <a:defRPr/>
              </a:pPr>
              <a:t>134</a:t>
            </a:fld>
            <a:r>
              <a:rPr lang="en-US" altLang="zh-CN"/>
              <a:t>/167</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500034" y="4857760"/>
            <a:ext cx="8429684" cy="822515"/>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tIns="72000" bIns="72000">
            <a:spAutoFit/>
          </a:bodyPr>
          <a:lstStyle/>
          <a:p>
            <a:pPr>
              <a:spcBef>
                <a:spcPts val="0"/>
              </a:spcBef>
            </a:pPr>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）对于整个序列的左部分</a:t>
            </a:r>
            <a:r>
              <a:rPr lang="en-US"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0</a:t>
            </a:r>
            <a:r>
              <a:rPr lang="en-US"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，最终结果为</a:t>
            </a:r>
            <a:r>
              <a:rPr lang="pt-BR" altLang="zh-CN" sz="2200" i="1">
                <a:solidFill>
                  <a:srgbClr val="FF0000"/>
                </a:solidFill>
                <a:latin typeface="Consolas" pitchFamily="49" charset="0"/>
                <a:ea typeface="仿宋" pitchFamily="49" charset="-122"/>
                <a:cs typeface="Consolas" pitchFamily="49" charset="0"/>
              </a:rPr>
              <a:t>d</a:t>
            </a:r>
            <a:r>
              <a:rPr lang="pt-BR" altLang="zh-CN" sz="2200">
                <a:solidFill>
                  <a:srgbClr val="FF0000"/>
                </a:solidFill>
                <a:latin typeface="Consolas" pitchFamily="49" charset="0"/>
                <a:ea typeface="仿宋" pitchFamily="49" charset="-122"/>
                <a:cs typeface="Consolas" pitchFamily="49" charset="0"/>
              </a:rPr>
              <a:t>=2.23607</a:t>
            </a:r>
            <a:r>
              <a:rPr lang="zh-CN" altLang="en-US" sz="2200">
                <a:solidFill>
                  <a:srgbClr val="0000FF"/>
                </a:solidFill>
                <a:latin typeface="Consolas" pitchFamily="49" charset="0"/>
                <a:ea typeface="仿宋" pitchFamily="49" charset="-122"/>
                <a:cs typeface="Consolas" pitchFamily="49" charset="0"/>
              </a:rPr>
              <a:t>，</a:t>
            </a:r>
            <a:r>
              <a:rPr lang="zh-CN" altLang="pt-BR" sz="2200">
                <a:solidFill>
                  <a:srgbClr val="0000FF"/>
                </a:solidFill>
                <a:latin typeface="Consolas" pitchFamily="49" charset="0"/>
                <a:ea typeface="仿宋" pitchFamily="49" charset="-122"/>
                <a:cs typeface="Consolas" pitchFamily="49" charset="0"/>
              </a:rPr>
              <a:t>最近点对为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9</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1</a:t>
            </a:r>
            <a:r>
              <a:rPr lang="zh-CN" altLang="pt-BR" sz="2200">
                <a:solidFill>
                  <a:srgbClr val="0000FF"/>
                </a:solidFill>
                <a:latin typeface="Consolas" pitchFamily="49" charset="0"/>
                <a:ea typeface="仿宋" pitchFamily="49" charset="-122"/>
                <a:cs typeface="Consolas" pitchFamily="49" charset="0"/>
              </a:rPr>
              <a:t>。 　</a:t>
            </a:r>
            <a:endParaRPr lang="zh-CN" altLang="en-US" sz="2200">
              <a:solidFill>
                <a:srgbClr val="0000FF"/>
              </a:solidFill>
              <a:latin typeface="Consolas" pitchFamily="49" charset="0"/>
              <a:ea typeface="仿宋" pitchFamily="49" charset="-122"/>
              <a:cs typeface="Consolas" pitchFamily="49" charset="0"/>
            </a:endParaRPr>
          </a:p>
        </p:txBody>
      </p:sp>
      <p:graphicFrame>
        <p:nvGraphicFramePr>
          <p:cNvPr id="4" name="表格 3"/>
          <p:cNvGraphicFramePr>
            <a:graphicFrameLocks noGrp="1"/>
          </p:cNvGraphicFramePr>
          <p:nvPr/>
        </p:nvGraphicFramePr>
        <p:xfrm>
          <a:off x="2857488" y="787225"/>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4"/>
          <p:cNvGrpSpPr/>
          <p:nvPr/>
        </p:nvGrpSpPr>
        <p:grpSpPr>
          <a:xfrm>
            <a:off x="2428860" y="695150"/>
            <a:ext cx="3643338" cy="3733982"/>
            <a:chOff x="3357554" y="1408099"/>
            <a:chExt cx="3643338" cy="3733982"/>
          </a:xfrm>
        </p:grpSpPr>
        <p:sp>
          <p:nvSpPr>
            <p:cNvPr id="6" name="TextBox 5"/>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7" name="TextBox 6"/>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28" name="椭圆 27"/>
            <p:cNvSpPr/>
            <p:nvPr/>
          </p:nvSpPr>
          <p:spPr>
            <a:xfrm>
              <a:off x="4640214" y="474028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9" name="TextBox 28"/>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30" name="椭圆 29"/>
            <p:cNvSpPr/>
            <p:nvPr/>
          </p:nvSpPr>
          <p:spPr>
            <a:xfrm>
              <a:off x="4046534" y="2927810"/>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1" name="TextBox 30"/>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6" name="椭圆 35"/>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TextBox 36"/>
            <p:cNvSpPr txBox="1"/>
            <p:nvPr/>
          </p:nvSpPr>
          <p:spPr>
            <a:xfrm>
              <a:off x="4643438"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38" name="椭圆 37"/>
            <p:cNvSpPr/>
            <p:nvPr/>
          </p:nvSpPr>
          <p:spPr>
            <a:xfrm>
              <a:off x="4643438" y="2647944"/>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9" name="TextBox 38"/>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40" name="椭圆 39"/>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1" name="TextBox 40"/>
            <p:cNvSpPr txBox="1"/>
            <p:nvPr/>
          </p:nvSpPr>
          <p:spPr>
            <a:xfrm>
              <a:off x="4764138" y="331833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grpSp>
      <p:cxnSp>
        <p:nvCxnSpPr>
          <p:cNvPr id="50" name="直接连接符 49"/>
          <p:cNvCxnSpPr>
            <a:stCxn id="30" idx="6"/>
            <a:endCxn id="38" idx="2"/>
          </p:cNvCxnSpPr>
          <p:nvPr/>
        </p:nvCxnSpPr>
        <p:spPr>
          <a:xfrm flipV="1">
            <a:off x="3225840" y="2006995"/>
            <a:ext cx="488904" cy="279866"/>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43" name="灯片编号占位符 42"/>
          <p:cNvSpPr>
            <a:spLocks noGrp="1"/>
          </p:cNvSpPr>
          <p:nvPr>
            <p:ph type="sldNum" sz="quarter" idx="12"/>
          </p:nvPr>
        </p:nvSpPr>
        <p:spPr/>
        <p:txBody>
          <a:bodyPr/>
          <a:lstStyle/>
          <a:p>
            <a:pPr>
              <a:defRPr/>
            </a:pPr>
            <a:fld id="{51116183-1013-4E64-BBE8-A5C1D5D4F838}" type="slidenum">
              <a:rPr lang="en-US" altLang="zh-CN" smtClean="0"/>
              <a:pPr>
                <a:defRPr/>
              </a:pPr>
              <a:t>135</a:t>
            </a:fld>
            <a:r>
              <a:rPr lang="en-US" altLang="zh-CN"/>
              <a:t>/167</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571472" y="4674904"/>
            <a:ext cx="8215370" cy="822515"/>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tIns="72000" bIns="72000">
            <a:spAutoFit/>
          </a:bodyPr>
          <a:lstStyle/>
          <a:p>
            <a:r>
              <a:rPr lang="zh-CN" altLang="en-US" sz="2200">
                <a:solidFill>
                  <a:srgbClr val="0000FF"/>
                </a:solidFill>
                <a:latin typeface="Consolas" pitchFamily="49" charset="0"/>
                <a:ea typeface="仿宋" pitchFamily="49" charset="-122"/>
                <a:cs typeface="Consolas" pitchFamily="49" charset="0"/>
              </a:rPr>
              <a:t>　（</a:t>
            </a:r>
            <a:r>
              <a:rPr lang="en-US" altLang="zh-CN" sz="22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）对于整个序列的右部分</a:t>
            </a:r>
            <a:r>
              <a:rPr lang="pt-BR" altLang="zh-CN"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7</a:t>
            </a:r>
            <a:r>
              <a:rPr lang="zh-CN" altLang="en-US" sz="2200">
                <a:solidFill>
                  <a:srgbClr val="0000FF"/>
                </a:solidFill>
                <a:latin typeface="Consolas" pitchFamily="49" charset="0"/>
                <a:ea typeface="仿宋" pitchFamily="49" charset="-122"/>
                <a:cs typeface="Consolas" pitchFamily="49" charset="0"/>
              </a:rPr>
              <a:t>，</a:t>
            </a:r>
            <a:r>
              <a:rPr lang="pt-BR" altLang="zh-CN" sz="2200" i="1">
                <a:solidFill>
                  <a:srgbClr val="0000FF"/>
                </a:solidFill>
                <a:latin typeface="Consolas" pitchFamily="49" charset="0"/>
                <a:ea typeface="仿宋" pitchFamily="49" charset="-122"/>
                <a:cs typeface="Consolas" pitchFamily="49" charset="0"/>
              </a:rPr>
              <a:t>a</a:t>
            </a:r>
            <a:r>
              <a:rPr lang="pt-BR" altLang="zh-CN" sz="2200" baseline="-25000">
                <a:solidFill>
                  <a:srgbClr val="0000FF"/>
                </a:solidFill>
                <a:latin typeface="Consolas" pitchFamily="49" charset="0"/>
                <a:ea typeface="仿宋" pitchFamily="49" charset="-122"/>
                <a:cs typeface="Consolas" pitchFamily="49" charset="0"/>
              </a:rPr>
              <a:t>2</a:t>
            </a:r>
            <a:r>
              <a:rPr lang="pt-BR"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，最终结果为</a:t>
            </a:r>
            <a:r>
              <a:rPr lang="pt-BR" altLang="zh-CN" sz="2200" i="1">
                <a:solidFill>
                  <a:srgbClr val="FF0000"/>
                </a:solidFill>
                <a:latin typeface="Consolas" pitchFamily="49" charset="0"/>
                <a:ea typeface="仿宋" pitchFamily="49" charset="-122"/>
                <a:cs typeface="Consolas" pitchFamily="49" charset="0"/>
              </a:rPr>
              <a:t>d</a:t>
            </a:r>
            <a:r>
              <a:rPr lang="pt-BR" altLang="zh-CN" sz="2200">
                <a:solidFill>
                  <a:srgbClr val="FF0000"/>
                </a:solidFill>
                <a:latin typeface="Consolas" pitchFamily="49" charset="0"/>
                <a:ea typeface="仿宋" pitchFamily="49" charset="-122"/>
                <a:cs typeface="Consolas" pitchFamily="49" charset="0"/>
              </a:rPr>
              <a:t>=</a:t>
            </a:r>
            <a:r>
              <a:rPr lang="en-US" altLang="zh-CN" sz="2200">
                <a:solidFill>
                  <a:srgbClr val="FF0000"/>
                </a:solidFill>
                <a:latin typeface="Consolas" pitchFamily="49" charset="0"/>
                <a:ea typeface="仿宋" pitchFamily="49" charset="-122"/>
                <a:cs typeface="Consolas" pitchFamily="49" charset="0"/>
              </a:rPr>
              <a:t>1.41421</a:t>
            </a:r>
            <a:r>
              <a:rPr lang="zh-CN" altLang="en-US" sz="2200">
                <a:solidFill>
                  <a:srgbClr val="0000FF"/>
                </a:solidFill>
                <a:latin typeface="Consolas" pitchFamily="49" charset="0"/>
                <a:ea typeface="仿宋" pitchFamily="49" charset="-122"/>
                <a:cs typeface="Consolas" pitchFamily="49" charset="0"/>
              </a:rPr>
              <a:t>，最近点对为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6</a:t>
            </a:r>
            <a:r>
              <a:rPr lang="zh-CN" altLang="pt-BR" sz="2200">
                <a:solidFill>
                  <a:srgbClr val="0000FF"/>
                </a:solidFill>
                <a:latin typeface="Consolas" pitchFamily="49" charset="0"/>
                <a:ea typeface="仿宋" pitchFamily="49" charset="-122"/>
                <a:cs typeface="Consolas" pitchFamily="49" charset="0"/>
              </a:rPr>
              <a:t>。</a:t>
            </a:r>
            <a:endParaRPr lang="zh-CN" altLang="en-US" sz="2200">
              <a:solidFill>
                <a:srgbClr val="0000FF"/>
              </a:solidFill>
              <a:latin typeface="Consolas" pitchFamily="49" charset="0"/>
              <a:ea typeface="仿宋" pitchFamily="49" charset="-122"/>
              <a:cs typeface="Consolas" pitchFamily="49" charset="0"/>
            </a:endParaRPr>
          </a:p>
        </p:txBody>
      </p:sp>
      <p:graphicFrame>
        <p:nvGraphicFramePr>
          <p:cNvPr id="4" name="表格 3"/>
          <p:cNvGraphicFramePr>
            <a:graphicFrameLocks noGrp="1"/>
          </p:cNvGraphicFramePr>
          <p:nvPr/>
        </p:nvGraphicFramePr>
        <p:xfrm>
          <a:off x="2857488" y="787225"/>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2" name="组合 4"/>
          <p:cNvGrpSpPr/>
          <p:nvPr/>
        </p:nvGrpSpPr>
        <p:grpSpPr>
          <a:xfrm>
            <a:off x="2428860" y="695150"/>
            <a:ext cx="3643338" cy="3733982"/>
            <a:chOff x="3357554" y="1408099"/>
            <a:chExt cx="3643338" cy="3733982"/>
          </a:xfrm>
        </p:grpSpPr>
        <p:sp>
          <p:nvSpPr>
            <p:cNvPr id="6" name="TextBox 5"/>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7" name="TextBox 6"/>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6" name="TextBox 25"/>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7" name="TextBox 26"/>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32" name="椭圆 31"/>
            <p:cNvSpPr/>
            <p:nvPr/>
          </p:nvSpPr>
          <p:spPr>
            <a:xfrm>
              <a:off x="6162636" y="445453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3" name="TextBox 32"/>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4" name="椭圆 33"/>
            <p:cNvSpPr/>
            <p:nvPr/>
          </p:nvSpPr>
          <p:spPr>
            <a:xfrm>
              <a:off x="6473788" y="265475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5" name="TextBox 34"/>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42" name="椭圆 41"/>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3" name="TextBox 42"/>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4" name="椭圆 43"/>
            <p:cNvSpPr/>
            <p:nvPr/>
          </p:nvSpPr>
          <p:spPr>
            <a:xfrm>
              <a:off x="5272042" y="3521076"/>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5" name="TextBox 44"/>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6" name="椭圆 45"/>
            <p:cNvSpPr/>
            <p:nvPr/>
          </p:nvSpPr>
          <p:spPr>
            <a:xfrm>
              <a:off x="5553032" y="385762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7" name="TextBox 46"/>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cxnSp>
        <p:nvCxnSpPr>
          <p:cNvPr id="50" name="直接连接符 49"/>
          <p:cNvCxnSpPr>
            <a:stCxn id="44" idx="5"/>
            <a:endCxn id="46" idx="1"/>
          </p:cNvCxnSpPr>
          <p:nvPr/>
        </p:nvCxnSpPr>
        <p:spPr>
          <a:xfrm rot="16200000" flipH="1">
            <a:off x="4420479" y="2946092"/>
            <a:ext cx="234728" cy="204622"/>
          </a:xfrm>
          <a:prstGeom prst="line">
            <a:avLst/>
          </a:prstGeom>
          <a:ln>
            <a:solidFill>
              <a:srgbClr val="00B050"/>
            </a:solidFill>
            <a:prstDash val="dash"/>
          </a:ln>
        </p:spPr>
        <p:style>
          <a:lnRef idx="2">
            <a:schemeClr val="dk1"/>
          </a:lnRef>
          <a:fillRef idx="0">
            <a:schemeClr val="dk1"/>
          </a:fillRef>
          <a:effectRef idx="1">
            <a:schemeClr val="dk1"/>
          </a:effectRef>
          <a:fontRef idx="minor">
            <a:schemeClr val="tx1"/>
          </a:fontRef>
        </p:style>
      </p:cxnSp>
      <p:sp>
        <p:nvSpPr>
          <p:cNvPr id="39" name="灯片编号占位符 38"/>
          <p:cNvSpPr>
            <a:spLocks noGrp="1"/>
          </p:cNvSpPr>
          <p:nvPr>
            <p:ph type="sldNum" sz="quarter" idx="12"/>
          </p:nvPr>
        </p:nvSpPr>
        <p:spPr/>
        <p:txBody>
          <a:bodyPr/>
          <a:lstStyle/>
          <a:p>
            <a:pPr>
              <a:defRPr/>
            </a:pPr>
            <a:fld id="{51116183-1013-4E64-BBE8-A5C1D5D4F838}" type="slidenum">
              <a:rPr lang="en-US" altLang="zh-CN" smtClean="0"/>
              <a:pPr>
                <a:defRPr/>
              </a:pPr>
              <a:t>136</a:t>
            </a:fld>
            <a:r>
              <a:rPr lang="en-US" altLang="zh-CN"/>
              <a:t>/167</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857224" y="1643687"/>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3" name="组合 2"/>
          <p:cNvGrpSpPr/>
          <p:nvPr/>
        </p:nvGrpSpPr>
        <p:grpSpPr>
          <a:xfrm>
            <a:off x="428596" y="1551612"/>
            <a:ext cx="3643338" cy="3733982"/>
            <a:chOff x="3357554" y="1408099"/>
            <a:chExt cx="3643338" cy="3733982"/>
          </a:xfrm>
        </p:grpSpPr>
        <p:sp>
          <p:nvSpPr>
            <p:cNvPr id="4" name="TextBox 3"/>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5" name="TextBox 4"/>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6" name="TextBox 5"/>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7" name="TextBox 6"/>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8" name="TextBox 7"/>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9" name="TextBox 8"/>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10" name="TextBox 9"/>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11" name="TextBox 10"/>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12" name="TextBox 11"/>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13" name="TextBox 12"/>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14" name="TextBox 13"/>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15" name="TextBox 14"/>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16" name="TextBox 15"/>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17" name="TextBox 16"/>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18" name="TextBox 17"/>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19" name="TextBox 18"/>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20" name="TextBox 19"/>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21" name="TextBox 20"/>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22" name="TextBox 21"/>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23" name="TextBox 22"/>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24" name="TextBox 23"/>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25" name="TextBox 24"/>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26" name="椭圆 25"/>
            <p:cNvSpPr/>
            <p:nvPr/>
          </p:nvSpPr>
          <p:spPr>
            <a:xfrm>
              <a:off x="4640214" y="474028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TextBox 26"/>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28" name="椭圆 27"/>
            <p:cNvSpPr/>
            <p:nvPr/>
          </p:nvSpPr>
          <p:spPr>
            <a:xfrm>
              <a:off x="4046534" y="2927810"/>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9" name="TextBox 28"/>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30" name="椭圆 29"/>
            <p:cNvSpPr/>
            <p:nvPr/>
          </p:nvSpPr>
          <p:spPr>
            <a:xfrm>
              <a:off x="6162636" y="445453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1" name="TextBox 30"/>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32" name="椭圆 31"/>
            <p:cNvSpPr/>
            <p:nvPr/>
          </p:nvSpPr>
          <p:spPr>
            <a:xfrm>
              <a:off x="6473788" y="265475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3" name="TextBox 32"/>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34" name="椭圆 33"/>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5" name="TextBox 34"/>
            <p:cNvSpPr txBox="1"/>
            <p:nvPr/>
          </p:nvSpPr>
          <p:spPr>
            <a:xfrm>
              <a:off x="4643438"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36" name="椭圆 35"/>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TextBox 36"/>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38" name="椭圆 37"/>
            <p:cNvSpPr/>
            <p:nvPr/>
          </p:nvSpPr>
          <p:spPr>
            <a:xfrm>
              <a:off x="4643438" y="3532652"/>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9" name="TextBox 38"/>
            <p:cNvSpPr txBox="1"/>
            <p:nvPr/>
          </p:nvSpPr>
          <p:spPr>
            <a:xfrm>
              <a:off x="4764138" y="331833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40" name="椭圆 39"/>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1" name="TextBox 40"/>
            <p:cNvSpPr txBox="1"/>
            <p:nvPr/>
          </p:nvSpPr>
          <p:spPr>
            <a:xfrm>
              <a:off x="5143504" y="2615241"/>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42" name="椭圆 41"/>
            <p:cNvSpPr/>
            <p:nvPr/>
          </p:nvSpPr>
          <p:spPr>
            <a:xfrm>
              <a:off x="5272042" y="3521076"/>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3" name="TextBox 42"/>
            <p:cNvSpPr txBox="1"/>
            <p:nvPr/>
          </p:nvSpPr>
          <p:spPr>
            <a:xfrm>
              <a:off x="5167266" y="3189921"/>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44" name="椭圆 43"/>
            <p:cNvSpPr/>
            <p:nvPr/>
          </p:nvSpPr>
          <p:spPr>
            <a:xfrm>
              <a:off x="5553032" y="385762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5" name="TextBox 44"/>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cxnSp>
        <p:nvCxnSpPr>
          <p:cNvPr id="46" name="直接连接符 45"/>
          <p:cNvCxnSpPr/>
          <p:nvPr/>
        </p:nvCxnSpPr>
        <p:spPr>
          <a:xfrm rot="5400000">
            <a:off x="-34957" y="3392487"/>
            <a:ext cx="4357718" cy="1588"/>
          </a:xfrm>
          <a:prstGeom prst="line">
            <a:avLst/>
          </a:prstGeom>
          <a:ln w="28575">
            <a:solidFill>
              <a:srgbClr val="FF0000"/>
            </a:solidFill>
          </a:ln>
        </p:spPr>
        <p:style>
          <a:lnRef idx="2">
            <a:schemeClr val="dk1"/>
          </a:lnRef>
          <a:fillRef idx="0">
            <a:schemeClr val="dk1"/>
          </a:fillRef>
          <a:effectRef idx="1">
            <a:schemeClr val="dk1"/>
          </a:effectRef>
          <a:fontRef idx="minor">
            <a:schemeClr val="tx1"/>
          </a:fontRef>
        </p:style>
      </p:cxnSp>
      <p:sp>
        <p:nvSpPr>
          <p:cNvPr id="47" name="TextBox 46"/>
          <p:cNvSpPr txBox="1"/>
          <p:nvPr/>
        </p:nvSpPr>
        <p:spPr>
          <a:xfrm>
            <a:off x="71438" y="357166"/>
            <a:ext cx="8929718" cy="483960"/>
          </a:xfrm>
          <a:prstGeom prst="rect">
            <a:avLst/>
          </a:prstGeom>
          <a:ln>
            <a:solidFill>
              <a:schemeClr val="accent6">
                <a:lumMod val="40000"/>
                <a:lumOff val="60000"/>
              </a:schemeClr>
            </a:solidFill>
          </a:ln>
        </p:spPr>
        <p:style>
          <a:lnRef idx="2">
            <a:schemeClr val="accent2"/>
          </a:lnRef>
          <a:fillRef idx="1">
            <a:schemeClr val="lt1"/>
          </a:fillRef>
          <a:effectRef idx="0">
            <a:schemeClr val="accent2"/>
          </a:effectRef>
          <a:fontRef idx="minor">
            <a:schemeClr val="dk1"/>
          </a:fontRef>
        </p:style>
        <p:txBody>
          <a:bodyPr wrap="square" lIns="90000" tIns="72000" rIns="0" bIns="72000" rtlCol="0">
            <a:spAutoFit/>
          </a:bodyPr>
          <a:lstStyle/>
          <a:p>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）中间点集</a:t>
            </a:r>
            <a:r>
              <a:rPr lang="en-US" altLang="zh-CN" sz="2200">
                <a:solidFill>
                  <a:srgbClr val="0000FF"/>
                </a:solidFill>
                <a:latin typeface="Consolas" pitchFamily="49" charset="0"/>
                <a:ea typeface="仿宋" pitchFamily="49" charset="-122"/>
                <a:cs typeface="Consolas" pitchFamily="49" charset="0"/>
              </a:rPr>
              <a:t>{</a:t>
            </a:r>
            <a:r>
              <a:rPr lang="en-US" sz="2200" i="1">
                <a:solidFill>
                  <a:srgbClr val="0000FF"/>
                </a:solidFill>
                <a:latin typeface="Consolas" pitchFamily="49" charset="0"/>
                <a:ea typeface="仿宋" pitchFamily="49" charset="-122"/>
                <a:cs typeface="Consolas" pitchFamily="49" charset="0"/>
              </a:rPr>
              <a:t>a</a:t>
            </a:r>
            <a:r>
              <a:rPr lang="en-US" sz="2200" baseline="-25000">
                <a:solidFill>
                  <a:srgbClr val="0000FF"/>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a:t>
            </a:r>
            <a:r>
              <a:rPr lang="en-US" sz="2200" i="1">
                <a:solidFill>
                  <a:srgbClr val="0000FF"/>
                </a:solidFill>
                <a:latin typeface="Consolas" pitchFamily="49" charset="0"/>
                <a:ea typeface="仿宋" pitchFamily="49" charset="-122"/>
                <a:cs typeface="Consolas" pitchFamily="49" charset="0"/>
              </a:rPr>
              <a:t>a</a:t>
            </a:r>
            <a:r>
              <a:rPr lang="en-US" sz="2200" baseline="-250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sz="2200" i="1">
                <a:solidFill>
                  <a:srgbClr val="0000FF"/>
                </a:solidFill>
                <a:latin typeface="Consolas" pitchFamily="49" charset="0"/>
                <a:ea typeface="仿宋" pitchFamily="49" charset="-122"/>
                <a:cs typeface="Consolas" pitchFamily="49" charset="0"/>
              </a:rPr>
              <a:t>a</a:t>
            </a:r>
            <a:r>
              <a:rPr lang="en-US"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r>
              <a:rPr lang="en-US" sz="2200" i="1">
                <a:solidFill>
                  <a:srgbClr val="0000FF"/>
                </a:solidFill>
                <a:latin typeface="Consolas" pitchFamily="49" charset="0"/>
                <a:ea typeface="仿宋" pitchFamily="49" charset="-122"/>
                <a:cs typeface="Consolas" pitchFamily="49" charset="0"/>
              </a:rPr>
              <a:t>a</a:t>
            </a:r>
            <a:r>
              <a:rPr lang="en-US" sz="2200" baseline="-250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a:t>
            </a:r>
            <a:r>
              <a:rPr lang="en-US" sz="2200" i="1">
                <a:solidFill>
                  <a:srgbClr val="0000FF"/>
                </a:solidFill>
                <a:latin typeface="Consolas" pitchFamily="49" charset="0"/>
                <a:ea typeface="仿宋" pitchFamily="49" charset="-122"/>
                <a:cs typeface="Consolas" pitchFamily="49" charset="0"/>
              </a:rPr>
              <a:t>a</a:t>
            </a:r>
            <a:r>
              <a:rPr lang="en-US"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a:t>
            </a:r>
            <a:r>
              <a:rPr lang="en-US" sz="2200" i="1">
                <a:solidFill>
                  <a:srgbClr val="0000FF"/>
                </a:solidFill>
                <a:latin typeface="Consolas" pitchFamily="49" charset="0"/>
                <a:ea typeface="仿宋" pitchFamily="49" charset="-122"/>
                <a:cs typeface="Consolas" pitchFamily="49" charset="0"/>
              </a:rPr>
              <a:t>a</a:t>
            </a:r>
            <a:r>
              <a:rPr lang="en-US" sz="2200" baseline="-25000">
                <a:solidFill>
                  <a:srgbClr val="0000FF"/>
                </a:solidFill>
                <a:latin typeface="Consolas" pitchFamily="49" charset="0"/>
                <a:ea typeface="仿宋" pitchFamily="49" charset="-122"/>
                <a:cs typeface="Consolas" pitchFamily="49" charset="0"/>
              </a:rPr>
              <a:t>0</a:t>
            </a:r>
            <a:r>
              <a:rPr lang="en-US"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按</a:t>
            </a:r>
            <a:r>
              <a:rPr lang="en-US" altLang="zh-CN" sz="2200">
                <a:solidFill>
                  <a:srgbClr val="0000FF"/>
                </a:solidFill>
                <a:latin typeface="Consolas" pitchFamily="49" charset="0"/>
                <a:ea typeface="仿宋" pitchFamily="49" charset="-122"/>
                <a:cs typeface="Consolas" pitchFamily="49" charset="0"/>
              </a:rPr>
              <a:t>y</a:t>
            </a:r>
            <a:r>
              <a:rPr lang="zh-CN" altLang="en-US" sz="2200">
                <a:solidFill>
                  <a:srgbClr val="0000FF"/>
                </a:solidFill>
                <a:latin typeface="Consolas" pitchFamily="49" charset="0"/>
                <a:ea typeface="仿宋" pitchFamily="49" charset="-122"/>
                <a:cs typeface="Consolas" pitchFamily="49" charset="0"/>
              </a:rPr>
              <a:t>递增排序</a:t>
            </a:r>
            <a:r>
              <a:rPr lang="en-US" sz="2200">
                <a:solidFill>
                  <a:srgbClr val="0000FF"/>
                </a:solidFill>
                <a:latin typeface="Consolas" pitchFamily="49" charset="0"/>
                <a:ea typeface="仿宋" pitchFamily="49" charset="-122"/>
                <a:cs typeface="Consolas" pitchFamily="49" charset="0"/>
              </a:rPr>
              <a:t>),</a:t>
            </a:r>
            <a:r>
              <a:rPr lang="pt-BR" altLang="zh-CN" sz="2200" i="1">
                <a:solidFill>
                  <a:srgbClr val="FF0000"/>
                </a:solidFill>
                <a:latin typeface="Consolas" pitchFamily="49" charset="0"/>
                <a:ea typeface="仿宋" pitchFamily="49" charset="-122"/>
                <a:cs typeface="Consolas" pitchFamily="49" charset="0"/>
              </a:rPr>
              <a:t> d</a:t>
            </a:r>
            <a:r>
              <a:rPr lang="pt-BR" altLang="zh-CN" sz="2200">
                <a:solidFill>
                  <a:srgbClr val="FF0000"/>
                </a:solidFill>
                <a:latin typeface="Consolas" pitchFamily="49" charset="0"/>
                <a:ea typeface="仿宋" pitchFamily="49" charset="-122"/>
                <a:cs typeface="Consolas" pitchFamily="49" charset="0"/>
              </a:rPr>
              <a:t>=</a:t>
            </a:r>
            <a:r>
              <a:rPr lang="en-US" altLang="zh-CN" sz="2200">
                <a:solidFill>
                  <a:srgbClr val="FF0000"/>
                </a:solidFill>
                <a:latin typeface="Consolas" pitchFamily="49" charset="0"/>
                <a:ea typeface="仿宋" pitchFamily="49" charset="-122"/>
                <a:cs typeface="Consolas" pitchFamily="49" charset="0"/>
              </a:rPr>
              <a:t>1.41421</a:t>
            </a:r>
            <a:endParaRPr lang="zh-CN" altLang="en-US" sz="2200">
              <a:solidFill>
                <a:srgbClr val="0000FF"/>
              </a:solidFill>
              <a:latin typeface="Consolas" pitchFamily="49" charset="0"/>
              <a:ea typeface="仿宋" pitchFamily="49" charset="-122"/>
              <a:cs typeface="Consolas" pitchFamily="49" charset="0"/>
            </a:endParaRPr>
          </a:p>
        </p:txBody>
      </p:sp>
      <p:sp>
        <p:nvSpPr>
          <p:cNvPr id="48" name="矩形 47"/>
          <p:cNvSpPr/>
          <p:nvPr/>
        </p:nvSpPr>
        <p:spPr>
          <a:xfrm>
            <a:off x="1643042" y="1570818"/>
            <a:ext cx="928694" cy="3500462"/>
          </a:xfrm>
          <a:prstGeom prst="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p:cNvCxnSpPr/>
          <p:nvPr/>
        </p:nvCxnSpPr>
        <p:spPr>
          <a:xfrm rot="5400000" flipH="1" flipV="1">
            <a:off x="2103120" y="3477982"/>
            <a:ext cx="11576" cy="552236"/>
          </a:xfrm>
          <a:prstGeom prst="line">
            <a:avLst/>
          </a:prstGeom>
          <a:ln w="28575">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4214842" y="1571612"/>
            <a:ext cx="4786314" cy="3091579"/>
          </a:xfrm>
          <a:prstGeom prst="rect">
            <a:avLst/>
          </a:prstGeom>
          <a:ln>
            <a:solidFill>
              <a:schemeClr val="accent6">
                <a:lumMod val="40000"/>
                <a:lumOff val="60000"/>
              </a:schemeClr>
            </a:solidFill>
          </a:ln>
        </p:spPr>
        <p:style>
          <a:lnRef idx="2">
            <a:schemeClr val="accent2"/>
          </a:lnRef>
          <a:fillRef idx="1">
            <a:schemeClr val="lt1"/>
          </a:fillRef>
          <a:effectRef idx="0">
            <a:schemeClr val="accent2"/>
          </a:effectRef>
          <a:fontRef idx="minor">
            <a:schemeClr val="dk1"/>
          </a:fontRef>
        </p:style>
        <p:txBody>
          <a:bodyPr wrap="square" lIns="72000" tIns="144000" rIns="72000" bIns="144000" rtlCol="0">
            <a:spAutoFit/>
          </a:bodyPr>
          <a:lstStyle/>
          <a:p>
            <a:pPr marL="360000" indent="-360000">
              <a:spcBef>
                <a:spcPts val="1200"/>
              </a:spcBef>
              <a:buBlip>
                <a:blip r:embed="rId3"/>
              </a:buBlip>
            </a:pPr>
            <a:r>
              <a:rPr lang="en-US" sz="2200" i="1">
                <a:solidFill>
                  <a:srgbClr val="FF0000"/>
                </a:solidFill>
                <a:latin typeface="Consolas" pitchFamily="49" charset="0"/>
                <a:ea typeface="仿宋" pitchFamily="49" charset="-122"/>
                <a:cs typeface="Consolas" pitchFamily="49" charset="0"/>
              </a:rPr>
              <a:t>a</a:t>
            </a:r>
            <a:r>
              <a:rPr lang="en-US" sz="2200" baseline="-25000">
                <a:solidFill>
                  <a:srgbClr val="FF0000"/>
                </a:solidFill>
                <a:latin typeface="Consolas" pitchFamily="49" charset="0"/>
                <a:ea typeface="仿宋" pitchFamily="49" charset="-122"/>
                <a:cs typeface="Consolas" pitchFamily="49" charset="0"/>
              </a:rPr>
              <a:t>8</a:t>
            </a:r>
            <a:r>
              <a:rPr lang="zh-CN" altLang="en-US" sz="2200">
                <a:solidFill>
                  <a:srgbClr val="0000FF"/>
                </a:solidFill>
                <a:latin typeface="Consolas" pitchFamily="49" charset="0"/>
                <a:ea typeface="仿宋" pitchFamily="49" charset="-122"/>
                <a:cs typeface="Consolas" pitchFamily="49" charset="0"/>
              </a:rPr>
              <a:t>到其后所有点的</a:t>
            </a:r>
            <a:r>
              <a:rPr lang="en-US" altLang="zh-CN" sz="2200">
                <a:solidFill>
                  <a:srgbClr val="0000FF"/>
                </a:solidFill>
                <a:latin typeface="Consolas" pitchFamily="49" charset="0"/>
                <a:ea typeface="仿宋" pitchFamily="49" charset="-122"/>
                <a:cs typeface="Consolas" pitchFamily="49" charset="0"/>
              </a:rPr>
              <a:t>y</a:t>
            </a:r>
            <a:r>
              <a:rPr lang="zh-CN" altLang="en-US" sz="2200">
                <a:solidFill>
                  <a:srgbClr val="0000FF"/>
                </a:solidFill>
                <a:latin typeface="Consolas" pitchFamily="49" charset="0"/>
                <a:ea typeface="仿宋" pitchFamily="49" charset="-122"/>
                <a:cs typeface="Consolas" pitchFamily="49" charset="0"/>
              </a:rPr>
              <a:t>距离均大于</a:t>
            </a:r>
            <a:r>
              <a:rPr lang="en-US" altLang="zh-CN" sz="2200" i="1">
                <a:solidFill>
                  <a:srgbClr val="0000FF"/>
                </a:solidFill>
                <a:latin typeface="Consolas" pitchFamily="49" charset="0"/>
                <a:ea typeface="仿宋" pitchFamily="49" charset="-122"/>
                <a:cs typeface="Consolas" pitchFamily="49" charset="0"/>
              </a:rPr>
              <a:t>d</a:t>
            </a:r>
          </a:p>
          <a:p>
            <a:pPr marL="360000" indent="-360000">
              <a:spcBef>
                <a:spcPts val="1200"/>
              </a:spcBef>
              <a:buBlip>
                <a:blip r:embed="rId3"/>
              </a:buBlip>
            </a:pPr>
            <a:r>
              <a:rPr lang="en-US" sz="2200" i="1">
                <a:solidFill>
                  <a:srgbClr val="FF0000"/>
                </a:solidFill>
                <a:latin typeface="Consolas" pitchFamily="49" charset="0"/>
                <a:ea typeface="仿宋" pitchFamily="49" charset="-122"/>
                <a:cs typeface="Consolas" pitchFamily="49" charset="0"/>
              </a:rPr>
              <a:t>a</a:t>
            </a:r>
            <a:r>
              <a:rPr lang="en-US" sz="2200" baseline="-25000">
                <a:solidFill>
                  <a:srgbClr val="FF0000"/>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到</a:t>
            </a:r>
            <a:r>
              <a:rPr lang="en-US" sz="2200" i="1">
                <a:solidFill>
                  <a:srgbClr val="0000FF"/>
                </a:solidFill>
                <a:latin typeface="Consolas" pitchFamily="49" charset="0"/>
                <a:ea typeface="仿宋" pitchFamily="49" charset="-122"/>
                <a:cs typeface="Consolas" pitchFamily="49" charset="0"/>
              </a:rPr>
              <a:t>a</a:t>
            </a:r>
            <a:r>
              <a:rPr lang="en-US"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的距离为</a:t>
            </a:r>
            <a:r>
              <a:rPr lang="en-US" altLang="zh-CN" sz="2200">
                <a:solidFill>
                  <a:srgbClr val="0000FF"/>
                </a:solidFill>
                <a:latin typeface="Consolas" pitchFamily="49" charset="0"/>
                <a:ea typeface="仿宋" pitchFamily="49" charset="-122"/>
                <a:cs typeface="Consolas" pitchFamily="49" charset="0"/>
              </a:rPr>
              <a:t>2</a:t>
            </a:r>
          </a:p>
          <a:p>
            <a:pPr marL="360000" indent="-360000">
              <a:spcBef>
                <a:spcPts val="1200"/>
              </a:spcBef>
              <a:buBlip>
                <a:blip r:embed="rId3"/>
              </a:buBlip>
            </a:pPr>
            <a:r>
              <a:rPr lang="en-US" sz="2200" i="1">
                <a:solidFill>
                  <a:srgbClr val="FF0000"/>
                </a:solidFill>
                <a:latin typeface="Consolas" pitchFamily="49" charset="0"/>
                <a:ea typeface="仿宋" pitchFamily="49" charset="-122"/>
                <a:cs typeface="Consolas" pitchFamily="49" charset="0"/>
              </a:rPr>
              <a:t>a</a:t>
            </a:r>
            <a:r>
              <a:rPr lang="en-US" sz="2200" baseline="-25000">
                <a:solidFill>
                  <a:srgbClr val="FF0000"/>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到其后所有点的</a:t>
            </a:r>
            <a:r>
              <a:rPr lang="en-US" altLang="zh-CN" sz="2200">
                <a:solidFill>
                  <a:srgbClr val="0000FF"/>
                </a:solidFill>
                <a:latin typeface="Consolas" pitchFamily="49" charset="0"/>
                <a:ea typeface="仿宋" pitchFamily="49" charset="-122"/>
                <a:cs typeface="Consolas" pitchFamily="49" charset="0"/>
              </a:rPr>
              <a:t>y</a:t>
            </a:r>
            <a:r>
              <a:rPr lang="zh-CN" altLang="en-US" sz="2200">
                <a:solidFill>
                  <a:srgbClr val="0000FF"/>
                </a:solidFill>
                <a:latin typeface="Consolas" pitchFamily="49" charset="0"/>
                <a:ea typeface="仿宋" pitchFamily="49" charset="-122"/>
                <a:cs typeface="Consolas" pitchFamily="49" charset="0"/>
              </a:rPr>
              <a:t>距离均大于</a:t>
            </a:r>
            <a:r>
              <a:rPr lang="en-US" altLang="zh-CN" sz="2200" i="1">
                <a:solidFill>
                  <a:srgbClr val="0000FF"/>
                </a:solidFill>
                <a:latin typeface="Consolas" pitchFamily="49" charset="0"/>
                <a:ea typeface="仿宋" pitchFamily="49" charset="-122"/>
                <a:cs typeface="Consolas" pitchFamily="49" charset="0"/>
              </a:rPr>
              <a:t>d</a:t>
            </a:r>
          </a:p>
          <a:p>
            <a:pPr marL="360000" indent="-360000">
              <a:spcBef>
                <a:spcPts val="1200"/>
              </a:spcBef>
              <a:buBlip>
                <a:blip r:embed="rId3"/>
              </a:buBlip>
            </a:pPr>
            <a:r>
              <a:rPr lang="en-US" sz="2200" i="1">
                <a:solidFill>
                  <a:srgbClr val="FF0000"/>
                </a:solidFill>
                <a:latin typeface="Consolas" pitchFamily="49" charset="0"/>
                <a:ea typeface="仿宋" pitchFamily="49" charset="-122"/>
                <a:cs typeface="Consolas" pitchFamily="49" charset="0"/>
              </a:rPr>
              <a:t>a</a:t>
            </a:r>
            <a:r>
              <a:rPr lang="en-US" sz="2200" baseline="-25000">
                <a:solidFill>
                  <a:srgbClr val="FF0000"/>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到</a:t>
            </a:r>
            <a:r>
              <a:rPr lang="en-US" sz="2200" i="1">
                <a:solidFill>
                  <a:srgbClr val="0000FF"/>
                </a:solidFill>
                <a:latin typeface="Consolas" pitchFamily="49" charset="0"/>
                <a:ea typeface="仿宋" pitchFamily="49" charset="-122"/>
                <a:cs typeface="Consolas" pitchFamily="49" charset="0"/>
              </a:rPr>
              <a:t>a</a:t>
            </a:r>
            <a:r>
              <a:rPr lang="en-US" sz="2200" baseline="-25000">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的距离为</a:t>
            </a:r>
            <a:r>
              <a:rPr lang="en-US" altLang="zh-CN" sz="2200">
                <a:solidFill>
                  <a:srgbClr val="0000FF"/>
                </a:solidFill>
                <a:latin typeface="Consolas" pitchFamily="49" charset="0"/>
                <a:ea typeface="仿宋" pitchFamily="49" charset="-122"/>
                <a:cs typeface="Consolas" pitchFamily="49" charset="0"/>
              </a:rPr>
              <a:t>2.24</a:t>
            </a:r>
          </a:p>
          <a:p>
            <a:pPr marL="360000" indent="-360000">
              <a:spcBef>
                <a:spcPts val="1200"/>
              </a:spcBef>
              <a:buBlip>
                <a:blip r:embed="rId3"/>
              </a:buBlip>
            </a:pPr>
            <a:r>
              <a:rPr lang="en-US" sz="2200" i="1">
                <a:solidFill>
                  <a:srgbClr val="FF0000"/>
                </a:solidFill>
                <a:latin typeface="Consolas" pitchFamily="49" charset="0"/>
                <a:ea typeface="仿宋" pitchFamily="49" charset="-122"/>
                <a:cs typeface="Consolas" pitchFamily="49" charset="0"/>
              </a:rPr>
              <a:t>a</a:t>
            </a:r>
            <a:r>
              <a:rPr lang="en-US" sz="2200" baseline="-25000">
                <a:solidFill>
                  <a:srgbClr val="FF0000"/>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到其后所有点的</a:t>
            </a:r>
            <a:r>
              <a:rPr lang="en-US" altLang="zh-CN" sz="2200">
                <a:solidFill>
                  <a:srgbClr val="0000FF"/>
                </a:solidFill>
                <a:latin typeface="Consolas" pitchFamily="49" charset="0"/>
                <a:ea typeface="仿宋" pitchFamily="49" charset="-122"/>
                <a:cs typeface="Consolas" pitchFamily="49" charset="0"/>
              </a:rPr>
              <a:t>y</a:t>
            </a:r>
            <a:r>
              <a:rPr lang="zh-CN" altLang="en-US" sz="2200">
                <a:solidFill>
                  <a:srgbClr val="0000FF"/>
                </a:solidFill>
                <a:latin typeface="Consolas" pitchFamily="49" charset="0"/>
                <a:ea typeface="仿宋" pitchFamily="49" charset="-122"/>
                <a:cs typeface="Consolas" pitchFamily="49" charset="0"/>
              </a:rPr>
              <a:t>距离均大于</a:t>
            </a:r>
            <a:r>
              <a:rPr lang="en-US" altLang="zh-CN" sz="2200" i="1">
                <a:solidFill>
                  <a:srgbClr val="0000FF"/>
                </a:solidFill>
                <a:latin typeface="Consolas" pitchFamily="49" charset="0"/>
                <a:ea typeface="仿宋" pitchFamily="49" charset="-122"/>
                <a:cs typeface="Consolas" pitchFamily="49" charset="0"/>
              </a:rPr>
              <a:t>d</a:t>
            </a:r>
          </a:p>
          <a:p>
            <a:pPr marL="360000" indent="-360000">
              <a:spcBef>
                <a:spcPts val="1200"/>
              </a:spcBef>
              <a:buBlip>
                <a:blip r:embed="rId3"/>
              </a:buBlip>
            </a:pPr>
            <a:r>
              <a:rPr lang="en-US" sz="2200" i="1">
                <a:solidFill>
                  <a:srgbClr val="FF0000"/>
                </a:solidFill>
                <a:latin typeface="Consolas" pitchFamily="49" charset="0"/>
                <a:ea typeface="仿宋" pitchFamily="49" charset="-122"/>
                <a:cs typeface="Consolas" pitchFamily="49" charset="0"/>
              </a:rPr>
              <a:t>a</a:t>
            </a:r>
            <a:r>
              <a:rPr lang="en-US" sz="2200" baseline="-25000">
                <a:solidFill>
                  <a:srgbClr val="FF0000"/>
                </a:solidFill>
                <a:latin typeface="Consolas" pitchFamily="49" charset="0"/>
                <a:ea typeface="仿宋" pitchFamily="49" charset="-122"/>
                <a:cs typeface="Consolas" pitchFamily="49" charset="0"/>
              </a:rPr>
              <a:t>0</a:t>
            </a:r>
            <a:r>
              <a:rPr lang="zh-CN" altLang="en-US" sz="2200">
                <a:solidFill>
                  <a:srgbClr val="0000FF"/>
                </a:solidFill>
                <a:latin typeface="Consolas" pitchFamily="49" charset="0"/>
                <a:ea typeface="仿宋" pitchFamily="49" charset="-122"/>
                <a:cs typeface="Consolas" pitchFamily="49" charset="0"/>
              </a:rPr>
              <a:t>后面没有点</a:t>
            </a:r>
            <a:endParaRPr lang="en-US" altLang="zh-CN" sz="2200">
              <a:solidFill>
                <a:srgbClr val="0000FF"/>
              </a:solidFill>
              <a:latin typeface="Consolas" pitchFamily="49" charset="0"/>
              <a:ea typeface="仿宋" pitchFamily="49" charset="-122"/>
              <a:cs typeface="Consolas" pitchFamily="49" charset="0"/>
            </a:endParaRPr>
          </a:p>
        </p:txBody>
      </p:sp>
      <p:grpSp>
        <p:nvGrpSpPr>
          <p:cNvPr id="55" name="组合 54"/>
          <p:cNvGrpSpPr/>
          <p:nvPr/>
        </p:nvGrpSpPr>
        <p:grpSpPr>
          <a:xfrm>
            <a:off x="4572000" y="4929198"/>
            <a:ext cx="4000528" cy="1002391"/>
            <a:chOff x="4357686" y="5600658"/>
            <a:chExt cx="4000528" cy="1002391"/>
          </a:xfrm>
        </p:grpSpPr>
        <p:sp>
          <p:nvSpPr>
            <p:cNvPr id="52" name="TextBox 51"/>
            <p:cNvSpPr txBox="1"/>
            <p:nvPr/>
          </p:nvSpPr>
          <p:spPr>
            <a:xfrm>
              <a:off x="4357686" y="6172162"/>
              <a:ext cx="4000528" cy="430887"/>
            </a:xfrm>
            <a:prstGeom prst="rect">
              <a:avLst/>
            </a:prstGeom>
            <a:noFill/>
          </p:spPr>
          <p:txBody>
            <a:bodyPr wrap="square" rtlCol="0">
              <a:spAutoFit/>
            </a:bodyPr>
            <a:lstStyle/>
            <a:p>
              <a:r>
                <a:rPr lang="zh-CN" altLang="en-US" sz="2200">
                  <a:solidFill>
                    <a:srgbClr val="0000FF"/>
                  </a:solidFill>
                  <a:latin typeface="Consolas" pitchFamily="49" charset="0"/>
                  <a:ea typeface="仿宋" pitchFamily="49" charset="-122"/>
                  <a:cs typeface="Consolas" pitchFamily="49" charset="0"/>
                </a:rPr>
                <a:t>求出最近点对为</a:t>
              </a:r>
              <a:r>
                <a:rPr lang="en-US" sz="2200" i="1">
                  <a:solidFill>
                    <a:srgbClr val="0000FF"/>
                  </a:solidFill>
                  <a:latin typeface="Consolas" pitchFamily="49" charset="0"/>
                  <a:ea typeface="仿宋" pitchFamily="49" charset="-122"/>
                  <a:cs typeface="Consolas" pitchFamily="49" charset="0"/>
                </a:rPr>
                <a:t>a</a:t>
              </a:r>
              <a:r>
                <a:rPr lang="en-US" sz="2200" baseline="-250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a:t>
              </a:r>
              <a:r>
                <a:rPr lang="en-US" sz="2200" i="1">
                  <a:solidFill>
                    <a:srgbClr val="0000FF"/>
                  </a:solidFill>
                  <a:latin typeface="Consolas" pitchFamily="49" charset="0"/>
                  <a:ea typeface="仿宋" pitchFamily="49" charset="-122"/>
                  <a:cs typeface="Consolas" pitchFamily="49" charset="0"/>
                </a:rPr>
                <a:t>a</a:t>
              </a:r>
              <a:r>
                <a:rPr lang="en-US"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d</a:t>
              </a:r>
              <a:r>
                <a:rPr lang="en-US" altLang="zh-CN" sz="2200" baseline="-25000">
                  <a:solidFill>
                    <a:srgbClr val="0000FF"/>
                  </a:solidFill>
                  <a:latin typeface="Consolas" pitchFamily="49" charset="0"/>
                  <a:ea typeface="仿宋" pitchFamily="49" charset="-122"/>
                  <a:cs typeface="Consolas" pitchFamily="49" charset="0"/>
                </a:rPr>
                <a:t>3</a:t>
              </a:r>
              <a:r>
                <a:rPr lang="en-US" altLang="zh-CN" sz="2200">
                  <a:solidFill>
                    <a:srgbClr val="0000FF"/>
                  </a:solidFill>
                  <a:latin typeface="Consolas" pitchFamily="49" charset="0"/>
                  <a:ea typeface="仿宋" pitchFamily="49" charset="-122"/>
                  <a:cs typeface="Consolas" pitchFamily="49" charset="0"/>
                </a:rPr>
                <a:t>=2</a:t>
              </a:r>
              <a:endParaRPr lang="zh-CN" altLang="en-US" sz="2200">
                <a:latin typeface="Consolas" pitchFamily="49" charset="0"/>
                <a:ea typeface="仿宋" pitchFamily="49" charset="-122"/>
              </a:endParaRPr>
            </a:p>
          </p:txBody>
        </p:sp>
        <p:sp>
          <p:nvSpPr>
            <p:cNvPr id="53" name="下箭头 52"/>
            <p:cNvSpPr/>
            <p:nvPr/>
          </p:nvSpPr>
          <p:spPr>
            <a:xfrm>
              <a:off x="6215074" y="5600658"/>
              <a:ext cx="285752"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54" name="任意多边形 53"/>
          <p:cNvSpPr/>
          <p:nvPr/>
        </p:nvSpPr>
        <p:spPr>
          <a:xfrm>
            <a:off x="2325189" y="940526"/>
            <a:ext cx="757645" cy="613954"/>
          </a:xfrm>
          <a:custGeom>
            <a:avLst/>
            <a:gdLst>
              <a:gd name="connsiteX0" fmla="*/ 757645 w 757645"/>
              <a:gd name="connsiteY0" fmla="*/ 0 h 613954"/>
              <a:gd name="connsiteX1" fmla="*/ 169817 w 757645"/>
              <a:gd name="connsiteY1" fmla="*/ 261257 h 613954"/>
              <a:gd name="connsiteX2" fmla="*/ 0 w 757645"/>
              <a:gd name="connsiteY2" fmla="*/ 613954 h 613954"/>
            </a:gdLst>
            <a:ahLst/>
            <a:cxnLst>
              <a:cxn ang="0">
                <a:pos x="connsiteX0" y="connsiteY0"/>
              </a:cxn>
              <a:cxn ang="0">
                <a:pos x="connsiteX1" y="connsiteY1"/>
              </a:cxn>
              <a:cxn ang="0">
                <a:pos x="connsiteX2" y="connsiteY2"/>
              </a:cxn>
            </a:cxnLst>
            <a:rect l="l" t="t" r="r" b="b"/>
            <a:pathLst>
              <a:path w="757645" h="613954">
                <a:moveTo>
                  <a:pt x="757645" y="0"/>
                </a:moveTo>
                <a:cubicBezTo>
                  <a:pt x="526868" y="79465"/>
                  <a:pt x="296091" y="158931"/>
                  <a:pt x="169817" y="261257"/>
                </a:cubicBezTo>
                <a:cubicBezTo>
                  <a:pt x="43543" y="363583"/>
                  <a:pt x="21771" y="488768"/>
                  <a:pt x="0" y="613954"/>
                </a:cubicBezTo>
              </a:path>
            </a:pathLst>
          </a:cu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57" name="灯片编号占位符 56"/>
          <p:cNvSpPr>
            <a:spLocks noGrp="1"/>
          </p:cNvSpPr>
          <p:nvPr>
            <p:ph type="sldNum" sz="quarter" idx="12"/>
          </p:nvPr>
        </p:nvSpPr>
        <p:spPr/>
        <p:txBody>
          <a:bodyPr/>
          <a:lstStyle/>
          <a:p>
            <a:pPr>
              <a:defRPr/>
            </a:pPr>
            <a:fld id="{51116183-1013-4E64-BBE8-A5C1D5D4F838}" type="slidenum">
              <a:rPr lang="en-US" altLang="zh-CN" smtClean="0"/>
              <a:pPr>
                <a:defRPr/>
              </a:pPr>
              <a:t>137</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857224" y="5072074"/>
            <a:ext cx="7286676" cy="555775"/>
          </a:xfrm>
          <a:prstGeom prst="rect">
            <a:avLst/>
          </a:prstGeom>
          <a:ln>
            <a:solidFill>
              <a:schemeClr val="accent6">
                <a:lumMod val="40000"/>
                <a:lumOff val="60000"/>
              </a:schemeClr>
            </a:solidFill>
            <a:headEnd/>
            <a:tailEnd/>
          </a:ln>
        </p:spPr>
        <p:style>
          <a:lnRef idx="2">
            <a:schemeClr val="accent2"/>
          </a:lnRef>
          <a:fillRef idx="1">
            <a:schemeClr val="lt1"/>
          </a:fillRef>
          <a:effectRef idx="0">
            <a:schemeClr val="accent2"/>
          </a:effectRef>
          <a:fontRef idx="minor">
            <a:schemeClr val="dk1"/>
          </a:fontRef>
        </p:style>
        <p:txBody>
          <a:bodyPr wrap="square" tIns="72000" bIns="72000">
            <a:spAutoFit/>
          </a:bodyPr>
          <a:lstStyle/>
          <a:p>
            <a:pPr>
              <a:lnSpc>
                <a:spcPts val="3200"/>
              </a:lnSpc>
            </a:pPr>
            <a:r>
              <a:rPr lang="zh-CN" altLang="en-US" sz="2200">
                <a:solidFill>
                  <a:srgbClr val="0000FF"/>
                </a:solidFill>
                <a:latin typeface="Consolas" pitchFamily="49" charset="0"/>
                <a:ea typeface="仿宋" pitchFamily="49" charset="-122"/>
                <a:cs typeface="Consolas" pitchFamily="49" charset="0"/>
              </a:rPr>
              <a:t>（</a:t>
            </a:r>
            <a:r>
              <a:rPr lang="en-US" altLang="zh-CN" sz="2200">
                <a:solidFill>
                  <a:srgbClr val="0000FF"/>
                </a:solidFill>
                <a:latin typeface="Consolas" pitchFamily="49" charset="0"/>
                <a:ea typeface="仿宋" pitchFamily="49" charset="-122"/>
                <a:cs typeface="Consolas" pitchFamily="49" charset="0"/>
              </a:rPr>
              <a:t>6</a:t>
            </a:r>
            <a:r>
              <a:rPr lang="zh-CN" altLang="en-US" sz="2200">
                <a:solidFill>
                  <a:srgbClr val="0000FF"/>
                </a:solidFill>
                <a:latin typeface="Consolas" pitchFamily="49" charset="0"/>
                <a:ea typeface="仿宋" pitchFamily="49" charset="-122"/>
                <a:cs typeface="Consolas" pitchFamily="49" charset="0"/>
              </a:rPr>
              <a:t>）最终结果为</a:t>
            </a:r>
            <a:r>
              <a:rPr lang="pt-BR" altLang="zh-CN" sz="2200" i="1">
                <a:solidFill>
                  <a:srgbClr val="FF0000"/>
                </a:solidFill>
                <a:latin typeface="Consolas" pitchFamily="49" charset="0"/>
                <a:ea typeface="仿宋" pitchFamily="49" charset="-122"/>
                <a:cs typeface="Consolas" pitchFamily="49" charset="0"/>
              </a:rPr>
              <a:t>d</a:t>
            </a:r>
            <a:r>
              <a:rPr lang="pt-BR" altLang="zh-CN" sz="2200">
                <a:solidFill>
                  <a:srgbClr val="FF0000"/>
                </a:solidFill>
                <a:latin typeface="Consolas" pitchFamily="49" charset="0"/>
                <a:ea typeface="仿宋" pitchFamily="49" charset="-122"/>
                <a:cs typeface="Consolas" pitchFamily="49" charset="0"/>
              </a:rPr>
              <a:t>=</a:t>
            </a:r>
            <a:r>
              <a:rPr lang="en-US" altLang="zh-CN" sz="2200">
                <a:solidFill>
                  <a:srgbClr val="FF0000"/>
                </a:solidFill>
                <a:latin typeface="Consolas" pitchFamily="49" charset="0"/>
                <a:ea typeface="仿宋" pitchFamily="49" charset="-122"/>
                <a:cs typeface="Consolas" pitchFamily="49" charset="0"/>
              </a:rPr>
              <a:t>1.41421</a:t>
            </a:r>
            <a:r>
              <a:rPr lang="zh-CN" altLang="en-US" sz="2200">
                <a:solidFill>
                  <a:srgbClr val="0000FF"/>
                </a:solidFill>
                <a:latin typeface="Consolas" pitchFamily="49" charset="0"/>
                <a:ea typeface="仿宋" pitchFamily="49" charset="-122"/>
                <a:cs typeface="Consolas" pitchFamily="49" charset="0"/>
              </a:rPr>
              <a:t>，最近点对为</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6</a:t>
            </a:r>
            <a:r>
              <a:rPr lang="zh-CN" altLang="pt-BR" sz="2200">
                <a:solidFill>
                  <a:srgbClr val="0000FF"/>
                </a:solidFill>
                <a:latin typeface="Consolas" pitchFamily="49" charset="0"/>
                <a:ea typeface="仿宋" pitchFamily="49" charset="-122"/>
                <a:cs typeface="Consolas" pitchFamily="49" charset="0"/>
              </a:rPr>
              <a:t>。</a:t>
            </a:r>
            <a:endParaRPr lang="zh-CN" altLang="en-US" sz="2200">
              <a:solidFill>
                <a:srgbClr val="0000FF"/>
              </a:solidFill>
              <a:latin typeface="Consolas" pitchFamily="49" charset="0"/>
              <a:ea typeface="仿宋" pitchFamily="49" charset="-122"/>
              <a:cs typeface="Consolas" pitchFamily="49" charset="0"/>
            </a:endParaRPr>
          </a:p>
        </p:txBody>
      </p:sp>
      <p:graphicFrame>
        <p:nvGraphicFramePr>
          <p:cNvPr id="38" name="表格 37"/>
          <p:cNvGraphicFramePr>
            <a:graphicFrameLocks noGrp="1"/>
          </p:cNvGraphicFramePr>
          <p:nvPr/>
        </p:nvGraphicFramePr>
        <p:xfrm>
          <a:off x="2500298" y="1072977"/>
          <a:ext cx="3030680" cy="3317886"/>
        </p:xfrm>
        <a:graphic>
          <a:graphicData uri="http://schemas.openxmlformats.org/drawingml/2006/table">
            <a:tbl>
              <a:tblPr firstRow="1" bandRow="1">
                <a:tableStyleId>{69CF1AB2-1976-4502-BF36-3FF5EA218861}</a:tableStyleId>
              </a:tblPr>
              <a:tblGrid>
                <a:gridCol w="303068">
                  <a:extLst>
                    <a:ext uri="{9D8B030D-6E8A-4147-A177-3AD203B41FA5}">
                      <a16:colId xmlns:a16="http://schemas.microsoft.com/office/drawing/2014/main" val="20000"/>
                    </a:ext>
                  </a:extLst>
                </a:gridCol>
                <a:gridCol w="303068">
                  <a:extLst>
                    <a:ext uri="{9D8B030D-6E8A-4147-A177-3AD203B41FA5}">
                      <a16:colId xmlns:a16="http://schemas.microsoft.com/office/drawing/2014/main" val="20001"/>
                    </a:ext>
                  </a:extLst>
                </a:gridCol>
                <a:gridCol w="303068">
                  <a:extLst>
                    <a:ext uri="{9D8B030D-6E8A-4147-A177-3AD203B41FA5}">
                      <a16:colId xmlns:a16="http://schemas.microsoft.com/office/drawing/2014/main" val="20002"/>
                    </a:ext>
                  </a:extLst>
                </a:gridCol>
                <a:gridCol w="303068">
                  <a:extLst>
                    <a:ext uri="{9D8B030D-6E8A-4147-A177-3AD203B41FA5}">
                      <a16:colId xmlns:a16="http://schemas.microsoft.com/office/drawing/2014/main" val="20003"/>
                    </a:ext>
                  </a:extLst>
                </a:gridCol>
                <a:gridCol w="303068">
                  <a:extLst>
                    <a:ext uri="{9D8B030D-6E8A-4147-A177-3AD203B41FA5}">
                      <a16:colId xmlns:a16="http://schemas.microsoft.com/office/drawing/2014/main" val="20004"/>
                    </a:ext>
                  </a:extLst>
                </a:gridCol>
                <a:gridCol w="303068">
                  <a:extLst>
                    <a:ext uri="{9D8B030D-6E8A-4147-A177-3AD203B41FA5}">
                      <a16:colId xmlns:a16="http://schemas.microsoft.com/office/drawing/2014/main" val="20005"/>
                    </a:ext>
                  </a:extLst>
                </a:gridCol>
                <a:gridCol w="303068">
                  <a:extLst>
                    <a:ext uri="{9D8B030D-6E8A-4147-A177-3AD203B41FA5}">
                      <a16:colId xmlns:a16="http://schemas.microsoft.com/office/drawing/2014/main" val="20006"/>
                    </a:ext>
                  </a:extLst>
                </a:gridCol>
                <a:gridCol w="303068">
                  <a:extLst>
                    <a:ext uri="{9D8B030D-6E8A-4147-A177-3AD203B41FA5}">
                      <a16:colId xmlns:a16="http://schemas.microsoft.com/office/drawing/2014/main" val="20007"/>
                    </a:ext>
                  </a:extLst>
                </a:gridCol>
                <a:gridCol w="303068">
                  <a:extLst>
                    <a:ext uri="{9D8B030D-6E8A-4147-A177-3AD203B41FA5}">
                      <a16:colId xmlns:a16="http://schemas.microsoft.com/office/drawing/2014/main" val="20008"/>
                    </a:ext>
                  </a:extLst>
                </a:gridCol>
                <a:gridCol w="303068">
                  <a:extLst>
                    <a:ext uri="{9D8B030D-6E8A-4147-A177-3AD203B41FA5}">
                      <a16:colId xmlns:a16="http://schemas.microsoft.com/office/drawing/2014/main" val="20009"/>
                    </a:ext>
                  </a:extLst>
                </a:gridCol>
              </a:tblGrid>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0"/>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1"/>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2"/>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3"/>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4"/>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5"/>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6"/>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7"/>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8"/>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09"/>
                  </a:ext>
                </a:extLst>
              </a:tr>
              <a:tr h="301626">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tc>
                  <a:txBody>
                    <a:bodyPr/>
                    <a:lstStyle/>
                    <a:p>
                      <a:endParaRPr lang="zh-CN" altLang="en-US"/>
                    </a:p>
                  </a:txBody>
                  <a:tcPr marL="0" marR="0" marT="0" marB="0">
                    <a:solidFill>
                      <a:schemeClr val="bg1"/>
                    </a:solidFill>
                  </a:tcPr>
                </a:tc>
                <a:extLst>
                  <a:ext uri="{0D108BD9-81ED-4DB2-BD59-A6C34878D82A}">
                    <a16:rowId xmlns:a16="http://schemas.microsoft.com/office/drawing/2014/main" val="10010"/>
                  </a:ext>
                </a:extLst>
              </a:tr>
            </a:tbl>
          </a:graphicData>
        </a:graphic>
      </p:graphicFrame>
      <p:grpSp>
        <p:nvGrpSpPr>
          <p:cNvPr id="3" name="组合 38"/>
          <p:cNvGrpSpPr/>
          <p:nvPr/>
        </p:nvGrpSpPr>
        <p:grpSpPr>
          <a:xfrm>
            <a:off x="2071670" y="980902"/>
            <a:ext cx="3643338" cy="3733982"/>
            <a:chOff x="3357554" y="1408099"/>
            <a:chExt cx="3643338" cy="3733982"/>
          </a:xfrm>
        </p:grpSpPr>
        <p:sp>
          <p:nvSpPr>
            <p:cNvPr id="40" name="TextBox 39"/>
            <p:cNvSpPr txBox="1"/>
            <p:nvPr/>
          </p:nvSpPr>
          <p:spPr>
            <a:xfrm>
              <a:off x="3357554" y="4895860"/>
              <a:ext cx="428628"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0,0</a:t>
              </a:r>
              <a:endParaRPr lang="zh-CN" altLang="en-US" sz="1600">
                <a:solidFill>
                  <a:srgbClr val="006600"/>
                </a:solidFill>
                <a:latin typeface="Consolas" pitchFamily="49" charset="0"/>
                <a:cs typeface="Consolas" pitchFamily="49" charset="0"/>
              </a:endParaRPr>
            </a:p>
          </p:txBody>
        </p:sp>
        <p:sp>
          <p:nvSpPr>
            <p:cNvPr id="41" name="TextBox 40"/>
            <p:cNvSpPr txBox="1"/>
            <p:nvPr/>
          </p:nvSpPr>
          <p:spPr>
            <a:xfrm>
              <a:off x="402589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42" name="TextBox 41"/>
            <p:cNvSpPr txBox="1"/>
            <p:nvPr/>
          </p:nvSpPr>
          <p:spPr>
            <a:xfrm>
              <a:off x="432434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43" name="TextBox 42"/>
            <p:cNvSpPr txBox="1"/>
            <p:nvPr/>
          </p:nvSpPr>
          <p:spPr>
            <a:xfrm>
              <a:off x="463073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44" name="TextBox 43"/>
            <p:cNvSpPr txBox="1"/>
            <p:nvPr/>
          </p:nvSpPr>
          <p:spPr>
            <a:xfrm>
              <a:off x="4929190"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45" name="TextBox 44"/>
            <p:cNvSpPr txBox="1"/>
            <p:nvPr/>
          </p:nvSpPr>
          <p:spPr>
            <a:xfrm>
              <a:off x="5227642"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46" name="TextBox 45"/>
            <p:cNvSpPr txBox="1"/>
            <p:nvPr/>
          </p:nvSpPr>
          <p:spPr>
            <a:xfrm>
              <a:off x="5564194"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47" name="TextBox 46"/>
            <p:cNvSpPr txBox="1"/>
            <p:nvPr/>
          </p:nvSpPr>
          <p:spPr>
            <a:xfrm>
              <a:off x="586264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48" name="TextBox 47"/>
            <p:cNvSpPr txBox="1"/>
            <p:nvPr/>
          </p:nvSpPr>
          <p:spPr>
            <a:xfrm>
              <a:off x="6169036"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49" name="TextBox 48"/>
            <p:cNvSpPr txBox="1"/>
            <p:nvPr/>
          </p:nvSpPr>
          <p:spPr>
            <a:xfrm>
              <a:off x="6467488" y="489586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50" name="TextBox 49"/>
            <p:cNvSpPr txBox="1"/>
            <p:nvPr/>
          </p:nvSpPr>
          <p:spPr>
            <a:xfrm>
              <a:off x="6765940" y="4895860"/>
              <a:ext cx="2349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51" name="TextBox 50"/>
            <p:cNvSpPr txBox="1"/>
            <p:nvPr/>
          </p:nvSpPr>
          <p:spPr>
            <a:xfrm>
              <a:off x="3571868" y="442913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a:t>
              </a:r>
              <a:endParaRPr lang="zh-CN" altLang="en-US" sz="1600">
                <a:solidFill>
                  <a:srgbClr val="006600"/>
                </a:solidFill>
                <a:latin typeface="Consolas" pitchFamily="49" charset="0"/>
                <a:cs typeface="Consolas" pitchFamily="49" charset="0"/>
              </a:endParaRPr>
            </a:p>
          </p:txBody>
        </p:sp>
        <p:sp>
          <p:nvSpPr>
            <p:cNvPr id="52" name="TextBox 51"/>
            <p:cNvSpPr txBox="1"/>
            <p:nvPr/>
          </p:nvSpPr>
          <p:spPr>
            <a:xfrm>
              <a:off x="3571868" y="4143380"/>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2</a:t>
              </a:r>
              <a:endParaRPr lang="zh-CN" altLang="en-US" sz="1600">
                <a:solidFill>
                  <a:srgbClr val="006600"/>
                </a:solidFill>
                <a:latin typeface="Consolas" pitchFamily="49" charset="0"/>
                <a:cs typeface="Consolas" pitchFamily="49" charset="0"/>
              </a:endParaRPr>
            </a:p>
          </p:txBody>
        </p:sp>
        <p:sp>
          <p:nvSpPr>
            <p:cNvPr id="53" name="TextBox 52"/>
            <p:cNvSpPr txBox="1"/>
            <p:nvPr/>
          </p:nvSpPr>
          <p:spPr>
            <a:xfrm>
              <a:off x="3571868" y="3825721"/>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3</a:t>
              </a:r>
              <a:endParaRPr lang="zh-CN" altLang="en-US" sz="1600">
                <a:solidFill>
                  <a:srgbClr val="006600"/>
                </a:solidFill>
                <a:latin typeface="Consolas" pitchFamily="49" charset="0"/>
                <a:cs typeface="Consolas" pitchFamily="49" charset="0"/>
              </a:endParaRPr>
            </a:p>
          </p:txBody>
        </p:sp>
        <p:sp>
          <p:nvSpPr>
            <p:cNvPr id="54" name="TextBox 53"/>
            <p:cNvSpPr txBox="1"/>
            <p:nvPr/>
          </p:nvSpPr>
          <p:spPr>
            <a:xfrm>
              <a:off x="3571868" y="3500438"/>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4</a:t>
              </a:r>
              <a:endParaRPr lang="zh-CN" altLang="en-US" sz="1600">
                <a:solidFill>
                  <a:srgbClr val="006600"/>
                </a:solidFill>
                <a:latin typeface="Consolas" pitchFamily="49" charset="0"/>
                <a:cs typeface="Consolas" pitchFamily="49" charset="0"/>
              </a:endParaRPr>
            </a:p>
          </p:txBody>
        </p:sp>
        <p:sp>
          <p:nvSpPr>
            <p:cNvPr id="55" name="TextBox 54"/>
            <p:cNvSpPr txBox="1"/>
            <p:nvPr/>
          </p:nvSpPr>
          <p:spPr>
            <a:xfrm>
              <a:off x="3571868" y="3214686"/>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5</a:t>
              </a:r>
              <a:endParaRPr lang="zh-CN" altLang="en-US" sz="1600">
                <a:solidFill>
                  <a:srgbClr val="006600"/>
                </a:solidFill>
                <a:latin typeface="Consolas" pitchFamily="49" charset="0"/>
                <a:cs typeface="Consolas" pitchFamily="49" charset="0"/>
              </a:endParaRPr>
            </a:p>
          </p:txBody>
        </p:sp>
        <p:sp>
          <p:nvSpPr>
            <p:cNvPr id="56" name="TextBox 55"/>
            <p:cNvSpPr txBox="1"/>
            <p:nvPr/>
          </p:nvSpPr>
          <p:spPr>
            <a:xfrm>
              <a:off x="3571868" y="2928934"/>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6</a:t>
              </a:r>
              <a:endParaRPr lang="zh-CN" altLang="en-US" sz="1600">
                <a:solidFill>
                  <a:srgbClr val="006600"/>
                </a:solidFill>
                <a:latin typeface="Consolas" pitchFamily="49" charset="0"/>
                <a:cs typeface="Consolas" pitchFamily="49" charset="0"/>
              </a:endParaRPr>
            </a:p>
          </p:txBody>
        </p:sp>
        <p:sp>
          <p:nvSpPr>
            <p:cNvPr id="57" name="TextBox 56"/>
            <p:cNvSpPr txBox="1"/>
            <p:nvPr/>
          </p:nvSpPr>
          <p:spPr>
            <a:xfrm>
              <a:off x="3571868" y="264318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7</a:t>
              </a:r>
              <a:endParaRPr lang="zh-CN" altLang="en-US" sz="1600">
                <a:solidFill>
                  <a:srgbClr val="006600"/>
                </a:solidFill>
                <a:latin typeface="Consolas" pitchFamily="49" charset="0"/>
                <a:cs typeface="Consolas" pitchFamily="49" charset="0"/>
              </a:endParaRPr>
            </a:p>
          </p:txBody>
        </p:sp>
        <p:sp>
          <p:nvSpPr>
            <p:cNvPr id="58" name="TextBox 57"/>
            <p:cNvSpPr txBox="1"/>
            <p:nvPr/>
          </p:nvSpPr>
          <p:spPr>
            <a:xfrm>
              <a:off x="3571868" y="2311392"/>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8</a:t>
              </a:r>
              <a:endParaRPr lang="zh-CN" altLang="en-US" sz="1600">
                <a:solidFill>
                  <a:srgbClr val="006600"/>
                </a:solidFill>
                <a:latin typeface="Consolas" pitchFamily="49" charset="0"/>
                <a:cs typeface="Consolas" pitchFamily="49" charset="0"/>
              </a:endParaRPr>
            </a:p>
          </p:txBody>
        </p:sp>
        <p:sp>
          <p:nvSpPr>
            <p:cNvPr id="59" name="TextBox 58"/>
            <p:cNvSpPr txBox="1"/>
            <p:nvPr/>
          </p:nvSpPr>
          <p:spPr>
            <a:xfrm>
              <a:off x="3571868" y="2019133"/>
              <a:ext cx="142876"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9</a:t>
              </a:r>
              <a:endParaRPr lang="zh-CN" altLang="en-US" sz="1600">
                <a:solidFill>
                  <a:srgbClr val="006600"/>
                </a:solidFill>
                <a:latin typeface="Consolas" pitchFamily="49" charset="0"/>
                <a:cs typeface="Consolas" pitchFamily="49" charset="0"/>
              </a:endParaRPr>
            </a:p>
          </p:txBody>
        </p:sp>
        <p:sp>
          <p:nvSpPr>
            <p:cNvPr id="60" name="TextBox 59"/>
            <p:cNvSpPr txBox="1"/>
            <p:nvPr/>
          </p:nvSpPr>
          <p:spPr>
            <a:xfrm>
              <a:off x="3428992" y="171591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10</a:t>
              </a:r>
              <a:endParaRPr lang="zh-CN" altLang="en-US" sz="1600">
                <a:solidFill>
                  <a:srgbClr val="006600"/>
                </a:solidFill>
                <a:latin typeface="Consolas" pitchFamily="49" charset="0"/>
                <a:cs typeface="Consolas" pitchFamily="49" charset="0"/>
              </a:endParaRPr>
            </a:p>
          </p:txBody>
        </p:sp>
        <p:sp>
          <p:nvSpPr>
            <p:cNvPr id="61" name="TextBox 60"/>
            <p:cNvSpPr txBox="1"/>
            <p:nvPr/>
          </p:nvSpPr>
          <p:spPr>
            <a:xfrm>
              <a:off x="3428992" y="1408099"/>
              <a:ext cx="285752" cy="246221"/>
            </a:xfrm>
            <a:prstGeom prst="rect">
              <a:avLst/>
            </a:prstGeom>
            <a:noFill/>
          </p:spPr>
          <p:txBody>
            <a:bodyPr wrap="square" lIns="0" tIns="0" rIns="0" bIns="0" rtlCol="0">
              <a:spAutoFit/>
            </a:bodyPr>
            <a:lstStyle/>
            <a:p>
              <a:r>
                <a:rPr lang="en-US" altLang="zh-CN" sz="1600">
                  <a:solidFill>
                    <a:srgbClr val="006600"/>
                  </a:solidFill>
                  <a:latin typeface="Consolas" pitchFamily="49" charset="0"/>
                  <a:cs typeface="Consolas" pitchFamily="49" charset="0"/>
                </a:rPr>
                <a:t>11</a:t>
              </a:r>
              <a:endParaRPr lang="zh-CN" altLang="en-US" sz="1600">
                <a:solidFill>
                  <a:srgbClr val="006600"/>
                </a:solidFill>
                <a:latin typeface="Consolas" pitchFamily="49" charset="0"/>
                <a:cs typeface="Consolas" pitchFamily="49" charset="0"/>
              </a:endParaRPr>
            </a:p>
          </p:txBody>
        </p:sp>
        <p:sp>
          <p:nvSpPr>
            <p:cNvPr id="62" name="椭圆 61"/>
            <p:cNvSpPr/>
            <p:nvPr/>
          </p:nvSpPr>
          <p:spPr>
            <a:xfrm>
              <a:off x="4640214" y="474028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3" name="TextBox 62"/>
            <p:cNvSpPr txBox="1"/>
            <p:nvPr/>
          </p:nvSpPr>
          <p:spPr>
            <a:xfrm>
              <a:off x="4697414" y="443707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8</a:t>
              </a:r>
              <a:endParaRPr lang="zh-CN" altLang="en-US" sz="1800" baseline="-25000">
                <a:solidFill>
                  <a:srgbClr val="0000FF"/>
                </a:solidFill>
                <a:latin typeface="Consolas" pitchFamily="49" charset="0"/>
                <a:cs typeface="Consolas" pitchFamily="49" charset="0"/>
              </a:endParaRPr>
            </a:p>
          </p:txBody>
        </p:sp>
        <p:sp>
          <p:nvSpPr>
            <p:cNvPr id="64" name="椭圆 63"/>
            <p:cNvSpPr/>
            <p:nvPr/>
          </p:nvSpPr>
          <p:spPr>
            <a:xfrm>
              <a:off x="4046534" y="2927810"/>
              <a:ext cx="108000" cy="144000"/>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5" name="TextBox 64"/>
            <p:cNvSpPr txBox="1"/>
            <p:nvPr/>
          </p:nvSpPr>
          <p:spPr>
            <a:xfrm>
              <a:off x="3892544" y="25717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9</a:t>
              </a:r>
              <a:endParaRPr lang="zh-CN" altLang="en-US" sz="1800" baseline="-25000">
                <a:solidFill>
                  <a:srgbClr val="0000FF"/>
                </a:solidFill>
                <a:latin typeface="Consolas" pitchFamily="49" charset="0"/>
                <a:cs typeface="Consolas" pitchFamily="49" charset="0"/>
              </a:endParaRPr>
            </a:p>
          </p:txBody>
        </p:sp>
        <p:sp>
          <p:nvSpPr>
            <p:cNvPr id="66" name="椭圆 65"/>
            <p:cNvSpPr/>
            <p:nvPr/>
          </p:nvSpPr>
          <p:spPr>
            <a:xfrm>
              <a:off x="6162636" y="445453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7" name="TextBox 66"/>
            <p:cNvSpPr txBox="1"/>
            <p:nvPr/>
          </p:nvSpPr>
          <p:spPr>
            <a:xfrm>
              <a:off x="6321436" y="421481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7</a:t>
              </a:r>
              <a:endParaRPr lang="zh-CN" altLang="en-US" sz="1800" baseline="-25000">
                <a:solidFill>
                  <a:srgbClr val="0000FF"/>
                </a:solidFill>
                <a:latin typeface="Consolas" pitchFamily="49" charset="0"/>
                <a:cs typeface="Consolas" pitchFamily="49" charset="0"/>
              </a:endParaRPr>
            </a:p>
          </p:txBody>
        </p:sp>
        <p:sp>
          <p:nvSpPr>
            <p:cNvPr id="68" name="椭圆 67"/>
            <p:cNvSpPr/>
            <p:nvPr/>
          </p:nvSpPr>
          <p:spPr>
            <a:xfrm>
              <a:off x="6473788" y="265475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9" name="TextBox 68"/>
            <p:cNvSpPr txBox="1"/>
            <p:nvPr/>
          </p:nvSpPr>
          <p:spPr>
            <a:xfrm>
              <a:off x="6619888" y="241504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70" name="椭圆 69"/>
            <p:cNvSpPr/>
            <p:nvPr/>
          </p:nvSpPr>
          <p:spPr>
            <a:xfrm>
              <a:off x="4948190" y="1727188"/>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1" name="TextBox 70"/>
            <p:cNvSpPr txBox="1"/>
            <p:nvPr/>
          </p:nvSpPr>
          <p:spPr>
            <a:xfrm>
              <a:off x="5094290" y="152557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72" name="椭圆 71"/>
            <p:cNvSpPr/>
            <p:nvPr/>
          </p:nvSpPr>
          <p:spPr>
            <a:xfrm>
              <a:off x="4643438" y="2647944"/>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3" name="TextBox 72"/>
            <p:cNvSpPr txBox="1"/>
            <p:nvPr/>
          </p:nvSpPr>
          <p:spPr>
            <a:xfrm>
              <a:off x="4764138" y="2433630"/>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74" name="椭圆 73"/>
            <p:cNvSpPr/>
            <p:nvPr/>
          </p:nvSpPr>
          <p:spPr>
            <a:xfrm>
              <a:off x="4643438" y="3532652"/>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5" name="TextBox 74"/>
            <p:cNvSpPr txBox="1"/>
            <p:nvPr/>
          </p:nvSpPr>
          <p:spPr>
            <a:xfrm>
              <a:off x="4764138" y="3318338"/>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76" name="椭圆 75"/>
            <p:cNvSpPr/>
            <p:nvPr/>
          </p:nvSpPr>
          <p:spPr>
            <a:xfrm>
              <a:off x="5248280" y="2946396"/>
              <a:ext cx="108000" cy="14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7" name="TextBox 76"/>
            <p:cNvSpPr txBox="1"/>
            <p:nvPr/>
          </p:nvSpPr>
          <p:spPr>
            <a:xfrm>
              <a:off x="5343580" y="270668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78" name="椭圆 77"/>
            <p:cNvSpPr/>
            <p:nvPr/>
          </p:nvSpPr>
          <p:spPr>
            <a:xfrm>
              <a:off x="5272042" y="3521076"/>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9" name="TextBox 78"/>
            <p:cNvSpPr txBox="1"/>
            <p:nvPr/>
          </p:nvSpPr>
          <p:spPr>
            <a:xfrm>
              <a:off x="5367342" y="3281362"/>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80" name="椭圆 79"/>
            <p:cNvSpPr/>
            <p:nvPr/>
          </p:nvSpPr>
          <p:spPr>
            <a:xfrm>
              <a:off x="5553032" y="3857628"/>
              <a:ext cx="108000" cy="144000"/>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1" name="TextBox 80"/>
            <p:cNvSpPr txBox="1"/>
            <p:nvPr/>
          </p:nvSpPr>
          <p:spPr>
            <a:xfrm>
              <a:off x="5661032" y="3617914"/>
              <a:ext cx="322266"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6</a:t>
              </a:r>
              <a:endParaRPr lang="zh-CN" altLang="en-US" sz="1800" baseline="-25000">
                <a:solidFill>
                  <a:srgbClr val="0000FF"/>
                </a:solidFill>
                <a:latin typeface="Consolas" pitchFamily="49" charset="0"/>
                <a:cs typeface="Consolas" pitchFamily="49" charset="0"/>
              </a:endParaRPr>
            </a:p>
          </p:txBody>
        </p:sp>
      </p:grpSp>
      <p:cxnSp>
        <p:nvCxnSpPr>
          <p:cNvPr id="83" name="直接连接符 82"/>
          <p:cNvCxnSpPr>
            <a:stCxn id="78" idx="5"/>
            <a:endCxn id="80" idx="1"/>
          </p:cNvCxnSpPr>
          <p:nvPr/>
        </p:nvCxnSpPr>
        <p:spPr>
          <a:xfrm rot="16200000" flipH="1">
            <a:off x="4063289" y="3231844"/>
            <a:ext cx="234728" cy="204622"/>
          </a:xfrm>
          <a:prstGeom prst="line">
            <a:avLst/>
          </a:prstGeom>
          <a:ln w="28575">
            <a:solidFill>
              <a:srgbClr val="9900FF"/>
            </a:solidFill>
            <a:prstDash val="sysDash"/>
          </a:ln>
        </p:spPr>
        <p:style>
          <a:lnRef idx="1">
            <a:schemeClr val="accent1"/>
          </a:lnRef>
          <a:fillRef idx="0">
            <a:schemeClr val="accent1"/>
          </a:fillRef>
          <a:effectRef idx="0">
            <a:schemeClr val="accent1"/>
          </a:effectRef>
          <a:fontRef idx="minor">
            <a:schemeClr val="tx1"/>
          </a:fontRef>
        </p:style>
      </p:cxnSp>
      <p:sp>
        <p:nvSpPr>
          <p:cNvPr id="84" name="灯片编号占位符 83"/>
          <p:cNvSpPr>
            <a:spLocks noGrp="1"/>
          </p:cNvSpPr>
          <p:nvPr>
            <p:ph type="sldNum" sz="quarter" idx="12"/>
          </p:nvPr>
        </p:nvSpPr>
        <p:spPr/>
        <p:txBody>
          <a:bodyPr/>
          <a:lstStyle/>
          <a:p>
            <a:pPr>
              <a:defRPr/>
            </a:pPr>
            <a:fld id="{51116183-1013-4E64-BBE8-A5C1D5D4F838}" type="slidenum">
              <a:rPr lang="en-US" altLang="zh-CN" smtClean="0"/>
              <a:pPr>
                <a:defRPr/>
              </a:pPr>
              <a:t>138</a:t>
            </a:fld>
            <a:r>
              <a:rPr lang="en-US" altLang="zh-CN"/>
              <a:t>/167</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14282" y="570306"/>
            <a:ext cx="8786874" cy="3056561"/>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3000"/>
              </a:lnSpc>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cmpx</a:t>
            </a:r>
            <a:r>
              <a:rPr lang="en-US" altLang="zh-CN" sz="2000">
                <a:solidFill>
                  <a:srgbClr val="0000FF"/>
                </a:solidFill>
                <a:latin typeface="Consolas" pitchFamily="49" charset="0"/>
                <a:ea typeface="仿宋" pitchFamily="49" charset="-122"/>
              </a:rPr>
              <a:t>(Point&amp;a,Point&amp;b)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用于按</a:t>
            </a:r>
            <a:r>
              <a:rPr lang="en-US" altLang="zh-CN" sz="2000">
                <a:solidFill>
                  <a:srgbClr val="00B050"/>
                </a:solidFill>
                <a:latin typeface="Consolas" pitchFamily="49" charset="0"/>
                <a:ea typeface="仿宋" pitchFamily="49" charset="-122"/>
              </a:rPr>
              <a:t>x</a:t>
            </a:r>
            <a:r>
              <a:rPr lang="zh-CN" altLang="zh-CN" sz="2000">
                <a:solidFill>
                  <a:srgbClr val="00B050"/>
                </a:solidFill>
                <a:latin typeface="Consolas" pitchFamily="49" charset="0"/>
                <a:ea typeface="仿宋" pitchFamily="49" charset="-122"/>
              </a:rPr>
              <a:t>递增排序</a:t>
            </a:r>
          </a:p>
          <a:p>
            <a:pPr defTabSz="360000">
              <a:lnSpc>
                <a:spcPts val="3000"/>
              </a:lnSpc>
            </a:pPr>
            <a:r>
              <a:rPr lang="en-US" altLang="zh-CN" sz="2000">
                <a:solidFill>
                  <a:srgbClr val="0000FF"/>
                </a:solidFill>
                <a:latin typeface="Consolas" pitchFamily="49" charset="0"/>
                <a:ea typeface="仿宋" pitchFamily="49" charset="-122"/>
              </a:rPr>
              <a:t> 	return a.x&lt;b.x;</a:t>
            </a:r>
            <a:endParaRPr lang="zh-CN" altLang="zh-CN" sz="2000">
              <a:solidFill>
                <a:srgbClr val="0000FF"/>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a:t>
            </a:r>
          </a:p>
          <a:p>
            <a:pPr defTabSz="360000">
              <a:lnSpc>
                <a:spcPts val="3000"/>
              </a:lnSpc>
            </a:pPr>
            <a:endParaRPr lang="zh-CN" altLang="zh-CN" sz="2000">
              <a:solidFill>
                <a:srgbClr val="0000FF"/>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cmpy</a:t>
            </a:r>
            <a:r>
              <a:rPr lang="en-US" altLang="zh-CN" sz="2000">
                <a:solidFill>
                  <a:srgbClr val="0000FF"/>
                </a:solidFill>
                <a:latin typeface="Consolas" pitchFamily="49" charset="0"/>
                <a:ea typeface="仿宋" pitchFamily="49" charset="-122"/>
              </a:rPr>
              <a:t>(Point&amp;a,Point&amp;b)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用于按</a:t>
            </a:r>
            <a:r>
              <a:rPr lang="en-US" altLang="zh-CN" sz="2000">
                <a:solidFill>
                  <a:srgbClr val="00B050"/>
                </a:solidFill>
                <a:latin typeface="Consolas" pitchFamily="49" charset="0"/>
                <a:ea typeface="仿宋" pitchFamily="49" charset="-122"/>
              </a:rPr>
              <a:t>y</a:t>
            </a:r>
            <a:r>
              <a:rPr lang="zh-CN" altLang="zh-CN" sz="2000">
                <a:solidFill>
                  <a:srgbClr val="00B050"/>
                </a:solidFill>
                <a:latin typeface="Consolas" pitchFamily="49" charset="0"/>
                <a:ea typeface="仿宋" pitchFamily="49" charset="-122"/>
              </a:rPr>
              <a:t>递增排序</a:t>
            </a:r>
          </a:p>
          <a:p>
            <a:pPr defTabSz="360000">
              <a:lnSpc>
                <a:spcPts val="3000"/>
              </a:lnSpc>
            </a:pPr>
            <a:r>
              <a:rPr lang="en-US" altLang="zh-CN" sz="2000">
                <a:solidFill>
                  <a:srgbClr val="0000FF"/>
                </a:solidFill>
                <a:latin typeface="Consolas" pitchFamily="49" charset="0"/>
                <a:ea typeface="仿宋" pitchFamily="49" charset="-122"/>
              </a:rPr>
              <a:t> 	return a.y&lt;b.y;</a:t>
            </a:r>
            <a:endParaRPr lang="zh-CN" altLang="zh-CN" sz="2000">
              <a:solidFill>
                <a:srgbClr val="0000FF"/>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139</a:t>
            </a:fld>
            <a:r>
              <a:rPr lang="en-US" altLang="zh-CN"/>
              <a:t>/167</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14282" y="570306"/>
            <a:ext cx="8786874" cy="4262019"/>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2800"/>
              </a:lnSpc>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ClosestPoints21</a:t>
            </a:r>
            <a:r>
              <a:rPr lang="en-US" altLang="zh-CN" sz="2000">
                <a:solidFill>
                  <a:srgbClr val="0000FF"/>
                </a:solidFill>
                <a:latin typeface="Consolas" pitchFamily="49" charset="0"/>
                <a:ea typeface="仿宋" pitchFamily="49" charset="-122"/>
              </a:rPr>
              <a:t>(vector&lt;Point&gt;&amp;a,int l,int r)	{</a:t>
            </a:r>
          </a:p>
          <a:p>
            <a:pPr defTabSz="360000">
              <a:lnSpc>
                <a:spcPts val="28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分治算法</a:t>
            </a:r>
          </a:p>
          <a:p>
            <a:pPr defTabSz="360000">
              <a:lnSpc>
                <a:spcPts val="2800"/>
              </a:lnSpc>
            </a:pPr>
            <a:r>
              <a:rPr lang="en-US" altLang="zh-CN" sz="2000">
                <a:solidFill>
                  <a:srgbClr val="0000FF"/>
                </a:solidFill>
                <a:latin typeface="Consolas" pitchFamily="49" charset="0"/>
                <a:ea typeface="仿宋" pitchFamily="49" charset="-122"/>
              </a:rPr>
              <a:t>	if(l&gt;=r)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区间中只有一个点</a:t>
            </a:r>
          </a:p>
          <a:p>
            <a:pPr defTabSz="360000">
              <a:lnSpc>
                <a:spcPts val="2800"/>
              </a:lnSpc>
            </a:pPr>
            <a:r>
              <a:rPr lang="en-US" altLang="zh-CN" sz="2000">
                <a:solidFill>
                  <a:srgbClr val="0000FF"/>
                </a:solidFill>
                <a:latin typeface="Consolas" pitchFamily="49" charset="0"/>
                <a:ea typeface="仿宋" pitchFamily="49" charset="-122"/>
              </a:rPr>
              <a:t>		return INF;</a:t>
            </a:r>
            <a:endParaRPr lang="zh-CN" altLang="zh-CN" sz="2000">
              <a:solidFill>
                <a:srgbClr val="0000FF"/>
              </a:solidFill>
              <a:latin typeface="Consolas" pitchFamily="49" charset="0"/>
              <a:ea typeface="仿宋" pitchFamily="49" charset="-122"/>
            </a:endParaRPr>
          </a:p>
          <a:p>
            <a:pPr defTabSz="360000">
              <a:lnSpc>
                <a:spcPts val="2800"/>
              </a:lnSpc>
              <a:spcBef>
                <a:spcPts val="1200"/>
              </a:spcBef>
            </a:pPr>
            <a:r>
              <a:rPr lang="en-US" altLang="zh-CN" sz="2000">
                <a:solidFill>
                  <a:srgbClr val="0000FF"/>
                </a:solidFill>
                <a:latin typeface="Consolas" pitchFamily="49" charset="0"/>
                <a:ea typeface="仿宋" pitchFamily="49" charset="-122"/>
              </a:rPr>
              <a:t>  	if(l+1==r)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区间中只有两个点</a:t>
            </a:r>
          </a:p>
          <a:p>
            <a:pPr defTabSz="360000">
              <a:lnSpc>
                <a:spcPts val="2800"/>
              </a:lnSpc>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Distance</a:t>
            </a:r>
            <a:r>
              <a:rPr lang="en-US" altLang="zh-CN" sz="2000">
                <a:solidFill>
                  <a:srgbClr val="0000FF"/>
                </a:solidFill>
                <a:latin typeface="Consolas" pitchFamily="49" charset="0"/>
                <a:ea typeface="仿宋" pitchFamily="49" charset="-122"/>
              </a:rPr>
              <a:t>(a[l],a[r]);</a:t>
            </a:r>
            <a:endParaRPr lang="zh-CN" altLang="zh-CN" sz="2000">
              <a:solidFill>
                <a:srgbClr val="0000FF"/>
              </a:solidFill>
              <a:latin typeface="Consolas" pitchFamily="49" charset="0"/>
              <a:ea typeface="仿宋" pitchFamily="49" charset="-122"/>
            </a:endParaRPr>
          </a:p>
          <a:p>
            <a:pPr defTabSz="360000">
              <a:lnSpc>
                <a:spcPts val="2800"/>
              </a:lnSpc>
              <a:spcBef>
                <a:spcPts val="1200"/>
              </a:spcBef>
            </a:pPr>
            <a:r>
              <a:rPr lang="en-US" altLang="zh-CN" sz="2000">
                <a:solidFill>
                  <a:srgbClr val="0000FF"/>
                </a:solidFill>
                <a:latin typeface="Consolas" pitchFamily="49" charset="0"/>
                <a:ea typeface="仿宋" pitchFamily="49" charset="-122"/>
              </a:rPr>
              <a:t> 	int mid=(l+r)/2;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求中点位置</a:t>
            </a:r>
          </a:p>
          <a:p>
            <a:pPr defTabSz="360000">
              <a:lnSpc>
                <a:spcPts val="2800"/>
              </a:lnSpc>
            </a:pPr>
            <a:r>
              <a:rPr lang="en-US" altLang="zh-CN" sz="2000">
                <a:solidFill>
                  <a:srgbClr val="0000FF"/>
                </a:solidFill>
                <a:latin typeface="Consolas" pitchFamily="49" charset="0"/>
                <a:ea typeface="仿宋" pitchFamily="49" charset="-122"/>
              </a:rPr>
              <a:t>	double d1=</a:t>
            </a:r>
            <a:r>
              <a:rPr lang="en-US" altLang="zh-CN" sz="2000">
                <a:solidFill>
                  <a:srgbClr val="FF0000"/>
                </a:solidFill>
                <a:latin typeface="Consolas" pitchFamily="49" charset="0"/>
                <a:ea typeface="仿宋" pitchFamily="49" charset="-122"/>
              </a:rPr>
              <a:t>ClosestPoints21</a:t>
            </a:r>
            <a:r>
              <a:rPr lang="en-US" altLang="zh-CN" sz="2000">
                <a:solidFill>
                  <a:srgbClr val="0000FF"/>
                </a:solidFill>
                <a:latin typeface="Consolas" pitchFamily="49" charset="0"/>
                <a:ea typeface="仿宋" pitchFamily="49" charset="-122"/>
              </a:rPr>
              <a:t>(a,l,mid);</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double d2=</a:t>
            </a:r>
            <a:r>
              <a:rPr lang="en-US" altLang="zh-CN" sz="2000">
                <a:solidFill>
                  <a:srgbClr val="FF0000"/>
                </a:solidFill>
                <a:latin typeface="Consolas" pitchFamily="49" charset="0"/>
                <a:ea typeface="仿宋" pitchFamily="49" charset="-122"/>
              </a:rPr>
              <a:t>ClosestPoints21</a:t>
            </a:r>
            <a:r>
              <a:rPr lang="en-US" altLang="zh-CN" sz="2000">
                <a:solidFill>
                  <a:srgbClr val="0000FF"/>
                </a:solidFill>
                <a:latin typeface="Consolas" pitchFamily="49" charset="0"/>
                <a:ea typeface="仿宋" pitchFamily="49" charset="-122"/>
              </a:rPr>
              <a:t>(a,mid+1,r);</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double d=min(d1,d2);</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140</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14282" y="570306"/>
            <a:ext cx="8786874" cy="5698309"/>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2800"/>
              </a:lnSpc>
            </a:pPr>
            <a:r>
              <a:rPr lang="en-US" altLang="zh-CN" sz="2000">
                <a:solidFill>
                  <a:srgbClr val="0000FF"/>
                </a:solidFill>
                <a:latin typeface="Consolas" pitchFamily="49" charset="0"/>
                <a:ea typeface="仿宋" pitchFamily="49" charset="-122"/>
              </a:rPr>
              <a:t>	vector&lt;Point&gt; a1;</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for(int i=l;i&lt;=r;i++){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与中点</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方向距离</a:t>
            </a:r>
            <a:r>
              <a:rPr lang="en-US" altLang="zh-CN" sz="2000">
                <a:solidFill>
                  <a:srgbClr val="00B0F0"/>
                </a:solidFill>
                <a:latin typeface="Consolas" pitchFamily="49" charset="0"/>
                <a:ea typeface="仿宋" pitchFamily="49" charset="-122"/>
              </a:rPr>
              <a:t>&lt;d</a:t>
            </a:r>
            <a:r>
              <a:rPr lang="zh-CN" altLang="zh-CN" sz="2000">
                <a:solidFill>
                  <a:srgbClr val="00B0F0"/>
                </a:solidFill>
                <a:latin typeface="Consolas" pitchFamily="49" charset="0"/>
                <a:ea typeface="仿宋" pitchFamily="49" charset="-122"/>
              </a:rPr>
              <a:t>的点存放在</a:t>
            </a:r>
            <a:r>
              <a:rPr lang="en-US" altLang="zh-CN" sz="2000">
                <a:solidFill>
                  <a:srgbClr val="00B0F0"/>
                </a:solidFill>
                <a:latin typeface="Consolas" pitchFamily="49" charset="0"/>
                <a:ea typeface="仿宋" pitchFamily="49" charset="-122"/>
              </a:rPr>
              <a:t>a1</a:t>
            </a:r>
            <a:r>
              <a:rPr lang="zh-CN" altLang="zh-CN" sz="2000">
                <a:solidFill>
                  <a:srgbClr val="00B0F0"/>
                </a:solidFill>
                <a:latin typeface="Consolas" pitchFamily="49" charset="0"/>
                <a:ea typeface="仿宋" pitchFamily="49" charset="-122"/>
              </a:rPr>
              <a:t>中</a:t>
            </a:r>
          </a:p>
          <a:p>
            <a:pPr defTabSz="360000">
              <a:lnSpc>
                <a:spcPts val="2800"/>
              </a:lnSpc>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fabs(a[i].x-a[mid].x)&lt;d</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a1.push_back(a[i]);</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800"/>
              </a:lnSpc>
              <a:spcBef>
                <a:spcPts val="1200"/>
              </a:spcBef>
              <a:spcAft>
                <a:spcPts val="1200"/>
              </a:spcAft>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(a1.begin(),a1.end(),cmpy); 	</a:t>
            </a:r>
            <a:r>
              <a:rPr lang="en-US" altLang="zh-CN" sz="2000">
                <a:solidFill>
                  <a:srgbClr val="00B0F0"/>
                </a:solidFill>
                <a:latin typeface="Consolas" pitchFamily="49" charset="0"/>
                <a:ea typeface="仿宋" pitchFamily="49" charset="-122"/>
              </a:rPr>
              <a:t>//a1</a:t>
            </a:r>
            <a:r>
              <a:rPr lang="zh-CN" altLang="zh-CN" sz="2000">
                <a:solidFill>
                  <a:srgbClr val="00B0F0"/>
                </a:solidFill>
                <a:latin typeface="Consolas" pitchFamily="49" charset="0"/>
                <a:ea typeface="仿宋" pitchFamily="49" charset="-122"/>
              </a:rPr>
              <a:t>中所有点按</a:t>
            </a:r>
            <a:r>
              <a:rPr lang="en-US" altLang="zh-CN" sz="2000">
                <a:solidFill>
                  <a:srgbClr val="00B0F0"/>
                </a:solidFill>
                <a:latin typeface="Consolas" pitchFamily="49" charset="0"/>
                <a:ea typeface="仿宋" pitchFamily="49" charset="-122"/>
              </a:rPr>
              <a:t>y</a:t>
            </a:r>
            <a:r>
              <a:rPr lang="zh-CN" altLang="zh-CN" sz="2000">
                <a:solidFill>
                  <a:srgbClr val="00B0F0"/>
                </a:solidFill>
                <a:latin typeface="Consolas" pitchFamily="49" charset="0"/>
                <a:ea typeface="仿宋" pitchFamily="49" charset="-122"/>
              </a:rPr>
              <a:t>递增排序</a:t>
            </a:r>
          </a:p>
          <a:p>
            <a:pPr defTabSz="360000">
              <a:lnSpc>
                <a:spcPts val="2800"/>
              </a:lnSpc>
            </a:pPr>
            <a:r>
              <a:rPr lang="en-US" altLang="zh-CN" sz="2000">
                <a:solidFill>
                  <a:srgbClr val="0000FF"/>
                </a:solidFill>
                <a:latin typeface="Consolas" pitchFamily="49" charset="0"/>
                <a:ea typeface="仿宋" pitchFamily="49" charset="-122"/>
              </a:rPr>
              <a:t>  	for(int i=0;i&lt;a1.size();i++){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两重</a:t>
            </a:r>
            <a:r>
              <a:rPr lang="en-US" altLang="zh-CN" sz="2000">
                <a:solidFill>
                  <a:srgbClr val="00B0F0"/>
                </a:solidFill>
                <a:latin typeface="Consolas" pitchFamily="49" charset="0"/>
                <a:ea typeface="仿宋" pitchFamily="49" charset="-122"/>
              </a:rPr>
              <a:t>for</a:t>
            </a:r>
            <a:r>
              <a:rPr lang="zh-CN" altLang="zh-CN" sz="2000">
                <a:solidFill>
                  <a:srgbClr val="00B0F0"/>
                </a:solidFill>
                <a:latin typeface="Consolas" pitchFamily="49" charset="0"/>
                <a:ea typeface="仿宋" pitchFamily="49" charset="-122"/>
              </a:rPr>
              <a:t>循环的时间为</a:t>
            </a:r>
            <a:r>
              <a:rPr lang="en-US" altLang="zh-CN" sz="2000">
                <a:solidFill>
                  <a:srgbClr val="00B0F0"/>
                </a:solidFill>
                <a:latin typeface="Consolas" pitchFamily="49" charset="0"/>
                <a:ea typeface="仿宋" pitchFamily="49" charset="-122"/>
              </a:rPr>
              <a:t>O(n)</a:t>
            </a:r>
            <a:endParaRPr lang="zh-CN" altLang="zh-CN" sz="2000">
              <a:solidFill>
                <a:srgbClr val="00B0F0"/>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for(int j=i+1,k=0;</a:t>
            </a:r>
          </a:p>
          <a:p>
            <a:pPr defTabSz="360000">
              <a:lnSpc>
                <a:spcPts val="2800"/>
              </a:lnSpc>
            </a:pPr>
            <a:r>
              <a:rPr lang="en-US" altLang="zh-CN" sz="2000">
                <a:solidFill>
                  <a:srgbClr val="0000FF"/>
                </a:solidFill>
                <a:latin typeface="Consolas" pitchFamily="49" charset="0"/>
                <a:ea typeface="仿宋" pitchFamily="49" charset="-122"/>
              </a:rPr>
              <a:t>				</a:t>
            </a:r>
            <a:r>
              <a:rPr lang="en-US" altLang="zh-CN" sz="2000">
                <a:solidFill>
                  <a:srgbClr val="FF00FF"/>
                </a:solidFill>
                <a:latin typeface="Consolas" pitchFamily="49" charset="0"/>
                <a:ea typeface="仿宋" pitchFamily="49" charset="-122"/>
              </a:rPr>
              <a:t>k&lt;7 &amp;&amp; j&lt;a1.size() &amp;&amp; a1[j].y-a1[i].y&lt;d</a:t>
            </a:r>
            <a:r>
              <a:rPr lang="en-US" altLang="zh-CN" sz="2000">
                <a:solidFill>
                  <a:srgbClr val="0000FF"/>
                </a:solidFill>
                <a:latin typeface="Consolas" pitchFamily="49" charset="0"/>
                <a:ea typeface="仿宋" pitchFamily="49" charset="-122"/>
              </a:rPr>
              <a:t>;j++,k++)</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d=min(d,</a:t>
            </a:r>
            <a:r>
              <a:rPr lang="en-US" altLang="zh-CN" sz="2000">
                <a:solidFill>
                  <a:srgbClr val="FF0000"/>
                </a:solidFill>
                <a:latin typeface="Consolas" pitchFamily="49" charset="0"/>
                <a:ea typeface="仿宋" pitchFamily="49" charset="-122"/>
              </a:rPr>
              <a:t>Distance</a:t>
            </a:r>
            <a:r>
              <a:rPr lang="en-US" altLang="zh-CN" sz="2000">
                <a:solidFill>
                  <a:srgbClr val="0000FF"/>
                </a:solidFill>
                <a:latin typeface="Consolas" pitchFamily="49" charset="0"/>
                <a:ea typeface="仿宋" pitchFamily="49" charset="-122"/>
              </a:rPr>
              <a:t>(a1[i],a1[j]));</a:t>
            </a:r>
          </a:p>
          <a:p>
            <a:pPr defTabSz="360000">
              <a:lnSpc>
                <a:spcPts val="2800"/>
              </a:lnSpc>
            </a:pP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最多考察</a:t>
            </a:r>
            <a:r>
              <a:rPr lang="en-US" altLang="zh-CN" sz="2000">
                <a:solidFill>
                  <a:srgbClr val="00B0F0"/>
                </a:solidFill>
                <a:latin typeface="Consolas" pitchFamily="49" charset="0"/>
                <a:ea typeface="仿宋" pitchFamily="49" charset="-122"/>
              </a:rPr>
              <a:t>a[i]</a:t>
            </a:r>
            <a:r>
              <a:rPr lang="zh-CN" altLang="zh-CN" sz="2000">
                <a:solidFill>
                  <a:srgbClr val="00B0F0"/>
                </a:solidFill>
                <a:latin typeface="Consolas" pitchFamily="49" charset="0"/>
                <a:ea typeface="仿宋" pitchFamily="49" charset="-122"/>
              </a:rPr>
              <a:t>后面的</a:t>
            </a:r>
            <a:r>
              <a:rPr lang="en-US" altLang="zh-CN" sz="2000">
                <a:solidFill>
                  <a:srgbClr val="00B0F0"/>
                </a:solidFill>
                <a:latin typeface="Consolas" pitchFamily="49" charset="0"/>
                <a:ea typeface="仿宋" pitchFamily="49" charset="-122"/>
              </a:rPr>
              <a:t>7</a:t>
            </a:r>
            <a:r>
              <a:rPr lang="zh-CN" altLang="zh-CN" sz="2000">
                <a:solidFill>
                  <a:srgbClr val="00B0F0"/>
                </a:solidFill>
                <a:latin typeface="Consolas" pitchFamily="49" charset="0"/>
                <a:ea typeface="仿宋" pitchFamily="49" charset="-122"/>
              </a:rPr>
              <a:t>个点</a:t>
            </a:r>
          </a:p>
          <a:p>
            <a:pPr defTabSz="360000">
              <a:lnSpc>
                <a:spcPts val="28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return d;</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141</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14282" y="570306"/>
            <a:ext cx="8786874" cy="2671840"/>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3000"/>
              </a:lnSpc>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ClosestPoints2</a:t>
            </a:r>
            <a:r>
              <a:rPr lang="en-US" altLang="zh-CN" sz="2000">
                <a:solidFill>
                  <a:srgbClr val="0000FF"/>
                </a:solidFill>
                <a:latin typeface="Consolas" pitchFamily="49" charset="0"/>
                <a:ea typeface="仿宋" pitchFamily="49" charset="-122"/>
              </a:rPr>
              <a:t>(vector&lt;Point&gt;&amp;a) {	</a:t>
            </a:r>
          </a:p>
          <a:p>
            <a:pPr defTabSz="360000">
              <a:lnSpc>
                <a:spcPts val="30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a:t>
            </a:r>
            <a:r>
              <a:rPr lang="en-US" altLang="zh-CN" sz="2000">
                <a:solidFill>
                  <a:srgbClr val="00B050"/>
                </a:solidFill>
                <a:latin typeface="Consolas" pitchFamily="49" charset="0"/>
                <a:ea typeface="仿宋" pitchFamily="49" charset="-122"/>
              </a:rPr>
              <a:t>a</a:t>
            </a:r>
            <a:r>
              <a:rPr lang="zh-CN" altLang="zh-CN" sz="2000">
                <a:solidFill>
                  <a:srgbClr val="00B050"/>
                </a:solidFill>
                <a:latin typeface="Consolas" pitchFamily="49" charset="0"/>
                <a:ea typeface="仿宋" pitchFamily="49" charset="-122"/>
              </a:rPr>
              <a:t>中最近点对距离</a:t>
            </a:r>
          </a:p>
          <a:p>
            <a:pPr defTabSz="360000">
              <a:lnSpc>
                <a:spcPts val="3000"/>
              </a:lnSpc>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(a.begin(),a.end(),cmpx);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全部点按</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递增排序</a:t>
            </a:r>
          </a:p>
          <a:p>
            <a:pPr defTabSz="360000">
              <a:lnSpc>
                <a:spcPts val="3000"/>
              </a:lnSpc>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ClosestPoints21</a:t>
            </a:r>
            <a:r>
              <a:rPr lang="en-US" altLang="zh-CN" sz="2000">
                <a:solidFill>
                  <a:srgbClr val="0000FF"/>
                </a:solidFill>
                <a:latin typeface="Consolas" pitchFamily="49" charset="0"/>
                <a:ea typeface="仿宋" pitchFamily="49" charset="-122"/>
              </a:rPr>
              <a:t>(a,0,n-1);</a:t>
            </a:r>
            <a:endParaRPr lang="zh-CN" altLang="zh-CN" sz="2000">
              <a:solidFill>
                <a:srgbClr val="0000FF"/>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142</a:t>
            </a:fld>
            <a:r>
              <a:rPr lang="en-US" altLang="zh-CN"/>
              <a:t>/167</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52" y="552184"/>
            <a:ext cx="8572528" cy="173380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200"/>
              </a:lnSpc>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ClosestPoints2</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：设算法执行时间为</a:t>
            </a:r>
            <a:r>
              <a:rPr lang="en-US" altLang="zh-CN" sz="2200" i="1">
                <a:solidFill>
                  <a:srgbClr val="0000FF"/>
                </a:solidFill>
                <a:latin typeface="Consolas" pitchFamily="49" charset="0"/>
                <a:ea typeface="仿宋" pitchFamily="49" charset="-122"/>
              </a:rPr>
              <a:t>T</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，求左右部分中最近点对的时间为</a:t>
            </a:r>
            <a:r>
              <a:rPr lang="en-US" altLang="zh-CN" sz="2200" i="1">
                <a:solidFill>
                  <a:srgbClr val="0000FF"/>
                </a:solidFill>
                <a:latin typeface="Consolas" pitchFamily="49" charset="0"/>
                <a:ea typeface="仿宋" pitchFamily="49" charset="-122"/>
              </a:rPr>
              <a:t>T</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，求垂直带形区最近点对距离时复制产生</a:t>
            </a:r>
            <a:r>
              <a:rPr lang="en-US" altLang="zh-CN" sz="2200">
                <a:solidFill>
                  <a:srgbClr val="0000FF"/>
                </a:solidFill>
                <a:latin typeface="Consolas" pitchFamily="49" charset="0"/>
                <a:ea typeface="仿宋" pitchFamily="49" charset="-122"/>
              </a:rPr>
              <a:t>a1</a:t>
            </a:r>
            <a:r>
              <a:rPr lang="zh-CN" altLang="zh-CN" sz="2200">
                <a:solidFill>
                  <a:srgbClr val="0000FF"/>
                </a:solidFill>
                <a:latin typeface="Consolas" pitchFamily="49" charset="0"/>
                <a:ea typeface="仿宋" pitchFamily="49" charset="-122"/>
              </a:rPr>
              <a:t>的时间为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，由于</a:t>
            </a:r>
            <a:r>
              <a:rPr lang="en-US" altLang="zh-CN" sz="2200">
                <a:solidFill>
                  <a:srgbClr val="0000FF"/>
                </a:solidFill>
                <a:latin typeface="Consolas" pitchFamily="49" charset="0"/>
                <a:ea typeface="仿宋" pitchFamily="49" charset="-122"/>
              </a:rPr>
              <a:t>a1</a:t>
            </a:r>
            <a:r>
              <a:rPr lang="zh-CN" altLang="zh-CN" sz="2200">
                <a:solidFill>
                  <a:srgbClr val="0000FF"/>
                </a:solidFill>
                <a:latin typeface="Consolas" pitchFamily="49" charset="0"/>
                <a:ea typeface="仿宋" pitchFamily="49" charset="-122"/>
              </a:rPr>
              <a:t>中的点数</a:t>
            </a:r>
            <a:r>
              <a:rPr lang="en-US" altLang="zh-CN" sz="2200" i="1">
                <a:solidFill>
                  <a:srgbClr val="0000FF"/>
                </a:solidFill>
                <a:latin typeface="Consolas" pitchFamily="49" charset="0"/>
                <a:ea typeface="仿宋" pitchFamily="49" charset="-122"/>
              </a:rPr>
              <a:t>m</a:t>
            </a:r>
            <a:r>
              <a:rPr lang="en-US" altLang="zh-CN" sz="2200">
                <a:solidFill>
                  <a:srgbClr val="0000FF"/>
                </a:solidFill>
                <a:latin typeface="Consolas" pitchFamily="49" charset="0"/>
                <a:ea typeface="仿宋" pitchFamily="49" charset="-122"/>
              </a:rPr>
              <a:t>&lt;&lt;</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，可以将处理整个垂直带形区的时间看成</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，这样的时间递推式如下：</a:t>
            </a:r>
          </a:p>
        </p:txBody>
      </p:sp>
      <p:sp>
        <p:nvSpPr>
          <p:cNvPr id="6" name="TextBox 5"/>
          <p:cNvSpPr txBox="1"/>
          <p:nvPr/>
        </p:nvSpPr>
        <p:spPr>
          <a:xfrm>
            <a:off x="857224" y="2714620"/>
            <a:ext cx="6429420" cy="109014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defTabSz="360000">
              <a:lnSpc>
                <a:spcPts val="3400"/>
              </a:lnSpc>
            </a:pPr>
            <a:r>
              <a:rPr lang="en-US" altLang="zh-CN" sz="2000" i="1">
                <a:solidFill>
                  <a:srgbClr val="0000FF"/>
                </a:solidFill>
                <a:latin typeface="Consolas" pitchFamily="49" charset="0"/>
                <a:ea typeface="仿宋" pitchFamily="49" charset="-122"/>
              </a:rPr>
              <a:t>T</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)=O(1)										</a:t>
            </a:r>
            <a:r>
              <a:rPr lang="zh-CN" altLang="zh-CN" sz="2000">
                <a:solidFill>
                  <a:srgbClr val="00B0F0"/>
                </a:solidFill>
                <a:latin typeface="Consolas" pitchFamily="49" charset="0"/>
                <a:ea typeface="仿宋" pitchFamily="49" charset="-122"/>
              </a:rPr>
              <a:t>当</a:t>
            </a:r>
            <a:r>
              <a:rPr lang="en-US" altLang="zh-CN" sz="2000" i="1">
                <a:solidFill>
                  <a:srgbClr val="00B0F0"/>
                </a:solidFill>
                <a:latin typeface="Consolas" pitchFamily="49" charset="0"/>
                <a:ea typeface="仿宋" pitchFamily="49" charset="-122"/>
              </a:rPr>
              <a:t>n</a:t>
            </a:r>
            <a:r>
              <a:rPr lang="en-US" altLang="zh-CN" sz="2000">
                <a:solidFill>
                  <a:srgbClr val="00B0F0"/>
                </a:solidFill>
                <a:latin typeface="Consolas" pitchFamily="49" charset="0"/>
                <a:ea typeface="仿宋" pitchFamily="49" charset="-122"/>
              </a:rPr>
              <a:t>&lt;3</a:t>
            </a:r>
            <a:endParaRPr lang="zh-CN" altLang="zh-CN" sz="2000">
              <a:solidFill>
                <a:srgbClr val="00B0F0"/>
              </a:solidFill>
              <a:latin typeface="Consolas" pitchFamily="49" charset="0"/>
              <a:ea typeface="仿宋" pitchFamily="49" charset="-122"/>
            </a:endParaRPr>
          </a:p>
          <a:p>
            <a:pPr defTabSz="360000">
              <a:lnSpc>
                <a:spcPts val="3400"/>
              </a:lnSpc>
            </a:pPr>
            <a:r>
              <a:rPr lang="en-US" altLang="zh-CN" sz="2000" i="1">
                <a:solidFill>
                  <a:srgbClr val="0000FF"/>
                </a:solidFill>
                <a:latin typeface="Consolas" pitchFamily="49" charset="0"/>
                <a:ea typeface="仿宋" pitchFamily="49" charset="-122"/>
              </a:rPr>
              <a:t>T</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)=2</a:t>
            </a:r>
            <a:r>
              <a:rPr lang="en-US" altLang="zh-CN" sz="2000" i="1">
                <a:solidFill>
                  <a:srgbClr val="0000FF"/>
                </a:solidFill>
                <a:latin typeface="Consolas" pitchFamily="49" charset="0"/>
                <a:ea typeface="仿宋" pitchFamily="49" charset="-122"/>
              </a:rPr>
              <a:t>T</a:t>
            </a:r>
            <a:r>
              <a:rPr lang="en-US"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/2)+O(</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其他情况</a:t>
            </a:r>
          </a:p>
        </p:txBody>
      </p:sp>
      <p:sp>
        <p:nvSpPr>
          <p:cNvPr id="7" name="TextBox 6"/>
          <p:cNvSpPr txBox="1"/>
          <p:nvPr/>
        </p:nvSpPr>
        <p:spPr>
          <a:xfrm>
            <a:off x="714348" y="4357694"/>
            <a:ext cx="4929222" cy="430887"/>
          </a:xfrm>
          <a:prstGeom prst="rect">
            <a:avLst/>
          </a:prstGeom>
          <a:noFill/>
        </p:spPr>
        <p:txBody>
          <a:bodyPr wrap="square" rtlCol="0">
            <a:spAutoFit/>
          </a:bodyPr>
          <a:lstStyle/>
          <a:p>
            <a:r>
              <a:rPr lang="zh-CN" altLang="zh-CN" sz="2200">
                <a:solidFill>
                  <a:srgbClr val="0000FF"/>
                </a:solidFill>
                <a:latin typeface="Consolas" pitchFamily="49" charset="0"/>
                <a:ea typeface="仿宋" pitchFamily="49" charset="-122"/>
              </a:rPr>
              <a:t>容易推出</a:t>
            </a:r>
            <a:r>
              <a:rPr lang="en-US" altLang="zh-CN" sz="2200" i="1">
                <a:solidFill>
                  <a:srgbClr val="0000FF"/>
                </a:solidFill>
                <a:latin typeface="Consolas" pitchFamily="49" charset="0"/>
                <a:ea typeface="仿宋" pitchFamily="49" charset="-122"/>
              </a:rPr>
              <a:t>T</a:t>
            </a:r>
            <a:r>
              <a:rPr lang="en-US"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log</a:t>
            </a:r>
            <a:r>
              <a:rPr lang="en-US" altLang="zh-CN" sz="2200" baseline="-250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9" name="灯片编号占位符 8"/>
          <p:cNvSpPr>
            <a:spLocks noGrp="1"/>
          </p:cNvSpPr>
          <p:nvPr>
            <p:ph type="sldNum" sz="quarter" idx="12"/>
          </p:nvPr>
        </p:nvSpPr>
        <p:spPr/>
        <p:txBody>
          <a:bodyPr/>
          <a:lstStyle/>
          <a:p>
            <a:pPr>
              <a:defRPr/>
            </a:pPr>
            <a:fld id="{51116183-1013-4E64-BBE8-A5C1D5D4F838}" type="slidenum">
              <a:rPr lang="en-US" altLang="zh-CN" smtClean="0"/>
              <a:pPr>
                <a:defRPr/>
              </a:pPr>
              <a:t>143</a:t>
            </a:fld>
            <a:r>
              <a:rPr lang="en-US" altLang="zh-CN"/>
              <a:t>/167</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1071546"/>
            <a:ext cx="8501122" cy="4731423"/>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200"/>
              </a:lnSpc>
              <a:spcBef>
                <a:spcPts val="600"/>
              </a:spcBef>
            </a:pPr>
            <a:r>
              <a:rPr lang="en-US" altLang="zh-CN">
                <a:solidFill>
                  <a:srgbClr val="FF0000"/>
                </a:solidFill>
                <a:latin typeface="Consolas" pitchFamily="49" charset="0"/>
                <a:ea typeface="楷体" pitchFamily="49" charset="-122"/>
              </a:rPr>
              <a:t>        </a:t>
            </a: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10.4</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求两组点之间的最近点对（</a:t>
            </a:r>
            <a:r>
              <a:rPr lang="pt-BR" altLang="zh-CN">
                <a:solidFill>
                  <a:srgbClr val="0000FF"/>
                </a:solidFill>
                <a:latin typeface="Consolas" pitchFamily="49" charset="0"/>
                <a:ea typeface="仿宋" pitchFamily="49" charset="-122"/>
              </a:rPr>
              <a:t>POJ3714</a:t>
            </a:r>
            <a:r>
              <a:rPr lang="zh-CN" altLang="zh-CN">
                <a:solidFill>
                  <a:srgbClr val="0000FF"/>
                </a:solidFill>
                <a:latin typeface="Consolas" pitchFamily="49" charset="0"/>
                <a:ea typeface="仿宋" pitchFamily="49" charset="-122"/>
              </a:rPr>
              <a:t>，时间限制：</a:t>
            </a:r>
            <a:r>
              <a:rPr lang="en-US" altLang="zh-CN">
                <a:solidFill>
                  <a:srgbClr val="0000FF"/>
                </a:solidFill>
                <a:latin typeface="Consolas" pitchFamily="49" charset="0"/>
                <a:ea typeface="仿宋" pitchFamily="49" charset="-122"/>
              </a:rPr>
              <a:t>5000ms</a:t>
            </a:r>
            <a:r>
              <a:rPr lang="zh-CN" altLang="zh-CN">
                <a:solidFill>
                  <a:srgbClr val="0000FF"/>
                </a:solidFill>
                <a:latin typeface="Consolas" pitchFamily="49" charset="0"/>
                <a:ea typeface="仿宋" pitchFamily="49" charset="-122"/>
              </a:rPr>
              <a:t>，内存限制：</a:t>
            </a:r>
            <a:r>
              <a:rPr lang="en-US" altLang="zh-CN">
                <a:solidFill>
                  <a:srgbClr val="0000FF"/>
                </a:solidFill>
                <a:latin typeface="Consolas" pitchFamily="49" charset="0"/>
                <a:ea typeface="仿宋" pitchFamily="49" charset="-122"/>
              </a:rPr>
              <a:t>65536KB</a:t>
            </a:r>
            <a:r>
              <a:rPr lang="zh-CN" altLang="zh-CN">
                <a:solidFill>
                  <a:srgbClr val="0000FF"/>
                </a:solidFill>
                <a:latin typeface="Consolas" pitchFamily="49" charset="0"/>
                <a:ea typeface="仿宋" pitchFamily="49" charset="-122"/>
              </a:rPr>
              <a:t>）。给定二维空间中的若干个点，全部点分为</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两组，每组均包含</a:t>
            </a:r>
            <a:r>
              <a:rPr lang="en-US" altLang="zh-CN">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个点，求</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中直线距离最近的两个点的距离。</a:t>
            </a:r>
          </a:p>
          <a:p>
            <a:pPr>
              <a:lnSpc>
                <a:spcPts val="3200"/>
              </a:lnSpc>
              <a:spcBef>
                <a:spcPts val="600"/>
              </a:spcBef>
            </a:pPr>
            <a:r>
              <a:rPr lang="zh-CN" altLang="zh-CN">
                <a:solidFill>
                  <a:srgbClr val="FF0000"/>
                </a:solidFill>
                <a:latin typeface="Consolas" pitchFamily="49" charset="0"/>
                <a:ea typeface="仿宋" pitchFamily="49" charset="-122"/>
              </a:rPr>
              <a:t>输入格式</a:t>
            </a:r>
            <a:r>
              <a:rPr lang="zh-CN" altLang="zh-CN">
                <a:solidFill>
                  <a:srgbClr val="0000FF"/>
                </a:solidFill>
                <a:latin typeface="Consolas" pitchFamily="49" charset="0"/>
                <a:ea typeface="仿宋" pitchFamily="49" charset="-122"/>
              </a:rPr>
              <a:t>：第一行是一个整数</a:t>
            </a:r>
            <a:r>
              <a:rPr lang="en-US" altLang="zh-CN">
                <a:solidFill>
                  <a:srgbClr val="0000FF"/>
                </a:solidFill>
                <a:latin typeface="Consolas" pitchFamily="49" charset="0"/>
                <a:ea typeface="仿宋" pitchFamily="49" charset="-122"/>
              </a:rPr>
              <a:t>T</a:t>
            </a:r>
            <a:r>
              <a:rPr lang="zh-CN"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为</a:t>
            </a:r>
            <a:r>
              <a:rPr lang="zh-CN" altLang="zh-CN">
                <a:solidFill>
                  <a:srgbClr val="0000FF"/>
                </a:solidFill>
                <a:latin typeface="Consolas" pitchFamily="49" charset="0"/>
                <a:ea typeface="仿宋" pitchFamily="49" charset="-122"/>
              </a:rPr>
              <a:t>测试用例的数量。每个测试用例都以整数</a:t>
            </a:r>
            <a:r>
              <a:rPr lang="en-US" altLang="zh-CN">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开头（</a:t>
            </a:r>
            <a:r>
              <a:rPr lang="en-US" altLang="zh-CN">
                <a:solidFill>
                  <a:srgbClr val="0000FF"/>
                </a:solidFill>
                <a:latin typeface="Consolas" pitchFamily="49" charset="0"/>
                <a:ea typeface="仿宋" pitchFamily="49" charset="-122"/>
              </a:rPr>
              <a:t>1</a:t>
            </a:r>
            <a:r>
              <a:rPr lang="zh-CN" altLang="zh-CN">
                <a:solidFill>
                  <a:srgbClr val="0000FF"/>
                </a:solidFill>
                <a:latin typeface="宋体" pitchFamily="2" charset="-122"/>
                <a:ea typeface="宋体" pitchFamily="2" charset="-122"/>
              </a:rPr>
              <a:t>≤</a:t>
            </a:r>
            <a:r>
              <a:rPr lang="en-US" altLang="zh-CN">
                <a:solidFill>
                  <a:srgbClr val="0000FF"/>
                </a:solidFill>
                <a:latin typeface="Consolas" pitchFamily="49" charset="0"/>
                <a:ea typeface="仿宋" pitchFamily="49" charset="-122"/>
              </a:rPr>
              <a:t>N</a:t>
            </a:r>
            <a:r>
              <a:rPr lang="zh-CN" altLang="zh-CN">
                <a:solidFill>
                  <a:srgbClr val="0000FF"/>
                </a:solidFill>
                <a:latin typeface="宋体" pitchFamily="2" charset="-122"/>
                <a:ea typeface="宋体" pitchFamily="2" charset="-122"/>
              </a:rPr>
              <a:t>≤</a:t>
            </a:r>
            <a:r>
              <a:rPr lang="en-US" altLang="zh-CN">
                <a:solidFill>
                  <a:srgbClr val="0000FF"/>
                </a:solidFill>
                <a:latin typeface="Consolas" pitchFamily="49" charset="0"/>
                <a:ea typeface="仿宋" pitchFamily="49" charset="-122"/>
              </a:rPr>
              <a:t>10^5</a:t>
            </a:r>
            <a:r>
              <a:rPr lang="zh-CN" altLang="zh-CN">
                <a:solidFill>
                  <a:srgbClr val="0000FF"/>
                </a:solidFill>
                <a:latin typeface="Consolas" pitchFamily="49" charset="0"/>
                <a:ea typeface="仿宋" pitchFamily="49" charset="-122"/>
              </a:rPr>
              <a:t>），接下来的</a:t>
            </a:r>
            <a:r>
              <a:rPr lang="en-US" altLang="zh-CN">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对整数描述了</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中每个点的位置，每对整数由</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和</a:t>
            </a:r>
            <a:r>
              <a:rPr lang="en-US" altLang="zh-CN">
                <a:solidFill>
                  <a:srgbClr val="0000FF"/>
                </a:solidFill>
                <a:latin typeface="Consolas" pitchFamily="49" charset="0"/>
                <a:ea typeface="仿宋" pitchFamily="49" charset="-122"/>
              </a:rPr>
              <a:t>Y</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宋体" pitchFamily="2" charset="-122"/>
                <a:ea typeface="宋体" pitchFamily="2" charset="-122"/>
              </a:rPr>
              <a:t>≤</a:t>
            </a:r>
            <a:r>
              <a:rPr lang="en-US" altLang="zh-CN">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Y</a:t>
            </a:r>
            <a:r>
              <a:rPr lang="zh-CN" altLang="zh-CN">
                <a:solidFill>
                  <a:srgbClr val="0000FF"/>
                </a:solidFill>
                <a:latin typeface="宋体" pitchFamily="2" charset="-122"/>
                <a:ea typeface="宋体" pitchFamily="2" charset="-122"/>
              </a:rPr>
              <a:t>≤</a:t>
            </a:r>
            <a:r>
              <a:rPr lang="en-US" altLang="zh-CN">
                <a:solidFill>
                  <a:srgbClr val="0000FF"/>
                </a:solidFill>
                <a:latin typeface="Consolas" pitchFamily="49" charset="0"/>
                <a:ea typeface="仿宋" pitchFamily="49" charset="-122"/>
              </a:rPr>
              <a:t>10^9</a:t>
            </a:r>
            <a:r>
              <a:rPr lang="zh-CN" altLang="zh-CN">
                <a:solidFill>
                  <a:srgbClr val="0000FF"/>
                </a:solidFill>
                <a:latin typeface="Consolas" pitchFamily="49" charset="0"/>
                <a:ea typeface="仿宋" pitchFamily="49" charset="-122"/>
              </a:rPr>
              <a:t>）组成，表示一个点的位置。接下来的</a:t>
            </a:r>
            <a:r>
              <a:rPr lang="en-US" altLang="zh-CN">
                <a:solidFill>
                  <a:srgbClr val="0000FF"/>
                </a:solidFill>
                <a:latin typeface="Consolas" pitchFamily="49" charset="0"/>
                <a:ea typeface="仿宋" pitchFamily="49" charset="-122"/>
              </a:rPr>
              <a:t> N </a:t>
            </a:r>
            <a:r>
              <a:rPr lang="zh-CN" altLang="zh-CN">
                <a:solidFill>
                  <a:srgbClr val="0000FF"/>
                </a:solidFill>
                <a:latin typeface="Consolas" pitchFamily="49" charset="0"/>
                <a:ea typeface="仿宋" pitchFamily="49" charset="-122"/>
              </a:rPr>
              <a:t>对整数描述了</a:t>
            </a:r>
            <a:r>
              <a:rPr lang="en-US" altLang="zh-CN">
                <a:solidFill>
                  <a:srgbClr val="0000FF"/>
                </a:solidFill>
                <a:latin typeface="Consolas" pitchFamily="49" charset="0"/>
                <a:ea typeface="仿宋" pitchFamily="49" charset="-122"/>
              </a:rPr>
              <a:t>B</a:t>
            </a:r>
            <a:r>
              <a:rPr lang="zh-CN" altLang="zh-CN">
                <a:solidFill>
                  <a:srgbClr val="0000FF"/>
                </a:solidFill>
                <a:latin typeface="Consolas" pitchFamily="49" charset="0"/>
                <a:ea typeface="仿宋" pitchFamily="49" charset="-122"/>
              </a:rPr>
              <a:t>中每个点的位置，输入方式与</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中点相同。</a:t>
            </a:r>
          </a:p>
          <a:p>
            <a:pPr>
              <a:lnSpc>
                <a:spcPts val="3200"/>
              </a:lnSpc>
              <a:spcBef>
                <a:spcPts val="600"/>
              </a:spcBef>
            </a:pPr>
            <a:r>
              <a:rPr lang="zh-CN" altLang="zh-CN">
                <a:solidFill>
                  <a:srgbClr val="FF0000"/>
                </a:solidFill>
                <a:latin typeface="Consolas" pitchFamily="49" charset="0"/>
                <a:ea typeface="仿宋" pitchFamily="49" charset="-122"/>
              </a:rPr>
              <a:t>输出格式</a:t>
            </a:r>
            <a:r>
              <a:rPr lang="zh-CN" altLang="zh-CN">
                <a:solidFill>
                  <a:srgbClr val="0000FF"/>
                </a:solidFill>
                <a:latin typeface="Consolas" pitchFamily="49" charset="0"/>
                <a:ea typeface="仿宋" pitchFamily="49" charset="-122"/>
              </a:rPr>
              <a:t>：对于每个测试用例，在一行中输出精度为三位小数的最小距离。</a:t>
            </a:r>
          </a:p>
        </p:txBody>
      </p:sp>
      <p:grpSp>
        <p:nvGrpSpPr>
          <p:cNvPr id="8" name="组合 7"/>
          <p:cNvGrpSpPr/>
          <p:nvPr/>
        </p:nvGrpSpPr>
        <p:grpSpPr>
          <a:xfrm>
            <a:off x="642910" y="357166"/>
            <a:ext cx="1041400" cy="1044575"/>
            <a:chOff x="857224" y="1071546"/>
            <a:chExt cx="1041400" cy="1044575"/>
          </a:xfrm>
        </p:grpSpPr>
        <p:sp>
          <p:nvSpPr>
            <p:cNvPr id="9"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10"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
        <p:nvSpPr>
          <p:cNvPr id="7" name="灯片编号占位符 6"/>
          <p:cNvSpPr>
            <a:spLocks noGrp="1"/>
          </p:cNvSpPr>
          <p:nvPr>
            <p:ph type="sldNum" sz="quarter" idx="12"/>
          </p:nvPr>
        </p:nvSpPr>
        <p:spPr/>
        <p:txBody>
          <a:bodyPr/>
          <a:lstStyle/>
          <a:p>
            <a:pPr>
              <a:defRPr/>
            </a:pPr>
            <a:fld id="{51116183-1013-4E64-BBE8-A5C1D5D4F838}" type="slidenum">
              <a:rPr lang="en-US" altLang="zh-CN" smtClean="0"/>
              <a:pPr>
                <a:defRPr/>
              </a:pPr>
              <a:t>144</a:t>
            </a:fld>
            <a:r>
              <a:rPr lang="en-US" altLang="zh-CN"/>
              <a:t>/167</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714356"/>
            <a:ext cx="8072494" cy="4695814"/>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nSpc>
                <a:spcPts val="3200"/>
              </a:lnSpc>
            </a:pPr>
            <a:r>
              <a:rPr lang="zh-CN" altLang="zh-CN">
                <a:solidFill>
                  <a:srgbClr val="FF0000"/>
                </a:solidFill>
                <a:latin typeface="Consolas" pitchFamily="49" charset="0"/>
                <a:ea typeface="仿宋" pitchFamily="49" charset="-122"/>
              </a:rPr>
              <a:t>输入样例：</a:t>
            </a:r>
          </a:p>
          <a:p>
            <a:pPr>
              <a:lnSpc>
                <a:spcPts val="3200"/>
              </a:lnSpc>
            </a:pPr>
            <a:r>
              <a:rPr lang="en-US" altLang="zh-CN" sz="2000">
                <a:solidFill>
                  <a:srgbClr val="0000FF"/>
                </a:solidFill>
                <a:latin typeface="Consolas" pitchFamily="49" charset="0"/>
                <a:ea typeface="仿宋" pitchFamily="49" charset="-122"/>
              </a:rPr>
              <a:t>2</a:t>
            </a:r>
            <a:endParaRPr lang="zh-CN" altLang="zh-CN" sz="2000">
              <a:solidFill>
                <a:srgbClr val="0000FF"/>
              </a:solidFill>
              <a:latin typeface="Consolas" pitchFamily="49" charset="0"/>
              <a:ea typeface="仿宋" pitchFamily="49" charset="-122"/>
            </a:endParaRPr>
          </a:p>
          <a:p>
            <a:pPr>
              <a:lnSpc>
                <a:spcPts val="3200"/>
              </a:lnSpc>
            </a:pPr>
            <a:r>
              <a:rPr lang="en-US" altLang="zh-CN" sz="2000">
                <a:solidFill>
                  <a:srgbClr val="0000FF"/>
                </a:solidFill>
                <a:latin typeface="Consolas" pitchFamily="49" charset="0"/>
                <a:ea typeface="仿宋" pitchFamily="49" charset="-122"/>
              </a:rPr>
              <a:t>4</a:t>
            </a:r>
            <a:endParaRPr lang="zh-CN" altLang="zh-CN" sz="2000">
              <a:solidFill>
                <a:srgbClr val="0000FF"/>
              </a:solidFill>
              <a:latin typeface="Consolas" pitchFamily="49" charset="0"/>
              <a:ea typeface="仿宋" pitchFamily="49" charset="-122"/>
            </a:endParaRPr>
          </a:p>
          <a:p>
            <a:pPr>
              <a:lnSpc>
                <a:spcPts val="3200"/>
              </a:lnSpc>
            </a:pPr>
            <a:r>
              <a:rPr lang="en-US" altLang="zh-CN" sz="2000">
                <a:solidFill>
                  <a:srgbClr val="0000FF"/>
                </a:solidFill>
                <a:latin typeface="Consolas" pitchFamily="49" charset="0"/>
                <a:ea typeface="仿宋" pitchFamily="49" charset="-122"/>
              </a:rPr>
              <a:t>0 0 0 1 1 0 1 1</a:t>
            </a:r>
            <a:endParaRPr lang="zh-CN" altLang="zh-CN" sz="2000">
              <a:solidFill>
                <a:srgbClr val="0000FF"/>
              </a:solidFill>
              <a:latin typeface="Consolas" pitchFamily="49" charset="0"/>
              <a:ea typeface="仿宋" pitchFamily="49" charset="-122"/>
            </a:endParaRPr>
          </a:p>
          <a:p>
            <a:pPr>
              <a:lnSpc>
                <a:spcPts val="3200"/>
              </a:lnSpc>
            </a:pPr>
            <a:r>
              <a:rPr lang="en-US" altLang="zh-CN" sz="2000">
                <a:solidFill>
                  <a:srgbClr val="0000FF"/>
                </a:solidFill>
                <a:latin typeface="Consolas" pitchFamily="49" charset="0"/>
                <a:ea typeface="仿宋" pitchFamily="49" charset="-122"/>
              </a:rPr>
              <a:t>2 2 2 3 3 2 3 3</a:t>
            </a:r>
            <a:endParaRPr lang="zh-CN" altLang="zh-CN" sz="2000">
              <a:solidFill>
                <a:srgbClr val="0000FF"/>
              </a:solidFill>
              <a:latin typeface="Consolas" pitchFamily="49" charset="0"/>
              <a:ea typeface="仿宋" pitchFamily="49" charset="-122"/>
            </a:endParaRPr>
          </a:p>
          <a:p>
            <a:pPr>
              <a:lnSpc>
                <a:spcPts val="3200"/>
              </a:lnSpc>
            </a:pPr>
            <a:r>
              <a:rPr lang="en-US" altLang="zh-CN" sz="2000">
                <a:solidFill>
                  <a:srgbClr val="0000FF"/>
                </a:solidFill>
                <a:latin typeface="Consolas" pitchFamily="49" charset="0"/>
                <a:ea typeface="仿宋" pitchFamily="49" charset="-122"/>
              </a:rPr>
              <a:t>4</a:t>
            </a:r>
            <a:endParaRPr lang="zh-CN" altLang="zh-CN" sz="2000">
              <a:solidFill>
                <a:srgbClr val="0000FF"/>
              </a:solidFill>
              <a:latin typeface="Consolas" pitchFamily="49" charset="0"/>
              <a:ea typeface="仿宋" pitchFamily="49" charset="-122"/>
            </a:endParaRPr>
          </a:p>
          <a:p>
            <a:pPr>
              <a:lnSpc>
                <a:spcPts val="3200"/>
              </a:lnSpc>
            </a:pPr>
            <a:r>
              <a:rPr lang="en-US" altLang="zh-CN" sz="2000">
                <a:solidFill>
                  <a:srgbClr val="0000FF"/>
                </a:solidFill>
                <a:latin typeface="Consolas" pitchFamily="49" charset="0"/>
                <a:ea typeface="仿宋" pitchFamily="49" charset="-122"/>
              </a:rPr>
              <a:t>0 0 0 0 0 0 0 0</a:t>
            </a:r>
            <a:endParaRPr lang="zh-CN" altLang="zh-CN" sz="2000">
              <a:solidFill>
                <a:srgbClr val="0000FF"/>
              </a:solidFill>
              <a:latin typeface="Consolas" pitchFamily="49" charset="0"/>
              <a:ea typeface="仿宋" pitchFamily="49" charset="-122"/>
            </a:endParaRPr>
          </a:p>
          <a:p>
            <a:pPr>
              <a:lnSpc>
                <a:spcPts val="3200"/>
              </a:lnSpc>
            </a:pPr>
            <a:r>
              <a:rPr lang="en-US" altLang="zh-CN" sz="2000">
                <a:solidFill>
                  <a:srgbClr val="0000FF"/>
                </a:solidFill>
                <a:latin typeface="Consolas" pitchFamily="49" charset="0"/>
                <a:ea typeface="仿宋" pitchFamily="49" charset="-122"/>
              </a:rPr>
              <a:t>0 0 0 0 0 0 0 0</a:t>
            </a:r>
            <a:endParaRPr lang="zh-CN" altLang="zh-CN" sz="2000">
              <a:solidFill>
                <a:srgbClr val="0000FF"/>
              </a:solidFill>
              <a:latin typeface="Consolas" pitchFamily="49" charset="0"/>
              <a:ea typeface="仿宋" pitchFamily="49" charset="-122"/>
            </a:endParaRPr>
          </a:p>
          <a:p>
            <a:pPr>
              <a:lnSpc>
                <a:spcPts val="3200"/>
              </a:lnSpc>
            </a:pPr>
            <a:r>
              <a:rPr lang="zh-CN" altLang="zh-CN">
                <a:solidFill>
                  <a:srgbClr val="FF0000"/>
                </a:solidFill>
                <a:latin typeface="Consolas" pitchFamily="49" charset="0"/>
                <a:ea typeface="仿宋" pitchFamily="49" charset="-122"/>
              </a:rPr>
              <a:t>输出样例：</a:t>
            </a:r>
          </a:p>
          <a:p>
            <a:pPr>
              <a:lnSpc>
                <a:spcPts val="3200"/>
              </a:lnSpc>
            </a:pPr>
            <a:r>
              <a:rPr lang="en-US" altLang="zh-CN" sz="2000">
                <a:solidFill>
                  <a:srgbClr val="0000FF"/>
                </a:solidFill>
                <a:latin typeface="Consolas" pitchFamily="49" charset="0"/>
                <a:ea typeface="仿宋" pitchFamily="49" charset="-122"/>
              </a:rPr>
              <a:t>1.414</a:t>
            </a:r>
            <a:endParaRPr lang="zh-CN" altLang="zh-CN" sz="2000">
              <a:solidFill>
                <a:srgbClr val="0000FF"/>
              </a:solidFill>
              <a:latin typeface="Consolas" pitchFamily="49" charset="0"/>
              <a:ea typeface="仿宋" pitchFamily="49" charset="-122"/>
            </a:endParaRPr>
          </a:p>
          <a:p>
            <a:pPr>
              <a:lnSpc>
                <a:spcPts val="3200"/>
              </a:lnSpc>
            </a:pPr>
            <a:r>
              <a:rPr lang="en-US" altLang="zh-CN" sz="2000">
                <a:solidFill>
                  <a:srgbClr val="0000FF"/>
                </a:solidFill>
                <a:latin typeface="Consolas" pitchFamily="49" charset="0"/>
                <a:ea typeface="仿宋" pitchFamily="49" charset="-122"/>
              </a:rPr>
              <a:t>0.000</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pPr>
              <a:defRPr/>
            </a:pPr>
            <a:fld id="{51116183-1013-4E64-BBE8-A5C1D5D4F838}" type="slidenum">
              <a:rPr lang="en-US" altLang="zh-CN" smtClean="0"/>
              <a:pPr>
                <a:defRPr/>
              </a:pPr>
              <a:t>145</a:t>
            </a:fld>
            <a:r>
              <a:rPr lang="en-US" altLang="zh-CN"/>
              <a:t>/167</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4282" y="571480"/>
            <a:ext cx="642942"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Consolas" pitchFamily="49" charset="0"/>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642910" y="1285860"/>
            <a:ext cx="8215370" cy="487915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nSpc>
                <a:spcPts val="3200"/>
              </a:lnSpc>
              <a:spcBef>
                <a:spcPts val="600"/>
              </a:spcBef>
              <a:buBlip>
                <a:blip r:embed="rId2"/>
              </a:buBlip>
            </a:pPr>
            <a:r>
              <a:rPr lang="zh-CN" altLang="zh-CN" sz="2200">
                <a:solidFill>
                  <a:srgbClr val="0000FF"/>
                </a:solidFill>
                <a:latin typeface="Consolas" pitchFamily="49" charset="0"/>
                <a:ea typeface="仿宋" pitchFamily="49" charset="-122"/>
              </a:rPr>
              <a:t>由于题目给出了最多的点数，故采用数组存放点集。</a:t>
            </a:r>
          </a:p>
          <a:p>
            <a:pPr marL="457200" indent="-457200">
              <a:lnSpc>
                <a:spcPts val="3200"/>
              </a:lnSpc>
              <a:spcBef>
                <a:spcPts val="600"/>
              </a:spcBef>
              <a:buBlip>
                <a:blip r:embed="rId2"/>
              </a:buBlip>
            </a:pPr>
            <a:r>
              <a:rPr lang="zh-CN" altLang="zh-CN" sz="2200">
                <a:solidFill>
                  <a:srgbClr val="0000FF"/>
                </a:solidFill>
                <a:latin typeface="Consolas" pitchFamily="49" charset="0"/>
                <a:ea typeface="仿宋" pitchFamily="49" charset="-122"/>
              </a:rPr>
              <a:t>尽管每个点的坐标为整数，但整数的最大值可达</a:t>
            </a:r>
            <a:r>
              <a:rPr lang="en-US" altLang="zh-CN" sz="2200">
                <a:solidFill>
                  <a:srgbClr val="0000FF"/>
                </a:solidFill>
                <a:latin typeface="Consolas" pitchFamily="49" charset="0"/>
                <a:ea typeface="仿宋" pitchFamily="49" charset="-122"/>
              </a:rPr>
              <a:t>10^9</a:t>
            </a:r>
            <a:r>
              <a:rPr lang="zh-CN" altLang="zh-CN" sz="2200">
                <a:solidFill>
                  <a:srgbClr val="0000FF"/>
                </a:solidFill>
                <a:latin typeface="Consolas" pitchFamily="49" charset="0"/>
                <a:ea typeface="仿宋" pitchFamily="49" charset="-122"/>
              </a:rPr>
              <a:t>，另外需要求点之间距离（距离值为</a:t>
            </a:r>
            <a:r>
              <a:rPr lang="en-US" altLang="zh-CN" sz="2200">
                <a:solidFill>
                  <a:srgbClr val="0000FF"/>
                </a:solidFill>
                <a:latin typeface="Consolas" pitchFamily="49" charset="0"/>
                <a:ea typeface="仿宋" pitchFamily="49" charset="-122"/>
              </a:rPr>
              <a:t>double</a:t>
            </a:r>
            <a:r>
              <a:rPr lang="zh-CN" altLang="zh-CN" sz="2200">
                <a:solidFill>
                  <a:srgbClr val="0000FF"/>
                </a:solidFill>
                <a:latin typeface="Consolas" pitchFamily="49" charset="0"/>
                <a:ea typeface="仿宋" pitchFamily="49" charset="-122"/>
              </a:rPr>
              <a:t>类型），为此改为</a:t>
            </a:r>
            <a:r>
              <a:rPr lang="en-US" altLang="zh-CN" sz="2200">
                <a:solidFill>
                  <a:srgbClr val="0000FF"/>
                </a:solidFill>
                <a:latin typeface="Consolas" pitchFamily="49" charset="0"/>
                <a:ea typeface="仿宋" pitchFamily="49" charset="-122"/>
              </a:rPr>
              <a:t>double</a:t>
            </a:r>
            <a:r>
              <a:rPr lang="zh-CN" altLang="zh-CN" sz="2200">
                <a:solidFill>
                  <a:srgbClr val="0000FF"/>
                </a:solidFill>
                <a:latin typeface="Consolas" pitchFamily="49" charset="0"/>
                <a:ea typeface="仿宋" pitchFamily="49" charset="-122"/>
              </a:rPr>
              <a:t>类型存放点坐标。</a:t>
            </a:r>
          </a:p>
          <a:p>
            <a:pPr marL="457200" indent="-457200">
              <a:lnSpc>
                <a:spcPts val="3200"/>
              </a:lnSpc>
              <a:spcBef>
                <a:spcPts val="600"/>
              </a:spcBef>
              <a:buBlip>
                <a:blip r:embed="rId2"/>
              </a:buBlip>
            </a:pPr>
            <a:r>
              <a:rPr lang="zh-CN" altLang="zh-CN" sz="2200">
                <a:solidFill>
                  <a:srgbClr val="0000FF"/>
                </a:solidFill>
                <a:latin typeface="Consolas" pitchFamily="49" charset="0"/>
                <a:ea typeface="仿宋" pitchFamily="49" charset="-122"/>
              </a:rPr>
              <a:t>全部点有</a:t>
            </a:r>
            <a:r>
              <a:rPr lang="en-US" altLang="zh-CN" sz="22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个，分为</a:t>
            </a:r>
            <a:r>
              <a:rPr lang="en-US" altLang="zh-CN" sz="2200">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和</a:t>
            </a:r>
            <a:r>
              <a:rPr lang="en-US" altLang="zh-CN" sz="2200">
                <a:solidFill>
                  <a:srgbClr val="0000FF"/>
                </a:solidFill>
                <a:latin typeface="Consolas" pitchFamily="49" charset="0"/>
                <a:ea typeface="仿宋" pitchFamily="49" charset="-122"/>
              </a:rPr>
              <a:t>B</a:t>
            </a:r>
            <a:r>
              <a:rPr lang="zh-CN" altLang="zh-CN" sz="2200">
                <a:solidFill>
                  <a:srgbClr val="0000FF"/>
                </a:solidFill>
                <a:latin typeface="Consolas" pitchFamily="49" charset="0"/>
                <a:ea typeface="仿宋" pitchFamily="49" charset="-122"/>
              </a:rPr>
              <a:t>两组，题目不是求这</a:t>
            </a:r>
            <a:r>
              <a:rPr lang="en-US" altLang="zh-CN" sz="22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个点中的最近点对距离，而是求最近点对（</a:t>
            </a:r>
            <a:r>
              <a:rPr lang="pt-BR" altLang="zh-CN" sz="2200">
                <a:solidFill>
                  <a:srgbClr val="0000FF"/>
                </a:solidFill>
                <a:latin typeface="Consolas" pitchFamily="49" charset="0"/>
                <a:ea typeface="仿宋" pitchFamily="49" charset="-122"/>
              </a:rPr>
              <a:t>p1</a:t>
            </a:r>
            <a:r>
              <a:rPr lang="zh-CN" altLang="zh-CN" sz="2200">
                <a:solidFill>
                  <a:srgbClr val="0000FF"/>
                </a:solidFill>
                <a:latin typeface="Consolas" pitchFamily="49" charset="0"/>
                <a:ea typeface="仿宋" pitchFamily="49" charset="-122"/>
              </a:rPr>
              <a:t>，</a:t>
            </a:r>
            <a:r>
              <a:rPr lang="pt-BR" altLang="zh-CN" sz="2200">
                <a:solidFill>
                  <a:srgbClr val="0000FF"/>
                </a:solidFill>
                <a:latin typeface="Consolas" pitchFamily="49" charset="0"/>
                <a:ea typeface="仿宋" pitchFamily="49" charset="-122"/>
              </a:rPr>
              <a:t>p2</a:t>
            </a:r>
            <a:r>
              <a:rPr lang="zh-CN" altLang="zh-CN" sz="2200">
                <a:solidFill>
                  <a:srgbClr val="0000FF"/>
                </a:solidFill>
                <a:latin typeface="Consolas" pitchFamily="49" charset="0"/>
                <a:ea typeface="仿宋" pitchFamily="49" charset="-122"/>
              </a:rPr>
              <a:t>）的距离，</a:t>
            </a:r>
            <a:r>
              <a:rPr lang="pt-BR" altLang="zh-CN" sz="2200">
                <a:solidFill>
                  <a:srgbClr val="0000FF"/>
                </a:solidFill>
                <a:latin typeface="Consolas" pitchFamily="49" charset="0"/>
                <a:ea typeface="仿宋" pitchFamily="49" charset="-122"/>
              </a:rPr>
              <a:t>p1</a:t>
            </a:r>
            <a:r>
              <a:rPr lang="zh-CN" altLang="zh-CN" sz="2200">
                <a:solidFill>
                  <a:srgbClr val="0000FF"/>
                </a:solidFill>
                <a:latin typeface="Consolas" pitchFamily="49" charset="0"/>
                <a:ea typeface="仿宋" pitchFamily="49" charset="-122"/>
              </a:rPr>
              <a:t>∈</a:t>
            </a:r>
            <a:r>
              <a:rPr lang="pt-BR" altLang="zh-CN" sz="2200">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a:t>
            </a:r>
            <a:r>
              <a:rPr lang="pt-BR" altLang="zh-CN" sz="2200">
                <a:solidFill>
                  <a:srgbClr val="0000FF"/>
                </a:solidFill>
                <a:latin typeface="Consolas" pitchFamily="49" charset="0"/>
                <a:ea typeface="仿宋" pitchFamily="49" charset="-122"/>
              </a:rPr>
              <a:t>p2</a:t>
            </a:r>
            <a:r>
              <a:rPr lang="zh-CN" altLang="zh-CN" sz="2200">
                <a:solidFill>
                  <a:srgbClr val="0000FF"/>
                </a:solidFill>
                <a:latin typeface="Consolas" pitchFamily="49" charset="0"/>
                <a:ea typeface="仿宋" pitchFamily="49" charset="-122"/>
              </a:rPr>
              <a:t>∈</a:t>
            </a:r>
            <a:r>
              <a:rPr lang="pt-BR" altLang="zh-CN" sz="2200">
                <a:solidFill>
                  <a:srgbClr val="0000FF"/>
                </a:solidFill>
                <a:latin typeface="Consolas" pitchFamily="49" charset="0"/>
                <a:ea typeface="仿宋" pitchFamily="49" charset="-122"/>
              </a:rPr>
              <a:t>B</a:t>
            </a:r>
            <a:r>
              <a:rPr lang="zh-CN" altLang="zh-CN" sz="2200">
                <a:solidFill>
                  <a:srgbClr val="0000FF"/>
                </a:solidFill>
                <a:latin typeface="Consolas" pitchFamily="49" charset="0"/>
                <a:ea typeface="仿宋" pitchFamily="49" charset="-122"/>
              </a:rPr>
              <a:t>。为此每个点增加</a:t>
            </a:r>
            <a:r>
              <a:rPr lang="pt-BR" altLang="zh-CN" sz="2200">
                <a:solidFill>
                  <a:srgbClr val="0000FF"/>
                </a:solidFill>
                <a:latin typeface="Consolas" pitchFamily="49" charset="0"/>
                <a:ea typeface="仿宋" pitchFamily="49" charset="-122"/>
              </a:rPr>
              <a:t>flag</a:t>
            </a:r>
            <a:r>
              <a:rPr lang="zh-CN" altLang="zh-CN" sz="2200">
                <a:solidFill>
                  <a:srgbClr val="0000FF"/>
                </a:solidFill>
                <a:latin typeface="Consolas" pitchFamily="49" charset="0"/>
                <a:ea typeface="仿宋" pitchFamily="49" charset="-122"/>
              </a:rPr>
              <a:t>成员，取值</a:t>
            </a:r>
            <a:r>
              <a:rPr lang="en-US" altLang="zh-CN" sz="2200">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表示属于</a:t>
            </a:r>
            <a:r>
              <a:rPr lang="en-US" altLang="zh-CN" sz="2200">
                <a:solidFill>
                  <a:srgbClr val="0000FF"/>
                </a:solidFill>
                <a:latin typeface="Consolas" pitchFamily="49" charset="0"/>
                <a:ea typeface="仿宋" pitchFamily="49" charset="-122"/>
              </a:rPr>
              <a:t>A</a:t>
            </a:r>
            <a:r>
              <a:rPr lang="zh-CN" altLang="zh-CN" sz="2200">
                <a:solidFill>
                  <a:srgbClr val="0000FF"/>
                </a:solidFill>
                <a:latin typeface="Consolas" pitchFamily="49" charset="0"/>
                <a:ea typeface="仿宋" pitchFamily="49" charset="-122"/>
              </a:rPr>
              <a:t>组的点，取值</a:t>
            </a:r>
            <a:r>
              <a:rPr lang="en-US" altLang="zh-CN" sz="2200">
                <a:solidFill>
                  <a:srgbClr val="0000FF"/>
                </a:solidFill>
                <a:latin typeface="Consolas" pitchFamily="49" charset="0"/>
                <a:ea typeface="仿宋" pitchFamily="49" charset="-122"/>
              </a:rPr>
              <a:t>'B'</a:t>
            </a:r>
            <a:r>
              <a:rPr lang="zh-CN" altLang="zh-CN" sz="2200">
                <a:solidFill>
                  <a:srgbClr val="0000FF"/>
                </a:solidFill>
                <a:latin typeface="Consolas" pitchFamily="49" charset="0"/>
                <a:ea typeface="仿宋" pitchFamily="49" charset="-122"/>
              </a:rPr>
              <a:t>表示属于</a:t>
            </a:r>
            <a:r>
              <a:rPr lang="en-US" altLang="zh-CN" sz="2200">
                <a:solidFill>
                  <a:srgbClr val="0000FF"/>
                </a:solidFill>
                <a:latin typeface="Consolas" pitchFamily="49" charset="0"/>
                <a:ea typeface="仿宋" pitchFamily="49" charset="-122"/>
              </a:rPr>
              <a:t>B</a:t>
            </a:r>
            <a:r>
              <a:rPr lang="zh-CN" altLang="zh-CN" sz="2200">
                <a:solidFill>
                  <a:srgbClr val="0000FF"/>
                </a:solidFill>
                <a:latin typeface="Consolas" pitchFamily="49" charset="0"/>
                <a:ea typeface="仿宋" pitchFamily="49" charset="-122"/>
              </a:rPr>
              <a:t>组的点，在求两个点</a:t>
            </a:r>
            <a:r>
              <a:rPr lang="en-US" altLang="zh-CN" sz="2200">
                <a:solidFill>
                  <a:srgbClr val="0000FF"/>
                </a:solidFill>
                <a:latin typeface="Consolas" pitchFamily="49" charset="0"/>
                <a:ea typeface="仿宋" pitchFamily="49" charset="-122"/>
              </a:rPr>
              <a:t>p1</a:t>
            </a:r>
            <a:r>
              <a:rPr lang="zh-CN" altLang="zh-CN" sz="2200">
                <a:solidFill>
                  <a:srgbClr val="0000FF"/>
                </a:solidFill>
                <a:latin typeface="Consolas" pitchFamily="49" charset="0"/>
                <a:ea typeface="仿宋" pitchFamily="49" charset="-122"/>
              </a:rPr>
              <a:t>和</a:t>
            </a:r>
            <a:r>
              <a:rPr lang="en-US" altLang="zh-CN" sz="2200">
                <a:solidFill>
                  <a:srgbClr val="0000FF"/>
                </a:solidFill>
                <a:latin typeface="Consolas" pitchFamily="49" charset="0"/>
                <a:ea typeface="仿宋" pitchFamily="49" charset="-122"/>
              </a:rPr>
              <a:t>p2</a:t>
            </a:r>
            <a:r>
              <a:rPr lang="zh-CN" altLang="zh-CN" sz="2200">
                <a:solidFill>
                  <a:srgbClr val="0000FF"/>
                </a:solidFill>
                <a:latin typeface="Consolas" pitchFamily="49" charset="0"/>
                <a:ea typeface="仿宋" pitchFamily="49" charset="-122"/>
              </a:rPr>
              <a:t>的距离时，当它们的</a:t>
            </a:r>
            <a:r>
              <a:rPr lang="en-US" altLang="zh-CN" sz="2200">
                <a:solidFill>
                  <a:srgbClr val="0000FF"/>
                </a:solidFill>
                <a:latin typeface="Consolas" pitchFamily="49" charset="0"/>
                <a:ea typeface="仿宋" pitchFamily="49" charset="-122"/>
              </a:rPr>
              <a:t>flag</a:t>
            </a:r>
            <a:r>
              <a:rPr lang="zh-CN" altLang="zh-CN" sz="2200">
                <a:solidFill>
                  <a:srgbClr val="0000FF"/>
                </a:solidFill>
                <a:latin typeface="Consolas" pitchFamily="49" charset="0"/>
                <a:ea typeface="仿宋" pitchFamily="49" charset="-122"/>
              </a:rPr>
              <a:t>值不同则按常规方法求距离，当它们的</a:t>
            </a:r>
            <a:r>
              <a:rPr lang="en-US" altLang="zh-CN" sz="2200">
                <a:solidFill>
                  <a:srgbClr val="0000FF"/>
                </a:solidFill>
                <a:latin typeface="Consolas" pitchFamily="49" charset="0"/>
                <a:ea typeface="仿宋" pitchFamily="49" charset="-122"/>
              </a:rPr>
              <a:t>flag</a:t>
            </a:r>
            <a:r>
              <a:rPr lang="zh-CN" altLang="zh-CN" sz="2200">
                <a:solidFill>
                  <a:srgbClr val="0000FF"/>
                </a:solidFill>
                <a:latin typeface="Consolas" pitchFamily="49" charset="0"/>
                <a:ea typeface="仿宋" pitchFamily="49" charset="-122"/>
              </a:rPr>
              <a:t>值相同时认为距离为∞，这样就将求两组点之间的最近点对转换为求</a:t>
            </a:r>
            <a:r>
              <a:rPr lang="pt-BR" altLang="zh-CN" sz="2200">
                <a:solidFill>
                  <a:srgbClr val="0000FF"/>
                </a:solidFill>
                <a:latin typeface="Consolas" pitchFamily="49" charset="0"/>
                <a:ea typeface="仿宋" pitchFamily="49" charset="-122"/>
              </a:rPr>
              <a:t>2</a:t>
            </a:r>
            <a:r>
              <a:rPr lang="pt-BR"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个点集中最近点对距离了。</a:t>
            </a:r>
          </a:p>
        </p:txBody>
      </p:sp>
      <p:sp>
        <p:nvSpPr>
          <p:cNvPr id="8" name="TextBox 7"/>
          <p:cNvSpPr txBox="1"/>
          <p:nvPr/>
        </p:nvSpPr>
        <p:spPr>
          <a:xfrm>
            <a:off x="879802" y="594058"/>
            <a:ext cx="7572428" cy="461665"/>
          </a:xfrm>
          <a:prstGeom prst="rect">
            <a:avLst/>
          </a:prstGeom>
          <a:noFill/>
        </p:spPr>
        <p:txBody>
          <a:bodyPr wrap="square" rtlCol="0">
            <a:spAutoFit/>
          </a:bodyPr>
          <a:lstStyle/>
          <a:p>
            <a:r>
              <a:rPr lang="zh-CN" altLang="zh-CN">
                <a:solidFill>
                  <a:srgbClr val="0000FF"/>
                </a:solidFill>
                <a:latin typeface="Consolas" pitchFamily="49" charset="0"/>
                <a:ea typeface="仿宋" pitchFamily="49" charset="-122"/>
              </a:rPr>
              <a:t>采用求最近点对距离的分治法思路，需要做</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点修改：</a:t>
            </a:r>
            <a:endParaRPr lang="zh-CN" altLang="en-US">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pPr>
              <a:defRPr/>
            </a:pPr>
            <a:fld id="{51116183-1013-4E64-BBE8-A5C1D5D4F838}" type="slidenum">
              <a:rPr lang="en-US" altLang="zh-CN" smtClean="0"/>
              <a:pPr>
                <a:defRPr/>
              </a:pPr>
              <a:t>146</a:t>
            </a:fld>
            <a:r>
              <a:rPr lang="en-US" altLang="zh-CN"/>
              <a:t>/167</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357158" y="570306"/>
            <a:ext cx="8572560" cy="3930454"/>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2800"/>
              </a:lnSpc>
            </a:pPr>
            <a:r>
              <a:rPr lang="en-US" altLang="zh-CN" sz="2000">
                <a:solidFill>
                  <a:srgbClr val="0000FF"/>
                </a:solidFill>
                <a:latin typeface="Consolas" pitchFamily="49" charset="0"/>
                <a:ea typeface="仿宋" pitchFamily="49" charset="-122"/>
              </a:rPr>
              <a:t>#include&lt;iostream&gt;</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#include&lt;algorithm&gt;</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#include&lt;cmath&gt;</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using namespace std;</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#define INF 0x3f3f3f3f</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#define MAXN 200005</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Point</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点的类型</a:t>
            </a:r>
          </a:p>
          <a:p>
            <a:pPr defTabSz="360000">
              <a:lnSpc>
                <a:spcPts val="2800"/>
              </a:lnSpc>
            </a:pPr>
            <a:r>
              <a:rPr lang="en-US" altLang="zh-CN" sz="2000">
                <a:solidFill>
                  <a:srgbClr val="0000FF"/>
                </a:solidFill>
                <a:latin typeface="Consolas" pitchFamily="49" charset="0"/>
                <a:ea typeface="仿宋" pitchFamily="49" charset="-122"/>
              </a:rPr>
              <a:t>	double x,y;</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char flag;				</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表示属于</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组的点，</a:t>
            </a:r>
            <a:r>
              <a:rPr lang="en-US" altLang="zh-CN" sz="2000">
                <a:solidFill>
                  <a:srgbClr val="00B0F0"/>
                </a:solidFill>
                <a:latin typeface="Consolas" pitchFamily="49" charset="0"/>
                <a:ea typeface="仿宋" pitchFamily="49" charset="-122"/>
              </a:rPr>
              <a:t>'B'</a:t>
            </a:r>
            <a:r>
              <a:rPr lang="zh-CN" altLang="zh-CN" sz="2000">
                <a:solidFill>
                  <a:srgbClr val="00B0F0"/>
                </a:solidFill>
                <a:latin typeface="Consolas" pitchFamily="49" charset="0"/>
                <a:ea typeface="仿宋" pitchFamily="49" charset="-122"/>
              </a:rPr>
              <a:t>表示属于</a:t>
            </a:r>
            <a:r>
              <a:rPr lang="en-US" altLang="zh-CN" sz="2000">
                <a:solidFill>
                  <a:srgbClr val="00B0F0"/>
                </a:solidFill>
                <a:latin typeface="Consolas" pitchFamily="49" charset="0"/>
                <a:ea typeface="仿宋" pitchFamily="49" charset="-122"/>
              </a:rPr>
              <a:t>B</a:t>
            </a:r>
            <a:r>
              <a:rPr lang="zh-CN" altLang="zh-CN" sz="2000">
                <a:solidFill>
                  <a:srgbClr val="00B0F0"/>
                </a:solidFill>
                <a:latin typeface="Consolas" pitchFamily="49" charset="0"/>
                <a:ea typeface="仿宋" pitchFamily="49" charset="-122"/>
              </a:rPr>
              <a:t>组的点</a:t>
            </a:r>
          </a:p>
          <a:p>
            <a:pPr defTabSz="360000">
              <a:lnSpc>
                <a:spcPts val="2800"/>
              </a:lnSpc>
            </a:pPr>
            <a:r>
              <a:rPr lang="en-US" altLang="zh-CN" sz="2000">
                <a:solidFill>
                  <a:srgbClr val="0000FF"/>
                </a:solidFill>
                <a:latin typeface="Consolas" pitchFamily="49" charset="0"/>
                <a:ea typeface="仿宋" pitchFamily="49" charset="-122"/>
              </a:rPr>
              <a:t>} p[MAXN],p1[MAXN];</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147</a:t>
            </a:fld>
            <a:r>
              <a:rPr lang="en-US" altLang="zh-CN"/>
              <a:t>/167</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357158" y="570306"/>
            <a:ext cx="8424863" cy="4698036"/>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lIns="216000" tIns="180000" bIns="180000">
            <a:spAutoFit/>
          </a:bodyPr>
          <a:lstStyle/>
          <a:p>
            <a:pPr defTabSz="360000">
              <a:lnSpc>
                <a:spcPts val="2600"/>
              </a:lnSpc>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cmpx</a:t>
            </a:r>
            <a:r>
              <a:rPr lang="en-US" altLang="zh-CN" sz="2000">
                <a:solidFill>
                  <a:srgbClr val="0000FF"/>
                </a:solidFill>
                <a:latin typeface="Consolas" pitchFamily="49" charset="0"/>
                <a:ea typeface="仿宋" pitchFamily="49" charset="-122"/>
              </a:rPr>
              <a:t>(Point a,Point b)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用于按</a:t>
            </a:r>
            <a:r>
              <a:rPr lang="en-US" altLang="zh-CN" sz="2000">
                <a:solidFill>
                  <a:srgbClr val="00B050"/>
                </a:solidFill>
                <a:latin typeface="Consolas" pitchFamily="49" charset="0"/>
                <a:ea typeface="仿宋" pitchFamily="49" charset="-122"/>
              </a:rPr>
              <a:t>x</a:t>
            </a:r>
            <a:r>
              <a:rPr lang="zh-CN" altLang="zh-CN" sz="2000">
                <a:solidFill>
                  <a:srgbClr val="00B050"/>
                </a:solidFill>
                <a:latin typeface="Consolas" pitchFamily="49" charset="0"/>
                <a:ea typeface="仿宋" pitchFamily="49" charset="-122"/>
              </a:rPr>
              <a:t>递增排序</a:t>
            </a:r>
          </a:p>
          <a:p>
            <a:pPr defTabSz="360000">
              <a:lnSpc>
                <a:spcPts val="2600"/>
              </a:lnSpc>
            </a:pPr>
            <a:r>
              <a:rPr lang="en-US" altLang="zh-CN" sz="2000">
                <a:solidFill>
                  <a:srgbClr val="0000FF"/>
                </a:solidFill>
                <a:latin typeface="Consolas" pitchFamily="49" charset="0"/>
                <a:ea typeface="仿宋" pitchFamily="49" charset="-122"/>
              </a:rPr>
              <a:t>	return a.x&lt;b.x;</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a:t>
            </a:r>
          </a:p>
          <a:p>
            <a:pPr defTabSz="360000">
              <a:lnSpc>
                <a:spcPts val="2600"/>
              </a:lnSpc>
            </a:pP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cmpy</a:t>
            </a:r>
            <a:r>
              <a:rPr lang="en-US" altLang="zh-CN" sz="2000">
                <a:solidFill>
                  <a:srgbClr val="0000FF"/>
                </a:solidFill>
                <a:latin typeface="Consolas" pitchFamily="49" charset="0"/>
                <a:ea typeface="仿宋" pitchFamily="49" charset="-122"/>
              </a:rPr>
              <a:t>(Point a,Point b)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用于按</a:t>
            </a:r>
            <a:r>
              <a:rPr lang="en-US" altLang="zh-CN" sz="2000">
                <a:solidFill>
                  <a:srgbClr val="00B050"/>
                </a:solidFill>
                <a:latin typeface="Consolas" pitchFamily="49" charset="0"/>
                <a:ea typeface="仿宋" pitchFamily="49" charset="-122"/>
              </a:rPr>
              <a:t>y</a:t>
            </a:r>
            <a:r>
              <a:rPr lang="zh-CN" altLang="zh-CN" sz="2000">
                <a:solidFill>
                  <a:srgbClr val="00B050"/>
                </a:solidFill>
                <a:latin typeface="Consolas" pitchFamily="49" charset="0"/>
                <a:ea typeface="仿宋" pitchFamily="49" charset="-122"/>
              </a:rPr>
              <a:t>递增排序</a:t>
            </a:r>
          </a:p>
          <a:p>
            <a:pPr defTabSz="360000">
              <a:lnSpc>
                <a:spcPts val="2600"/>
              </a:lnSpc>
            </a:pPr>
            <a:r>
              <a:rPr lang="en-US" altLang="zh-CN" sz="2000">
                <a:solidFill>
                  <a:srgbClr val="0000FF"/>
                </a:solidFill>
                <a:latin typeface="Consolas" pitchFamily="49" charset="0"/>
                <a:ea typeface="仿宋" pitchFamily="49" charset="-122"/>
              </a:rPr>
              <a:t>	return a.y&lt;b.y;</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a:t>
            </a:r>
          </a:p>
          <a:p>
            <a:pPr defTabSz="360000">
              <a:lnSpc>
                <a:spcPts val="2600"/>
              </a:lnSpc>
            </a:pP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dis</a:t>
            </a:r>
            <a:r>
              <a:rPr lang="en-US" altLang="zh-CN" sz="2000">
                <a:solidFill>
                  <a:srgbClr val="0000FF"/>
                </a:solidFill>
                <a:latin typeface="Consolas" pitchFamily="49" charset="0"/>
                <a:ea typeface="仿宋" pitchFamily="49" charset="-122"/>
              </a:rPr>
              <a:t>(Point a,Point b)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求两个点之间的距离</a:t>
            </a:r>
          </a:p>
          <a:p>
            <a:pPr defTabSz="360000">
              <a:lnSpc>
                <a:spcPts val="2600"/>
              </a:lnSpc>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a.flag!=b.flag</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不同组的点之间求距离</a:t>
            </a:r>
          </a:p>
          <a:p>
            <a:pPr defTabSz="360000">
              <a:lnSpc>
                <a:spcPts val="2600"/>
              </a:lnSpc>
            </a:pPr>
            <a:r>
              <a:rPr lang="en-US" altLang="zh-CN" sz="2000">
                <a:solidFill>
                  <a:srgbClr val="0000FF"/>
                </a:solidFill>
                <a:latin typeface="Consolas" pitchFamily="49" charset="0"/>
                <a:ea typeface="仿宋" pitchFamily="49" charset="-122"/>
              </a:rPr>
              <a:t>  		return sqrt((a.x-b.x)*(a.x-b.x)+(a.y-b.y)*(a.y-b.y));</a:t>
            </a:r>
            <a:endParaRPr lang="zh-CN" altLang="zh-CN" sz="2000">
              <a:solidFill>
                <a:srgbClr val="0000FF"/>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  	return INF;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同组中点之间距离为</a:t>
            </a:r>
            <a:r>
              <a:rPr lang="en-US" altLang="zh-CN" sz="2000">
                <a:solidFill>
                  <a:srgbClr val="00B0F0"/>
                </a:solidFill>
                <a:latin typeface="Consolas" pitchFamily="49" charset="0"/>
                <a:ea typeface="仿宋" pitchFamily="49" charset="-122"/>
              </a:rPr>
              <a:t>INF</a:t>
            </a:r>
            <a:endParaRPr lang="zh-CN" altLang="zh-CN" sz="2000">
              <a:solidFill>
                <a:srgbClr val="00B0F0"/>
              </a:solidFill>
              <a:latin typeface="Consolas" pitchFamily="49" charset="0"/>
              <a:ea typeface="仿宋" pitchFamily="49" charset="-122"/>
            </a:endParaRPr>
          </a:p>
          <a:p>
            <a:pPr defTabSz="360000">
              <a:lnSpc>
                <a:spcPts val="26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148</a:t>
            </a:fld>
            <a:r>
              <a:rPr lang="en-US" altLang="zh-CN"/>
              <a:t>/167</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357158" y="570306"/>
            <a:ext cx="8424863" cy="4364611"/>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lIns="216000" tIns="180000" bIns="180000">
            <a:spAutoFit/>
          </a:bodyPr>
          <a:lstStyle/>
          <a:p>
            <a:pPr defTabSz="360000">
              <a:lnSpc>
                <a:spcPts val="3000"/>
              </a:lnSpc>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mindistance</a:t>
            </a:r>
            <a:r>
              <a:rPr lang="en-US" altLang="zh-CN" sz="2000">
                <a:solidFill>
                  <a:srgbClr val="0000FF"/>
                </a:solidFill>
                <a:latin typeface="Consolas" pitchFamily="49" charset="0"/>
                <a:ea typeface="仿宋" pitchFamily="49" charset="-122"/>
              </a:rPr>
              <a:t>(int l,int r) {</a:t>
            </a:r>
          </a:p>
          <a:p>
            <a:pPr defTabSz="360000">
              <a:lnSpc>
                <a:spcPts val="30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a:t>
            </a:r>
            <a:r>
              <a:rPr lang="en-US" altLang="zh-CN" sz="2000">
                <a:solidFill>
                  <a:srgbClr val="00B050"/>
                </a:solidFill>
                <a:latin typeface="Consolas" pitchFamily="49" charset="0"/>
                <a:ea typeface="仿宋" pitchFamily="49" charset="-122"/>
              </a:rPr>
              <a:t>p[l..r]</a:t>
            </a:r>
            <a:r>
              <a:rPr lang="zh-CN" altLang="zh-CN" sz="2000">
                <a:solidFill>
                  <a:srgbClr val="00B050"/>
                </a:solidFill>
                <a:latin typeface="Consolas" pitchFamily="49" charset="0"/>
                <a:ea typeface="仿宋" pitchFamily="49" charset="-122"/>
              </a:rPr>
              <a:t>中不同组点之间的最小距离</a:t>
            </a:r>
          </a:p>
          <a:p>
            <a:pPr defTabSz="360000">
              <a:lnSpc>
                <a:spcPts val="3000"/>
              </a:lnSpc>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l&gt;=r</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区间中只有一个点</a:t>
            </a:r>
          </a:p>
          <a:p>
            <a:pPr defTabSz="360000">
              <a:lnSpc>
                <a:spcPts val="3000"/>
              </a:lnSpc>
            </a:pPr>
            <a:r>
              <a:rPr lang="en-US" altLang="zh-CN" sz="2000">
                <a:solidFill>
                  <a:srgbClr val="0000FF"/>
                </a:solidFill>
                <a:latin typeface="Consolas" pitchFamily="49" charset="0"/>
                <a:ea typeface="仿宋" pitchFamily="49" charset="-122"/>
              </a:rPr>
              <a:t>		return INF;</a:t>
            </a:r>
            <a:endParaRPr lang="zh-CN" altLang="zh-CN" sz="2000">
              <a:solidFill>
                <a:srgbClr val="0000FF"/>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l+1==r</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区间中只有两个点</a:t>
            </a:r>
          </a:p>
          <a:p>
            <a:pPr defTabSz="360000">
              <a:lnSpc>
                <a:spcPts val="3000"/>
              </a:lnSpc>
            </a:pPr>
            <a:r>
              <a:rPr lang="en-US" altLang="zh-CN" sz="2000">
                <a:solidFill>
                  <a:srgbClr val="0000FF"/>
                </a:solidFill>
                <a:latin typeface="Consolas" pitchFamily="49" charset="0"/>
                <a:ea typeface="仿宋" pitchFamily="49" charset="-122"/>
              </a:rPr>
              <a:t>  		return </a:t>
            </a:r>
            <a:r>
              <a:rPr lang="en-US" altLang="zh-CN" sz="2000">
                <a:solidFill>
                  <a:srgbClr val="FF0000"/>
                </a:solidFill>
                <a:latin typeface="Consolas" pitchFamily="49" charset="0"/>
                <a:ea typeface="仿宋" pitchFamily="49" charset="-122"/>
              </a:rPr>
              <a:t>dis</a:t>
            </a:r>
            <a:r>
              <a:rPr lang="en-US" altLang="zh-CN" sz="2000">
                <a:solidFill>
                  <a:srgbClr val="0000FF"/>
                </a:solidFill>
                <a:latin typeface="Consolas" pitchFamily="49" charset="0"/>
                <a:ea typeface="仿宋" pitchFamily="49" charset="-122"/>
              </a:rPr>
              <a:t>(p[l],p[r]);</a:t>
            </a:r>
            <a:endParaRPr lang="zh-CN" altLang="zh-CN" sz="2000">
              <a:solidFill>
                <a:srgbClr val="0000FF"/>
              </a:solidFill>
              <a:latin typeface="Consolas" pitchFamily="49" charset="0"/>
              <a:ea typeface="仿宋" pitchFamily="49" charset="-122"/>
            </a:endParaRPr>
          </a:p>
          <a:p>
            <a:pPr defTabSz="360000">
              <a:lnSpc>
                <a:spcPts val="3000"/>
              </a:lnSpc>
              <a:spcBef>
                <a:spcPts val="1200"/>
              </a:spcBef>
            </a:pPr>
            <a:r>
              <a:rPr lang="en-US" altLang="zh-CN" sz="2000">
                <a:solidFill>
                  <a:srgbClr val="0000FF"/>
                </a:solidFill>
                <a:latin typeface="Consolas" pitchFamily="49" charset="0"/>
                <a:ea typeface="仿宋" pitchFamily="49" charset="-122"/>
              </a:rPr>
              <a:t> 	int mid=(l+r)/2;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求中点位置</a:t>
            </a:r>
          </a:p>
          <a:p>
            <a:pPr defTabSz="360000">
              <a:lnSpc>
                <a:spcPts val="3000"/>
              </a:lnSpc>
            </a:pPr>
            <a:r>
              <a:rPr lang="en-US" altLang="zh-CN" sz="2000">
                <a:solidFill>
                  <a:srgbClr val="0000FF"/>
                </a:solidFill>
                <a:latin typeface="Consolas" pitchFamily="49" charset="0"/>
                <a:ea typeface="仿宋" pitchFamily="49" charset="-122"/>
              </a:rPr>
              <a:t>	double d1=</a:t>
            </a:r>
            <a:r>
              <a:rPr lang="en-US" altLang="zh-CN" sz="2000">
                <a:solidFill>
                  <a:srgbClr val="FF0000"/>
                </a:solidFill>
                <a:latin typeface="Consolas" pitchFamily="49" charset="0"/>
                <a:ea typeface="仿宋" pitchFamily="49" charset="-122"/>
              </a:rPr>
              <a:t>mindistance</a:t>
            </a:r>
            <a:r>
              <a:rPr lang="en-US" altLang="zh-CN" sz="2000">
                <a:solidFill>
                  <a:srgbClr val="0000FF"/>
                </a:solidFill>
                <a:latin typeface="Consolas" pitchFamily="49" charset="0"/>
                <a:ea typeface="仿宋" pitchFamily="49" charset="-122"/>
              </a:rPr>
              <a:t>(l,mid);</a:t>
            </a:r>
            <a:endParaRPr lang="zh-CN" altLang="zh-CN" sz="2000">
              <a:solidFill>
                <a:srgbClr val="0000FF"/>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	double d2=</a:t>
            </a:r>
            <a:r>
              <a:rPr lang="en-US" altLang="zh-CN" sz="2000">
                <a:solidFill>
                  <a:srgbClr val="FF0000"/>
                </a:solidFill>
                <a:latin typeface="Consolas" pitchFamily="49" charset="0"/>
                <a:ea typeface="仿宋" pitchFamily="49" charset="-122"/>
              </a:rPr>
              <a:t>mindistance</a:t>
            </a:r>
            <a:r>
              <a:rPr lang="en-US" altLang="zh-CN" sz="2000">
                <a:solidFill>
                  <a:srgbClr val="0000FF"/>
                </a:solidFill>
                <a:latin typeface="Consolas" pitchFamily="49" charset="0"/>
                <a:ea typeface="仿宋" pitchFamily="49" charset="-122"/>
              </a:rPr>
              <a:t>(mid+1,r);</a:t>
            </a:r>
            <a:endParaRPr lang="zh-CN" altLang="zh-CN" sz="2000">
              <a:solidFill>
                <a:srgbClr val="0000FF"/>
              </a:solidFill>
              <a:latin typeface="Consolas" pitchFamily="49" charset="0"/>
              <a:ea typeface="仿宋" pitchFamily="49" charset="-122"/>
            </a:endParaRPr>
          </a:p>
          <a:p>
            <a:pPr defTabSz="360000">
              <a:lnSpc>
                <a:spcPts val="3000"/>
              </a:lnSpc>
            </a:pPr>
            <a:r>
              <a:rPr lang="en-US" altLang="zh-CN" sz="2000">
                <a:solidFill>
                  <a:srgbClr val="0000FF"/>
                </a:solidFill>
                <a:latin typeface="Consolas" pitchFamily="49" charset="0"/>
                <a:ea typeface="仿宋" pitchFamily="49" charset="-122"/>
              </a:rPr>
              <a:t> 	double d=min(d1,d2);</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149</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357158" y="570306"/>
            <a:ext cx="8572560" cy="5339237"/>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wrap="square" lIns="216000" tIns="180000" bIns="180000">
            <a:spAutoFit/>
          </a:bodyPr>
          <a:lstStyle/>
          <a:p>
            <a:pPr defTabSz="360000">
              <a:lnSpc>
                <a:spcPts val="2800"/>
              </a:lnSpc>
            </a:pPr>
            <a:r>
              <a:rPr lang="en-US" altLang="zh-CN" sz="2000">
                <a:solidFill>
                  <a:srgbClr val="0000FF"/>
                </a:solidFill>
                <a:latin typeface="Consolas" pitchFamily="49" charset="0"/>
                <a:ea typeface="仿宋" pitchFamily="49" charset="-122"/>
              </a:rPr>
              <a:t>	int cnt=0;</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for(int i=l;i&lt;=r;i++){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与中点</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方向距离</a:t>
            </a:r>
            <a:r>
              <a:rPr lang="en-US" altLang="zh-CN" sz="2000">
                <a:solidFill>
                  <a:srgbClr val="00B0F0"/>
                </a:solidFill>
                <a:latin typeface="Consolas" pitchFamily="49" charset="0"/>
                <a:ea typeface="仿宋" pitchFamily="49" charset="-122"/>
              </a:rPr>
              <a:t>&lt;d</a:t>
            </a:r>
            <a:r>
              <a:rPr lang="zh-CN" altLang="zh-CN" sz="2000">
                <a:solidFill>
                  <a:srgbClr val="00B0F0"/>
                </a:solidFill>
                <a:latin typeface="Consolas" pitchFamily="49" charset="0"/>
                <a:ea typeface="仿宋" pitchFamily="49" charset="-122"/>
              </a:rPr>
              <a:t>的点存放在</a:t>
            </a:r>
            <a:r>
              <a:rPr lang="en-US" altLang="zh-CN" sz="2000">
                <a:solidFill>
                  <a:srgbClr val="00B0F0"/>
                </a:solidFill>
                <a:latin typeface="Consolas" pitchFamily="49" charset="0"/>
                <a:ea typeface="仿宋" pitchFamily="49" charset="-122"/>
              </a:rPr>
              <a:t>p1</a:t>
            </a:r>
            <a:r>
              <a:rPr lang="zh-CN" altLang="zh-CN" sz="2000">
                <a:solidFill>
                  <a:srgbClr val="00B0F0"/>
                </a:solidFill>
                <a:latin typeface="Consolas" pitchFamily="49" charset="0"/>
                <a:ea typeface="仿宋" pitchFamily="49" charset="-122"/>
              </a:rPr>
              <a:t>中</a:t>
            </a:r>
          </a:p>
          <a:p>
            <a:pPr defTabSz="360000">
              <a:lnSpc>
                <a:spcPts val="2800"/>
              </a:lnSpc>
            </a:pPr>
            <a:r>
              <a:rPr lang="en-US" altLang="zh-CN" sz="2000">
                <a:solidFill>
                  <a:srgbClr val="0000FF"/>
                </a:solidFill>
                <a:latin typeface="Consolas" pitchFamily="49" charset="0"/>
                <a:ea typeface="仿宋" pitchFamily="49" charset="-122"/>
              </a:rPr>
              <a:t>  		if(fabs(p[i].x-p[mid].x)&lt;d)</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p1[cnt++]=p[i];</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800"/>
              </a:lnSpc>
              <a:spcBef>
                <a:spcPts val="1200"/>
              </a:spcBef>
              <a:spcAft>
                <a:spcPts val="1200"/>
              </a:spcAft>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(p1,p1+cnt,cmpy);	 </a:t>
            </a:r>
            <a:r>
              <a:rPr lang="en-US" altLang="zh-CN" sz="2000">
                <a:solidFill>
                  <a:srgbClr val="00B0F0"/>
                </a:solidFill>
                <a:latin typeface="Consolas" pitchFamily="49" charset="0"/>
                <a:ea typeface="仿宋" pitchFamily="49" charset="-122"/>
              </a:rPr>
              <a:t>//p1</a:t>
            </a:r>
            <a:r>
              <a:rPr lang="zh-CN" altLang="zh-CN" sz="2000">
                <a:solidFill>
                  <a:srgbClr val="00B0F0"/>
                </a:solidFill>
                <a:latin typeface="Consolas" pitchFamily="49" charset="0"/>
                <a:ea typeface="仿宋" pitchFamily="49" charset="-122"/>
              </a:rPr>
              <a:t>中所有点按</a:t>
            </a:r>
            <a:r>
              <a:rPr lang="en-US" altLang="zh-CN" sz="2000">
                <a:solidFill>
                  <a:srgbClr val="00B0F0"/>
                </a:solidFill>
                <a:latin typeface="Consolas" pitchFamily="49" charset="0"/>
                <a:ea typeface="仿宋" pitchFamily="49" charset="-122"/>
              </a:rPr>
              <a:t>y</a:t>
            </a:r>
            <a:r>
              <a:rPr lang="zh-CN" altLang="zh-CN" sz="2000">
                <a:solidFill>
                  <a:srgbClr val="00B0F0"/>
                </a:solidFill>
                <a:latin typeface="Consolas" pitchFamily="49" charset="0"/>
                <a:ea typeface="仿宋" pitchFamily="49" charset="-122"/>
              </a:rPr>
              <a:t>递增排序</a:t>
            </a:r>
          </a:p>
          <a:p>
            <a:pPr defTabSz="360000">
              <a:lnSpc>
                <a:spcPts val="2800"/>
              </a:lnSpc>
            </a:pPr>
            <a:r>
              <a:rPr lang="en-US" altLang="zh-CN" sz="2000">
                <a:solidFill>
                  <a:srgbClr val="0000FF"/>
                </a:solidFill>
                <a:latin typeface="Consolas" pitchFamily="49" charset="0"/>
                <a:ea typeface="仿宋" pitchFamily="49" charset="-122"/>
              </a:rPr>
              <a:t>  	for(int i=0;i&lt;cnt;i++)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for(int j=i+1,k=0;</a:t>
            </a:r>
          </a:p>
          <a:p>
            <a:pPr defTabSz="360000">
              <a:lnSpc>
                <a:spcPts val="2800"/>
              </a:lnSpc>
            </a:pPr>
            <a:r>
              <a:rPr lang="en-US" altLang="zh-CN" sz="2000">
                <a:solidFill>
                  <a:srgbClr val="0000FF"/>
                </a:solidFill>
                <a:latin typeface="Consolas" pitchFamily="49" charset="0"/>
                <a:ea typeface="仿宋" pitchFamily="49" charset="-122"/>
              </a:rPr>
              <a:t>				</a:t>
            </a:r>
            <a:r>
              <a:rPr lang="en-US" altLang="zh-CN" sz="2000">
                <a:solidFill>
                  <a:srgbClr val="FF00FF"/>
                </a:solidFill>
                <a:latin typeface="Consolas" pitchFamily="49" charset="0"/>
                <a:ea typeface="仿宋" pitchFamily="49" charset="-122"/>
              </a:rPr>
              <a:t>k&lt;7 &amp;&amp; j&lt;cnt &amp;&amp; p1[j].y-p1[i].y&lt;d</a:t>
            </a:r>
            <a:r>
              <a:rPr lang="en-US" altLang="zh-CN" sz="2000">
                <a:solidFill>
                  <a:srgbClr val="0000FF"/>
                </a:solidFill>
                <a:latin typeface="Consolas" pitchFamily="49" charset="0"/>
                <a:ea typeface="仿宋" pitchFamily="49" charset="-122"/>
              </a:rPr>
              <a:t>;j++,k++)</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d=min(d,</a:t>
            </a:r>
            <a:r>
              <a:rPr lang="en-US" altLang="zh-CN" sz="2000">
                <a:solidFill>
                  <a:srgbClr val="FF0000"/>
                </a:solidFill>
                <a:latin typeface="Consolas" pitchFamily="49" charset="0"/>
                <a:ea typeface="仿宋" pitchFamily="49" charset="-122"/>
              </a:rPr>
              <a:t>dis</a:t>
            </a:r>
            <a:r>
              <a:rPr lang="en-US" altLang="zh-CN" sz="2000">
                <a:solidFill>
                  <a:srgbClr val="0000FF"/>
                </a:solidFill>
                <a:latin typeface="Consolas" pitchFamily="49" charset="0"/>
                <a:ea typeface="仿宋" pitchFamily="49" charset="-122"/>
              </a:rPr>
              <a:t>(p1[i],p1[j]));</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return d;</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150</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357158" y="357166"/>
            <a:ext cx="8424863" cy="4672388"/>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lIns="216000" tIns="180000" bIns="180000">
            <a:spAutoFit/>
          </a:bodyPr>
          <a:lstStyle/>
          <a:p>
            <a:pPr defTabSz="360000">
              <a:lnSpc>
                <a:spcPts val="2400"/>
              </a:lnSpc>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main</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int t,n;</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scanf("%d",&amp;t);</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while(t--)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scanf("%d",&amp;n);</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for(int i=0;i&lt;n;i++)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输入</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集合的点</a:t>
            </a:r>
          </a:p>
          <a:p>
            <a:pPr defTabSz="360000">
              <a:lnSpc>
                <a:spcPts val="2400"/>
              </a:lnSpc>
            </a:pPr>
            <a:r>
              <a:rPr lang="en-US" altLang="zh-CN" sz="2000">
                <a:solidFill>
                  <a:srgbClr val="0000FF"/>
                </a:solidFill>
                <a:latin typeface="Consolas" pitchFamily="49" charset="0"/>
                <a:ea typeface="仿宋" pitchFamily="49" charset="-122"/>
              </a:rPr>
              <a:t>     		scanf("%lf%lf",&amp;p[i].x,&amp;p[i].y),p[i].flag='A';</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for(int i=n;i&lt;2*n;i++)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输入</a:t>
            </a:r>
            <a:r>
              <a:rPr lang="en-US" altLang="zh-CN" sz="2000">
                <a:solidFill>
                  <a:srgbClr val="00B0F0"/>
                </a:solidFill>
                <a:latin typeface="Consolas" pitchFamily="49" charset="0"/>
                <a:ea typeface="仿宋" pitchFamily="49" charset="-122"/>
              </a:rPr>
              <a:t>B</a:t>
            </a:r>
            <a:r>
              <a:rPr lang="zh-CN" altLang="zh-CN" sz="2000">
                <a:solidFill>
                  <a:srgbClr val="00B0F0"/>
                </a:solidFill>
                <a:latin typeface="Consolas" pitchFamily="49" charset="0"/>
                <a:ea typeface="仿宋" pitchFamily="49" charset="-122"/>
              </a:rPr>
              <a:t>集合的点</a:t>
            </a:r>
          </a:p>
          <a:p>
            <a:pPr defTabSz="360000">
              <a:lnSpc>
                <a:spcPts val="2400"/>
              </a:lnSpc>
            </a:pPr>
            <a:r>
              <a:rPr lang="en-US" altLang="zh-CN" sz="2000">
                <a:solidFill>
                  <a:srgbClr val="0000FF"/>
                </a:solidFill>
                <a:latin typeface="Consolas" pitchFamily="49" charset="0"/>
                <a:ea typeface="仿宋" pitchFamily="49" charset="-122"/>
              </a:rPr>
              <a:t>     		scanf("%lf%lf",&amp;p[i].x,&amp;p[i].y),p[i].flag='B';</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(p,p+2*n,cmpx);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全部点按</a:t>
            </a:r>
            <a:r>
              <a:rPr lang="en-US" altLang="zh-CN" sz="2000">
                <a:solidFill>
                  <a:srgbClr val="00B0F0"/>
                </a:solidFill>
                <a:latin typeface="Consolas" pitchFamily="49" charset="0"/>
                <a:ea typeface="仿宋" pitchFamily="49" charset="-122"/>
              </a:rPr>
              <a:t>x</a:t>
            </a:r>
            <a:r>
              <a:rPr lang="zh-CN" altLang="zh-CN" sz="2000">
                <a:solidFill>
                  <a:srgbClr val="00B0F0"/>
                </a:solidFill>
                <a:latin typeface="Consolas" pitchFamily="49" charset="0"/>
                <a:ea typeface="仿宋" pitchFamily="49" charset="-122"/>
              </a:rPr>
              <a:t>递增排序</a:t>
            </a:r>
          </a:p>
          <a:p>
            <a:pPr defTabSz="360000">
              <a:lnSpc>
                <a:spcPts val="2400"/>
              </a:lnSpc>
            </a:pPr>
            <a:r>
              <a:rPr lang="en-US" altLang="zh-CN" sz="2000">
                <a:solidFill>
                  <a:srgbClr val="0000FF"/>
                </a:solidFill>
                <a:latin typeface="Consolas" pitchFamily="49" charset="0"/>
                <a:ea typeface="仿宋" pitchFamily="49" charset="-122"/>
              </a:rPr>
              <a:t>    	printf("%.3f\n",</a:t>
            </a:r>
            <a:r>
              <a:rPr lang="en-US" altLang="zh-CN" sz="2000">
                <a:solidFill>
                  <a:srgbClr val="FF0000"/>
                </a:solidFill>
                <a:latin typeface="Consolas" pitchFamily="49" charset="0"/>
                <a:ea typeface="仿宋" pitchFamily="49" charset="-122"/>
              </a:rPr>
              <a:t>mindistance</a:t>
            </a:r>
            <a:r>
              <a:rPr lang="en-US" altLang="zh-CN" sz="2000">
                <a:solidFill>
                  <a:srgbClr val="0000FF"/>
                </a:solidFill>
                <a:latin typeface="Consolas" pitchFamily="49" charset="0"/>
                <a:ea typeface="仿宋" pitchFamily="49" charset="-122"/>
              </a:rPr>
              <a:t>(0,2*n-1));</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return 0;</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4" name="组合 9"/>
          <p:cNvGrpSpPr/>
          <p:nvPr/>
        </p:nvGrpSpPr>
        <p:grpSpPr>
          <a:xfrm>
            <a:off x="642910" y="5357826"/>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1829ms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4840KB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1071538" y="6286520"/>
              <a:ext cx="785818" cy="44396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 </a:t>
              </a:r>
              <a:endParaRPr lang="zh-CN" altLang="en-US" sz="2000">
                <a:solidFill>
                  <a:srgbClr val="FF3300"/>
                </a:solidFill>
                <a:latin typeface="Forte" pitchFamily="66" charset="0"/>
                <a:ea typeface="仿宋" pitchFamily="49" charset="-122"/>
                <a:cs typeface="Consolas" pitchFamily="49" charset="0"/>
              </a:endParaRPr>
            </a:p>
          </p:txBody>
        </p:sp>
      </p:grpSp>
      <p:sp>
        <p:nvSpPr>
          <p:cNvPr id="8" name="灯片编号占位符 7"/>
          <p:cNvSpPr>
            <a:spLocks noGrp="1"/>
          </p:cNvSpPr>
          <p:nvPr>
            <p:ph type="sldNum" sz="quarter" idx="12"/>
          </p:nvPr>
        </p:nvSpPr>
        <p:spPr/>
        <p:txBody>
          <a:bodyPr/>
          <a:lstStyle/>
          <a:p>
            <a:pPr>
              <a:defRPr/>
            </a:pPr>
            <a:fld id="{51116183-1013-4E64-BBE8-A5C1D5D4F838}" type="slidenum">
              <a:rPr lang="en-US" altLang="zh-CN" smtClean="0"/>
              <a:pPr>
                <a:defRPr/>
              </a:pPr>
              <a:t>151</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hlinkClick r:id="rId2" action="ppaction://hlinksldjump"/>
          </p:cNvPr>
          <p:cNvSpPr txBox="1"/>
          <p:nvPr/>
        </p:nvSpPr>
        <p:spPr>
          <a:xfrm>
            <a:off x="2285984" y="714356"/>
            <a:ext cx="446849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10.4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最</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远</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点对问题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5" name="Text Box 3"/>
          <p:cNvSpPr txBox="1">
            <a:spLocks noChangeArrowheads="1"/>
          </p:cNvSpPr>
          <p:nvPr/>
        </p:nvSpPr>
        <p:spPr bwMode="auto">
          <a:xfrm>
            <a:off x="357158" y="2000240"/>
            <a:ext cx="8286808" cy="1938992"/>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nSpc>
                <a:spcPts val="3300"/>
              </a:lnSpc>
              <a:spcBef>
                <a:spcPts val="1200"/>
              </a:spcBef>
              <a:buBlip>
                <a:blip r:embed="rId3"/>
              </a:buBlip>
            </a:pPr>
            <a:r>
              <a:rPr lang="zh-CN" altLang="en-US">
                <a:solidFill>
                  <a:srgbClr val="0000FF"/>
                </a:solidFill>
                <a:latin typeface="Consolas" pitchFamily="49" charset="0"/>
                <a:ea typeface="仿宋" pitchFamily="49" charset="-122"/>
                <a:cs typeface="Consolas" pitchFamily="49" charset="0"/>
              </a:rPr>
              <a:t>二维空间中最远点对问题：给定平面上</a:t>
            </a:r>
            <a:r>
              <a:rPr lang="en-US" altLang="zh-CN" i="1">
                <a:solidFill>
                  <a:srgbClr val="0000FF"/>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个点，找其中的一对点，使得在</a:t>
            </a:r>
            <a:r>
              <a:rPr lang="en-US" altLang="zh-CN" i="1">
                <a:solidFill>
                  <a:srgbClr val="0000FF"/>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个点的所有点对中该点对的</a:t>
            </a:r>
            <a:r>
              <a:rPr lang="zh-CN" altLang="en-US">
                <a:solidFill>
                  <a:srgbClr val="FF0000"/>
                </a:solidFill>
                <a:latin typeface="Consolas" pitchFamily="49" charset="0"/>
                <a:ea typeface="仿宋" pitchFamily="49" charset="-122"/>
                <a:cs typeface="Consolas" pitchFamily="49" charset="0"/>
              </a:rPr>
              <a:t>距离最大</a:t>
            </a:r>
            <a:r>
              <a:rPr lang="zh-CN" altLang="en-US">
                <a:solidFill>
                  <a:srgbClr val="0000FF"/>
                </a:solidFill>
                <a:latin typeface="Consolas" pitchFamily="49" charset="0"/>
                <a:ea typeface="仿宋" pitchFamily="49" charset="-122"/>
                <a:cs typeface="Consolas" pitchFamily="49" charset="0"/>
              </a:rPr>
              <a:t>。</a:t>
            </a:r>
          </a:p>
          <a:p>
            <a:pPr marL="457200" indent="-457200">
              <a:lnSpc>
                <a:spcPts val="3300"/>
              </a:lnSpc>
              <a:spcBef>
                <a:spcPts val="1200"/>
              </a:spcBef>
              <a:buBlip>
                <a:blip r:embed="rId3"/>
              </a:buBlip>
            </a:pPr>
            <a:r>
              <a:rPr lang="zh-CN" altLang="en-US">
                <a:solidFill>
                  <a:srgbClr val="0000FF"/>
                </a:solidFill>
                <a:latin typeface="Consolas" pitchFamily="49" charset="0"/>
                <a:ea typeface="仿宋" pitchFamily="49" charset="-122"/>
                <a:cs typeface="Consolas" pitchFamily="49" charset="0"/>
              </a:rPr>
              <a:t>与最近点对问题相似，最远点对也具有许多实际应用价值。  </a:t>
            </a:r>
          </a:p>
        </p:txBody>
      </p:sp>
      <p:sp>
        <p:nvSpPr>
          <p:cNvPr id="7" name="灯片编号占位符 6"/>
          <p:cNvSpPr>
            <a:spLocks noGrp="1"/>
          </p:cNvSpPr>
          <p:nvPr>
            <p:ph type="sldNum" sz="quarter" idx="12"/>
          </p:nvPr>
        </p:nvSpPr>
        <p:spPr/>
        <p:txBody>
          <a:bodyPr/>
          <a:lstStyle/>
          <a:p>
            <a:pPr>
              <a:defRPr/>
            </a:pPr>
            <a:fld id="{51116183-1013-4E64-BBE8-A5C1D5D4F838}" type="slidenum">
              <a:rPr lang="en-US" altLang="zh-CN" smtClean="0"/>
              <a:pPr>
                <a:defRPr/>
              </a:pPr>
              <a:t>152</a:t>
            </a:fld>
            <a:r>
              <a:rPr lang="en-US" altLang="zh-CN"/>
              <a:t>/167</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Text Box 2"/>
          <p:cNvSpPr txBox="1">
            <a:spLocks noChangeArrowheads="1"/>
          </p:cNvSpPr>
          <p:nvPr/>
        </p:nvSpPr>
        <p:spPr bwMode="auto">
          <a:xfrm>
            <a:off x="395288" y="476250"/>
            <a:ext cx="5176844" cy="51911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algn="ctr">
              <a:spcBef>
                <a:spcPct val="50000"/>
              </a:spcBef>
              <a:defRPr/>
            </a:pP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10.4.1 </a:t>
            </a:r>
            <a:r>
              <a:rPr lang="zh-CN" altLang="en-US"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用蛮力法求最远点对</a:t>
            </a:r>
          </a:p>
        </p:txBody>
      </p:sp>
      <p:sp>
        <p:nvSpPr>
          <p:cNvPr id="88067" name="Text Box 3"/>
          <p:cNvSpPr txBox="1">
            <a:spLocks noChangeArrowheads="1"/>
          </p:cNvSpPr>
          <p:nvPr/>
        </p:nvSpPr>
        <p:spPr bwMode="auto">
          <a:xfrm>
            <a:off x="571472" y="1643050"/>
            <a:ext cx="7993063" cy="1015663"/>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a:spAutoFit/>
          </a:bodyPr>
          <a:lstStyle/>
          <a:p>
            <a:pPr marL="457200" indent="-457200">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采用穷举法求最远点对。</a:t>
            </a:r>
            <a:endParaRPr lang="en-US" altLang="zh-CN">
              <a:solidFill>
                <a:srgbClr val="0000FF"/>
              </a:solidFill>
              <a:latin typeface="Consolas" pitchFamily="49" charset="0"/>
              <a:ea typeface="仿宋" pitchFamily="49" charset="-122"/>
              <a:cs typeface="Consolas" pitchFamily="49" charset="0"/>
            </a:endParaRPr>
          </a:p>
          <a:p>
            <a:pPr marL="457200" indent="-457200">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分别计算每一对点之间的距离，求最大值。</a:t>
            </a: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153</a:t>
            </a:fld>
            <a:r>
              <a:rPr lang="en-US" altLang="zh-CN"/>
              <a:t>/167</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357158" y="428604"/>
            <a:ext cx="8424863" cy="4648599"/>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lIns="216000" tIns="180000" bIns="180000">
            <a:spAutoFit/>
          </a:bodyPr>
          <a:lstStyle/>
          <a:p>
            <a:pPr defTabSz="360000">
              <a:lnSpc>
                <a:spcPts val="2800"/>
              </a:lnSpc>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Mostdist1</a:t>
            </a:r>
            <a:r>
              <a:rPr lang="en-US" altLang="zh-CN" sz="2000">
                <a:solidFill>
                  <a:srgbClr val="0000FF"/>
                </a:solidFill>
                <a:latin typeface="Consolas" pitchFamily="49" charset="0"/>
                <a:ea typeface="仿宋" pitchFamily="49" charset="-122"/>
              </a:rPr>
              <a:t>(vector&lt;Point&gt;&amp;a) {</a:t>
            </a:r>
          </a:p>
          <a:p>
            <a:pPr defTabSz="360000">
              <a:lnSpc>
                <a:spcPts val="28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穷举法求</a:t>
            </a:r>
            <a:r>
              <a:rPr lang="en-US" altLang="zh-CN" sz="2000">
                <a:solidFill>
                  <a:srgbClr val="00B050"/>
                </a:solidFill>
                <a:latin typeface="Consolas" pitchFamily="49" charset="0"/>
                <a:ea typeface="仿宋" pitchFamily="49" charset="-122"/>
              </a:rPr>
              <a:t>a</a:t>
            </a:r>
            <a:r>
              <a:rPr lang="zh-CN" altLang="zh-CN" sz="2000">
                <a:solidFill>
                  <a:srgbClr val="00B050"/>
                </a:solidFill>
                <a:latin typeface="Consolas" pitchFamily="49" charset="0"/>
                <a:ea typeface="仿宋" pitchFamily="49" charset="-122"/>
              </a:rPr>
              <a:t>中的最远点对距离</a:t>
            </a:r>
          </a:p>
          <a:p>
            <a:pPr defTabSz="360000">
              <a:lnSpc>
                <a:spcPts val="2800"/>
              </a:lnSpc>
            </a:pPr>
            <a:r>
              <a:rPr lang="en-US" altLang="zh-CN" sz="2000">
                <a:solidFill>
                  <a:srgbClr val="0000FF"/>
                </a:solidFill>
                <a:latin typeface="Consolas" pitchFamily="49" charset="0"/>
                <a:ea typeface="仿宋" pitchFamily="49" charset="-122"/>
              </a:rPr>
              <a:t>	int n=a.size();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double d,</a:t>
            </a:r>
            <a:r>
              <a:rPr lang="en-US" altLang="zh-CN" sz="2000">
                <a:solidFill>
                  <a:srgbClr val="006600"/>
                </a:solidFill>
                <a:latin typeface="Consolas" pitchFamily="49" charset="0"/>
                <a:ea typeface="仿宋" pitchFamily="49" charset="-122"/>
              </a:rPr>
              <a:t>maxdist</a:t>
            </a:r>
            <a:r>
              <a:rPr lang="en-US" altLang="zh-CN" sz="2000">
                <a:solidFill>
                  <a:srgbClr val="0000FF"/>
                </a:solidFill>
                <a:latin typeface="Consolas" pitchFamily="49" charset="0"/>
                <a:ea typeface="仿宋" pitchFamily="49" charset="-122"/>
              </a:rPr>
              <a:t>=0.0;</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for (int i=0;i&lt;n-1;i++)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for (int j=i+1;j&lt;n;j++)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d=</a:t>
            </a:r>
            <a:r>
              <a:rPr lang="en-US" altLang="zh-CN" sz="2000">
                <a:solidFill>
                  <a:srgbClr val="FF0000"/>
                </a:solidFill>
                <a:latin typeface="Consolas" pitchFamily="49" charset="0"/>
                <a:ea typeface="仿宋" pitchFamily="49" charset="-122"/>
              </a:rPr>
              <a:t>Distance</a:t>
            </a:r>
            <a:r>
              <a:rPr lang="en-US" altLang="zh-CN" sz="2000">
                <a:solidFill>
                  <a:srgbClr val="0000FF"/>
                </a:solidFill>
                <a:latin typeface="Consolas" pitchFamily="49" charset="0"/>
                <a:ea typeface="仿宋" pitchFamily="49" charset="-122"/>
              </a:rPr>
              <a:t>(a[i],a[j]);</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maxdist</a:t>
            </a:r>
            <a:r>
              <a:rPr lang="en-US" altLang="zh-CN" sz="2000">
                <a:solidFill>
                  <a:srgbClr val="0000FF"/>
                </a:solidFill>
                <a:latin typeface="Consolas" pitchFamily="49" charset="0"/>
                <a:ea typeface="仿宋" pitchFamily="49" charset="-122"/>
              </a:rPr>
              <a:t>=max(maxdist,d);</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	return </a:t>
            </a:r>
            <a:r>
              <a:rPr lang="en-US" altLang="zh-CN" sz="2000">
                <a:solidFill>
                  <a:srgbClr val="006600"/>
                </a:solidFill>
                <a:latin typeface="Consolas" pitchFamily="49" charset="0"/>
                <a:ea typeface="仿宋" pitchFamily="49" charset="-122"/>
              </a:rPr>
              <a:t>maxdist</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defTabSz="360000">
              <a:lnSpc>
                <a:spcPts val="28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TextBox 5"/>
          <p:cNvSpPr txBox="1"/>
          <p:nvPr/>
        </p:nvSpPr>
        <p:spPr>
          <a:xfrm>
            <a:off x="357158" y="5444104"/>
            <a:ext cx="8286808" cy="55666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Mostdist1</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：该算法的时间复杂度为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baseline="30000">
                <a:solidFill>
                  <a:srgbClr val="0000FF"/>
                </a:solidFill>
                <a:latin typeface="Consolas" pitchFamily="49" charset="0"/>
                <a:ea typeface="仿宋" pitchFamily="49" charset="-122"/>
              </a:rPr>
              <a:t>2</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8" name="灯片编号占位符 7"/>
          <p:cNvSpPr>
            <a:spLocks noGrp="1"/>
          </p:cNvSpPr>
          <p:nvPr>
            <p:ph type="sldNum" sz="quarter" idx="12"/>
          </p:nvPr>
        </p:nvSpPr>
        <p:spPr/>
        <p:txBody>
          <a:bodyPr/>
          <a:lstStyle/>
          <a:p>
            <a:pPr>
              <a:defRPr/>
            </a:pPr>
            <a:fld id="{51116183-1013-4E64-BBE8-A5C1D5D4F838}" type="slidenum">
              <a:rPr lang="en-US" altLang="zh-CN" smtClean="0"/>
              <a:pPr>
                <a:defRPr/>
              </a:pPr>
              <a:t>154</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Text Box 2"/>
          <p:cNvSpPr txBox="1">
            <a:spLocks noChangeArrowheads="1"/>
          </p:cNvSpPr>
          <p:nvPr/>
        </p:nvSpPr>
        <p:spPr bwMode="auto">
          <a:xfrm>
            <a:off x="323850" y="476250"/>
            <a:ext cx="5832475" cy="51911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p>
            <a:pPr algn="ctr">
              <a:spcBef>
                <a:spcPct val="50000"/>
              </a:spcBef>
              <a:defRPr/>
            </a:pPr>
            <a:r>
              <a:rPr lang="en-US" altLang="zh-CN"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10.4.2 </a:t>
            </a:r>
            <a:r>
              <a:rPr lang="zh-CN" altLang="en-US" sz="28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itchFamily="49" charset="0"/>
                <a:ea typeface="微软雅黑" pitchFamily="34" charset="-122"/>
                <a:cs typeface="Consolas" pitchFamily="49" charset="0"/>
              </a:rPr>
              <a:t>用旋转卡壳法求最远点对</a:t>
            </a:r>
          </a:p>
        </p:txBody>
      </p:sp>
      <p:sp>
        <p:nvSpPr>
          <p:cNvPr id="89091" name="Text Box 3"/>
          <p:cNvSpPr txBox="1">
            <a:spLocks noChangeArrowheads="1"/>
          </p:cNvSpPr>
          <p:nvPr/>
        </p:nvSpPr>
        <p:spPr bwMode="auto">
          <a:xfrm>
            <a:off x="468313" y="1700213"/>
            <a:ext cx="8207375" cy="2013473"/>
          </a:xfrm>
          <a:prstGeom prst="rect">
            <a:avLst/>
          </a:prstGeom>
          <a:noFill/>
          <a:ln w="9525">
            <a:solidFill>
              <a:schemeClr val="accent6">
                <a:lumMod val="40000"/>
                <a:lumOff val="60000"/>
              </a:schemeClr>
            </a:solidFill>
            <a:miter lim="800000"/>
            <a:headEnd/>
            <a:tailEnd/>
          </a:ln>
        </p:spPr>
        <p:txBody>
          <a:bodyPr lIns="180000" tIns="108000" bIns="108000">
            <a:spAutoFit/>
          </a:bodyPr>
          <a:lstStyle/>
          <a:p>
            <a:pPr marL="457200" indent="-457200">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旋转卡壳法的基本思想：对于给定的点集，先采用</a:t>
            </a:r>
            <a:r>
              <a:rPr lang="en-US" altLang="zh-CN">
                <a:solidFill>
                  <a:srgbClr val="0000FF"/>
                </a:solidFill>
                <a:latin typeface="Consolas" pitchFamily="49" charset="0"/>
                <a:ea typeface="仿宋" pitchFamily="49" charset="-122"/>
                <a:cs typeface="Consolas" pitchFamily="49" charset="0"/>
              </a:rPr>
              <a:t>Graham</a:t>
            </a:r>
            <a:r>
              <a:rPr lang="zh-CN" altLang="en-US">
                <a:solidFill>
                  <a:srgbClr val="0000FF"/>
                </a:solidFill>
                <a:latin typeface="Consolas" pitchFamily="49" charset="0"/>
                <a:ea typeface="仿宋" pitchFamily="49" charset="-122"/>
                <a:cs typeface="Consolas" pitchFamily="49" charset="0"/>
              </a:rPr>
              <a:t>扫描法求出来一个凸包</a:t>
            </a:r>
            <a:r>
              <a:rPr lang="en-US" altLang="zh-CN" i="1">
                <a:solidFill>
                  <a:srgbClr val="0000FF"/>
                </a:solidFill>
                <a:latin typeface="Consolas" pitchFamily="49" charset="0"/>
                <a:ea typeface="仿宋" pitchFamily="49" charset="-122"/>
                <a:cs typeface="Consolas" pitchFamily="49" charset="0"/>
              </a:rPr>
              <a:t>a</a:t>
            </a:r>
            <a:r>
              <a:rPr lang="zh-CN" altLang="en-US">
                <a:solidFill>
                  <a:srgbClr val="0000FF"/>
                </a:solidFill>
                <a:latin typeface="Consolas" pitchFamily="49" charset="0"/>
                <a:ea typeface="仿宋" pitchFamily="49" charset="-122"/>
                <a:cs typeface="Consolas" pitchFamily="49" charset="0"/>
              </a:rPr>
              <a:t>，然后根据凸包上每条边，找到离他最远的一个点。</a:t>
            </a:r>
            <a:endParaRPr lang="zh-CN" altLang="zh-CN">
              <a:solidFill>
                <a:srgbClr val="0000FF"/>
              </a:solidFill>
              <a:latin typeface="Consolas" pitchFamily="49" charset="0"/>
              <a:ea typeface="仿宋" pitchFamily="49" charset="-122"/>
              <a:cs typeface="Consolas" pitchFamily="49" charset="0"/>
            </a:endParaRPr>
          </a:p>
          <a:p>
            <a:pPr marL="457200" indent="-457200">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即卡着外壳转一圈，这便是旋转卡壳法名称的由来。</a:t>
            </a:r>
          </a:p>
        </p:txBody>
      </p:sp>
      <p:sp>
        <p:nvSpPr>
          <p:cNvPr id="5" name="灯片编号占位符 4"/>
          <p:cNvSpPr>
            <a:spLocks noGrp="1"/>
          </p:cNvSpPr>
          <p:nvPr>
            <p:ph type="sldNum" sz="quarter" idx="12"/>
          </p:nvPr>
        </p:nvSpPr>
        <p:spPr/>
        <p:txBody>
          <a:bodyPr/>
          <a:lstStyle/>
          <a:p>
            <a:pPr>
              <a:defRPr/>
            </a:pPr>
            <a:fld id="{51116183-1013-4E64-BBE8-A5C1D5D4F838}" type="slidenum">
              <a:rPr lang="en-US" altLang="zh-CN" smtClean="0"/>
              <a:pPr>
                <a:defRPr/>
              </a:pPr>
              <a:t>155</a:t>
            </a:fld>
            <a:r>
              <a:rPr lang="en-US" altLang="zh-CN"/>
              <a:t>/167</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a:stCxn id="6" idx="6"/>
            <a:endCxn id="8" idx="2"/>
          </p:cNvCxnSpPr>
          <p:nvPr/>
        </p:nvCxnSpPr>
        <p:spPr>
          <a:xfrm>
            <a:off x="2344722" y="3705437"/>
            <a:ext cx="1060408" cy="1124"/>
          </a:xfrm>
          <a:prstGeom prst="line">
            <a:avLst/>
          </a:prstGeom>
        </p:spPr>
        <p:style>
          <a:lnRef idx="2">
            <a:schemeClr val="dk1"/>
          </a:lnRef>
          <a:fillRef idx="0">
            <a:schemeClr val="dk1"/>
          </a:fillRef>
          <a:effectRef idx="1">
            <a:schemeClr val="dk1"/>
          </a:effectRef>
          <a:fontRef idx="minor">
            <a:schemeClr val="tx1"/>
          </a:fontRef>
        </p:style>
      </p:cxnSp>
      <p:sp>
        <p:nvSpPr>
          <p:cNvPr id="5" name="TextBox 4"/>
          <p:cNvSpPr txBox="1"/>
          <p:nvPr/>
        </p:nvSpPr>
        <p:spPr>
          <a:xfrm>
            <a:off x="2214546" y="3848875"/>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6" name="椭圆 5"/>
          <p:cNvSpPr/>
          <p:nvPr/>
        </p:nvSpPr>
        <p:spPr>
          <a:xfrm>
            <a:off x="2236722" y="3633437"/>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3382954" y="3849999"/>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8" name="椭圆 7"/>
          <p:cNvSpPr/>
          <p:nvPr/>
        </p:nvSpPr>
        <p:spPr>
          <a:xfrm>
            <a:off x="3405130" y="3634561"/>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a:stCxn id="8" idx="7"/>
            <a:endCxn id="12" idx="4"/>
          </p:cNvCxnSpPr>
          <p:nvPr/>
        </p:nvCxnSpPr>
        <p:spPr>
          <a:xfrm rot="5400000" flipH="1" flipV="1">
            <a:off x="3287264" y="3093255"/>
            <a:ext cx="772444" cy="352344"/>
          </a:xfrm>
          <a:prstGeom prst="line">
            <a:avLst/>
          </a:prstGeom>
        </p:spPr>
        <p:style>
          <a:lnRef idx="2">
            <a:schemeClr val="dk1"/>
          </a:lnRef>
          <a:fillRef idx="0">
            <a:schemeClr val="dk1"/>
          </a:fillRef>
          <a:effectRef idx="1">
            <a:schemeClr val="dk1"/>
          </a:effectRef>
          <a:fontRef idx="minor">
            <a:schemeClr val="tx1"/>
          </a:fontRef>
        </p:style>
      </p:cxnSp>
      <p:sp>
        <p:nvSpPr>
          <p:cNvPr id="11" name="TextBox 10"/>
          <p:cNvSpPr txBox="1"/>
          <p:nvPr/>
        </p:nvSpPr>
        <p:spPr>
          <a:xfrm>
            <a:off x="3929058" y="2705867"/>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12" name="椭圆 11"/>
          <p:cNvSpPr/>
          <p:nvPr/>
        </p:nvSpPr>
        <p:spPr>
          <a:xfrm>
            <a:off x="3795658" y="2739205"/>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a:stCxn id="12" idx="1"/>
            <a:endCxn id="16" idx="5"/>
          </p:cNvCxnSpPr>
          <p:nvPr/>
        </p:nvCxnSpPr>
        <p:spPr>
          <a:xfrm rot="16200000" flipV="1">
            <a:off x="3165167" y="2113986"/>
            <a:ext cx="616503" cy="676112"/>
          </a:xfrm>
          <a:prstGeom prst="line">
            <a:avLst/>
          </a:prstGeom>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3143240" y="1705735"/>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16" name="椭圆 15"/>
          <p:cNvSpPr/>
          <p:nvPr/>
        </p:nvSpPr>
        <p:spPr>
          <a:xfrm>
            <a:off x="3043178" y="2020878"/>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a:stCxn id="6" idx="1"/>
            <a:endCxn id="28" idx="4"/>
          </p:cNvCxnSpPr>
          <p:nvPr/>
        </p:nvCxnSpPr>
        <p:spPr>
          <a:xfrm rot="16200000" flipV="1">
            <a:off x="1726064" y="3128051"/>
            <a:ext cx="602229" cy="450720"/>
          </a:xfrm>
          <a:prstGeom prst="line">
            <a:avLst/>
          </a:prstGeom>
        </p:spPr>
        <p:style>
          <a:lnRef idx="2">
            <a:schemeClr val="dk1"/>
          </a:lnRef>
          <a:fillRef idx="0">
            <a:schemeClr val="dk1"/>
          </a:fillRef>
          <a:effectRef idx="1">
            <a:schemeClr val="dk1"/>
          </a:effectRef>
          <a:fontRef idx="minor">
            <a:schemeClr val="tx1"/>
          </a:fontRef>
        </p:style>
      </p:cxnSp>
      <p:cxnSp>
        <p:nvCxnSpPr>
          <p:cNvPr id="20" name="直接连接符 19"/>
          <p:cNvCxnSpPr>
            <a:stCxn id="16" idx="2"/>
            <a:endCxn id="26" idx="6"/>
          </p:cNvCxnSpPr>
          <p:nvPr/>
        </p:nvCxnSpPr>
        <p:spPr>
          <a:xfrm rot="10800000">
            <a:off x="2347946" y="2001574"/>
            <a:ext cx="695232" cy="91305"/>
          </a:xfrm>
          <a:prstGeom prst="line">
            <a:avLst/>
          </a:prstGeom>
        </p:spPr>
        <p:style>
          <a:lnRef idx="2">
            <a:schemeClr val="dk1"/>
          </a:lnRef>
          <a:fillRef idx="0">
            <a:schemeClr val="dk1"/>
          </a:fillRef>
          <a:effectRef idx="1">
            <a:schemeClr val="dk1"/>
          </a:effectRef>
          <a:fontRef idx="minor">
            <a:schemeClr val="tx1"/>
          </a:fontRef>
        </p:style>
      </p:cxnSp>
      <p:cxnSp>
        <p:nvCxnSpPr>
          <p:cNvPr id="22" name="直接连接符 21"/>
          <p:cNvCxnSpPr>
            <a:stCxn id="26" idx="3"/>
            <a:endCxn id="28" idx="0"/>
          </p:cNvCxnSpPr>
          <p:nvPr/>
        </p:nvCxnSpPr>
        <p:spPr>
          <a:xfrm rot="5400000">
            <a:off x="1600885" y="2253418"/>
            <a:ext cx="855811" cy="453944"/>
          </a:xfrm>
          <a:prstGeom prst="line">
            <a:avLst/>
          </a:prstGeom>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2143108" y="1643050"/>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26" name="椭圆 25"/>
          <p:cNvSpPr/>
          <p:nvPr/>
        </p:nvSpPr>
        <p:spPr>
          <a:xfrm>
            <a:off x="2239946" y="1929573"/>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a:off x="1428728" y="2824158"/>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28" name="椭圆 27"/>
          <p:cNvSpPr/>
          <p:nvPr/>
        </p:nvSpPr>
        <p:spPr>
          <a:xfrm>
            <a:off x="1747818" y="2908296"/>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38"/>
          <p:cNvSpPr txBox="1"/>
          <p:nvPr/>
        </p:nvSpPr>
        <p:spPr>
          <a:xfrm>
            <a:off x="1428728" y="714356"/>
            <a:ext cx="4143404" cy="461665"/>
          </a:xfrm>
          <a:prstGeom prst="rect">
            <a:avLst/>
          </a:prstGeom>
          <a:noFill/>
        </p:spPr>
        <p:txBody>
          <a:bodyPr wrap="square" rtlCol="0">
            <a:spAutoFit/>
          </a:bodyPr>
          <a:lstStyle/>
          <a:p>
            <a:r>
              <a:rPr lang="zh-CN" altLang="en-US">
                <a:solidFill>
                  <a:srgbClr val="0000FF"/>
                </a:solidFill>
                <a:latin typeface="Consolas" pitchFamily="49" charset="0"/>
                <a:ea typeface="仿宋" pitchFamily="49" charset="-122"/>
              </a:rPr>
              <a:t>求如下凸包中最远点对。</a:t>
            </a:r>
          </a:p>
        </p:txBody>
      </p:sp>
      <p:sp>
        <p:nvSpPr>
          <p:cNvPr id="40" name="TextBox 39"/>
          <p:cNvSpPr txBox="1"/>
          <p:nvPr/>
        </p:nvSpPr>
        <p:spPr>
          <a:xfrm>
            <a:off x="1928794" y="4367577"/>
            <a:ext cx="2214578" cy="400110"/>
          </a:xfrm>
          <a:prstGeom prst="rect">
            <a:avLst/>
          </a:prstGeom>
          <a:solidFill>
            <a:schemeClr val="bg1"/>
          </a:solidFill>
        </p:spPr>
        <p:txBody>
          <a:bodyPr wrap="square" rtlCol="0">
            <a:spAutoFit/>
          </a:bodyPr>
          <a:lstStyle/>
          <a:p>
            <a:r>
              <a:rPr lang="zh-CN" altLang="en-US" sz="2000">
                <a:solidFill>
                  <a:srgbClr val="0000FF"/>
                </a:solidFill>
                <a:latin typeface="Consolas" pitchFamily="49" charset="0"/>
                <a:ea typeface="楷体" pitchFamily="49" charset="-122"/>
                <a:cs typeface="Consolas" pitchFamily="49" charset="0"/>
              </a:rPr>
              <a:t>（</a:t>
            </a:r>
            <a:r>
              <a:rPr lang="en-US" sz="2000">
                <a:solidFill>
                  <a:srgbClr val="0000FF"/>
                </a:solidFill>
                <a:latin typeface="Consolas" pitchFamily="49" charset="0"/>
                <a:ea typeface="楷体" pitchFamily="49" charset="-122"/>
                <a:cs typeface="Consolas" pitchFamily="49" charset="0"/>
              </a:rPr>
              <a:t>a</a:t>
            </a:r>
            <a:r>
              <a:rPr lang="zh-CN" altLang="en-US" sz="2000">
                <a:solidFill>
                  <a:srgbClr val="0000FF"/>
                </a:solidFill>
                <a:latin typeface="Consolas" pitchFamily="49" charset="0"/>
                <a:ea typeface="楷体" pitchFamily="49" charset="-122"/>
                <a:cs typeface="Consolas" pitchFamily="49" charset="0"/>
              </a:rPr>
              <a:t>）一个凸包</a:t>
            </a:r>
          </a:p>
        </p:txBody>
      </p:sp>
      <p:grpSp>
        <p:nvGrpSpPr>
          <p:cNvPr id="23" name="组合 22"/>
          <p:cNvGrpSpPr/>
          <p:nvPr/>
        </p:nvGrpSpPr>
        <p:grpSpPr>
          <a:xfrm>
            <a:off x="500034" y="524689"/>
            <a:ext cx="853211" cy="761171"/>
            <a:chOff x="6862060" y="4310903"/>
            <a:chExt cx="1128915" cy="1130667"/>
          </a:xfrm>
        </p:grpSpPr>
        <p:grpSp>
          <p:nvGrpSpPr>
            <p:cNvPr id="24" name="Group 103"/>
            <p:cNvGrpSpPr>
              <a:grpSpLocks/>
            </p:cNvGrpSpPr>
            <p:nvPr/>
          </p:nvGrpSpPr>
          <p:grpSpPr bwMode="auto">
            <a:xfrm>
              <a:off x="6862060" y="4310903"/>
              <a:ext cx="1128915" cy="1130667"/>
              <a:chOff x="2880" y="1515"/>
              <a:chExt cx="644" cy="645"/>
            </a:xfrm>
          </p:grpSpPr>
          <p:sp>
            <p:nvSpPr>
              <p:cNvPr id="30" name="Oval 104"/>
              <p:cNvSpPr>
                <a:spLocks noChangeArrowheads="1"/>
              </p:cNvSpPr>
              <p:nvPr/>
            </p:nvSpPr>
            <p:spPr bwMode="auto">
              <a:xfrm>
                <a:off x="2880" y="1516"/>
                <a:ext cx="644" cy="644"/>
              </a:xfrm>
              <a:prstGeom prst="ellipse">
                <a:avLst/>
              </a:prstGeom>
              <a:gradFill rotWithShape="1">
                <a:gsLst>
                  <a:gs pos="0">
                    <a:srgbClr val="10942F"/>
                  </a:gs>
                  <a:gs pos="100000">
                    <a:srgbClr val="16D83B"/>
                  </a:gs>
                </a:gsLst>
                <a:lin ang="5400000" scaled="1"/>
              </a:gradFill>
              <a:ln w="9525" algn="ctr">
                <a:noFill/>
                <a:round/>
                <a:headEnd/>
                <a:tailEnd/>
              </a:ln>
              <a:effectLst>
                <a:outerShdw blurRad="76200" dir="18900000" sy="23000" kx="-1200000" algn="bl" rotWithShape="0">
                  <a:prstClr val="black">
                    <a:alpha val="20000"/>
                  </a:prstClr>
                </a:outerShdw>
              </a:effectLst>
            </p:spPr>
            <p:txBody>
              <a:bodyPr wrap="none" anchor="ctr"/>
              <a:lstStyle/>
              <a:p>
                <a:endParaRPr lang="zh-CN" altLang="en-US"/>
              </a:p>
            </p:txBody>
          </p:sp>
          <p:sp>
            <p:nvSpPr>
              <p:cNvPr id="31" name="Freeform 105"/>
              <p:cNvSpPr>
                <a:spLocks/>
              </p:cNvSpPr>
              <p:nvPr/>
            </p:nvSpPr>
            <p:spPr bwMode="auto">
              <a:xfrm>
                <a:off x="2887" y="1515"/>
                <a:ext cx="630" cy="441"/>
              </a:xfrm>
              <a:custGeom>
                <a:avLst/>
                <a:gdLst/>
                <a:ahLst/>
                <a:cxnLst>
                  <a:cxn ang="0">
                    <a:pos x="1400" y="275"/>
                  </a:cxn>
                  <a:cxn ang="0">
                    <a:pos x="1596" y="795"/>
                  </a:cxn>
                  <a:cxn ang="0">
                    <a:pos x="0" y="795"/>
                  </a:cxn>
                  <a:cxn ang="0">
                    <a:pos x="217" y="252"/>
                  </a:cxn>
                  <a:cxn ang="0">
                    <a:pos x="796" y="0"/>
                  </a:cxn>
                  <a:cxn ang="0">
                    <a:pos x="1400" y="275"/>
                  </a:cxn>
                </a:cxnLst>
                <a:rect l="0" t="0" r="r" b="b"/>
                <a:pathLst>
                  <a:path w="1596" h="1118">
                    <a:moveTo>
                      <a:pt x="1400" y="275"/>
                    </a:moveTo>
                    <a:cubicBezTo>
                      <a:pt x="1522" y="417"/>
                      <a:pt x="1596" y="597"/>
                      <a:pt x="1596" y="795"/>
                    </a:cubicBezTo>
                    <a:cubicBezTo>
                      <a:pt x="1037" y="1118"/>
                      <a:pt x="668" y="611"/>
                      <a:pt x="0" y="795"/>
                    </a:cubicBezTo>
                    <a:cubicBezTo>
                      <a:pt x="0" y="585"/>
                      <a:pt x="83" y="392"/>
                      <a:pt x="217" y="252"/>
                    </a:cubicBezTo>
                    <a:cubicBezTo>
                      <a:pt x="364" y="95"/>
                      <a:pt x="570" y="0"/>
                      <a:pt x="796" y="0"/>
                    </a:cubicBezTo>
                    <a:cubicBezTo>
                      <a:pt x="1039" y="0"/>
                      <a:pt x="1253" y="108"/>
                      <a:pt x="1400" y="275"/>
                    </a:cubicBezTo>
                    <a:close/>
                  </a:path>
                </a:pathLst>
              </a:custGeom>
              <a:gradFill rotWithShape="1">
                <a:gsLst>
                  <a:gs pos="0">
                    <a:schemeClr val="bg1">
                      <a:alpha val="53000"/>
                    </a:schemeClr>
                  </a:gs>
                  <a:gs pos="100000">
                    <a:schemeClr val="bg1">
                      <a:gamma/>
                      <a:shade val="46275"/>
                      <a:invGamma/>
                      <a:alpha val="0"/>
                    </a:schemeClr>
                  </a:gs>
                </a:gsLst>
                <a:lin ang="5400000" scaled="1"/>
              </a:gradFill>
              <a:ln w="9525">
                <a:noFill/>
                <a:round/>
                <a:headEnd/>
                <a:tailEnd/>
              </a:ln>
            </p:spPr>
            <p:txBody>
              <a:bodyPr/>
              <a:lstStyle/>
              <a:p>
                <a:endParaRPr lang="zh-CN" altLang="en-US"/>
              </a:p>
            </p:txBody>
          </p:sp>
        </p:grpSp>
        <p:sp>
          <p:nvSpPr>
            <p:cNvPr id="29" name="Text Box 71"/>
            <p:cNvSpPr txBox="1">
              <a:spLocks noChangeArrowheads="1"/>
            </p:cNvSpPr>
            <p:nvPr/>
          </p:nvSpPr>
          <p:spPr bwMode="auto">
            <a:xfrm>
              <a:off x="6923115" y="4640482"/>
              <a:ext cx="1039812" cy="466324"/>
            </a:xfrm>
            <a:prstGeom prst="rect">
              <a:avLst/>
            </a:prstGeom>
            <a:noFill/>
            <a:ln w="9525">
              <a:noFill/>
              <a:miter lim="800000"/>
              <a:headEnd/>
              <a:tailEnd/>
            </a:ln>
            <a:effectLst/>
          </p:spPr>
          <p:txBody>
            <a:bodyPr anchor="ctr">
              <a:spAutoFit/>
            </a:bodyPr>
            <a:lstStyle/>
            <a:p>
              <a:pPr algn="ctr">
                <a:spcBef>
                  <a:spcPct val="50000"/>
                </a:spcBef>
              </a:pPr>
              <a:r>
                <a:rPr lang="zh-CN" altLang="en-US" sz="1800">
                  <a:solidFill>
                    <a:srgbClr val="FF0000"/>
                  </a:solidFill>
                  <a:latin typeface="微软雅黑" pitchFamily="34" charset="-122"/>
                  <a:ea typeface="微软雅黑" pitchFamily="34" charset="-122"/>
                </a:rPr>
                <a:t>示例</a:t>
              </a:r>
              <a:endParaRPr lang="en-GB" altLang="zh-CN" sz="1800">
                <a:solidFill>
                  <a:srgbClr val="FF0000"/>
                </a:solidFill>
                <a:latin typeface="微软雅黑" pitchFamily="34" charset="-122"/>
                <a:ea typeface="微软雅黑" pitchFamily="34" charset="-122"/>
              </a:endParaRPr>
            </a:p>
          </p:txBody>
        </p:sp>
      </p:grpSp>
      <p:sp>
        <p:nvSpPr>
          <p:cNvPr id="33" name="灯片编号占位符 32"/>
          <p:cNvSpPr>
            <a:spLocks noGrp="1"/>
          </p:cNvSpPr>
          <p:nvPr>
            <p:ph type="sldNum" sz="quarter" idx="12"/>
          </p:nvPr>
        </p:nvSpPr>
        <p:spPr/>
        <p:txBody>
          <a:bodyPr/>
          <a:lstStyle/>
          <a:p>
            <a:pPr>
              <a:defRPr/>
            </a:pPr>
            <a:fld id="{51116183-1013-4E64-BBE8-A5C1D5D4F838}" type="slidenum">
              <a:rPr lang="en-US" altLang="zh-CN" smtClean="0"/>
              <a:pPr>
                <a:defRPr/>
              </a:pPr>
              <a:t>156</a:t>
            </a:fld>
            <a:r>
              <a:rPr lang="en-US" altLang="zh-CN"/>
              <a:t>/167</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直接连接符 35"/>
          <p:cNvCxnSpPr/>
          <p:nvPr/>
        </p:nvCxnSpPr>
        <p:spPr>
          <a:xfrm>
            <a:off x="1071538" y="3713628"/>
            <a:ext cx="2160000" cy="1124"/>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cxnSp>
        <p:nvCxnSpPr>
          <p:cNvPr id="4" name="直接连接符 3"/>
          <p:cNvCxnSpPr>
            <a:stCxn id="6" idx="6"/>
            <a:endCxn id="8" idx="2"/>
          </p:cNvCxnSpPr>
          <p:nvPr/>
        </p:nvCxnSpPr>
        <p:spPr>
          <a:xfrm>
            <a:off x="1630342" y="3705437"/>
            <a:ext cx="1060408" cy="1124"/>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5" name="TextBox 4"/>
          <p:cNvSpPr txBox="1"/>
          <p:nvPr/>
        </p:nvSpPr>
        <p:spPr>
          <a:xfrm>
            <a:off x="1500166" y="3848875"/>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6" name="椭圆 5"/>
          <p:cNvSpPr/>
          <p:nvPr/>
        </p:nvSpPr>
        <p:spPr>
          <a:xfrm>
            <a:off x="1522342" y="3633437"/>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2668574" y="3849999"/>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8" name="椭圆 7"/>
          <p:cNvSpPr/>
          <p:nvPr/>
        </p:nvSpPr>
        <p:spPr>
          <a:xfrm>
            <a:off x="2690750" y="3634561"/>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a:stCxn id="8" idx="7"/>
            <a:endCxn id="12" idx="4"/>
          </p:cNvCxnSpPr>
          <p:nvPr/>
        </p:nvCxnSpPr>
        <p:spPr>
          <a:xfrm rot="5400000" flipH="1" flipV="1">
            <a:off x="2572884" y="3093255"/>
            <a:ext cx="772444" cy="352344"/>
          </a:xfrm>
          <a:prstGeom prst="line">
            <a:avLst/>
          </a:prstGeom>
        </p:spPr>
        <p:style>
          <a:lnRef idx="2">
            <a:schemeClr val="dk1"/>
          </a:lnRef>
          <a:fillRef idx="0">
            <a:schemeClr val="dk1"/>
          </a:fillRef>
          <a:effectRef idx="1">
            <a:schemeClr val="dk1"/>
          </a:effectRef>
          <a:fontRef idx="minor">
            <a:schemeClr val="tx1"/>
          </a:fontRef>
        </p:style>
      </p:cxnSp>
      <p:sp>
        <p:nvSpPr>
          <p:cNvPr id="11" name="TextBox 10"/>
          <p:cNvSpPr txBox="1"/>
          <p:nvPr/>
        </p:nvSpPr>
        <p:spPr>
          <a:xfrm>
            <a:off x="3214678" y="2705867"/>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12" name="椭圆 11"/>
          <p:cNvSpPr/>
          <p:nvPr/>
        </p:nvSpPr>
        <p:spPr>
          <a:xfrm>
            <a:off x="3081278" y="2739205"/>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a:stCxn id="12" idx="1"/>
            <a:endCxn id="16" idx="5"/>
          </p:cNvCxnSpPr>
          <p:nvPr/>
        </p:nvCxnSpPr>
        <p:spPr>
          <a:xfrm rot="16200000" flipV="1">
            <a:off x="2450787" y="2113986"/>
            <a:ext cx="616503" cy="676112"/>
          </a:xfrm>
          <a:prstGeom prst="line">
            <a:avLst/>
          </a:prstGeom>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2428860" y="1705735"/>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16" name="椭圆 15"/>
          <p:cNvSpPr/>
          <p:nvPr/>
        </p:nvSpPr>
        <p:spPr>
          <a:xfrm>
            <a:off x="2328798" y="2020878"/>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a:stCxn id="6" idx="1"/>
            <a:endCxn id="28" idx="4"/>
          </p:cNvCxnSpPr>
          <p:nvPr/>
        </p:nvCxnSpPr>
        <p:spPr>
          <a:xfrm rot="16200000" flipV="1">
            <a:off x="1011684" y="3128051"/>
            <a:ext cx="602229" cy="450720"/>
          </a:xfrm>
          <a:prstGeom prst="line">
            <a:avLst/>
          </a:prstGeom>
        </p:spPr>
        <p:style>
          <a:lnRef idx="2">
            <a:schemeClr val="dk1"/>
          </a:lnRef>
          <a:fillRef idx="0">
            <a:schemeClr val="dk1"/>
          </a:fillRef>
          <a:effectRef idx="1">
            <a:schemeClr val="dk1"/>
          </a:effectRef>
          <a:fontRef idx="minor">
            <a:schemeClr val="tx1"/>
          </a:fontRef>
        </p:style>
      </p:cxnSp>
      <p:cxnSp>
        <p:nvCxnSpPr>
          <p:cNvPr id="20" name="直接连接符 19"/>
          <p:cNvCxnSpPr>
            <a:stCxn id="16" idx="2"/>
            <a:endCxn id="26" idx="6"/>
          </p:cNvCxnSpPr>
          <p:nvPr/>
        </p:nvCxnSpPr>
        <p:spPr>
          <a:xfrm rot="10800000">
            <a:off x="1633566" y="2001574"/>
            <a:ext cx="695232" cy="91305"/>
          </a:xfrm>
          <a:prstGeom prst="line">
            <a:avLst/>
          </a:prstGeom>
        </p:spPr>
        <p:style>
          <a:lnRef idx="2">
            <a:schemeClr val="dk1"/>
          </a:lnRef>
          <a:fillRef idx="0">
            <a:schemeClr val="dk1"/>
          </a:fillRef>
          <a:effectRef idx="1">
            <a:schemeClr val="dk1"/>
          </a:effectRef>
          <a:fontRef idx="minor">
            <a:schemeClr val="tx1"/>
          </a:fontRef>
        </p:style>
      </p:cxnSp>
      <p:cxnSp>
        <p:nvCxnSpPr>
          <p:cNvPr id="22" name="直接连接符 21"/>
          <p:cNvCxnSpPr>
            <a:stCxn id="26" idx="3"/>
            <a:endCxn id="28" idx="0"/>
          </p:cNvCxnSpPr>
          <p:nvPr/>
        </p:nvCxnSpPr>
        <p:spPr>
          <a:xfrm rot="5400000">
            <a:off x="886505" y="2253418"/>
            <a:ext cx="855811" cy="453944"/>
          </a:xfrm>
          <a:prstGeom prst="line">
            <a:avLst/>
          </a:prstGeom>
          <a:ln w="38100">
            <a:solidFill>
              <a:srgbClr val="00B0F0"/>
            </a:solidFill>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1428728" y="1643050"/>
            <a:ext cx="285752"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4</a:t>
            </a:r>
            <a:endParaRPr lang="zh-CN" altLang="en-US" sz="1800" baseline="-25000">
              <a:solidFill>
                <a:srgbClr val="FF0000"/>
              </a:solidFill>
              <a:latin typeface="Consolas" pitchFamily="49" charset="0"/>
              <a:cs typeface="Consolas" pitchFamily="49" charset="0"/>
            </a:endParaRPr>
          </a:p>
        </p:txBody>
      </p:sp>
      <p:sp>
        <p:nvSpPr>
          <p:cNvPr id="27" name="TextBox 26"/>
          <p:cNvSpPr txBox="1"/>
          <p:nvPr/>
        </p:nvSpPr>
        <p:spPr>
          <a:xfrm>
            <a:off x="714348" y="2824158"/>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28" name="椭圆 27"/>
          <p:cNvSpPr/>
          <p:nvPr/>
        </p:nvSpPr>
        <p:spPr>
          <a:xfrm>
            <a:off x="1033438" y="2908296"/>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p:cNvSpPr txBox="1"/>
          <p:nvPr/>
        </p:nvSpPr>
        <p:spPr>
          <a:xfrm>
            <a:off x="3857620" y="1428736"/>
            <a:ext cx="4929222" cy="861774"/>
          </a:xfrm>
          <a:prstGeom prst="rect">
            <a:avLst/>
          </a:prstGeom>
          <a:noFill/>
        </p:spPr>
        <p:txBody>
          <a:bodyPr wrap="square" rtlCol="0">
            <a:spAutoFit/>
          </a:bodyPr>
          <a:lstStyle/>
          <a:p>
            <a:pPr marL="457200" indent="-457200">
              <a:lnSpc>
                <a:spcPts val="3000"/>
              </a:lnSpc>
              <a:buBlip>
                <a:blip r:embed="rId3"/>
              </a:buBlip>
            </a:pPr>
            <a:r>
              <a:rPr lang="zh-CN" altLang="en-US" sz="2000">
                <a:solidFill>
                  <a:srgbClr val="FF0000"/>
                </a:solidFill>
                <a:latin typeface="楷体" pitchFamily="49" charset="-122"/>
                <a:ea typeface="楷体" pitchFamily="49" charset="-122"/>
              </a:rPr>
              <a:t>红线</a:t>
            </a:r>
            <a:r>
              <a:rPr lang="zh-CN" altLang="en-US" sz="2000">
                <a:solidFill>
                  <a:srgbClr val="0000FF"/>
                </a:solidFill>
                <a:latin typeface="楷体" pitchFamily="49" charset="-122"/>
                <a:ea typeface="楷体" pitchFamily="49" charset="-122"/>
              </a:rPr>
              <a:t>指示当前处理的边</a:t>
            </a:r>
            <a:endParaRPr lang="en-US" altLang="zh-CN" sz="2000">
              <a:solidFill>
                <a:srgbClr val="0000FF"/>
              </a:solidFill>
              <a:latin typeface="楷体" pitchFamily="49" charset="-122"/>
              <a:ea typeface="楷体" pitchFamily="49" charset="-122"/>
            </a:endParaRPr>
          </a:p>
          <a:p>
            <a:pPr marL="457200" indent="-457200">
              <a:lnSpc>
                <a:spcPts val="3000"/>
              </a:lnSpc>
              <a:buBlip>
                <a:blip r:embed="rId3"/>
              </a:buBlip>
            </a:pPr>
            <a:r>
              <a:rPr lang="zh-CN" altLang="en-US" sz="2000">
                <a:solidFill>
                  <a:srgbClr val="00B0F0"/>
                </a:solidFill>
                <a:latin typeface="楷体" pitchFamily="49" charset="-122"/>
                <a:ea typeface="楷体" pitchFamily="49" charset="-122"/>
              </a:rPr>
              <a:t>蓝线</a:t>
            </a:r>
            <a:r>
              <a:rPr lang="zh-CN" altLang="en-US" sz="2000">
                <a:solidFill>
                  <a:srgbClr val="0000FF"/>
                </a:solidFill>
                <a:latin typeface="楷体" pitchFamily="49" charset="-122"/>
                <a:ea typeface="楷体" pitchFamily="49" charset="-122"/>
              </a:rPr>
              <a:t>表示离红线边最远的点所在的边</a:t>
            </a:r>
          </a:p>
        </p:txBody>
      </p:sp>
      <p:sp>
        <p:nvSpPr>
          <p:cNvPr id="24" name="TextBox 23"/>
          <p:cNvSpPr txBox="1"/>
          <p:nvPr/>
        </p:nvSpPr>
        <p:spPr>
          <a:xfrm>
            <a:off x="1071538" y="4429132"/>
            <a:ext cx="2286016" cy="400110"/>
          </a:xfrm>
          <a:prstGeom prst="rect">
            <a:avLst/>
          </a:prstGeom>
          <a:solidFill>
            <a:schemeClr val="bg1"/>
          </a:solidFill>
        </p:spPr>
        <p:txBody>
          <a:bodyPr wrap="square" rtlCol="0">
            <a:spAutoFit/>
          </a:bodyPr>
          <a:lstStyle/>
          <a:p>
            <a:r>
              <a:rPr lang="zh-CN" altLang="en-US" sz="2000">
                <a:solidFill>
                  <a:srgbClr val="0000FF"/>
                </a:solidFill>
                <a:latin typeface="Consolas" pitchFamily="49" charset="0"/>
                <a:ea typeface="楷体" pitchFamily="49" charset="-122"/>
                <a:cs typeface="Consolas" pitchFamily="49" charset="0"/>
              </a:rPr>
              <a:t>（</a:t>
            </a:r>
            <a:r>
              <a:rPr lang="en-US" sz="2000">
                <a:solidFill>
                  <a:srgbClr val="0000FF"/>
                </a:solidFill>
                <a:latin typeface="Consolas" pitchFamily="49" charset="0"/>
                <a:ea typeface="楷体" pitchFamily="49" charset="-122"/>
                <a:cs typeface="Consolas" pitchFamily="49" charset="0"/>
              </a:rPr>
              <a:t>b</a:t>
            </a:r>
            <a:r>
              <a:rPr lang="zh-CN" altLang="en-US" sz="2000">
                <a:solidFill>
                  <a:srgbClr val="0000FF"/>
                </a:solidFill>
                <a:latin typeface="Consolas" pitchFamily="49" charset="0"/>
                <a:ea typeface="楷体" pitchFamily="49" charset="-122"/>
                <a:cs typeface="Consolas" pitchFamily="49" charset="0"/>
              </a:rPr>
              <a:t>）处理边</a:t>
            </a:r>
            <a:r>
              <a:rPr lang="en-US" sz="2000" i="1">
                <a:solidFill>
                  <a:srgbClr val="0000FF"/>
                </a:solidFill>
                <a:latin typeface="Consolas" pitchFamily="49" charset="0"/>
                <a:ea typeface="楷体" pitchFamily="49" charset="-122"/>
                <a:cs typeface="Consolas" pitchFamily="49" charset="0"/>
              </a:rPr>
              <a:t>a</a:t>
            </a:r>
            <a:r>
              <a:rPr lang="en-US" sz="2000" baseline="-25000">
                <a:solidFill>
                  <a:srgbClr val="0000FF"/>
                </a:solidFill>
                <a:latin typeface="Consolas" pitchFamily="49" charset="0"/>
                <a:ea typeface="楷体" pitchFamily="49" charset="-122"/>
                <a:cs typeface="Consolas" pitchFamily="49" charset="0"/>
              </a:rPr>
              <a:t>0</a:t>
            </a:r>
            <a:r>
              <a:rPr lang="en-US" sz="2000" i="1">
                <a:solidFill>
                  <a:srgbClr val="0000FF"/>
                </a:solidFill>
                <a:latin typeface="Consolas" pitchFamily="49" charset="0"/>
                <a:ea typeface="楷体" pitchFamily="49" charset="-122"/>
                <a:cs typeface="Consolas" pitchFamily="49" charset="0"/>
              </a:rPr>
              <a:t>a</a:t>
            </a:r>
            <a:r>
              <a:rPr lang="en-US" sz="2000" baseline="-25000">
                <a:solidFill>
                  <a:srgbClr val="0000FF"/>
                </a:solidFill>
                <a:latin typeface="Consolas" pitchFamily="49" charset="0"/>
                <a:ea typeface="楷体" pitchFamily="49" charset="-122"/>
                <a:cs typeface="Consolas" pitchFamily="49" charset="0"/>
              </a:rPr>
              <a:t>1</a:t>
            </a:r>
            <a:endParaRPr lang="zh-CN" altLang="en-US" sz="2000">
              <a:solidFill>
                <a:srgbClr val="0000FF"/>
              </a:solidFill>
              <a:latin typeface="Consolas" pitchFamily="49" charset="0"/>
              <a:ea typeface="楷体" pitchFamily="49" charset="-122"/>
              <a:cs typeface="Consolas" pitchFamily="49" charset="0"/>
            </a:endParaRPr>
          </a:p>
        </p:txBody>
      </p:sp>
      <p:grpSp>
        <p:nvGrpSpPr>
          <p:cNvPr id="2" name="组合 32"/>
          <p:cNvGrpSpPr/>
          <p:nvPr/>
        </p:nvGrpSpPr>
        <p:grpSpPr>
          <a:xfrm>
            <a:off x="1576342" y="1981047"/>
            <a:ext cx="1130224" cy="1603164"/>
            <a:chOff x="1576342" y="1838171"/>
            <a:chExt cx="1130224" cy="1603164"/>
          </a:xfrm>
        </p:grpSpPr>
        <p:cxnSp>
          <p:nvCxnSpPr>
            <p:cNvPr id="30" name="直接连接符 29"/>
            <p:cNvCxnSpPr>
              <a:stCxn id="26" idx="4"/>
              <a:endCxn id="6" idx="0"/>
            </p:cNvCxnSpPr>
            <p:nvPr/>
          </p:nvCxnSpPr>
          <p:spPr>
            <a:xfrm rot="5400000">
              <a:off x="798022" y="2637579"/>
              <a:ext cx="1559864" cy="3224"/>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32" name="直接连接符 31"/>
            <p:cNvCxnSpPr>
              <a:stCxn id="26" idx="5"/>
              <a:endCxn id="8" idx="1"/>
            </p:cNvCxnSpPr>
            <p:nvPr/>
          </p:nvCxnSpPr>
          <p:spPr>
            <a:xfrm rot="16200000" flipH="1">
              <a:off x="1360576" y="2095345"/>
              <a:ext cx="1603164" cy="1088816"/>
            </a:xfrm>
            <a:prstGeom prst="line">
              <a:avLst/>
            </a:prstGeom>
            <a:ln>
              <a:prstDash val="dash"/>
            </a:ln>
          </p:spPr>
          <p:style>
            <a:lnRef idx="2">
              <a:schemeClr val="dk1"/>
            </a:lnRef>
            <a:fillRef idx="0">
              <a:schemeClr val="dk1"/>
            </a:fillRef>
            <a:effectRef idx="1">
              <a:schemeClr val="dk1"/>
            </a:effectRef>
            <a:fontRef idx="minor">
              <a:schemeClr val="tx1"/>
            </a:fontRef>
          </p:style>
        </p:cxnSp>
      </p:grpSp>
      <p:sp>
        <p:nvSpPr>
          <p:cNvPr id="34" name="TextBox 33"/>
          <p:cNvSpPr txBox="1"/>
          <p:nvPr/>
        </p:nvSpPr>
        <p:spPr>
          <a:xfrm>
            <a:off x="4071934" y="2857496"/>
            <a:ext cx="4000528" cy="400110"/>
          </a:xfrm>
          <a:prstGeom prst="rect">
            <a:avLst/>
          </a:prstGeom>
          <a:noFill/>
        </p:spPr>
        <p:txBody>
          <a:bodyPr wrap="square" rtlCol="0">
            <a:spAutoFit/>
          </a:bodyPr>
          <a:lstStyle/>
          <a:p>
            <a:r>
              <a:rPr lang="zh-CN" altLang="en-US" sz="2000">
                <a:solidFill>
                  <a:srgbClr val="0000FF"/>
                </a:solidFill>
                <a:latin typeface="Consolas" pitchFamily="49" charset="0"/>
                <a:ea typeface="微软雅黑" pitchFamily="34" charset="-122"/>
                <a:cs typeface="Consolas" pitchFamily="49" charset="0"/>
              </a:rPr>
              <a:t>两条虚线求最长距离 </a:t>
            </a:r>
            <a:r>
              <a:rPr lang="zh-CN" altLang="en-US" sz="2000">
                <a:solidFill>
                  <a:srgbClr val="0000FF"/>
                </a:solidFill>
                <a:latin typeface="Consolas" pitchFamily="49" charset="0"/>
                <a:ea typeface="微软雅黑" pitchFamily="34" charset="-122"/>
                <a:cs typeface="Consolas" pitchFamily="49" charset="0"/>
                <a:sym typeface="Wingdings"/>
              </a:rPr>
              <a:t> </a:t>
            </a:r>
            <a:r>
              <a:rPr lang="en-US" sz="2000">
                <a:solidFill>
                  <a:srgbClr val="0000FF"/>
                </a:solidFill>
                <a:latin typeface="Consolas" pitchFamily="49" charset="0"/>
                <a:ea typeface="微软雅黑" pitchFamily="34" charset="-122"/>
                <a:cs typeface="Consolas" pitchFamily="49" charset="0"/>
              </a:rPr>
              <a:t>maxdist</a:t>
            </a:r>
            <a:endParaRPr lang="zh-CN" altLang="en-US" sz="2000">
              <a:solidFill>
                <a:srgbClr val="0000FF"/>
              </a:solidFill>
              <a:latin typeface="Consolas" pitchFamily="49" charset="0"/>
              <a:ea typeface="微软雅黑" pitchFamily="34" charset="-122"/>
              <a:cs typeface="Consolas" pitchFamily="49" charset="0"/>
            </a:endParaRPr>
          </a:p>
        </p:txBody>
      </p:sp>
      <p:sp>
        <p:nvSpPr>
          <p:cNvPr id="35" name="右箭头 34"/>
          <p:cNvSpPr/>
          <p:nvPr/>
        </p:nvSpPr>
        <p:spPr>
          <a:xfrm>
            <a:off x="3714744" y="2928934"/>
            <a:ext cx="357190" cy="214314"/>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grpSp>
        <p:nvGrpSpPr>
          <p:cNvPr id="3" name="组合 28"/>
          <p:cNvGrpSpPr/>
          <p:nvPr/>
        </p:nvGrpSpPr>
        <p:grpSpPr>
          <a:xfrm>
            <a:off x="607379" y="285728"/>
            <a:ext cx="678473" cy="735963"/>
            <a:chOff x="535940" y="314960"/>
            <a:chExt cx="1021715" cy="1021715"/>
          </a:xfrm>
        </p:grpSpPr>
        <p:grpSp>
          <p:nvGrpSpPr>
            <p:cNvPr id="9" name="组合 24"/>
            <p:cNvGrpSpPr/>
            <p:nvPr/>
          </p:nvGrpSpPr>
          <p:grpSpPr>
            <a:xfrm>
              <a:off x="535940" y="314960"/>
              <a:ext cx="1021715" cy="1021715"/>
              <a:chOff x="304800" y="673100"/>
              <a:chExt cx="4000500" cy="4000500"/>
            </a:xfrm>
            <a:effectLst>
              <a:outerShdw blurRad="444500" dist="254000" dir="8100000" algn="tr" rotWithShape="0">
                <a:prstClr val="black">
                  <a:alpha val="50000"/>
                </a:prstClr>
              </a:outerShdw>
            </a:effectLst>
          </p:grpSpPr>
          <p:sp>
            <p:nvSpPr>
              <p:cNvPr id="38" name="同心圆 3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a:endParaRPr lang="zh-CN" altLang="en-US" sz="2400">
                  <a:solidFill>
                    <a:srgbClr val="080808"/>
                  </a:solidFill>
                  <a:latin typeface="微软雅黑" panose="020B0503020204020204" charset="-122"/>
                  <a:ea typeface="微软雅黑" panose="020B0503020204020204" charset="-122"/>
                </a:endParaRPr>
              </a:p>
            </p:txBody>
          </p:sp>
          <p:sp>
            <p:nvSpPr>
              <p:cNvPr id="40" name="椭圆 39"/>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a:endParaRPr lang="zh-CN" altLang="en-US" sz="2400">
                  <a:solidFill>
                    <a:srgbClr val="080808"/>
                  </a:solidFill>
                  <a:latin typeface="微软雅黑" panose="020B0503020204020204" charset="-122"/>
                  <a:ea typeface="微软雅黑" panose="020B0503020204020204" charset="-122"/>
                </a:endParaRPr>
              </a:p>
            </p:txBody>
          </p:sp>
        </p:grpSp>
        <p:sp>
          <p:nvSpPr>
            <p:cNvPr id="37" name="TextBox 13"/>
            <p:cNvSpPr txBox="1"/>
            <p:nvPr/>
          </p:nvSpPr>
          <p:spPr>
            <a:xfrm>
              <a:off x="777875" y="543273"/>
              <a:ext cx="537846" cy="512732"/>
            </a:xfrm>
            <a:prstGeom prst="rect">
              <a:avLst/>
            </a:prstGeom>
            <a:noFill/>
          </p:spPr>
          <p:txBody>
            <a:bodyPr wrap="square" lIns="0" tIns="0" rIns="0" bIns="0" rtlCol="0">
              <a:spAutoFit/>
            </a:bodyPr>
            <a:lstStyle/>
            <a:p>
              <a:pPr algn="ctr"/>
              <a:r>
                <a:rPr lang="en-US" altLang="zh-CN" b="1">
                  <a:solidFill>
                    <a:srgbClr val="C00002"/>
                  </a:solidFill>
                  <a:latin typeface="微软雅黑" panose="020B0503020204020204" charset="-122"/>
                  <a:ea typeface="微软雅黑" panose="020B0503020204020204" charset="-122"/>
                </a:rPr>
                <a:t>1</a:t>
              </a:r>
              <a:endParaRPr lang="en-US" altLang="zh-CN" b="1" dirty="0">
                <a:solidFill>
                  <a:srgbClr val="C00002"/>
                </a:solidFill>
                <a:latin typeface="微软雅黑" panose="020B0503020204020204" charset="-122"/>
                <a:ea typeface="微软雅黑" panose="020B0503020204020204" charset="-122"/>
              </a:endParaRPr>
            </a:p>
          </p:txBody>
        </p:sp>
      </p:grpSp>
      <p:sp>
        <p:nvSpPr>
          <p:cNvPr id="41" name="TextBox 40"/>
          <p:cNvSpPr txBox="1"/>
          <p:nvPr/>
        </p:nvSpPr>
        <p:spPr>
          <a:xfrm>
            <a:off x="1428728" y="450187"/>
            <a:ext cx="1857388" cy="430887"/>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r>
              <a:rPr lang="zh-CN" altLang="en-US" sz="2200">
                <a:solidFill>
                  <a:schemeClr val="bg1"/>
                </a:solidFill>
                <a:latin typeface="微软雅黑" pitchFamily="34" charset="-122"/>
                <a:ea typeface="微软雅黑" pitchFamily="34" charset="-122"/>
              </a:rPr>
              <a:t>基本过程</a:t>
            </a:r>
          </a:p>
        </p:txBody>
      </p:sp>
      <p:sp>
        <p:nvSpPr>
          <p:cNvPr id="26" name="椭圆 25"/>
          <p:cNvSpPr/>
          <p:nvPr/>
        </p:nvSpPr>
        <p:spPr>
          <a:xfrm>
            <a:off x="1525566" y="1929573"/>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灯片编号占位符 41"/>
          <p:cNvSpPr>
            <a:spLocks noGrp="1"/>
          </p:cNvSpPr>
          <p:nvPr>
            <p:ph type="sldNum" sz="quarter" idx="12"/>
          </p:nvPr>
        </p:nvSpPr>
        <p:spPr/>
        <p:txBody>
          <a:bodyPr/>
          <a:lstStyle/>
          <a:p>
            <a:pPr>
              <a:defRPr/>
            </a:pPr>
            <a:fld id="{51116183-1013-4E64-BBE8-A5C1D5D4F838}" type="slidenum">
              <a:rPr lang="en-US" altLang="zh-CN" smtClean="0"/>
              <a:pPr>
                <a:defRPr/>
              </a:pPr>
              <a:t>157</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4"/>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直接连接符 35"/>
          <p:cNvCxnSpPr/>
          <p:nvPr/>
        </p:nvCxnSpPr>
        <p:spPr>
          <a:xfrm rot="5400000" flipH="1" flipV="1">
            <a:off x="2173789" y="2670878"/>
            <a:ext cx="1640091" cy="727444"/>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cxnSp>
        <p:nvCxnSpPr>
          <p:cNvPr id="4" name="直接连接符 3"/>
          <p:cNvCxnSpPr>
            <a:stCxn id="6" idx="6"/>
            <a:endCxn id="8" idx="2"/>
          </p:cNvCxnSpPr>
          <p:nvPr/>
        </p:nvCxnSpPr>
        <p:spPr>
          <a:xfrm>
            <a:off x="1630342" y="3562561"/>
            <a:ext cx="1060408" cy="112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5" name="TextBox 4"/>
          <p:cNvSpPr txBox="1"/>
          <p:nvPr/>
        </p:nvSpPr>
        <p:spPr>
          <a:xfrm>
            <a:off x="1500166" y="3705999"/>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6" name="椭圆 5"/>
          <p:cNvSpPr/>
          <p:nvPr/>
        </p:nvSpPr>
        <p:spPr>
          <a:xfrm>
            <a:off x="1522342" y="3490561"/>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2857488" y="3652067"/>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8" name="椭圆 7"/>
          <p:cNvSpPr/>
          <p:nvPr/>
        </p:nvSpPr>
        <p:spPr>
          <a:xfrm>
            <a:off x="2690750" y="3491685"/>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a:stCxn id="8" idx="7"/>
            <a:endCxn id="12" idx="4"/>
          </p:cNvCxnSpPr>
          <p:nvPr/>
        </p:nvCxnSpPr>
        <p:spPr>
          <a:xfrm rot="5400000" flipH="1" flipV="1">
            <a:off x="2572884" y="2950379"/>
            <a:ext cx="772444" cy="352344"/>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1" name="TextBox 10"/>
          <p:cNvSpPr txBox="1"/>
          <p:nvPr/>
        </p:nvSpPr>
        <p:spPr>
          <a:xfrm>
            <a:off x="3214678" y="2562991"/>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12" name="椭圆 11"/>
          <p:cNvSpPr/>
          <p:nvPr/>
        </p:nvSpPr>
        <p:spPr>
          <a:xfrm>
            <a:off x="3081278" y="2596329"/>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a:stCxn id="12" idx="1"/>
            <a:endCxn id="16" idx="5"/>
          </p:cNvCxnSpPr>
          <p:nvPr/>
        </p:nvCxnSpPr>
        <p:spPr>
          <a:xfrm rot="16200000" flipV="1">
            <a:off x="2450787" y="1971110"/>
            <a:ext cx="616503" cy="676112"/>
          </a:xfrm>
          <a:prstGeom prst="line">
            <a:avLst/>
          </a:prstGeom>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2428860" y="1562859"/>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16" name="椭圆 15"/>
          <p:cNvSpPr/>
          <p:nvPr/>
        </p:nvSpPr>
        <p:spPr>
          <a:xfrm>
            <a:off x="2328798" y="1878002"/>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a:stCxn id="6" idx="1"/>
            <a:endCxn id="28" idx="4"/>
          </p:cNvCxnSpPr>
          <p:nvPr/>
        </p:nvCxnSpPr>
        <p:spPr>
          <a:xfrm rot="16200000" flipV="1">
            <a:off x="1011684" y="2985175"/>
            <a:ext cx="602229" cy="450720"/>
          </a:xfrm>
          <a:prstGeom prst="line">
            <a:avLst/>
          </a:prstGeom>
        </p:spPr>
        <p:style>
          <a:lnRef idx="2">
            <a:schemeClr val="dk1"/>
          </a:lnRef>
          <a:fillRef idx="0">
            <a:schemeClr val="dk1"/>
          </a:fillRef>
          <a:effectRef idx="1">
            <a:schemeClr val="dk1"/>
          </a:effectRef>
          <a:fontRef idx="minor">
            <a:schemeClr val="tx1"/>
          </a:fontRef>
        </p:style>
      </p:cxnSp>
      <p:cxnSp>
        <p:nvCxnSpPr>
          <p:cNvPr id="20" name="直接连接符 19"/>
          <p:cNvCxnSpPr>
            <a:stCxn id="16" idx="2"/>
            <a:endCxn id="26" idx="6"/>
          </p:cNvCxnSpPr>
          <p:nvPr/>
        </p:nvCxnSpPr>
        <p:spPr>
          <a:xfrm rot="10800000">
            <a:off x="1633566" y="1858698"/>
            <a:ext cx="695232" cy="91305"/>
          </a:xfrm>
          <a:prstGeom prst="line">
            <a:avLst/>
          </a:prstGeom>
        </p:spPr>
        <p:style>
          <a:lnRef idx="2">
            <a:schemeClr val="dk1"/>
          </a:lnRef>
          <a:fillRef idx="0">
            <a:schemeClr val="dk1"/>
          </a:fillRef>
          <a:effectRef idx="1">
            <a:schemeClr val="dk1"/>
          </a:effectRef>
          <a:fontRef idx="minor">
            <a:schemeClr val="tx1"/>
          </a:fontRef>
        </p:style>
      </p:cxnSp>
      <p:cxnSp>
        <p:nvCxnSpPr>
          <p:cNvPr id="22" name="直接连接符 21"/>
          <p:cNvCxnSpPr>
            <a:stCxn id="26" idx="3"/>
            <a:endCxn id="28" idx="0"/>
          </p:cNvCxnSpPr>
          <p:nvPr/>
        </p:nvCxnSpPr>
        <p:spPr>
          <a:xfrm rot="5400000">
            <a:off x="886505" y="2110542"/>
            <a:ext cx="855811" cy="453944"/>
          </a:xfrm>
          <a:prstGeom prst="line">
            <a:avLst/>
          </a:prstGeom>
          <a:ln w="38100">
            <a:solidFill>
              <a:srgbClr val="00B0F0"/>
            </a:solidFill>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1428728" y="1500174"/>
            <a:ext cx="285752"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4</a:t>
            </a:r>
            <a:endParaRPr lang="zh-CN" altLang="en-US" sz="1800" baseline="-25000">
              <a:solidFill>
                <a:srgbClr val="FF0000"/>
              </a:solidFill>
              <a:latin typeface="Consolas" pitchFamily="49" charset="0"/>
              <a:cs typeface="Consolas" pitchFamily="49" charset="0"/>
            </a:endParaRPr>
          </a:p>
        </p:txBody>
      </p:sp>
      <p:sp>
        <p:nvSpPr>
          <p:cNvPr id="26" name="椭圆 25"/>
          <p:cNvSpPr/>
          <p:nvPr/>
        </p:nvSpPr>
        <p:spPr>
          <a:xfrm>
            <a:off x="1525566" y="1786697"/>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a:off x="714348" y="2681282"/>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28" name="椭圆 27"/>
          <p:cNvSpPr/>
          <p:nvPr/>
        </p:nvSpPr>
        <p:spPr>
          <a:xfrm>
            <a:off x="1033438" y="2765420"/>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32"/>
          <p:cNvGrpSpPr/>
          <p:nvPr/>
        </p:nvGrpSpPr>
        <p:grpSpPr>
          <a:xfrm>
            <a:off x="1579566" y="1909609"/>
            <a:ext cx="1501712" cy="1603164"/>
            <a:chOff x="1579566" y="1909609"/>
            <a:chExt cx="1501712" cy="1603164"/>
          </a:xfrm>
        </p:grpSpPr>
        <p:cxnSp>
          <p:nvCxnSpPr>
            <p:cNvPr id="30" name="直接连接符 29"/>
            <p:cNvCxnSpPr>
              <a:stCxn id="26" idx="4"/>
              <a:endCxn id="8" idx="1"/>
            </p:cNvCxnSpPr>
            <p:nvPr/>
          </p:nvCxnSpPr>
          <p:spPr>
            <a:xfrm rot="16200000" flipH="1">
              <a:off x="1352028" y="2158235"/>
              <a:ext cx="1582076" cy="1127000"/>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32" name="直接连接符 31"/>
            <p:cNvCxnSpPr>
              <a:stCxn id="26" idx="5"/>
              <a:endCxn id="12" idx="2"/>
            </p:cNvCxnSpPr>
            <p:nvPr/>
          </p:nvCxnSpPr>
          <p:spPr>
            <a:xfrm rot="16200000" flipH="1">
              <a:off x="1970154" y="1557205"/>
              <a:ext cx="758720" cy="1463528"/>
            </a:xfrm>
            <a:prstGeom prst="line">
              <a:avLst/>
            </a:prstGeom>
            <a:ln>
              <a:prstDash val="dash"/>
            </a:ln>
          </p:spPr>
          <p:style>
            <a:lnRef idx="2">
              <a:schemeClr val="dk1"/>
            </a:lnRef>
            <a:fillRef idx="0">
              <a:schemeClr val="dk1"/>
            </a:fillRef>
            <a:effectRef idx="1">
              <a:schemeClr val="dk1"/>
            </a:effectRef>
            <a:fontRef idx="minor">
              <a:schemeClr val="tx1"/>
            </a:fontRef>
          </p:style>
        </p:cxnSp>
      </p:grpSp>
      <p:sp>
        <p:nvSpPr>
          <p:cNvPr id="34" name="TextBox 33"/>
          <p:cNvSpPr txBox="1"/>
          <p:nvPr/>
        </p:nvSpPr>
        <p:spPr>
          <a:xfrm>
            <a:off x="4071934" y="2714620"/>
            <a:ext cx="4000528" cy="400110"/>
          </a:xfrm>
          <a:prstGeom prst="rect">
            <a:avLst/>
          </a:prstGeom>
          <a:noFill/>
        </p:spPr>
        <p:txBody>
          <a:bodyPr wrap="square" rtlCol="0">
            <a:spAutoFit/>
          </a:bodyPr>
          <a:lstStyle/>
          <a:p>
            <a:r>
              <a:rPr lang="zh-CN" altLang="en-US" sz="2000">
                <a:solidFill>
                  <a:srgbClr val="0000FF"/>
                </a:solidFill>
                <a:latin typeface="Consolas" pitchFamily="49" charset="0"/>
                <a:ea typeface="微软雅黑" pitchFamily="34" charset="-122"/>
                <a:cs typeface="Consolas" pitchFamily="49" charset="0"/>
              </a:rPr>
              <a:t>两条虚线求最长距离 </a:t>
            </a:r>
            <a:r>
              <a:rPr lang="zh-CN" altLang="en-US" sz="2000">
                <a:solidFill>
                  <a:srgbClr val="0000FF"/>
                </a:solidFill>
                <a:latin typeface="Consolas" pitchFamily="49" charset="0"/>
                <a:ea typeface="微软雅黑" pitchFamily="34" charset="-122"/>
                <a:cs typeface="Consolas" pitchFamily="49" charset="0"/>
                <a:sym typeface="Wingdings"/>
              </a:rPr>
              <a:t> </a:t>
            </a:r>
            <a:r>
              <a:rPr lang="en-US" sz="2000">
                <a:solidFill>
                  <a:srgbClr val="0000FF"/>
                </a:solidFill>
                <a:latin typeface="Consolas" pitchFamily="49" charset="0"/>
                <a:ea typeface="微软雅黑" pitchFamily="34" charset="-122"/>
                <a:cs typeface="Consolas" pitchFamily="49" charset="0"/>
              </a:rPr>
              <a:t>maxdist</a:t>
            </a:r>
            <a:endParaRPr lang="zh-CN" altLang="en-US" sz="2000">
              <a:solidFill>
                <a:srgbClr val="0000FF"/>
              </a:solidFill>
              <a:latin typeface="Consolas" pitchFamily="49" charset="0"/>
              <a:ea typeface="微软雅黑" pitchFamily="34" charset="-122"/>
              <a:cs typeface="Consolas" pitchFamily="49" charset="0"/>
            </a:endParaRPr>
          </a:p>
        </p:txBody>
      </p:sp>
      <p:sp>
        <p:nvSpPr>
          <p:cNvPr id="35" name="右箭头 34"/>
          <p:cNvSpPr/>
          <p:nvPr/>
        </p:nvSpPr>
        <p:spPr>
          <a:xfrm>
            <a:off x="3714744" y="2786058"/>
            <a:ext cx="357190" cy="214314"/>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sp>
        <p:nvSpPr>
          <p:cNvPr id="33" name="TextBox 32"/>
          <p:cNvSpPr txBox="1"/>
          <p:nvPr/>
        </p:nvSpPr>
        <p:spPr>
          <a:xfrm>
            <a:off x="1142976" y="4357694"/>
            <a:ext cx="2571768" cy="400110"/>
          </a:xfrm>
          <a:prstGeom prst="rect">
            <a:avLst/>
          </a:prstGeom>
          <a:solidFill>
            <a:schemeClr val="bg1"/>
          </a:solidFill>
        </p:spPr>
        <p:txBody>
          <a:bodyPr wrap="square" rtlCol="0">
            <a:spAutoFit/>
          </a:bodyPr>
          <a:lstStyle/>
          <a:p>
            <a:r>
              <a:rPr lang="zh-CN" altLang="en-US" sz="2000">
                <a:solidFill>
                  <a:srgbClr val="0000FF"/>
                </a:solidFill>
                <a:latin typeface="Consolas" pitchFamily="49" charset="0"/>
                <a:ea typeface="楷体" pitchFamily="49" charset="-122"/>
                <a:cs typeface="Consolas" pitchFamily="49" charset="0"/>
              </a:rPr>
              <a:t>（</a:t>
            </a:r>
            <a:r>
              <a:rPr lang="en-US" sz="2000">
                <a:solidFill>
                  <a:srgbClr val="0000FF"/>
                </a:solidFill>
                <a:latin typeface="Consolas" pitchFamily="49" charset="0"/>
                <a:ea typeface="楷体" pitchFamily="49" charset="-122"/>
                <a:cs typeface="Consolas" pitchFamily="49" charset="0"/>
              </a:rPr>
              <a:t>c</a:t>
            </a:r>
            <a:r>
              <a:rPr lang="zh-CN" altLang="en-US" sz="2000">
                <a:solidFill>
                  <a:srgbClr val="0000FF"/>
                </a:solidFill>
                <a:latin typeface="Consolas" pitchFamily="49" charset="0"/>
                <a:ea typeface="楷体" pitchFamily="49" charset="-122"/>
                <a:cs typeface="Consolas" pitchFamily="49" charset="0"/>
              </a:rPr>
              <a:t>）处理边</a:t>
            </a:r>
            <a:r>
              <a:rPr lang="en-US" sz="2000" i="1">
                <a:solidFill>
                  <a:srgbClr val="0000FF"/>
                </a:solidFill>
                <a:latin typeface="Consolas" pitchFamily="49" charset="0"/>
                <a:ea typeface="楷体" pitchFamily="49" charset="-122"/>
                <a:cs typeface="Consolas" pitchFamily="49" charset="0"/>
              </a:rPr>
              <a:t>a</a:t>
            </a:r>
            <a:r>
              <a:rPr lang="en-US" sz="2000" baseline="-25000">
                <a:solidFill>
                  <a:srgbClr val="0000FF"/>
                </a:solidFill>
                <a:latin typeface="Consolas" pitchFamily="49" charset="0"/>
                <a:ea typeface="楷体" pitchFamily="49" charset="-122"/>
                <a:cs typeface="Consolas" pitchFamily="49" charset="0"/>
              </a:rPr>
              <a:t>1</a:t>
            </a:r>
            <a:r>
              <a:rPr lang="en-US" sz="2000" i="1">
                <a:solidFill>
                  <a:srgbClr val="0000FF"/>
                </a:solidFill>
                <a:latin typeface="Consolas" pitchFamily="49" charset="0"/>
                <a:ea typeface="楷体" pitchFamily="49" charset="-122"/>
                <a:cs typeface="Consolas" pitchFamily="49" charset="0"/>
              </a:rPr>
              <a:t>a</a:t>
            </a:r>
            <a:r>
              <a:rPr lang="en-US" sz="2000" baseline="-25000">
                <a:solidFill>
                  <a:srgbClr val="0000FF"/>
                </a:solidFill>
                <a:latin typeface="Consolas" pitchFamily="49" charset="0"/>
                <a:ea typeface="楷体" pitchFamily="49" charset="-122"/>
                <a:cs typeface="Consolas" pitchFamily="49" charset="0"/>
              </a:rPr>
              <a:t>2</a:t>
            </a:r>
            <a:endParaRPr lang="zh-CN" altLang="en-US" sz="2000">
              <a:solidFill>
                <a:srgbClr val="0000FF"/>
              </a:solidFill>
              <a:latin typeface="Consolas" pitchFamily="49" charset="0"/>
              <a:ea typeface="楷体" pitchFamily="49" charset="-122"/>
              <a:cs typeface="Consolas" pitchFamily="49" charset="0"/>
            </a:endParaRPr>
          </a:p>
        </p:txBody>
      </p:sp>
      <p:sp>
        <p:nvSpPr>
          <p:cNvPr id="31" name="灯片编号占位符 30"/>
          <p:cNvSpPr>
            <a:spLocks noGrp="1"/>
          </p:cNvSpPr>
          <p:nvPr>
            <p:ph type="sldNum" sz="quarter" idx="12"/>
          </p:nvPr>
        </p:nvSpPr>
        <p:spPr/>
        <p:txBody>
          <a:bodyPr/>
          <a:lstStyle/>
          <a:p>
            <a:pPr>
              <a:defRPr/>
            </a:pPr>
            <a:fld id="{51116183-1013-4E64-BBE8-A5C1D5D4F838}" type="slidenum">
              <a:rPr lang="en-US" altLang="zh-CN" smtClean="0"/>
              <a:pPr>
                <a:defRPr/>
              </a:pPr>
              <a:t>158</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直接连接符 38"/>
          <p:cNvCxnSpPr/>
          <p:nvPr/>
        </p:nvCxnSpPr>
        <p:spPr>
          <a:xfrm rot="10800000">
            <a:off x="2045545" y="1669176"/>
            <a:ext cx="1428761" cy="1285884"/>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cxnSp>
        <p:nvCxnSpPr>
          <p:cNvPr id="4" name="直接连接符 3"/>
          <p:cNvCxnSpPr>
            <a:stCxn id="6" idx="6"/>
            <a:endCxn id="8" idx="2"/>
          </p:cNvCxnSpPr>
          <p:nvPr/>
        </p:nvCxnSpPr>
        <p:spPr>
          <a:xfrm>
            <a:off x="1630342" y="3562561"/>
            <a:ext cx="1060408" cy="1124"/>
          </a:xfrm>
          <a:prstGeom prst="line">
            <a:avLst/>
          </a:prstGeom>
          <a:ln w="38100">
            <a:solidFill>
              <a:srgbClr val="00B0F0"/>
            </a:solidFill>
          </a:ln>
        </p:spPr>
        <p:style>
          <a:lnRef idx="2">
            <a:schemeClr val="dk1"/>
          </a:lnRef>
          <a:fillRef idx="0">
            <a:schemeClr val="dk1"/>
          </a:fillRef>
          <a:effectRef idx="1">
            <a:schemeClr val="dk1"/>
          </a:effectRef>
          <a:fontRef idx="minor">
            <a:schemeClr val="tx1"/>
          </a:fontRef>
        </p:style>
      </p:cxnSp>
      <p:sp>
        <p:nvSpPr>
          <p:cNvPr id="5" name="TextBox 4"/>
          <p:cNvSpPr txBox="1"/>
          <p:nvPr/>
        </p:nvSpPr>
        <p:spPr>
          <a:xfrm>
            <a:off x="1500166" y="3705999"/>
            <a:ext cx="285752"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0</a:t>
            </a:r>
            <a:endParaRPr lang="zh-CN" altLang="en-US" sz="1800" baseline="-25000">
              <a:solidFill>
                <a:srgbClr val="FF0000"/>
              </a:solidFill>
              <a:latin typeface="Consolas" pitchFamily="49" charset="0"/>
              <a:cs typeface="Consolas" pitchFamily="49" charset="0"/>
            </a:endParaRPr>
          </a:p>
        </p:txBody>
      </p:sp>
      <p:sp>
        <p:nvSpPr>
          <p:cNvPr id="6" name="椭圆 5"/>
          <p:cNvSpPr/>
          <p:nvPr/>
        </p:nvSpPr>
        <p:spPr>
          <a:xfrm>
            <a:off x="1522342" y="3490561"/>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2668574" y="3707123"/>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8" name="椭圆 7"/>
          <p:cNvSpPr/>
          <p:nvPr/>
        </p:nvSpPr>
        <p:spPr>
          <a:xfrm>
            <a:off x="2690750" y="3491685"/>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a:stCxn id="8" idx="7"/>
            <a:endCxn id="12" idx="4"/>
          </p:cNvCxnSpPr>
          <p:nvPr/>
        </p:nvCxnSpPr>
        <p:spPr>
          <a:xfrm rot="5400000" flipH="1" flipV="1">
            <a:off x="2572884" y="2950379"/>
            <a:ext cx="772444" cy="35234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11" name="TextBox 10"/>
          <p:cNvSpPr txBox="1"/>
          <p:nvPr/>
        </p:nvSpPr>
        <p:spPr>
          <a:xfrm>
            <a:off x="3214678" y="2357430"/>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12" name="椭圆 11"/>
          <p:cNvSpPr/>
          <p:nvPr/>
        </p:nvSpPr>
        <p:spPr>
          <a:xfrm>
            <a:off x="3081278" y="2596329"/>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a:stCxn id="12" idx="1"/>
            <a:endCxn id="16" idx="5"/>
          </p:cNvCxnSpPr>
          <p:nvPr/>
        </p:nvCxnSpPr>
        <p:spPr>
          <a:xfrm rot="16200000" flipV="1">
            <a:off x="2450787" y="1971110"/>
            <a:ext cx="616503" cy="676112"/>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2428860" y="1562859"/>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16" name="椭圆 15"/>
          <p:cNvSpPr/>
          <p:nvPr/>
        </p:nvSpPr>
        <p:spPr>
          <a:xfrm>
            <a:off x="2328798" y="1878002"/>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a:stCxn id="6" idx="1"/>
            <a:endCxn id="28" idx="4"/>
          </p:cNvCxnSpPr>
          <p:nvPr/>
        </p:nvCxnSpPr>
        <p:spPr>
          <a:xfrm rot="16200000" flipV="1">
            <a:off x="1011684" y="2985175"/>
            <a:ext cx="602229" cy="450720"/>
          </a:xfrm>
          <a:prstGeom prst="line">
            <a:avLst/>
          </a:prstGeom>
        </p:spPr>
        <p:style>
          <a:lnRef idx="2">
            <a:schemeClr val="dk1"/>
          </a:lnRef>
          <a:fillRef idx="0">
            <a:schemeClr val="dk1"/>
          </a:fillRef>
          <a:effectRef idx="1">
            <a:schemeClr val="dk1"/>
          </a:effectRef>
          <a:fontRef idx="minor">
            <a:schemeClr val="tx1"/>
          </a:fontRef>
        </p:style>
      </p:cxnSp>
      <p:cxnSp>
        <p:nvCxnSpPr>
          <p:cNvPr id="20" name="直接连接符 19"/>
          <p:cNvCxnSpPr>
            <a:stCxn id="16" idx="2"/>
            <a:endCxn id="26" idx="6"/>
          </p:cNvCxnSpPr>
          <p:nvPr/>
        </p:nvCxnSpPr>
        <p:spPr>
          <a:xfrm rot="10800000">
            <a:off x="1633566" y="1858698"/>
            <a:ext cx="695232" cy="91305"/>
          </a:xfrm>
          <a:prstGeom prst="line">
            <a:avLst/>
          </a:prstGeom>
        </p:spPr>
        <p:style>
          <a:lnRef idx="2">
            <a:schemeClr val="dk1"/>
          </a:lnRef>
          <a:fillRef idx="0">
            <a:schemeClr val="dk1"/>
          </a:fillRef>
          <a:effectRef idx="1">
            <a:schemeClr val="dk1"/>
          </a:effectRef>
          <a:fontRef idx="minor">
            <a:schemeClr val="tx1"/>
          </a:fontRef>
        </p:style>
      </p:cxnSp>
      <p:cxnSp>
        <p:nvCxnSpPr>
          <p:cNvPr id="22" name="直接连接符 21"/>
          <p:cNvCxnSpPr>
            <a:stCxn id="26" idx="3"/>
            <a:endCxn id="28" idx="0"/>
          </p:cNvCxnSpPr>
          <p:nvPr/>
        </p:nvCxnSpPr>
        <p:spPr>
          <a:xfrm rot="5400000">
            <a:off x="886505" y="2110542"/>
            <a:ext cx="855811" cy="45394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1428728" y="1500174"/>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26" name="椭圆 25"/>
          <p:cNvSpPr/>
          <p:nvPr/>
        </p:nvSpPr>
        <p:spPr>
          <a:xfrm>
            <a:off x="1525566" y="1786697"/>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a:off x="714348" y="2681282"/>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28" name="椭圆 27"/>
          <p:cNvSpPr/>
          <p:nvPr/>
        </p:nvSpPr>
        <p:spPr>
          <a:xfrm>
            <a:off x="1033438" y="2765420"/>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32"/>
          <p:cNvGrpSpPr/>
          <p:nvPr/>
        </p:nvGrpSpPr>
        <p:grpSpPr>
          <a:xfrm>
            <a:off x="1614527" y="2000913"/>
            <a:ext cx="1466751" cy="1561648"/>
            <a:chOff x="1614527" y="2000913"/>
            <a:chExt cx="1466751" cy="1561648"/>
          </a:xfrm>
        </p:grpSpPr>
        <p:cxnSp>
          <p:nvCxnSpPr>
            <p:cNvPr id="30" name="直接连接符 29"/>
            <p:cNvCxnSpPr>
              <a:stCxn id="16" idx="3"/>
              <a:endCxn id="6" idx="7"/>
            </p:cNvCxnSpPr>
            <p:nvPr/>
          </p:nvCxnSpPr>
          <p:spPr>
            <a:xfrm rot="5400000">
              <a:off x="1224203" y="2391237"/>
              <a:ext cx="1510735" cy="730088"/>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32" name="直接连接符 31"/>
            <p:cNvCxnSpPr>
              <a:stCxn id="6" idx="6"/>
              <a:endCxn id="12" idx="2"/>
            </p:cNvCxnSpPr>
            <p:nvPr/>
          </p:nvCxnSpPr>
          <p:spPr>
            <a:xfrm flipV="1">
              <a:off x="1630342" y="2668329"/>
              <a:ext cx="1450936" cy="894232"/>
            </a:xfrm>
            <a:prstGeom prst="line">
              <a:avLst/>
            </a:prstGeom>
            <a:ln>
              <a:prstDash val="dash"/>
            </a:ln>
          </p:spPr>
          <p:style>
            <a:lnRef idx="2">
              <a:schemeClr val="dk1"/>
            </a:lnRef>
            <a:fillRef idx="0">
              <a:schemeClr val="dk1"/>
            </a:fillRef>
            <a:effectRef idx="1">
              <a:schemeClr val="dk1"/>
            </a:effectRef>
            <a:fontRef idx="minor">
              <a:schemeClr val="tx1"/>
            </a:fontRef>
          </p:style>
        </p:cxnSp>
      </p:grpSp>
      <p:sp>
        <p:nvSpPr>
          <p:cNvPr id="34" name="TextBox 33"/>
          <p:cNvSpPr txBox="1"/>
          <p:nvPr/>
        </p:nvSpPr>
        <p:spPr>
          <a:xfrm>
            <a:off x="4071934" y="2714620"/>
            <a:ext cx="4000528" cy="400110"/>
          </a:xfrm>
          <a:prstGeom prst="rect">
            <a:avLst/>
          </a:prstGeom>
          <a:noFill/>
        </p:spPr>
        <p:txBody>
          <a:bodyPr wrap="square" rtlCol="0">
            <a:spAutoFit/>
          </a:bodyPr>
          <a:lstStyle/>
          <a:p>
            <a:r>
              <a:rPr lang="zh-CN" altLang="en-US" sz="2000">
                <a:solidFill>
                  <a:srgbClr val="0000FF"/>
                </a:solidFill>
                <a:latin typeface="Consolas" pitchFamily="49" charset="0"/>
                <a:ea typeface="微软雅黑" pitchFamily="34" charset="-122"/>
                <a:cs typeface="Consolas" pitchFamily="49" charset="0"/>
              </a:rPr>
              <a:t>两条虚线求最长距离 </a:t>
            </a:r>
            <a:r>
              <a:rPr lang="zh-CN" altLang="en-US" sz="2000">
                <a:solidFill>
                  <a:srgbClr val="0000FF"/>
                </a:solidFill>
                <a:latin typeface="Consolas" pitchFamily="49" charset="0"/>
                <a:ea typeface="微软雅黑" pitchFamily="34" charset="-122"/>
                <a:cs typeface="Consolas" pitchFamily="49" charset="0"/>
                <a:sym typeface="Wingdings"/>
              </a:rPr>
              <a:t> </a:t>
            </a:r>
            <a:r>
              <a:rPr lang="en-US" sz="2000">
                <a:solidFill>
                  <a:srgbClr val="0000FF"/>
                </a:solidFill>
                <a:latin typeface="Consolas" pitchFamily="49" charset="0"/>
                <a:ea typeface="微软雅黑" pitchFamily="34" charset="-122"/>
                <a:cs typeface="Consolas" pitchFamily="49" charset="0"/>
              </a:rPr>
              <a:t>maxdist</a:t>
            </a:r>
            <a:endParaRPr lang="zh-CN" altLang="en-US" sz="2000">
              <a:solidFill>
                <a:srgbClr val="0000FF"/>
              </a:solidFill>
              <a:latin typeface="Consolas" pitchFamily="49" charset="0"/>
              <a:ea typeface="微软雅黑" pitchFamily="34" charset="-122"/>
              <a:cs typeface="Consolas" pitchFamily="49" charset="0"/>
            </a:endParaRPr>
          </a:p>
        </p:txBody>
      </p:sp>
      <p:sp>
        <p:nvSpPr>
          <p:cNvPr id="35" name="右箭头 34"/>
          <p:cNvSpPr/>
          <p:nvPr/>
        </p:nvSpPr>
        <p:spPr>
          <a:xfrm>
            <a:off x="3714744" y="2786058"/>
            <a:ext cx="357190" cy="214314"/>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sp>
        <p:nvSpPr>
          <p:cNvPr id="29" name="TextBox 28"/>
          <p:cNvSpPr txBox="1"/>
          <p:nvPr/>
        </p:nvSpPr>
        <p:spPr>
          <a:xfrm>
            <a:off x="1071538" y="4286256"/>
            <a:ext cx="2143140" cy="400110"/>
          </a:xfrm>
          <a:prstGeom prst="rect">
            <a:avLst/>
          </a:prstGeom>
          <a:solidFill>
            <a:schemeClr val="bg1"/>
          </a:solidFill>
        </p:spPr>
        <p:txBody>
          <a:bodyPr wrap="square" rtlCol="0">
            <a:spAutoFit/>
          </a:bodyPr>
          <a:lstStyle/>
          <a:p>
            <a:r>
              <a:rPr lang="zh-CN" altLang="en-US" sz="2000">
                <a:solidFill>
                  <a:srgbClr val="0000FF"/>
                </a:solidFill>
                <a:latin typeface="Consolas" pitchFamily="49" charset="0"/>
                <a:ea typeface="楷体" pitchFamily="49" charset="-122"/>
                <a:cs typeface="Consolas" pitchFamily="49" charset="0"/>
              </a:rPr>
              <a:t>（</a:t>
            </a:r>
            <a:r>
              <a:rPr lang="en-US" sz="2000">
                <a:solidFill>
                  <a:srgbClr val="0000FF"/>
                </a:solidFill>
                <a:latin typeface="Consolas" pitchFamily="49" charset="0"/>
                <a:ea typeface="楷体" pitchFamily="49" charset="-122"/>
                <a:cs typeface="Consolas" pitchFamily="49" charset="0"/>
              </a:rPr>
              <a:t>d</a:t>
            </a:r>
            <a:r>
              <a:rPr lang="zh-CN" altLang="en-US" sz="2000">
                <a:solidFill>
                  <a:srgbClr val="0000FF"/>
                </a:solidFill>
                <a:latin typeface="Consolas" pitchFamily="49" charset="0"/>
                <a:ea typeface="楷体" pitchFamily="49" charset="-122"/>
                <a:cs typeface="Consolas" pitchFamily="49" charset="0"/>
              </a:rPr>
              <a:t>）处理边</a:t>
            </a:r>
            <a:r>
              <a:rPr lang="en-US" sz="2000" i="1">
                <a:solidFill>
                  <a:srgbClr val="0000FF"/>
                </a:solidFill>
                <a:latin typeface="Consolas" pitchFamily="49" charset="0"/>
                <a:ea typeface="楷体" pitchFamily="49" charset="-122"/>
                <a:cs typeface="Consolas" pitchFamily="49" charset="0"/>
              </a:rPr>
              <a:t>a</a:t>
            </a:r>
            <a:r>
              <a:rPr lang="en-US" sz="2000" baseline="-25000">
                <a:solidFill>
                  <a:srgbClr val="0000FF"/>
                </a:solidFill>
                <a:latin typeface="Consolas" pitchFamily="49" charset="0"/>
                <a:ea typeface="楷体" pitchFamily="49" charset="-122"/>
                <a:cs typeface="Consolas" pitchFamily="49" charset="0"/>
              </a:rPr>
              <a:t>2</a:t>
            </a:r>
            <a:r>
              <a:rPr lang="en-US" sz="2000" i="1">
                <a:solidFill>
                  <a:srgbClr val="0000FF"/>
                </a:solidFill>
                <a:latin typeface="Consolas" pitchFamily="49" charset="0"/>
                <a:ea typeface="楷体" pitchFamily="49" charset="-122"/>
                <a:cs typeface="Consolas" pitchFamily="49" charset="0"/>
              </a:rPr>
              <a:t>a</a:t>
            </a:r>
            <a:r>
              <a:rPr lang="en-US" sz="2000" baseline="-25000">
                <a:solidFill>
                  <a:srgbClr val="0000FF"/>
                </a:solidFill>
                <a:latin typeface="Consolas" pitchFamily="49" charset="0"/>
                <a:ea typeface="楷体" pitchFamily="49" charset="-122"/>
                <a:cs typeface="Consolas" pitchFamily="49" charset="0"/>
              </a:rPr>
              <a:t>3</a:t>
            </a:r>
            <a:endParaRPr lang="zh-CN" altLang="en-US" sz="2000">
              <a:solidFill>
                <a:srgbClr val="0000FF"/>
              </a:solidFill>
              <a:latin typeface="Consolas" pitchFamily="49" charset="0"/>
              <a:ea typeface="楷体" pitchFamily="49" charset="-122"/>
              <a:cs typeface="Consolas" pitchFamily="49" charset="0"/>
            </a:endParaRPr>
          </a:p>
        </p:txBody>
      </p:sp>
      <p:sp>
        <p:nvSpPr>
          <p:cNvPr id="33" name="灯片编号占位符 32"/>
          <p:cNvSpPr>
            <a:spLocks noGrp="1"/>
          </p:cNvSpPr>
          <p:nvPr>
            <p:ph type="sldNum" sz="quarter" idx="12"/>
          </p:nvPr>
        </p:nvSpPr>
        <p:spPr/>
        <p:txBody>
          <a:bodyPr/>
          <a:lstStyle/>
          <a:p>
            <a:pPr>
              <a:defRPr/>
            </a:pPr>
            <a:fld id="{51116183-1013-4E64-BBE8-A5C1D5D4F838}" type="slidenum">
              <a:rPr lang="en-US" altLang="zh-CN" smtClean="0"/>
              <a:pPr>
                <a:defRPr/>
              </a:pPr>
              <a:t>159</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直接连接符 36"/>
          <p:cNvCxnSpPr/>
          <p:nvPr/>
        </p:nvCxnSpPr>
        <p:spPr>
          <a:xfrm rot="10800000">
            <a:off x="1065463" y="1766742"/>
            <a:ext cx="1857340" cy="285751"/>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cxnSp>
        <p:nvCxnSpPr>
          <p:cNvPr id="4" name="直接连接符 3"/>
          <p:cNvCxnSpPr>
            <a:stCxn id="6" idx="6"/>
            <a:endCxn id="8" idx="2"/>
          </p:cNvCxnSpPr>
          <p:nvPr/>
        </p:nvCxnSpPr>
        <p:spPr>
          <a:xfrm>
            <a:off x="1630342" y="3562561"/>
            <a:ext cx="1060408" cy="1124"/>
          </a:xfrm>
          <a:prstGeom prst="line">
            <a:avLst/>
          </a:prstGeom>
          <a:ln w="38100">
            <a:solidFill>
              <a:srgbClr val="00B0F0"/>
            </a:solidFill>
          </a:ln>
        </p:spPr>
        <p:style>
          <a:lnRef idx="2">
            <a:schemeClr val="dk1"/>
          </a:lnRef>
          <a:fillRef idx="0">
            <a:schemeClr val="dk1"/>
          </a:fillRef>
          <a:effectRef idx="1">
            <a:schemeClr val="dk1"/>
          </a:effectRef>
          <a:fontRef idx="minor">
            <a:schemeClr val="tx1"/>
          </a:fontRef>
        </p:style>
      </p:cxnSp>
      <p:sp>
        <p:nvSpPr>
          <p:cNvPr id="5" name="TextBox 4"/>
          <p:cNvSpPr txBox="1"/>
          <p:nvPr/>
        </p:nvSpPr>
        <p:spPr>
          <a:xfrm>
            <a:off x="1500166" y="3705999"/>
            <a:ext cx="285752"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0</a:t>
            </a:r>
            <a:endParaRPr lang="zh-CN" altLang="en-US" sz="1800" baseline="-25000">
              <a:solidFill>
                <a:srgbClr val="FF0000"/>
              </a:solidFill>
              <a:latin typeface="Consolas" pitchFamily="49" charset="0"/>
              <a:cs typeface="Consolas" pitchFamily="49" charset="0"/>
            </a:endParaRPr>
          </a:p>
        </p:txBody>
      </p:sp>
      <p:sp>
        <p:nvSpPr>
          <p:cNvPr id="6" name="椭圆 5"/>
          <p:cNvSpPr/>
          <p:nvPr/>
        </p:nvSpPr>
        <p:spPr>
          <a:xfrm>
            <a:off x="1522342" y="3490561"/>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2668574" y="3707123"/>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8" name="椭圆 7"/>
          <p:cNvSpPr/>
          <p:nvPr/>
        </p:nvSpPr>
        <p:spPr>
          <a:xfrm>
            <a:off x="2690750" y="3491685"/>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a:stCxn id="8" idx="7"/>
            <a:endCxn id="12" idx="4"/>
          </p:cNvCxnSpPr>
          <p:nvPr/>
        </p:nvCxnSpPr>
        <p:spPr>
          <a:xfrm rot="5400000" flipH="1" flipV="1">
            <a:off x="2572884" y="2950379"/>
            <a:ext cx="772444" cy="35234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11" name="TextBox 10"/>
          <p:cNvSpPr txBox="1"/>
          <p:nvPr/>
        </p:nvSpPr>
        <p:spPr>
          <a:xfrm>
            <a:off x="3214678" y="2562991"/>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12" name="椭圆 11"/>
          <p:cNvSpPr/>
          <p:nvPr/>
        </p:nvSpPr>
        <p:spPr>
          <a:xfrm>
            <a:off x="3081278" y="2596329"/>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a:stCxn id="12" idx="1"/>
            <a:endCxn id="16" idx="5"/>
          </p:cNvCxnSpPr>
          <p:nvPr/>
        </p:nvCxnSpPr>
        <p:spPr>
          <a:xfrm rot="16200000" flipV="1">
            <a:off x="2450787" y="1971110"/>
            <a:ext cx="616503" cy="676112"/>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2428860" y="1562859"/>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16" name="椭圆 15"/>
          <p:cNvSpPr/>
          <p:nvPr/>
        </p:nvSpPr>
        <p:spPr>
          <a:xfrm>
            <a:off x="2328798" y="1878002"/>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a:stCxn id="6" idx="1"/>
            <a:endCxn id="28" idx="4"/>
          </p:cNvCxnSpPr>
          <p:nvPr/>
        </p:nvCxnSpPr>
        <p:spPr>
          <a:xfrm rot="16200000" flipV="1">
            <a:off x="1011684" y="2985175"/>
            <a:ext cx="602229" cy="450720"/>
          </a:xfrm>
          <a:prstGeom prst="line">
            <a:avLst/>
          </a:prstGeom>
        </p:spPr>
        <p:style>
          <a:lnRef idx="2">
            <a:schemeClr val="dk1"/>
          </a:lnRef>
          <a:fillRef idx="0">
            <a:schemeClr val="dk1"/>
          </a:fillRef>
          <a:effectRef idx="1">
            <a:schemeClr val="dk1"/>
          </a:effectRef>
          <a:fontRef idx="minor">
            <a:schemeClr val="tx1"/>
          </a:fontRef>
        </p:style>
      </p:cxnSp>
      <p:cxnSp>
        <p:nvCxnSpPr>
          <p:cNvPr id="20" name="直接连接符 19"/>
          <p:cNvCxnSpPr>
            <a:stCxn id="16" idx="2"/>
            <a:endCxn id="26" idx="6"/>
          </p:cNvCxnSpPr>
          <p:nvPr/>
        </p:nvCxnSpPr>
        <p:spPr>
          <a:xfrm rot="10800000">
            <a:off x="1633566" y="1858698"/>
            <a:ext cx="695232" cy="91305"/>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22" name="直接连接符 21"/>
          <p:cNvCxnSpPr>
            <a:stCxn id="26" idx="3"/>
            <a:endCxn id="28" idx="0"/>
          </p:cNvCxnSpPr>
          <p:nvPr/>
        </p:nvCxnSpPr>
        <p:spPr>
          <a:xfrm rot="5400000">
            <a:off x="886505" y="2110542"/>
            <a:ext cx="855811" cy="45394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1428728" y="1500174"/>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26" name="椭圆 25"/>
          <p:cNvSpPr/>
          <p:nvPr/>
        </p:nvSpPr>
        <p:spPr>
          <a:xfrm>
            <a:off x="1525566" y="1786697"/>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a:off x="714348" y="2681282"/>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28" name="椭圆 27"/>
          <p:cNvSpPr/>
          <p:nvPr/>
        </p:nvSpPr>
        <p:spPr>
          <a:xfrm>
            <a:off x="1033438" y="2765420"/>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32"/>
          <p:cNvGrpSpPr/>
          <p:nvPr/>
        </p:nvGrpSpPr>
        <p:grpSpPr>
          <a:xfrm>
            <a:off x="1579566" y="1930697"/>
            <a:ext cx="803232" cy="1631864"/>
            <a:chOff x="1579566" y="1930697"/>
            <a:chExt cx="803232" cy="1631864"/>
          </a:xfrm>
        </p:grpSpPr>
        <p:cxnSp>
          <p:nvCxnSpPr>
            <p:cNvPr id="30" name="直接连接符 29"/>
            <p:cNvCxnSpPr>
              <a:stCxn id="26" idx="4"/>
              <a:endCxn id="6" idx="7"/>
            </p:cNvCxnSpPr>
            <p:nvPr/>
          </p:nvCxnSpPr>
          <p:spPr>
            <a:xfrm rot="16200000" flipH="1">
              <a:off x="806570" y="2703693"/>
              <a:ext cx="1580952" cy="34960"/>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32" name="直接连接符 31"/>
            <p:cNvCxnSpPr>
              <a:stCxn id="6" idx="6"/>
              <a:endCxn id="16" idx="4"/>
            </p:cNvCxnSpPr>
            <p:nvPr/>
          </p:nvCxnSpPr>
          <p:spPr>
            <a:xfrm flipV="1">
              <a:off x="1630342" y="2022002"/>
              <a:ext cx="752456" cy="1540559"/>
            </a:xfrm>
            <a:prstGeom prst="line">
              <a:avLst/>
            </a:prstGeom>
            <a:ln>
              <a:prstDash val="dash"/>
            </a:ln>
          </p:spPr>
          <p:style>
            <a:lnRef idx="2">
              <a:schemeClr val="dk1"/>
            </a:lnRef>
            <a:fillRef idx="0">
              <a:schemeClr val="dk1"/>
            </a:fillRef>
            <a:effectRef idx="1">
              <a:schemeClr val="dk1"/>
            </a:effectRef>
            <a:fontRef idx="minor">
              <a:schemeClr val="tx1"/>
            </a:fontRef>
          </p:style>
        </p:cxnSp>
      </p:grpSp>
      <p:sp>
        <p:nvSpPr>
          <p:cNvPr id="34" name="TextBox 33"/>
          <p:cNvSpPr txBox="1"/>
          <p:nvPr/>
        </p:nvSpPr>
        <p:spPr>
          <a:xfrm>
            <a:off x="4071934" y="2714620"/>
            <a:ext cx="4000528" cy="400110"/>
          </a:xfrm>
          <a:prstGeom prst="rect">
            <a:avLst/>
          </a:prstGeom>
          <a:noFill/>
        </p:spPr>
        <p:txBody>
          <a:bodyPr wrap="square" rtlCol="0">
            <a:spAutoFit/>
          </a:bodyPr>
          <a:lstStyle/>
          <a:p>
            <a:r>
              <a:rPr lang="zh-CN" altLang="en-US" sz="2000">
                <a:solidFill>
                  <a:srgbClr val="0000FF"/>
                </a:solidFill>
                <a:latin typeface="Consolas" pitchFamily="49" charset="0"/>
                <a:ea typeface="微软雅黑" pitchFamily="34" charset="-122"/>
                <a:cs typeface="Consolas" pitchFamily="49" charset="0"/>
              </a:rPr>
              <a:t>两条虚线求最长距离 </a:t>
            </a:r>
            <a:r>
              <a:rPr lang="zh-CN" altLang="en-US" sz="2000">
                <a:solidFill>
                  <a:srgbClr val="0000FF"/>
                </a:solidFill>
                <a:latin typeface="Consolas" pitchFamily="49" charset="0"/>
                <a:ea typeface="微软雅黑" pitchFamily="34" charset="-122"/>
                <a:cs typeface="Consolas" pitchFamily="49" charset="0"/>
                <a:sym typeface="Wingdings"/>
              </a:rPr>
              <a:t> </a:t>
            </a:r>
            <a:r>
              <a:rPr lang="en-US" sz="2000">
                <a:solidFill>
                  <a:srgbClr val="0000FF"/>
                </a:solidFill>
                <a:latin typeface="Consolas" pitchFamily="49" charset="0"/>
                <a:ea typeface="微软雅黑" pitchFamily="34" charset="-122"/>
                <a:cs typeface="Consolas" pitchFamily="49" charset="0"/>
              </a:rPr>
              <a:t>maxdist</a:t>
            </a:r>
            <a:endParaRPr lang="zh-CN" altLang="en-US" sz="2000">
              <a:solidFill>
                <a:srgbClr val="0000FF"/>
              </a:solidFill>
              <a:latin typeface="Consolas" pitchFamily="49" charset="0"/>
              <a:ea typeface="微软雅黑" pitchFamily="34" charset="-122"/>
              <a:cs typeface="Consolas" pitchFamily="49" charset="0"/>
            </a:endParaRPr>
          </a:p>
        </p:txBody>
      </p:sp>
      <p:sp>
        <p:nvSpPr>
          <p:cNvPr id="35" name="右箭头 34"/>
          <p:cNvSpPr/>
          <p:nvPr/>
        </p:nvSpPr>
        <p:spPr>
          <a:xfrm>
            <a:off x="3714744" y="2786058"/>
            <a:ext cx="357190" cy="214314"/>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sp>
        <p:nvSpPr>
          <p:cNvPr id="31" name="TextBox 30"/>
          <p:cNvSpPr txBox="1"/>
          <p:nvPr/>
        </p:nvSpPr>
        <p:spPr>
          <a:xfrm>
            <a:off x="1000100" y="4429132"/>
            <a:ext cx="2286016" cy="400110"/>
          </a:xfrm>
          <a:prstGeom prst="rect">
            <a:avLst/>
          </a:prstGeom>
          <a:solidFill>
            <a:schemeClr val="bg1"/>
          </a:solidFill>
        </p:spPr>
        <p:txBody>
          <a:bodyPr wrap="square" rtlCol="0">
            <a:spAutoFit/>
          </a:bodyPr>
          <a:lstStyle/>
          <a:p>
            <a:r>
              <a:rPr lang="zh-CN" altLang="en-US" sz="2000">
                <a:solidFill>
                  <a:srgbClr val="0000FF"/>
                </a:solidFill>
                <a:latin typeface="Consolas" pitchFamily="49" charset="0"/>
                <a:ea typeface="楷体" pitchFamily="49" charset="-122"/>
                <a:cs typeface="Consolas" pitchFamily="49" charset="0"/>
              </a:rPr>
              <a:t>（</a:t>
            </a:r>
            <a:r>
              <a:rPr lang="en-US" sz="2000">
                <a:solidFill>
                  <a:srgbClr val="0000FF"/>
                </a:solidFill>
                <a:latin typeface="Consolas" pitchFamily="49" charset="0"/>
                <a:ea typeface="楷体" pitchFamily="49" charset="-122"/>
                <a:cs typeface="Consolas" pitchFamily="49" charset="0"/>
              </a:rPr>
              <a:t>e</a:t>
            </a:r>
            <a:r>
              <a:rPr lang="zh-CN" altLang="en-US" sz="2000">
                <a:solidFill>
                  <a:srgbClr val="0000FF"/>
                </a:solidFill>
                <a:latin typeface="Consolas" pitchFamily="49" charset="0"/>
                <a:ea typeface="楷体" pitchFamily="49" charset="-122"/>
                <a:cs typeface="Consolas" pitchFamily="49" charset="0"/>
              </a:rPr>
              <a:t>）处理边</a:t>
            </a:r>
            <a:r>
              <a:rPr lang="en-US" sz="2000" i="1">
                <a:solidFill>
                  <a:srgbClr val="0000FF"/>
                </a:solidFill>
                <a:latin typeface="Consolas" pitchFamily="49" charset="0"/>
                <a:ea typeface="楷体" pitchFamily="49" charset="-122"/>
                <a:cs typeface="Consolas" pitchFamily="49" charset="0"/>
              </a:rPr>
              <a:t>a</a:t>
            </a:r>
            <a:r>
              <a:rPr lang="en-US" sz="2000" baseline="-25000">
                <a:solidFill>
                  <a:srgbClr val="0000FF"/>
                </a:solidFill>
                <a:latin typeface="Consolas" pitchFamily="49" charset="0"/>
                <a:ea typeface="楷体" pitchFamily="49" charset="-122"/>
                <a:cs typeface="Consolas" pitchFamily="49" charset="0"/>
              </a:rPr>
              <a:t>3</a:t>
            </a:r>
            <a:r>
              <a:rPr lang="en-US" sz="2000" i="1">
                <a:solidFill>
                  <a:srgbClr val="0000FF"/>
                </a:solidFill>
                <a:latin typeface="Consolas" pitchFamily="49" charset="0"/>
                <a:ea typeface="楷体" pitchFamily="49" charset="-122"/>
                <a:cs typeface="Consolas" pitchFamily="49" charset="0"/>
              </a:rPr>
              <a:t>a</a:t>
            </a:r>
            <a:r>
              <a:rPr lang="en-US" sz="2000" baseline="-25000">
                <a:solidFill>
                  <a:srgbClr val="0000FF"/>
                </a:solidFill>
                <a:latin typeface="Consolas" pitchFamily="49" charset="0"/>
                <a:ea typeface="楷体" pitchFamily="49" charset="-122"/>
                <a:cs typeface="Consolas" pitchFamily="49" charset="0"/>
              </a:rPr>
              <a:t>4</a:t>
            </a:r>
            <a:endParaRPr lang="zh-CN" altLang="en-US" sz="2000">
              <a:solidFill>
                <a:srgbClr val="0000FF"/>
              </a:solidFill>
              <a:latin typeface="Consolas" pitchFamily="49" charset="0"/>
              <a:ea typeface="楷体" pitchFamily="49" charset="-122"/>
              <a:cs typeface="Consolas" pitchFamily="49" charset="0"/>
            </a:endParaRPr>
          </a:p>
        </p:txBody>
      </p:sp>
      <p:sp>
        <p:nvSpPr>
          <p:cNvPr id="33" name="灯片编号占位符 32"/>
          <p:cNvSpPr>
            <a:spLocks noGrp="1"/>
          </p:cNvSpPr>
          <p:nvPr>
            <p:ph type="sldNum" sz="quarter" idx="12"/>
          </p:nvPr>
        </p:nvSpPr>
        <p:spPr/>
        <p:txBody>
          <a:bodyPr/>
          <a:lstStyle/>
          <a:p>
            <a:pPr>
              <a:defRPr/>
            </a:pPr>
            <a:fld id="{51116183-1013-4E64-BBE8-A5C1D5D4F838}" type="slidenum">
              <a:rPr lang="en-US" altLang="zh-CN" smtClean="0"/>
              <a:pPr>
                <a:defRPr/>
              </a:pPr>
              <a:t>160</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直接连接符 42"/>
          <p:cNvCxnSpPr/>
          <p:nvPr/>
        </p:nvCxnSpPr>
        <p:spPr>
          <a:xfrm rot="5400000">
            <a:off x="364763" y="1987141"/>
            <a:ext cx="1778383" cy="910210"/>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cxnSp>
        <p:nvCxnSpPr>
          <p:cNvPr id="4" name="直接连接符 3"/>
          <p:cNvCxnSpPr>
            <a:stCxn id="6" idx="6"/>
            <a:endCxn id="8" idx="2"/>
          </p:cNvCxnSpPr>
          <p:nvPr/>
        </p:nvCxnSpPr>
        <p:spPr>
          <a:xfrm>
            <a:off x="1630342" y="3562561"/>
            <a:ext cx="1060408" cy="112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5" name="TextBox 4"/>
          <p:cNvSpPr txBox="1"/>
          <p:nvPr/>
        </p:nvSpPr>
        <p:spPr>
          <a:xfrm>
            <a:off x="1500166" y="3705999"/>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6" name="椭圆 5"/>
          <p:cNvSpPr/>
          <p:nvPr/>
        </p:nvSpPr>
        <p:spPr>
          <a:xfrm>
            <a:off x="1522342" y="3490561"/>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2668574" y="3707123"/>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8" name="椭圆 7"/>
          <p:cNvSpPr/>
          <p:nvPr/>
        </p:nvSpPr>
        <p:spPr>
          <a:xfrm>
            <a:off x="2690750" y="3491685"/>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a:stCxn id="8" idx="7"/>
            <a:endCxn id="12" idx="4"/>
          </p:cNvCxnSpPr>
          <p:nvPr/>
        </p:nvCxnSpPr>
        <p:spPr>
          <a:xfrm rot="5400000" flipH="1" flipV="1">
            <a:off x="2572884" y="2950379"/>
            <a:ext cx="772444" cy="35234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11" name="TextBox 10"/>
          <p:cNvSpPr txBox="1"/>
          <p:nvPr/>
        </p:nvSpPr>
        <p:spPr>
          <a:xfrm>
            <a:off x="3214678" y="2562991"/>
            <a:ext cx="285752"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2</a:t>
            </a:r>
            <a:endParaRPr lang="zh-CN" altLang="en-US" sz="1800" baseline="-25000">
              <a:solidFill>
                <a:srgbClr val="FF0000"/>
              </a:solidFill>
              <a:latin typeface="Consolas" pitchFamily="49" charset="0"/>
              <a:cs typeface="Consolas" pitchFamily="49" charset="0"/>
            </a:endParaRPr>
          </a:p>
        </p:txBody>
      </p:sp>
      <p:sp>
        <p:nvSpPr>
          <p:cNvPr id="12" name="椭圆 11"/>
          <p:cNvSpPr/>
          <p:nvPr/>
        </p:nvSpPr>
        <p:spPr>
          <a:xfrm>
            <a:off x="3081278" y="2596329"/>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a:stCxn id="12" idx="1"/>
            <a:endCxn id="16" idx="5"/>
          </p:cNvCxnSpPr>
          <p:nvPr/>
        </p:nvCxnSpPr>
        <p:spPr>
          <a:xfrm rot="16200000" flipV="1">
            <a:off x="2450787" y="1971110"/>
            <a:ext cx="616503" cy="676112"/>
          </a:xfrm>
          <a:prstGeom prst="line">
            <a:avLst/>
          </a:prstGeom>
          <a:ln w="38100">
            <a:solidFill>
              <a:srgbClr val="00B0F0"/>
            </a:solidFill>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2428860" y="1562859"/>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16" name="椭圆 15"/>
          <p:cNvSpPr/>
          <p:nvPr/>
        </p:nvSpPr>
        <p:spPr>
          <a:xfrm>
            <a:off x="2328798" y="1878002"/>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a:stCxn id="6" idx="1"/>
            <a:endCxn id="28" idx="4"/>
          </p:cNvCxnSpPr>
          <p:nvPr/>
        </p:nvCxnSpPr>
        <p:spPr>
          <a:xfrm rot="16200000" flipV="1">
            <a:off x="1011684" y="2985175"/>
            <a:ext cx="602229" cy="450720"/>
          </a:xfrm>
          <a:prstGeom prst="line">
            <a:avLst/>
          </a:prstGeom>
        </p:spPr>
        <p:style>
          <a:lnRef idx="2">
            <a:schemeClr val="dk1"/>
          </a:lnRef>
          <a:fillRef idx="0">
            <a:schemeClr val="dk1"/>
          </a:fillRef>
          <a:effectRef idx="1">
            <a:schemeClr val="dk1"/>
          </a:effectRef>
          <a:fontRef idx="minor">
            <a:schemeClr val="tx1"/>
          </a:fontRef>
        </p:style>
      </p:cxnSp>
      <p:cxnSp>
        <p:nvCxnSpPr>
          <p:cNvPr id="20" name="直接连接符 19"/>
          <p:cNvCxnSpPr>
            <a:stCxn id="16" idx="2"/>
            <a:endCxn id="26" idx="6"/>
          </p:cNvCxnSpPr>
          <p:nvPr/>
        </p:nvCxnSpPr>
        <p:spPr>
          <a:xfrm rot="10800000">
            <a:off x="1633566" y="1858698"/>
            <a:ext cx="695232" cy="91305"/>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22" name="直接连接符 21"/>
          <p:cNvCxnSpPr>
            <a:stCxn id="26" idx="3"/>
            <a:endCxn id="28" idx="0"/>
          </p:cNvCxnSpPr>
          <p:nvPr/>
        </p:nvCxnSpPr>
        <p:spPr>
          <a:xfrm rot="5400000">
            <a:off x="886505" y="2110542"/>
            <a:ext cx="855811" cy="453944"/>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1428728" y="1500174"/>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26" name="椭圆 25"/>
          <p:cNvSpPr/>
          <p:nvPr/>
        </p:nvSpPr>
        <p:spPr>
          <a:xfrm>
            <a:off x="1525566" y="1786697"/>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a:off x="714348" y="2681282"/>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28" name="椭圆 27"/>
          <p:cNvSpPr/>
          <p:nvPr/>
        </p:nvSpPr>
        <p:spPr>
          <a:xfrm>
            <a:off x="1033438" y="2765420"/>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32"/>
          <p:cNvGrpSpPr/>
          <p:nvPr/>
        </p:nvGrpSpPr>
        <p:grpSpPr>
          <a:xfrm>
            <a:off x="1141438" y="1909609"/>
            <a:ext cx="1939840" cy="927811"/>
            <a:chOff x="1141438" y="1909609"/>
            <a:chExt cx="1939840" cy="927811"/>
          </a:xfrm>
        </p:grpSpPr>
        <p:cxnSp>
          <p:nvCxnSpPr>
            <p:cNvPr id="30" name="直接连接符 29"/>
            <p:cNvCxnSpPr>
              <a:stCxn id="26" idx="5"/>
              <a:endCxn id="12" idx="2"/>
            </p:cNvCxnSpPr>
            <p:nvPr/>
          </p:nvCxnSpPr>
          <p:spPr>
            <a:xfrm rot="16200000" flipH="1">
              <a:off x="1970154" y="1557205"/>
              <a:ext cx="758720" cy="1463528"/>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32" name="直接连接符 31"/>
            <p:cNvCxnSpPr>
              <a:stCxn id="28" idx="6"/>
              <a:endCxn id="12" idx="2"/>
            </p:cNvCxnSpPr>
            <p:nvPr/>
          </p:nvCxnSpPr>
          <p:spPr>
            <a:xfrm flipV="1">
              <a:off x="1141438" y="2668329"/>
              <a:ext cx="1939840" cy="169091"/>
            </a:xfrm>
            <a:prstGeom prst="line">
              <a:avLst/>
            </a:prstGeom>
            <a:ln>
              <a:prstDash val="dash"/>
            </a:ln>
          </p:spPr>
          <p:style>
            <a:lnRef idx="2">
              <a:schemeClr val="dk1"/>
            </a:lnRef>
            <a:fillRef idx="0">
              <a:schemeClr val="dk1"/>
            </a:fillRef>
            <a:effectRef idx="1">
              <a:schemeClr val="dk1"/>
            </a:effectRef>
            <a:fontRef idx="minor">
              <a:schemeClr val="tx1"/>
            </a:fontRef>
          </p:style>
        </p:cxnSp>
      </p:grpSp>
      <p:sp>
        <p:nvSpPr>
          <p:cNvPr id="34" name="TextBox 33"/>
          <p:cNvSpPr txBox="1"/>
          <p:nvPr/>
        </p:nvSpPr>
        <p:spPr>
          <a:xfrm>
            <a:off x="4071934" y="2714620"/>
            <a:ext cx="4000528" cy="400110"/>
          </a:xfrm>
          <a:prstGeom prst="rect">
            <a:avLst/>
          </a:prstGeom>
          <a:noFill/>
        </p:spPr>
        <p:txBody>
          <a:bodyPr wrap="square" rtlCol="0">
            <a:spAutoFit/>
          </a:bodyPr>
          <a:lstStyle/>
          <a:p>
            <a:r>
              <a:rPr lang="zh-CN" altLang="en-US" sz="2000">
                <a:solidFill>
                  <a:srgbClr val="0000FF"/>
                </a:solidFill>
                <a:latin typeface="Consolas" pitchFamily="49" charset="0"/>
                <a:ea typeface="微软雅黑" pitchFamily="34" charset="-122"/>
                <a:cs typeface="Consolas" pitchFamily="49" charset="0"/>
              </a:rPr>
              <a:t>两条虚线求最长距离 </a:t>
            </a:r>
            <a:r>
              <a:rPr lang="zh-CN" altLang="en-US" sz="2000">
                <a:solidFill>
                  <a:srgbClr val="0000FF"/>
                </a:solidFill>
                <a:latin typeface="Consolas" pitchFamily="49" charset="0"/>
                <a:ea typeface="微软雅黑" pitchFamily="34" charset="-122"/>
                <a:cs typeface="Consolas" pitchFamily="49" charset="0"/>
                <a:sym typeface="Wingdings"/>
              </a:rPr>
              <a:t> </a:t>
            </a:r>
            <a:r>
              <a:rPr lang="en-US" sz="2000">
                <a:solidFill>
                  <a:srgbClr val="0000FF"/>
                </a:solidFill>
                <a:latin typeface="Consolas" pitchFamily="49" charset="0"/>
                <a:ea typeface="微软雅黑" pitchFamily="34" charset="-122"/>
                <a:cs typeface="Consolas" pitchFamily="49" charset="0"/>
              </a:rPr>
              <a:t>maxdist</a:t>
            </a:r>
            <a:endParaRPr lang="zh-CN" altLang="en-US" sz="2000">
              <a:solidFill>
                <a:srgbClr val="0000FF"/>
              </a:solidFill>
              <a:latin typeface="Consolas" pitchFamily="49" charset="0"/>
              <a:ea typeface="微软雅黑" pitchFamily="34" charset="-122"/>
              <a:cs typeface="Consolas" pitchFamily="49" charset="0"/>
            </a:endParaRPr>
          </a:p>
        </p:txBody>
      </p:sp>
      <p:sp>
        <p:nvSpPr>
          <p:cNvPr id="35" name="右箭头 34"/>
          <p:cNvSpPr/>
          <p:nvPr/>
        </p:nvSpPr>
        <p:spPr>
          <a:xfrm>
            <a:off x="3714744" y="2786058"/>
            <a:ext cx="357190" cy="214314"/>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sp>
        <p:nvSpPr>
          <p:cNvPr id="29" name="TextBox 28"/>
          <p:cNvSpPr txBox="1"/>
          <p:nvPr/>
        </p:nvSpPr>
        <p:spPr>
          <a:xfrm>
            <a:off x="928662" y="4233454"/>
            <a:ext cx="2428892" cy="400110"/>
          </a:xfrm>
          <a:prstGeom prst="rect">
            <a:avLst/>
          </a:prstGeom>
          <a:solidFill>
            <a:schemeClr val="bg1"/>
          </a:solidFill>
        </p:spPr>
        <p:txBody>
          <a:bodyPr wrap="square" rtlCol="0">
            <a:spAutoFit/>
          </a:bodyPr>
          <a:lstStyle/>
          <a:p>
            <a:r>
              <a:rPr lang="zh-CN" altLang="en-US" sz="2000">
                <a:solidFill>
                  <a:srgbClr val="0000FF"/>
                </a:solidFill>
                <a:latin typeface="Consolas" pitchFamily="49" charset="0"/>
                <a:ea typeface="楷体" pitchFamily="49" charset="-122"/>
                <a:cs typeface="Consolas" pitchFamily="49" charset="0"/>
              </a:rPr>
              <a:t>（</a:t>
            </a:r>
            <a:r>
              <a:rPr lang="en-US" sz="2000">
                <a:solidFill>
                  <a:srgbClr val="0000FF"/>
                </a:solidFill>
                <a:latin typeface="Consolas" pitchFamily="49" charset="0"/>
                <a:ea typeface="楷体" pitchFamily="49" charset="-122"/>
                <a:cs typeface="Consolas" pitchFamily="49" charset="0"/>
              </a:rPr>
              <a:t>f</a:t>
            </a:r>
            <a:r>
              <a:rPr lang="zh-CN" altLang="en-US" sz="2000">
                <a:solidFill>
                  <a:srgbClr val="0000FF"/>
                </a:solidFill>
                <a:latin typeface="Consolas" pitchFamily="49" charset="0"/>
                <a:ea typeface="楷体" pitchFamily="49" charset="-122"/>
                <a:cs typeface="Consolas" pitchFamily="49" charset="0"/>
              </a:rPr>
              <a:t>）处理边</a:t>
            </a:r>
            <a:r>
              <a:rPr lang="en-US" sz="2000" i="1">
                <a:solidFill>
                  <a:srgbClr val="0000FF"/>
                </a:solidFill>
                <a:latin typeface="Consolas" pitchFamily="49" charset="0"/>
                <a:ea typeface="楷体" pitchFamily="49" charset="-122"/>
                <a:cs typeface="Consolas" pitchFamily="49" charset="0"/>
              </a:rPr>
              <a:t>a</a:t>
            </a:r>
            <a:r>
              <a:rPr lang="en-US" sz="2000" baseline="-25000">
                <a:solidFill>
                  <a:srgbClr val="0000FF"/>
                </a:solidFill>
                <a:latin typeface="Consolas" pitchFamily="49" charset="0"/>
                <a:ea typeface="楷体" pitchFamily="49" charset="-122"/>
                <a:cs typeface="Consolas" pitchFamily="49" charset="0"/>
              </a:rPr>
              <a:t>4</a:t>
            </a:r>
            <a:r>
              <a:rPr lang="en-US" sz="2000" i="1">
                <a:solidFill>
                  <a:srgbClr val="0000FF"/>
                </a:solidFill>
                <a:latin typeface="Consolas" pitchFamily="49" charset="0"/>
                <a:ea typeface="楷体" pitchFamily="49" charset="-122"/>
                <a:cs typeface="Consolas" pitchFamily="49" charset="0"/>
              </a:rPr>
              <a:t>a</a:t>
            </a:r>
            <a:r>
              <a:rPr lang="en-US" sz="2000" baseline="-25000">
                <a:solidFill>
                  <a:srgbClr val="0000FF"/>
                </a:solidFill>
                <a:latin typeface="Consolas" pitchFamily="49" charset="0"/>
                <a:ea typeface="楷体" pitchFamily="49" charset="-122"/>
                <a:cs typeface="Consolas" pitchFamily="49" charset="0"/>
              </a:rPr>
              <a:t>5</a:t>
            </a:r>
            <a:endParaRPr lang="zh-CN" altLang="en-US" sz="2000">
              <a:solidFill>
                <a:srgbClr val="0000FF"/>
              </a:solidFill>
              <a:latin typeface="Consolas" pitchFamily="49" charset="0"/>
              <a:ea typeface="楷体" pitchFamily="49" charset="-122"/>
              <a:cs typeface="Consolas" pitchFamily="49" charset="0"/>
            </a:endParaRPr>
          </a:p>
        </p:txBody>
      </p:sp>
      <p:sp>
        <p:nvSpPr>
          <p:cNvPr id="33" name="灯片编号占位符 32"/>
          <p:cNvSpPr>
            <a:spLocks noGrp="1"/>
          </p:cNvSpPr>
          <p:nvPr>
            <p:ph type="sldNum" sz="quarter" idx="12"/>
          </p:nvPr>
        </p:nvSpPr>
        <p:spPr/>
        <p:txBody>
          <a:bodyPr/>
          <a:lstStyle/>
          <a:p>
            <a:pPr>
              <a:defRPr/>
            </a:pPr>
            <a:fld id="{51116183-1013-4E64-BBE8-A5C1D5D4F838}" type="slidenum">
              <a:rPr lang="en-US" altLang="zh-CN" smtClean="0"/>
              <a:pPr>
                <a:defRPr/>
              </a:pPr>
              <a:t>161</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直接连接符 36"/>
          <p:cNvCxnSpPr/>
          <p:nvPr/>
        </p:nvCxnSpPr>
        <p:spPr>
          <a:xfrm rot="16200000" flipV="1">
            <a:off x="705883" y="2303653"/>
            <a:ext cx="1295873" cy="954819"/>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cxnSp>
        <p:nvCxnSpPr>
          <p:cNvPr id="4" name="直接连接符 3"/>
          <p:cNvCxnSpPr>
            <a:stCxn id="6" idx="6"/>
            <a:endCxn id="8" idx="2"/>
          </p:cNvCxnSpPr>
          <p:nvPr/>
        </p:nvCxnSpPr>
        <p:spPr>
          <a:xfrm>
            <a:off x="1630342" y="3062495"/>
            <a:ext cx="1060408" cy="112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5" name="TextBox 4"/>
          <p:cNvSpPr txBox="1"/>
          <p:nvPr/>
        </p:nvSpPr>
        <p:spPr>
          <a:xfrm>
            <a:off x="1285852" y="3071810"/>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6" name="椭圆 5"/>
          <p:cNvSpPr/>
          <p:nvPr/>
        </p:nvSpPr>
        <p:spPr>
          <a:xfrm>
            <a:off x="1522342" y="2990495"/>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2668574" y="3207057"/>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sp>
        <p:nvSpPr>
          <p:cNvPr id="8" name="椭圆 7"/>
          <p:cNvSpPr/>
          <p:nvPr/>
        </p:nvSpPr>
        <p:spPr>
          <a:xfrm>
            <a:off x="2690750" y="2991619"/>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a:stCxn id="8" idx="7"/>
            <a:endCxn id="12" idx="4"/>
          </p:cNvCxnSpPr>
          <p:nvPr/>
        </p:nvCxnSpPr>
        <p:spPr>
          <a:xfrm rot="5400000" flipH="1" flipV="1">
            <a:off x="2572884" y="2450313"/>
            <a:ext cx="772444" cy="35234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11" name="TextBox 10"/>
          <p:cNvSpPr txBox="1"/>
          <p:nvPr/>
        </p:nvSpPr>
        <p:spPr>
          <a:xfrm>
            <a:off x="3214678" y="2062925"/>
            <a:ext cx="285752"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2</a:t>
            </a:r>
            <a:endParaRPr lang="zh-CN" altLang="en-US" sz="1800" baseline="-25000">
              <a:solidFill>
                <a:srgbClr val="FF0000"/>
              </a:solidFill>
              <a:latin typeface="Consolas" pitchFamily="49" charset="0"/>
              <a:cs typeface="Consolas" pitchFamily="49" charset="0"/>
            </a:endParaRPr>
          </a:p>
        </p:txBody>
      </p:sp>
      <p:sp>
        <p:nvSpPr>
          <p:cNvPr id="12" name="椭圆 11"/>
          <p:cNvSpPr/>
          <p:nvPr/>
        </p:nvSpPr>
        <p:spPr>
          <a:xfrm>
            <a:off x="3081278" y="2096263"/>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a:stCxn id="12" idx="1"/>
            <a:endCxn id="16" idx="5"/>
          </p:cNvCxnSpPr>
          <p:nvPr/>
        </p:nvCxnSpPr>
        <p:spPr>
          <a:xfrm rot="16200000" flipV="1">
            <a:off x="2450787" y="1471044"/>
            <a:ext cx="616503" cy="676112"/>
          </a:xfrm>
          <a:prstGeom prst="line">
            <a:avLst/>
          </a:prstGeom>
          <a:ln w="38100">
            <a:solidFill>
              <a:srgbClr val="00B0F0"/>
            </a:solidFill>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2428860" y="1062793"/>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16" name="椭圆 15"/>
          <p:cNvSpPr/>
          <p:nvPr/>
        </p:nvSpPr>
        <p:spPr>
          <a:xfrm>
            <a:off x="2328798" y="1377936"/>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a:stCxn id="6" idx="1"/>
            <a:endCxn id="28" idx="4"/>
          </p:cNvCxnSpPr>
          <p:nvPr/>
        </p:nvCxnSpPr>
        <p:spPr>
          <a:xfrm rot="16200000" flipV="1">
            <a:off x="1011684" y="2485109"/>
            <a:ext cx="602229" cy="45072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20" name="直接连接符 19"/>
          <p:cNvCxnSpPr>
            <a:stCxn id="16" idx="2"/>
            <a:endCxn id="26" idx="6"/>
          </p:cNvCxnSpPr>
          <p:nvPr/>
        </p:nvCxnSpPr>
        <p:spPr>
          <a:xfrm rot="10800000">
            <a:off x="1633566" y="1358632"/>
            <a:ext cx="695232" cy="91305"/>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22" name="直接连接符 21"/>
          <p:cNvCxnSpPr>
            <a:stCxn id="26" idx="3"/>
            <a:endCxn id="28" idx="0"/>
          </p:cNvCxnSpPr>
          <p:nvPr/>
        </p:nvCxnSpPr>
        <p:spPr>
          <a:xfrm rot="5400000">
            <a:off x="886505" y="1610476"/>
            <a:ext cx="855811" cy="45394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1428728" y="1000108"/>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26" name="椭圆 25"/>
          <p:cNvSpPr/>
          <p:nvPr/>
        </p:nvSpPr>
        <p:spPr>
          <a:xfrm>
            <a:off x="1525566" y="1286631"/>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a:off x="714348" y="2181216"/>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28" name="椭圆 27"/>
          <p:cNvSpPr/>
          <p:nvPr/>
        </p:nvSpPr>
        <p:spPr>
          <a:xfrm>
            <a:off x="1033438" y="2265354"/>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32"/>
          <p:cNvGrpSpPr/>
          <p:nvPr/>
        </p:nvGrpSpPr>
        <p:grpSpPr>
          <a:xfrm>
            <a:off x="1141438" y="2239701"/>
            <a:ext cx="1939840" cy="843320"/>
            <a:chOff x="1141438" y="2739767"/>
            <a:chExt cx="1939840" cy="843320"/>
          </a:xfrm>
        </p:grpSpPr>
        <p:cxnSp>
          <p:nvCxnSpPr>
            <p:cNvPr id="30" name="直接连接符 29"/>
            <p:cNvCxnSpPr>
              <a:stCxn id="28" idx="6"/>
              <a:endCxn id="12" idx="2"/>
            </p:cNvCxnSpPr>
            <p:nvPr/>
          </p:nvCxnSpPr>
          <p:spPr>
            <a:xfrm flipV="1">
              <a:off x="1141438" y="2739767"/>
              <a:ext cx="1939840" cy="169091"/>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32" name="直接连接符 31"/>
            <p:cNvCxnSpPr>
              <a:stCxn id="6" idx="7"/>
              <a:endCxn id="12" idx="2"/>
            </p:cNvCxnSpPr>
            <p:nvPr/>
          </p:nvCxnSpPr>
          <p:spPr>
            <a:xfrm rot="5400000" flipH="1" flipV="1">
              <a:off x="1926242" y="2428051"/>
              <a:ext cx="843320" cy="1466752"/>
            </a:xfrm>
            <a:prstGeom prst="line">
              <a:avLst/>
            </a:prstGeom>
            <a:ln>
              <a:prstDash val="dash"/>
            </a:ln>
          </p:spPr>
          <p:style>
            <a:lnRef idx="2">
              <a:schemeClr val="dk1"/>
            </a:lnRef>
            <a:fillRef idx="0">
              <a:schemeClr val="dk1"/>
            </a:fillRef>
            <a:effectRef idx="1">
              <a:schemeClr val="dk1"/>
            </a:effectRef>
            <a:fontRef idx="minor">
              <a:schemeClr val="tx1"/>
            </a:fontRef>
          </p:style>
        </p:cxnSp>
      </p:grpSp>
      <p:sp>
        <p:nvSpPr>
          <p:cNvPr id="34" name="TextBox 33"/>
          <p:cNvSpPr txBox="1"/>
          <p:nvPr/>
        </p:nvSpPr>
        <p:spPr>
          <a:xfrm>
            <a:off x="4071934" y="2214554"/>
            <a:ext cx="4000528" cy="400110"/>
          </a:xfrm>
          <a:prstGeom prst="rect">
            <a:avLst/>
          </a:prstGeom>
          <a:noFill/>
        </p:spPr>
        <p:txBody>
          <a:bodyPr wrap="square" rtlCol="0">
            <a:spAutoFit/>
          </a:bodyPr>
          <a:lstStyle/>
          <a:p>
            <a:r>
              <a:rPr lang="zh-CN" altLang="en-US" sz="2000">
                <a:solidFill>
                  <a:srgbClr val="0000FF"/>
                </a:solidFill>
                <a:latin typeface="Consolas" pitchFamily="49" charset="0"/>
                <a:ea typeface="微软雅黑" pitchFamily="34" charset="-122"/>
                <a:cs typeface="Consolas" pitchFamily="49" charset="0"/>
              </a:rPr>
              <a:t>两条虚线求最长距离 </a:t>
            </a:r>
            <a:r>
              <a:rPr lang="zh-CN" altLang="en-US" sz="2000">
                <a:solidFill>
                  <a:srgbClr val="0000FF"/>
                </a:solidFill>
                <a:latin typeface="Consolas" pitchFamily="49" charset="0"/>
                <a:ea typeface="微软雅黑" pitchFamily="34" charset="-122"/>
                <a:cs typeface="Consolas" pitchFamily="49" charset="0"/>
                <a:sym typeface="Wingdings"/>
              </a:rPr>
              <a:t> </a:t>
            </a:r>
            <a:r>
              <a:rPr lang="en-US" sz="2000">
                <a:solidFill>
                  <a:srgbClr val="0000FF"/>
                </a:solidFill>
                <a:latin typeface="Consolas" pitchFamily="49" charset="0"/>
                <a:ea typeface="微软雅黑" pitchFamily="34" charset="-122"/>
                <a:cs typeface="Consolas" pitchFamily="49" charset="0"/>
              </a:rPr>
              <a:t>maxdist</a:t>
            </a:r>
            <a:endParaRPr lang="zh-CN" altLang="en-US" sz="2000">
              <a:solidFill>
                <a:srgbClr val="0000FF"/>
              </a:solidFill>
              <a:latin typeface="Consolas" pitchFamily="49" charset="0"/>
              <a:ea typeface="微软雅黑" pitchFamily="34" charset="-122"/>
              <a:cs typeface="Consolas" pitchFamily="49" charset="0"/>
            </a:endParaRPr>
          </a:p>
        </p:txBody>
      </p:sp>
      <p:sp>
        <p:nvSpPr>
          <p:cNvPr id="35" name="右箭头 34"/>
          <p:cNvSpPr/>
          <p:nvPr/>
        </p:nvSpPr>
        <p:spPr>
          <a:xfrm>
            <a:off x="3714744" y="2285992"/>
            <a:ext cx="357190" cy="214314"/>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sp>
        <p:nvSpPr>
          <p:cNvPr id="31" name="TextBox 30"/>
          <p:cNvSpPr txBox="1"/>
          <p:nvPr/>
        </p:nvSpPr>
        <p:spPr>
          <a:xfrm>
            <a:off x="928662" y="3804826"/>
            <a:ext cx="2286016" cy="400110"/>
          </a:xfrm>
          <a:prstGeom prst="rect">
            <a:avLst/>
          </a:prstGeom>
          <a:solidFill>
            <a:schemeClr val="bg1"/>
          </a:solidFill>
        </p:spPr>
        <p:txBody>
          <a:bodyPr wrap="square" rtlCol="0">
            <a:spAutoFit/>
          </a:bodyPr>
          <a:lstStyle/>
          <a:p>
            <a:r>
              <a:rPr lang="zh-CN" altLang="en-US" sz="2000">
                <a:solidFill>
                  <a:srgbClr val="0000FF"/>
                </a:solidFill>
                <a:latin typeface="Consolas" pitchFamily="49" charset="0"/>
                <a:ea typeface="楷体" pitchFamily="49" charset="-122"/>
                <a:cs typeface="Consolas" pitchFamily="49" charset="0"/>
              </a:rPr>
              <a:t>（</a:t>
            </a:r>
            <a:r>
              <a:rPr lang="en-US" sz="2000">
                <a:solidFill>
                  <a:srgbClr val="0000FF"/>
                </a:solidFill>
                <a:latin typeface="Consolas" pitchFamily="49" charset="0"/>
                <a:ea typeface="楷体" pitchFamily="49" charset="-122"/>
                <a:cs typeface="Consolas" pitchFamily="49" charset="0"/>
              </a:rPr>
              <a:t>g</a:t>
            </a:r>
            <a:r>
              <a:rPr lang="zh-CN" altLang="en-US" sz="2000">
                <a:solidFill>
                  <a:srgbClr val="0000FF"/>
                </a:solidFill>
                <a:latin typeface="Consolas" pitchFamily="49" charset="0"/>
                <a:ea typeface="楷体" pitchFamily="49" charset="-122"/>
                <a:cs typeface="Consolas" pitchFamily="49" charset="0"/>
              </a:rPr>
              <a:t>）处理边</a:t>
            </a:r>
            <a:r>
              <a:rPr lang="en-US" sz="2000" i="1">
                <a:solidFill>
                  <a:srgbClr val="0000FF"/>
                </a:solidFill>
                <a:latin typeface="Consolas" pitchFamily="49" charset="0"/>
                <a:ea typeface="楷体" pitchFamily="49" charset="-122"/>
                <a:cs typeface="Consolas" pitchFamily="49" charset="0"/>
              </a:rPr>
              <a:t>a</a:t>
            </a:r>
            <a:r>
              <a:rPr lang="en-US" sz="2000" baseline="-25000">
                <a:solidFill>
                  <a:srgbClr val="0000FF"/>
                </a:solidFill>
                <a:latin typeface="Consolas" pitchFamily="49" charset="0"/>
                <a:ea typeface="楷体" pitchFamily="49" charset="-122"/>
                <a:cs typeface="Consolas" pitchFamily="49" charset="0"/>
              </a:rPr>
              <a:t>5</a:t>
            </a:r>
            <a:r>
              <a:rPr lang="en-US" sz="2000" i="1">
                <a:solidFill>
                  <a:srgbClr val="0000FF"/>
                </a:solidFill>
                <a:latin typeface="Consolas" pitchFamily="49" charset="0"/>
                <a:ea typeface="楷体" pitchFamily="49" charset="-122"/>
                <a:cs typeface="Consolas" pitchFamily="49" charset="0"/>
              </a:rPr>
              <a:t>a</a:t>
            </a:r>
            <a:r>
              <a:rPr lang="en-US" sz="2000" baseline="-25000">
                <a:solidFill>
                  <a:srgbClr val="0000FF"/>
                </a:solidFill>
                <a:latin typeface="Consolas" pitchFamily="49" charset="0"/>
                <a:ea typeface="楷体" pitchFamily="49" charset="-122"/>
                <a:cs typeface="Consolas" pitchFamily="49" charset="0"/>
              </a:rPr>
              <a:t>0</a:t>
            </a:r>
            <a:endParaRPr lang="zh-CN" altLang="en-US" sz="2000">
              <a:solidFill>
                <a:srgbClr val="0000FF"/>
              </a:solidFill>
              <a:latin typeface="Consolas" pitchFamily="49" charset="0"/>
              <a:ea typeface="楷体" pitchFamily="49" charset="-122"/>
              <a:cs typeface="Consolas" pitchFamily="49" charset="0"/>
            </a:endParaRPr>
          </a:p>
        </p:txBody>
      </p:sp>
      <p:grpSp>
        <p:nvGrpSpPr>
          <p:cNvPr id="3" name="组合 41"/>
          <p:cNvGrpSpPr/>
          <p:nvPr/>
        </p:nvGrpSpPr>
        <p:grpSpPr>
          <a:xfrm>
            <a:off x="642910" y="4714884"/>
            <a:ext cx="7500990" cy="861774"/>
            <a:chOff x="642910" y="4714884"/>
            <a:chExt cx="7500990" cy="861774"/>
          </a:xfrm>
        </p:grpSpPr>
        <p:sp>
          <p:nvSpPr>
            <p:cNvPr id="39" name="TextBox 38"/>
            <p:cNvSpPr txBox="1"/>
            <p:nvPr/>
          </p:nvSpPr>
          <p:spPr>
            <a:xfrm>
              <a:off x="642910" y="4714884"/>
              <a:ext cx="4857784" cy="861774"/>
            </a:xfrm>
            <a:prstGeom prst="rect">
              <a:avLst/>
            </a:prstGeom>
            <a:noFill/>
          </p:spPr>
          <p:txBody>
            <a:bodyPr wrap="square" rtlCol="0">
              <a:spAutoFit/>
            </a:bodyPr>
            <a:lstStyle/>
            <a:p>
              <a:pPr marL="457200" indent="-457200">
                <a:lnSpc>
                  <a:spcPts val="3000"/>
                </a:lnSpc>
                <a:buBlip>
                  <a:blip r:embed="rId3"/>
                </a:buBlip>
              </a:pPr>
              <a:r>
                <a:rPr lang="zh-CN" altLang="en-US" sz="2000">
                  <a:solidFill>
                    <a:srgbClr val="FF0000"/>
                  </a:solidFill>
                  <a:latin typeface="Consolas" pitchFamily="49" charset="0"/>
                  <a:ea typeface="仿宋" pitchFamily="49" charset="-122"/>
                </a:rPr>
                <a:t>红线</a:t>
              </a:r>
              <a:r>
                <a:rPr lang="zh-CN" altLang="en-US" sz="2000">
                  <a:solidFill>
                    <a:srgbClr val="0000FF"/>
                  </a:solidFill>
                  <a:latin typeface="Consolas" pitchFamily="49" charset="0"/>
                  <a:ea typeface="仿宋" pitchFamily="49" charset="-122"/>
                </a:rPr>
                <a:t>指示当前处理的边</a:t>
              </a:r>
              <a:endParaRPr lang="en-US" altLang="zh-CN" sz="2000">
                <a:solidFill>
                  <a:srgbClr val="0000FF"/>
                </a:solidFill>
                <a:latin typeface="Consolas" pitchFamily="49" charset="0"/>
                <a:ea typeface="仿宋" pitchFamily="49" charset="-122"/>
              </a:endParaRPr>
            </a:p>
            <a:p>
              <a:pPr marL="457200" indent="-457200">
                <a:lnSpc>
                  <a:spcPts val="3000"/>
                </a:lnSpc>
                <a:buBlip>
                  <a:blip r:embed="rId3"/>
                </a:buBlip>
              </a:pPr>
              <a:r>
                <a:rPr lang="zh-CN" altLang="en-US" sz="2000">
                  <a:solidFill>
                    <a:srgbClr val="00B0F0"/>
                  </a:solidFill>
                  <a:latin typeface="Consolas" pitchFamily="49" charset="0"/>
                  <a:ea typeface="仿宋" pitchFamily="49" charset="-122"/>
                </a:rPr>
                <a:t>蓝线</a:t>
              </a:r>
              <a:r>
                <a:rPr lang="zh-CN" altLang="en-US" sz="2000">
                  <a:solidFill>
                    <a:srgbClr val="0000FF"/>
                  </a:solidFill>
                  <a:latin typeface="Consolas" pitchFamily="49" charset="0"/>
                  <a:ea typeface="仿宋" pitchFamily="49" charset="-122"/>
                </a:rPr>
                <a:t>表示离红线边最远的点所在的边</a:t>
              </a:r>
            </a:p>
          </p:txBody>
        </p:sp>
        <p:sp>
          <p:nvSpPr>
            <p:cNvPr id="40" name="TextBox 39"/>
            <p:cNvSpPr txBox="1"/>
            <p:nvPr/>
          </p:nvSpPr>
          <p:spPr>
            <a:xfrm>
              <a:off x="5929322" y="4886278"/>
              <a:ext cx="2214578" cy="400110"/>
            </a:xfrm>
            <a:prstGeom prst="rect">
              <a:avLst/>
            </a:prstGeom>
            <a:noFill/>
          </p:spPr>
          <p:txBody>
            <a:bodyPr wrap="square" rtlCol="0">
              <a:spAutoFit/>
            </a:bodyPr>
            <a:lstStyle/>
            <a:p>
              <a:r>
                <a:rPr lang="zh-CN" altLang="en-US" sz="2000">
                  <a:solidFill>
                    <a:srgbClr val="0000FF"/>
                  </a:solidFill>
                  <a:latin typeface="华文琥珀" pitchFamily="2" charset="-122"/>
                  <a:ea typeface="华文琥珀" pitchFamily="2" charset="-122"/>
                </a:rPr>
                <a:t>都仅仅转换一圈</a:t>
              </a:r>
            </a:p>
          </p:txBody>
        </p:sp>
        <p:sp>
          <p:nvSpPr>
            <p:cNvPr id="41" name="右大括号 40"/>
            <p:cNvSpPr/>
            <p:nvPr/>
          </p:nvSpPr>
          <p:spPr>
            <a:xfrm>
              <a:off x="5572132" y="4786322"/>
              <a:ext cx="214314" cy="642942"/>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grpSp>
        <p:nvGrpSpPr>
          <p:cNvPr id="9" name="组合 44"/>
          <p:cNvGrpSpPr/>
          <p:nvPr/>
        </p:nvGrpSpPr>
        <p:grpSpPr>
          <a:xfrm>
            <a:off x="5143504" y="2857496"/>
            <a:ext cx="1785950" cy="971614"/>
            <a:chOff x="5143504" y="2857496"/>
            <a:chExt cx="1785950" cy="971614"/>
          </a:xfrm>
        </p:grpSpPr>
        <p:sp>
          <p:nvSpPr>
            <p:cNvPr id="43" name="下箭头 42"/>
            <p:cNvSpPr/>
            <p:nvPr/>
          </p:nvSpPr>
          <p:spPr>
            <a:xfrm>
              <a:off x="5857884" y="2857496"/>
              <a:ext cx="214314" cy="428628"/>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sp>
          <p:nvSpPr>
            <p:cNvPr id="44" name="TextBox 43"/>
            <p:cNvSpPr txBox="1"/>
            <p:nvPr/>
          </p:nvSpPr>
          <p:spPr>
            <a:xfrm>
              <a:off x="5143504" y="3429000"/>
              <a:ext cx="1785950" cy="400110"/>
            </a:xfrm>
            <a:prstGeom prst="rect">
              <a:avLst/>
            </a:prstGeom>
            <a:noFill/>
          </p:spPr>
          <p:txBody>
            <a:bodyPr wrap="square" rtlCol="0">
              <a:spAutoFit/>
            </a:bodyPr>
            <a:lstStyle/>
            <a:p>
              <a:r>
                <a:rPr lang="zh-CN" altLang="en-US" sz="2000">
                  <a:solidFill>
                    <a:srgbClr val="FF0000"/>
                  </a:solidFill>
                  <a:latin typeface="Consolas" pitchFamily="49" charset="0"/>
                  <a:ea typeface="楷体" pitchFamily="49" charset="-122"/>
                  <a:cs typeface="Consolas" pitchFamily="49" charset="0"/>
                </a:rPr>
                <a:t>最终</a:t>
              </a:r>
              <a:r>
                <a:rPr lang="en-US" altLang="zh-CN" sz="2000">
                  <a:solidFill>
                    <a:srgbClr val="FF0000"/>
                  </a:solidFill>
                  <a:latin typeface="Consolas" pitchFamily="49" charset="0"/>
                  <a:ea typeface="楷体" pitchFamily="49" charset="-122"/>
                  <a:cs typeface="Consolas" pitchFamily="49" charset="0"/>
                </a:rPr>
                <a:t>maxdist</a:t>
              </a:r>
              <a:endParaRPr lang="zh-CN" altLang="en-US" sz="2000">
                <a:solidFill>
                  <a:srgbClr val="FF0000"/>
                </a:solidFill>
                <a:latin typeface="Consolas" pitchFamily="49" charset="0"/>
                <a:ea typeface="楷体" pitchFamily="49" charset="-122"/>
                <a:cs typeface="Consolas" pitchFamily="49" charset="0"/>
              </a:endParaRPr>
            </a:p>
          </p:txBody>
        </p:sp>
      </p:grpSp>
      <p:sp>
        <p:nvSpPr>
          <p:cNvPr id="38" name="灯片编号占位符 37"/>
          <p:cNvSpPr>
            <a:spLocks noGrp="1"/>
          </p:cNvSpPr>
          <p:nvPr>
            <p:ph type="sldNum" sz="quarter" idx="12"/>
          </p:nvPr>
        </p:nvSpPr>
        <p:spPr/>
        <p:txBody>
          <a:bodyPr/>
          <a:lstStyle/>
          <a:p>
            <a:pPr>
              <a:defRPr/>
            </a:pPr>
            <a:fld id="{51116183-1013-4E64-BBE8-A5C1D5D4F838}" type="slidenum">
              <a:rPr lang="en-US" altLang="zh-CN" smtClean="0"/>
              <a:pPr>
                <a:defRPr/>
              </a:pPr>
              <a:t>162</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2"/>
          <p:cNvSpPr txBox="1">
            <a:spLocks noChangeArrowheads="1"/>
          </p:cNvSpPr>
          <p:nvPr/>
        </p:nvSpPr>
        <p:spPr bwMode="auto">
          <a:xfrm>
            <a:off x="1357290" y="1142984"/>
            <a:ext cx="4357718" cy="540789"/>
          </a:xfrm>
          <a:prstGeom prst="rect">
            <a:avLst/>
          </a:prstGeom>
          <a:solidFill>
            <a:schemeClr val="bg1"/>
          </a:solidFill>
          <a:ln w="9525">
            <a:noFill/>
            <a:miter lim="800000"/>
            <a:headEnd/>
            <a:tailEnd/>
          </a:ln>
        </p:spPr>
        <p:txBody>
          <a:bodyPr wrap="square">
            <a:spAutoFit/>
          </a:bodyPr>
          <a:lstStyle/>
          <a:p>
            <a:pPr>
              <a:lnSpc>
                <a:spcPct val="150000"/>
              </a:lnSpc>
            </a:pPr>
            <a:r>
              <a:rPr lang="zh-CN" altLang="en-US" sz="2200">
                <a:solidFill>
                  <a:srgbClr val="0000FF"/>
                </a:solidFill>
                <a:latin typeface="Consolas" pitchFamily="49" charset="0"/>
                <a:ea typeface="仿宋" pitchFamily="49" charset="-122"/>
                <a:cs typeface="Consolas" pitchFamily="49" charset="0"/>
              </a:rPr>
              <a:t>以</a:t>
            </a:r>
            <a:r>
              <a:rPr lang="zh-CN" altLang="en-US" sz="2200" dirty="0">
                <a:solidFill>
                  <a:srgbClr val="0000FF"/>
                </a:solidFill>
                <a:latin typeface="Consolas" pitchFamily="49" charset="0"/>
                <a:ea typeface="仿宋" pitchFamily="49" charset="-122"/>
                <a:cs typeface="Consolas" pitchFamily="49" charset="0"/>
              </a:rPr>
              <a:t>当前处理边为</a:t>
            </a:r>
            <a:r>
              <a:rPr lang="en-US" altLang="zh-CN" sz="2200" i="1" dirty="0" err="1">
                <a:solidFill>
                  <a:srgbClr val="0000FF"/>
                </a:solidFill>
                <a:latin typeface="Consolas" pitchFamily="49" charset="0"/>
                <a:ea typeface="仿宋" pitchFamily="49" charset="-122"/>
                <a:cs typeface="Consolas" pitchFamily="49" charset="0"/>
              </a:rPr>
              <a:t>a</a:t>
            </a:r>
            <a:r>
              <a:rPr lang="en-US" altLang="zh-CN" sz="2200" baseline="-25000" dirty="0" err="1">
                <a:solidFill>
                  <a:srgbClr val="0000FF"/>
                </a:solidFill>
                <a:latin typeface="Consolas" pitchFamily="49" charset="0"/>
                <a:ea typeface="仿宋" pitchFamily="49" charset="-122"/>
                <a:cs typeface="Consolas" pitchFamily="49" charset="0"/>
              </a:rPr>
              <a:t>0</a:t>
            </a:r>
            <a:r>
              <a:rPr lang="en-US" altLang="zh-CN" sz="2200" i="1" dirty="0" err="1">
                <a:solidFill>
                  <a:srgbClr val="0000FF"/>
                </a:solidFill>
                <a:latin typeface="Consolas" pitchFamily="49" charset="0"/>
                <a:ea typeface="仿宋" pitchFamily="49" charset="-122"/>
                <a:cs typeface="Consolas" pitchFamily="49" charset="0"/>
              </a:rPr>
              <a:t>a</a:t>
            </a:r>
            <a:r>
              <a:rPr lang="en-US" altLang="zh-CN" sz="2200" baseline="-25000" dirty="0" err="1">
                <a:solidFill>
                  <a:srgbClr val="0000FF"/>
                </a:solidFill>
                <a:latin typeface="Consolas" pitchFamily="49" charset="0"/>
                <a:ea typeface="仿宋" pitchFamily="49" charset="-122"/>
                <a:cs typeface="Consolas" pitchFamily="49" charset="0"/>
              </a:rPr>
              <a:t>1</a:t>
            </a:r>
            <a:r>
              <a:rPr lang="zh-CN" altLang="en-US" sz="2200">
                <a:solidFill>
                  <a:srgbClr val="0000FF"/>
                </a:solidFill>
                <a:latin typeface="Consolas" pitchFamily="49" charset="0"/>
                <a:ea typeface="仿宋" pitchFamily="49" charset="-122"/>
                <a:cs typeface="Consolas" pitchFamily="49" charset="0"/>
              </a:rPr>
              <a:t>为例说明。　</a:t>
            </a:r>
            <a:endParaRPr lang="zh-CN" altLang="en-US" sz="2200" dirty="0">
              <a:solidFill>
                <a:srgbClr val="0000FF"/>
              </a:solidFill>
              <a:latin typeface="Consolas" pitchFamily="49" charset="0"/>
              <a:ea typeface="仿宋" pitchFamily="49" charset="-122"/>
              <a:cs typeface="Consolas" pitchFamily="49" charset="0"/>
            </a:endParaRPr>
          </a:p>
        </p:txBody>
      </p:sp>
      <p:sp>
        <p:nvSpPr>
          <p:cNvPr id="24580" name="Rectangle 4"/>
          <p:cNvSpPr>
            <a:spLocks noChangeArrowheads="1"/>
          </p:cNvSpPr>
          <p:nvPr/>
        </p:nvSpPr>
        <p:spPr bwMode="auto">
          <a:xfrm>
            <a:off x="0" y="2928938"/>
            <a:ext cx="9144000" cy="0"/>
          </a:xfrm>
          <a:prstGeom prst="rect">
            <a:avLst/>
          </a:prstGeom>
          <a:noFill/>
          <a:ln w="9525">
            <a:noFill/>
            <a:miter lim="800000"/>
            <a:headEnd/>
            <a:tailEnd/>
          </a:ln>
        </p:spPr>
        <p:txBody>
          <a:bodyPr wrap="none" anchor="ctr">
            <a:spAutoFit/>
          </a:bodyPr>
          <a:lstStyle/>
          <a:p>
            <a:endParaRPr lang="zh-CN" altLang="en-US"/>
          </a:p>
        </p:txBody>
      </p:sp>
      <p:sp>
        <p:nvSpPr>
          <p:cNvPr id="34" name="任意多边形 33"/>
          <p:cNvSpPr/>
          <p:nvPr/>
        </p:nvSpPr>
        <p:spPr>
          <a:xfrm>
            <a:off x="2357422" y="3071810"/>
            <a:ext cx="1593669" cy="901337"/>
          </a:xfrm>
          <a:custGeom>
            <a:avLst/>
            <a:gdLst>
              <a:gd name="connsiteX0" fmla="*/ 352697 w 1593669"/>
              <a:gd name="connsiteY0" fmla="*/ 0 h 901337"/>
              <a:gd name="connsiteX1" fmla="*/ 1593669 w 1593669"/>
              <a:gd name="connsiteY1" fmla="*/ 13063 h 901337"/>
              <a:gd name="connsiteX2" fmla="*/ 1175657 w 1593669"/>
              <a:gd name="connsiteY2" fmla="*/ 901337 h 901337"/>
              <a:gd name="connsiteX3" fmla="*/ 0 w 1593669"/>
              <a:gd name="connsiteY3" fmla="*/ 888274 h 901337"/>
              <a:gd name="connsiteX4" fmla="*/ 352697 w 1593669"/>
              <a:gd name="connsiteY4" fmla="*/ 0 h 90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669" h="901337">
                <a:moveTo>
                  <a:pt x="352697" y="0"/>
                </a:moveTo>
                <a:lnTo>
                  <a:pt x="1593669" y="13063"/>
                </a:lnTo>
                <a:lnTo>
                  <a:pt x="1175657" y="901337"/>
                </a:lnTo>
                <a:lnTo>
                  <a:pt x="0" y="888274"/>
                </a:lnTo>
                <a:lnTo>
                  <a:pt x="352697" y="0"/>
                </a:lnTo>
                <a:close/>
              </a:path>
            </a:pathLst>
          </a:custGeom>
          <a:blipFill>
            <a:blip r:embed="rId3"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37"/>
          <p:cNvSpPr/>
          <p:nvPr/>
        </p:nvSpPr>
        <p:spPr>
          <a:xfrm>
            <a:off x="1941857" y="2402742"/>
            <a:ext cx="1584000" cy="1580606"/>
          </a:xfrm>
          <a:custGeom>
            <a:avLst/>
            <a:gdLst>
              <a:gd name="connsiteX0" fmla="*/ 418011 w 1632857"/>
              <a:gd name="connsiteY0" fmla="*/ 1580606 h 1580606"/>
              <a:gd name="connsiteX1" fmla="*/ 1632857 w 1632857"/>
              <a:gd name="connsiteY1" fmla="*/ 1567543 h 1580606"/>
              <a:gd name="connsiteX2" fmla="*/ 1227908 w 1632857"/>
              <a:gd name="connsiteY2" fmla="*/ 13063 h 1580606"/>
              <a:gd name="connsiteX3" fmla="*/ 0 w 1632857"/>
              <a:gd name="connsiteY3" fmla="*/ 0 h 1580606"/>
              <a:gd name="connsiteX4" fmla="*/ 418011 w 1632857"/>
              <a:gd name="connsiteY4" fmla="*/ 1580606 h 1580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2857" h="1580606">
                <a:moveTo>
                  <a:pt x="418011" y="1580606"/>
                </a:moveTo>
                <a:lnTo>
                  <a:pt x="1632857" y="1567543"/>
                </a:lnTo>
                <a:lnTo>
                  <a:pt x="1227908" y="13063"/>
                </a:lnTo>
                <a:lnTo>
                  <a:pt x="0" y="0"/>
                </a:lnTo>
                <a:lnTo>
                  <a:pt x="418011" y="1580606"/>
                </a:lnTo>
                <a:close/>
              </a:path>
            </a:pathLst>
          </a:cu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38"/>
          <p:cNvSpPr txBox="1"/>
          <p:nvPr/>
        </p:nvSpPr>
        <p:spPr>
          <a:xfrm>
            <a:off x="2143108" y="2571744"/>
            <a:ext cx="571504" cy="400110"/>
          </a:xfrm>
          <a:prstGeom prst="rect">
            <a:avLst/>
          </a:prstGeom>
          <a:noFill/>
        </p:spPr>
        <p:txBody>
          <a:bodyPr wrap="square"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1</a:t>
            </a:r>
            <a:endParaRPr lang="zh-CN" altLang="en-US" sz="2000" baseline="-25000">
              <a:solidFill>
                <a:srgbClr val="FF00FF"/>
              </a:solidFill>
              <a:latin typeface="Consolas" pitchFamily="49" charset="0"/>
              <a:cs typeface="Consolas" pitchFamily="49" charset="0"/>
            </a:endParaRPr>
          </a:p>
        </p:txBody>
      </p:sp>
      <p:sp>
        <p:nvSpPr>
          <p:cNvPr id="41" name="TextBox 40"/>
          <p:cNvSpPr txBox="1"/>
          <p:nvPr/>
        </p:nvSpPr>
        <p:spPr>
          <a:xfrm>
            <a:off x="2786050" y="3286124"/>
            <a:ext cx="571504" cy="400110"/>
          </a:xfrm>
          <a:prstGeom prst="rect">
            <a:avLst/>
          </a:prstGeom>
          <a:noFill/>
        </p:spPr>
        <p:txBody>
          <a:bodyPr wrap="square"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2</a:t>
            </a:r>
            <a:endParaRPr lang="zh-CN" altLang="en-US" sz="2000" baseline="-25000">
              <a:solidFill>
                <a:srgbClr val="FF00FF"/>
              </a:solidFill>
              <a:latin typeface="Consolas" pitchFamily="49" charset="0"/>
              <a:cs typeface="Consolas" pitchFamily="49" charset="0"/>
            </a:endParaRPr>
          </a:p>
        </p:txBody>
      </p:sp>
      <p:grpSp>
        <p:nvGrpSpPr>
          <p:cNvPr id="2" name="组合 39"/>
          <p:cNvGrpSpPr/>
          <p:nvPr/>
        </p:nvGrpSpPr>
        <p:grpSpPr>
          <a:xfrm>
            <a:off x="1500166" y="1928802"/>
            <a:ext cx="2786082" cy="2483948"/>
            <a:chOff x="3714744" y="3231068"/>
            <a:chExt cx="2786082" cy="2483948"/>
          </a:xfrm>
        </p:grpSpPr>
        <p:cxnSp>
          <p:nvCxnSpPr>
            <p:cNvPr id="12" name="直接连接符 11"/>
            <p:cNvCxnSpPr>
              <a:stCxn id="14" idx="6"/>
              <a:endCxn id="16" idx="2"/>
            </p:cNvCxnSpPr>
            <p:nvPr/>
          </p:nvCxnSpPr>
          <p:spPr>
            <a:xfrm>
              <a:off x="4630738" y="5293455"/>
              <a:ext cx="1060408" cy="1124"/>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3" name="TextBox 12"/>
            <p:cNvSpPr txBox="1"/>
            <p:nvPr/>
          </p:nvSpPr>
          <p:spPr>
            <a:xfrm>
              <a:off x="4500562" y="5436893"/>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15" name="TextBox 14"/>
            <p:cNvSpPr txBox="1"/>
            <p:nvPr/>
          </p:nvSpPr>
          <p:spPr>
            <a:xfrm>
              <a:off x="5668970" y="5438017"/>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cxnSp>
          <p:nvCxnSpPr>
            <p:cNvPr id="17" name="直接连接符 16"/>
            <p:cNvCxnSpPr>
              <a:stCxn id="16" idx="7"/>
              <a:endCxn id="19" idx="4"/>
            </p:cNvCxnSpPr>
            <p:nvPr/>
          </p:nvCxnSpPr>
          <p:spPr>
            <a:xfrm rot="5400000" flipH="1" flipV="1">
              <a:off x="5573280" y="4681273"/>
              <a:ext cx="772444" cy="352344"/>
            </a:xfrm>
            <a:prstGeom prst="line">
              <a:avLst/>
            </a:prstGeom>
          </p:spPr>
          <p:style>
            <a:lnRef idx="2">
              <a:schemeClr val="dk1"/>
            </a:lnRef>
            <a:fillRef idx="0">
              <a:schemeClr val="dk1"/>
            </a:fillRef>
            <a:effectRef idx="1">
              <a:schemeClr val="dk1"/>
            </a:effectRef>
            <a:fontRef idx="minor">
              <a:schemeClr val="tx1"/>
            </a:fontRef>
          </p:style>
        </p:cxnSp>
        <p:sp>
          <p:nvSpPr>
            <p:cNvPr id="18" name="TextBox 17"/>
            <p:cNvSpPr txBox="1"/>
            <p:nvPr/>
          </p:nvSpPr>
          <p:spPr>
            <a:xfrm>
              <a:off x="6215074" y="4293885"/>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19" name="椭圆 18"/>
            <p:cNvSpPr/>
            <p:nvPr/>
          </p:nvSpPr>
          <p:spPr>
            <a:xfrm>
              <a:off x="6081674" y="4327223"/>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a:stCxn id="19" idx="1"/>
              <a:endCxn id="22" idx="5"/>
            </p:cNvCxnSpPr>
            <p:nvPr/>
          </p:nvCxnSpPr>
          <p:spPr>
            <a:xfrm rot="16200000" flipV="1">
              <a:off x="5451183" y="3702004"/>
              <a:ext cx="616503" cy="676112"/>
            </a:xfrm>
            <a:prstGeom prst="line">
              <a:avLst/>
            </a:prstGeom>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5429256" y="3293753"/>
              <a:ext cx="285752"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3</a:t>
              </a:r>
              <a:endParaRPr lang="zh-CN" altLang="en-US" sz="1800" baseline="-25000">
                <a:solidFill>
                  <a:srgbClr val="FF0000"/>
                </a:solidFill>
                <a:latin typeface="Consolas" pitchFamily="49" charset="0"/>
                <a:cs typeface="Consolas" pitchFamily="49" charset="0"/>
              </a:endParaRPr>
            </a:p>
          </p:txBody>
        </p:sp>
        <p:sp>
          <p:nvSpPr>
            <p:cNvPr id="22" name="椭圆 21"/>
            <p:cNvSpPr/>
            <p:nvPr/>
          </p:nvSpPr>
          <p:spPr>
            <a:xfrm>
              <a:off x="5329194" y="3608896"/>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a:stCxn id="14" idx="1"/>
              <a:endCxn id="29" idx="4"/>
            </p:cNvCxnSpPr>
            <p:nvPr/>
          </p:nvCxnSpPr>
          <p:spPr>
            <a:xfrm rot="16200000" flipV="1">
              <a:off x="4012080" y="4716069"/>
              <a:ext cx="602229" cy="450720"/>
            </a:xfrm>
            <a:prstGeom prst="line">
              <a:avLst/>
            </a:prstGeom>
          </p:spPr>
          <p:style>
            <a:lnRef idx="2">
              <a:schemeClr val="dk1"/>
            </a:lnRef>
            <a:fillRef idx="0">
              <a:schemeClr val="dk1"/>
            </a:fillRef>
            <a:effectRef idx="1">
              <a:schemeClr val="dk1"/>
            </a:effectRef>
            <a:fontRef idx="minor">
              <a:schemeClr val="tx1"/>
            </a:fontRef>
          </p:style>
        </p:cxnSp>
        <p:cxnSp>
          <p:nvCxnSpPr>
            <p:cNvPr id="24" name="直接连接符 23"/>
            <p:cNvCxnSpPr>
              <a:stCxn id="22" idx="2"/>
              <a:endCxn id="27" idx="6"/>
            </p:cNvCxnSpPr>
            <p:nvPr/>
          </p:nvCxnSpPr>
          <p:spPr>
            <a:xfrm rot="10800000">
              <a:off x="4633962" y="3589592"/>
              <a:ext cx="695232" cy="91305"/>
            </a:xfrm>
            <a:prstGeom prst="line">
              <a:avLst/>
            </a:prstGeom>
          </p:spPr>
          <p:style>
            <a:lnRef idx="2">
              <a:schemeClr val="dk1"/>
            </a:lnRef>
            <a:fillRef idx="0">
              <a:schemeClr val="dk1"/>
            </a:fillRef>
            <a:effectRef idx="1">
              <a:schemeClr val="dk1"/>
            </a:effectRef>
            <a:fontRef idx="minor">
              <a:schemeClr val="tx1"/>
            </a:fontRef>
          </p:style>
        </p:cxnSp>
        <p:cxnSp>
          <p:nvCxnSpPr>
            <p:cNvPr id="25" name="直接连接符 24"/>
            <p:cNvCxnSpPr>
              <a:stCxn id="27" idx="3"/>
              <a:endCxn id="29" idx="0"/>
            </p:cNvCxnSpPr>
            <p:nvPr/>
          </p:nvCxnSpPr>
          <p:spPr>
            <a:xfrm rot="5400000">
              <a:off x="3886901" y="3841436"/>
              <a:ext cx="855811" cy="453944"/>
            </a:xfrm>
            <a:prstGeom prst="line">
              <a:avLst/>
            </a:prstGeom>
          </p:spPr>
          <p:style>
            <a:lnRef idx="2">
              <a:schemeClr val="dk1"/>
            </a:lnRef>
            <a:fillRef idx="0">
              <a:schemeClr val="dk1"/>
            </a:fillRef>
            <a:effectRef idx="1">
              <a:schemeClr val="dk1"/>
            </a:effectRef>
            <a:fontRef idx="minor">
              <a:schemeClr val="tx1"/>
            </a:fontRef>
          </p:style>
        </p:cxnSp>
        <p:sp>
          <p:nvSpPr>
            <p:cNvPr id="26" name="TextBox 25"/>
            <p:cNvSpPr txBox="1"/>
            <p:nvPr/>
          </p:nvSpPr>
          <p:spPr>
            <a:xfrm>
              <a:off x="4429124" y="3231068"/>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27" name="椭圆 26"/>
            <p:cNvSpPr/>
            <p:nvPr/>
          </p:nvSpPr>
          <p:spPr>
            <a:xfrm>
              <a:off x="4525962" y="3517591"/>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TextBox 27"/>
            <p:cNvSpPr txBox="1"/>
            <p:nvPr/>
          </p:nvSpPr>
          <p:spPr>
            <a:xfrm>
              <a:off x="3714744" y="4412176"/>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29" name="椭圆 28"/>
            <p:cNvSpPr/>
            <p:nvPr/>
          </p:nvSpPr>
          <p:spPr>
            <a:xfrm>
              <a:off x="4033834" y="4496314"/>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连接符 30"/>
            <p:cNvCxnSpPr/>
            <p:nvPr/>
          </p:nvCxnSpPr>
          <p:spPr>
            <a:xfrm>
              <a:off x="4059688" y="5290070"/>
              <a:ext cx="2160000" cy="1124"/>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sp>
          <p:nvSpPr>
            <p:cNvPr id="16" name="椭圆 15"/>
            <p:cNvSpPr/>
            <p:nvPr/>
          </p:nvSpPr>
          <p:spPr>
            <a:xfrm>
              <a:off x="5691146" y="5222579"/>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4522738" y="5221455"/>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2" name="TextBox 41"/>
          <p:cNvSpPr txBox="1"/>
          <p:nvPr/>
        </p:nvSpPr>
        <p:spPr>
          <a:xfrm>
            <a:off x="785786" y="4699353"/>
            <a:ext cx="7643866" cy="11079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nSpc>
                <a:spcPct val="150000"/>
              </a:lnSpc>
              <a:buBlip>
                <a:blip r:embed="rId4"/>
              </a:buBlip>
            </a:pPr>
            <a:r>
              <a:rPr lang="zh-CN" altLang="en-US" sz="2200">
                <a:solidFill>
                  <a:srgbClr val="0000FF"/>
                </a:solidFill>
                <a:latin typeface="Consolas" pitchFamily="49" charset="0"/>
                <a:ea typeface="仿宋" pitchFamily="49" charset="-122"/>
                <a:cs typeface="Consolas" pitchFamily="49" charset="0"/>
              </a:rPr>
              <a:t>两个平行四边形的底相同</a:t>
            </a:r>
            <a:r>
              <a:rPr lang="en-US"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面积越大边越远</a:t>
            </a:r>
            <a:endParaRPr lang="zh-CN" altLang="en-US" sz="2200">
              <a:latin typeface="Consolas" pitchFamily="49" charset="0"/>
              <a:ea typeface="仿宋" pitchFamily="49" charset="-122"/>
            </a:endParaRPr>
          </a:p>
          <a:p>
            <a:pPr marL="457200" indent="-457200">
              <a:lnSpc>
                <a:spcPct val="150000"/>
              </a:lnSpc>
              <a:buBlip>
                <a:blip r:embed="rId4"/>
              </a:buBlip>
            </a:pPr>
            <a:r>
              <a:rPr lang="en-US" altLang="zh-CN" sz="2200">
                <a:solidFill>
                  <a:srgbClr val="FF0000"/>
                </a:solidFill>
                <a:latin typeface="Consolas" pitchFamily="49" charset="0"/>
                <a:ea typeface="仿宋" pitchFamily="49" charset="-122"/>
                <a:cs typeface="Consolas" pitchFamily="49" charset="0"/>
              </a:rPr>
              <a:t>S</a:t>
            </a:r>
            <a:r>
              <a:rPr lang="en-US" altLang="zh-CN" sz="2200" baseline="-25000">
                <a:solidFill>
                  <a:srgbClr val="FF0000"/>
                </a:solidFill>
                <a:latin typeface="Consolas" pitchFamily="49" charset="0"/>
                <a:ea typeface="仿宋" pitchFamily="49" charset="-122"/>
                <a:cs typeface="Consolas" pitchFamily="49" charset="0"/>
              </a:rPr>
              <a:t>1</a:t>
            </a:r>
            <a:r>
              <a:rPr lang="en-US" altLang="zh-CN" sz="2200">
                <a:solidFill>
                  <a:srgbClr val="FF0000"/>
                </a:solidFill>
                <a:latin typeface="Consolas" pitchFamily="49" charset="0"/>
                <a:ea typeface="仿宋" pitchFamily="49" charset="-122"/>
                <a:cs typeface="Consolas" pitchFamily="49" charset="0"/>
              </a:rPr>
              <a:t>&gt;S</a:t>
            </a:r>
            <a:r>
              <a:rPr lang="en-US" altLang="zh-CN" sz="2200" baseline="-25000">
                <a:solidFill>
                  <a:srgbClr val="FF0000"/>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，说明</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离当前处理边更远，表示边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2</a:t>
            </a:r>
            <a:r>
              <a:rPr lang="en-US" altLang="zh-CN" sz="2200" i="1">
                <a:solidFill>
                  <a:srgbClr val="0000FF"/>
                </a:solidFill>
                <a:latin typeface="Consolas" pitchFamily="49" charset="0"/>
                <a:ea typeface="仿宋" pitchFamily="49" charset="-122"/>
                <a:cs typeface="Consolas" pitchFamily="49" charset="0"/>
              </a:rPr>
              <a:t>a</a:t>
            </a:r>
            <a:r>
              <a:rPr lang="en-US" altLang="zh-CN" sz="2200" i="1" baseline="-25000">
                <a:solidFill>
                  <a:srgbClr val="0000FF"/>
                </a:solidFill>
                <a:latin typeface="Consolas" pitchFamily="49" charset="0"/>
                <a:ea typeface="仿宋" pitchFamily="49" charset="-122"/>
                <a:cs typeface="Consolas" pitchFamily="49" charset="0"/>
              </a:rPr>
              <a:t>3</a:t>
            </a:r>
            <a:r>
              <a:rPr lang="zh-CN" altLang="en-US" sz="2200">
                <a:solidFill>
                  <a:srgbClr val="0000FF"/>
                </a:solidFill>
                <a:latin typeface="Consolas" pitchFamily="49" charset="0"/>
                <a:ea typeface="仿宋" pitchFamily="49" charset="-122"/>
                <a:cs typeface="Consolas" pitchFamily="49" charset="0"/>
              </a:rPr>
              <a:t>不是粗边</a:t>
            </a:r>
            <a:endParaRPr lang="zh-CN" altLang="en-US" sz="2200">
              <a:latin typeface="Consolas" pitchFamily="49" charset="0"/>
              <a:ea typeface="仿宋" pitchFamily="49" charset="-122"/>
            </a:endParaRPr>
          </a:p>
        </p:txBody>
      </p:sp>
      <p:grpSp>
        <p:nvGrpSpPr>
          <p:cNvPr id="3" name="组合 34"/>
          <p:cNvGrpSpPr/>
          <p:nvPr/>
        </p:nvGrpSpPr>
        <p:grpSpPr>
          <a:xfrm>
            <a:off x="607379" y="285728"/>
            <a:ext cx="678473" cy="735963"/>
            <a:chOff x="535940" y="314960"/>
            <a:chExt cx="1021715" cy="1021715"/>
          </a:xfrm>
        </p:grpSpPr>
        <p:grpSp>
          <p:nvGrpSpPr>
            <p:cNvPr id="4" name="组合 24"/>
            <p:cNvGrpSpPr/>
            <p:nvPr/>
          </p:nvGrpSpPr>
          <p:grpSpPr>
            <a:xfrm>
              <a:off x="535940" y="314960"/>
              <a:ext cx="1021715" cy="1021715"/>
              <a:chOff x="304800" y="673100"/>
              <a:chExt cx="4000500" cy="4000500"/>
            </a:xfrm>
            <a:effectLst>
              <a:outerShdw blurRad="444500" dist="254000" dir="8100000" algn="tr" rotWithShape="0">
                <a:prstClr val="black">
                  <a:alpha val="50000"/>
                </a:prstClr>
              </a:outerShdw>
            </a:effectLst>
          </p:grpSpPr>
          <p:sp>
            <p:nvSpPr>
              <p:cNvPr id="43" name="同心圆 42"/>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a:endParaRPr lang="zh-CN" altLang="en-US" sz="2400">
                  <a:solidFill>
                    <a:srgbClr val="080808"/>
                  </a:solidFill>
                  <a:latin typeface="微软雅黑" panose="020B0503020204020204" charset="-122"/>
                  <a:ea typeface="微软雅黑" panose="020B0503020204020204" charset="-122"/>
                </a:endParaRPr>
              </a:p>
            </p:txBody>
          </p:sp>
          <p:sp>
            <p:nvSpPr>
              <p:cNvPr id="44" name="椭圆 43"/>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a:endParaRPr lang="zh-CN" altLang="en-US" sz="2400">
                  <a:solidFill>
                    <a:srgbClr val="080808"/>
                  </a:solidFill>
                  <a:latin typeface="微软雅黑" panose="020B0503020204020204" charset="-122"/>
                  <a:ea typeface="微软雅黑" panose="020B0503020204020204" charset="-122"/>
                </a:endParaRPr>
              </a:p>
            </p:txBody>
          </p:sp>
        </p:grpSp>
        <p:sp>
          <p:nvSpPr>
            <p:cNvPr id="37" name="TextBox 13"/>
            <p:cNvSpPr txBox="1"/>
            <p:nvPr/>
          </p:nvSpPr>
          <p:spPr>
            <a:xfrm>
              <a:off x="777875" y="543273"/>
              <a:ext cx="537846" cy="512732"/>
            </a:xfrm>
            <a:prstGeom prst="rect">
              <a:avLst/>
            </a:prstGeom>
            <a:noFill/>
          </p:spPr>
          <p:txBody>
            <a:bodyPr wrap="square" lIns="0" tIns="0" rIns="0" bIns="0" rtlCol="0">
              <a:spAutoFit/>
            </a:bodyPr>
            <a:lstStyle/>
            <a:p>
              <a:pPr algn="ctr"/>
              <a:r>
                <a:rPr lang="en-US" altLang="zh-CN" b="1">
                  <a:solidFill>
                    <a:srgbClr val="C00002"/>
                  </a:solidFill>
                  <a:latin typeface="微软雅黑" panose="020B0503020204020204" charset="-122"/>
                  <a:ea typeface="微软雅黑" panose="020B0503020204020204" charset="-122"/>
                </a:rPr>
                <a:t>2</a:t>
              </a:r>
              <a:endParaRPr lang="en-US" altLang="zh-CN" b="1" dirty="0">
                <a:solidFill>
                  <a:srgbClr val="C00002"/>
                </a:solidFill>
                <a:latin typeface="微软雅黑" panose="020B0503020204020204" charset="-122"/>
                <a:ea typeface="微软雅黑" panose="020B0503020204020204" charset="-122"/>
              </a:endParaRPr>
            </a:p>
          </p:txBody>
        </p:sp>
      </p:grpSp>
      <p:sp>
        <p:nvSpPr>
          <p:cNvPr id="45" name="Text Box 2"/>
          <p:cNvSpPr txBox="1">
            <a:spLocks noChangeArrowheads="1"/>
          </p:cNvSpPr>
          <p:nvPr/>
        </p:nvSpPr>
        <p:spPr bwMode="auto">
          <a:xfrm>
            <a:off x="1368579" y="431117"/>
            <a:ext cx="4714908" cy="430887"/>
          </a:xfrm>
          <a:prstGeom prst="rect">
            <a:avLst/>
          </a:prstGeom>
          <a:ln>
            <a:headEnd/>
            <a:tailEnd/>
          </a:ln>
        </p:spPr>
        <p:style>
          <a:lnRef idx="3">
            <a:schemeClr val="lt1"/>
          </a:lnRef>
          <a:fillRef idx="1">
            <a:schemeClr val="dk1"/>
          </a:fillRef>
          <a:effectRef idx="1">
            <a:schemeClr val="dk1"/>
          </a:effectRef>
          <a:fontRef idx="minor">
            <a:schemeClr val="lt1"/>
          </a:fontRef>
        </p:style>
        <p:txBody>
          <a:bodyPr wrap="square">
            <a:spAutoFit/>
          </a:bodyPr>
          <a:lstStyle/>
          <a:p>
            <a:pPr algn="ctr"/>
            <a:r>
              <a:rPr lang="zh-CN" altLang="en-US" sz="2200">
                <a:solidFill>
                  <a:schemeClr val="bg1"/>
                </a:solidFill>
                <a:latin typeface="微软雅黑" pitchFamily="34" charset="-122"/>
                <a:ea typeface="微软雅黑" pitchFamily="34" charset="-122"/>
                <a:cs typeface="Consolas" pitchFamily="49" charset="0"/>
              </a:rPr>
              <a:t>如何</a:t>
            </a:r>
            <a:r>
              <a:rPr lang="zh-CN" altLang="en-US" sz="2200" dirty="0">
                <a:solidFill>
                  <a:schemeClr val="bg1"/>
                </a:solidFill>
                <a:latin typeface="微软雅黑" pitchFamily="34" charset="-122"/>
                <a:ea typeface="微软雅黑" pitchFamily="34" charset="-122"/>
                <a:cs typeface="Consolas" pitchFamily="49" charset="0"/>
              </a:rPr>
              <a:t>求当前处理的边对应的</a:t>
            </a:r>
            <a:r>
              <a:rPr lang="zh-CN" altLang="en-US" sz="2200">
                <a:solidFill>
                  <a:schemeClr val="bg1"/>
                </a:solidFill>
                <a:latin typeface="微软雅黑" pitchFamily="34" charset="-122"/>
                <a:ea typeface="微软雅黑" pitchFamily="34" charset="-122"/>
                <a:cs typeface="Consolas" pitchFamily="49" charset="0"/>
              </a:rPr>
              <a:t>粗边？　</a:t>
            </a:r>
            <a:endParaRPr lang="zh-CN" altLang="en-US" sz="2200" dirty="0">
              <a:solidFill>
                <a:schemeClr val="bg1"/>
              </a:solidFill>
              <a:latin typeface="微软雅黑" pitchFamily="34" charset="-122"/>
              <a:ea typeface="微软雅黑" pitchFamily="34" charset="-122"/>
              <a:cs typeface="Consolas" pitchFamily="49" charset="0"/>
            </a:endParaRPr>
          </a:p>
        </p:txBody>
      </p:sp>
      <p:sp>
        <p:nvSpPr>
          <p:cNvPr id="36" name="灯片编号占位符 35"/>
          <p:cNvSpPr>
            <a:spLocks noGrp="1"/>
          </p:cNvSpPr>
          <p:nvPr>
            <p:ph type="sldNum" sz="quarter" idx="12"/>
          </p:nvPr>
        </p:nvSpPr>
        <p:spPr/>
        <p:txBody>
          <a:bodyPr/>
          <a:lstStyle/>
          <a:p>
            <a:pPr>
              <a:defRPr/>
            </a:pPr>
            <a:fld id="{51116183-1013-4E64-BBE8-A5C1D5D4F838}" type="slidenum">
              <a:rPr lang="en-US" altLang="zh-CN" smtClean="0"/>
              <a:pPr>
                <a:defRPr/>
              </a:pPr>
              <a:t>163</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8" grpId="0" animBg="1"/>
      <p:bldP spid="39" grpId="0"/>
      <p:bldP spid="41" grpId="0"/>
      <p:bldP spid="42"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4"/>
          <p:cNvSpPr>
            <a:spLocks noChangeArrowheads="1"/>
          </p:cNvSpPr>
          <p:nvPr/>
        </p:nvSpPr>
        <p:spPr bwMode="auto">
          <a:xfrm>
            <a:off x="0" y="2928938"/>
            <a:ext cx="9144000" cy="0"/>
          </a:xfrm>
          <a:prstGeom prst="rect">
            <a:avLst/>
          </a:prstGeom>
          <a:noFill/>
          <a:ln w="9525">
            <a:noFill/>
            <a:miter lim="800000"/>
            <a:headEnd/>
            <a:tailEnd/>
          </a:ln>
        </p:spPr>
        <p:txBody>
          <a:bodyPr wrap="none" anchor="ctr">
            <a:spAutoFit/>
          </a:bodyPr>
          <a:lstStyle/>
          <a:p>
            <a:endParaRPr lang="zh-CN" altLang="en-US"/>
          </a:p>
        </p:txBody>
      </p:sp>
      <p:sp>
        <p:nvSpPr>
          <p:cNvPr id="38" name="任意多边形 37"/>
          <p:cNvSpPr/>
          <p:nvPr/>
        </p:nvSpPr>
        <p:spPr>
          <a:xfrm>
            <a:off x="2214546" y="1785926"/>
            <a:ext cx="1584000" cy="1580606"/>
          </a:xfrm>
          <a:custGeom>
            <a:avLst/>
            <a:gdLst>
              <a:gd name="connsiteX0" fmla="*/ 418011 w 1632857"/>
              <a:gd name="connsiteY0" fmla="*/ 1580606 h 1580606"/>
              <a:gd name="connsiteX1" fmla="*/ 1632857 w 1632857"/>
              <a:gd name="connsiteY1" fmla="*/ 1567543 h 1580606"/>
              <a:gd name="connsiteX2" fmla="*/ 1227908 w 1632857"/>
              <a:gd name="connsiteY2" fmla="*/ 13063 h 1580606"/>
              <a:gd name="connsiteX3" fmla="*/ 0 w 1632857"/>
              <a:gd name="connsiteY3" fmla="*/ 0 h 1580606"/>
              <a:gd name="connsiteX4" fmla="*/ 418011 w 1632857"/>
              <a:gd name="connsiteY4" fmla="*/ 1580606 h 1580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2857" h="1580606">
                <a:moveTo>
                  <a:pt x="418011" y="1580606"/>
                </a:moveTo>
                <a:lnTo>
                  <a:pt x="1632857" y="1567543"/>
                </a:lnTo>
                <a:lnTo>
                  <a:pt x="1227908" y="13063"/>
                </a:lnTo>
                <a:lnTo>
                  <a:pt x="0" y="0"/>
                </a:lnTo>
                <a:lnTo>
                  <a:pt x="418011" y="1580606"/>
                </a:lnTo>
                <a:close/>
              </a:path>
            </a:pathLst>
          </a:custGeom>
          <a:solidFill>
            <a:srgbClr val="00B0F0"/>
          </a:solidFill>
          <a:ln w="38100">
            <a:solidFill>
              <a:srgbClr val="00B0F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38"/>
          <p:cNvSpPr txBox="1"/>
          <p:nvPr/>
        </p:nvSpPr>
        <p:spPr>
          <a:xfrm>
            <a:off x="1785918" y="1671568"/>
            <a:ext cx="571504" cy="400110"/>
          </a:xfrm>
          <a:prstGeom prst="rect">
            <a:avLst/>
          </a:prstGeom>
          <a:noFill/>
        </p:spPr>
        <p:txBody>
          <a:bodyPr wrap="square"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1</a:t>
            </a:r>
            <a:endParaRPr lang="zh-CN" altLang="en-US" sz="2000" baseline="-25000">
              <a:solidFill>
                <a:srgbClr val="FF00FF"/>
              </a:solidFill>
              <a:latin typeface="Consolas" pitchFamily="49" charset="0"/>
              <a:cs typeface="Consolas" pitchFamily="49" charset="0"/>
            </a:endParaRPr>
          </a:p>
        </p:txBody>
      </p:sp>
      <p:sp>
        <p:nvSpPr>
          <p:cNvPr id="41" name="TextBox 40"/>
          <p:cNvSpPr txBox="1"/>
          <p:nvPr/>
        </p:nvSpPr>
        <p:spPr>
          <a:xfrm>
            <a:off x="2500298" y="2071678"/>
            <a:ext cx="571504" cy="400110"/>
          </a:xfrm>
          <a:prstGeom prst="rect">
            <a:avLst/>
          </a:prstGeom>
          <a:noFill/>
        </p:spPr>
        <p:txBody>
          <a:bodyPr wrap="square"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2</a:t>
            </a:r>
            <a:endParaRPr lang="zh-CN" altLang="en-US" sz="2000" baseline="-25000">
              <a:solidFill>
                <a:srgbClr val="FF00FF"/>
              </a:solidFill>
              <a:latin typeface="Consolas" pitchFamily="49" charset="0"/>
              <a:cs typeface="Consolas" pitchFamily="49" charset="0"/>
            </a:endParaRPr>
          </a:p>
        </p:txBody>
      </p:sp>
      <p:cxnSp>
        <p:nvCxnSpPr>
          <p:cNvPr id="12" name="直接连接符 11"/>
          <p:cNvCxnSpPr>
            <a:stCxn id="14" idx="6"/>
            <a:endCxn id="16" idx="2"/>
          </p:cNvCxnSpPr>
          <p:nvPr/>
        </p:nvCxnSpPr>
        <p:spPr>
          <a:xfrm>
            <a:off x="2701912" y="3364629"/>
            <a:ext cx="1060408" cy="1124"/>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3" name="TextBox 12"/>
          <p:cNvSpPr txBox="1"/>
          <p:nvPr/>
        </p:nvSpPr>
        <p:spPr>
          <a:xfrm>
            <a:off x="2571736" y="3508067"/>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15" name="TextBox 14"/>
          <p:cNvSpPr txBox="1"/>
          <p:nvPr/>
        </p:nvSpPr>
        <p:spPr>
          <a:xfrm>
            <a:off x="3740144" y="3509191"/>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cxnSp>
        <p:nvCxnSpPr>
          <p:cNvPr id="17" name="直接连接符 16"/>
          <p:cNvCxnSpPr>
            <a:stCxn id="16" idx="7"/>
            <a:endCxn id="19" idx="4"/>
          </p:cNvCxnSpPr>
          <p:nvPr/>
        </p:nvCxnSpPr>
        <p:spPr>
          <a:xfrm rot="5400000" flipH="1" flipV="1">
            <a:off x="3644454" y="2752447"/>
            <a:ext cx="772444" cy="352344"/>
          </a:xfrm>
          <a:prstGeom prst="line">
            <a:avLst/>
          </a:prstGeom>
        </p:spPr>
        <p:style>
          <a:lnRef idx="2">
            <a:schemeClr val="dk1"/>
          </a:lnRef>
          <a:fillRef idx="0">
            <a:schemeClr val="dk1"/>
          </a:fillRef>
          <a:effectRef idx="1">
            <a:schemeClr val="dk1"/>
          </a:effectRef>
          <a:fontRef idx="minor">
            <a:schemeClr val="tx1"/>
          </a:fontRef>
        </p:style>
      </p:cxnSp>
      <p:sp>
        <p:nvSpPr>
          <p:cNvPr id="18" name="TextBox 17"/>
          <p:cNvSpPr txBox="1"/>
          <p:nvPr/>
        </p:nvSpPr>
        <p:spPr>
          <a:xfrm>
            <a:off x="4286248" y="2365059"/>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19" name="椭圆 18"/>
          <p:cNvSpPr/>
          <p:nvPr/>
        </p:nvSpPr>
        <p:spPr>
          <a:xfrm>
            <a:off x="4152848" y="2398397"/>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a:stCxn id="19" idx="1"/>
            <a:endCxn id="22" idx="5"/>
          </p:cNvCxnSpPr>
          <p:nvPr/>
        </p:nvCxnSpPr>
        <p:spPr>
          <a:xfrm rot="16200000" flipV="1">
            <a:off x="3522357" y="1773178"/>
            <a:ext cx="616503" cy="676112"/>
          </a:xfrm>
          <a:prstGeom prst="line">
            <a:avLst/>
          </a:prstGeom>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3500430" y="1364927"/>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22" name="椭圆 21"/>
          <p:cNvSpPr/>
          <p:nvPr/>
        </p:nvSpPr>
        <p:spPr>
          <a:xfrm>
            <a:off x="3400368" y="1680070"/>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a:stCxn id="14" idx="1"/>
            <a:endCxn id="29" idx="4"/>
          </p:cNvCxnSpPr>
          <p:nvPr/>
        </p:nvCxnSpPr>
        <p:spPr>
          <a:xfrm rot="16200000" flipV="1">
            <a:off x="2083254" y="2787243"/>
            <a:ext cx="602229" cy="450720"/>
          </a:xfrm>
          <a:prstGeom prst="line">
            <a:avLst/>
          </a:prstGeom>
        </p:spPr>
        <p:style>
          <a:lnRef idx="2">
            <a:schemeClr val="dk1"/>
          </a:lnRef>
          <a:fillRef idx="0">
            <a:schemeClr val="dk1"/>
          </a:fillRef>
          <a:effectRef idx="1">
            <a:schemeClr val="dk1"/>
          </a:effectRef>
          <a:fontRef idx="minor">
            <a:schemeClr val="tx1"/>
          </a:fontRef>
        </p:style>
      </p:cxnSp>
      <p:cxnSp>
        <p:nvCxnSpPr>
          <p:cNvPr id="24" name="直接连接符 23"/>
          <p:cNvCxnSpPr>
            <a:stCxn id="22" idx="2"/>
            <a:endCxn id="27" idx="6"/>
          </p:cNvCxnSpPr>
          <p:nvPr/>
        </p:nvCxnSpPr>
        <p:spPr>
          <a:xfrm rot="10800000">
            <a:off x="2705136" y="1660766"/>
            <a:ext cx="695232" cy="91305"/>
          </a:xfrm>
          <a:prstGeom prst="line">
            <a:avLst/>
          </a:prstGeom>
        </p:spPr>
        <p:style>
          <a:lnRef idx="2">
            <a:schemeClr val="dk1"/>
          </a:lnRef>
          <a:fillRef idx="0">
            <a:schemeClr val="dk1"/>
          </a:fillRef>
          <a:effectRef idx="1">
            <a:schemeClr val="dk1"/>
          </a:effectRef>
          <a:fontRef idx="minor">
            <a:schemeClr val="tx1"/>
          </a:fontRef>
        </p:style>
      </p:cxnSp>
      <p:cxnSp>
        <p:nvCxnSpPr>
          <p:cNvPr id="25" name="直接连接符 24"/>
          <p:cNvCxnSpPr>
            <a:stCxn id="27" idx="3"/>
            <a:endCxn id="29" idx="0"/>
          </p:cNvCxnSpPr>
          <p:nvPr/>
        </p:nvCxnSpPr>
        <p:spPr>
          <a:xfrm rot="5400000">
            <a:off x="1958075" y="1912610"/>
            <a:ext cx="855811" cy="453944"/>
          </a:xfrm>
          <a:prstGeom prst="line">
            <a:avLst/>
          </a:prstGeom>
        </p:spPr>
        <p:style>
          <a:lnRef idx="2">
            <a:schemeClr val="dk1"/>
          </a:lnRef>
          <a:fillRef idx="0">
            <a:schemeClr val="dk1"/>
          </a:fillRef>
          <a:effectRef idx="1">
            <a:schemeClr val="dk1"/>
          </a:effectRef>
          <a:fontRef idx="minor">
            <a:schemeClr val="tx1"/>
          </a:fontRef>
        </p:style>
      </p:cxnSp>
      <p:sp>
        <p:nvSpPr>
          <p:cNvPr id="26" name="TextBox 25"/>
          <p:cNvSpPr txBox="1"/>
          <p:nvPr/>
        </p:nvSpPr>
        <p:spPr>
          <a:xfrm>
            <a:off x="2500298" y="1214422"/>
            <a:ext cx="285752"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4</a:t>
            </a:r>
            <a:endParaRPr lang="zh-CN" altLang="en-US" sz="1800" baseline="-25000">
              <a:solidFill>
                <a:srgbClr val="FF0000"/>
              </a:solidFill>
              <a:latin typeface="Consolas" pitchFamily="49" charset="0"/>
              <a:cs typeface="Consolas" pitchFamily="49" charset="0"/>
            </a:endParaRPr>
          </a:p>
        </p:txBody>
      </p:sp>
      <p:sp>
        <p:nvSpPr>
          <p:cNvPr id="28" name="TextBox 27"/>
          <p:cNvSpPr txBox="1"/>
          <p:nvPr/>
        </p:nvSpPr>
        <p:spPr>
          <a:xfrm>
            <a:off x="1785918" y="2483350"/>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cxnSp>
        <p:nvCxnSpPr>
          <p:cNvPr id="31" name="直接连接符 30"/>
          <p:cNvCxnSpPr/>
          <p:nvPr/>
        </p:nvCxnSpPr>
        <p:spPr>
          <a:xfrm>
            <a:off x="2130862" y="3352800"/>
            <a:ext cx="2160000" cy="1124"/>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sp>
        <p:nvSpPr>
          <p:cNvPr id="42" name="TextBox 41"/>
          <p:cNvSpPr txBox="1"/>
          <p:nvPr/>
        </p:nvSpPr>
        <p:spPr>
          <a:xfrm>
            <a:off x="857224" y="4143380"/>
            <a:ext cx="7358114" cy="600164"/>
          </a:xfrm>
          <a:prstGeom prst="rect">
            <a:avLst/>
          </a:prstGeom>
          <a:noFill/>
        </p:spPr>
        <p:txBody>
          <a:bodyPr wrap="square" rtlCol="0">
            <a:spAutoFit/>
          </a:bodyPr>
          <a:lstStyle/>
          <a:p>
            <a:pPr>
              <a:lnSpc>
                <a:spcPct val="150000"/>
              </a:lnSpc>
            </a:pPr>
            <a:r>
              <a:rPr lang="en-US" altLang="zh-CN" sz="2200">
                <a:solidFill>
                  <a:srgbClr val="FF0000"/>
                </a:solidFill>
                <a:latin typeface="Consolas" pitchFamily="49" charset="0"/>
                <a:ea typeface="仿宋" pitchFamily="49" charset="-122"/>
                <a:cs typeface="Consolas" pitchFamily="49" charset="0"/>
              </a:rPr>
              <a:t>S</a:t>
            </a:r>
            <a:r>
              <a:rPr lang="en-US" altLang="zh-CN" sz="2200" baseline="-25000">
                <a:solidFill>
                  <a:srgbClr val="FF0000"/>
                </a:solidFill>
                <a:latin typeface="Consolas" pitchFamily="49" charset="0"/>
                <a:ea typeface="仿宋" pitchFamily="49" charset="-122"/>
                <a:cs typeface="Consolas" pitchFamily="49" charset="0"/>
              </a:rPr>
              <a:t>1</a:t>
            </a:r>
            <a:r>
              <a:rPr lang="en-US" altLang="zh-CN" sz="2200">
                <a:solidFill>
                  <a:srgbClr val="FF0000"/>
                </a:solidFill>
                <a:latin typeface="Consolas" pitchFamily="49" charset="0"/>
                <a:ea typeface="仿宋" pitchFamily="49" charset="-122"/>
                <a:cs typeface="Consolas" pitchFamily="49" charset="0"/>
              </a:rPr>
              <a:t>&gt;S</a:t>
            </a:r>
            <a:r>
              <a:rPr lang="en-US" altLang="zh-CN" sz="2200" baseline="-25000">
                <a:solidFill>
                  <a:srgbClr val="FF0000"/>
                </a:solidFill>
                <a:latin typeface="Consolas" pitchFamily="49" charset="0"/>
                <a:ea typeface="仿宋" pitchFamily="49" charset="-122"/>
                <a:cs typeface="Consolas" pitchFamily="49" charset="0"/>
              </a:rPr>
              <a:t>2</a:t>
            </a:r>
            <a:r>
              <a:rPr lang="zh-CN" altLang="en-US" sz="2200">
                <a:solidFill>
                  <a:srgbClr val="0000FF"/>
                </a:solidFill>
                <a:latin typeface="Consolas" pitchFamily="49" charset="0"/>
                <a:ea typeface="仿宋" pitchFamily="49" charset="-122"/>
                <a:cs typeface="Consolas" pitchFamily="49" charset="0"/>
              </a:rPr>
              <a:t>，说明</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离当前处理边更远，表示边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3</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4</a:t>
            </a:r>
            <a:r>
              <a:rPr lang="zh-CN" altLang="en-US" sz="2200">
                <a:solidFill>
                  <a:srgbClr val="0000FF"/>
                </a:solidFill>
                <a:latin typeface="Consolas" pitchFamily="49" charset="0"/>
                <a:ea typeface="仿宋" pitchFamily="49" charset="-122"/>
                <a:cs typeface="Consolas" pitchFamily="49" charset="0"/>
              </a:rPr>
              <a:t>不是粗边</a:t>
            </a:r>
            <a:endParaRPr lang="zh-CN" altLang="en-US" sz="2200">
              <a:latin typeface="Consolas" pitchFamily="49" charset="0"/>
              <a:ea typeface="仿宋" pitchFamily="49" charset="-122"/>
            </a:endParaRPr>
          </a:p>
        </p:txBody>
      </p:sp>
      <p:sp>
        <p:nvSpPr>
          <p:cNvPr id="37" name="任意多边形 36"/>
          <p:cNvSpPr/>
          <p:nvPr/>
        </p:nvSpPr>
        <p:spPr>
          <a:xfrm>
            <a:off x="1519369" y="1632857"/>
            <a:ext cx="2338251" cy="1737360"/>
          </a:xfrm>
          <a:custGeom>
            <a:avLst/>
            <a:gdLst>
              <a:gd name="connsiteX0" fmla="*/ 1123405 w 2338251"/>
              <a:gd name="connsiteY0" fmla="*/ 1724297 h 1737360"/>
              <a:gd name="connsiteX1" fmla="*/ 2338251 w 2338251"/>
              <a:gd name="connsiteY1" fmla="*/ 1737360 h 1737360"/>
              <a:gd name="connsiteX2" fmla="*/ 1110342 w 2338251"/>
              <a:gd name="connsiteY2" fmla="*/ 26126 h 1737360"/>
              <a:gd name="connsiteX3" fmla="*/ 0 w 2338251"/>
              <a:gd name="connsiteY3" fmla="*/ 0 h 1737360"/>
              <a:gd name="connsiteX4" fmla="*/ 1123405 w 2338251"/>
              <a:gd name="connsiteY4" fmla="*/ 1724297 h 173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8251" h="1737360">
                <a:moveTo>
                  <a:pt x="1123405" y="1724297"/>
                </a:moveTo>
                <a:lnTo>
                  <a:pt x="2338251" y="1737360"/>
                </a:lnTo>
                <a:lnTo>
                  <a:pt x="1110342" y="26126"/>
                </a:lnTo>
                <a:lnTo>
                  <a:pt x="0" y="0"/>
                </a:lnTo>
                <a:lnTo>
                  <a:pt x="1123405" y="1724297"/>
                </a:lnTo>
                <a:close/>
              </a:path>
            </a:pathLst>
          </a:cu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762320" y="3293753"/>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2593912" y="3292629"/>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2597136" y="1588765"/>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2105008" y="2567488"/>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灯片编号占位符 31"/>
          <p:cNvSpPr>
            <a:spLocks noGrp="1"/>
          </p:cNvSpPr>
          <p:nvPr>
            <p:ph type="sldNum" sz="quarter" idx="12"/>
          </p:nvPr>
        </p:nvSpPr>
        <p:spPr/>
        <p:txBody>
          <a:bodyPr/>
          <a:lstStyle/>
          <a:p>
            <a:pPr>
              <a:defRPr/>
            </a:pPr>
            <a:fld id="{51116183-1013-4E64-BBE8-A5C1D5D4F838}" type="slidenum">
              <a:rPr lang="en-US" altLang="zh-CN" smtClean="0"/>
              <a:pPr>
                <a:defRPr/>
              </a:pPr>
              <a:t>164</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2" grpId="0"/>
      <p:bldP spid="37" grpId="0" animBg="1"/>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4"/>
          <p:cNvSpPr>
            <a:spLocks noChangeArrowheads="1"/>
          </p:cNvSpPr>
          <p:nvPr/>
        </p:nvSpPr>
        <p:spPr bwMode="auto">
          <a:xfrm>
            <a:off x="0" y="2928938"/>
            <a:ext cx="9144000" cy="0"/>
          </a:xfrm>
          <a:prstGeom prst="rect">
            <a:avLst/>
          </a:prstGeom>
          <a:noFill/>
          <a:ln w="9525">
            <a:noFill/>
            <a:miter lim="800000"/>
            <a:headEnd/>
            <a:tailEnd/>
          </a:ln>
        </p:spPr>
        <p:txBody>
          <a:bodyPr wrap="none" anchor="ctr">
            <a:spAutoFit/>
          </a:bodyPr>
          <a:lstStyle/>
          <a:p>
            <a:endParaRPr lang="zh-CN" altLang="en-US"/>
          </a:p>
        </p:txBody>
      </p:sp>
      <p:sp>
        <p:nvSpPr>
          <p:cNvPr id="39" name="TextBox 38"/>
          <p:cNvSpPr txBox="1"/>
          <p:nvPr/>
        </p:nvSpPr>
        <p:spPr>
          <a:xfrm>
            <a:off x="1714480" y="2600262"/>
            <a:ext cx="571504" cy="400110"/>
          </a:xfrm>
          <a:prstGeom prst="rect">
            <a:avLst/>
          </a:prstGeom>
          <a:noFill/>
        </p:spPr>
        <p:txBody>
          <a:bodyPr wrap="square"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1</a:t>
            </a:r>
            <a:endParaRPr lang="zh-CN" altLang="en-US" sz="2000" baseline="-25000">
              <a:solidFill>
                <a:srgbClr val="FF00FF"/>
              </a:solidFill>
              <a:latin typeface="Consolas" pitchFamily="49" charset="0"/>
              <a:cs typeface="Consolas" pitchFamily="49" charset="0"/>
            </a:endParaRPr>
          </a:p>
        </p:txBody>
      </p:sp>
      <p:sp>
        <p:nvSpPr>
          <p:cNvPr id="41" name="TextBox 40"/>
          <p:cNvSpPr txBox="1"/>
          <p:nvPr/>
        </p:nvSpPr>
        <p:spPr>
          <a:xfrm>
            <a:off x="1714480" y="1643050"/>
            <a:ext cx="571504" cy="400110"/>
          </a:xfrm>
          <a:prstGeom prst="rect">
            <a:avLst/>
          </a:prstGeom>
          <a:noFill/>
        </p:spPr>
        <p:txBody>
          <a:bodyPr wrap="square"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2</a:t>
            </a:r>
            <a:endParaRPr lang="zh-CN" altLang="en-US" sz="2000" baseline="-25000">
              <a:solidFill>
                <a:srgbClr val="FF00FF"/>
              </a:solidFill>
              <a:latin typeface="Consolas" pitchFamily="49" charset="0"/>
              <a:cs typeface="Consolas" pitchFamily="49" charset="0"/>
            </a:endParaRPr>
          </a:p>
        </p:txBody>
      </p:sp>
      <p:cxnSp>
        <p:nvCxnSpPr>
          <p:cNvPr id="12" name="直接连接符 11"/>
          <p:cNvCxnSpPr>
            <a:stCxn id="14" idx="6"/>
            <a:endCxn id="16" idx="2"/>
          </p:cNvCxnSpPr>
          <p:nvPr/>
        </p:nvCxnSpPr>
        <p:spPr>
          <a:xfrm>
            <a:off x="2701912" y="3364629"/>
            <a:ext cx="1060408" cy="1124"/>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3" name="TextBox 12"/>
          <p:cNvSpPr txBox="1"/>
          <p:nvPr/>
        </p:nvSpPr>
        <p:spPr>
          <a:xfrm>
            <a:off x="2571736" y="3508067"/>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15" name="TextBox 14"/>
          <p:cNvSpPr txBox="1"/>
          <p:nvPr/>
        </p:nvSpPr>
        <p:spPr>
          <a:xfrm>
            <a:off x="3740144" y="3509191"/>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cxnSp>
        <p:nvCxnSpPr>
          <p:cNvPr id="17" name="直接连接符 16"/>
          <p:cNvCxnSpPr>
            <a:stCxn id="16" idx="7"/>
            <a:endCxn id="19" idx="4"/>
          </p:cNvCxnSpPr>
          <p:nvPr/>
        </p:nvCxnSpPr>
        <p:spPr>
          <a:xfrm rot="5400000" flipH="1" flipV="1">
            <a:off x="3644454" y="2752447"/>
            <a:ext cx="772444" cy="352344"/>
          </a:xfrm>
          <a:prstGeom prst="line">
            <a:avLst/>
          </a:prstGeom>
        </p:spPr>
        <p:style>
          <a:lnRef idx="2">
            <a:schemeClr val="dk1"/>
          </a:lnRef>
          <a:fillRef idx="0">
            <a:schemeClr val="dk1"/>
          </a:fillRef>
          <a:effectRef idx="1">
            <a:schemeClr val="dk1"/>
          </a:effectRef>
          <a:fontRef idx="minor">
            <a:schemeClr val="tx1"/>
          </a:fontRef>
        </p:style>
      </p:cxnSp>
      <p:sp>
        <p:nvSpPr>
          <p:cNvPr id="18" name="TextBox 17"/>
          <p:cNvSpPr txBox="1"/>
          <p:nvPr/>
        </p:nvSpPr>
        <p:spPr>
          <a:xfrm>
            <a:off x="4286248" y="2365059"/>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19" name="椭圆 18"/>
          <p:cNvSpPr/>
          <p:nvPr/>
        </p:nvSpPr>
        <p:spPr>
          <a:xfrm>
            <a:off x="4152848" y="2398397"/>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a:stCxn id="19" idx="1"/>
            <a:endCxn id="22" idx="5"/>
          </p:cNvCxnSpPr>
          <p:nvPr/>
        </p:nvCxnSpPr>
        <p:spPr>
          <a:xfrm rot="16200000" flipV="1">
            <a:off x="3522357" y="1773178"/>
            <a:ext cx="616503" cy="676112"/>
          </a:xfrm>
          <a:prstGeom prst="line">
            <a:avLst/>
          </a:prstGeom>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3500430" y="1364927"/>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22" name="椭圆 21"/>
          <p:cNvSpPr/>
          <p:nvPr/>
        </p:nvSpPr>
        <p:spPr>
          <a:xfrm>
            <a:off x="3400368" y="1680070"/>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a:stCxn id="14" idx="1"/>
            <a:endCxn id="29" idx="4"/>
          </p:cNvCxnSpPr>
          <p:nvPr/>
        </p:nvCxnSpPr>
        <p:spPr>
          <a:xfrm rot="16200000" flipV="1">
            <a:off x="2083254" y="2787243"/>
            <a:ext cx="602229" cy="450720"/>
          </a:xfrm>
          <a:prstGeom prst="line">
            <a:avLst/>
          </a:prstGeom>
        </p:spPr>
        <p:style>
          <a:lnRef idx="2">
            <a:schemeClr val="dk1"/>
          </a:lnRef>
          <a:fillRef idx="0">
            <a:schemeClr val="dk1"/>
          </a:fillRef>
          <a:effectRef idx="1">
            <a:schemeClr val="dk1"/>
          </a:effectRef>
          <a:fontRef idx="minor">
            <a:schemeClr val="tx1"/>
          </a:fontRef>
        </p:style>
      </p:cxnSp>
      <p:cxnSp>
        <p:nvCxnSpPr>
          <p:cNvPr id="24" name="直接连接符 23"/>
          <p:cNvCxnSpPr>
            <a:stCxn id="22" idx="2"/>
            <a:endCxn id="27" idx="6"/>
          </p:cNvCxnSpPr>
          <p:nvPr/>
        </p:nvCxnSpPr>
        <p:spPr>
          <a:xfrm rot="10800000">
            <a:off x="2705136" y="1660766"/>
            <a:ext cx="695232" cy="91305"/>
          </a:xfrm>
          <a:prstGeom prst="line">
            <a:avLst/>
          </a:prstGeom>
        </p:spPr>
        <p:style>
          <a:lnRef idx="2">
            <a:schemeClr val="dk1"/>
          </a:lnRef>
          <a:fillRef idx="0">
            <a:schemeClr val="dk1"/>
          </a:fillRef>
          <a:effectRef idx="1">
            <a:schemeClr val="dk1"/>
          </a:effectRef>
          <a:fontRef idx="minor">
            <a:schemeClr val="tx1"/>
          </a:fontRef>
        </p:style>
      </p:cxnSp>
      <p:cxnSp>
        <p:nvCxnSpPr>
          <p:cNvPr id="25" name="直接连接符 24"/>
          <p:cNvCxnSpPr>
            <a:stCxn id="27" idx="3"/>
            <a:endCxn id="29" idx="0"/>
          </p:cNvCxnSpPr>
          <p:nvPr/>
        </p:nvCxnSpPr>
        <p:spPr>
          <a:xfrm rot="5400000">
            <a:off x="1958075" y="1912610"/>
            <a:ext cx="855811" cy="453944"/>
          </a:xfrm>
          <a:prstGeom prst="line">
            <a:avLst/>
          </a:prstGeom>
        </p:spPr>
        <p:style>
          <a:lnRef idx="2">
            <a:schemeClr val="dk1"/>
          </a:lnRef>
          <a:fillRef idx="0">
            <a:schemeClr val="dk1"/>
          </a:fillRef>
          <a:effectRef idx="1">
            <a:schemeClr val="dk1"/>
          </a:effectRef>
          <a:fontRef idx="minor">
            <a:schemeClr val="tx1"/>
          </a:fontRef>
        </p:style>
      </p:cxnSp>
      <p:sp>
        <p:nvSpPr>
          <p:cNvPr id="26" name="TextBox 25"/>
          <p:cNvSpPr txBox="1"/>
          <p:nvPr/>
        </p:nvSpPr>
        <p:spPr>
          <a:xfrm>
            <a:off x="2500298" y="1302242"/>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28" name="TextBox 27"/>
          <p:cNvSpPr txBox="1"/>
          <p:nvPr/>
        </p:nvSpPr>
        <p:spPr>
          <a:xfrm>
            <a:off x="1714480" y="2285992"/>
            <a:ext cx="285752"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5</a:t>
            </a:r>
            <a:endParaRPr lang="zh-CN" altLang="en-US" sz="1800" baseline="-25000">
              <a:solidFill>
                <a:srgbClr val="FF0000"/>
              </a:solidFill>
              <a:latin typeface="Consolas" pitchFamily="49" charset="0"/>
              <a:cs typeface="Consolas" pitchFamily="49" charset="0"/>
            </a:endParaRPr>
          </a:p>
        </p:txBody>
      </p:sp>
      <p:cxnSp>
        <p:nvCxnSpPr>
          <p:cNvPr id="31" name="直接连接符 30"/>
          <p:cNvCxnSpPr/>
          <p:nvPr/>
        </p:nvCxnSpPr>
        <p:spPr>
          <a:xfrm>
            <a:off x="2130862" y="3383688"/>
            <a:ext cx="2160000" cy="1124"/>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sp>
        <p:nvSpPr>
          <p:cNvPr id="42" name="TextBox 41"/>
          <p:cNvSpPr txBox="1"/>
          <p:nvPr/>
        </p:nvSpPr>
        <p:spPr>
          <a:xfrm>
            <a:off x="1785918" y="4357694"/>
            <a:ext cx="3571900" cy="600164"/>
          </a:xfrm>
          <a:prstGeom prst="rect">
            <a:avLst/>
          </a:prstGeom>
          <a:noFill/>
        </p:spPr>
        <p:txBody>
          <a:bodyPr wrap="square" rtlCol="0">
            <a:spAutoFit/>
          </a:bodyPr>
          <a:lstStyle/>
          <a:p>
            <a:pPr>
              <a:lnSpc>
                <a:spcPct val="150000"/>
              </a:lnSpc>
            </a:pPr>
            <a:r>
              <a:rPr lang="en-US" altLang="zh-CN" sz="2200">
                <a:solidFill>
                  <a:srgbClr val="FF0000"/>
                </a:solidFill>
                <a:latin typeface="Consolas" pitchFamily="49" charset="0"/>
                <a:ea typeface="仿宋" pitchFamily="49" charset="-122"/>
                <a:cs typeface="Consolas" pitchFamily="49" charset="0"/>
              </a:rPr>
              <a:t>S</a:t>
            </a:r>
            <a:r>
              <a:rPr lang="en-US" altLang="zh-CN" sz="2200" baseline="-25000">
                <a:solidFill>
                  <a:srgbClr val="FF0000"/>
                </a:solidFill>
                <a:latin typeface="Consolas" pitchFamily="49" charset="0"/>
                <a:ea typeface="仿宋" pitchFamily="49" charset="-122"/>
                <a:cs typeface="Consolas" pitchFamily="49" charset="0"/>
              </a:rPr>
              <a:t>1</a:t>
            </a:r>
            <a:r>
              <a:rPr lang="en-US" altLang="zh-CN" sz="2200">
                <a:solidFill>
                  <a:srgbClr val="FF0000"/>
                </a:solidFill>
                <a:latin typeface="宋体" pitchFamily="2" charset="-122"/>
                <a:ea typeface="宋体" pitchFamily="2" charset="-122"/>
                <a:cs typeface="Consolas" pitchFamily="49" charset="0"/>
              </a:rPr>
              <a:t>≤</a:t>
            </a:r>
            <a:r>
              <a:rPr lang="en-US" altLang="zh-CN" sz="2200">
                <a:solidFill>
                  <a:srgbClr val="FF0000"/>
                </a:solidFill>
                <a:latin typeface="Consolas" pitchFamily="49" charset="0"/>
                <a:ea typeface="仿宋" pitchFamily="49" charset="-122"/>
                <a:cs typeface="Consolas" pitchFamily="49" charset="0"/>
              </a:rPr>
              <a:t>S</a:t>
            </a:r>
            <a:r>
              <a:rPr lang="en-US" altLang="zh-CN" sz="2200" baseline="-25000">
                <a:solidFill>
                  <a:srgbClr val="FF0000"/>
                </a:solidFill>
                <a:latin typeface="Consolas" pitchFamily="49" charset="0"/>
                <a:ea typeface="仿宋" pitchFamily="49" charset="-122"/>
                <a:cs typeface="Consolas" pitchFamily="49" charset="0"/>
              </a:rPr>
              <a:t>2</a:t>
            </a:r>
            <a:r>
              <a:rPr lang="zh-CN" altLang="en-US" sz="2200">
                <a:solidFill>
                  <a:srgbClr val="FF0000"/>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表示边</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4</a:t>
            </a:r>
            <a:r>
              <a:rPr lang="en-US" altLang="zh-CN" sz="2200" i="1">
                <a:solidFill>
                  <a:srgbClr val="0000FF"/>
                </a:solidFill>
                <a:latin typeface="Consolas" pitchFamily="49" charset="0"/>
                <a:ea typeface="仿宋" pitchFamily="49" charset="-122"/>
                <a:cs typeface="Consolas" pitchFamily="49" charset="0"/>
              </a:rPr>
              <a:t>a</a:t>
            </a:r>
            <a:r>
              <a:rPr lang="en-US" altLang="zh-CN" sz="2200" baseline="-25000">
                <a:solidFill>
                  <a:srgbClr val="0000FF"/>
                </a:solidFill>
                <a:latin typeface="Consolas" pitchFamily="49" charset="0"/>
                <a:ea typeface="仿宋" pitchFamily="49" charset="-122"/>
                <a:cs typeface="Consolas" pitchFamily="49" charset="0"/>
              </a:rPr>
              <a:t>5</a:t>
            </a:r>
            <a:r>
              <a:rPr lang="zh-CN" altLang="en-US" sz="2200">
                <a:solidFill>
                  <a:srgbClr val="0000FF"/>
                </a:solidFill>
                <a:latin typeface="Consolas" pitchFamily="49" charset="0"/>
                <a:ea typeface="仿宋" pitchFamily="49" charset="-122"/>
                <a:cs typeface="Consolas" pitchFamily="49" charset="0"/>
              </a:rPr>
              <a:t>是粗边。</a:t>
            </a:r>
            <a:endParaRPr lang="zh-CN" altLang="en-US" sz="2200">
              <a:latin typeface="Consolas" pitchFamily="49" charset="0"/>
              <a:ea typeface="仿宋" pitchFamily="49" charset="-122"/>
            </a:endParaRPr>
          </a:p>
        </p:txBody>
      </p:sp>
      <p:sp>
        <p:nvSpPr>
          <p:cNvPr id="37" name="任意多边形 36"/>
          <p:cNvSpPr/>
          <p:nvPr/>
        </p:nvSpPr>
        <p:spPr>
          <a:xfrm>
            <a:off x="1494043" y="1610801"/>
            <a:ext cx="2338251" cy="1737360"/>
          </a:xfrm>
          <a:custGeom>
            <a:avLst/>
            <a:gdLst>
              <a:gd name="connsiteX0" fmla="*/ 1123405 w 2338251"/>
              <a:gd name="connsiteY0" fmla="*/ 1724297 h 1737360"/>
              <a:gd name="connsiteX1" fmla="*/ 2338251 w 2338251"/>
              <a:gd name="connsiteY1" fmla="*/ 1737360 h 1737360"/>
              <a:gd name="connsiteX2" fmla="*/ 1110342 w 2338251"/>
              <a:gd name="connsiteY2" fmla="*/ 26126 h 1737360"/>
              <a:gd name="connsiteX3" fmla="*/ 0 w 2338251"/>
              <a:gd name="connsiteY3" fmla="*/ 0 h 1737360"/>
              <a:gd name="connsiteX4" fmla="*/ 1123405 w 2338251"/>
              <a:gd name="connsiteY4" fmla="*/ 1724297 h 173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8251" h="1737360">
                <a:moveTo>
                  <a:pt x="1123405" y="1724297"/>
                </a:moveTo>
                <a:lnTo>
                  <a:pt x="2338251" y="1737360"/>
                </a:lnTo>
                <a:lnTo>
                  <a:pt x="1110342" y="26126"/>
                </a:lnTo>
                <a:lnTo>
                  <a:pt x="0" y="0"/>
                </a:lnTo>
                <a:lnTo>
                  <a:pt x="1123405" y="1724297"/>
                </a:lnTo>
                <a:close/>
              </a:path>
            </a:pathLst>
          </a:custGeom>
          <a:solidFill>
            <a:srgbClr val="92D050">
              <a:alpha val="28000"/>
            </a:srgb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a:off x="1142976" y="2638697"/>
            <a:ext cx="2730137" cy="731520"/>
          </a:xfrm>
          <a:custGeom>
            <a:avLst/>
            <a:gdLst>
              <a:gd name="connsiteX0" fmla="*/ 2730137 w 2730137"/>
              <a:gd name="connsiteY0" fmla="*/ 718457 h 731520"/>
              <a:gd name="connsiteX1" fmla="*/ 1580606 w 2730137"/>
              <a:gd name="connsiteY1" fmla="*/ 731520 h 731520"/>
              <a:gd name="connsiteX2" fmla="*/ 0 w 2730137"/>
              <a:gd name="connsiteY2" fmla="*/ 26126 h 731520"/>
              <a:gd name="connsiteX3" fmla="*/ 1084217 w 2730137"/>
              <a:gd name="connsiteY3" fmla="*/ 0 h 731520"/>
              <a:gd name="connsiteX4" fmla="*/ 2730137 w 2730137"/>
              <a:gd name="connsiteY4" fmla="*/ 718457 h 731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0137" h="731520">
                <a:moveTo>
                  <a:pt x="2730137" y="718457"/>
                </a:moveTo>
                <a:lnTo>
                  <a:pt x="1580606" y="731520"/>
                </a:lnTo>
                <a:lnTo>
                  <a:pt x="0" y="26126"/>
                </a:lnTo>
                <a:lnTo>
                  <a:pt x="1084217" y="0"/>
                </a:lnTo>
                <a:lnTo>
                  <a:pt x="2730137" y="718457"/>
                </a:lnTo>
                <a:close/>
              </a:path>
            </a:pathLst>
          </a:cu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762320" y="3293753"/>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2593912" y="3292629"/>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2105008" y="2567488"/>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2597136" y="1588765"/>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灯片编号占位符 32"/>
          <p:cNvSpPr>
            <a:spLocks noGrp="1"/>
          </p:cNvSpPr>
          <p:nvPr>
            <p:ph type="sldNum" sz="quarter" idx="12"/>
          </p:nvPr>
        </p:nvSpPr>
        <p:spPr/>
        <p:txBody>
          <a:bodyPr/>
          <a:lstStyle/>
          <a:p>
            <a:pPr>
              <a:defRPr/>
            </a:pPr>
            <a:fld id="{51116183-1013-4E64-BBE8-A5C1D5D4F838}" type="slidenum">
              <a:rPr lang="en-US" altLang="zh-CN" smtClean="0"/>
              <a:pPr>
                <a:defRPr/>
              </a:pPr>
              <a:t>165</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2" grpId="0"/>
      <p:bldP spid="32" grpId="0"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2"/>
          <p:cNvSpPr txBox="1">
            <a:spLocks noChangeArrowheads="1"/>
          </p:cNvSpPr>
          <p:nvPr/>
        </p:nvSpPr>
        <p:spPr bwMode="auto">
          <a:xfrm>
            <a:off x="1387862" y="426299"/>
            <a:ext cx="3921096" cy="430887"/>
          </a:xfrm>
          <a:prstGeom prst="rect">
            <a:avLst/>
          </a:prstGeom>
          <a:ln>
            <a:headEnd/>
            <a:tailEnd/>
          </a:ln>
        </p:spPr>
        <p:style>
          <a:lnRef idx="3">
            <a:schemeClr val="lt1"/>
          </a:lnRef>
          <a:fillRef idx="1">
            <a:schemeClr val="dk1"/>
          </a:fillRef>
          <a:effectRef idx="1">
            <a:schemeClr val="dk1"/>
          </a:effectRef>
          <a:fontRef idx="minor">
            <a:schemeClr val="lt1"/>
          </a:fontRef>
        </p:style>
        <p:txBody>
          <a:bodyPr wrap="square">
            <a:spAutoFit/>
          </a:bodyPr>
          <a:lstStyle/>
          <a:p>
            <a:pPr algn="ctr">
              <a:spcBef>
                <a:spcPct val="50000"/>
              </a:spcBef>
            </a:pPr>
            <a:r>
              <a:rPr lang="zh-CN" altLang="en-US" sz="2200">
                <a:solidFill>
                  <a:schemeClr val="bg1"/>
                </a:solidFill>
                <a:latin typeface="微软雅黑" pitchFamily="34" charset="-122"/>
                <a:ea typeface="微软雅黑" pitchFamily="34" charset="-122"/>
                <a:cs typeface="Consolas" pitchFamily="49" charset="0"/>
              </a:rPr>
              <a:t>如何</a:t>
            </a:r>
            <a:r>
              <a:rPr lang="zh-CN" altLang="en-US" sz="2200" dirty="0">
                <a:solidFill>
                  <a:schemeClr val="bg1"/>
                </a:solidFill>
                <a:latin typeface="微软雅黑" pitchFamily="34" charset="-122"/>
                <a:ea typeface="微软雅黑" pitchFamily="34" charset="-122"/>
                <a:cs typeface="Consolas" pitchFamily="49" charset="0"/>
              </a:rPr>
              <a:t>求平行四边行</a:t>
            </a:r>
            <a:r>
              <a:rPr lang="zh-CN" altLang="en-US" sz="2200">
                <a:solidFill>
                  <a:schemeClr val="bg1"/>
                </a:solidFill>
                <a:latin typeface="微软雅黑" pitchFamily="34" charset="-122"/>
                <a:ea typeface="微软雅黑" pitchFamily="34" charset="-122"/>
                <a:cs typeface="Consolas" pitchFamily="49" charset="0"/>
              </a:rPr>
              <a:t>的面积？</a:t>
            </a:r>
            <a:endParaRPr lang="zh-CN" altLang="en-US" sz="2200" dirty="0">
              <a:solidFill>
                <a:schemeClr val="bg1"/>
              </a:solidFill>
              <a:latin typeface="微软雅黑" pitchFamily="34" charset="-122"/>
              <a:ea typeface="微软雅黑" pitchFamily="34" charset="-122"/>
              <a:cs typeface="Consolas" pitchFamily="49" charset="0"/>
            </a:endParaRPr>
          </a:p>
        </p:txBody>
      </p:sp>
      <p:grpSp>
        <p:nvGrpSpPr>
          <p:cNvPr id="2" name="组合 33"/>
          <p:cNvGrpSpPr/>
          <p:nvPr/>
        </p:nvGrpSpPr>
        <p:grpSpPr>
          <a:xfrm>
            <a:off x="2357422" y="3429000"/>
            <a:ext cx="2786082" cy="2483948"/>
            <a:chOff x="714348" y="3159630"/>
            <a:chExt cx="2786082" cy="2483948"/>
          </a:xfrm>
        </p:grpSpPr>
        <p:sp>
          <p:nvSpPr>
            <p:cNvPr id="10" name="任意多边形 9"/>
            <p:cNvSpPr/>
            <p:nvPr/>
          </p:nvSpPr>
          <p:spPr>
            <a:xfrm>
              <a:off x="1571604" y="4302638"/>
              <a:ext cx="1593669" cy="901337"/>
            </a:xfrm>
            <a:custGeom>
              <a:avLst/>
              <a:gdLst>
                <a:gd name="connsiteX0" fmla="*/ 352697 w 1593669"/>
                <a:gd name="connsiteY0" fmla="*/ 0 h 901337"/>
                <a:gd name="connsiteX1" fmla="*/ 1593669 w 1593669"/>
                <a:gd name="connsiteY1" fmla="*/ 13063 h 901337"/>
                <a:gd name="connsiteX2" fmla="*/ 1175657 w 1593669"/>
                <a:gd name="connsiteY2" fmla="*/ 901337 h 901337"/>
                <a:gd name="connsiteX3" fmla="*/ 0 w 1593669"/>
                <a:gd name="connsiteY3" fmla="*/ 888274 h 901337"/>
                <a:gd name="connsiteX4" fmla="*/ 352697 w 1593669"/>
                <a:gd name="connsiteY4" fmla="*/ 0 h 90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669" h="901337">
                  <a:moveTo>
                    <a:pt x="352697" y="0"/>
                  </a:moveTo>
                  <a:lnTo>
                    <a:pt x="1593669" y="13063"/>
                  </a:lnTo>
                  <a:lnTo>
                    <a:pt x="1175657" y="901337"/>
                  </a:lnTo>
                  <a:lnTo>
                    <a:pt x="0" y="888274"/>
                  </a:lnTo>
                  <a:lnTo>
                    <a:pt x="352697" y="0"/>
                  </a:lnTo>
                  <a:close/>
                </a:path>
              </a:pathLst>
            </a:custGeom>
            <a:blipFill>
              <a:blip r:embed="rId3"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a:off x="1156039" y="3633570"/>
              <a:ext cx="1584000" cy="1580606"/>
            </a:xfrm>
            <a:custGeom>
              <a:avLst/>
              <a:gdLst>
                <a:gd name="connsiteX0" fmla="*/ 418011 w 1632857"/>
                <a:gd name="connsiteY0" fmla="*/ 1580606 h 1580606"/>
                <a:gd name="connsiteX1" fmla="*/ 1632857 w 1632857"/>
                <a:gd name="connsiteY1" fmla="*/ 1567543 h 1580606"/>
                <a:gd name="connsiteX2" fmla="*/ 1227908 w 1632857"/>
                <a:gd name="connsiteY2" fmla="*/ 13063 h 1580606"/>
                <a:gd name="connsiteX3" fmla="*/ 0 w 1632857"/>
                <a:gd name="connsiteY3" fmla="*/ 0 h 1580606"/>
                <a:gd name="connsiteX4" fmla="*/ 418011 w 1632857"/>
                <a:gd name="connsiteY4" fmla="*/ 1580606 h 1580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2857" h="1580606">
                  <a:moveTo>
                    <a:pt x="418011" y="1580606"/>
                  </a:moveTo>
                  <a:lnTo>
                    <a:pt x="1632857" y="1567543"/>
                  </a:lnTo>
                  <a:lnTo>
                    <a:pt x="1227908" y="13063"/>
                  </a:lnTo>
                  <a:lnTo>
                    <a:pt x="0" y="0"/>
                  </a:lnTo>
                  <a:lnTo>
                    <a:pt x="418011" y="1580606"/>
                  </a:lnTo>
                  <a:close/>
                </a:path>
              </a:pathLst>
            </a:cu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1357290" y="3802572"/>
              <a:ext cx="571504" cy="400110"/>
            </a:xfrm>
            <a:prstGeom prst="rect">
              <a:avLst/>
            </a:prstGeom>
            <a:noFill/>
          </p:spPr>
          <p:txBody>
            <a:bodyPr wrap="square"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1</a:t>
              </a:r>
              <a:endParaRPr lang="zh-CN" altLang="en-US" sz="2000" baseline="-25000">
                <a:solidFill>
                  <a:srgbClr val="FF00FF"/>
                </a:solidFill>
                <a:latin typeface="Consolas" pitchFamily="49" charset="0"/>
                <a:cs typeface="Consolas" pitchFamily="49" charset="0"/>
              </a:endParaRPr>
            </a:p>
          </p:txBody>
        </p:sp>
        <p:sp>
          <p:nvSpPr>
            <p:cNvPr id="13" name="TextBox 12"/>
            <p:cNvSpPr txBox="1"/>
            <p:nvPr/>
          </p:nvSpPr>
          <p:spPr>
            <a:xfrm>
              <a:off x="2000232" y="4516952"/>
              <a:ext cx="571504" cy="400110"/>
            </a:xfrm>
            <a:prstGeom prst="rect">
              <a:avLst/>
            </a:prstGeom>
            <a:noFill/>
          </p:spPr>
          <p:txBody>
            <a:bodyPr wrap="square"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2</a:t>
              </a:r>
              <a:endParaRPr lang="zh-CN" altLang="en-US" sz="2000" baseline="-25000">
                <a:solidFill>
                  <a:srgbClr val="FF00FF"/>
                </a:solidFill>
                <a:latin typeface="Consolas" pitchFamily="49" charset="0"/>
                <a:cs typeface="Consolas" pitchFamily="49" charset="0"/>
              </a:endParaRPr>
            </a:p>
          </p:txBody>
        </p:sp>
        <p:grpSp>
          <p:nvGrpSpPr>
            <p:cNvPr id="3" name="组合 13"/>
            <p:cNvGrpSpPr/>
            <p:nvPr/>
          </p:nvGrpSpPr>
          <p:grpSpPr>
            <a:xfrm>
              <a:off x="714348" y="3159630"/>
              <a:ext cx="2786082" cy="2483948"/>
              <a:chOff x="3714744" y="3231068"/>
              <a:chExt cx="2786082" cy="2483948"/>
            </a:xfrm>
          </p:grpSpPr>
          <p:cxnSp>
            <p:nvCxnSpPr>
              <p:cNvPr id="15" name="直接连接符 14"/>
              <p:cNvCxnSpPr>
                <a:stCxn id="17" idx="6"/>
                <a:endCxn id="19" idx="2"/>
              </p:cNvCxnSpPr>
              <p:nvPr/>
            </p:nvCxnSpPr>
            <p:spPr>
              <a:xfrm>
                <a:off x="4630738" y="5293455"/>
                <a:ext cx="1060408" cy="1124"/>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4500562" y="5436893"/>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18" name="TextBox 17"/>
              <p:cNvSpPr txBox="1"/>
              <p:nvPr/>
            </p:nvSpPr>
            <p:spPr>
              <a:xfrm>
                <a:off x="5668970" y="5438017"/>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cxnSp>
            <p:nvCxnSpPr>
              <p:cNvPr id="20" name="直接连接符 19"/>
              <p:cNvCxnSpPr>
                <a:stCxn id="19" idx="7"/>
                <a:endCxn id="22" idx="4"/>
              </p:cNvCxnSpPr>
              <p:nvPr/>
            </p:nvCxnSpPr>
            <p:spPr>
              <a:xfrm rot="5400000" flipH="1" flipV="1">
                <a:off x="5573280" y="4681273"/>
                <a:ext cx="772444" cy="352344"/>
              </a:xfrm>
              <a:prstGeom prst="line">
                <a:avLst/>
              </a:prstGeom>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6215074" y="4293885"/>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22" name="椭圆 21"/>
              <p:cNvSpPr/>
              <p:nvPr/>
            </p:nvSpPr>
            <p:spPr>
              <a:xfrm>
                <a:off x="6081674" y="4327223"/>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a:stCxn id="22" idx="1"/>
                <a:endCxn id="25" idx="5"/>
              </p:cNvCxnSpPr>
              <p:nvPr/>
            </p:nvCxnSpPr>
            <p:spPr>
              <a:xfrm rot="16200000" flipV="1">
                <a:off x="5451183" y="3702004"/>
                <a:ext cx="616503" cy="676112"/>
              </a:xfrm>
              <a:prstGeom prst="line">
                <a:avLst/>
              </a:prstGeom>
            </p:spPr>
            <p:style>
              <a:lnRef idx="2">
                <a:schemeClr val="dk1"/>
              </a:lnRef>
              <a:fillRef idx="0">
                <a:schemeClr val="dk1"/>
              </a:fillRef>
              <a:effectRef idx="1">
                <a:schemeClr val="dk1"/>
              </a:effectRef>
              <a:fontRef idx="minor">
                <a:schemeClr val="tx1"/>
              </a:fontRef>
            </p:style>
          </p:cxnSp>
          <p:sp>
            <p:nvSpPr>
              <p:cNvPr id="24" name="TextBox 23"/>
              <p:cNvSpPr txBox="1"/>
              <p:nvPr/>
            </p:nvSpPr>
            <p:spPr>
              <a:xfrm>
                <a:off x="5429256" y="3293753"/>
                <a:ext cx="285752"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3</a:t>
                </a:r>
                <a:endParaRPr lang="zh-CN" altLang="en-US" sz="1800" baseline="-25000">
                  <a:solidFill>
                    <a:srgbClr val="FF0000"/>
                  </a:solidFill>
                  <a:latin typeface="Consolas" pitchFamily="49" charset="0"/>
                  <a:cs typeface="Consolas" pitchFamily="49" charset="0"/>
                </a:endParaRPr>
              </a:p>
            </p:txBody>
          </p:sp>
          <p:sp>
            <p:nvSpPr>
              <p:cNvPr id="25" name="椭圆 24"/>
              <p:cNvSpPr/>
              <p:nvPr/>
            </p:nvSpPr>
            <p:spPr>
              <a:xfrm>
                <a:off x="5329194" y="3608896"/>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a:stCxn id="17" idx="1"/>
                <a:endCxn id="32" idx="4"/>
              </p:cNvCxnSpPr>
              <p:nvPr/>
            </p:nvCxnSpPr>
            <p:spPr>
              <a:xfrm rot="16200000" flipV="1">
                <a:off x="4012080" y="4716069"/>
                <a:ext cx="602229" cy="450720"/>
              </a:xfrm>
              <a:prstGeom prst="line">
                <a:avLst/>
              </a:prstGeom>
            </p:spPr>
            <p:style>
              <a:lnRef idx="2">
                <a:schemeClr val="dk1"/>
              </a:lnRef>
              <a:fillRef idx="0">
                <a:schemeClr val="dk1"/>
              </a:fillRef>
              <a:effectRef idx="1">
                <a:schemeClr val="dk1"/>
              </a:effectRef>
              <a:fontRef idx="minor">
                <a:schemeClr val="tx1"/>
              </a:fontRef>
            </p:style>
          </p:cxnSp>
          <p:cxnSp>
            <p:nvCxnSpPr>
              <p:cNvPr id="27" name="直接连接符 26"/>
              <p:cNvCxnSpPr>
                <a:stCxn id="25" idx="2"/>
                <a:endCxn id="30" idx="6"/>
              </p:cNvCxnSpPr>
              <p:nvPr/>
            </p:nvCxnSpPr>
            <p:spPr>
              <a:xfrm rot="10800000">
                <a:off x="4633962" y="3589592"/>
                <a:ext cx="695232" cy="91305"/>
              </a:xfrm>
              <a:prstGeom prst="line">
                <a:avLst/>
              </a:prstGeom>
            </p:spPr>
            <p:style>
              <a:lnRef idx="2">
                <a:schemeClr val="dk1"/>
              </a:lnRef>
              <a:fillRef idx="0">
                <a:schemeClr val="dk1"/>
              </a:fillRef>
              <a:effectRef idx="1">
                <a:schemeClr val="dk1"/>
              </a:effectRef>
              <a:fontRef idx="minor">
                <a:schemeClr val="tx1"/>
              </a:fontRef>
            </p:style>
          </p:cxnSp>
          <p:cxnSp>
            <p:nvCxnSpPr>
              <p:cNvPr id="28" name="直接连接符 27"/>
              <p:cNvCxnSpPr>
                <a:stCxn id="30" idx="3"/>
                <a:endCxn id="32" idx="0"/>
              </p:cNvCxnSpPr>
              <p:nvPr/>
            </p:nvCxnSpPr>
            <p:spPr>
              <a:xfrm rot="5400000">
                <a:off x="3886901" y="3841436"/>
                <a:ext cx="855811" cy="453944"/>
              </a:xfrm>
              <a:prstGeom prst="line">
                <a:avLst/>
              </a:prstGeom>
            </p:spPr>
            <p:style>
              <a:lnRef idx="2">
                <a:schemeClr val="dk1"/>
              </a:lnRef>
              <a:fillRef idx="0">
                <a:schemeClr val="dk1"/>
              </a:fillRef>
              <a:effectRef idx="1">
                <a:schemeClr val="dk1"/>
              </a:effectRef>
              <a:fontRef idx="minor">
                <a:schemeClr val="tx1"/>
              </a:fontRef>
            </p:style>
          </p:cxnSp>
          <p:sp>
            <p:nvSpPr>
              <p:cNvPr id="29" name="TextBox 28"/>
              <p:cNvSpPr txBox="1"/>
              <p:nvPr/>
            </p:nvSpPr>
            <p:spPr>
              <a:xfrm>
                <a:off x="4429124" y="3231068"/>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4</a:t>
                </a:r>
                <a:endParaRPr lang="zh-CN" altLang="en-US" sz="1800" baseline="-25000">
                  <a:solidFill>
                    <a:srgbClr val="0000FF"/>
                  </a:solidFill>
                  <a:latin typeface="Consolas" pitchFamily="49" charset="0"/>
                  <a:cs typeface="Consolas" pitchFamily="49" charset="0"/>
                </a:endParaRPr>
              </a:p>
            </p:txBody>
          </p:sp>
          <p:sp>
            <p:nvSpPr>
              <p:cNvPr id="30" name="椭圆 29"/>
              <p:cNvSpPr/>
              <p:nvPr/>
            </p:nvSpPr>
            <p:spPr>
              <a:xfrm>
                <a:off x="4525962" y="3517591"/>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TextBox 30"/>
              <p:cNvSpPr txBox="1"/>
              <p:nvPr/>
            </p:nvSpPr>
            <p:spPr>
              <a:xfrm>
                <a:off x="3714744" y="4412176"/>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sp>
            <p:nvSpPr>
              <p:cNvPr id="32" name="椭圆 31"/>
              <p:cNvSpPr/>
              <p:nvPr/>
            </p:nvSpPr>
            <p:spPr>
              <a:xfrm>
                <a:off x="4033834" y="4496314"/>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p:cNvCxnSpPr/>
              <p:nvPr/>
            </p:nvCxnSpPr>
            <p:spPr>
              <a:xfrm>
                <a:off x="4059688" y="5290070"/>
                <a:ext cx="2160000" cy="1124"/>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sp>
            <p:nvSpPr>
              <p:cNvPr id="19" name="椭圆 18"/>
              <p:cNvSpPr/>
              <p:nvPr/>
            </p:nvSpPr>
            <p:spPr>
              <a:xfrm>
                <a:off x="5691146" y="5222579"/>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4522738" y="5221455"/>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 name="组合 34"/>
          <p:cNvGrpSpPr/>
          <p:nvPr/>
        </p:nvGrpSpPr>
        <p:grpSpPr>
          <a:xfrm>
            <a:off x="607379" y="285728"/>
            <a:ext cx="678473" cy="735963"/>
            <a:chOff x="535940" y="314960"/>
            <a:chExt cx="1021715" cy="1021715"/>
          </a:xfrm>
        </p:grpSpPr>
        <p:grpSp>
          <p:nvGrpSpPr>
            <p:cNvPr id="5" name="组合 24"/>
            <p:cNvGrpSpPr/>
            <p:nvPr/>
          </p:nvGrpSpPr>
          <p:grpSpPr>
            <a:xfrm>
              <a:off x="535940" y="314960"/>
              <a:ext cx="1021715" cy="1021715"/>
              <a:chOff x="304800" y="673100"/>
              <a:chExt cx="4000500" cy="4000500"/>
            </a:xfrm>
            <a:effectLst>
              <a:outerShdw blurRad="444500" dist="254000" dir="8100000" algn="tr" rotWithShape="0">
                <a:prstClr val="black">
                  <a:alpha val="50000"/>
                </a:prstClr>
              </a:outerShdw>
            </a:effectLst>
          </p:grpSpPr>
          <p:sp>
            <p:nvSpPr>
              <p:cNvPr id="38" name="同心圆 3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a:endParaRPr lang="zh-CN" altLang="en-US" sz="2400">
                  <a:solidFill>
                    <a:srgbClr val="080808"/>
                  </a:solidFill>
                  <a:latin typeface="微软雅黑" panose="020B0503020204020204" charset="-122"/>
                  <a:ea typeface="微软雅黑" panose="020B0503020204020204" charset="-122"/>
                </a:endParaRPr>
              </a:p>
            </p:txBody>
          </p:sp>
          <p:sp>
            <p:nvSpPr>
              <p:cNvPr id="39" name="椭圆 3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a:endParaRPr lang="zh-CN" altLang="en-US" sz="2400">
                  <a:solidFill>
                    <a:srgbClr val="080808"/>
                  </a:solidFill>
                  <a:latin typeface="微软雅黑" panose="020B0503020204020204" charset="-122"/>
                  <a:ea typeface="微软雅黑" panose="020B0503020204020204" charset="-122"/>
                </a:endParaRPr>
              </a:p>
            </p:txBody>
          </p:sp>
        </p:grpSp>
        <p:sp>
          <p:nvSpPr>
            <p:cNvPr id="37" name="TextBox 13"/>
            <p:cNvSpPr txBox="1"/>
            <p:nvPr/>
          </p:nvSpPr>
          <p:spPr>
            <a:xfrm>
              <a:off x="777875" y="543273"/>
              <a:ext cx="537846" cy="512732"/>
            </a:xfrm>
            <a:prstGeom prst="rect">
              <a:avLst/>
            </a:prstGeom>
            <a:noFill/>
          </p:spPr>
          <p:txBody>
            <a:bodyPr wrap="square" lIns="0" tIns="0" rIns="0" bIns="0" rtlCol="0">
              <a:spAutoFit/>
            </a:bodyPr>
            <a:lstStyle/>
            <a:p>
              <a:pPr algn="ctr"/>
              <a:r>
                <a:rPr lang="en-US" altLang="zh-CN">
                  <a:solidFill>
                    <a:srgbClr val="C00002"/>
                  </a:solidFill>
                  <a:latin typeface="微软雅黑" panose="020B0503020204020204" charset="-122"/>
                  <a:ea typeface="微软雅黑" panose="020B0503020204020204" charset="-122"/>
                </a:rPr>
                <a:t>3</a:t>
              </a:r>
              <a:endParaRPr lang="en-US" altLang="zh-CN" b="1" dirty="0">
                <a:solidFill>
                  <a:srgbClr val="C00002"/>
                </a:solidFill>
                <a:latin typeface="微软雅黑" panose="020B0503020204020204" charset="-122"/>
                <a:ea typeface="微软雅黑" panose="020B0503020204020204" charset="-122"/>
              </a:endParaRPr>
            </a:p>
          </p:txBody>
        </p:sp>
      </p:grpSp>
      <p:sp>
        <p:nvSpPr>
          <p:cNvPr id="40" name="Text Box 2"/>
          <p:cNvSpPr txBox="1">
            <a:spLocks noChangeArrowheads="1"/>
          </p:cNvSpPr>
          <p:nvPr/>
        </p:nvSpPr>
        <p:spPr bwMode="auto">
          <a:xfrm>
            <a:off x="428596" y="1435088"/>
            <a:ext cx="8358246" cy="1708160"/>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nSpc>
                <a:spcPts val="3000"/>
              </a:lnSpc>
              <a:spcBef>
                <a:spcPts val="600"/>
              </a:spcBef>
            </a:pPr>
            <a:r>
              <a:rPr lang="zh-CN" altLang="en-US" sz="2200">
                <a:solidFill>
                  <a:srgbClr val="0000FF"/>
                </a:solidFill>
                <a:latin typeface="Consolas" pitchFamily="49" charset="0"/>
                <a:ea typeface="仿宋" pitchFamily="49" charset="-122"/>
                <a:cs typeface="Consolas" pitchFamily="49" charset="0"/>
              </a:rPr>
              <a:t>    两个向量的</a:t>
            </a:r>
            <a:r>
              <a:rPr lang="zh-CN" altLang="en-US" sz="2200" dirty="0">
                <a:solidFill>
                  <a:srgbClr val="0000FF"/>
                </a:solidFill>
                <a:latin typeface="Consolas" pitchFamily="49" charset="0"/>
                <a:ea typeface="仿宋" pitchFamily="49" charset="-122"/>
                <a:cs typeface="Consolas" pitchFamily="49" charset="0"/>
              </a:rPr>
              <a:t>叉积为</a:t>
            </a:r>
            <a:r>
              <a:rPr lang="zh-CN" altLang="en-US" sz="2200">
                <a:solidFill>
                  <a:srgbClr val="0000FF"/>
                </a:solidFill>
                <a:latin typeface="Consolas" pitchFamily="49" charset="0"/>
                <a:ea typeface="仿宋" pitchFamily="49" charset="-122"/>
                <a:cs typeface="Consolas" pitchFamily="49" charset="0"/>
              </a:rPr>
              <a:t>对应平行四边形的带符号的面积</a:t>
            </a:r>
            <a:r>
              <a:rPr lang="zh-CN" altLang="en-US" sz="2200" dirty="0">
                <a:solidFill>
                  <a:srgbClr val="0000FF"/>
                </a:solidFill>
                <a:latin typeface="Consolas" pitchFamily="49" charset="0"/>
                <a:ea typeface="仿宋" pitchFamily="49" charset="-122"/>
                <a:cs typeface="Consolas" pitchFamily="49" charset="0"/>
              </a:rPr>
              <a:t>（可能为</a:t>
            </a:r>
            <a:r>
              <a:rPr lang="zh-CN" altLang="en-US" sz="2200">
                <a:solidFill>
                  <a:srgbClr val="0000FF"/>
                </a:solidFill>
                <a:latin typeface="Consolas" pitchFamily="49" charset="0"/>
                <a:ea typeface="仿宋" pitchFamily="49" charset="-122"/>
                <a:cs typeface="Consolas" pitchFamily="49" charset="0"/>
              </a:rPr>
              <a:t>负），通</a:t>
            </a:r>
            <a:r>
              <a:rPr lang="zh-CN" altLang="en-US" sz="2200" dirty="0">
                <a:solidFill>
                  <a:srgbClr val="0000FF"/>
                </a:solidFill>
                <a:latin typeface="Consolas" pitchFamily="49" charset="0"/>
                <a:ea typeface="仿宋" pitchFamily="49" charset="-122"/>
                <a:cs typeface="Consolas" pitchFamily="49" charset="0"/>
              </a:rPr>
              <a:t>过求其绝对值得到其面</a:t>
            </a:r>
            <a:r>
              <a:rPr lang="zh-CN" altLang="en-US" sz="2200">
                <a:solidFill>
                  <a:srgbClr val="0000FF"/>
                </a:solidFill>
                <a:latin typeface="Consolas" pitchFamily="49" charset="0"/>
                <a:ea typeface="仿宋" pitchFamily="49" charset="-122"/>
                <a:cs typeface="Consolas" pitchFamily="49" charset="0"/>
              </a:rPr>
              <a:t>积。</a:t>
            </a:r>
            <a:endParaRPr lang="en-US" altLang="zh-CN" sz="2200">
              <a:solidFill>
                <a:srgbClr val="0000FF"/>
              </a:solidFill>
              <a:latin typeface="Consolas" pitchFamily="49" charset="0"/>
              <a:ea typeface="仿宋" pitchFamily="49" charset="-122"/>
              <a:cs typeface="Consolas" pitchFamily="49" charset="0"/>
            </a:endParaRPr>
          </a:p>
          <a:p>
            <a:pPr>
              <a:lnSpc>
                <a:spcPts val="3000"/>
              </a:lnSpc>
              <a:spcBef>
                <a:spcPts val="600"/>
              </a:spcBef>
            </a:pPr>
            <a:r>
              <a:rPr lang="en-US" altLang="zh-CN" sz="2200">
                <a:solidFill>
                  <a:srgbClr val="0000FF"/>
                </a:solidFill>
                <a:latin typeface="Consolas" pitchFamily="49" charset="0"/>
                <a:ea typeface="仿宋" pitchFamily="49" charset="-122"/>
                <a:cs typeface="Consolas" pitchFamily="49" charset="0"/>
              </a:rPr>
              <a:t>    </a:t>
            </a:r>
            <a:r>
              <a:rPr lang="zh-CN" altLang="en-US" sz="2200">
                <a:solidFill>
                  <a:srgbClr val="0000FF"/>
                </a:solidFill>
                <a:latin typeface="Consolas" pitchFamily="49" charset="0"/>
                <a:ea typeface="仿宋" pitchFamily="49" charset="-122"/>
                <a:cs typeface="Consolas" pitchFamily="49" charset="0"/>
              </a:rPr>
              <a:t>下图中，</a:t>
            </a:r>
            <a:r>
              <a:rPr lang="en-US" altLang="zh-CN" sz="2200">
                <a:solidFill>
                  <a:srgbClr val="FF00FF"/>
                </a:solidFill>
                <a:latin typeface="Consolas" pitchFamily="49" charset="0"/>
                <a:ea typeface="仿宋" pitchFamily="49" charset="-122"/>
                <a:cs typeface="Consolas" pitchFamily="49" charset="0"/>
              </a:rPr>
              <a:t>S</a:t>
            </a:r>
            <a:r>
              <a:rPr lang="en-US" altLang="zh-CN" sz="2200" baseline="-25000">
                <a:solidFill>
                  <a:srgbClr val="FF00FF"/>
                </a:solidFill>
                <a:latin typeface="Consolas" pitchFamily="49" charset="0"/>
                <a:ea typeface="仿宋" pitchFamily="49" charset="-122"/>
                <a:cs typeface="Consolas" pitchFamily="49" charset="0"/>
              </a:rPr>
              <a:t>1</a:t>
            </a:r>
            <a:r>
              <a:rPr lang="en-US" altLang="zh-CN" sz="2200">
                <a:solidFill>
                  <a:srgbClr val="FF00FF"/>
                </a:solidFill>
                <a:latin typeface="Consolas" pitchFamily="49" charset="0"/>
                <a:ea typeface="仿宋" pitchFamily="49" charset="-122"/>
                <a:cs typeface="Consolas" pitchFamily="49" charset="0"/>
              </a:rPr>
              <a:t>=fabs(Det(</a:t>
            </a:r>
            <a:r>
              <a:rPr lang="en-US" altLang="zh-CN" sz="2200" i="1">
                <a:solidFill>
                  <a:srgbClr val="FF00FF"/>
                </a:solidFill>
                <a:latin typeface="Consolas" pitchFamily="49" charset="0"/>
                <a:ea typeface="仿宋" pitchFamily="49" charset="-122"/>
                <a:cs typeface="Consolas" pitchFamily="49" charset="0"/>
              </a:rPr>
              <a:t>a</a:t>
            </a:r>
            <a:r>
              <a:rPr lang="en-US" altLang="zh-CN" sz="2200" baseline="-25000">
                <a:solidFill>
                  <a:srgbClr val="FF00FF"/>
                </a:solidFill>
                <a:latin typeface="Consolas" pitchFamily="49" charset="0"/>
                <a:ea typeface="仿宋" pitchFamily="49" charset="-122"/>
                <a:cs typeface="Consolas" pitchFamily="49" charset="0"/>
              </a:rPr>
              <a:t>1</a:t>
            </a:r>
            <a:r>
              <a:rPr lang="zh-CN" altLang="en-US" sz="2200">
                <a:solidFill>
                  <a:srgbClr val="FF00FF"/>
                </a:solidFill>
                <a:latin typeface="Consolas" pitchFamily="49" charset="0"/>
                <a:ea typeface="仿宋" pitchFamily="49" charset="-122"/>
                <a:cs typeface="Consolas" pitchFamily="49" charset="0"/>
              </a:rPr>
              <a:t>，</a:t>
            </a:r>
            <a:r>
              <a:rPr lang="en-US" altLang="zh-CN" sz="2200" i="1">
                <a:solidFill>
                  <a:srgbClr val="FF00FF"/>
                </a:solidFill>
                <a:latin typeface="Consolas" pitchFamily="49" charset="0"/>
                <a:ea typeface="仿宋" pitchFamily="49" charset="-122"/>
                <a:cs typeface="Consolas" pitchFamily="49" charset="0"/>
              </a:rPr>
              <a:t>a</a:t>
            </a:r>
            <a:r>
              <a:rPr lang="en-US" altLang="zh-CN" sz="2200" baseline="-25000">
                <a:solidFill>
                  <a:srgbClr val="FF00FF"/>
                </a:solidFill>
                <a:latin typeface="Consolas" pitchFamily="49" charset="0"/>
                <a:ea typeface="仿宋" pitchFamily="49" charset="-122"/>
                <a:cs typeface="Consolas" pitchFamily="49" charset="0"/>
              </a:rPr>
              <a:t>0</a:t>
            </a:r>
            <a:r>
              <a:rPr lang="zh-CN" altLang="en-US" sz="2200">
                <a:solidFill>
                  <a:srgbClr val="FF00FF"/>
                </a:solidFill>
                <a:latin typeface="Consolas" pitchFamily="49" charset="0"/>
                <a:ea typeface="仿宋" pitchFamily="49" charset="-122"/>
                <a:cs typeface="Consolas" pitchFamily="49" charset="0"/>
              </a:rPr>
              <a:t>，</a:t>
            </a:r>
            <a:r>
              <a:rPr lang="en-US" altLang="zh-CN" sz="2200" i="1">
                <a:solidFill>
                  <a:srgbClr val="FF00FF"/>
                </a:solidFill>
                <a:latin typeface="Consolas" pitchFamily="49" charset="0"/>
                <a:ea typeface="仿宋" pitchFamily="49" charset="-122"/>
                <a:cs typeface="Consolas" pitchFamily="49" charset="0"/>
              </a:rPr>
              <a:t>a</a:t>
            </a:r>
            <a:r>
              <a:rPr lang="en-US" altLang="zh-CN" sz="2200" baseline="-25000">
                <a:solidFill>
                  <a:srgbClr val="FF00FF"/>
                </a:solidFill>
                <a:latin typeface="Consolas" pitchFamily="49" charset="0"/>
                <a:ea typeface="仿宋" pitchFamily="49" charset="-122"/>
                <a:cs typeface="Consolas" pitchFamily="49" charset="0"/>
              </a:rPr>
              <a:t>3</a:t>
            </a:r>
            <a:r>
              <a:rPr lang="en-US" altLang="zh-CN" sz="2200">
                <a:solidFill>
                  <a:srgbClr val="FF00FF"/>
                </a:solidFill>
                <a:latin typeface="Consolas" pitchFamily="49" charset="0"/>
                <a:ea typeface="仿宋" pitchFamily="49" charset="-122"/>
                <a:cs typeface="Consolas" pitchFamily="49" charset="0"/>
              </a:rPr>
              <a:t>))</a:t>
            </a:r>
            <a:r>
              <a:rPr lang="zh-CN" altLang="en-US" sz="2200">
                <a:solidFill>
                  <a:srgbClr val="FF00FF"/>
                </a:solidFill>
                <a:latin typeface="Consolas" pitchFamily="49" charset="0"/>
                <a:ea typeface="仿宋" pitchFamily="49" charset="-122"/>
                <a:cs typeface="Consolas" pitchFamily="49" charset="0"/>
              </a:rPr>
              <a:t>，</a:t>
            </a:r>
            <a:r>
              <a:rPr lang="en-US" altLang="zh-CN" sz="2200">
                <a:solidFill>
                  <a:srgbClr val="FF00FF"/>
                </a:solidFill>
                <a:latin typeface="Consolas" pitchFamily="49" charset="0"/>
                <a:ea typeface="仿宋" pitchFamily="49" charset="-122"/>
                <a:cs typeface="Consolas" pitchFamily="49" charset="0"/>
              </a:rPr>
              <a:t>S</a:t>
            </a:r>
            <a:r>
              <a:rPr lang="en-US" altLang="zh-CN" sz="2200" baseline="-25000">
                <a:solidFill>
                  <a:srgbClr val="FF00FF"/>
                </a:solidFill>
                <a:latin typeface="Consolas" pitchFamily="49" charset="0"/>
                <a:ea typeface="仿宋" pitchFamily="49" charset="-122"/>
                <a:cs typeface="Consolas" pitchFamily="49" charset="0"/>
              </a:rPr>
              <a:t>2</a:t>
            </a:r>
            <a:r>
              <a:rPr lang="en-US" altLang="zh-CN" sz="2200">
                <a:solidFill>
                  <a:srgbClr val="FF00FF"/>
                </a:solidFill>
                <a:latin typeface="Consolas" pitchFamily="49" charset="0"/>
                <a:ea typeface="仿宋" pitchFamily="49" charset="-122"/>
                <a:cs typeface="Consolas" pitchFamily="49" charset="0"/>
              </a:rPr>
              <a:t>=fabs(Det(</a:t>
            </a:r>
            <a:r>
              <a:rPr lang="en-US" altLang="zh-CN" sz="2200" i="1">
                <a:solidFill>
                  <a:srgbClr val="FF00FF"/>
                </a:solidFill>
                <a:latin typeface="Consolas" pitchFamily="49" charset="0"/>
                <a:ea typeface="仿宋" pitchFamily="49" charset="-122"/>
                <a:cs typeface="Consolas" pitchFamily="49" charset="0"/>
              </a:rPr>
              <a:t>a</a:t>
            </a:r>
            <a:r>
              <a:rPr lang="en-US" altLang="zh-CN" sz="2200" baseline="-25000">
                <a:solidFill>
                  <a:srgbClr val="FF00FF"/>
                </a:solidFill>
                <a:latin typeface="Consolas" pitchFamily="49" charset="0"/>
                <a:ea typeface="仿宋" pitchFamily="49" charset="-122"/>
                <a:cs typeface="Consolas" pitchFamily="49" charset="0"/>
              </a:rPr>
              <a:t>1</a:t>
            </a:r>
            <a:r>
              <a:rPr lang="zh-CN" altLang="en-US" sz="2200">
                <a:solidFill>
                  <a:srgbClr val="FF00FF"/>
                </a:solidFill>
                <a:latin typeface="Consolas" pitchFamily="49" charset="0"/>
                <a:ea typeface="仿宋" pitchFamily="49" charset="-122"/>
                <a:cs typeface="Consolas" pitchFamily="49" charset="0"/>
              </a:rPr>
              <a:t>，</a:t>
            </a:r>
            <a:r>
              <a:rPr lang="en-US" altLang="zh-CN" sz="2200" i="1">
                <a:solidFill>
                  <a:srgbClr val="FF00FF"/>
                </a:solidFill>
                <a:latin typeface="Consolas" pitchFamily="49" charset="0"/>
                <a:ea typeface="仿宋" pitchFamily="49" charset="-122"/>
                <a:cs typeface="Consolas" pitchFamily="49" charset="0"/>
              </a:rPr>
              <a:t>a</a:t>
            </a:r>
            <a:r>
              <a:rPr lang="en-US" altLang="zh-CN" sz="2200" baseline="-25000">
                <a:solidFill>
                  <a:srgbClr val="FF00FF"/>
                </a:solidFill>
                <a:latin typeface="Consolas" pitchFamily="49" charset="0"/>
                <a:ea typeface="仿宋" pitchFamily="49" charset="-122"/>
                <a:cs typeface="Consolas" pitchFamily="49" charset="0"/>
              </a:rPr>
              <a:t>0</a:t>
            </a:r>
            <a:r>
              <a:rPr lang="zh-CN" altLang="en-US" sz="2200">
                <a:solidFill>
                  <a:srgbClr val="FF00FF"/>
                </a:solidFill>
                <a:latin typeface="Consolas" pitchFamily="49" charset="0"/>
                <a:ea typeface="仿宋" pitchFamily="49" charset="-122"/>
                <a:cs typeface="Consolas" pitchFamily="49" charset="0"/>
              </a:rPr>
              <a:t>，</a:t>
            </a:r>
            <a:r>
              <a:rPr lang="en-US" altLang="zh-CN" sz="2200" i="1">
                <a:solidFill>
                  <a:srgbClr val="FF00FF"/>
                </a:solidFill>
                <a:latin typeface="Consolas" pitchFamily="49" charset="0"/>
                <a:ea typeface="仿宋" pitchFamily="49" charset="-122"/>
                <a:cs typeface="Consolas" pitchFamily="49" charset="0"/>
              </a:rPr>
              <a:t>a</a:t>
            </a:r>
            <a:r>
              <a:rPr lang="en-US" altLang="zh-CN" sz="2200" baseline="-25000">
                <a:solidFill>
                  <a:srgbClr val="FF00FF"/>
                </a:solidFill>
                <a:latin typeface="Consolas" pitchFamily="49" charset="0"/>
                <a:ea typeface="仿宋" pitchFamily="49" charset="-122"/>
                <a:cs typeface="Consolas" pitchFamily="49" charset="0"/>
              </a:rPr>
              <a:t>2</a:t>
            </a:r>
            <a:r>
              <a:rPr lang="en-US" altLang="zh-CN" sz="2200">
                <a:solidFill>
                  <a:srgbClr val="FF00FF"/>
                </a:solidFill>
                <a:latin typeface="Consolas" pitchFamily="49" charset="0"/>
                <a:ea typeface="仿宋" pitchFamily="49" charset="-122"/>
                <a:cs typeface="Consolas" pitchFamily="49" charset="0"/>
              </a:rPr>
              <a:t>))</a:t>
            </a:r>
            <a:r>
              <a:rPr lang="zh-CN" altLang="en-US" sz="2200">
                <a:solidFill>
                  <a:srgbClr val="0000FF"/>
                </a:solidFill>
                <a:latin typeface="Consolas" pitchFamily="49" charset="0"/>
                <a:ea typeface="仿宋" pitchFamily="49" charset="-122"/>
                <a:cs typeface="Consolas" pitchFamily="49" charset="0"/>
              </a:rPr>
              <a:t>，其</a:t>
            </a:r>
            <a:r>
              <a:rPr lang="zh-CN" altLang="en-US" sz="2200" dirty="0">
                <a:solidFill>
                  <a:srgbClr val="0000FF"/>
                </a:solidFill>
                <a:latin typeface="Consolas" pitchFamily="49" charset="0"/>
                <a:ea typeface="仿宋" pitchFamily="49" charset="-122"/>
                <a:cs typeface="Consolas" pitchFamily="49" charset="0"/>
              </a:rPr>
              <a:t>中</a:t>
            </a:r>
            <a:r>
              <a:rPr lang="en-US" altLang="zh-CN" sz="2200" dirty="0" err="1">
                <a:solidFill>
                  <a:srgbClr val="0000FF"/>
                </a:solidFill>
                <a:latin typeface="Consolas" pitchFamily="49" charset="0"/>
                <a:ea typeface="仿宋" pitchFamily="49" charset="-122"/>
                <a:cs typeface="Consolas" pitchFamily="49" charset="0"/>
              </a:rPr>
              <a:t>Det</a:t>
            </a:r>
            <a:r>
              <a:rPr lang="zh-CN" altLang="en-US" sz="2200" dirty="0">
                <a:solidFill>
                  <a:srgbClr val="0000FF"/>
                </a:solidFill>
                <a:latin typeface="Consolas" pitchFamily="49" charset="0"/>
                <a:ea typeface="仿宋" pitchFamily="49" charset="-122"/>
                <a:cs typeface="Consolas" pitchFamily="49" charset="0"/>
              </a:rPr>
              <a:t>是求叉积。</a:t>
            </a:r>
          </a:p>
        </p:txBody>
      </p:sp>
      <p:sp>
        <p:nvSpPr>
          <p:cNvPr id="35" name="灯片编号占位符 34"/>
          <p:cNvSpPr>
            <a:spLocks noGrp="1"/>
          </p:cNvSpPr>
          <p:nvPr>
            <p:ph type="sldNum" sz="quarter" idx="12"/>
          </p:nvPr>
        </p:nvSpPr>
        <p:spPr/>
        <p:txBody>
          <a:bodyPr/>
          <a:lstStyle/>
          <a:p>
            <a:pPr>
              <a:defRPr/>
            </a:pPr>
            <a:fld id="{51116183-1013-4E64-BBE8-A5C1D5D4F838}" type="slidenum">
              <a:rPr lang="en-US" altLang="zh-CN" smtClean="0"/>
              <a:pPr>
                <a:defRPr/>
              </a:pPr>
              <a:t>166</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436722" y="426345"/>
            <a:ext cx="5278418" cy="430887"/>
          </a:xfrm>
          <a:prstGeom prst="rect">
            <a:avLst/>
          </a:prstGeom>
          <a:ln>
            <a:headEnd/>
            <a:tailEnd/>
          </a:ln>
        </p:spPr>
        <p:style>
          <a:lnRef idx="3">
            <a:schemeClr val="lt1"/>
          </a:lnRef>
          <a:fillRef idx="1">
            <a:schemeClr val="dk1"/>
          </a:fillRef>
          <a:effectRef idx="1">
            <a:schemeClr val="dk1"/>
          </a:effectRef>
          <a:fontRef idx="minor">
            <a:schemeClr val="lt1"/>
          </a:fontRef>
        </p:style>
        <p:txBody>
          <a:bodyPr wrap="square">
            <a:spAutoFit/>
          </a:bodyPr>
          <a:lstStyle/>
          <a:p>
            <a:pPr algn="ctr">
              <a:spcBef>
                <a:spcPct val="50000"/>
              </a:spcBef>
            </a:pPr>
            <a:r>
              <a:rPr lang="zh-CN" altLang="en-US" sz="2200">
                <a:solidFill>
                  <a:schemeClr val="bg1"/>
                </a:solidFill>
                <a:latin typeface="微软雅黑" pitchFamily="34" charset="-122"/>
                <a:ea typeface="微软雅黑" pitchFamily="34" charset="-122"/>
                <a:cs typeface="Consolas" pitchFamily="49" charset="0"/>
              </a:rPr>
              <a:t>为什么</a:t>
            </a:r>
            <a:r>
              <a:rPr lang="zh-CN" altLang="en-US" sz="2200">
                <a:solidFill>
                  <a:srgbClr val="FF0000"/>
                </a:solidFill>
                <a:latin typeface="微软雅黑" pitchFamily="34" charset="-122"/>
                <a:ea typeface="微软雅黑" pitchFamily="34" charset="-122"/>
              </a:rPr>
              <a:t>红线</a:t>
            </a:r>
            <a:r>
              <a:rPr lang="zh-CN" altLang="en-US" sz="2200">
                <a:solidFill>
                  <a:schemeClr val="bg1"/>
                </a:solidFill>
                <a:latin typeface="微软雅黑" pitchFamily="34" charset="-122"/>
                <a:ea typeface="微软雅黑" pitchFamily="34" charset="-122"/>
              </a:rPr>
              <a:t>边和</a:t>
            </a:r>
            <a:r>
              <a:rPr lang="zh-CN" altLang="en-US" sz="2200">
                <a:solidFill>
                  <a:srgbClr val="00B0F0"/>
                </a:solidFill>
                <a:latin typeface="微软雅黑" pitchFamily="34" charset="-122"/>
                <a:ea typeface="微软雅黑" pitchFamily="34" charset="-122"/>
              </a:rPr>
              <a:t>蓝线</a:t>
            </a:r>
            <a:r>
              <a:rPr lang="zh-CN" altLang="en-US" sz="2200">
                <a:solidFill>
                  <a:schemeClr val="bg1"/>
                </a:solidFill>
                <a:latin typeface="微软雅黑" pitchFamily="34" charset="-122"/>
                <a:ea typeface="微软雅黑" pitchFamily="34" charset="-122"/>
              </a:rPr>
              <a:t>边都仅仅转一圈</a:t>
            </a:r>
            <a:r>
              <a:rPr lang="zh-CN" altLang="en-US" sz="2200">
                <a:solidFill>
                  <a:schemeClr val="bg1"/>
                </a:solidFill>
                <a:latin typeface="微软雅黑" pitchFamily="34" charset="-122"/>
                <a:ea typeface="微软雅黑" pitchFamily="34" charset="-122"/>
                <a:cs typeface="Consolas" pitchFamily="49" charset="0"/>
              </a:rPr>
              <a:t>？</a:t>
            </a:r>
            <a:endParaRPr lang="zh-CN" altLang="en-US" sz="2200" dirty="0">
              <a:solidFill>
                <a:schemeClr val="bg1"/>
              </a:solidFill>
              <a:latin typeface="微软雅黑" pitchFamily="34" charset="-122"/>
              <a:ea typeface="微软雅黑" pitchFamily="34" charset="-122"/>
              <a:cs typeface="Consolas" pitchFamily="49" charset="0"/>
            </a:endParaRPr>
          </a:p>
        </p:txBody>
      </p:sp>
      <p:grpSp>
        <p:nvGrpSpPr>
          <p:cNvPr id="3" name="组合 2"/>
          <p:cNvGrpSpPr/>
          <p:nvPr/>
        </p:nvGrpSpPr>
        <p:grpSpPr>
          <a:xfrm>
            <a:off x="607379" y="285728"/>
            <a:ext cx="678473" cy="735963"/>
            <a:chOff x="535940" y="314960"/>
            <a:chExt cx="1021715" cy="1021715"/>
          </a:xfrm>
        </p:grpSpPr>
        <p:grpSp>
          <p:nvGrpSpPr>
            <p:cNvPr id="4" name="组合 24"/>
            <p:cNvGrpSpPr/>
            <p:nvPr/>
          </p:nvGrpSpPr>
          <p:grpSpPr>
            <a:xfrm>
              <a:off x="535940" y="314960"/>
              <a:ext cx="1021715" cy="1021715"/>
              <a:chOff x="304800" y="673100"/>
              <a:chExt cx="4000500" cy="4000500"/>
            </a:xfrm>
            <a:effectLst>
              <a:outerShdw blurRad="444500" dist="254000" dir="8100000" algn="tr" rotWithShape="0">
                <a:prstClr val="black">
                  <a:alpha val="50000"/>
                </a:prstClr>
              </a:outerShdw>
            </a:effectLst>
          </p:grpSpPr>
          <p:sp>
            <p:nvSpPr>
              <p:cNvPr id="6" name="同心圆 5"/>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a:endParaRPr lang="zh-CN" altLang="en-US" sz="2400">
                  <a:solidFill>
                    <a:srgbClr val="080808"/>
                  </a:solidFill>
                  <a:latin typeface="微软雅黑" panose="020B0503020204020204" charset="-122"/>
                  <a:ea typeface="微软雅黑" panose="020B0503020204020204" charset="-122"/>
                </a:endParaRPr>
              </a:p>
            </p:txBody>
          </p:sp>
          <p:sp>
            <p:nvSpPr>
              <p:cNvPr id="7" name="椭圆 6"/>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a:endParaRPr lang="zh-CN" altLang="en-US" sz="2400">
                  <a:solidFill>
                    <a:srgbClr val="080808"/>
                  </a:solidFill>
                  <a:latin typeface="微软雅黑" panose="020B0503020204020204" charset="-122"/>
                  <a:ea typeface="微软雅黑" panose="020B0503020204020204" charset="-122"/>
                </a:endParaRPr>
              </a:p>
            </p:txBody>
          </p:sp>
        </p:grpSp>
        <p:sp>
          <p:nvSpPr>
            <p:cNvPr id="5" name="TextBox 13"/>
            <p:cNvSpPr txBox="1"/>
            <p:nvPr/>
          </p:nvSpPr>
          <p:spPr>
            <a:xfrm>
              <a:off x="777875" y="543273"/>
              <a:ext cx="537846" cy="512732"/>
            </a:xfrm>
            <a:prstGeom prst="rect">
              <a:avLst/>
            </a:prstGeom>
            <a:noFill/>
          </p:spPr>
          <p:txBody>
            <a:bodyPr wrap="square" lIns="0" tIns="0" rIns="0" bIns="0" rtlCol="0">
              <a:spAutoFit/>
            </a:bodyPr>
            <a:lstStyle/>
            <a:p>
              <a:pPr algn="ctr"/>
              <a:r>
                <a:rPr lang="en-US" altLang="zh-CN">
                  <a:solidFill>
                    <a:srgbClr val="C00002"/>
                  </a:solidFill>
                  <a:latin typeface="微软雅黑" panose="020B0503020204020204" charset="-122"/>
                  <a:ea typeface="微软雅黑" panose="020B0503020204020204" charset="-122"/>
                </a:rPr>
                <a:t>4</a:t>
              </a:r>
              <a:endParaRPr lang="en-US" altLang="zh-CN" b="1" dirty="0">
                <a:solidFill>
                  <a:srgbClr val="C00002"/>
                </a:solidFill>
                <a:latin typeface="微软雅黑" panose="020B0503020204020204" charset="-122"/>
                <a:ea typeface="微软雅黑" panose="020B0503020204020204" charset="-122"/>
              </a:endParaRPr>
            </a:p>
          </p:txBody>
        </p:sp>
      </p:grpSp>
      <p:grpSp>
        <p:nvGrpSpPr>
          <p:cNvPr id="8" name="组合 7"/>
          <p:cNvGrpSpPr/>
          <p:nvPr/>
        </p:nvGrpSpPr>
        <p:grpSpPr>
          <a:xfrm>
            <a:off x="571472" y="1428736"/>
            <a:ext cx="7572428" cy="861774"/>
            <a:chOff x="571472" y="4714884"/>
            <a:chExt cx="7572428" cy="861774"/>
          </a:xfrm>
        </p:grpSpPr>
        <p:sp>
          <p:nvSpPr>
            <p:cNvPr id="9" name="TextBox 8"/>
            <p:cNvSpPr txBox="1"/>
            <p:nvPr/>
          </p:nvSpPr>
          <p:spPr>
            <a:xfrm>
              <a:off x="571472" y="4714884"/>
              <a:ext cx="4929222" cy="861774"/>
            </a:xfrm>
            <a:prstGeom prst="rect">
              <a:avLst/>
            </a:prstGeom>
            <a:noFill/>
          </p:spPr>
          <p:txBody>
            <a:bodyPr wrap="square" rtlCol="0">
              <a:spAutoFit/>
            </a:bodyPr>
            <a:lstStyle/>
            <a:p>
              <a:pPr marL="457200" indent="-457200">
                <a:lnSpc>
                  <a:spcPts val="3000"/>
                </a:lnSpc>
                <a:buBlip>
                  <a:blip r:embed="rId2"/>
                </a:buBlip>
              </a:pPr>
              <a:r>
                <a:rPr lang="zh-CN" altLang="en-US" sz="2000">
                  <a:solidFill>
                    <a:srgbClr val="FF0000"/>
                  </a:solidFill>
                  <a:latin typeface="Consolas" pitchFamily="49" charset="0"/>
                  <a:ea typeface="仿宋" pitchFamily="49" charset="-122"/>
                </a:rPr>
                <a:t>红线</a:t>
              </a:r>
              <a:r>
                <a:rPr lang="zh-CN" altLang="en-US" sz="2000">
                  <a:solidFill>
                    <a:srgbClr val="0000FF"/>
                  </a:solidFill>
                  <a:latin typeface="Consolas" pitchFamily="49" charset="0"/>
                  <a:ea typeface="仿宋" pitchFamily="49" charset="-122"/>
                </a:rPr>
                <a:t>指示当前处理的边</a:t>
              </a:r>
              <a:endParaRPr lang="en-US" altLang="zh-CN" sz="2000">
                <a:solidFill>
                  <a:srgbClr val="0000FF"/>
                </a:solidFill>
                <a:latin typeface="Consolas" pitchFamily="49" charset="0"/>
                <a:ea typeface="仿宋" pitchFamily="49" charset="-122"/>
              </a:endParaRPr>
            </a:p>
            <a:p>
              <a:pPr marL="457200" indent="-457200">
                <a:lnSpc>
                  <a:spcPts val="3000"/>
                </a:lnSpc>
                <a:buBlip>
                  <a:blip r:embed="rId2"/>
                </a:buBlip>
              </a:pPr>
              <a:r>
                <a:rPr lang="zh-CN" altLang="en-US" sz="2000">
                  <a:solidFill>
                    <a:srgbClr val="00B0F0"/>
                  </a:solidFill>
                  <a:latin typeface="Consolas" pitchFamily="49" charset="0"/>
                  <a:ea typeface="仿宋" pitchFamily="49" charset="-122"/>
                </a:rPr>
                <a:t>蓝线</a:t>
              </a:r>
              <a:r>
                <a:rPr lang="zh-CN" altLang="en-US" sz="2000">
                  <a:solidFill>
                    <a:srgbClr val="0000FF"/>
                  </a:solidFill>
                  <a:latin typeface="Consolas" pitchFamily="49" charset="0"/>
                  <a:ea typeface="仿宋" pitchFamily="49" charset="-122"/>
                </a:rPr>
                <a:t>表示离红线边最远的点所在的边</a:t>
              </a:r>
            </a:p>
          </p:txBody>
        </p:sp>
        <p:sp>
          <p:nvSpPr>
            <p:cNvPr id="10" name="TextBox 9"/>
            <p:cNvSpPr txBox="1"/>
            <p:nvPr/>
          </p:nvSpPr>
          <p:spPr>
            <a:xfrm>
              <a:off x="5929322" y="4857760"/>
              <a:ext cx="2214578" cy="400110"/>
            </a:xfrm>
            <a:prstGeom prst="rect">
              <a:avLst/>
            </a:prstGeom>
            <a:noFill/>
          </p:spPr>
          <p:txBody>
            <a:bodyPr wrap="square" rtlCol="0">
              <a:spAutoFit/>
            </a:bodyPr>
            <a:lstStyle/>
            <a:p>
              <a:r>
                <a:rPr lang="zh-CN" altLang="en-US" sz="2000">
                  <a:solidFill>
                    <a:srgbClr val="0000FF"/>
                  </a:solidFill>
                  <a:latin typeface="华文琥珀" pitchFamily="2" charset="-122"/>
                  <a:ea typeface="华文琥珀" pitchFamily="2" charset="-122"/>
                </a:rPr>
                <a:t>都仅仅转一圈？</a:t>
              </a:r>
            </a:p>
          </p:txBody>
        </p:sp>
        <p:sp>
          <p:nvSpPr>
            <p:cNvPr id="11" name="右大括号 10"/>
            <p:cNvSpPr/>
            <p:nvPr/>
          </p:nvSpPr>
          <p:spPr>
            <a:xfrm>
              <a:off x="5572132" y="4786322"/>
              <a:ext cx="214314" cy="642942"/>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grpSp>
        <p:nvGrpSpPr>
          <p:cNvPr id="12" name="组合 79"/>
          <p:cNvGrpSpPr/>
          <p:nvPr/>
        </p:nvGrpSpPr>
        <p:grpSpPr>
          <a:xfrm>
            <a:off x="233485" y="2866249"/>
            <a:ext cx="3052631" cy="2546633"/>
            <a:chOff x="233485" y="2866249"/>
            <a:chExt cx="3052631" cy="2546633"/>
          </a:xfrm>
        </p:grpSpPr>
        <p:sp>
          <p:nvSpPr>
            <p:cNvPr id="56" name="任意多边形 55"/>
            <p:cNvSpPr/>
            <p:nvPr/>
          </p:nvSpPr>
          <p:spPr>
            <a:xfrm>
              <a:off x="979462" y="3412618"/>
              <a:ext cx="1584000" cy="1580606"/>
            </a:xfrm>
            <a:custGeom>
              <a:avLst/>
              <a:gdLst>
                <a:gd name="connsiteX0" fmla="*/ 418011 w 1632857"/>
                <a:gd name="connsiteY0" fmla="*/ 1580606 h 1580606"/>
                <a:gd name="connsiteX1" fmla="*/ 1632857 w 1632857"/>
                <a:gd name="connsiteY1" fmla="*/ 1567543 h 1580606"/>
                <a:gd name="connsiteX2" fmla="*/ 1227908 w 1632857"/>
                <a:gd name="connsiteY2" fmla="*/ 13063 h 1580606"/>
                <a:gd name="connsiteX3" fmla="*/ 0 w 1632857"/>
                <a:gd name="connsiteY3" fmla="*/ 0 h 1580606"/>
                <a:gd name="connsiteX4" fmla="*/ 418011 w 1632857"/>
                <a:gd name="connsiteY4" fmla="*/ 1580606 h 1580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2857" h="1580606">
                  <a:moveTo>
                    <a:pt x="418011" y="1580606"/>
                  </a:moveTo>
                  <a:lnTo>
                    <a:pt x="1632857" y="1567543"/>
                  </a:lnTo>
                  <a:lnTo>
                    <a:pt x="1227908" y="13063"/>
                  </a:lnTo>
                  <a:lnTo>
                    <a:pt x="0" y="0"/>
                  </a:lnTo>
                  <a:lnTo>
                    <a:pt x="418011" y="1580606"/>
                  </a:lnTo>
                  <a:close/>
                </a:path>
              </a:pathLst>
            </a:custGeom>
            <a:solidFill>
              <a:srgbClr val="92D050"/>
            </a:solidFill>
            <a:ln w="38100">
              <a:solidFill>
                <a:srgbClr val="92D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TextBox 56"/>
            <p:cNvSpPr txBox="1"/>
            <p:nvPr/>
          </p:nvSpPr>
          <p:spPr>
            <a:xfrm>
              <a:off x="500034" y="3298260"/>
              <a:ext cx="571504" cy="400110"/>
            </a:xfrm>
            <a:prstGeom prst="rect">
              <a:avLst/>
            </a:prstGeom>
            <a:noFill/>
          </p:spPr>
          <p:txBody>
            <a:bodyPr wrap="square"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1</a:t>
              </a:r>
              <a:endParaRPr lang="zh-CN" altLang="en-US" sz="2000" baseline="-25000">
                <a:solidFill>
                  <a:srgbClr val="FF00FF"/>
                </a:solidFill>
                <a:latin typeface="Consolas" pitchFamily="49" charset="0"/>
                <a:cs typeface="Consolas" pitchFamily="49" charset="0"/>
              </a:endParaRPr>
            </a:p>
          </p:txBody>
        </p:sp>
        <p:sp>
          <p:nvSpPr>
            <p:cNvPr id="58" name="TextBox 57"/>
            <p:cNvSpPr txBox="1"/>
            <p:nvPr/>
          </p:nvSpPr>
          <p:spPr>
            <a:xfrm>
              <a:off x="1214414" y="3698370"/>
              <a:ext cx="571504" cy="400110"/>
            </a:xfrm>
            <a:prstGeom prst="rect">
              <a:avLst/>
            </a:prstGeom>
            <a:noFill/>
          </p:spPr>
          <p:txBody>
            <a:bodyPr wrap="square"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2</a:t>
              </a:r>
              <a:endParaRPr lang="zh-CN" altLang="en-US" sz="2000" baseline="-25000">
                <a:solidFill>
                  <a:srgbClr val="FF00FF"/>
                </a:solidFill>
                <a:latin typeface="Consolas" pitchFamily="49" charset="0"/>
                <a:cs typeface="Consolas" pitchFamily="49" charset="0"/>
              </a:endParaRPr>
            </a:p>
          </p:txBody>
        </p:sp>
        <p:cxnSp>
          <p:nvCxnSpPr>
            <p:cNvPr id="59" name="直接连接符 58"/>
            <p:cNvCxnSpPr>
              <a:stCxn id="61" idx="6"/>
              <a:endCxn id="63" idx="2"/>
            </p:cNvCxnSpPr>
            <p:nvPr/>
          </p:nvCxnSpPr>
          <p:spPr>
            <a:xfrm>
              <a:off x="1416028" y="4991321"/>
              <a:ext cx="1060408" cy="1124"/>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60" name="TextBox 59"/>
            <p:cNvSpPr txBox="1"/>
            <p:nvPr/>
          </p:nvSpPr>
          <p:spPr>
            <a:xfrm>
              <a:off x="1285852" y="5134759"/>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62" name="TextBox 61"/>
            <p:cNvSpPr txBox="1"/>
            <p:nvPr/>
          </p:nvSpPr>
          <p:spPr>
            <a:xfrm>
              <a:off x="2454260" y="5135883"/>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cxnSp>
          <p:nvCxnSpPr>
            <p:cNvPr id="64" name="直接连接符 63"/>
            <p:cNvCxnSpPr>
              <a:stCxn id="63" idx="7"/>
              <a:endCxn id="66" idx="4"/>
            </p:cNvCxnSpPr>
            <p:nvPr/>
          </p:nvCxnSpPr>
          <p:spPr>
            <a:xfrm rot="5400000" flipH="1" flipV="1">
              <a:off x="2358570" y="4379139"/>
              <a:ext cx="772444" cy="352344"/>
            </a:xfrm>
            <a:prstGeom prst="line">
              <a:avLst/>
            </a:prstGeom>
          </p:spPr>
          <p:style>
            <a:lnRef idx="2">
              <a:schemeClr val="dk1"/>
            </a:lnRef>
            <a:fillRef idx="0">
              <a:schemeClr val="dk1"/>
            </a:fillRef>
            <a:effectRef idx="1">
              <a:schemeClr val="dk1"/>
            </a:effectRef>
            <a:fontRef idx="minor">
              <a:schemeClr val="tx1"/>
            </a:fontRef>
          </p:style>
        </p:cxnSp>
        <p:sp>
          <p:nvSpPr>
            <p:cNvPr id="65" name="TextBox 64"/>
            <p:cNvSpPr txBox="1"/>
            <p:nvPr/>
          </p:nvSpPr>
          <p:spPr>
            <a:xfrm>
              <a:off x="3000364" y="3991751"/>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sp>
          <p:nvSpPr>
            <p:cNvPr id="66" name="椭圆 65"/>
            <p:cNvSpPr/>
            <p:nvPr/>
          </p:nvSpPr>
          <p:spPr>
            <a:xfrm>
              <a:off x="2866964" y="4025089"/>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7" name="直接连接符 66"/>
            <p:cNvCxnSpPr>
              <a:stCxn id="66" idx="1"/>
              <a:endCxn id="69" idx="5"/>
            </p:cNvCxnSpPr>
            <p:nvPr/>
          </p:nvCxnSpPr>
          <p:spPr>
            <a:xfrm rot="16200000" flipV="1">
              <a:off x="2236473" y="3399870"/>
              <a:ext cx="616503" cy="676112"/>
            </a:xfrm>
            <a:prstGeom prst="line">
              <a:avLst/>
            </a:prstGeom>
          </p:spPr>
          <p:style>
            <a:lnRef idx="2">
              <a:schemeClr val="dk1"/>
            </a:lnRef>
            <a:fillRef idx="0">
              <a:schemeClr val="dk1"/>
            </a:fillRef>
            <a:effectRef idx="1">
              <a:schemeClr val="dk1"/>
            </a:effectRef>
            <a:fontRef idx="minor">
              <a:schemeClr val="tx1"/>
            </a:fontRef>
          </p:style>
        </p:cxnSp>
        <p:sp>
          <p:nvSpPr>
            <p:cNvPr id="68" name="TextBox 67"/>
            <p:cNvSpPr txBox="1"/>
            <p:nvPr/>
          </p:nvSpPr>
          <p:spPr>
            <a:xfrm>
              <a:off x="2214546" y="3009125"/>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sp>
          <p:nvSpPr>
            <p:cNvPr id="69" name="椭圆 68"/>
            <p:cNvSpPr/>
            <p:nvPr/>
          </p:nvSpPr>
          <p:spPr>
            <a:xfrm>
              <a:off x="2114484" y="3306762"/>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0" name="直接连接符 69"/>
            <p:cNvCxnSpPr>
              <a:stCxn id="61" idx="1"/>
              <a:endCxn id="76" idx="4"/>
            </p:cNvCxnSpPr>
            <p:nvPr/>
          </p:nvCxnSpPr>
          <p:spPr>
            <a:xfrm rot="16200000" flipV="1">
              <a:off x="797370" y="4413935"/>
              <a:ext cx="602229" cy="450720"/>
            </a:xfrm>
            <a:prstGeom prst="line">
              <a:avLst/>
            </a:prstGeom>
          </p:spPr>
          <p:style>
            <a:lnRef idx="2">
              <a:schemeClr val="dk1"/>
            </a:lnRef>
            <a:fillRef idx="0">
              <a:schemeClr val="dk1"/>
            </a:fillRef>
            <a:effectRef idx="1">
              <a:schemeClr val="dk1"/>
            </a:effectRef>
            <a:fontRef idx="minor">
              <a:schemeClr val="tx1"/>
            </a:fontRef>
          </p:style>
        </p:cxnSp>
        <p:cxnSp>
          <p:nvCxnSpPr>
            <p:cNvPr id="71" name="直接连接符 70"/>
            <p:cNvCxnSpPr>
              <a:stCxn id="69" idx="2"/>
              <a:endCxn id="74" idx="6"/>
            </p:cNvCxnSpPr>
            <p:nvPr/>
          </p:nvCxnSpPr>
          <p:spPr>
            <a:xfrm rot="10800000">
              <a:off x="1419252" y="3287458"/>
              <a:ext cx="695232" cy="91305"/>
            </a:xfrm>
            <a:prstGeom prst="line">
              <a:avLst/>
            </a:prstGeom>
          </p:spPr>
          <p:style>
            <a:lnRef idx="2">
              <a:schemeClr val="dk1"/>
            </a:lnRef>
            <a:fillRef idx="0">
              <a:schemeClr val="dk1"/>
            </a:fillRef>
            <a:effectRef idx="1">
              <a:schemeClr val="dk1"/>
            </a:effectRef>
            <a:fontRef idx="minor">
              <a:schemeClr val="tx1"/>
            </a:fontRef>
          </p:style>
        </p:cxnSp>
        <p:cxnSp>
          <p:nvCxnSpPr>
            <p:cNvPr id="72" name="直接连接符 71"/>
            <p:cNvCxnSpPr>
              <a:stCxn id="74" idx="3"/>
              <a:endCxn id="76" idx="0"/>
            </p:cNvCxnSpPr>
            <p:nvPr/>
          </p:nvCxnSpPr>
          <p:spPr>
            <a:xfrm rot="5400000">
              <a:off x="672191" y="3539302"/>
              <a:ext cx="855811" cy="453944"/>
            </a:xfrm>
            <a:prstGeom prst="line">
              <a:avLst/>
            </a:prstGeom>
            <a:ln w="38100">
              <a:solidFill>
                <a:srgbClr val="00B0F0"/>
              </a:solidFill>
            </a:ln>
          </p:spPr>
          <p:style>
            <a:lnRef idx="2">
              <a:schemeClr val="dk1"/>
            </a:lnRef>
            <a:fillRef idx="0">
              <a:schemeClr val="dk1"/>
            </a:fillRef>
            <a:effectRef idx="1">
              <a:schemeClr val="dk1"/>
            </a:effectRef>
            <a:fontRef idx="minor">
              <a:schemeClr val="tx1"/>
            </a:fontRef>
          </p:style>
        </p:cxnSp>
        <p:sp>
          <p:nvSpPr>
            <p:cNvPr id="73" name="TextBox 72"/>
            <p:cNvSpPr txBox="1"/>
            <p:nvPr/>
          </p:nvSpPr>
          <p:spPr>
            <a:xfrm>
              <a:off x="1214414" y="2866249"/>
              <a:ext cx="285752"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4</a:t>
              </a:r>
              <a:endParaRPr lang="zh-CN" altLang="en-US" sz="1800" baseline="-25000">
                <a:solidFill>
                  <a:srgbClr val="FF0000"/>
                </a:solidFill>
                <a:latin typeface="Consolas" pitchFamily="49" charset="0"/>
                <a:cs typeface="Consolas" pitchFamily="49" charset="0"/>
              </a:endParaRPr>
            </a:p>
          </p:txBody>
        </p:sp>
        <p:sp>
          <p:nvSpPr>
            <p:cNvPr id="75" name="TextBox 74"/>
            <p:cNvSpPr txBox="1"/>
            <p:nvPr/>
          </p:nvSpPr>
          <p:spPr>
            <a:xfrm>
              <a:off x="500034" y="4110042"/>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cxnSp>
          <p:nvCxnSpPr>
            <p:cNvPr id="77" name="直接连接符 76"/>
            <p:cNvCxnSpPr/>
            <p:nvPr/>
          </p:nvCxnSpPr>
          <p:spPr>
            <a:xfrm>
              <a:off x="844978" y="4987936"/>
              <a:ext cx="2160000" cy="1124"/>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sp>
          <p:nvSpPr>
            <p:cNvPr id="78" name="任意多边形 77"/>
            <p:cNvSpPr/>
            <p:nvPr/>
          </p:nvSpPr>
          <p:spPr>
            <a:xfrm>
              <a:off x="233485" y="3259549"/>
              <a:ext cx="2338251" cy="1737360"/>
            </a:xfrm>
            <a:custGeom>
              <a:avLst/>
              <a:gdLst>
                <a:gd name="connsiteX0" fmla="*/ 1123405 w 2338251"/>
                <a:gd name="connsiteY0" fmla="*/ 1724297 h 1737360"/>
                <a:gd name="connsiteX1" fmla="*/ 2338251 w 2338251"/>
                <a:gd name="connsiteY1" fmla="*/ 1737360 h 1737360"/>
                <a:gd name="connsiteX2" fmla="*/ 1110342 w 2338251"/>
                <a:gd name="connsiteY2" fmla="*/ 26126 h 1737360"/>
                <a:gd name="connsiteX3" fmla="*/ 0 w 2338251"/>
                <a:gd name="connsiteY3" fmla="*/ 0 h 1737360"/>
                <a:gd name="connsiteX4" fmla="*/ 1123405 w 2338251"/>
                <a:gd name="connsiteY4" fmla="*/ 1724297 h 173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8251" h="1737360">
                  <a:moveTo>
                    <a:pt x="1123405" y="1724297"/>
                  </a:moveTo>
                  <a:lnTo>
                    <a:pt x="2338251" y="1737360"/>
                  </a:lnTo>
                  <a:lnTo>
                    <a:pt x="1110342" y="26126"/>
                  </a:lnTo>
                  <a:lnTo>
                    <a:pt x="0" y="0"/>
                  </a:lnTo>
                  <a:lnTo>
                    <a:pt x="1123405" y="1724297"/>
                  </a:lnTo>
                  <a:close/>
                </a:path>
              </a:pathLst>
            </a:cu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2476436" y="4920445"/>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1308028" y="4919321"/>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819124" y="4194180"/>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311252" y="3215457"/>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90"/>
          <p:cNvGrpSpPr/>
          <p:nvPr/>
        </p:nvGrpSpPr>
        <p:grpSpPr>
          <a:xfrm>
            <a:off x="1390628" y="3349145"/>
            <a:ext cx="1152000" cy="1584000"/>
            <a:chOff x="1390628" y="3349145"/>
            <a:chExt cx="1152000" cy="1584000"/>
          </a:xfrm>
        </p:grpSpPr>
        <p:cxnSp>
          <p:nvCxnSpPr>
            <p:cNvPr id="83" name="直接连接符 82"/>
            <p:cNvCxnSpPr/>
            <p:nvPr/>
          </p:nvCxnSpPr>
          <p:spPr>
            <a:xfrm rot="16200000" flipH="1">
              <a:off x="1174628" y="3565145"/>
              <a:ext cx="1584000" cy="1152000"/>
            </a:xfrm>
            <a:prstGeom prst="line">
              <a:avLst/>
            </a:prstGeom>
            <a:ln w="38100">
              <a:solidFill>
                <a:srgbClr val="9900FF"/>
              </a:solidFill>
            </a:ln>
          </p:spPr>
          <p:style>
            <a:lnRef idx="2">
              <a:schemeClr val="dk1"/>
            </a:lnRef>
            <a:fillRef idx="0">
              <a:schemeClr val="dk1"/>
            </a:fillRef>
            <a:effectRef idx="1">
              <a:schemeClr val="dk1"/>
            </a:effectRef>
            <a:fontRef idx="minor">
              <a:schemeClr val="tx1"/>
            </a:fontRef>
          </p:style>
        </p:cxnSp>
        <p:cxnSp>
          <p:nvCxnSpPr>
            <p:cNvPr id="87" name="直接连接符 86"/>
            <p:cNvCxnSpPr>
              <a:stCxn id="69" idx="4"/>
              <a:endCxn id="63" idx="0"/>
            </p:cNvCxnSpPr>
            <p:nvPr/>
          </p:nvCxnSpPr>
          <p:spPr>
            <a:xfrm rot="16200000" flipH="1">
              <a:off x="1614619" y="4004627"/>
              <a:ext cx="1469683" cy="361952"/>
            </a:xfrm>
            <a:prstGeom prst="line">
              <a:avLst/>
            </a:prstGeom>
            <a:ln w="38100">
              <a:solidFill>
                <a:srgbClr val="9900FF"/>
              </a:solidFill>
            </a:ln>
          </p:spPr>
          <p:style>
            <a:lnRef idx="2">
              <a:schemeClr val="dk1"/>
            </a:lnRef>
            <a:fillRef idx="0">
              <a:schemeClr val="dk1"/>
            </a:fillRef>
            <a:effectRef idx="1">
              <a:schemeClr val="dk1"/>
            </a:effectRef>
            <a:fontRef idx="minor">
              <a:schemeClr val="tx1"/>
            </a:fontRef>
          </p:style>
        </p:cxnSp>
        <p:sp>
          <p:nvSpPr>
            <p:cNvPr id="89" name="TextBox 88"/>
            <p:cNvSpPr txBox="1"/>
            <p:nvPr/>
          </p:nvSpPr>
          <p:spPr>
            <a:xfrm>
              <a:off x="1785918" y="4121355"/>
              <a:ext cx="285752" cy="307777"/>
            </a:xfrm>
            <a:prstGeom prst="rect">
              <a:avLst/>
            </a:prstGeom>
            <a:noFill/>
          </p:spPr>
          <p:txBody>
            <a:bodyPr wrap="square" lIns="0" tIns="0" rIns="0" bIns="0" rtlCol="0">
              <a:spAutoFit/>
            </a:bodyPr>
            <a:lstStyle/>
            <a:p>
              <a:r>
                <a:rPr lang="en-US" altLang="zh-CN" sz="2000" i="1">
                  <a:solidFill>
                    <a:srgbClr val="0000FF"/>
                  </a:solidFill>
                  <a:latin typeface="Consolas" pitchFamily="49" charset="0"/>
                  <a:cs typeface="Consolas" pitchFamily="49" charset="0"/>
                </a:rPr>
                <a:t>b</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90" name="TextBox 89"/>
            <p:cNvSpPr txBox="1"/>
            <p:nvPr/>
          </p:nvSpPr>
          <p:spPr>
            <a:xfrm>
              <a:off x="2012932" y="3697290"/>
              <a:ext cx="285752" cy="307777"/>
            </a:xfrm>
            <a:prstGeom prst="rect">
              <a:avLst/>
            </a:prstGeom>
            <a:noFill/>
          </p:spPr>
          <p:txBody>
            <a:bodyPr wrap="square" lIns="0" tIns="0" rIns="0" bIns="0" rtlCol="0">
              <a:spAutoFit/>
            </a:bodyPr>
            <a:lstStyle/>
            <a:p>
              <a:r>
                <a:rPr lang="en-US" altLang="zh-CN" sz="2000" i="1">
                  <a:solidFill>
                    <a:srgbClr val="0000FF"/>
                  </a:solidFill>
                  <a:latin typeface="Consolas" pitchFamily="49" charset="0"/>
                  <a:cs typeface="Consolas" pitchFamily="49" charset="0"/>
                </a:rPr>
                <a:t>b</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grpSp>
      <p:grpSp>
        <p:nvGrpSpPr>
          <p:cNvPr id="14" name="组合 138"/>
          <p:cNvGrpSpPr/>
          <p:nvPr/>
        </p:nvGrpSpPr>
        <p:grpSpPr>
          <a:xfrm>
            <a:off x="714348" y="5672096"/>
            <a:ext cx="2286016" cy="400110"/>
            <a:chOff x="714348" y="5672096"/>
            <a:chExt cx="2286016" cy="400110"/>
          </a:xfrm>
        </p:grpSpPr>
        <p:sp>
          <p:nvSpPr>
            <p:cNvPr id="81" name="TextBox 80"/>
            <p:cNvSpPr txBox="1"/>
            <p:nvPr/>
          </p:nvSpPr>
          <p:spPr>
            <a:xfrm>
              <a:off x="714348" y="5672096"/>
              <a:ext cx="928694"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S</a:t>
              </a:r>
              <a:r>
                <a:rPr lang="en-US" altLang="zh-CN" sz="2000" baseline="-25000">
                  <a:solidFill>
                    <a:srgbClr val="0000FF"/>
                  </a:solidFill>
                  <a:latin typeface="Consolas" pitchFamily="49" charset="0"/>
                  <a:cs typeface="Consolas" pitchFamily="49" charset="0"/>
                </a:rPr>
                <a:t>1</a:t>
              </a:r>
              <a:r>
                <a:rPr lang="en-US" altLang="zh-CN" sz="2000">
                  <a:solidFill>
                    <a:srgbClr val="0000FF"/>
                  </a:solidFill>
                  <a:latin typeface="Consolas" pitchFamily="49" charset="0"/>
                  <a:cs typeface="Consolas" pitchFamily="49" charset="0"/>
                </a:rPr>
                <a:t>&gt;</a:t>
              </a:r>
              <a:r>
                <a:rPr lang="en-US" altLang="zh-CN" sz="2000" i="1">
                  <a:solidFill>
                    <a:srgbClr val="0000FF"/>
                  </a:solidFill>
                  <a:latin typeface="Consolas" pitchFamily="49" charset="0"/>
                  <a:cs typeface="Consolas" pitchFamily="49" charset="0"/>
                </a:rPr>
                <a:t>S</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92" name="TextBox 91"/>
            <p:cNvSpPr txBox="1"/>
            <p:nvPr/>
          </p:nvSpPr>
          <p:spPr>
            <a:xfrm>
              <a:off x="2071670" y="5672096"/>
              <a:ext cx="928694"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b</a:t>
              </a:r>
              <a:r>
                <a:rPr lang="en-US" altLang="zh-CN" sz="2000" baseline="-25000">
                  <a:solidFill>
                    <a:srgbClr val="0000FF"/>
                  </a:solidFill>
                  <a:latin typeface="Consolas" pitchFamily="49" charset="0"/>
                  <a:cs typeface="Consolas" pitchFamily="49" charset="0"/>
                </a:rPr>
                <a:t>1</a:t>
              </a:r>
              <a:r>
                <a:rPr lang="en-US" altLang="zh-CN" sz="2000">
                  <a:solidFill>
                    <a:srgbClr val="0000FF"/>
                  </a:solidFill>
                  <a:latin typeface="Consolas" pitchFamily="49" charset="0"/>
                  <a:cs typeface="Consolas" pitchFamily="49" charset="0"/>
                </a:rPr>
                <a:t>&gt;</a:t>
              </a:r>
              <a:r>
                <a:rPr lang="en-US" altLang="zh-CN" sz="2000" i="1">
                  <a:solidFill>
                    <a:srgbClr val="0000FF"/>
                  </a:solidFill>
                  <a:latin typeface="Consolas" pitchFamily="49" charset="0"/>
                  <a:cs typeface="Consolas" pitchFamily="49" charset="0"/>
                </a:rPr>
                <a:t>b</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93" name="右箭头 92"/>
            <p:cNvSpPr/>
            <p:nvPr/>
          </p:nvSpPr>
          <p:spPr>
            <a:xfrm>
              <a:off x="1571604" y="5786454"/>
              <a:ext cx="428628" cy="214314"/>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grpSp>
      <p:grpSp>
        <p:nvGrpSpPr>
          <p:cNvPr id="15" name="组合 131"/>
          <p:cNvGrpSpPr/>
          <p:nvPr/>
        </p:nvGrpSpPr>
        <p:grpSpPr>
          <a:xfrm>
            <a:off x="3786182" y="2857496"/>
            <a:ext cx="2786082" cy="2597169"/>
            <a:chOff x="4357686" y="2857496"/>
            <a:chExt cx="2786082" cy="2597169"/>
          </a:xfrm>
        </p:grpSpPr>
        <p:sp>
          <p:nvSpPr>
            <p:cNvPr id="96" name="TextBox 95"/>
            <p:cNvSpPr txBox="1"/>
            <p:nvPr/>
          </p:nvSpPr>
          <p:spPr>
            <a:xfrm>
              <a:off x="5000628" y="3643314"/>
              <a:ext cx="571504" cy="400110"/>
            </a:xfrm>
            <a:prstGeom prst="rect">
              <a:avLst/>
            </a:prstGeom>
            <a:noFill/>
          </p:spPr>
          <p:txBody>
            <a:bodyPr wrap="square"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1</a:t>
              </a:r>
              <a:endParaRPr lang="zh-CN" altLang="en-US" sz="2000" baseline="-25000">
                <a:solidFill>
                  <a:srgbClr val="FF00FF"/>
                </a:solidFill>
                <a:latin typeface="Consolas" pitchFamily="49" charset="0"/>
                <a:cs typeface="Consolas" pitchFamily="49" charset="0"/>
              </a:endParaRPr>
            </a:p>
          </p:txBody>
        </p:sp>
        <p:cxnSp>
          <p:nvCxnSpPr>
            <p:cNvPr id="98" name="直接连接符 97"/>
            <p:cNvCxnSpPr>
              <a:stCxn id="115" idx="6"/>
              <a:endCxn id="114" idx="2"/>
            </p:cNvCxnSpPr>
            <p:nvPr/>
          </p:nvCxnSpPr>
          <p:spPr>
            <a:xfrm>
              <a:off x="5273680" y="4982568"/>
              <a:ext cx="1060408" cy="1124"/>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sp>
          <p:nvSpPr>
            <p:cNvPr id="99" name="TextBox 98"/>
            <p:cNvSpPr txBox="1"/>
            <p:nvPr/>
          </p:nvSpPr>
          <p:spPr>
            <a:xfrm>
              <a:off x="5143504" y="5126006"/>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0</a:t>
              </a:r>
              <a:endParaRPr lang="zh-CN" altLang="en-US" sz="1800" baseline="-25000">
                <a:solidFill>
                  <a:srgbClr val="0000FF"/>
                </a:solidFill>
                <a:latin typeface="Consolas" pitchFamily="49" charset="0"/>
                <a:cs typeface="Consolas" pitchFamily="49" charset="0"/>
              </a:endParaRPr>
            </a:p>
          </p:txBody>
        </p:sp>
        <p:sp>
          <p:nvSpPr>
            <p:cNvPr id="100" name="TextBox 99"/>
            <p:cNvSpPr txBox="1"/>
            <p:nvPr/>
          </p:nvSpPr>
          <p:spPr>
            <a:xfrm>
              <a:off x="6311912" y="5127130"/>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cs typeface="Consolas" pitchFamily="49" charset="0"/>
              </a:endParaRPr>
            </a:p>
          </p:txBody>
        </p:sp>
        <p:cxnSp>
          <p:nvCxnSpPr>
            <p:cNvPr id="101" name="直接连接符 100"/>
            <p:cNvCxnSpPr>
              <a:stCxn id="114" idx="7"/>
              <a:endCxn id="103" idx="4"/>
            </p:cNvCxnSpPr>
            <p:nvPr/>
          </p:nvCxnSpPr>
          <p:spPr>
            <a:xfrm rot="5400000" flipH="1" flipV="1">
              <a:off x="6216222" y="4370386"/>
              <a:ext cx="772444" cy="352344"/>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02" name="TextBox 101"/>
            <p:cNvSpPr txBox="1"/>
            <p:nvPr/>
          </p:nvSpPr>
          <p:spPr>
            <a:xfrm>
              <a:off x="6858016" y="3982998"/>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2</a:t>
              </a:r>
              <a:endParaRPr lang="zh-CN" altLang="en-US" sz="1800" baseline="-25000">
                <a:solidFill>
                  <a:srgbClr val="0000FF"/>
                </a:solidFill>
                <a:latin typeface="Consolas" pitchFamily="49" charset="0"/>
                <a:cs typeface="Consolas" pitchFamily="49" charset="0"/>
              </a:endParaRPr>
            </a:p>
          </p:txBody>
        </p:sp>
        <p:cxnSp>
          <p:nvCxnSpPr>
            <p:cNvPr id="104" name="直接连接符 103"/>
            <p:cNvCxnSpPr>
              <a:stCxn id="103" idx="1"/>
              <a:endCxn id="106" idx="5"/>
            </p:cNvCxnSpPr>
            <p:nvPr/>
          </p:nvCxnSpPr>
          <p:spPr>
            <a:xfrm rot="16200000" flipV="1">
              <a:off x="6094125" y="3391117"/>
              <a:ext cx="616503" cy="676112"/>
            </a:xfrm>
            <a:prstGeom prst="line">
              <a:avLst/>
            </a:prstGeom>
          </p:spPr>
          <p:style>
            <a:lnRef idx="2">
              <a:schemeClr val="dk1"/>
            </a:lnRef>
            <a:fillRef idx="0">
              <a:schemeClr val="dk1"/>
            </a:fillRef>
            <a:effectRef idx="1">
              <a:schemeClr val="dk1"/>
            </a:effectRef>
            <a:fontRef idx="minor">
              <a:schemeClr val="tx1"/>
            </a:fontRef>
          </p:style>
        </p:cxnSp>
        <p:sp>
          <p:nvSpPr>
            <p:cNvPr id="105" name="TextBox 104"/>
            <p:cNvSpPr txBox="1"/>
            <p:nvPr/>
          </p:nvSpPr>
          <p:spPr>
            <a:xfrm>
              <a:off x="6072198" y="3009125"/>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3</a:t>
              </a:r>
              <a:endParaRPr lang="zh-CN" altLang="en-US" sz="1800" baseline="-25000">
                <a:solidFill>
                  <a:srgbClr val="0000FF"/>
                </a:solidFill>
                <a:latin typeface="Consolas" pitchFamily="49" charset="0"/>
                <a:cs typeface="Consolas" pitchFamily="49" charset="0"/>
              </a:endParaRPr>
            </a:p>
          </p:txBody>
        </p:sp>
        <p:cxnSp>
          <p:nvCxnSpPr>
            <p:cNvPr id="107" name="直接连接符 106"/>
            <p:cNvCxnSpPr>
              <a:stCxn id="115" idx="1"/>
              <a:endCxn id="116" idx="4"/>
            </p:cNvCxnSpPr>
            <p:nvPr/>
          </p:nvCxnSpPr>
          <p:spPr>
            <a:xfrm rot="16200000" flipV="1">
              <a:off x="4655022" y="4405182"/>
              <a:ext cx="602229" cy="450720"/>
            </a:xfrm>
            <a:prstGeom prst="line">
              <a:avLst/>
            </a:prstGeom>
          </p:spPr>
          <p:style>
            <a:lnRef idx="2">
              <a:schemeClr val="dk1"/>
            </a:lnRef>
            <a:fillRef idx="0">
              <a:schemeClr val="dk1"/>
            </a:fillRef>
            <a:effectRef idx="1">
              <a:schemeClr val="dk1"/>
            </a:effectRef>
            <a:fontRef idx="minor">
              <a:schemeClr val="tx1"/>
            </a:fontRef>
          </p:style>
        </p:cxnSp>
        <p:cxnSp>
          <p:nvCxnSpPr>
            <p:cNvPr id="108" name="直接连接符 107"/>
            <p:cNvCxnSpPr>
              <a:stCxn id="106" idx="2"/>
              <a:endCxn id="117" idx="6"/>
            </p:cNvCxnSpPr>
            <p:nvPr/>
          </p:nvCxnSpPr>
          <p:spPr>
            <a:xfrm rot="10800000">
              <a:off x="5276904" y="3278705"/>
              <a:ext cx="695232" cy="91305"/>
            </a:xfrm>
            <a:prstGeom prst="line">
              <a:avLst/>
            </a:prstGeom>
          </p:spPr>
          <p:style>
            <a:lnRef idx="2">
              <a:schemeClr val="dk1"/>
            </a:lnRef>
            <a:fillRef idx="0">
              <a:schemeClr val="dk1"/>
            </a:fillRef>
            <a:effectRef idx="1">
              <a:schemeClr val="dk1"/>
            </a:effectRef>
            <a:fontRef idx="minor">
              <a:schemeClr val="tx1"/>
            </a:fontRef>
          </p:style>
        </p:cxnSp>
        <p:cxnSp>
          <p:nvCxnSpPr>
            <p:cNvPr id="109" name="直接连接符 108"/>
            <p:cNvCxnSpPr>
              <a:stCxn id="117" idx="3"/>
              <a:endCxn id="116" idx="0"/>
            </p:cNvCxnSpPr>
            <p:nvPr/>
          </p:nvCxnSpPr>
          <p:spPr>
            <a:xfrm rot="5400000">
              <a:off x="4529843" y="3530549"/>
              <a:ext cx="855811" cy="453944"/>
            </a:xfrm>
            <a:prstGeom prst="line">
              <a:avLst/>
            </a:prstGeom>
            <a:ln w="38100">
              <a:solidFill>
                <a:srgbClr val="00B0F0"/>
              </a:solidFill>
            </a:ln>
          </p:spPr>
          <p:style>
            <a:lnRef idx="2">
              <a:schemeClr val="dk1"/>
            </a:lnRef>
            <a:fillRef idx="0">
              <a:schemeClr val="dk1"/>
            </a:fillRef>
            <a:effectRef idx="1">
              <a:schemeClr val="dk1"/>
            </a:effectRef>
            <a:fontRef idx="minor">
              <a:schemeClr val="tx1"/>
            </a:fontRef>
          </p:style>
        </p:cxnSp>
        <p:sp>
          <p:nvSpPr>
            <p:cNvPr id="110" name="TextBox 109"/>
            <p:cNvSpPr txBox="1"/>
            <p:nvPr/>
          </p:nvSpPr>
          <p:spPr>
            <a:xfrm>
              <a:off x="5072066" y="2857496"/>
              <a:ext cx="285752" cy="276999"/>
            </a:xfrm>
            <a:prstGeom prst="rect">
              <a:avLst/>
            </a:prstGeom>
            <a:noFill/>
          </p:spPr>
          <p:txBody>
            <a:bodyPr wrap="square" lIns="0" tIns="0" rIns="0" bIns="0" rtlCol="0">
              <a:spAutoFit/>
            </a:bodyPr>
            <a:lstStyle/>
            <a:p>
              <a:r>
                <a:rPr lang="en-US" altLang="zh-CN" sz="1800" i="1">
                  <a:solidFill>
                    <a:srgbClr val="FF0000"/>
                  </a:solidFill>
                  <a:latin typeface="Consolas" pitchFamily="49" charset="0"/>
                  <a:cs typeface="Consolas" pitchFamily="49" charset="0"/>
                </a:rPr>
                <a:t>a</a:t>
              </a:r>
              <a:r>
                <a:rPr lang="en-US" altLang="zh-CN" sz="1800" baseline="-25000">
                  <a:solidFill>
                    <a:srgbClr val="FF0000"/>
                  </a:solidFill>
                  <a:latin typeface="Consolas" pitchFamily="49" charset="0"/>
                  <a:cs typeface="Consolas" pitchFamily="49" charset="0"/>
                </a:rPr>
                <a:t>4</a:t>
              </a:r>
              <a:endParaRPr lang="zh-CN" altLang="en-US" sz="1800" baseline="-25000">
                <a:solidFill>
                  <a:srgbClr val="FF0000"/>
                </a:solidFill>
                <a:latin typeface="Consolas" pitchFamily="49" charset="0"/>
                <a:cs typeface="Consolas" pitchFamily="49" charset="0"/>
              </a:endParaRPr>
            </a:p>
          </p:txBody>
        </p:sp>
        <p:sp>
          <p:nvSpPr>
            <p:cNvPr id="111" name="TextBox 110"/>
            <p:cNvSpPr txBox="1"/>
            <p:nvPr/>
          </p:nvSpPr>
          <p:spPr>
            <a:xfrm>
              <a:off x="4357686" y="4101289"/>
              <a:ext cx="285752" cy="2769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a</a:t>
              </a:r>
              <a:r>
                <a:rPr lang="en-US" altLang="zh-CN" sz="1800" baseline="-25000">
                  <a:solidFill>
                    <a:srgbClr val="0000FF"/>
                  </a:solidFill>
                  <a:latin typeface="Consolas" pitchFamily="49" charset="0"/>
                  <a:cs typeface="Consolas" pitchFamily="49" charset="0"/>
                </a:rPr>
                <a:t>5</a:t>
              </a:r>
              <a:endParaRPr lang="zh-CN" altLang="en-US" sz="1800" baseline="-25000">
                <a:solidFill>
                  <a:srgbClr val="0000FF"/>
                </a:solidFill>
                <a:latin typeface="Consolas" pitchFamily="49" charset="0"/>
                <a:cs typeface="Consolas" pitchFamily="49" charset="0"/>
              </a:endParaRPr>
            </a:p>
          </p:txBody>
        </p:sp>
        <p:cxnSp>
          <p:nvCxnSpPr>
            <p:cNvPr id="112" name="直接连接符 111"/>
            <p:cNvCxnSpPr/>
            <p:nvPr/>
          </p:nvCxnSpPr>
          <p:spPr>
            <a:xfrm rot="5400000" flipH="1" flipV="1">
              <a:off x="5679290" y="4133061"/>
              <a:ext cx="1811351" cy="831858"/>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sp>
          <p:nvSpPr>
            <p:cNvPr id="115" name="椭圆 114"/>
            <p:cNvSpPr/>
            <p:nvPr/>
          </p:nvSpPr>
          <p:spPr>
            <a:xfrm>
              <a:off x="5165680" y="4910568"/>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p:nvPr/>
          </p:nvSpPr>
          <p:spPr>
            <a:xfrm>
              <a:off x="4676776" y="4185427"/>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任意多边形 127"/>
            <p:cNvSpPr/>
            <p:nvPr/>
          </p:nvSpPr>
          <p:spPr>
            <a:xfrm>
              <a:off x="5656270" y="3319462"/>
              <a:ext cx="1116000" cy="1584000"/>
            </a:xfrm>
            <a:custGeom>
              <a:avLst/>
              <a:gdLst>
                <a:gd name="connsiteX0" fmla="*/ 368300 w 1155700"/>
                <a:gd name="connsiteY0" fmla="*/ 0 h 1625600"/>
                <a:gd name="connsiteX1" fmla="*/ 0 w 1155700"/>
                <a:gd name="connsiteY1" fmla="*/ 825500 h 1625600"/>
                <a:gd name="connsiteX2" fmla="*/ 762000 w 1155700"/>
                <a:gd name="connsiteY2" fmla="*/ 1625600 h 1625600"/>
                <a:gd name="connsiteX3" fmla="*/ 1155700 w 1155700"/>
                <a:gd name="connsiteY3" fmla="*/ 762000 h 1625600"/>
                <a:gd name="connsiteX4" fmla="*/ 368300 w 1155700"/>
                <a:gd name="connsiteY4" fmla="*/ 50800 h 162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700" h="1625600">
                  <a:moveTo>
                    <a:pt x="368300" y="0"/>
                  </a:moveTo>
                  <a:lnTo>
                    <a:pt x="0" y="825500"/>
                  </a:lnTo>
                  <a:lnTo>
                    <a:pt x="762000" y="1625600"/>
                  </a:lnTo>
                  <a:lnTo>
                    <a:pt x="1155700" y="762000"/>
                  </a:lnTo>
                  <a:lnTo>
                    <a:pt x="368300" y="50800"/>
                  </a:lnTo>
                </a:path>
              </a:pathLst>
            </a:custGeom>
            <a:solidFill>
              <a:srgbClr val="92D050"/>
            </a:solidFill>
            <a:ln w="38100">
              <a:noFill/>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30" name="任意多边形 129"/>
            <p:cNvSpPr/>
            <p:nvPr/>
          </p:nvSpPr>
          <p:spPr>
            <a:xfrm>
              <a:off x="4805378" y="3251200"/>
              <a:ext cx="1981200" cy="1739900"/>
            </a:xfrm>
            <a:custGeom>
              <a:avLst/>
              <a:gdLst>
                <a:gd name="connsiteX0" fmla="*/ 381000 w 1981200"/>
                <a:gd name="connsiteY0" fmla="*/ 0 h 1739900"/>
                <a:gd name="connsiteX1" fmla="*/ 0 w 1981200"/>
                <a:gd name="connsiteY1" fmla="*/ 787400 h 1739900"/>
                <a:gd name="connsiteX2" fmla="*/ 1574800 w 1981200"/>
                <a:gd name="connsiteY2" fmla="*/ 1739900 h 1739900"/>
                <a:gd name="connsiteX3" fmla="*/ 1981200 w 1981200"/>
                <a:gd name="connsiteY3" fmla="*/ 825500 h 1739900"/>
                <a:gd name="connsiteX4" fmla="*/ 381000 w 1981200"/>
                <a:gd name="connsiteY4" fmla="*/ 0 h 1739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1200" h="1739900">
                  <a:moveTo>
                    <a:pt x="381000" y="0"/>
                  </a:moveTo>
                  <a:lnTo>
                    <a:pt x="0" y="787400"/>
                  </a:lnTo>
                  <a:lnTo>
                    <a:pt x="1574800" y="1739900"/>
                  </a:lnTo>
                  <a:lnTo>
                    <a:pt x="1981200" y="825500"/>
                  </a:lnTo>
                  <a:lnTo>
                    <a:pt x="381000" y="0"/>
                  </a:lnTo>
                  <a:close/>
                </a:path>
              </a:pathLst>
            </a:cu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5972136" y="3298009"/>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a:off x="6334088" y="4911692"/>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6724616" y="4016336"/>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p:nvPr/>
          </p:nvSpPr>
          <p:spPr>
            <a:xfrm>
              <a:off x="5168904" y="3206704"/>
              <a:ext cx="108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TextBox 96"/>
            <p:cNvSpPr txBox="1"/>
            <p:nvPr/>
          </p:nvSpPr>
          <p:spPr>
            <a:xfrm>
              <a:off x="5786446" y="3929066"/>
              <a:ext cx="571504" cy="400110"/>
            </a:xfrm>
            <a:prstGeom prst="rect">
              <a:avLst/>
            </a:prstGeom>
            <a:noFill/>
          </p:spPr>
          <p:txBody>
            <a:bodyPr wrap="square" rtlCol="0">
              <a:spAutoFit/>
            </a:bodyPr>
            <a:lstStyle/>
            <a:p>
              <a:r>
                <a:rPr lang="en-US" altLang="zh-CN" sz="2000" i="1">
                  <a:solidFill>
                    <a:srgbClr val="FF00FF"/>
                  </a:solidFill>
                  <a:latin typeface="Consolas" pitchFamily="49" charset="0"/>
                  <a:cs typeface="Consolas" pitchFamily="49" charset="0"/>
                </a:rPr>
                <a:t>S</a:t>
              </a:r>
              <a:r>
                <a:rPr lang="en-US" altLang="zh-CN" sz="2000" baseline="-25000">
                  <a:solidFill>
                    <a:srgbClr val="FF00FF"/>
                  </a:solidFill>
                  <a:latin typeface="Consolas" pitchFamily="49" charset="0"/>
                  <a:cs typeface="Consolas" pitchFamily="49" charset="0"/>
                </a:rPr>
                <a:t>2</a:t>
              </a:r>
              <a:endParaRPr lang="zh-CN" altLang="en-US" sz="2000" baseline="-25000">
                <a:solidFill>
                  <a:srgbClr val="FF00FF"/>
                </a:solidFill>
                <a:latin typeface="Consolas" pitchFamily="49" charset="0"/>
                <a:cs typeface="Consolas" pitchFamily="49" charset="0"/>
              </a:endParaRPr>
            </a:p>
          </p:txBody>
        </p:sp>
      </p:grpSp>
      <p:grpSp>
        <p:nvGrpSpPr>
          <p:cNvPr id="16" name="组合 117"/>
          <p:cNvGrpSpPr/>
          <p:nvPr/>
        </p:nvGrpSpPr>
        <p:grpSpPr>
          <a:xfrm>
            <a:off x="4679703" y="3273061"/>
            <a:ext cx="1152000" cy="1625567"/>
            <a:chOff x="1429817" y="3349145"/>
            <a:chExt cx="1152000" cy="1625567"/>
          </a:xfrm>
        </p:grpSpPr>
        <p:cxnSp>
          <p:nvCxnSpPr>
            <p:cNvPr id="119" name="直接连接符 118"/>
            <p:cNvCxnSpPr/>
            <p:nvPr/>
          </p:nvCxnSpPr>
          <p:spPr>
            <a:xfrm rot="16200000" flipH="1">
              <a:off x="1213817" y="3565145"/>
              <a:ext cx="1584000" cy="1152000"/>
            </a:xfrm>
            <a:prstGeom prst="line">
              <a:avLst/>
            </a:prstGeom>
            <a:ln w="38100">
              <a:solidFill>
                <a:srgbClr val="9900FF"/>
              </a:solidFill>
            </a:ln>
          </p:spPr>
          <p:style>
            <a:lnRef idx="2">
              <a:schemeClr val="dk1"/>
            </a:lnRef>
            <a:fillRef idx="0">
              <a:schemeClr val="dk1"/>
            </a:fillRef>
            <a:effectRef idx="1">
              <a:schemeClr val="dk1"/>
            </a:effectRef>
            <a:fontRef idx="minor">
              <a:schemeClr val="tx1"/>
            </a:fontRef>
          </p:style>
        </p:cxnSp>
        <p:cxnSp>
          <p:nvCxnSpPr>
            <p:cNvPr id="120" name="直接连接符 119"/>
            <p:cNvCxnSpPr>
              <a:stCxn id="106" idx="4"/>
              <a:endCxn id="114" idx="0"/>
            </p:cNvCxnSpPr>
            <p:nvPr/>
          </p:nvCxnSpPr>
          <p:spPr>
            <a:xfrm rot="16200000" flipH="1">
              <a:off x="1644758" y="4058895"/>
              <a:ext cx="1469683" cy="361952"/>
            </a:xfrm>
            <a:prstGeom prst="line">
              <a:avLst/>
            </a:prstGeom>
            <a:ln w="38100">
              <a:solidFill>
                <a:srgbClr val="9900FF"/>
              </a:solidFill>
            </a:ln>
          </p:spPr>
          <p:style>
            <a:lnRef idx="2">
              <a:schemeClr val="dk1"/>
            </a:lnRef>
            <a:fillRef idx="0">
              <a:schemeClr val="dk1"/>
            </a:fillRef>
            <a:effectRef idx="1">
              <a:schemeClr val="dk1"/>
            </a:effectRef>
            <a:fontRef idx="minor">
              <a:schemeClr val="tx1"/>
            </a:fontRef>
          </p:style>
        </p:cxnSp>
        <p:sp>
          <p:nvSpPr>
            <p:cNvPr id="121" name="TextBox 120"/>
            <p:cNvSpPr txBox="1"/>
            <p:nvPr/>
          </p:nvSpPr>
          <p:spPr>
            <a:xfrm>
              <a:off x="1785918" y="4121355"/>
              <a:ext cx="285752" cy="307777"/>
            </a:xfrm>
            <a:prstGeom prst="rect">
              <a:avLst/>
            </a:prstGeom>
            <a:noFill/>
          </p:spPr>
          <p:txBody>
            <a:bodyPr wrap="square" lIns="0" tIns="0" rIns="0" bIns="0" rtlCol="0">
              <a:spAutoFit/>
            </a:bodyPr>
            <a:lstStyle/>
            <a:p>
              <a:r>
                <a:rPr lang="en-US" altLang="zh-CN" sz="2000" i="1">
                  <a:solidFill>
                    <a:srgbClr val="0000FF"/>
                  </a:solidFill>
                  <a:latin typeface="Consolas" pitchFamily="49" charset="0"/>
                  <a:cs typeface="Consolas" pitchFamily="49" charset="0"/>
                </a:rPr>
                <a:t>b</a:t>
              </a:r>
              <a:r>
                <a:rPr lang="en-US" altLang="zh-CN" sz="2000" baseline="-25000">
                  <a:solidFill>
                    <a:srgbClr val="0000FF"/>
                  </a:solidFill>
                  <a:latin typeface="Consolas" pitchFamily="49" charset="0"/>
                  <a:cs typeface="Consolas" pitchFamily="49" charset="0"/>
                </a:rPr>
                <a:t>1</a:t>
              </a:r>
              <a:endParaRPr lang="zh-CN" altLang="en-US" sz="2000" baseline="-25000">
                <a:solidFill>
                  <a:srgbClr val="0000FF"/>
                </a:solidFill>
                <a:latin typeface="Consolas" pitchFamily="49" charset="0"/>
                <a:cs typeface="Consolas" pitchFamily="49" charset="0"/>
              </a:endParaRPr>
            </a:p>
          </p:txBody>
        </p:sp>
        <p:sp>
          <p:nvSpPr>
            <p:cNvPr id="122" name="TextBox 121"/>
            <p:cNvSpPr txBox="1"/>
            <p:nvPr/>
          </p:nvSpPr>
          <p:spPr>
            <a:xfrm>
              <a:off x="2012932" y="3697290"/>
              <a:ext cx="285752" cy="307777"/>
            </a:xfrm>
            <a:prstGeom prst="rect">
              <a:avLst/>
            </a:prstGeom>
            <a:noFill/>
          </p:spPr>
          <p:txBody>
            <a:bodyPr wrap="square" lIns="0" tIns="0" rIns="0" bIns="0" rtlCol="0">
              <a:spAutoFit/>
            </a:bodyPr>
            <a:lstStyle/>
            <a:p>
              <a:r>
                <a:rPr lang="en-US" altLang="zh-CN" sz="2000" i="1">
                  <a:solidFill>
                    <a:srgbClr val="0000FF"/>
                  </a:solidFill>
                  <a:latin typeface="Consolas" pitchFamily="49" charset="0"/>
                  <a:cs typeface="Consolas" pitchFamily="49" charset="0"/>
                </a:rPr>
                <a:t>b</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grpSp>
      <p:grpSp>
        <p:nvGrpSpPr>
          <p:cNvPr id="17" name="组合 139"/>
          <p:cNvGrpSpPr/>
          <p:nvPr/>
        </p:nvGrpSpPr>
        <p:grpSpPr>
          <a:xfrm>
            <a:off x="4214810" y="5643578"/>
            <a:ext cx="2357454" cy="400110"/>
            <a:chOff x="4786314" y="5643578"/>
            <a:chExt cx="2357454" cy="400110"/>
          </a:xfrm>
        </p:grpSpPr>
        <p:sp>
          <p:nvSpPr>
            <p:cNvPr id="136" name="TextBox 135"/>
            <p:cNvSpPr txBox="1"/>
            <p:nvPr/>
          </p:nvSpPr>
          <p:spPr>
            <a:xfrm>
              <a:off x="6215074" y="5643578"/>
              <a:ext cx="928694"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S</a:t>
              </a:r>
              <a:r>
                <a:rPr lang="en-US" altLang="zh-CN" sz="2000" baseline="-25000">
                  <a:solidFill>
                    <a:srgbClr val="0000FF"/>
                  </a:solidFill>
                  <a:latin typeface="Consolas" pitchFamily="49" charset="0"/>
                  <a:cs typeface="Consolas" pitchFamily="49" charset="0"/>
                </a:rPr>
                <a:t>1</a:t>
              </a:r>
              <a:r>
                <a:rPr lang="en-US" altLang="zh-CN" sz="2000">
                  <a:solidFill>
                    <a:srgbClr val="0000FF"/>
                  </a:solidFill>
                  <a:latin typeface="Consolas" pitchFamily="49" charset="0"/>
                  <a:cs typeface="Consolas" pitchFamily="49" charset="0"/>
                </a:rPr>
                <a:t>&gt;</a:t>
              </a:r>
              <a:r>
                <a:rPr lang="en-US" altLang="zh-CN" sz="2000" i="1">
                  <a:solidFill>
                    <a:srgbClr val="0000FF"/>
                  </a:solidFill>
                  <a:latin typeface="Consolas" pitchFamily="49" charset="0"/>
                  <a:cs typeface="Consolas" pitchFamily="49" charset="0"/>
                </a:rPr>
                <a:t>S</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137" name="TextBox 136"/>
            <p:cNvSpPr txBox="1"/>
            <p:nvPr/>
          </p:nvSpPr>
          <p:spPr>
            <a:xfrm>
              <a:off x="4786314" y="5643578"/>
              <a:ext cx="928694" cy="400110"/>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b</a:t>
              </a:r>
              <a:r>
                <a:rPr lang="en-US" altLang="zh-CN" sz="2000" baseline="-25000">
                  <a:solidFill>
                    <a:srgbClr val="0000FF"/>
                  </a:solidFill>
                  <a:latin typeface="Consolas" pitchFamily="49" charset="0"/>
                  <a:cs typeface="Consolas" pitchFamily="49" charset="0"/>
                </a:rPr>
                <a:t>1</a:t>
              </a:r>
              <a:r>
                <a:rPr lang="en-US" altLang="zh-CN" sz="2000">
                  <a:solidFill>
                    <a:srgbClr val="0000FF"/>
                  </a:solidFill>
                  <a:latin typeface="Consolas" pitchFamily="49" charset="0"/>
                  <a:cs typeface="Consolas" pitchFamily="49" charset="0"/>
                </a:rPr>
                <a:t>&gt;</a:t>
              </a:r>
              <a:r>
                <a:rPr lang="en-US" altLang="zh-CN" sz="2000" i="1">
                  <a:solidFill>
                    <a:srgbClr val="0000FF"/>
                  </a:solidFill>
                  <a:latin typeface="Consolas" pitchFamily="49" charset="0"/>
                  <a:cs typeface="Consolas" pitchFamily="49" charset="0"/>
                </a:rPr>
                <a:t>b</a:t>
              </a:r>
              <a:r>
                <a:rPr lang="en-US" altLang="zh-CN" sz="2000" baseline="-25000">
                  <a:solidFill>
                    <a:srgbClr val="0000FF"/>
                  </a:solidFill>
                  <a:latin typeface="Consolas" pitchFamily="49" charset="0"/>
                  <a:cs typeface="Consolas" pitchFamily="49" charset="0"/>
                </a:rPr>
                <a:t>2</a:t>
              </a:r>
              <a:endParaRPr lang="zh-CN" altLang="en-US" sz="2000" baseline="-25000">
                <a:solidFill>
                  <a:srgbClr val="0000FF"/>
                </a:solidFill>
                <a:latin typeface="Consolas" pitchFamily="49" charset="0"/>
                <a:cs typeface="Consolas" pitchFamily="49" charset="0"/>
              </a:endParaRPr>
            </a:p>
          </p:txBody>
        </p:sp>
        <p:sp>
          <p:nvSpPr>
            <p:cNvPr id="138" name="右箭头 137"/>
            <p:cNvSpPr/>
            <p:nvPr/>
          </p:nvSpPr>
          <p:spPr>
            <a:xfrm>
              <a:off x="5643570" y="5757936"/>
              <a:ext cx="428628" cy="214314"/>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p>
          </p:txBody>
        </p:sp>
      </p:grpSp>
      <p:sp>
        <p:nvSpPr>
          <p:cNvPr id="141" name="TextBox 140"/>
          <p:cNvSpPr txBox="1"/>
          <p:nvPr/>
        </p:nvSpPr>
        <p:spPr>
          <a:xfrm>
            <a:off x="7000892" y="3357562"/>
            <a:ext cx="1857388" cy="2031325"/>
          </a:xfrm>
          <a:prstGeom prst="rect">
            <a:avLst/>
          </a:prstGeom>
          <a:noFill/>
        </p:spPr>
        <p:txBody>
          <a:bodyPr wrap="square" rtlCol="0">
            <a:spAutoFit/>
          </a:bodyPr>
          <a:lstStyle/>
          <a:p>
            <a:pPr>
              <a:lnSpc>
                <a:spcPct val="150000"/>
              </a:lnSpc>
            </a:pPr>
            <a:r>
              <a:rPr lang="zh-CN" altLang="en-US">
                <a:solidFill>
                  <a:srgbClr val="FF0000"/>
                </a:solidFill>
                <a:latin typeface="仿宋" pitchFamily="49" charset="-122"/>
                <a:ea typeface="仿宋" pitchFamily="49" charset="-122"/>
                <a:cs typeface="Consolas" pitchFamily="49" charset="0"/>
                <a:sym typeface="Wingdings"/>
              </a:rPr>
              <a:t> </a:t>
            </a:r>
            <a:r>
              <a:rPr lang="zh-CN" altLang="en-US" sz="2000">
                <a:solidFill>
                  <a:srgbClr val="0000FF"/>
                </a:solidFill>
                <a:latin typeface="仿宋" pitchFamily="49" charset="-122"/>
                <a:ea typeface="仿宋" pitchFamily="49" charset="-122"/>
                <a:cs typeface="Consolas" pitchFamily="49" charset="0"/>
              </a:rPr>
              <a:t>在</a:t>
            </a:r>
            <a:r>
              <a:rPr lang="zh-CN" altLang="en-US" sz="2000">
                <a:solidFill>
                  <a:srgbClr val="FF0000"/>
                </a:solidFill>
                <a:latin typeface="仿宋" pitchFamily="49" charset="-122"/>
                <a:ea typeface="仿宋" pitchFamily="49" charset="-122"/>
                <a:cs typeface="Consolas" pitchFamily="49" charset="0"/>
              </a:rPr>
              <a:t>红线</a:t>
            </a:r>
            <a:r>
              <a:rPr lang="zh-CN" altLang="en-US" sz="2000">
                <a:solidFill>
                  <a:srgbClr val="0000FF"/>
                </a:solidFill>
                <a:latin typeface="仿宋" pitchFamily="49" charset="-122"/>
                <a:ea typeface="仿宋" pitchFamily="49" charset="-122"/>
                <a:cs typeface="Consolas" pitchFamily="49" charset="0"/>
              </a:rPr>
              <a:t>转动时，可以保持</a:t>
            </a:r>
            <a:r>
              <a:rPr lang="zh-CN" altLang="en-US" sz="2000">
                <a:solidFill>
                  <a:srgbClr val="00B0F0"/>
                </a:solidFill>
                <a:latin typeface="仿宋" pitchFamily="49" charset="-122"/>
                <a:ea typeface="仿宋" pitchFamily="49" charset="-122"/>
                <a:cs typeface="Consolas" pitchFamily="49" charset="0"/>
              </a:rPr>
              <a:t>蓝线</a:t>
            </a:r>
            <a:r>
              <a:rPr lang="zh-CN" altLang="en-US" sz="2000">
                <a:solidFill>
                  <a:srgbClr val="0000FF"/>
                </a:solidFill>
                <a:latin typeface="仿宋" pitchFamily="49" charset="-122"/>
                <a:ea typeface="仿宋" pitchFamily="49" charset="-122"/>
                <a:cs typeface="Consolas" pitchFamily="49" charset="0"/>
              </a:rPr>
              <a:t>不动或者下移！</a:t>
            </a:r>
          </a:p>
        </p:txBody>
      </p:sp>
      <p:sp>
        <p:nvSpPr>
          <p:cNvPr id="80" name="灯片编号占位符 79"/>
          <p:cNvSpPr>
            <a:spLocks noGrp="1"/>
          </p:cNvSpPr>
          <p:nvPr>
            <p:ph type="sldNum" sz="quarter" idx="12"/>
          </p:nvPr>
        </p:nvSpPr>
        <p:spPr/>
        <p:txBody>
          <a:bodyPr/>
          <a:lstStyle/>
          <a:p>
            <a:pPr>
              <a:defRPr/>
            </a:pPr>
            <a:fld id="{51116183-1013-4E64-BBE8-A5C1D5D4F838}" type="slidenum">
              <a:rPr lang="en-US" altLang="zh-CN" smtClean="0"/>
              <a:pPr>
                <a:defRPr/>
              </a:pPr>
              <a:t>167</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357158" y="428604"/>
            <a:ext cx="8424863" cy="5595717"/>
          </a:xfrm>
          <a:prstGeom prst="rect">
            <a:avLst/>
          </a:prstGeom>
          <a:solidFill>
            <a:schemeClr val="bg1"/>
          </a:solidFill>
          <a:ln>
            <a:noFill/>
            <a:headEnd/>
            <a:tailEnd/>
          </a:ln>
          <a:effectLst/>
          <a:scene3d>
            <a:camera prst="orthographicFront">
              <a:rot lat="0" lon="0" rev="0"/>
            </a:camera>
            <a:lightRig rig="chilly" dir="t">
              <a:rot lat="0" lon="0" rev="18480000"/>
            </a:lightRig>
          </a:scene3d>
          <a:sp3d prstMaterial="clear">
            <a:bevelT h="63500"/>
          </a:sp3d>
        </p:spPr>
        <p:style>
          <a:lnRef idx="1">
            <a:schemeClr val="accent5"/>
          </a:lnRef>
          <a:fillRef idx="2">
            <a:schemeClr val="accent5"/>
          </a:fillRef>
          <a:effectRef idx="1">
            <a:schemeClr val="accent5"/>
          </a:effectRef>
          <a:fontRef idx="minor">
            <a:schemeClr val="dk1"/>
          </a:fontRef>
        </p:style>
        <p:txBody>
          <a:bodyPr lIns="216000" tIns="180000" bIns="180000">
            <a:spAutoFit/>
          </a:bodyPr>
          <a:lstStyle/>
          <a:p>
            <a:pPr defTabSz="360000">
              <a:lnSpc>
                <a:spcPts val="2400"/>
              </a:lnSpc>
            </a:pPr>
            <a:r>
              <a:rPr lang="en-US" altLang="zh-CN" sz="2000">
                <a:solidFill>
                  <a:srgbClr val="0000FF"/>
                </a:solidFill>
                <a:latin typeface="Consolas" pitchFamily="49" charset="0"/>
                <a:ea typeface="仿宋" pitchFamily="49" charset="-122"/>
              </a:rPr>
              <a:t>double </a:t>
            </a:r>
            <a:r>
              <a:rPr lang="en-US" altLang="zh-CN" sz="2000">
                <a:solidFill>
                  <a:srgbClr val="FF0000"/>
                </a:solidFill>
                <a:latin typeface="Consolas" pitchFamily="49" charset="0"/>
                <a:ea typeface="仿宋" pitchFamily="49" charset="-122"/>
              </a:rPr>
              <a:t>RotatingCaliper</a:t>
            </a:r>
            <a:r>
              <a:rPr lang="en-US" altLang="zh-CN" sz="2000">
                <a:solidFill>
                  <a:srgbClr val="0000FF"/>
                </a:solidFill>
                <a:latin typeface="Consolas" pitchFamily="49" charset="0"/>
                <a:ea typeface="仿宋" pitchFamily="49" charset="-122"/>
              </a:rPr>
              <a:t>s(vector&lt;Point&gt; &amp;a) {	</a:t>
            </a:r>
          </a:p>
          <a:p>
            <a:pPr defTabSz="360000">
              <a:lnSpc>
                <a:spcPts val="2400"/>
              </a:lnSpc>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旋转卡壳算法求凸包</a:t>
            </a:r>
            <a:r>
              <a:rPr lang="en-US" altLang="zh-CN" sz="2000">
                <a:solidFill>
                  <a:srgbClr val="00B050"/>
                </a:solidFill>
                <a:latin typeface="Consolas" pitchFamily="49" charset="0"/>
                <a:ea typeface="仿宋" pitchFamily="49" charset="-122"/>
              </a:rPr>
              <a:t>a</a:t>
            </a:r>
            <a:r>
              <a:rPr lang="zh-CN" altLang="zh-CN" sz="2000">
                <a:solidFill>
                  <a:srgbClr val="00B050"/>
                </a:solidFill>
                <a:latin typeface="Consolas" pitchFamily="49" charset="0"/>
                <a:ea typeface="仿宋" pitchFamily="49" charset="-122"/>
              </a:rPr>
              <a:t>的最远点对距离</a:t>
            </a:r>
          </a:p>
          <a:p>
            <a:pPr defTabSz="360000">
              <a:lnSpc>
                <a:spcPts val="2400"/>
              </a:lnSpc>
            </a:pPr>
            <a:r>
              <a:rPr lang="en-US" altLang="zh-CN" sz="2000">
                <a:solidFill>
                  <a:srgbClr val="0000FF"/>
                </a:solidFill>
                <a:latin typeface="Consolas" pitchFamily="49" charset="0"/>
                <a:ea typeface="仿宋" pitchFamily="49" charset="-122"/>
              </a:rPr>
              <a:t>	int n=a.size();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double </a:t>
            </a:r>
            <a:r>
              <a:rPr lang="en-US" altLang="zh-CN" sz="2000">
                <a:solidFill>
                  <a:srgbClr val="006600"/>
                </a:solidFill>
                <a:latin typeface="Consolas" pitchFamily="49" charset="0"/>
                <a:ea typeface="仿宋" pitchFamily="49" charset="-122"/>
              </a:rPr>
              <a:t>maxdist</a:t>
            </a:r>
            <a:r>
              <a:rPr lang="en-US" altLang="zh-CN" sz="2000">
                <a:solidFill>
                  <a:srgbClr val="0000FF"/>
                </a:solidFill>
                <a:latin typeface="Consolas" pitchFamily="49" charset="0"/>
                <a:ea typeface="仿宋" pitchFamily="49" charset="-122"/>
              </a:rPr>
              <a:t>=0.0,d1,d2;</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a.push_back(a[0]);			</a:t>
            </a:r>
            <a:r>
              <a:rPr lang="en-US" altLang="zh-CN" sz="2000">
                <a:solidFill>
                  <a:srgbClr val="00B0F0"/>
                </a:solidFill>
                <a:latin typeface="Consolas" pitchFamily="49" charset="0"/>
                <a:ea typeface="仿宋" pitchFamily="49" charset="-122"/>
              </a:rPr>
              <a:t>//a</a:t>
            </a:r>
            <a:r>
              <a:rPr lang="zh-CN" altLang="zh-CN" sz="2000">
                <a:solidFill>
                  <a:srgbClr val="00B0F0"/>
                </a:solidFill>
                <a:latin typeface="Consolas" pitchFamily="49" charset="0"/>
                <a:ea typeface="仿宋" pitchFamily="49" charset="-122"/>
              </a:rPr>
              <a:t>的末尾添加</a:t>
            </a:r>
            <a:r>
              <a:rPr lang="en-US" altLang="zh-CN" sz="2000">
                <a:solidFill>
                  <a:srgbClr val="00B0F0"/>
                </a:solidFill>
                <a:latin typeface="Consolas" pitchFamily="49" charset="0"/>
                <a:ea typeface="仿宋" pitchFamily="49" charset="-122"/>
              </a:rPr>
              <a:t>a[0]</a:t>
            </a:r>
            <a:endParaRPr lang="zh-CN" altLang="zh-CN" sz="2000">
              <a:solidFill>
                <a:srgbClr val="00B0F0"/>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int j=1;</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for (int i=0;i&lt;n;i++)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while (fabs(</a:t>
            </a:r>
            <a:r>
              <a:rPr lang="en-US" altLang="zh-CN" sz="2000">
                <a:solidFill>
                  <a:srgbClr val="FF0000"/>
                </a:solidFill>
                <a:latin typeface="Consolas" pitchFamily="49" charset="0"/>
                <a:ea typeface="仿宋" pitchFamily="49" charset="-122"/>
              </a:rPr>
              <a:t>Det</a:t>
            </a:r>
            <a:r>
              <a:rPr lang="en-US" altLang="zh-CN" sz="2000">
                <a:solidFill>
                  <a:srgbClr val="0000FF"/>
                </a:solidFill>
                <a:latin typeface="Consolas" pitchFamily="49" charset="0"/>
                <a:ea typeface="仿宋" pitchFamily="49" charset="-122"/>
              </a:rPr>
              <a:t>(a[i]-a[i+1],a[j+1]-a[i+1]))</a:t>
            </a:r>
          </a:p>
          <a:p>
            <a:pPr defTabSz="360000">
              <a:lnSpc>
                <a:spcPts val="2400"/>
              </a:lnSpc>
            </a:pPr>
            <a:r>
              <a:rPr lang="en-US" altLang="zh-CN" sz="2000">
                <a:solidFill>
                  <a:srgbClr val="0000FF"/>
                </a:solidFill>
                <a:latin typeface="Consolas" pitchFamily="49" charset="0"/>
                <a:ea typeface="仿宋" pitchFamily="49" charset="-122"/>
              </a:rPr>
              <a:t>				 &gt;fabs(</a:t>
            </a:r>
            <a:r>
              <a:rPr lang="en-US" altLang="zh-CN" sz="2000">
                <a:solidFill>
                  <a:srgbClr val="FF0000"/>
                </a:solidFill>
                <a:latin typeface="Consolas" pitchFamily="49" charset="0"/>
                <a:ea typeface="仿宋" pitchFamily="49" charset="-122"/>
              </a:rPr>
              <a:t>Det</a:t>
            </a:r>
            <a:r>
              <a:rPr lang="en-US" altLang="zh-CN" sz="2000">
                <a:solidFill>
                  <a:srgbClr val="0000FF"/>
                </a:solidFill>
                <a:latin typeface="Consolas" pitchFamily="49" charset="0"/>
                <a:ea typeface="仿宋" pitchFamily="49" charset="-122"/>
              </a:rPr>
              <a:t>(a[i]-a[i+1],a[j]-a[i+1])))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j=(j+1)%n;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面积大说明要离平行线远一些</a:t>
            </a:r>
          </a:p>
          <a:p>
            <a:pPr defTabSz="360000">
              <a:lnSpc>
                <a:spcPts val="24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d1=</a:t>
            </a:r>
            <a:r>
              <a:rPr lang="en-US" altLang="zh-CN" sz="2000">
                <a:solidFill>
                  <a:srgbClr val="FF0000"/>
                </a:solidFill>
                <a:latin typeface="Consolas" pitchFamily="49" charset="0"/>
                <a:ea typeface="仿宋" pitchFamily="49" charset="-122"/>
              </a:rPr>
              <a:t>Distance</a:t>
            </a:r>
            <a:r>
              <a:rPr lang="en-US" altLang="zh-CN" sz="2000">
                <a:solidFill>
                  <a:srgbClr val="0000FF"/>
                </a:solidFill>
                <a:latin typeface="Consolas" pitchFamily="49" charset="0"/>
                <a:ea typeface="仿宋" pitchFamily="49" charset="-122"/>
              </a:rPr>
              <a:t>(a[i],a[j]);</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d2=</a:t>
            </a:r>
            <a:r>
              <a:rPr lang="en-US" altLang="zh-CN" sz="2000">
                <a:solidFill>
                  <a:srgbClr val="FF0000"/>
                </a:solidFill>
                <a:latin typeface="Consolas" pitchFamily="49" charset="0"/>
                <a:ea typeface="仿宋" pitchFamily="49" charset="-122"/>
              </a:rPr>
              <a:t>Distance</a:t>
            </a:r>
            <a:r>
              <a:rPr lang="en-US" altLang="zh-CN" sz="2000">
                <a:solidFill>
                  <a:srgbClr val="0000FF"/>
                </a:solidFill>
                <a:latin typeface="Consolas" pitchFamily="49" charset="0"/>
                <a:ea typeface="仿宋" pitchFamily="49" charset="-122"/>
              </a:rPr>
              <a:t>(a[i+1],a[j]);</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maxdist</a:t>
            </a:r>
            <a:r>
              <a:rPr lang="en-US" altLang="zh-CN" sz="2000">
                <a:solidFill>
                  <a:srgbClr val="0000FF"/>
                </a:solidFill>
                <a:latin typeface="Consolas" pitchFamily="49" charset="0"/>
                <a:ea typeface="仿宋" pitchFamily="49" charset="-122"/>
              </a:rPr>
              <a:t>=max(maxdist,max(d1,d2));</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	return </a:t>
            </a:r>
            <a:r>
              <a:rPr lang="en-US" altLang="zh-CN" sz="2000">
                <a:solidFill>
                  <a:srgbClr val="006600"/>
                </a:solidFill>
                <a:latin typeface="Consolas" pitchFamily="49" charset="0"/>
                <a:ea typeface="仿宋" pitchFamily="49" charset="-122"/>
              </a:rPr>
              <a:t>maxdist</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defTabSz="360000">
              <a:lnSpc>
                <a:spcPts val="2400"/>
              </a:lnSpc>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168</a:t>
            </a:fld>
            <a:r>
              <a:rPr lang="en-US" altLang="zh-CN"/>
              <a:t>/167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p:cNvSpPr txBox="1">
            <a:spLocks noChangeArrowheads="1"/>
          </p:cNvSpPr>
          <p:nvPr/>
        </p:nvSpPr>
        <p:spPr bwMode="auto">
          <a:xfrm>
            <a:off x="357158" y="1714488"/>
            <a:ext cx="8429684" cy="1631216"/>
          </a:xfrm>
          <a:prstGeom prst="rect">
            <a:avLst/>
          </a:prstGeom>
          <a:ln>
            <a:solidFill>
              <a:schemeClr val="accent6">
                <a:lumMod val="40000"/>
                <a:lumOff val="60000"/>
              </a:schemeClr>
            </a:solidFill>
            <a:headEnd/>
            <a:tailEnd/>
          </a:ln>
        </p:spPr>
        <p:style>
          <a:lnRef idx="2">
            <a:schemeClr val="accent6"/>
          </a:lnRef>
          <a:fillRef idx="1">
            <a:schemeClr val="lt1"/>
          </a:fillRef>
          <a:effectRef idx="0">
            <a:schemeClr val="accent6"/>
          </a:effectRef>
          <a:fontRef idx="minor">
            <a:schemeClr val="dk1"/>
          </a:fontRef>
        </p:style>
        <p:txBody>
          <a:bodyPr wrap="square">
            <a:spAutoFit/>
          </a:bodyPr>
          <a:lstStyle/>
          <a:p>
            <a:pPr>
              <a:lnSpc>
                <a:spcPts val="30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RotatingCalipers</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：对于含</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个点的点集，调用</a:t>
            </a:r>
            <a:r>
              <a:rPr lang="en-US" altLang="zh-CN" sz="2200">
                <a:solidFill>
                  <a:srgbClr val="0000FF"/>
                </a:solidFill>
                <a:latin typeface="Consolas" pitchFamily="49" charset="0"/>
                <a:ea typeface="仿宋" pitchFamily="49" charset="-122"/>
              </a:rPr>
              <a:t>Graham</a:t>
            </a:r>
            <a:r>
              <a:rPr lang="zh-CN" altLang="zh-CN" sz="2200">
                <a:solidFill>
                  <a:srgbClr val="0000FF"/>
                </a:solidFill>
                <a:latin typeface="Consolas" pitchFamily="49" charset="0"/>
                <a:ea typeface="仿宋" pitchFamily="49" charset="-122"/>
              </a:rPr>
              <a:t>算法产生凸包的时间为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log</a:t>
            </a:r>
            <a:r>
              <a:rPr lang="en-US" altLang="zh-CN" sz="2200" baseline="-250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，若求出的凸包中含有</a:t>
            </a:r>
            <a:r>
              <a:rPr lang="en-US" altLang="zh-CN" sz="2200" i="1">
                <a:solidFill>
                  <a:srgbClr val="0000FF"/>
                </a:solidFill>
                <a:latin typeface="Consolas" pitchFamily="49" charset="0"/>
                <a:ea typeface="仿宋" pitchFamily="49" charset="-122"/>
              </a:rPr>
              <a:t>m</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m</a:t>
            </a:r>
            <a:r>
              <a:rPr lang="zh-CN" altLang="zh-CN" sz="2200">
                <a:solidFill>
                  <a:srgbClr val="0000FF"/>
                </a:solidFill>
                <a:latin typeface="宋体" pitchFamily="2" charset="-122"/>
                <a:ea typeface="宋体" pitchFamily="2" charset="-122"/>
              </a:rPr>
              <a:t>≤</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）个点，则该算法的执行时间为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m</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，所以整个算法的时间复杂度为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log</a:t>
            </a:r>
            <a:r>
              <a:rPr lang="en-US" altLang="zh-CN" sz="2200" baseline="-25000">
                <a:solidFill>
                  <a:srgbClr val="0000FF"/>
                </a:solidFill>
                <a:latin typeface="Consolas" pitchFamily="49" charset="0"/>
                <a:ea typeface="仿宋" pitchFamily="49" charset="-122"/>
              </a:rPr>
              <a:t>2</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en-US" sz="2200">
                <a:solidFill>
                  <a:srgbClr val="0000FF"/>
                </a:solidFill>
                <a:latin typeface="Consolas" pitchFamily="49" charset="0"/>
                <a:ea typeface="仿宋" pitchFamily="49" charset="-122"/>
              </a:rPr>
              <a:t>。</a:t>
            </a:r>
            <a:endParaRPr lang="zh-CN" altLang="en-US" sz="2200" dirty="0">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pPr>
              <a:defRPr/>
            </a:pPr>
            <a:fld id="{51116183-1013-4E64-BBE8-A5C1D5D4F838}" type="slidenum">
              <a:rPr lang="en-US" altLang="zh-CN" smtClean="0"/>
              <a:pPr>
                <a:defRPr/>
              </a:pPr>
              <a:t>169</a:t>
            </a:fld>
            <a:r>
              <a:rPr lang="en-US" altLang="zh-CN"/>
              <a:t>/167</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C6ECADA-189C-810B-8DE2-CC2945E6A908}"/>
              </a:ext>
            </a:extLst>
          </p:cNvPr>
          <p:cNvSpPr>
            <a:spLocks noGrp="1"/>
          </p:cNvSpPr>
          <p:nvPr>
            <p:ph type="sldNum" sz="quarter" idx="12"/>
          </p:nvPr>
        </p:nvSpPr>
        <p:spPr/>
        <p:txBody>
          <a:bodyPr/>
          <a:lstStyle/>
          <a:p>
            <a:pPr>
              <a:defRPr/>
            </a:pPr>
            <a:fld id="{51116183-1013-4E64-BBE8-A5C1D5D4F838}" type="slidenum">
              <a:rPr lang="en-US" altLang="zh-CN" smtClean="0"/>
              <a:pPr>
                <a:defRPr/>
              </a:pPr>
              <a:t>170</a:t>
            </a:fld>
            <a:r>
              <a:rPr lang="en-US" altLang="zh-CN"/>
              <a:t>/167</a:t>
            </a:r>
          </a:p>
        </p:txBody>
      </p:sp>
      <p:pic>
        <p:nvPicPr>
          <p:cNvPr id="60418" name="Picture 2">
            <a:extLst>
              <a:ext uri="{FF2B5EF4-FFF2-40B4-BE49-F238E27FC236}">
                <a16:creationId xmlns:a16="http://schemas.microsoft.com/office/drawing/2014/main" id="{0811AF29-529E-CCE3-8CC0-D3C2DD3BA0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286000"/>
            <a:ext cx="2286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58F9FA9F-F586-E7A7-181A-4FBAE0F84DA3}"/>
              </a:ext>
            </a:extLst>
          </p:cNvPr>
          <p:cNvSpPr txBox="1"/>
          <p:nvPr/>
        </p:nvSpPr>
        <p:spPr>
          <a:xfrm>
            <a:off x="4067944" y="4797152"/>
            <a:ext cx="803425" cy="461665"/>
          </a:xfrm>
          <a:prstGeom prst="rect">
            <a:avLst/>
          </a:prstGeom>
          <a:noFill/>
        </p:spPr>
        <p:txBody>
          <a:bodyPr wrap="none" rtlCol="0">
            <a:spAutoFit/>
          </a:bodyPr>
          <a:lstStyle/>
          <a:p>
            <a:r>
              <a:rPr lang="zh-CN" altLang="en-US">
                <a:solidFill>
                  <a:srgbClr val="0000FF"/>
                </a:solidFill>
                <a:latin typeface="Consolas" pitchFamily="49" charset="0"/>
                <a:ea typeface="仿宋" pitchFamily="49" charset="-122"/>
              </a:rPr>
              <a:t>思政</a:t>
            </a:r>
          </a:p>
        </p:txBody>
      </p:sp>
    </p:spTree>
    <p:extLst>
      <p:ext uri="{BB962C8B-B14F-4D97-AF65-F5344CB8AC3E}">
        <p14:creationId xmlns:p14="http://schemas.microsoft.com/office/powerpoint/2010/main" val="274875522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跋涉">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跋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lnDef>
      <a:spPr>
        <a:ln w="19050">
          <a:solidFill>
            <a:schemeClr val="tx1"/>
          </a:solidFill>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mtClean="0">
            <a:solidFill>
              <a:srgbClr val="0000FF"/>
            </a:solidFill>
            <a:latin typeface="Consolas" pitchFamily="49" charset="0"/>
            <a:ea typeface="仿宋" pitchFamily="49" charset="-122"/>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1683</TotalTime>
  <Words>16387</Words>
  <Application>Microsoft Office PowerPoint</Application>
  <PresentationFormat>全屏显示(4:3)</PresentationFormat>
  <Paragraphs>2381</Paragraphs>
  <Slides>170</Slides>
  <Notes>51</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0</vt:i4>
      </vt:variant>
      <vt:variant>
        <vt:lpstr>幻灯片标题</vt:lpstr>
      </vt:variant>
      <vt:variant>
        <vt:i4>170</vt:i4>
      </vt:variant>
    </vt:vector>
  </HeadingPairs>
  <TitlesOfParts>
    <vt:vector size="187" baseType="lpstr">
      <vt:lpstr>仿宋</vt:lpstr>
      <vt:lpstr>华文琥珀</vt:lpstr>
      <vt:lpstr>华文中宋</vt:lpstr>
      <vt:lpstr>楷体</vt:lpstr>
      <vt:lpstr>宋体</vt:lpstr>
      <vt:lpstr>微软雅黑</vt:lpstr>
      <vt:lpstr>Arial</vt:lpstr>
      <vt:lpstr>Calibri</vt:lpstr>
      <vt:lpstr>Consolas</vt:lpstr>
      <vt:lpstr>Eras Bold ITC</vt:lpstr>
      <vt:lpstr>Forte</vt:lpstr>
      <vt:lpstr>Franklin Gothic Book</vt:lpstr>
      <vt:lpstr>Franklin Gothic Medium</vt:lpstr>
      <vt:lpstr>Symbol</vt:lpstr>
      <vt:lpstr>Times New Roman</vt:lpstr>
      <vt:lpstr>Wingdings 2</vt:lpstr>
      <vt:lpstr>跋涉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walkinnet</dc:creator>
  <cp:lastModifiedBy>jj wei</cp:lastModifiedBy>
  <cp:revision>529</cp:revision>
  <dcterms:created xsi:type="dcterms:W3CDTF">2012-11-28T00:02:12Z</dcterms:created>
  <dcterms:modified xsi:type="dcterms:W3CDTF">2024-01-28T08:45:43Z</dcterms:modified>
</cp:coreProperties>
</file>