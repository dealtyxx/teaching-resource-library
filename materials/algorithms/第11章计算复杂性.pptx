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57"/>
  </p:notesMasterIdLst>
  <p:handoutMasterIdLst>
    <p:handoutMasterId r:id="rId58"/>
  </p:handoutMasterIdLst>
  <p:sldIdLst>
    <p:sldId id="522" r:id="rId2"/>
    <p:sldId id="365" r:id="rId3"/>
    <p:sldId id="366" r:id="rId4"/>
    <p:sldId id="615" r:id="rId5"/>
    <p:sldId id="372" r:id="rId6"/>
    <p:sldId id="620" r:id="rId7"/>
    <p:sldId id="662" r:id="rId8"/>
    <p:sldId id="663" r:id="rId9"/>
    <p:sldId id="665" r:id="rId10"/>
    <p:sldId id="664" r:id="rId11"/>
    <p:sldId id="666" r:id="rId12"/>
    <p:sldId id="667" r:id="rId13"/>
    <p:sldId id="668" r:id="rId14"/>
    <p:sldId id="669" r:id="rId15"/>
    <p:sldId id="670" r:id="rId16"/>
    <p:sldId id="671" r:id="rId17"/>
    <p:sldId id="685" r:id="rId18"/>
    <p:sldId id="672" r:id="rId19"/>
    <p:sldId id="673" r:id="rId20"/>
    <p:sldId id="674" r:id="rId21"/>
    <p:sldId id="675" r:id="rId22"/>
    <p:sldId id="676" r:id="rId23"/>
    <p:sldId id="677" r:id="rId24"/>
    <p:sldId id="678" r:id="rId25"/>
    <p:sldId id="679" r:id="rId26"/>
    <p:sldId id="680" r:id="rId27"/>
    <p:sldId id="681" r:id="rId28"/>
    <p:sldId id="709" r:id="rId29"/>
    <p:sldId id="682" r:id="rId30"/>
    <p:sldId id="683" r:id="rId31"/>
    <p:sldId id="684" r:id="rId32"/>
    <p:sldId id="686" r:id="rId33"/>
    <p:sldId id="687" r:id="rId34"/>
    <p:sldId id="688" r:id="rId35"/>
    <p:sldId id="689" r:id="rId36"/>
    <p:sldId id="690" r:id="rId37"/>
    <p:sldId id="691" r:id="rId38"/>
    <p:sldId id="692" r:id="rId39"/>
    <p:sldId id="693" r:id="rId40"/>
    <p:sldId id="694" r:id="rId41"/>
    <p:sldId id="695" r:id="rId42"/>
    <p:sldId id="696" r:id="rId43"/>
    <p:sldId id="697" r:id="rId44"/>
    <p:sldId id="698" r:id="rId45"/>
    <p:sldId id="699" r:id="rId46"/>
    <p:sldId id="705" r:id="rId47"/>
    <p:sldId id="706" r:id="rId48"/>
    <p:sldId id="710" r:id="rId49"/>
    <p:sldId id="711" r:id="rId50"/>
    <p:sldId id="708" r:id="rId51"/>
    <p:sldId id="701" r:id="rId52"/>
    <p:sldId id="702" r:id="rId53"/>
    <p:sldId id="703" r:id="rId54"/>
    <p:sldId id="704" r:id="rId55"/>
    <p:sldId id="712" r:id="rId56"/>
  </p:sldIdLst>
  <p:sldSz cx="9144000" cy="6858000" type="screen4x3"/>
  <p:notesSz cx="6858000" cy="9144000"/>
  <p:defaultTextStyle>
    <a:defPPr>
      <a:defRPr lang="zh-CN"/>
    </a:defPPr>
    <a:lvl1pPr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1pPr>
    <a:lvl2pPr marL="4572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2pPr>
    <a:lvl3pPr marL="9144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3pPr>
    <a:lvl4pPr marL="13716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4pPr>
    <a:lvl5pPr marL="1828800" algn="ctr" rtl="0" fontAlgn="base">
      <a:lnSpc>
        <a:spcPct val="80000"/>
      </a:lnSpc>
      <a:spcBef>
        <a:spcPct val="50000"/>
      </a:spcBef>
      <a:spcAft>
        <a:spcPct val="0"/>
      </a:spcAft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rgbClr val="0033CC"/>
        </a:solidFill>
        <a:latin typeface="Times New Roman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006600"/>
    <a:srgbClr val="FFFFFF"/>
    <a:srgbClr val="FF3300"/>
    <a:srgbClr val="FF3399"/>
    <a:srgbClr val="339933"/>
    <a:srgbClr val="000000"/>
    <a:srgbClr val="3333FF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99" d="100"/>
          <a:sy n="99" d="100"/>
        </p:scale>
        <p:origin x="129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48C81-2EE0-4ADC-AD51-9DC87E0EF387}" type="datetimeFigureOut">
              <a:rPr lang="zh-CN" altLang="en-US" smtClean="0"/>
              <a:pPr/>
              <a:t>2024-01-28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0761C-5A44-4BA0-B4C5-00F13EA65E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15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fld id="{0D1E2EF4-146E-47B5-A412-FFD548A1AB6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1E2EF4-146E-47B5-A412-FFD548A1AB6A}" type="slidenum">
              <a:rPr lang="en-US" altLang="zh-CN" smtClean="0"/>
              <a:pPr/>
              <a:t>49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0000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fld id="{7AF016A1-9F15-429F-9EFD-84004B73C732}" type="slidenum">
              <a:rPr lang="en-US" altLang="zh-CN" smtClean="0"/>
              <a:pPr/>
              <a:t>‹#›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3DD41-1E0E-46B0-ABE7-D5048A3DF73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00232" y="500042"/>
            <a:ext cx="5572164" cy="879829"/>
          </a:xfrm>
          <a:prstGeom prst="rect">
            <a:avLst/>
          </a:prstGeom>
          <a:ln>
            <a:noFill/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tIns="216000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11</a:t>
            </a: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章</a:t>
            </a:r>
            <a:r>
              <a:rPr lang="en-US" altLang="zh-CN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sz="400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计算复杂性</a:t>
            </a:r>
          </a:p>
        </p:txBody>
      </p:sp>
      <p:sp>
        <p:nvSpPr>
          <p:cNvPr id="5" name="TextBox 4">
            <a:hlinkClick r:id="rId3" action="ppaction://hlinksldjump"/>
          </p:cNvPr>
          <p:cNvSpPr txBox="1"/>
          <p:nvPr/>
        </p:nvSpPr>
        <p:spPr>
          <a:xfrm>
            <a:off x="2928926" y="2438751"/>
            <a:ext cx="576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11.1 P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类和</a:t>
            </a: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NP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类</a:t>
            </a:r>
          </a:p>
        </p:txBody>
      </p:sp>
      <p:sp>
        <p:nvSpPr>
          <p:cNvPr id="9" name="TextBox 8">
            <a:hlinkClick r:id="rId4" action="ppaction://hlinksldjump"/>
          </p:cNvPr>
          <p:cNvSpPr txBox="1"/>
          <p:nvPr/>
        </p:nvSpPr>
        <p:spPr>
          <a:xfrm>
            <a:off x="2928926" y="3321137"/>
            <a:ext cx="576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11.2 </a:t>
            </a:r>
            <a:r>
              <a:rPr lang="zh-CN" altLang="zh-CN" sz="28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多项式时间变换和问题归约</a:t>
            </a:r>
            <a:endParaRPr lang="zh-CN" altLang="en-US" sz="28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grpSp>
        <p:nvGrpSpPr>
          <p:cNvPr id="16" name="组合 79"/>
          <p:cNvGrpSpPr>
            <a:grpSpLocks/>
          </p:cNvGrpSpPr>
          <p:nvPr/>
        </p:nvGrpSpPr>
        <p:grpSpPr bwMode="auto">
          <a:xfrm>
            <a:off x="428596" y="2571744"/>
            <a:ext cx="2160000" cy="2177998"/>
            <a:chOff x="6379728" y="2488774"/>
            <a:chExt cx="2513016" cy="2533955"/>
          </a:xfrm>
        </p:grpSpPr>
        <p:sp>
          <p:nvSpPr>
            <p:cNvPr id="17" name="任意多边形 82"/>
            <p:cNvSpPr/>
            <p:nvPr/>
          </p:nvSpPr>
          <p:spPr>
            <a:xfrm rot="3738964">
              <a:off x="6379728" y="2488774"/>
              <a:ext cx="2513016" cy="2513016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17000">
                  <a:srgbClr val="FFFFFF"/>
                </a:gs>
                <a:gs pos="88000">
                  <a:srgbClr val="FFFFFF">
                    <a:lumMod val="72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127000" dist="63500" dir="7380000" sx="102000" sy="102000" algn="tr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kern="0">
                <a:solidFill>
                  <a:srgbClr val="FFFFFF"/>
                </a:solidFill>
                <a:latin typeface="Arial"/>
                <a:ea typeface="宋体"/>
              </a:endParaRPr>
            </a:p>
          </p:txBody>
        </p:sp>
        <p:sp>
          <p:nvSpPr>
            <p:cNvPr id="18" name="任意多边形 83"/>
            <p:cNvSpPr/>
            <p:nvPr/>
          </p:nvSpPr>
          <p:spPr>
            <a:xfrm rot="16377237">
              <a:off x="6409519" y="2545928"/>
              <a:ext cx="2476803" cy="2476799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gradFill flip="none" rotWithShape="1">
              <a:gsLst>
                <a:gs pos="29000">
                  <a:srgbClr val="FFFFFF"/>
                </a:gs>
                <a:gs pos="98000">
                  <a:srgbClr val="FFFFFF">
                    <a:lumMod val="75000"/>
                  </a:srgb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softEdge rad="0"/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kern="0">
                <a:solidFill>
                  <a:srgbClr val="FFFFFF"/>
                </a:solidFill>
              </a:endParaRPr>
            </a:p>
          </p:txBody>
        </p:sp>
      </p:grpSp>
      <p:sp>
        <p:nvSpPr>
          <p:cNvPr id="19" name="文本框 20"/>
          <p:cNvSpPr txBox="1">
            <a:spLocks noChangeArrowheads="1"/>
          </p:cNvSpPr>
          <p:nvPr/>
        </p:nvSpPr>
        <p:spPr bwMode="auto">
          <a:xfrm>
            <a:off x="680118" y="3681521"/>
            <a:ext cx="16787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en-US" altLang="zh-CN" sz="2000" b="1" dirty="0">
                <a:solidFill>
                  <a:srgbClr val="9900FF"/>
                </a:solidFill>
              </a:rPr>
              <a:t>CONTENTS</a:t>
            </a:r>
            <a:endParaRPr lang="zh-CN" altLang="en-US" sz="2000" b="1" dirty="0">
              <a:solidFill>
                <a:srgbClr val="9900FF"/>
              </a:solidFill>
            </a:endParaRPr>
          </a:p>
        </p:txBody>
      </p:sp>
      <p:sp>
        <p:nvSpPr>
          <p:cNvPr id="20" name="文本框 20"/>
          <p:cNvSpPr txBox="1">
            <a:spLocks noChangeArrowheads="1"/>
          </p:cNvSpPr>
          <p:nvPr/>
        </p:nvSpPr>
        <p:spPr bwMode="auto">
          <a:xfrm>
            <a:off x="824134" y="3001511"/>
            <a:ext cx="14122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zh-CN" altLang="en-US" sz="3200" b="1" dirty="0">
                <a:solidFill>
                  <a:srgbClr val="008000"/>
                </a:solidFill>
              </a:rPr>
              <a:t>提纲</a:t>
            </a:r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2928926" y="4201547"/>
            <a:ext cx="576000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11.3 NP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完全问题</a:t>
            </a: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428596" y="1714488"/>
            <a:ext cx="521497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11.1.1 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易解问题和难解问题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6" name="TextBox 15">
            <a:hlinkClick r:id="rId3" action="ppaction://hlinksldjump"/>
          </p:cNvPr>
          <p:cNvSpPr txBox="1"/>
          <p:nvPr/>
        </p:nvSpPr>
        <p:spPr>
          <a:xfrm>
            <a:off x="2357422" y="500042"/>
            <a:ext cx="428628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11.1 P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类和</a:t>
            </a: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NP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10" y="3143248"/>
            <a:ext cx="7786742" cy="204158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将存在多项式时间算法的问题看作是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易解问题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不存在多项式时间算法的问题看作是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难解问题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4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也就是说把多项式时间复杂性作为易解问题与难解问题的分界线。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4348" y="2538707"/>
            <a:ext cx="1785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通常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的看法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7158" y="714356"/>
            <a:ext cx="8429684" cy="406457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定义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11.1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是求解问题∏（可以是任意问题）的算法，在用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求解问题∏的实例Ⅰ时，首先要把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编码成二进制的字符串作为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的输入，称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的二进制编码的长度为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的规模，记为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|I|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，如果存在函数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→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为自然数集合）使得对于任意规模为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的实例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的运算在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步内停止，则称算法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时间复杂度为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f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n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)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以多项式为时间复杂度的算法称为多项式时间算法。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有多项式时间算法的问题称为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易解问题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，不存在多项式时间算法的问题称为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难解问题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71472" y="928670"/>
            <a:ext cx="8072494" cy="185884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采用动态规划算法求解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0/1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背包问题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的时间复杂度为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nW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，表面上看起来这是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的多项式函数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实际上这里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|I|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的二进制位数和，当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很大时，仍然是一个非多项式时间的算法。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42910" y="642918"/>
            <a:ext cx="571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目前已证明的难解问题分为如下几类。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48" y="1500174"/>
            <a:ext cx="7715304" cy="229806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20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不可计算的问题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，即根本不存在求解的算法。</a:t>
            </a: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有算法但至少需要指数或更多的时间或空间的问题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，如求幂集和全排列。</a:t>
            </a: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有算法但既没有找到多项式时间算法又没能证明是难解的问题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，如哈密顿回路问题、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问题和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0/1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背包问题等。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285720" y="500042"/>
            <a:ext cx="521497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11.1.2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判定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问题和</a:t>
            </a:r>
            <a:r>
              <a:rPr lang="zh-CN" altLang="en-US" sz="2800">
                <a:latin typeface="Consolas" pitchFamily="49" charset="0"/>
                <a:ea typeface="微软雅黑" pitchFamily="34" charset="-122"/>
              </a:rPr>
              <a:t>优化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问题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8596" y="1643050"/>
            <a:ext cx="8286808" cy="2708434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优化问题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optimization problem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），问题的每个可行解都对应一个目标函数值，求解这类问题的目是希望得到一个具有最优目标函数值的可行解。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判定问题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∏（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decision problem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）则是回答是否存在一个满足问题要求的解，即解只是简单的回答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yes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）或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no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6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71472" y="1000108"/>
            <a:ext cx="7929618" cy="1477328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优化问题与它相应地判定问题具有密切的联系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通过限界优化问题中要优化的目标函数值，通常可以把一个</a:t>
            </a: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优化问题转化为一个判定问题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7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500042"/>
            <a:ext cx="8501122" cy="132343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最短路径问题是一个优化问题，其目标是找有向图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一条从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的最短路径，优化的目标函数值是路径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的边数。给出对应的判定问题。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8662" y="2467269"/>
            <a:ext cx="50006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4348" y="3071810"/>
            <a:ext cx="8001056" cy="884216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判定问题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PATH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：给定一个有向图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，以及整数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，问图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中从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是否存在一条最多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条边的路径吗？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8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00034" y="1071546"/>
            <a:ext cx="8143932" cy="173380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11.2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着色问题是给定一个无向图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G=(V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，对于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中的每一个顶点用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种颜色中的一种对它着色，使图中没有两个邻接顶点有相同的颜色。给出该问题的判定问题和优化问题。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8662" y="3143248"/>
            <a:ext cx="50006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910" y="3857628"/>
            <a:ext cx="8072494" cy="181075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优化问题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：给定一个无向图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G=(V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，求图着色使图中没有两个邻接顶点有相同的颜色所需要的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最少颜色数目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判定问题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COLOING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：给定一个无向图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G=(V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和一个正整数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最多可以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用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种颜色着色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158" y="428604"/>
            <a:ext cx="8358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实际上一个更一般的问题也可以阐述为判定问题和优化问题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9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643042" y="571480"/>
            <a:ext cx="4071966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chemeClr val="bg1"/>
                </a:solidFill>
                <a:latin typeface="楷体" pitchFamily="49" charset="-122"/>
                <a:ea typeface="楷体" pitchFamily="49" charset="-122"/>
              </a:rPr>
              <a:t>为什么讨论</a:t>
            </a:r>
            <a:r>
              <a:rPr lang="zh-CN" altLang="en-US">
                <a:solidFill>
                  <a:schemeClr val="bg1"/>
                </a:solidFill>
                <a:latin typeface="楷体" pitchFamily="49" charset="-122"/>
                <a:ea typeface="楷体" pitchFamily="49" charset="-122"/>
              </a:rPr>
              <a:t>判定问题</a:t>
            </a:r>
            <a:r>
              <a:rPr lang="zh-CN" altLang="zh-CN">
                <a:solidFill>
                  <a:schemeClr val="bg1"/>
                </a:solidFill>
                <a:latin typeface="楷体" pitchFamily="49" charset="-122"/>
                <a:ea typeface="楷体" pitchFamily="49" charset="-122"/>
              </a:rPr>
              <a:t>呢？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214290"/>
            <a:ext cx="966789" cy="1514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42910" y="2428868"/>
            <a:ext cx="8143932" cy="1115791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44000" tIns="108000" bIns="108000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判定问题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的解只有两个即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yes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no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，验证起来十分容易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3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优化问题和对应的判定问题在难易程度是相同的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10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214290"/>
            <a:ext cx="8643998" cy="2015936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ct val="10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以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为例，如果其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判定问题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存在有效的求解算法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，那么很容易设计出对应的优化问题的求解算法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ct val="10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B: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先求出图中最大的边权值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，置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可以看成最大的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路径长度），然后采用二分查找仅用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O(log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次调用算法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将可以找到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的起点为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路径长度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24" y="3000372"/>
            <a:ext cx="7715304" cy="286232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int low=0,high=M;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while(low&lt;=high) {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int mid=(low+high)/2;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if(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(u,mid))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调用</a:t>
            </a:r>
            <a:r>
              <a:rPr lang="zh-CN" altLang="en-US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判定问题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的求解算法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A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low=mid;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存在路径长度不超过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mid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路径</a:t>
            </a: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else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	high=mid;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endParaRPr lang="zh-CN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 defTabSz="360000">
              <a:lnSpc>
                <a:spcPts val="24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return low+1;			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//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找到的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路径长度为</a:t>
            </a:r>
            <a:r>
              <a:rPr lang="en-US" altLang="zh-CN" sz="2000">
                <a:solidFill>
                  <a:srgbClr val="00B0F0"/>
                </a:solidFill>
                <a:latin typeface="Consolas" pitchFamily="49" charset="0"/>
                <a:ea typeface="仿宋" pitchFamily="49" charset="-122"/>
              </a:rPr>
              <a:t>low+1</a:t>
            </a:r>
            <a:endParaRPr lang="zh-CN" altLang="zh-CN" sz="2000">
              <a:solidFill>
                <a:srgbClr val="00B0F0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7224" y="2428868"/>
            <a:ext cx="1071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算法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en-US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：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11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857232"/>
            <a:ext cx="8358246" cy="286232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如果算法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是多项式时间，则算法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也的多项式时间；算法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是指数时间，则算法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也的指数时间。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也就是说如果存在求解判定问题的有效算法，那么很容易把它变成相对应的优化问题的算法。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因此，可以从判定问题的角度来对问题的难易程度进行分类，所以主要讨论判定问题。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12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428604"/>
            <a:ext cx="3714776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11.1.3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计算模型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48" y="1571612"/>
            <a:ext cx="7786742" cy="2298065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计算模型是刻画计算的一种抽象形式系统或数学系统，而算法是对计算过程的描述，是计算方法的一种能行实现方式。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由于观察计算的角度不同，产生了各种不同的计算模型，主要的计算模型有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图灵机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λ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演算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递归函数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等。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13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571480"/>
            <a:ext cx="8286808" cy="2532103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图灵机（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Turing machine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1936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年由英国数学家图灵（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A.M.Turing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）提出的一种计算模型。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图灵机模型的基本结构包括一条向右无限延伸的工作带（可读可写），一个有限状态控制器和连接控制器与工作带的读写头，图灵机的工作带由一个个格子组成，每一格子可以存放一个字符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17426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1823142" y="3500438"/>
            <a:ext cx="5177750" cy="2304187"/>
            <a:chOff x="1823142" y="3500438"/>
            <a:chExt cx="5177750" cy="2304187"/>
          </a:xfrm>
        </p:grpSpPr>
        <p:sp>
          <p:nvSpPr>
            <p:cNvPr id="17424" name="Text Box 16"/>
            <p:cNvSpPr txBox="1">
              <a:spLocks noChangeArrowheads="1"/>
            </p:cNvSpPr>
            <p:nvPr/>
          </p:nvSpPr>
          <p:spPr bwMode="auto">
            <a:xfrm>
              <a:off x="2742064" y="4500339"/>
              <a:ext cx="925348" cy="30590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读写头</a:t>
              </a:r>
              <a:endParaRPr kumimoji="0" 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7423" name="Text Box 15"/>
            <p:cNvSpPr txBox="1">
              <a:spLocks noChangeArrowheads="1"/>
            </p:cNvSpPr>
            <p:nvPr/>
          </p:nvSpPr>
          <p:spPr bwMode="auto">
            <a:xfrm>
              <a:off x="1823142" y="3896137"/>
              <a:ext cx="386083" cy="3774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7422" name="Text Box 14"/>
            <p:cNvSpPr txBox="1">
              <a:spLocks noChangeArrowheads="1"/>
            </p:cNvSpPr>
            <p:nvPr/>
          </p:nvSpPr>
          <p:spPr bwMode="auto">
            <a:xfrm>
              <a:off x="2209224" y="3896137"/>
              <a:ext cx="387646" cy="3774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7421" name="Text Box 13"/>
            <p:cNvSpPr txBox="1">
              <a:spLocks noChangeArrowheads="1"/>
            </p:cNvSpPr>
            <p:nvPr/>
          </p:nvSpPr>
          <p:spPr bwMode="auto">
            <a:xfrm>
              <a:off x="2607638" y="3896137"/>
              <a:ext cx="775292" cy="3774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zh-CN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17420" name="Text Box 12"/>
            <p:cNvSpPr txBox="1">
              <a:spLocks noChangeArrowheads="1"/>
            </p:cNvSpPr>
            <p:nvPr/>
          </p:nvSpPr>
          <p:spPr bwMode="auto">
            <a:xfrm>
              <a:off x="3379804" y="3896137"/>
              <a:ext cx="386083" cy="3774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7419" name="Text Box 11"/>
            <p:cNvSpPr txBox="1">
              <a:spLocks noChangeArrowheads="1"/>
            </p:cNvSpPr>
            <p:nvPr/>
          </p:nvSpPr>
          <p:spPr bwMode="auto">
            <a:xfrm>
              <a:off x="4548994" y="3896137"/>
              <a:ext cx="387646" cy="3774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7418" name="Text Box 10"/>
            <p:cNvSpPr txBox="1">
              <a:spLocks noChangeArrowheads="1"/>
            </p:cNvSpPr>
            <p:nvPr/>
          </p:nvSpPr>
          <p:spPr bwMode="auto">
            <a:xfrm>
              <a:off x="4934556" y="3896137"/>
              <a:ext cx="387646" cy="3774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7417" name="Text Box 9"/>
            <p:cNvSpPr txBox="1">
              <a:spLocks noChangeArrowheads="1"/>
            </p:cNvSpPr>
            <p:nvPr/>
          </p:nvSpPr>
          <p:spPr bwMode="auto">
            <a:xfrm>
              <a:off x="5322202" y="3896137"/>
              <a:ext cx="387646" cy="3774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7416" name="Text Box 8"/>
            <p:cNvSpPr txBox="1">
              <a:spLocks noChangeArrowheads="1"/>
            </p:cNvSpPr>
            <p:nvPr/>
          </p:nvSpPr>
          <p:spPr bwMode="auto">
            <a:xfrm>
              <a:off x="3773702" y="3896137"/>
              <a:ext cx="775292" cy="3774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zh-CN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17413" name="Text Box 5"/>
            <p:cNvSpPr txBox="1">
              <a:spLocks noChangeArrowheads="1"/>
            </p:cNvSpPr>
            <p:nvPr/>
          </p:nvSpPr>
          <p:spPr bwMode="auto">
            <a:xfrm>
              <a:off x="5715008" y="3895573"/>
              <a:ext cx="1285884" cy="378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zh-CN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17412" name="Text Box 4"/>
            <p:cNvSpPr txBox="1">
              <a:spLocks noChangeArrowheads="1"/>
            </p:cNvSpPr>
            <p:nvPr/>
          </p:nvSpPr>
          <p:spPr bwMode="auto">
            <a:xfrm>
              <a:off x="3839352" y="5124327"/>
              <a:ext cx="1241092" cy="68029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有限状态控制器</a:t>
              </a:r>
              <a:endParaRPr kumimoji="0" 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7411" name="Freeform 3"/>
            <p:cNvSpPr>
              <a:spLocks/>
            </p:cNvSpPr>
            <p:nvPr/>
          </p:nvSpPr>
          <p:spPr bwMode="auto">
            <a:xfrm>
              <a:off x="3592384" y="4293358"/>
              <a:ext cx="739341" cy="830968"/>
            </a:xfrm>
            <a:custGeom>
              <a:avLst/>
              <a:gdLst/>
              <a:ahLst/>
              <a:cxnLst>
                <a:cxn ang="0">
                  <a:pos x="540" y="624"/>
                </a:cxn>
                <a:cxn ang="0">
                  <a:pos x="465" y="414"/>
                </a:cxn>
                <a:cxn ang="0">
                  <a:pos x="159" y="264"/>
                </a:cxn>
                <a:cxn ang="0">
                  <a:pos x="54" y="162"/>
                </a:cxn>
                <a:cxn ang="0">
                  <a:pos x="0" y="0"/>
                </a:cxn>
              </a:cxnLst>
              <a:rect l="0" t="0" r="r" b="b"/>
              <a:pathLst>
                <a:path w="540" h="624">
                  <a:moveTo>
                    <a:pt x="540" y="624"/>
                  </a:moveTo>
                  <a:cubicBezTo>
                    <a:pt x="528" y="589"/>
                    <a:pt x="529" y="474"/>
                    <a:pt x="465" y="414"/>
                  </a:cubicBezTo>
                  <a:cubicBezTo>
                    <a:pt x="417" y="341"/>
                    <a:pt x="236" y="333"/>
                    <a:pt x="159" y="264"/>
                  </a:cubicBezTo>
                  <a:cubicBezTo>
                    <a:pt x="91" y="222"/>
                    <a:pt x="80" y="206"/>
                    <a:pt x="54" y="162"/>
                  </a:cubicBezTo>
                  <a:cubicBezTo>
                    <a:pt x="28" y="118"/>
                    <a:pt x="11" y="34"/>
                    <a:pt x="0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7410" name="Text Box 2"/>
            <p:cNvSpPr txBox="1">
              <a:spLocks noChangeArrowheads="1"/>
            </p:cNvSpPr>
            <p:nvPr/>
          </p:nvSpPr>
          <p:spPr bwMode="auto">
            <a:xfrm>
              <a:off x="2193420" y="3500438"/>
              <a:ext cx="925348" cy="30438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工作带</a:t>
              </a:r>
              <a:endParaRPr kumimoji="0" 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</p:grpSp>
      <p:sp>
        <p:nvSpPr>
          <p:cNvPr id="21" name="灯片编号占位符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14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00034" y="3071810"/>
            <a:ext cx="8072494" cy="3323987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1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当图灵机的读写头扫描到一个格子的字符时，根据控制器的当前状态和扫描到的字符决定图灵机的动作，包括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方面：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控制器进行状态转换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（决定下一状态）、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读写头上当前格子写上新的字符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决定读写头向左或向右移动一格或者停留在原处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457200" indent="-457200" algn="l">
              <a:lnSpc>
                <a:spcPts val="31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图灵机运行前工作带上的内容就是输入，当图灵机运行后进入结束状态，那么图灵机就停机，此时工作带上的内容就是计算的输出结果。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571604" y="410433"/>
            <a:ext cx="5177750" cy="2304187"/>
            <a:chOff x="1823142" y="3500438"/>
            <a:chExt cx="5177750" cy="2304187"/>
          </a:xfrm>
        </p:grpSpPr>
        <p:sp>
          <p:nvSpPr>
            <p:cNvPr id="6" name="Text Box 16"/>
            <p:cNvSpPr txBox="1">
              <a:spLocks noChangeArrowheads="1"/>
            </p:cNvSpPr>
            <p:nvPr/>
          </p:nvSpPr>
          <p:spPr bwMode="auto">
            <a:xfrm>
              <a:off x="2742064" y="4500339"/>
              <a:ext cx="925348" cy="30590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读写头</a:t>
              </a:r>
              <a:endParaRPr kumimoji="0" 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7" name="Text Box 15"/>
            <p:cNvSpPr txBox="1">
              <a:spLocks noChangeArrowheads="1"/>
            </p:cNvSpPr>
            <p:nvPr/>
          </p:nvSpPr>
          <p:spPr bwMode="auto">
            <a:xfrm>
              <a:off x="1823142" y="3896137"/>
              <a:ext cx="386083" cy="3774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8" name="Text Box 14"/>
            <p:cNvSpPr txBox="1">
              <a:spLocks noChangeArrowheads="1"/>
            </p:cNvSpPr>
            <p:nvPr/>
          </p:nvSpPr>
          <p:spPr bwMode="auto">
            <a:xfrm>
              <a:off x="2209224" y="3896137"/>
              <a:ext cx="387646" cy="3774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9" name="Text Box 13"/>
            <p:cNvSpPr txBox="1">
              <a:spLocks noChangeArrowheads="1"/>
            </p:cNvSpPr>
            <p:nvPr/>
          </p:nvSpPr>
          <p:spPr bwMode="auto">
            <a:xfrm>
              <a:off x="2607638" y="3896137"/>
              <a:ext cx="775292" cy="3774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zh-CN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10" name="Text Box 12"/>
            <p:cNvSpPr txBox="1">
              <a:spLocks noChangeArrowheads="1"/>
            </p:cNvSpPr>
            <p:nvPr/>
          </p:nvSpPr>
          <p:spPr bwMode="auto">
            <a:xfrm>
              <a:off x="3379804" y="3896137"/>
              <a:ext cx="386083" cy="3774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4548994" y="3896137"/>
              <a:ext cx="387646" cy="3774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a</a:t>
              </a:r>
              <a:r>
                <a:rPr kumimoji="0" lang="en-US" altLang="zh-CN" sz="1800" i="1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n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4934556" y="3896137"/>
              <a:ext cx="387646" cy="3774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5322202" y="3896137"/>
              <a:ext cx="387646" cy="3774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4" name="Text Box 8"/>
            <p:cNvSpPr txBox="1">
              <a:spLocks noChangeArrowheads="1"/>
            </p:cNvSpPr>
            <p:nvPr/>
          </p:nvSpPr>
          <p:spPr bwMode="auto">
            <a:xfrm>
              <a:off x="3773702" y="3896137"/>
              <a:ext cx="775292" cy="3774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zh-CN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15" name="Text Box 5"/>
            <p:cNvSpPr txBox="1">
              <a:spLocks noChangeArrowheads="1"/>
            </p:cNvSpPr>
            <p:nvPr/>
          </p:nvSpPr>
          <p:spPr bwMode="auto">
            <a:xfrm>
              <a:off x="5715008" y="3895573"/>
              <a:ext cx="1285884" cy="378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08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27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+mj-ea"/>
                  <a:ea typeface="+mj-ea"/>
                  <a:cs typeface="Times New Roman" pitchFamily="18" charset="0"/>
                </a:rPr>
                <a:t>…</a:t>
              </a:r>
              <a:endParaRPr kumimoji="0" lang="zh-CN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+mj-ea"/>
                <a:ea typeface="+mj-ea"/>
                <a:cs typeface="宋体" pitchFamily="2" charset="-122"/>
              </a:endParaRPr>
            </a:p>
          </p:txBody>
        </p:sp>
        <p:sp>
          <p:nvSpPr>
            <p:cNvPr id="17" name="Text Box 4"/>
            <p:cNvSpPr txBox="1">
              <a:spLocks noChangeArrowheads="1"/>
            </p:cNvSpPr>
            <p:nvPr/>
          </p:nvSpPr>
          <p:spPr bwMode="auto">
            <a:xfrm>
              <a:off x="3839352" y="5124327"/>
              <a:ext cx="1241092" cy="68029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36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有限状态控制器</a:t>
              </a:r>
              <a:endParaRPr kumimoji="0" 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8" name="Freeform 3"/>
            <p:cNvSpPr>
              <a:spLocks/>
            </p:cNvSpPr>
            <p:nvPr/>
          </p:nvSpPr>
          <p:spPr bwMode="auto">
            <a:xfrm>
              <a:off x="3592384" y="4293358"/>
              <a:ext cx="739341" cy="830968"/>
            </a:xfrm>
            <a:custGeom>
              <a:avLst/>
              <a:gdLst/>
              <a:ahLst/>
              <a:cxnLst>
                <a:cxn ang="0">
                  <a:pos x="540" y="624"/>
                </a:cxn>
                <a:cxn ang="0">
                  <a:pos x="465" y="414"/>
                </a:cxn>
                <a:cxn ang="0">
                  <a:pos x="159" y="264"/>
                </a:cxn>
                <a:cxn ang="0">
                  <a:pos x="54" y="162"/>
                </a:cxn>
                <a:cxn ang="0">
                  <a:pos x="0" y="0"/>
                </a:cxn>
              </a:cxnLst>
              <a:rect l="0" t="0" r="r" b="b"/>
              <a:pathLst>
                <a:path w="540" h="624">
                  <a:moveTo>
                    <a:pt x="540" y="624"/>
                  </a:moveTo>
                  <a:cubicBezTo>
                    <a:pt x="528" y="589"/>
                    <a:pt x="529" y="474"/>
                    <a:pt x="465" y="414"/>
                  </a:cubicBezTo>
                  <a:cubicBezTo>
                    <a:pt x="417" y="341"/>
                    <a:pt x="236" y="333"/>
                    <a:pt x="159" y="264"/>
                  </a:cubicBezTo>
                  <a:cubicBezTo>
                    <a:pt x="91" y="222"/>
                    <a:pt x="80" y="206"/>
                    <a:pt x="54" y="162"/>
                  </a:cubicBezTo>
                  <a:cubicBezTo>
                    <a:pt x="28" y="118"/>
                    <a:pt x="11" y="34"/>
                    <a:pt x="0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9" name="Text Box 2"/>
            <p:cNvSpPr txBox="1">
              <a:spLocks noChangeArrowheads="1"/>
            </p:cNvSpPr>
            <p:nvPr/>
          </p:nvSpPr>
          <p:spPr bwMode="auto">
            <a:xfrm>
              <a:off x="2193420" y="3500438"/>
              <a:ext cx="925348" cy="30438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工作带</a:t>
              </a:r>
              <a:endParaRPr kumimoji="0" 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</p:grpSp>
      <p:sp>
        <p:nvSpPr>
          <p:cNvPr id="21" name="灯片编号占位符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15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642918"/>
            <a:ext cx="7358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图灵机又分为确定性图灵机和非确定性图灵机两种。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96" y="1428736"/>
            <a:ext cx="8358246" cy="3089948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确定性图灵机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deterministic Turing machine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，简称为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DTM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动作函数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δ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是一个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单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值映射，即在一个状态下，扫描到带上一格的字符，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只能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产生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一个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动作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非确定性图灵机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non deterministic Turing machine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，简称为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NDTM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同确定性图灵机的区别在于它的动作函数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δ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是一个多值映射，即在一个状态下，扫描到带上一格的字符，可以产生多个动作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16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71472" y="571480"/>
            <a:ext cx="4500594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chemeClr val="bg1"/>
                </a:solidFill>
                <a:latin typeface="Consolas" pitchFamily="49" charset="0"/>
                <a:ea typeface="微软雅黑" pitchFamily="34" charset="-122"/>
              </a:rPr>
              <a:t>图灵机的停机与可计算性问题</a:t>
            </a:r>
            <a:endParaRPr lang="zh-CN" altLang="en-US">
              <a:solidFill>
                <a:schemeClr val="bg1"/>
              </a:solidFill>
              <a:latin typeface="Consolas" pitchFamily="49" charset="0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1500174"/>
            <a:ext cx="8215370" cy="278537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一个图灵机并不是对任何输入都能停机。一般来说，一个图灵机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对一个输入串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的工作过程可能遇到三种情况：</a:t>
            </a:r>
          </a:p>
          <a:p>
            <a:pPr marL="720000" lvl="1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进入终止状态，这时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停机，并接受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720000" lvl="1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未进入终止状态，但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δ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无定义，此时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停机，但不接受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w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marL="720000" lvl="1" indent="-457200" algn="l" defTabSz="360000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一直不进入终止状态，且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δ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一直有定义。这时进入死循环，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永不停机。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17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71472" y="571480"/>
            <a:ext cx="4500594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chemeClr val="bg1"/>
                </a:solidFill>
                <a:latin typeface="Consolas" pitchFamily="49" charset="0"/>
                <a:ea typeface="微软雅黑" pitchFamily="34" charset="-122"/>
              </a:rPr>
              <a:t>图灵机的停机与可计算性问题</a:t>
            </a:r>
            <a:endParaRPr lang="zh-CN" altLang="en-US">
              <a:solidFill>
                <a:schemeClr val="bg1"/>
              </a:solidFill>
              <a:latin typeface="Consolas" pitchFamily="49" charset="0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2910" y="1571612"/>
            <a:ext cx="7929618" cy="327269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从根本上说，一个算法就是一个确定的、对任意输入都停机的图灵机。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可计算问题是“当且仅当它在图灵机上经过有限步骤之后可以得到正确的结果”。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提出图灵机的目的在于对有效的计算过程进行形式化的描述，忽略模型的存储容量在内的一些细节问题，只考虑算法的基本特征。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18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428604"/>
            <a:ext cx="3214710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11.1.4 P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类问题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472" y="1428736"/>
            <a:ext cx="8072494" cy="173380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定义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11.2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是求解问题∏的一个算法，如果对于任意实例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在整个执行过程中每一步都只有一种选择，则称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确定性算法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，因此对于同样的输入确定性算法的输出一定是相同的。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19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00034" y="500042"/>
            <a:ext cx="8072494" cy="173380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定义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11.3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判定问题的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类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由这样的判定问题组成，它们的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yes/no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解可以</a:t>
            </a:r>
            <a:r>
              <a:rPr lang="zh-CN" altLang="zh-CN">
                <a:solidFill>
                  <a:srgbClr val="FF00FF"/>
                </a:solidFill>
                <a:latin typeface="Consolas" pitchFamily="49" charset="0"/>
                <a:ea typeface="仿宋" pitchFamily="49" charset="-122"/>
              </a:rPr>
              <a:t>用确定性算法在运行多项式时间内得到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。简单地说一个判定问题∏是多项式时间可解的则∏∈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。一个判定问题∏是易解问题当且仅当∏∈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34" y="2643182"/>
            <a:ext cx="8072494" cy="173380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图灵机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求解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的时间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TM(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是它处理所有长度为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的输入所需要的最大计算步骤，如果存在多项式函数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，使得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TM(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，则称问题∏是多项式时间可计算的，所有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DTM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多项式时间可计算的判定问题组成的问题类称为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类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20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2844" y="428604"/>
            <a:ext cx="8786874" cy="50270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11.4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证明求两个序列最长公共子序列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的判定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问题属于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96" y="1714488"/>
            <a:ext cx="8358246" cy="4837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求最长公共子序列原问题是给定两个序列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+mn-ea"/>
                <a:ea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+mn-ea"/>
                <a:ea typeface="+mn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），求它们的最长公共子序列的长度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对应的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判定问题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是给定一个正整数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，问存在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的长度不小于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的公共子序列吗？</a:t>
            </a: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可以设计这样的算法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，先利用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7.5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节求最长公共子序列长度的算法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LCSlength()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，其时间复杂度为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，属于多项式时间算法，如果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zh-CN" altLang="zh-CN">
                <a:solidFill>
                  <a:srgbClr val="0000FF"/>
                </a:solidFill>
                <a:latin typeface="+mn-ea"/>
                <a:ea typeface="+mn-ea"/>
              </a:rPr>
              <a:t>≤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，则回答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yes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，否则回答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no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显然算法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也是多项式时间算法，所以求最长公共子序列问题属于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34" y="1142984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证明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21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428604"/>
            <a:ext cx="3214710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11.1.5 NP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类问题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1285860"/>
            <a:ext cx="8072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对于输入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实例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，一个非确定性算法由下列两个阶段组成。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58" y="1928802"/>
            <a:ext cx="8501122" cy="304185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（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）猜测阶段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。产生一个任意字符串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，它可能对应于输入实例的一个解，也可以不对应解。仅仅要求在多项式步数内产生这个串，即时间为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i="1" baseline="30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，这里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=|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|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是非负整数。</a:t>
            </a: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（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2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）验证阶段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。首先检查产生的解串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是否有合适的形式，如果不是则算法停下并回答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no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。如果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是合适形式，那么算法继续检查它是否是问题实例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的解，如果它确实是实例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的解，那么它停下并且回答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yes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，否则它停下并回答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no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22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714356"/>
            <a:ext cx="8358246" cy="352917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定义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11.4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是求解问题∏的一个非确定性算法，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接受实例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当且仅当对于输入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存在一个导致回答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yes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的猜测。换句话说，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接受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当且仅当可能在算法的某次执行上它的验证阶段将回答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yes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。如果算法回答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no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，那么这并不意味着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不接受它的输入，因为算法可能猜测了一个不正确解。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600"/>
              </a:spcBef>
            </a:pPr>
            <a:endParaRPr lang="zh-CN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定义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11.5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判定问题的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类由这样的判定问题组成，它们存在着多项式时间内运行的非确定性算法。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23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642918"/>
            <a:ext cx="8286808" cy="91307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定义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11.6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简单地说一个判定问题∏是多项式时间可验证的则∏∈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720" y="2571744"/>
            <a:ext cx="8358246" cy="170495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从图灵机的角度看，如果问题∏的任意实例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输入给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NDTM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都能够经过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NDTM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有限步计算到达停机状态，则称问题∏是非确定图灵机可计算的。所有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NDTM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多项式时间可计算的判定问题组成的问题类称为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类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24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500042"/>
            <a:ext cx="8286808" cy="91307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11.6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证明例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11.2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图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着色问题的判定问题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COLOING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属于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问题。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96" y="2357430"/>
            <a:ext cx="8358246" cy="3118803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方法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：建立非确定性算法。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当图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用编码表示后，很容易地构建算法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：首先通过对顶点集合产生一个任意的颜色“猜测”为一个解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，接着算法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验证这个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是否为有效解，如果它是一个有效解，那么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停下并且回答“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yes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”，否则它停下并回答“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no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”。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在猜测和验证两个阶段总共花费不多于多项式时间，从定义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11.5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可以得出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COLORING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属于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34" y="1785926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证明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25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571480"/>
            <a:ext cx="8643998" cy="229806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方法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COLORING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问题的一个实例，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被宣称为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的解。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容易建立一个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确定性算法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来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验证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是否确实是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的解（假设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为着色数目，一定同时求出一个对应的着色方案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，检测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是否为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颜色的着色方案只需要遍历每一条边即可）。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从定义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11.6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可以得出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COLORING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属于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26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85720" y="1000108"/>
            <a:ext cx="8358246" cy="396518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800"/>
              </a:lnSpc>
              <a:spcBef>
                <a:spcPts val="12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定理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11.1  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Symbol"/>
              </a:rPr>
              <a:t>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algn="l">
              <a:lnSpc>
                <a:spcPts val="3800"/>
              </a:lnSpc>
              <a:spcBef>
                <a:spcPts val="1200"/>
              </a:spcBef>
            </a:pPr>
            <a:r>
              <a:rPr lang="zh-CN" altLang="zh-CN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证明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：这是显而易见的。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如果某个问题∏属于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类，则它有一个确定性的求解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算法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8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很容易由算法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构造出这样的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算法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对该问题的一个实例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展示一个断言解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（证书）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时，它一定能够在多项式时间内验证解的正确性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（当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A(x,y)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回答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yes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说明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是实例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的一个解）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，所以问题∏也属于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27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28596" y="1785926"/>
            <a:ext cx="8215370" cy="91307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从图灵机的角度看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，显然：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所有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DTM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多项式时间可计算的问题一定是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NDTM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多项式时间可计算的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，所以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Symbol"/>
              </a:rPr>
              <a:t>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28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786050" y="1785926"/>
            <a:ext cx="1785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400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P=NP</a:t>
            </a:r>
            <a:endParaRPr lang="zh-CN" altLang="en-US" sz="4000">
              <a:solidFill>
                <a:srgbClr val="0000FF"/>
              </a:solidFill>
              <a:latin typeface="Tahoma" pitchFamily="34" charset="0"/>
              <a:ea typeface="仿宋" pitchFamily="49" charset="-122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00562" y="1357298"/>
            <a:ext cx="13573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9600">
                <a:solidFill>
                  <a:srgbClr val="FF0000"/>
                </a:solidFill>
                <a:latin typeface="Consolas" pitchFamily="49" charset="0"/>
                <a:cs typeface="Tahoma" pitchFamily="34" charset="0"/>
              </a:rPr>
              <a:t>？</a:t>
            </a:r>
            <a:endParaRPr lang="zh-CN" altLang="en-US" sz="96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29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>
            <a:hlinkClick r:id="rId2" action="ppaction://hlinksldjump"/>
          </p:cNvPr>
          <p:cNvSpPr txBox="1"/>
          <p:nvPr/>
        </p:nvSpPr>
        <p:spPr>
          <a:xfrm>
            <a:off x="642910" y="428604"/>
            <a:ext cx="6786610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11.2 </a:t>
            </a:r>
            <a:r>
              <a:rPr lang="zh-CN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</a:rPr>
              <a:t>多项式时间变换和问题归约</a:t>
            </a:r>
            <a:endParaRPr lang="zh-CN" altLang="en-US" sz="3200" spc="5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0034" y="1500174"/>
            <a:ext cx="80724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假设问题∏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存在一个算法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，对于问题∏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的输入实例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，算法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的输出结果为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。另外有一个问题∏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，其输入实例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对应的输出为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问题∏</a:t>
            </a:r>
            <a:r>
              <a:rPr lang="en-US" altLang="zh-CN" baseline="-25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变换到问题∏</a:t>
            </a:r>
            <a:r>
              <a:rPr lang="en-US" altLang="zh-CN" baseline="-25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的步骤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如下。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910" y="3023242"/>
            <a:ext cx="8072494" cy="1477328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输入转换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。把问题∏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的输入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转换为问题∏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的适当输入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I'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问题求解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。对问题∏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应用算法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B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产生一个输出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O'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输出转换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。把问题∏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的输入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O'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转换为问题∏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的正确输出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O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30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928662" y="500042"/>
            <a:ext cx="6500858" cy="2071702"/>
            <a:chOff x="1428728" y="2357430"/>
            <a:chExt cx="6500858" cy="2071702"/>
          </a:xfrm>
        </p:grpSpPr>
        <p:sp>
          <p:nvSpPr>
            <p:cNvPr id="1039" name="Rectangle 15"/>
            <p:cNvSpPr>
              <a:spLocks noChangeArrowheads="1"/>
            </p:cNvSpPr>
            <p:nvPr/>
          </p:nvSpPr>
          <p:spPr bwMode="auto">
            <a:xfrm>
              <a:off x="1533298" y="3439506"/>
              <a:ext cx="203350" cy="32100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038" name="Rectangle 14"/>
            <p:cNvSpPr>
              <a:spLocks noChangeArrowheads="1"/>
            </p:cNvSpPr>
            <p:nvPr/>
          </p:nvSpPr>
          <p:spPr bwMode="auto">
            <a:xfrm>
              <a:off x="3191485" y="3004107"/>
              <a:ext cx="2833248" cy="124783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FF"/>
              </a:solidFill>
              <a:prstDash val="solid"/>
              <a:miter lim="800000"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3517663" y="3406822"/>
              <a:ext cx="324814" cy="32100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I'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036" name="Rectangle 12"/>
            <p:cNvSpPr>
              <a:spLocks noChangeArrowheads="1"/>
            </p:cNvSpPr>
            <p:nvPr/>
          </p:nvSpPr>
          <p:spPr bwMode="auto">
            <a:xfrm>
              <a:off x="5368282" y="3413825"/>
              <a:ext cx="324814" cy="32100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O'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035" name="Rectangle 11"/>
            <p:cNvSpPr>
              <a:spLocks noChangeArrowheads="1"/>
            </p:cNvSpPr>
            <p:nvPr/>
          </p:nvSpPr>
          <p:spPr bwMode="auto">
            <a:xfrm>
              <a:off x="1736648" y="2467155"/>
              <a:ext cx="1072704" cy="32100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问题∏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034" name="Rectangle 10"/>
            <p:cNvSpPr>
              <a:spLocks noChangeArrowheads="1"/>
            </p:cNvSpPr>
            <p:nvPr/>
          </p:nvSpPr>
          <p:spPr bwMode="auto">
            <a:xfrm>
              <a:off x="4227340" y="3085817"/>
              <a:ext cx="989453" cy="32100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问题∏</a:t>
              </a:r>
              <a:r>
                <a:rPr kumimoji="0" lang="en-US" altLang="zh-CN" sz="20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4022626" y="3529387"/>
              <a:ext cx="1194168" cy="463413"/>
            </a:xfrm>
            <a:prstGeom prst="rect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45720" rIns="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算法</a:t>
              </a: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B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032" name="AutoShape 8"/>
            <p:cNvSpPr>
              <a:spLocks noChangeShapeType="1"/>
            </p:cNvSpPr>
            <p:nvPr/>
          </p:nvSpPr>
          <p:spPr bwMode="auto">
            <a:xfrm flipV="1">
              <a:off x="3428954" y="3761677"/>
              <a:ext cx="580024" cy="1167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031" name="AutoShape 7"/>
            <p:cNvSpPr>
              <a:spLocks noChangeShapeType="1"/>
            </p:cNvSpPr>
            <p:nvPr/>
          </p:nvSpPr>
          <p:spPr bwMode="auto">
            <a:xfrm flipV="1">
              <a:off x="5230441" y="3779186"/>
              <a:ext cx="580024" cy="1167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round/>
              <a:headEnd type="none" w="med" len="med"/>
              <a:tailEnd type="arrow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1030" name="AutoShape 6"/>
            <p:cNvSpPr>
              <a:spLocks noChangeArrowheads="1"/>
            </p:cNvSpPr>
            <p:nvPr/>
          </p:nvSpPr>
          <p:spPr bwMode="auto">
            <a:xfrm>
              <a:off x="1742107" y="3277253"/>
              <a:ext cx="1363398" cy="640841"/>
            </a:xfrm>
            <a:prstGeom prst="rightArrow">
              <a:avLst>
                <a:gd name="adj1" fmla="val 50000"/>
                <a:gd name="adj2" fmla="val 45492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输入转换</a:t>
              </a:r>
              <a:endPara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029" name="Rectangle 5"/>
            <p:cNvSpPr>
              <a:spLocks noChangeArrowheads="1"/>
            </p:cNvSpPr>
            <p:nvPr/>
          </p:nvSpPr>
          <p:spPr bwMode="auto">
            <a:xfrm>
              <a:off x="7633788" y="3436004"/>
              <a:ext cx="203350" cy="32100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i="0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O</a:t>
              </a:r>
              <a:endPara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1028" name="AutoShape 4"/>
            <p:cNvSpPr>
              <a:spLocks noChangeArrowheads="1"/>
            </p:cNvSpPr>
            <p:nvPr/>
          </p:nvSpPr>
          <p:spPr bwMode="auto">
            <a:xfrm>
              <a:off x="6196693" y="3273751"/>
              <a:ext cx="1363398" cy="640841"/>
            </a:xfrm>
            <a:prstGeom prst="rightArrow">
              <a:avLst>
                <a:gd name="adj1" fmla="val 50000"/>
                <a:gd name="adj2" fmla="val 45492"/>
              </a:avLst>
            </a:prstGeom>
            <a:ln>
              <a:headEnd/>
              <a:tailEnd type="none" w="sm" len="sm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sz="20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输出转换</a:t>
              </a:r>
              <a:endParaRPr kumimoji="0" lang="zh-CN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428728" y="2357430"/>
              <a:ext cx="6500858" cy="2071702"/>
            </a:xfrm>
            <a:prstGeom prst="rect">
              <a:avLst/>
            </a:prstGeom>
            <a:ln w="19050">
              <a:solidFill>
                <a:srgbClr val="FF00FF"/>
              </a:solidFill>
              <a:prstDash val="solid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71472" y="3286124"/>
            <a:ext cx="7858180" cy="91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如果对于问题∏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的任何实例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都可以通过该变换得到正确的输出，可以将其看成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求解问题∏</a:t>
            </a:r>
            <a:r>
              <a:rPr lang="en-US" altLang="zh-CN" baseline="-25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的算法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A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31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642918"/>
            <a:ext cx="8286808" cy="91307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11.7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假设图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）是权为正数的带权连通图，给出求图的最小生成树到求图的最大生成树的变换过程。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2910" y="2000240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解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3042" y="1928802"/>
            <a:ext cx="7072362" cy="884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仅仅考虑求生成树的边权和，以求图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的最小生成树为基础求图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的最大生成树的过程如下：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472" y="3143248"/>
            <a:ext cx="8143932" cy="229806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）求出图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中最大边权值</a:t>
            </a:r>
            <a:r>
              <a:rPr lang="en-US" altLang="zh-CN" sz="22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maxc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=max</a:t>
            </a:r>
            <a:r>
              <a:rPr lang="en-US" altLang="zh-CN" sz="2200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∈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| 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为边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的权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，将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中所有边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的权修改为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maxc+1-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得到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E'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）采用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Kruskal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算法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求出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E'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的最小生成树的边权和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mincost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）图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的最大生成树的边权和为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-1)×(</a:t>
            </a:r>
            <a:r>
              <a:rPr lang="en-US" altLang="zh-CN" sz="22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maxc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+1)-mincost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（其中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=|V|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32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843" name="Rectangle 7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81" name="组合 80"/>
          <p:cNvGrpSpPr/>
          <p:nvPr/>
        </p:nvGrpSpPr>
        <p:grpSpPr>
          <a:xfrm>
            <a:off x="1385756" y="285728"/>
            <a:ext cx="2686178" cy="2322720"/>
            <a:chOff x="252002" y="2361134"/>
            <a:chExt cx="2686178" cy="2322720"/>
          </a:xfrm>
        </p:grpSpPr>
        <p:sp>
          <p:nvSpPr>
            <p:cNvPr id="32841" name="Rectangle 73"/>
            <p:cNvSpPr>
              <a:spLocks noChangeArrowheads="1"/>
            </p:cNvSpPr>
            <p:nvPr/>
          </p:nvSpPr>
          <p:spPr bwMode="auto">
            <a:xfrm>
              <a:off x="1557718" y="2361134"/>
              <a:ext cx="277961" cy="2265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840" name="Rectangle 72"/>
            <p:cNvSpPr>
              <a:spLocks noChangeArrowheads="1"/>
            </p:cNvSpPr>
            <p:nvPr/>
          </p:nvSpPr>
          <p:spPr bwMode="auto">
            <a:xfrm>
              <a:off x="511277" y="2835167"/>
              <a:ext cx="277961" cy="2265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839" name="Rectangle 71"/>
            <p:cNvSpPr>
              <a:spLocks noChangeArrowheads="1"/>
            </p:cNvSpPr>
            <p:nvPr/>
          </p:nvSpPr>
          <p:spPr bwMode="auto">
            <a:xfrm>
              <a:off x="563832" y="3648933"/>
              <a:ext cx="277961" cy="2265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838" name="Rectangle 70"/>
            <p:cNvSpPr>
              <a:spLocks noChangeArrowheads="1"/>
            </p:cNvSpPr>
            <p:nvPr/>
          </p:nvSpPr>
          <p:spPr bwMode="auto">
            <a:xfrm>
              <a:off x="1138441" y="2948417"/>
              <a:ext cx="277961" cy="2265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837" name="Rectangle 69"/>
            <p:cNvSpPr>
              <a:spLocks noChangeArrowheads="1"/>
            </p:cNvSpPr>
            <p:nvPr/>
          </p:nvSpPr>
          <p:spPr bwMode="auto">
            <a:xfrm>
              <a:off x="1888234" y="2979940"/>
              <a:ext cx="277961" cy="2265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836" name="Rectangle 68"/>
            <p:cNvSpPr>
              <a:spLocks noChangeArrowheads="1"/>
            </p:cNvSpPr>
            <p:nvPr/>
          </p:nvSpPr>
          <p:spPr bwMode="auto">
            <a:xfrm>
              <a:off x="1557718" y="4027211"/>
              <a:ext cx="277961" cy="2265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835" name="Rectangle 67"/>
            <p:cNvSpPr>
              <a:spLocks noChangeArrowheads="1"/>
            </p:cNvSpPr>
            <p:nvPr/>
          </p:nvSpPr>
          <p:spPr bwMode="auto">
            <a:xfrm>
              <a:off x="2520070" y="2782628"/>
              <a:ext cx="277961" cy="2265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834" name="Rectangle 66"/>
            <p:cNvSpPr>
              <a:spLocks noChangeArrowheads="1"/>
            </p:cNvSpPr>
            <p:nvPr/>
          </p:nvSpPr>
          <p:spPr bwMode="auto">
            <a:xfrm>
              <a:off x="1871884" y="3504159"/>
              <a:ext cx="277961" cy="2265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7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833" name="Rectangle 65"/>
            <p:cNvSpPr>
              <a:spLocks noChangeArrowheads="1"/>
            </p:cNvSpPr>
            <p:nvPr/>
          </p:nvSpPr>
          <p:spPr bwMode="auto">
            <a:xfrm>
              <a:off x="2446492" y="3617410"/>
              <a:ext cx="277961" cy="2265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832" name="Oval 64"/>
            <p:cNvSpPr>
              <a:spLocks noChangeArrowheads="1"/>
            </p:cNvSpPr>
            <p:nvPr/>
          </p:nvSpPr>
          <p:spPr bwMode="auto">
            <a:xfrm>
              <a:off x="952744" y="2474402"/>
              <a:ext cx="364386" cy="360766"/>
            </a:xfrm>
            <a:prstGeom prst="ellipse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0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831" name="Oval 63"/>
            <p:cNvSpPr>
              <a:spLocks noChangeArrowheads="1"/>
            </p:cNvSpPr>
            <p:nvPr/>
          </p:nvSpPr>
          <p:spPr bwMode="auto">
            <a:xfrm>
              <a:off x="2027215" y="2474402"/>
              <a:ext cx="365554" cy="360766"/>
            </a:xfrm>
            <a:prstGeom prst="ellipse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1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830" name="Oval 62"/>
            <p:cNvSpPr>
              <a:spLocks noChangeArrowheads="1"/>
            </p:cNvSpPr>
            <p:nvPr/>
          </p:nvSpPr>
          <p:spPr bwMode="auto">
            <a:xfrm>
              <a:off x="252002" y="3174917"/>
              <a:ext cx="365554" cy="360766"/>
            </a:xfrm>
            <a:prstGeom prst="ellipse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2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829" name="Oval 61"/>
            <p:cNvSpPr>
              <a:spLocks noChangeArrowheads="1"/>
            </p:cNvSpPr>
            <p:nvPr/>
          </p:nvSpPr>
          <p:spPr bwMode="auto">
            <a:xfrm>
              <a:off x="1470125" y="3174917"/>
              <a:ext cx="365554" cy="360766"/>
            </a:xfrm>
            <a:prstGeom prst="ellipse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3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828" name="Oval 60"/>
            <p:cNvSpPr>
              <a:spLocks noChangeArrowheads="1"/>
            </p:cNvSpPr>
            <p:nvPr/>
          </p:nvSpPr>
          <p:spPr bwMode="auto">
            <a:xfrm>
              <a:off x="2572626" y="3174917"/>
              <a:ext cx="365554" cy="360766"/>
            </a:xfrm>
            <a:prstGeom prst="ellipse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6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827" name="Oval 59"/>
            <p:cNvSpPr>
              <a:spLocks noChangeArrowheads="1"/>
            </p:cNvSpPr>
            <p:nvPr/>
          </p:nvSpPr>
          <p:spPr bwMode="auto">
            <a:xfrm>
              <a:off x="952744" y="3846245"/>
              <a:ext cx="365554" cy="360766"/>
            </a:xfrm>
            <a:prstGeom prst="ellipse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4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826" name="Oval 58"/>
            <p:cNvSpPr>
              <a:spLocks noChangeArrowheads="1"/>
            </p:cNvSpPr>
            <p:nvPr/>
          </p:nvSpPr>
          <p:spPr bwMode="auto">
            <a:xfrm>
              <a:off x="2027215" y="3846245"/>
              <a:ext cx="365554" cy="360766"/>
            </a:xfrm>
            <a:prstGeom prst="ellipse">
              <a:avLst/>
            </a:prstGeom>
            <a:ln>
              <a:headEnd/>
              <a:tailEnd type="none" w="sm" len="sm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5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  <p:sp>
          <p:nvSpPr>
            <p:cNvPr id="32825" name="AutoShape 57"/>
            <p:cNvSpPr>
              <a:spLocks noChangeShapeType="1"/>
            </p:cNvSpPr>
            <p:nvPr/>
          </p:nvSpPr>
          <p:spPr bwMode="auto">
            <a:xfrm>
              <a:off x="1317130" y="2655368"/>
              <a:ext cx="710085" cy="116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32824" name="AutoShape 56"/>
            <p:cNvSpPr>
              <a:spLocks noChangeShapeType="1"/>
            </p:cNvSpPr>
            <p:nvPr/>
          </p:nvSpPr>
          <p:spPr bwMode="auto">
            <a:xfrm flipH="1">
              <a:off x="563832" y="2782628"/>
              <a:ext cx="442635" cy="44482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32823" name="AutoShape 55"/>
            <p:cNvSpPr>
              <a:spLocks noChangeShapeType="1"/>
            </p:cNvSpPr>
            <p:nvPr/>
          </p:nvSpPr>
          <p:spPr bwMode="auto">
            <a:xfrm>
              <a:off x="1263406" y="2782628"/>
              <a:ext cx="260442" cy="44482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32822" name="AutoShape 54"/>
            <p:cNvSpPr>
              <a:spLocks noChangeShapeType="1"/>
            </p:cNvSpPr>
            <p:nvPr/>
          </p:nvSpPr>
          <p:spPr bwMode="auto">
            <a:xfrm flipH="1">
              <a:off x="1781955" y="2782628"/>
              <a:ext cx="298983" cy="44482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32821" name="AutoShape 53"/>
            <p:cNvSpPr>
              <a:spLocks noChangeShapeType="1"/>
            </p:cNvSpPr>
            <p:nvPr/>
          </p:nvSpPr>
          <p:spPr bwMode="auto">
            <a:xfrm>
              <a:off x="1781955" y="3483144"/>
              <a:ext cx="298983" cy="41563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32820" name="AutoShape 52"/>
            <p:cNvSpPr>
              <a:spLocks noChangeShapeType="1"/>
            </p:cNvSpPr>
            <p:nvPr/>
          </p:nvSpPr>
          <p:spPr bwMode="auto">
            <a:xfrm>
              <a:off x="2339045" y="2782628"/>
              <a:ext cx="416941" cy="39228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32819" name="AutoShape 51"/>
            <p:cNvSpPr>
              <a:spLocks noChangeShapeType="1"/>
            </p:cNvSpPr>
            <p:nvPr/>
          </p:nvSpPr>
          <p:spPr bwMode="auto">
            <a:xfrm flipH="1">
              <a:off x="2339045" y="3483144"/>
              <a:ext cx="287304" cy="41563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32818" name="AutoShape 50"/>
            <p:cNvSpPr>
              <a:spLocks noChangeShapeType="1"/>
            </p:cNvSpPr>
            <p:nvPr/>
          </p:nvSpPr>
          <p:spPr bwMode="auto">
            <a:xfrm>
              <a:off x="563832" y="3483144"/>
              <a:ext cx="442635" cy="41563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32817" name="AutoShape 49"/>
            <p:cNvSpPr>
              <a:spLocks noChangeShapeType="1"/>
            </p:cNvSpPr>
            <p:nvPr/>
          </p:nvSpPr>
          <p:spPr bwMode="auto">
            <a:xfrm>
              <a:off x="1318298" y="4027211"/>
              <a:ext cx="708917" cy="116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none" w="sm" len="sm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32816" name="Rectangle 48"/>
            <p:cNvSpPr>
              <a:spLocks noChangeArrowheads="1"/>
            </p:cNvSpPr>
            <p:nvPr/>
          </p:nvSpPr>
          <p:spPr bwMode="auto">
            <a:xfrm>
              <a:off x="357158" y="4361398"/>
              <a:ext cx="2397020" cy="32245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 type="none" w="sm" len="sm"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(a) </a:t>
              </a:r>
              <a:r>
                <a: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Times New Roman" pitchFamily="18" charset="0"/>
                </a:rPr>
                <a:t>一个带权连通图</a:t>
              </a:r>
              <a:endParaRPr kumimoji="0" lang="zh-CN" altLang="en-US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宋体" pitchFamily="2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357158" y="310375"/>
            <a:ext cx="853211" cy="761171"/>
            <a:chOff x="6862060" y="4310903"/>
            <a:chExt cx="1128915" cy="1130667"/>
          </a:xfrm>
        </p:grpSpPr>
        <p:grpSp>
          <p:nvGrpSpPr>
            <p:cNvPr id="83" name="Group 103"/>
            <p:cNvGrpSpPr>
              <a:grpSpLocks/>
            </p:cNvGrpSpPr>
            <p:nvPr/>
          </p:nvGrpSpPr>
          <p:grpSpPr bwMode="auto">
            <a:xfrm>
              <a:off x="6862060" y="4310903"/>
              <a:ext cx="1128915" cy="1130667"/>
              <a:chOff x="2880" y="1515"/>
              <a:chExt cx="644" cy="645"/>
            </a:xfrm>
          </p:grpSpPr>
          <p:sp>
            <p:nvSpPr>
              <p:cNvPr id="85" name="Oval 104"/>
              <p:cNvSpPr>
                <a:spLocks noChangeArrowheads="1"/>
              </p:cNvSpPr>
              <p:nvPr/>
            </p:nvSpPr>
            <p:spPr bwMode="auto">
              <a:xfrm>
                <a:off x="2880" y="1516"/>
                <a:ext cx="644" cy="644"/>
              </a:xfrm>
              <a:prstGeom prst="ellipse">
                <a:avLst/>
              </a:prstGeom>
              <a:gradFill rotWithShape="1">
                <a:gsLst>
                  <a:gs pos="0">
                    <a:srgbClr val="10942F"/>
                  </a:gs>
                  <a:gs pos="100000">
                    <a:srgbClr val="16D83B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Freeform 105"/>
              <p:cNvSpPr>
                <a:spLocks/>
              </p:cNvSpPr>
              <p:nvPr/>
            </p:nvSpPr>
            <p:spPr bwMode="auto">
              <a:xfrm>
                <a:off x="2887" y="1515"/>
                <a:ext cx="630" cy="441"/>
              </a:xfrm>
              <a:custGeom>
                <a:avLst/>
                <a:gdLst/>
                <a:ahLst/>
                <a:cxnLst>
                  <a:cxn ang="0">
                    <a:pos x="1400" y="275"/>
                  </a:cxn>
                  <a:cxn ang="0">
                    <a:pos x="1596" y="795"/>
                  </a:cxn>
                  <a:cxn ang="0">
                    <a:pos x="0" y="795"/>
                  </a:cxn>
                  <a:cxn ang="0">
                    <a:pos x="217" y="252"/>
                  </a:cxn>
                  <a:cxn ang="0">
                    <a:pos x="796" y="0"/>
                  </a:cxn>
                  <a:cxn ang="0">
                    <a:pos x="1400" y="275"/>
                  </a:cxn>
                </a:cxnLst>
                <a:rect l="0" t="0" r="r" b="b"/>
                <a:pathLst>
                  <a:path w="1596" h="1118">
                    <a:moveTo>
                      <a:pt x="1400" y="275"/>
                    </a:moveTo>
                    <a:cubicBezTo>
                      <a:pt x="1522" y="417"/>
                      <a:pt x="1596" y="597"/>
                      <a:pt x="1596" y="795"/>
                    </a:cubicBezTo>
                    <a:cubicBezTo>
                      <a:pt x="1037" y="1118"/>
                      <a:pt x="668" y="611"/>
                      <a:pt x="0" y="795"/>
                    </a:cubicBezTo>
                    <a:cubicBezTo>
                      <a:pt x="0" y="585"/>
                      <a:pt x="83" y="392"/>
                      <a:pt x="217" y="252"/>
                    </a:cubicBezTo>
                    <a:cubicBezTo>
                      <a:pt x="364" y="95"/>
                      <a:pt x="570" y="0"/>
                      <a:pt x="796" y="0"/>
                    </a:cubicBezTo>
                    <a:cubicBezTo>
                      <a:pt x="1039" y="0"/>
                      <a:pt x="1253" y="108"/>
                      <a:pt x="1400" y="27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53000"/>
                    </a:schemeClr>
                  </a:gs>
                  <a:gs pos="100000">
                    <a:schemeClr val="bg1">
                      <a:gamma/>
                      <a:shade val="46275"/>
                      <a:invGamma/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4" name="Text Box 71"/>
            <p:cNvSpPr txBox="1">
              <a:spLocks noChangeArrowheads="1"/>
            </p:cNvSpPr>
            <p:nvPr/>
          </p:nvSpPr>
          <p:spPr bwMode="auto">
            <a:xfrm>
              <a:off x="6923115" y="4640482"/>
              <a:ext cx="1039812" cy="466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示例</a:t>
              </a:r>
              <a:endParaRPr lang="en-GB" altLang="zh-CN" sz="1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4314714" y="214290"/>
            <a:ext cx="3972062" cy="2315715"/>
            <a:chOff x="4314714" y="214290"/>
            <a:chExt cx="3972062" cy="2315715"/>
          </a:xfrm>
        </p:grpSpPr>
        <p:grpSp>
          <p:nvGrpSpPr>
            <p:cNvPr id="80" name="组合 79"/>
            <p:cNvGrpSpPr/>
            <p:nvPr/>
          </p:nvGrpSpPr>
          <p:grpSpPr>
            <a:xfrm>
              <a:off x="5600598" y="214290"/>
              <a:ext cx="2686178" cy="2315715"/>
              <a:chOff x="3191614" y="2379428"/>
              <a:chExt cx="2686178" cy="2315715"/>
            </a:xfrm>
          </p:grpSpPr>
          <p:sp>
            <p:nvSpPr>
              <p:cNvPr id="32815" name="Rectangle 47"/>
              <p:cNvSpPr>
                <a:spLocks noChangeArrowheads="1"/>
              </p:cNvSpPr>
              <p:nvPr/>
            </p:nvSpPr>
            <p:spPr bwMode="auto">
              <a:xfrm>
                <a:off x="4497330" y="2379428"/>
                <a:ext cx="277961" cy="22650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6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814" name="Rectangle 46"/>
              <p:cNvSpPr>
                <a:spLocks noChangeArrowheads="1"/>
              </p:cNvSpPr>
              <p:nvPr/>
            </p:nvSpPr>
            <p:spPr bwMode="auto">
              <a:xfrm>
                <a:off x="3450889" y="2842172"/>
                <a:ext cx="277961" cy="22650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4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813" name="Rectangle 45"/>
              <p:cNvSpPr>
                <a:spLocks noChangeArrowheads="1"/>
              </p:cNvSpPr>
              <p:nvPr/>
            </p:nvSpPr>
            <p:spPr bwMode="auto">
              <a:xfrm>
                <a:off x="3503444" y="3655938"/>
                <a:ext cx="277961" cy="22650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812" name="Rectangle 44"/>
              <p:cNvSpPr>
                <a:spLocks noChangeArrowheads="1"/>
              </p:cNvSpPr>
              <p:nvPr/>
            </p:nvSpPr>
            <p:spPr bwMode="auto">
              <a:xfrm>
                <a:off x="4078053" y="2955422"/>
                <a:ext cx="277961" cy="22650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6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811" name="Rectangle 43"/>
              <p:cNvSpPr>
                <a:spLocks noChangeArrowheads="1"/>
              </p:cNvSpPr>
              <p:nvPr/>
            </p:nvSpPr>
            <p:spPr bwMode="auto">
              <a:xfrm>
                <a:off x="4827846" y="2986945"/>
                <a:ext cx="277961" cy="22650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5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810" name="Rectangle 42"/>
              <p:cNvSpPr>
                <a:spLocks noChangeArrowheads="1"/>
              </p:cNvSpPr>
              <p:nvPr/>
            </p:nvSpPr>
            <p:spPr bwMode="auto">
              <a:xfrm>
                <a:off x="4497330" y="4034216"/>
                <a:ext cx="277961" cy="22650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7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809" name="Rectangle 41"/>
              <p:cNvSpPr>
                <a:spLocks noChangeArrowheads="1"/>
              </p:cNvSpPr>
              <p:nvPr/>
            </p:nvSpPr>
            <p:spPr bwMode="auto">
              <a:xfrm>
                <a:off x="5459682" y="2789634"/>
                <a:ext cx="277961" cy="22650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5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808" name="Rectangle 40"/>
              <p:cNvSpPr>
                <a:spLocks noChangeArrowheads="1"/>
              </p:cNvSpPr>
              <p:nvPr/>
            </p:nvSpPr>
            <p:spPr bwMode="auto">
              <a:xfrm>
                <a:off x="4811496" y="3511165"/>
                <a:ext cx="277961" cy="22650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807" name="Rectangle 39"/>
              <p:cNvSpPr>
                <a:spLocks noChangeArrowheads="1"/>
              </p:cNvSpPr>
              <p:nvPr/>
            </p:nvSpPr>
            <p:spPr bwMode="auto">
              <a:xfrm>
                <a:off x="5386104" y="3624415"/>
                <a:ext cx="277961" cy="22650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4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806" name="Oval 38"/>
              <p:cNvSpPr>
                <a:spLocks noChangeArrowheads="1"/>
              </p:cNvSpPr>
              <p:nvPr/>
            </p:nvSpPr>
            <p:spPr bwMode="auto">
              <a:xfrm>
                <a:off x="3892356" y="2481407"/>
                <a:ext cx="364386" cy="360766"/>
              </a:xfrm>
              <a:prstGeom prst="ellipse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805" name="Oval 37"/>
              <p:cNvSpPr>
                <a:spLocks noChangeArrowheads="1"/>
              </p:cNvSpPr>
              <p:nvPr/>
            </p:nvSpPr>
            <p:spPr bwMode="auto">
              <a:xfrm>
                <a:off x="4966827" y="2481407"/>
                <a:ext cx="365554" cy="360766"/>
              </a:xfrm>
              <a:prstGeom prst="ellipse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804" name="Oval 36"/>
              <p:cNvSpPr>
                <a:spLocks noChangeArrowheads="1"/>
              </p:cNvSpPr>
              <p:nvPr/>
            </p:nvSpPr>
            <p:spPr bwMode="auto">
              <a:xfrm>
                <a:off x="3191614" y="3181922"/>
                <a:ext cx="365554" cy="360766"/>
              </a:xfrm>
              <a:prstGeom prst="ellipse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2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803" name="Oval 35"/>
              <p:cNvSpPr>
                <a:spLocks noChangeArrowheads="1"/>
              </p:cNvSpPr>
              <p:nvPr/>
            </p:nvSpPr>
            <p:spPr bwMode="auto">
              <a:xfrm>
                <a:off x="4409737" y="3181922"/>
                <a:ext cx="365554" cy="360766"/>
              </a:xfrm>
              <a:prstGeom prst="ellipse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802" name="Oval 34"/>
              <p:cNvSpPr>
                <a:spLocks noChangeArrowheads="1"/>
              </p:cNvSpPr>
              <p:nvPr/>
            </p:nvSpPr>
            <p:spPr bwMode="auto">
              <a:xfrm>
                <a:off x="5512238" y="3181922"/>
                <a:ext cx="365554" cy="360766"/>
              </a:xfrm>
              <a:prstGeom prst="ellipse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6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801" name="Oval 33"/>
              <p:cNvSpPr>
                <a:spLocks noChangeArrowheads="1"/>
              </p:cNvSpPr>
              <p:nvPr/>
            </p:nvSpPr>
            <p:spPr bwMode="auto">
              <a:xfrm>
                <a:off x="3892356" y="3853250"/>
                <a:ext cx="365554" cy="360766"/>
              </a:xfrm>
              <a:prstGeom prst="ellipse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4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800" name="Oval 32"/>
              <p:cNvSpPr>
                <a:spLocks noChangeArrowheads="1"/>
              </p:cNvSpPr>
              <p:nvPr/>
            </p:nvSpPr>
            <p:spPr bwMode="auto">
              <a:xfrm>
                <a:off x="4966827" y="3853250"/>
                <a:ext cx="365554" cy="360766"/>
              </a:xfrm>
              <a:prstGeom prst="ellipse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5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799" name="AutoShape 31"/>
              <p:cNvSpPr>
                <a:spLocks noChangeShapeType="1"/>
              </p:cNvSpPr>
              <p:nvPr/>
            </p:nvSpPr>
            <p:spPr bwMode="auto">
              <a:xfrm>
                <a:off x="4256742" y="2662373"/>
                <a:ext cx="710085" cy="1168"/>
              </a:xfrm>
              <a:prstGeom prst="straightConnector1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endParaRPr>
              </a:p>
            </p:txBody>
          </p:sp>
          <p:sp>
            <p:nvSpPr>
              <p:cNvPr id="32798" name="AutoShape 30"/>
              <p:cNvSpPr>
                <a:spLocks noChangeShapeType="1"/>
              </p:cNvSpPr>
              <p:nvPr/>
            </p:nvSpPr>
            <p:spPr bwMode="auto">
              <a:xfrm flipH="1">
                <a:off x="3503444" y="2789634"/>
                <a:ext cx="442635" cy="444827"/>
              </a:xfrm>
              <a:prstGeom prst="straightConnector1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endParaRPr>
              </a:p>
            </p:txBody>
          </p:sp>
          <p:sp>
            <p:nvSpPr>
              <p:cNvPr id="32797" name="AutoShape 29"/>
              <p:cNvSpPr>
                <a:spLocks noChangeShapeType="1"/>
              </p:cNvSpPr>
              <p:nvPr/>
            </p:nvSpPr>
            <p:spPr bwMode="auto">
              <a:xfrm>
                <a:off x="4203018" y="2789634"/>
                <a:ext cx="260442" cy="444827"/>
              </a:xfrm>
              <a:prstGeom prst="straightConnector1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endParaRPr>
              </a:p>
            </p:txBody>
          </p:sp>
          <p:sp>
            <p:nvSpPr>
              <p:cNvPr id="32796" name="AutoShape 28"/>
              <p:cNvSpPr>
                <a:spLocks noChangeShapeType="1"/>
              </p:cNvSpPr>
              <p:nvPr/>
            </p:nvSpPr>
            <p:spPr bwMode="auto">
              <a:xfrm flipH="1">
                <a:off x="4721567" y="2789634"/>
                <a:ext cx="298983" cy="444827"/>
              </a:xfrm>
              <a:prstGeom prst="straightConnector1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endParaRPr>
              </a:p>
            </p:txBody>
          </p:sp>
          <p:sp>
            <p:nvSpPr>
              <p:cNvPr id="32795" name="AutoShape 27"/>
              <p:cNvSpPr>
                <a:spLocks noChangeShapeType="1"/>
              </p:cNvSpPr>
              <p:nvPr/>
            </p:nvSpPr>
            <p:spPr bwMode="auto">
              <a:xfrm>
                <a:off x="4721567" y="3490149"/>
                <a:ext cx="298983" cy="415639"/>
              </a:xfrm>
              <a:prstGeom prst="straightConnector1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endParaRPr>
              </a:p>
            </p:txBody>
          </p:sp>
          <p:sp>
            <p:nvSpPr>
              <p:cNvPr id="32794" name="AutoShape 26"/>
              <p:cNvSpPr>
                <a:spLocks noChangeShapeType="1"/>
              </p:cNvSpPr>
              <p:nvPr/>
            </p:nvSpPr>
            <p:spPr bwMode="auto">
              <a:xfrm>
                <a:off x="5278657" y="2789634"/>
                <a:ext cx="416941" cy="392289"/>
              </a:xfrm>
              <a:prstGeom prst="straightConnector1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endParaRPr>
              </a:p>
            </p:txBody>
          </p:sp>
          <p:sp>
            <p:nvSpPr>
              <p:cNvPr id="32793" name="AutoShape 25"/>
              <p:cNvSpPr>
                <a:spLocks noChangeShapeType="1"/>
              </p:cNvSpPr>
              <p:nvPr/>
            </p:nvSpPr>
            <p:spPr bwMode="auto">
              <a:xfrm flipH="1">
                <a:off x="5278657" y="3490149"/>
                <a:ext cx="287304" cy="415639"/>
              </a:xfrm>
              <a:prstGeom prst="straightConnector1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endParaRPr>
              </a:p>
            </p:txBody>
          </p:sp>
          <p:sp>
            <p:nvSpPr>
              <p:cNvPr id="32792" name="AutoShape 24"/>
              <p:cNvSpPr>
                <a:spLocks noChangeShapeType="1"/>
              </p:cNvSpPr>
              <p:nvPr/>
            </p:nvSpPr>
            <p:spPr bwMode="auto">
              <a:xfrm>
                <a:off x="3503444" y="3490149"/>
                <a:ext cx="442635" cy="415639"/>
              </a:xfrm>
              <a:prstGeom prst="straightConnector1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endParaRPr>
              </a:p>
            </p:txBody>
          </p:sp>
          <p:sp>
            <p:nvSpPr>
              <p:cNvPr id="32791" name="AutoShape 23"/>
              <p:cNvSpPr>
                <a:spLocks noChangeShapeType="1"/>
              </p:cNvSpPr>
              <p:nvPr/>
            </p:nvSpPr>
            <p:spPr bwMode="auto">
              <a:xfrm>
                <a:off x="4257910" y="4034216"/>
                <a:ext cx="708917" cy="1168"/>
              </a:xfrm>
              <a:prstGeom prst="straightConnector1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endParaRPr>
              </a:p>
            </p:txBody>
          </p:sp>
          <p:sp>
            <p:nvSpPr>
              <p:cNvPr id="32790" name="Rectangle 22"/>
              <p:cNvSpPr>
                <a:spLocks noChangeArrowheads="1"/>
              </p:cNvSpPr>
              <p:nvPr/>
            </p:nvSpPr>
            <p:spPr bwMode="auto">
              <a:xfrm>
                <a:off x="3857620" y="4379692"/>
                <a:ext cx="1537292" cy="315451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(b) </a:t>
                </a:r>
                <a:r>
                  <a:rPr kumimoji="0" lang="zh-CN" altLang="en-US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变换图</a:t>
                </a:r>
                <a:endPara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</p:grpSp>
        <p:sp>
          <p:nvSpPr>
            <p:cNvPr id="87" name="TextBox 86"/>
            <p:cNvSpPr txBox="1"/>
            <p:nvPr/>
          </p:nvSpPr>
          <p:spPr>
            <a:xfrm>
              <a:off x="4314714" y="1071546"/>
              <a:ext cx="12144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</a:rPr>
                <a:t>maxc=7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88" name="右箭头 87"/>
            <p:cNvSpPr/>
            <p:nvPr/>
          </p:nvSpPr>
          <p:spPr>
            <a:xfrm>
              <a:off x="4386152" y="1571612"/>
              <a:ext cx="928694" cy="214314"/>
            </a:xfrm>
            <a:prstGeom prst="right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2714612" y="2195198"/>
            <a:ext cx="5500726" cy="2817624"/>
            <a:chOff x="2714612" y="2195198"/>
            <a:chExt cx="5500726" cy="2817624"/>
          </a:xfrm>
        </p:grpSpPr>
        <p:grpSp>
          <p:nvGrpSpPr>
            <p:cNvPr id="79" name="组合 78"/>
            <p:cNvGrpSpPr/>
            <p:nvPr/>
          </p:nvGrpSpPr>
          <p:grpSpPr>
            <a:xfrm>
              <a:off x="2714612" y="2754131"/>
              <a:ext cx="2686177" cy="2258691"/>
              <a:chOff x="6162760" y="2396941"/>
              <a:chExt cx="2686177" cy="2258691"/>
            </a:xfrm>
          </p:grpSpPr>
          <p:sp>
            <p:nvSpPr>
              <p:cNvPr id="32789" name="Rectangle 21"/>
              <p:cNvSpPr>
                <a:spLocks noChangeArrowheads="1"/>
              </p:cNvSpPr>
              <p:nvPr/>
            </p:nvSpPr>
            <p:spPr bwMode="auto">
              <a:xfrm>
                <a:off x="7468475" y="2396941"/>
                <a:ext cx="277961" cy="22650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6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788" name="Rectangle 20"/>
              <p:cNvSpPr>
                <a:spLocks noChangeArrowheads="1"/>
              </p:cNvSpPr>
              <p:nvPr/>
            </p:nvSpPr>
            <p:spPr bwMode="auto">
              <a:xfrm>
                <a:off x="6422034" y="2859685"/>
                <a:ext cx="277961" cy="22650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4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787" name="Rectangle 19"/>
              <p:cNvSpPr>
                <a:spLocks noChangeArrowheads="1"/>
              </p:cNvSpPr>
              <p:nvPr/>
            </p:nvSpPr>
            <p:spPr bwMode="auto">
              <a:xfrm>
                <a:off x="6474590" y="3673451"/>
                <a:ext cx="277961" cy="22650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786" name="Rectangle 18"/>
              <p:cNvSpPr>
                <a:spLocks noChangeArrowheads="1"/>
              </p:cNvSpPr>
              <p:nvPr/>
            </p:nvSpPr>
            <p:spPr bwMode="auto">
              <a:xfrm>
                <a:off x="7798992" y="3004458"/>
                <a:ext cx="277961" cy="22650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5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785" name="Rectangle 17"/>
              <p:cNvSpPr>
                <a:spLocks noChangeArrowheads="1"/>
              </p:cNvSpPr>
              <p:nvPr/>
            </p:nvSpPr>
            <p:spPr bwMode="auto">
              <a:xfrm>
                <a:off x="7782641" y="3528678"/>
                <a:ext cx="277961" cy="22650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784" name="Rectangle 16"/>
              <p:cNvSpPr>
                <a:spLocks noChangeArrowheads="1"/>
              </p:cNvSpPr>
              <p:nvPr/>
            </p:nvSpPr>
            <p:spPr bwMode="auto">
              <a:xfrm>
                <a:off x="8357250" y="3641928"/>
                <a:ext cx="277961" cy="22650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4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783" name="Oval 15"/>
              <p:cNvSpPr>
                <a:spLocks noChangeArrowheads="1"/>
              </p:cNvSpPr>
              <p:nvPr/>
            </p:nvSpPr>
            <p:spPr bwMode="auto">
              <a:xfrm>
                <a:off x="6863502" y="2498920"/>
                <a:ext cx="364386" cy="360766"/>
              </a:xfrm>
              <a:prstGeom prst="ellipse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0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782" name="Oval 14"/>
              <p:cNvSpPr>
                <a:spLocks noChangeArrowheads="1"/>
              </p:cNvSpPr>
              <p:nvPr/>
            </p:nvSpPr>
            <p:spPr bwMode="auto">
              <a:xfrm>
                <a:off x="7937972" y="2498920"/>
                <a:ext cx="365554" cy="360766"/>
              </a:xfrm>
              <a:prstGeom prst="ellipse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1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781" name="Oval 13"/>
              <p:cNvSpPr>
                <a:spLocks noChangeArrowheads="1"/>
              </p:cNvSpPr>
              <p:nvPr/>
            </p:nvSpPr>
            <p:spPr bwMode="auto">
              <a:xfrm>
                <a:off x="6162760" y="3199435"/>
                <a:ext cx="365554" cy="360766"/>
              </a:xfrm>
              <a:prstGeom prst="ellipse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2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780" name="Oval 12"/>
              <p:cNvSpPr>
                <a:spLocks noChangeArrowheads="1"/>
              </p:cNvSpPr>
              <p:nvPr/>
            </p:nvSpPr>
            <p:spPr bwMode="auto">
              <a:xfrm>
                <a:off x="7380883" y="3199435"/>
                <a:ext cx="365554" cy="360766"/>
              </a:xfrm>
              <a:prstGeom prst="ellipse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3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779" name="Oval 11"/>
              <p:cNvSpPr>
                <a:spLocks noChangeArrowheads="1"/>
              </p:cNvSpPr>
              <p:nvPr/>
            </p:nvSpPr>
            <p:spPr bwMode="auto">
              <a:xfrm>
                <a:off x="8483383" y="3199435"/>
                <a:ext cx="365554" cy="360766"/>
              </a:xfrm>
              <a:prstGeom prst="ellipse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6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778" name="Oval 10"/>
              <p:cNvSpPr>
                <a:spLocks noChangeArrowheads="1"/>
              </p:cNvSpPr>
              <p:nvPr/>
            </p:nvSpPr>
            <p:spPr bwMode="auto">
              <a:xfrm>
                <a:off x="6863502" y="3870763"/>
                <a:ext cx="365554" cy="360766"/>
              </a:xfrm>
              <a:prstGeom prst="ellipse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4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777" name="Oval 9"/>
              <p:cNvSpPr>
                <a:spLocks noChangeArrowheads="1"/>
              </p:cNvSpPr>
              <p:nvPr/>
            </p:nvSpPr>
            <p:spPr bwMode="auto">
              <a:xfrm>
                <a:off x="7937972" y="3870763"/>
                <a:ext cx="365554" cy="360766"/>
              </a:xfrm>
              <a:prstGeom prst="ellipse">
                <a:avLst/>
              </a:prstGeom>
              <a:ln>
                <a:headEnd/>
                <a:tailEnd type="none" w="sm" len="sm"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5</a:t>
                </a:r>
                <a:endPara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  <p:sp>
            <p:nvSpPr>
              <p:cNvPr id="32776" name="AutoShape 8"/>
              <p:cNvSpPr>
                <a:spLocks noChangeShapeType="1"/>
              </p:cNvSpPr>
              <p:nvPr/>
            </p:nvSpPr>
            <p:spPr bwMode="auto">
              <a:xfrm>
                <a:off x="7227887" y="2679886"/>
                <a:ext cx="710085" cy="1168"/>
              </a:xfrm>
              <a:prstGeom prst="straightConnector1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endParaRPr>
              </a:p>
            </p:txBody>
          </p:sp>
          <p:sp>
            <p:nvSpPr>
              <p:cNvPr id="32775" name="AutoShape 7"/>
              <p:cNvSpPr>
                <a:spLocks noChangeShapeType="1"/>
              </p:cNvSpPr>
              <p:nvPr/>
            </p:nvSpPr>
            <p:spPr bwMode="auto">
              <a:xfrm flipH="1">
                <a:off x="6474590" y="2807146"/>
                <a:ext cx="442635" cy="444827"/>
              </a:xfrm>
              <a:prstGeom prst="straightConnector1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endParaRPr>
              </a:p>
            </p:txBody>
          </p:sp>
          <p:sp>
            <p:nvSpPr>
              <p:cNvPr id="32774" name="AutoShape 6"/>
              <p:cNvSpPr>
                <a:spLocks noChangeShapeType="1"/>
              </p:cNvSpPr>
              <p:nvPr/>
            </p:nvSpPr>
            <p:spPr bwMode="auto">
              <a:xfrm flipH="1">
                <a:off x="7692713" y="2807146"/>
                <a:ext cx="298983" cy="444827"/>
              </a:xfrm>
              <a:prstGeom prst="straightConnector1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endParaRPr>
              </a:p>
            </p:txBody>
          </p:sp>
          <p:sp>
            <p:nvSpPr>
              <p:cNvPr id="32773" name="AutoShape 5"/>
              <p:cNvSpPr>
                <a:spLocks noChangeShapeType="1"/>
              </p:cNvSpPr>
              <p:nvPr/>
            </p:nvSpPr>
            <p:spPr bwMode="auto">
              <a:xfrm>
                <a:off x="7692713" y="3507662"/>
                <a:ext cx="298983" cy="415639"/>
              </a:xfrm>
              <a:prstGeom prst="straightConnector1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endParaRPr>
              </a:p>
            </p:txBody>
          </p:sp>
          <p:sp>
            <p:nvSpPr>
              <p:cNvPr id="32772" name="AutoShape 4"/>
              <p:cNvSpPr>
                <a:spLocks noChangeShapeType="1"/>
              </p:cNvSpPr>
              <p:nvPr/>
            </p:nvSpPr>
            <p:spPr bwMode="auto">
              <a:xfrm flipH="1">
                <a:off x="8249802" y="3507662"/>
                <a:ext cx="287304" cy="415639"/>
              </a:xfrm>
              <a:prstGeom prst="straightConnector1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endParaRPr>
              </a:p>
            </p:txBody>
          </p:sp>
          <p:sp>
            <p:nvSpPr>
              <p:cNvPr id="32771" name="AutoShape 3"/>
              <p:cNvSpPr>
                <a:spLocks noChangeShapeType="1"/>
              </p:cNvSpPr>
              <p:nvPr/>
            </p:nvSpPr>
            <p:spPr bwMode="auto">
              <a:xfrm>
                <a:off x="6474590" y="3507662"/>
                <a:ext cx="442635" cy="415639"/>
              </a:xfrm>
              <a:prstGeom prst="straightConnector1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 type="none" w="sm" len="sm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endParaRPr>
              </a:p>
            </p:txBody>
          </p:sp>
          <p:sp>
            <p:nvSpPr>
              <p:cNvPr id="32770" name="Rectangle 2"/>
              <p:cNvSpPr>
                <a:spLocks noChangeArrowheads="1"/>
              </p:cNvSpPr>
              <p:nvPr/>
            </p:nvSpPr>
            <p:spPr bwMode="auto">
              <a:xfrm>
                <a:off x="6572264" y="4286256"/>
                <a:ext cx="1796665" cy="36937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 type="none" w="sm" len="sm"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(c) </a:t>
                </a:r>
                <a:r>
                  <a:rPr kumimoji="0" lang="zh-CN" altLang="en-US" sz="180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onsolas" pitchFamily="49" charset="0"/>
                    <a:ea typeface="仿宋" pitchFamily="49" charset="-122"/>
                    <a:cs typeface="Times New Roman" pitchFamily="18" charset="0"/>
                  </a:rPr>
                  <a:t>最小生成树</a:t>
                </a:r>
                <a:endParaRPr kumimoji="0" lang="zh-CN" altLang="en-US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仿宋" pitchFamily="49" charset="-122"/>
                  <a:cs typeface="宋体" pitchFamily="2" charset="-122"/>
                </a:endParaRPr>
              </a:p>
            </p:txBody>
          </p:sp>
        </p:grpSp>
        <p:sp>
          <p:nvSpPr>
            <p:cNvPr id="89" name="TextBox 88"/>
            <p:cNvSpPr txBox="1"/>
            <p:nvPr/>
          </p:nvSpPr>
          <p:spPr>
            <a:xfrm>
              <a:off x="5857884" y="2643182"/>
              <a:ext cx="23574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Kruskal</a:t>
              </a:r>
              <a:r>
                <a:rPr lang="zh-CN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算法求出的最小生成树</a:t>
              </a:r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90" name="下箭头 89"/>
            <p:cNvSpPr/>
            <p:nvPr/>
          </p:nvSpPr>
          <p:spPr>
            <a:xfrm rot="2358803">
              <a:off x="5375998" y="2195198"/>
              <a:ext cx="285752" cy="1106538"/>
            </a:xfrm>
            <a:prstGeom prst="down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1428728" y="5214950"/>
            <a:ext cx="5715040" cy="1198069"/>
            <a:chOff x="1428728" y="5214950"/>
            <a:chExt cx="5715040" cy="1198069"/>
          </a:xfrm>
        </p:grpSpPr>
        <p:sp>
          <p:nvSpPr>
            <p:cNvPr id="91" name="TextBox 90"/>
            <p:cNvSpPr txBox="1"/>
            <p:nvPr/>
          </p:nvSpPr>
          <p:spPr>
            <a:xfrm>
              <a:off x="1428728" y="5643578"/>
              <a:ext cx="57150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mincost=23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最大生成树边权和为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(7-1)×(7+1)-23=25</a:t>
              </a:r>
              <a:endPara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92" name="下箭头 91"/>
            <p:cNvSpPr/>
            <p:nvPr/>
          </p:nvSpPr>
          <p:spPr>
            <a:xfrm>
              <a:off x="4071934" y="5214950"/>
              <a:ext cx="285752" cy="357190"/>
            </a:xfrm>
            <a:prstGeom prst="down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7" name="灯片编号占位符 9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33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500042"/>
            <a:ext cx="8715436" cy="360611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定义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11.7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判定问题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=&lt;D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，其中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是该问题的实例集合即由∏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的所有可能的实例组成，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Symbol"/>
              </a:rPr>
              <a:t>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由所有回答为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yes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的实例组成。另外一个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判定问题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=&lt;D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同样类似的描述。如果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函数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en-US" altLang="zh-CN" baseline="-25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→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en-US" altLang="zh-CN" baseline="-25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满足以下条件：</a:t>
            </a: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是多项式时间可计算的，即存在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计算</a:t>
            </a:r>
            <a:r>
              <a:rPr lang="en-US" altLang="zh-CN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的多项式时间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算法。</a:t>
            </a: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）对于所有的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D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Symbol"/>
              </a:rPr>
              <a:t>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algn="l" defTabSz="360000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则称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的多项式时间变换。如果存在∏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到∏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的多项式时间变换，则称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∏</a:t>
            </a:r>
            <a:r>
              <a:rPr lang="en-US" altLang="zh-CN" baseline="-25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可以多项式时间变换到∏</a:t>
            </a:r>
            <a:r>
              <a:rPr lang="en-US" altLang="zh-CN" baseline="-25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，记为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∏</a:t>
            </a:r>
            <a:r>
              <a:rPr lang="en-US" altLang="zh-CN" baseline="-25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FF0000"/>
                </a:solidFill>
                <a:latin typeface="+mj-ea"/>
                <a:ea typeface="+mj-ea"/>
              </a:rPr>
              <a:t>≤</a:t>
            </a:r>
            <a:r>
              <a:rPr lang="en-US" altLang="zh-CN" i="1" baseline="-25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∏</a:t>
            </a:r>
            <a:r>
              <a:rPr lang="en-US" altLang="zh-CN" baseline="-25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34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649199"/>
            <a:ext cx="8429684" cy="222112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11.8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哈密尔顿回路问题是求无向图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）中恰好经过每个顶点（城市）一次最后回到出发顶点的回路。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对应的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判定问题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HC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中存在恰好经过每个顶点一次最后回到出发顶点的回路吗？表示为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HC=&lt;D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HC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HC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判定问题表示为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TSP=&lt;D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&gt;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，证明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HC</a:t>
            </a:r>
            <a:r>
              <a:rPr lang="zh-CN" altLang="zh-CN">
                <a:solidFill>
                  <a:srgbClr val="FF0000"/>
                </a:solidFill>
                <a:latin typeface="+mn-ea"/>
              </a:rPr>
              <a:t>≤</a:t>
            </a:r>
            <a:r>
              <a:rPr lang="en-US" altLang="zh-CN" i="1" baseline="-25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35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71472" y="598592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证明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85918" y="609881"/>
            <a:ext cx="2571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证明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HC</a:t>
            </a:r>
            <a:r>
              <a:rPr lang="zh-CN" altLang="zh-CN">
                <a:solidFill>
                  <a:srgbClr val="FF0000"/>
                </a:solidFill>
                <a:latin typeface="+mn-ea"/>
              </a:rPr>
              <a:t>≤</a:t>
            </a:r>
            <a:r>
              <a:rPr lang="en-US" altLang="zh-CN" i="1" baseline="-25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910" y="1428736"/>
            <a:ext cx="77867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多项式时间变换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HC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的每一个实例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是一个无向图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判定问题对应的实例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定义为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G'=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），这里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V'=V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是含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|V|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个顶点的完全无向图，任意两个不同顶点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u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之间的距离为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: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643174" y="3214686"/>
            <a:ext cx="3786214" cy="1015663"/>
            <a:chOff x="857224" y="3571876"/>
            <a:chExt cx="3786214" cy="1015663"/>
          </a:xfrm>
        </p:grpSpPr>
        <p:sp>
          <p:nvSpPr>
            <p:cNvPr id="7" name="TextBox 6"/>
            <p:cNvSpPr txBox="1"/>
            <p:nvPr/>
          </p:nvSpPr>
          <p:spPr>
            <a:xfrm>
              <a:off x="857224" y="3929066"/>
              <a:ext cx="150019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2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d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(</a:t>
              </a:r>
              <a:r>
                <a:rPr lang="en-US" altLang="zh-CN" sz="2200" i="1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u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,v)=</a:t>
              </a:r>
              <a:endPara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97273" y="3571876"/>
              <a:ext cx="234616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 algn="l">
                <a:lnSpc>
                  <a:spcPct val="150000"/>
                </a:lnSpc>
                <a:spcBef>
                  <a:spcPts val="0"/>
                </a:spcBef>
                <a:buAutoNum type="arabicPlain"/>
              </a:pP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若</a:t>
              </a: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(u,v) ∈E</a:t>
              </a:r>
            </a:p>
            <a:p>
              <a:pPr marL="457200" indent="-457200" algn="l">
                <a:lnSpc>
                  <a:spcPct val="15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2	</a:t>
              </a:r>
              <a:r>
                <a:rPr lang="zh-CN" altLang="en-US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否则</a:t>
              </a:r>
            </a:p>
          </p:txBody>
        </p:sp>
        <p:sp>
          <p:nvSpPr>
            <p:cNvPr id="9" name="左大括号 8"/>
            <p:cNvSpPr/>
            <p:nvPr/>
          </p:nvSpPr>
          <p:spPr>
            <a:xfrm>
              <a:off x="2131819" y="3748619"/>
              <a:ext cx="142876" cy="714380"/>
            </a:xfrm>
            <a:prstGeom prst="leftBrace">
              <a:avLst/>
            </a:prstGeom>
            <a:ln w="19050"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642910" y="4572008"/>
            <a:ext cx="807249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容易证明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中有一个哈密尔顿回路当且仅当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G'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中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有一条长度为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|V|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路径。从而有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∈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HC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Symbol"/>
              </a:rPr>
              <a:t>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(I)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∈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Y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，也就是说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HC</a:t>
            </a:r>
            <a:r>
              <a:rPr lang="zh-CN" altLang="zh-CN" sz="2200">
                <a:solidFill>
                  <a:srgbClr val="FF0000"/>
                </a:solidFill>
                <a:latin typeface="+mj-ea"/>
                <a:ea typeface="+mj-ea"/>
              </a:rPr>
              <a:t>≤</a:t>
            </a:r>
            <a:r>
              <a:rPr lang="en-US" altLang="zh-CN" sz="2200" i="1" baseline="-25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，示例即证。</a:t>
            </a: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36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29"/>
          <p:cNvSpPr>
            <a:spLocks noChangeArrowheads="1"/>
          </p:cNvSpPr>
          <p:nvPr/>
        </p:nvSpPr>
        <p:spPr bwMode="auto">
          <a:xfrm>
            <a:off x="5835306" y="3057298"/>
            <a:ext cx="315349" cy="26639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8708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8706" name="Rectangle 34"/>
          <p:cNvSpPr>
            <a:spLocks noChangeArrowheads="1"/>
          </p:cNvSpPr>
          <p:nvPr/>
        </p:nvSpPr>
        <p:spPr bwMode="auto">
          <a:xfrm>
            <a:off x="6249508" y="2008283"/>
            <a:ext cx="315349" cy="26639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705" name="Rectangle 33"/>
          <p:cNvSpPr>
            <a:spLocks noChangeArrowheads="1"/>
          </p:cNvSpPr>
          <p:nvPr/>
        </p:nvSpPr>
        <p:spPr bwMode="auto">
          <a:xfrm>
            <a:off x="5253111" y="2475164"/>
            <a:ext cx="315349" cy="26639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704" name="Rectangle 32"/>
          <p:cNvSpPr>
            <a:spLocks noChangeArrowheads="1"/>
          </p:cNvSpPr>
          <p:nvPr/>
        </p:nvSpPr>
        <p:spPr bwMode="auto">
          <a:xfrm>
            <a:off x="5058337" y="2016522"/>
            <a:ext cx="315349" cy="26639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703" name="Rectangle 31"/>
          <p:cNvSpPr>
            <a:spLocks noChangeArrowheads="1"/>
          </p:cNvSpPr>
          <p:nvPr/>
        </p:nvSpPr>
        <p:spPr bwMode="auto">
          <a:xfrm>
            <a:off x="5802984" y="2178557"/>
            <a:ext cx="315349" cy="26639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702" name="Rectangle 30"/>
          <p:cNvSpPr>
            <a:spLocks noChangeArrowheads="1"/>
          </p:cNvSpPr>
          <p:nvPr/>
        </p:nvSpPr>
        <p:spPr bwMode="auto">
          <a:xfrm>
            <a:off x="6249508" y="2471044"/>
            <a:ext cx="315349" cy="26639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701" name="Rectangle 29"/>
          <p:cNvSpPr>
            <a:spLocks noChangeArrowheads="1"/>
          </p:cNvSpPr>
          <p:nvPr/>
        </p:nvSpPr>
        <p:spPr bwMode="auto">
          <a:xfrm>
            <a:off x="6298533" y="3264742"/>
            <a:ext cx="315349" cy="26639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700" name="Rectangle 28"/>
          <p:cNvSpPr>
            <a:spLocks noChangeArrowheads="1"/>
          </p:cNvSpPr>
          <p:nvPr/>
        </p:nvSpPr>
        <p:spPr bwMode="auto">
          <a:xfrm>
            <a:off x="5058337" y="3197456"/>
            <a:ext cx="315349" cy="26639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699" name="Rectangle 27"/>
          <p:cNvSpPr>
            <a:spLocks noChangeArrowheads="1"/>
          </p:cNvSpPr>
          <p:nvPr/>
        </p:nvSpPr>
        <p:spPr bwMode="auto">
          <a:xfrm>
            <a:off x="1368225" y="4297372"/>
            <a:ext cx="2132205" cy="34607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(a) 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一个无向图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G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698" name="Oval 26"/>
          <p:cNvSpPr>
            <a:spLocks noChangeArrowheads="1"/>
          </p:cNvSpPr>
          <p:nvPr/>
        </p:nvSpPr>
        <p:spPr bwMode="auto">
          <a:xfrm>
            <a:off x="1153576" y="2524598"/>
            <a:ext cx="414724" cy="425685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697" name="Oval 25"/>
          <p:cNvSpPr>
            <a:spLocks noChangeArrowheads="1"/>
          </p:cNvSpPr>
          <p:nvPr/>
        </p:nvSpPr>
        <p:spPr bwMode="auto">
          <a:xfrm>
            <a:off x="2139372" y="1582597"/>
            <a:ext cx="414724" cy="425685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696" name="Oval 24"/>
          <p:cNvSpPr>
            <a:spLocks noChangeArrowheads="1"/>
          </p:cNvSpPr>
          <p:nvPr/>
        </p:nvSpPr>
        <p:spPr bwMode="auto">
          <a:xfrm>
            <a:off x="2139372" y="3463853"/>
            <a:ext cx="416049" cy="425685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695" name="Oval 23"/>
          <p:cNvSpPr>
            <a:spLocks noChangeArrowheads="1"/>
          </p:cNvSpPr>
          <p:nvPr/>
        </p:nvSpPr>
        <p:spPr bwMode="auto">
          <a:xfrm>
            <a:off x="3156969" y="2524598"/>
            <a:ext cx="414724" cy="425685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4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694" name="Oval 22"/>
          <p:cNvSpPr>
            <a:spLocks noChangeArrowheads="1"/>
          </p:cNvSpPr>
          <p:nvPr/>
        </p:nvSpPr>
        <p:spPr bwMode="auto">
          <a:xfrm>
            <a:off x="2139372" y="2524598"/>
            <a:ext cx="416049" cy="425685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693" name="AutoShape 21"/>
          <p:cNvSpPr>
            <a:spLocks noChangeShapeType="1"/>
          </p:cNvSpPr>
          <p:nvPr/>
        </p:nvSpPr>
        <p:spPr bwMode="auto">
          <a:xfrm>
            <a:off x="2347397" y="2008283"/>
            <a:ext cx="1325" cy="516315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8692" name="AutoShape 20"/>
          <p:cNvSpPr>
            <a:spLocks noChangeShapeType="1"/>
          </p:cNvSpPr>
          <p:nvPr/>
        </p:nvSpPr>
        <p:spPr bwMode="auto">
          <a:xfrm>
            <a:off x="2555421" y="2737441"/>
            <a:ext cx="601548" cy="1373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8691" name="AutoShape 19"/>
          <p:cNvSpPr>
            <a:spLocks noChangeShapeType="1"/>
          </p:cNvSpPr>
          <p:nvPr/>
        </p:nvSpPr>
        <p:spPr bwMode="auto">
          <a:xfrm flipH="1">
            <a:off x="2494471" y="2888491"/>
            <a:ext cx="723447" cy="637155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8690" name="AutoShape 18"/>
          <p:cNvSpPr>
            <a:spLocks noChangeShapeType="1"/>
          </p:cNvSpPr>
          <p:nvPr/>
        </p:nvSpPr>
        <p:spPr bwMode="auto">
          <a:xfrm>
            <a:off x="1507350" y="2888491"/>
            <a:ext cx="692973" cy="637155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8689" name="AutoShape 17"/>
          <p:cNvSpPr>
            <a:spLocks noChangeShapeType="1"/>
          </p:cNvSpPr>
          <p:nvPr/>
        </p:nvSpPr>
        <p:spPr bwMode="auto">
          <a:xfrm flipH="1">
            <a:off x="1507350" y="1946490"/>
            <a:ext cx="692973" cy="639901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8688" name="AutoShape 16"/>
          <p:cNvSpPr>
            <a:spLocks noChangeShapeType="1"/>
          </p:cNvSpPr>
          <p:nvPr/>
        </p:nvSpPr>
        <p:spPr bwMode="auto">
          <a:xfrm>
            <a:off x="2347397" y="2950284"/>
            <a:ext cx="1325" cy="513569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8687" name="Rectangle 15"/>
          <p:cNvSpPr>
            <a:spLocks noChangeArrowheads="1"/>
          </p:cNvSpPr>
          <p:nvPr/>
        </p:nvSpPr>
        <p:spPr bwMode="auto">
          <a:xfrm>
            <a:off x="4834412" y="4305611"/>
            <a:ext cx="2372003" cy="34607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(b) 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一个带权图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G'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686" name="Oval 14"/>
          <p:cNvSpPr>
            <a:spLocks noChangeArrowheads="1"/>
          </p:cNvSpPr>
          <p:nvPr/>
        </p:nvSpPr>
        <p:spPr bwMode="auto">
          <a:xfrm>
            <a:off x="4643614" y="2532837"/>
            <a:ext cx="414724" cy="425685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0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685" name="Oval 13"/>
          <p:cNvSpPr>
            <a:spLocks noChangeArrowheads="1"/>
          </p:cNvSpPr>
          <p:nvPr/>
        </p:nvSpPr>
        <p:spPr bwMode="auto">
          <a:xfrm>
            <a:off x="5629410" y="1590837"/>
            <a:ext cx="414724" cy="425685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684" name="Oval 12"/>
          <p:cNvSpPr>
            <a:spLocks noChangeArrowheads="1"/>
          </p:cNvSpPr>
          <p:nvPr/>
        </p:nvSpPr>
        <p:spPr bwMode="auto">
          <a:xfrm>
            <a:off x="5629410" y="3472092"/>
            <a:ext cx="416049" cy="425685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3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683" name="Oval 11"/>
          <p:cNvSpPr>
            <a:spLocks noChangeArrowheads="1"/>
          </p:cNvSpPr>
          <p:nvPr/>
        </p:nvSpPr>
        <p:spPr bwMode="auto">
          <a:xfrm>
            <a:off x="6647007" y="2532837"/>
            <a:ext cx="414724" cy="425685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4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682" name="Oval 10"/>
          <p:cNvSpPr>
            <a:spLocks noChangeArrowheads="1"/>
          </p:cNvSpPr>
          <p:nvPr/>
        </p:nvSpPr>
        <p:spPr bwMode="auto">
          <a:xfrm>
            <a:off x="5629410" y="2532837"/>
            <a:ext cx="416049" cy="425685"/>
          </a:xfrm>
          <a:prstGeom prst="ellipse">
            <a:avLst/>
          </a:prstGeom>
          <a:ln>
            <a:headEnd/>
            <a:tailEnd type="none" w="sm" len="sm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2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8681" name="AutoShape 9"/>
          <p:cNvSpPr>
            <a:spLocks noChangeShapeType="1"/>
          </p:cNvSpPr>
          <p:nvPr/>
        </p:nvSpPr>
        <p:spPr bwMode="auto">
          <a:xfrm>
            <a:off x="5837434" y="2016522"/>
            <a:ext cx="1325" cy="516315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8680" name="AutoShape 8"/>
          <p:cNvSpPr>
            <a:spLocks noChangeShapeType="1"/>
          </p:cNvSpPr>
          <p:nvPr/>
        </p:nvSpPr>
        <p:spPr bwMode="auto">
          <a:xfrm>
            <a:off x="6045459" y="2745680"/>
            <a:ext cx="601548" cy="1373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8679" name="AutoShape 7"/>
          <p:cNvSpPr>
            <a:spLocks noChangeShapeType="1"/>
          </p:cNvSpPr>
          <p:nvPr/>
        </p:nvSpPr>
        <p:spPr bwMode="auto">
          <a:xfrm flipH="1">
            <a:off x="5984509" y="2896730"/>
            <a:ext cx="723447" cy="637155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8678" name="AutoShape 6"/>
          <p:cNvSpPr>
            <a:spLocks noChangeShapeType="1"/>
          </p:cNvSpPr>
          <p:nvPr/>
        </p:nvSpPr>
        <p:spPr bwMode="auto">
          <a:xfrm>
            <a:off x="4997387" y="2896730"/>
            <a:ext cx="692973" cy="637155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8677" name="AutoShape 5"/>
          <p:cNvSpPr>
            <a:spLocks noChangeShapeType="1"/>
          </p:cNvSpPr>
          <p:nvPr/>
        </p:nvSpPr>
        <p:spPr bwMode="auto">
          <a:xfrm flipH="1">
            <a:off x="4997387" y="1954729"/>
            <a:ext cx="692973" cy="639901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8676" name="AutoShape 4"/>
          <p:cNvSpPr>
            <a:spLocks noChangeShapeType="1"/>
          </p:cNvSpPr>
          <p:nvPr/>
        </p:nvSpPr>
        <p:spPr bwMode="auto">
          <a:xfrm>
            <a:off x="5837434" y="2958523"/>
            <a:ext cx="1325" cy="513569"/>
          </a:xfrm>
          <a:prstGeom prst="straightConnector1">
            <a:avLst/>
          </a:prstGeom>
          <a:noFill/>
          <a:ln w="28575">
            <a:solidFill>
              <a:srgbClr val="FF00FF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8675" name="AutoShape 3"/>
          <p:cNvSpPr>
            <a:spLocks noChangeShapeType="1"/>
          </p:cNvSpPr>
          <p:nvPr/>
        </p:nvSpPr>
        <p:spPr bwMode="auto">
          <a:xfrm>
            <a:off x="5983184" y="1954729"/>
            <a:ext cx="724772" cy="639901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8674" name="AutoShape 2"/>
          <p:cNvSpPr>
            <a:spLocks noChangeShapeType="1"/>
          </p:cNvSpPr>
          <p:nvPr/>
        </p:nvSpPr>
        <p:spPr bwMode="auto">
          <a:xfrm>
            <a:off x="5058337" y="2745680"/>
            <a:ext cx="571073" cy="1373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357158" y="310375"/>
            <a:ext cx="853211" cy="761171"/>
            <a:chOff x="6862060" y="4310903"/>
            <a:chExt cx="1128915" cy="1130667"/>
          </a:xfrm>
        </p:grpSpPr>
        <p:grpSp>
          <p:nvGrpSpPr>
            <p:cNvPr id="41" name="Group 103"/>
            <p:cNvGrpSpPr>
              <a:grpSpLocks/>
            </p:cNvGrpSpPr>
            <p:nvPr/>
          </p:nvGrpSpPr>
          <p:grpSpPr bwMode="auto">
            <a:xfrm>
              <a:off x="6862060" y="4310903"/>
              <a:ext cx="1128915" cy="1130667"/>
              <a:chOff x="2880" y="1515"/>
              <a:chExt cx="644" cy="645"/>
            </a:xfrm>
          </p:grpSpPr>
          <p:sp>
            <p:nvSpPr>
              <p:cNvPr id="43" name="Oval 104"/>
              <p:cNvSpPr>
                <a:spLocks noChangeArrowheads="1"/>
              </p:cNvSpPr>
              <p:nvPr/>
            </p:nvSpPr>
            <p:spPr bwMode="auto">
              <a:xfrm>
                <a:off x="2880" y="1516"/>
                <a:ext cx="644" cy="644"/>
              </a:xfrm>
              <a:prstGeom prst="ellipse">
                <a:avLst/>
              </a:prstGeom>
              <a:gradFill rotWithShape="1">
                <a:gsLst>
                  <a:gs pos="0">
                    <a:srgbClr val="10942F"/>
                  </a:gs>
                  <a:gs pos="100000">
                    <a:srgbClr val="16D83B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" name="Freeform 105"/>
              <p:cNvSpPr>
                <a:spLocks/>
              </p:cNvSpPr>
              <p:nvPr/>
            </p:nvSpPr>
            <p:spPr bwMode="auto">
              <a:xfrm>
                <a:off x="2887" y="1515"/>
                <a:ext cx="630" cy="441"/>
              </a:xfrm>
              <a:custGeom>
                <a:avLst/>
                <a:gdLst/>
                <a:ahLst/>
                <a:cxnLst>
                  <a:cxn ang="0">
                    <a:pos x="1400" y="275"/>
                  </a:cxn>
                  <a:cxn ang="0">
                    <a:pos x="1596" y="795"/>
                  </a:cxn>
                  <a:cxn ang="0">
                    <a:pos x="0" y="795"/>
                  </a:cxn>
                  <a:cxn ang="0">
                    <a:pos x="217" y="252"/>
                  </a:cxn>
                  <a:cxn ang="0">
                    <a:pos x="796" y="0"/>
                  </a:cxn>
                  <a:cxn ang="0">
                    <a:pos x="1400" y="275"/>
                  </a:cxn>
                </a:cxnLst>
                <a:rect l="0" t="0" r="r" b="b"/>
                <a:pathLst>
                  <a:path w="1596" h="1118">
                    <a:moveTo>
                      <a:pt x="1400" y="275"/>
                    </a:moveTo>
                    <a:cubicBezTo>
                      <a:pt x="1522" y="417"/>
                      <a:pt x="1596" y="597"/>
                      <a:pt x="1596" y="795"/>
                    </a:cubicBezTo>
                    <a:cubicBezTo>
                      <a:pt x="1037" y="1118"/>
                      <a:pt x="668" y="611"/>
                      <a:pt x="0" y="795"/>
                    </a:cubicBezTo>
                    <a:cubicBezTo>
                      <a:pt x="0" y="585"/>
                      <a:pt x="83" y="392"/>
                      <a:pt x="217" y="252"/>
                    </a:cubicBezTo>
                    <a:cubicBezTo>
                      <a:pt x="364" y="95"/>
                      <a:pt x="570" y="0"/>
                      <a:pt x="796" y="0"/>
                    </a:cubicBezTo>
                    <a:cubicBezTo>
                      <a:pt x="1039" y="0"/>
                      <a:pt x="1253" y="108"/>
                      <a:pt x="1400" y="27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53000"/>
                    </a:schemeClr>
                  </a:gs>
                  <a:gs pos="100000">
                    <a:schemeClr val="bg1">
                      <a:gamma/>
                      <a:shade val="46275"/>
                      <a:invGamma/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" name="Text Box 71"/>
            <p:cNvSpPr txBox="1">
              <a:spLocks noChangeArrowheads="1"/>
            </p:cNvSpPr>
            <p:nvPr/>
          </p:nvSpPr>
          <p:spPr bwMode="auto">
            <a:xfrm>
              <a:off x="6923115" y="4640482"/>
              <a:ext cx="1039812" cy="466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示例</a:t>
              </a:r>
              <a:endParaRPr lang="en-GB" altLang="zh-CN" sz="1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7" name="灯片编号占位符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37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714356"/>
            <a:ext cx="8358246" cy="182969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144000" bIns="144000" rtlCol="0">
            <a:spAutoFit/>
          </a:bodyPr>
          <a:lstStyle/>
          <a:p>
            <a:pPr algn="l">
              <a:lnSpc>
                <a:spcPts val="3200"/>
              </a:lnSpc>
              <a:spcBef>
                <a:spcPts val="24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定理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11.2 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具有传递性，即若有∏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algn="l">
              <a:lnSpc>
                <a:spcPts val="3200"/>
              </a:lnSpc>
              <a:spcBef>
                <a:spcPts val="24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定理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11.3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设∏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，则∏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类蕴涵∏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38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>
            <a:hlinkClick r:id="rId2" action="ppaction://hlinksldjump"/>
          </p:cNvPr>
          <p:cNvSpPr txBox="1"/>
          <p:nvPr/>
        </p:nvSpPr>
        <p:spPr>
          <a:xfrm>
            <a:off x="2285984" y="571480"/>
            <a:ext cx="4500594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11.3 NP</a:t>
            </a:r>
            <a:r>
              <a:rPr lang="zh-CN" altLang="en-US" sz="3200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完全问题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96" y="1571612"/>
            <a:ext cx="6500858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11.3.1 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什么是</a:t>
            </a: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NP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完全问题和</a:t>
            </a: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NP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难问题</a:t>
            </a:r>
            <a:endParaRPr lang="zh-CN" altLang="zh-CN" sz="280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Consolas" pitchFamily="49" charset="0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2643182"/>
            <a:ext cx="8215370" cy="339772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定义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11.8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如果判定问题∏是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完全问题（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NPC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），当且仅当满足如下条件：</a:t>
            </a: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）∏∈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）对所有的∏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，有∏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∏。</a:t>
            </a:r>
          </a:p>
          <a:p>
            <a:pPr algn="l">
              <a:lnSpc>
                <a:spcPts val="3200"/>
              </a:lnSpc>
              <a:spcBef>
                <a:spcPts val="18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定义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11.9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如果判定问题∏满足上述条件（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），但不一定满足条件（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），则称∏是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难问题（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NPH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例如，停机问题是一个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难问题，但不是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完全问题。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39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785794"/>
            <a:ext cx="8286808" cy="183640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定理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11.4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如果任何一个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完全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是多项式时间可解，则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P=NP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4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等价地，如果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中的任何问题没有多项式时间可解算法，则没有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完全问题是多项式时间可解的。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40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590" name="Oval 14"/>
          <p:cNvSpPr>
            <a:spLocks noChangeArrowheads="1"/>
          </p:cNvSpPr>
          <p:nvPr/>
        </p:nvSpPr>
        <p:spPr bwMode="auto">
          <a:xfrm>
            <a:off x="1010567" y="1743702"/>
            <a:ext cx="2512105" cy="2221337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9" name="Oval 13"/>
          <p:cNvSpPr>
            <a:spLocks noChangeArrowheads="1"/>
          </p:cNvSpPr>
          <p:nvPr/>
        </p:nvSpPr>
        <p:spPr bwMode="auto">
          <a:xfrm>
            <a:off x="1697471" y="3054022"/>
            <a:ext cx="1117364" cy="912188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0800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P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1144023" y="2741372"/>
            <a:ext cx="516813" cy="3126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NP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1560090" y="4160592"/>
            <a:ext cx="1347640" cy="290401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(a) P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+mj-ea"/>
                <a:ea typeface="+mj-ea"/>
                <a:cs typeface="Times New Roman" pitchFamily="18" charset="0"/>
              </a:rPr>
              <a:t>≠</a:t>
            </a: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NP</a:t>
            </a:r>
            <a:endParaRPr kumimoji="0" lang="en-US" altLang="zh-CN" sz="20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6" name="Freeform 10"/>
          <p:cNvSpPr>
            <a:spLocks/>
          </p:cNvSpPr>
          <p:nvPr/>
        </p:nvSpPr>
        <p:spPr bwMode="auto">
          <a:xfrm>
            <a:off x="1048510" y="1223790"/>
            <a:ext cx="2612851" cy="12541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" y="560"/>
              </a:cxn>
              <a:cxn ang="0">
                <a:pos x="544" y="943"/>
              </a:cxn>
              <a:cxn ang="0">
                <a:pos x="1004" y="1066"/>
              </a:cxn>
              <a:cxn ang="0">
                <a:pos x="1516" y="916"/>
              </a:cxn>
              <a:cxn ang="0">
                <a:pos x="1887" y="483"/>
              </a:cxn>
              <a:cxn ang="0">
                <a:pos x="1997" y="53"/>
              </a:cxn>
            </a:cxnLst>
            <a:rect l="0" t="0" r="r" b="b"/>
            <a:pathLst>
              <a:path w="1997" h="1071">
                <a:moveTo>
                  <a:pt x="0" y="0"/>
                </a:moveTo>
                <a:cubicBezTo>
                  <a:pt x="20" y="92"/>
                  <a:pt x="29" y="403"/>
                  <a:pt x="120" y="560"/>
                </a:cubicBezTo>
                <a:cubicBezTo>
                  <a:pt x="211" y="717"/>
                  <a:pt x="397" y="859"/>
                  <a:pt x="544" y="943"/>
                </a:cubicBezTo>
                <a:cubicBezTo>
                  <a:pt x="691" y="1027"/>
                  <a:pt x="842" y="1071"/>
                  <a:pt x="1004" y="1066"/>
                </a:cubicBezTo>
                <a:cubicBezTo>
                  <a:pt x="1166" y="1061"/>
                  <a:pt x="1369" y="1013"/>
                  <a:pt x="1516" y="916"/>
                </a:cubicBezTo>
                <a:cubicBezTo>
                  <a:pt x="1663" y="819"/>
                  <a:pt x="1807" y="627"/>
                  <a:pt x="1887" y="483"/>
                </a:cubicBezTo>
                <a:cubicBezTo>
                  <a:pt x="1967" y="339"/>
                  <a:pt x="1974" y="143"/>
                  <a:pt x="1997" y="53"/>
                </a:cubicBezTo>
              </a:path>
            </a:pathLst>
          </a:custGeom>
          <a:solidFill>
            <a:schemeClr val="accent6">
              <a:lumMod val="20000"/>
              <a:lumOff val="80000"/>
              <a:alpha val="26000"/>
            </a:schemeClr>
          </a:solidFill>
          <a:ln w="9525">
            <a:solidFill>
              <a:srgbClr val="000000">
                <a:alpha val="37000"/>
              </a:srgbClr>
            </a:solidFill>
            <a:round/>
            <a:headEnd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1660836" y="1946280"/>
            <a:ext cx="1347640" cy="290401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NP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完全问题</a:t>
            </a:r>
            <a:endParaRPr kumimoji="0" lang="zh-CN" altLang="en-US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5548058" y="4155908"/>
            <a:ext cx="1347640" cy="290401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(b) P=NP</a:t>
            </a:r>
            <a:endParaRPr kumimoji="0" lang="en-US" altLang="zh-CN" sz="200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1642519" y="1368991"/>
            <a:ext cx="1347640" cy="290401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NP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难问题</a:t>
            </a:r>
            <a:endParaRPr kumimoji="0" lang="zh-CN" altLang="en-US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4786314" y="1230489"/>
            <a:ext cx="3014134" cy="1580444"/>
          </a:xfrm>
          <a:custGeom>
            <a:avLst/>
            <a:gdLst>
              <a:gd name="connsiteX0" fmla="*/ 2765778 w 3014134"/>
              <a:gd name="connsiteY0" fmla="*/ 1569155 h 1580444"/>
              <a:gd name="connsiteX1" fmla="*/ 282223 w 3014134"/>
              <a:gd name="connsiteY1" fmla="*/ 1580444 h 1580444"/>
              <a:gd name="connsiteX2" fmla="*/ 0 w 3014134"/>
              <a:gd name="connsiteY2" fmla="*/ 0 h 1580444"/>
              <a:gd name="connsiteX3" fmla="*/ 3014134 w 3014134"/>
              <a:gd name="connsiteY3" fmla="*/ 22578 h 1580444"/>
              <a:gd name="connsiteX4" fmla="*/ 2765778 w 3014134"/>
              <a:gd name="connsiteY4" fmla="*/ 1569155 h 1580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4134" h="1580444">
                <a:moveTo>
                  <a:pt x="2765778" y="1569155"/>
                </a:moveTo>
                <a:lnTo>
                  <a:pt x="282223" y="1580444"/>
                </a:lnTo>
                <a:lnTo>
                  <a:pt x="0" y="0"/>
                </a:lnTo>
                <a:lnTo>
                  <a:pt x="3014134" y="22578"/>
                </a:lnTo>
                <a:lnTo>
                  <a:pt x="2765778" y="156915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84" name="Oval 8"/>
          <p:cNvSpPr>
            <a:spLocks noChangeArrowheads="1"/>
          </p:cNvSpPr>
          <p:nvPr/>
        </p:nvSpPr>
        <p:spPr bwMode="auto">
          <a:xfrm>
            <a:off x="5043516" y="1739018"/>
            <a:ext cx="2512105" cy="2221337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5195316" y="2846759"/>
            <a:ext cx="2162766" cy="31265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P=NP=NP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完全问题</a:t>
            </a:r>
            <a:endParaRPr kumimoji="0" lang="zh-CN" altLang="en-US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5606935" y="1326835"/>
            <a:ext cx="1347640" cy="290401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NP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仿宋" pitchFamily="49" charset="-122"/>
                <a:cs typeface="Times New Roman" pitchFamily="18" charset="0"/>
              </a:rPr>
              <a:t>难问题</a:t>
            </a:r>
            <a:endParaRPr kumimoji="0" lang="zh-CN" altLang="en-US" sz="20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Consolas" pitchFamily="49" charset="0"/>
              <a:ea typeface="仿宋" pitchFamily="49" charset="-122"/>
              <a:cs typeface="宋体" pitchFamily="2" charset="-122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41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714356"/>
            <a:ext cx="8072494" cy="91307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定理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11.5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如果存在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难问题∏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，使得∏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∏，则∏是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难问题。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472" y="2428868"/>
            <a:ext cx="7929618" cy="1603104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08000" bIns="108000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为了证明∏是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完全问题，只需要做两件事：</a:t>
            </a: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）证明∏∈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类。</a:t>
            </a: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）找到一个已知的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完全问题∏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'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，并证明∏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'</a:t>
            </a:r>
            <a:r>
              <a:rPr lang="zh-CN" altLang="zh-CN">
                <a:solidFill>
                  <a:srgbClr val="006600"/>
                </a:solidFill>
                <a:latin typeface="+mn-ea"/>
              </a:rPr>
              <a:t>≤</a:t>
            </a:r>
            <a:r>
              <a:rPr lang="en-US" altLang="zh-CN" i="1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∏。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42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214290"/>
            <a:ext cx="4929222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11.3.2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第一个</a:t>
            </a: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NP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完全问题</a:t>
            </a:r>
            <a:endParaRPr lang="en-US" altLang="zh-CN" sz="2800">
              <a:latin typeface="Consolas" pitchFamily="49" charset="0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1071546"/>
            <a:ext cx="8215370" cy="488531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世纪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70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年代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S.A.Cook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L.A.Levin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分别独立地证明了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第一个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完全问题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。这是命题逻辑中的一个基本问题。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在命题逻辑中，给定一个布尔公式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，如果它是子句的合取，称为合取范式（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CNF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）。一个子句是文字的析取，这里的文字是一个布尔变元或者它的非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例如，以下布尔公式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就是一个合取范式：</a:t>
            </a: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F1=(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∧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sym typeface="Symbol"/>
              </a:rPr>
              <a:t>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sym typeface="Symbol"/>
              </a:rPr>
              <a:t>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5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∧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sym typeface="Symbol"/>
              </a:rPr>
              <a:t>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一个布尔公式的真值赋值是关于布尔变元的一组取值，一个可满足的赋值是一个真值赋值，它使得布尔公式的值为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。如果一个布尔公式具有可满足赋值，则称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该公式是可满足的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3214678" y="6000768"/>
            <a:ext cx="1500198" cy="675979"/>
            <a:chOff x="3214678" y="6000768"/>
            <a:chExt cx="1500198" cy="675979"/>
          </a:xfrm>
        </p:grpSpPr>
        <p:sp>
          <p:nvSpPr>
            <p:cNvPr id="6" name="TextBox 5"/>
            <p:cNvSpPr txBox="1"/>
            <p:nvPr/>
          </p:nvSpPr>
          <p:spPr>
            <a:xfrm>
              <a:off x="3214678" y="6215082"/>
              <a:ext cx="15001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SAT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7" name="上箭头 6"/>
            <p:cNvSpPr/>
            <p:nvPr/>
          </p:nvSpPr>
          <p:spPr>
            <a:xfrm>
              <a:off x="3428992" y="6000768"/>
              <a:ext cx="214314" cy="285752"/>
            </a:xfrm>
            <a:prstGeom prst="up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43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85720" y="334012"/>
            <a:ext cx="4500594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100000"/>
              </a:lnSpc>
            </a:pPr>
            <a:r>
              <a:rPr lang="en-US" altLang="zh-CN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11.3.3 </a:t>
            </a:r>
            <a:r>
              <a:rPr lang="zh-CN" altLang="en-US" sz="2800">
                <a:ln w="11430"/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Consolas" pitchFamily="49" charset="0"/>
                <a:ea typeface="微软雅黑" pitchFamily="34" charset="-122"/>
                <a:cs typeface="Consolas" pitchFamily="49" charset="0"/>
              </a:rPr>
              <a:t>其他</a:t>
            </a:r>
            <a:r>
              <a:rPr lang="en-US" altLang="zh-CN" sz="2800">
                <a:latin typeface="Consolas" pitchFamily="49" charset="0"/>
                <a:ea typeface="微软雅黑" pitchFamily="34" charset="-122"/>
              </a:rPr>
              <a:t>NP</a:t>
            </a:r>
            <a:r>
              <a:rPr lang="zh-CN" altLang="zh-CN" sz="2800">
                <a:latin typeface="Consolas" pitchFamily="49" charset="0"/>
                <a:ea typeface="微软雅黑" pitchFamily="34" charset="-122"/>
              </a:rPr>
              <a:t>完全问题</a:t>
            </a:r>
            <a:endParaRPr lang="en-US" altLang="zh-CN" sz="2800">
              <a:latin typeface="Consolas" pitchFamily="49" charset="0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7158" y="1214422"/>
            <a:ext cx="8501122" cy="327269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3CNF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指布尔公式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中每个子句都精确地有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个不同的文字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例如，以下布尔公式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就是一个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3CNF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F2=(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sym typeface="Symbol"/>
              </a:rPr>
              <a:t>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sym typeface="Symbol"/>
              </a:rPr>
              <a:t>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∧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∧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sym typeface="Symbol"/>
              </a:rPr>
              <a:t>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sym typeface="Symbol"/>
              </a:rPr>
              <a:t>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  <a:sym typeface="Symbol"/>
              </a:rPr>
              <a:t></a:t>
            </a:r>
            <a:r>
              <a:rPr lang="en-US" altLang="zh-CN" i="1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en-US" altLang="zh-CN">
                <a:solidFill>
                  <a:srgbClr val="006600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>
              <a:solidFill>
                <a:srgbClr val="006600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3CNF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可满足性判定问题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3SAT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指的是给定一个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3CNF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公式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是可满足的吗？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例如，上述公式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，赋值为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4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=0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的结果为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，所以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是可满足的。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143108" y="4714884"/>
            <a:ext cx="1143008" cy="818855"/>
            <a:chOff x="2180679" y="5143512"/>
            <a:chExt cx="1143008" cy="818855"/>
          </a:xfrm>
        </p:grpSpPr>
        <p:sp>
          <p:nvSpPr>
            <p:cNvPr id="6" name="TextBox 5"/>
            <p:cNvSpPr txBox="1"/>
            <p:nvPr/>
          </p:nvSpPr>
          <p:spPr>
            <a:xfrm>
              <a:off x="2180679" y="5500702"/>
              <a:ext cx="11430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3SAT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7" name="上箭头 6"/>
            <p:cNvSpPr/>
            <p:nvPr/>
          </p:nvSpPr>
          <p:spPr>
            <a:xfrm>
              <a:off x="2428860" y="5143512"/>
              <a:ext cx="285752" cy="357190"/>
            </a:xfrm>
            <a:prstGeom prst="up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44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71472" y="785794"/>
            <a:ext cx="7500990" cy="46166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定理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9.6  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3SAT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完全问题。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71472" y="1928802"/>
            <a:ext cx="8001056" cy="1632957"/>
            <a:chOff x="571472" y="1928802"/>
            <a:chExt cx="8001056" cy="1632957"/>
          </a:xfrm>
        </p:grpSpPr>
        <p:sp>
          <p:nvSpPr>
            <p:cNvPr id="5" name="TextBox 4"/>
            <p:cNvSpPr txBox="1"/>
            <p:nvPr/>
          </p:nvSpPr>
          <p:spPr>
            <a:xfrm>
              <a:off x="571472" y="2571744"/>
              <a:ext cx="8001056" cy="990015"/>
            </a:xfrm>
            <a:prstGeom prst="rect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>
                <a:lnSpc>
                  <a:spcPts val="3200"/>
                </a:lnSpc>
                <a:spcBef>
                  <a:spcPts val="60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（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）证明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3SAT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∈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NP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类。</a:t>
              </a:r>
            </a:p>
            <a:p>
              <a:pPr algn="l">
                <a:lnSpc>
                  <a:spcPts val="3200"/>
                </a:lnSpc>
                <a:spcBef>
                  <a:spcPts val="60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（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2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）已知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SAT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是一个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NP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完全问题，证明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SAT</a:t>
              </a:r>
              <a:r>
                <a:rPr lang="zh-CN" altLang="zh-CN">
                  <a:solidFill>
                    <a:srgbClr val="0000FF"/>
                  </a:solidFill>
                  <a:latin typeface="+mn-ea"/>
                </a:rPr>
                <a:t>≤</a:t>
              </a:r>
              <a:r>
                <a:rPr lang="en-US" altLang="zh-CN" i="1" baseline="-25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p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3SAT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2910" y="1928802"/>
              <a:ext cx="20717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>
                  <a:solidFill>
                    <a:srgbClr val="FF0000"/>
                  </a:solidFill>
                  <a:latin typeface="楷体" pitchFamily="49" charset="-122"/>
                  <a:ea typeface="楷体" pitchFamily="49" charset="-122"/>
                </a:rPr>
                <a:t>证明要点</a:t>
              </a:r>
            </a:p>
          </p:txBody>
        </p:sp>
      </p:grp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45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28596" y="500042"/>
            <a:ext cx="8001056" cy="47384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）证明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3SAT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34" y="1428736"/>
            <a:ext cx="8001056" cy="884216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如同证明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SAT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属于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类，很容易建立一个确定性算法来验证一个赋值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是否确实是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3SAT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的一个可满足的赋值。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46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28596" y="428604"/>
            <a:ext cx="8001056" cy="47384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）已知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SAT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完全问题，证明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SAT</a:t>
            </a:r>
            <a:r>
              <a:rPr lang="zh-CN" altLang="zh-CN">
                <a:solidFill>
                  <a:srgbClr val="0000FF"/>
                </a:solidFill>
                <a:latin typeface="+mn-ea"/>
              </a:rPr>
              <a:t>≤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3SAT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0034" y="1357298"/>
            <a:ext cx="7429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按如下步骤构造多项式时间变换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472" y="2026499"/>
            <a:ext cx="7715304" cy="91307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第一步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将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任意给定的布尔公式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转换为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是子句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的合取，每个子句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最多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个文字。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47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428728" y="497783"/>
            <a:ext cx="7000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F1=(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∧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sym typeface="Symbol"/>
              </a:rPr>
              <a:t>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</a:rPr>
              <a:t>3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</a:rPr>
              <a:t>4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sym typeface="Symbol"/>
              </a:rPr>
              <a:t>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</a:rPr>
              <a:t>5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∧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sym typeface="Symbol"/>
              </a:rPr>
              <a:t>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</a:rPr>
              <a:t>3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</a:rPr>
              <a:t>4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)</a:t>
            </a:r>
            <a:endParaRPr lang="zh-CN" altLang="zh-CN" sz="22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2092" name="Rectangle 4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" name="组合 67"/>
          <p:cNvGrpSpPr/>
          <p:nvPr/>
        </p:nvGrpSpPr>
        <p:grpSpPr>
          <a:xfrm>
            <a:off x="917118" y="1214423"/>
            <a:ext cx="2172414" cy="993067"/>
            <a:chOff x="917118" y="1214423"/>
            <a:chExt cx="2172414" cy="993067"/>
          </a:xfrm>
        </p:grpSpPr>
        <p:sp>
          <p:nvSpPr>
            <p:cNvPr id="2090" name="Rectangle 42"/>
            <p:cNvSpPr>
              <a:spLocks noChangeArrowheads="1"/>
            </p:cNvSpPr>
            <p:nvPr/>
          </p:nvSpPr>
          <p:spPr bwMode="auto">
            <a:xfrm>
              <a:off x="2037627" y="1243866"/>
              <a:ext cx="336661" cy="2596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y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88" name="Oval 40"/>
            <p:cNvSpPr>
              <a:spLocks noChangeArrowheads="1"/>
            </p:cNvSpPr>
            <p:nvPr/>
          </p:nvSpPr>
          <p:spPr bwMode="auto">
            <a:xfrm>
              <a:off x="1643797" y="1214423"/>
              <a:ext cx="397640" cy="41757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∧</a:t>
              </a:r>
              <a:endParaRPr kumimoji="0" lang="zh-CN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65" name="AutoShape 17"/>
            <p:cNvSpPr>
              <a:spLocks noChangeShapeType="1"/>
            </p:cNvSpPr>
            <p:nvPr/>
          </p:nvSpPr>
          <p:spPr bwMode="auto">
            <a:xfrm flipH="1">
              <a:off x="917118" y="1570428"/>
              <a:ext cx="785119" cy="62903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2064" name="AutoShape 16"/>
            <p:cNvSpPr>
              <a:spLocks noChangeShapeType="1"/>
            </p:cNvSpPr>
            <p:nvPr/>
          </p:nvSpPr>
          <p:spPr bwMode="auto">
            <a:xfrm>
              <a:off x="1982998" y="1570428"/>
              <a:ext cx="1106534" cy="63706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grpSp>
        <p:nvGrpSpPr>
          <p:cNvPr id="3" name="组合 66"/>
          <p:cNvGrpSpPr/>
          <p:nvPr/>
        </p:nvGrpSpPr>
        <p:grpSpPr>
          <a:xfrm>
            <a:off x="2567390" y="1950523"/>
            <a:ext cx="1379674" cy="1035895"/>
            <a:chOff x="2567390" y="1950523"/>
            <a:chExt cx="1379674" cy="1035895"/>
          </a:xfrm>
        </p:grpSpPr>
        <p:sp>
          <p:nvSpPr>
            <p:cNvPr id="2084" name="Rectangle 36"/>
            <p:cNvSpPr>
              <a:spLocks noChangeArrowheads="1"/>
            </p:cNvSpPr>
            <p:nvPr/>
          </p:nvSpPr>
          <p:spPr bwMode="auto">
            <a:xfrm>
              <a:off x="3386810" y="1950523"/>
              <a:ext cx="336661" cy="2596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y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83" name="Oval 35"/>
            <p:cNvSpPr>
              <a:spLocks noChangeArrowheads="1"/>
            </p:cNvSpPr>
            <p:nvPr/>
          </p:nvSpPr>
          <p:spPr bwMode="auto">
            <a:xfrm>
              <a:off x="3031093" y="2145925"/>
              <a:ext cx="398911" cy="41757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lvl="0">
                <a:lnSpc>
                  <a:spcPct val="100000"/>
                </a:lnSpc>
                <a:spcBef>
                  <a:spcPct val="0"/>
                </a:spcBef>
              </a:pPr>
              <a:r>
                <a:rPr kumimoji="0" lang="zh-CN" altLang="zh-CN" sz="18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∧</a:t>
              </a:r>
              <a:endParaRPr kumimoji="0" lang="zh-CN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63" name="AutoShape 15"/>
            <p:cNvSpPr>
              <a:spLocks noChangeShapeType="1"/>
            </p:cNvSpPr>
            <p:nvPr/>
          </p:nvSpPr>
          <p:spPr bwMode="auto">
            <a:xfrm flipH="1">
              <a:off x="2567390" y="2501930"/>
              <a:ext cx="522142" cy="484488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2062" name="AutoShape 14"/>
            <p:cNvSpPr>
              <a:spLocks noChangeShapeType="1"/>
            </p:cNvSpPr>
            <p:nvPr/>
          </p:nvSpPr>
          <p:spPr bwMode="auto">
            <a:xfrm>
              <a:off x="3371565" y="2501930"/>
              <a:ext cx="575499" cy="428277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grpSp>
        <p:nvGrpSpPr>
          <p:cNvPr id="4" name="组合 59"/>
          <p:cNvGrpSpPr/>
          <p:nvPr/>
        </p:nvGrpSpPr>
        <p:grpSpPr>
          <a:xfrm>
            <a:off x="285720" y="1901004"/>
            <a:ext cx="957896" cy="1386546"/>
            <a:chOff x="285720" y="1901004"/>
            <a:chExt cx="957896" cy="1386546"/>
          </a:xfrm>
        </p:grpSpPr>
        <p:sp>
          <p:nvSpPr>
            <p:cNvPr id="2089" name="Rectangle 41"/>
            <p:cNvSpPr>
              <a:spLocks noChangeArrowheads="1"/>
            </p:cNvSpPr>
            <p:nvPr/>
          </p:nvSpPr>
          <p:spPr bwMode="auto">
            <a:xfrm>
              <a:off x="367027" y="1901004"/>
              <a:ext cx="336661" cy="2596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y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87" name="Oval 39"/>
            <p:cNvSpPr>
              <a:spLocks noChangeArrowheads="1"/>
            </p:cNvSpPr>
            <p:nvPr/>
          </p:nvSpPr>
          <p:spPr bwMode="auto">
            <a:xfrm>
              <a:off x="576646" y="2137895"/>
              <a:ext cx="398911" cy="41757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∨</a:t>
              </a:r>
              <a:endParaRPr kumimoji="0" lang="zh-CN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86" name="Rectangle 38"/>
            <p:cNvSpPr>
              <a:spLocks noChangeArrowheads="1"/>
            </p:cNvSpPr>
            <p:nvPr/>
          </p:nvSpPr>
          <p:spPr bwMode="auto">
            <a:xfrm>
              <a:off x="285720" y="3025231"/>
              <a:ext cx="336661" cy="2609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85" name="Rectangle 37"/>
            <p:cNvSpPr>
              <a:spLocks noChangeArrowheads="1"/>
            </p:cNvSpPr>
            <p:nvPr/>
          </p:nvSpPr>
          <p:spPr bwMode="auto">
            <a:xfrm>
              <a:off x="905684" y="3025231"/>
              <a:ext cx="337932" cy="26231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61" name="AutoShape 13"/>
            <p:cNvSpPr>
              <a:spLocks noChangeShapeType="1"/>
            </p:cNvSpPr>
            <p:nvPr/>
          </p:nvSpPr>
          <p:spPr bwMode="auto">
            <a:xfrm flipH="1">
              <a:off x="454685" y="2493900"/>
              <a:ext cx="180399" cy="53133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2060" name="AutoShape 12"/>
            <p:cNvSpPr>
              <a:spLocks noChangeShapeType="1"/>
            </p:cNvSpPr>
            <p:nvPr/>
          </p:nvSpPr>
          <p:spPr bwMode="auto">
            <a:xfrm>
              <a:off x="917118" y="2493900"/>
              <a:ext cx="157532" cy="53133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grpSp>
        <p:nvGrpSpPr>
          <p:cNvPr id="5" name="组合 62"/>
          <p:cNvGrpSpPr/>
          <p:nvPr/>
        </p:nvGrpSpPr>
        <p:grpSpPr>
          <a:xfrm>
            <a:off x="1779732" y="2579555"/>
            <a:ext cx="1100181" cy="1485586"/>
            <a:chOff x="1779732" y="2579555"/>
            <a:chExt cx="1100181" cy="1485586"/>
          </a:xfrm>
        </p:grpSpPr>
        <p:sp>
          <p:nvSpPr>
            <p:cNvPr id="2082" name="Rectangle 34"/>
            <p:cNvSpPr>
              <a:spLocks noChangeArrowheads="1"/>
            </p:cNvSpPr>
            <p:nvPr/>
          </p:nvSpPr>
          <p:spPr bwMode="auto">
            <a:xfrm>
              <a:off x="2177372" y="2579555"/>
              <a:ext cx="336661" cy="2596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y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4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81" name="Oval 33"/>
            <p:cNvSpPr>
              <a:spLocks noChangeArrowheads="1"/>
            </p:cNvSpPr>
            <p:nvPr/>
          </p:nvSpPr>
          <p:spPr bwMode="auto">
            <a:xfrm>
              <a:off x="2226919" y="2924854"/>
              <a:ext cx="398911" cy="41757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∨</a:t>
              </a:r>
              <a:endParaRPr kumimoji="0" lang="zh-CN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68" name="Rectangle 20"/>
            <p:cNvSpPr>
              <a:spLocks noChangeArrowheads="1"/>
            </p:cNvSpPr>
            <p:nvPr/>
          </p:nvSpPr>
          <p:spPr bwMode="auto">
            <a:xfrm>
              <a:off x="1779732" y="3804160"/>
              <a:ext cx="424320" cy="2609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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1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2059" name="AutoShape 11"/>
            <p:cNvSpPr>
              <a:spLocks noChangeShapeType="1"/>
            </p:cNvSpPr>
            <p:nvPr/>
          </p:nvSpPr>
          <p:spPr bwMode="auto">
            <a:xfrm flipH="1">
              <a:off x="1991892" y="3280859"/>
              <a:ext cx="293466" cy="52330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2058" name="AutoShape 10"/>
            <p:cNvSpPr>
              <a:spLocks noChangeShapeType="1"/>
            </p:cNvSpPr>
            <p:nvPr/>
          </p:nvSpPr>
          <p:spPr bwMode="auto">
            <a:xfrm>
              <a:off x="2567390" y="3280859"/>
              <a:ext cx="312523" cy="43496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grpSp>
        <p:nvGrpSpPr>
          <p:cNvPr id="6" name="组合 61"/>
          <p:cNvGrpSpPr/>
          <p:nvPr/>
        </p:nvGrpSpPr>
        <p:grpSpPr>
          <a:xfrm>
            <a:off x="2356502" y="3430756"/>
            <a:ext cx="942650" cy="1402606"/>
            <a:chOff x="2356502" y="3430756"/>
            <a:chExt cx="942650" cy="1402606"/>
          </a:xfrm>
        </p:grpSpPr>
        <p:sp>
          <p:nvSpPr>
            <p:cNvPr id="2080" name="Rectangle 32"/>
            <p:cNvSpPr>
              <a:spLocks noChangeArrowheads="1"/>
            </p:cNvSpPr>
            <p:nvPr/>
          </p:nvSpPr>
          <p:spPr bwMode="auto">
            <a:xfrm>
              <a:off x="2882454" y="3430756"/>
              <a:ext cx="336661" cy="2596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y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6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79" name="Oval 31"/>
            <p:cNvSpPr>
              <a:spLocks noChangeArrowheads="1"/>
            </p:cNvSpPr>
            <p:nvPr/>
          </p:nvSpPr>
          <p:spPr bwMode="auto">
            <a:xfrm>
              <a:off x="2680458" y="3715828"/>
              <a:ext cx="398911" cy="41757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∨</a:t>
              </a:r>
              <a:endParaRPr kumimoji="0" lang="zh-CN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67" name="Rectangle 19"/>
            <p:cNvSpPr>
              <a:spLocks noChangeArrowheads="1"/>
            </p:cNvSpPr>
            <p:nvPr/>
          </p:nvSpPr>
          <p:spPr bwMode="auto">
            <a:xfrm>
              <a:off x="2356502" y="4571043"/>
              <a:ext cx="337932" cy="26231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7" name="AutoShape 9"/>
            <p:cNvSpPr>
              <a:spLocks noChangeShapeType="1"/>
            </p:cNvSpPr>
            <p:nvPr/>
          </p:nvSpPr>
          <p:spPr bwMode="auto">
            <a:xfrm flipH="1">
              <a:off x="2525467" y="4071833"/>
              <a:ext cx="213430" cy="49921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2056" name="AutoShape 8"/>
            <p:cNvSpPr>
              <a:spLocks noChangeShapeType="1"/>
            </p:cNvSpPr>
            <p:nvPr/>
          </p:nvSpPr>
          <p:spPr bwMode="auto">
            <a:xfrm>
              <a:off x="3020930" y="4071833"/>
              <a:ext cx="278222" cy="434969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grpSp>
        <p:nvGrpSpPr>
          <p:cNvPr id="7" name="组合 60"/>
          <p:cNvGrpSpPr/>
          <p:nvPr/>
        </p:nvGrpSpPr>
        <p:grpSpPr>
          <a:xfrm>
            <a:off x="2831637" y="4245820"/>
            <a:ext cx="1056988" cy="1326321"/>
            <a:chOff x="2831637" y="4245820"/>
            <a:chExt cx="1056988" cy="1326321"/>
          </a:xfrm>
        </p:grpSpPr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3347428" y="4245820"/>
              <a:ext cx="336661" cy="2596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y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8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77" name="Oval 29"/>
            <p:cNvSpPr>
              <a:spLocks noChangeArrowheads="1"/>
            </p:cNvSpPr>
            <p:nvPr/>
          </p:nvSpPr>
          <p:spPr bwMode="auto">
            <a:xfrm>
              <a:off x="3099696" y="4506802"/>
              <a:ext cx="398911" cy="41757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∨</a:t>
              </a:r>
              <a:endParaRPr kumimoji="0" lang="zh-CN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72" name="Rectangle 24"/>
            <p:cNvSpPr>
              <a:spLocks noChangeArrowheads="1"/>
            </p:cNvSpPr>
            <p:nvPr/>
          </p:nvSpPr>
          <p:spPr bwMode="auto">
            <a:xfrm>
              <a:off x="2831637" y="5309822"/>
              <a:ext cx="336661" cy="2609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4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71" name="Rectangle 23"/>
            <p:cNvSpPr>
              <a:spLocks noChangeArrowheads="1"/>
            </p:cNvSpPr>
            <p:nvPr/>
          </p:nvSpPr>
          <p:spPr bwMode="auto">
            <a:xfrm>
              <a:off x="3474469" y="5309822"/>
              <a:ext cx="414156" cy="26231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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5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2055" name="AutoShape 7"/>
            <p:cNvSpPr>
              <a:spLocks noChangeShapeType="1"/>
            </p:cNvSpPr>
            <p:nvPr/>
          </p:nvSpPr>
          <p:spPr bwMode="auto">
            <a:xfrm flipH="1">
              <a:off x="3000604" y="4862807"/>
              <a:ext cx="157532" cy="44701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2054" name="AutoShape 6"/>
            <p:cNvSpPr>
              <a:spLocks noChangeShapeType="1"/>
            </p:cNvSpPr>
            <p:nvPr/>
          </p:nvSpPr>
          <p:spPr bwMode="auto">
            <a:xfrm>
              <a:off x="3440168" y="4862807"/>
              <a:ext cx="241379" cy="447014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grpSp>
        <p:nvGrpSpPr>
          <p:cNvPr id="8" name="组合 65"/>
          <p:cNvGrpSpPr/>
          <p:nvPr/>
        </p:nvGrpSpPr>
        <p:grpSpPr>
          <a:xfrm>
            <a:off x="3519658" y="2583570"/>
            <a:ext cx="1131620" cy="1481571"/>
            <a:chOff x="3519658" y="2583570"/>
            <a:chExt cx="1131620" cy="1481571"/>
          </a:xfrm>
        </p:grpSpPr>
        <p:sp>
          <p:nvSpPr>
            <p:cNvPr id="2076" name="Rectangle 28"/>
            <p:cNvSpPr>
              <a:spLocks noChangeArrowheads="1"/>
            </p:cNvSpPr>
            <p:nvPr/>
          </p:nvSpPr>
          <p:spPr bwMode="auto">
            <a:xfrm>
              <a:off x="4284996" y="2583570"/>
              <a:ext cx="336661" cy="2596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y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5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75" name="Oval 27"/>
            <p:cNvSpPr>
              <a:spLocks noChangeArrowheads="1"/>
            </p:cNvSpPr>
            <p:nvPr/>
          </p:nvSpPr>
          <p:spPr bwMode="auto">
            <a:xfrm>
              <a:off x="3933781" y="2868643"/>
              <a:ext cx="398911" cy="41757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∨</a:t>
              </a:r>
              <a:endParaRPr kumimoji="0" lang="zh-CN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66" name="Rectangle 18"/>
            <p:cNvSpPr>
              <a:spLocks noChangeArrowheads="1"/>
            </p:cNvSpPr>
            <p:nvPr/>
          </p:nvSpPr>
          <p:spPr bwMode="auto">
            <a:xfrm>
              <a:off x="3519658" y="3804160"/>
              <a:ext cx="336661" cy="2609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3" name="AutoShape 5"/>
            <p:cNvSpPr>
              <a:spLocks noChangeShapeType="1"/>
            </p:cNvSpPr>
            <p:nvPr/>
          </p:nvSpPr>
          <p:spPr bwMode="auto">
            <a:xfrm flipH="1">
              <a:off x="3726033" y="3213359"/>
              <a:ext cx="232320" cy="632980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2052" name="AutoShape 4"/>
            <p:cNvSpPr>
              <a:spLocks noChangeShapeType="1"/>
            </p:cNvSpPr>
            <p:nvPr/>
          </p:nvSpPr>
          <p:spPr bwMode="auto">
            <a:xfrm>
              <a:off x="4296832" y="3224648"/>
              <a:ext cx="354446" cy="552745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grpSp>
        <p:nvGrpSpPr>
          <p:cNvPr id="10" name="组合 64"/>
          <p:cNvGrpSpPr/>
          <p:nvPr/>
        </p:nvGrpSpPr>
        <p:grpSpPr>
          <a:xfrm>
            <a:off x="4222745" y="3482952"/>
            <a:ext cx="992197" cy="1350410"/>
            <a:chOff x="4222745" y="3482952"/>
            <a:chExt cx="992197" cy="1350410"/>
          </a:xfrm>
        </p:grpSpPr>
        <p:sp>
          <p:nvSpPr>
            <p:cNvPr id="2074" name="Rectangle 26"/>
            <p:cNvSpPr>
              <a:spLocks noChangeArrowheads="1"/>
            </p:cNvSpPr>
            <p:nvPr/>
          </p:nvSpPr>
          <p:spPr bwMode="auto">
            <a:xfrm>
              <a:off x="4841440" y="3482952"/>
              <a:ext cx="336661" cy="25964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y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FF0000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7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73" name="Oval 25"/>
            <p:cNvSpPr>
              <a:spLocks noChangeArrowheads="1"/>
            </p:cNvSpPr>
            <p:nvPr/>
          </p:nvSpPr>
          <p:spPr bwMode="auto">
            <a:xfrm>
              <a:off x="4525105" y="3715828"/>
              <a:ext cx="398911" cy="41757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∨</a:t>
              </a:r>
              <a:endParaRPr kumimoji="0" lang="zh-CN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70" name="Rectangle 22"/>
            <p:cNvSpPr>
              <a:spLocks noChangeArrowheads="1"/>
            </p:cNvSpPr>
            <p:nvPr/>
          </p:nvSpPr>
          <p:spPr bwMode="auto">
            <a:xfrm>
              <a:off x="4222745" y="4571043"/>
              <a:ext cx="435753" cy="26098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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3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2069" name="Rectangle 21"/>
            <p:cNvSpPr>
              <a:spLocks noChangeArrowheads="1"/>
            </p:cNvSpPr>
            <p:nvPr/>
          </p:nvSpPr>
          <p:spPr bwMode="auto">
            <a:xfrm>
              <a:off x="4877010" y="4571043"/>
              <a:ext cx="337932" cy="26231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4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2051" name="AutoShape 3"/>
            <p:cNvSpPr>
              <a:spLocks noChangeShapeType="1"/>
            </p:cNvSpPr>
            <p:nvPr/>
          </p:nvSpPr>
          <p:spPr bwMode="auto">
            <a:xfrm flipH="1">
              <a:off x="4441257" y="4071833"/>
              <a:ext cx="142287" cy="49921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</a:endParaRPr>
            </a:p>
          </p:txBody>
        </p:sp>
        <p:sp>
          <p:nvSpPr>
            <p:cNvPr id="2050" name="AutoShape 2"/>
            <p:cNvSpPr>
              <a:spLocks noChangeShapeType="1"/>
            </p:cNvSpPr>
            <p:nvPr/>
          </p:nvSpPr>
          <p:spPr bwMode="auto">
            <a:xfrm>
              <a:off x="4865577" y="4071833"/>
              <a:ext cx="180399" cy="499211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>
                <a:solidFill>
                  <a:srgbClr val="0000FF"/>
                </a:solidFill>
                <a:latin typeface="Consolas" pitchFamily="49" charset="0"/>
              </a:endParaRP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5643570" y="1214422"/>
            <a:ext cx="307183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F1'=</a:t>
            </a:r>
            <a:r>
              <a:rPr lang="en-US" altLang="zh-CN" sz="2000" i="1">
                <a:solidFill>
                  <a:srgbClr val="FF0000"/>
                </a:solidFill>
                <a:latin typeface="Consolas" pitchFamily="49" charset="0"/>
              </a:rPr>
              <a:t>y</a:t>
            </a:r>
            <a:r>
              <a:rPr lang="en-US" altLang="zh-CN" sz="2000" baseline="-25000">
                <a:solidFill>
                  <a:srgbClr val="FF0000"/>
                </a:solidFill>
                <a:latin typeface="Consolas" pitchFamily="49" charset="0"/>
              </a:rPr>
              <a:t>1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∧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000" i="1">
                <a:solidFill>
                  <a:srgbClr val="FF0000"/>
                </a:solidFill>
                <a:latin typeface="Consolas" pitchFamily="49" charset="0"/>
              </a:rPr>
              <a:t>y</a:t>
            </a:r>
            <a:r>
              <a:rPr lang="en-US" altLang="zh-CN" sz="2000" baseline="-25000">
                <a:solidFill>
                  <a:srgbClr val="FF0000"/>
                </a:solidFill>
                <a:latin typeface="Consolas" pitchFamily="49" charset="0"/>
              </a:rPr>
              <a:t>1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sym typeface="Symbol"/>
              </a:rPr>
              <a:t>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</a:rPr>
              <a:t>y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∧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</a:rPr>
              <a:t>y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</a:rPr>
              <a:t>3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))</a:t>
            </a:r>
            <a:endParaRPr lang="zh-CN" altLang="zh-CN" sz="2000">
              <a:solidFill>
                <a:srgbClr val="0000FF"/>
              </a:solidFill>
              <a:latin typeface="Consolas" pitchFamily="49" charset="0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		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∧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000" i="1">
                <a:solidFill>
                  <a:srgbClr val="FF0000"/>
                </a:solidFill>
                <a:latin typeface="Consolas" pitchFamily="49" charset="0"/>
              </a:rPr>
              <a:t>y</a:t>
            </a:r>
            <a:r>
              <a:rPr lang="en-US" altLang="zh-CN" sz="2000" baseline="-25000">
                <a:solidFill>
                  <a:srgbClr val="FF0000"/>
                </a:solidFill>
                <a:latin typeface="Consolas" pitchFamily="49" charset="0"/>
              </a:rPr>
              <a:t>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sym typeface="Symbol"/>
              </a:rPr>
              <a:t>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</a:rPr>
              <a:t>1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))</a:t>
            </a:r>
            <a:endParaRPr lang="zh-CN" altLang="zh-CN" sz="2000">
              <a:solidFill>
                <a:srgbClr val="0000FF"/>
              </a:solidFill>
              <a:latin typeface="Consolas" pitchFamily="49" charset="0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		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∧</a:t>
            </a:r>
            <a:r>
              <a:rPr lang="en-US" altLang="zh-CN" sz="2000">
                <a:solidFill>
                  <a:srgbClr val="FF0000"/>
                </a:solidFill>
                <a:latin typeface="Consolas" pitchFamily="49" charset="0"/>
              </a:rPr>
              <a:t>(</a:t>
            </a:r>
            <a:r>
              <a:rPr lang="en-US" altLang="zh-CN" sz="2000" i="1">
                <a:solidFill>
                  <a:srgbClr val="FF0000"/>
                </a:solidFill>
                <a:latin typeface="Consolas" pitchFamily="49" charset="0"/>
              </a:rPr>
              <a:t>y</a:t>
            </a:r>
            <a:r>
              <a:rPr lang="en-US" altLang="zh-CN" sz="2000" baseline="-25000">
                <a:solidFill>
                  <a:srgbClr val="FF0000"/>
                </a:solidFill>
                <a:latin typeface="Consolas" pitchFamily="49" charset="0"/>
              </a:rPr>
              <a:t>3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sym typeface="Symbol"/>
              </a:rPr>
              <a:t>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</a:rPr>
              <a:t>y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</a:rPr>
              <a:t>4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∧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</a:rPr>
              <a:t>y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</a:rPr>
              <a:t>5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))</a:t>
            </a:r>
            <a:endParaRPr lang="zh-CN" altLang="zh-CN" sz="2000">
              <a:solidFill>
                <a:srgbClr val="0000FF"/>
              </a:solidFill>
              <a:latin typeface="Consolas" pitchFamily="49" charset="0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		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∧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000" i="1">
                <a:solidFill>
                  <a:srgbClr val="FF0000"/>
                </a:solidFill>
                <a:latin typeface="Consolas" pitchFamily="49" charset="0"/>
              </a:rPr>
              <a:t>y</a:t>
            </a:r>
            <a:r>
              <a:rPr lang="en-US" altLang="zh-CN" sz="2000" baseline="-25000">
                <a:solidFill>
                  <a:srgbClr val="FF0000"/>
                </a:solidFill>
                <a:latin typeface="Consolas" pitchFamily="49" charset="0"/>
              </a:rPr>
              <a:t>4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sym typeface="Symbol"/>
              </a:rPr>
              <a:t>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sym typeface="Symbol"/>
              </a:rPr>
              <a:t>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</a:rPr>
              <a:t>1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</a:rPr>
              <a:t>y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</a:rPr>
              <a:t>6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))</a:t>
            </a:r>
            <a:endParaRPr lang="zh-CN" altLang="zh-CN" sz="2000">
              <a:solidFill>
                <a:srgbClr val="0000FF"/>
              </a:solidFill>
              <a:latin typeface="Consolas" pitchFamily="49" charset="0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		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∧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000" i="1">
                <a:solidFill>
                  <a:srgbClr val="FF0000"/>
                </a:solidFill>
                <a:latin typeface="Consolas" pitchFamily="49" charset="0"/>
              </a:rPr>
              <a:t>y</a:t>
            </a:r>
            <a:r>
              <a:rPr lang="en-US" altLang="zh-CN" sz="2000" baseline="-25000">
                <a:solidFill>
                  <a:srgbClr val="FF0000"/>
                </a:solidFill>
                <a:latin typeface="Consolas" pitchFamily="49" charset="0"/>
              </a:rPr>
              <a:t>5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sym typeface="Symbol"/>
              </a:rPr>
              <a:t>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</a:rPr>
              <a:t>1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</a:rPr>
              <a:t>y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</a:rPr>
              <a:t>7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))</a:t>
            </a:r>
            <a:endParaRPr lang="zh-CN" altLang="zh-CN" sz="2000">
              <a:solidFill>
                <a:srgbClr val="0000FF"/>
              </a:solidFill>
              <a:latin typeface="Consolas" pitchFamily="49" charset="0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		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∧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000" i="1">
                <a:solidFill>
                  <a:srgbClr val="FF0000"/>
                </a:solidFill>
                <a:latin typeface="Consolas" pitchFamily="49" charset="0"/>
              </a:rPr>
              <a:t>y</a:t>
            </a:r>
            <a:r>
              <a:rPr lang="en-US" altLang="zh-CN" sz="2000" baseline="-25000">
                <a:solidFill>
                  <a:srgbClr val="FF0000"/>
                </a:solidFill>
                <a:latin typeface="Consolas" pitchFamily="49" charset="0"/>
              </a:rPr>
              <a:t>6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sym typeface="Symbol"/>
              </a:rPr>
              <a:t>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</a:rPr>
              <a:t>3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</a:rPr>
              <a:t>y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</a:rPr>
              <a:t>8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))</a:t>
            </a:r>
            <a:endParaRPr lang="zh-CN" altLang="zh-CN" sz="2000">
              <a:solidFill>
                <a:srgbClr val="0000FF"/>
              </a:solidFill>
              <a:latin typeface="Consolas" pitchFamily="49" charset="0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		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∧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000" i="1">
                <a:solidFill>
                  <a:srgbClr val="FF0000"/>
                </a:solidFill>
                <a:latin typeface="Consolas" pitchFamily="49" charset="0"/>
              </a:rPr>
              <a:t>y</a:t>
            </a:r>
            <a:r>
              <a:rPr lang="en-US" altLang="zh-CN" sz="2000" baseline="-25000">
                <a:solidFill>
                  <a:srgbClr val="FF0000"/>
                </a:solidFill>
                <a:latin typeface="Consolas" pitchFamily="49" charset="0"/>
              </a:rPr>
              <a:t>7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sym typeface="Symbol"/>
              </a:rPr>
              <a:t>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sym typeface="Symbol"/>
              </a:rPr>
              <a:t>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</a:rPr>
              <a:t>3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</a:rPr>
              <a:t>4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))</a:t>
            </a:r>
            <a:endParaRPr lang="zh-CN" altLang="zh-CN" sz="2000">
              <a:solidFill>
                <a:srgbClr val="0000FF"/>
              </a:solidFill>
              <a:latin typeface="Consolas" pitchFamily="49" charset="0"/>
            </a:endParaRPr>
          </a:p>
          <a:p>
            <a:pPr algn="l" defTabSz="360000">
              <a:lnSpc>
                <a:spcPts val="3000"/>
              </a:lnSpc>
              <a:spcBef>
                <a:spcPts val="0"/>
              </a:spcBef>
            </a:pP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		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∧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000" i="1">
                <a:solidFill>
                  <a:srgbClr val="FF0000"/>
                </a:solidFill>
                <a:latin typeface="Consolas" pitchFamily="49" charset="0"/>
              </a:rPr>
              <a:t>y</a:t>
            </a:r>
            <a:r>
              <a:rPr lang="en-US" altLang="zh-CN" sz="2000" baseline="-25000">
                <a:solidFill>
                  <a:srgbClr val="FF0000"/>
                </a:solidFill>
                <a:latin typeface="Consolas" pitchFamily="49" charset="0"/>
              </a:rPr>
              <a:t>8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sym typeface="Symbol"/>
              </a:rPr>
              <a:t>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</a:rPr>
              <a:t>4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sym typeface="Symbol"/>
              </a:rPr>
              <a:t>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sz="2000" baseline="-25000">
                <a:solidFill>
                  <a:srgbClr val="0000FF"/>
                </a:solidFill>
                <a:latin typeface="Consolas" pitchFamily="49" charset="0"/>
              </a:rPr>
              <a:t>5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</a:rPr>
              <a:t>))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11" name="组合 54"/>
          <p:cNvGrpSpPr/>
          <p:nvPr/>
        </p:nvGrpSpPr>
        <p:grpSpPr>
          <a:xfrm>
            <a:off x="357158" y="310375"/>
            <a:ext cx="853211" cy="761171"/>
            <a:chOff x="6862060" y="4310903"/>
            <a:chExt cx="1128915" cy="1130667"/>
          </a:xfrm>
        </p:grpSpPr>
        <p:grpSp>
          <p:nvGrpSpPr>
            <p:cNvPr id="12" name="Group 103"/>
            <p:cNvGrpSpPr>
              <a:grpSpLocks/>
            </p:cNvGrpSpPr>
            <p:nvPr/>
          </p:nvGrpSpPr>
          <p:grpSpPr bwMode="auto">
            <a:xfrm>
              <a:off x="6862060" y="4310903"/>
              <a:ext cx="1128915" cy="1130667"/>
              <a:chOff x="2880" y="1515"/>
              <a:chExt cx="644" cy="645"/>
            </a:xfrm>
          </p:grpSpPr>
          <p:sp>
            <p:nvSpPr>
              <p:cNvPr id="58" name="Oval 104"/>
              <p:cNvSpPr>
                <a:spLocks noChangeArrowheads="1"/>
              </p:cNvSpPr>
              <p:nvPr/>
            </p:nvSpPr>
            <p:spPr bwMode="auto">
              <a:xfrm>
                <a:off x="2880" y="1516"/>
                <a:ext cx="644" cy="644"/>
              </a:xfrm>
              <a:prstGeom prst="ellipse">
                <a:avLst/>
              </a:prstGeom>
              <a:gradFill rotWithShape="1">
                <a:gsLst>
                  <a:gs pos="0">
                    <a:srgbClr val="10942F"/>
                  </a:gs>
                  <a:gs pos="100000">
                    <a:srgbClr val="16D83B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Freeform 105"/>
              <p:cNvSpPr>
                <a:spLocks/>
              </p:cNvSpPr>
              <p:nvPr/>
            </p:nvSpPr>
            <p:spPr bwMode="auto">
              <a:xfrm>
                <a:off x="2887" y="1515"/>
                <a:ext cx="630" cy="441"/>
              </a:xfrm>
              <a:custGeom>
                <a:avLst/>
                <a:gdLst/>
                <a:ahLst/>
                <a:cxnLst>
                  <a:cxn ang="0">
                    <a:pos x="1400" y="275"/>
                  </a:cxn>
                  <a:cxn ang="0">
                    <a:pos x="1596" y="795"/>
                  </a:cxn>
                  <a:cxn ang="0">
                    <a:pos x="0" y="795"/>
                  </a:cxn>
                  <a:cxn ang="0">
                    <a:pos x="217" y="252"/>
                  </a:cxn>
                  <a:cxn ang="0">
                    <a:pos x="796" y="0"/>
                  </a:cxn>
                  <a:cxn ang="0">
                    <a:pos x="1400" y="275"/>
                  </a:cxn>
                </a:cxnLst>
                <a:rect l="0" t="0" r="r" b="b"/>
                <a:pathLst>
                  <a:path w="1596" h="1118">
                    <a:moveTo>
                      <a:pt x="1400" y="275"/>
                    </a:moveTo>
                    <a:cubicBezTo>
                      <a:pt x="1522" y="417"/>
                      <a:pt x="1596" y="597"/>
                      <a:pt x="1596" y="795"/>
                    </a:cubicBezTo>
                    <a:cubicBezTo>
                      <a:pt x="1037" y="1118"/>
                      <a:pt x="668" y="611"/>
                      <a:pt x="0" y="795"/>
                    </a:cubicBezTo>
                    <a:cubicBezTo>
                      <a:pt x="0" y="585"/>
                      <a:pt x="83" y="392"/>
                      <a:pt x="217" y="252"/>
                    </a:cubicBezTo>
                    <a:cubicBezTo>
                      <a:pt x="364" y="95"/>
                      <a:pt x="570" y="0"/>
                      <a:pt x="796" y="0"/>
                    </a:cubicBezTo>
                    <a:cubicBezTo>
                      <a:pt x="1039" y="0"/>
                      <a:pt x="1253" y="108"/>
                      <a:pt x="1400" y="275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>
                      <a:alpha val="53000"/>
                    </a:schemeClr>
                  </a:gs>
                  <a:gs pos="100000">
                    <a:schemeClr val="bg1">
                      <a:gamma/>
                      <a:shade val="46275"/>
                      <a:invGamma/>
                      <a:alpha val="0"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" name="Text Box 71"/>
            <p:cNvSpPr txBox="1">
              <a:spLocks noChangeArrowheads="1"/>
            </p:cNvSpPr>
            <p:nvPr/>
          </p:nvSpPr>
          <p:spPr bwMode="auto">
            <a:xfrm>
              <a:off x="6923115" y="4640482"/>
              <a:ext cx="1039812" cy="466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示例</a:t>
              </a:r>
              <a:endParaRPr lang="en-GB" altLang="zh-CN" sz="18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3" name="组合 69"/>
          <p:cNvGrpSpPr/>
          <p:nvPr/>
        </p:nvGrpSpPr>
        <p:grpSpPr>
          <a:xfrm>
            <a:off x="6000760" y="4429132"/>
            <a:ext cx="3000396" cy="1660864"/>
            <a:chOff x="6000760" y="4429132"/>
            <a:chExt cx="3000396" cy="1660864"/>
          </a:xfrm>
        </p:grpSpPr>
        <p:sp>
          <p:nvSpPr>
            <p:cNvPr id="54" name="TextBox 53"/>
            <p:cNvSpPr txBox="1"/>
            <p:nvPr/>
          </p:nvSpPr>
          <p:spPr>
            <a:xfrm>
              <a:off x="6000760" y="4643446"/>
              <a:ext cx="300039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利用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P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sym typeface="Symbol"/>
                </a:rPr>
                <a:t>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Q</a:t>
              </a:r>
              <a:r>
                <a:rPr lang="en-US" altLang="zh-CN" sz="2200">
                  <a:solidFill>
                    <a:srgbClr val="006600"/>
                  </a:solidFill>
                  <a:latin typeface="Consolas" pitchFamily="49" charset="0"/>
                  <a:ea typeface="仿宋" pitchFamily="49" charset="-122"/>
                  <a:sym typeface="Symbol"/>
                </a:rPr>
                <a:t>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(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sym typeface="Symbol"/>
                </a:rPr>
                <a:t>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P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∨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Q)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∧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(P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∨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sym typeface="Symbol"/>
                </a:rPr>
                <a:t></a:t>
              </a:r>
              <a:r>
                <a:rPr lang="en-US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Q)</a:t>
              </a:r>
              <a:r>
                <a:rPr lang="zh-CN" altLang="zh-CN" sz="22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等价地转换为合取范式</a:t>
              </a:r>
              <a:endParaRPr lang="zh-CN" altLang="en-US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69" name="上箭头 68"/>
            <p:cNvSpPr/>
            <p:nvPr/>
          </p:nvSpPr>
          <p:spPr>
            <a:xfrm>
              <a:off x="7215206" y="4429132"/>
              <a:ext cx="214314" cy="357190"/>
            </a:xfrm>
            <a:prstGeom prst="up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5" name="灯片编号占位符 6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48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85720" y="500042"/>
            <a:ext cx="8643998" cy="405841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第二步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进一步转换为公式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，使得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F"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中的每一个子句精确地有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个不同的文字。为此引入两个辅助变元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。对公式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的子句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做如下转换：</a:t>
            </a: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如果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en-US" altLang="zh-CN" sz="2200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有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个不同的文字，保持不变。</a:t>
            </a: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如果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en-US" altLang="zh-CN" sz="2200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有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个不同的文字，例如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，将其转换为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l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l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∧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</a:rPr>
              <a:t>p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</a:rPr>
              <a:t>∨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sym typeface="Symbol"/>
              </a:rPr>
              <a:t>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</a:rPr>
              <a:t>p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)</a:t>
            </a:r>
            <a:r>
              <a:rPr lang="en-US" altLang="zh-CN" sz="2200">
                <a:sym typeface="Wingdings"/>
              </a:rPr>
              <a:t> 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sym typeface="Wingdings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∧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  <a:sym typeface="Symbol"/>
              </a:rPr>
              <a:t>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如果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en-US" altLang="zh-CN" sz="2200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'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仅有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个文字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，将其转换为</a:t>
            </a:r>
            <a:endParaRPr lang="en-US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</a:pP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	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</a:rPr>
              <a:t>l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∧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((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</a:rPr>
              <a:t>p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</a:rPr>
              <a:t>∨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sym typeface="Symbol"/>
              </a:rPr>
              <a:t>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</a:rPr>
              <a:t>p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</a:rPr>
              <a:t>∧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</a:rPr>
              <a:t>q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</a:rPr>
              <a:t>∨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sym typeface="Symbol"/>
              </a:rPr>
              <a:t>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</a:rPr>
              <a:t>))</a:t>
            </a:r>
            <a:r>
              <a:rPr lang="en-US" altLang="zh-CN" sz="2200">
                <a:solidFill>
                  <a:schemeClr val="tx1"/>
                </a:solidFill>
                <a:latin typeface="Consolas" pitchFamily="49" charset="0"/>
                <a:sym typeface="Wingdings"/>
              </a:rPr>
              <a:t>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sym typeface="Wingdings"/>
              </a:rPr>
              <a:t>  	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∧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  <a:sym typeface="Symbol"/>
              </a:rPr>
              <a:t>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∧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  <a:sym typeface="Symbol"/>
              </a:rPr>
              <a:t>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 )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∧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(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  <a:sym typeface="Symbol"/>
              </a:rPr>
              <a:t>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sz="2200">
                <a:solidFill>
                  <a:srgbClr val="FF0000"/>
                </a:solidFill>
                <a:latin typeface="Consolas" pitchFamily="49" charset="0"/>
                <a:ea typeface="仿宋" pitchFamily="49" charset="-122"/>
                <a:sym typeface="Symbol"/>
              </a:rPr>
              <a:t></a:t>
            </a:r>
            <a:r>
              <a:rPr lang="en-US" altLang="zh-CN" sz="2200" i="1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q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endParaRPr lang="zh-CN" altLang="zh-CN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571472" y="4857760"/>
            <a:ext cx="8001056" cy="1523047"/>
            <a:chOff x="571472" y="5026895"/>
            <a:chExt cx="8001056" cy="1523047"/>
          </a:xfrm>
        </p:grpSpPr>
        <p:sp>
          <p:nvSpPr>
            <p:cNvPr id="7" name="TextBox 6"/>
            <p:cNvSpPr txBox="1"/>
            <p:nvPr/>
          </p:nvSpPr>
          <p:spPr>
            <a:xfrm>
              <a:off x="571472" y="5598399"/>
              <a:ext cx="8001056" cy="951543"/>
            </a:xfrm>
            <a:prstGeom prst="rect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l">
                <a:lnSpc>
                  <a:spcPts val="3500"/>
                </a:lnSpc>
                <a:spcBef>
                  <a:spcPts val="0"/>
                </a:spcBef>
              </a:pP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上述转换均是等价转换，这样得到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3SAT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的公式</a:t>
              </a:r>
              <a:r>
                <a:rPr lang="en-US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F"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，显然转换过程是多项式时间，所以</a:t>
              </a:r>
              <a:r>
                <a:rPr lang="en-US" altLang="zh-CN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SAT</a:t>
              </a:r>
              <a:r>
                <a:rPr lang="zh-CN" altLang="zh-CN">
                  <a:solidFill>
                    <a:srgbClr val="FF0000"/>
                  </a:solidFill>
                  <a:latin typeface="+mj-ea"/>
                  <a:ea typeface="+mj-ea"/>
                </a:rPr>
                <a:t>≤</a:t>
              </a:r>
              <a:r>
                <a:rPr lang="en-US" altLang="zh-CN" i="1" baseline="-25000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p</a:t>
              </a:r>
              <a:r>
                <a:rPr lang="en-US" altLang="zh-CN">
                  <a:solidFill>
                    <a:srgbClr val="FF0000"/>
                  </a:solidFill>
                  <a:latin typeface="Consolas" pitchFamily="49" charset="0"/>
                  <a:ea typeface="仿宋" pitchFamily="49" charset="-122"/>
                </a:rPr>
                <a:t>3SAT</a:t>
              </a:r>
              <a:r>
                <a:rPr lang="zh-CN" altLang="zh-CN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成立。</a:t>
              </a:r>
              <a:endPara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  <p:sp>
          <p:nvSpPr>
            <p:cNvPr id="8" name="下箭头 7"/>
            <p:cNvSpPr/>
            <p:nvPr/>
          </p:nvSpPr>
          <p:spPr>
            <a:xfrm>
              <a:off x="4000496" y="5026895"/>
              <a:ext cx="285752" cy="357190"/>
            </a:xfrm>
            <a:prstGeom prst="downArrow">
              <a:avLst/>
            </a:prstGeom>
            <a:ln>
              <a:tailEnd type="none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49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28596" y="571480"/>
            <a:ext cx="8143932" cy="2554545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【例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11.9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楷体" pitchFamily="49" charset="-122"/>
              </a:rPr>
              <a:t>】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团集问题是求一个无向图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G=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）中含顶点个数最多的完全子图。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团集判定问题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CLIQUE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是给定一个无向图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和一个正整数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，问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中有大小为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的团集（团集指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中的一个完全子图）吗？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证明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CLIQUE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完全问题。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50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71472" y="428604"/>
            <a:ext cx="8572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1pPr>
            <a:lvl2pPr marL="4572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rgbClr val="0033CC"/>
                </a:solidFill>
                <a:latin typeface="Times New Roman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Consolas" pitchFamily="49" charset="0"/>
              </a:rPr>
              <a:t>证明</a:t>
            </a:r>
            <a:endParaRPr lang="zh-CN" alt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0034" y="1357298"/>
            <a:ext cx="8001056" cy="181075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）证明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CLIQUE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∈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类。</a:t>
            </a:r>
            <a:endParaRPr lang="en-US" altLang="zh-CN">
              <a:solidFill>
                <a:srgbClr val="FF0000"/>
              </a:solidFill>
              <a:latin typeface="Consolas" pitchFamily="49" charset="0"/>
              <a:ea typeface="仿宋" pitchFamily="49" charset="-122"/>
            </a:endParaRP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   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如果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被宣称为一个解，则对应一个大小为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的团集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，只需要看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V'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中任意两个顶点之间是否有边相连，从而得到了一个确定性验证算法，所以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CLIQUE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属于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类。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51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618116"/>
            <a:ext cx="8501122" cy="1810752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）已知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3SAT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是一个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完全问题，现在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证明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3SAT</a:t>
            </a:r>
            <a:r>
              <a:rPr lang="zh-CN" altLang="zh-CN">
                <a:solidFill>
                  <a:srgbClr val="FF0000"/>
                </a:solidFill>
                <a:latin typeface="+mn-ea"/>
              </a:rPr>
              <a:t>≤</a:t>
            </a:r>
            <a:r>
              <a:rPr lang="en-US" altLang="zh-CN" i="1" baseline="-25000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CLIQUE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  <a:p>
            <a:pPr algn="l">
              <a:lnSpc>
                <a:spcPts val="3200"/>
              </a:lnSpc>
              <a:spcBef>
                <a:spcPts val="60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3SAT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的任意一个实例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F=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∧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∧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…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∧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，子句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（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+mj-ea"/>
                <a:ea typeface="+mj-ea"/>
              </a:rPr>
              <a:t>≤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）精确地有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个不同的文字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，构造一个图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使得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是可满足的当且仅当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有大小为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的团集。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8596" y="2857496"/>
            <a:ext cx="8286808" cy="2269211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每个子句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C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，将文字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看成图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个顶点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对于两个顶点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，如果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属于不同的子句并且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不是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的非，则在图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中将顶点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用一条边连接起来。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这样图可以在多项式时间内构造出来。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52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417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406" name="AutoShape 22"/>
          <p:cNvSpPr>
            <a:spLocks noChangeShapeType="1"/>
          </p:cNvSpPr>
          <p:nvPr/>
        </p:nvSpPr>
        <p:spPr bwMode="auto">
          <a:xfrm flipH="1">
            <a:off x="1428728" y="1807033"/>
            <a:ext cx="742620" cy="247922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405" name="AutoShape 21"/>
          <p:cNvSpPr>
            <a:spLocks noChangeShapeType="1"/>
          </p:cNvSpPr>
          <p:nvPr/>
        </p:nvSpPr>
        <p:spPr bwMode="auto">
          <a:xfrm>
            <a:off x="1427405" y="2832331"/>
            <a:ext cx="3138595" cy="78297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404" name="AutoShape 20"/>
          <p:cNvSpPr>
            <a:spLocks noChangeShapeType="1"/>
          </p:cNvSpPr>
          <p:nvPr/>
        </p:nvSpPr>
        <p:spPr bwMode="auto">
          <a:xfrm>
            <a:off x="1427405" y="2832331"/>
            <a:ext cx="3138595" cy="149411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403" name="AutoShape 19"/>
          <p:cNvSpPr>
            <a:spLocks noChangeShapeType="1"/>
          </p:cNvSpPr>
          <p:nvPr/>
        </p:nvSpPr>
        <p:spPr bwMode="auto">
          <a:xfrm flipV="1">
            <a:off x="1427405" y="1807033"/>
            <a:ext cx="1624233" cy="102529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402" name="AutoShape 18"/>
          <p:cNvSpPr>
            <a:spLocks noChangeShapeType="1"/>
          </p:cNvSpPr>
          <p:nvPr/>
        </p:nvSpPr>
        <p:spPr bwMode="auto">
          <a:xfrm flipV="1">
            <a:off x="1427405" y="1807033"/>
            <a:ext cx="2476723" cy="102529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401" name="AutoShape 17"/>
          <p:cNvSpPr>
            <a:spLocks noChangeShapeType="1"/>
          </p:cNvSpPr>
          <p:nvPr/>
        </p:nvSpPr>
        <p:spPr bwMode="auto">
          <a:xfrm flipV="1">
            <a:off x="1428728" y="1807033"/>
            <a:ext cx="1622909" cy="2479223"/>
          </a:xfrm>
          <a:prstGeom prst="straightConnector1">
            <a:avLst/>
          </a:prstGeom>
          <a:noFill/>
          <a:ln w="19050">
            <a:solidFill>
              <a:srgbClr val="FF00FF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400" name="AutoShape 16"/>
          <p:cNvSpPr>
            <a:spLocks noChangeShapeType="1"/>
          </p:cNvSpPr>
          <p:nvPr/>
        </p:nvSpPr>
        <p:spPr bwMode="auto">
          <a:xfrm>
            <a:off x="1428728" y="4286256"/>
            <a:ext cx="3137271" cy="40184"/>
          </a:xfrm>
          <a:prstGeom prst="straightConnector1">
            <a:avLst/>
          </a:prstGeom>
          <a:noFill/>
          <a:ln w="19050">
            <a:solidFill>
              <a:srgbClr val="FF00FF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399" name="AutoShape 15"/>
          <p:cNvSpPr>
            <a:spLocks noChangeShapeType="1"/>
          </p:cNvSpPr>
          <p:nvPr/>
        </p:nvSpPr>
        <p:spPr bwMode="auto">
          <a:xfrm flipV="1">
            <a:off x="1428728" y="3615307"/>
            <a:ext cx="3137271" cy="670949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398" name="AutoShape 14"/>
          <p:cNvSpPr>
            <a:spLocks noChangeShapeType="1"/>
          </p:cNvSpPr>
          <p:nvPr/>
        </p:nvSpPr>
        <p:spPr bwMode="auto">
          <a:xfrm flipV="1">
            <a:off x="1428728" y="2872515"/>
            <a:ext cx="3137271" cy="141374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397" name="AutoShape 13"/>
          <p:cNvSpPr>
            <a:spLocks noChangeShapeType="1"/>
          </p:cNvSpPr>
          <p:nvPr/>
        </p:nvSpPr>
        <p:spPr bwMode="auto">
          <a:xfrm flipV="1">
            <a:off x="1428728" y="1807033"/>
            <a:ext cx="742620" cy="176809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396" name="AutoShape 12"/>
          <p:cNvSpPr>
            <a:spLocks noChangeShapeType="1"/>
          </p:cNvSpPr>
          <p:nvPr/>
        </p:nvSpPr>
        <p:spPr bwMode="auto">
          <a:xfrm flipV="1">
            <a:off x="1428728" y="1807033"/>
            <a:ext cx="2475400" cy="1768091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395" name="AutoShape 11"/>
          <p:cNvSpPr>
            <a:spLocks noChangeShapeType="1"/>
          </p:cNvSpPr>
          <p:nvPr/>
        </p:nvSpPr>
        <p:spPr bwMode="auto">
          <a:xfrm>
            <a:off x="1428728" y="3575124"/>
            <a:ext cx="3137271" cy="75131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394" name="AutoShape 10"/>
          <p:cNvSpPr>
            <a:spLocks noChangeShapeType="1"/>
          </p:cNvSpPr>
          <p:nvPr/>
        </p:nvSpPr>
        <p:spPr bwMode="auto">
          <a:xfrm flipV="1">
            <a:off x="1428728" y="2872515"/>
            <a:ext cx="3137271" cy="702609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393" name="AutoShape 9"/>
          <p:cNvSpPr>
            <a:spLocks noChangeShapeType="1"/>
          </p:cNvSpPr>
          <p:nvPr/>
        </p:nvSpPr>
        <p:spPr bwMode="auto">
          <a:xfrm>
            <a:off x="1428728" y="3575124"/>
            <a:ext cx="3137271" cy="4018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392" name="AutoShape 8"/>
          <p:cNvSpPr>
            <a:spLocks noChangeShapeType="1"/>
          </p:cNvSpPr>
          <p:nvPr/>
        </p:nvSpPr>
        <p:spPr bwMode="auto">
          <a:xfrm>
            <a:off x="2171348" y="1807033"/>
            <a:ext cx="2394651" cy="106548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391" name="AutoShape 7"/>
          <p:cNvSpPr>
            <a:spLocks noChangeShapeType="1"/>
          </p:cNvSpPr>
          <p:nvPr/>
        </p:nvSpPr>
        <p:spPr bwMode="auto">
          <a:xfrm>
            <a:off x="2171348" y="1807033"/>
            <a:ext cx="2394651" cy="180827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390" name="AutoShape 6"/>
          <p:cNvSpPr>
            <a:spLocks noChangeShapeType="1"/>
          </p:cNvSpPr>
          <p:nvPr/>
        </p:nvSpPr>
        <p:spPr bwMode="auto">
          <a:xfrm>
            <a:off x="2171348" y="1807033"/>
            <a:ext cx="2394651" cy="251940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389" name="AutoShape 5"/>
          <p:cNvSpPr>
            <a:spLocks noChangeShapeType="1"/>
          </p:cNvSpPr>
          <p:nvPr/>
        </p:nvSpPr>
        <p:spPr bwMode="auto">
          <a:xfrm>
            <a:off x="3051637" y="1807033"/>
            <a:ext cx="1514362" cy="106548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388" name="AutoShape 4"/>
          <p:cNvSpPr>
            <a:spLocks noChangeShapeType="1"/>
          </p:cNvSpPr>
          <p:nvPr/>
        </p:nvSpPr>
        <p:spPr bwMode="auto">
          <a:xfrm>
            <a:off x="3051637" y="1807033"/>
            <a:ext cx="1514362" cy="2519407"/>
          </a:xfrm>
          <a:prstGeom prst="straightConnector1">
            <a:avLst/>
          </a:prstGeom>
          <a:noFill/>
          <a:ln w="19050">
            <a:solidFill>
              <a:srgbClr val="FF00FF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387" name="AutoShape 3"/>
          <p:cNvSpPr>
            <a:spLocks noChangeShapeType="1"/>
          </p:cNvSpPr>
          <p:nvPr/>
        </p:nvSpPr>
        <p:spPr bwMode="auto">
          <a:xfrm>
            <a:off x="3904128" y="1807033"/>
            <a:ext cx="661872" cy="106548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6386" name="AutoShape 2"/>
          <p:cNvSpPr>
            <a:spLocks noChangeShapeType="1"/>
          </p:cNvSpPr>
          <p:nvPr/>
        </p:nvSpPr>
        <p:spPr bwMode="auto">
          <a:xfrm>
            <a:off x="3904128" y="1807033"/>
            <a:ext cx="661872" cy="180827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80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57158" y="285728"/>
            <a:ext cx="8001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F3=(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sym typeface="Symbol"/>
              </a:rPr>
              <a:t>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sym typeface="Symbol"/>
              </a:rPr>
              <a:t>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</a:rPr>
              <a:t>3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</a:rPr>
              <a:t>∧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sym typeface="Symbol"/>
              </a:rPr>
              <a:t>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</a:rPr>
              <a:t>3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)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</a:rPr>
              <a:t>∧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</a:rPr>
              <a:t>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</a:rPr>
              <a:t>2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</a:rPr>
              <a:t>∨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altLang="zh-CN" baseline="-25000">
                <a:solidFill>
                  <a:srgbClr val="0000FF"/>
                </a:solidFill>
                <a:latin typeface="Consolas" pitchFamily="49" charset="0"/>
              </a:rPr>
              <a:t>3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)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57884" y="1000108"/>
            <a:ext cx="3000396" cy="148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ts val="26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每个子句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对应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图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G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个顶点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 sz="20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26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用边连接不同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子句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中不是非的两个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sz="2000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i</a:t>
            </a:r>
            <a:r>
              <a:rPr lang="zh-CN" altLang="zh-CN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</a:t>
            </a:r>
            <a:r>
              <a:rPr lang="en-US" altLang="zh-CN" sz="20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l</a:t>
            </a:r>
            <a:r>
              <a:rPr lang="en-US" altLang="zh-CN" sz="2000" i="1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j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8596" y="4857760"/>
            <a:ext cx="7786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华文中宋" pitchFamily="2" charset="-122"/>
              </a:rPr>
              <a:t>可以证明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华文中宋" pitchFamily="2" charset="-122"/>
              </a:rPr>
              <a:t>实例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华文中宋" pitchFamily="2" charset="-122"/>
              </a:rPr>
              <a:t>F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华文中宋" pitchFamily="2" charset="-122"/>
              </a:rPr>
              <a:t>是可满足的当且仅当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华文中宋" pitchFamily="2" charset="-122"/>
              </a:rPr>
              <a:t>G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华文中宋" pitchFamily="2" charset="-122"/>
              </a:rPr>
              <a:t>有大小为</a:t>
            </a:r>
            <a:r>
              <a:rPr lang="en-US" altLang="zh-CN" i="1">
                <a:solidFill>
                  <a:srgbClr val="0000FF"/>
                </a:solidFill>
                <a:latin typeface="Consolas" pitchFamily="49" charset="0"/>
                <a:ea typeface="华文中宋" pitchFamily="2" charset="-122"/>
              </a:rPr>
              <a:t>k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华文中宋" pitchFamily="2" charset="-122"/>
              </a:rPr>
              <a:t>的团集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华文中宋" pitchFamily="2" charset="-122"/>
              </a:rPr>
              <a:t>。</a:t>
            </a:r>
          </a:p>
        </p:txBody>
      </p:sp>
      <p:grpSp>
        <p:nvGrpSpPr>
          <p:cNvPr id="44" name="组合 43"/>
          <p:cNvGrpSpPr/>
          <p:nvPr/>
        </p:nvGrpSpPr>
        <p:grpSpPr>
          <a:xfrm>
            <a:off x="1466299" y="1356487"/>
            <a:ext cx="2718463" cy="450546"/>
            <a:chOff x="1466299" y="1356487"/>
            <a:chExt cx="2718463" cy="450546"/>
          </a:xfrm>
        </p:grpSpPr>
        <p:sp>
          <p:nvSpPr>
            <p:cNvPr id="16414" name="Oval 30"/>
            <p:cNvSpPr>
              <a:spLocks noChangeArrowheads="1"/>
            </p:cNvSpPr>
            <p:nvPr/>
          </p:nvSpPr>
          <p:spPr bwMode="auto">
            <a:xfrm>
              <a:off x="1889391" y="1356487"/>
              <a:ext cx="562591" cy="45054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6413" name="Oval 29"/>
            <p:cNvSpPr>
              <a:spLocks noChangeArrowheads="1"/>
            </p:cNvSpPr>
            <p:nvPr/>
          </p:nvSpPr>
          <p:spPr bwMode="auto">
            <a:xfrm>
              <a:off x="2769680" y="1356487"/>
              <a:ext cx="562591" cy="45054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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2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16412" name="Oval 28"/>
            <p:cNvSpPr>
              <a:spLocks noChangeArrowheads="1"/>
            </p:cNvSpPr>
            <p:nvPr/>
          </p:nvSpPr>
          <p:spPr bwMode="auto">
            <a:xfrm>
              <a:off x="3622171" y="1356487"/>
              <a:ext cx="562591" cy="45054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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3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466299" y="1391165"/>
              <a:ext cx="4286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C</a:t>
              </a:r>
              <a:r>
                <a:rPr lang="en-US" altLang="zh-CN" sz="2000" baseline="-25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1</a:t>
              </a:r>
              <a:endParaRPr lang="zh-CN" altLang="en-US" sz="20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864814" y="2156641"/>
            <a:ext cx="635352" cy="2354888"/>
            <a:chOff x="864814" y="2156641"/>
            <a:chExt cx="635352" cy="2354888"/>
          </a:xfrm>
        </p:grpSpPr>
        <p:sp>
          <p:nvSpPr>
            <p:cNvPr id="16415" name="Oval 31"/>
            <p:cNvSpPr>
              <a:spLocks noChangeArrowheads="1"/>
            </p:cNvSpPr>
            <p:nvPr/>
          </p:nvSpPr>
          <p:spPr bwMode="auto">
            <a:xfrm>
              <a:off x="864814" y="2607057"/>
              <a:ext cx="562591" cy="449329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</a:t>
              </a: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  <a:sym typeface="Symbol" pitchFamily="18" charset="2"/>
                </a:rPr>
                <a:t>1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16411" name="Oval 27"/>
            <p:cNvSpPr>
              <a:spLocks noChangeArrowheads="1"/>
            </p:cNvSpPr>
            <p:nvPr/>
          </p:nvSpPr>
          <p:spPr bwMode="auto">
            <a:xfrm>
              <a:off x="864814" y="3349850"/>
              <a:ext cx="563915" cy="449329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6410" name="Oval 26"/>
            <p:cNvSpPr>
              <a:spLocks noChangeArrowheads="1"/>
            </p:cNvSpPr>
            <p:nvPr/>
          </p:nvSpPr>
          <p:spPr bwMode="auto">
            <a:xfrm>
              <a:off x="864814" y="4060983"/>
              <a:ext cx="563915" cy="45054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28662" y="2156641"/>
              <a:ext cx="5715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C</a:t>
              </a:r>
              <a:r>
                <a:rPr lang="en-US" altLang="zh-CN" sz="2000" baseline="-25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2</a:t>
              </a:r>
              <a:endParaRPr lang="zh-CN" altLang="en-US" sz="20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566000" y="2214554"/>
            <a:ext cx="588793" cy="2337159"/>
            <a:chOff x="4566000" y="2214554"/>
            <a:chExt cx="588793" cy="2337159"/>
          </a:xfrm>
        </p:grpSpPr>
        <p:sp>
          <p:nvSpPr>
            <p:cNvPr id="16409" name="Oval 25"/>
            <p:cNvSpPr>
              <a:spLocks noChangeArrowheads="1"/>
            </p:cNvSpPr>
            <p:nvPr/>
          </p:nvSpPr>
          <p:spPr bwMode="auto">
            <a:xfrm>
              <a:off x="4566000" y="2647241"/>
              <a:ext cx="562591" cy="449329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1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6408" name="Oval 24"/>
            <p:cNvSpPr>
              <a:spLocks noChangeArrowheads="1"/>
            </p:cNvSpPr>
            <p:nvPr/>
          </p:nvSpPr>
          <p:spPr bwMode="auto">
            <a:xfrm>
              <a:off x="4566000" y="3390034"/>
              <a:ext cx="563915" cy="449329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2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16407" name="Oval 23"/>
            <p:cNvSpPr>
              <a:spLocks noChangeArrowheads="1"/>
            </p:cNvSpPr>
            <p:nvPr/>
          </p:nvSpPr>
          <p:spPr bwMode="auto">
            <a:xfrm>
              <a:off x="4566000" y="4101167"/>
              <a:ext cx="563915" cy="450546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square" lIns="0" tIns="1800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i="1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x</a:t>
              </a:r>
              <a:r>
                <a:rPr kumimoji="0" lang="en-US" altLang="zh-CN" sz="1800" i="0" u="none" strike="noStrike" cap="none" normalizeH="0" baseline="-30000">
                  <a:ln>
                    <a:noFill/>
                  </a:ln>
                  <a:solidFill>
                    <a:srgbClr val="0000FF"/>
                  </a:solidFill>
                  <a:effectLst/>
                  <a:latin typeface="Consolas" pitchFamily="49" charset="0"/>
                  <a:ea typeface="宋体" pitchFamily="2" charset="-122"/>
                  <a:cs typeface="Times New Roman" pitchFamily="18" charset="0"/>
                </a:rPr>
                <a:t>3</a:t>
              </a:r>
              <a:endParaRPr kumimoji="0" lang="en-US" altLang="zh-CN" sz="18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itchFamily="49" charset="0"/>
                <a:ea typeface="宋体" pitchFamily="2" charset="-122"/>
                <a:cs typeface="宋体" pitchFamily="2" charset="-122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583289" y="2214554"/>
              <a:ext cx="5715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2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C</a:t>
              </a:r>
              <a:r>
                <a:rPr lang="en-US" altLang="zh-CN" sz="2000" baseline="-250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</a:rPr>
                <a:t>3</a:t>
              </a:r>
              <a:endParaRPr lang="zh-CN" altLang="en-US" sz="20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428596" y="5429264"/>
            <a:ext cx="8501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公式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F3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的一个可满足的赋值为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=0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=1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取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或者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1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均可。对应的一个团集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V'={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  <a:sym typeface="Symbol"/>
              </a:rPr>
              <a:t>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2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r>
              <a:rPr lang="en-US" altLang="zh-CN" sz="2200" i="1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x</a:t>
            </a:r>
            <a:r>
              <a:rPr lang="en-US" altLang="zh-CN" sz="2200" baseline="-250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}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，大小为</a:t>
            </a:r>
            <a:r>
              <a:rPr lang="en-US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</a:t>
            </a:r>
            <a:r>
              <a:rPr lang="zh-CN" altLang="zh-CN" sz="2200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</a:t>
            </a:r>
            <a:endParaRPr lang="zh-CN" altLang="en-US" sz="2200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sp>
        <p:nvSpPr>
          <p:cNvPr id="49" name="灯片编号占位符 4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53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6" grpId="0" animBg="1"/>
      <p:bldP spid="16405" grpId="0" animBg="1"/>
      <p:bldP spid="16404" grpId="0" animBg="1"/>
      <p:bldP spid="16403" grpId="0" animBg="1"/>
      <p:bldP spid="16402" grpId="0" animBg="1"/>
      <p:bldP spid="16401" grpId="0" animBg="1"/>
      <p:bldP spid="16400" grpId="0" animBg="1"/>
      <p:bldP spid="16399" grpId="0" animBg="1"/>
      <p:bldP spid="16398" grpId="0" animBg="1"/>
      <p:bldP spid="16397" grpId="0" animBg="1"/>
      <p:bldP spid="16396" grpId="0" animBg="1"/>
      <p:bldP spid="16395" grpId="0" animBg="1"/>
      <p:bldP spid="16394" grpId="0" animBg="1"/>
      <p:bldP spid="16393" grpId="0" animBg="1"/>
      <p:bldP spid="16392" grpId="0" animBg="1"/>
      <p:bldP spid="16391" grpId="0" animBg="1"/>
      <p:bldP spid="16390" grpId="0" animBg="1"/>
      <p:bldP spid="16389" grpId="0" animBg="1"/>
      <p:bldP spid="16388" grpId="0" animBg="1"/>
      <p:bldP spid="16387" grpId="0" animBg="1"/>
      <p:bldP spid="16386" grpId="0" animBg="1"/>
      <p:bldP spid="39" grpId="0"/>
      <p:bldP spid="4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57158" y="1561162"/>
            <a:ext cx="8358246" cy="393954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已经找到了大约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4000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个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完全问题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，除了前面介绍的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SAT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3SAT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和最大团外，还有图着色、顶点覆盖、子集和、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0/1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背包问题和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TSP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等等都是经典的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完全问题。</a:t>
            </a: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归纳起来，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问题包含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问题和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完全问题，目前存在多项式时间求解的问题都属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P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问题，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完全问题是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问题中最难的问题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，目前尚不能确定能否找到多项式时间的求解算法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en-US" altLang="zh-CN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  <a:p>
            <a:pPr marL="457200" indent="-457200" algn="l">
              <a:lnSpc>
                <a:spcPts val="3200"/>
              </a:lnSpc>
              <a:spcBef>
                <a:spcPts val="600"/>
              </a:spcBef>
              <a:buBlip>
                <a:blip r:embed="rId2"/>
              </a:buBlip>
            </a:pP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已证明</a:t>
            </a: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：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如果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完全问题中有一个问题能用多项式时间算法求解，则所有</a:t>
            </a:r>
            <a:r>
              <a:rPr lang="en-US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NP</a:t>
            </a:r>
            <a:r>
              <a:rPr lang="zh-CN" altLang="zh-CN">
                <a:solidFill>
                  <a:srgbClr val="FF0000"/>
                </a:solidFill>
                <a:latin typeface="Consolas" pitchFamily="49" charset="0"/>
                <a:ea typeface="仿宋" pitchFamily="49" charset="-122"/>
              </a:rPr>
              <a:t>完全问题都可用多项式时间算法求解</a:t>
            </a:r>
            <a:r>
              <a:rPr lang="zh-CN" altLang="zh-CN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。</a:t>
            </a:r>
            <a:endParaRPr lang="zh-CN" altLang="en-US">
              <a:solidFill>
                <a:srgbClr val="0000FF"/>
              </a:solidFill>
              <a:latin typeface="Consolas" pitchFamily="49" charset="0"/>
              <a:ea typeface="仿宋" pitchFamily="49" charset="-122"/>
            </a:endParaRPr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0430" y="514997"/>
            <a:ext cx="1304925" cy="7708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54</a:t>
            </a:fld>
            <a:r>
              <a:rPr lang="en-US" altLang="zh-CN"/>
              <a:t>/53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62948F-8CF2-8841-FFE1-8B0A10F2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016A1-9F15-429F-9EFD-84004B73C732}" type="slidenum">
              <a:rPr lang="en-US" altLang="zh-CN" smtClean="0"/>
              <a:pPr/>
              <a:t>55</a:t>
            </a:fld>
            <a:r>
              <a:rPr lang="en-US" altLang="zh-CN"/>
              <a:t>/53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9EAE69-8F52-AE46-9A54-D79214B0D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28600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DAAF0C5-46BB-4A2E-E161-DDECA5E7DD24}"/>
              </a:ext>
            </a:extLst>
          </p:cNvPr>
          <p:cNvSpPr txBox="1"/>
          <p:nvPr/>
        </p:nvSpPr>
        <p:spPr>
          <a:xfrm>
            <a:off x="4283968" y="4869160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>
                <a:solidFill>
                  <a:srgbClr val="0000FF"/>
                </a:solidFill>
                <a:latin typeface="Consolas" pitchFamily="49" charset="0"/>
                <a:ea typeface="仿宋" pitchFamily="49" charset="-122"/>
              </a:rPr>
              <a:t>思政</a:t>
            </a:r>
          </a:p>
        </p:txBody>
      </p:sp>
    </p:spTree>
    <p:extLst>
      <p:ext uri="{BB962C8B-B14F-4D97-AF65-F5344CB8AC3E}">
        <p14:creationId xmlns:p14="http://schemas.microsoft.com/office/powerpoint/2010/main" val="3960088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>
          <a:tailEnd type="none"/>
        </a:ln>
      </a:spPr>
      <a:bodyPr rtlCol="0" anchor="ctr"/>
      <a:lstStyle>
        <a:defPPr algn="ctr">
          <a:defRPr/>
        </a:defPPr>
      </a:lstStyle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spDef>
    <a:lnDef>
      <a:spPr>
        <a:ln w="19050">
          <a:tailEnd type="arrow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00000"/>
          </a:lnSpc>
          <a:spcBef>
            <a:spcPts val="0"/>
          </a:spcBef>
          <a:defRPr smtClean="0">
            <a:solidFill>
              <a:srgbClr val="0000FF"/>
            </a:solidFill>
            <a:latin typeface="Consolas" pitchFamily="49" charset="0"/>
            <a:ea typeface="仿宋" pitchFamily="49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4724</TotalTime>
  <Words>5085</Words>
  <Application>Microsoft Office PowerPoint</Application>
  <PresentationFormat>全屏显示(4:3)</PresentationFormat>
  <Paragraphs>416</Paragraphs>
  <Slides>55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5" baseType="lpstr">
      <vt:lpstr>仿宋</vt:lpstr>
      <vt:lpstr>楷体</vt:lpstr>
      <vt:lpstr>微软雅黑</vt:lpstr>
      <vt:lpstr>Arial</vt:lpstr>
      <vt:lpstr>Calibri</vt:lpstr>
      <vt:lpstr>Consolas</vt:lpstr>
      <vt:lpstr>Tahoma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lcb; wbh</dc:creator>
  <cp:lastModifiedBy>jj wei</cp:lastModifiedBy>
  <cp:revision>1861</cp:revision>
  <dcterms:created xsi:type="dcterms:W3CDTF">2004-03-31T23:50:14Z</dcterms:created>
  <dcterms:modified xsi:type="dcterms:W3CDTF">2024-01-28T08:46:26Z</dcterms:modified>
</cp:coreProperties>
</file>