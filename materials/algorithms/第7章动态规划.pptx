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8"/>
  </p:handoutMasterIdLst>
  <p:sldIdLst>
    <p:sldId id="522" r:id="rId3"/>
    <p:sldId id="365" r:id="rId5"/>
    <p:sldId id="523" r:id="rId6"/>
    <p:sldId id="525" r:id="rId7"/>
    <p:sldId id="531" r:id="rId8"/>
    <p:sldId id="532" r:id="rId9"/>
    <p:sldId id="537" r:id="rId10"/>
    <p:sldId id="606" r:id="rId11"/>
    <p:sldId id="538" r:id="rId12"/>
    <p:sldId id="533" r:id="rId13"/>
    <p:sldId id="534" r:id="rId14"/>
    <p:sldId id="540" r:id="rId15"/>
    <p:sldId id="535" r:id="rId16"/>
    <p:sldId id="536" r:id="rId17"/>
    <p:sldId id="551" r:id="rId18"/>
    <p:sldId id="552" r:id="rId19"/>
    <p:sldId id="553" r:id="rId20"/>
    <p:sldId id="554" r:id="rId21"/>
    <p:sldId id="555" r:id="rId22"/>
    <p:sldId id="556" r:id="rId23"/>
    <p:sldId id="557" r:id="rId24"/>
    <p:sldId id="558" r:id="rId25"/>
    <p:sldId id="559" r:id="rId26"/>
    <p:sldId id="526" r:id="rId27"/>
    <p:sldId id="541" r:id="rId28"/>
    <p:sldId id="560" r:id="rId29"/>
    <p:sldId id="561" r:id="rId30"/>
    <p:sldId id="542" r:id="rId31"/>
    <p:sldId id="543" r:id="rId32"/>
    <p:sldId id="544" r:id="rId33"/>
    <p:sldId id="585" r:id="rId34"/>
    <p:sldId id="586" r:id="rId35"/>
    <p:sldId id="546" r:id="rId36"/>
    <p:sldId id="602" r:id="rId37"/>
    <p:sldId id="587" r:id="rId38"/>
    <p:sldId id="603" r:id="rId39"/>
    <p:sldId id="604" r:id="rId40"/>
    <p:sldId id="589" r:id="rId41"/>
    <p:sldId id="590" r:id="rId42"/>
    <p:sldId id="591" r:id="rId43"/>
    <p:sldId id="605" r:id="rId44"/>
    <p:sldId id="588" r:id="rId45"/>
    <p:sldId id="545" r:id="rId46"/>
    <p:sldId id="607" r:id="rId47"/>
    <p:sldId id="608" r:id="rId48"/>
    <p:sldId id="609" r:id="rId49"/>
    <p:sldId id="610" r:id="rId50"/>
    <p:sldId id="611" r:id="rId51"/>
    <p:sldId id="713" r:id="rId52"/>
    <p:sldId id="612" r:id="rId53"/>
    <p:sldId id="613" r:id="rId54"/>
    <p:sldId id="547" r:id="rId55"/>
    <p:sldId id="614" r:id="rId56"/>
    <p:sldId id="627" r:id="rId57"/>
    <p:sldId id="615" r:id="rId58"/>
    <p:sldId id="628" r:id="rId59"/>
    <p:sldId id="616" r:id="rId60"/>
    <p:sldId id="617" r:id="rId61"/>
    <p:sldId id="618" r:id="rId62"/>
    <p:sldId id="619" r:id="rId63"/>
    <p:sldId id="620" r:id="rId64"/>
    <p:sldId id="629" r:id="rId65"/>
    <p:sldId id="621" r:id="rId66"/>
    <p:sldId id="622" r:id="rId67"/>
    <p:sldId id="623" r:id="rId68"/>
    <p:sldId id="630" r:id="rId69"/>
    <p:sldId id="631" r:id="rId70"/>
    <p:sldId id="624" r:id="rId71"/>
    <p:sldId id="625" r:id="rId72"/>
    <p:sldId id="626" r:id="rId73"/>
    <p:sldId id="549" r:id="rId74"/>
    <p:sldId id="632" r:id="rId75"/>
    <p:sldId id="633" r:id="rId76"/>
    <p:sldId id="634" r:id="rId77"/>
    <p:sldId id="642" r:id="rId78"/>
    <p:sldId id="635" r:id="rId79"/>
    <p:sldId id="636" r:id="rId80"/>
    <p:sldId id="637" r:id="rId81"/>
    <p:sldId id="638" r:id="rId82"/>
    <p:sldId id="639" r:id="rId83"/>
    <p:sldId id="640" r:id="rId84"/>
    <p:sldId id="641" r:id="rId85"/>
    <p:sldId id="550" r:id="rId86"/>
    <p:sldId id="643" r:id="rId87"/>
    <p:sldId id="644" r:id="rId88"/>
    <p:sldId id="646" r:id="rId89"/>
    <p:sldId id="647" r:id="rId90"/>
    <p:sldId id="593" r:id="rId91"/>
    <p:sldId id="645" r:id="rId92"/>
    <p:sldId id="594" r:id="rId93"/>
    <p:sldId id="528" r:id="rId94"/>
    <p:sldId id="595" r:id="rId95"/>
    <p:sldId id="596" r:id="rId96"/>
    <p:sldId id="548" r:id="rId97"/>
    <p:sldId id="597" r:id="rId98"/>
    <p:sldId id="648" r:id="rId99"/>
    <p:sldId id="598" r:id="rId100"/>
    <p:sldId id="599" r:id="rId101"/>
    <p:sldId id="649" r:id="rId102"/>
    <p:sldId id="652" r:id="rId103"/>
    <p:sldId id="650" r:id="rId104"/>
    <p:sldId id="651" r:id="rId105"/>
    <p:sldId id="653" r:id="rId106"/>
    <p:sldId id="654" r:id="rId107"/>
    <p:sldId id="655" r:id="rId108"/>
    <p:sldId id="529" r:id="rId109"/>
    <p:sldId id="656" r:id="rId110"/>
    <p:sldId id="664" r:id="rId111"/>
    <p:sldId id="663" r:id="rId112"/>
    <p:sldId id="657" r:id="rId113"/>
    <p:sldId id="658" r:id="rId114"/>
    <p:sldId id="659" r:id="rId115"/>
    <p:sldId id="660" r:id="rId116"/>
    <p:sldId id="661" r:id="rId117"/>
    <p:sldId id="662" r:id="rId118"/>
    <p:sldId id="600" r:id="rId119"/>
    <p:sldId id="665" r:id="rId120"/>
    <p:sldId id="666" r:id="rId121"/>
    <p:sldId id="667" r:id="rId122"/>
    <p:sldId id="601" r:id="rId123"/>
    <p:sldId id="580" r:id="rId124"/>
    <p:sldId id="527" r:id="rId125"/>
    <p:sldId id="581" r:id="rId126"/>
    <p:sldId id="668" r:id="rId127"/>
    <p:sldId id="530" r:id="rId128"/>
    <p:sldId id="669" r:id="rId129"/>
    <p:sldId id="577" r:id="rId130"/>
    <p:sldId id="578" r:id="rId131"/>
    <p:sldId id="582" r:id="rId132"/>
    <p:sldId id="583" r:id="rId133"/>
    <p:sldId id="584" r:id="rId134"/>
    <p:sldId id="574" r:id="rId135"/>
    <p:sldId id="524" r:id="rId136"/>
    <p:sldId id="562" r:id="rId137"/>
    <p:sldId id="575" r:id="rId138"/>
    <p:sldId id="576" r:id="rId139"/>
    <p:sldId id="670" r:id="rId140"/>
    <p:sldId id="672" r:id="rId141"/>
    <p:sldId id="671" r:id="rId142"/>
    <p:sldId id="673" r:id="rId143"/>
    <p:sldId id="674" r:id="rId144"/>
    <p:sldId id="675" r:id="rId145"/>
    <p:sldId id="676" r:id="rId146"/>
    <p:sldId id="677" r:id="rId147"/>
    <p:sldId id="563" r:id="rId148"/>
    <p:sldId id="689" r:id="rId149"/>
    <p:sldId id="690" r:id="rId150"/>
    <p:sldId id="564" r:id="rId151"/>
    <p:sldId id="678" r:id="rId152"/>
    <p:sldId id="680" r:id="rId153"/>
    <p:sldId id="681" r:id="rId154"/>
    <p:sldId id="691" r:id="rId155"/>
    <p:sldId id="682" r:id="rId156"/>
    <p:sldId id="679" r:id="rId157"/>
    <p:sldId id="692" r:id="rId158"/>
    <p:sldId id="700" r:id="rId159"/>
    <p:sldId id="694" r:id="rId160"/>
    <p:sldId id="699" r:id="rId161"/>
    <p:sldId id="693" r:id="rId162"/>
    <p:sldId id="695" r:id="rId163"/>
    <p:sldId id="696" r:id="rId164"/>
    <p:sldId id="697" r:id="rId165"/>
    <p:sldId id="698" r:id="rId166"/>
    <p:sldId id="565" r:id="rId167"/>
    <p:sldId id="572" r:id="rId168"/>
    <p:sldId id="573" r:id="rId169"/>
    <p:sldId id="566" r:id="rId170"/>
    <p:sldId id="683" r:id="rId171"/>
    <p:sldId id="684" r:id="rId172"/>
    <p:sldId id="685" r:id="rId173"/>
    <p:sldId id="568" r:id="rId174"/>
    <p:sldId id="702" r:id="rId175"/>
    <p:sldId id="703" r:id="rId176"/>
    <p:sldId id="701" r:id="rId177"/>
    <p:sldId id="567" r:id="rId178"/>
    <p:sldId id="705" r:id="rId179"/>
    <p:sldId id="706" r:id="rId180"/>
    <p:sldId id="707" r:id="rId181"/>
    <p:sldId id="708" r:id="rId182"/>
    <p:sldId id="710" r:id="rId183"/>
    <p:sldId id="711" r:id="rId184"/>
    <p:sldId id="709" r:id="rId185"/>
    <p:sldId id="712" r:id="rId186"/>
    <p:sldId id="714" r:id="rId187"/>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00"/>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showGuides="1">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1" Type="http://schemas.openxmlformats.org/officeDocument/2006/relationships/tableStyles" Target="tableStyles.xml"/><Relationship Id="rId190" Type="http://schemas.openxmlformats.org/officeDocument/2006/relationships/viewProps" Target="viewProps.xml"/><Relationship Id="rId19" Type="http://schemas.openxmlformats.org/officeDocument/2006/relationships/slide" Target="slides/slide16.xml"/><Relationship Id="rId189" Type="http://schemas.openxmlformats.org/officeDocument/2006/relationships/presProps" Target="presProps.xml"/><Relationship Id="rId188" Type="http://schemas.openxmlformats.org/officeDocument/2006/relationships/handoutMaster" Target="handoutMasters/handoutMaster1.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anose="020B0609020204030204" pitchFamily="49" charset="0"/>
                <a:cs typeface="Consolas" panose="020B0609020204030204" pitchFamily="49" charset="0"/>
              </a:defRPr>
            </a:lvl1pPr>
          </a:lstStyle>
          <a:p>
            <a:fld id="{7AF016A1-9F15-429F-9EFD-84004B73C732}" type="slidenum">
              <a:rPr lang="en-US" altLang="zh-CN" smtClean="0"/>
            </a:fld>
            <a:r>
              <a:rPr lang="en-US" altLang="zh-CN"/>
              <a:t>/182</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slide" Target="slide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image" Target="../media/image1.GIF"/></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GIF"/></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GI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jpe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image" Target="../media/image1.GIF"/></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69.xml.rels><?xml version="1.0" encoding="UTF-8" standalone="yes"?>
<Relationships xmlns="http://schemas.openxmlformats.org/package/2006/relationships"><Relationship Id="rId5" Type="http://schemas.openxmlformats.org/officeDocument/2006/relationships/notesSlide" Target="../notesSlides/notesSlide97.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GIF"/></Relationships>
</file>

<file path=ppt/slides/_rels/slide170.xml.rels><?xml version="1.0" encoding="UTF-8" standalone="yes"?>
<Relationships xmlns="http://schemas.openxmlformats.org/package/2006/relationships"><Relationship Id="rId6" Type="http://schemas.openxmlformats.org/officeDocument/2006/relationships/notesSlide" Target="../notesSlides/notesSlide98.xml"/><Relationship Id="rId5" Type="http://schemas.openxmlformats.org/officeDocument/2006/relationships/slideLayout" Target="../slideLayouts/slideLayout1.xml"/><Relationship Id="rId4" Type="http://schemas.openxmlformats.org/officeDocument/2006/relationships/image" Target="../media/image1.GIF"/><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image" Target="../media/image18.GIF"/></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21.png"/></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143108" y="142852"/>
            <a:ext cx="5214974"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7</a:t>
            </a: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动态规划</a:t>
            </a:r>
            <a:endPar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endParaRPr>
          </a:p>
        </p:txBody>
      </p:sp>
      <p:sp>
        <p:nvSpPr>
          <p:cNvPr id="22" name="TextBox 21">
            <a:hlinkClick r:id="" action="ppaction://noaction"/>
          </p:cNvPr>
          <p:cNvSpPr txBox="1"/>
          <p:nvPr/>
        </p:nvSpPr>
        <p:spPr>
          <a:xfrm>
            <a:off x="4857752" y="1319904"/>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7.7 0/1</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背包问题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3" name="TextBox 22">
            <a:hlinkClick r:id="" action="ppaction://noaction"/>
          </p:cNvPr>
          <p:cNvSpPr txBox="1"/>
          <p:nvPr/>
        </p:nvSpPr>
        <p:spPr>
          <a:xfrm>
            <a:off x="4857752" y="1971123"/>
            <a:ext cx="3852000"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7.8*</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完全背包和多重背包问题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4857752" y="3059945"/>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7.9</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扔鸡蛋问题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Box 24">
            <a:hlinkClick r:id="" action="ppaction://noaction"/>
          </p:cNvPr>
          <p:cNvSpPr txBox="1"/>
          <p:nvPr/>
        </p:nvSpPr>
        <p:spPr>
          <a:xfrm>
            <a:off x="4857752" y="3729169"/>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7.10</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资源分配问题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6" name="TextBox 25">
            <a:hlinkClick r:id="" action="ppaction://noaction"/>
          </p:cNvPr>
          <p:cNvSpPr txBox="1"/>
          <p:nvPr/>
        </p:nvSpPr>
        <p:spPr>
          <a:xfrm>
            <a:off x="4857752" y="4429132"/>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7.11</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旅行商</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7" name="TextBox 26">
            <a:hlinkClick r:id="" action="ppaction://noaction"/>
          </p:cNvPr>
          <p:cNvSpPr txBox="1"/>
          <p:nvPr/>
        </p:nvSpPr>
        <p:spPr>
          <a:xfrm>
            <a:off x="4857752" y="5120358"/>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7.12</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最少士兵数问题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8" name="TextBox 27">
            <a:hlinkClick r:id="" action="ppaction://noaction"/>
          </p:cNvPr>
          <p:cNvSpPr txBox="1"/>
          <p:nvPr/>
        </p:nvSpPr>
        <p:spPr>
          <a:xfrm>
            <a:off x="4857752" y="5834738"/>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7.13</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矩阵连乘问题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a:hlinkClick r:id="rId1" action="ppaction://hlinksldjump"/>
          </p:cNvPr>
          <p:cNvSpPr txBox="1"/>
          <p:nvPr/>
        </p:nvSpPr>
        <p:spPr>
          <a:xfrm>
            <a:off x="500034" y="2176983"/>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动态规划概述</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Box 8">
            <a:hlinkClick r:id="" action="ppaction://noaction"/>
          </p:cNvPr>
          <p:cNvSpPr txBox="1"/>
          <p:nvPr/>
        </p:nvSpPr>
        <p:spPr>
          <a:xfrm>
            <a:off x="500034" y="3059945"/>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7.2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最大连续子序列和</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2" name="TextBox 11">
            <a:hlinkClick r:id="" action="ppaction://noaction"/>
          </p:cNvPr>
          <p:cNvSpPr txBox="1"/>
          <p:nvPr/>
        </p:nvSpPr>
        <p:spPr>
          <a:xfrm>
            <a:off x="500034" y="3729169"/>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7.3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最长递增子序列</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500034" y="4429132"/>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7.4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三角形最小路径</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500034" y="5120358"/>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7.5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最长公共子序列</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1" name="TextBox 20">
            <a:hlinkClick r:id="" action="ppaction://noaction"/>
          </p:cNvPr>
          <p:cNvSpPr txBox="1"/>
          <p:nvPr/>
        </p:nvSpPr>
        <p:spPr>
          <a:xfrm>
            <a:off x="500034" y="5834738"/>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7.6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编辑距离</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29" name="组合 28"/>
          <p:cNvGrpSpPr/>
          <p:nvPr/>
        </p:nvGrpSpPr>
        <p:grpSpPr>
          <a:xfrm>
            <a:off x="428596" y="500042"/>
            <a:ext cx="1678717" cy="1392180"/>
            <a:chOff x="428596" y="2679762"/>
            <a:chExt cx="1678717" cy="1392180"/>
          </a:xfrm>
        </p:grpSpPr>
        <p:grpSp>
          <p:nvGrpSpPr>
            <p:cNvPr id="30" name="组合 79"/>
            <p:cNvGrpSpPr/>
            <p:nvPr/>
          </p:nvGrpSpPr>
          <p:grpSpPr bwMode="auto">
            <a:xfrm>
              <a:off x="571472" y="2679762"/>
              <a:ext cx="1357322" cy="1392180"/>
              <a:chOff x="6379728" y="2488774"/>
              <a:chExt cx="2513016" cy="2533955"/>
            </a:xfrm>
          </p:grpSpPr>
          <p:sp>
            <p:nvSpPr>
              <p:cNvPr id="33"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34"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31" name="文本框 20"/>
            <p:cNvSpPr txBox="1">
              <a:spLocks noChangeArrowheads="1"/>
            </p:cNvSpPr>
            <p:nvPr/>
          </p:nvSpPr>
          <p:spPr bwMode="auto">
            <a:xfrm>
              <a:off x="428596" y="3334984"/>
              <a:ext cx="16787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600" b="1" dirty="0">
                  <a:solidFill>
                    <a:srgbClr val="9900FF"/>
                  </a:solidFill>
                </a:rPr>
                <a:t>CONTENTS</a:t>
              </a:r>
              <a:endParaRPr lang="zh-CN" altLang="en-US" sz="1600" b="1" dirty="0">
                <a:solidFill>
                  <a:srgbClr val="9900FF"/>
                </a:solidFill>
              </a:endParaRPr>
            </a:p>
          </p:txBody>
        </p:sp>
        <p:sp>
          <p:nvSpPr>
            <p:cNvPr id="32" name="文本框 20"/>
            <p:cNvSpPr txBox="1">
              <a:spLocks noChangeArrowheads="1"/>
            </p:cNvSpPr>
            <p:nvPr/>
          </p:nvSpPr>
          <p:spPr bwMode="auto">
            <a:xfrm>
              <a:off x="808364" y="2965652"/>
              <a:ext cx="8189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1800" b="1" dirty="0">
                  <a:solidFill>
                    <a:srgbClr val="008000"/>
                  </a:solidFill>
                </a:rPr>
                <a:t>提纲</a:t>
              </a:r>
              <a:endParaRPr lang="zh-CN" altLang="en-US" sz="1800" b="1" dirty="0">
                <a:solidFill>
                  <a:srgbClr val="008000"/>
                </a:solidFill>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14282" y="1000108"/>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7.1.1 </a:t>
            </a:r>
            <a:r>
              <a:rPr lang="zh-CN" altLang="zh-CN" sz="2800">
                <a:latin typeface="Consolas" panose="020B0609020204030204" pitchFamily="49" charset="0"/>
                <a:ea typeface="微软雅黑" panose="020B0503020204020204" pitchFamily="34" charset="-122"/>
              </a:rPr>
              <a:t>从一个简单示例入门</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a:hlinkClick r:id="rId1" action="ppaction://hlinksldjump"/>
          </p:cNvPr>
          <p:cNvSpPr txBox="1"/>
          <p:nvPr/>
        </p:nvSpPr>
        <p:spPr>
          <a:xfrm>
            <a:off x="2428860" y="142852"/>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动态规划概述</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357158" y="1643050"/>
            <a:ext cx="8572560" cy="8309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7.1</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分析</a:t>
            </a:r>
            <a:r>
              <a:rPr lang="zh-CN" altLang="zh-CN">
                <a:solidFill>
                  <a:srgbClr val="FF0000"/>
                </a:solidFill>
                <a:latin typeface="Consolas" panose="020B0609020204030204" pitchFamily="49" charset="0"/>
                <a:ea typeface="仿宋" panose="02010609060101010101" pitchFamily="49" charset="-122"/>
              </a:rPr>
              <a:t>例</a:t>
            </a:r>
            <a:r>
              <a:rPr lang="en-US" altLang="zh-CN">
                <a:solidFill>
                  <a:srgbClr val="FF0000"/>
                </a:solidFill>
                <a:latin typeface="Consolas" panose="020B0609020204030204" pitchFamily="49" charset="0"/>
                <a:ea typeface="仿宋" panose="02010609060101010101" pitchFamily="49" charset="-122"/>
              </a:rPr>
              <a:t>2.3</a:t>
            </a:r>
            <a:r>
              <a:rPr lang="zh-CN" altLang="zh-CN">
                <a:solidFill>
                  <a:srgbClr val="0000FF"/>
                </a:solidFill>
                <a:latin typeface="Consolas" panose="020B0609020204030204" pitchFamily="49" charset="0"/>
                <a:ea typeface="仿宋" panose="02010609060101010101" pitchFamily="49" charset="-122"/>
              </a:rPr>
              <a:t>求斐波那契数列递归算法的缺点，改进其时间性能。</a:t>
            </a:r>
            <a:endParaRPr lang="zh-CN" altLang="zh-CN">
              <a:solidFill>
                <a:srgbClr val="0000FF"/>
              </a:solidFill>
              <a:latin typeface="Consolas" panose="020B0609020204030204" pitchFamily="49" charset="0"/>
              <a:ea typeface="仿宋" panose="02010609060101010101" pitchFamily="49" charset="-122"/>
            </a:endParaRPr>
          </a:p>
        </p:txBody>
      </p:sp>
      <p:sp>
        <p:nvSpPr>
          <p:cNvPr id="7" name="TextBox 6"/>
          <p:cNvSpPr txBox="1"/>
          <p:nvPr/>
        </p:nvSpPr>
        <p:spPr>
          <a:xfrm>
            <a:off x="357158" y="2643182"/>
            <a:ext cx="8572560" cy="409342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2400"/>
              </a:lnSpc>
              <a:spcBef>
                <a:spcPts val="1200"/>
              </a:spcBef>
            </a:pP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2.3</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斐波那契数列定义为：</a:t>
            </a:r>
            <a:endParaRPr lang="zh-CN" altLang="zh-CN">
              <a:solidFill>
                <a:srgbClr val="0000FF"/>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Fib(</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)=1								</a:t>
            </a:r>
            <a:r>
              <a:rPr lang="zh-CN" altLang="zh-CN" sz="2000">
                <a:solidFill>
                  <a:srgbClr val="006600"/>
                </a:solidFill>
                <a:latin typeface="Consolas" panose="020B0609020204030204" pitchFamily="49" charset="0"/>
                <a:ea typeface="仿宋" panose="02010609060101010101" pitchFamily="49" charset="-122"/>
              </a:rPr>
              <a:t>当</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=1</a:t>
            </a:r>
            <a:r>
              <a:rPr lang="zh-CN" altLang="zh-CN" sz="2000">
                <a:solidFill>
                  <a:srgbClr val="006600"/>
                </a:solidFill>
                <a:latin typeface="Consolas" panose="020B0609020204030204" pitchFamily="49" charset="0"/>
                <a:ea typeface="仿宋" panose="02010609060101010101" pitchFamily="49" charset="-122"/>
              </a:rPr>
              <a:t>时</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Fib(</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)=1								</a:t>
            </a:r>
            <a:r>
              <a:rPr lang="zh-CN" altLang="zh-CN" sz="2000">
                <a:solidFill>
                  <a:srgbClr val="006600"/>
                </a:solidFill>
                <a:latin typeface="Consolas" panose="020B0609020204030204" pitchFamily="49" charset="0"/>
                <a:ea typeface="仿宋" panose="02010609060101010101" pitchFamily="49" charset="-122"/>
              </a:rPr>
              <a:t>当</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=2</a:t>
            </a:r>
            <a:r>
              <a:rPr lang="zh-CN" altLang="zh-CN" sz="2000">
                <a:solidFill>
                  <a:srgbClr val="006600"/>
                </a:solidFill>
                <a:latin typeface="Consolas" panose="020B0609020204030204" pitchFamily="49" charset="0"/>
                <a:ea typeface="仿宋" panose="02010609060101010101" pitchFamily="49" charset="-122"/>
              </a:rPr>
              <a:t>时</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Fib(</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)=Fib(</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-1)+Fib(</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-2)		</a:t>
            </a:r>
            <a:r>
              <a:rPr lang="zh-CN" altLang="zh-CN" sz="2000">
                <a:solidFill>
                  <a:srgbClr val="006600"/>
                </a:solidFill>
                <a:latin typeface="Consolas" panose="020B0609020204030204" pitchFamily="49" charset="0"/>
                <a:ea typeface="仿宋" panose="02010609060101010101" pitchFamily="49" charset="-122"/>
              </a:rPr>
              <a:t>当</a:t>
            </a:r>
            <a:r>
              <a:rPr lang="en-US" altLang="zh-CN" sz="2000" i="1">
                <a:solidFill>
                  <a:srgbClr val="006600"/>
                </a:solidFill>
                <a:latin typeface="Consolas" panose="020B0609020204030204" pitchFamily="49" charset="0"/>
                <a:ea typeface="仿宋" panose="02010609060101010101" pitchFamily="49" charset="-122"/>
              </a:rPr>
              <a:t>n</a:t>
            </a:r>
            <a:r>
              <a:rPr lang="en-US" altLang="zh-CN" sz="2000">
                <a:solidFill>
                  <a:srgbClr val="006600"/>
                </a:solidFill>
                <a:latin typeface="Consolas" panose="020B0609020204030204" pitchFamily="49" charset="0"/>
                <a:ea typeface="仿宋" panose="02010609060101010101" pitchFamily="49" charset="-122"/>
              </a:rPr>
              <a:t>&gt;2</a:t>
            </a:r>
            <a:r>
              <a:rPr lang="zh-CN" altLang="zh-CN" sz="2000">
                <a:solidFill>
                  <a:srgbClr val="006600"/>
                </a:solidFill>
                <a:latin typeface="Consolas" panose="020B0609020204030204" pitchFamily="49" charset="0"/>
                <a:ea typeface="仿宋" panose="02010609060101010101" pitchFamily="49" charset="-122"/>
              </a:rPr>
              <a:t>时</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400"/>
              </a:lnSpc>
              <a:spcBef>
                <a:spcPts val="1200"/>
              </a:spcBef>
            </a:pPr>
            <a:r>
              <a:rPr lang="zh-CN" altLang="zh-CN">
                <a:solidFill>
                  <a:srgbClr val="0000FF"/>
                </a:solidFill>
                <a:latin typeface="Consolas" panose="020B0609020204030204" pitchFamily="49" charset="0"/>
                <a:ea typeface="仿宋" panose="02010609060101010101" pitchFamily="49" charset="-122"/>
              </a:rPr>
              <a:t>对应的递归算法如下：</a:t>
            </a:r>
            <a:endParaRPr lang="zh-CN" altLang="zh-CN">
              <a:solidFill>
                <a:srgbClr val="0000FF"/>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int Fib(int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递归求</a:t>
            </a:r>
            <a:r>
              <a:rPr lang="en-US" altLang="zh-CN" sz="2000">
                <a:solidFill>
                  <a:srgbClr val="00B0F0"/>
                </a:solidFill>
                <a:latin typeface="Consolas" panose="020B0609020204030204" pitchFamily="49" charset="0"/>
                <a:ea typeface="仿宋" panose="02010609060101010101" pitchFamily="49" charset="-122"/>
              </a:rPr>
              <a:t>Fibonacci</a:t>
            </a:r>
            <a:r>
              <a:rPr lang="zh-CN" altLang="zh-CN" sz="2000">
                <a:solidFill>
                  <a:srgbClr val="00B0F0"/>
                </a:solidFill>
                <a:latin typeface="Consolas" panose="020B0609020204030204" pitchFamily="49" charset="0"/>
                <a:ea typeface="仿宋" panose="02010609060101010101" pitchFamily="49" charset="-122"/>
              </a:rPr>
              <a:t>数列</a:t>
            </a:r>
            <a:endParaRPr lang="zh-CN" altLang="zh-CN" sz="2000">
              <a:solidFill>
                <a:srgbClr val="00B0F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	if (n==1 || n==2)</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		return 1;</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	else</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		return Fib(n-1)+Fib(n-2);</a:t>
            </a:r>
            <a:endParaRPr lang="zh-CN" altLang="zh-CN" sz="2000">
              <a:solidFill>
                <a:srgbClr val="006600"/>
              </a:solidFill>
              <a:latin typeface="Consolas" panose="020B0609020204030204" pitchFamily="49" charset="0"/>
              <a:ea typeface="仿宋" panose="02010609060101010101" pitchFamily="49" charset="-122"/>
            </a:endParaRPr>
          </a:p>
          <a:p>
            <a:pPr lvl="1" algn="l" defTabSz="360045">
              <a:lnSpc>
                <a:spcPts val="2400"/>
              </a:lnSpc>
              <a:spcBef>
                <a:spcPts val="0"/>
              </a:spcBef>
            </a:pPr>
            <a:r>
              <a:rPr lang="en-US" altLang="zh-CN" sz="2000">
                <a:solidFill>
                  <a:srgbClr val="006600"/>
                </a:solidFill>
                <a:latin typeface="Consolas" panose="020B0609020204030204" pitchFamily="49" charset="0"/>
                <a:ea typeface="仿宋" panose="02010609060101010101" pitchFamily="49" charset="-122"/>
              </a:rPr>
              <a:t>}</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400"/>
              </a:lnSpc>
              <a:spcBef>
                <a:spcPts val="1200"/>
              </a:spcBef>
            </a:pPr>
            <a:r>
              <a:rPr lang="zh-CN" altLang="zh-CN">
                <a:solidFill>
                  <a:srgbClr val="0000FF"/>
                </a:solidFill>
                <a:latin typeface="Consolas" panose="020B0609020204030204" pitchFamily="49" charset="0"/>
                <a:ea typeface="仿宋" panose="02010609060101010101" pitchFamily="49" charset="-122"/>
              </a:rPr>
              <a:t>画出求</a:t>
            </a:r>
            <a:r>
              <a:rPr lang="en-US" altLang="zh-CN">
                <a:solidFill>
                  <a:srgbClr val="0000FF"/>
                </a:solidFill>
                <a:latin typeface="Consolas" panose="020B0609020204030204" pitchFamily="49" charset="0"/>
                <a:ea typeface="仿宋" panose="02010609060101010101" pitchFamily="49" charset="-122"/>
              </a:rPr>
              <a:t>Fib(5)</a:t>
            </a:r>
            <a:r>
              <a:rPr lang="zh-CN" altLang="zh-CN">
                <a:solidFill>
                  <a:srgbClr val="0000FF"/>
                </a:solidFill>
                <a:latin typeface="Consolas" panose="020B0609020204030204" pitchFamily="49" charset="0"/>
                <a:ea typeface="仿宋" panose="02010609060101010101" pitchFamily="49" charset="-122"/>
              </a:rPr>
              <a:t>的递归树。</a:t>
            </a:r>
            <a:endParaRPr lang="zh-CN" altLang="zh-CN">
              <a:solidFill>
                <a:srgbClr val="0000FF"/>
              </a:solidFill>
              <a:latin typeface="Consolas" panose="020B0609020204030204" pitchFamily="49" charset="0"/>
              <a:ea typeface="仿宋" panose="02010609060101010101"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0100" y="285728"/>
            <a:ext cx="7929618" cy="214417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1"/>
              </a:buBlip>
            </a:pP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算法非常低效</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将问题</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转换为子问题</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，然后单独求解这两个子问题，实际上求解</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中又包含求解</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，也就是说求解</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中存在大量重复的子问题</a:t>
            </a:r>
            <a:r>
              <a:rPr lang="zh-CN" altLang="en-US">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18454"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5" name="组合 24"/>
          <p:cNvGrpSpPr/>
          <p:nvPr/>
        </p:nvGrpSpPr>
        <p:grpSpPr>
          <a:xfrm>
            <a:off x="1013498" y="2867122"/>
            <a:ext cx="6831252" cy="3158561"/>
            <a:chOff x="1013498" y="2867122"/>
            <a:chExt cx="6831252" cy="3158561"/>
          </a:xfrm>
        </p:grpSpPr>
        <p:sp>
          <p:nvSpPr>
            <p:cNvPr id="18452" name="Rectangle 20"/>
            <p:cNvSpPr>
              <a:spLocks noChangeArrowheads="1"/>
            </p:cNvSpPr>
            <p:nvPr/>
          </p:nvSpPr>
          <p:spPr bwMode="auto">
            <a:xfrm>
              <a:off x="3522254" y="2867122"/>
              <a:ext cx="952925"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Fib(5)</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51" name="Rectangle 19"/>
            <p:cNvSpPr>
              <a:spLocks noChangeArrowheads="1"/>
            </p:cNvSpPr>
            <p:nvPr/>
          </p:nvSpPr>
          <p:spPr bwMode="auto">
            <a:xfrm>
              <a:off x="1969773" y="3751519"/>
              <a:ext cx="952925" cy="431971"/>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Fib(3)</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50" name="Rectangle 18"/>
            <p:cNvSpPr>
              <a:spLocks noChangeArrowheads="1"/>
            </p:cNvSpPr>
            <p:nvPr/>
          </p:nvSpPr>
          <p:spPr bwMode="auto">
            <a:xfrm>
              <a:off x="5056313" y="3751519"/>
              <a:ext cx="952925" cy="431971"/>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Fib(4)</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9" name="Rectangle 17"/>
            <p:cNvSpPr>
              <a:spLocks noChangeArrowheads="1"/>
            </p:cNvSpPr>
            <p:nvPr/>
          </p:nvSpPr>
          <p:spPr bwMode="auto">
            <a:xfrm>
              <a:off x="118097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Fib(1)</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8" name="Rectangle 16"/>
            <p:cNvSpPr>
              <a:spLocks noChangeArrowheads="1"/>
            </p:cNvSpPr>
            <p:nvPr/>
          </p:nvSpPr>
          <p:spPr bwMode="auto">
            <a:xfrm>
              <a:off x="2643017"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7" name="Rectangle 15"/>
            <p:cNvSpPr>
              <a:spLocks noChangeArrowheads="1"/>
            </p:cNvSpPr>
            <p:nvPr/>
          </p:nvSpPr>
          <p:spPr bwMode="auto">
            <a:xfrm>
              <a:off x="604943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Fib(3)</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6" name="Rectangle 14"/>
            <p:cNvSpPr>
              <a:spLocks noChangeArrowheads="1"/>
            </p:cNvSpPr>
            <p:nvPr/>
          </p:nvSpPr>
          <p:spPr bwMode="auto">
            <a:xfrm>
              <a:off x="5305849" y="5525126"/>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Fib(1)</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5" name="Rectangle 13"/>
            <p:cNvSpPr>
              <a:spLocks noChangeArrowheads="1"/>
            </p:cNvSpPr>
            <p:nvPr/>
          </p:nvSpPr>
          <p:spPr bwMode="auto">
            <a:xfrm>
              <a:off x="6722676" y="5525126"/>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4" name="Rectangle 12"/>
            <p:cNvSpPr>
              <a:spLocks noChangeArrowheads="1"/>
            </p:cNvSpPr>
            <p:nvPr/>
          </p:nvSpPr>
          <p:spPr bwMode="auto">
            <a:xfrm>
              <a:off x="414023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443" name="AutoShape 11"/>
            <p:cNvSpPr>
              <a:spLocks noChangeShapeType="1"/>
            </p:cNvSpPr>
            <p:nvPr/>
          </p:nvSpPr>
          <p:spPr bwMode="auto">
            <a:xfrm flipH="1">
              <a:off x="2447073" y="3300296"/>
              <a:ext cx="1552481" cy="4512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42" name="AutoShape 10"/>
            <p:cNvSpPr>
              <a:spLocks noChangeShapeType="1"/>
            </p:cNvSpPr>
            <p:nvPr/>
          </p:nvSpPr>
          <p:spPr bwMode="auto">
            <a:xfrm>
              <a:off x="3999554" y="3300296"/>
              <a:ext cx="1534059" cy="4512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41" name="AutoShape 9"/>
            <p:cNvSpPr>
              <a:spLocks noChangeShapeType="1"/>
            </p:cNvSpPr>
            <p:nvPr/>
          </p:nvSpPr>
          <p:spPr bwMode="auto">
            <a:xfrm flipH="1">
              <a:off x="1658272" y="4183490"/>
              <a:ext cx="788801"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40" name="AutoShape 8"/>
            <p:cNvSpPr>
              <a:spLocks noChangeShapeType="1"/>
            </p:cNvSpPr>
            <p:nvPr/>
          </p:nvSpPr>
          <p:spPr bwMode="auto">
            <a:xfrm>
              <a:off x="2447073" y="4183490"/>
              <a:ext cx="673244"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9" name="AutoShape 7"/>
            <p:cNvSpPr>
              <a:spLocks noChangeShapeType="1"/>
            </p:cNvSpPr>
            <p:nvPr/>
          </p:nvSpPr>
          <p:spPr bwMode="auto">
            <a:xfrm flipH="1">
              <a:off x="4617532" y="4183490"/>
              <a:ext cx="916081"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8" name="AutoShape 6"/>
            <p:cNvSpPr>
              <a:spLocks noChangeShapeType="1"/>
            </p:cNvSpPr>
            <p:nvPr/>
          </p:nvSpPr>
          <p:spPr bwMode="auto">
            <a:xfrm>
              <a:off x="5533613" y="4183490"/>
              <a:ext cx="993119"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7" name="AutoShape 5"/>
            <p:cNvSpPr>
              <a:spLocks noChangeShapeType="1"/>
            </p:cNvSpPr>
            <p:nvPr/>
          </p:nvSpPr>
          <p:spPr bwMode="auto">
            <a:xfrm flipH="1">
              <a:off x="5783149" y="5095562"/>
              <a:ext cx="743583" cy="42956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6" name="AutoShape 4"/>
            <p:cNvSpPr>
              <a:spLocks noChangeShapeType="1"/>
            </p:cNvSpPr>
            <p:nvPr/>
          </p:nvSpPr>
          <p:spPr bwMode="auto">
            <a:xfrm>
              <a:off x="6526732" y="5095562"/>
              <a:ext cx="673244" cy="42956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5" name="AutoShape 3"/>
            <p:cNvSpPr>
              <a:spLocks noChangeArrowheads="1"/>
            </p:cNvSpPr>
            <p:nvPr/>
          </p:nvSpPr>
          <p:spPr bwMode="auto">
            <a:xfrm>
              <a:off x="5155122" y="4611851"/>
              <a:ext cx="2689628" cy="1413832"/>
            </a:xfrm>
            <a:prstGeom prst="roundRect">
              <a:avLst>
                <a:gd name="adj" fmla="val 16667"/>
              </a:avLst>
            </a:prstGeom>
            <a:noFill/>
            <a:ln w="28575">
              <a:solidFill>
                <a:srgbClr val="FF00FF"/>
              </a:solidFill>
              <a:prstDash val="dash"/>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sp>
          <p:nvSpPr>
            <p:cNvPr id="18434" name="AutoShape 2"/>
            <p:cNvSpPr>
              <a:spLocks noChangeArrowheads="1"/>
            </p:cNvSpPr>
            <p:nvPr/>
          </p:nvSpPr>
          <p:spPr bwMode="auto">
            <a:xfrm>
              <a:off x="1013498" y="3652852"/>
              <a:ext cx="2689628" cy="1576272"/>
            </a:xfrm>
            <a:prstGeom prst="roundRect">
              <a:avLst>
                <a:gd name="adj" fmla="val 16667"/>
              </a:avLst>
            </a:prstGeom>
            <a:noFill/>
            <a:ln w="28575">
              <a:solidFill>
                <a:srgbClr val="FF00FF"/>
              </a:solidFill>
              <a:prstDash val="dash"/>
              <a:round/>
              <a:tailEnd type="none" w="sm" len="sm"/>
            </a:ln>
          </p:spPr>
          <p:txBody>
            <a:bodyPr vert="horz" wrap="square" lIns="91440" tIns="45720" rIns="91440" bIns="45720" numCol="1" anchor="t" anchorCtr="0" compatLnSpc="1"/>
            <a:lstStyle/>
            <a:p>
              <a:endParaRPr lang="zh-CN" altLang="en-US" sz="2000" b="0">
                <a:solidFill>
                  <a:srgbClr val="0000FF"/>
                </a:solidFill>
                <a:latin typeface="Consolas" panose="020B0609020204030204" pitchFamily="49" charset="0"/>
              </a:endParaRPr>
            </a:p>
          </p:txBody>
        </p:sp>
      </p:grpSp>
      <p:sp>
        <p:nvSpPr>
          <p:cNvPr id="26" name="灯片编号占位符 2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27" name="Picture 4"/>
          <p:cNvPicPr>
            <a:picLocks noChangeAspect="1" noChangeArrowheads="1"/>
          </p:cNvPicPr>
          <p:nvPr/>
        </p:nvPicPr>
        <p:blipFill>
          <a:blip r:embed="rId2" cstate="print"/>
          <a:srcRect/>
          <a:stretch>
            <a:fillRect/>
          </a:stretch>
        </p:blipFill>
        <p:spPr bwMode="auto">
          <a:xfrm>
            <a:off x="285720" y="785794"/>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643050"/>
            <a:ext cx="8501122"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设计一个一维</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数组，用</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存放</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的值</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首先将</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所有元素置为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，一旦求出</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就将其结果保存在</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中（此时</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]&gt;0</a:t>
            </a:r>
            <a:r>
              <a:rPr lang="zh-CN"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在计算</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时先查看</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，若</a:t>
            </a:r>
            <a:r>
              <a:rPr lang="en-US" altLang="zh-CN">
                <a:solidFill>
                  <a:srgbClr val="FF00FF"/>
                </a:solidFill>
                <a:latin typeface="Consolas" panose="020B0609020204030204" pitchFamily="49" charset="0"/>
                <a:ea typeface="仿宋" panose="02010609060101010101" pitchFamily="49" charset="-122"/>
              </a:rPr>
              <a:t>dp[</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a:t>
            </a:r>
            <a:r>
              <a:rPr lang="zh-CN" altLang="zh-CN">
                <a:solidFill>
                  <a:srgbClr val="FF00FF"/>
                </a:solidFill>
                <a:latin typeface="+mn-ea"/>
              </a:rPr>
              <a:t>≠</a:t>
            </a:r>
            <a:r>
              <a:rPr lang="en-US" altLang="zh-CN">
                <a:solidFill>
                  <a:srgbClr val="FF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说明</a:t>
            </a:r>
            <a:r>
              <a:rPr lang="en-US" altLang="zh-CN">
                <a:solidFill>
                  <a:srgbClr val="0000FF"/>
                </a:solidFill>
                <a:latin typeface="Consolas" panose="020B0609020204030204" pitchFamily="49" charset="0"/>
                <a:ea typeface="仿宋" panose="02010609060101010101" pitchFamily="49" charset="-122"/>
              </a:rPr>
              <a:t>Fib(</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是一个重叠子问题，前面已经求出结果，此时只需要返回</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即可</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357290" y="500042"/>
            <a:ext cx="5286412"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Consolas" panose="020B0609020204030204" pitchFamily="49" charset="0"/>
                <a:ea typeface="楷体" panose="02010609060101010101" pitchFamily="49" charset="-122"/>
              </a:rPr>
              <a:t>如何避免重叠子问题的重复计算呢？</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5" name="组合 4"/>
          <p:cNvGrpSpPr/>
          <p:nvPr/>
        </p:nvGrpSpPr>
        <p:grpSpPr>
          <a:xfrm>
            <a:off x="428596" y="214290"/>
            <a:ext cx="1000132" cy="1000132"/>
            <a:chOff x="642910" y="438155"/>
            <a:chExt cx="2805112" cy="4319587"/>
          </a:xfrm>
        </p:grpSpPr>
        <p:grpSp>
          <p:nvGrpSpPr>
            <p:cNvPr id="6" name="Group 22"/>
            <p:cNvGrpSpPr/>
            <p:nvPr/>
          </p:nvGrpSpPr>
          <p:grpSpPr bwMode="auto">
            <a:xfrm>
              <a:off x="642907" y="4143388"/>
              <a:ext cx="2805109" cy="614363"/>
              <a:chOff x="1871" y="3263"/>
              <a:chExt cx="1767" cy="387"/>
            </a:xfrm>
            <a:effectLst>
              <a:outerShdw blurRad="76200" dir="13500000" sy="23000" kx="1200000" algn="br" rotWithShape="0">
                <a:prstClr val="black">
                  <a:alpha val="20000"/>
                </a:prstClr>
              </a:outerShdw>
            </a:effectLst>
          </p:grpSpPr>
          <p:sp>
            <p:nvSpPr>
              <p:cNvPr id="27" name="Oval 76"/>
              <p:cNvSpPr>
                <a:spLocks noChangeArrowheads="1"/>
              </p:cNvSpPr>
              <p:nvPr/>
            </p:nvSpPr>
            <p:spPr bwMode="gray">
              <a:xfrm>
                <a:off x="2622" y="3387"/>
                <a:ext cx="239" cy="52"/>
              </a:xfrm>
              <a:prstGeom prst="ellipse">
                <a:avLst/>
              </a:prstGeom>
              <a:gradFill rotWithShape="1">
                <a:gsLst>
                  <a:gs pos="0">
                    <a:srgbClr val="5C140F"/>
                  </a:gs>
                  <a:gs pos="100000">
                    <a:srgbClr val="C62C2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zh-CN">
                  <a:cs typeface="Arial" panose="020B0604020202020204" pitchFamily="34" charset="0"/>
                </a:endParaRPr>
              </a:p>
            </p:txBody>
          </p:sp>
          <p:sp>
            <p:nvSpPr>
              <p:cNvPr id="28" name="Freeform 109"/>
              <p:cNvSpPr>
                <a:spLocks noEditPoints="1"/>
              </p:cNvSpPr>
              <p:nvPr/>
            </p:nvSpPr>
            <p:spPr bwMode="gray">
              <a:xfrm>
                <a:off x="1871" y="3263"/>
                <a:ext cx="1767" cy="387"/>
              </a:xfrm>
              <a:custGeom>
                <a:avLst/>
                <a:gdLst>
                  <a:gd name="T0" fmla="*/ 2147483647 w 856"/>
                  <a:gd name="T1" fmla="*/ 0 h 187"/>
                  <a:gd name="T2" fmla="*/ 0 w 856"/>
                  <a:gd name="T3" fmla="*/ 2147483647 h 187"/>
                  <a:gd name="T4" fmla="*/ 2147483647 w 856"/>
                  <a:gd name="T5" fmla="*/ 2147483647 h 187"/>
                  <a:gd name="T6" fmla="*/ 2147483647 w 856"/>
                  <a:gd name="T7" fmla="*/ 2147483647 h 187"/>
                  <a:gd name="T8" fmla="*/ 2147483647 w 856"/>
                  <a:gd name="T9" fmla="*/ 0 h 187"/>
                  <a:gd name="T10" fmla="*/ 2147483647 w 856"/>
                  <a:gd name="T11" fmla="*/ 2147483647 h 187"/>
                  <a:gd name="T12" fmla="*/ 2147483647 w 856"/>
                  <a:gd name="T13" fmla="*/ 2147483647 h 187"/>
                  <a:gd name="T14" fmla="*/ 2147483647 w 856"/>
                  <a:gd name="T15" fmla="*/ 2147483647 h 187"/>
                  <a:gd name="T16" fmla="*/ 2147483647 w 856"/>
                  <a:gd name="T17" fmla="*/ 2147483647 h 187"/>
                  <a:gd name="T18" fmla="*/ 2147483647 w 856"/>
                  <a:gd name="T19" fmla="*/ 2147483647 h 1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6"/>
                  <a:gd name="T31" fmla="*/ 0 h 187"/>
                  <a:gd name="T32" fmla="*/ 856 w 856"/>
                  <a:gd name="T33" fmla="*/ 187 h 18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6" h="187">
                    <a:moveTo>
                      <a:pt x="428" y="0"/>
                    </a:moveTo>
                    <a:cubicBezTo>
                      <a:pt x="191" y="0"/>
                      <a:pt x="0" y="42"/>
                      <a:pt x="0" y="94"/>
                    </a:cubicBezTo>
                    <a:cubicBezTo>
                      <a:pt x="0" y="145"/>
                      <a:pt x="191" y="187"/>
                      <a:pt x="428" y="187"/>
                    </a:cubicBezTo>
                    <a:cubicBezTo>
                      <a:pt x="664" y="187"/>
                      <a:pt x="856" y="145"/>
                      <a:pt x="856" y="94"/>
                    </a:cubicBezTo>
                    <a:cubicBezTo>
                      <a:pt x="856" y="42"/>
                      <a:pt x="664" y="0"/>
                      <a:pt x="428" y="0"/>
                    </a:cubicBezTo>
                    <a:close/>
                    <a:moveTo>
                      <a:pt x="428" y="128"/>
                    </a:moveTo>
                    <a:cubicBezTo>
                      <a:pt x="250" y="128"/>
                      <a:pt x="105" y="103"/>
                      <a:pt x="105" y="73"/>
                    </a:cubicBezTo>
                    <a:cubicBezTo>
                      <a:pt x="105" y="42"/>
                      <a:pt x="250" y="17"/>
                      <a:pt x="428" y="17"/>
                    </a:cubicBezTo>
                    <a:cubicBezTo>
                      <a:pt x="606" y="17"/>
                      <a:pt x="751" y="42"/>
                      <a:pt x="751" y="73"/>
                    </a:cubicBezTo>
                    <a:cubicBezTo>
                      <a:pt x="751" y="103"/>
                      <a:pt x="606" y="128"/>
                      <a:pt x="428" y="128"/>
                    </a:cubicBezTo>
                    <a:close/>
                  </a:path>
                </a:pathLst>
              </a:custGeom>
              <a:solidFill>
                <a:srgbClr val="7777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7" name="Group 110"/>
            <p:cNvGrpSpPr/>
            <p:nvPr/>
          </p:nvGrpSpPr>
          <p:grpSpPr bwMode="auto">
            <a:xfrm flipH="1">
              <a:off x="2026660" y="438155"/>
              <a:ext cx="1370163" cy="3929062"/>
              <a:chOff x="393" y="1110"/>
              <a:chExt cx="847" cy="2430"/>
            </a:xfrm>
          </p:grpSpPr>
          <p:sp>
            <p:nvSpPr>
              <p:cNvPr id="8" name="Freeform 111"/>
              <p:cNvSpPr/>
              <p:nvPr/>
            </p:nvSpPr>
            <p:spPr bwMode="gray">
              <a:xfrm>
                <a:off x="412" y="1110"/>
                <a:ext cx="815" cy="2109"/>
              </a:xfrm>
              <a:custGeom>
                <a:avLst/>
                <a:gdLst/>
                <a:ahLst/>
                <a:cxnLst>
                  <a:cxn ang="0">
                    <a:pos x="379" y="911"/>
                  </a:cxn>
                  <a:cxn ang="0">
                    <a:pos x="337" y="749"/>
                  </a:cxn>
                  <a:cxn ang="0">
                    <a:pos x="328" y="727"/>
                  </a:cxn>
                  <a:cxn ang="0">
                    <a:pos x="215" y="358"/>
                  </a:cxn>
                  <a:cxn ang="0">
                    <a:pos x="215" y="357"/>
                  </a:cxn>
                  <a:cxn ang="0">
                    <a:pos x="264" y="193"/>
                  </a:cxn>
                  <a:cxn ang="0">
                    <a:pos x="277" y="116"/>
                  </a:cxn>
                  <a:cxn ang="0">
                    <a:pos x="187" y="11"/>
                  </a:cxn>
                  <a:cxn ang="0">
                    <a:pos x="145" y="59"/>
                  </a:cxn>
                  <a:cxn ang="0">
                    <a:pos x="138" y="33"/>
                  </a:cxn>
                  <a:cxn ang="0">
                    <a:pos x="124" y="74"/>
                  </a:cxn>
                  <a:cxn ang="0">
                    <a:pos x="82" y="12"/>
                  </a:cxn>
                  <a:cxn ang="0">
                    <a:pos x="75" y="57"/>
                  </a:cxn>
                  <a:cxn ang="0">
                    <a:pos x="42" y="50"/>
                  </a:cxn>
                  <a:cxn ang="0">
                    <a:pos x="11" y="111"/>
                  </a:cxn>
                  <a:cxn ang="0">
                    <a:pos x="11" y="204"/>
                  </a:cxn>
                  <a:cxn ang="0">
                    <a:pos x="173" y="371"/>
                  </a:cxn>
                  <a:cxn ang="0">
                    <a:pos x="249" y="751"/>
                  </a:cxn>
                  <a:cxn ang="0">
                    <a:pos x="250" y="770"/>
                  </a:cxn>
                  <a:cxn ang="0">
                    <a:pos x="290" y="939"/>
                  </a:cxn>
                  <a:cxn ang="0">
                    <a:pos x="310" y="984"/>
                  </a:cxn>
                  <a:cxn ang="0">
                    <a:pos x="379" y="971"/>
                  </a:cxn>
                  <a:cxn ang="0">
                    <a:pos x="379" y="911"/>
                  </a:cxn>
                </a:cxnLst>
                <a:rect l="0" t="0" r="r" b="b"/>
                <a:pathLst>
                  <a:path w="385" h="997">
                    <a:moveTo>
                      <a:pt x="379" y="911"/>
                    </a:moveTo>
                    <a:cubicBezTo>
                      <a:pt x="337" y="749"/>
                      <a:pt x="337" y="749"/>
                      <a:pt x="337" y="749"/>
                    </a:cubicBezTo>
                    <a:cubicBezTo>
                      <a:pt x="337" y="749"/>
                      <a:pt x="333" y="736"/>
                      <a:pt x="328" y="727"/>
                    </a:cubicBezTo>
                    <a:cubicBezTo>
                      <a:pt x="215" y="358"/>
                      <a:pt x="215" y="358"/>
                      <a:pt x="215" y="358"/>
                    </a:cubicBezTo>
                    <a:cubicBezTo>
                      <a:pt x="215" y="357"/>
                      <a:pt x="215" y="357"/>
                      <a:pt x="215" y="357"/>
                    </a:cubicBezTo>
                    <a:cubicBezTo>
                      <a:pt x="264" y="193"/>
                      <a:pt x="264" y="193"/>
                      <a:pt x="264" y="193"/>
                    </a:cubicBezTo>
                    <a:cubicBezTo>
                      <a:pt x="276" y="170"/>
                      <a:pt x="277" y="116"/>
                      <a:pt x="277" y="116"/>
                    </a:cubicBezTo>
                    <a:cubicBezTo>
                      <a:pt x="253" y="42"/>
                      <a:pt x="187" y="11"/>
                      <a:pt x="187" y="11"/>
                    </a:cubicBezTo>
                    <a:cubicBezTo>
                      <a:pt x="187" y="11"/>
                      <a:pt x="156" y="46"/>
                      <a:pt x="145" y="59"/>
                    </a:cubicBezTo>
                    <a:cubicBezTo>
                      <a:pt x="144" y="41"/>
                      <a:pt x="138" y="33"/>
                      <a:pt x="138" y="33"/>
                    </a:cubicBezTo>
                    <a:cubicBezTo>
                      <a:pt x="134" y="34"/>
                      <a:pt x="127" y="59"/>
                      <a:pt x="124" y="74"/>
                    </a:cubicBezTo>
                    <a:cubicBezTo>
                      <a:pt x="93" y="0"/>
                      <a:pt x="82" y="12"/>
                      <a:pt x="82" y="12"/>
                    </a:cubicBezTo>
                    <a:cubicBezTo>
                      <a:pt x="75" y="57"/>
                      <a:pt x="75" y="57"/>
                      <a:pt x="75" y="57"/>
                    </a:cubicBezTo>
                    <a:cubicBezTo>
                      <a:pt x="75" y="57"/>
                      <a:pt x="50" y="49"/>
                      <a:pt x="42" y="50"/>
                    </a:cubicBezTo>
                    <a:cubicBezTo>
                      <a:pt x="24" y="52"/>
                      <a:pt x="11" y="111"/>
                      <a:pt x="11" y="111"/>
                    </a:cubicBezTo>
                    <a:cubicBezTo>
                      <a:pt x="0" y="157"/>
                      <a:pt x="0" y="184"/>
                      <a:pt x="11" y="204"/>
                    </a:cubicBezTo>
                    <a:cubicBezTo>
                      <a:pt x="34" y="243"/>
                      <a:pt x="125" y="328"/>
                      <a:pt x="173" y="371"/>
                    </a:cubicBezTo>
                    <a:cubicBezTo>
                      <a:pt x="193" y="469"/>
                      <a:pt x="249" y="752"/>
                      <a:pt x="249" y="751"/>
                    </a:cubicBezTo>
                    <a:cubicBezTo>
                      <a:pt x="249" y="753"/>
                      <a:pt x="250" y="762"/>
                      <a:pt x="250" y="770"/>
                    </a:cubicBezTo>
                    <a:cubicBezTo>
                      <a:pt x="290" y="939"/>
                      <a:pt x="290" y="939"/>
                      <a:pt x="290" y="939"/>
                    </a:cubicBezTo>
                    <a:cubicBezTo>
                      <a:pt x="290" y="939"/>
                      <a:pt x="299" y="971"/>
                      <a:pt x="310" y="984"/>
                    </a:cubicBezTo>
                    <a:cubicBezTo>
                      <a:pt x="310" y="984"/>
                      <a:pt x="351" y="997"/>
                      <a:pt x="379" y="971"/>
                    </a:cubicBezTo>
                    <a:cubicBezTo>
                      <a:pt x="379" y="971"/>
                      <a:pt x="385" y="940"/>
                      <a:pt x="379" y="911"/>
                    </a:cubicBezTo>
                    <a:close/>
                  </a:path>
                </a:pathLst>
              </a:custGeom>
              <a:solidFill>
                <a:schemeClr val="accent4"/>
              </a:solidFill>
              <a:ln w="9525">
                <a:noFill/>
                <a:round/>
              </a:ln>
            </p:spPr>
            <p:txBody>
              <a:bodyPr/>
              <a:lstStyle/>
              <a:p>
                <a:pPr>
                  <a:defRPr/>
                </a:pPr>
                <a:endParaRPr lang="de-DE"/>
              </a:p>
            </p:txBody>
          </p:sp>
          <p:grpSp>
            <p:nvGrpSpPr>
              <p:cNvPr id="9" name="Group 112"/>
              <p:cNvGrpSpPr/>
              <p:nvPr/>
            </p:nvGrpSpPr>
            <p:grpSpPr bwMode="auto">
              <a:xfrm>
                <a:off x="393" y="1131"/>
                <a:ext cx="639" cy="1608"/>
                <a:chOff x="393" y="1131"/>
                <a:chExt cx="639" cy="1608"/>
              </a:xfrm>
            </p:grpSpPr>
            <p:sp>
              <p:nvSpPr>
                <p:cNvPr id="25" name="Freeform 113"/>
                <p:cNvSpPr/>
                <p:nvPr/>
              </p:nvSpPr>
              <p:spPr bwMode="gray">
                <a:xfrm>
                  <a:off x="674" y="1131"/>
                  <a:ext cx="331" cy="823"/>
                </a:xfrm>
                <a:custGeom>
                  <a:avLst/>
                  <a:gdLst>
                    <a:gd name="T0" fmla="*/ 0 w 156"/>
                    <a:gd name="T1" fmla="*/ 605 h 389"/>
                    <a:gd name="T2" fmla="*/ 755 w 156"/>
                    <a:gd name="T3" fmla="*/ 3666 h 389"/>
                    <a:gd name="T4" fmla="*/ 972 w 156"/>
                    <a:gd name="T5" fmla="*/ 2981 h 389"/>
                    <a:gd name="T6" fmla="*/ 1388 w 156"/>
                    <a:gd name="T7" fmla="*/ 1612 h 389"/>
                    <a:gd name="T8" fmla="*/ 1464 w 156"/>
                    <a:gd name="T9" fmla="*/ 1003 h 389"/>
                    <a:gd name="T10" fmla="*/ 603 w 156"/>
                    <a:gd name="T11" fmla="*/ 8 h 389"/>
                    <a:gd name="T12" fmla="*/ 0 w 156"/>
                    <a:gd name="T13" fmla="*/ 605 h 389"/>
                    <a:gd name="T14" fmla="*/ 0 60000 65536"/>
                    <a:gd name="T15" fmla="*/ 0 60000 65536"/>
                    <a:gd name="T16" fmla="*/ 0 60000 65536"/>
                    <a:gd name="T17" fmla="*/ 0 60000 65536"/>
                    <a:gd name="T18" fmla="*/ 0 60000 65536"/>
                    <a:gd name="T19" fmla="*/ 0 60000 65536"/>
                    <a:gd name="T20" fmla="*/ 0 60000 65536"/>
                    <a:gd name="T21" fmla="*/ 0 w 156"/>
                    <a:gd name="T22" fmla="*/ 0 h 389"/>
                    <a:gd name="T23" fmla="*/ 156 w 156"/>
                    <a:gd name="T24" fmla="*/ 389 h 3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389">
                      <a:moveTo>
                        <a:pt x="0" y="64"/>
                      </a:moveTo>
                      <a:cubicBezTo>
                        <a:pt x="0" y="64"/>
                        <a:pt x="66" y="329"/>
                        <a:pt x="79" y="387"/>
                      </a:cubicBezTo>
                      <a:cubicBezTo>
                        <a:pt x="79" y="389"/>
                        <a:pt x="101" y="320"/>
                        <a:pt x="102" y="315"/>
                      </a:cubicBezTo>
                      <a:cubicBezTo>
                        <a:pt x="118" y="266"/>
                        <a:pt x="145" y="170"/>
                        <a:pt x="145" y="170"/>
                      </a:cubicBezTo>
                      <a:cubicBezTo>
                        <a:pt x="145" y="170"/>
                        <a:pt x="156" y="134"/>
                        <a:pt x="153" y="106"/>
                      </a:cubicBezTo>
                      <a:cubicBezTo>
                        <a:pt x="149" y="72"/>
                        <a:pt x="91" y="0"/>
                        <a:pt x="63" y="1"/>
                      </a:cubicBezTo>
                      <a:cubicBezTo>
                        <a:pt x="39" y="2"/>
                        <a:pt x="0" y="64"/>
                        <a:pt x="0" y="64"/>
                      </a:cubicBezTo>
                      <a:close/>
                    </a:path>
                  </a:pathLst>
                </a:custGeom>
                <a:gradFill rotWithShape="1">
                  <a:gsLst>
                    <a:gs pos="0">
                      <a:srgbClr val="285376"/>
                    </a:gs>
                    <a:gs pos="100000">
                      <a:srgbClr val="57B3FF"/>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Freeform 114"/>
                <p:cNvSpPr/>
                <p:nvPr/>
              </p:nvSpPr>
              <p:spPr bwMode="gray">
                <a:xfrm>
                  <a:off x="393" y="1214"/>
                  <a:ext cx="639" cy="1525"/>
                </a:xfrm>
                <a:custGeom>
                  <a:avLst/>
                  <a:gdLst>
                    <a:gd name="T0" fmla="*/ 2454 w 302"/>
                    <a:gd name="T1" fmla="*/ 6823 h 721"/>
                    <a:gd name="T2" fmla="*/ 2861 w 302"/>
                    <a:gd name="T3" fmla="*/ 6720 h 721"/>
                    <a:gd name="T4" fmla="*/ 1925 w 302"/>
                    <a:gd name="T5" fmla="*/ 2980 h 721"/>
                    <a:gd name="T6" fmla="*/ 1195 w 302"/>
                    <a:gd name="T7" fmla="*/ 264 h 721"/>
                    <a:gd name="T8" fmla="*/ 485 w 302"/>
                    <a:gd name="T9" fmla="*/ 8 h 721"/>
                    <a:gd name="T10" fmla="*/ 220 w 302"/>
                    <a:gd name="T11" fmla="*/ 465 h 721"/>
                    <a:gd name="T12" fmla="*/ 188 w 302"/>
                    <a:gd name="T13" fmla="*/ 1468 h 721"/>
                    <a:gd name="T14" fmla="*/ 757 w 302"/>
                    <a:gd name="T15" fmla="*/ 2130 h 721"/>
                    <a:gd name="T16" fmla="*/ 1724 w 302"/>
                    <a:gd name="T17" fmla="*/ 3046 h 721"/>
                    <a:gd name="T18" fmla="*/ 2444 w 302"/>
                    <a:gd name="T19" fmla="*/ 6625 h 721"/>
                    <a:gd name="T20" fmla="*/ 2454 w 302"/>
                    <a:gd name="T21" fmla="*/ 6823 h 7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2"/>
                    <a:gd name="T34" fmla="*/ 0 h 721"/>
                    <a:gd name="T35" fmla="*/ 302 w 302"/>
                    <a:gd name="T36" fmla="*/ 721 h 7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2" h="721">
                      <a:moveTo>
                        <a:pt x="259" y="721"/>
                      </a:moveTo>
                      <a:cubicBezTo>
                        <a:pt x="302" y="710"/>
                        <a:pt x="302" y="710"/>
                        <a:pt x="302" y="710"/>
                      </a:cubicBezTo>
                      <a:cubicBezTo>
                        <a:pt x="203" y="315"/>
                        <a:pt x="203" y="315"/>
                        <a:pt x="203" y="315"/>
                      </a:cubicBezTo>
                      <a:cubicBezTo>
                        <a:pt x="126" y="28"/>
                        <a:pt x="126" y="28"/>
                        <a:pt x="126" y="28"/>
                      </a:cubicBezTo>
                      <a:cubicBezTo>
                        <a:pt x="126" y="28"/>
                        <a:pt x="82" y="0"/>
                        <a:pt x="51" y="1"/>
                      </a:cubicBezTo>
                      <a:cubicBezTo>
                        <a:pt x="51" y="1"/>
                        <a:pt x="37" y="1"/>
                        <a:pt x="23" y="49"/>
                      </a:cubicBezTo>
                      <a:cubicBezTo>
                        <a:pt x="23" y="49"/>
                        <a:pt x="0" y="120"/>
                        <a:pt x="20" y="155"/>
                      </a:cubicBezTo>
                      <a:cubicBezTo>
                        <a:pt x="40" y="189"/>
                        <a:pt x="80" y="225"/>
                        <a:pt x="80" y="225"/>
                      </a:cubicBezTo>
                      <a:cubicBezTo>
                        <a:pt x="80" y="225"/>
                        <a:pt x="157" y="302"/>
                        <a:pt x="182" y="322"/>
                      </a:cubicBezTo>
                      <a:cubicBezTo>
                        <a:pt x="182" y="322"/>
                        <a:pt x="239" y="605"/>
                        <a:pt x="258" y="700"/>
                      </a:cubicBezTo>
                      <a:cubicBezTo>
                        <a:pt x="259" y="705"/>
                        <a:pt x="259" y="718"/>
                        <a:pt x="259" y="721"/>
                      </a:cubicBezTo>
                    </a:path>
                  </a:pathLst>
                </a:custGeom>
                <a:gradFill rotWithShape="1">
                  <a:gsLst>
                    <a:gs pos="0">
                      <a:srgbClr val="57B3FF"/>
                    </a:gs>
                    <a:gs pos="100000">
                      <a:srgbClr val="285376"/>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0" name="Group 115"/>
              <p:cNvGrpSpPr/>
              <p:nvPr/>
            </p:nvGrpSpPr>
            <p:grpSpPr bwMode="auto">
              <a:xfrm>
                <a:off x="934" y="2646"/>
                <a:ext cx="301" cy="894"/>
                <a:chOff x="934" y="2646"/>
                <a:chExt cx="301" cy="894"/>
              </a:xfrm>
            </p:grpSpPr>
            <p:sp>
              <p:nvSpPr>
                <p:cNvPr id="22" name="Freeform 116"/>
                <p:cNvSpPr/>
                <p:nvPr/>
              </p:nvSpPr>
              <p:spPr bwMode="gray">
                <a:xfrm>
                  <a:off x="934" y="2646"/>
                  <a:ext cx="294" cy="546"/>
                </a:xfrm>
                <a:custGeom>
                  <a:avLst/>
                  <a:gdLst>
                    <a:gd name="T0" fmla="*/ 949 w 137"/>
                    <a:gd name="T1" fmla="*/ 2283 h 258"/>
                    <a:gd name="T2" fmla="*/ 1294 w 137"/>
                    <a:gd name="T3" fmla="*/ 2294 h 258"/>
                    <a:gd name="T4" fmla="*/ 1294 w 137"/>
                    <a:gd name="T5" fmla="*/ 2303 h 258"/>
                    <a:gd name="T6" fmla="*/ 1294 w 137"/>
                    <a:gd name="T7" fmla="*/ 1757 h 258"/>
                    <a:gd name="T8" fmla="*/ 888 w 137"/>
                    <a:gd name="T9" fmla="*/ 245 h 258"/>
                    <a:gd name="T10" fmla="*/ 820 w 137"/>
                    <a:gd name="T11" fmla="*/ 59 h 258"/>
                    <a:gd name="T12" fmla="*/ 820 w 137"/>
                    <a:gd name="T13" fmla="*/ 59 h 258"/>
                    <a:gd name="T14" fmla="*/ 811 w 137"/>
                    <a:gd name="T15" fmla="*/ 49 h 258"/>
                    <a:gd name="T16" fmla="*/ 811 w 137"/>
                    <a:gd name="T17" fmla="*/ 36 h 258"/>
                    <a:gd name="T18" fmla="*/ 406 w 137"/>
                    <a:gd name="T19" fmla="*/ 49 h 258"/>
                    <a:gd name="T20" fmla="*/ 9 w 137"/>
                    <a:gd name="T21" fmla="*/ 220 h 258"/>
                    <a:gd name="T22" fmla="*/ 9 w 137"/>
                    <a:gd name="T23" fmla="*/ 237 h 258"/>
                    <a:gd name="T24" fmla="*/ 19 w 137"/>
                    <a:gd name="T25" fmla="*/ 417 h 258"/>
                    <a:gd name="T26" fmla="*/ 414 w 137"/>
                    <a:gd name="T27" fmla="*/ 2019 h 258"/>
                    <a:gd name="T28" fmla="*/ 612 w 137"/>
                    <a:gd name="T29" fmla="*/ 2444 h 258"/>
                    <a:gd name="T30" fmla="*/ 612 w 137"/>
                    <a:gd name="T31" fmla="*/ 2444 h 258"/>
                    <a:gd name="T32" fmla="*/ 612 w 137"/>
                    <a:gd name="T33" fmla="*/ 2436 h 258"/>
                    <a:gd name="T34" fmla="*/ 949 w 137"/>
                    <a:gd name="T35" fmla="*/ 2283 h 2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7"/>
                    <a:gd name="T55" fmla="*/ 0 h 258"/>
                    <a:gd name="T56" fmla="*/ 137 w 137"/>
                    <a:gd name="T57" fmla="*/ 258 h 2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7" h="258">
                      <a:moveTo>
                        <a:pt x="96" y="241"/>
                      </a:moveTo>
                      <a:cubicBezTo>
                        <a:pt x="114" y="237"/>
                        <a:pt x="130" y="237"/>
                        <a:pt x="131" y="242"/>
                      </a:cubicBezTo>
                      <a:cubicBezTo>
                        <a:pt x="131" y="242"/>
                        <a:pt x="131" y="242"/>
                        <a:pt x="131" y="243"/>
                      </a:cubicBezTo>
                      <a:cubicBezTo>
                        <a:pt x="132" y="235"/>
                        <a:pt x="137" y="207"/>
                        <a:pt x="131" y="185"/>
                      </a:cubicBezTo>
                      <a:cubicBezTo>
                        <a:pt x="90" y="26"/>
                        <a:pt x="90" y="26"/>
                        <a:pt x="90" y="26"/>
                      </a:cubicBezTo>
                      <a:cubicBezTo>
                        <a:pt x="90" y="26"/>
                        <a:pt x="87" y="16"/>
                        <a:pt x="83" y="6"/>
                      </a:cubicBezTo>
                      <a:cubicBezTo>
                        <a:pt x="83" y="6"/>
                        <a:pt x="83" y="6"/>
                        <a:pt x="83" y="6"/>
                      </a:cubicBezTo>
                      <a:cubicBezTo>
                        <a:pt x="82" y="5"/>
                        <a:pt x="82" y="5"/>
                        <a:pt x="82" y="5"/>
                      </a:cubicBezTo>
                      <a:cubicBezTo>
                        <a:pt x="82" y="4"/>
                        <a:pt x="82" y="4"/>
                        <a:pt x="82" y="4"/>
                      </a:cubicBezTo>
                      <a:cubicBezTo>
                        <a:pt x="78" y="0"/>
                        <a:pt x="61" y="0"/>
                        <a:pt x="41" y="5"/>
                      </a:cubicBezTo>
                      <a:cubicBezTo>
                        <a:pt x="19" y="10"/>
                        <a:pt x="0" y="17"/>
                        <a:pt x="1" y="23"/>
                      </a:cubicBezTo>
                      <a:cubicBezTo>
                        <a:pt x="1" y="24"/>
                        <a:pt x="1" y="25"/>
                        <a:pt x="1" y="25"/>
                      </a:cubicBezTo>
                      <a:cubicBezTo>
                        <a:pt x="1" y="27"/>
                        <a:pt x="2" y="44"/>
                        <a:pt x="2" y="44"/>
                      </a:cubicBezTo>
                      <a:cubicBezTo>
                        <a:pt x="42" y="213"/>
                        <a:pt x="42" y="213"/>
                        <a:pt x="42" y="213"/>
                      </a:cubicBezTo>
                      <a:cubicBezTo>
                        <a:pt x="42" y="213"/>
                        <a:pt x="54" y="253"/>
                        <a:pt x="62" y="258"/>
                      </a:cubicBezTo>
                      <a:cubicBezTo>
                        <a:pt x="62" y="258"/>
                        <a:pt x="62" y="258"/>
                        <a:pt x="62" y="258"/>
                      </a:cubicBezTo>
                      <a:cubicBezTo>
                        <a:pt x="62" y="258"/>
                        <a:pt x="62" y="257"/>
                        <a:pt x="62" y="257"/>
                      </a:cubicBezTo>
                      <a:cubicBezTo>
                        <a:pt x="60" y="252"/>
                        <a:pt x="77" y="246"/>
                        <a:pt x="96" y="241"/>
                      </a:cubicBezTo>
                      <a:close/>
                    </a:path>
                  </a:pathLst>
                </a:custGeom>
                <a:gradFill rotWithShape="1">
                  <a:gsLst>
                    <a:gs pos="0">
                      <a:srgbClr val="E8E8E8"/>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 name="Freeform 117"/>
                <p:cNvSpPr/>
                <p:nvPr/>
              </p:nvSpPr>
              <p:spPr bwMode="gray">
                <a:xfrm>
                  <a:off x="1064" y="3147"/>
                  <a:ext cx="150" cy="57"/>
                </a:xfrm>
                <a:custGeom>
                  <a:avLst/>
                  <a:gdLst>
                    <a:gd name="T0" fmla="*/ 442 w 71"/>
                    <a:gd name="T1" fmla="*/ 112 h 27"/>
                    <a:gd name="T2" fmla="*/ 465 w 71"/>
                    <a:gd name="T3" fmla="*/ 196 h 27"/>
                    <a:gd name="T4" fmla="*/ 670 w 71"/>
                    <a:gd name="T5" fmla="*/ 76 h 27"/>
                    <a:gd name="T6" fmla="*/ 670 w 71"/>
                    <a:gd name="T7" fmla="*/ 68 h 27"/>
                    <a:gd name="T8" fmla="*/ 670 w 71"/>
                    <a:gd name="T9" fmla="*/ 57 h 27"/>
                    <a:gd name="T10" fmla="*/ 670 w 71"/>
                    <a:gd name="T11" fmla="*/ 49 h 27"/>
                    <a:gd name="T12" fmla="*/ 340 w 71"/>
                    <a:gd name="T13" fmla="*/ 36 h 27"/>
                    <a:gd name="T14" fmla="*/ 17 w 71"/>
                    <a:gd name="T15" fmla="*/ 188 h 27"/>
                    <a:gd name="T16" fmla="*/ 17 w 71"/>
                    <a:gd name="T17" fmla="*/ 196 h 27"/>
                    <a:gd name="T18" fmla="*/ 304 w 71"/>
                    <a:gd name="T19" fmla="*/ 236 h 27"/>
                    <a:gd name="T20" fmla="*/ 281 w 71"/>
                    <a:gd name="T21" fmla="*/ 160 h 27"/>
                    <a:gd name="T22" fmla="*/ 442 w 71"/>
                    <a:gd name="T23" fmla="*/ 112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1"/>
                    <a:gd name="T37" fmla="*/ 0 h 27"/>
                    <a:gd name="T38" fmla="*/ 71 w 71"/>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1" h="27">
                      <a:moveTo>
                        <a:pt x="47" y="12"/>
                      </a:moveTo>
                      <a:cubicBezTo>
                        <a:pt x="49" y="21"/>
                        <a:pt x="49" y="21"/>
                        <a:pt x="49" y="21"/>
                      </a:cubicBezTo>
                      <a:cubicBezTo>
                        <a:pt x="60" y="17"/>
                        <a:pt x="69" y="12"/>
                        <a:pt x="71" y="8"/>
                      </a:cubicBezTo>
                      <a:cubicBezTo>
                        <a:pt x="71" y="8"/>
                        <a:pt x="71" y="7"/>
                        <a:pt x="71" y="7"/>
                      </a:cubicBezTo>
                      <a:cubicBezTo>
                        <a:pt x="71" y="7"/>
                        <a:pt x="71" y="6"/>
                        <a:pt x="71" y="6"/>
                      </a:cubicBezTo>
                      <a:cubicBezTo>
                        <a:pt x="71" y="5"/>
                        <a:pt x="71" y="5"/>
                        <a:pt x="71" y="5"/>
                      </a:cubicBezTo>
                      <a:cubicBezTo>
                        <a:pt x="70" y="0"/>
                        <a:pt x="54" y="0"/>
                        <a:pt x="36" y="4"/>
                      </a:cubicBezTo>
                      <a:cubicBezTo>
                        <a:pt x="17" y="9"/>
                        <a:pt x="0" y="15"/>
                        <a:pt x="2" y="20"/>
                      </a:cubicBezTo>
                      <a:cubicBezTo>
                        <a:pt x="2" y="20"/>
                        <a:pt x="2" y="21"/>
                        <a:pt x="2" y="21"/>
                      </a:cubicBezTo>
                      <a:cubicBezTo>
                        <a:pt x="5" y="25"/>
                        <a:pt x="18" y="27"/>
                        <a:pt x="32" y="25"/>
                      </a:cubicBezTo>
                      <a:cubicBezTo>
                        <a:pt x="30" y="17"/>
                        <a:pt x="30" y="17"/>
                        <a:pt x="30" y="17"/>
                      </a:cubicBezTo>
                      <a:cubicBezTo>
                        <a:pt x="36" y="13"/>
                        <a:pt x="47" y="12"/>
                        <a:pt x="47" y="12"/>
                      </a:cubicBezTo>
                      <a:close/>
                    </a:path>
                  </a:pathLst>
                </a:custGeom>
                <a:gradFill rotWithShape="1">
                  <a:gsLst>
                    <a:gs pos="0">
                      <a:srgbClr val="808080"/>
                    </a:gs>
                    <a:gs pos="100000">
                      <a:srgbClr val="5D5D5D"/>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 name="Freeform 118"/>
                <p:cNvSpPr/>
                <p:nvPr/>
              </p:nvSpPr>
              <p:spPr bwMode="gray">
                <a:xfrm>
                  <a:off x="1127" y="3172"/>
                  <a:ext cx="108" cy="368"/>
                </a:xfrm>
                <a:custGeom>
                  <a:avLst/>
                  <a:gdLst>
                    <a:gd name="T0" fmla="*/ 485 w 51"/>
                    <a:gd name="T1" fmla="*/ 1645 h 174"/>
                    <a:gd name="T2" fmla="*/ 180 w 51"/>
                    <a:gd name="T3" fmla="*/ 85 h 174"/>
                    <a:gd name="T4" fmla="*/ 161 w 51"/>
                    <a:gd name="T5" fmla="*/ 0 h 174"/>
                    <a:gd name="T6" fmla="*/ 0 w 51"/>
                    <a:gd name="T7" fmla="*/ 49 h 174"/>
                    <a:gd name="T8" fmla="*/ 17 w 51"/>
                    <a:gd name="T9" fmla="*/ 121 h 174"/>
                    <a:gd name="T10" fmla="*/ 474 w 51"/>
                    <a:gd name="T11" fmla="*/ 1645 h 174"/>
                    <a:gd name="T12" fmla="*/ 485 w 51"/>
                    <a:gd name="T13" fmla="*/ 1645 h 174"/>
                    <a:gd name="T14" fmla="*/ 0 60000 65536"/>
                    <a:gd name="T15" fmla="*/ 0 60000 65536"/>
                    <a:gd name="T16" fmla="*/ 0 60000 65536"/>
                    <a:gd name="T17" fmla="*/ 0 60000 65536"/>
                    <a:gd name="T18" fmla="*/ 0 60000 65536"/>
                    <a:gd name="T19" fmla="*/ 0 60000 65536"/>
                    <a:gd name="T20" fmla="*/ 0 60000 65536"/>
                    <a:gd name="T21" fmla="*/ 0 w 51"/>
                    <a:gd name="T22" fmla="*/ 0 h 174"/>
                    <a:gd name="T23" fmla="*/ 51 w 51"/>
                    <a:gd name="T24" fmla="*/ 174 h 1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174">
                      <a:moveTo>
                        <a:pt x="51" y="174"/>
                      </a:moveTo>
                      <a:cubicBezTo>
                        <a:pt x="19" y="9"/>
                        <a:pt x="19" y="9"/>
                        <a:pt x="19" y="9"/>
                      </a:cubicBezTo>
                      <a:cubicBezTo>
                        <a:pt x="17" y="0"/>
                        <a:pt x="17" y="0"/>
                        <a:pt x="17" y="0"/>
                      </a:cubicBezTo>
                      <a:cubicBezTo>
                        <a:pt x="17" y="0"/>
                        <a:pt x="6" y="1"/>
                        <a:pt x="0" y="5"/>
                      </a:cubicBezTo>
                      <a:cubicBezTo>
                        <a:pt x="2" y="13"/>
                        <a:pt x="2" y="13"/>
                        <a:pt x="2" y="13"/>
                      </a:cubicBezTo>
                      <a:cubicBezTo>
                        <a:pt x="50" y="174"/>
                        <a:pt x="50" y="174"/>
                        <a:pt x="50" y="174"/>
                      </a:cubicBezTo>
                      <a:lnTo>
                        <a:pt x="51" y="174"/>
                      </a:lnTo>
                      <a:close/>
                    </a:path>
                  </a:pathLst>
                </a:custGeom>
                <a:gradFill rotWithShape="1">
                  <a:gsLst>
                    <a:gs pos="0">
                      <a:srgbClr val="BFBFBF"/>
                    </a:gs>
                    <a:gs pos="100000">
                      <a:srgbClr val="808080"/>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1" name="Group 119"/>
              <p:cNvGrpSpPr/>
              <p:nvPr/>
            </p:nvGrpSpPr>
            <p:grpSpPr bwMode="auto">
              <a:xfrm>
                <a:off x="526" y="1125"/>
                <a:ext cx="714" cy="2039"/>
                <a:chOff x="526" y="1125"/>
                <a:chExt cx="714" cy="2039"/>
              </a:xfrm>
            </p:grpSpPr>
            <p:sp>
              <p:nvSpPr>
                <p:cNvPr id="12" name="Freeform 120"/>
                <p:cNvSpPr/>
                <p:nvPr/>
              </p:nvSpPr>
              <p:spPr bwMode="gray">
                <a:xfrm>
                  <a:off x="526" y="1125"/>
                  <a:ext cx="316" cy="825"/>
                </a:xfrm>
                <a:custGeom>
                  <a:avLst/>
                  <a:gdLst/>
                  <a:ahLst/>
                  <a:cxnLst>
                    <a:cxn ang="0">
                      <a:pos x="70" y="67"/>
                    </a:cxn>
                    <a:cxn ang="0">
                      <a:pos x="28" y="5"/>
                    </a:cxn>
                    <a:cxn ang="0">
                      <a:pos x="8" y="147"/>
                    </a:cxn>
                    <a:cxn ang="0">
                      <a:pos x="113" y="333"/>
                    </a:cxn>
                    <a:cxn ang="0">
                      <a:pos x="149" y="390"/>
                    </a:cxn>
                    <a:cxn ang="0">
                      <a:pos x="145" y="375"/>
                    </a:cxn>
                    <a:cxn ang="0">
                      <a:pos x="70" y="67"/>
                    </a:cxn>
                  </a:cxnLst>
                  <a:rect l="0" t="0" r="r" b="b"/>
                  <a:pathLst>
                    <a:path w="149" h="390">
                      <a:moveTo>
                        <a:pt x="70" y="67"/>
                      </a:moveTo>
                      <a:cubicBezTo>
                        <a:pt x="70" y="67"/>
                        <a:pt x="43" y="0"/>
                        <a:pt x="28" y="5"/>
                      </a:cubicBezTo>
                      <a:cubicBezTo>
                        <a:pt x="14" y="10"/>
                        <a:pt x="0" y="112"/>
                        <a:pt x="8" y="147"/>
                      </a:cubicBezTo>
                      <a:cubicBezTo>
                        <a:pt x="21" y="199"/>
                        <a:pt x="113" y="333"/>
                        <a:pt x="113" y="333"/>
                      </a:cubicBezTo>
                      <a:cubicBezTo>
                        <a:pt x="149" y="390"/>
                        <a:pt x="149" y="390"/>
                        <a:pt x="149" y="390"/>
                      </a:cubicBezTo>
                      <a:cubicBezTo>
                        <a:pt x="145" y="375"/>
                        <a:pt x="145" y="375"/>
                        <a:pt x="145" y="375"/>
                      </a:cubicBezTo>
                      <a:lnTo>
                        <a:pt x="70" y="67"/>
                      </a:lnTo>
                      <a:close/>
                    </a:path>
                  </a:pathLst>
                </a:custGeom>
                <a:solidFill>
                  <a:schemeClr val="accent4"/>
                </a:solidFill>
                <a:ln w="9525">
                  <a:noFill/>
                  <a:round/>
                </a:ln>
              </p:spPr>
              <p:txBody>
                <a:bodyPr/>
                <a:lstStyle/>
                <a:p>
                  <a:pPr>
                    <a:defRPr/>
                  </a:pPr>
                  <a:endParaRPr lang="de-DE"/>
                </a:p>
              </p:txBody>
            </p:sp>
            <p:sp>
              <p:nvSpPr>
                <p:cNvPr id="13" name="Freeform 121"/>
                <p:cNvSpPr/>
                <p:nvPr/>
              </p:nvSpPr>
              <p:spPr bwMode="gray">
                <a:xfrm>
                  <a:off x="1214" y="3161"/>
                  <a:ext cx="0" cy="3"/>
                </a:xfrm>
                <a:custGeom>
                  <a:avLst/>
                  <a:gdLst>
                    <a:gd name="T0" fmla="*/ 27 h 1"/>
                    <a:gd name="T1" fmla="*/ 0 h 1"/>
                    <a:gd name="T2" fmla="*/ 27 h 1"/>
                    <a:gd name="T3" fmla="*/ 27 h 1"/>
                    <a:gd name="T4" fmla="*/ 0 60000 65536"/>
                    <a:gd name="T5" fmla="*/ 0 60000 65536"/>
                    <a:gd name="T6" fmla="*/ 0 60000 65536"/>
                    <a:gd name="T7" fmla="*/ 0 60000 65536"/>
                    <a:gd name="T8" fmla="*/ 0 h 1"/>
                    <a:gd name="T9" fmla="*/ 1 h 1"/>
                  </a:gdLst>
                  <a:ahLst/>
                  <a:cxnLst>
                    <a:cxn ang="T4">
                      <a:pos x="0" y="T0"/>
                    </a:cxn>
                    <a:cxn ang="T5">
                      <a:pos x="0" y="T1"/>
                    </a:cxn>
                    <a:cxn ang="T6">
                      <a:pos x="0" y="T2"/>
                    </a:cxn>
                    <a:cxn ang="T7">
                      <a:pos x="0" y="T3"/>
                    </a:cxn>
                  </a:cxnLst>
                  <a:rect l="0" t="T8" r="0" b="T9"/>
                  <a:pathLst>
                    <a:path h="1">
                      <a:moveTo>
                        <a:pt x="0" y="1"/>
                      </a:moveTo>
                      <a:cubicBezTo>
                        <a:pt x="0" y="1"/>
                        <a:pt x="0" y="1"/>
                        <a:pt x="0" y="0"/>
                      </a:cubicBezTo>
                      <a:cubicBezTo>
                        <a:pt x="0" y="0"/>
                        <a:pt x="0" y="1"/>
                        <a:pt x="0" y="1"/>
                      </a:cubicBezTo>
                      <a:cubicBezTo>
                        <a:pt x="0" y="1"/>
                        <a:pt x="0" y="1"/>
                        <a:pt x="0" y="1"/>
                      </a:cubicBezTo>
                      <a:close/>
                    </a:path>
                  </a:pathLst>
                </a:custGeom>
                <a:solidFill>
                  <a:srgbClr val="F7C8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 name="Group 122"/>
                <p:cNvGrpSpPr/>
                <p:nvPr/>
              </p:nvGrpSpPr>
              <p:grpSpPr bwMode="auto">
                <a:xfrm>
                  <a:off x="969" y="2736"/>
                  <a:ext cx="271" cy="364"/>
                  <a:chOff x="3018" y="2598"/>
                  <a:chExt cx="300" cy="407"/>
                </a:xfrm>
              </p:grpSpPr>
              <p:sp>
                <p:nvSpPr>
                  <p:cNvPr id="15" name="Freeform 123"/>
                  <p:cNvSpPr/>
                  <p:nvPr/>
                </p:nvSpPr>
                <p:spPr bwMode="gray">
                  <a:xfrm>
                    <a:off x="3018" y="2598"/>
                    <a:ext cx="215" cy="73"/>
                  </a:xfrm>
                  <a:custGeom>
                    <a:avLst/>
                    <a:gdLst>
                      <a:gd name="T0" fmla="*/ 1188 w 91"/>
                      <a:gd name="T1" fmla="*/ 172 h 31"/>
                      <a:gd name="T2" fmla="*/ 1188 w 91"/>
                      <a:gd name="T3" fmla="*/ 134 h 31"/>
                      <a:gd name="T4" fmla="*/ 529 w 91"/>
                      <a:gd name="T5" fmla="*/ 66 h 31"/>
                      <a:gd name="T6" fmla="*/ 28 w 91"/>
                      <a:gd name="T7" fmla="*/ 377 h 31"/>
                      <a:gd name="T8" fmla="*/ 40 w 91"/>
                      <a:gd name="T9" fmla="*/ 405 h 31"/>
                      <a:gd name="T10" fmla="*/ 541 w 91"/>
                      <a:gd name="T11" fmla="*/ 134 h 31"/>
                      <a:gd name="T12" fmla="*/ 1188 w 91"/>
                      <a:gd name="T13" fmla="*/ 172 h 31"/>
                      <a:gd name="T14" fmla="*/ 0 60000 65536"/>
                      <a:gd name="T15" fmla="*/ 0 60000 65536"/>
                      <a:gd name="T16" fmla="*/ 0 60000 65536"/>
                      <a:gd name="T17" fmla="*/ 0 60000 65536"/>
                      <a:gd name="T18" fmla="*/ 0 60000 65536"/>
                      <a:gd name="T19" fmla="*/ 0 60000 65536"/>
                      <a:gd name="T20" fmla="*/ 0 60000 65536"/>
                      <a:gd name="T21" fmla="*/ 0 w 91"/>
                      <a:gd name="T22" fmla="*/ 0 h 31"/>
                      <a:gd name="T23" fmla="*/ 91 w 9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31">
                        <a:moveTo>
                          <a:pt x="90" y="13"/>
                        </a:moveTo>
                        <a:cubicBezTo>
                          <a:pt x="91" y="12"/>
                          <a:pt x="90" y="10"/>
                          <a:pt x="90" y="10"/>
                        </a:cubicBezTo>
                        <a:cubicBezTo>
                          <a:pt x="89" y="4"/>
                          <a:pt x="63" y="0"/>
                          <a:pt x="40" y="5"/>
                        </a:cubicBezTo>
                        <a:cubicBezTo>
                          <a:pt x="16" y="11"/>
                          <a:pt x="0" y="23"/>
                          <a:pt x="2" y="29"/>
                        </a:cubicBezTo>
                        <a:cubicBezTo>
                          <a:pt x="2" y="29"/>
                          <a:pt x="2" y="31"/>
                          <a:pt x="3" y="31"/>
                        </a:cubicBezTo>
                        <a:cubicBezTo>
                          <a:pt x="5" y="25"/>
                          <a:pt x="20" y="15"/>
                          <a:pt x="41" y="10"/>
                        </a:cubicBezTo>
                        <a:cubicBezTo>
                          <a:pt x="61" y="5"/>
                          <a:pt x="84" y="8"/>
                          <a:pt x="90"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124"/>
                  <p:cNvSpPr/>
                  <p:nvPr/>
                </p:nvSpPr>
                <p:spPr bwMode="gray">
                  <a:xfrm>
                    <a:off x="3030" y="2645"/>
                    <a:ext cx="215" cy="74"/>
                  </a:xfrm>
                  <a:custGeom>
                    <a:avLst/>
                    <a:gdLst>
                      <a:gd name="T0" fmla="*/ 1200 w 91"/>
                      <a:gd name="T1" fmla="*/ 165 h 31"/>
                      <a:gd name="T2" fmla="*/ 1188 w 91"/>
                      <a:gd name="T3" fmla="*/ 119 h 31"/>
                      <a:gd name="T4" fmla="*/ 513 w 91"/>
                      <a:gd name="T5" fmla="*/ 69 h 31"/>
                      <a:gd name="T6" fmla="*/ 12 w 91"/>
                      <a:gd name="T7" fmla="*/ 394 h 31"/>
                      <a:gd name="T8" fmla="*/ 28 w 91"/>
                      <a:gd name="T9" fmla="*/ 423 h 31"/>
                      <a:gd name="T10" fmla="*/ 529 w 91"/>
                      <a:gd name="T11" fmla="*/ 136 h 31"/>
                      <a:gd name="T12" fmla="*/ 1200 w 91"/>
                      <a:gd name="T13" fmla="*/ 165 h 31"/>
                      <a:gd name="T14" fmla="*/ 0 60000 65536"/>
                      <a:gd name="T15" fmla="*/ 0 60000 65536"/>
                      <a:gd name="T16" fmla="*/ 0 60000 65536"/>
                      <a:gd name="T17" fmla="*/ 0 60000 65536"/>
                      <a:gd name="T18" fmla="*/ 0 60000 65536"/>
                      <a:gd name="T19" fmla="*/ 0 60000 65536"/>
                      <a:gd name="T20" fmla="*/ 0 60000 65536"/>
                      <a:gd name="T21" fmla="*/ 0 w 91"/>
                      <a:gd name="T22" fmla="*/ 0 h 31"/>
                      <a:gd name="T23" fmla="*/ 91 w 9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31">
                        <a:moveTo>
                          <a:pt x="91" y="12"/>
                        </a:moveTo>
                        <a:cubicBezTo>
                          <a:pt x="91" y="12"/>
                          <a:pt x="90" y="10"/>
                          <a:pt x="90" y="9"/>
                        </a:cubicBezTo>
                        <a:cubicBezTo>
                          <a:pt x="89" y="3"/>
                          <a:pt x="63" y="0"/>
                          <a:pt x="39" y="5"/>
                        </a:cubicBezTo>
                        <a:cubicBezTo>
                          <a:pt x="16" y="10"/>
                          <a:pt x="0" y="22"/>
                          <a:pt x="1" y="29"/>
                        </a:cubicBezTo>
                        <a:cubicBezTo>
                          <a:pt x="1" y="29"/>
                          <a:pt x="1" y="31"/>
                          <a:pt x="2" y="31"/>
                        </a:cubicBezTo>
                        <a:cubicBezTo>
                          <a:pt x="5" y="25"/>
                          <a:pt x="20" y="14"/>
                          <a:pt x="40" y="10"/>
                        </a:cubicBezTo>
                        <a:cubicBezTo>
                          <a:pt x="61" y="5"/>
                          <a:pt x="84" y="8"/>
                          <a:pt x="91" y="12"/>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 name="Freeform 125"/>
                  <p:cNvSpPr/>
                  <p:nvPr/>
                </p:nvSpPr>
                <p:spPr bwMode="gray">
                  <a:xfrm>
                    <a:off x="3039" y="2690"/>
                    <a:ext cx="218" cy="76"/>
                  </a:xfrm>
                  <a:custGeom>
                    <a:avLst/>
                    <a:gdLst>
                      <a:gd name="T0" fmla="*/ 1225 w 92"/>
                      <a:gd name="T1" fmla="*/ 176 h 32"/>
                      <a:gd name="T2" fmla="*/ 1213 w 92"/>
                      <a:gd name="T3" fmla="*/ 135 h 32"/>
                      <a:gd name="T4" fmla="*/ 533 w 92"/>
                      <a:gd name="T5" fmla="*/ 66 h 32"/>
                      <a:gd name="T6" fmla="*/ 28 w 92"/>
                      <a:gd name="T7" fmla="*/ 389 h 32"/>
                      <a:gd name="T8" fmla="*/ 28 w 92"/>
                      <a:gd name="T9" fmla="*/ 427 h 32"/>
                      <a:gd name="T10" fmla="*/ 545 w 92"/>
                      <a:gd name="T11" fmla="*/ 135 h 32"/>
                      <a:gd name="T12" fmla="*/ 1225 w 92"/>
                      <a:gd name="T13" fmla="*/ 176 h 32"/>
                      <a:gd name="T14" fmla="*/ 0 60000 65536"/>
                      <a:gd name="T15" fmla="*/ 0 60000 65536"/>
                      <a:gd name="T16" fmla="*/ 0 60000 65536"/>
                      <a:gd name="T17" fmla="*/ 0 60000 65536"/>
                      <a:gd name="T18" fmla="*/ 0 60000 65536"/>
                      <a:gd name="T19" fmla="*/ 0 60000 65536"/>
                      <a:gd name="T20" fmla="*/ 0 60000 65536"/>
                      <a:gd name="T21" fmla="*/ 0 w 92"/>
                      <a:gd name="T22" fmla="*/ 0 h 32"/>
                      <a:gd name="T23" fmla="*/ 92 w 9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32">
                        <a:moveTo>
                          <a:pt x="92" y="13"/>
                        </a:moveTo>
                        <a:cubicBezTo>
                          <a:pt x="92" y="12"/>
                          <a:pt x="91" y="10"/>
                          <a:pt x="91" y="10"/>
                        </a:cubicBezTo>
                        <a:cubicBezTo>
                          <a:pt x="90" y="3"/>
                          <a:pt x="64" y="0"/>
                          <a:pt x="40" y="5"/>
                        </a:cubicBezTo>
                        <a:cubicBezTo>
                          <a:pt x="16" y="11"/>
                          <a:pt x="0" y="23"/>
                          <a:pt x="2" y="29"/>
                        </a:cubicBezTo>
                        <a:cubicBezTo>
                          <a:pt x="2" y="30"/>
                          <a:pt x="2" y="31"/>
                          <a:pt x="2" y="32"/>
                        </a:cubicBezTo>
                        <a:cubicBezTo>
                          <a:pt x="5" y="25"/>
                          <a:pt x="20" y="15"/>
                          <a:pt x="41" y="10"/>
                        </a:cubicBezTo>
                        <a:cubicBezTo>
                          <a:pt x="62" y="5"/>
                          <a:pt x="85" y="8"/>
                          <a:pt x="92"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9" name="Freeform 126"/>
                  <p:cNvSpPr/>
                  <p:nvPr/>
                </p:nvSpPr>
                <p:spPr bwMode="gray">
                  <a:xfrm>
                    <a:off x="3072" y="2832"/>
                    <a:ext cx="222" cy="76"/>
                  </a:xfrm>
                  <a:custGeom>
                    <a:avLst/>
                    <a:gdLst>
                      <a:gd name="T0" fmla="*/ 1238 w 94"/>
                      <a:gd name="T1" fmla="*/ 176 h 32"/>
                      <a:gd name="T2" fmla="*/ 1228 w 94"/>
                      <a:gd name="T3" fmla="*/ 135 h 32"/>
                      <a:gd name="T4" fmla="*/ 541 w 94"/>
                      <a:gd name="T5" fmla="*/ 78 h 32"/>
                      <a:gd name="T6" fmla="*/ 28 w 94"/>
                      <a:gd name="T7" fmla="*/ 401 h 32"/>
                      <a:gd name="T8" fmla="*/ 40 w 94"/>
                      <a:gd name="T9" fmla="*/ 427 h 32"/>
                      <a:gd name="T10" fmla="*/ 553 w 94"/>
                      <a:gd name="T11" fmla="*/ 135 h 32"/>
                      <a:gd name="T12" fmla="*/ 1238 w 94"/>
                      <a:gd name="T13" fmla="*/ 176 h 32"/>
                      <a:gd name="T14" fmla="*/ 0 60000 65536"/>
                      <a:gd name="T15" fmla="*/ 0 60000 65536"/>
                      <a:gd name="T16" fmla="*/ 0 60000 65536"/>
                      <a:gd name="T17" fmla="*/ 0 60000 65536"/>
                      <a:gd name="T18" fmla="*/ 0 60000 65536"/>
                      <a:gd name="T19" fmla="*/ 0 60000 65536"/>
                      <a:gd name="T20" fmla="*/ 0 60000 65536"/>
                      <a:gd name="T21" fmla="*/ 0 w 94"/>
                      <a:gd name="T22" fmla="*/ 0 h 32"/>
                      <a:gd name="T23" fmla="*/ 94 w 9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2">
                        <a:moveTo>
                          <a:pt x="94" y="13"/>
                        </a:moveTo>
                        <a:cubicBezTo>
                          <a:pt x="94" y="12"/>
                          <a:pt x="93" y="11"/>
                          <a:pt x="93" y="10"/>
                        </a:cubicBezTo>
                        <a:cubicBezTo>
                          <a:pt x="92" y="4"/>
                          <a:pt x="65" y="0"/>
                          <a:pt x="41" y="6"/>
                        </a:cubicBezTo>
                        <a:cubicBezTo>
                          <a:pt x="17" y="11"/>
                          <a:pt x="0" y="23"/>
                          <a:pt x="2" y="30"/>
                        </a:cubicBezTo>
                        <a:cubicBezTo>
                          <a:pt x="2" y="30"/>
                          <a:pt x="2" y="32"/>
                          <a:pt x="3" y="32"/>
                        </a:cubicBezTo>
                        <a:cubicBezTo>
                          <a:pt x="6" y="26"/>
                          <a:pt x="21" y="15"/>
                          <a:pt x="42" y="10"/>
                        </a:cubicBezTo>
                        <a:cubicBezTo>
                          <a:pt x="63" y="5"/>
                          <a:pt x="87" y="8"/>
                          <a:pt x="94"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 name="Freeform 127"/>
                  <p:cNvSpPr/>
                  <p:nvPr/>
                </p:nvSpPr>
                <p:spPr bwMode="gray">
                  <a:xfrm>
                    <a:off x="3084" y="2879"/>
                    <a:ext cx="222" cy="78"/>
                  </a:xfrm>
                  <a:custGeom>
                    <a:avLst/>
                    <a:gdLst>
                      <a:gd name="T0" fmla="*/ 1238 w 94"/>
                      <a:gd name="T1" fmla="*/ 184 h 33"/>
                      <a:gd name="T2" fmla="*/ 1228 w 94"/>
                      <a:gd name="T3" fmla="*/ 144 h 33"/>
                      <a:gd name="T4" fmla="*/ 541 w 94"/>
                      <a:gd name="T5" fmla="*/ 78 h 33"/>
                      <a:gd name="T6" fmla="*/ 28 w 94"/>
                      <a:gd name="T7" fmla="*/ 397 h 33"/>
                      <a:gd name="T8" fmla="*/ 40 w 94"/>
                      <a:gd name="T9" fmla="*/ 435 h 33"/>
                      <a:gd name="T10" fmla="*/ 553 w 94"/>
                      <a:gd name="T11" fmla="*/ 144 h 33"/>
                      <a:gd name="T12" fmla="*/ 1238 w 94"/>
                      <a:gd name="T13" fmla="*/ 184 h 33"/>
                      <a:gd name="T14" fmla="*/ 0 60000 65536"/>
                      <a:gd name="T15" fmla="*/ 0 60000 65536"/>
                      <a:gd name="T16" fmla="*/ 0 60000 65536"/>
                      <a:gd name="T17" fmla="*/ 0 60000 65536"/>
                      <a:gd name="T18" fmla="*/ 0 60000 65536"/>
                      <a:gd name="T19" fmla="*/ 0 60000 65536"/>
                      <a:gd name="T20" fmla="*/ 0 60000 65536"/>
                      <a:gd name="T21" fmla="*/ 0 w 94"/>
                      <a:gd name="T22" fmla="*/ 0 h 33"/>
                      <a:gd name="T23" fmla="*/ 94 w 94"/>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3">
                        <a:moveTo>
                          <a:pt x="94" y="14"/>
                        </a:moveTo>
                        <a:cubicBezTo>
                          <a:pt x="94" y="13"/>
                          <a:pt x="93" y="11"/>
                          <a:pt x="93" y="11"/>
                        </a:cubicBezTo>
                        <a:cubicBezTo>
                          <a:pt x="92" y="4"/>
                          <a:pt x="65" y="0"/>
                          <a:pt x="41" y="6"/>
                        </a:cubicBezTo>
                        <a:cubicBezTo>
                          <a:pt x="17" y="12"/>
                          <a:pt x="0" y="24"/>
                          <a:pt x="2" y="30"/>
                        </a:cubicBezTo>
                        <a:cubicBezTo>
                          <a:pt x="2" y="31"/>
                          <a:pt x="2" y="32"/>
                          <a:pt x="3" y="33"/>
                        </a:cubicBezTo>
                        <a:cubicBezTo>
                          <a:pt x="5" y="26"/>
                          <a:pt x="21" y="16"/>
                          <a:pt x="42" y="11"/>
                        </a:cubicBezTo>
                        <a:cubicBezTo>
                          <a:pt x="63" y="6"/>
                          <a:pt x="87" y="9"/>
                          <a:pt x="94" y="14"/>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 name="Freeform 128"/>
                  <p:cNvSpPr/>
                  <p:nvPr/>
                </p:nvSpPr>
                <p:spPr bwMode="gray">
                  <a:xfrm>
                    <a:off x="3096" y="2927"/>
                    <a:ext cx="222" cy="78"/>
                  </a:xfrm>
                  <a:custGeom>
                    <a:avLst/>
                    <a:gdLst>
                      <a:gd name="T0" fmla="*/ 1228 w 94"/>
                      <a:gd name="T1" fmla="*/ 135 h 33"/>
                      <a:gd name="T2" fmla="*/ 541 w 94"/>
                      <a:gd name="T3" fmla="*/ 78 h 33"/>
                      <a:gd name="T4" fmla="*/ 28 w 94"/>
                      <a:gd name="T5" fmla="*/ 397 h 33"/>
                      <a:gd name="T6" fmla="*/ 28 w 94"/>
                      <a:gd name="T7" fmla="*/ 435 h 33"/>
                      <a:gd name="T8" fmla="*/ 553 w 94"/>
                      <a:gd name="T9" fmla="*/ 135 h 33"/>
                      <a:gd name="T10" fmla="*/ 1228 w 94"/>
                      <a:gd name="T11" fmla="*/ 173 h 33"/>
                      <a:gd name="T12" fmla="*/ 1228 w 94"/>
                      <a:gd name="T13" fmla="*/ 135 h 33"/>
                      <a:gd name="T14" fmla="*/ 0 60000 65536"/>
                      <a:gd name="T15" fmla="*/ 0 60000 65536"/>
                      <a:gd name="T16" fmla="*/ 0 60000 65536"/>
                      <a:gd name="T17" fmla="*/ 0 60000 65536"/>
                      <a:gd name="T18" fmla="*/ 0 60000 65536"/>
                      <a:gd name="T19" fmla="*/ 0 60000 65536"/>
                      <a:gd name="T20" fmla="*/ 0 60000 65536"/>
                      <a:gd name="T21" fmla="*/ 0 w 94"/>
                      <a:gd name="T22" fmla="*/ 0 h 33"/>
                      <a:gd name="T23" fmla="*/ 94 w 94"/>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3">
                        <a:moveTo>
                          <a:pt x="93" y="10"/>
                        </a:moveTo>
                        <a:cubicBezTo>
                          <a:pt x="92" y="4"/>
                          <a:pt x="65" y="0"/>
                          <a:pt x="41" y="6"/>
                        </a:cubicBezTo>
                        <a:cubicBezTo>
                          <a:pt x="17" y="11"/>
                          <a:pt x="0" y="24"/>
                          <a:pt x="2" y="30"/>
                        </a:cubicBezTo>
                        <a:cubicBezTo>
                          <a:pt x="2" y="31"/>
                          <a:pt x="2" y="32"/>
                          <a:pt x="2" y="33"/>
                        </a:cubicBezTo>
                        <a:cubicBezTo>
                          <a:pt x="5" y="26"/>
                          <a:pt x="21" y="15"/>
                          <a:pt x="42" y="10"/>
                        </a:cubicBezTo>
                        <a:cubicBezTo>
                          <a:pt x="63" y="6"/>
                          <a:pt x="87" y="8"/>
                          <a:pt x="93" y="13"/>
                        </a:cubicBezTo>
                        <a:cubicBezTo>
                          <a:pt x="94" y="12"/>
                          <a:pt x="93" y="11"/>
                          <a:pt x="93" y="10"/>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[MAXN];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全局变量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Fib11</a:t>
            </a:r>
            <a:r>
              <a:rPr lang="en-US" altLang="zh-CN" sz="2000">
                <a:solidFill>
                  <a:srgbClr val="0000FF"/>
                </a:solidFill>
                <a:latin typeface="Consolas" panose="020B0609020204030204" pitchFamily="49" charset="0"/>
                <a:ea typeface="仿宋" panose="02010609060101010101" pitchFamily="49" charset="-122"/>
              </a:rPr>
              <a:t>(int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递归算法</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被</a:t>
            </a:r>
            <a:r>
              <a:rPr lang="en-US" altLang="zh-CN" sz="2000">
                <a:solidFill>
                  <a:srgbClr val="00B0F0"/>
                </a:solidFill>
                <a:latin typeface="Consolas" panose="020B0609020204030204" pitchFamily="49" charset="0"/>
                <a:ea typeface="仿宋" panose="02010609060101010101" pitchFamily="49" charset="-122"/>
              </a:rPr>
              <a:t>Fib1</a:t>
            </a:r>
            <a:r>
              <a:rPr lang="zh-CN" altLang="zh-CN" sz="2000">
                <a:solidFill>
                  <a:srgbClr val="00B0F0"/>
                </a:solidFill>
                <a:latin typeface="Consolas" panose="020B0609020204030204" pitchFamily="49" charset="0"/>
                <a:ea typeface="仿宋" panose="02010609060101010101" pitchFamily="49" charset="-122"/>
              </a:rPr>
              <a:t>调用</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FF"/>
                </a:solidFill>
                <a:latin typeface="Consolas" panose="020B0609020204030204" pitchFamily="49" charset="0"/>
                <a:ea typeface="仿宋" panose="02010609060101010101" pitchFamily="49" charset="-122"/>
              </a:rPr>
              <a:t>if(dp[n]!=0) return dp[n];</a:t>
            </a:r>
            <a:endParaRPr lang="zh-CN" altLang="zh-CN" sz="2000">
              <a:solidFill>
                <a:srgbClr val="FF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if(n==1) </a:t>
            </a:r>
            <a:r>
              <a:rPr lang="en-US" altLang="zh-CN" sz="2000">
                <a:solidFill>
                  <a:srgbClr val="006600"/>
                </a:solidFill>
                <a:latin typeface="Consolas" panose="020B0609020204030204" pitchFamily="49" charset="0"/>
                <a:ea typeface="仿宋" panose="02010609060101010101" pitchFamily="49" charset="-122"/>
              </a:rPr>
              <a:t>dp[n]</a:t>
            </a:r>
            <a:r>
              <a:rPr lang="en-US" altLang="zh-CN" sz="2000">
                <a:solidFill>
                  <a:srgbClr val="0000FF"/>
                </a:solidFill>
                <a:latin typeface="Consolas" panose="020B0609020204030204" pitchFamily="49" charset="0"/>
                <a:ea typeface="仿宋" panose="02010609060101010101" pitchFamily="49" charset="-122"/>
              </a:rPr>
              <a:t>=1;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 if(n==2) </a:t>
            </a:r>
            <a:r>
              <a:rPr lang="en-US" altLang="zh-CN" sz="2000">
                <a:solidFill>
                  <a:srgbClr val="006600"/>
                </a:solidFill>
                <a:latin typeface="Consolas" panose="020B0609020204030204" pitchFamily="49" charset="0"/>
                <a:ea typeface="仿宋" panose="02010609060101010101" pitchFamily="49" charset="-122"/>
              </a:rPr>
              <a:t>dp[n]</a:t>
            </a:r>
            <a:r>
              <a:rPr lang="en-US" altLang="zh-CN" sz="2000">
                <a:solidFill>
                  <a:srgbClr val="0000FF"/>
                </a:solidFill>
                <a:latin typeface="Consolas" panose="020B0609020204030204" pitchFamily="49" charset="0"/>
                <a:ea typeface="仿宋" panose="02010609060101010101" pitchFamily="49" charset="-122"/>
              </a:rPr>
              <a:t>=1;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r>
              <a:rPr lang="en-US" altLang="zh-CN" sz="2000">
                <a:solidFill>
                  <a:srgbClr val="006600"/>
                </a:solidFill>
                <a:latin typeface="Consolas" panose="020B0609020204030204" pitchFamily="49" charset="0"/>
                <a:ea typeface="仿宋" panose="02010609060101010101" pitchFamily="49" charset="-122"/>
              </a:rPr>
              <a:t>dp[i]</a:t>
            </a:r>
            <a:r>
              <a:rPr lang="en-US" altLang="zh-CN" sz="2000">
                <a:solidFill>
                  <a:srgbClr val="0000FF"/>
                </a:solidFill>
                <a:latin typeface="Consolas" panose="020B0609020204030204" pitchFamily="49" charset="0"/>
                <a:ea typeface="仿宋" panose="02010609060101010101" pitchFamily="49" charset="-122"/>
              </a:rPr>
              <a:t>=</a:t>
            </a:r>
            <a:r>
              <a:rPr lang="en-US" altLang="zh-CN" sz="2000">
                <a:solidFill>
                  <a:srgbClr val="FF0000"/>
                </a:solidFill>
                <a:latin typeface="Consolas" panose="020B0609020204030204" pitchFamily="49" charset="0"/>
                <a:ea typeface="仿宋" panose="02010609060101010101" pitchFamily="49" charset="-122"/>
              </a:rPr>
              <a:t>Fib11</a:t>
            </a:r>
            <a:r>
              <a:rPr lang="en-US" altLang="zh-CN" sz="2000">
                <a:solidFill>
                  <a:srgbClr val="0000FF"/>
                </a:solidFill>
                <a:latin typeface="Consolas" panose="020B0609020204030204" pitchFamily="49" charset="0"/>
                <a:ea typeface="仿宋" panose="02010609060101010101" pitchFamily="49" charset="-122"/>
              </a:rPr>
              <a:t>(n-2)+</a:t>
            </a:r>
            <a:r>
              <a:rPr lang="en-US" altLang="zh-CN" sz="2000">
                <a:solidFill>
                  <a:srgbClr val="FF0000"/>
                </a:solidFill>
                <a:latin typeface="Consolas" panose="020B0609020204030204" pitchFamily="49" charset="0"/>
                <a:ea typeface="仿宋" panose="02010609060101010101" pitchFamily="49" charset="-122"/>
              </a:rPr>
              <a:t>Fib11</a:t>
            </a:r>
            <a:r>
              <a:rPr lang="en-US" altLang="zh-CN" sz="2000">
                <a:solidFill>
                  <a:srgbClr val="0000FF"/>
                </a:solidFill>
                <a:latin typeface="Consolas" panose="020B0609020204030204" pitchFamily="49" charset="0"/>
                <a:ea typeface="仿宋" panose="02010609060101010101" pitchFamily="49" charset="-122"/>
              </a:rPr>
              <a:t>(n-1);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t>
            </a:r>
            <a:r>
              <a:rPr lang="en-US" altLang="zh-CN" sz="2000">
                <a:solidFill>
                  <a:srgbClr val="006600"/>
                </a:solidFill>
                <a:latin typeface="Consolas" panose="020B0609020204030204" pitchFamily="49" charset="0"/>
                <a:ea typeface="仿宋" panose="02010609060101010101" pitchFamily="49" charset="-122"/>
              </a:rPr>
              <a:t>dp[n]</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Fib1</a:t>
            </a:r>
            <a:r>
              <a:rPr lang="en-US" altLang="zh-CN" sz="2000">
                <a:solidFill>
                  <a:srgbClr val="0000FF"/>
                </a:solidFill>
                <a:latin typeface="Consolas" panose="020B0609020204030204" pitchFamily="49" charset="0"/>
                <a:ea typeface="仿宋" panose="02010609060101010101" pitchFamily="49" charset="-122"/>
              </a:rPr>
              <a:t>(int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求斐波那契数列</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memset(dp,0,sizeof(dp)</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初始化元素为</a:t>
            </a:r>
            <a:r>
              <a:rPr lang="en-US" altLang="zh-CN" sz="2000">
                <a:solidFill>
                  <a:srgbClr val="00B0F0"/>
                </a:solidFill>
                <a:latin typeface="Consolas" panose="020B0609020204030204" pitchFamily="49" charset="0"/>
                <a:ea typeface="仿宋" panose="02010609060101010101" pitchFamily="49" charset="-122"/>
              </a:rPr>
              <a:t>0 </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t>
            </a:r>
            <a:r>
              <a:rPr lang="en-US" altLang="zh-CN" sz="2000">
                <a:solidFill>
                  <a:srgbClr val="FF0000"/>
                </a:solidFill>
                <a:latin typeface="Consolas" panose="020B0609020204030204" pitchFamily="49" charset="0"/>
                <a:ea typeface="仿宋" panose="02010609060101010101" pitchFamily="49" charset="-122"/>
              </a:rPr>
              <a:t>Fib11</a:t>
            </a:r>
            <a:r>
              <a:rPr lang="en-US" altLang="zh-CN" sz="2000">
                <a:solidFill>
                  <a:srgbClr val="0000FF"/>
                </a:solidFill>
                <a:latin typeface="Consolas" panose="020B0609020204030204" pitchFamily="49" charset="0"/>
                <a:ea typeface="仿宋" panose="02010609060101010101" pitchFamily="49" charset="-122"/>
              </a:rPr>
              <a:t>(n);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371477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对应的迭代算法</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500034" y="1142984"/>
            <a:ext cx="8286808" cy="28809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Fib2</a:t>
            </a:r>
            <a:r>
              <a:rPr lang="en-US" altLang="zh-CN" sz="2000">
                <a:solidFill>
                  <a:srgbClr val="0000FF"/>
                </a:solidFill>
                <a:latin typeface="Consolas" panose="020B0609020204030204" pitchFamily="49" charset="0"/>
                <a:ea typeface="仿宋" panose="02010609060101010101" pitchFamily="49" charset="-122"/>
              </a:rPr>
              <a:t>(int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迭代算法</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求斐波那契数列</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[MAXN];</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dp[1]=1; dp[2]=1;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i=3;i&lt;=n;i++)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dp[i]=dp[i-2]+dp[i-1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8" name="Rectangle 2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1401"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214282" y="394672"/>
            <a:ext cx="8643998" cy="170816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上述</a:t>
            </a:r>
            <a:r>
              <a:rPr lang="en-US" altLang="zh-CN">
                <a:solidFill>
                  <a:srgbClr val="0000FF"/>
                </a:solidFill>
                <a:latin typeface="Consolas" panose="020B0609020204030204" pitchFamily="49" charset="0"/>
                <a:ea typeface="仿宋" panose="02010609060101010101" pitchFamily="49" charset="-122"/>
              </a:rPr>
              <a:t>Fib2(</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就是</a:t>
            </a:r>
            <a:r>
              <a:rPr lang="zh-CN" altLang="zh-CN">
                <a:solidFill>
                  <a:srgbClr val="FF0000"/>
                </a:solidFill>
                <a:latin typeface="楷体" panose="02010609060101010101" pitchFamily="49" charset="-122"/>
                <a:ea typeface="楷体" panose="02010609060101010101" pitchFamily="49" charset="-122"/>
                <a:cs typeface="Consolas" panose="020B0609020204030204" pitchFamily="49" charset="0"/>
              </a:rPr>
              <a:t>动态规划算法</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（表）称为动态规划数组</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动态规划就是记录子问题的结果再利用的方法</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rPr>
              <a:t>求大问题解中遇到子问题时直接查表。</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1153"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1" name="组合 20"/>
          <p:cNvGrpSpPr/>
          <p:nvPr/>
        </p:nvGrpSpPr>
        <p:grpSpPr>
          <a:xfrm>
            <a:off x="1428728" y="2428868"/>
            <a:ext cx="5919608" cy="3214710"/>
            <a:chOff x="1509912" y="1928802"/>
            <a:chExt cx="4981168" cy="3126652"/>
          </a:xfrm>
        </p:grpSpPr>
        <p:sp>
          <p:nvSpPr>
            <p:cNvPr id="91151" name="Oval 15"/>
            <p:cNvSpPr>
              <a:spLocks noChangeArrowheads="1"/>
            </p:cNvSpPr>
            <p:nvPr/>
          </p:nvSpPr>
          <p:spPr bwMode="auto">
            <a:xfrm>
              <a:off x="3478503" y="1928802"/>
              <a:ext cx="1022059" cy="436277"/>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l"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原问题</a:t>
              </a:r>
              <a:endPar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50" name="Oval 14"/>
            <p:cNvSpPr>
              <a:spLocks noChangeArrowheads="1"/>
            </p:cNvSpPr>
            <p:nvPr/>
          </p:nvSpPr>
          <p:spPr bwMode="auto">
            <a:xfrm>
              <a:off x="1509912" y="2945743"/>
              <a:ext cx="1163369" cy="436277"/>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l"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子问题</a:t>
              </a:r>
              <a:r>
                <a:rPr kumimoji="0" lang="en-US" alt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49" name="Oval 13"/>
            <p:cNvSpPr>
              <a:spLocks noChangeArrowheads="1"/>
            </p:cNvSpPr>
            <p:nvPr/>
          </p:nvSpPr>
          <p:spPr bwMode="auto">
            <a:xfrm>
              <a:off x="2965646" y="2945743"/>
              <a:ext cx="1163369" cy="437316"/>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l"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子问题</a:t>
              </a:r>
              <a:r>
                <a:rPr kumimoji="0" lang="en-US" alt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a:t>
              </a:r>
              <a:endParaRPr kumimoji="0" lang="en-US" alt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48" name="Oval 12"/>
            <p:cNvSpPr>
              <a:spLocks noChangeArrowheads="1"/>
            </p:cNvSpPr>
            <p:nvPr/>
          </p:nvSpPr>
          <p:spPr bwMode="auto">
            <a:xfrm>
              <a:off x="5327711" y="2945743"/>
              <a:ext cx="1163369" cy="437316"/>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l"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子问题</a:t>
              </a:r>
              <a:r>
                <a:rPr kumimoji="0" lang="en-US" altLang="zh-CN" sz="2000" i="1">
                  <a:solidFill>
                    <a:srgbClr val="0000FF"/>
                  </a:solidFill>
                  <a:ea typeface="仿宋" panose="02010609060101010101" pitchFamily="49" charset="-122"/>
                  <a:cs typeface="Times New Roman" panose="02020603050405020304" pitchFamily="18" charset="0"/>
                </a:rPr>
                <a:t>k</a:t>
              </a:r>
              <a:endParaRPr kumimoji="0" lang="en-US" alt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47" name="Rectangle 11"/>
            <p:cNvSpPr>
              <a:spLocks noChangeArrowheads="1"/>
            </p:cNvSpPr>
            <p:nvPr/>
          </p:nvSpPr>
          <p:spPr bwMode="auto">
            <a:xfrm>
              <a:off x="4454271" y="3039231"/>
              <a:ext cx="438548" cy="342789"/>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8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mj-ea"/>
                <a:ea typeface="+mj-ea"/>
                <a:cs typeface="Times New Roman" panose="02020603050405020304" pitchFamily="18" charset="0"/>
              </a:endParaRPr>
            </a:p>
          </p:txBody>
        </p:sp>
        <p:sp>
          <p:nvSpPr>
            <p:cNvPr id="91146" name="AutoShape 10"/>
            <p:cNvSpPr>
              <a:spLocks noChangeArrowheads="1"/>
            </p:cNvSpPr>
            <p:nvPr/>
          </p:nvSpPr>
          <p:spPr bwMode="auto">
            <a:xfrm>
              <a:off x="3329884" y="3933599"/>
              <a:ext cx="1242551" cy="412386"/>
            </a:xfrm>
            <a:prstGeom prst="roundRect">
              <a:avLst>
                <a:gd name="adj" fmla="val 16667"/>
              </a:avLst>
            </a:prstGeom>
          </p:spPr>
          <p:style>
            <a:lnRef idx="1">
              <a:schemeClr val="accent5"/>
            </a:lnRef>
            <a:fillRef idx="2">
              <a:schemeClr val="accent5"/>
            </a:fillRef>
            <a:effectRef idx="1">
              <a:schemeClr val="accent5"/>
            </a:effectRef>
            <a:fontRef idx="minor">
              <a:schemeClr val="dk1"/>
            </a:fontRef>
          </p:style>
          <p:txBody>
            <a:bodyPr vert="horz" wrap="square" lIns="0" tIns="31680" rIns="0" bIns="3168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表</a:t>
              </a:r>
              <a:endPar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45" name="AutoShape 9"/>
            <p:cNvSpPr>
              <a:spLocks noChangeShapeType="1"/>
            </p:cNvSpPr>
            <p:nvPr/>
          </p:nvSpPr>
          <p:spPr bwMode="auto">
            <a:xfrm>
              <a:off x="2090987" y="3383059"/>
              <a:ext cx="1396043" cy="539114"/>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44" name="AutoShape 8"/>
            <p:cNvSpPr>
              <a:spLocks noChangeShapeType="1"/>
            </p:cNvSpPr>
            <p:nvPr/>
          </p:nvSpPr>
          <p:spPr bwMode="auto">
            <a:xfrm>
              <a:off x="3547939" y="3383059"/>
              <a:ext cx="404438" cy="550540"/>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43" name="AutoShape 7"/>
            <p:cNvSpPr>
              <a:spLocks noChangeShapeType="1"/>
            </p:cNvSpPr>
            <p:nvPr/>
          </p:nvSpPr>
          <p:spPr bwMode="auto">
            <a:xfrm flipH="1">
              <a:off x="4340979" y="3383059"/>
              <a:ext cx="1569026" cy="539114"/>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42" name="AutoShape 6"/>
            <p:cNvSpPr>
              <a:spLocks noChangeShapeType="1"/>
            </p:cNvSpPr>
            <p:nvPr/>
          </p:nvSpPr>
          <p:spPr bwMode="auto">
            <a:xfrm flipH="1">
              <a:off x="2502734" y="2300676"/>
              <a:ext cx="1124387" cy="70843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41" name="AutoShape 5"/>
            <p:cNvSpPr>
              <a:spLocks noChangeShapeType="1"/>
            </p:cNvSpPr>
            <p:nvPr/>
          </p:nvSpPr>
          <p:spPr bwMode="auto">
            <a:xfrm flipH="1">
              <a:off x="3547939" y="2365079"/>
              <a:ext cx="440984" cy="58066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40" name="AutoShape 4"/>
            <p:cNvSpPr>
              <a:spLocks noChangeShapeType="1"/>
            </p:cNvSpPr>
            <p:nvPr/>
          </p:nvSpPr>
          <p:spPr bwMode="auto">
            <a:xfrm>
              <a:off x="4351943" y="2300676"/>
              <a:ext cx="1146315" cy="70843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sp>
          <p:nvSpPr>
            <p:cNvPr id="91139" name="AutoShape 3"/>
            <p:cNvSpPr>
              <a:spLocks noChangeArrowheads="1"/>
            </p:cNvSpPr>
            <p:nvPr/>
          </p:nvSpPr>
          <p:spPr bwMode="auto">
            <a:xfrm>
              <a:off x="3041173" y="4643068"/>
              <a:ext cx="1839463" cy="412386"/>
            </a:xfrm>
            <a:prstGeom prst="roundRect">
              <a:avLst>
                <a:gd name="adj" fmla="val 16667"/>
              </a:avLst>
            </a:prstGeom>
          </p:spPr>
          <p:style>
            <a:lnRef idx="1">
              <a:schemeClr val="accent3"/>
            </a:lnRef>
            <a:fillRef idx="2">
              <a:schemeClr val="accent3"/>
            </a:fillRef>
            <a:effectRef idx="1">
              <a:schemeClr val="accent3"/>
            </a:effectRef>
            <a:fontRef idx="minor">
              <a:schemeClr val="dk1"/>
            </a:fontRef>
          </p:style>
          <p:txBody>
            <a:bodyPr vert="horz" wrap="square" lIns="0" tIns="31680" rIns="0" bIns="3168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原问题的解</a:t>
              </a:r>
              <a:endParaRPr kumimoji="0" lang="zh-CN" sz="20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91138" name="AutoShape 2"/>
            <p:cNvSpPr>
              <a:spLocks noChangeShapeType="1"/>
            </p:cNvSpPr>
            <p:nvPr/>
          </p:nvSpPr>
          <p:spPr bwMode="auto">
            <a:xfrm>
              <a:off x="3952378" y="4345984"/>
              <a:ext cx="0" cy="2970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2000">
                <a:solidFill>
                  <a:srgbClr val="0000FF"/>
                </a:solidFill>
                <a:ea typeface="仿宋" panose="02010609060101010101" pitchFamily="49" charset="-122"/>
                <a:cs typeface="Times New Roman" panose="02020603050405020304" pitchFamily="18" charset="0"/>
              </a:endParaRPr>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8" name="Rectangle 2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1401"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214282" y="857232"/>
            <a:ext cx="8643998" cy="45140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动态规划</a:t>
            </a:r>
            <a:r>
              <a:rPr lang="zh-CN" altLang="zh-CN">
                <a:solidFill>
                  <a:srgbClr val="0000FF"/>
                </a:solidFill>
                <a:latin typeface="Consolas" panose="020B0609020204030204" pitchFamily="49" charset="0"/>
                <a:ea typeface="仿宋" panose="02010609060101010101" pitchFamily="49" charset="-122"/>
              </a:rPr>
              <a:t>求解过程为</a:t>
            </a:r>
            <a:r>
              <a:rPr lang="zh-CN" altLang="zh-CN">
                <a:solidFill>
                  <a:srgbClr val="FF0000"/>
                </a:solidFill>
                <a:latin typeface="Consolas" panose="020B0609020204030204" pitchFamily="49" charset="0"/>
                <a:ea typeface="仿宋" panose="02010609060101010101" pitchFamily="49" charset="-122"/>
              </a:rPr>
              <a:t>自底向上</a:t>
            </a:r>
            <a:r>
              <a:rPr lang="zh-CN"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由</a:t>
            </a:r>
            <a:r>
              <a:rPr lang="zh-CN" altLang="zh-CN">
                <a:solidFill>
                  <a:srgbClr val="0000FF"/>
                </a:solidFill>
                <a:latin typeface="Consolas" panose="020B0609020204030204" pitchFamily="49" charset="0"/>
                <a:ea typeface="仿宋" panose="02010609060101010101" pitchFamily="49" charset="-122"/>
              </a:rPr>
              <a:t>子问题解</a:t>
            </a:r>
            <a:r>
              <a:rPr lang="zh-CN" altLang="en-US">
                <a:solidFill>
                  <a:srgbClr val="0000FF"/>
                </a:solidFill>
                <a:latin typeface="Consolas" panose="020B0609020204030204" pitchFamily="49" charset="0"/>
                <a:ea typeface="仿宋" panose="02010609060101010101" pitchFamily="49" charset="-122"/>
              </a:rPr>
              <a:t>产生</a:t>
            </a:r>
            <a:r>
              <a:rPr lang="zh-CN" altLang="zh-CN">
                <a:solidFill>
                  <a:srgbClr val="0000FF"/>
                </a:solidFill>
                <a:latin typeface="Consolas" panose="020B0609020204030204" pitchFamily="49" charset="0"/>
                <a:ea typeface="仿宋" panose="02010609060101010101" pitchFamily="49" charset="-122"/>
              </a:rPr>
              <a:t>大问题解。</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1153"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 name="TextBox 21"/>
          <p:cNvSpPr txBox="1"/>
          <p:nvPr/>
        </p:nvSpPr>
        <p:spPr>
          <a:xfrm>
            <a:off x="214282" y="1714488"/>
            <a:ext cx="8501122" cy="90665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相对应</a:t>
            </a:r>
            <a:r>
              <a:rPr lang="en-US" altLang="zh-CN">
                <a:solidFill>
                  <a:srgbClr val="0000FF"/>
                </a:solidFill>
                <a:latin typeface="Consolas" panose="020B0609020204030204" pitchFamily="49" charset="0"/>
                <a:ea typeface="仿宋" panose="02010609060101010101" pitchFamily="49" charset="-122"/>
              </a:rPr>
              <a:t>Fib11(</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算法是动态规划的变形，称为</a:t>
            </a:r>
            <a:r>
              <a:rPr lang="zh-CN" altLang="zh-CN">
                <a:solidFill>
                  <a:srgbClr val="FF0000"/>
                </a:solidFill>
                <a:latin typeface="楷体" panose="02010609060101010101" pitchFamily="49" charset="-122"/>
                <a:ea typeface="楷体" panose="02010609060101010101" pitchFamily="49" charset="-122"/>
              </a:rPr>
              <a:t>备忘录方法</a:t>
            </a:r>
            <a:r>
              <a:rPr lang="zh-CN"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采用递归实现：</a:t>
            </a:r>
            <a:r>
              <a:rPr lang="zh-CN" altLang="en-US">
                <a:solidFill>
                  <a:srgbClr val="FF0000"/>
                </a:solidFill>
                <a:latin typeface="Consolas" panose="020B0609020204030204" pitchFamily="49" charset="0"/>
                <a:ea typeface="仿宋" panose="02010609060101010101" pitchFamily="49" charset="-122"/>
              </a:rPr>
              <a:t>自顶向下</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7"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7835"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4" name="组合 13"/>
          <p:cNvGrpSpPr/>
          <p:nvPr/>
        </p:nvGrpSpPr>
        <p:grpSpPr>
          <a:xfrm>
            <a:off x="1296142" y="1201242"/>
            <a:ext cx="6347692" cy="1500199"/>
            <a:chOff x="1296142" y="938967"/>
            <a:chExt cx="4730761" cy="1275587"/>
          </a:xfrm>
        </p:grpSpPr>
        <p:sp>
          <p:nvSpPr>
            <p:cNvPr id="77833" name="Rectangle 9"/>
            <p:cNvSpPr>
              <a:spLocks noChangeArrowheads="1"/>
            </p:cNvSpPr>
            <p:nvPr/>
          </p:nvSpPr>
          <p:spPr bwMode="auto">
            <a:xfrm>
              <a:off x="1296142" y="938967"/>
              <a:ext cx="729294" cy="43763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Fib</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77832" name="Rectangle 8"/>
            <p:cNvSpPr>
              <a:spLocks noChangeArrowheads="1"/>
            </p:cNvSpPr>
            <p:nvPr/>
          </p:nvSpPr>
          <p:spPr bwMode="auto">
            <a:xfrm>
              <a:off x="3170182" y="938967"/>
              <a:ext cx="731866" cy="43763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en-US" altLang="zh-CN" sz="1600" i="1">
                  <a:solidFill>
                    <a:srgbClr val="0000FF"/>
                  </a:solidFill>
                  <a:latin typeface="Consolas" panose="020B0609020204030204" pitchFamily="49" charset="0"/>
                  <a:ea typeface="宋体" panose="02010600030101010101" pitchFamily="2" charset="-122"/>
                  <a:cs typeface="Consolas" panose="020B0609020204030204" pitchFamily="49" charset="0"/>
                </a:rPr>
                <a:t>Fib</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6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77831" name="Rectangle 7"/>
            <p:cNvSpPr>
              <a:spLocks noChangeArrowheads="1"/>
            </p:cNvSpPr>
            <p:nvPr/>
          </p:nvSpPr>
          <p:spPr bwMode="auto">
            <a:xfrm>
              <a:off x="4203026" y="938967"/>
              <a:ext cx="731866" cy="43763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en-US" altLang="zh-CN" sz="1600" i="1">
                  <a:solidFill>
                    <a:srgbClr val="0000FF"/>
                  </a:solidFill>
                  <a:latin typeface="Consolas" panose="020B0609020204030204" pitchFamily="49" charset="0"/>
                  <a:ea typeface="宋体" panose="02010600030101010101" pitchFamily="2" charset="-122"/>
                  <a:cs typeface="Consolas" panose="020B0609020204030204" pitchFamily="49" charset="0"/>
                </a:rPr>
                <a:t>Fib</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6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77830" name="Rectangle 6"/>
            <p:cNvSpPr>
              <a:spLocks noChangeArrowheads="1"/>
            </p:cNvSpPr>
            <p:nvPr/>
          </p:nvSpPr>
          <p:spPr bwMode="auto">
            <a:xfrm>
              <a:off x="5295037" y="938967"/>
              <a:ext cx="731866" cy="43763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en-US" altLang="zh-CN" sz="1600" i="1">
                  <a:solidFill>
                    <a:srgbClr val="0000FF"/>
                  </a:solidFill>
                  <a:latin typeface="Consolas" panose="020B0609020204030204" pitchFamily="49" charset="0"/>
                  <a:ea typeface="宋体" panose="02010600030101010101" pitchFamily="2" charset="-122"/>
                  <a:cs typeface="Consolas" panose="020B0609020204030204" pitchFamily="49" charset="0"/>
                </a:rPr>
                <a:t>Fib</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6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77829" name="Rectangle 5"/>
            <p:cNvSpPr>
              <a:spLocks noChangeArrowheads="1"/>
            </p:cNvSpPr>
            <p:nvPr/>
          </p:nvSpPr>
          <p:spPr bwMode="auto">
            <a:xfrm>
              <a:off x="2359856" y="1008475"/>
              <a:ext cx="541504" cy="303772"/>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1600" i="0" u="none" strike="noStrike" cap="none" normalizeH="0" baseline="0">
                <a:ln>
                  <a:noFill/>
                </a:ln>
                <a:solidFill>
                  <a:srgbClr val="0000FF"/>
                </a:solidFill>
                <a:effectLst/>
                <a:latin typeface="+mj-ea"/>
                <a:ea typeface="+mj-ea"/>
                <a:cs typeface="宋体" panose="02010600030101010101" pitchFamily="2" charset="-122"/>
              </a:endParaRPr>
            </a:p>
          </p:txBody>
        </p:sp>
        <p:sp>
          <p:nvSpPr>
            <p:cNvPr id="77828" name="Freeform 4"/>
            <p:cNvSpPr/>
            <p:nvPr/>
          </p:nvSpPr>
          <p:spPr bwMode="auto">
            <a:xfrm>
              <a:off x="4669928" y="1402349"/>
              <a:ext cx="872065" cy="374567"/>
            </a:xfrm>
            <a:custGeom>
              <a:avLst/>
              <a:gdLst/>
              <a:ahLst/>
              <a:cxnLst>
                <a:cxn ang="0">
                  <a:pos x="670" y="0"/>
                </a:cxn>
                <a:cxn ang="0">
                  <a:pos x="616" y="204"/>
                </a:cxn>
                <a:cxn ang="0">
                  <a:pos x="298" y="257"/>
                </a:cxn>
                <a:cxn ang="0">
                  <a:pos x="0" y="0"/>
                </a:cxn>
              </a:cxnLst>
              <a:rect l="0" t="0" r="r" b="b"/>
              <a:pathLst>
                <a:path w="678" h="291">
                  <a:moveTo>
                    <a:pt x="670" y="0"/>
                  </a:moveTo>
                  <a:cubicBezTo>
                    <a:pt x="674" y="80"/>
                    <a:pt x="678" y="161"/>
                    <a:pt x="616" y="204"/>
                  </a:cubicBezTo>
                  <a:cubicBezTo>
                    <a:pt x="554" y="247"/>
                    <a:pt x="401" y="291"/>
                    <a:pt x="298" y="257"/>
                  </a:cubicBezTo>
                  <a:cubicBezTo>
                    <a:pt x="195" y="223"/>
                    <a:pt x="97" y="111"/>
                    <a:pt x="0" y="0"/>
                  </a:cubicBez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3200"/>
                </a:lnSpc>
              </a:pPr>
              <a:endParaRPr lang="zh-CN" altLang="en-US" sz="1600">
                <a:solidFill>
                  <a:srgbClr val="0000FF"/>
                </a:solidFill>
              </a:endParaRPr>
            </a:p>
          </p:txBody>
        </p:sp>
        <p:sp>
          <p:nvSpPr>
            <p:cNvPr id="77827" name="Freeform 3"/>
            <p:cNvSpPr/>
            <p:nvPr/>
          </p:nvSpPr>
          <p:spPr bwMode="auto">
            <a:xfrm>
              <a:off x="3565055" y="1402349"/>
              <a:ext cx="1729982" cy="432490"/>
            </a:xfrm>
            <a:custGeom>
              <a:avLst/>
              <a:gdLst/>
              <a:ahLst/>
              <a:cxnLst>
                <a:cxn ang="0">
                  <a:pos x="1345" y="264"/>
                </a:cxn>
                <a:cxn ang="0">
                  <a:pos x="1007" y="336"/>
                </a:cxn>
                <a:cxn ang="0">
                  <a:pos x="437" y="264"/>
                </a:cxn>
                <a:cxn ang="0">
                  <a:pos x="175" y="177"/>
                </a:cxn>
                <a:cxn ang="0">
                  <a:pos x="0" y="0"/>
                </a:cxn>
              </a:cxnLst>
              <a:rect l="0" t="0" r="r" b="b"/>
              <a:pathLst>
                <a:path w="1345" h="336">
                  <a:moveTo>
                    <a:pt x="1345" y="264"/>
                  </a:moveTo>
                  <a:cubicBezTo>
                    <a:pt x="1251" y="300"/>
                    <a:pt x="1158" y="336"/>
                    <a:pt x="1007" y="336"/>
                  </a:cubicBezTo>
                  <a:cubicBezTo>
                    <a:pt x="856" y="336"/>
                    <a:pt x="576" y="290"/>
                    <a:pt x="437" y="264"/>
                  </a:cubicBezTo>
                  <a:cubicBezTo>
                    <a:pt x="298" y="238"/>
                    <a:pt x="248" y="221"/>
                    <a:pt x="175" y="177"/>
                  </a:cubicBezTo>
                  <a:cubicBezTo>
                    <a:pt x="102" y="133"/>
                    <a:pt x="36" y="37"/>
                    <a:pt x="0" y="0"/>
                  </a:cubicBez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3200"/>
                </a:lnSpc>
              </a:pPr>
              <a:endParaRPr lang="zh-CN" altLang="en-US" sz="1600">
                <a:solidFill>
                  <a:srgbClr val="0000FF"/>
                </a:solidFill>
              </a:endParaRPr>
            </a:p>
          </p:txBody>
        </p:sp>
        <p:sp>
          <p:nvSpPr>
            <p:cNvPr id="77826" name="Rectangle 2"/>
            <p:cNvSpPr>
              <a:spLocks noChangeArrowheads="1"/>
            </p:cNvSpPr>
            <p:nvPr/>
          </p:nvSpPr>
          <p:spPr bwMode="auto">
            <a:xfrm>
              <a:off x="3418105" y="1878602"/>
              <a:ext cx="2503327" cy="33595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algn="ctr" defTabSz="914400" rtl="0" eaLnBrk="1" fontAlgn="base" latinLnBrk="0" hangingPunct="1">
                <a:lnSpc>
                  <a:spcPts val="3200"/>
                </a:lnSpc>
                <a:spcBef>
                  <a:spcPct val="0"/>
                </a:spcBef>
                <a:spcAft>
                  <a:spcPct val="0"/>
                </a:spcAft>
                <a:buClrTx/>
                <a:buSzTx/>
                <a:buFontTx/>
                <a:buNone/>
              </a:pPr>
              <a:r>
                <a:rPr kumimoji="0" lang="en-US" altLang="zh-CN" sz="1800">
                  <a:solidFill>
                    <a:srgbClr val="0000FF"/>
                  </a:solidFill>
                  <a:latin typeface="Consolas" panose="020B0609020204030204" pitchFamily="49" charset="0"/>
                  <a:ea typeface="宋体" panose="02010600030101010101" pitchFamily="2" charset="-122"/>
                  <a:cs typeface="Consolas" panose="020B0609020204030204" pitchFamily="49" charset="0"/>
                </a:rPr>
                <a:t>Fib</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)=Fib(</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-2)+Fib(</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grpSp>
      <p:sp>
        <p:nvSpPr>
          <p:cNvPr id="16" name="TextBox 15"/>
          <p:cNvSpPr txBox="1"/>
          <p:nvPr/>
        </p:nvSpPr>
        <p:spPr>
          <a:xfrm>
            <a:off x="714348" y="3500438"/>
            <a:ext cx="7429552" cy="25135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0" bIns="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Fib3</a:t>
            </a:r>
            <a:r>
              <a:rPr lang="en-US" altLang="zh-CN" sz="2000">
                <a:solidFill>
                  <a:srgbClr val="0000FF"/>
                </a:solidFill>
                <a:latin typeface="Consolas" panose="020B0609020204030204" pitchFamily="49" charset="0"/>
                <a:ea typeface="仿宋" panose="02010609060101010101" pitchFamily="49" charset="-122"/>
              </a:rPr>
              <a:t>(int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求斐波那契数列</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dp[0]=1; dp[1]=1;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i=2;i&lt;n;i++)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dp[i%3]=dp[(i-1)%3]+dp[(i-2)%3];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dp[(n-1)%3];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15" name="TextBox 14"/>
          <p:cNvSpPr txBox="1"/>
          <p:nvPr/>
        </p:nvSpPr>
        <p:spPr>
          <a:xfrm>
            <a:off x="500034" y="285728"/>
            <a:ext cx="2428892"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微软雅黑" panose="020B0503020204020204" pitchFamily="34" charset="-122"/>
                <a:ea typeface="微软雅黑" panose="020B0503020204020204" pitchFamily="34" charset="-122"/>
                <a:cs typeface="Consolas" panose="020B0609020204030204" pitchFamily="49" charset="0"/>
              </a:rPr>
              <a:t>滚动数组：</a:t>
            </a:r>
            <a:endParaRPr lang="zh-CN" altLang="en-US">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19" name="TextBox 18"/>
          <p:cNvSpPr txBox="1"/>
          <p:nvPr/>
        </p:nvSpPr>
        <p:spPr>
          <a:xfrm>
            <a:off x="714348" y="2928934"/>
            <a:ext cx="4857784"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anose="020B0609020204030204" pitchFamily="49" charset="0"/>
                <a:ea typeface="华文中宋" panose="02010600040101010101" pitchFamily="2" charset="-122"/>
              </a:rPr>
              <a:t>Fib(</a:t>
            </a:r>
            <a:r>
              <a:rPr lang="en-US" altLang="zh-CN" sz="2200" i="1">
                <a:solidFill>
                  <a:srgbClr val="0000FF"/>
                </a:solidFill>
                <a:latin typeface="Consolas" panose="020B0609020204030204" pitchFamily="49" charset="0"/>
                <a:ea typeface="华文中宋" panose="02010600040101010101" pitchFamily="2" charset="-122"/>
              </a:rPr>
              <a:t>i</a:t>
            </a:r>
            <a:r>
              <a:rPr lang="en-US" altLang="zh-CN" sz="2200">
                <a:solidFill>
                  <a:srgbClr val="0000FF"/>
                </a:solidFill>
                <a:latin typeface="Consolas" panose="020B0609020204030204" pitchFamily="49" charset="0"/>
                <a:ea typeface="华文中宋" panose="02010600040101010101" pitchFamily="2" charset="-122"/>
              </a:rPr>
              <a:t>)</a:t>
            </a:r>
            <a:r>
              <a:rPr lang="zh-CN" altLang="zh-CN" sz="2200">
                <a:solidFill>
                  <a:srgbClr val="0000FF"/>
                </a:solidFill>
                <a:latin typeface="Consolas" panose="020B0609020204030204" pitchFamily="49" charset="0"/>
                <a:ea typeface="华文中宋" panose="02010600040101010101" pitchFamily="2" charset="-122"/>
              </a:rPr>
              <a:t>的值存放在</a:t>
            </a:r>
            <a:r>
              <a:rPr lang="en-US" altLang="zh-CN" sz="2200">
                <a:solidFill>
                  <a:srgbClr val="0000FF"/>
                </a:solidFill>
                <a:latin typeface="Consolas" panose="020B0609020204030204" pitchFamily="49" charset="0"/>
                <a:ea typeface="华文中宋" panose="02010600040101010101" pitchFamily="2" charset="-122"/>
              </a:rPr>
              <a:t>dp[(</a:t>
            </a:r>
            <a:r>
              <a:rPr lang="en-US" altLang="zh-CN" sz="2200" i="1">
                <a:solidFill>
                  <a:srgbClr val="0000FF"/>
                </a:solidFill>
                <a:latin typeface="Consolas" panose="020B0609020204030204" pitchFamily="49" charset="0"/>
                <a:ea typeface="华文中宋" panose="02010600040101010101" pitchFamily="2" charset="-122"/>
              </a:rPr>
              <a:t>i</a:t>
            </a:r>
            <a:r>
              <a:rPr lang="en-US" altLang="zh-CN" sz="2200">
                <a:solidFill>
                  <a:srgbClr val="0000FF"/>
                </a:solidFill>
                <a:latin typeface="Consolas" panose="020B0609020204030204" pitchFamily="49" charset="0"/>
                <a:ea typeface="华文中宋" panose="02010600040101010101" pitchFamily="2" charset="-122"/>
              </a:rPr>
              <a:t>-1)%3]</a:t>
            </a:r>
            <a:r>
              <a:rPr lang="zh-CN" altLang="zh-CN" sz="2200">
                <a:solidFill>
                  <a:srgbClr val="0000FF"/>
                </a:solidFill>
                <a:latin typeface="Consolas" panose="020B0609020204030204" pitchFamily="49" charset="0"/>
                <a:ea typeface="华文中宋" panose="02010600040101010101" pitchFamily="2" charset="-122"/>
              </a:rPr>
              <a:t>中</a:t>
            </a:r>
            <a:endParaRPr lang="zh-CN" altLang="en-US" sz="220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857232"/>
            <a:ext cx="8215370"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动态规划算法中动态规划数组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用于存放子问题解，一般是存放连续的解</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en-US">
                <a:solidFill>
                  <a:srgbClr val="0000FF"/>
                </a:solidFill>
                <a:latin typeface="Consolas" panose="020B0609020204030204" pitchFamily="49" charset="0"/>
                <a:ea typeface="仿宋" panose="02010609060101010101" pitchFamily="49" charset="-122"/>
              </a:rPr>
              <a:t>可以</a:t>
            </a:r>
            <a:r>
              <a:rPr lang="zh-CN" altLang="zh-CN">
                <a:solidFill>
                  <a:srgbClr val="0000FF"/>
                </a:solidFill>
                <a:latin typeface="Consolas" panose="020B0609020204030204" pitchFamily="49" charset="0"/>
                <a:ea typeface="仿宋" panose="02010609060101010101" pitchFamily="49" charset="-122"/>
              </a:rPr>
              <a:t>对</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的下标进行特殊处理，使每次操作仅保留若干有用信息，新的元素不断循环刷新，这样数组的空间被滚动地利用，称为</a:t>
            </a:r>
            <a:r>
              <a:rPr lang="zh-CN" altLang="zh-CN">
                <a:solidFill>
                  <a:srgbClr val="FF0000"/>
                </a:solidFill>
                <a:latin typeface="楷体" panose="02010609060101010101" pitchFamily="49" charset="-122"/>
                <a:ea typeface="楷体" panose="02010609060101010101" pitchFamily="49" charset="-122"/>
              </a:rPr>
              <a:t>滚动数组</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42852"/>
            <a:ext cx="385765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7.1.2 </a:t>
            </a:r>
            <a:r>
              <a:rPr lang="zh-CN" altLang="en-US"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动态规划原理</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14282" y="1714488"/>
            <a:ext cx="8643998" cy="209041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一个多段图</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处有一水库，现需要从顶点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铺设一条管道到顶点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，边上的数字表示对应两个顶点之间的距离，该图采用邻接矩阵</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现要找出一条从顶点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的线路，使得铺设的</a:t>
            </a:r>
            <a:r>
              <a:rPr lang="zh-CN" altLang="zh-CN">
                <a:solidFill>
                  <a:srgbClr val="FF00FF"/>
                </a:solidFill>
                <a:latin typeface="Consolas" panose="020B0609020204030204" pitchFamily="49" charset="0"/>
                <a:ea typeface="仿宋" panose="02010609060101010101" pitchFamily="49" charset="-122"/>
                <a:cs typeface="Consolas" panose="020B0609020204030204" pitchFamily="49" charset="0"/>
              </a:rPr>
              <a:t>管道长度最短</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005" name="Rectangle 6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73" name="组合 72"/>
          <p:cNvGrpSpPr/>
          <p:nvPr/>
        </p:nvGrpSpPr>
        <p:grpSpPr>
          <a:xfrm>
            <a:off x="1000100" y="4071942"/>
            <a:ext cx="6543846" cy="2279009"/>
            <a:chOff x="1167182" y="3579671"/>
            <a:chExt cx="6543846" cy="2279009"/>
          </a:xfrm>
        </p:grpSpPr>
        <p:sp>
          <p:nvSpPr>
            <p:cNvPr id="40003" name="Text Box 67"/>
            <p:cNvSpPr txBox="1">
              <a:spLocks noChangeArrowheads="1"/>
            </p:cNvSpPr>
            <p:nvPr/>
          </p:nvSpPr>
          <p:spPr bwMode="auto">
            <a:xfrm>
              <a:off x="2595391" y="418082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0002" name="Text Box 66"/>
            <p:cNvSpPr txBox="1">
              <a:spLocks noChangeArrowheads="1"/>
            </p:cNvSpPr>
            <p:nvPr/>
          </p:nvSpPr>
          <p:spPr bwMode="auto">
            <a:xfrm>
              <a:off x="2871948" y="5635395"/>
              <a:ext cx="275221"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0001" name="Text Box 65"/>
            <p:cNvSpPr txBox="1">
              <a:spLocks noChangeArrowheads="1"/>
            </p:cNvSpPr>
            <p:nvPr/>
          </p:nvSpPr>
          <p:spPr bwMode="auto">
            <a:xfrm>
              <a:off x="4700966" y="5095432"/>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0000" name="Text Box 64"/>
            <p:cNvSpPr txBox="1">
              <a:spLocks noChangeArrowheads="1"/>
            </p:cNvSpPr>
            <p:nvPr/>
          </p:nvSpPr>
          <p:spPr bwMode="auto">
            <a:xfrm>
              <a:off x="2646160" y="4891470"/>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9" name="Text Box 63"/>
            <p:cNvSpPr txBox="1">
              <a:spLocks noChangeArrowheads="1"/>
            </p:cNvSpPr>
            <p:nvPr/>
          </p:nvSpPr>
          <p:spPr bwMode="auto">
            <a:xfrm>
              <a:off x="3709636" y="3859851"/>
              <a:ext cx="276557" cy="2211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8" name="Text Box 62"/>
            <p:cNvSpPr txBox="1">
              <a:spLocks noChangeArrowheads="1"/>
            </p:cNvSpPr>
            <p:nvPr/>
          </p:nvSpPr>
          <p:spPr bwMode="auto">
            <a:xfrm>
              <a:off x="4926754" y="36269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7" name="Text Box 61"/>
            <p:cNvSpPr txBox="1">
              <a:spLocks noChangeArrowheads="1"/>
            </p:cNvSpPr>
            <p:nvPr/>
          </p:nvSpPr>
          <p:spPr bwMode="auto">
            <a:xfrm>
              <a:off x="5008251" y="39994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6" name="Text Box 60"/>
            <p:cNvSpPr txBox="1">
              <a:spLocks noChangeArrowheads="1"/>
            </p:cNvSpPr>
            <p:nvPr/>
          </p:nvSpPr>
          <p:spPr bwMode="auto">
            <a:xfrm>
              <a:off x="5025620" y="554200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5" name="Text Box 59"/>
            <p:cNvSpPr txBox="1">
              <a:spLocks noChangeArrowheads="1"/>
            </p:cNvSpPr>
            <p:nvPr/>
          </p:nvSpPr>
          <p:spPr bwMode="auto">
            <a:xfrm>
              <a:off x="4691613" y="4267775"/>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4" name="Text Box 58"/>
            <p:cNvSpPr txBox="1">
              <a:spLocks noChangeArrowheads="1"/>
            </p:cNvSpPr>
            <p:nvPr/>
          </p:nvSpPr>
          <p:spPr bwMode="auto">
            <a:xfrm>
              <a:off x="4863961" y="4629539"/>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3" name="Text Box 57"/>
            <p:cNvSpPr txBox="1">
              <a:spLocks noChangeArrowheads="1"/>
            </p:cNvSpPr>
            <p:nvPr/>
          </p:nvSpPr>
          <p:spPr bwMode="auto">
            <a:xfrm>
              <a:off x="7001599" y="420229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2" name="Text Box 56"/>
            <p:cNvSpPr txBox="1">
              <a:spLocks noChangeArrowheads="1"/>
            </p:cNvSpPr>
            <p:nvPr/>
          </p:nvSpPr>
          <p:spPr bwMode="auto">
            <a:xfrm>
              <a:off x="6946822" y="4952658"/>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1" name="Text Box 55"/>
            <p:cNvSpPr txBox="1">
              <a:spLocks noChangeArrowheads="1"/>
            </p:cNvSpPr>
            <p:nvPr/>
          </p:nvSpPr>
          <p:spPr bwMode="auto">
            <a:xfrm>
              <a:off x="3211299" y="357967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90" name="Text Box 54"/>
            <p:cNvSpPr txBox="1">
              <a:spLocks noChangeArrowheads="1"/>
            </p:cNvSpPr>
            <p:nvPr/>
          </p:nvSpPr>
          <p:spPr bwMode="auto">
            <a:xfrm>
              <a:off x="1636126" y="4474957"/>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9" name="Text Box 53"/>
            <p:cNvSpPr txBox="1">
              <a:spLocks noChangeArrowheads="1"/>
            </p:cNvSpPr>
            <p:nvPr/>
          </p:nvSpPr>
          <p:spPr bwMode="auto">
            <a:xfrm>
              <a:off x="1633454" y="4016579"/>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8" name="Text Box 52"/>
            <p:cNvSpPr txBox="1">
              <a:spLocks noChangeArrowheads="1"/>
            </p:cNvSpPr>
            <p:nvPr/>
          </p:nvSpPr>
          <p:spPr bwMode="auto">
            <a:xfrm>
              <a:off x="1665519" y="519741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7" name="Text Box 51"/>
            <p:cNvSpPr txBox="1">
              <a:spLocks noChangeArrowheads="1"/>
            </p:cNvSpPr>
            <p:nvPr/>
          </p:nvSpPr>
          <p:spPr bwMode="auto">
            <a:xfrm>
              <a:off x="2663529" y="516306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6" name="Text Box 50"/>
            <p:cNvSpPr txBox="1">
              <a:spLocks noChangeArrowheads="1"/>
            </p:cNvSpPr>
            <p:nvPr/>
          </p:nvSpPr>
          <p:spPr bwMode="auto">
            <a:xfrm>
              <a:off x="3220651" y="5304761"/>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5" name="Text Box 49"/>
            <p:cNvSpPr txBox="1">
              <a:spLocks noChangeArrowheads="1"/>
            </p:cNvSpPr>
            <p:nvPr/>
          </p:nvSpPr>
          <p:spPr bwMode="auto">
            <a:xfrm>
              <a:off x="3152514" y="390386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4" name="Text Box 48"/>
            <p:cNvSpPr txBox="1">
              <a:spLocks noChangeArrowheads="1"/>
            </p:cNvSpPr>
            <p:nvPr/>
          </p:nvSpPr>
          <p:spPr bwMode="auto">
            <a:xfrm>
              <a:off x="2946766" y="4474957"/>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3" name="Oval 47"/>
            <p:cNvSpPr>
              <a:spLocks noChangeArrowheads="1"/>
            </p:cNvSpPr>
            <p:nvPr/>
          </p:nvSpPr>
          <p:spPr bwMode="auto">
            <a:xfrm>
              <a:off x="1167182"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2" name="Oval 46"/>
            <p:cNvSpPr>
              <a:spLocks noChangeArrowheads="1"/>
            </p:cNvSpPr>
            <p:nvPr/>
          </p:nvSpPr>
          <p:spPr bwMode="auto">
            <a:xfrm>
              <a:off x="2344219"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1" name="Oval 45"/>
            <p:cNvSpPr>
              <a:spLocks noChangeArrowheads="1"/>
            </p:cNvSpPr>
            <p:nvPr/>
          </p:nvSpPr>
          <p:spPr bwMode="auto">
            <a:xfrm>
              <a:off x="2364259"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80" name="Oval 44"/>
            <p:cNvSpPr>
              <a:spLocks noChangeArrowheads="1"/>
            </p:cNvSpPr>
            <p:nvPr/>
          </p:nvSpPr>
          <p:spPr bwMode="auto">
            <a:xfrm>
              <a:off x="2364259"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9" name="Oval 43"/>
            <p:cNvSpPr>
              <a:spLocks noChangeArrowheads="1"/>
            </p:cNvSpPr>
            <p:nvPr/>
          </p:nvSpPr>
          <p:spPr bwMode="auto">
            <a:xfrm>
              <a:off x="4305502"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8" name="Oval 42"/>
            <p:cNvSpPr>
              <a:spLocks noChangeArrowheads="1"/>
            </p:cNvSpPr>
            <p:nvPr/>
          </p:nvSpPr>
          <p:spPr bwMode="auto">
            <a:xfrm>
              <a:off x="4325543"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7" name="Oval 41"/>
            <p:cNvSpPr>
              <a:spLocks noChangeArrowheads="1"/>
            </p:cNvSpPr>
            <p:nvPr/>
          </p:nvSpPr>
          <p:spPr bwMode="auto">
            <a:xfrm>
              <a:off x="4325543"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6" name="Oval 40"/>
            <p:cNvSpPr>
              <a:spLocks noChangeArrowheads="1"/>
            </p:cNvSpPr>
            <p:nvPr/>
          </p:nvSpPr>
          <p:spPr bwMode="auto">
            <a:xfrm>
              <a:off x="6183952" y="4010138"/>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a:p>
              <a:pPr marL="0" marR="0" lvl="0" indent="0" algn="l" defTabSz="914400" rtl="0" eaLnBrk="0" fontAlgn="base" latinLnBrk="0" hangingPunct="0">
                <a:lnSpc>
                  <a:spcPts val="20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5" name="Oval 39"/>
            <p:cNvSpPr>
              <a:spLocks noChangeArrowheads="1"/>
            </p:cNvSpPr>
            <p:nvPr/>
          </p:nvSpPr>
          <p:spPr bwMode="auto">
            <a:xfrm>
              <a:off x="6203993" y="4981642"/>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74" name="Oval 38"/>
            <p:cNvSpPr>
              <a:spLocks noChangeArrowheads="1"/>
            </p:cNvSpPr>
            <p:nvPr/>
          </p:nvSpPr>
          <p:spPr bwMode="auto">
            <a:xfrm>
              <a:off x="7332933"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967" name="AutoShape 31"/>
            <p:cNvSpPr>
              <a:spLocks noChangeShapeType="1"/>
            </p:cNvSpPr>
            <p:nvPr/>
          </p:nvSpPr>
          <p:spPr bwMode="auto">
            <a:xfrm flipV="1">
              <a:off x="1490499" y="3811544"/>
              <a:ext cx="853719" cy="78901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5" name="AutoShape 29"/>
            <p:cNvSpPr>
              <a:spLocks noChangeShapeType="1"/>
            </p:cNvSpPr>
            <p:nvPr/>
          </p:nvSpPr>
          <p:spPr bwMode="auto">
            <a:xfrm>
              <a:off x="1545276" y="4713271"/>
              <a:ext cx="818983"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4" name="AutoShape 28"/>
            <p:cNvSpPr>
              <a:spLocks noChangeShapeType="1"/>
            </p:cNvSpPr>
            <p:nvPr/>
          </p:nvSpPr>
          <p:spPr bwMode="auto">
            <a:xfrm>
              <a:off x="1490499" y="4825987"/>
              <a:ext cx="873760" cy="80404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3" name="AutoShape 27"/>
            <p:cNvSpPr>
              <a:spLocks noChangeShapeType="1"/>
            </p:cNvSpPr>
            <p:nvPr/>
          </p:nvSpPr>
          <p:spPr bwMode="auto">
            <a:xfrm>
              <a:off x="2722314" y="3811544"/>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2" name="AutoShape 26"/>
            <p:cNvSpPr>
              <a:spLocks noChangeShapeType="1"/>
            </p:cNvSpPr>
            <p:nvPr/>
          </p:nvSpPr>
          <p:spPr bwMode="auto">
            <a:xfrm>
              <a:off x="2679561" y="3904937"/>
              <a:ext cx="1700759" cy="695618"/>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1" name="AutoShape 25"/>
            <p:cNvSpPr>
              <a:spLocks noChangeShapeType="1"/>
            </p:cNvSpPr>
            <p:nvPr/>
          </p:nvSpPr>
          <p:spPr bwMode="auto">
            <a:xfrm>
              <a:off x="2742354" y="4713271"/>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60" name="AutoShape 24"/>
            <p:cNvSpPr>
              <a:spLocks noChangeShapeType="1"/>
            </p:cNvSpPr>
            <p:nvPr/>
          </p:nvSpPr>
          <p:spPr bwMode="auto">
            <a:xfrm flipV="1">
              <a:off x="2687577" y="3898496"/>
              <a:ext cx="1641974" cy="702059"/>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9" name="AutoShape 23"/>
            <p:cNvSpPr>
              <a:spLocks noChangeShapeType="1"/>
            </p:cNvSpPr>
            <p:nvPr/>
          </p:nvSpPr>
          <p:spPr bwMode="auto">
            <a:xfrm>
              <a:off x="2687577" y="4825987"/>
              <a:ext cx="1620597" cy="74607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8" name="AutoShape 22"/>
            <p:cNvSpPr>
              <a:spLocks noChangeShapeType="1"/>
            </p:cNvSpPr>
            <p:nvPr/>
          </p:nvSpPr>
          <p:spPr bwMode="auto">
            <a:xfrm>
              <a:off x="2742354" y="5630027"/>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7" name="AutoShape 21"/>
            <p:cNvSpPr>
              <a:spLocks noChangeShapeType="1"/>
            </p:cNvSpPr>
            <p:nvPr/>
          </p:nvSpPr>
          <p:spPr bwMode="auto">
            <a:xfrm flipV="1">
              <a:off x="2730330" y="4825987"/>
              <a:ext cx="1649990" cy="753587"/>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6" name="AutoShape 20"/>
            <p:cNvSpPr>
              <a:spLocks noChangeShapeType="1"/>
            </p:cNvSpPr>
            <p:nvPr/>
          </p:nvSpPr>
          <p:spPr bwMode="auto">
            <a:xfrm flipV="1">
              <a:off x="2687577" y="3961832"/>
              <a:ext cx="1728815" cy="155548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5" name="AutoShape 19"/>
            <p:cNvSpPr>
              <a:spLocks noChangeShapeType="1"/>
            </p:cNvSpPr>
            <p:nvPr/>
          </p:nvSpPr>
          <p:spPr bwMode="auto">
            <a:xfrm>
              <a:off x="4683597" y="3811544"/>
              <a:ext cx="1555132" cy="244755"/>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4" name="AutoShape 18"/>
            <p:cNvSpPr>
              <a:spLocks noChangeShapeType="1"/>
            </p:cNvSpPr>
            <p:nvPr/>
          </p:nvSpPr>
          <p:spPr bwMode="auto">
            <a:xfrm>
              <a:off x="6562047" y="4169014"/>
              <a:ext cx="825663"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3" name="AutoShape 17"/>
            <p:cNvSpPr>
              <a:spLocks noChangeShapeType="1"/>
            </p:cNvSpPr>
            <p:nvPr/>
          </p:nvSpPr>
          <p:spPr bwMode="auto">
            <a:xfrm flipV="1">
              <a:off x="6582088" y="4825987"/>
              <a:ext cx="805623"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2" name="AutoShape 16"/>
            <p:cNvSpPr>
              <a:spLocks noChangeShapeType="1"/>
            </p:cNvSpPr>
            <p:nvPr/>
          </p:nvSpPr>
          <p:spPr bwMode="auto">
            <a:xfrm>
              <a:off x="4628820" y="3924260"/>
              <a:ext cx="1629950" cy="110354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1" name="AutoShape 15"/>
            <p:cNvSpPr>
              <a:spLocks noChangeShapeType="1"/>
            </p:cNvSpPr>
            <p:nvPr/>
          </p:nvSpPr>
          <p:spPr bwMode="auto">
            <a:xfrm flipV="1">
              <a:off x="4648861" y="4169014"/>
              <a:ext cx="1535092"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50" name="AutoShape 14"/>
            <p:cNvSpPr>
              <a:spLocks noChangeShapeType="1"/>
            </p:cNvSpPr>
            <p:nvPr/>
          </p:nvSpPr>
          <p:spPr bwMode="auto">
            <a:xfrm>
              <a:off x="4648861" y="4825987"/>
              <a:ext cx="1555132"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49" name="AutoShape 13"/>
            <p:cNvSpPr>
              <a:spLocks noChangeShapeType="1"/>
            </p:cNvSpPr>
            <p:nvPr/>
          </p:nvSpPr>
          <p:spPr bwMode="auto">
            <a:xfrm flipV="1">
              <a:off x="4648861" y="4281730"/>
              <a:ext cx="1589869" cy="123558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48" name="AutoShape 12"/>
            <p:cNvSpPr>
              <a:spLocks noChangeShapeType="1"/>
            </p:cNvSpPr>
            <p:nvPr/>
          </p:nvSpPr>
          <p:spPr bwMode="auto">
            <a:xfrm flipV="1">
              <a:off x="4703638" y="5253234"/>
              <a:ext cx="1555132" cy="37679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938" name="AutoShape 2"/>
            <p:cNvSpPr>
              <a:spLocks noChangeShapeType="1"/>
            </p:cNvSpPr>
            <p:nvPr/>
          </p:nvSpPr>
          <p:spPr bwMode="auto">
            <a:xfrm>
              <a:off x="2582031" y="3970420"/>
              <a:ext cx="1798289" cy="154689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grpSp>
      <p:sp>
        <p:nvSpPr>
          <p:cNvPr id="74" name="TextBox 73"/>
          <p:cNvSpPr txBox="1"/>
          <p:nvPr/>
        </p:nvSpPr>
        <p:spPr>
          <a:xfrm>
            <a:off x="285720" y="1000108"/>
            <a:ext cx="3571900"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gn="ctr">
              <a:lnSpc>
                <a:spcPct val="100000"/>
              </a:lnSpc>
            </a:pPr>
            <a:r>
              <a:rPr lang="en-US"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rPr>
              <a:t>1. </a:t>
            </a:r>
            <a:r>
              <a:rPr lang="zh-CN"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rPr>
              <a:t>动态规划的相关概念</a:t>
            </a:r>
            <a:endParaRPr lang="zh-CN"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911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3" name="TextBox 72"/>
          <p:cNvSpPr txBox="1"/>
          <p:nvPr/>
        </p:nvSpPr>
        <p:spPr>
          <a:xfrm>
            <a:off x="214282" y="285728"/>
            <a:ext cx="8572560" cy="160556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个阶段，通常阶段变量用</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表示，这里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。阶段</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可能有多个状态，通常用状态集合</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表示，例如</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状态变量</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中某个状态，如</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可以取</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中的任意值。</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5"/>
          <p:cNvGrpSpPr/>
          <p:nvPr/>
        </p:nvGrpSpPr>
        <p:grpSpPr>
          <a:xfrm>
            <a:off x="785786" y="2571744"/>
            <a:ext cx="7265300" cy="3043330"/>
            <a:chOff x="867912" y="3223274"/>
            <a:chExt cx="7265300" cy="3043330"/>
          </a:xfrm>
        </p:grpSpPr>
        <p:sp>
          <p:nvSpPr>
            <p:cNvPr id="7" name="Text Box 67"/>
            <p:cNvSpPr txBox="1">
              <a:spLocks noChangeArrowheads="1"/>
            </p:cNvSpPr>
            <p:nvPr/>
          </p:nvSpPr>
          <p:spPr bwMode="auto">
            <a:xfrm>
              <a:off x="2595391" y="418082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66"/>
            <p:cNvSpPr txBox="1">
              <a:spLocks noChangeArrowheads="1"/>
            </p:cNvSpPr>
            <p:nvPr/>
          </p:nvSpPr>
          <p:spPr bwMode="auto">
            <a:xfrm>
              <a:off x="2871948" y="5635395"/>
              <a:ext cx="275221"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Text Box 65"/>
            <p:cNvSpPr txBox="1">
              <a:spLocks noChangeArrowheads="1"/>
            </p:cNvSpPr>
            <p:nvPr/>
          </p:nvSpPr>
          <p:spPr bwMode="auto">
            <a:xfrm>
              <a:off x="4700966" y="5095432"/>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Text Box 64"/>
            <p:cNvSpPr txBox="1">
              <a:spLocks noChangeArrowheads="1"/>
            </p:cNvSpPr>
            <p:nvPr/>
          </p:nvSpPr>
          <p:spPr bwMode="auto">
            <a:xfrm>
              <a:off x="2646160" y="4891470"/>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1" name="Text Box 63"/>
            <p:cNvSpPr txBox="1">
              <a:spLocks noChangeArrowheads="1"/>
            </p:cNvSpPr>
            <p:nvPr/>
          </p:nvSpPr>
          <p:spPr bwMode="auto">
            <a:xfrm>
              <a:off x="3709636" y="3859851"/>
              <a:ext cx="276557" cy="2211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2" name="Text Box 62"/>
            <p:cNvSpPr txBox="1">
              <a:spLocks noChangeArrowheads="1"/>
            </p:cNvSpPr>
            <p:nvPr/>
          </p:nvSpPr>
          <p:spPr bwMode="auto">
            <a:xfrm>
              <a:off x="4926754" y="36269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3" name="Text Box 61"/>
            <p:cNvSpPr txBox="1">
              <a:spLocks noChangeArrowheads="1"/>
            </p:cNvSpPr>
            <p:nvPr/>
          </p:nvSpPr>
          <p:spPr bwMode="auto">
            <a:xfrm>
              <a:off x="5008251" y="39994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4" name="Text Box 60"/>
            <p:cNvSpPr txBox="1">
              <a:spLocks noChangeArrowheads="1"/>
            </p:cNvSpPr>
            <p:nvPr/>
          </p:nvSpPr>
          <p:spPr bwMode="auto">
            <a:xfrm>
              <a:off x="5025620" y="554200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Text Box 59"/>
            <p:cNvSpPr txBox="1">
              <a:spLocks noChangeArrowheads="1"/>
            </p:cNvSpPr>
            <p:nvPr/>
          </p:nvSpPr>
          <p:spPr bwMode="auto">
            <a:xfrm>
              <a:off x="4691613" y="4267775"/>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Text Box 58"/>
            <p:cNvSpPr txBox="1">
              <a:spLocks noChangeArrowheads="1"/>
            </p:cNvSpPr>
            <p:nvPr/>
          </p:nvSpPr>
          <p:spPr bwMode="auto">
            <a:xfrm>
              <a:off x="4863961" y="4629539"/>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7" name="Text Box 57"/>
            <p:cNvSpPr txBox="1">
              <a:spLocks noChangeArrowheads="1"/>
            </p:cNvSpPr>
            <p:nvPr/>
          </p:nvSpPr>
          <p:spPr bwMode="auto">
            <a:xfrm>
              <a:off x="7001599" y="420229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8" name="Text Box 56"/>
            <p:cNvSpPr txBox="1">
              <a:spLocks noChangeArrowheads="1"/>
            </p:cNvSpPr>
            <p:nvPr/>
          </p:nvSpPr>
          <p:spPr bwMode="auto">
            <a:xfrm>
              <a:off x="6946822" y="4952658"/>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9" name="Text Box 55"/>
            <p:cNvSpPr txBox="1">
              <a:spLocks noChangeArrowheads="1"/>
            </p:cNvSpPr>
            <p:nvPr/>
          </p:nvSpPr>
          <p:spPr bwMode="auto">
            <a:xfrm>
              <a:off x="3211299" y="357967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0" name="Text Box 54"/>
            <p:cNvSpPr txBox="1">
              <a:spLocks noChangeArrowheads="1"/>
            </p:cNvSpPr>
            <p:nvPr/>
          </p:nvSpPr>
          <p:spPr bwMode="auto">
            <a:xfrm>
              <a:off x="1636126" y="4474957"/>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1" name="Text Box 53"/>
            <p:cNvSpPr txBox="1">
              <a:spLocks noChangeArrowheads="1"/>
            </p:cNvSpPr>
            <p:nvPr/>
          </p:nvSpPr>
          <p:spPr bwMode="auto">
            <a:xfrm>
              <a:off x="1633454" y="4016579"/>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2" name="Text Box 52"/>
            <p:cNvSpPr txBox="1">
              <a:spLocks noChangeArrowheads="1"/>
            </p:cNvSpPr>
            <p:nvPr/>
          </p:nvSpPr>
          <p:spPr bwMode="auto">
            <a:xfrm>
              <a:off x="1665519" y="519741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3" name="Text Box 51"/>
            <p:cNvSpPr txBox="1">
              <a:spLocks noChangeArrowheads="1"/>
            </p:cNvSpPr>
            <p:nvPr/>
          </p:nvSpPr>
          <p:spPr bwMode="auto">
            <a:xfrm>
              <a:off x="2663529" y="516306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4" name="Text Box 50"/>
            <p:cNvSpPr txBox="1">
              <a:spLocks noChangeArrowheads="1"/>
            </p:cNvSpPr>
            <p:nvPr/>
          </p:nvSpPr>
          <p:spPr bwMode="auto">
            <a:xfrm>
              <a:off x="3220651" y="5304761"/>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5" name="Text Box 49"/>
            <p:cNvSpPr txBox="1">
              <a:spLocks noChangeArrowheads="1"/>
            </p:cNvSpPr>
            <p:nvPr/>
          </p:nvSpPr>
          <p:spPr bwMode="auto">
            <a:xfrm>
              <a:off x="3152514" y="390386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6" name="Text Box 48"/>
            <p:cNvSpPr txBox="1">
              <a:spLocks noChangeArrowheads="1"/>
            </p:cNvSpPr>
            <p:nvPr/>
          </p:nvSpPr>
          <p:spPr bwMode="auto">
            <a:xfrm>
              <a:off x="2946766" y="4474957"/>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7" name="Oval 47"/>
            <p:cNvSpPr>
              <a:spLocks noChangeArrowheads="1"/>
            </p:cNvSpPr>
            <p:nvPr/>
          </p:nvSpPr>
          <p:spPr bwMode="auto">
            <a:xfrm>
              <a:off x="1167182"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8" name="Oval 46"/>
            <p:cNvSpPr>
              <a:spLocks noChangeArrowheads="1"/>
            </p:cNvSpPr>
            <p:nvPr/>
          </p:nvSpPr>
          <p:spPr bwMode="auto">
            <a:xfrm>
              <a:off x="2344219"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9" name="Oval 45"/>
            <p:cNvSpPr>
              <a:spLocks noChangeArrowheads="1"/>
            </p:cNvSpPr>
            <p:nvPr/>
          </p:nvSpPr>
          <p:spPr bwMode="auto">
            <a:xfrm>
              <a:off x="2364259"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0" name="Oval 44"/>
            <p:cNvSpPr>
              <a:spLocks noChangeArrowheads="1"/>
            </p:cNvSpPr>
            <p:nvPr/>
          </p:nvSpPr>
          <p:spPr bwMode="auto">
            <a:xfrm>
              <a:off x="2364259"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1" name="Oval 43"/>
            <p:cNvSpPr>
              <a:spLocks noChangeArrowheads="1"/>
            </p:cNvSpPr>
            <p:nvPr/>
          </p:nvSpPr>
          <p:spPr bwMode="auto">
            <a:xfrm>
              <a:off x="4305502"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2" name="Oval 42"/>
            <p:cNvSpPr>
              <a:spLocks noChangeArrowheads="1"/>
            </p:cNvSpPr>
            <p:nvPr/>
          </p:nvSpPr>
          <p:spPr bwMode="auto">
            <a:xfrm>
              <a:off x="4325543"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3" name="Oval 41"/>
            <p:cNvSpPr>
              <a:spLocks noChangeArrowheads="1"/>
            </p:cNvSpPr>
            <p:nvPr/>
          </p:nvSpPr>
          <p:spPr bwMode="auto">
            <a:xfrm>
              <a:off x="4325543"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4" name="Oval 40"/>
            <p:cNvSpPr>
              <a:spLocks noChangeArrowheads="1"/>
            </p:cNvSpPr>
            <p:nvPr/>
          </p:nvSpPr>
          <p:spPr bwMode="auto">
            <a:xfrm>
              <a:off x="6183952" y="4010138"/>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a:p>
              <a:pPr marL="0" marR="0" lvl="0" indent="0" algn="l" defTabSz="914400" rtl="0" eaLnBrk="0" fontAlgn="base" latinLnBrk="0" hangingPunct="0">
                <a:lnSpc>
                  <a:spcPts val="20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5" name="Oval 39"/>
            <p:cNvSpPr>
              <a:spLocks noChangeArrowheads="1"/>
            </p:cNvSpPr>
            <p:nvPr/>
          </p:nvSpPr>
          <p:spPr bwMode="auto">
            <a:xfrm>
              <a:off x="6203993" y="4981642"/>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6" name="Oval 38"/>
            <p:cNvSpPr>
              <a:spLocks noChangeArrowheads="1"/>
            </p:cNvSpPr>
            <p:nvPr/>
          </p:nvSpPr>
          <p:spPr bwMode="auto">
            <a:xfrm>
              <a:off x="7332933"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7" name="Line 37"/>
            <p:cNvSpPr>
              <a:spLocks noChangeShapeType="1"/>
            </p:cNvSpPr>
            <p:nvPr/>
          </p:nvSpPr>
          <p:spPr bwMode="auto">
            <a:xfrm>
              <a:off x="1979484" y="3223274"/>
              <a:ext cx="2672"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8" name="Line 36"/>
            <p:cNvSpPr>
              <a:spLocks noChangeShapeType="1"/>
            </p:cNvSpPr>
            <p:nvPr/>
          </p:nvSpPr>
          <p:spPr bwMode="auto">
            <a:xfrm>
              <a:off x="3614778"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39" name="Line 35"/>
            <p:cNvSpPr>
              <a:spLocks noChangeShapeType="1"/>
            </p:cNvSpPr>
            <p:nvPr/>
          </p:nvSpPr>
          <p:spPr bwMode="auto">
            <a:xfrm>
              <a:off x="5533309"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0" name="Line 34"/>
            <p:cNvSpPr>
              <a:spLocks noChangeShapeType="1"/>
            </p:cNvSpPr>
            <p:nvPr/>
          </p:nvSpPr>
          <p:spPr bwMode="auto">
            <a:xfrm>
              <a:off x="6953502"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1" name="Line 33"/>
            <p:cNvSpPr>
              <a:spLocks noChangeShapeType="1"/>
            </p:cNvSpPr>
            <p:nvPr/>
          </p:nvSpPr>
          <p:spPr bwMode="auto">
            <a:xfrm>
              <a:off x="8131876"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2" name="Text Box 32"/>
            <p:cNvSpPr txBox="1">
              <a:spLocks noChangeArrowheads="1"/>
            </p:cNvSpPr>
            <p:nvPr/>
          </p:nvSpPr>
          <p:spPr bwMode="auto">
            <a:xfrm>
              <a:off x="1061636"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3" name="AutoShape 31"/>
            <p:cNvSpPr>
              <a:spLocks noChangeShapeType="1"/>
            </p:cNvSpPr>
            <p:nvPr/>
          </p:nvSpPr>
          <p:spPr bwMode="auto">
            <a:xfrm flipV="1">
              <a:off x="1490499" y="3811544"/>
              <a:ext cx="853719" cy="78901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4" name="Line 30"/>
            <p:cNvSpPr>
              <a:spLocks noChangeShapeType="1"/>
            </p:cNvSpPr>
            <p:nvPr/>
          </p:nvSpPr>
          <p:spPr bwMode="auto">
            <a:xfrm>
              <a:off x="867912" y="3223274"/>
              <a:ext cx="2672"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5" name="AutoShape 29"/>
            <p:cNvSpPr>
              <a:spLocks noChangeShapeType="1"/>
            </p:cNvSpPr>
            <p:nvPr/>
          </p:nvSpPr>
          <p:spPr bwMode="auto">
            <a:xfrm>
              <a:off x="1545276" y="4713271"/>
              <a:ext cx="818983"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6" name="AutoShape 28"/>
            <p:cNvSpPr>
              <a:spLocks noChangeShapeType="1"/>
            </p:cNvSpPr>
            <p:nvPr/>
          </p:nvSpPr>
          <p:spPr bwMode="auto">
            <a:xfrm>
              <a:off x="1490499" y="4825987"/>
              <a:ext cx="873760" cy="80404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7" name="AutoShape 27"/>
            <p:cNvSpPr>
              <a:spLocks noChangeShapeType="1"/>
            </p:cNvSpPr>
            <p:nvPr/>
          </p:nvSpPr>
          <p:spPr bwMode="auto">
            <a:xfrm>
              <a:off x="2722314" y="3811544"/>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8" name="AutoShape 26"/>
            <p:cNvSpPr>
              <a:spLocks noChangeShapeType="1"/>
            </p:cNvSpPr>
            <p:nvPr/>
          </p:nvSpPr>
          <p:spPr bwMode="auto">
            <a:xfrm>
              <a:off x="2679561" y="3904937"/>
              <a:ext cx="1700759" cy="695618"/>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9" name="AutoShape 25"/>
            <p:cNvSpPr>
              <a:spLocks noChangeShapeType="1"/>
            </p:cNvSpPr>
            <p:nvPr/>
          </p:nvSpPr>
          <p:spPr bwMode="auto">
            <a:xfrm>
              <a:off x="2742354" y="4713271"/>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0" name="AutoShape 24"/>
            <p:cNvSpPr>
              <a:spLocks noChangeShapeType="1"/>
            </p:cNvSpPr>
            <p:nvPr/>
          </p:nvSpPr>
          <p:spPr bwMode="auto">
            <a:xfrm flipV="1">
              <a:off x="2687577" y="3898496"/>
              <a:ext cx="1641974" cy="702059"/>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1" name="AutoShape 23"/>
            <p:cNvSpPr>
              <a:spLocks noChangeShapeType="1"/>
            </p:cNvSpPr>
            <p:nvPr/>
          </p:nvSpPr>
          <p:spPr bwMode="auto">
            <a:xfrm>
              <a:off x="2687577" y="4825987"/>
              <a:ext cx="1620597" cy="74607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2" name="AutoShape 22"/>
            <p:cNvSpPr>
              <a:spLocks noChangeShapeType="1"/>
            </p:cNvSpPr>
            <p:nvPr/>
          </p:nvSpPr>
          <p:spPr bwMode="auto">
            <a:xfrm>
              <a:off x="2742354" y="5630027"/>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3" name="AutoShape 21"/>
            <p:cNvSpPr>
              <a:spLocks noChangeShapeType="1"/>
            </p:cNvSpPr>
            <p:nvPr/>
          </p:nvSpPr>
          <p:spPr bwMode="auto">
            <a:xfrm flipV="1">
              <a:off x="2730330" y="4825987"/>
              <a:ext cx="1649990" cy="753587"/>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4" name="AutoShape 20"/>
            <p:cNvSpPr>
              <a:spLocks noChangeShapeType="1"/>
            </p:cNvSpPr>
            <p:nvPr/>
          </p:nvSpPr>
          <p:spPr bwMode="auto">
            <a:xfrm flipV="1">
              <a:off x="2687577" y="3961832"/>
              <a:ext cx="1728815" cy="155548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5" name="AutoShape 19"/>
            <p:cNvSpPr>
              <a:spLocks noChangeShapeType="1"/>
            </p:cNvSpPr>
            <p:nvPr/>
          </p:nvSpPr>
          <p:spPr bwMode="auto">
            <a:xfrm>
              <a:off x="4683597" y="3811544"/>
              <a:ext cx="1555132" cy="244755"/>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6" name="AutoShape 18"/>
            <p:cNvSpPr>
              <a:spLocks noChangeShapeType="1"/>
            </p:cNvSpPr>
            <p:nvPr/>
          </p:nvSpPr>
          <p:spPr bwMode="auto">
            <a:xfrm>
              <a:off x="6562047" y="4169014"/>
              <a:ext cx="825663"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7" name="AutoShape 17"/>
            <p:cNvSpPr>
              <a:spLocks noChangeShapeType="1"/>
            </p:cNvSpPr>
            <p:nvPr/>
          </p:nvSpPr>
          <p:spPr bwMode="auto">
            <a:xfrm flipV="1">
              <a:off x="6582088" y="4825987"/>
              <a:ext cx="805623"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8" name="AutoShape 16"/>
            <p:cNvSpPr>
              <a:spLocks noChangeShapeType="1"/>
            </p:cNvSpPr>
            <p:nvPr/>
          </p:nvSpPr>
          <p:spPr bwMode="auto">
            <a:xfrm>
              <a:off x="4628820" y="3924260"/>
              <a:ext cx="1629950" cy="110354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9" name="AutoShape 15"/>
            <p:cNvSpPr>
              <a:spLocks noChangeShapeType="1"/>
            </p:cNvSpPr>
            <p:nvPr/>
          </p:nvSpPr>
          <p:spPr bwMode="auto">
            <a:xfrm flipV="1">
              <a:off x="4648861" y="4169014"/>
              <a:ext cx="1535092"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0" name="AutoShape 14"/>
            <p:cNvSpPr>
              <a:spLocks noChangeShapeType="1"/>
            </p:cNvSpPr>
            <p:nvPr/>
          </p:nvSpPr>
          <p:spPr bwMode="auto">
            <a:xfrm>
              <a:off x="4648861" y="4825987"/>
              <a:ext cx="1555132"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1" name="AutoShape 13"/>
            <p:cNvSpPr>
              <a:spLocks noChangeShapeType="1"/>
            </p:cNvSpPr>
            <p:nvPr/>
          </p:nvSpPr>
          <p:spPr bwMode="auto">
            <a:xfrm flipV="1">
              <a:off x="4648861" y="4281730"/>
              <a:ext cx="1589869" cy="123558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2" name="AutoShape 12"/>
            <p:cNvSpPr>
              <a:spLocks noChangeShapeType="1"/>
            </p:cNvSpPr>
            <p:nvPr/>
          </p:nvSpPr>
          <p:spPr bwMode="auto">
            <a:xfrm flipV="1">
              <a:off x="4703638" y="5253234"/>
              <a:ext cx="1555132" cy="37679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3" name="Text Box 11"/>
            <p:cNvSpPr txBox="1">
              <a:spLocks noChangeArrowheads="1"/>
            </p:cNvSpPr>
            <p:nvPr/>
          </p:nvSpPr>
          <p:spPr bwMode="auto">
            <a:xfrm>
              <a:off x="2336203"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4" name="Text Box 10"/>
            <p:cNvSpPr txBox="1">
              <a:spLocks noChangeArrowheads="1"/>
            </p:cNvSpPr>
            <p:nvPr/>
          </p:nvSpPr>
          <p:spPr bwMode="auto">
            <a:xfrm>
              <a:off x="4091739"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5" name="Text Box 9"/>
            <p:cNvSpPr txBox="1">
              <a:spLocks noChangeArrowheads="1"/>
            </p:cNvSpPr>
            <p:nvPr/>
          </p:nvSpPr>
          <p:spPr bwMode="auto">
            <a:xfrm>
              <a:off x="5849946" y="5966028"/>
              <a:ext cx="714773"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6" name="Text Box 8"/>
            <p:cNvSpPr txBox="1">
              <a:spLocks noChangeArrowheads="1"/>
            </p:cNvSpPr>
            <p:nvPr/>
          </p:nvSpPr>
          <p:spPr bwMode="auto">
            <a:xfrm>
              <a:off x="7041680"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7" name="Text Box 7"/>
            <p:cNvSpPr txBox="1">
              <a:spLocks noChangeArrowheads="1"/>
            </p:cNvSpPr>
            <p:nvPr/>
          </p:nvSpPr>
          <p:spPr bwMode="auto">
            <a:xfrm>
              <a:off x="1018883" y="3235082"/>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8" name="Text Box 6"/>
            <p:cNvSpPr txBox="1">
              <a:spLocks noChangeArrowheads="1"/>
            </p:cNvSpPr>
            <p:nvPr/>
          </p:nvSpPr>
          <p:spPr bwMode="auto">
            <a:xfrm>
              <a:off x="2125111" y="3235082"/>
              <a:ext cx="1454930"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9" name="Text Box 5"/>
            <p:cNvSpPr txBox="1">
              <a:spLocks noChangeArrowheads="1"/>
            </p:cNvSpPr>
            <p:nvPr/>
          </p:nvSpPr>
          <p:spPr bwMode="auto">
            <a:xfrm>
              <a:off x="3795141" y="3235082"/>
              <a:ext cx="1687399"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0" name="Text Box 4"/>
            <p:cNvSpPr txBox="1">
              <a:spLocks noChangeArrowheads="1"/>
            </p:cNvSpPr>
            <p:nvPr/>
          </p:nvSpPr>
          <p:spPr bwMode="auto">
            <a:xfrm>
              <a:off x="7168602" y="3235082"/>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1" name="Text Box 3"/>
            <p:cNvSpPr txBox="1">
              <a:spLocks noChangeArrowheads="1"/>
            </p:cNvSpPr>
            <p:nvPr/>
          </p:nvSpPr>
          <p:spPr bwMode="auto">
            <a:xfrm>
              <a:off x="5662903" y="3235082"/>
              <a:ext cx="1277239"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2" name="AutoShape 2"/>
            <p:cNvSpPr>
              <a:spLocks noChangeShapeType="1"/>
            </p:cNvSpPr>
            <p:nvPr/>
          </p:nvSpPr>
          <p:spPr bwMode="auto">
            <a:xfrm>
              <a:off x="2582031" y="3970420"/>
              <a:ext cx="1798289" cy="154689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grpSp>
      <p:sp>
        <p:nvSpPr>
          <p:cNvPr id="74" name="灯片编号占位符 7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8501122"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设最优指标函数</a:t>
            </a:r>
            <a:r>
              <a:rPr lang="pt-BR" altLang="zh-CN" i="1">
                <a:solidFill>
                  <a:srgbClr val="0000FF"/>
                </a:solidFill>
                <a:latin typeface="Consolas" panose="020B0609020204030204" pitchFamily="49" charset="0"/>
                <a:ea typeface="仿宋" panose="02010609060101010101" pitchFamily="49" charset="-122"/>
              </a:rPr>
              <a:t>f</a:t>
            </a:r>
            <a:r>
              <a:rPr lang="pt-BR" altLang="zh-CN">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表示状态</a:t>
            </a:r>
            <a:r>
              <a:rPr lang="pt-BR"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到终点</a:t>
            </a:r>
            <a:r>
              <a:rPr lang="pt-BR" altLang="zh-CN">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的最短路径长度，用</a:t>
            </a:r>
            <a:r>
              <a:rPr lang="pt-BR" altLang="zh-CN" i="1">
                <a:solidFill>
                  <a:srgbClr val="0000FF"/>
                </a:solidFill>
                <a:latin typeface="Consolas" panose="020B0609020204030204" pitchFamily="49" charset="0"/>
                <a:ea typeface="仿宋" panose="02010609060101010101" pitchFamily="49" charset="-122"/>
              </a:rPr>
              <a:t>k</a:t>
            </a:r>
            <a:r>
              <a:rPr lang="zh-CN" altLang="zh-CN">
                <a:solidFill>
                  <a:srgbClr val="0000FF"/>
                </a:solidFill>
                <a:latin typeface="Consolas" panose="020B0609020204030204" pitchFamily="49" charset="0"/>
                <a:ea typeface="仿宋" panose="02010609060101010101" pitchFamily="49" charset="-122"/>
              </a:rPr>
              <a:t>表示阶段，对应的状态转移方程如下</a:t>
            </a:r>
            <a:r>
              <a:rPr lang="en-US"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00034" y="1857364"/>
            <a:ext cx="221457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或者简写为：</a:t>
            </a:r>
            <a:endParaRPr lang="zh-CN" altLang="zh-CN">
              <a:solidFill>
                <a:srgbClr val="0000FF"/>
              </a:solidFill>
              <a:latin typeface="Consolas" panose="020B0609020204030204" pitchFamily="49" charset="0"/>
              <a:ea typeface="仿宋" panose="02010609060101010101" pitchFamily="49" charset="-122"/>
            </a:endParaRPr>
          </a:p>
        </p:txBody>
      </p:sp>
      <p:pic>
        <p:nvPicPr>
          <p:cNvPr id="1027" name="Picture 3"/>
          <p:cNvPicPr>
            <a:picLocks noChangeAspect="1" noChangeArrowheads="1"/>
          </p:cNvPicPr>
          <p:nvPr/>
        </p:nvPicPr>
        <p:blipFill>
          <a:blip r:embed="rId1" cstate="print"/>
          <a:srcRect/>
          <a:stretch>
            <a:fillRect/>
          </a:stretch>
        </p:blipFill>
        <p:spPr bwMode="auto">
          <a:xfrm>
            <a:off x="2571736" y="2143116"/>
            <a:ext cx="2981325" cy="895350"/>
          </a:xfrm>
          <a:prstGeom prst="rect">
            <a:avLst/>
          </a:prstGeom>
          <a:noFill/>
          <a:ln w="9525">
            <a:noFill/>
            <a:miter lim="800000"/>
            <a:headEnd/>
            <a:tailEnd/>
          </a:ln>
        </p:spPr>
      </p:pic>
      <p:pic>
        <p:nvPicPr>
          <p:cNvPr id="1028" name="Picture 4"/>
          <p:cNvPicPr>
            <a:picLocks noChangeAspect="1" noChangeArrowheads="1"/>
          </p:cNvPicPr>
          <p:nvPr/>
        </p:nvPicPr>
        <p:blipFill>
          <a:blip r:embed="rId2" cstate="print"/>
          <a:srcRect/>
          <a:stretch>
            <a:fillRect/>
          </a:stretch>
        </p:blipFill>
        <p:spPr bwMode="auto">
          <a:xfrm>
            <a:off x="2452702" y="1142984"/>
            <a:ext cx="4191000" cy="876300"/>
          </a:xfrm>
          <a:prstGeom prst="rect">
            <a:avLst/>
          </a:prstGeom>
          <a:noFill/>
          <a:ln w="9525">
            <a:noFill/>
            <a:miter lim="800000"/>
            <a:headEnd/>
            <a:tailEnd/>
          </a:ln>
        </p:spPr>
      </p:pic>
      <p:grpSp>
        <p:nvGrpSpPr>
          <p:cNvPr id="8" name="组合 7"/>
          <p:cNvGrpSpPr/>
          <p:nvPr/>
        </p:nvGrpSpPr>
        <p:grpSpPr>
          <a:xfrm>
            <a:off x="714348" y="3314628"/>
            <a:ext cx="7265300" cy="3043330"/>
            <a:chOff x="867912" y="3223274"/>
            <a:chExt cx="7265300" cy="3043330"/>
          </a:xfrm>
        </p:grpSpPr>
        <p:sp>
          <p:nvSpPr>
            <p:cNvPr id="9" name="Text Box 67"/>
            <p:cNvSpPr txBox="1">
              <a:spLocks noChangeArrowheads="1"/>
            </p:cNvSpPr>
            <p:nvPr/>
          </p:nvSpPr>
          <p:spPr bwMode="auto">
            <a:xfrm>
              <a:off x="2595391" y="418082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Text Box 66"/>
            <p:cNvSpPr txBox="1">
              <a:spLocks noChangeArrowheads="1"/>
            </p:cNvSpPr>
            <p:nvPr/>
          </p:nvSpPr>
          <p:spPr bwMode="auto">
            <a:xfrm>
              <a:off x="2871948" y="5635395"/>
              <a:ext cx="275221"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1" name="Text Box 65"/>
            <p:cNvSpPr txBox="1">
              <a:spLocks noChangeArrowheads="1"/>
            </p:cNvSpPr>
            <p:nvPr/>
          </p:nvSpPr>
          <p:spPr bwMode="auto">
            <a:xfrm>
              <a:off x="4700966" y="5095432"/>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2" name="Text Box 64"/>
            <p:cNvSpPr txBox="1">
              <a:spLocks noChangeArrowheads="1"/>
            </p:cNvSpPr>
            <p:nvPr/>
          </p:nvSpPr>
          <p:spPr bwMode="auto">
            <a:xfrm>
              <a:off x="2646160" y="4891470"/>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3" name="Text Box 63"/>
            <p:cNvSpPr txBox="1">
              <a:spLocks noChangeArrowheads="1"/>
            </p:cNvSpPr>
            <p:nvPr/>
          </p:nvSpPr>
          <p:spPr bwMode="auto">
            <a:xfrm>
              <a:off x="3709636" y="3859851"/>
              <a:ext cx="276557" cy="2211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4" name="Text Box 62"/>
            <p:cNvSpPr txBox="1">
              <a:spLocks noChangeArrowheads="1"/>
            </p:cNvSpPr>
            <p:nvPr/>
          </p:nvSpPr>
          <p:spPr bwMode="auto">
            <a:xfrm>
              <a:off x="4926754" y="36269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Text Box 61"/>
            <p:cNvSpPr txBox="1">
              <a:spLocks noChangeArrowheads="1"/>
            </p:cNvSpPr>
            <p:nvPr/>
          </p:nvSpPr>
          <p:spPr bwMode="auto">
            <a:xfrm>
              <a:off x="5008251" y="3999404"/>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Text Box 60"/>
            <p:cNvSpPr txBox="1">
              <a:spLocks noChangeArrowheads="1"/>
            </p:cNvSpPr>
            <p:nvPr/>
          </p:nvSpPr>
          <p:spPr bwMode="auto">
            <a:xfrm>
              <a:off x="5025620" y="554200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8" name="Text Box 59"/>
            <p:cNvSpPr txBox="1">
              <a:spLocks noChangeArrowheads="1"/>
            </p:cNvSpPr>
            <p:nvPr/>
          </p:nvSpPr>
          <p:spPr bwMode="auto">
            <a:xfrm>
              <a:off x="4691613" y="4267775"/>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9" name="Text Box 58"/>
            <p:cNvSpPr txBox="1">
              <a:spLocks noChangeArrowheads="1"/>
            </p:cNvSpPr>
            <p:nvPr/>
          </p:nvSpPr>
          <p:spPr bwMode="auto">
            <a:xfrm>
              <a:off x="4863961" y="4629539"/>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0" name="Text Box 57"/>
            <p:cNvSpPr txBox="1">
              <a:spLocks noChangeArrowheads="1"/>
            </p:cNvSpPr>
            <p:nvPr/>
          </p:nvSpPr>
          <p:spPr bwMode="auto">
            <a:xfrm>
              <a:off x="7001599" y="4202292"/>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1" name="Text Box 56"/>
            <p:cNvSpPr txBox="1">
              <a:spLocks noChangeArrowheads="1"/>
            </p:cNvSpPr>
            <p:nvPr/>
          </p:nvSpPr>
          <p:spPr bwMode="auto">
            <a:xfrm>
              <a:off x="6946822" y="4952658"/>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2" name="Text Box 55"/>
            <p:cNvSpPr txBox="1">
              <a:spLocks noChangeArrowheads="1"/>
            </p:cNvSpPr>
            <p:nvPr/>
          </p:nvSpPr>
          <p:spPr bwMode="auto">
            <a:xfrm>
              <a:off x="3211299" y="357967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3" name="Text Box 54"/>
            <p:cNvSpPr txBox="1">
              <a:spLocks noChangeArrowheads="1"/>
            </p:cNvSpPr>
            <p:nvPr/>
          </p:nvSpPr>
          <p:spPr bwMode="auto">
            <a:xfrm>
              <a:off x="1636126" y="4474957"/>
              <a:ext cx="276557" cy="22328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4" name="Text Box 53"/>
            <p:cNvSpPr txBox="1">
              <a:spLocks noChangeArrowheads="1"/>
            </p:cNvSpPr>
            <p:nvPr/>
          </p:nvSpPr>
          <p:spPr bwMode="auto">
            <a:xfrm>
              <a:off x="1633454" y="4016579"/>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5" name="Text Box 52"/>
            <p:cNvSpPr txBox="1">
              <a:spLocks noChangeArrowheads="1"/>
            </p:cNvSpPr>
            <p:nvPr/>
          </p:nvSpPr>
          <p:spPr bwMode="auto">
            <a:xfrm>
              <a:off x="1665519" y="519741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6" name="Text Box 51"/>
            <p:cNvSpPr txBox="1">
              <a:spLocks noChangeArrowheads="1"/>
            </p:cNvSpPr>
            <p:nvPr/>
          </p:nvSpPr>
          <p:spPr bwMode="auto">
            <a:xfrm>
              <a:off x="2663529" y="5163061"/>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7" name="Text Box 50"/>
            <p:cNvSpPr txBox="1">
              <a:spLocks noChangeArrowheads="1"/>
            </p:cNvSpPr>
            <p:nvPr/>
          </p:nvSpPr>
          <p:spPr bwMode="auto">
            <a:xfrm>
              <a:off x="3220651" y="5304761"/>
              <a:ext cx="275221"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8" name="Text Box 49"/>
            <p:cNvSpPr txBox="1">
              <a:spLocks noChangeArrowheads="1"/>
            </p:cNvSpPr>
            <p:nvPr/>
          </p:nvSpPr>
          <p:spPr bwMode="auto">
            <a:xfrm>
              <a:off x="3152514" y="3903863"/>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9" name="Text Box 48"/>
            <p:cNvSpPr txBox="1">
              <a:spLocks noChangeArrowheads="1"/>
            </p:cNvSpPr>
            <p:nvPr/>
          </p:nvSpPr>
          <p:spPr bwMode="auto">
            <a:xfrm>
              <a:off x="2946766" y="4474957"/>
              <a:ext cx="276557"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0" name="Oval 47"/>
            <p:cNvSpPr>
              <a:spLocks noChangeArrowheads="1"/>
            </p:cNvSpPr>
            <p:nvPr/>
          </p:nvSpPr>
          <p:spPr bwMode="auto">
            <a:xfrm>
              <a:off x="1167182"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1" name="Oval 46"/>
            <p:cNvSpPr>
              <a:spLocks noChangeArrowheads="1"/>
            </p:cNvSpPr>
            <p:nvPr/>
          </p:nvSpPr>
          <p:spPr bwMode="auto">
            <a:xfrm>
              <a:off x="2344219"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2" name="Oval 45"/>
            <p:cNvSpPr>
              <a:spLocks noChangeArrowheads="1"/>
            </p:cNvSpPr>
            <p:nvPr/>
          </p:nvSpPr>
          <p:spPr bwMode="auto">
            <a:xfrm>
              <a:off x="2364259"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3" name="Oval 44"/>
            <p:cNvSpPr>
              <a:spLocks noChangeArrowheads="1"/>
            </p:cNvSpPr>
            <p:nvPr/>
          </p:nvSpPr>
          <p:spPr bwMode="auto">
            <a:xfrm>
              <a:off x="2364259"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4" name="Oval 43"/>
            <p:cNvSpPr>
              <a:spLocks noChangeArrowheads="1"/>
            </p:cNvSpPr>
            <p:nvPr/>
          </p:nvSpPr>
          <p:spPr bwMode="auto">
            <a:xfrm>
              <a:off x="4305502" y="3651594"/>
              <a:ext cx="378095" cy="31882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5" name="Oval 42"/>
            <p:cNvSpPr>
              <a:spLocks noChangeArrowheads="1"/>
            </p:cNvSpPr>
            <p:nvPr/>
          </p:nvSpPr>
          <p:spPr bwMode="auto">
            <a:xfrm>
              <a:off x="4325543" y="4554395"/>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6" name="Oval 41"/>
            <p:cNvSpPr>
              <a:spLocks noChangeArrowheads="1"/>
            </p:cNvSpPr>
            <p:nvPr/>
          </p:nvSpPr>
          <p:spPr bwMode="auto">
            <a:xfrm>
              <a:off x="4325543" y="5471152"/>
              <a:ext cx="378095" cy="31667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7" name="Oval 40"/>
            <p:cNvSpPr>
              <a:spLocks noChangeArrowheads="1"/>
            </p:cNvSpPr>
            <p:nvPr/>
          </p:nvSpPr>
          <p:spPr bwMode="auto">
            <a:xfrm>
              <a:off x="6183952" y="4010138"/>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a:p>
              <a:pPr marL="0" marR="0" lvl="0" indent="0" algn="l" defTabSz="914400" rtl="0" eaLnBrk="0" fontAlgn="base" latinLnBrk="0" hangingPunct="0">
                <a:lnSpc>
                  <a:spcPts val="20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8" name="Oval 39"/>
            <p:cNvSpPr>
              <a:spLocks noChangeArrowheads="1"/>
            </p:cNvSpPr>
            <p:nvPr/>
          </p:nvSpPr>
          <p:spPr bwMode="auto">
            <a:xfrm>
              <a:off x="6203993" y="4981642"/>
              <a:ext cx="378095" cy="3177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39" name="Oval 38"/>
            <p:cNvSpPr>
              <a:spLocks noChangeArrowheads="1"/>
            </p:cNvSpPr>
            <p:nvPr/>
          </p:nvSpPr>
          <p:spPr bwMode="auto">
            <a:xfrm>
              <a:off x="7332933" y="4554395"/>
              <a:ext cx="378095" cy="317752"/>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0" name="Line 37"/>
            <p:cNvSpPr>
              <a:spLocks noChangeShapeType="1"/>
            </p:cNvSpPr>
            <p:nvPr/>
          </p:nvSpPr>
          <p:spPr bwMode="auto">
            <a:xfrm>
              <a:off x="1979484" y="3223274"/>
              <a:ext cx="2672"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1" name="Line 36"/>
            <p:cNvSpPr>
              <a:spLocks noChangeShapeType="1"/>
            </p:cNvSpPr>
            <p:nvPr/>
          </p:nvSpPr>
          <p:spPr bwMode="auto">
            <a:xfrm>
              <a:off x="3614778"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2" name="Line 35"/>
            <p:cNvSpPr>
              <a:spLocks noChangeShapeType="1"/>
            </p:cNvSpPr>
            <p:nvPr/>
          </p:nvSpPr>
          <p:spPr bwMode="auto">
            <a:xfrm>
              <a:off x="5533309"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3" name="Line 34"/>
            <p:cNvSpPr>
              <a:spLocks noChangeShapeType="1"/>
            </p:cNvSpPr>
            <p:nvPr/>
          </p:nvSpPr>
          <p:spPr bwMode="auto">
            <a:xfrm>
              <a:off x="6953502"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4" name="Line 33"/>
            <p:cNvSpPr>
              <a:spLocks noChangeShapeType="1"/>
            </p:cNvSpPr>
            <p:nvPr/>
          </p:nvSpPr>
          <p:spPr bwMode="auto">
            <a:xfrm>
              <a:off x="8131876" y="3223274"/>
              <a:ext cx="1336"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5" name="Text Box 32"/>
            <p:cNvSpPr txBox="1">
              <a:spLocks noChangeArrowheads="1"/>
            </p:cNvSpPr>
            <p:nvPr/>
          </p:nvSpPr>
          <p:spPr bwMode="auto">
            <a:xfrm>
              <a:off x="1061636"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46" name="AutoShape 31"/>
            <p:cNvSpPr>
              <a:spLocks noChangeShapeType="1"/>
            </p:cNvSpPr>
            <p:nvPr/>
          </p:nvSpPr>
          <p:spPr bwMode="auto">
            <a:xfrm flipV="1">
              <a:off x="1490499" y="3811544"/>
              <a:ext cx="853719" cy="78901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7" name="Line 30"/>
            <p:cNvSpPr>
              <a:spLocks noChangeShapeType="1"/>
            </p:cNvSpPr>
            <p:nvPr/>
          </p:nvSpPr>
          <p:spPr bwMode="auto">
            <a:xfrm>
              <a:off x="867912" y="3223274"/>
              <a:ext cx="2672" cy="3043330"/>
            </a:xfrm>
            <a:prstGeom prst="line">
              <a:avLst/>
            </a:prstGeom>
            <a:noFill/>
            <a:ln w="19050">
              <a:solidFill>
                <a:srgbClr val="FF00FF"/>
              </a:solidFill>
              <a:prstDash val="dash"/>
              <a:round/>
              <a:tailEnd type="none"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8" name="AutoShape 29"/>
            <p:cNvSpPr>
              <a:spLocks noChangeShapeType="1"/>
            </p:cNvSpPr>
            <p:nvPr/>
          </p:nvSpPr>
          <p:spPr bwMode="auto">
            <a:xfrm>
              <a:off x="1545276" y="4713271"/>
              <a:ext cx="818983"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49" name="AutoShape 28"/>
            <p:cNvSpPr>
              <a:spLocks noChangeShapeType="1"/>
            </p:cNvSpPr>
            <p:nvPr/>
          </p:nvSpPr>
          <p:spPr bwMode="auto">
            <a:xfrm>
              <a:off x="1490499" y="4825987"/>
              <a:ext cx="873760" cy="80404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0" name="AutoShape 27"/>
            <p:cNvSpPr>
              <a:spLocks noChangeShapeType="1"/>
            </p:cNvSpPr>
            <p:nvPr/>
          </p:nvSpPr>
          <p:spPr bwMode="auto">
            <a:xfrm>
              <a:off x="2722314" y="3811544"/>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1" name="AutoShape 26"/>
            <p:cNvSpPr>
              <a:spLocks noChangeShapeType="1"/>
            </p:cNvSpPr>
            <p:nvPr/>
          </p:nvSpPr>
          <p:spPr bwMode="auto">
            <a:xfrm>
              <a:off x="2679561" y="3904937"/>
              <a:ext cx="1700759" cy="695618"/>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2" name="AutoShape 25"/>
            <p:cNvSpPr>
              <a:spLocks noChangeShapeType="1"/>
            </p:cNvSpPr>
            <p:nvPr/>
          </p:nvSpPr>
          <p:spPr bwMode="auto">
            <a:xfrm>
              <a:off x="2742354" y="4713271"/>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3" name="AutoShape 24"/>
            <p:cNvSpPr>
              <a:spLocks noChangeShapeType="1"/>
            </p:cNvSpPr>
            <p:nvPr/>
          </p:nvSpPr>
          <p:spPr bwMode="auto">
            <a:xfrm flipV="1">
              <a:off x="2687577" y="3898496"/>
              <a:ext cx="1641974" cy="702059"/>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4" name="AutoShape 23"/>
            <p:cNvSpPr>
              <a:spLocks noChangeShapeType="1"/>
            </p:cNvSpPr>
            <p:nvPr/>
          </p:nvSpPr>
          <p:spPr bwMode="auto">
            <a:xfrm>
              <a:off x="2687577" y="4825987"/>
              <a:ext cx="1620597" cy="74607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5" name="AutoShape 22"/>
            <p:cNvSpPr>
              <a:spLocks noChangeShapeType="1"/>
            </p:cNvSpPr>
            <p:nvPr/>
          </p:nvSpPr>
          <p:spPr bwMode="auto">
            <a:xfrm>
              <a:off x="2742354" y="5630027"/>
              <a:ext cx="1583189" cy="107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6" name="AutoShape 21"/>
            <p:cNvSpPr>
              <a:spLocks noChangeShapeType="1"/>
            </p:cNvSpPr>
            <p:nvPr/>
          </p:nvSpPr>
          <p:spPr bwMode="auto">
            <a:xfrm flipV="1">
              <a:off x="2730330" y="4825987"/>
              <a:ext cx="1649990" cy="753587"/>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7" name="AutoShape 20"/>
            <p:cNvSpPr>
              <a:spLocks noChangeShapeType="1"/>
            </p:cNvSpPr>
            <p:nvPr/>
          </p:nvSpPr>
          <p:spPr bwMode="auto">
            <a:xfrm flipV="1">
              <a:off x="2687577" y="3961832"/>
              <a:ext cx="1728815" cy="1555480"/>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8" name="AutoShape 19"/>
            <p:cNvSpPr>
              <a:spLocks noChangeShapeType="1"/>
            </p:cNvSpPr>
            <p:nvPr/>
          </p:nvSpPr>
          <p:spPr bwMode="auto">
            <a:xfrm>
              <a:off x="4683597" y="3811544"/>
              <a:ext cx="1555132" cy="244755"/>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59" name="AutoShape 18"/>
            <p:cNvSpPr>
              <a:spLocks noChangeShapeType="1"/>
            </p:cNvSpPr>
            <p:nvPr/>
          </p:nvSpPr>
          <p:spPr bwMode="auto">
            <a:xfrm>
              <a:off x="6562047" y="4169014"/>
              <a:ext cx="825663"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0" name="AutoShape 17"/>
            <p:cNvSpPr>
              <a:spLocks noChangeShapeType="1"/>
            </p:cNvSpPr>
            <p:nvPr/>
          </p:nvSpPr>
          <p:spPr bwMode="auto">
            <a:xfrm flipV="1">
              <a:off x="6582088" y="4825987"/>
              <a:ext cx="805623"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1" name="AutoShape 16"/>
            <p:cNvSpPr>
              <a:spLocks noChangeShapeType="1"/>
            </p:cNvSpPr>
            <p:nvPr/>
          </p:nvSpPr>
          <p:spPr bwMode="auto">
            <a:xfrm>
              <a:off x="4628820" y="3924260"/>
              <a:ext cx="1629950" cy="110354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2" name="AutoShape 15"/>
            <p:cNvSpPr>
              <a:spLocks noChangeShapeType="1"/>
            </p:cNvSpPr>
            <p:nvPr/>
          </p:nvSpPr>
          <p:spPr bwMode="auto">
            <a:xfrm flipV="1">
              <a:off x="4648861" y="4169014"/>
              <a:ext cx="1535092" cy="43154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3" name="AutoShape 14"/>
            <p:cNvSpPr>
              <a:spLocks noChangeShapeType="1"/>
            </p:cNvSpPr>
            <p:nvPr/>
          </p:nvSpPr>
          <p:spPr bwMode="auto">
            <a:xfrm>
              <a:off x="4648861" y="4825987"/>
              <a:ext cx="1555132" cy="31453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4" name="AutoShape 13"/>
            <p:cNvSpPr>
              <a:spLocks noChangeShapeType="1"/>
            </p:cNvSpPr>
            <p:nvPr/>
          </p:nvSpPr>
          <p:spPr bwMode="auto">
            <a:xfrm flipV="1">
              <a:off x="4648861" y="4281730"/>
              <a:ext cx="1589869" cy="1235581"/>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5" name="AutoShape 12"/>
            <p:cNvSpPr>
              <a:spLocks noChangeShapeType="1"/>
            </p:cNvSpPr>
            <p:nvPr/>
          </p:nvSpPr>
          <p:spPr bwMode="auto">
            <a:xfrm flipV="1">
              <a:off x="4703638" y="5253234"/>
              <a:ext cx="1555132" cy="376793"/>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sp>
          <p:nvSpPr>
            <p:cNvPr id="66" name="Text Box 11"/>
            <p:cNvSpPr txBox="1">
              <a:spLocks noChangeArrowheads="1"/>
            </p:cNvSpPr>
            <p:nvPr/>
          </p:nvSpPr>
          <p:spPr bwMode="auto">
            <a:xfrm>
              <a:off x="2336203"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7" name="Text Box 10"/>
            <p:cNvSpPr txBox="1">
              <a:spLocks noChangeArrowheads="1"/>
            </p:cNvSpPr>
            <p:nvPr/>
          </p:nvSpPr>
          <p:spPr bwMode="auto">
            <a:xfrm>
              <a:off x="4091739"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8" name="Text Box 9"/>
            <p:cNvSpPr txBox="1">
              <a:spLocks noChangeArrowheads="1"/>
            </p:cNvSpPr>
            <p:nvPr/>
          </p:nvSpPr>
          <p:spPr bwMode="auto">
            <a:xfrm>
              <a:off x="5849946" y="5966028"/>
              <a:ext cx="714773"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9" name="Text Box 8"/>
            <p:cNvSpPr txBox="1">
              <a:spLocks noChangeArrowheads="1"/>
            </p:cNvSpPr>
            <p:nvPr/>
          </p:nvSpPr>
          <p:spPr bwMode="auto">
            <a:xfrm>
              <a:off x="7041680" y="5966028"/>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0" name="Text Box 7"/>
            <p:cNvSpPr txBox="1">
              <a:spLocks noChangeArrowheads="1"/>
            </p:cNvSpPr>
            <p:nvPr/>
          </p:nvSpPr>
          <p:spPr bwMode="auto">
            <a:xfrm>
              <a:off x="1018883" y="3235082"/>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1" name="Text Box 6"/>
            <p:cNvSpPr txBox="1">
              <a:spLocks noChangeArrowheads="1"/>
            </p:cNvSpPr>
            <p:nvPr/>
          </p:nvSpPr>
          <p:spPr bwMode="auto">
            <a:xfrm>
              <a:off x="2125111" y="3235082"/>
              <a:ext cx="1454930"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2" name="Text Box 5"/>
            <p:cNvSpPr txBox="1">
              <a:spLocks noChangeArrowheads="1"/>
            </p:cNvSpPr>
            <p:nvPr/>
          </p:nvSpPr>
          <p:spPr bwMode="auto">
            <a:xfrm>
              <a:off x="3795141" y="3235082"/>
              <a:ext cx="1687399"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3</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3" name="Text Box 4"/>
            <p:cNvSpPr txBox="1">
              <a:spLocks noChangeArrowheads="1"/>
            </p:cNvSpPr>
            <p:nvPr/>
          </p:nvSpPr>
          <p:spPr bwMode="auto">
            <a:xfrm>
              <a:off x="7168602" y="3235082"/>
              <a:ext cx="790926"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4" name="Text Box 3"/>
            <p:cNvSpPr txBox="1">
              <a:spLocks noChangeArrowheads="1"/>
            </p:cNvSpPr>
            <p:nvPr/>
          </p:nvSpPr>
          <p:spPr bwMode="auto">
            <a:xfrm>
              <a:off x="5662903" y="3235082"/>
              <a:ext cx="1277239" cy="22221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5" name="AutoShape 2"/>
            <p:cNvSpPr>
              <a:spLocks noChangeShapeType="1"/>
            </p:cNvSpPr>
            <p:nvPr/>
          </p:nvSpPr>
          <p:spPr bwMode="auto">
            <a:xfrm>
              <a:off x="2582031" y="3970420"/>
              <a:ext cx="1798289" cy="1546892"/>
            </a:xfrm>
            <a:prstGeom prst="straightConnector1">
              <a:avLst/>
            </a:prstGeom>
            <a:noFill/>
            <a:ln w="9525">
              <a:solidFill>
                <a:srgbClr val="000000"/>
              </a:solidFill>
              <a:round/>
              <a:tailEnd type="stealth" w="sm" len="sm"/>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endParaRPr>
            </a:p>
          </p:txBody>
        </p:sp>
      </p:grpSp>
      <p:sp>
        <p:nvSpPr>
          <p:cNvPr id="76" name="灯片编号占位符 7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Box 70"/>
          <p:cNvSpPr txBox="1"/>
          <p:nvPr/>
        </p:nvSpPr>
        <p:spPr>
          <a:xfrm>
            <a:off x="642910" y="642918"/>
            <a:ext cx="3571900"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gn="ctr">
              <a:lnSpc>
                <a:spcPct val="100000"/>
              </a:lnSpc>
            </a:pPr>
            <a:r>
              <a:rPr lang="pt-BR"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rPr>
              <a:t>2. </a:t>
            </a:r>
            <a:r>
              <a:rPr lang="zh-CN"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rPr>
              <a:t>动态规划问题的解法</a:t>
            </a:r>
            <a:endParaRPr lang="zh-CN" altLang="zh-CN">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2" name="TextBox 71"/>
          <p:cNvSpPr txBox="1"/>
          <p:nvPr/>
        </p:nvSpPr>
        <p:spPr>
          <a:xfrm>
            <a:off x="1000100" y="1714488"/>
            <a:ext cx="4000528" cy="965329"/>
          </a:xfrm>
          <a:prstGeom prst="rect">
            <a:avLst/>
          </a:prstGeom>
          <a:noFill/>
        </p:spPr>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微软雅黑" panose="020B0503020204020204" pitchFamily="34" charset="-122"/>
                <a:cs typeface="Consolas" panose="020B0609020204030204" pitchFamily="49" charset="0"/>
              </a:rPr>
              <a:t>逆序解法</a:t>
            </a:r>
            <a:endParaRPr lang="en-US" altLang="zh-CN">
              <a:solidFill>
                <a:srgbClr val="0000FF"/>
              </a:solidFill>
              <a:latin typeface="Consolas" panose="020B0609020204030204" pitchFamily="49" charset="0"/>
              <a:ea typeface="微软雅黑" panose="020B0503020204020204" pitchFamily="34" charset="-122"/>
              <a:cs typeface="Consolas" panose="020B0609020204030204" pitchFamily="49" charset="0"/>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微软雅黑" panose="020B0503020204020204" pitchFamily="34" charset="-122"/>
                <a:cs typeface="Consolas" panose="020B0609020204030204" pitchFamily="49" charset="0"/>
              </a:rPr>
              <a:t>顺序解法</a:t>
            </a:r>
            <a:endParaRPr lang="zh-CN" altLang="en-US">
              <a:solidFill>
                <a:srgbClr val="0000FF"/>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357166"/>
            <a:ext cx="4714908"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en-US">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pt-BR"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1</a:t>
            </a: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）动态规划问题的逆序解法</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 name="TextBox 2"/>
          <p:cNvSpPr txBox="1"/>
          <p:nvPr/>
        </p:nvSpPr>
        <p:spPr>
          <a:xfrm>
            <a:off x="857224" y="3786190"/>
            <a:ext cx="8001056"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求解</a:t>
            </a:r>
            <a:r>
              <a:rPr lang="pt-BR"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pt-BR"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的过程</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pt-BR" altLang="zh-CN" sz="2000">
                <a:solidFill>
                  <a:srgbClr val="9900FF"/>
                </a:solidFill>
                <a:latin typeface="Consolas" panose="020B0609020204030204" pitchFamily="49" charset="0"/>
                <a:ea typeface="楷体" panose="02010609060101010101" pitchFamily="49" charset="-122"/>
                <a:cs typeface="Consolas" panose="020B0609020204030204" pitchFamily="49" charset="0"/>
              </a:rPr>
              <a:t>next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表示路径上一个顶点的后继顶点</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4" name="组合 3"/>
          <p:cNvGrpSpPr/>
          <p:nvPr/>
        </p:nvGrpSpPr>
        <p:grpSpPr>
          <a:xfrm>
            <a:off x="928661" y="1142984"/>
            <a:ext cx="5126158" cy="2586083"/>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cs typeface="Consolas" panose="020B0609020204030204" pitchFamily="49" charset="0"/>
                </a:rPr>
                <a:t>A</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cs typeface="Consolas" panose="020B0609020204030204" pitchFamily="49" charset="0"/>
                </a:rPr>
                <a:t>E</a:t>
              </a:r>
              <a:endParaRPr lang="zh-CN" altLang="en-US" sz="2000" baseline="-25000">
                <a:solidFill>
                  <a:srgbClr val="0000FF"/>
                </a:solidFill>
                <a:latin typeface="Consolas" panose="020B0609020204030204" pitchFamily="49" charset="0"/>
                <a:cs typeface="Consolas" panose="020B0609020204030204"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9"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2"/>
              <a:ext cx="1001389" cy="48924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7</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6</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5</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6</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6" name="TextBox 45"/>
            <p:cNvSpPr txBox="1"/>
            <p:nvPr/>
          </p:nvSpPr>
          <p:spPr>
            <a:xfrm>
              <a:off x="4441824" y="486651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7" name="TextBox 46"/>
            <p:cNvSpPr txBox="1"/>
            <p:nvPr/>
          </p:nvSpPr>
          <p:spPr>
            <a:xfrm>
              <a:off x="4760914" y="545466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8" name="TextBox 47"/>
            <p:cNvSpPr txBox="1"/>
            <p:nvPr/>
          </p:nvSpPr>
          <p:spPr>
            <a:xfrm>
              <a:off x="6143636" y="455930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9" name="TextBox 48"/>
            <p:cNvSpPr txBox="1"/>
            <p:nvPr/>
          </p:nvSpPr>
          <p:spPr>
            <a:xfrm>
              <a:off x="6215074" y="350043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53" name="TextBox 52"/>
          <p:cNvSpPr txBox="1"/>
          <p:nvPr/>
        </p:nvSpPr>
        <p:spPr>
          <a:xfrm>
            <a:off x="1000100" y="4286256"/>
            <a:ext cx="5643602" cy="2246769"/>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① 第</a:t>
            </a:r>
            <a:r>
              <a:rPr lang="en-US"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5</a:t>
            </a: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(E)=0</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② 第</a:t>
            </a:r>
            <a:r>
              <a:rPr lang="en-US"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)=MIN(c(D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9900FF"/>
                </a:solidFill>
                <a:latin typeface="Consolas" panose="020B0609020204030204" pitchFamily="49" charset="0"/>
                <a:ea typeface="仿宋" panose="02010609060101010101" pitchFamily="49" charset="-122"/>
                <a:cs typeface="Consolas" panose="020B0609020204030204" pitchFamily="49" charset="0"/>
              </a:rPr>
              <a:t>next(D</a:t>
            </a:r>
            <a:r>
              <a:rPr lang="en-US" altLang="zh-CN" sz="2000" baseline="-25000">
                <a:solidFill>
                  <a:srgbClr val="99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9900FF"/>
                </a:solidFill>
                <a:latin typeface="Consolas" panose="020B0609020204030204" pitchFamily="49" charset="0"/>
                <a:ea typeface="仿宋" panose="02010609060101010101" pitchFamily="49" charset="-122"/>
                <a:cs typeface="Consolas" panose="020B0609020204030204" pitchFamily="49" charset="0"/>
              </a:rPr>
              <a:t>)=E</a:t>
            </a:r>
            <a:endParaRPr lang="zh-CN" altLang="zh-CN" sz="2000">
              <a:solidFill>
                <a:srgbClr val="99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)=MIN(c(D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(E))=4</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9900FF"/>
                </a:solidFill>
                <a:latin typeface="Consolas" panose="020B0609020204030204" pitchFamily="49" charset="0"/>
                <a:ea typeface="仿宋" panose="02010609060101010101" pitchFamily="49" charset="-122"/>
                <a:cs typeface="Consolas" panose="020B0609020204030204" pitchFamily="49" charset="0"/>
              </a:rPr>
              <a:t>next(D</a:t>
            </a:r>
            <a:r>
              <a:rPr lang="en-US" altLang="zh-CN" sz="2000" baseline="-25000">
                <a:solidFill>
                  <a:srgbClr val="99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9900FF"/>
                </a:solidFill>
                <a:latin typeface="Consolas" panose="020B0609020204030204" pitchFamily="49" charset="0"/>
                <a:ea typeface="仿宋" panose="02010609060101010101" pitchFamily="49" charset="-122"/>
                <a:cs typeface="Consolas" panose="020B0609020204030204" pitchFamily="49" charset="0"/>
              </a:rPr>
              <a:t>)=E</a:t>
            </a:r>
            <a:endParaRPr lang="zh-CN" altLang="zh-CN" sz="2000">
              <a:solidFill>
                <a:srgbClr val="99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4" name="组合 53"/>
          <p:cNvGrpSpPr/>
          <p:nvPr/>
        </p:nvGrpSpPr>
        <p:grpSpPr>
          <a:xfrm>
            <a:off x="4357686" y="1428737"/>
            <a:ext cx="928694" cy="2471811"/>
            <a:chOff x="500034" y="2428869"/>
            <a:chExt cx="928694" cy="2986771"/>
          </a:xfrm>
        </p:grpSpPr>
        <p:sp>
          <p:nvSpPr>
            <p:cNvPr id="55" name="圆角矩形 54"/>
            <p:cNvSpPr/>
            <p:nvPr/>
          </p:nvSpPr>
          <p:spPr>
            <a:xfrm>
              <a:off x="500034" y="2428869"/>
              <a:ext cx="928694" cy="2503306"/>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714348" y="4932174"/>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sp>
        <p:nvSpPr>
          <p:cNvPr id="57" name="TextBox 56"/>
          <p:cNvSpPr txBox="1"/>
          <p:nvPr/>
        </p:nvSpPr>
        <p:spPr>
          <a:xfrm>
            <a:off x="6215074" y="2643182"/>
            <a:ext cx="2428892" cy="707886"/>
          </a:xfrm>
          <a:prstGeom prst="rect">
            <a:avLst/>
          </a:prstGeom>
          <a:noFill/>
        </p:spPr>
        <p:txBody>
          <a:bodyPr wrap="square" rtlCol="0">
            <a:spAutoFit/>
          </a:bodyPr>
          <a:lstStyle/>
          <a:p>
            <a:pPr algn="l">
              <a:lnSpc>
                <a:spcPct val="100000"/>
              </a:lnSpc>
            </a:pP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到终点</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785786" y="3571876"/>
            <a:ext cx="164307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③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en-US"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pic>
        <p:nvPicPr>
          <p:cNvPr id="280577" name="Picture 1"/>
          <p:cNvPicPr>
            <a:picLocks noChangeAspect="1" noChangeArrowheads="1"/>
          </p:cNvPicPr>
          <p:nvPr/>
        </p:nvPicPr>
        <p:blipFill>
          <a:blip r:embed="rId1" cstate="print"/>
          <a:srcRect/>
          <a:stretch>
            <a:fillRect/>
          </a:stretch>
        </p:blipFill>
        <p:spPr bwMode="auto">
          <a:xfrm>
            <a:off x="1285852" y="4143380"/>
            <a:ext cx="5786478" cy="1710880"/>
          </a:xfrm>
          <a:prstGeom prst="rect">
            <a:avLst/>
          </a:prstGeom>
          <a:noFill/>
          <a:ln w="9525">
            <a:noFill/>
            <a:miter lim="800000"/>
            <a:headEnd/>
            <a:tailEnd/>
          </a:ln>
        </p:spPr>
      </p:pic>
      <p:grpSp>
        <p:nvGrpSpPr>
          <p:cNvPr id="52" name="组合 52"/>
          <p:cNvGrpSpPr/>
          <p:nvPr/>
        </p:nvGrpSpPr>
        <p:grpSpPr>
          <a:xfrm>
            <a:off x="3214678" y="142852"/>
            <a:ext cx="928694" cy="3471943"/>
            <a:chOff x="500034" y="2202647"/>
            <a:chExt cx="928694" cy="4195265"/>
          </a:xfrm>
        </p:grpSpPr>
        <p:sp>
          <p:nvSpPr>
            <p:cNvPr id="54" name="圆角矩形 53"/>
            <p:cNvSpPr/>
            <p:nvPr/>
          </p:nvSpPr>
          <p:spPr>
            <a:xfrm>
              <a:off x="500034" y="2202647"/>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5" name="TextBox 54"/>
            <p:cNvSpPr txBox="1"/>
            <p:nvPr/>
          </p:nvSpPr>
          <p:spPr>
            <a:xfrm>
              <a:off x="642910" y="5914446"/>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=3</a:t>
              </a:r>
              <a:endParaRPr lang="zh-CN" altLang="en-US" sz="2000">
                <a:solidFill>
                  <a:srgbClr val="0000FF"/>
                </a:solidFill>
                <a:latin typeface="Consolas" panose="020B0609020204030204" pitchFamily="49" charset="0"/>
                <a:cs typeface="Consolas" panose="020B0609020204030204" pitchFamily="49" charset="0"/>
              </a:endParaRPr>
            </a:p>
          </p:txBody>
        </p:sp>
      </p:grpSp>
      <p:grpSp>
        <p:nvGrpSpPr>
          <p:cNvPr id="53" name="组合 59"/>
          <p:cNvGrpSpPr/>
          <p:nvPr/>
        </p:nvGrpSpPr>
        <p:grpSpPr>
          <a:xfrm>
            <a:off x="2857488" y="4133855"/>
            <a:ext cx="2214578" cy="1366847"/>
            <a:chOff x="2857488" y="4133855"/>
            <a:chExt cx="2214578" cy="1366847"/>
          </a:xfrm>
        </p:grpSpPr>
        <p:sp>
          <p:nvSpPr>
            <p:cNvPr id="56" name="圆角矩形 55"/>
            <p:cNvSpPr/>
            <p:nvPr/>
          </p:nvSpPr>
          <p:spPr>
            <a:xfrm>
              <a:off x="2857488" y="4133855"/>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2857488" y="4957773"/>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857488" y="5214950"/>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灯片编号占位符 5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05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500034" y="3457518"/>
            <a:ext cx="164307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④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pic>
        <p:nvPicPr>
          <p:cNvPr id="293890" name="Picture 2"/>
          <p:cNvPicPr>
            <a:picLocks noChangeAspect="1" noChangeArrowheads="1"/>
          </p:cNvPicPr>
          <p:nvPr/>
        </p:nvPicPr>
        <p:blipFill>
          <a:blip r:embed="rId1" cstate="print"/>
          <a:srcRect/>
          <a:stretch>
            <a:fillRect/>
          </a:stretch>
        </p:blipFill>
        <p:spPr bwMode="auto">
          <a:xfrm>
            <a:off x="1142976" y="3857628"/>
            <a:ext cx="5286412" cy="2402508"/>
          </a:xfrm>
          <a:prstGeom prst="rect">
            <a:avLst/>
          </a:prstGeom>
          <a:noFill/>
          <a:ln w="9525">
            <a:noFill/>
            <a:miter lim="800000"/>
            <a:headEnd/>
            <a:tailEnd/>
          </a:ln>
        </p:spPr>
      </p:pic>
      <p:grpSp>
        <p:nvGrpSpPr>
          <p:cNvPr id="293888" name="组合 53"/>
          <p:cNvGrpSpPr/>
          <p:nvPr/>
        </p:nvGrpSpPr>
        <p:grpSpPr>
          <a:xfrm>
            <a:off x="1928794" y="214290"/>
            <a:ext cx="928694" cy="3318304"/>
            <a:chOff x="500034" y="2428868"/>
            <a:chExt cx="928694" cy="4009618"/>
          </a:xfrm>
        </p:grpSpPr>
        <p:sp>
          <p:nvSpPr>
            <p:cNvPr id="55" name="圆角矩形 54"/>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0000FF"/>
                  </a:solidFill>
                  <a:latin typeface="Consolas" panose="020B0609020204030204" pitchFamily="49" charset="0"/>
                  <a:cs typeface="Consolas" panose="020B0609020204030204" pitchFamily="49" charset="0"/>
                </a:rPr>
                <a:t>k</a:t>
              </a:r>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grpSp>
        <p:nvGrpSpPr>
          <p:cNvPr id="293889" name="组合 59"/>
          <p:cNvGrpSpPr/>
          <p:nvPr/>
        </p:nvGrpSpPr>
        <p:grpSpPr>
          <a:xfrm>
            <a:off x="2428860" y="4143380"/>
            <a:ext cx="2124090" cy="1785950"/>
            <a:chOff x="2428860" y="4143380"/>
            <a:chExt cx="2124090" cy="1785950"/>
          </a:xfrm>
        </p:grpSpPr>
        <p:sp>
          <p:nvSpPr>
            <p:cNvPr id="57" name="圆角矩形 56"/>
            <p:cNvSpPr/>
            <p:nvPr/>
          </p:nvSpPr>
          <p:spPr>
            <a:xfrm>
              <a:off x="2428860" y="4143380"/>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481248" y="4652971"/>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428860" y="5643578"/>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灯片编号占位符 5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8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214282" y="3429000"/>
            <a:ext cx="200026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⑤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52" name="组合 53"/>
          <p:cNvGrpSpPr/>
          <p:nvPr/>
        </p:nvGrpSpPr>
        <p:grpSpPr>
          <a:xfrm>
            <a:off x="714348" y="457123"/>
            <a:ext cx="928694" cy="2757563"/>
            <a:chOff x="500034" y="2428869"/>
            <a:chExt cx="928694" cy="3332055"/>
          </a:xfrm>
        </p:grpSpPr>
        <p:sp>
          <p:nvSpPr>
            <p:cNvPr id="55" name="圆角矩形 54"/>
            <p:cNvSpPr/>
            <p:nvPr/>
          </p:nvSpPr>
          <p:spPr>
            <a:xfrm>
              <a:off x="500034" y="2428869"/>
              <a:ext cx="928694" cy="272781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277458"/>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=1</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4914" name="Picture 2"/>
          <p:cNvPicPr>
            <a:picLocks noChangeAspect="1" noChangeArrowheads="1"/>
          </p:cNvPicPr>
          <p:nvPr/>
        </p:nvPicPr>
        <p:blipFill>
          <a:blip r:embed="rId1" cstate="print"/>
          <a:srcRect/>
          <a:stretch>
            <a:fillRect/>
          </a:stretch>
        </p:blipFill>
        <p:spPr bwMode="auto">
          <a:xfrm>
            <a:off x="928662" y="3929066"/>
            <a:ext cx="5857916" cy="985444"/>
          </a:xfrm>
          <a:prstGeom prst="rect">
            <a:avLst/>
          </a:prstGeom>
          <a:noFill/>
          <a:ln w="9525">
            <a:noFill/>
            <a:miter lim="800000"/>
            <a:headEnd/>
            <a:tailEnd/>
          </a:ln>
        </p:spPr>
      </p:pic>
      <p:sp>
        <p:nvSpPr>
          <p:cNvPr id="57" name="TextBox 56"/>
          <p:cNvSpPr txBox="1"/>
          <p:nvPr/>
        </p:nvSpPr>
        <p:spPr>
          <a:xfrm>
            <a:off x="285720" y="5214950"/>
            <a:ext cx="8501122" cy="1092607"/>
          </a:xfrm>
          <a:prstGeom prst="rect">
            <a:avLst/>
          </a:prstGeom>
          <a:noFill/>
        </p:spPr>
        <p:txBody>
          <a:bodyPr wrap="square" rtlCol="0">
            <a:spAutoFit/>
          </a:bodyPr>
          <a:lstStyle/>
          <a:p>
            <a:pPr algn="l">
              <a:lnSpc>
                <a:spcPct val="100000"/>
              </a:lnSpc>
              <a:spcBef>
                <a:spcPts val="6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由</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(A)=12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求出的最短路径长度为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12</a:t>
            </a:r>
            <a:endPar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ct val="100000"/>
              </a:lnSpc>
              <a:spcBef>
                <a:spcPts val="6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由</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next(A)=B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next(B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next(C</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next(D</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推出最短路径为</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A→B</a:t>
            </a:r>
            <a:r>
              <a:rPr lang="en-US" altLang="zh-CN" sz="20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3</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→C</a:t>
            </a:r>
            <a:r>
              <a:rPr lang="en-US" altLang="zh-CN" sz="20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→D</a:t>
            </a:r>
            <a:r>
              <a:rPr lang="en-US" altLang="zh-CN" sz="20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8" name="圆角矩形 57"/>
          <p:cNvSpPr/>
          <p:nvPr/>
        </p:nvSpPr>
        <p:spPr>
          <a:xfrm>
            <a:off x="2366948" y="4595821"/>
            <a:ext cx="220505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49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7" grpId="0"/>
      <p:bldP spid="5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285728"/>
            <a:ext cx="457203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pt-BR"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2</a:t>
            </a: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）动态规划问题的顺序解法</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 name="TextBox 2"/>
          <p:cNvSpPr txBox="1"/>
          <p:nvPr/>
        </p:nvSpPr>
        <p:spPr>
          <a:xfrm>
            <a:off x="714348" y="1142984"/>
            <a:ext cx="6215106" cy="338554"/>
          </a:xfrm>
          <a:prstGeom prst="rect">
            <a:avLst/>
          </a:prstGeom>
          <a:noFill/>
        </p:spPr>
        <p:txBody>
          <a:bodyPr wrap="square" rtlCol="0">
            <a:spAutoFit/>
          </a:bodyPr>
          <a:lstStyle/>
          <a:p>
            <a:pPr algn="l"/>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对应的的状态转移方程如下：</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9554" name="Rectangle 2"/>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sp>
        <p:nvSpPr>
          <p:cNvPr id="279556" name="Rectangle 4"/>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grpSp>
        <p:nvGrpSpPr>
          <p:cNvPr id="4" name="组合 7"/>
          <p:cNvGrpSpPr/>
          <p:nvPr/>
        </p:nvGrpSpPr>
        <p:grpSpPr>
          <a:xfrm>
            <a:off x="928661" y="3210253"/>
            <a:ext cx="5126158" cy="2586082"/>
            <a:chOff x="1000099" y="2786058"/>
            <a:chExt cx="6425748" cy="3088932"/>
          </a:xfrm>
        </p:grpSpPr>
        <p:sp>
          <p:nvSpPr>
            <p:cNvPr id="9" name="椭圆 8"/>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椭圆 14"/>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椭圆 15"/>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7" name="椭圆 16"/>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8" name="椭圆 17"/>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9" name="直接箭头连接符 18"/>
            <p:cNvCxnSpPr>
              <a:stCxn id="9" idx="7"/>
              <a:endCxn id="10"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1" name="直接箭头连接符 20"/>
            <p:cNvCxnSpPr>
              <a:stCxn id="9" idx="6"/>
              <a:endCxn id="11"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5"/>
              <a:endCxn id="12"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0" idx="6"/>
              <a:endCxn id="13"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0" idx="5"/>
              <a:endCxn id="14"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11" idx="6"/>
              <a:endCxn id="14"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11" idx="7"/>
              <a:endCxn id="13"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1" idx="5"/>
              <a:endCxn id="15"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endCxn id="14"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2" idx="6"/>
              <a:endCxn id="15"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3" idx="6"/>
              <a:endCxn id="16"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3" idx="5"/>
              <a:endCxn id="17"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4" idx="7"/>
              <a:endCxn id="16"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4" idx="5"/>
              <a:endCxn id="17"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5" idx="6"/>
              <a:endCxn id="17"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5" idx="7"/>
              <a:endCxn id="16"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6" idx="6"/>
              <a:endCxn id="18"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7" idx="6"/>
              <a:endCxn id="18"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1" name="TextBox 50"/>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2" name="TextBox 51"/>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3" name="TextBox 52"/>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4" name="TextBox 53"/>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5" name="直接箭头连接符 54"/>
            <p:cNvCxnSpPr>
              <a:stCxn id="12" idx="7"/>
              <a:endCxn id="13"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7" name="TextBox 56"/>
          <p:cNvSpPr txBox="1"/>
          <p:nvPr/>
        </p:nvSpPr>
        <p:spPr>
          <a:xfrm>
            <a:off x="4714876" y="1857364"/>
            <a:ext cx="2857520" cy="584775"/>
          </a:xfrm>
          <a:prstGeom prst="rect">
            <a:avLst/>
          </a:prstGeom>
          <a:noFill/>
        </p:spPr>
        <p:txBody>
          <a:bodyPr wrap="square" rtlCol="0">
            <a:spAutoFit/>
          </a:bodyPr>
          <a:lstStyle/>
          <a:p>
            <a:pPr algn="l"/>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t</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2053" name="Picture 5"/>
          <p:cNvPicPr>
            <a:picLocks noChangeAspect="1" noChangeArrowheads="1"/>
          </p:cNvPicPr>
          <p:nvPr/>
        </p:nvPicPr>
        <p:blipFill>
          <a:blip r:embed="rId1" cstate="print"/>
          <a:srcRect/>
          <a:stretch>
            <a:fillRect/>
          </a:stretch>
        </p:blipFill>
        <p:spPr bwMode="auto">
          <a:xfrm>
            <a:off x="714348" y="1714488"/>
            <a:ext cx="3562350" cy="89535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3457235"/>
            <a:ext cx="8215370" cy="338554"/>
          </a:xfrm>
          <a:prstGeom prst="rect">
            <a:avLst/>
          </a:prstGeom>
          <a:noFill/>
        </p:spPr>
        <p:txBody>
          <a:bodyPr wrap="square" rtlCol="0">
            <a:spAutoFit/>
          </a:bodyPr>
          <a:lstStyle/>
          <a:p>
            <a:pPr algn="l"/>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pt-BR"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表示路径上一个顶点的前驱顶点</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其求解</a:t>
            </a:r>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的过程：</a:t>
            </a:r>
            <a:endPar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3"/>
          <p:cNvGrpSpPr/>
          <p:nvPr/>
        </p:nvGrpSpPr>
        <p:grpSpPr>
          <a:xfrm>
            <a:off x="57147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714348" y="3929066"/>
            <a:ext cx="5643602" cy="2708434"/>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① 第</a:t>
            </a:r>
            <a:r>
              <a:rPr lang="en-US"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(A)=0</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② 第</a:t>
            </a:r>
            <a:r>
              <a:rPr lang="en-US"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20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20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20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3</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53"/>
          <p:cNvGrpSpPr/>
          <p:nvPr/>
        </p:nvGrpSpPr>
        <p:grpSpPr>
          <a:xfrm>
            <a:off x="1496462" y="171371"/>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=2</a:t>
              </a:r>
              <a:endParaRPr lang="zh-CN" altLang="en-US" sz="2000">
                <a:solidFill>
                  <a:srgbClr val="0000FF"/>
                </a:solidFill>
                <a:latin typeface="Consolas" panose="020B0609020204030204" pitchFamily="49" charset="0"/>
                <a:cs typeface="Consolas" panose="020B0609020204030204" pitchFamily="49" charset="0"/>
              </a:endParaRPr>
            </a:p>
          </p:txBody>
        </p:sp>
      </p:grpSp>
      <p:sp>
        <p:nvSpPr>
          <p:cNvPr id="57" name="TextBox 56"/>
          <p:cNvSpPr txBox="1"/>
          <p:nvPr/>
        </p:nvSpPr>
        <p:spPr>
          <a:xfrm>
            <a:off x="5929322" y="1571612"/>
            <a:ext cx="2857520" cy="584775"/>
          </a:xfrm>
          <a:prstGeom prst="rect">
            <a:avLst/>
          </a:prstGeom>
          <a:noFill/>
        </p:spPr>
        <p:txBody>
          <a:bodyPr wrap="square" rtlCol="0">
            <a:spAutoFit/>
          </a:bodyPr>
          <a:lstStyle/>
          <a:p>
            <a:pPr algn="l"/>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642910" y="3143272"/>
            <a:ext cx="2071702" cy="338554"/>
          </a:xfrm>
          <a:prstGeom prst="rect">
            <a:avLst/>
          </a:prstGeom>
          <a:noFill/>
        </p:spPr>
        <p:txBody>
          <a:bodyPr wrap="square" rtlCol="0">
            <a:spAutoFit/>
          </a:bodyPr>
          <a:lstStyle/>
          <a:p>
            <a:pPr algn="l"/>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③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3" name="组合 53"/>
          <p:cNvGrpSpPr/>
          <p:nvPr/>
        </p:nvGrpSpPr>
        <p:grpSpPr>
          <a:xfrm>
            <a:off x="3186985" y="171371"/>
            <a:ext cx="928694" cy="3229111"/>
            <a:chOff x="556479" y="2428869"/>
            <a:chExt cx="928694" cy="3901843"/>
          </a:xfrm>
        </p:grpSpPr>
        <p:sp>
          <p:nvSpPr>
            <p:cNvPr id="55" name="圆角矩形 54"/>
            <p:cNvSpPr/>
            <p:nvPr/>
          </p:nvSpPr>
          <p:spPr>
            <a:xfrm>
              <a:off x="556479"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=3</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5938" name="Picture 2"/>
          <p:cNvPicPr>
            <a:picLocks noChangeAspect="1" noChangeArrowheads="1"/>
          </p:cNvPicPr>
          <p:nvPr/>
        </p:nvPicPr>
        <p:blipFill>
          <a:blip r:embed="rId1" cstate="print"/>
          <a:srcRect/>
          <a:stretch>
            <a:fillRect/>
          </a:stretch>
        </p:blipFill>
        <p:spPr bwMode="auto">
          <a:xfrm>
            <a:off x="1071538" y="3643314"/>
            <a:ext cx="5429288" cy="2652239"/>
          </a:xfrm>
          <a:prstGeom prst="rect">
            <a:avLst/>
          </a:prstGeom>
          <a:noFill/>
          <a:ln w="9525">
            <a:noFill/>
            <a:miter lim="800000"/>
            <a:headEnd/>
            <a:tailEnd/>
          </a:ln>
        </p:spPr>
      </p:pic>
      <p:sp>
        <p:nvSpPr>
          <p:cNvPr id="57" name="圆角矩形 56"/>
          <p:cNvSpPr/>
          <p:nvPr/>
        </p:nvSpPr>
        <p:spPr>
          <a:xfrm>
            <a:off x="2528873" y="4000504"/>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571736" y="5072074"/>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586024" y="5643578"/>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灯片编号占位符 5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642910" y="3143272"/>
            <a:ext cx="2071702"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④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3" name="组合 53"/>
          <p:cNvGrpSpPr/>
          <p:nvPr/>
        </p:nvGrpSpPr>
        <p:grpSpPr>
          <a:xfrm>
            <a:off x="4342693" y="199889"/>
            <a:ext cx="928694" cy="3229111"/>
            <a:chOff x="556479" y="2428869"/>
            <a:chExt cx="928694" cy="3901843"/>
          </a:xfrm>
        </p:grpSpPr>
        <p:sp>
          <p:nvSpPr>
            <p:cNvPr id="55" name="圆角矩形 54"/>
            <p:cNvSpPr/>
            <p:nvPr/>
          </p:nvSpPr>
          <p:spPr>
            <a:xfrm>
              <a:off x="556479"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6962" name="Picture 2"/>
          <p:cNvPicPr>
            <a:picLocks noChangeAspect="1" noChangeArrowheads="1"/>
          </p:cNvPicPr>
          <p:nvPr/>
        </p:nvPicPr>
        <p:blipFill>
          <a:blip r:embed="rId1" cstate="print"/>
          <a:srcRect/>
          <a:stretch>
            <a:fillRect/>
          </a:stretch>
        </p:blipFill>
        <p:spPr bwMode="auto">
          <a:xfrm>
            <a:off x="1071539" y="3786190"/>
            <a:ext cx="5572164" cy="1719292"/>
          </a:xfrm>
          <a:prstGeom prst="rect">
            <a:avLst/>
          </a:prstGeom>
          <a:noFill/>
          <a:ln w="9525">
            <a:noFill/>
            <a:miter lim="800000"/>
            <a:headEnd/>
            <a:tailEnd/>
          </a:ln>
        </p:spPr>
      </p:pic>
      <p:sp>
        <p:nvSpPr>
          <p:cNvPr id="57" name="圆角矩形 56"/>
          <p:cNvSpPr/>
          <p:nvPr/>
        </p:nvSpPr>
        <p:spPr>
          <a:xfrm>
            <a:off x="2571736" y="3786190"/>
            <a:ext cx="2143140"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500298" y="4886335"/>
            <a:ext cx="2286016"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642910" y="3143272"/>
            <a:ext cx="2071702"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⑤ 第</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3" name="组合 53"/>
          <p:cNvGrpSpPr/>
          <p:nvPr/>
        </p:nvGrpSpPr>
        <p:grpSpPr>
          <a:xfrm>
            <a:off x="4286248" y="199889"/>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7986" name="Picture 2"/>
          <p:cNvPicPr>
            <a:picLocks noChangeAspect="1" noChangeArrowheads="1"/>
          </p:cNvPicPr>
          <p:nvPr/>
        </p:nvPicPr>
        <p:blipFill>
          <a:blip r:embed="rId1" cstate="print"/>
          <a:srcRect/>
          <a:stretch>
            <a:fillRect/>
          </a:stretch>
        </p:blipFill>
        <p:spPr bwMode="auto">
          <a:xfrm>
            <a:off x="1285852" y="3643314"/>
            <a:ext cx="5517212" cy="714380"/>
          </a:xfrm>
          <a:prstGeom prst="rect">
            <a:avLst/>
          </a:prstGeom>
          <a:noFill/>
          <a:ln w="9525">
            <a:noFill/>
            <a:miter lim="800000"/>
            <a:headEnd/>
            <a:tailEnd/>
          </a:ln>
        </p:spPr>
      </p:pic>
      <p:sp>
        <p:nvSpPr>
          <p:cNvPr id="57" name="TextBox 56"/>
          <p:cNvSpPr txBox="1"/>
          <p:nvPr/>
        </p:nvSpPr>
        <p:spPr>
          <a:xfrm>
            <a:off x="571472" y="4643446"/>
            <a:ext cx="7715304" cy="1092607"/>
          </a:xfrm>
          <a:prstGeom prst="rect">
            <a:avLst/>
          </a:prstGeom>
          <a:noFill/>
        </p:spPr>
        <p:txBody>
          <a:bodyPr wrap="square" rtlCol="0">
            <a:spAutoFit/>
          </a:bodyPr>
          <a:lstStyle/>
          <a:p>
            <a:pPr algn="l">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(E)=12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求出的最短路径长度为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12</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pre(E)=D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pre(D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pre(C</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pre(B</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推出最短路径为</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A→B</a:t>
            </a:r>
            <a:r>
              <a:rPr lang="en-US" altLang="zh-CN" sz="20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→C</a:t>
            </a:r>
            <a:r>
              <a:rPr lang="en-US" altLang="zh-CN" sz="20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圆角矩形 57"/>
          <p:cNvSpPr/>
          <p:nvPr/>
        </p:nvSpPr>
        <p:spPr>
          <a:xfrm>
            <a:off x="2662224" y="4062417"/>
            <a:ext cx="219552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85728"/>
            <a:ext cx="778674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pt-BR" altLang="zh-CN" sz="2800">
                <a:latin typeface="Consolas" panose="020B0609020204030204" pitchFamily="49" charset="0"/>
                <a:ea typeface="微软雅黑" panose="020B0503020204020204" pitchFamily="34" charset="-122"/>
              </a:rPr>
              <a:t>7.1.3 </a:t>
            </a:r>
            <a:r>
              <a:rPr lang="zh-CN" altLang="zh-CN" sz="2800">
                <a:latin typeface="Consolas" panose="020B0609020204030204" pitchFamily="49" charset="0"/>
                <a:ea typeface="微软雅黑" panose="020B0503020204020204" pitchFamily="34" charset="-122"/>
              </a:rPr>
              <a:t>动态规划求解问题的类型、性质和步骤</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85720" y="1285860"/>
            <a:ext cx="4429156"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rPr>
              <a:t>1.</a:t>
            </a:r>
            <a:r>
              <a:rPr lang="zh-CN" altLang="zh-CN">
                <a:solidFill>
                  <a:srgbClr val="FF0000"/>
                </a:solidFill>
                <a:latin typeface="Consolas" panose="020B0609020204030204" pitchFamily="49" charset="0"/>
                <a:ea typeface="微软雅黑" panose="020B0503020204020204" pitchFamily="34" charset="-122"/>
              </a:rPr>
              <a:t>动态规划求解问题的类型</a:t>
            </a:r>
            <a:endPar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2357430"/>
            <a:ext cx="6215106" cy="135421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求目标函数指定的最大值或最小值。</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判断某个条件是否可行。</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统计满足某个条件的方案数。</a:t>
            </a:r>
            <a:endParaRPr lang="zh-CN" altLang="zh-CN">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5214974"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rPr>
              <a:t>2.</a:t>
            </a:r>
            <a:r>
              <a:rPr lang="zh-CN" altLang="zh-CN">
                <a:solidFill>
                  <a:srgbClr val="FF0000"/>
                </a:solidFill>
                <a:latin typeface="Consolas" panose="020B0609020204030204" pitchFamily="49" charset="0"/>
                <a:ea typeface="微软雅黑" panose="020B0503020204020204" pitchFamily="34" charset="-122"/>
              </a:rPr>
              <a:t>动态规划求解问题的</a:t>
            </a:r>
            <a:r>
              <a:rPr lang="zh-CN" altLang="en-US">
                <a:solidFill>
                  <a:srgbClr val="FF0000"/>
                </a:solidFill>
                <a:latin typeface="Consolas" panose="020B0609020204030204" pitchFamily="49" charset="0"/>
                <a:ea typeface="微软雅黑" panose="020B0503020204020204" pitchFamily="34" charset="-122"/>
              </a:rPr>
              <a:t>具有的性质</a:t>
            </a:r>
            <a:endPar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428736"/>
            <a:ext cx="321471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pt-BR"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1</a:t>
            </a: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a:solidFill>
                  <a:schemeClr val="bg1"/>
                </a:solidFill>
                <a:latin typeface="Consolas" panose="020B0609020204030204" pitchFamily="49" charset="0"/>
                <a:ea typeface="微软雅黑" panose="020B0503020204020204" pitchFamily="34" charset="-122"/>
                <a:cs typeface="Consolas" panose="020B0609020204030204" pitchFamily="49" charset="0"/>
              </a:rPr>
              <a:t>最优子结构性质</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71472" y="2214554"/>
            <a:ext cx="8072494" cy="9291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如果问题的</a:t>
            </a:r>
            <a:r>
              <a:rPr lang="zh-CN" altLang="zh-CN">
                <a:solidFill>
                  <a:srgbClr val="FF0000"/>
                </a:solidFill>
                <a:latin typeface="Consolas" panose="020B0609020204030204" pitchFamily="49" charset="0"/>
                <a:ea typeface="仿宋" panose="02010609060101010101" pitchFamily="49" charset="-122"/>
              </a:rPr>
              <a:t>最优解所包含的子问题的解也是最优的</a:t>
            </a:r>
            <a:r>
              <a:rPr lang="zh-CN" altLang="zh-CN">
                <a:solidFill>
                  <a:srgbClr val="0000FF"/>
                </a:solidFill>
                <a:latin typeface="Consolas" panose="020B0609020204030204" pitchFamily="49" charset="0"/>
                <a:ea typeface="仿宋" panose="02010609060101010101" pitchFamily="49" charset="-122"/>
              </a:rPr>
              <a:t>，就称该问题具有最优子结构性质。</a:t>
            </a:r>
            <a:endParaRPr lang="zh-CN" altLang="zh-CN">
              <a:solidFill>
                <a:srgbClr val="0000FF"/>
              </a:solidFill>
              <a:latin typeface="Consolas" panose="020B0609020204030204" pitchFamily="49" charset="0"/>
              <a:ea typeface="仿宋" panose="02010609060101010101" pitchFamily="49" charset="-122"/>
            </a:endParaRPr>
          </a:p>
        </p:txBody>
      </p:sp>
      <p:pic>
        <p:nvPicPr>
          <p:cNvPr id="6" name="Picture 4"/>
          <p:cNvPicPr>
            <a:picLocks noChangeAspect="1" noChangeArrowheads="1"/>
          </p:cNvPicPr>
          <p:nvPr/>
        </p:nvPicPr>
        <p:blipFill>
          <a:blip r:embed="rId2" cstate="print"/>
          <a:srcRect/>
          <a:stretch>
            <a:fillRect/>
          </a:stretch>
        </p:blipFill>
        <p:spPr bwMode="auto">
          <a:xfrm>
            <a:off x="1785918" y="3357562"/>
            <a:ext cx="4783240" cy="1000132"/>
          </a:xfrm>
          <a:prstGeom prst="rect">
            <a:avLst/>
          </a:prstGeom>
          <a:noFill/>
          <a:ln w="9525">
            <a:noFill/>
            <a:miter lim="800000"/>
            <a:headEnd/>
            <a:tailEnd/>
          </a:ln>
        </p:spPr>
      </p:pic>
      <p:sp>
        <p:nvSpPr>
          <p:cNvPr id="7" name="TextBox 6"/>
          <p:cNvSpPr txBox="1"/>
          <p:nvPr/>
        </p:nvSpPr>
        <p:spPr>
          <a:xfrm>
            <a:off x="571472" y="4500570"/>
            <a:ext cx="8072494" cy="18011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通常采用</a:t>
            </a:r>
            <a:r>
              <a:rPr lang="zh-CN" altLang="zh-CN">
                <a:solidFill>
                  <a:srgbClr val="FF0000"/>
                </a:solidFill>
                <a:latin typeface="Consolas" panose="020B0609020204030204" pitchFamily="49" charset="0"/>
                <a:ea typeface="仿宋" panose="02010609060101010101" pitchFamily="49" charset="-122"/>
              </a:rPr>
              <a:t>反证法</a:t>
            </a:r>
            <a:r>
              <a:rPr lang="zh-CN" altLang="zh-CN">
                <a:solidFill>
                  <a:srgbClr val="0000FF"/>
                </a:solidFill>
                <a:latin typeface="Consolas" panose="020B0609020204030204" pitchFamily="49" charset="0"/>
                <a:ea typeface="仿宋" panose="02010609060101010101" pitchFamily="49" charset="-122"/>
              </a:rPr>
              <a:t>来证明一个问题具有最优子结构性质。先假设由问题的最优解导出的子问题的解不是最优的，然后在这个假设下可构造出比原问题最优解更好的解，从而导致矛盾。</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Group 27"/>
          <p:cNvGrpSpPr/>
          <p:nvPr/>
        </p:nvGrpSpPr>
        <p:grpSpPr bwMode="auto">
          <a:xfrm>
            <a:off x="714348" y="3357562"/>
            <a:ext cx="857255" cy="785818"/>
            <a:chOff x="741" y="1117"/>
            <a:chExt cx="1313" cy="1313"/>
          </a:xfrm>
        </p:grpSpPr>
        <p:grpSp>
          <p:nvGrpSpPr>
            <p:cNvPr id="9" name="Group 28"/>
            <p:cNvGrpSpPr/>
            <p:nvPr/>
          </p:nvGrpSpPr>
          <p:grpSpPr bwMode="auto">
            <a:xfrm>
              <a:off x="741" y="1117"/>
              <a:ext cx="1313" cy="1313"/>
              <a:chOff x="796" y="1102"/>
              <a:chExt cx="2132" cy="2132"/>
            </a:xfrm>
          </p:grpSpPr>
          <p:sp>
            <p:nvSpPr>
              <p:cNvPr id="11" name="Oval 29"/>
              <p:cNvSpPr>
                <a:spLocks noChangeArrowheads="1"/>
              </p:cNvSpPr>
              <p:nvPr/>
            </p:nvSpPr>
            <p:spPr bwMode="auto">
              <a:xfrm>
                <a:off x="796" y="1102"/>
                <a:ext cx="2132" cy="2132"/>
              </a:xfrm>
              <a:prstGeom prst="ellipse">
                <a:avLst/>
              </a:prstGeom>
              <a:solidFill>
                <a:schemeClr val="folHlink"/>
              </a:solidFill>
              <a:ln w="22225">
                <a:noFill/>
                <a:round/>
              </a:ln>
              <a:effectLst/>
            </p:spPr>
            <p:txBody>
              <a:bodyPr wrap="none" anchor="ctr"/>
              <a:lstStyle/>
              <a:p>
                <a:endParaRPr lang="zh-CN" altLang="en-US"/>
              </a:p>
            </p:txBody>
          </p:sp>
          <p:pic>
            <p:nvPicPr>
              <p:cNvPr id="12" name="Picture 30" descr="Round Pic Frame 1"/>
              <p:cNvPicPr>
                <a:picLocks noChangeAspect="1" noChangeArrowheads="1"/>
              </p:cNvPicPr>
              <p:nvPr/>
            </p:nvPicPr>
            <p:blipFill>
              <a:blip r:embed="rId3" cstate="print"/>
              <a:srcRect/>
              <a:stretch>
                <a:fillRect/>
              </a:stretch>
            </p:blipFill>
            <p:spPr bwMode="auto">
              <a:xfrm>
                <a:off x="841" y="1147"/>
                <a:ext cx="2042" cy="2042"/>
              </a:xfrm>
              <a:prstGeom prst="rect">
                <a:avLst/>
              </a:prstGeom>
              <a:noFill/>
              <a:ln w="9525">
                <a:noFill/>
                <a:miter lim="800000"/>
                <a:headEnd/>
                <a:tailEnd/>
              </a:ln>
            </p:spPr>
          </p:pic>
        </p:grpSp>
        <p:sp>
          <p:nvSpPr>
            <p:cNvPr id="10" name="Text Box 31"/>
            <p:cNvSpPr txBox="1">
              <a:spLocks noChangeArrowheads="1"/>
            </p:cNvSpPr>
            <p:nvPr/>
          </p:nvSpPr>
          <p:spPr bwMode="auto">
            <a:xfrm>
              <a:off x="866" y="1502"/>
              <a:ext cx="1061" cy="525"/>
            </a:xfrm>
            <a:prstGeom prst="rect">
              <a:avLst/>
            </a:prstGeom>
            <a:noFill/>
            <a:ln w="9525">
              <a:noFill/>
              <a:miter lim="800000"/>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gr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2910" y="285728"/>
            <a:ext cx="2571768"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2</a:t>
            </a: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a:solidFill>
                  <a:schemeClr val="bg1"/>
                </a:solidFill>
                <a:latin typeface="Consolas" panose="020B0609020204030204" pitchFamily="49" charset="0"/>
                <a:ea typeface="微软雅黑" panose="020B0503020204020204" pitchFamily="34" charset="-122"/>
                <a:cs typeface="Consolas" panose="020B0609020204030204" pitchFamily="49" charset="0"/>
              </a:rPr>
              <a:t>无后效性</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71472" y="1071546"/>
            <a:ext cx="8072494" cy="9643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1"/>
              </a:buBlip>
            </a:pPr>
            <a:r>
              <a:rPr lang="zh-CN" altLang="zh-CN">
                <a:solidFill>
                  <a:srgbClr val="FF0000"/>
                </a:solidFill>
                <a:latin typeface="Consolas" panose="020B0609020204030204" pitchFamily="49" charset="0"/>
                <a:ea typeface="仿宋" panose="02010609060101010101" pitchFamily="49" charset="-122"/>
              </a:rPr>
              <a:t>无后效性</a:t>
            </a:r>
            <a:r>
              <a:rPr lang="zh-CN" altLang="zh-CN">
                <a:solidFill>
                  <a:srgbClr val="0000FF"/>
                </a:solidFill>
                <a:latin typeface="Consolas" panose="020B0609020204030204" pitchFamily="49" charset="0"/>
                <a:ea typeface="仿宋" panose="02010609060101010101" pitchFamily="49" charset="-122"/>
              </a:rPr>
              <a:t>指的是这样一种性质：某阶段的状态一旦确定，则此后过程的演变不再受此前各状态及决策的影响。</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5"/>
          <p:cNvGrpSpPr/>
          <p:nvPr/>
        </p:nvGrpSpPr>
        <p:grpSpPr>
          <a:xfrm>
            <a:off x="2589114" y="2753902"/>
            <a:ext cx="5126158" cy="2586082"/>
            <a:chOff x="1000099" y="2786058"/>
            <a:chExt cx="6425748" cy="3088932"/>
          </a:xfrm>
        </p:grpSpPr>
        <p:sp>
          <p:nvSpPr>
            <p:cNvPr id="7" name="椭圆 6"/>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椭圆 14"/>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椭圆 15"/>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8" name="直接箭头连接符 17"/>
            <p:cNvCxnSpPr>
              <a:stCxn id="7" idx="7"/>
              <a:endCxn id="8"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0" name="直接箭头连接符 19"/>
            <p:cNvCxnSpPr>
              <a:stCxn id="7" idx="6"/>
              <a:endCxn id="9"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5"/>
              <a:endCxn id="10"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8" idx="6"/>
              <a:endCxn id="11"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8" idx="5"/>
              <a:endCxn id="12"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9" idx="6"/>
              <a:endCxn id="12"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9" idx="7"/>
              <a:endCxn id="11"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5"/>
              <a:endCxn id="13"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endCxn id="12"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6"/>
              <a:endCxn id="13"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1" idx="6"/>
              <a:endCxn id="14"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5"/>
              <a:endCxn id="15"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2" idx="7"/>
              <a:endCxn id="14"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5"/>
              <a:endCxn id="15"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5"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3" idx="7"/>
              <a:endCxn id="14"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4" idx="6"/>
              <a:endCxn id="16"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5" idx="6"/>
              <a:endCxn id="16"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1" name="TextBox 50"/>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2" name="TextBox 51"/>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3" name="TextBox 52"/>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4" name="直接箭头连接符 53"/>
            <p:cNvCxnSpPr>
              <a:stCxn id="10" idx="7"/>
              <a:endCxn id="11"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56" name="组合 53"/>
          <p:cNvGrpSpPr/>
          <p:nvPr/>
        </p:nvGrpSpPr>
        <p:grpSpPr>
          <a:xfrm>
            <a:off x="3589247" y="2611026"/>
            <a:ext cx="928694" cy="3318304"/>
            <a:chOff x="500034" y="2428868"/>
            <a:chExt cx="928694" cy="4009618"/>
          </a:xfrm>
        </p:grpSpPr>
        <p:sp>
          <p:nvSpPr>
            <p:cNvPr id="57" name="圆角矩形 56"/>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8" name="TextBox 57"/>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FF0000"/>
                  </a:solidFill>
                  <a:latin typeface="Consolas" panose="020B0609020204030204" pitchFamily="49" charset="0"/>
                  <a:cs typeface="Consolas" panose="020B0609020204030204" pitchFamily="49" charset="0"/>
                </a:rPr>
                <a:t>k</a:t>
              </a:r>
              <a:r>
                <a:rPr lang="en-US" altLang="zh-CN" sz="1800">
                  <a:solidFill>
                    <a:srgbClr val="FF0000"/>
                  </a:solidFill>
                  <a:latin typeface="Consolas" panose="020B0609020204030204" pitchFamily="49" charset="0"/>
                  <a:cs typeface="Consolas" panose="020B0609020204030204" pitchFamily="49" charset="0"/>
                </a:rPr>
                <a:t>=2</a:t>
              </a:r>
              <a:endParaRPr lang="zh-CN" altLang="en-US" sz="1800">
                <a:solidFill>
                  <a:srgbClr val="FF0000"/>
                </a:solidFill>
                <a:latin typeface="Consolas" panose="020B0609020204030204" pitchFamily="49" charset="0"/>
                <a:cs typeface="Consolas" panose="020B0609020204030204" pitchFamily="49" charset="0"/>
              </a:endParaRPr>
            </a:p>
          </p:txBody>
        </p:sp>
      </p:grpSp>
      <p:cxnSp>
        <p:nvCxnSpPr>
          <p:cNvPr id="60" name="直接箭头连接符 59"/>
          <p:cNvCxnSpPr/>
          <p:nvPr/>
        </p:nvCxnSpPr>
        <p:spPr>
          <a:xfrm rot="10800000">
            <a:off x="2731991" y="2428868"/>
            <a:ext cx="4143404" cy="1588"/>
          </a:xfrm>
          <a:prstGeom prst="straightConnector1">
            <a:avLst/>
          </a:prstGeom>
          <a:ln w="28575">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61" name="TextBox 60"/>
          <p:cNvSpPr txBox="1"/>
          <p:nvPr/>
        </p:nvSpPr>
        <p:spPr>
          <a:xfrm>
            <a:off x="3232057" y="6000768"/>
            <a:ext cx="3786214"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rPr>
              <a:t>阶段仅仅与</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rPr>
              <a:t>阶段相关</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62" name="组合 53"/>
          <p:cNvGrpSpPr/>
          <p:nvPr/>
        </p:nvGrpSpPr>
        <p:grpSpPr>
          <a:xfrm>
            <a:off x="4856257" y="2611026"/>
            <a:ext cx="928694" cy="3318304"/>
            <a:chOff x="500034" y="2428868"/>
            <a:chExt cx="928694" cy="4009618"/>
          </a:xfrm>
        </p:grpSpPr>
        <p:sp>
          <p:nvSpPr>
            <p:cNvPr id="63" name="圆角矩形 62"/>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64" name="TextBox 63"/>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FF0000"/>
                  </a:solidFill>
                  <a:latin typeface="Consolas" panose="020B0609020204030204" pitchFamily="49" charset="0"/>
                  <a:cs typeface="Consolas" panose="020B0609020204030204" pitchFamily="49" charset="0"/>
                </a:rPr>
                <a:t>k</a:t>
              </a:r>
              <a:r>
                <a:rPr lang="en-US" altLang="zh-CN" sz="1800">
                  <a:solidFill>
                    <a:srgbClr val="FF0000"/>
                  </a:solidFill>
                  <a:latin typeface="Consolas" panose="020B0609020204030204" pitchFamily="49" charset="0"/>
                  <a:cs typeface="Consolas" panose="020B0609020204030204" pitchFamily="49" charset="0"/>
                </a:rPr>
                <a:t>=3</a:t>
              </a:r>
              <a:endParaRPr lang="zh-CN" altLang="en-US" sz="1800">
                <a:solidFill>
                  <a:srgbClr val="FF0000"/>
                </a:solidFill>
                <a:latin typeface="Consolas" panose="020B0609020204030204" pitchFamily="49" charset="0"/>
                <a:cs typeface="Consolas" panose="020B0609020204030204" pitchFamily="49" charset="0"/>
              </a:endParaRPr>
            </a:p>
          </p:txBody>
        </p:sp>
      </p:grpSp>
      <p:grpSp>
        <p:nvGrpSpPr>
          <p:cNvPr id="65" name="Group 27"/>
          <p:cNvGrpSpPr/>
          <p:nvPr/>
        </p:nvGrpSpPr>
        <p:grpSpPr bwMode="auto">
          <a:xfrm>
            <a:off x="1214414" y="3143248"/>
            <a:ext cx="857255" cy="785818"/>
            <a:chOff x="741" y="1117"/>
            <a:chExt cx="1313" cy="1313"/>
          </a:xfrm>
        </p:grpSpPr>
        <p:grpSp>
          <p:nvGrpSpPr>
            <p:cNvPr id="66" name="Group 28"/>
            <p:cNvGrpSpPr/>
            <p:nvPr/>
          </p:nvGrpSpPr>
          <p:grpSpPr bwMode="auto">
            <a:xfrm>
              <a:off x="741" y="1117"/>
              <a:ext cx="1313" cy="1313"/>
              <a:chOff x="796" y="1102"/>
              <a:chExt cx="2132" cy="2132"/>
            </a:xfrm>
          </p:grpSpPr>
          <p:sp>
            <p:nvSpPr>
              <p:cNvPr id="68" name="Oval 29"/>
              <p:cNvSpPr>
                <a:spLocks noChangeArrowheads="1"/>
              </p:cNvSpPr>
              <p:nvPr/>
            </p:nvSpPr>
            <p:spPr bwMode="auto">
              <a:xfrm>
                <a:off x="796" y="1102"/>
                <a:ext cx="2132" cy="2132"/>
              </a:xfrm>
              <a:prstGeom prst="ellipse">
                <a:avLst/>
              </a:prstGeom>
              <a:solidFill>
                <a:schemeClr val="folHlink"/>
              </a:solidFill>
              <a:ln w="22225">
                <a:noFill/>
                <a:round/>
              </a:ln>
              <a:effectLst/>
            </p:spPr>
            <p:txBody>
              <a:bodyPr wrap="none" anchor="ctr"/>
              <a:lstStyle/>
              <a:p>
                <a:endParaRPr lang="zh-CN" altLang="en-US"/>
              </a:p>
            </p:txBody>
          </p:sp>
          <p:pic>
            <p:nvPicPr>
              <p:cNvPr id="69" name="Picture 30" descr="Round Pic Frame 1"/>
              <p:cNvPicPr>
                <a:picLocks noChangeAspect="1" noChangeArrowheads="1"/>
              </p:cNvPicPr>
              <p:nvPr/>
            </p:nvPicPr>
            <p:blipFill>
              <a:blip r:embed="rId2" cstate="print"/>
              <a:srcRect/>
              <a:stretch>
                <a:fillRect/>
              </a:stretch>
            </p:blipFill>
            <p:spPr bwMode="auto">
              <a:xfrm>
                <a:off x="841" y="1147"/>
                <a:ext cx="2042" cy="2042"/>
              </a:xfrm>
              <a:prstGeom prst="rect">
                <a:avLst/>
              </a:prstGeom>
              <a:noFill/>
              <a:ln w="9525">
                <a:noFill/>
                <a:miter lim="800000"/>
                <a:headEnd/>
                <a:tailEnd/>
              </a:ln>
            </p:spPr>
          </p:pic>
        </p:grpSp>
        <p:sp>
          <p:nvSpPr>
            <p:cNvPr id="67" name="Text Box 31"/>
            <p:cNvSpPr txBox="1">
              <a:spLocks noChangeArrowheads="1"/>
            </p:cNvSpPr>
            <p:nvPr/>
          </p:nvSpPr>
          <p:spPr bwMode="auto">
            <a:xfrm>
              <a:off x="866" y="1502"/>
              <a:ext cx="1061" cy="525"/>
            </a:xfrm>
            <a:prstGeom prst="rect">
              <a:avLst/>
            </a:prstGeom>
            <a:noFill/>
            <a:ln w="9525">
              <a:noFill/>
              <a:miter lim="800000"/>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grpSp>
      <p:sp>
        <p:nvSpPr>
          <p:cNvPr id="70" name="灯片编号占位符 6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00042"/>
            <a:ext cx="278608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3</a:t>
            </a:r>
            <a:r>
              <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a:solidFill>
                  <a:schemeClr val="bg1"/>
                </a:solidFill>
                <a:latin typeface="Consolas" panose="020B0609020204030204" pitchFamily="49" charset="0"/>
                <a:ea typeface="微软雅黑" panose="020B0503020204020204" pitchFamily="34" charset="-122"/>
                <a:cs typeface="Consolas" panose="020B0609020204030204" pitchFamily="49" charset="0"/>
              </a:rPr>
              <a:t>重叠子问题</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428596" y="1357298"/>
            <a:ext cx="8072494"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指一个问题分解的若干子问题之间是</a:t>
            </a:r>
            <a:r>
              <a:rPr lang="zh-CN" altLang="zh-CN">
                <a:solidFill>
                  <a:srgbClr val="FF0000"/>
                </a:solidFill>
                <a:latin typeface="Consolas" panose="020B0609020204030204" pitchFamily="49" charset="0"/>
                <a:ea typeface="仿宋" panose="02010609060101010101" pitchFamily="49" charset="-122"/>
              </a:rPr>
              <a:t>不独立</a:t>
            </a:r>
            <a:r>
              <a:rPr lang="zh-CN" altLang="zh-CN">
                <a:solidFill>
                  <a:srgbClr val="0000FF"/>
                </a:solidFill>
                <a:latin typeface="Consolas" panose="020B0609020204030204" pitchFamily="49" charset="0"/>
                <a:ea typeface="仿宋" panose="02010609060101010101" pitchFamily="49" charset="-122"/>
              </a:rPr>
              <a:t>的，其中一些子问题在后面的决策中可能被多次重复使用。</a:t>
            </a:r>
            <a:endParaRPr lang="zh-CN" altLang="zh-CN">
              <a:solidFill>
                <a:srgbClr val="0000FF"/>
              </a:solidFill>
              <a:latin typeface="Consolas" panose="020B0609020204030204" pitchFamily="49" charset="0"/>
              <a:ea typeface="仿宋" panose="02010609060101010101" pitchFamily="49" charset="-122"/>
            </a:endParaRPr>
          </a:p>
        </p:txBody>
      </p:sp>
      <p:grpSp>
        <p:nvGrpSpPr>
          <p:cNvPr id="6" name="组合 5"/>
          <p:cNvGrpSpPr/>
          <p:nvPr/>
        </p:nvGrpSpPr>
        <p:grpSpPr>
          <a:xfrm>
            <a:off x="2000232" y="2643182"/>
            <a:ext cx="6130270" cy="2705018"/>
            <a:chOff x="1013498" y="2867122"/>
            <a:chExt cx="6831252" cy="3158561"/>
          </a:xfrm>
        </p:grpSpPr>
        <p:sp>
          <p:nvSpPr>
            <p:cNvPr id="7" name="Rectangle 20"/>
            <p:cNvSpPr>
              <a:spLocks noChangeArrowheads="1"/>
            </p:cNvSpPr>
            <p:nvPr/>
          </p:nvSpPr>
          <p:spPr bwMode="auto">
            <a:xfrm>
              <a:off x="3522254" y="2867122"/>
              <a:ext cx="952925"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Fib(5)</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19"/>
            <p:cNvSpPr>
              <a:spLocks noChangeArrowheads="1"/>
            </p:cNvSpPr>
            <p:nvPr/>
          </p:nvSpPr>
          <p:spPr bwMode="auto">
            <a:xfrm>
              <a:off x="1969773" y="3751519"/>
              <a:ext cx="952925" cy="431971"/>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Fib(3)</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Rectangle 18"/>
            <p:cNvSpPr>
              <a:spLocks noChangeArrowheads="1"/>
            </p:cNvSpPr>
            <p:nvPr/>
          </p:nvSpPr>
          <p:spPr bwMode="auto">
            <a:xfrm>
              <a:off x="5056313" y="3751519"/>
              <a:ext cx="952925" cy="431971"/>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Fib(4)</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 name="Rectangle 17"/>
            <p:cNvSpPr>
              <a:spLocks noChangeArrowheads="1"/>
            </p:cNvSpPr>
            <p:nvPr/>
          </p:nvSpPr>
          <p:spPr bwMode="auto">
            <a:xfrm>
              <a:off x="118097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Fib(1)</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1" name="Rectangle 16"/>
            <p:cNvSpPr>
              <a:spLocks noChangeArrowheads="1"/>
            </p:cNvSpPr>
            <p:nvPr/>
          </p:nvSpPr>
          <p:spPr bwMode="auto">
            <a:xfrm>
              <a:off x="2643017"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2" name="Rectangle 15"/>
            <p:cNvSpPr>
              <a:spLocks noChangeArrowheads="1"/>
            </p:cNvSpPr>
            <p:nvPr/>
          </p:nvSpPr>
          <p:spPr bwMode="auto">
            <a:xfrm>
              <a:off x="604943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Fib(3)</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3" name="Rectangle 14"/>
            <p:cNvSpPr>
              <a:spLocks noChangeArrowheads="1"/>
            </p:cNvSpPr>
            <p:nvPr/>
          </p:nvSpPr>
          <p:spPr bwMode="auto">
            <a:xfrm>
              <a:off x="5305849" y="5525126"/>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Fib(1)</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4" name="Rectangle 13"/>
            <p:cNvSpPr>
              <a:spLocks noChangeArrowheads="1"/>
            </p:cNvSpPr>
            <p:nvPr/>
          </p:nvSpPr>
          <p:spPr bwMode="auto">
            <a:xfrm>
              <a:off x="6722676" y="5525126"/>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5" name="Rectangle 12"/>
            <p:cNvSpPr>
              <a:spLocks noChangeArrowheads="1"/>
            </p:cNvSpPr>
            <p:nvPr/>
          </p:nvSpPr>
          <p:spPr bwMode="auto">
            <a:xfrm>
              <a:off x="4140232" y="4662388"/>
              <a:ext cx="954600" cy="433174"/>
            </a:xfrm>
            <a:prstGeom prst="rect">
              <a:avLst/>
            </a:prstGeom>
            <a:ln>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lstStyle/>
            <a:p>
              <a:pPr marL="0" marR="0" lvl="0" algn="ctr" defTabSz="914400" rtl="0" eaLnBrk="1" fontAlgn="base" latinLnBrk="0" hangingPunct="1">
                <a:lnSpc>
                  <a:spcPts val="2800"/>
                </a:lnSpc>
                <a:spcBef>
                  <a:spcPct val="0"/>
                </a:spcBef>
                <a:spcAft>
                  <a:spcPct val="0"/>
                </a:spcAft>
                <a:buClrTx/>
                <a:buSzTx/>
                <a:buFontTx/>
                <a:buNone/>
              </a:pPr>
              <a:r>
                <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Fib(2)</a:t>
              </a:r>
              <a:endParaRPr kumimoji="0" lang="en-US" altLang="zh-CN" sz="18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 name="AutoShape 11"/>
            <p:cNvSpPr>
              <a:spLocks noChangeShapeType="1"/>
            </p:cNvSpPr>
            <p:nvPr/>
          </p:nvSpPr>
          <p:spPr bwMode="auto">
            <a:xfrm flipH="1">
              <a:off x="2447073" y="3300296"/>
              <a:ext cx="1552481" cy="4512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18" name="AutoShape 10"/>
            <p:cNvSpPr>
              <a:spLocks noChangeShapeType="1"/>
            </p:cNvSpPr>
            <p:nvPr/>
          </p:nvSpPr>
          <p:spPr bwMode="auto">
            <a:xfrm>
              <a:off x="3999554" y="3300296"/>
              <a:ext cx="1534059" cy="4512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19" name="AutoShape 9"/>
            <p:cNvSpPr>
              <a:spLocks noChangeShapeType="1"/>
            </p:cNvSpPr>
            <p:nvPr/>
          </p:nvSpPr>
          <p:spPr bwMode="auto">
            <a:xfrm flipH="1">
              <a:off x="1658272" y="4183490"/>
              <a:ext cx="788801"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0" name="AutoShape 8"/>
            <p:cNvSpPr>
              <a:spLocks noChangeShapeType="1"/>
            </p:cNvSpPr>
            <p:nvPr/>
          </p:nvSpPr>
          <p:spPr bwMode="auto">
            <a:xfrm>
              <a:off x="2447073" y="4183490"/>
              <a:ext cx="673244"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1" name="AutoShape 7"/>
            <p:cNvSpPr>
              <a:spLocks noChangeShapeType="1"/>
            </p:cNvSpPr>
            <p:nvPr/>
          </p:nvSpPr>
          <p:spPr bwMode="auto">
            <a:xfrm flipH="1">
              <a:off x="4617532" y="4183490"/>
              <a:ext cx="916081"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2" name="AutoShape 6"/>
            <p:cNvSpPr>
              <a:spLocks noChangeShapeType="1"/>
            </p:cNvSpPr>
            <p:nvPr/>
          </p:nvSpPr>
          <p:spPr bwMode="auto">
            <a:xfrm>
              <a:off x="5533613" y="4183490"/>
              <a:ext cx="993119" cy="4788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3" name="AutoShape 5"/>
            <p:cNvSpPr>
              <a:spLocks noChangeShapeType="1"/>
            </p:cNvSpPr>
            <p:nvPr/>
          </p:nvSpPr>
          <p:spPr bwMode="auto">
            <a:xfrm flipH="1">
              <a:off x="5783149" y="5095562"/>
              <a:ext cx="743583" cy="42956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4" name="AutoShape 4"/>
            <p:cNvSpPr>
              <a:spLocks noChangeShapeType="1"/>
            </p:cNvSpPr>
            <p:nvPr/>
          </p:nvSpPr>
          <p:spPr bwMode="auto">
            <a:xfrm>
              <a:off x="6526732" y="5095562"/>
              <a:ext cx="673244" cy="42956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5" name="AutoShape 3"/>
            <p:cNvSpPr>
              <a:spLocks noChangeArrowheads="1"/>
            </p:cNvSpPr>
            <p:nvPr/>
          </p:nvSpPr>
          <p:spPr bwMode="auto">
            <a:xfrm>
              <a:off x="5155122" y="4611851"/>
              <a:ext cx="2689628" cy="1413832"/>
            </a:xfrm>
            <a:prstGeom prst="roundRect">
              <a:avLst>
                <a:gd name="adj" fmla="val 16667"/>
              </a:avLst>
            </a:prstGeom>
            <a:noFill/>
            <a:ln w="28575">
              <a:solidFill>
                <a:srgbClr val="FF00FF"/>
              </a:solidFill>
              <a:prstDash val="dash"/>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sp>
          <p:nvSpPr>
            <p:cNvPr id="26" name="AutoShape 2"/>
            <p:cNvSpPr>
              <a:spLocks noChangeArrowheads="1"/>
            </p:cNvSpPr>
            <p:nvPr/>
          </p:nvSpPr>
          <p:spPr bwMode="auto">
            <a:xfrm>
              <a:off x="1013498" y="3652852"/>
              <a:ext cx="2689628" cy="1576272"/>
            </a:xfrm>
            <a:prstGeom prst="roundRect">
              <a:avLst>
                <a:gd name="adj" fmla="val 16667"/>
              </a:avLst>
            </a:prstGeom>
            <a:noFill/>
            <a:ln w="28575">
              <a:solidFill>
                <a:srgbClr val="FF00FF"/>
              </a:solidFill>
              <a:prstDash val="dash"/>
              <a:round/>
              <a:tailEnd type="none" w="sm" len="sm"/>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ndParaRPr>
            </a:p>
          </p:txBody>
        </p:sp>
      </p:grpSp>
      <p:grpSp>
        <p:nvGrpSpPr>
          <p:cNvPr id="27" name="Group 27"/>
          <p:cNvGrpSpPr/>
          <p:nvPr/>
        </p:nvGrpSpPr>
        <p:grpSpPr bwMode="auto">
          <a:xfrm>
            <a:off x="714348" y="2714620"/>
            <a:ext cx="857255" cy="785818"/>
            <a:chOff x="741" y="1117"/>
            <a:chExt cx="1313" cy="1313"/>
          </a:xfrm>
        </p:grpSpPr>
        <p:grpSp>
          <p:nvGrpSpPr>
            <p:cNvPr id="28" name="Group 28"/>
            <p:cNvGrpSpPr/>
            <p:nvPr/>
          </p:nvGrpSpPr>
          <p:grpSpPr bwMode="auto">
            <a:xfrm>
              <a:off x="741" y="1117"/>
              <a:ext cx="1313" cy="1313"/>
              <a:chOff x="796" y="1102"/>
              <a:chExt cx="2132" cy="2132"/>
            </a:xfrm>
          </p:grpSpPr>
          <p:sp>
            <p:nvSpPr>
              <p:cNvPr id="30" name="Oval 29"/>
              <p:cNvSpPr>
                <a:spLocks noChangeArrowheads="1"/>
              </p:cNvSpPr>
              <p:nvPr/>
            </p:nvSpPr>
            <p:spPr bwMode="auto">
              <a:xfrm>
                <a:off x="796" y="1102"/>
                <a:ext cx="2132" cy="2132"/>
              </a:xfrm>
              <a:prstGeom prst="ellipse">
                <a:avLst/>
              </a:prstGeom>
              <a:solidFill>
                <a:schemeClr val="folHlink"/>
              </a:solidFill>
              <a:ln w="22225">
                <a:noFill/>
                <a:round/>
              </a:ln>
              <a:effectLst/>
            </p:spPr>
            <p:txBody>
              <a:bodyPr wrap="none" anchor="ctr"/>
              <a:lstStyle/>
              <a:p>
                <a:endParaRPr lang="zh-CN" altLang="en-US"/>
              </a:p>
            </p:txBody>
          </p:sp>
          <p:pic>
            <p:nvPicPr>
              <p:cNvPr id="31" name="Picture 30" descr="Round Pic Frame 1"/>
              <p:cNvPicPr>
                <a:picLocks noChangeAspect="1" noChangeArrowheads="1"/>
              </p:cNvPicPr>
              <p:nvPr/>
            </p:nvPicPr>
            <p:blipFill>
              <a:blip r:embed="rId2" cstate="print"/>
              <a:srcRect/>
              <a:stretch>
                <a:fillRect/>
              </a:stretch>
            </p:blipFill>
            <p:spPr bwMode="auto">
              <a:xfrm>
                <a:off x="841" y="1147"/>
                <a:ext cx="2042" cy="2042"/>
              </a:xfrm>
              <a:prstGeom prst="rect">
                <a:avLst/>
              </a:prstGeom>
              <a:noFill/>
              <a:ln w="9525">
                <a:noFill/>
                <a:miter lim="800000"/>
                <a:headEnd/>
                <a:tailEnd/>
              </a:ln>
            </p:spPr>
          </p:pic>
        </p:grpSp>
        <p:sp>
          <p:nvSpPr>
            <p:cNvPr id="29" name="Text Box 31"/>
            <p:cNvSpPr txBox="1">
              <a:spLocks noChangeArrowheads="1"/>
            </p:cNvSpPr>
            <p:nvPr/>
          </p:nvSpPr>
          <p:spPr bwMode="auto">
            <a:xfrm>
              <a:off x="866" y="1502"/>
              <a:ext cx="1061" cy="525"/>
            </a:xfrm>
            <a:prstGeom prst="rect">
              <a:avLst/>
            </a:prstGeom>
            <a:noFill/>
            <a:ln w="9525">
              <a:noFill/>
              <a:miter lim="800000"/>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4429156"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rPr>
              <a:t>3.</a:t>
            </a:r>
            <a:r>
              <a:rPr lang="zh-CN" altLang="zh-CN">
                <a:solidFill>
                  <a:srgbClr val="FF0000"/>
                </a:solidFill>
                <a:latin typeface="Consolas" panose="020B0609020204030204" pitchFamily="49" charset="0"/>
                <a:ea typeface="微软雅黑" panose="020B0503020204020204" pitchFamily="34" charset="-122"/>
              </a:rPr>
              <a:t>动态规划求解问题的</a:t>
            </a:r>
            <a:r>
              <a:rPr lang="zh-CN" altLang="en-US">
                <a:solidFill>
                  <a:srgbClr val="FF0000"/>
                </a:solidFill>
                <a:latin typeface="Consolas" panose="020B0609020204030204" pitchFamily="49" charset="0"/>
                <a:ea typeface="微软雅黑" panose="020B0503020204020204" pitchFamily="34" charset="-122"/>
              </a:rPr>
              <a:t>步骤</a:t>
            </a:r>
            <a:endPar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357158" y="1500174"/>
            <a:ext cx="8429684" cy="452431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Font typeface="+mj-ea"/>
              <a:buAutoNum type="circleNumDbPlain"/>
            </a:pPr>
            <a:r>
              <a:rPr lang="zh-CN" altLang="zh-CN">
                <a:solidFill>
                  <a:srgbClr val="FF0000"/>
                </a:solidFill>
                <a:latin typeface="Consolas" panose="020B0609020204030204" pitchFamily="49" charset="0"/>
                <a:ea typeface="仿宋" panose="02010609060101010101" pitchFamily="49" charset="-122"/>
              </a:rPr>
              <a:t>确定状态</a:t>
            </a:r>
            <a:r>
              <a:rPr lang="zh-CN" altLang="zh-CN">
                <a:solidFill>
                  <a:srgbClr val="0000FF"/>
                </a:solidFill>
                <a:latin typeface="Consolas" panose="020B0609020204030204" pitchFamily="49" charset="0"/>
                <a:ea typeface="仿宋" panose="02010609060101010101" pitchFamily="49" charset="-122"/>
              </a:rPr>
              <a:t>：将问题求解中各个阶段所处的各种情况用不同的状态表示出来。</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Font typeface="+mj-ea"/>
              <a:buAutoNum type="circleNumDbPlain"/>
            </a:pPr>
            <a:r>
              <a:rPr lang="zh-CN" altLang="zh-CN">
                <a:solidFill>
                  <a:srgbClr val="FF0000"/>
                </a:solidFill>
                <a:latin typeface="Consolas" panose="020B0609020204030204" pitchFamily="49" charset="0"/>
                <a:ea typeface="仿宋" panose="02010609060101010101" pitchFamily="49" charset="-122"/>
              </a:rPr>
              <a:t>确定状态转移方程</a:t>
            </a:r>
            <a:r>
              <a:rPr lang="zh-CN" altLang="zh-CN">
                <a:solidFill>
                  <a:srgbClr val="0000FF"/>
                </a:solidFill>
                <a:latin typeface="Consolas" panose="020B0609020204030204" pitchFamily="49" charset="0"/>
                <a:ea typeface="仿宋" panose="02010609060101010101" pitchFamily="49" charset="-122"/>
              </a:rPr>
              <a:t>：描述求解中各个阶段的状态转移和指标函数的关系。</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Font typeface="+mj-ea"/>
              <a:buAutoNum type="circleNumDbPlain"/>
            </a:pPr>
            <a:r>
              <a:rPr lang="zh-CN" altLang="zh-CN">
                <a:solidFill>
                  <a:srgbClr val="FF0000"/>
                </a:solidFill>
                <a:latin typeface="Consolas" panose="020B0609020204030204" pitchFamily="49" charset="0"/>
                <a:ea typeface="仿宋" panose="02010609060101010101" pitchFamily="49" charset="-122"/>
              </a:rPr>
              <a:t>确定初始条件和边界情况</a:t>
            </a:r>
            <a:r>
              <a:rPr lang="zh-CN" altLang="zh-CN">
                <a:solidFill>
                  <a:srgbClr val="0000FF"/>
                </a:solidFill>
                <a:latin typeface="Consolas" panose="020B0609020204030204" pitchFamily="49" charset="0"/>
                <a:ea typeface="仿宋" panose="02010609060101010101" pitchFamily="49" charset="-122"/>
              </a:rPr>
              <a:t>：状态转移方程通常是一个递推式，初始条件通常指定递推的起点，在递推中需要考虑一些特殊情况，称为边界情况。</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Font typeface="+mj-ea"/>
              <a:buAutoNum type="circleNumDbPlain"/>
            </a:pPr>
            <a:r>
              <a:rPr lang="zh-CN" altLang="zh-CN">
                <a:solidFill>
                  <a:srgbClr val="FF0000"/>
                </a:solidFill>
                <a:latin typeface="Consolas" panose="020B0609020204030204" pitchFamily="49" charset="0"/>
                <a:ea typeface="仿宋" panose="02010609060101010101" pitchFamily="49" charset="-122"/>
              </a:rPr>
              <a:t>确定计算顺序</a:t>
            </a:r>
            <a:r>
              <a:rPr lang="zh-CN" altLang="zh-CN">
                <a:solidFill>
                  <a:srgbClr val="0000FF"/>
                </a:solidFill>
                <a:latin typeface="Consolas" panose="020B0609020204030204" pitchFamily="49" charset="0"/>
                <a:ea typeface="仿宋" panose="02010609060101010101" pitchFamily="49" charset="-122"/>
              </a:rPr>
              <a:t>：也就是指定求状态转移方程的顺序，是顺序求解还是逆序求解。</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Font typeface="+mj-ea"/>
              <a:buAutoNum type="circleNumDbPlain"/>
            </a:pPr>
            <a:r>
              <a:rPr lang="zh-CN" altLang="zh-CN">
                <a:solidFill>
                  <a:srgbClr val="FF0000"/>
                </a:solidFill>
                <a:latin typeface="Consolas" panose="020B0609020204030204" pitchFamily="49" charset="0"/>
                <a:ea typeface="仿宋" panose="02010609060101010101" pitchFamily="49" charset="-122"/>
              </a:rPr>
              <a:t>消除冗</a:t>
            </a:r>
            <a:r>
              <a:rPr lang="zh-CN" altLang="zh-CN">
                <a:solidFill>
                  <a:srgbClr val="0000FF"/>
                </a:solidFill>
                <a:latin typeface="Consolas" panose="020B0609020204030204" pitchFamily="49" charset="0"/>
                <a:ea typeface="仿宋" panose="02010609060101010101" pitchFamily="49" charset="-122"/>
              </a:rPr>
              <a:t>余：如采用滚动数组进一步提高时空性能。</a:t>
            </a:r>
            <a:endParaRPr lang="zh-CN" altLang="zh-CN">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857356" y="285728"/>
            <a:ext cx="492922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7.2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最大连续子序列和</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428736"/>
            <a:ext cx="8072494" cy="3523501"/>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200"/>
              </a:lnSpc>
              <a:spcBef>
                <a:spcPts val="1200"/>
              </a:spcBef>
            </a:pP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zh-CN">
                <a:solidFill>
                  <a:srgbClr val="FF0000"/>
                </a:solidFill>
                <a:latin typeface="楷体" panose="02010609060101010101" pitchFamily="49" charset="-122"/>
                <a:ea typeface="楷体" panose="02010609060101010101" pitchFamily="49" charset="-122"/>
              </a:rPr>
              <a:t>问题描述</a:t>
            </a:r>
            <a:r>
              <a:rPr lang="zh-CN" altLang="zh-CN">
                <a:solidFill>
                  <a:srgbClr val="0000FF"/>
                </a:solidFill>
                <a:latin typeface="楷体" panose="02010609060101010101" pitchFamily="49" charset="-122"/>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给定一个含</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）个整数的序列，要求求出其中最大连续子序列的和。</a:t>
            </a:r>
            <a:endParaRPr lang="en-US" altLang="zh-CN">
              <a:solidFill>
                <a:srgbClr val="0000FF"/>
              </a:solidFill>
              <a:latin typeface="Consolas" panose="020B0609020204030204" pitchFamily="49" charset="0"/>
              <a:ea typeface="仿宋" panose="02010609060101010101" pitchFamily="49" charset="-122"/>
            </a:endParaRPr>
          </a:p>
          <a:p>
            <a:pPr algn="l">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序列（</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11</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-4</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13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）的最大子序列和为</a:t>
            </a:r>
            <a:r>
              <a:rPr lang="en-US" altLang="zh-CN">
                <a:solidFill>
                  <a:srgbClr val="0000FF"/>
                </a:solidFill>
                <a:latin typeface="Consolas" panose="020B0609020204030204" pitchFamily="49" charset="0"/>
                <a:ea typeface="仿宋" panose="02010609060101010101" pitchFamily="49" charset="-122"/>
              </a:rPr>
              <a:t>20</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序列（</a:t>
            </a:r>
            <a:r>
              <a:rPr lang="en-US" altLang="zh-CN">
                <a:solidFill>
                  <a:srgbClr val="0000FF"/>
                </a:solidFill>
                <a:latin typeface="Consolas" panose="020B0609020204030204" pitchFamily="49" charset="0"/>
                <a:ea typeface="仿宋" panose="02010609060101010101" pitchFamily="49" charset="-122"/>
              </a:rPr>
              <a:t>-6</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5</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3</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2</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-1</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6</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-9</a:t>
            </a:r>
            <a:r>
              <a:rPr lang="zh-CN" altLang="zh-CN" u="sng">
                <a:solidFill>
                  <a:srgbClr val="FF00FF"/>
                </a:solidFill>
                <a:latin typeface="Consolas" panose="020B0609020204030204" pitchFamily="49" charset="0"/>
                <a:ea typeface="仿宋" panose="02010609060101010101" pitchFamily="49" charset="-122"/>
              </a:rPr>
              <a:t>，</a:t>
            </a:r>
            <a:r>
              <a:rPr lang="en-US" altLang="zh-CN" u="sng">
                <a:solidFill>
                  <a:srgbClr val="FF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）的最大子序列和为</a:t>
            </a:r>
            <a:r>
              <a:rPr lang="en-US" altLang="zh-CN">
                <a:solidFill>
                  <a:srgbClr val="0000FF"/>
                </a:solidFill>
                <a:latin typeface="Consolas" panose="020B0609020204030204" pitchFamily="49" charset="0"/>
                <a:ea typeface="仿宋" panose="02010609060101010101" pitchFamily="49" charset="-122"/>
              </a:rPr>
              <a:t>16</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规定一个序列最大连续子序列和至少是</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，如果小于</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，其结果为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142984"/>
            <a:ext cx="8501122"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先采用递归求解</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设</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表示以元素</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结尾的最大连续子序列和，为大问题</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表示以元素</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结尾的最大连续子序列和，为小问题</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79884"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8" name="组合 17"/>
          <p:cNvGrpSpPr/>
          <p:nvPr/>
        </p:nvGrpSpPr>
        <p:grpSpPr>
          <a:xfrm>
            <a:off x="1785918" y="3286124"/>
            <a:ext cx="3346228" cy="1513791"/>
            <a:chOff x="1643042" y="2571744"/>
            <a:chExt cx="3346228" cy="1513791"/>
          </a:xfrm>
        </p:grpSpPr>
        <p:sp>
          <p:nvSpPr>
            <p:cNvPr id="79882" name="Text Box 10"/>
            <p:cNvSpPr txBox="1">
              <a:spLocks noChangeArrowheads="1"/>
            </p:cNvSpPr>
            <p:nvPr/>
          </p:nvSpPr>
          <p:spPr bwMode="auto">
            <a:xfrm>
              <a:off x="1643042"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9881" name="Text Box 9"/>
            <p:cNvSpPr txBox="1">
              <a:spLocks noChangeArrowheads="1"/>
            </p:cNvSpPr>
            <p:nvPr/>
          </p:nvSpPr>
          <p:spPr bwMode="auto">
            <a:xfrm>
              <a:off x="2235056"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9880" name="Text Box 8"/>
            <p:cNvSpPr txBox="1">
              <a:spLocks noChangeArrowheads="1"/>
            </p:cNvSpPr>
            <p:nvPr/>
          </p:nvSpPr>
          <p:spPr bwMode="auto">
            <a:xfrm>
              <a:off x="2949164" y="3216638"/>
              <a:ext cx="48269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2000" i="0" u="none" strike="noStrike" cap="none" normalizeH="0" baseline="0">
                <a:ln>
                  <a:noFill/>
                </a:ln>
                <a:solidFill>
                  <a:srgbClr val="0000FF"/>
                </a:solidFill>
                <a:effectLst/>
                <a:latin typeface="+mj-ea"/>
                <a:ea typeface="+mj-ea"/>
                <a:cs typeface="宋体" panose="02010600030101010101" pitchFamily="2" charset="-122"/>
              </a:endParaRPr>
            </a:p>
          </p:txBody>
        </p:sp>
        <p:sp>
          <p:nvSpPr>
            <p:cNvPr id="79879" name="Text Box 7"/>
            <p:cNvSpPr txBox="1">
              <a:spLocks noChangeArrowheads="1"/>
            </p:cNvSpPr>
            <p:nvPr/>
          </p:nvSpPr>
          <p:spPr bwMode="auto">
            <a:xfrm>
              <a:off x="3778268"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9878" name="Text Box 6"/>
            <p:cNvSpPr txBox="1">
              <a:spLocks noChangeArrowheads="1"/>
            </p:cNvSpPr>
            <p:nvPr/>
          </p:nvSpPr>
          <p:spPr bwMode="auto">
            <a:xfrm>
              <a:off x="4505153" y="3216638"/>
              <a:ext cx="484117" cy="373732"/>
            </a:xfrm>
            <a:prstGeom prst="rect">
              <a:avLst/>
            </a:prstGeom>
            <a:solidFill>
              <a:srgbClr val="FF0000"/>
            </a:solidFill>
            <a:ln w="9525">
              <a:solidFill>
                <a:srgbClr val="000000"/>
              </a:solid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1" u="none" strike="noStrike" cap="none" normalizeH="0" baseline="-3000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200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9877" name="Text Box 5"/>
            <p:cNvSpPr txBox="1">
              <a:spLocks noChangeArrowheads="1"/>
            </p:cNvSpPr>
            <p:nvPr/>
          </p:nvSpPr>
          <p:spPr bwMode="auto">
            <a:xfrm>
              <a:off x="2460788" y="2571744"/>
              <a:ext cx="840461"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f</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9876" name="AutoShape 4"/>
            <p:cNvSpPr/>
            <p:nvPr/>
          </p:nvSpPr>
          <p:spPr bwMode="auto">
            <a:xfrm rot="5400000">
              <a:off x="3225172" y="2236474"/>
              <a:ext cx="200424" cy="2897604"/>
            </a:xfrm>
            <a:prstGeom prst="rightBrace">
              <a:avLst>
                <a:gd name="adj1" fmla="val 100049"/>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79875" name="AutoShape 3"/>
            <p:cNvSpPr/>
            <p:nvPr/>
          </p:nvSpPr>
          <p:spPr bwMode="auto">
            <a:xfrm rot="16200000">
              <a:off x="2801985" y="1986664"/>
              <a:ext cx="268804" cy="2145164"/>
            </a:xfrm>
            <a:prstGeom prst="rightBrace">
              <a:avLst>
                <a:gd name="adj1" fmla="val 55227"/>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79874" name="Text Box 2"/>
            <p:cNvSpPr txBox="1">
              <a:spLocks noChangeArrowheads="1"/>
            </p:cNvSpPr>
            <p:nvPr/>
          </p:nvSpPr>
          <p:spPr bwMode="auto">
            <a:xfrm>
              <a:off x="3027248" y="3842668"/>
              <a:ext cx="751020"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f</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7" name="Picture 4"/>
          <p:cNvPicPr>
            <a:picLocks noChangeAspect="1" noChangeArrowheads="1"/>
          </p:cNvPicPr>
          <p:nvPr/>
        </p:nvPicPr>
        <p:blipFill>
          <a:blip r:embed="rId2" cstate="print"/>
          <a:srcRect/>
          <a:stretch>
            <a:fillRect/>
          </a:stretch>
        </p:blipFill>
        <p:spPr bwMode="auto">
          <a:xfrm>
            <a:off x="500034" y="428604"/>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14414" y="214290"/>
            <a:ext cx="3346228" cy="1513791"/>
            <a:chOff x="1643042" y="2571744"/>
            <a:chExt cx="3346228" cy="1513791"/>
          </a:xfrm>
        </p:grpSpPr>
        <p:sp>
          <p:nvSpPr>
            <p:cNvPr id="4" name="Text Box 10"/>
            <p:cNvSpPr txBox="1">
              <a:spLocks noChangeArrowheads="1"/>
            </p:cNvSpPr>
            <p:nvPr/>
          </p:nvSpPr>
          <p:spPr bwMode="auto">
            <a:xfrm>
              <a:off x="1643042"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5" name="Text Box 9"/>
            <p:cNvSpPr txBox="1">
              <a:spLocks noChangeArrowheads="1"/>
            </p:cNvSpPr>
            <p:nvPr/>
          </p:nvSpPr>
          <p:spPr bwMode="auto">
            <a:xfrm>
              <a:off x="2235056"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 name="Text Box 8"/>
            <p:cNvSpPr txBox="1">
              <a:spLocks noChangeArrowheads="1"/>
            </p:cNvSpPr>
            <p:nvPr/>
          </p:nvSpPr>
          <p:spPr bwMode="auto">
            <a:xfrm>
              <a:off x="2949164" y="3216638"/>
              <a:ext cx="48269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2000" i="0" u="none" strike="noStrike" cap="none" normalizeH="0" baseline="0">
                <a:ln>
                  <a:noFill/>
                </a:ln>
                <a:solidFill>
                  <a:srgbClr val="0000FF"/>
                </a:solidFill>
                <a:effectLst/>
                <a:latin typeface="+mj-ea"/>
                <a:ea typeface="+mj-ea"/>
                <a:cs typeface="宋体" panose="02010600030101010101" pitchFamily="2" charset="-122"/>
              </a:endParaRPr>
            </a:p>
          </p:txBody>
        </p:sp>
        <p:sp>
          <p:nvSpPr>
            <p:cNvPr id="7" name="Text Box 7"/>
            <p:cNvSpPr txBox="1">
              <a:spLocks noChangeArrowheads="1"/>
            </p:cNvSpPr>
            <p:nvPr/>
          </p:nvSpPr>
          <p:spPr bwMode="auto">
            <a:xfrm>
              <a:off x="3778268" y="3216638"/>
              <a:ext cx="484117"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Text Box 6"/>
            <p:cNvSpPr txBox="1">
              <a:spLocks noChangeArrowheads="1"/>
            </p:cNvSpPr>
            <p:nvPr/>
          </p:nvSpPr>
          <p:spPr bwMode="auto">
            <a:xfrm>
              <a:off x="4505153" y="3216638"/>
              <a:ext cx="484117" cy="373732"/>
            </a:xfrm>
            <a:prstGeom prst="rect">
              <a:avLst/>
            </a:prstGeom>
            <a:solidFill>
              <a:srgbClr val="FF0000"/>
            </a:solidFill>
            <a:ln w="9525">
              <a:solidFill>
                <a:srgbClr val="000000"/>
              </a:solid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1" u="none" strike="noStrike" cap="none" normalizeH="0" baseline="-3000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200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Text Box 5"/>
            <p:cNvSpPr txBox="1">
              <a:spLocks noChangeArrowheads="1"/>
            </p:cNvSpPr>
            <p:nvPr/>
          </p:nvSpPr>
          <p:spPr bwMode="auto">
            <a:xfrm>
              <a:off x="2460788" y="2571744"/>
              <a:ext cx="840461"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f</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 name="AutoShape 4"/>
            <p:cNvSpPr/>
            <p:nvPr/>
          </p:nvSpPr>
          <p:spPr bwMode="auto">
            <a:xfrm rot="5400000">
              <a:off x="3225172" y="2236474"/>
              <a:ext cx="200424" cy="2897604"/>
            </a:xfrm>
            <a:prstGeom prst="rightBrace">
              <a:avLst>
                <a:gd name="adj1" fmla="val 100049"/>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1" name="AutoShape 3"/>
            <p:cNvSpPr/>
            <p:nvPr/>
          </p:nvSpPr>
          <p:spPr bwMode="auto">
            <a:xfrm rot="16200000">
              <a:off x="2801985" y="1986664"/>
              <a:ext cx="268804" cy="2145164"/>
            </a:xfrm>
            <a:prstGeom prst="rightBrace">
              <a:avLst>
                <a:gd name="adj1" fmla="val 55227"/>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2" name="Text Box 2"/>
            <p:cNvSpPr txBox="1">
              <a:spLocks noChangeArrowheads="1"/>
            </p:cNvSpPr>
            <p:nvPr/>
          </p:nvSpPr>
          <p:spPr bwMode="auto">
            <a:xfrm>
              <a:off x="3027248" y="3842668"/>
              <a:ext cx="751020" cy="24286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f</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13" name="TextBox 12"/>
          <p:cNvSpPr txBox="1"/>
          <p:nvPr/>
        </p:nvSpPr>
        <p:spPr>
          <a:xfrm>
            <a:off x="428596" y="2000240"/>
            <a:ext cx="8286808" cy="230832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0000FF"/>
                </a:solidFill>
                <a:latin typeface="Consolas" panose="020B0609020204030204" pitchFamily="49" charset="0"/>
                <a:ea typeface="仿宋" panose="02010609060101010101" pitchFamily="49" charset="-122"/>
              </a:rPr>
              <a:t>考虑</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的两种情况：</a:t>
            </a:r>
            <a:endParaRPr lang="zh-CN" altLang="zh-CN">
              <a:solidFill>
                <a:srgbClr val="0000FF"/>
              </a:solidFill>
              <a:latin typeface="Consolas" panose="020B0609020204030204" pitchFamily="49" charset="0"/>
              <a:ea typeface="仿宋" panose="02010609060101010101" pitchFamily="49" charset="-122"/>
            </a:endParaRPr>
          </a:p>
          <a:p>
            <a:pPr algn="l">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）将</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将合并到前面以元素</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结尾的最大连续子序列中，此时有</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a:p>
            <a:pPr algn="l">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）不将</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合并到前面以元素</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结尾的最大连续子序列中，即以</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结尾的最大连续子序列为</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i="1" baseline="-25000">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，此时有</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 a</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14" name="TextBox 13"/>
          <p:cNvSpPr txBox="1"/>
          <p:nvPr/>
        </p:nvSpPr>
        <p:spPr>
          <a:xfrm>
            <a:off x="500034" y="5000636"/>
            <a:ext cx="792961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800"/>
              </a:lnSpc>
              <a:spcBef>
                <a:spcPts val="600"/>
              </a:spcBef>
            </a:pP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(0)=</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a:solidFill>
                  <a:srgbClr val="0000FF"/>
                </a:solidFill>
                <a:latin typeface="Consolas" panose="020B0609020204030204" pitchFamily="49" charset="0"/>
                <a:ea typeface="仿宋" panose="02010609060101010101" pitchFamily="49" charset="-122"/>
              </a:rPr>
              <a:t>[0]											</a:t>
            </a:r>
            <a:r>
              <a:rPr lang="zh-CN" altLang="zh-CN" sz="2000">
                <a:solidFill>
                  <a:srgbClr val="00B0F0"/>
                </a:solidFill>
                <a:latin typeface="Consolas" panose="020B0609020204030204" pitchFamily="49" charset="0"/>
                <a:ea typeface="仿宋" panose="02010609060101010101" pitchFamily="49" charset="-122"/>
              </a:rPr>
              <a:t>递归出口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)=max(</a:t>
            </a: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&gt;0</a:t>
            </a:r>
            <a:r>
              <a:rPr lang="zh-CN" altLang="zh-CN" sz="2000">
                <a:solidFill>
                  <a:srgbClr val="00B0F0"/>
                </a:solidFill>
                <a:latin typeface="Consolas" panose="020B0609020204030204" pitchFamily="49" charset="0"/>
                <a:ea typeface="仿宋" panose="02010609060101010101" pitchFamily="49" charset="-122"/>
              </a:rPr>
              <a:t>时</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15" name="下箭头 14"/>
          <p:cNvSpPr/>
          <p:nvPr/>
        </p:nvSpPr>
        <p:spPr>
          <a:xfrm>
            <a:off x="3786182" y="4429132"/>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85794"/>
            <a:ext cx="792961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800"/>
              </a:lnSpc>
              <a:spcBef>
                <a:spcPts val="600"/>
              </a:spcBef>
            </a:pP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(0)=</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a:solidFill>
                  <a:srgbClr val="0000FF"/>
                </a:solidFill>
                <a:latin typeface="Consolas" panose="020B0609020204030204" pitchFamily="49" charset="0"/>
                <a:ea typeface="仿宋" panose="02010609060101010101" pitchFamily="49" charset="-122"/>
              </a:rPr>
              <a:t>[0]											</a:t>
            </a:r>
            <a:r>
              <a:rPr lang="zh-CN" altLang="zh-CN" sz="2000">
                <a:solidFill>
                  <a:srgbClr val="00B0F0"/>
                </a:solidFill>
                <a:latin typeface="Consolas" panose="020B0609020204030204" pitchFamily="49" charset="0"/>
                <a:ea typeface="仿宋" panose="02010609060101010101" pitchFamily="49" charset="-122"/>
              </a:rPr>
              <a:t>递归出口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)=max(</a:t>
            </a:r>
            <a:r>
              <a:rPr lang="en-US" altLang="zh-CN" sz="2000" i="1">
                <a:solidFill>
                  <a:srgbClr val="0000FF"/>
                </a:solidFill>
                <a:latin typeface="Consolas" panose="020B0609020204030204" pitchFamily="49" charset="0"/>
                <a:ea typeface="仿宋" panose="02010609060101010101" pitchFamily="49" charset="-122"/>
              </a:rPr>
              <a:t>f</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&gt;0</a:t>
            </a:r>
            <a:r>
              <a:rPr lang="zh-CN" altLang="zh-CN" sz="2000">
                <a:solidFill>
                  <a:srgbClr val="00B0F0"/>
                </a:solidFill>
                <a:latin typeface="Consolas" panose="020B0609020204030204" pitchFamily="49" charset="0"/>
                <a:ea typeface="仿宋" panose="02010609060101010101" pitchFamily="49" charset="-122"/>
              </a:rPr>
              <a:t>时</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4" name="TextBox 3"/>
          <p:cNvSpPr txBox="1"/>
          <p:nvPr/>
        </p:nvSpPr>
        <p:spPr>
          <a:xfrm>
            <a:off x="357158" y="2357430"/>
            <a:ext cx="8215370" cy="17594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最大连续子序列和</a:t>
            </a:r>
            <a:r>
              <a:rPr lang="en-US" altLang="zh-CN">
                <a:solidFill>
                  <a:srgbClr val="FF0000"/>
                </a:solidFill>
                <a:latin typeface="Consolas" panose="020B0609020204030204" pitchFamily="49" charset="0"/>
                <a:ea typeface="仿宋" panose="02010609060101010101" pitchFamily="49" charset="-122"/>
              </a:rPr>
              <a:t>ans=max</a:t>
            </a:r>
            <a:r>
              <a:rPr lang="en-US" altLang="zh-CN" baseline="-25000">
                <a:solidFill>
                  <a:srgbClr val="FF0000"/>
                </a:solidFill>
                <a:latin typeface="Consolas" panose="020B0609020204030204" pitchFamily="49" charset="0"/>
                <a:ea typeface="仿宋" panose="02010609060101010101" pitchFamily="49" charset="-122"/>
              </a:rPr>
              <a:t>0</a:t>
            </a:r>
            <a:r>
              <a:rPr lang="en-US" altLang="zh-CN" baseline="-25000">
                <a:solidFill>
                  <a:srgbClr val="FF0000"/>
                </a:solidFill>
                <a:latin typeface="+mj-ea"/>
                <a:ea typeface="+mj-ea"/>
              </a:rPr>
              <a:t>≤</a:t>
            </a:r>
            <a:r>
              <a:rPr lang="en-US" altLang="zh-CN" i="1" baseline="-25000">
                <a:solidFill>
                  <a:srgbClr val="FF0000"/>
                </a:solidFill>
                <a:latin typeface="Consolas" panose="020B0609020204030204" pitchFamily="49" charset="0"/>
                <a:ea typeface="仿宋" panose="02010609060101010101" pitchFamily="49" charset="-122"/>
              </a:rPr>
              <a:t>i</a:t>
            </a:r>
            <a:r>
              <a:rPr lang="en-US" altLang="zh-CN" baseline="-25000">
                <a:solidFill>
                  <a:srgbClr val="FF0000"/>
                </a:solidFill>
                <a:latin typeface="+mj-ea"/>
                <a:ea typeface="+mj-ea"/>
              </a:rPr>
              <a:t>≤</a:t>
            </a:r>
            <a:r>
              <a:rPr lang="en-US" altLang="zh-CN" i="1" baseline="-25000">
                <a:solidFill>
                  <a:srgbClr val="FF0000"/>
                </a:solidFill>
                <a:latin typeface="Consolas" panose="020B0609020204030204" pitchFamily="49" charset="0"/>
                <a:ea typeface="仿宋" panose="02010609060101010101" pitchFamily="49" charset="-122"/>
              </a:rPr>
              <a:t>n</a:t>
            </a:r>
            <a:r>
              <a:rPr lang="en-US" altLang="zh-CN" baseline="-25000">
                <a:solidFill>
                  <a:srgbClr val="FF0000"/>
                </a:solidFill>
                <a:latin typeface="Consolas" panose="020B0609020204030204" pitchFamily="49" charset="0"/>
                <a:ea typeface="仿宋" panose="02010609060101010101" pitchFamily="49" charset="-122"/>
              </a:rPr>
              <a:t>-1</a:t>
            </a:r>
            <a:r>
              <a:rPr lang="en-US" altLang="zh-CN" i="1">
                <a:solidFill>
                  <a:srgbClr val="FF0000"/>
                </a:solidFill>
                <a:latin typeface="Consolas" panose="020B0609020204030204" pitchFamily="49" charset="0"/>
                <a:ea typeface="仿宋" panose="02010609060101010101" pitchFamily="49" charset="-122"/>
              </a:rPr>
              <a:t>f</a:t>
            </a:r>
            <a:r>
              <a:rPr lang="en-US" altLang="zh-CN">
                <a:solidFill>
                  <a:srgbClr val="FF0000"/>
                </a:solidFill>
                <a:latin typeface="Consolas" panose="020B0609020204030204" pitchFamily="49" charset="0"/>
                <a:ea typeface="仿宋" panose="02010609060101010101" pitchFamily="49" charset="-122"/>
              </a:rPr>
              <a:t>(</a:t>
            </a:r>
            <a:r>
              <a:rPr lang="en-US" altLang="zh-CN" i="1">
                <a:solidFill>
                  <a:srgbClr val="FF0000"/>
                </a:solidFill>
                <a:latin typeface="Consolas" panose="020B0609020204030204" pitchFamily="49" charset="0"/>
                <a:ea typeface="仿宋" panose="02010609060101010101" pitchFamily="49" charset="-122"/>
              </a:rPr>
              <a:t>i</a:t>
            </a:r>
            <a:r>
              <a:rPr lang="en-US" altLang="zh-CN">
                <a:solidFill>
                  <a:srgbClr val="FF0000"/>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1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本题中最大连续子序列和至少为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（或者说最大连续子序列可以为空序列），所以最后的最大连续子序列和应该为</a:t>
            </a:r>
            <a:r>
              <a:rPr lang="en-US" altLang="zh-CN">
                <a:solidFill>
                  <a:srgbClr val="0000FF"/>
                </a:solidFill>
                <a:latin typeface="Consolas" panose="020B0609020204030204" pitchFamily="49" charset="0"/>
                <a:ea typeface="仿宋" panose="02010609060101010101" pitchFamily="49" charset="-122"/>
              </a:rPr>
              <a:t>max(ans</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215370" cy="178189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如果采用递归算法实现，其中存在大量的重叠子问题，改为动态规划方法</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设置一维动态规划数组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，用</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存放</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的值，这样得到如下状态转移方程：</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928662" y="2571744"/>
            <a:ext cx="685804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dp[0]=</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a:solidFill>
                  <a:srgbClr val="0000FF"/>
                </a:solidFill>
                <a:latin typeface="Consolas" panose="020B0609020204030204" pitchFamily="49" charset="0"/>
                <a:ea typeface="仿宋" panose="02010609060101010101" pitchFamily="49" charset="-122"/>
              </a:rPr>
              <a:t>[0]											</a:t>
            </a:r>
            <a:r>
              <a:rPr lang="zh-CN" altLang="zh-CN" sz="2000">
                <a:solidFill>
                  <a:srgbClr val="00B0F0"/>
                </a:solidFill>
                <a:latin typeface="Consolas" panose="020B0609020204030204" pitchFamily="49" charset="0"/>
                <a:ea typeface="仿宋" panose="02010609060101010101" pitchFamily="49" charset="-122"/>
              </a:rPr>
              <a:t>初始条件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]=max{dp[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a</a:t>
            </a:r>
            <a:r>
              <a:rPr lang="en-US" altLang="zh-CN" sz="2000" i="1" baseline="-25000">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&gt;0</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6585"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8" name="组合 27"/>
          <p:cNvGrpSpPr/>
          <p:nvPr/>
        </p:nvGrpSpPr>
        <p:grpSpPr>
          <a:xfrm>
            <a:off x="428596" y="3143248"/>
            <a:ext cx="8215370" cy="2173823"/>
            <a:chOff x="571472" y="857232"/>
            <a:chExt cx="8215370" cy="2173823"/>
          </a:xfrm>
        </p:grpSpPr>
        <p:sp>
          <p:nvSpPr>
            <p:cNvPr id="66583" name="Text Box 23"/>
            <p:cNvSpPr txBox="1">
              <a:spLocks noChangeArrowheads="1"/>
            </p:cNvSpPr>
            <p:nvPr/>
          </p:nvSpPr>
          <p:spPr bwMode="auto">
            <a:xfrm>
              <a:off x="3861665" y="2737198"/>
              <a:ext cx="1819476" cy="29385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ans=dp[3]=20</a:t>
              </a:r>
              <a:endPar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82" name="Text Box 22"/>
            <p:cNvSpPr txBox="1">
              <a:spLocks noChangeArrowheads="1"/>
            </p:cNvSpPr>
            <p:nvPr/>
          </p:nvSpPr>
          <p:spPr bwMode="auto">
            <a:xfrm>
              <a:off x="571472" y="1634945"/>
              <a:ext cx="1139678" cy="365295"/>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dp[0]=-2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81" name="Text Box 21"/>
            <p:cNvSpPr txBox="1">
              <a:spLocks noChangeArrowheads="1"/>
            </p:cNvSpPr>
            <p:nvPr/>
          </p:nvSpPr>
          <p:spPr bwMode="auto">
            <a:xfrm>
              <a:off x="1041857"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80" name="Text Box 20"/>
            <p:cNvSpPr txBox="1">
              <a:spLocks noChangeArrowheads="1"/>
            </p:cNvSpPr>
            <p:nvPr/>
          </p:nvSpPr>
          <p:spPr bwMode="auto">
            <a:xfrm>
              <a:off x="1041857"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9" name="Text Box 19"/>
            <p:cNvSpPr txBox="1">
              <a:spLocks noChangeArrowheads="1"/>
            </p:cNvSpPr>
            <p:nvPr/>
          </p:nvSpPr>
          <p:spPr bwMode="auto">
            <a:xfrm>
              <a:off x="2134162" y="1634945"/>
              <a:ext cx="1223392" cy="365295"/>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dp[1]=11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8" name="Text Box 18"/>
            <p:cNvSpPr txBox="1">
              <a:spLocks noChangeArrowheads="1"/>
            </p:cNvSpPr>
            <p:nvPr/>
          </p:nvSpPr>
          <p:spPr bwMode="auto">
            <a:xfrm>
              <a:off x="2318795"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7" name="Text Box 17"/>
            <p:cNvSpPr txBox="1">
              <a:spLocks noChangeArrowheads="1"/>
            </p:cNvSpPr>
            <p:nvPr/>
          </p:nvSpPr>
          <p:spPr bwMode="auto">
            <a:xfrm>
              <a:off x="2318795"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6" name="Text Box 16"/>
            <p:cNvSpPr txBox="1">
              <a:spLocks noChangeArrowheads="1"/>
            </p:cNvSpPr>
            <p:nvPr/>
          </p:nvSpPr>
          <p:spPr bwMode="auto">
            <a:xfrm>
              <a:off x="3432965" y="1634945"/>
              <a:ext cx="1210473" cy="29385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dp[2]=7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5" name="Text Box 15"/>
            <p:cNvSpPr txBox="1">
              <a:spLocks noChangeArrowheads="1"/>
            </p:cNvSpPr>
            <p:nvPr/>
          </p:nvSpPr>
          <p:spPr bwMode="auto">
            <a:xfrm>
              <a:off x="3617598"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4" name="Text Box 14"/>
            <p:cNvSpPr txBox="1">
              <a:spLocks noChangeArrowheads="1"/>
            </p:cNvSpPr>
            <p:nvPr/>
          </p:nvSpPr>
          <p:spPr bwMode="auto">
            <a:xfrm>
              <a:off x="3617598"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3" name="Text Box 13"/>
            <p:cNvSpPr txBox="1">
              <a:spLocks noChangeArrowheads="1"/>
            </p:cNvSpPr>
            <p:nvPr/>
          </p:nvSpPr>
          <p:spPr bwMode="auto">
            <a:xfrm>
              <a:off x="4714876" y="1634945"/>
              <a:ext cx="1258060" cy="29385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dp[3]=20</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2" name="Text Box 12"/>
            <p:cNvSpPr txBox="1">
              <a:spLocks noChangeArrowheads="1"/>
            </p:cNvSpPr>
            <p:nvPr/>
          </p:nvSpPr>
          <p:spPr bwMode="auto">
            <a:xfrm>
              <a:off x="5070208"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1" name="Text Box 11"/>
            <p:cNvSpPr txBox="1">
              <a:spLocks noChangeArrowheads="1"/>
            </p:cNvSpPr>
            <p:nvPr/>
          </p:nvSpPr>
          <p:spPr bwMode="auto">
            <a:xfrm>
              <a:off x="5070208"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70" name="Text Box 10"/>
            <p:cNvSpPr txBox="1">
              <a:spLocks noChangeArrowheads="1"/>
            </p:cNvSpPr>
            <p:nvPr/>
          </p:nvSpPr>
          <p:spPr bwMode="auto">
            <a:xfrm>
              <a:off x="6118027" y="1634945"/>
              <a:ext cx="1240055" cy="29385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dp[4]=15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9" name="Text Box 9"/>
            <p:cNvSpPr txBox="1">
              <a:spLocks noChangeArrowheads="1"/>
            </p:cNvSpPr>
            <p:nvPr/>
          </p:nvSpPr>
          <p:spPr bwMode="auto">
            <a:xfrm>
              <a:off x="6302661"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8" name="Text Box 8"/>
            <p:cNvSpPr txBox="1">
              <a:spLocks noChangeArrowheads="1"/>
            </p:cNvSpPr>
            <p:nvPr/>
          </p:nvSpPr>
          <p:spPr bwMode="auto">
            <a:xfrm>
              <a:off x="6302661"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7" name="Text Box 7"/>
            <p:cNvSpPr txBox="1">
              <a:spLocks noChangeArrowheads="1"/>
            </p:cNvSpPr>
            <p:nvPr/>
          </p:nvSpPr>
          <p:spPr bwMode="auto">
            <a:xfrm>
              <a:off x="7432850" y="1634945"/>
              <a:ext cx="1353992" cy="29385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dp[5]=13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6" name="Text Box 6"/>
            <p:cNvSpPr txBox="1">
              <a:spLocks noChangeArrowheads="1"/>
            </p:cNvSpPr>
            <p:nvPr/>
          </p:nvSpPr>
          <p:spPr bwMode="auto">
            <a:xfrm>
              <a:off x="7617482" y="857232"/>
              <a:ext cx="414209" cy="203165"/>
            </a:xfrm>
            <a:prstGeom prst="rect">
              <a:avLst/>
            </a:prstGeom>
            <a:solidFill>
              <a:srgbClr val="FFFFFF"/>
            </a:solid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5" name="Text Box 5"/>
            <p:cNvSpPr txBox="1">
              <a:spLocks noChangeArrowheads="1"/>
            </p:cNvSpPr>
            <p:nvPr/>
          </p:nvSpPr>
          <p:spPr bwMode="auto">
            <a:xfrm>
              <a:off x="7617482" y="1180161"/>
              <a:ext cx="482232" cy="279106"/>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6564" name="AutoShape 4"/>
            <p:cNvSpPr/>
            <p:nvPr/>
          </p:nvSpPr>
          <p:spPr bwMode="auto">
            <a:xfrm rot="5400000">
              <a:off x="4536281" y="-1535941"/>
              <a:ext cx="285752" cy="7358114"/>
            </a:xfrm>
            <a:prstGeom prst="rightBrace">
              <a:avLst>
                <a:gd name="adj1" fmla="val 192420"/>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pPr algn="l"/>
              <a:endParaRPr lang="zh-CN" altLang="en-US" sz="2000">
                <a:solidFill>
                  <a:srgbClr val="0000FF"/>
                </a:solidFill>
                <a:latin typeface="Consolas" panose="020B0609020204030204" pitchFamily="49" charset="0"/>
              </a:endParaRPr>
            </a:p>
          </p:txBody>
        </p:sp>
        <p:sp>
          <p:nvSpPr>
            <p:cNvPr id="66563" name="AutoShape 3"/>
            <p:cNvSpPr>
              <a:spLocks noChangeArrowheads="1"/>
            </p:cNvSpPr>
            <p:nvPr/>
          </p:nvSpPr>
          <p:spPr bwMode="auto">
            <a:xfrm>
              <a:off x="4576045" y="2308570"/>
              <a:ext cx="241151" cy="397112"/>
            </a:xfrm>
            <a:prstGeom prst="downArrow">
              <a:avLst>
                <a:gd name="adj1" fmla="val 50000"/>
                <a:gd name="adj2" fmla="val 46546"/>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66562" name="Text Box 2"/>
            <p:cNvSpPr txBox="1">
              <a:spLocks noChangeArrowheads="1"/>
            </p:cNvSpPr>
            <p:nvPr/>
          </p:nvSpPr>
          <p:spPr bwMode="auto">
            <a:xfrm>
              <a:off x="4923917" y="2210908"/>
              <a:ext cx="791091" cy="28939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max</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30" name="TextBox 29"/>
          <p:cNvSpPr txBox="1"/>
          <p:nvPr/>
        </p:nvSpPr>
        <p:spPr>
          <a:xfrm>
            <a:off x="642910" y="571480"/>
            <a:ext cx="8215370" cy="178189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中的最大元素</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ans</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由于本题中最大连续子序列和至少为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（或者说最大连续子序列可以为空序列），所以最后的最大连续子序列和应该为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max(ans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47193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maxsubsum</a:t>
            </a:r>
            <a:r>
              <a:rPr lang="en-US" altLang="zh-CN" sz="2000">
                <a:solidFill>
                  <a:srgbClr val="0000FF"/>
                </a:solidFill>
                <a:latin typeface="Consolas" panose="020B0609020204030204" pitchFamily="49" charset="0"/>
                <a:ea typeface="仿宋" panose="02010609060101010101" pitchFamily="49" charset="-122"/>
              </a:rPr>
              <a:t>(int a[],int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求最大连续子序列和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dp=vector&lt;int&gt;(n,0);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dp[0]=a[0];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dp[i]=max(dp[i-1]+a[i],a[i]);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ans=dp[0];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求最大</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元素</a:t>
            </a:r>
            <a:r>
              <a:rPr lang="en-US" altLang="zh-CN" sz="2000">
                <a:solidFill>
                  <a:srgbClr val="00B0F0"/>
                </a:solidFill>
                <a:latin typeface="Consolas" panose="020B0609020204030204" pitchFamily="49" charset="0"/>
                <a:ea typeface="仿宋" panose="02010609060101010101" pitchFamily="49" charset="-122"/>
              </a:rPr>
              <a:t>ans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ans=max(ans,dp[i]);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max(ans,0);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785786" y="5715016"/>
            <a:ext cx="357190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时间和空间复杂度：</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O(n)</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 name="TextBox 8"/>
          <p:cNvSpPr txBox="1"/>
          <p:nvPr/>
        </p:nvSpPr>
        <p:spPr>
          <a:xfrm>
            <a:off x="285720" y="571480"/>
            <a:ext cx="8715436"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当求出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后</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可以推导出一个最大连续子序列</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（实际上这样的最大连续子序列可能有多个，这里仅仅求出其中的一个）。</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先在</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数组中求出最大元素的序号</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序号开始在</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中向前查找，</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rsum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dp[maxi]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开始递减</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，直到</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rsum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，对应的</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中子序列就是一个最大连续子序列。</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543"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5" name="组合 34"/>
          <p:cNvGrpSpPr/>
          <p:nvPr/>
        </p:nvGrpSpPr>
        <p:grpSpPr>
          <a:xfrm>
            <a:off x="571472" y="3286124"/>
            <a:ext cx="8001056" cy="1080874"/>
            <a:chOff x="571472" y="3286124"/>
            <a:chExt cx="8001056" cy="1080874"/>
          </a:xfrm>
        </p:grpSpPr>
        <p:sp>
          <p:nvSpPr>
            <p:cNvPr id="64540" name="Text Box 28"/>
            <p:cNvSpPr txBox="1">
              <a:spLocks noChangeArrowheads="1"/>
            </p:cNvSpPr>
            <p:nvPr/>
          </p:nvSpPr>
          <p:spPr bwMode="auto">
            <a:xfrm>
              <a:off x="571472"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dp[0]=-2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9" name="Text Box 27"/>
            <p:cNvSpPr txBox="1">
              <a:spLocks noChangeArrowheads="1"/>
            </p:cNvSpPr>
            <p:nvPr/>
          </p:nvSpPr>
          <p:spPr bwMode="auto">
            <a:xfrm>
              <a:off x="826312"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0</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8" name="Text Box 26"/>
            <p:cNvSpPr txBox="1">
              <a:spLocks noChangeArrowheads="1"/>
            </p:cNvSpPr>
            <p:nvPr/>
          </p:nvSpPr>
          <p:spPr bwMode="auto">
            <a:xfrm>
              <a:off x="826312" y="3680755"/>
              <a:ext cx="635411" cy="33238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7" name="Text Box 25"/>
            <p:cNvSpPr txBox="1">
              <a:spLocks noChangeArrowheads="1"/>
            </p:cNvSpPr>
            <p:nvPr/>
          </p:nvSpPr>
          <p:spPr bwMode="auto">
            <a:xfrm>
              <a:off x="1877505"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dp[1]=11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6" name="Text Box 24"/>
            <p:cNvSpPr txBox="1">
              <a:spLocks noChangeArrowheads="1"/>
            </p:cNvSpPr>
            <p:nvPr/>
          </p:nvSpPr>
          <p:spPr bwMode="auto">
            <a:xfrm>
              <a:off x="2132347"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5" name="Text Box 23"/>
            <p:cNvSpPr txBox="1">
              <a:spLocks noChangeArrowheads="1"/>
            </p:cNvSpPr>
            <p:nvPr/>
          </p:nvSpPr>
          <p:spPr bwMode="auto">
            <a:xfrm>
              <a:off x="2132347" y="3680755"/>
              <a:ext cx="635411" cy="33238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4" name="Text Box 22"/>
            <p:cNvSpPr txBox="1">
              <a:spLocks noChangeArrowheads="1"/>
            </p:cNvSpPr>
            <p:nvPr/>
          </p:nvSpPr>
          <p:spPr bwMode="auto">
            <a:xfrm>
              <a:off x="3212349"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dp[2]=7</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3" name="Text Box 21"/>
            <p:cNvSpPr txBox="1">
              <a:spLocks noChangeArrowheads="1"/>
            </p:cNvSpPr>
            <p:nvPr/>
          </p:nvSpPr>
          <p:spPr bwMode="auto">
            <a:xfrm>
              <a:off x="3467189"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2" name="Text Box 20"/>
            <p:cNvSpPr txBox="1">
              <a:spLocks noChangeArrowheads="1"/>
            </p:cNvSpPr>
            <p:nvPr/>
          </p:nvSpPr>
          <p:spPr bwMode="auto">
            <a:xfrm>
              <a:off x="3467189" y="3680755"/>
              <a:ext cx="635411" cy="33238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1" name="Text Box 19"/>
            <p:cNvSpPr txBox="1">
              <a:spLocks noChangeArrowheads="1"/>
            </p:cNvSpPr>
            <p:nvPr/>
          </p:nvSpPr>
          <p:spPr bwMode="auto">
            <a:xfrm>
              <a:off x="4561597"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dp[3]=20</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30" name="Text Box 18"/>
            <p:cNvSpPr txBox="1">
              <a:spLocks noChangeArrowheads="1"/>
            </p:cNvSpPr>
            <p:nvPr/>
          </p:nvSpPr>
          <p:spPr bwMode="auto">
            <a:xfrm>
              <a:off x="4816437"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9" name="Text Box 17"/>
            <p:cNvSpPr txBox="1">
              <a:spLocks noChangeArrowheads="1"/>
            </p:cNvSpPr>
            <p:nvPr/>
          </p:nvSpPr>
          <p:spPr bwMode="auto">
            <a:xfrm>
              <a:off x="4816437" y="3680755"/>
              <a:ext cx="635411" cy="33238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13</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8" name="Text Box 16"/>
            <p:cNvSpPr txBox="1">
              <a:spLocks noChangeArrowheads="1"/>
            </p:cNvSpPr>
            <p:nvPr/>
          </p:nvSpPr>
          <p:spPr bwMode="auto">
            <a:xfrm>
              <a:off x="5997273"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dp[4]=15</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7" name="Text Box 15"/>
            <p:cNvSpPr txBox="1">
              <a:spLocks noChangeArrowheads="1"/>
            </p:cNvSpPr>
            <p:nvPr/>
          </p:nvSpPr>
          <p:spPr bwMode="auto">
            <a:xfrm>
              <a:off x="6252114"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6" name="Text Box 14"/>
            <p:cNvSpPr txBox="1">
              <a:spLocks noChangeArrowheads="1"/>
            </p:cNvSpPr>
            <p:nvPr/>
          </p:nvSpPr>
          <p:spPr bwMode="auto">
            <a:xfrm>
              <a:off x="6252114" y="3680755"/>
              <a:ext cx="635411" cy="33238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5" name="Text Box 13"/>
            <p:cNvSpPr txBox="1">
              <a:spLocks noChangeArrowheads="1"/>
            </p:cNvSpPr>
            <p:nvPr/>
          </p:nvSpPr>
          <p:spPr bwMode="auto">
            <a:xfrm>
              <a:off x="7447355" y="4123876"/>
              <a:ext cx="1125173" cy="24312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dp[5]=13</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4" name="Text Box 12"/>
            <p:cNvSpPr txBox="1">
              <a:spLocks noChangeArrowheads="1"/>
            </p:cNvSpPr>
            <p:nvPr/>
          </p:nvSpPr>
          <p:spPr bwMode="auto">
            <a:xfrm>
              <a:off x="7702195" y="3286124"/>
              <a:ext cx="545782"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chemeClr val="tx1">
                    <a:lumMod val="95000"/>
                    <a:lumOff val="5000"/>
                  </a:schemeClr>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23" name="Text Box 11"/>
            <p:cNvSpPr txBox="1">
              <a:spLocks noChangeArrowheads="1"/>
            </p:cNvSpPr>
            <p:nvPr/>
          </p:nvSpPr>
          <p:spPr bwMode="auto">
            <a:xfrm>
              <a:off x="7702195" y="3680755"/>
              <a:ext cx="635411" cy="33238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grpSp>
      <p:grpSp>
        <p:nvGrpSpPr>
          <p:cNvPr id="37" name="组合 36"/>
          <p:cNvGrpSpPr/>
          <p:nvPr/>
        </p:nvGrpSpPr>
        <p:grpSpPr>
          <a:xfrm>
            <a:off x="4532787" y="4410453"/>
            <a:ext cx="1232409" cy="798659"/>
            <a:chOff x="4532787" y="4410453"/>
            <a:chExt cx="1232409" cy="798659"/>
          </a:xfrm>
        </p:grpSpPr>
        <p:sp>
          <p:nvSpPr>
            <p:cNvPr id="64541" name="Text Box 29"/>
            <p:cNvSpPr txBox="1">
              <a:spLocks noChangeArrowheads="1"/>
            </p:cNvSpPr>
            <p:nvPr/>
          </p:nvSpPr>
          <p:spPr bwMode="auto">
            <a:xfrm>
              <a:off x="4532787" y="4705252"/>
              <a:ext cx="1232409" cy="50386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=maxi=3</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rsum=7</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19" name="AutoShape 7"/>
            <p:cNvSpPr>
              <a:spLocks noChangeShapeType="1"/>
            </p:cNvSpPr>
            <p:nvPr/>
          </p:nvSpPr>
          <p:spPr bwMode="auto">
            <a:xfrm flipV="1">
              <a:off x="5096174" y="4410453"/>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grpSp>
        <p:nvGrpSpPr>
          <p:cNvPr id="38" name="组合 37"/>
          <p:cNvGrpSpPr/>
          <p:nvPr/>
        </p:nvGrpSpPr>
        <p:grpSpPr>
          <a:xfrm>
            <a:off x="3188341" y="4406930"/>
            <a:ext cx="1232409" cy="798658"/>
            <a:chOff x="3188341" y="4406930"/>
            <a:chExt cx="1232409" cy="798658"/>
          </a:xfrm>
        </p:grpSpPr>
        <p:sp>
          <p:nvSpPr>
            <p:cNvPr id="64518" name="Text Box 6"/>
            <p:cNvSpPr txBox="1">
              <a:spLocks noChangeArrowheads="1"/>
            </p:cNvSpPr>
            <p:nvPr/>
          </p:nvSpPr>
          <p:spPr bwMode="auto">
            <a:xfrm>
              <a:off x="3188341" y="4701728"/>
              <a:ext cx="1232409" cy="50386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rsum=11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17" name="AutoShape 5"/>
            <p:cNvSpPr>
              <a:spLocks noChangeShapeType="1"/>
            </p:cNvSpPr>
            <p:nvPr/>
          </p:nvSpPr>
          <p:spPr bwMode="auto">
            <a:xfrm flipV="1">
              <a:off x="3751727" y="4406930"/>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grpSp>
        <p:nvGrpSpPr>
          <p:cNvPr id="39" name="组合 38"/>
          <p:cNvGrpSpPr/>
          <p:nvPr/>
        </p:nvGrpSpPr>
        <p:grpSpPr>
          <a:xfrm>
            <a:off x="1829490" y="4413977"/>
            <a:ext cx="1232409" cy="798659"/>
            <a:chOff x="1829490" y="4413977"/>
            <a:chExt cx="1232409" cy="798659"/>
          </a:xfrm>
        </p:grpSpPr>
        <p:sp>
          <p:nvSpPr>
            <p:cNvPr id="64516" name="Text Box 4"/>
            <p:cNvSpPr txBox="1">
              <a:spLocks noChangeArrowheads="1"/>
            </p:cNvSpPr>
            <p:nvPr/>
          </p:nvSpPr>
          <p:spPr bwMode="auto">
            <a:xfrm>
              <a:off x="1829490" y="4708776"/>
              <a:ext cx="1232409" cy="50386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rsum=0</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15" name="AutoShape 3"/>
            <p:cNvSpPr>
              <a:spLocks noChangeShapeType="1"/>
            </p:cNvSpPr>
            <p:nvPr/>
          </p:nvSpPr>
          <p:spPr bwMode="auto">
            <a:xfrm flipV="1">
              <a:off x="2392877" y="4413977"/>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grpSp>
        <p:nvGrpSpPr>
          <p:cNvPr id="40" name="组合 39"/>
          <p:cNvGrpSpPr/>
          <p:nvPr/>
        </p:nvGrpSpPr>
        <p:grpSpPr>
          <a:xfrm>
            <a:off x="2120786" y="5323038"/>
            <a:ext cx="3279488" cy="997379"/>
            <a:chOff x="2120786" y="5323038"/>
            <a:chExt cx="3279488" cy="997379"/>
          </a:xfrm>
        </p:grpSpPr>
        <p:sp>
          <p:nvSpPr>
            <p:cNvPr id="64522" name="AutoShape 10"/>
            <p:cNvSpPr/>
            <p:nvPr/>
          </p:nvSpPr>
          <p:spPr bwMode="auto">
            <a:xfrm rot="5400000">
              <a:off x="3656587" y="3787237"/>
              <a:ext cx="207886" cy="3279488"/>
            </a:xfrm>
            <a:prstGeom prst="rightBrace">
              <a:avLst>
                <a:gd name="adj1" fmla="val 96469"/>
                <a:gd name="adj2" fmla="val 50000"/>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64521" name="AutoShape 9"/>
            <p:cNvSpPr>
              <a:spLocks noChangeArrowheads="1"/>
            </p:cNvSpPr>
            <p:nvPr/>
          </p:nvSpPr>
          <p:spPr bwMode="auto">
            <a:xfrm>
              <a:off x="3604479" y="5620187"/>
              <a:ext cx="243280" cy="332383"/>
            </a:xfrm>
            <a:prstGeom prst="downArrow">
              <a:avLst>
                <a:gd name="adj1" fmla="val 50000"/>
                <a:gd name="adj2" fmla="val 46546"/>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64520" name="Text Box 8"/>
            <p:cNvSpPr txBox="1">
              <a:spLocks noChangeArrowheads="1"/>
            </p:cNvSpPr>
            <p:nvPr/>
          </p:nvSpPr>
          <p:spPr bwMode="auto">
            <a:xfrm>
              <a:off x="3900577" y="5608180"/>
              <a:ext cx="803466" cy="241947"/>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逆置</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max</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64514" name="Text Box 2"/>
            <p:cNvSpPr txBox="1">
              <a:spLocks noChangeArrowheads="1"/>
            </p:cNvSpPr>
            <p:nvPr/>
          </p:nvSpPr>
          <p:spPr bwMode="auto">
            <a:xfrm>
              <a:off x="2680489" y="6000768"/>
              <a:ext cx="1962949" cy="31964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{11</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-4</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13}</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grpSp>
      <p:sp>
        <p:nvSpPr>
          <p:cNvPr id="41" name="灯片编号占位符 40"/>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500042"/>
            <a:ext cx="8643998" cy="537760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a:t>
            </a:r>
            <a:r>
              <a:rPr lang="en-US" altLang="zh-CN" sz="2000">
                <a:solidFill>
                  <a:srgbClr val="FF0000"/>
                </a:solidFill>
                <a:latin typeface="Consolas" panose="020B0609020204030204" pitchFamily="49" charset="0"/>
                <a:ea typeface="仿宋" panose="02010609060101010101" pitchFamily="49" charset="-122"/>
              </a:rPr>
              <a:t>maxsub</a:t>
            </a:r>
            <a:r>
              <a:rPr lang="en-US" altLang="zh-CN" sz="2000">
                <a:solidFill>
                  <a:srgbClr val="0000FF"/>
                </a:solidFill>
                <a:latin typeface="Consolas" panose="020B0609020204030204" pitchFamily="49" charset="0"/>
                <a:ea typeface="仿宋" panose="02010609060101010101" pitchFamily="49" charset="-122"/>
              </a:rPr>
              <a:t>(int a[],int n)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求一个最大连续子序列</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maxi=0;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if(dp[i]&gt;dp[maxi]) maxi=i;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rsum=dp[maxi];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i=maxi;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while(</a:t>
            </a:r>
            <a:r>
              <a:rPr lang="en-US" altLang="zh-CN" sz="2000">
                <a:solidFill>
                  <a:srgbClr val="FF00FF"/>
                </a:solidFill>
                <a:latin typeface="Consolas" panose="020B0609020204030204" pitchFamily="49" charset="0"/>
                <a:ea typeface="仿宋" panose="02010609060101010101" pitchFamily="49" charset="-122"/>
              </a:rPr>
              <a:t>i&gt;=0 &amp;&amp; rsum!=0</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rsum-=a[i];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x.push_back(a[i]);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reverse</a:t>
            </a:r>
            <a:r>
              <a:rPr lang="en-US" altLang="zh-CN" sz="2000">
                <a:solidFill>
                  <a:srgbClr val="0000FF"/>
                </a:solidFill>
                <a:latin typeface="Consolas" panose="020B0609020204030204" pitchFamily="49" charset="0"/>
                <a:ea typeface="仿宋" panose="02010609060101010101" pitchFamily="49" charset="-122"/>
              </a:rPr>
              <a:t>(x.begin(),x.end());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逆置</a:t>
            </a:r>
            <a:r>
              <a:rPr lang="en-US" altLang="zh-CN" sz="2000">
                <a:solidFill>
                  <a:srgbClr val="00B0F0"/>
                </a:solidFill>
                <a:latin typeface="Consolas" panose="020B0609020204030204" pitchFamily="49" charset="0"/>
                <a:ea typeface="仿宋" panose="02010609060101010101" pitchFamily="49" charset="-122"/>
              </a:rPr>
              <a:t>x</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376261"/>
            <a:ext cx="8786874" cy="319574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200"/>
              </a:lnSpc>
              <a:spcBef>
                <a:spcPts val="600"/>
              </a:spcBef>
            </a:pP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7.2</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连续子数组求和（</a:t>
            </a:r>
            <a:r>
              <a:rPr lang="en-US" altLang="zh-CN">
                <a:solidFill>
                  <a:srgbClr val="0000FF"/>
                </a:solidFill>
                <a:latin typeface="Consolas" panose="020B0609020204030204" pitchFamily="49" charset="0"/>
                <a:ea typeface="仿宋" panose="02010609060101010101" pitchFamily="49" charset="-122"/>
              </a:rPr>
              <a:t>LintCode402</a:t>
            </a:r>
            <a:r>
              <a:rPr lang="zh-CN" altLang="zh-CN">
                <a:solidFill>
                  <a:srgbClr val="0000FF"/>
                </a:solidFill>
                <a:latin typeface="Consolas" panose="020B0609020204030204" pitchFamily="49" charset="0"/>
                <a:ea typeface="仿宋" panose="02010609060101010101" pitchFamily="49" charset="-122"/>
              </a:rPr>
              <a:t>★★）。给定一个整数数组</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，求出一个连续子数组（至少含一个元素），使得该子数组的和最大，输出答案时，请分别返回第一个数字和最后一个数字的下标，如果存在多个答案，请返回字典序最小的。</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a:solidFill>
                  <a:srgbClr val="0000FF"/>
                </a:solidFill>
                <a:latin typeface="Consolas" panose="020B0609020204030204" pitchFamily="49" charset="0"/>
                <a:ea typeface="仿宋" panose="02010609060101010101" pitchFamily="49" charset="-122"/>
              </a:rPr>
              <a:t>A={0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，答案为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要求设计如下成员函数：</a:t>
            </a:r>
            <a:endParaRPr lang="zh-CN"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sz="2000">
                <a:solidFill>
                  <a:srgbClr val="006600"/>
                </a:solidFill>
                <a:latin typeface="Consolas" panose="020B0609020204030204" pitchFamily="49" charset="0"/>
                <a:ea typeface="仿宋" panose="02010609060101010101" pitchFamily="49" charset="-122"/>
              </a:rPr>
              <a:t>    vector&lt;int&gt; continuousSubarraySum(vector&lt;int&gt; &amp;A) {}</a:t>
            </a:r>
            <a:endParaRPr lang="zh-CN" altLang="zh-CN" sz="2000">
              <a:solidFill>
                <a:srgbClr val="006600"/>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5" name="组合 4"/>
          <p:cNvGrpSpPr/>
          <p:nvPr/>
        </p:nvGrpSpPr>
        <p:grpSpPr>
          <a:xfrm>
            <a:off x="642910" y="142852"/>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643050"/>
            <a:ext cx="8072494"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采用上述</a:t>
            </a:r>
            <a:r>
              <a:rPr lang="en-US" altLang="zh-CN">
                <a:solidFill>
                  <a:srgbClr val="0000FF"/>
                </a:solidFill>
                <a:latin typeface="Consolas" panose="020B0609020204030204" pitchFamily="49" charset="0"/>
                <a:ea typeface="仿宋" panose="02010609060101010101" pitchFamily="49" charset="-122"/>
              </a:rPr>
              <a:t>maxsubsum+maxsub</a:t>
            </a:r>
            <a:r>
              <a:rPr lang="zh-CN" altLang="zh-CN">
                <a:solidFill>
                  <a:srgbClr val="0000FF"/>
                </a:solidFill>
                <a:latin typeface="Consolas" panose="020B0609020204030204" pitchFamily="49" charset="0"/>
                <a:ea typeface="仿宋" panose="02010609060101010101" pitchFamily="49" charset="-122"/>
              </a:rPr>
              <a:t>算法的思路</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4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用</a:t>
            </a:r>
            <a:r>
              <a:rPr lang="en-US" altLang="zh-CN">
                <a:solidFill>
                  <a:srgbClr val="0000FF"/>
                </a:solidFill>
                <a:latin typeface="Consolas" panose="020B0609020204030204" pitchFamily="49" charset="0"/>
                <a:ea typeface="仿宋" panose="02010609060101010101" pitchFamily="49" charset="-122"/>
              </a:rPr>
              <a:t>maxi</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maxj</a:t>
            </a:r>
            <a:r>
              <a:rPr lang="zh-CN" altLang="zh-CN">
                <a:solidFill>
                  <a:srgbClr val="0000FF"/>
                </a:solidFill>
                <a:latin typeface="Consolas" panose="020B0609020204030204" pitchFamily="49" charset="0"/>
                <a:ea typeface="仿宋" panose="02010609060101010101" pitchFamily="49" charset="-122"/>
              </a:rPr>
              <a:t>表示最大子数组的第一个数字和最后一个数字的下标</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6"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dp;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continuousSubarraySum(vector&lt;int&gt; &amp;A)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if(n==1) return {0,0};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dp=vector&lt;int&gt;(n,0);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dp[0]=A[0];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int maxdp=A[0];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maxi,maxj=0;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dp[i]=max(dp[i-1]+A[i],A[i]);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dp[i]&gt;maxdp</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第一个最大</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元素</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maxdp=dp[i];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maxj=i;</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par>
                          <p:cTn id="11" fill="hold">
                            <p:stCondLst>
                              <p:cond delay="0"/>
                            </p:stCondLst>
                            <p:childTnLst>
                              <p:par>
                                <p:cTn id="12" presetID="3" presetClass="entr" presetSubtype="10" fill="hold" nodeType="after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blinds(horizontal)">
                                      <p:cBhvr>
                                        <p:cTn id="14" dur="500"/>
                                        <p:tgtEl>
                                          <p:spTgt spid="3">
                                            <p:txEl>
                                              <p:pRg st="9" end="9"/>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53497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rsum=dp[maxj];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maxi=maxj;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while(</a:t>
            </a:r>
            <a:r>
              <a:rPr lang="en-US" altLang="zh-CN" sz="2000">
                <a:solidFill>
                  <a:srgbClr val="FF00FF"/>
                </a:solidFill>
                <a:latin typeface="Consolas" panose="020B0609020204030204" pitchFamily="49" charset="0"/>
                <a:ea typeface="仿宋" panose="02010609060101010101" pitchFamily="49" charset="-122"/>
              </a:rPr>
              <a:t>maxi&gt;=0 &amp;&amp; (rsum!=0 || A[maxi]==0)</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rsum-=A[maxi];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{maxi,maxj};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2" name="组合 9"/>
          <p:cNvGrpSpPr/>
          <p:nvPr/>
        </p:nvGrpSpPr>
        <p:grpSpPr>
          <a:xfrm>
            <a:off x="357158" y="4929198"/>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163ms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10.78MB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1928826"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ea typeface="微软雅黑" panose="020B0503020204020204" pitchFamily="34" charset="-122"/>
              </a:rPr>
              <a:t>空间优化</a:t>
            </a:r>
            <a:endParaRPr lang="zh-CN" altLang="zh-CN">
              <a:solidFill>
                <a:schemeClr val="bg1"/>
              </a:solidFill>
              <a:ea typeface="微软雅黑" panose="020B0503020204020204" pitchFamily="34" charset="-122"/>
              <a:cs typeface="Times New Roman" panose="02020603050405020304" pitchFamily="18" charset="0"/>
            </a:endParaRPr>
          </a:p>
        </p:txBody>
      </p:sp>
      <p:sp>
        <p:nvSpPr>
          <p:cNvPr id="4" name="TextBox 3"/>
          <p:cNvSpPr txBox="1"/>
          <p:nvPr/>
        </p:nvSpPr>
        <p:spPr>
          <a:xfrm>
            <a:off x="86431" y="928670"/>
            <a:ext cx="9001156" cy="120802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3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如果只需要求最大连续子序列和，可以采用滚动数组优化空间。</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300"/>
              </a:spcBef>
              <a:buBlip>
                <a:blip r:embed="rId1"/>
              </a:buBlip>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maxSubSum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算法中用</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标识阶段，由于</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仅仅与</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相关，将一维</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数组改为单个变量</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00002" y="2467054"/>
            <a:ext cx="7929650" cy="34622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maxsubsum1</a:t>
            </a:r>
            <a:r>
              <a:rPr lang="en-US" altLang="zh-CN" sz="2000">
                <a:solidFill>
                  <a:srgbClr val="0000FF"/>
                </a:solidFill>
                <a:latin typeface="Consolas" panose="020B0609020204030204" pitchFamily="49" charset="0"/>
                <a:ea typeface="仿宋" panose="02010609060101010101" pitchFamily="49" charset="-122"/>
              </a:rPr>
              <a:t>(int a[],int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求最大连续子序列和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if(n==1) return a[0];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dp=a[0];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ans=dp;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dp=max(dp+a[j],a[j]);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ans=max(ans,dp);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max(ans,0);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857224" y="6143644"/>
            <a:ext cx="242889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O(1)</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357166"/>
            <a:ext cx="464347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7.3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最长递增子序列</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571612"/>
            <a:ext cx="8001056" cy="21160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400"/>
              </a:lnSpc>
              <a:spcBef>
                <a:spcPts val="120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zh-CN">
                <a:solidFill>
                  <a:srgbClr val="FF0000"/>
                </a:solidFill>
                <a:latin typeface="Consolas" panose="020B0609020204030204" pitchFamily="49" charset="0"/>
                <a:ea typeface="楷体" panose="02010609060101010101" pitchFamily="49" charset="-122"/>
                <a:cs typeface="Consolas" panose="020B0609020204030204" pitchFamily="49" charset="0"/>
              </a:rPr>
              <a:t>问题描述</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给定一个无序的整数序列</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，求其中</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最长递增（严格）子序列的长度</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400"/>
              </a:lnSpc>
              <a:spcBef>
                <a:spcPts val="120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8</a:t>
            </a:r>
            <a:r>
              <a:rPr lang="zh-CN"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9</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，其最长递增子序列为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，结果为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357158" y="1500174"/>
            <a:ext cx="8501122" cy="16800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4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表示以</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结尾的最长递增子序列的长度</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计算顺序是</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，对于每个</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置为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（表示只有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一个元素时最长递增子序列的长度为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7"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285728"/>
            <a:ext cx="792961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考虑</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中的每一个元素</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，分为两种情况：</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14282" y="1000108"/>
            <a:ext cx="8786874" cy="8104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0"/>
              </a:spcBef>
              <a:buFont typeface="+mj-ea"/>
              <a:buAutoNum type="circleNumDbPlain"/>
            </a:pPr>
            <a:r>
              <a:rPr lang="zh-CN"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若</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]&lt;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，则以</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结尾的最长递增子序列加上</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可能构成一个更长的递增子序列，此时有</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]=max(dp[</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7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16"/>
          <p:cNvGrpSpPr/>
          <p:nvPr/>
        </p:nvGrpSpPr>
        <p:grpSpPr>
          <a:xfrm>
            <a:off x="2081312" y="2214554"/>
            <a:ext cx="5062456" cy="2143140"/>
            <a:chOff x="2081313" y="2214554"/>
            <a:chExt cx="3481176" cy="1928826"/>
          </a:xfrm>
        </p:grpSpPr>
        <p:sp>
          <p:nvSpPr>
            <p:cNvPr id="7175" name="Rectangle 7"/>
            <p:cNvSpPr>
              <a:spLocks noChangeArrowheads="1"/>
            </p:cNvSpPr>
            <p:nvPr/>
          </p:nvSpPr>
          <p:spPr bwMode="auto">
            <a:xfrm>
              <a:off x="2081313" y="2736294"/>
              <a:ext cx="3481176" cy="428150"/>
            </a:xfrm>
            <a:prstGeom prst="rect">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1" i="1" u="none" strike="noStrike" cap="none" normalizeH="0" baseline="-3000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n-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174" name="Rectangle 6"/>
            <p:cNvSpPr>
              <a:spLocks noChangeArrowheads="1"/>
            </p:cNvSpPr>
            <p:nvPr/>
          </p:nvSpPr>
          <p:spPr bwMode="auto">
            <a:xfrm>
              <a:off x="2894954" y="2214554"/>
              <a:ext cx="582205"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173" name="AutoShape 5"/>
            <p:cNvSpPr>
              <a:spLocks noChangeShapeType="1"/>
            </p:cNvSpPr>
            <p:nvPr/>
          </p:nvSpPr>
          <p:spPr bwMode="auto">
            <a:xfrm flipH="1">
              <a:off x="3187864" y="2492098"/>
              <a:ext cx="1205" cy="244196"/>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7172" name="Rectangle 4"/>
            <p:cNvSpPr>
              <a:spLocks noChangeArrowheads="1"/>
            </p:cNvSpPr>
            <p:nvPr/>
          </p:nvSpPr>
          <p:spPr bwMode="auto">
            <a:xfrm>
              <a:off x="2214546" y="3820654"/>
              <a:ext cx="3143272"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]=max(dp[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7171" name="AutoShape 3"/>
            <p:cNvSpPr>
              <a:spLocks noChangeArrowheads="1"/>
            </p:cNvSpPr>
            <p:nvPr/>
          </p:nvSpPr>
          <p:spPr bwMode="auto">
            <a:xfrm>
              <a:off x="3592876" y="3325807"/>
              <a:ext cx="172371" cy="370059"/>
            </a:xfrm>
            <a:prstGeom prst="downArrow">
              <a:avLst>
                <a:gd name="adj1" fmla="val 50000"/>
                <a:gd name="adj2" fmla="val 60140"/>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7170" name="Rectangle 2"/>
            <p:cNvSpPr>
              <a:spLocks noChangeArrowheads="1"/>
            </p:cNvSpPr>
            <p:nvPr/>
          </p:nvSpPr>
          <p:spPr bwMode="auto">
            <a:xfrm>
              <a:off x="3797793" y="3325807"/>
              <a:ext cx="572562"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&lt;</a:t>
              </a:r>
              <a:r>
                <a:rPr kumimoji="0" lang="en-US" altLang="zh-CN" sz="2000" b="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15" name="TextBox 14"/>
          <p:cNvSpPr txBox="1"/>
          <p:nvPr/>
        </p:nvSpPr>
        <p:spPr>
          <a:xfrm>
            <a:off x="214282" y="4643446"/>
            <a:ext cx="8501122" cy="43088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Font typeface="+mj-ea"/>
              <a:buAutoNum type="circleNumDbPlain" startAt="2"/>
            </a:pPr>
            <a:r>
              <a:rPr lang="zh-CN"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否则</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最长递增子序列没有改变。</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500034" y="5500702"/>
            <a:ext cx="8072494"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数组后，通过顺序遍历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求出最大值</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ans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ans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就是最长递增（严格）子序列的长度。</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785786" y="1278299"/>
            <a:ext cx="20717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anose="02010609060101010101" pitchFamily="49" charset="-122"/>
                <a:ea typeface="楷体" panose="02010609060101010101" pitchFamily="49" charset="-122"/>
              </a:rPr>
              <a:t>状态转移方程</a:t>
            </a:r>
            <a:endParaRPr lang="zh-CN" altLang="en-US">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5" name="TextBox 4"/>
          <p:cNvSpPr txBox="1"/>
          <p:nvPr/>
        </p:nvSpPr>
        <p:spPr>
          <a:xfrm>
            <a:off x="857224" y="1921241"/>
            <a:ext cx="7929618" cy="9362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en-US"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（初始条件）</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max</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en-US"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357158" y="285728"/>
            <a:ext cx="8358246" cy="49723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maxinclen</a:t>
            </a:r>
            <a:r>
              <a:rPr lang="en-US" altLang="zh-CN" sz="2000">
                <a:solidFill>
                  <a:srgbClr val="0000FF"/>
                </a:solidFill>
                <a:latin typeface="Consolas" panose="020B0609020204030204" pitchFamily="49" charset="0"/>
                <a:ea typeface="仿宋" panose="02010609060101010101" pitchFamily="49" charset="-122"/>
              </a:rPr>
              <a:t>(int a[],int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求最长递增子序列长度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dp=vector&lt;int&gt;(n,0);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j=0;j&lt;i;j++)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(a[i]&gt;a[j]) dp[i]=max(dp[i],dp[j]+1);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1200"/>
              </a:spcBef>
            </a:pPr>
            <a:r>
              <a:rPr lang="en-US" altLang="zh-CN" sz="2000">
                <a:solidFill>
                  <a:srgbClr val="0000FF"/>
                </a:solidFill>
                <a:latin typeface="Consolas" panose="020B0609020204030204" pitchFamily="49" charset="0"/>
                <a:ea typeface="仿宋" panose="02010609060101010101" pitchFamily="49" charset="-122"/>
              </a:rPr>
              <a:t> 	int ans=dp[0];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中最大元素</a:t>
            </a:r>
            <a:r>
              <a:rPr lang="en-US" altLang="zh-CN" sz="2000">
                <a:solidFill>
                  <a:srgbClr val="00B0F0"/>
                </a:solidFill>
                <a:latin typeface="Consolas" panose="020B0609020204030204" pitchFamily="49" charset="0"/>
                <a:ea typeface="仿宋" panose="02010609060101010101" pitchFamily="49" charset="-122"/>
              </a:rPr>
              <a:t>ans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ans=max(ans,dp[i]);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TextBox 4"/>
          <p:cNvSpPr txBox="1"/>
          <p:nvPr/>
        </p:nvSpPr>
        <p:spPr>
          <a:xfrm>
            <a:off x="357158" y="5572140"/>
            <a:ext cx="7929618"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【算法分析】</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1022419"/>
            <a:ext cx="8501122" cy="1887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后可以推导出一个最长递增子序列。</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先在</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数组中求出最大元素的序号</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a[maxj](</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含）向</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前</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查找</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600"/>
              </a:spcBef>
              <a:buBlip>
                <a:blip r:embed="rId1"/>
              </a:buBlip>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逆置</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即可。</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3" name="组合 12"/>
          <p:cNvGrpSpPr/>
          <p:nvPr/>
        </p:nvGrpSpPr>
        <p:grpSpPr>
          <a:xfrm>
            <a:off x="2071670" y="3438525"/>
            <a:ext cx="4643470" cy="2419367"/>
            <a:chOff x="2071670" y="3009897"/>
            <a:chExt cx="3481176" cy="1990739"/>
          </a:xfrm>
        </p:grpSpPr>
        <p:sp>
          <p:nvSpPr>
            <p:cNvPr id="6" name="Rectangle 7"/>
            <p:cNvSpPr>
              <a:spLocks noChangeArrowheads="1"/>
            </p:cNvSpPr>
            <p:nvPr/>
          </p:nvSpPr>
          <p:spPr bwMode="auto">
            <a:xfrm>
              <a:off x="2071670" y="3593550"/>
              <a:ext cx="3481176" cy="428150"/>
            </a:xfrm>
            <a:prstGeom prst="rect">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i="1" u="none" strike="noStrike" cap="none" normalizeH="0" baseline="-3000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1" i="1" u="none" strike="noStrike" cap="none" normalizeH="0" baseline="-3000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n-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b="0" i="0"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6"/>
            <p:cNvSpPr>
              <a:spLocks noChangeArrowheads="1"/>
            </p:cNvSpPr>
            <p:nvPr/>
          </p:nvSpPr>
          <p:spPr bwMode="auto">
            <a:xfrm>
              <a:off x="3954613" y="3009897"/>
              <a:ext cx="981082"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a:solidFill>
                    <a:srgbClr val="0000FF"/>
                  </a:solidFill>
                  <a:latin typeface="Consolas" panose="020B0609020204030204" pitchFamily="49" charset="0"/>
                  <a:ea typeface="宋体" panose="02010600030101010101" pitchFamily="2" charset="-122"/>
                  <a:cs typeface="Times New Roman" panose="02020603050405020304" pitchFamily="18" charset="0"/>
                </a:rPr>
                <a:t>maxj</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AutoShape 5"/>
            <p:cNvSpPr>
              <a:spLocks noChangeShapeType="1"/>
            </p:cNvSpPr>
            <p:nvPr/>
          </p:nvSpPr>
          <p:spPr bwMode="auto">
            <a:xfrm flipH="1">
              <a:off x="4471362" y="3349354"/>
              <a:ext cx="1205" cy="244196"/>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0" name="Rectangle 4"/>
            <p:cNvSpPr>
              <a:spLocks noChangeArrowheads="1"/>
            </p:cNvSpPr>
            <p:nvPr/>
          </p:nvSpPr>
          <p:spPr bwMode="auto">
            <a:xfrm>
              <a:off x="2143108" y="4677910"/>
              <a:ext cx="3214709"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]=max(dp[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1" name="AutoShape 3"/>
            <p:cNvSpPr>
              <a:spLocks noChangeArrowheads="1"/>
            </p:cNvSpPr>
            <p:nvPr/>
          </p:nvSpPr>
          <p:spPr bwMode="auto">
            <a:xfrm>
              <a:off x="3583233" y="4183063"/>
              <a:ext cx="172371" cy="370059"/>
            </a:xfrm>
            <a:prstGeom prst="downArrow">
              <a:avLst>
                <a:gd name="adj1" fmla="val 50000"/>
                <a:gd name="adj2" fmla="val 60140"/>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2" name="Rectangle 2"/>
            <p:cNvSpPr>
              <a:spLocks noChangeArrowheads="1"/>
            </p:cNvSpPr>
            <p:nvPr/>
          </p:nvSpPr>
          <p:spPr bwMode="auto">
            <a:xfrm>
              <a:off x="3788150" y="4183063"/>
              <a:ext cx="712412" cy="32272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a</a:t>
              </a:r>
              <a:r>
                <a:rPr kumimoji="0" lang="en-US" altLang="zh-CN" sz="2000" i="1" u="none" strike="noStrike" cap="none" normalizeH="0" baseline="-3000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200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&lt;</a:t>
              </a:r>
              <a:r>
                <a:rPr kumimoji="0" lang="en-US" altLang="zh-CN" sz="200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a</a:t>
              </a:r>
              <a:r>
                <a:rPr kumimoji="0" lang="en-US" altLang="zh-CN" sz="2000" i="1" u="none" strike="noStrike" cap="none" normalizeH="0" baseline="-3000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200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15" name="TextBox 14"/>
          <p:cNvSpPr txBox="1"/>
          <p:nvPr/>
        </p:nvSpPr>
        <p:spPr>
          <a:xfrm>
            <a:off x="571472" y="285728"/>
            <a:ext cx="157163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en-US" altLang="zh-CN">
                <a:solidFill>
                  <a:schemeClr val="bg1"/>
                </a:solidFill>
                <a:latin typeface="Consolas" panose="020B0609020204030204" pitchFamily="49" charset="0"/>
                <a:ea typeface="楷体" panose="02010609060101010101" pitchFamily="49" charset="-122"/>
                <a:cs typeface="Consolas" panose="020B0609020204030204" pitchFamily="49" charset="0"/>
              </a:rPr>
              <a:t>dp </a:t>
            </a:r>
            <a:r>
              <a:rPr lang="en-US" altLang="zh-CN">
                <a:solidFill>
                  <a:schemeClr val="bg1"/>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x</a:t>
            </a:r>
            <a:endParaRPr lang="zh-CN" altLang="en-US">
              <a:solidFill>
                <a:schemeClr val="bg1"/>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TextBox 15"/>
          <p:cNvSpPr txBox="1"/>
          <p:nvPr/>
        </p:nvSpPr>
        <p:spPr>
          <a:xfrm>
            <a:off x="1500166" y="3357562"/>
            <a:ext cx="321471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且</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dp[j]=rnum</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8" name="直接箭头连接符 17"/>
          <p:cNvCxnSpPr>
            <a:stCxn id="16" idx="2"/>
          </p:cNvCxnSpPr>
          <p:nvPr/>
        </p:nvCxnSpPr>
        <p:spPr>
          <a:xfrm rot="16200000" flipH="1">
            <a:off x="3075402" y="3789790"/>
            <a:ext cx="385708" cy="32147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17" name="TextBox 16"/>
          <p:cNvSpPr txBox="1"/>
          <p:nvPr/>
        </p:nvSpPr>
        <p:spPr>
          <a:xfrm>
            <a:off x="714348" y="1071546"/>
            <a:ext cx="6000792" cy="1400383"/>
          </a:xfrm>
          <a:prstGeom prst="rect">
            <a:avLst/>
          </a:prstGeom>
          <a:noFill/>
        </p:spPr>
        <p:txBody>
          <a:bodyPr wrap="square" rtlCol="0">
            <a:spAutoFit/>
          </a:bodyPr>
          <a:lstStyle/>
          <a:p>
            <a:pPr algn="l" defTabSz="539750">
              <a:lnSpc>
                <a:spcPts val="3400"/>
              </a:lnSpc>
              <a:spcBef>
                <a:spcPts val="0"/>
              </a:spcBef>
            </a:pPr>
            <a:r>
              <a:rPr lang="en-US" altLang="zh-CN" i="1">
                <a:solidFill>
                  <a:srgbClr val="0000FF"/>
                </a:solidFill>
                <a:latin typeface="Consolas" panose="020B0609020204030204" pitchFamily="49" charset="0"/>
              </a:rPr>
              <a:t>		</a:t>
            </a:r>
            <a:r>
              <a:rPr lang="en-US" altLang="zh-CN">
                <a:solidFill>
                  <a:schemeClr val="bg1">
                    <a:lumMod val="50000"/>
                  </a:schemeClr>
                </a:solidFill>
                <a:latin typeface="Consolas" panose="020B0609020204030204" pitchFamily="49" charset="0"/>
              </a:rPr>
              <a:t>0	1	2	3	4	5	6	7	8</a:t>
            </a:r>
            <a:endParaRPr lang="en-US" altLang="zh-CN">
              <a:solidFill>
                <a:schemeClr val="bg1">
                  <a:lumMod val="50000"/>
                </a:schemeClr>
              </a:solidFill>
              <a:latin typeface="Consolas" panose="020B0609020204030204" pitchFamily="49" charset="0"/>
            </a:endParaRPr>
          </a:p>
          <a:p>
            <a:pPr algn="l" defTabSz="539750">
              <a:lnSpc>
                <a:spcPts val="3400"/>
              </a:lnSpc>
              <a:spcBef>
                <a:spcPts val="0"/>
              </a:spcBef>
            </a:pPr>
            <a:r>
              <a:rPr lang="en-US" altLang="zh-CN" i="1">
                <a:solidFill>
                  <a:srgbClr val="0000FF"/>
                </a:solidFill>
                <a:latin typeface="Consolas" panose="020B0609020204030204" pitchFamily="49" charset="0"/>
              </a:rPr>
              <a:t>	a</a:t>
            </a:r>
            <a:r>
              <a:rPr lang="en-US" altLang="zh-CN">
                <a:solidFill>
                  <a:srgbClr val="0000FF"/>
                </a:solidFill>
                <a:latin typeface="Consolas" panose="020B0609020204030204" pitchFamily="49" charset="0"/>
              </a:rPr>
              <a:t>={	2	</a:t>
            </a:r>
            <a:r>
              <a:rPr lang="en-US" altLang="zh-CN">
                <a:solidFill>
                  <a:srgbClr val="FF0000"/>
                </a:solidFill>
                <a:latin typeface="Consolas" panose="020B0609020204030204" pitchFamily="49" charset="0"/>
              </a:rPr>
              <a:t>1</a:t>
            </a:r>
            <a:r>
              <a:rPr lang="en-US" altLang="zh-CN">
                <a:solidFill>
                  <a:srgbClr val="0000FF"/>
                </a:solidFill>
                <a:latin typeface="Consolas" panose="020B0609020204030204" pitchFamily="49" charset="0"/>
              </a:rPr>
              <a:t>	5	</a:t>
            </a:r>
            <a:r>
              <a:rPr lang="en-US" altLang="zh-CN">
                <a:solidFill>
                  <a:srgbClr val="FF0000"/>
                </a:solidFill>
                <a:latin typeface="Consolas" panose="020B0609020204030204" pitchFamily="49" charset="0"/>
              </a:rPr>
              <a:t>3</a:t>
            </a:r>
            <a:r>
              <a:rPr lang="en-US" altLang="zh-CN">
                <a:solidFill>
                  <a:srgbClr val="0000FF"/>
                </a:solidFill>
                <a:latin typeface="Consolas" panose="020B0609020204030204" pitchFamily="49" charset="0"/>
              </a:rPr>
              <a:t>	6	</a:t>
            </a:r>
            <a:r>
              <a:rPr lang="en-US" altLang="zh-CN">
                <a:solidFill>
                  <a:srgbClr val="FF0000"/>
                </a:solidFill>
                <a:latin typeface="Consolas" panose="020B0609020204030204" pitchFamily="49" charset="0"/>
              </a:rPr>
              <a:t>4</a:t>
            </a:r>
            <a:r>
              <a:rPr lang="en-US" altLang="zh-CN">
                <a:solidFill>
                  <a:srgbClr val="0000FF"/>
                </a:solidFill>
                <a:latin typeface="Consolas" panose="020B0609020204030204" pitchFamily="49" charset="0"/>
              </a:rPr>
              <a:t>	</a:t>
            </a:r>
            <a:r>
              <a:rPr lang="en-US" altLang="zh-CN">
                <a:solidFill>
                  <a:srgbClr val="FF0000"/>
                </a:solidFill>
                <a:latin typeface="Consolas" panose="020B0609020204030204" pitchFamily="49" charset="0"/>
              </a:rPr>
              <a:t>8	9</a:t>
            </a:r>
            <a:r>
              <a:rPr lang="en-US" altLang="zh-CN">
                <a:solidFill>
                  <a:srgbClr val="0000FF"/>
                </a:solidFill>
                <a:latin typeface="Consolas" panose="020B0609020204030204" pitchFamily="49" charset="0"/>
              </a:rPr>
              <a:t>	7}</a:t>
            </a:r>
            <a:endParaRPr lang="en-US" altLang="zh-CN">
              <a:solidFill>
                <a:srgbClr val="0000FF"/>
              </a:solidFill>
              <a:latin typeface="Consolas" panose="020B0609020204030204" pitchFamily="49" charset="0"/>
            </a:endParaRPr>
          </a:p>
          <a:p>
            <a:pPr algn="l" defTabSz="539750">
              <a:lnSpc>
                <a:spcPts val="3400"/>
              </a:lnSpc>
              <a:spcBef>
                <a:spcPts val="0"/>
              </a:spcBef>
            </a:pP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dp={	</a:t>
            </a:r>
            <a:r>
              <a:rPr lang="en-US" altLang="zh-CN">
                <a:solidFill>
                  <a:srgbClr val="FF00FF"/>
                </a:solidFill>
                <a:latin typeface="Consolas" panose="020B0609020204030204" pitchFamily="49" charset="0"/>
              </a:rPr>
              <a:t>1	1	2	2	3	3	4	5	4</a:t>
            </a:r>
            <a:r>
              <a:rPr lang="en-US" altLang="zh-CN">
                <a:solidFill>
                  <a:srgbClr val="0000FF"/>
                </a:solidFill>
                <a:latin typeface="Consolas" panose="020B0609020204030204" pitchFamily="49" charset="0"/>
              </a:rPr>
              <a:t>}</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0" name="椭圆 19"/>
          <p:cNvSpPr/>
          <p:nvPr/>
        </p:nvSpPr>
        <p:spPr>
          <a:xfrm>
            <a:off x="357158" y="285728"/>
            <a:ext cx="1143008" cy="642942"/>
          </a:xfrm>
          <a:prstGeom prst="ellipse">
            <a:avLst/>
          </a:prstGeom>
          <a:ln>
            <a:tailEnd type="none"/>
          </a:ln>
        </p:spPr>
        <p:style>
          <a:lnRef idx="3">
            <a:schemeClr val="lt1"/>
          </a:lnRef>
          <a:fillRef idx="1">
            <a:schemeClr val="dk1"/>
          </a:fillRef>
          <a:effectRef idx="1">
            <a:schemeClr val="dk1"/>
          </a:effectRef>
          <a:fontRef idx="minor">
            <a:schemeClr val="lt1"/>
          </a:fontRef>
        </p:style>
        <p:txBody>
          <a:bodyPr rtlCol="0" anchor="ctr"/>
          <a:lstStyle/>
          <a:p>
            <a:pPr>
              <a:lnSpc>
                <a:spcPts val="3000"/>
              </a:lnSpc>
              <a:spcBef>
                <a:spcPts val="0"/>
              </a:spcBef>
            </a:pPr>
            <a:endParaRPr lang="en-US" altLang="zh-CN">
              <a:solidFill>
                <a:schemeClr val="bg1"/>
              </a:solidFill>
              <a:latin typeface="微软雅黑" panose="020B0503020204020204" pitchFamily="34" charset="-122"/>
              <a:ea typeface="微软雅黑" panose="020B0503020204020204" pitchFamily="34" charset="-122"/>
              <a:cs typeface="Consolas" panose="020B0609020204030204" pitchFamily="49" charset="0"/>
            </a:endParaRPr>
          </a:p>
          <a:p>
            <a:pPr>
              <a:lnSpc>
                <a:spcPts val="3000"/>
              </a:lnSpc>
              <a:spcBef>
                <a:spcPts val="0"/>
              </a:spcBef>
            </a:pPr>
            <a:r>
              <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rPr>
              <a:t>示例</a:t>
            </a:r>
            <a:endPar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endParaRPr>
          </a:p>
          <a:p>
            <a:pPr algn="ctr">
              <a:lnSpc>
                <a:spcPts val="3000"/>
              </a:lnSpc>
              <a:spcBef>
                <a:spcPts val="0"/>
              </a:spcBef>
            </a:pP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41" name="组合 40"/>
          <p:cNvGrpSpPr/>
          <p:nvPr/>
        </p:nvGrpSpPr>
        <p:grpSpPr>
          <a:xfrm>
            <a:off x="5072066" y="2477362"/>
            <a:ext cx="571504" cy="1556517"/>
            <a:chOff x="5072066" y="2834552"/>
            <a:chExt cx="571504" cy="1556517"/>
          </a:xfrm>
        </p:grpSpPr>
        <p:cxnSp>
          <p:nvCxnSpPr>
            <p:cNvPr id="25" name="直接箭头连接符 24"/>
            <p:cNvCxnSpPr/>
            <p:nvPr/>
          </p:nvCxnSpPr>
          <p:spPr>
            <a:xfrm rot="5400000" flipH="1" flipV="1">
              <a:off x="4702838"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5072066"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2" name="组合 41"/>
          <p:cNvGrpSpPr/>
          <p:nvPr/>
        </p:nvGrpSpPr>
        <p:grpSpPr>
          <a:xfrm>
            <a:off x="4513944" y="2477362"/>
            <a:ext cx="571504" cy="1556517"/>
            <a:chOff x="4572000" y="2834552"/>
            <a:chExt cx="571504" cy="1556517"/>
          </a:xfrm>
        </p:grpSpPr>
        <p:cxnSp>
          <p:nvCxnSpPr>
            <p:cNvPr id="27" name="直接箭头连接符 26"/>
            <p:cNvCxnSpPr/>
            <p:nvPr/>
          </p:nvCxnSpPr>
          <p:spPr>
            <a:xfrm rot="5400000" flipH="1" flipV="1">
              <a:off x="4202772"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4572000"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3" name="组合 42"/>
          <p:cNvGrpSpPr/>
          <p:nvPr/>
        </p:nvGrpSpPr>
        <p:grpSpPr>
          <a:xfrm>
            <a:off x="3898898" y="2477362"/>
            <a:ext cx="571504" cy="1556517"/>
            <a:chOff x="3927926" y="2834552"/>
            <a:chExt cx="571504" cy="1556517"/>
          </a:xfrm>
        </p:grpSpPr>
        <p:cxnSp>
          <p:nvCxnSpPr>
            <p:cNvPr id="29" name="直接箭头连接符 28"/>
            <p:cNvCxnSpPr/>
            <p:nvPr/>
          </p:nvCxnSpPr>
          <p:spPr>
            <a:xfrm rot="5400000" flipH="1" flipV="1">
              <a:off x="3631268"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27926" y="3929404"/>
              <a:ext cx="571504" cy="461665"/>
            </a:xfrm>
            <a:prstGeom prst="rect">
              <a:avLst/>
            </a:prstGeom>
            <a:noFill/>
          </p:spPr>
          <p:txBody>
            <a:bodyPr wrap="square" rtlCol="0">
              <a:spAutoFit/>
            </a:bodyPr>
            <a:lstStyle/>
            <a:p>
              <a:pPr algn="l">
                <a:lnSpc>
                  <a:spcPct val="100000"/>
                </a:lnSpc>
                <a:spcBef>
                  <a:spcPts val="0"/>
                </a:spcBef>
              </a:pPr>
              <a:r>
                <a:rPr lang="en-US" altLang="zh-CN">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4" name="组合 43"/>
          <p:cNvGrpSpPr/>
          <p:nvPr/>
        </p:nvGrpSpPr>
        <p:grpSpPr>
          <a:xfrm>
            <a:off x="3428992" y="2477362"/>
            <a:ext cx="571504" cy="1556517"/>
            <a:chOff x="3428992" y="2834552"/>
            <a:chExt cx="571504" cy="1556517"/>
          </a:xfrm>
        </p:grpSpPr>
        <p:cxnSp>
          <p:nvCxnSpPr>
            <p:cNvPr id="31" name="直接箭头连接符 30"/>
            <p:cNvCxnSpPr/>
            <p:nvPr/>
          </p:nvCxnSpPr>
          <p:spPr>
            <a:xfrm rot="5400000" flipH="1" flipV="1">
              <a:off x="3059764"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3428992"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5" name="组合 44"/>
          <p:cNvGrpSpPr/>
          <p:nvPr/>
        </p:nvGrpSpPr>
        <p:grpSpPr>
          <a:xfrm>
            <a:off x="2799432" y="2477362"/>
            <a:ext cx="571504" cy="1556517"/>
            <a:chOff x="2799432" y="2834552"/>
            <a:chExt cx="571504" cy="1556517"/>
          </a:xfrm>
        </p:grpSpPr>
        <p:cxnSp>
          <p:nvCxnSpPr>
            <p:cNvPr id="33" name="直接箭头连接符 32"/>
            <p:cNvCxnSpPr/>
            <p:nvPr/>
          </p:nvCxnSpPr>
          <p:spPr>
            <a:xfrm rot="5400000" flipH="1" flipV="1">
              <a:off x="2488260"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2799432" y="3929404"/>
              <a:ext cx="571504" cy="461665"/>
            </a:xfrm>
            <a:prstGeom prst="rect">
              <a:avLst/>
            </a:prstGeom>
            <a:noFill/>
          </p:spPr>
          <p:txBody>
            <a:bodyPr wrap="square" rtlCol="0">
              <a:spAutoFit/>
            </a:bodyPr>
            <a:lstStyle/>
            <a:p>
              <a:pPr algn="l">
                <a:lnSpc>
                  <a:spcPct val="100000"/>
                </a:lnSpc>
                <a:spcBef>
                  <a:spcPts val="0"/>
                </a:spcBef>
              </a:pPr>
              <a:r>
                <a:rPr lang="en-US" altLang="zh-CN">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6" name="组合 45"/>
          <p:cNvGrpSpPr/>
          <p:nvPr/>
        </p:nvGrpSpPr>
        <p:grpSpPr>
          <a:xfrm>
            <a:off x="2357422" y="2477362"/>
            <a:ext cx="571504" cy="1556517"/>
            <a:chOff x="2357422" y="2834552"/>
            <a:chExt cx="571504" cy="1556517"/>
          </a:xfrm>
        </p:grpSpPr>
        <p:cxnSp>
          <p:nvCxnSpPr>
            <p:cNvPr id="35" name="直接箭头连接符 34"/>
            <p:cNvCxnSpPr/>
            <p:nvPr/>
          </p:nvCxnSpPr>
          <p:spPr>
            <a:xfrm rot="5400000" flipH="1" flipV="1">
              <a:off x="1988194"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6" name="TextBox 35"/>
            <p:cNvSpPr txBox="1"/>
            <p:nvPr/>
          </p:nvSpPr>
          <p:spPr>
            <a:xfrm>
              <a:off x="2357422"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7" name="TextBox 36"/>
          <p:cNvSpPr txBox="1"/>
          <p:nvPr/>
        </p:nvSpPr>
        <p:spPr>
          <a:xfrm>
            <a:off x="2643174" y="4429132"/>
            <a:ext cx="3286148"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anose="020B0609020204030204" pitchFamily="49" charset="0"/>
              </a:rPr>
              <a:t>x</a:t>
            </a:r>
            <a:r>
              <a:rPr lang="en-US" altLang="zh-CN">
                <a:solidFill>
                  <a:srgbClr val="0000FF"/>
                </a:solidFill>
                <a:latin typeface="Consolas" panose="020B0609020204030204" pitchFamily="49" charset="0"/>
              </a:rPr>
              <a:t>={9</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8</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4</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3</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1}</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40" name="组合 39"/>
          <p:cNvGrpSpPr/>
          <p:nvPr/>
        </p:nvGrpSpPr>
        <p:grpSpPr>
          <a:xfrm>
            <a:off x="5572132" y="2500306"/>
            <a:ext cx="571504" cy="1556517"/>
            <a:chOff x="5572132" y="2857496"/>
            <a:chExt cx="571504" cy="1556517"/>
          </a:xfrm>
        </p:grpSpPr>
        <p:cxnSp>
          <p:nvCxnSpPr>
            <p:cNvPr id="38" name="直接箭头连接符 37"/>
            <p:cNvCxnSpPr/>
            <p:nvPr/>
          </p:nvCxnSpPr>
          <p:spPr>
            <a:xfrm rot="5400000" flipH="1" flipV="1">
              <a:off x="5202904" y="3396702"/>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5572132" y="3952348"/>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49" name="组合 48"/>
          <p:cNvGrpSpPr/>
          <p:nvPr/>
        </p:nvGrpSpPr>
        <p:grpSpPr>
          <a:xfrm>
            <a:off x="2643174" y="5000636"/>
            <a:ext cx="3000396" cy="890293"/>
            <a:chOff x="2643174" y="5357826"/>
            <a:chExt cx="3000396" cy="890293"/>
          </a:xfrm>
        </p:grpSpPr>
        <p:sp>
          <p:nvSpPr>
            <p:cNvPr id="47" name="下箭头 46"/>
            <p:cNvSpPr/>
            <p:nvPr/>
          </p:nvSpPr>
          <p:spPr>
            <a:xfrm>
              <a:off x="3786182" y="5357826"/>
              <a:ext cx="285752"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8" name="TextBox 47"/>
            <p:cNvSpPr txBox="1"/>
            <p:nvPr/>
          </p:nvSpPr>
          <p:spPr>
            <a:xfrm>
              <a:off x="2643174" y="5786454"/>
              <a:ext cx="3000396"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anose="020B0609020204030204" pitchFamily="49" charset="0"/>
                </a:rPr>
                <a:t>x</a:t>
              </a:r>
              <a:r>
                <a:rPr lang="en-US" altLang="zh-CN">
                  <a:solidFill>
                    <a:srgbClr val="0000FF"/>
                  </a:solidFill>
                  <a:latin typeface="Consolas" panose="020B0609020204030204" pitchFamily="49" charset="0"/>
                </a:rPr>
                <a:t>={1</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3</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4</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8</a:t>
              </a:r>
              <a:r>
                <a:rPr lang="zh-CN" altLang="zh-CN">
                  <a:solidFill>
                    <a:srgbClr val="0000FF"/>
                  </a:solidFill>
                  <a:latin typeface="Consolas" panose="020B0609020204030204" pitchFamily="49" charset="0"/>
                </a:rPr>
                <a:t>，</a:t>
              </a:r>
              <a:r>
                <a:rPr lang="en-US" altLang="zh-CN">
                  <a:solidFill>
                    <a:srgbClr val="0000FF"/>
                  </a:solidFill>
                  <a:latin typeface="Consolas" panose="020B0609020204030204" pitchFamily="49" charset="0"/>
                </a:rPr>
                <a:t>9}</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357158" y="755106"/>
            <a:ext cx="8358246" cy="28384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a:t>
            </a:r>
            <a:r>
              <a:rPr lang="en-US" altLang="zh-CN" sz="2000">
                <a:solidFill>
                  <a:srgbClr val="FF0000"/>
                </a:solidFill>
                <a:latin typeface="Consolas" panose="020B0609020204030204" pitchFamily="49" charset="0"/>
                <a:ea typeface="仿宋" panose="02010609060101010101" pitchFamily="49" charset="-122"/>
              </a:rPr>
              <a:t>maxincseq</a:t>
            </a:r>
            <a:r>
              <a:rPr lang="en-US" altLang="zh-CN" sz="2000">
                <a:solidFill>
                  <a:srgbClr val="0000FF"/>
                </a:solidFill>
                <a:latin typeface="Consolas" panose="020B0609020204030204" pitchFamily="49" charset="0"/>
                <a:ea typeface="仿宋" panose="02010609060101010101" pitchFamily="49" charset="-122"/>
              </a:rPr>
              <a:t>(int a[],int n)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求一个最长递增子序列</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maxj=0;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if(dp[j]&gt;dp[maxj]) maxj=j;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求最大元素</a:t>
            </a:r>
            <a:r>
              <a:rPr lang="en-US" altLang="zh-CN" sz="2000">
                <a:solidFill>
                  <a:srgbClr val="00B0F0"/>
                </a:solidFill>
                <a:latin typeface="Consolas" panose="020B0609020204030204" pitchFamily="49" charset="0"/>
                <a:ea typeface="仿宋" panose="02010609060101010101" pitchFamily="49" charset="-122"/>
              </a:rPr>
              <a:t>dp[minj]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306470"/>
            <a:ext cx="8643998" cy="603163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rnum=dp[maxj];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剩余的元素个数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j=maxj;					</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指向当前最长递增子序列的一个元素</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x.push_back(a[j]);</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rnum--;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prej=maxj-1;			</a:t>
            </a:r>
            <a:r>
              <a:rPr lang="en-US" altLang="zh-CN" sz="2000">
                <a:solidFill>
                  <a:srgbClr val="00B0F0"/>
                </a:solidFill>
                <a:latin typeface="Consolas" panose="020B0609020204030204" pitchFamily="49" charset="0"/>
                <a:ea typeface="仿宋" panose="02010609060101010101" pitchFamily="49" charset="-122"/>
              </a:rPr>
              <a:t>//prej</a:t>
            </a:r>
            <a:r>
              <a:rPr lang="zh-CN" altLang="zh-CN" sz="2000">
                <a:solidFill>
                  <a:srgbClr val="00B0F0"/>
                </a:solidFill>
                <a:latin typeface="Consolas" panose="020B0609020204030204" pitchFamily="49" charset="0"/>
                <a:ea typeface="仿宋" panose="02010609060101010101" pitchFamily="49" charset="-122"/>
              </a:rPr>
              <a:t>查找最长递增子序列的前一个元素</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while(prej&gt;=0 &amp;&amp; rnum!=0)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a[prej]&lt;a[j]</a:t>
            </a:r>
            <a:r>
              <a:rPr lang="en-US" altLang="zh-CN" sz="2000">
                <a:solidFill>
                  <a:srgbClr val="0000FF"/>
                </a:solidFill>
                <a:latin typeface="Consolas" panose="020B0609020204030204" pitchFamily="49" charset="0"/>
                <a:ea typeface="仿宋" panose="02010609060101010101" pitchFamily="49" charset="-122"/>
              </a:rPr>
              <a:t> &amp;&amp;</a:t>
            </a:r>
            <a:r>
              <a:rPr lang="en-US" altLang="zh-CN" sz="2000">
                <a:solidFill>
                  <a:srgbClr val="FF00FF"/>
                </a:solidFill>
                <a:latin typeface="Consolas" panose="020B0609020204030204" pitchFamily="49" charset="0"/>
                <a:ea typeface="仿宋" panose="02010609060101010101" pitchFamily="49" charset="-122"/>
              </a:rPr>
              <a:t> dp[prej]==rnum</a:t>
            </a:r>
            <a:r>
              <a:rPr lang="en-US" altLang="zh-CN" sz="2000">
                <a:solidFill>
                  <a:srgbClr val="0000FF"/>
                </a:solidFill>
                <a:latin typeface="Consolas" panose="020B0609020204030204" pitchFamily="49" charset="0"/>
                <a:ea typeface="仿宋" panose="02010609060101010101" pitchFamily="49" charset="-122"/>
              </a:rPr>
              <a: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找到最长递增子序列中一个元素</a:t>
            </a:r>
            <a:r>
              <a:rPr lang="en-US" altLang="zh-CN" sz="2000">
                <a:solidFill>
                  <a:srgbClr val="00B0F0"/>
                </a:solidFill>
                <a:latin typeface="Consolas" panose="020B0609020204030204" pitchFamily="49" charset="0"/>
                <a:ea typeface="仿宋" panose="02010609060101010101" pitchFamily="49" charset="-122"/>
              </a:rPr>
              <a:t>a[prej]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x.push_back(a[prej]);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j=prej;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prej</a:t>
            </a:r>
            <a:r>
              <a:rPr lang="zh-CN" altLang="zh-CN" sz="2000">
                <a:solidFill>
                  <a:srgbClr val="00B0F0"/>
                </a:solidFill>
                <a:latin typeface="Consolas" panose="020B0609020204030204" pitchFamily="49" charset="0"/>
                <a:ea typeface="仿宋" panose="02010609060101010101" pitchFamily="49" charset="-122"/>
              </a:rPr>
              <a:t>位置继续向前查找</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rnum--;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prej--;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reverse</a:t>
            </a:r>
            <a:r>
              <a:rPr lang="en-US" altLang="zh-CN" sz="2000">
                <a:solidFill>
                  <a:srgbClr val="0000FF"/>
                </a:solidFill>
                <a:latin typeface="Consolas" panose="020B0609020204030204" pitchFamily="49" charset="0"/>
                <a:ea typeface="仿宋" panose="02010609060101010101" pitchFamily="49" charset="-122"/>
              </a:rPr>
              <a:t>(x.begin(),x.end());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逆置</a:t>
            </a:r>
            <a:r>
              <a:rPr lang="en-US" altLang="zh-CN" sz="2000">
                <a:solidFill>
                  <a:srgbClr val="00B0F0"/>
                </a:solidFill>
                <a:latin typeface="Consolas" panose="020B0609020204030204" pitchFamily="49" charset="0"/>
                <a:ea typeface="仿宋" panose="02010609060101010101" pitchFamily="49" charset="-122"/>
              </a:rPr>
              <a:t>x</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428604"/>
            <a:ext cx="4857784"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7.4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三角形最小路径</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00034" y="1214422"/>
            <a:ext cx="8072494" cy="2390746"/>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给定一个高度为</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的整数三角形，求</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从顶部到底部的最小路径和及其一条最小路径</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，从每个整数出发只能向下移动到相邻的整数。</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例如，一个</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的三角形，输出的最小路径和是</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，一条最小路径是</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 name="组合 18"/>
          <p:cNvGrpSpPr/>
          <p:nvPr/>
        </p:nvGrpSpPr>
        <p:grpSpPr>
          <a:xfrm>
            <a:off x="2428860" y="4071942"/>
            <a:ext cx="1857388" cy="1505334"/>
            <a:chOff x="2643174" y="3857628"/>
            <a:chExt cx="1857388" cy="1505334"/>
          </a:xfrm>
        </p:grpSpPr>
        <p:sp>
          <p:nvSpPr>
            <p:cNvPr id="6" name="Rectangle 11"/>
            <p:cNvSpPr>
              <a:spLocks noChangeArrowheads="1"/>
            </p:cNvSpPr>
            <p:nvPr/>
          </p:nvSpPr>
          <p:spPr bwMode="auto">
            <a:xfrm>
              <a:off x="3457222" y="3857628"/>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 name="Rectangle 10"/>
            <p:cNvSpPr>
              <a:spLocks noChangeArrowheads="1"/>
            </p:cNvSpPr>
            <p:nvPr/>
          </p:nvSpPr>
          <p:spPr bwMode="auto">
            <a:xfrm>
              <a:off x="3190321" y="4232445"/>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9"/>
            <p:cNvSpPr>
              <a:spLocks noChangeArrowheads="1"/>
            </p:cNvSpPr>
            <p:nvPr/>
          </p:nvSpPr>
          <p:spPr bwMode="auto">
            <a:xfrm>
              <a:off x="3675595" y="4233658"/>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Rectangle 8"/>
            <p:cNvSpPr>
              <a:spLocks noChangeArrowheads="1"/>
            </p:cNvSpPr>
            <p:nvPr/>
          </p:nvSpPr>
          <p:spPr bwMode="auto">
            <a:xfrm>
              <a:off x="3953415" y="4621819"/>
              <a:ext cx="280246"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 name="Rectangle 7"/>
            <p:cNvSpPr>
              <a:spLocks noChangeArrowheads="1"/>
            </p:cNvSpPr>
            <p:nvPr/>
          </p:nvSpPr>
          <p:spPr bwMode="auto">
            <a:xfrm>
              <a:off x="4221529" y="505849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1" name="Rectangle 6"/>
            <p:cNvSpPr>
              <a:spLocks noChangeArrowheads="1"/>
            </p:cNvSpPr>
            <p:nvPr/>
          </p:nvSpPr>
          <p:spPr bwMode="auto">
            <a:xfrm>
              <a:off x="2922207" y="4621819"/>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2" name="Rectangle 5"/>
            <p:cNvSpPr>
              <a:spLocks noChangeArrowheads="1"/>
            </p:cNvSpPr>
            <p:nvPr/>
          </p:nvSpPr>
          <p:spPr bwMode="auto">
            <a:xfrm>
              <a:off x="3408694" y="462181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3" name="Rectangle 4"/>
            <p:cNvSpPr>
              <a:spLocks noChangeArrowheads="1"/>
            </p:cNvSpPr>
            <p:nvPr/>
          </p:nvSpPr>
          <p:spPr bwMode="auto">
            <a:xfrm>
              <a:off x="3674382" y="5058499"/>
              <a:ext cx="280246"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4" name="Rectangle 3"/>
            <p:cNvSpPr>
              <a:spLocks noChangeArrowheads="1"/>
            </p:cNvSpPr>
            <p:nvPr/>
          </p:nvSpPr>
          <p:spPr bwMode="auto">
            <a:xfrm>
              <a:off x="2643174" y="5058499"/>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5" name="Rectangle 2"/>
            <p:cNvSpPr>
              <a:spLocks noChangeArrowheads="1"/>
            </p:cNvSpPr>
            <p:nvPr/>
          </p:nvSpPr>
          <p:spPr bwMode="auto">
            <a:xfrm>
              <a:off x="3190321" y="505849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1204888" y="480935"/>
            <a:ext cx="4438682"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1</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问题求解—自顶向下</a:t>
            </a:r>
            <a:endPar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Times New Roman" panose="02020603050405020304" pitchFamily="18" charset="0"/>
            </a:endParaRPr>
          </a:p>
        </p:txBody>
      </p:sp>
      <p:sp>
        <p:nvSpPr>
          <p:cNvPr id="107542"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9"/>
          <p:cNvGrpSpPr/>
          <p:nvPr/>
        </p:nvGrpSpPr>
        <p:grpSpPr>
          <a:xfrm>
            <a:off x="1357290" y="3672478"/>
            <a:ext cx="1800645" cy="1532592"/>
            <a:chOff x="1357290" y="3672478"/>
            <a:chExt cx="1800645" cy="1532592"/>
          </a:xfrm>
        </p:grpSpPr>
        <p:sp>
          <p:nvSpPr>
            <p:cNvPr id="107540"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9"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8"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7"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6"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5"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4"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3"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2"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31"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grpSp>
        <p:nvGrpSpPr>
          <p:cNvPr id="3" name="组合 41"/>
          <p:cNvGrpSpPr/>
          <p:nvPr/>
        </p:nvGrpSpPr>
        <p:grpSpPr>
          <a:xfrm>
            <a:off x="4951405" y="3314697"/>
            <a:ext cx="3406806" cy="2328881"/>
            <a:chOff x="4927273" y="3314699"/>
            <a:chExt cx="2782772" cy="1974924"/>
          </a:xfrm>
        </p:grpSpPr>
        <p:sp>
          <p:nvSpPr>
            <p:cNvPr id="107530" name="Rectangle 10"/>
            <p:cNvSpPr>
              <a:spLocks noChangeArrowheads="1"/>
            </p:cNvSpPr>
            <p:nvPr/>
          </p:nvSpPr>
          <p:spPr bwMode="auto">
            <a:xfrm>
              <a:off x="6457963" y="3797210"/>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3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7529" name="Rectangle 9"/>
            <p:cNvSpPr>
              <a:spLocks noChangeArrowheads="1"/>
            </p:cNvSpPr>
            <p:nvPr/>
          </p:nvSpPr>
          <p:spPr bwMode="auto">
            <a:xfrm>
              <a:off x="5213897" y="3809559"/>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3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7528" name="Rectangle 8"/>
            <p:cNvSpPr>
              <a:spLocks noChangeArrowheads="1"/>
            </p:cNvSpPr>
            <p:nvPr/>
          </p:nvSpPr>
          <p:spPr bwMode="auto">
            <a:xfrm>
              <a:off x="6457963" y="4599937"/>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3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7527" name="AutoShape 7"/>
            <p:cNvSpPr>
              <a:spLocks noChangeShapeType="1"/>
            </p:cNvSpPr>
            <p:nvPr/>
          </p:nvSpPr>
          <p:spPr bwMode="auto">
            <a:xfrm>
              <a:off x="6890947" y="4217098"/>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3000"/>
                </a:lnSpc>
              </a:pPr>
              <a:endParaRPr lang="zh-CN" altLang="en-US" sz="2000">
                <a:solidFill>
                  <a:srgbClr val="0000FF"/>
                </a:solidFill>
                <a:latin typeface="Consolas" panose="020B0609020204030204" pitchFamily="49" charset="0"/>
              </a:endParaRPr>
            </a:p>
          </p:txBody>
        </p:sp>
        <p:sp>
          <p:nvSpPr>
            <p:cNvPr id="107526" name="AutoShape 6"/>
            <p:cNvSpPr>
              <a:spLocks noChangeShapeType="1"/>
            </p:cNvSpPr>
            <p:nvPr/>
          </p:nvSpPr>
          <p:spPr bwMode="auto">
            <a:xfrm>
              <a:off x="5646881" y="4229448"/>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3000"/>
                </a:lnSpc>
              </a:pPr>
              <a:endParaRPr lang="zh-CN" altLang="en-US" sz="2000">
                <a:solidFill>
                  <a:srgbClr val="0000FF"/>
                </a:solidFill>
                <a:latin typeface="Consolas" panose="020B0609020204030204" pitchFamily="49" charset="0"/>
              </a:endParaRPr>
            </a:p>
          </p:txBody>
        </p:sp>
        <p:sp>
          <p:nvSpPr>
            <p:cNvPr id="107525" name="AutoShape 5"/>
            <p:cNvSpPr>
              <a:spLocks noChangeShapeType="1"/>
            </p:cNvSpPr>
            <p:nvPr/>
          </p:nvSpPr>
          <p:spPr bwMode="auto">
            <a:xfrm>
              <a:off x="4927273" y="3453889"/>
              <a:ext cx="2419832" cy="123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pPr>
                <a:lnSpc>
                  <a:spcPts val="3000"/>
                </a:lnSpc>
              </a:pPr>
              <a:endParaRPr lang="zh-CN" altLang="en-US" sz="2000">
                <a:solidFill>
                  <a:srgbClr val="0000FF"/>
                </a:solidFill>
                <a:latin typeface="Consolas" panose="020B0609020204030204" pitchFamily="49" charset="0"/>
              </a:endParaRPr>
            </a:p>
          </p:txBody>
        </p:sp>
        <p:sp>
          <p:nvSpPr>
            <p:cNvPr id="107524" name="AutoShape 4"/>
            <p:cNvSpPr>
              <a:spLocks noChangeShapeType="1"/>
            </p:cNvSpPr>
            <p:nvPr/>
          </p:nvSpPr>
          <p:spPr bwMode="auto">
            <a:xfrm>
              <a:off x="4927273" y="3455124"/>
              <a:ext cx="0" cy="1748711"/>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pPr>
                <a:lnSpc>
                  <a:spcPts val="3000"/>
                </a:lnSpc>
              </a:pPr>
              <a:endParaRPr lang="zh-CN" altLang="en-US" sz="2000">
                <a:solidFill>
                  <a:srgbClr val="0000FF"/>
                </a:solidFill>
                <a:latin typeface="Consolas" panose="020B0609020204030204" pitchFamily="49" charset="0"/>
              </a:endParaRPr>
            </a:p>
          </p:txBody>
        </p:sp>
        <p:sp>
          <p:nvSpPr>
            <p:cNvPr id="107523" name="Rectangle 3"/>
            <p:cNvSpPr>
              <a:spLocks noChangeArrowheads="1"/>
            </p:cNvSpPr>
            <p:nvPr/>
          </p:nvSpPr>
          <p:spPr bwMode="auto">
            <a:xfrm>
              <a:off x="7429520" y="3314699"/>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ts val="3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7522" name="Rectangle 2"/>
            <p:cNvSpPr>
              <a:spLocks noChangeArrowheads="1"/>
            </p:cNvSpPr>
            <p:nvPr/>
          </p:nvSpPr>
          <p:spPr bwMode="auto">
            <a:xfrm>
              <a:off x="5037069" y="4980882"/>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ts val="3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grpSp>
      <p:grpSp>
        <p:nvGrpSpPr>
          <p:cNvPr id="5" name="组合 28"/>
          <p:cNvGrpSpPr/>
          <p:nvPr/>
        </p:nvGrpSpPr>
        <p:grpSpPr>
          <a:xfrm>
            <a:off x="1000100" y="1357298"/>
            <a:ext cx="1857388" cy="1505334"/>
            <a:chOff x="2643174" y="3857628"/>
            <a:chExt cx="1857388" cy="1505334"/>
          </a:xfrm>
        </p:grpSpPr>
        <p:sp>
          <p:nvSpPr>
            <p:cNvPr id="30" name="Rectangle 11"/>
            <p:cNvSpPr>
              <a:spLocks noChangeArrowheads="1"/>
            </p:cNvSpPr>
            <p:nvPr/>
          </p:nvSpPr>
          <p:spPr bwMode="auto">
            <a:xfrm>
              <a:off x="3457222" y="3857628"/>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1" name="Rectangle 10"/>
            <p:cNvSpPr>
              <a:spLocks noChangeArrowheads="1"/>
            </p:cNvSpPr>
            <p:nvPr/>
          </p:nvSpPr>
          <p:spPr bwMode="auto">
            <a:xfrm>
              <a:off x="3190321" y="4232445"/>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2" name="Rectangle 9"/>
            <p:cNvSpPr>
              <a:spLocks noChangeArrowheads="1"/>
            </p:cNvSpPr>
            <p:nvPr/>
          </p:nvSpPr>
          <p:spPr bwMode="auto">
            <a:xfrm>
              <a:off x="3675595" y="4233658"/>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3" name="Rectangle 8"/>
            <p:cNvSpPr>
              <a:spLocks noChangeArrowheads="1"/>
            </p:cNvSpPr>
            <p:nvPr/>
          </p:nvSpPr>
          <p:spPr bwMode="auto">
            <a:xfrm>
              <a:off x="3953415" y="4621819"/>
              <a:ext cx="280246"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4" name="Rectangle 7"/>
            <p:cNvSpPr>
              <a:spLocks noChangeArrowheads="1"/>
            </p:cNvSpPr>
            <p:nvPr/>
          </p:nvSpPr>
          <p:spPr bwMode="auto">
            <a:xfrm>
              <a:off x="4221529" y="505849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5" name="Rectangle 6"/>
            <p:cNvSpPr>
              <a:spLocks noChangeArrowheads="1"/>
            </p:cNvSpPr>
            <p:nvPr/>
          </p:nvSpPr>
          <p:spPr bwMode="auto">
            <a:xfrm>
              <a:off x="2922207" y="4621819"/>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6" name="Rectangle 5"/>
            <p:cNvSpPr>
              <a:spLocks noChangeArrowheads="1"/>
            </p:cNvSpPr>
            <p:nvPr/>
          </p:nvSpPr>
          <p:spPr bwMode="auto">
            <a:xfrm>
              <a:off x="3408694" y="462181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7" name="Rectangle 4"/>
            <p:cNvSpPr>
              <a:spLocks noChangeArrowheads="1"/>
            </p:cNvSpPr>
            <p:nvPr/>
          </p:nvSpPr>
          <p:spPr bwMode="auto">
            <a:xfrm>
              <a:off x="3674382" y="5058499"/>
              <a:ext cx="280246"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8" name="Rectangle 3"/>
            <p:cNvSpPr>
              <a:spLocks noChangeArrowheads="1"/>
            </p:cNvSpPr>
            <p:nvPr/>
          </p:nvSpPr>
          <p:spPr bwMode="auto">
            <a:xfrm>
              <a:off x="2643174" y="5058499"/>
              <a:ext cx="280246" cy="304463"/>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9" name="Rectangle 2"/>
            <p:cNvSpPr>
              <a:spLocks noChangeArrowheads="1"/>
            </p:cNvSpPr>
            <p:nvPr/>
          </p:nvSpPr>
          <p:spPr bwMode="auto">
            <a:xfrm>
              <a:off x="3190321" y="5058499"/>
              <a:ext cx="279033" cy="303250"/>
            </a:xfrm>
            <a:prstGeom prst="rect">
              <a:avLst/>
            </a:prstGeom>
            <a:noFill/>
            <a:ln w="9525">
              <a:noFill/>
              <a:miter lim="800000"/>
              <a:tailEnd type="none" w="sm" len="sm"/>
            </a:ln>
          </p:spPr>
          <p:txBody>
            <a:bodyPr vert="horz" wrap="square" lIns="0" tIns="0" rIns="0" bIns="0" numCol="1" anchor="t" anchorCtr="0" compatLnSpc="1"/>
            <a:lstStyle/>
            <a:p>
              <a:pPr marL="0" marR="0" lvl="0" indent="269875"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41" name="下箭头 40"/>
          <p:cNvSpPr/>
          <p:nvPr/>
        </p:nvSpPr>
        <p:spPr>
          <a:xfrm>
            <a:off x="2071670" y="3071810"/>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3" name="下箭头 42"/>
          <p:cNvSpPr/>
          <p:nvPr/>
        </p:nvSpPr>
        <p:spPr>
          <a:xfrm>
            <a:off x="1000100" y="3786190"/>
            <a:ext cx="142876" cy="1214446"/>
          </a:xfrm>
          <a:prstGeom prst="downArrow">
            <a:avLst/>
          </a:prstGeom>
          <a:ln>
            <a:tailEnd type="none"/>
          </a:ln>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2" name="灯片编号占位符 4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44" name="Picture 4"/>
          <p:cNvPicPr>
            <a:picLocks noChangeAspect="1" noChangeArrowheads="1"/>
          </p:cNvPicPr>
          <p:nvPr/>
        </p:nvPicPr>
        <p:blipFill>
          <a:blip r:embed="rId1" cstate="print"/>
          <a:srcRect/>
          <a:stretch>
            <a:fillRect/>
          </a:stretch>
        </p:blipFill>
        <p:spPr bwMode="auto">
          <a:xfrm>
            <a:off x="500034" y="500042"/>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 name="TextBox 9"/>
          <p:cNvSpPr txBox="1"/>
          <p:nvPr/>
        </p:nvSpPr>
        <p:spPr>
          <a:xfrm>
            <a:off x="285720" y="285728"/>
            <a:ext cx="8501122"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设计二维动态规划数组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从顶部</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00"/>
                </a:solidFill>
                <a:latin typeface="Consolas" panose="020B0609020204030204" pitchFamily="49" charset="0"/>
                <a:ea typeface="仿宋" panose="02010609060101010101" pitchFamily="49" charset="-122"/>
                <a:cs typeface="Consolas" panose="020B0609020204030204" pitchFamily="49" charset="0"/>
              </a:rPr>
              <a:t>[0][0]</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到达（</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）位置的最小路径和</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起始位置只有（</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），初始化为</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dp[0][0]=</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[0][0]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这里有如下两个边界：</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800100" lvl="1" indent="-342900" algn="l">
              <a:lnSpc>
                <a:spcPts val="3000"/>
              </a:lnSpc>
              <a:spcBef>
                <a:spcPts val="12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即第</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列的任意位置（</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），只有垂直方向到达的一条路径，此时有</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][0]=dp[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-1][0]+</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6" name="组合 39"/>
          <p:cNvGrpSpPr/>
          <p:nvPr/>
        </p:nvGrpSpPr>
        <p:grpSpPr>
          <a:xfrm>
            <a:off x="3214678" y="3857628"/>
            <a:ext cx="1800645" cy="1532592"/>
            <a:chOff x="1357290" y="3672478"/>
            <a:chExt cx="1800645" cy="1532592"/>
          </a:xfrm>
        </p:grpSpPr>
        <p:sp>
          <p:nvSpPr>
            <p:cNvPr id="18"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9"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0"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1"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3"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cxnSp>
        <p:nvCxnSpPr>
          <p:cNvPr id="38" name="直接箭头连接符 37"/>
          <p:cNvCxnSpPr/>
          <p:nvPr/>
        </p:nvCxnSpPr>
        <p:spPr>
          <a:xfrm rot="5400000">
            <a:off x="2381852" y="5081511"/>
            <a:ext cx="164307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 name="TextBox 9"/>
          <p:cNvSpPr txBox="1"/>
          <p:nvPr/>
        </p:nvSpPr>
        <p:spPr>
          <a:xfrm>
            <a:off x="285720" y="666997"/>
            <a:ext cx="8501122"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554355" lvl="1" indent="-457200" algn="l">
              <a:lnSpc>
                <a:spcPts val="3000"/>
              </a:lnSpc>
              <a:spcBef>
                <a:spcPts val="600"/>
              </a:spcBef>
              <a:buFont typeface="+mj-ea"/>
              <a:buAutoNum type="circleNumDbPlain" startAt="2"/>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即对角线上的任意位置（</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），只有左斜方向到达的一条路径，此时有</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6" name="组合 39"/>
          <p:cNvGrpSpPr/>
          <p:nvPr/>
        </p:nvGrpSpPr>
        <p:grpSpPr>
          <a:xfrm>
            <a:off x="2857488" y="1928802"/>
            <a:ext cx="1800645" cy="1532592"/>
            <a:chOff x="1357290" y="3672478"/>
            <a:chExt cx="1800645" cy="1532592"/>
          </a:xfrm>
        </p:grpSpPr>
        <p:sp>
          <p:nvSpPr>
            <p:cNvPr id="18"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9"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0"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1"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3"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cxnSp>
        <p:nvCxnSpPr>
          <p:cNvPr id="38" name="直接箭头连接符 37"/>
          <p:cNvCxnSpPr/>
          <p:nvPr/>
        </p:nvCxnSpPr>
        <p:spPr>
          <a:xfrm rot="10800000" flipH="1" flipV="1">
            <a:off x="3407936" y="2443434"/>
            <a:ext cx="1637847" cy="132017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 name="TextBox 9"/>
          <p:cNvSpPr txBox="1"/>
          <p:nvPr/>
        </p:nvSpPr>
        <p:spPr>
          <a:xfrm>
            <a:off x="357158" y="928670"/>
            <a:ext cx="8501122" cy="93871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其他两条到达（</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）位置的路径，最小路径和</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]=min(dp[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1"/>
          <p:cNvGrpSpPr/>
          <p:nvPr/>
        </p:nvGrpSpPr>
        <p:grpSpPr>
          <a:xfrm>
            <a:off x="2571736" y="2428868"/>
            <a:ext cx="2782772" cy="1932765"/>
            <a:chOff x="4927273" y="3314699"/>
            <a:chExt cx="2782772" cy="1932765"/>
          </a:xfrm>
        </p:grpSpPr>
        <p:sp>
          <p:nvSpPr>
            <p:cNvPr id="22" name="Rectangle 10"/>
            <p:cNvSpPr>
              <a:spLocks noChangeArrowheads="1"/>
            </p:cNvSpPr>
            <p:nvPr/>
          </p:nvSpPr>
          <p:spPr bwMode="auto">
            <a:xfrm>
              <a:off x="6457963" y="3797210"/>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4" name="Rectangle 9"/>
            <p:cNvSpPr>
              <a:spLocks noChangeArrowheads="1"/>
            </p:cNvSpPr>
            <p:nvPr/>
          </p:nvSpPr>
          <p:spPr bwMode="auto">
            <a:xfrm>
              <a:off x="5213897" y="3809559"/>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7" name="Rectangle 8"/>
            <p:cNvSpPr>
              <a:spLocks noChangeArrowheads="1"/>
            </p:cNvSpPr>
            <p:nvPr/>
          </p:nvSpPr>
          <p:spPr bwMode="auto">
            <a:xfrm>
              <a:off x="6457963" y="4599937"/>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8" name="AutoShape 7"/>
            <p:cNvSpPr>
              <a:spLocks noChangeShapeType="1"/>
            </p:cNvSpPr>
            <p:nvPr/>
          </p:nvSpPr>
          <p:spPr bwMode="auto">
            <a:xfrm>
              <a:off x="6890947" y="4217098"/>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endParaRPr>
            </a:p>
          </p:txBody>
        </p:sp>
        <p:sp>
          <p:nvSpPr>
            <p:cNvPr id="29" name="AutoShape 6"/>
            <p:cNvSpPr>
              <a:spLocks noChangeShapeType="1"/>
            </p:cNvSpPr>
            <p:nvPr/>
          </p:nvSpPr>
          <p:spPr bwMode="auto">
            <a:xfrm>
              <a:off x="5646881" y="4229448"/>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endParaRPr>
            </a:p>
          </p:txBody>
        </p:sp>
        <p:sp>
          <p:nvSpPr>
            <p:cNvPr id="30" name="AutoShape 5"/>
            <p:cNvSpPr>
              <a:spLocks noChangeShapeType="1"/>
            </p:cNvSpPr>
            <p:nvPr/>
          </p:nvSpPr>
          <p:spPr bwMode="auto">
            <a:xfrm>
              <a:off x="4927273" y="3453889"/>
              <a:ext cx="2419832" cy="123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endParaRPr>
            </a:p>
          </p:txBody>
        </p:sp>
        <p:sp>
          <p:nvSpPr>
            <p:cNvPr id="31" name="AutoShape 4"/>
            <p:cNvSpPr>
              <a:spLocks noChangeShapeType="1"/>
            </p:cNvSpPr>
            <p:nvPr/>
          </p:nvSpPr>
          <p:spPr bwMode="auto">
            <a:xfrm>
              <a:off x="4927273" y="3455124"/>
              <a:ext cx="0" cy="1748711"/>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endParaRPr>
            </a:p>
          </p:txBody>
        </p:sp>
        <p:sp>
          <p:nvSpPr>
            <p:cNvPr id="32" name="Rectangle 3"/>
            <p:cNvSpPr>
              <a:spLocks noChangeArrowheads="1"/>
            </p:cNvSpPr>
            <p:nvPr/>
          </p:nvSpPr>
          <p:spPr bwMode="auto">
            <a:xfrm>
              <a:off x="7429520" y="3314699"/>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3" name="Rectangle 2"/>
            <p:cNvSpPr>
              <a:spLocks noChangeArrowheads="1"/>
            </p:cNvSpPr>
            <p:nvPr/>
          </p:nvSpPr>
          <p:spPr bwMode="auto">
            <a:xfrm>
              <a:off x="5039193" y="4938723"/>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 name="TextBox 10"/>
          <p:cNvSpPr txBox="1"/>
          <p:nvPr/>
        </p:nvSpPr>
        <p:spPr>
          <a:xfrm>
            <a:off x="142844" y="1142984"/>
            <a:ext cx="8858312" cy="206476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36000" tIns="108000" rIns="36000" bIns="108000" rtlCol="0">
            <a:spAutoFit/>
          </a:bodyPr>
          <a:lstStyle/>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dp[0][0]=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初始条件</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列的边界情况，</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对角线的边界情况，</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mn-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B0F0"/>
                </a:solidFill>
                <a:latin typeface="+mn-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min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&gt;1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的其他有两条达到路径</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下箭头 11"/>
          <p:cNvSpPr/>
          <p:nvPr/>
        </p:nvSpPr>
        <p:spPr>
          <a:xfrm>
            <a:off x="4000496" y="785794"/>
            <a:ext cx="214314"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7"/>
          <p:cNvSpPr txBox="1"/>
          <p:nvPr/>
        </p:nvSpPr>
        <p:spPr>
          <a:xfrm>
            <a:off x="357158" y="3571876"/>
            <a:ext cx="8501122" cy="451406"/>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在</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dp</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数组的第</a:t>
            </a:r>
            <a:r>
              <a:rPr lang="en-US" altLang="zh-CN" i="1">
                <a:solidFill>
                  <a:srgbClr val="0000FF"/>
                </a:solidFill>
                <a:latin typeface="Consolas" panose="020B0609020204030204" pitchFamily="49" charset="0"/>
                <a:ea typeface="仿宋" panose="02010609060101010101" pitchFamily="49" charset="-122"/>
                <a:cs typeface="Times New Roman" panose="02020603050405020304" pitchFamily="18" charset="0"/>
              </a:rPr>
              <a:t>n</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行中求出的最小元素</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ans=dp[</a:t>
            </a:r>
            <a:r>
              <a:rPr lang="en-US" altLang="zh-CN" i="1">
                <a:solidFill>
                  <a:srgbClr val="0000FF"/>
                </a:solidFill>
                <a:latin typeface="Consolas" panose="020B0609020204030204" pitchFamily="49" charset="0"/>
                <a:ea typeface="仿宋" panose="02010609060101010101" pitchFamily="49" charset="-122"/>
                <a:cs typeface="Times New Roman" panose="02020603050405020304" pitchFamily="18" charset="0"/>
              </a:rPr>
              <a:t>n</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-1][minj]</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 。</a:t>
            </a:r>
            <a:endPar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9" name="TextBox 8"/>
          <p:cNvSpPr txBox="1"/>
          <p:nvPr/>
        </p:nvSpPr>
        <p:spPr>
          <a:xfrm>
            <a:off x="3071802" y="252691"/>
            <a:ext cx="2143140" cy="461665"/>
          </a:xfrm>
          <a:prstGeom prst="rect">
            <a:avLst/>
          </a:prstGeom>
          <a:noFill/>
        </p:spPr>
        <p:txBody>
          <a:bodyPr wrap="square" rtlCol="0">
            <a:spAutoFit/>
          </a:bodyPr>
          <a:lstStyle/>
          <a:p>
            <a:pPr>
              <a:lnSpc>
                <a:spcPct val="100000"/>
              </a:lnSpc>
              <a:spcBef>
                <a:spcPts val="0"/>
              </a:spcBef>
            </a:pPr>
            <a:r>
              <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rPr>
              <a:t>状态转移方程</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214290"/>
            <a:ext cx="8786874" cy="59675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minpathsum</a:t>
            </a:r>
            <a:r>
              <a:rPr lang="en-US" altLang="zh-CN" sz="2000">
                <a:solidFill>
                  <a:srgbClr val="0000FF"/>
                </a:solidFill>
                <a:latin typeface="Consolas" panose="020B0609020204030204" pitchFamily="49" charset="0"/>
                <a:ea typeface="仿宋" panose="02010609060101010101" pitchFamily="49" charset="-122"/>
              </a:rPr>
              <a:t>(vector&lt;vector&lt;int&gt;&gt;&amp;a){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自顶向下求最小路径和</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dp[n][n];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dp[0][0]=a[0][0];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考虑第</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列的边界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dp[i][0]=dp[i-1][0]+a[i][0];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考虑对角线的边界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dp[i][i]=a[i][i]+dp[i-1][i-1];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i=2;i&lt;n;i++)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考虑其他结点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j=1;j&lt;i;j++)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dp[i][j]=min(dp[i-1][j-1],dp[i-1][j])+a[i][j];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1200"/>
              </a:spcBef>
            </a:pPr>
            <a:r>
              <a:rPr lang="en-US" altLang="zh-CN" sz="2000">
                <a:solidFill>
                  <a:srgbClr val="0000FF"/>
                </a:solidFill>
                <a:latin typeface="Consolas" panose="020B0609020204030204" pitchFamily="49" charset="0"/>
                <a:ea typeface="仿宋" panose="02010609060101010101" pitchFamily="49" charset="-122"/>
              </a:rPr>
              <a:t>  	int ans=dp[n-1][0];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求出最小</a:t>
            </a:r>
            <a:r>
              <a:rPr lang="en-US" altLang="zh-CN" sz="2000">
                <a:solidFill>
                  <a:srgbClr val="00B0F0"/>
                </a:solidFill>
                <a:latin typeface="Consolas" panose="020B0609020204030204" pitchFamily="49" charset="0"/>
                <a:ea typeface="仿宋" panose="02010609060101010101" pitchFamily="49" charset="-122"/>
              </a:rPr>
              <a:t>ans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ans=min(ans,dp[n-1][j]);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500034" y="911838"/>
            <a:ext cx="8286808" cy="173134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那么如何</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找到一条最小和的路径</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呢？</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设计一个二维数组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pre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pre[</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表示到达（</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）位置时最小路径上的前驱位置，用</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pre[</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记录前驱位置的列号即可。</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3"/>
          <p:cNvGrpSpPr/>
          <p:nvPr/>
        </p:nvGrpSpPr>
        <p:grpSpPr>
          <a:xfrm>
            <a:off x="1320178" y="2967607"/>
            <a:ext cx="6109342" cy="1921210"/>
            <a:chOff x="1320178" y="3571876"/>
            <a:chExt cx="5609276" cy="1627630"/>
          </a:xfrm>
        </p:grpSpPr>
        <p:sp>
          <p:nvSpPr>
            <p:cNvPr id="7" name="Rectangle 10"/>
            <p:cNvSpPr>
              <a:spLocks noChangeArrowheads="1"/>
            </p:cNvSpPr>
            <p:nvPr/>
          </p:nvSpPr>
          <p:spPr bwMode="auto">
            <a:xfrm>
              <a:off x="2564244" y="3571876"/>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8" name="Rectangle 9"/>
            <p:cNvSpPr>
              <a:spLocks noChangeArrowheads="1"/>
            </p:cNvSpPr>
            <p:nvPr/>
          </p:nvSpPr>
          <p:spPr bwMode="auto">
            <a:xfrm>
              <a:off x="1320178" y="3584225"/>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 name="Rectangle 8"/>
            <p:cNvSpPr>
              <a:spLocks noChangeArrowheads="1"/>
            </p:cNvSpPr>
            <p:nvPr/>
          </p:nvSpPr>
          <p:spPr bwMode="auto">
            <a:xfrm>
              <a:off x="2564244" y="4374603"/>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1" name="AutoShape 7"/>
            <p:cNvSpPr>
              <a:spLocks noChangeShapeType="1"/>
            </p:cNvSpPr>
            <p:nvPr/>
          </p:nvSpPr>
          <p:spPr bwMode="auto">
            <a:xfrm>
              <a:off x="2997228" y="3991764"/>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1800">
                <a:solidFill>
                  <a:srgbClr val="0000FF"/>
                </a:solidFill>
                <a:latin typeface="Consolas" panose="020B0609020204030204" pitchFamily="49" charset="0"/>
                <a:cs typeface="Consolas" panose="020B0609020204030204" pitchFamily="49" charset="0"/>
              </a:endParaRPr>
            </a:p>
          </p:txBody>
        </p:sp>
        <p:sp>
          <p:nvSpPr>
            <p:cNvPr id="12" name="AutoShape 6"/>
            <p:cNvSpPr>
              <a:spLocks noChangeShapeType="1"/>
            </p:cNvSpPr>
            <p:nvPr/>
          </p:nvSpPr>
          <p:spPr bwMode="auto">
            <a:xfrm>
              <a:off x="1753162" y="4004114"/>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1800">
                <a:solidFill>
                  <a:srgbClr val="0000FF"/>
                </a:solidFill>
                <a:latin typeface="Consolas" panose="020B0609020204030204" pitchFamily="49" charset="0"/>
                <a:cs typeface="Consolas" panose="020B0609020204030204" pitchFamily="49" charset="0"/>
              </a:endParaRPr>
            </a:p>
          </p:txBody>
        </p:sp>
        <p:sp>
          <p:nvSpPr>
            <p:cNvPr id="17" name="TextBox 16"/>
            <p:cNvSpPr txBox="1"/>
            <p:nvPr/>
          </p:nvSpPr>
          <p:spPr>
            <a:xfrm>
              <a:off x="1714481" y="4842828"/>
              <a:ext cx="1738672" cy="356678"/>
            </a:xfrm>
            <a:prstGeom prst="rect">
              <a:avLst/>
            </a:prstGeom>
            <a:noFill/>
          </p:spPr>
          <p:txBody>
            <a:bodyPr wrap="square" rtlCol="0">
              <a:spAutoFit/>
            </a:bodyPr>
            <a:lstStyle/>
            <a:p>
              <a:pPr algn="l">
                <a:lnSpc>
                  <a:spcPts val="28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8" name="Rectangle 10"/>
            <p:cNvSpPr>
              <a:spLocks noChangeArrowheads="1"/>
            </p:cNvSpPr>
            <p:nvPr/>
          </p:nvSpPr>
          <p:spPr bwMode="auto">
            <a:xfrm>
              <a:off x="6064706" y="3571876"/>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 name="Rectangle 9"/>
            <p:cNvSpPr>
              <a:spLocks noChangeArrowheads="1"/>
            </p:cNvSpPr>
            <p:nvPr/>
          </p:nvSpPr>
          <p:spPr bwMode="auto">
            <a:xfrm>
              <a:off x="4820640" y="3584225"/>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0" name="Rectangle 8"/>
            <p:cNvSpPr>
              <a:spLocks noChangeArrowheads="1"/>
            </p:cNvSpPr>
            <p:nvPr/>
          </p:nvSpPr>
          <p:spPr bwMode="auto">
            <a:xfrm>
              <a:off x="6064706" y="4374603"/>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ts val="28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1" name="AutoShape 7"/>
            <p:cNvSpPr>
              <a:spLocks noChangeShapeType="1"/>
            </p:cNvSpPr>
            <p:nvPr/>
          </p:nvSpPr>
          <p:spPr bwMode="auto">
            <a:xfrm>
              <a:off x="6497690" y="3991764"/>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1800">
                <a:solidFill>
                  <a:srgbClr val="0000FF"/>
                </a:solidFill>
                <a:latin typeface="Consolas" panose="020B0609020204030204" pitchFamily="49" charset="0"/>
                <a:cs typeface="Consolas" panose="020B0609020204030204" pitchFamily="49" charset="0"/>
              </a:endParaRPr>
            </a:p>
          </p:txBody>
        </p:sp>
        <p:sp>
          <p:nvSpPr>
            <p:cNvPr id="22" name="AutoShape 6"/>
            <p:cNvSpPr>
              <a:spLocks noChangeShapeType="1"/>
            </p:cNvSpPr>
            <p:nvPr/>
          </p:nvSpPr>
          <p:spPr bwMode="auto">
            <a:xfrm>
              <a:off x="5253624" y="4004114"/>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800"/>
                </a:lnSpc>
              </a:pPr>
              <a:endParaRPr lang="zh-CN" altLang="en-US" sz="1800">
                <a:solidFill>
                  <a:srgbClr val="0000FF"/>
                </a:solidFill>
                <a:latin typeface="Consolas" panose="020B0609020204030204" pitchFamily="49" charset="0"/>
                <a:cs typeface="Consolas" panose="020B0609020204030204" pitchFamily="49" charset="0"/>
              </a:endParaRPr>
            </a:p>
          </p:txBody>
        </p:sp>
        <p:sp>
          <p:nvSpPr>
            <p:cNvPr id="23" name="TextBox 22"/>
            <p:cNvSpPr txBox="1"/>
            <p:nvPr/>
          </p:nvSpPr>
          <p:spPr>
            <a:xfrm>
              <a:off x="5343005" y="4842828"/>
              <a:ext cx="1520859" cy="356678"/>
            </a:xfrm>
            <a:prstGeom prst="rect">
              <a:avLst/>
            </a:prstGeom>
            <a:noFill/>
          </p:spPr>
          <p:txBody>
            <a:bodyPr wrap="square" rtlCol="0">
              <a:spAutoFit/>
            </a:bodyPr>
            <a:lstStyle/>
            <a:p>
              <a:pPr algn="l">
                <a:lnSpc>
                  <a:spcPts val="28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endParaRPr lang="zh-CN" altLang="en-US" sz="18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6" name="TextBox 25"/>
          <p:cNvSpPr txBox="1"/>
          <p:nvPr/>
        </p:nvSpPr>
        <p:spPr>
          <a:xfrm>
            <a:off x="500034" y="5350265"/>
            <a:ext cx="8001056" cy="93625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ans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后，通过</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pre[</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-1][minj]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推导求出反向路径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，逆向输出得到一条最小和的路径。</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灯片编号占位符 2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25" name="TextBox 24"/>
          <p:cNvSpPr txBox="1"/>
          <p:nvPr/>
        </p:nvSpPr>
        <p:spPr>
          <a:xfrm>
            <a:off x="620332" y="181253"/>
            <a:ext cx="214314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en-US" altLang="zh-CN">
                <a:solidFill>
                  <a:schemeClr val="bg1"/>
                </a:solidFill>
                <a:latin typeface="Consolas" panose="020B0609020204030204" pitchFamily="49" charset="0"/>
                <a:ea typeface="楷体" panose="02010609060101010101" pitchFamily="49" charset="-122"/>
                <a:cs typeface="Consolas" panose="020B0609020204030204" pitchFamily="49" charset="0"/>
              </a:rPr>
              <a:t>dp </a:t>
            </a:r>
            <a:r>
              <a:rPr lang="en-US" altLang="zh-CN">
                <a:solidFill>
                  <a:schemeClr val="bg1"/>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path</a:t>
            </a:r>
            <a:endParaRPr lang="zh-CN" altLang="en-US">
              <a:solidFill>
                <a:schemeClr val="bg1"/>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44" y="214290"/>
            <a:ext cx="8786874" cy="41465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minpathsum1</a:t>
            </a:r>
            <a:r>
              <a:rPr lang="en-US" altLang="zh-CN" sz="2000">
                <a:solidFill>
                  <a:srgbClr val="0000FF"/>
                </a:solidFill>
                <a:latin typeface="Consolas" panose="020B0609020204030204" pitchFamily="49" charset="0"/>
                <a:ea typeface="仿宋" panose="02010609060101010101" pitchFamily="49" charset="-122"/>
              </a:rPr>
              <a:t>(vector&lt;vector&lt;int&gt;&gt;&amp;a)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dp[n][n];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pre[n][n];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二维路径数组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dp[0][0]=a[0][0];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考虑第</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列的边界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dp[i][0]=dp[i-1][0]+a[i][0];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pre[i][0]=0;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考虑对角线的边界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dp[i][i]=a[i][i]+dp[i-1][i-1];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pre[i][i]=i-1;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2" name="组合 14"/>
          <p:cNvGrpSpPr/>
          <p:nvPr/>
        </p:nvGrpSpPr>
        <p:grpSpPr>
          <a:xfrm>
            <a:off x="642910" y="4613749"/>
            <a:ext cx="1714512" cy="1756351"/>
            <a:chOff x="642910" y="4613749"/>
            <a:chExt cx="1714512" cy="1756351"/>
          </a:xfrm>
        </p:grpSpPr>
        <p:sp>
          <p:nvSpPr>
            <p:cNvPr id="7" name="Rectangle 10"/>
            <p:cNvSpPr>
              <a:spLocks noChangeArrowheads="1"/>
            </p:cNvSpPr>
            <p:nvPr/>
          </p:nvSpPr>
          <p:spPr bwMode="auto">
            <a:xfrm>
              <a:off x="995337" y="4613749"/>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8" name="Rectangle 8"/>
            <p:cNvSpPr>
              <a:spLocks noChangeArrowheads="1"/>
            </p:cNvSpPr>
            <p:nvPr/>
          </p:nvSpPr>
          <p:spPr bwMode="auto">
            <a:xfrm>
              <a:off x="995337" y="5416476"/>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9" name="AutoShape 7"/>
            <p:cNvSpPr>
              <a:spLocks noChangeShapeType="1"/>
            </p:cNvSpPr>
            <p:nvPr/>
          </p:nvSpPr>
          <p:spPr bwMode="auto">
            <a:xfrm>
              <a:off x="1428321" y="5033637"/>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0" name="TextBox 9"/>
            <p:cNvSpPr txBox="1"/>
            <p:nvPr/>
          </p:nvSpPr>
          <p:spPr>
            <a:xfrm>
              <a:off x="642910" y="6000768"/>
              <a:ext cx="1714512"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]=0</a:t>
              </a:r>
              <a:endParaRPr lang="zh-CN" altLang="en-US" sz="18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3" name="组合 15"/>
          <p:cNvGrpSpPr/>
          <p:nvPr/>
        </p:nvGrpSpPr>
        <p:grpSpPr>
          <a:xfrm>
            <a:off x="3537485" y="4626098"/>
            <a:ext cx="2177523" cy="1672564"/>
            <a:chOff x="3537485" y="4626098"/>
            <a:chExt cx="2177523" cy="1672564"/>
          </a:xfrm>
        </p:grpSpPr>
        <p:sp>
          <p:nvSpPr>
            <p:cNvPr id="11" name="Rectangle 9"/>
            <p:cNvSpPr>
              <a:spLocks noChangeArrowheads="1"/>
            </p:cNvSpPr>
            <p:nvPr/>
          </p:nvSpPr>
          <p:spPr bwMode="auto">
            <a:xfrm>
              <a:off x="3537485" y="4626098"/>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a:solidFill>
                    <a:srgbClr val="0000FF"/>
                  </a:solidFill>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2" name="Rectangle 8"/>
            <p:cNvSpPr>
              <a:spLocks noChangeArrowheads="1"/>
            </p:cNvSpPr>
            <p:nvPr/>
          </p:nvSpPr>
          <p:spPr bwMode="auto">
            <a:xfrm>
              <a:off x="4781551" y="5416476"/>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700" i="1">
                  <a:solidFill>
                    <a:srgbClr val="0000FF"/>
                  </a:solidFill>
                  <a:latin typeface="Consolas" panose="020B0609020204030204" pitchFamily="49" charset="0"/>
                  <a:ea typeface="宋体" panose="02010600030101010101" pitchFamily="2" charset="-122"/>
                  <a:cs typeface="Consolas" panose="020B0609020204030204" pitchFamily="49" charset="0"/>
                </a:rPr>
                <a:t>i</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 name="AutoShape 6"/>
            <p:cNvSpPr>
              <a:spLocks noChangeShapeType="1"/>
            </p:cNvSpPr>
            <p:nvPr/>
          </p:nvSpPr>
          <p:spPr bwMode="auto">
            <a:xfrm>
              <a:off x="3970469" y="5045987"/>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4" name="TextBox 13"/>
            <p:cNvSpPr txBox="1"/>
            <p:nvPr/>
          </p:nvSpPr>
          <p:spPr>
            <a:xfrm>
              <a:off x="3857620" y="5929330"/>
              <a:ext cx="185738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nodeType="clickEffect">
                                  <p:stCondLst>
                                    <p:cond delay="0"/>
                                  </p:stCondLst>
                                  <p:childTnLst>
                                    <p:animEffect transition="out" filter="wipe(down)">
                                      <p:cBhvr>
                                        <p:cTn id="19" dur="500"/>
                                        <p:tgtEl>
                                          <p:spTgt spid="2"/>
                                        </p:tgtEl>
                                      </p:cBhvr>
                                    </p:animEffect>
                                    <p:set>
                                      <p:cBhvr>
                                        <p:cTn id="20" dur="1" fill="hold">
                                          <p:stCondLst>
                                            <p:cond delay="499"/>
                                          </p:stCondLst>
                                        </p:cTn>
                                        <p:tgtEl>
                                          <p:spTgt spid="2"/>
                                        </p:tgtEl>
                                        <p:attrNameLst>
                                          <p:attrName>style.visibility</p:attrName>
                                        </p:attrNameLst>
                                      </p:cBhvr>
                                      <p:to>
                                        <p:strVal val="hidden"/>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5">
                                            <p:txEl>
                                              <p:pRg st="9" end="9"/>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10" end="10"/>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
                                            <p:txEl>
                                              <p:pRg st="11" end="1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
                                            <p:txEl>
                                              <p:pRg st="12" end="12"/>
                                            </p:txEl>
                                          </p:spTgt>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214290"/>
            <a:ext cx="8786874" cy="3978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for(int i=2;i&lt;n;i++)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考虑其他有两条达到路径的结点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j=1;j&lt;i;j++)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if(dp[i-1][j-1]&lt;dp[i-1][j])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pre[i][j]=j-1;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dp[i][j]=a[i][j]+dp[i-1][j-1];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pre[i][j]=j;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dp[i][j]=a[i][j]+dp[i-1][j];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2" name="组合 19"/>
          <p:cNvGrpSpPr/>
          <p:nvPr/>
        </p:nvGrpSpPr>
        <p:grpSpPr>
          <a:xfrm>
            <a:off x="928662" y="4357694"/>
            <a:ext cx="2180195" cy="1857388"/>
            <a:chOff x="1285852" y="4572008"/>
            <a:chExt cx="2180195" cy="1857388"/>
          </a:xfrm>
        </p:grpSpPr>
        <p:sp>
          <p:nvSpPr>
            <p:cNvPr id="8" name="Rectangle 10"/>
            <p:cNvSpPr>
              <a:spLocks noChangeArrowheads="1"/>
            </p:cNvSpPr>
            <p:nvPr/>
          </p:nvSpPr>
          <p:spPr bwMode="auto">
            <a:xfrm>
              <a:off x="2529918" y="4572008"/>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9" name="Rectangle 9"/>
            <p:cNvSpPr>
              <a:spLocks noChangeArrowheads="1"/>
            </p:cNvSpPr>
            <p:nvPr/>
          </p:nvSpPr>
          <p:spPr bwMode="auto">
            <a:xfrm>
              <a:off x="1285852" y="4584357"/>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7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7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 name="Rectangle 8"/>
            <p:cNvSpPr>
              <a:spLocks noChangeArrowheads="1"/>
            </p:cNvSpPr>
            <p:nvPr/>
          </p:nvSpPr>
          <p:spPr bwMode="auto">
            <a:xfrm>
              <a:off x="2529918" y="5374735"/>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1" name="AutoShape 7"/>
            <p:cNvSpPr>
              <a:spLocks noChangeShapeType="1"/>
            </p:cNvSpPr>
            <p:nvPr/>
          </p:nvSpPr>
          <p:spPr bwMode="auto">
            <a:xfrm>
              <a:off x="2962902" y="4991896"/>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 name="AutoShape 6"/>
            <p:cNvSpPr>
              <a:spLocks noChangeShapeType="1"/>
            </p:cNvSpPr>
            <p:nvPr/>
          </p:nvSpPr>
          <p:spPr bwMode="auto">
            <a:xfrm>
              <a:off x="1718836" y="5004246"/>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3" name="TextBox 12"/>
            <p:cNvSpPr txBox="1"/>
            <p:nvPr/>
          </p:nvSpPr>
          <p:spPr>
            <a:xfrm>
              <a:off x="1571604" y="6060064"/>
              <a:ext cx="1894443"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FF0000"/>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3" name="组合 20"/>
          <p:cNvGrpSpPr/>
          <p:nvPr/>
        </p:nvGrpSpPr>
        <p:grpSpPr>
          <a:xfrm>
            <a:off x="4429124" y="4357694"/>
            <a:ext cx="2286015" cy="1815647"/>
            <a:chOff x="4786314" y="4572008"/>
            <a:chExt cx="2286015" cy="1815647"/>
          </a:xfrm>
        </p:grpSpPr>
        <p:sp>
          <p:nvSpPr>
            <p:cNvPr id="14" name="Rectangle 10"/>
            <p:cNvSpPr>
              <a:spLocks noChangeArrowheads="1"/>
            </p:cNvSpPr>
            <p:nvPr/>
          </p:nvSpPr>
          <p:spPr bwMode="auto">
            <a:xfrm>
              <a:off x="6030380" y="4572008"/>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5" name="Rectangle 9"/>
            <p:cNvSpPr>
              <a:spLocks noChangeArrowheads="1"/>
            </p:cNvSpPr>
            <p:nvPr/>
          </p:nvSpPr>
          <p:spPr bwMode="auto">
            <a:xfrm>
              <a:off x="4786314" y="4584357"/>
              <a:ext cx="864748" cy="419888"/>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6" name="Rectangle 8"/>
            <p:cNvSpPr>
              <a:spLocks noChangeArrowheads="1"/>
            </p:cNvSpPr>
            <p:nvPr/>
          </p:nvSpPr>
          <p:spPr bwMode="auto">
            <a:xfrm>
              <a:off x="6030380" y="5374735"/>
              <a:ext cx="864748" cy="419888"/>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7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7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7" name="AutoShape 7"/>
            <p:cNvSpPr>
              <a:spLocks noChangeShapeType="1"/>
            </p:cNvSpPr>
            <p:nvPr/>
          </p:nvSpPr>
          <p:spPr bwMode="auto">
            <a:xfrm>
              <a:off x="6463364" y="4991896"/>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8" name="AutoShape 6"/>
            <p:cNvSpPr>
              <a:spLocks noChangeShapeType="1"/>
            </p:cNvSpPr>
            <p:nvPr/>
          </p:nvSpPr>
          <p:spPr bwMode="auto">
            <a:xfrm>
              <a:off x="5219298" y="5004246"/>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9" name="TextBox 18"/>
            <p:cNvSpPr txBox="1"/>
            <p:nvPr/>
          </p:nvSpPr>
          <p:spPr>
            <a:xfrm>
              <a:off x="5286380" y="6018323"/>
              <a:ext cx="1785949"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i="1">
                  <a:solidFill>
                    <a:srgbClr val="FF0000"/>
                  </a:solidFill>
                  <a:latin typeface="Consolas" panose="020B0609020204030204" pitchFamily="49" charset="0"/>
                  <a:ea typeface="楷体" panose="02010609060101010101" pitchFamily="49" charset="-122"/>
                  <a:cs typeface="Consolas" panose="020B0609020204030204" pitchFamily="49" charset="0"/>
                </a:rPr>
                <a:t>j</a:t>
              </a:r>
              <a:endParaRPr lang="zh-CN" altLang="en-US" sz="1800" i="1">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7" end="7"/>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xEl>
                                              <p:pRg st="8" end="8"/>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9" end="9"/>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
                                            <p:txEl>
                                              <p:pRg st="10" end="10"/>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
                                            <p:txEl>
                                              <p:pRg st="11" end="11"/>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71414"/>
            <a:ext cx="8786874" cy="66087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ans=dp[n-1][0];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minj=0;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求最小</a:t>
            </a:r>
            <a:r>
              <a:rPr lang="en-US" altLang="zh-CN" sz="2000">
                <a:solidFill>
                  <a:srgbClr val="00B0F0"/>
                </a:solidFill>
                <a:latin typeface="Consolas" panose="020B0609020204030204" pitchFamily="49" charset="0"/>
                <a:ea typeface="仿宋" panose="02010609060101010101" pitchFamily="49" charset="-122"/>
              </a:rPr>
              <a:t>ans</a:t>
            </a:r>
            <a:r>
              <a:rPr lang="zh-CN" altLang="zh-CN" sz="2000">
                <a:solidFill>
                  <a:srgbClr val="00B0F0"/>
                </a:solidFill>
                <a:latin typeface="Consolas" panose="020B0609020204030204" pitchFamily="49" charset="0"/>
                <a:ea typeface="仿宋" panose="02010609060101010101" pitchFamily="49" charset="-122"/>
              </a:rPr>
              <a:t>和对应的列号</a:t>
            </a:r>
            <a:r>
              <a:rPr lang="en-US" altLang="zh-CN" sz="2000">
                <a:solidFill>
                  <a:srgbClr val="00B0F0"/>
                </a:solidFill>
                <a:latin typeface="Consolas" panose="020B0609020204030204" pitchFamily="49" charset="0"/>
                <a:ea typeface="仿宋" panose="02010609060101010101" pitchFamily="49" charset="-122"/>
              </a:rPr>
              <a:t>minj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 (ans&gt;dp[n-1][j])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ans=dp[n-1][j];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minj=j;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求解结果</a:t>
            </a:r>
            <a:r>
              <a:rPr lang="en-US" altLang="zh-CN" sz="2000">
                <a:solidFill>
                  <a:srgbClr val="0000FF"/>
                </a:solidFill>
                <a:latin typeface="Consolas" panose="020B0609020204030204" pitchFamily="49" charset="0"/>
                <a:ea typeface="仿宋" panose="02010609060101010101" pitchFamily="49" charset="-122"/>
              </a:rPr>
              <a:t>\n");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最小路径和</a:t>
            </a:r>
            <a:r>
              <a:rPr lang="en-US" altLang="zh-CN" sz="2000">
                <a:solidFill>
                  <a:srgbClr val="0000FF"/>
                </a:solidFill>
                <a:latin typeface="Consolas" panose="020B0609020204030204" pitchFamily="49" charset="0"/>
                <a:ea typeface="仿宋" panose="02010609060101010101" pitchFamily="49" charset="-122"/>
              </a:rPr>
              <a:t>=%d\n",ans);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i=n-1;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path;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存放一条</a:t>
            </a:r>
            <a:r>
              <a:rPr lang="zh-CN" altLang="en-US" sz="2000">
                <a:solidFill>
                  <a:srgbClr val="00B0F0"/>
                </a:solidFill>
                <a:latin typeface="Consolas" panose="020B0609020204030204" pitchFamily="49" charset="0"/>
                <a:ea typeface="仿宋" panose="02010609060101010101" pitchFamily="49" charset="-122"/>
              </a:rPr>
              <a:t>反向</a:t>
            </a:r>
            <a:r>
              <a:rPr lang="zh-CN" altLang="zh-CN" sz="2000">
                <a:solidFill>
                  <a:srgbClr val="00B0F0"/>
                </a:solidFill>
                <a:latin typeface="Consolas" panose="020B0609020204030204" pitchFamily="49" charset="0"/>
                <a:ea typeface="仿宋" panose="02010609060101010101" pitchFamily="49" charset="-122"/>
              </a:rPr>
              <a:t>路径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(i&gt;=0)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(n-1,minj)</a:t>
            </a:r>
            <a:r>
              <a:rPr lang="zh-CN" altLang="zh-CN" sz="2000">
                <a:solidFill>
                  <a:srgbClr val="00B0F0"/>
                </a:solidFill>
                <a:latin typeface="Consolas" panose="020B0609020204030204" pitchFamily="49" charset="0"/>
                <a:ea typeface="仿宋" panose="02010609060101010101" pitchFamily="49" charset="-122"/>
              </a:rPr>
              <a:t>位置反推</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path.push_back(a[i][minj]);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minj=pre[i][minj];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最小路径在前一行中的列号</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在前一行查找</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651116"/>
            <a:ext cx="8786874" cy="22998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reverse</a:t>
            </a:r>
            <a:r>
              <a:rPr lang="en-US" altLang="zh-CN" sz="2000">
                <a:solidFill>
                  <a:srgbClr val="0000FF"/>
                </a:solidFill>
                <a:latin typeface="Consolas" panose="020B0609020204030204" pitchFamily="49" charset="0"/>
                <a:ea typeface="仿宋" panose="02010609060101010101" pitchFamily="49" charset="-122"/>
              </a:rPr>
              <a:t>(path.begin(),path.end());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逆置</a:t>
            </a:r>
            <a:r>
              <a:rPr lang="en-US" altLang="zh-CN" sz="2000">
                <a:solidFill>
                  <a:srgbClr val="00B0F0"/>
                </a:solidFill>
                <a:latin typeface="Consolas" panose="020B0609020204030204" pitchFamily="49" charset="0"/>
                <a:ea typeface="仿宋" panose="02010609060101010101" pitchFamily="49" charset="-122"/>
              </a:rPr>
              <a:t>path</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一条最小路径</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i=0;i&lt;path.size();i++)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%d",path[i]);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428596" y="642918"/>
            <a:ext cx="4429156"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2</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问题求解—自</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底</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向</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rPr>
              <a:t>上</a:t>
            </a:r>
            <a:endPar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Times New Roman" panose="02020603050405020304" pitchFamily="18" charset="0"/>
            </a:endParaRPr>
          </a:p>
        </p:txBody>
      </p:sp>
      <p:sp>
        <p:nvSpPr>
          <p:cNvPr id="58380"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17"/>
          <p:cNvGrpSpPr/>
          <p:nvPr/>
        </p:nvGrpSpPr>
        <p:grpSpPr>
          <a:xfrm>
            <a:off x="4786314" y="2071678"/>
            <a:ext cx="3357586" cy="1928826"/>
            <a:chOff x="1668490" y="1681150"/>
            <a:chExt cx="2756955" cy="1737590"/>
          </a:xfrm>
        </p:grpSpPr>
        <p:sp>
          <p:nvSpPr>
            <p:cNvPr id="58378" name="Rectangle 10"/>
            <p:cNvSpPr>
              <a:spLocks noChangeArrowheads="1"/>
            </p:cNvSpPr>
            <p:nvPr/>
          </p:nvSpPr>
          <p:spPr bwMode="auto">
            <a:xfrm>
              <a:off x="3264041" y="2836217"/>
              <a:ext cx="972000" cy="387589"/>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8377" name="Rectangle 9"/>
            <p:cNvSpPr>
              <a:spLocks noChangeArrowheads="1"/>
            </p:cNvSpPr>
            <p:nvPr/>
          </p:nvSpPr>
          <p:spPr bwMode="auto">
            <a:xfrm>
              <a:off x="2139429" y="2836217"/>
              <a:ext cx="869520" cy="387589"/>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8376" name="Rectangle 8"/>
            <p:cNvSpPr>
              <a:spLocks noChangeArrowheads="1"/>
            </p:cNvSpPr>
            <p:nvPr/>
          </p:nvSpPr>
          <p:spPr bwMode="auto">
            <a:xfrm>
              <a:off x="2139429" y="2120317"/>
              <a:ext cx="869520" cy="387589"/>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2000" b="0">
                  <a:solidFill>
                    <a:srgbClr val="0000FF"/>
                  </a:solidFill>
                  <a:latin typeface="Consolas" panose="020B0609020204030204" pitchFamily="49" charset="0"/>
                  <a:ea typeface="宋体" panose="02010600030101010101" pitchFamily="2" charset="-122"/>
                  <a:cs typeface="Consolas" panose="020B0609020204030204" pitchFamily="49" charset="0"/>
                </a:rPr>
                <a:t>，</a:t>
              </a:r>
              <a:r>
                <a:rPr kumimoji="0"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8375" name="AutoShape 7"/>
            <p:cNvSpPr>
              <a:spLocks noChangeShapeType="1"/>
            </p:cNvSpPr>
            <p:nvPr/>
          </p:nvSpPr>
          <p:spPr bwMode="auto">
            <a:xfrm>
              <a:off x="1668490" y="1803406"/>
              <a:ext cx="2433184" cy="1140"/>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Consolas" panose="020B0609020204030204" pitchFamily="49" charset="0"/>
              </a:endParaRPr>
            </a:p>
          </p:txBody>
        </p:sp>
        <p:sp>
          <p:nvSpPr>
            <p:cNvPr id="58374" name="AutoShape 6"/>
            <p:cNvSpPr>
              <a:spLocks noChangeShapeType="1"/>
            </p:cNvSpPr>
            <p:nvPr/>
          </p:nvSpPr>
          <p:spPr bwMode="auto">
            <a:xfrm>
              <a:off x="1668490" y="1804545"/>
              <a:ext cx="0" cy="161419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Consolas" panose="020B0609020204030204" pitchFamily="49" charset="0"/>
              </a:endParaRPr>
            </a:p>
          </p:txBody>
        </p:sp>
        <p:sp>
          <p:nvSpPr>
            <p:cNvPr id="58373" name="Rectangle 5"/>
            <p:cNvSpPr>
              <a:spLocks noChangeArrowheads="1"/>
            </p:cNvSpPr>
            <p:nvPr/>
          </p:nvSpPr>
          <p:spPr bwMode="auto">
            <a:xfrm>
              <a:off x="4143372" y="1681150"/>
              <a:ext cx="282073" cy="284992"/>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8372" name="Rectangle 4"/>
            <p:cNvSpPr>
              <a:spLocks noChangeArrowheads="1"/>
            </p:cNvSpPr>
            <p:nvPr/>
          </p:nvSpPr>
          <p:spPr bwMode="auto">
            <a:xfrm>
              <a:off x="1717546" y="3122349"/>
              <a:ext cx="282073" cy="284992"/>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8371" name="AutoShape 3"/>
            <p:cNvSpPr>
              <a:spLocks noChangeShapeType="1"/>
            </p:cNvSpPr>
            <p:nvPr/>
          </p:nvSpPr>
          <p:spPr bwMode="auto">
            <a:xfrm flipV="1">
              <a:off x="2574802" y="2507906"/>
              <a:ext cx="1226" cy="3283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Consolas" panose="020B0609020204030204" pitchFamily="49" charset="0"/>
              </a:endParaRPr>
            </a:p>
          </p:txBody>
        </p:sp>
        <p:sp>
          <p:nvSpPr>
            <p:cNvPr id="58370" name="AutoShape 2"/>
            <p:cNvSpPr>
              <a:spLocks noChangeShapeType="1"/>
            </p:cNvSpPr>
            <p:nvPr/>
          </p:nvSpPr>
          <p:spPr bwMode="auto">
            <a:xfrm flipH="1" flipV="1">
              <a:off x="3008949" y="2519305"/>
              <a:ext cx="690465" cy="3169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Consolas" panose="020B0609020204030204" pitchFamily="49" charset="0"/>
              </a:endParaRPr>
            </a:p>
          </p:txBody>
        </p:sp>
      </p:grpSp>
      <p:grpSp>
        <p:nvGrpSpPr>
          <p:cNvPr id="3" name="组合 18"/>
          <p:cNvGrpSpPr/>
          <p:nvPr/>
        </p:nvGrpSpPr>
        <p:grpSpPr>
          <a:xfrm>
            <a:off x="1214414" y="2143116"/>
            <a:ext cx="1800645" cy="1532592"/>
            <a:chOff x="1357290" y="3672478"/>
            <a:chExt cx="1800645" cy="1532592"/>
          </a:xfrm>
        </p:grpSpPr>
        <p:sp>
          <p:nvSpPr>
            <p:cNvPr id="20"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1"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2"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3"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4"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7"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8"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9"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30" name="上箭头 29"/>
          <p:cNvSpPr/>
          <p:nvPr/>
        </p:nvSpPr>
        <p:spPr>
          <a:xfrm>
            <a:off x="714348" y="2643182"/>
            <a:ext cx="142876" cy="928694"/>
          </a:xfrm>
          <a:prstGeom prst="upArrow">
            <a:avLst/>
          </a:prstGeom>
          <a:ln>
            <a:tailEnd type="none"/>
          </a:ln>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sz="2000">
              <a:latin typeface="Consolas" panose="020B0609020204030204" pitchFamily="49" charset="0"/>
            </a:endParaRPr>
          </a:p>
        </p:txBody>
      </p:sp>
      <p:sp>
        <p:nvSpPr>
          <p:cNvPr id="31" name="灯片编号占位符 30"/>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76" y="428604"/>
            <a:ext cx="8715404" cy="29873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设计二维动态规划数组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pt-BR" altLang="zh-CN">
                <a:solidFill>
                  <a:srgbClr val="FF0000"/>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表示从底部到达（</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）位置的最小路径和</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起始位置（</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），初始化为</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同样有如下两个边界：</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575945" lvl="1" indent="-360045" algn="l">
              <a:lnSpc>
                <a:spcPts val="3200"/>
              </a:lnSpc>
              <a:spcBef>
                <a:spcPts val="12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即第</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列的任意位置（</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），只有垂直方向到达的一条路径，此时有</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][0]=dp[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+1][0]+</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6" name="组合 18"/>
          <p:cNvGrpSpPr/>
          <p:nvPr/>
        </p:nvGrpSpPr>
        <p:grpSpPr>
          <a:xfrm>
            <a:off x="1928794" y="4143380"/>
            <a:ext cx="1800645" cy="1532592"/>
            <a:chOff x="1357290" y="3672478"/>
            <a:chExt cx="1800645" cy="1532592"/>
          </a:xfrm>
        </p:grpSpPr>
        <p:sp>
          <p:nvSpPr>
            <p:cNvPr id="17"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8"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1"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2"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3"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cxnSp>
        <p:nvCxnSpPr>
          <p:cNvPr id="38" name="直接箭头连接符 37"/>
          <p:cNvCxnSpPr/>
          <p:nvPr/>
        </p:nvCxnSpPr>
        <p:spPr>
          <a:xfrm rot="5400000" flipH="1" flipV="1">
            <a:off x="1249339" y="4607727"/>
            <a:ext cx="135732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44" y="642918"/>
            <a:ext cx="8929718" cy="8104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60045" lvl="1" indent="-360045" algn="l">
              <a:lnSpc>
                <a:spcPts val="2800"/>
              </a:lnSpc>
              <a:spcBef>
                <a:spcPts val="6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即对角线上的任意位置（</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），只有左斜方向到达的一条路径，此时有</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6" name="组合 18"/>
          <p:cNvGrpSpPr/>
          <p:nvPr/>
        </p:nvGrpSpPr>
        <p:grpSpPr>
          <a:xfrm>
            <a:off x="2714612" y="2214554"/>
            <a:ext cx="1800645" cy="1532592"/>
            <a:chOff x="1357290" y="3672478"/>
            <a:chExt cx="1800645" cy="1532592"/>
          </a:xfrm>
        </p:grpSpPr>
        <p:sp>
          <p:nvSpPr>
            <p:cNvPr id="17" name="Rectangle 20"/>
            <p:cNvSpPr>
              <a:spLocks noChangeArrowheads="1"/>
            </p:cNvSpPr>
            <p:nvPr/>
          </p:nvSpPr>
          <p:spPr bwMode="auto">
            <a:xfrm>
              <a:off x="1357290" y="3672478"/>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 name="Rectangle 19"/>
            <p:cNvSpPr>
              <a:spLocks noChangeArrowheads="1"/>
            </p:cNvSpPr>
            <p:nvPr/>
          </p:nvSpPr>
          <p:spPr bwMode="auto">
            <a:xfrm>
              <a:off x="1357290" y="4054083"/>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8" name="Rectangle 18"/>
            <p:cNvSpPr>
              <a:spLocks noChangeArrowheads="1"/>
            </p:cNvSpPr>
            <p:nvPr/>
          </p:nvSpPr>
          <p:spPr bwMode="auto">
            <a:xfrm>
              <a:off x="1862583" y="4055317"/>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 name="Rectangle 17"/>
            <p:cNvSpPr>
              <a:spLocks noChangeArrowheads="1"/>
            </p:cNvSpPr>
            <p:nvPr/>
          </p:nvSpPr>
          <p:spPr bwMode="auto">
            <a:xfrm>
              <a:off x="2394012" y="4450506"/>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1" name="Rectangle 16"/>
            <p:cNvSpPr>
              <a:spLocks noChangeArrowheads="1"/>
            </p:cNvSpPr>
            <p:nvPr/>
          </p:nvSpPr>
          <p:spPr bwMode="auto">
            <a:xfrm>
              <a:off x="2877410"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2" name="Rectangle 15"/>
            <p:cNvSpPr>
              <a:spLocks noChangeArrowheads="1"/>
            </p:cNvSpPr>
            <p:nvPr/>
          </p:nvSpPr>
          <p:spPr bwMode="auto">
            <a:xfrm>
              <a:off x="1357290" y="4450506"/>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3" name="Rectangle 14"/>
            <p:cNvSpPr>
              <a:spLocks noChangeArrowheads="1"/>
            </p:cNvSpPr>
            <p:nvPr/>
          </p:nvSpPr>
          <p:spPr bwMode="auto">
            <a:xfrm>
              <a:off x="1862583" y="4450506"/>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tailEnd type="none" w="sm" len="sm"/>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宋体" panose="02010600030101010101" pitchFamily="2" charset="-122"/>
              </a:endParaRPr>
            </a:p>
          </p:txBody>
        </p:sp>
      </p:grpSp>
      <p:cxnSp>
        <p:nvCxnSpPr>
          <p:cNvPr id="38" name="直接箭头连接符 37"/>
          <p:cNvCxnSpPr/>
          <p:nvPr/>
        </p:nvCxnSpPr>
        <p:spPr>
          <a:xfrm rot="10800000">
            <a:off x="2692211" y="1955084"/>
            <a:ext cx="1571636" cy="13573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76" y="1041380"/>
            <a:ext cx="8929718" cy="8874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其他两条到达（</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）位置的路径，最小路径和</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	dp[</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]=min(dp[</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7"/>
          <p:cNvGrpSpPr/>
          <p:nvPr/>
        </p:nvGrpSpPr>
        <p:grpSpPr>
          <a:xfrm>
            <a:off x="2071670" y="2500306"/>
            <a:ext cx="2756955" cy="1737590"/>
            <a:chOff x="1668490" y="1681150"/>
            <a:chExt cx="2756955" cy="1737590"/>
          </a:xfrm>
        </p:grpSpPr>
        <p:sp>
          <p:nvSpPr>
            <p:cNvPr id="19" name="Rectangle 10"/>
            <p:cNvSpPr>
              <a:spLocks noChangeArrowheads="1"/>
            </p:cNvSpPr>
            <p:nvPr/>
          </p:nvSpPr>
          <p:spPr bwMode="auto">
            <a:xfrm>
              <a:off x="3264041" y="2836217"/>
              <a:ext cx="972000" cy="387589"/>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0" name="Rectangle 9"/>
            <p:cNvSpPr>
              <a:spLocks noChangeArrowheads="1"/>
            </p:cNvSpPr>
            <p:nvPr/>
          </p:nvSpPr>
          <p:spPr bwMode="auto">
            <a:xfrm>
              <a:off x="2139429" y="2836217"/>
              <a:ext cx="869520" cy="387589"/>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1" name="Rectangle 8"/>
            <p:cNvSpPr>
              <a:spLocks noChangeArrowheads="1"/>
            </p:cNvSpPr>
            <p:nvPr/>
          </p:nvSpPr>
          <p:spPr bwMode="auto">
            <a:xfrm>
              <a:off x="2139429" y="2120317"/>
              <a:ext cx="869520" cy="387589"/>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zh-CN" altLang="en-US" sz="1800" b="0">
                  <a:solidFill>
                    <a:srgbClr val="0000FF"/>
                  </a:solidFill>
                  <a:latin typeface="Consolas" panose="020B0609020204030204" pitchFamily="49" charset="0"/>
                  <a:ea typeface="宋体" panose="02010600030101010101" pitchFamily="2" charset="-122"/>
                  <a:cs typeface="Consolas" panose="020B0609020204030204" pitchFamily="49" charset="0"/>
                </a:rPr>
                <a:t>，</a:t>
              </a:r>
              <a:r>
                <a:rPr kumimoji="0"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kumimoji="0" lang="en-US" altLang="zh-CN" sz="18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2" name="AutoShape 7"/>
            <p:cNvSpPr>
              <a:spLocks noChangeShapeType="1"/>
            </p:cNvSpPr>
            <p:nvPr/>
          </p:nvSpPr>
          <p:spPr bwMode="auto">
            <a:xfrm>
              <a:off x="1668490" y="1803406"/>
              <a:ext cx="2433184" cy="1140"/>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23" name="AutoShape 6"/>
            <p:cNvSpPr>
              <a:spLocks noChangeShapeType="1"/>
            </p:cNvSpPr>
            <p:nvPr/>
          </p:nvSpPr>
          <p:spPr bwMode="auto">
            <a:xfrm>
              <a:off x="1668490" y="1804545"/>
              <a:ext cx="0" cy="161419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24" name="Rectangle 5"/>
            <p:cNvSpPr>
              <a:spLocks noChangeArrowheads="1"/>
            </p:cNvSpPr>
            <p:nvPr/>
          </p:nvSpPr>
          <p:spPr bwMode="auto">
            <a:xfrm>
              <a:off x="4143372" y="1681150"/>
              <a:ext cx="282073" cy="284992"/>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5" name="Rectangle 4"/>
            <p:cNvSpPr>
              <a:spLocks noChangeArrowheads="1"/>
            </p:cNvSpPr>
            <p:nvPr/>
          </p:nvSpPr>
          <p:spPr bwMode="auto">
            <a:xfrm>
              <a:off x="1717546" y="3122349"/>
              <a:ext cx="282073" cy="284992"/>
            </a:xfrm>
            <a:prstGeom prst="rect">
              <a:avLst/>
            </a:prstGeom>
            <a:noFill/>
            <a:ln w="9525">
              <a:noFill/>
              <a:miter lim="800000"/>
              <a:tailEnd type="none" w="sm" len="sm"/>
            </a:ln>
          </p:spPr>
          <p:txBody>
            <a:bodyPr vert="horz" wrap="square" lIns="0" tIns="0" rIns="0" bIns="0" numCol="1" anchor="t" anchorCtr="0" compatLnSpc="1"/>
            <a:lstStyle/>
            <a:p>
              <a:pPr marL="0" marR="0" lvl="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26" name="AutoShape 3"/>
            <p:cNvSpPr>
              <a:spLocks noChangeShapeType="1"/>
            </p:cNvSpPr>
            <p:nvPr/>
          </p:nvSpPr>
          <p:spPr bwMode="auto">
            <a:xfrm flipV="1">
              <a:off x="2574802" y="2507906"/>
              <a:ext cx="1226" cy="3283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27" name="AutoShape 2"/>
            <p:cNvSpPr>
              <a:spLocks noChangeShapeType="1"/>
            </p:cNvSpPr>
            <p:nvPr/>
          </p:nvSpPr>
          <p:spPr bwMode="auto">
            <a:xfrm flipH="1" flipV="1">
              <a:off x="3008949" y="2519305"/>
              <a:ext cx="690465" cy="3169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 name="TextBox 10"/>
          <p:cNvSpPr txBox="1"/>
          <p:nvPr/>
        </p:nvSpPr>
        <p:spPr>
          <a:xfrm>
            <a:off x="214282" y="1142984"/>
            <a:ext cx="8572560" cy="212888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初始条件</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列的边界情况，</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B0F0"/>
                </a:solidFill>
                <a:latin typeface="+mn-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对角线的边界情况，</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B0F0"/>
                </a:solidFill>
                <a:latin typeface="+mn-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B0F0"/>
                </a:solidFill>
                <a:latin typeface="+mn-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min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两条达到路径</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下箭头 11"/>
          <p:cNvSpPr/>
          <p:nvPr/>
        </p:nvSpPr>
        <p:spPr>
          <a:xfrm>
            <a:off x="4000496" y="714356"/>
            <a:ext cx="214314"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7"/>
          <p:cNvSpPr txBox="1"/>
          <p:nvPr/>
        </p:nvSpPr>
        <p:spPr>
          <a:xfrm>
            <a:off x="214282" y="3857628"/>
            <a:ext cx="8501122" cy="451406"/>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由于第</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行只有一个元素，</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dp[0][0]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就是最终的最小路径和。</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3071802" y="252691"/>
            <a:ext cx="2143140" cy="461665"/>
          </a:xfrm>
          <a:prstGeom prst="rect">
            <a:avLst/>
          </a:prstGeom>
          <a:noFill/>
        </p:spPr>
        <p:txBody>
          <a:bodyPr wrap="square" rtlCol="0">
            <a:spAutoFit/>
          </a:bodyPr>
          <a:lstStyle/>
          <a:p>
            <a:pPr>
              <a:lnSpc>
                <a:spcPct val="100000"/>
              </a:lnSpc>
              <a:spcBef>
                <a:spcPts val="0"/>
              </a:spcBef>
            </a:pPr>
            <a:r>
              <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rPr>
              <a:t>状态转移方程</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1881655"/>
            <a:ext cx="8786874" cy="47620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minpathsum2</a:t>
            </a:r>
            <a:r>
              <a:rPr lang="en-US" altLang="zh-CN" sz="2000">
                <a:solidFill>
                  <a:srgbClr val="0000FF"/>
                </a:solidFill>
                <a:latin typeface="Consolas" panose="020B0609020204030204" pitchFamily="49" charset="0"/>
                <a:ea typeface="仿宋" panose="02010609060101010101" pitchFamily="49" charset="-122"/>
              </a:rPr>
              <a:t>(vector&lt;vector&lt;int&gt;&gt;&amp;a){</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dp[n][n];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j=0;j&lt;n;j++)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dp[n-1][j]=a[n-1][j];</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第</a:t>
            </a:r>
            <a:r>
              <a:rPr lang="en-US" altLang="zh-CN" sz="2000">
                <a:solidFill>
                  <a:srgbClr val="00B0F0"/>
                </a:solidFill>
                <a:latin typeface="Consolas" panose="020B0609020204030204" pitchFamily="49" charset="0"/>
                <a:ea typeface="仿宋" panose="02010609060101010101" pitchFamily="49" charset="-122"/>
              </a:rPr>
              <a:t>n-1</a:t>
            </a:r>
            <a:r>
              <a:rPr lang="zh-CN" altLang="zh-CN" sz="2000">
                <a:solidFill>
                  <a:srgbClr val="00B0F0"/>
                </a:solidFill>
                <a:latin typeface="Consolas" panose="020B0609020204030204" pitchFamily="49" charset="0"/>
                <a:ea typeface="仿宋" panose="02010609060101010101" pitchFamily="49" charset="-122"/>
              </a:rPr>
              <a:t>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i=n-2;i&gt;=0;i--)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考虑第</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列的边界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dp[i][0]=dp[i+1][0]+a[i][0];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i=n-2;i&gt;=0;i--)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考虑对角线的边界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dp[i][i]=a[i][i]+dp[i+1][i+1];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i=n-2;i&gt;=0;i--){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考虑其他有两条达到的路径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j=0;j&lt;a[i].size();j++)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dp[i][j]=min(dp[i+1][j+1],dp[i+1][j])+a[i][j];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7" name="TextBox 6"/>
          <p:cNvSpPr txBox="1"/>
          <p:nvPr/>
        </p:nvSpPr>
        <p:spPr>
          <a:xfrm>
            <a:off x="214282" y="54582"/>
            <a:ext cx="8572560" cy="17313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初始条件</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列的边界情况，</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B0F0"/>
                </a:solidFill>
                <a:latin typeface="+mj-ea"/>
                <a:ea typeface="+mj-ea"/>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B0F0"/>
                </a:solidFill>
                <a:latin typeface="+mn-ea"/>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对角线的边界情况，</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B0F0"/>
                </a:solidFill>
                <a:latin typeface="+mn-ea"/>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B0F0"/>
                </a:solidFill>
                <a:latin typeface="+mn-ea"/>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min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&lt;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两条达到路径</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357158" y="214290"/>
            <a:ext cx="3500462"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zh-CN">
                <a:latin typeface="微软雅黑" panose="020B0503020204020204" pitchFamily="34" charset="-122"/>
                <a:ea typeface="微软雅黑" panose="020B0503020204020204" pitchFamily="34" charset="-122"/>
              </a:rPr>
              <a:t>自</a:t>
            </a:r>
            <a:r>
              <a:rPr lang="zh-CN" altLang="en-US">
                <a:latin typeface="微软雅黑" panose="020B0503020204020204" pitchFamily="34" charset="-122"/>
                <a:ea typeface="微软雅黑" panose="020B0503020204020204" pitchFamily="34" charset="-122"/>
              </a:rPr>
              <a:t>底</a:t>
            </a:r>
            <a:r>
              <a:rPr lang="zh-CN" altLang="zh-CN">
                <a:latin typeface="微软雅黑" panose="020B0503020204020204" pitchFamily="34" charset="-122"/>
                <a:ea typeface="微软雅黑" panose="020B0503020204020204" pitchFamily="34" charset="-122"/>
              </a:rPr>
              <a:t>向</a:t>
            </a:r>
            <a:r>
              <a:rPr lang="zh-CN" altLang="en-US">
                <a:latin typeface="微软雅黑" panose="020B0503020204020204" pitchFamily="34" charset="-122"/>
                <a:ea typeface="微软雅黑" panose="020B0503020204020204" pitchFamily="34" charset="-122"/>
              </a:rPr>
              <a:t>上算法空间优化</a:t>
            </a:r>
            <a:endParaRPr lang="zh-CN" altLang="zh-C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Box 7"/>
          <p:cNvSpPr txBox="1"/>
          <p:nvPr/>
        </p:nvSpPr>
        <p:spPr>
          <a:xfrm>
            <a:off x="285720" y="928670"/>
            <a:ext cx="8643998" cy="810478"/>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在自底向上算法中阶段</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（指求第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行的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）仅仅与阶段</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相关，采用降维滚动数组方式，将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由二维数组改为一维数组</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428596" y="1903680"/>
            <a:ext cx="8072526" cy="44542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minpathsum3</a:t>
            </a:r>
            <a:r>
              <a:rPr lang="en-US" altLang="zh-CN" sz="2000">
                <a:solidFill>
                  <a:srgbClr val="0000FF"/>
                </a:solidFill>
                <a:latin typeface="Consolas" panose="020B0609020204030204" pitchFamily="49" charset="0"/>
                <a:ea typeface="仿宋" panose="02010609060101010101" pitchFamily="49" charset="-122"/>
              </a:rPr>
              <a:t>(vector&lt;vector&lt;int&gt;&gt;&amp;a)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memset(dp,0,sizeof(dp));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i=n-1;i&gt;=0;i--)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j=0;j&lt;a[i].size();j++)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if(j&lt;a[i].size()-1)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dp[j]=min(dp[j],dp[j+1])+a[i][j];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dp[j]+=a[i][j];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357422" y="35716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7.5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最长公共子序列</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357158" y="1357298"/>
            <a:ext cx="8501122" cy="3879368"/>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3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一个字符串的子序列是指从该字符串中随意地（不一定连续）去掉若干个字符（可能一个也不去掉）后得到的字符序列。</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3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"ace"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c</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e</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的子序列，但</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"aec"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"abcde"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的子序列。</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3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给定两个字符串</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，称字符串</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的公共子序列，是指</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同是</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的子序列。该问题是</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求两个字符串</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的最长公共子序列</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642918"/>
            <a:ext cx="8072494" cy="124649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设计二维动态规划数组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）的最长公共子序列长度，求</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的两种情况</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8" name="Rectangle 3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5"/>
          <p:cNvGrpSpPr/>
          <p:nvPr/>
        </p:nvGrpSpPr>
        <p:grpSpPr>
          <a:xfrm>
            <a:off x="214282" y="2364410"/>
            <a:ext cx="3071833" cy="2779102"/>
            <a:chOff x="-71471" y="2364410"/>
            <a:chExt cx="3071833" cy="2779102"/>
          </a:xfrm>
        </p:grpSpPr>
        <p:sp>
          <p:nvSpPr>
            <p:cNvPr id="27676" name="Text Box 28"/>
            <p:cNvSpPr txBox="1">
              <a:spLocks noChangeArrowheads="1"/>
            </p:cNvSpPr>
            <p:nvPr/>
          </p:nvSpPr>
          <p:spPr bwMode="auto">
            <a:xfrm>
              <a:off x="507689" y="2364410"/>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5" name="Text Box 27"/>
            <p:cNvSpPr txBox="1">
              <a:spLocks noChangeArrowheads="1"/>
            </p:cNvSpPr>
            <p:nvPr/>
          </p:nvSpPr>
          <p:spPr bwMode="auto">
            <a:xfrm>
              <a:off x="642909" y="4832913"/>
              <a:ext cx="1830067"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  </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4" name="Text Box 26"/>
            <p:cNvSpPr txBox="1">
              <a:spLocks noChangeArrowheads="1"/>
            </p:cNvSpPr>
            <p:nvPr/>
          </p:nvSpPr>
          <p:spPr bwMode="auto">
            <a:xfrm>
              <a:off x="507689" y="3447434"/>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3" name="Text Box 25"/>
            <p:cNvSpPr txBox="1">
              <a:spLocks noChangeArrowheads="1"/>
            </p:cNvSpPr>
            <p:nvPr/>
          </p:nvSpPr>
          <p:spPr bwMode="auto">
            <a:xfrm>
              <a:off x="-33" y="2975525"/>
              <a:ext cx="1439093"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2" name="AutoShape 24"/>
            <p:cNvSpPr>
              <a:spLocks noChangeShapeType="1"/>
            </p:cNvSpPr>
            <p:nvPr/>
          </p:nvSpPr>
          <p:spPr bwMode="auto">
            <a:xfrm>
              <a:off x="2500297" y="2706417"/>
              <a:ext cx="1163" cy="65958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1" name="AutoShape 23"/>
            <p:cNvSpPr>
              <a:spLocks noChangeShapeType="1"/>
            </p:cNvSpPr>
            <p:nvPr/>
          </p:nvSpPr>
          <p:spPr bwMode="auto">
            <a:xfrm>
              <a:off x="676406" y="2748296"/>
              <a:ext cx="138529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0" name="AutoShape 22"/>
            <p:cNvSpPr>
              <a:spLocks noChangeShapeType="1"/>
            </p:cNvSpPr>
            <p:nvPr/>
          </p:nvSpPr>
          <p:spPr bwMode="auto">
            <a:xfrm>
              <a:off x="662449" y="3448317"/>
              <a:ext cx="138529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9" name="AutoShape 21"/>
            <p:cNvSpPr>
              <a:spLocks noChangeShapeType="1"/>
            </p:cNvSpPr>
            <p:nvPr/>
          </p:nvSpPr>
          <p:spPr bwMode="auto">
            <a:xfrm>
              <a:off x="1611501" y="2749459"/>
              <a:ext cx="1163" cy="68400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8" name="AutoShape 20"/>
            <p:cNvSpPr>
              <a:spLocks noChangeShapeType="1"/>
            </p:cNvSpPr>
            <p:nvPr/>
          </p:nvSpPr>
          <p:spPr bwMode="auto">
            <a:xfrm>
              <a:off x="2538681" y="2706417"/>
              <a:ext cx="1163" cy="65958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7" name="AutoShape 19"/>
            <p:cNvSpPr>
              <a:spLocks noChangeArrowheads="1"/>
            </p:cNvSpPr>
            <p:nvPr/>
          </p:nvSpPr>
          <p:spPr bwMode="auto">
            <a:xfrm>
              <a:off x="1505656" y="3868545"/>
              <a:ext cx="166328" cy="297803"/>
            </a:xfrm>
            <a:prstGeom prst="downArrow">
              <a:avLst>
                <a:gd name="adj1" fmla="val 50000"/>
                <a:gd name="adj2" fmla="val 44755"/>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6" name="Text Box 18"/>
            <p:cNvSpPr txBox="1">
              <a:spLocks noChangeArrowheads="1"/>
            </p:cNvSpPr>
            <p:nvPr/>
          </p:nvSpPr>
          <p:spPr bwMode="auto">
            <a:xfrm>
              <a:off x="-71471" y="4297799"/>
              <a:ext cx="3071833"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dp[</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j</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]=dp[</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-1][</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j</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-1]+1 </a:t>
              </a:r>
              <a:endPar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36"/>
          <p:cNvGrpSpPr/>
          <p:nvPr/>
        </p:nvGrpSpPr>
        <p:grpSpPr>
          <a:xfrm>
            <a:off x="3541952" y="2357430"/>
            <a:ext cx="5237554" cy="2786082"/>
            <a:chOff x="3541952" y="2357430"/>
            <a:chExt cx="5237554" cy="2786082"/>
          </a:xfrm>
        </p:grpSpPr>
        <p:sp>
          <p:nvSpPr>
            <p:cNvPr id="27665" name="Text Box 17"/>
            <p:cNvSpPr txBox="1">
              <a:spLocks noChangeArrowheads="1"/>
            </p:cNvSpPr>
            <p:nvPr/>
          </p:nvSpPr>
          <p:spPr bwMode="auto">
            <a:xfrm>
              <a:off x="3786182" y="2360920"/>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4" name="Text Box 16"/>
            <p:cNvSpPr txBox="1">
              <a:spLocks noChangeArrowheads="1"/>
            </p:cNvSpPr>
            <p:nvPr/>
          </p:nvSpPr>
          <p:spPr bwMode="auto">
            <a:xfrm>
              <a:off x="5429256" y="4832913"/>
              <a:ext cx="1935185"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  </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3" name="Text Box 15"/>
            <p:cNvSpPr txBox="1">
              <a:spLocks noChangeArrowheads="1"/>
            </p:cNvSpPr>
            <p:nvPr/>
          </p:nvSpPr>
          <p:spPr bwMode="auto">
            <a:xfrm>
              <a:off x="3786182" y="3443944"/>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2" name="Text Box 14"/>
            <p:cNvSpPr txBox="1">
              <a:spLocks noChangeArrowheads="1"/>
            </p:cNvSpPr>
            <p:nvPr/>
          </p:nvSpPr>
          <p:spPr bwMode="auto">
            <a:xfrm>
              <a:off x="3541952" y="2975525"/>
              <a:ext cx="1387238"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1" name="AutoShape 13"/>
            <p:cNvSpPr>
              <a:spLocks noChangeShapeType="1"/>
            </p:cNvSpPr>
            <p:nvPr/>
          </p:nvSpPr>
          <p:spPr bwMode="auto">
            <a:xfrm>
              <a:off x="3949884" y="2744806"/>
              <a:ext cx="208800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0" name="AutoShape 12"/>
            <p:cNvSpPr>
              <a:spLocks noChangeShapeType="1"/>
            </p:cNvSpPr>
            <p:nvPr/>
          </p:nvSpPr>
          <p:spPr bwMode="auto">
            <a:xfrm>
              <a:off x="3929058" y="3444827"/>
              <a:ext cx="138529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9" name="AutoShape 11"/>
            <p:cNvSpPr>
              <a:spLocks noChangeShapeType="1"/>
            </p:cNvSpPr>
            <p:nvPr/>
          </p:nvSpPr>
          <p:spPr bwMode="auto">
            <a:xfrm>
              <a:off x="5005144" y="2745969"/>
              <a:ext cx="1163" cy="68400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8" name="AutoShape 10"/>
            <p:cNvSpPr>
              <a:spLocks noChangeArrowheads="1"/>
            </p:cNvSpPr>
            <p:nvPr/>
          </p:nvSpPr>
          <p:spPr bwMode="auto">
            <a:xfrm>
              <a:off x="6264815" y="3868545"/>
              <a:ext cx="166328" cy="297803"/>
            </a:xfrm>
            <a:prstGeom prst="downArrow">
              <a:avLst>
                <a:gd name="adj1" fmla="val 50000"/>
                <a:gd name="adj2" fmla="val 44755"/>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7" name="Text Box 9"/>
            <p:cNvSpPr txBox="1">
              <a:spLocks noChangeArrowheads="1"/>
            </p:cNvSpPr>
            <p:nvPr/>
          </p:nvSpPr>
          <p:spPr bwMode="auto">
            <a:xfrm>
              <a:off x="3929059" y="4404285"/>
              <a:ext cx="4786345"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dp[</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j</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]=max(dp[</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j</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nb-NO"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dp[</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-1][</a:t>
              </a:r>
              <a:r>
                <a:rPr kumimoji="0" lang="nb-NO" altLang="zh-CN" sz="18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j</a:t>
              </a:r>
              <a:r>
                <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endParaRPr kumimoji="0" lang="nb-NO" altLang="zh-CN" sz="18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6" name="Text Box 8"/>
            <p:cNvSpPr txBox="1">
              <a:spLocks noChangeArrowheads="1"/>
            </p:cNvSpPr>
            <p:nvPr/>
          </p:nvSpPr>
          <p:spPr bwMode="auto">
            <a:xfrm>
              <a:off x="6431143" y="2357430"/>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5" name="Text Box 7"/>
            <p:cNvSpPr txBox="1">
              <a:spLocks noChangeArrowheads="1"/>
            </p:cNvSpPr>
            <p:nvPr/>
          </p:nvSpPr>
          <p:spPr bwMode="auto">
            <a:xfrm>
              <a:off x="6431143" y="3440454"/>
              <a:ext cx="2348363" cy="31176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2000"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4" name="Text Box 6"/>
            <p:cNvSpPr txBox="1">
              <a:spLocks noChangeArrowheads="1"/>
            </p:cNvSpPr>
            <p:nvPr/>
          </p:nvSpPr>
          <p:spPr bwMode="auto">
            <a:xfrm>
              <a:off x="6111965" y="2975525"/>
              <a:ext cx="1460431"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3" name="AutoShape 5"/>
            <p:cNvSpPr>
              <a:spLocks noChangeShapeType="1"/>
            </p:cNvSpPr>
            <p:nvPr/>
          </p:nvSpPr>
          <p:spPr bwMode="auto">
            <a:xfrm>
              <a:off x="6572264" y="2741316"/>
              <a:ext cx="138529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AutoShape 4"/>
            <p:cNvSpPr>
              <a:spLocks noChangeShapeType="1"/>
            </p:cNvSpPr>
            <p:nvPr/>
          </p:nvSpPr>
          <p:spPr bwMode="auto">
            <a:xfrm>
              <a:off x="6572264" y="3441338"/>
              <a:ext cx="2088000" cy="1163"/>
            </a:xfrm>
            <a:prstGeom prst="straightConnector1">
              <a:avLst/>
            </a:prstGeom>
            <a:noFill/>
            <a:ln w="38100">
              <a:solidFill>
                <a:srgbClr val="FF00FF"/>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1" name="AutoShape 3"/>
            <p:cNvSpPr>
              <a:spLocks noChangeShapeType="1"/>
            </p:cNvSpPr>
            <p:nvPr/>
          </p:nvSpPr>
          <p:spPr bwMode="auto">
            <a:xfrm>
              <a:off x="7650105" y="2742479"/>
              <a:ext cx="1163" cy="68400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0" name="Text Box 2"/>
            <p:cNvSpPr txBox="1">
              <a:spLocks noChangeArrowheads="1"/>
            </p:cNvSpPr>
            <p:nvPr/>
          </p:nvSpPr>
          <p:spPr bwMode="auto">
            <a:xfrm>
              <a:off x="6539314" y="3855749"/>
              <a:ext cx="507125" cy="31059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max</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35" name="Picture 4"/>
          <p:cNvPicPr>
            <a:picLocks noChangeAspect="1" noChangeArrowheads="1"/>
          </p:cNvPicPr>
          <p:nvPr/>
        </p:nvPicPr>
        <p:blipFill>
          <a:blip r:embed="rId1" cstate="print"/>
          <a:srcRect/>
          <a:stretch>
            <a:fillRect/>
          </a:stretch>
        </p:blipFill>
        <p:spPr bwMode="auto">
          <a:xfrm>
            <a:off x="214282" y="1029097"/>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357298"/>
            <a:ext cx="8358246" cy="2128889"/>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dp[0][0]=0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初始条件</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边界</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情况</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dp[0][</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边界</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情况</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-1]+1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max</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28596" y="599998"/>
            <a:ext cx="228601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anose="02010609060101010101" pitchFamily="49" charset="-122"/>
                <a:ea typeface="楷体" panose="02010609060101010101" pitchFamily="49" charset="-122"/>
              </a:rPr>
              <a:t>状态转移方程</a:t>
            </a:r>
            <a:endParaRPr lang="zh-CN" altLang="en-US">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8" name="TextBox 7"/>
          <p:cNvSpPr txBox="1"/>
          <p:nvPr/>
        </p:nvSpPr>
        <p:spPr>
          <a:xfrm>
            <a:off x="285720" y="4000504"/>
            <a:ext cx="857256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数组后，</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m</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就是</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的最长公共子序列长度。</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395281"/>
            <a:ext cx="8786874" cy="39624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LCSlength</a:t>
            </a:r>
            <a:r>
              <a:rPr lang="en-US" altLang="zh-CN" sz="2000">
                <a:solidFill>
                  <a:srgbClr val="0000FF"/>
                </a:solidFill>
                <a:latin typeface="Consolas" panose="020B0609020204030204" pitchFamily="49" charset="0"/>
                <a:ea typeface="仿宋" panose="02010609060101010101" pitchFamily="49" charset="-122"/>
              </a:rPr>
              <a:t>(string&amp;a,string&amp;b)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和</a:t>
            </a:r>
            <a:r>
              <a:rPr lang="en-US" altLang="zh-CN" sz="2000">
                <a:solidFill>
                  <a:srgbClr val="00B0F0"/>
                </a:solidFill>
                <a:latin typeface="Consolas" panose="020B0609020204030204" pitchFamily="49" charset="0"/>
                <a:ea typeface="仿宋" panose="02010609060101010101" pitchFamily="49" charset="-122"/>
              </a:rPr>
              <a:t>LCS</a:t>
            </a:r>
            <a:r>
              <a:rPr lang="zh-CN" altLang="zh-CN" sz="2000">
                <a:solidFill>
                  <a:srgbClr val="00B0F0"/>
                </a:solidFill>
                <a:latin typeface="Consolas" panose="020B0609020204030204" pitchFamily="49" charset="0"/>
                <a:ea typeface="仿宋" panose="02010609060101010101" pitchFamily="49" charset="-122"/>
              </a:rPr>
              <a:t>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m=a.size();								</a:t>
            </a:r>
            <a:r>
              <a:rPr lang="en-US" altLang="zh-CN" sz="2000">
                <a:solidFill>
                  <a:srgbClr val="00B0F0"/>
                </a:solidFill>
                <a:latin typeface="Consolas" panose="020B0609020204030204" pitchFamily="49" charset="0"/>
                <a:ea typeface="仿宋" panose="02010609060101010101" pitchFamily="49" charset="-122"/>
              </a:rPr>
              <a:t>//m</a:t>
            </a:r>
            <a:r>
              <a:rPr lang="zh-CN" altLang="zh-CN" sz="2000">
                <a:solidFill>
                  <a:srgbClr val="00B0F0"/>
                </a:solidFill>
                <a:latin typeface="Consolas" panose="020B0609020204030204" pitchFamily="49" charset="0"/>
                <a:ea typeface="仿宋" panose="02010609060101010101" pitchFamily="49" charset="-122"/>
              </a:rPr>
              <a:t>为</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n=b.size();								</a:t>
            </a:r>
            <a:r>
              <a:rPr lang="en-US" altLang="zh-CN" sz="2000">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为</a:t>
            </a:r>
            <a:r>
              <a:rPr lang="en-US"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dp=vector&lt;vector&lt;int&gt;&gt;(m+1,vector&lt;int&gt;(n+1,0));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dp[0][0]=0;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i=0;i&lt;=m;i++)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将</a:t>
            </a:r>
            <a:r>
              <a:rPr lang="en-US" altLang="zh-CN" sz="2000">
                <a:solidFill>
                  <a:srgbClr val="00B0F0"/>
                </a:solidFill>
                <a:latin typeface="Consolas" panose="020B0609020204030204" pitchFamily="49" charset="0"/>
                <a:ea typeface="仿宋" panose="02010609060101010101" pitchFamily="49" charset="-122"/>
              </a:rPr>
              <a:t>dp[i][0]</a:t>
            </a:r>
            <a:r>
              <a:rPr lang="zh-CN" altLang="zh-CN" sz="2000">
                <a:solidFill>
                  <a:srgbClr val="00B0F0"/>
                </a:solidFill>
                <a:latin typeface="Consolas" panose="020B0609020204030204" pitchFamily="49" charset="0"/>
                <a:ea typeface="仿宋" panose="02010609060101010101" pitchFamily="49" charset="-122"/>
              </a:rPr>
              <a:t>置为</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边界条件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dp[i][0]=0;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j=0;j&lt;=n;j++)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将</a:t>
            </a:r>
            <a:r>
              <a:rPr lang="en-US" altLang="zh-CN" sz="2000">
                <a:solidFill>
                  <a:srgbClr val="00B0F0"/>
                </a:solidFill>
                <a:latin typeface="Consolas" panose="020B0609020204030204" pitchFamily="49" charset="0"/>
                <a:ea typeface="仿宋" panose="02010609060101010101" pitchFamily="49" charset="-122"/>
              </a:rPr>
              <a:t>dp[0][j]</a:t>
            </a:r>
            <a:r>
              <a:rPr lang="zh-CN" altLang="zh-CN" sz="2000">
                <a:solidFill>
                  <a:srgbClr val="00B0F0"/>
                </a:solidFill>
                <a:latin typeface="Consolas" panose="020B0609020204030204" pitchFamily="49" charset="0"/>
                <a:ea typeface="仿宋" panose="02010609060101010101" pitchFamily="49" charset="-122"/>
              </a:rPr>
              <a:t>置为</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边界条件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dp[0][j]=0;</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23843"/>
            <a:ext cx="8786874" cy="39624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两重</a:t>
            </a:r>
            <a:r>
              <a:rPr lang="en-US" altLang="zh-CN" sz="2000">
                <a:solidFill>
                  <a:srgbClr val="00B0F0"/>
                </a:solidFill>
                <a:latin typeface="Consolas" panose="020B0609020204030204" pitchFamily="49" charset="0"/>
                <a:ea typeface="仿宋" panose="02010609060101010101" pitchFamily="49" charset="-122"/>
              </a:rPr>
              <a:t>for</a:t>
            </a:r>
            <a:r>
              <a:rPr lang="zh-CN" altLang="zh-CN" sz="2000">
                <a:solidFill>
                  <a:srgbClr val="00B0F0"/>
                </a:solidFill>
                <a:latin typeface="Consolas" panose="020B0609020204030204" pitchFamily="49" charset="0"/>
                <a:ea typeface="仿宋" panose="02010609060101010101" pitchFamily="49" charset="-122"/>
              </a:rPr>
              <a:t>循环处理</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a:t>
            </a:r>
            <a:r>
              <a:rPr lang="en-US"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的所有字符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 (a[i-1]==b[j-1])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情况</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dp[i][j]=dp[i-1][j-1]+1;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情况</a:t>
            </a:r>
            <a:r>
              <a:rPr lang="en-US" altLang="zh-CN" sz="2000">
                <a:solidFill>
                  <a:srgbClr val="00B0F0"/>
                </a:solidFill>
                <a:latin typeface="Consolas" panose="020B0609020204030204" pitchFamily="49" charset="0"/>
                <a:ea typeface="仿宋" panose="02010609060101010101" pitchFamily="49" charset="-122"/>
              </a:rPr>
              <a:t>(2)</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dp[i][j]=max(dp[i][j-1],dp[i-1][j]);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dp[m][n];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143932" cy="380809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当求出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后如何利用</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求一个最长公共子序列呢？分析状态转移方程最后两行的计算过程可以看出：</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360045" algn="l">
              <a:lnSpc>
                <a:spcPts val="3200"/>
              </a:lnSpc>
              <a:spcBef>
                <a:spcPts val="12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，则有</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，也就是说</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中的字符。</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360045" algn="l">
              <a:lnSpc>
                <a:spcPts val="3200"/>
              </a:lnSpc>
              <a:spcBef>
                <a:spcPts val="12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，则有</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，也就是说</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中的字符。</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360045" algn="l">
              <a:lnSpc>
                <a:spcPts val="3200"/>
              </a:lnSpc>
              <a:spcBef>
                <a:spcPts val="12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，则有</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，同样</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中的字符。</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34" y="4778761"/>
            <a:ext cx="7929650" cy="936255"/>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-1]+1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max</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214852"/>
            <a:ext cx="8786874" cy="37856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string</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容器</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subs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存放一个</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开始向</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subs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中添加</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个字符，归纳为如下</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种情况：</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504190" lvl="1" indent="-360045" algn="l">
              <a:lnSpc>
                <a:spcPts val="30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（即当前</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元素值等于上方相邻元素值），移到上一行即</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减</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，此时</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字符。</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504190" lvl="1" indent="-360045" algn="l">
              <a:lnSpc>
                <a:spcPts val="30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（即当前</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元素值等于左边相邻元素值），移到左一列即</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减</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，此时</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字符。</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504190" lvl="1" indent="-360045" algn="l">
              <a:lnSpc>
                <a:spcPts val="30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其他情况只能是</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，移到左上方即</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减</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同时</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减</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，此时</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的字符，将</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添加到</a:t>
            </a:r>
            <a:r>
              <a:rPr lang="pt-BR"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subs</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中。</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58"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1" name="组合 20"/>
          <p:cNvGrpSpPr/>
          <p:nvPr/>
        </p:nvGrpSpPr>
        <p:grpSpPr>
          <a:xfrm>
            <a:off x="1785918" y="4212941"/>
            <a:ext cx="3214710" cy="2145017"/>
            <a:chOff x="2714612" y="4357694"/>
            <a:chExt cx="3214710" cy="2145017"/>
          </a:xfrm>
        </p:grpSpPr>
        <p:sp>
          <p:nvSpPr>
            <p:cNvPr id="134156" name="Rectangle 12"/>
            <p:cNvSpPr>
              <a:spLocks noChangeArrowheads="1"/>
            </p:cNvSpPr>
            <p:nvPr/>
          </p:nvSpPr>
          <p:spPr bwMode="auto">
            <a:xfrm>
              <a:off x="4425447" y="5709595"/>
              <a:ext cx="860933" cy="384165"/>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4155" name="Rectangle 11"/>
            <p:cNvSpPr>
              <a:spLocks noChangeArrowheads="1"/>
            </p:cNvSpPr>
            <p:nvPr/>
          </p:nvSpPr>
          <p:spPr bwMode="auto">
            <a:xfrm>
              <a:off x="4425447" y="4980695"/>
              <a:ext cx="860933" cy="384165"/>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4154" name="Rectangle 10"/>
            <p:cNvSpPr>
              <a:spLocks noChangeArrowheads="1"/>
            </p:cNvSpPr>
            <p:nvPr/>
          </p:nvSpPr>
          <p:spPr bwMode="auto">
            <a:xfrm>
              <a:off x="3143240" y="4980695"/>
              <a:ext cx="928694" cy="384165"/>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4153" name="Rectangle 9"/>
            <p:cNvSpPr>
              <a:spLocks noChangeArrowheads="1"/>
            </p:cNvSpPr>
            <p:nvPr/>
          </p:nvSpPr>
          <p:spPr bwMode="auto">
            <a:xfrm>
              <a:off x="3143240" y="5709595"/>
              <a:ext cx="928694" cy="381912"/>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4152" name="AutoShape 8"/>
            <p:cNvSpPr>
              <a:spLocks noChangeShapeType="1"/>
            </p:cNvSpPr>
            <p:nvPr/>
          </p:nvSpPr>
          <p:spPr bwMode="auto">
            <a:xfrm flipV="1">
              <a:off x="4633758" y="5364861"/>
              <a:ext cx="1126" cy="344735"/>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51" name="AutoShape 7"/>
            <p:cNvSpPr>
              <a:spLocks noChangeShapeType="1"/>
            </p:cNvSpPr>
            <p:nvPr/>
          </p:nvSpPr>
          <p:spPr bwMode="auto">
            <a:xfrm flipH="1" flipV="1">
              <a:off x="4062409" y="5901115"/>
              <a:ext cx="321921" cy="112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50" name="AutoShape 6"/>
            <p:cNvSpPr>
              <a:spLocks noChangeShapeType="1"/>
            </p:cNvSpPr>
            <p:nvPr/>
          </p:nvSpPr>
          <p:spPr bwMode="auto">
            <a:xfrm flipH="1" flipV="1">
              <a:off x="4081459" y="5364861"/>
              <a:ext cx="321921" cy="38979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49" name="AutoShape 5"/>
            <p:cNvSpPr>
              <a:spLocks noChangeShapeType="1"/>
            </p:cNvSpPr>
            <p:nvPr/>
          </p:nvSpPr>
          <p:spPr bwMode="auto">
            <a:xfrm flipV="1">
              <a:off x="2958867" y="6349496"/>
              <a:ext cx="2424540" cy="1127"/>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48" name="AutoShape 4"/>
            <p:cNvSpPr>
              <a:spLocks noChangeShapeType="1"/>
            </p:cNvSpPr>
            <p:nvPr/>
          </p:nvSpPr>
          <p:spPr bwMode="auto">
            <a:xfrm flipV="1">
              <a:off x="2961118" y="4691163"/>
              <a:ext cx="1126" cy="1660586"/>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47" name="Text Box 3"/>
            <p:cNvSpPr txBox="1">
              <a:spLocks noChangeArrowheads="1"/>
            </p:cNvSpPr>
            <p:nvPr/>
          </p:nvSpPr>
          <p:spPr bwMode="auto">
            <a:xfrm>
              <a:off x="5457696" y="6200786"/>
              <a:ext cx="471626" cy="301925"/>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4146" name="Text Box 2"/>
            <p:cNvSpPr txBox="1">
              <a:spLocks noChangeArrowheads="1"/>
            </p:cNvSpPr>
            <p:nvPr/>
          </p:nvSpPr>
          <p:spPr bwMode="auto">
            <a:xfrm>
              <a:off x="2714612" y="4357694"/>
              <a:ext cx="471626" cy="301925"/>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4643438" y="5357826"/>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①</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9" name="TextBox 18"/>
            <p:cNvSpPr txBox="1"/>
            <p:nvPr/>
          </p:nvSpPr>
          <p:spPr>
            <a:xfrm>
              <a:off x="4045652" y="5929330"/>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②</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0" name="TextBox 19"/>
            <p:cNvSpPr txBox="1"/>
            <p:nvPr/>
          </p:nvSpPr>
          <p:spPr>
            <a:xfrm>
              <a:off x="3823753" y="5402982"/>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③</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14290"/>
            <a:ext cx="7143800" cy="363176"/>
          </a:xfrm>
          <a:prstGeom prst="rect">
            <a:avLst/>
          </a:prstGeom>
          <a:noFill/>
        </p:spPr>
        <p:txBody>
          <a:bodyPr wrap="square" rtlCol="0">
            <a:spAutoFit/>
          </a:bodyPr>
          <a:lstStyle/>
          <a:p>
            <a:pPr algn="l"/>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="abcbdb"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="acbbabdbb"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4158"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8" name="表格 17"/>
          <p:cNvGraphicFramePr>
            <a:graphicFrameLocks noGrp="1"/>
          </p:cNvGraphicFramePr>
          <p:nvPr/>
        </p:nvGraphicFramePr>
        <p:xfrm>
          <a:off x="428596" y="714356"/>
          <a:ext cx="5643600" cy="3929094"/>
        </p:xfrm>
        <a:graphic>
          <a:graphicData uri="http://schemas.openxmlformats.org/drawingml/2006/table">
            <a:tbl>
              <a:tblPr/>
              <a:tblGrid>
                <a:gridCol w="470300"/>
                <a:gridCol w="470300"/>
                <a:gridCol w="470300"/>
                <a:gridCol w="470300"/>
                <a:gridCol w="470300"/>
                <a:gridCol w="470300"/>
                <a:gridCol w="470300"/>
                <a:gridCol w="470300"/>
                <a:gridCol w="470300"/>
                <a:gridCol w="470300"/>
                <a:gridCol w="470300"/>
                <a:gridCol w="470300"/>
              </a:tblGrid>
              <a:tr h="436566">
                <a:tc rowSpan="2" gridSpan="2">
                  <a:txBody>
                    <a:bodyPr/>
                    <a:lstStyle/>
                    <a:p>
                      <a:pPr indent="0" algn="ctr">
                        <a:lnSpc>
                          <a:spcPts val="2800"/>
                        </a:lnSpc>
                        <a:spcAft>
                          <a:spcPts val="0"/>
                        </a:spcAft>
                      </a:pPr>
                      <a:r>
                        <a:rPr lang="nb-NO" sz="1600" kern="100">
                          <a:solidFill>
                            <a:srgbClr val="0000FF"/>
                          </a:solidFill>
                          <a:latin typeface="Times New Roman" panose="02020603050405020304"/>
                          <a:ea typeface="宋体" panose="02010600030101010101" pitchFamily="2" charset="-122"/>
                          <a:cs typeface="Times New Roman" panose="02020603050405020304"/>
                        </a:rPr>
                        <a:t>  </a:t>
                      </a:r>
                      <a:r>
                        <a:rPr lang="en-US" sz="1600" i="1" kern="100">
                          <a:solidFill>
                            <a:srgbClr val="0000FF"/>
                          </a:solidFill>
                          <a:latin typeface="Times New Roman" panose="02020603050405020304"/>
                          <a:ea typeface="宋体" panose="02010600030101010101" pitchFamily="2" charset="-122"/>
                          <a:cs typeface="Courier New" panose="02070309020205020404"/>
                        </a:rPr>
                        <a:t>b</a:t>
                      </a:r>
                      <a:endParaRPr lang="en-US" sz="1600" i="0" kern="100">
                        <a:solidFill>
                          <a:srgbClr val="0000FF"/>
                        </a:solidFill>
                        <a:latin typeface="Times New Roman" panose="02020603050405020304"/>
                        <a:ea typeface="宋体" panose="02010600030101010101" pitchFamily="2" charset="-122"/>
                        <a:cs typeface="Courier New" panose="02070309020205020404"/>
                      </a:endParaRPr>
                    </a:p>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a</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rowSpan="2" hMerge="1">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a</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c</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a</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d</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endParaRPr lang="nb-NO"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vMerge="1" gridSpan="2">
                  <a:tcPr/>
                </a:tc>
                <a:tc vMerge="1" hMerge="1">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0</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1</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2</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3</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4</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5</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6</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7</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8</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9</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a</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0</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1</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c</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2</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3</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d</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4</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r>
                        <a:rPr lang="nb-NO" sz="1600" i="1" kern="100">
                          <a:solidFill>
                            <a:srgbClr val="0000FF"/>
                          </a:solidFill>
                          <a:latin typeface="Times New Roman" panose="02020603050405020304"/>
                          <a:ea typeface="宋体" panose="02010600030101010101" pitchFamily="2" charset="-122"/>
                          <a:cs typeface="Times New Roman" panose="02020603050405020304"/>
                        </a:rPr>
                        <a:t>b</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5</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566">
                <a:tc>
                  <a:txBody>
                    <a:bodyPr/>
                    <a:lstStyle/>
                    <a:p>
                      <a:pPr indent="0" algn="ctr">
                        <a:lnSpc>
                          <a:spcPts val="2800"/>
                        </a:lnSpc>
                        <a:spcAft>
                          <a:spcPts val="0"/>
                        </a:spcAft>
                      </a:pPr>
                      <a:endParaRPr lang="nb-NO"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panose="02020603050405020304"/>
                          <a:ea typeface="宋体" panose="02010600030101010101" pitchFamily="2" charset="-122"/>
                          <a:cs typeface="Times New Roman" panose="02020603050405020304"/>
                        </a:rPr>
                        <a:t>6</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rPr>
                        <a:t>5</a:t>
                      </a:r>
                      <a:endParaRPr lang="zh-CN" sz="1600" b="1" kern="10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lang="zh-CN" sz="1600" b="1" kern="1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9" name="TextBox 18"/>
          <p:cNvSpPr txBox="1"/>
          <p:nvPr/>
        </p:nvSpPr>
        <p:spPr>
          <a:xfrm>
            <a:off x="142844" y="5000636"/>
            <a:ext cx="8786842" cy="152862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lvl="1" algn="l">
              <a:lnSpc>
                <a:spcPts val="2800"/>
              </a:lnSpc>
              <a:spcBef>
                <a:spcPts val="0"/>
              </a:spcBef>
              <a:buFont typeface="+mj-ea"/>
              <a:buAutoNum type="circleNumDbPlain"/>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，移到上一行，</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字符。</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0" lvl="1" algn="l">
              <a:lnSpc>
                <a:spcPts val="2800"/>
              </a:lnSpc>
              <a:spcBef>
                <a:spcPts val="0"/>
              </a:spcBef>
              <a:buFont typeface="+mj-ea"/>
              <a:buAutoNum type="circleNumDbPlain"/>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，移到左一列，</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不是</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字符。</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0" lvl="1" algn="l">
              <a:lnSpc>
                <a:spcPts val="2800"/>
              </a:lnSpc>
              <a:spcBef>
                <a:spcPts val="0"/>
              </a:spcBef>
              <a:buFont typeface="+mj-ea"/>
              <a:buAutoNum type="circleNumDbPlain"/>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若</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-1]+1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，移到左上方，</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LCS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的字符。</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2" name="直接箭头连接符 21"/>
          <p:cNvCxnSpPr/>
          <p:nvPr/>
        </p:nvCxnSpPr>
        <p:spPr>
          <a:xfrm rot="10800000" flipV="1">
            <a:off x="5357819" y="4529145"/>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4" name="直接箭头连接符 23"/>
          <p:cNvCxnSpPr/>
          <p:nvPr/>
        </p:nvCxnSpPr>
        <p:spPr>
          <a:xfrm rot="16200000" flipV="1">
            <a:off x="4976815" y="4076705"/>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5" name="直接箭头连接符 24"/>
          <p:cNvCxnSpPr/>
          <p:nvPr/>
        </p:nvCxnSpPr>
        <p:spPr>
          <a:xfrm rot="16200000" flipV="1">
            <a:off x="4524375" y="3605213"/>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10800000" flipV="1">
            <a:off x="3867146" y="3662364"/>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7" name="直接箭头连接符 26"/>
          <p:cNvCxnSpPr/>
          <p:nvPr/>
        </p:nvCxnSpPr>
        <p:spPr>
          <a:xfrm rot="10800000" flipV="1">
            <a:off x="3428992" y="3686177"/>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8" name="直接箭头连接符 27"/>
          <p:cNvCxnSpPr/>
          <p:nvPr/>
        </p:nvCxnSpPr>
        <p:spPr>
          <a:xfrm rot="10800000" flipV="1">
            <a:off x="3000365" y="3681414"/>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9" name="直接箭头连接符 28"/>
          <p:cNvCxnSpPr/>
          <p:nvPr/>
        </p:nvCxnSpPr>
        <p:spPr>
          <a:xfrm rot="16200000" flipV="1">
            <a:off x="2647936" y="3190874"/>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0" name="直接箭头连接符 29"/>
          <p:cNvCxnSpPr/>
          <p:nvPr/>
        </p:nvCxnSpPr>
        <p:spPr>
          <a:xfrm rot="16200000" flipV="1">
            <a:off x="2157396" y="2733671"/>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p:nvPr/>
        </p:nvCxnSpPr>
        <p:spPr>
          <a:xfrm rot="5400000" flipH="1" flipV="1">
            <a:off x="1954194" y="2392355"/>
            <a:ext cx="500066"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3" name="直接箭头连接符 32"/>
          <p:cNvCxnSpPr/>
          <p:nvPr/>
        </p:nvCxnSpPr>
        <p:spPr>
          <a:xfrm rot="16200000" flipV="1">
            <a:off x="1700193" y="1885939"/>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85728"/>
            <a:ext cx="8572560" cy="59931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string </a:t>
            </a:r>
            <a:r>
              <a:rPr lang="en-US" altLang="zh-CN" sz="2000">
                <a:solidFill>
                  <a:srgbClr val="FF0000"/>
                </a:solidFill>
                <a:latin typeface="Consolas" panose="020B0609020204030204" pitchFamily="49" charset="0"/>
                <a:ea typeface="仿宋" panose="02010609060101010101" pitchFamily="49" charset="-122"/>
              </a:rPr>
              <a:t>getasubs</a:t>
            </a:r>
            <a:r>
              <a:rPr lang="en-US" altLang="zh-CN" sz="2000">
                <a:solidFill>
                  <a:srgbClr val="0000FF"/>
                </a:solidFill>
                <a:latin typeface="Consolas" panose="020B0609020204030204" pitchFamily="49" charset="0"/>
                <a:ea typeface="仿宋" panose="02010609060101010101" pitchFamily="49" charset="-122"/>
              </a:rPr>
              <a:t>(string&amp;a,string&amp;b)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string subs="";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存放一个</a:t>
            </a:r>
            <a:r>
              <a:rPr lang="en-US" altLang="zh-CN" sz="2000">
                <a:solidFill>
                  <a:srgbClr val="00B0F0"/>
                </a:solidFill>
                <a:latin typeface="Consolas" panose="020B0609020204030204" pitchFamily="49" charset="0"/>
                <a:ea typeface="仿宋" panose="02010609060101010101" pitchFamily="49" charset="-122"/>
              </a:rPr>
              <a:t>LCS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m=a.size();								</a:t>
            </a:r>
            <a:r>
              <a:rPr lang="en-US" altLang="zh-CN" sz="2000">
                <a:solidFill>
                  <a:srgbClr val="00B0F0"/>
                </a:solidFill>
                <a:latin typeface="Consolas" panose="020B0609020204030204" pitchFamily="49" charset="0"/>
                <a:ea typeface="仿宋" panose="02010609060101010101" pitchFamily="49" charset="-122"/>
              </a:rPr>
              <a:t>//m</a:t>
            </a:r>
            <a:r>
              <a:rPr lang="zh-CN" altLang="zh-CN" sz="2000">
                <a:solidFill>
                  <a:srgbClr val="00B0F0"/>
                </a:solidFill>
                <a:latin typeface="Consolas" panose="020B0609020204030204" pitchFamily="49" charset="0"/>
                <a:ea typeface="仿宋" panose="02010609060101010101" pitchFamily="49" charset="-122"/>
              </a:rPr>
              <a:t>为</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n=b.size();								</a:t>
            </a:r>
            <a:r>
              <a:rPr lang="en-US" altLang="zh-CN" sz="2000">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为</a:t>
            </a:r>
            <a:r>
              <a:rPr lang="en-US"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k=dp[m][n];								</a:t>
            </a:r>
            <a:r>
              <a:rPr lang="en-US" altLang="zh-CN" sz="2000">
                <a:solidFill>
                  <a:srgbClr val="00B0F0"/>
                </a:solidFill>
                <a:latin typeface="Consolas" panose="020B0609020204030204" pitchFamily="49" charset="0"/>
                <a:ea typeface="仿宋" panose="02010609060101010101" pitchFamily="49" charset="-122"/>
              </a:rPr>
              <a:t>//k</a:t>
            </a:r>
            <a:r>
              <a:rPr lang="zh-CN" altLang="zh-CN" sz="2000">
                <a:solidFill>
                  <a:srgbClr val="00B0F0"/>
                </a:solidFill>
                <a:latin typeface="Consolas" panose="020B0609020204030204" pitchFamily="49" charset="0"/>
                <a:ea typeface="仿宋" panose="02010609060101010101" pitchFamily="49" charset="-122"/>
              </a:rPr>
              <a:t>为最长公共子序列长度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i=m,j=n;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(k&gt;0)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dp[i][j]==dp[i-1][j]</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 if(</a:t>
            </a:r>
            <a:r>
              <a:rPr lang="en-US" altLang="zh-CN" sz="2000">
                <a:solidFill>
                  <a:srgbClr val="FF00FF"/>
                </a:solidFill>
                <a:latin typeface="Consolas" panose="020B0609020204030204" pitchFamily="49" charset="0"/>
                <a:ea typeface="仿宋" panose="02010609060101010101" pitchFamily="49" charset="-122"/>
              </a:rPr>
              <a:t>dp[i][j]==dp[i][j-1]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subs+=a[i-1];						</a:t>
            </a:r>
            <a:r>
              <a:rPr lang="en-US" altLang="zh-CN" sz="2000">
                <a:solidFill>
                  <a:srgbClr val="00B0F0"/>
                </a:solidFill>
                <a:latin typeface="Consolas" panose="020B0609020204030204" pitchFamily="49" charset="0"/>
                <a:ea typeface="仿宋" panose="02010609060101010101" pitchFamily="49" charset="-122"/>
              </a:rPr>
              <a:t>//subs</a:t>
            </a:r>
            <a:r>
              <a:rPr lang="zh-CN" altLang="zh-CN" sz="2000">
                <a:solidFill>
                  <a:srgbClr val="00B0F0"/>
                </a:solidFill>
                <a:latin typeface="Consolas" panose="020B0609020204030204" pitchFamily="49" charset="0"/>
                <a:ea typeface="仿宋" panose="02010609060101010101" pitchFamily="49" charset="-122"/>
              </a:rPr>
              <a:t>中添加</a:t>
            </a:r>
            <a:r>
              <a:rPr lang="en-US" altLang="zh-CN" sz="2000">
                <a:solidFill>
                  <a:srgbClr val="00B0F0"/>
                </a:solidFill>
                <a:latin typeface="Consolas" panose="020B0609020204030204" pitchFamily="49" charset="0"/>
                <a:ea typeface="仿宋" panose="02010609060101010101" pitchFamily="49" charset="-122"/>
              </a:rPr>
              <a:t>a[i-1]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 j--; k--;</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reverse</a:t>
            </a:r>
            <a:r>
              <a:rPr lang="en-US" altLang="zh-CN" sz="2000">
                <a:solidFill>
                  <a:srgbClr val="0000FF"/>
                </a:solidFill>
                <a:latin typeface="Consolas" panose="020B0609020204030204" pitchFamily="49" charset="0"/>
                <a:ea typeface="仿宋" panose="02010609060101010101" pitchFamily="49" charset="-122"/>
              </a:rPr>
              <a:t>(subs.begin(),subs.end());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subs;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返回逆置</a:t>
            </a:r>
            <a:r>
              <a:rPr lang="en-US" altLang="zh-CN" sz="2000">
                <a:solidFill>
                  <a:srgbClr val="00B0F0"/>
                </a:solidFill>
                <a:latin typeface="Consolas" panose="020B0609020204030204" pitchFamily="49" charset="0"/>
                <a:ea typeface="仿宋" panose="02010609060101010101" pitchFamily="49" charset="-122"/>
              </a:rPr>
              <a:t>subs</a:t>
            </a:r>
            <a:r>
              <a:rPr lang="zh-CN" altLang="zh-CN" sz="2000">
                <a:solidFill>
                  <a:srgbClr val="00B0F0"/>
                </a:solidFill>
                <a:latin typeface="Consolas" panose="020B0609020204030204" pitchFamily="49" charset="0"/>
                <a:ea typeface="仿宋" panose="02010609060101010101" pitchFamily="49" charset="-122"/>
              </a:rPr>
              <a:t>的字符串</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57166"/>
            <a:ext cx="2571767"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anose="020B0503020204020204" pitchFamily="34" charset="-122"/>
                <a:ea typeface="微软雅黑" panose="020B0503020204020204" pitchFamily="34" charset="-122"/>
              </a:rPr>
              <a:t>算法空间优化*</a:t>
            </a:r>
            <a:endParaRPr lang="zh-CN" altLang="zh-C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74"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9" name="组合 28"/>
          <p:cNvGrpSpPr/>
          <p:nvPr/>
        </p:nvGrpSpPr>
        <p:grpSpPr>
          <a:xfrm>
            <a:off x="214282" y="2357430"/>
            <a:ext cx="8286808" cy="2143140"/>
            <a:chOff x="214282" y="2357430"/>
            <a:chExt cx="8286808" cy="2143140"/>
          </a:xfrm>
        </p:grpSpPr>
        <p:sp>
          <p:nvSpPr>
            <p:cNvPr id="23572" name="Rectangle 20"/>
            <p:cNvSpPr>
              <a:spLocks noChangeArrowheads="1"/>
            </p:cNvSpPr>
            <p:nvPr/>
          </p:nvSpPr>
          <p:spPr bwMode="auto">
            <a:xfrm>
              <a:off x="3990450" y="3634456"/>
              <a:ext cx="767471"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71" name="Rectangle 19"/>
            <p:cNvSpPr>
              <a:spLocks noChangeArrowheads="1"/>
            </p:cNvSpPr>
            <p:nvPr/>
          </p:nvSpPr>
          <p:spPr bwMode="auto">
            <a:xfrm>
              <a:off x="3857620" y="2838468"/>
              <a:ext cx="1071570" cy="4195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70" name="Rectangle 18"/>
            <p:cNvSpPr>
              <a:spLocks noChangeArrowheads="1"/>
            </p:cNvSpPr>
            <p:nvPr/>
          </p:nvSpPr>
          <p:spPr bwMode="auto">
            <a:xfrm>
              <a:off x="1643042" y="2838468"/>
              <a:ext cx="1132245"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9" name="Rectangle 17"/>
            <p:cNvSpPr>
              <a:spLocks noChangeArrowheads="1"/>
            </p:cNvSpPr>
            <p:nvPr/>
          </p:nvSpPr>
          <p:spPr bwMode="auto">
            <a:xfrm>
              <a:off x="1643042" y="3634456"/>
              <a:ext cx="1132245" cy="41706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8" name="AutoShape 16"/>
            <p:cNvSpPr>
              <a:spLocks noChangeShapeType="1"/>
            </p:cNvSpPr>
            <p:nvPr/>
          </p:nvSpPr>
          <p:spPr bwMode="auto">
            <a:xfrm flipV="1">
              <a:off x="4374185" y="3257992"/>
              <a:ext cx="1230" cy="376464"/>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3567" name="AutoShape 15"/>
            <p:cNvSpPr>
              <a:spLocks noChangeShapeType="1"/>
            </p:cNvSpPr>
            <p:nvPr/>
          </p:nvSpPr>
          <p:spPr bwMode="auto">
            <a:xfrm flipH="1" flipV="1">
              <a:off x="2775287" y="3843603"/>
              <a:ext cx="1215163" cy="123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3566" name="AutoShape 14"/>
            <p:cNvSpPr>
              <a:spLocks noChangeShapeType="1"/>
            </p:cNvSpPr>
            <p:nvPr/>
          </p:nvSpPr>
          <p:spPr bwMode="auto">
            <a:xfrm flipH="1" flipV="1">
              <a:off x="2775287" y="3243228"/>
              <a:ext cx="1193024" cy="44536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3565" name="Text Box 13"/>
            <p:cNvSpPr txBox="1">
              <a:spLocks noChangeArrowheads="1"/>
            </p:cNvSpPr>
            <p:nvPr/>
          </p:nvSpPr>
          <p:spPr bwMode="auto">
            <a:xfrm>
              <a:off x="214282" y="2917205"/>
              <a:ext cx="1126916"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4" name="Text Box 12"/>
            <p:cNvSpPr txBox="1">
              <a:spLocks noChangeArrowheads="1"/>
            </p:cNvSpPr>
            <p:nvPr/>
          </p:nvSpPr>
          <p:spPr bwMode="auto">
            <a:xfrm>
              <a:off x="506081" y="3710733"/>
              <a:ext cx="662928"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3" name="Rectangle 11"/>
            <p:cNvSpPr>
              <a:spLocks noChangeArrowheads="1"/>
            </p:cNvSpPr>
            <p:nvPr/>
          </p:nvSpPr>
          <p:spPr bwMode="auto">
            <a:xfrm>
              <a:off x="6581588" y="3634456"/>
              <a:ext cx="1062246" cy="419524"/>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2" name="AutoShape 10"/>
            <p:cNvSpPr>
              <a:spLocks noChangeShapeType="1"/>
            </p:cNvSpPr>
            <p:nvPr/>
          </p:nvSpPr>
          <p:spPr bwMode="auto">
            <a:xfrm>
              <a:off x="4757921" y="3844832"/>
              <a:ext cx="1814343" cy="0"/>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3561" name="Text Box 9"/>
            <p:cNvSpPr txBox="1">
              <a:spLocks noChangeArrowheads="1"/>
            </p:cNvSpPr>
            <p:nvPr/>
          </p:nvSpPr>
          <p:spPr bwMode="auto">
            <a:xfrm>
              <a:off x="3643306" y="2357430"/>
              <a:ext cx="2714644"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60" name="Text Box 8"/>
            <p:cNvSpPr txBox="1">
              <a:spLocks noChangeArrowheads="1"/>
            </p:cNvSpPr>
            <p:nvPr/>
          </p:nvSpPr>
          <p:spPr bwMode="auto">
            <a:xfrm>
              <a:off x="642910" y="2357430"/>
              <a:ext cx="2928958"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59" name="Text Box 7"/>
            <p:cNvSpPr txBox="1">
              <a:spLocks noChangeArrowheads="1"/>
            </p:cNvSpPr>
            <p:nvPr/>
          </p:nvSpPr>
          <p:spPr bwMode="auto">
            <a:xfrm>
              <a:off x="3428992" y="4170856"/>
              <a:ext cx="2428892"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58" name="Text Box 6"/>
            <p:cNvSpPr txBox="1">
              <a:spLocks noChangeArrowheads="1"/>
            </p:cNvSpPr>
            <p:nvPr/>
          </p:nvSpPr>
          <p:spPr bwMode="auto">
            <a:xfrm>
              <a:off x="714348" y="4170856"/>
              <a:ext cx="2636543"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57" name="Text Box 5"/>
            <p:cNvSpPr txBox="1">
              <a:spLocks noChangeArrowheads="1"/>
            </p:cNvSpPr>
            <p:nvPr/>
          </p:nvSpPr>
          <p:spPr bwMode="auto">
            <a:xfrm>
              <a:off x="5957813" y="4170856"/>
              <a:ext cx="2543277"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56" name="AutoShape 4"/>
            <p:cNvSpPr>
              <a:spLocks noChangeShapeType="1"/>
            </p:cNvSpPr>
            <p:nvPr/>
          </p:nvSpPr>
          <p:spPr bwMode="auto">
            <a:xfrm flipH="1" flipV="1">
              <a:off x="4753000" y="3250610"/>
              <a:ext cx="1747825" cy="464142"/>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3555" name="Rectangle 3"/>
            <p:cNvSpPr>
              <a:spLocks noChangeArrowheads="1"/>
            </p:cNvSpPr>
            <p:nvPr/>
          </p:nvSpPr>
          <p:spPr bwMode="auto">
            <a:xfrm>
              <a:off x="6577898" y="2845849"/>
              <a:ext cx="1137374"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3554" name="AutoShape 2"/>
            <p:cNvSpPr>
              <a:spLocks noChangeShapeType="1"/>
            </p:cNvSpPr>
            <p:nvPr/>
          </p:nvSpPr>
          <p:spPr bwMode="auto">
            <a:xfrm flipV="1">
              <a:off x="7071100" y="3265373"/>
              <a:ext cx="1230" cy="376464"/>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sp>
        <p:nvSpPr>
          <p:cNvPr id="27" name="TextBox 26"/>
          <p:cNvSpPr txBox="1"/>
          <p:nvPr/>
        </p:nvSpPr>
        <p:spPr>
          <a:xfrm>
            <a:off x="214282" y="1071546"/>
            <a:ext cx="8572560" cy="1169551"/>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改为一维数组，在阶段</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（指考虑</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字符的阶段）将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存放在</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存放在</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中，这两个状态是可以区分的。</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357158" y="5072074"/>
            <a:ext cx="8572560" cy="936255"/>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-1]+1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500"/>
              </a:lnSpc>
              <a:spcBef>
                <a:spcPts val="600"/>
              </a:spcBef>
            </a:pP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]=max{dp[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mj-ea"/>
                <a:ea typeface="+mj-ea"/>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nb-NO"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灯片编号占位符 2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4"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5" name="组合 24"/>
          <p:cNvGrpSpPr/>
          <p:nvPr/>
        </p:nvGrpSpPr>
        <p:grpSpPr>
          <a:xfrm>
            <a:off x="214282" y="2767030"/>
            <a:ext cx="7500990" cy="1215512"/>
            <a:chOff x="214282" y="2838468"/>
            <a:chExt cx="7500990" cy="1215512"/>
          </a:xfrm>
        </p:grpSpPr>
        <p:sp>
          <p:nvSpPr>
            <p:cNvPr id="27" name="Rectangle 20"/>
            <p:cNvSpPr>
              <a:spLocks noChangeArrowheads="1"/>
            </p:cNvSpPr>
            <p:nvPr/>
          </p:nvSpPr>
          <p:spPr bwMode="auto">
            <a:xfrm>
              <a:off x="3990450" y="3634456"/>
              <a:ext cx="767471"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8" name="Rectangle 19"/>
            <p:cNvSpPr>
              <a:spLocks noChangeArrowheads="1"/>
            </p:cNvSpPr>
            <p:nvPr/>
          </p:nvSpPr>
          <p:spPr bwMode="auto">
            <a:xfrm>
              <a:off x="3857620" y="2838468"/>
              <a:ext cx="1071570" cy="4195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9" name="Rectangle 18"/>
            <p:cNvSpPr>
              <a:spLocks noChangeArrowheads="1"/>
            </p:cNvSpPr>
            <p:nvPr/>
          </p:nvSpPr>
          <p:spPr bwMode="auto">
            <a:xfrm>
              <a:off x="1643042" y="2838468"/>
              <a:ext cx="1132245"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0" name="Rectangle 17"/>
            <p:cNvSpPr>
              <a:spLocks noChangeArrowheads="1"/>
            </p:cNvSpPr>
            <p:nvPr/>
          </p:nvSpPr>
          <p:spPr bwMode="auto">
            <a:xfrm>
              <a:off x="1643042" y="3634456"/>
              <a:ext cx="1132245" cy="417063"/>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1" name="AutoShape 16"/>
            <p:cNvSpPr>
              <a:spLocks noChangeShapeType="1"/>
            </p:cNvSpPr>
            <p:nvPr/>
          </p:nvSpPr>
          <p:spPr bwMode="auto">
            <a:xfrm flipV="1">
              <a:off x="4374185" y="3257992"/>
              <a:ext cx="1230" cy="376464"/>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32" name="AutoShape 15"/>
            <p:cNvSpPr>
              <a:spLocks noChangeShapeType="1"/>
            </p:cNvSpPr>
            <p:nvPr/>
          </p:nvSpPr>
          <p:spPr bwMode="auto">
            <a:xfrm flipH="1" flipV="1">
              <a:off x="2775287" y="3843603"/>
              <a:ext cx="1215163" cy="123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33" name="AutoShape 14"/>
            <p:cNvSpPr>
              <a:spLocks noChangeShapeType="1"/>
            </p:cNvSpPr>
            <p:nvPr/>
          </p:nvSpPr>
          <p:spPr bwMode="auto">
            <a:xfrm flipH="1" flipV="1">
              <a:off x="2775287" y="3243228"/>
              <a:ext cx="1193024" cy="44536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34" name="Text Box 13"/>
            <p:cNvSpPr txBox="1">
              <a:spLocks noChangeArrowheads="1"/>
            </p:cNvSpPr>
            <p:nvPr/>
          </p:nvSpPr>
          <p:spPr bwMode="auto">
            <a:xfrm>
              <a:off x="214282" y="2917205"/>
              <a:ext cx="1126916"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5" name="Text Box 12"/>
            <p:cNvSpPr txBox="1">
              <a:spLocks noChangeArrowheads="1"/>
            </p:cNvSpPr>
            <p:nvPr/>
          </p:nvSpPr>
          <p:spPr bwMode="auto">
            <a:xfrm>
              <a:off x="506081" y="3710733"/>
              <a:ext cx="662928"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阶段</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6" name="Rectangle 11"/>
            <p:cNvSpPr>
              <a:spLocks noChangeArrowheads="1"/>
            </p:cNvSpPr>
            <p:nvPr/>
          </p:nvSpPr>
          <p:spPr bwMode="auto">
            <a:xfrm>
              <a:off x="6581588" y="3634456"/>
              <a:ext cx="1062246" cy="419524"/>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7" name="AutoShape 10"/>
            <p:cNvSpPr>
              <a:spLocks noChangeShapeType="1"/>
            </p:cNvSpPr>
            <p:nvPr/>
          </p:nvSpPr>
          <p:spPr bwMode="auto">
            <a:xfrm>
              <a:off x="4757921" y="3844832"/>
              <a:ext cx="1814343" cy="0"/>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43" name="AutoShape 4"/>
            <p:cNvSpPr>
              <a:spLocks noChangeShapeType="1"/>
            </p:cNvSpPr>
            <p:nvPr/>
          </p:nvSpPr>
          <p:spPr bwMode="auto">
            <a:xfrm flipH="1" flipV="1">
              <a:off x="4753000" y="3250610"/>
              <a:ext cx="1747825" cy="464142"/>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44" name="Rectangle 3"/>
            <p:cNvSpPr>
              <a:spLocks noChangeArrowheads="1"/>
            </p:cNvSpPr>
            <p:nvPr/>
          </p:nvSpPr>
          <p:spPr bwMode="auto">
            <a:xfrm>
              <a:off x="6577898" y="2845849"/>
              <a:ext cx="1137374" cy="419524"/>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45" name="AutoShape 2"/>
            <p:cNvSpPr>
              <a:spLocks noChangeShapeType="1"/>
            </p:cNvSpPr>
            <p:nvPr/>
          </p:nvSpPr>
          <p:spPr bwMode="auto">
            <a:xfrm flipV="1">
              <a:off x="7071100" y="3265373"/>
              <a:ext cx="1230" cy="376464"/>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sp>
        <p:nvSpPr>
          <p:cNvPr id="46" name="TextBox 45"/>
          <p:cNvSpPr txBox="1"/>
          <p:nvPr/>
        </p:nvSpPr>
        <p:spPr>
          <a:xfrm>
            <a:off x="1643042" y="1357298"/>
            <a:ext cx="1285884" cy="400110"/>
          </a:xfrm>
          <a:prstGeom prst="rect">
            <a:avLst/>
          </a:prstGeom>
          <a:noFill/>
        </p:spPr>
        <p:txBody>
          <a:bodyPr wrap="square" rtlCol="0">
            <a:spAutoFit/>
          </a:bodyPr>
          <a:lstStyle/>
          <a:p>
            <a:pPr algn="l">
              <a:lnSpc>
                <a:spcPct val="100000"/>
              </a:lnSpc>
              <a:spcBef>
                <a:spcPts val="0"/>
              </a:spcBef>
            </a:pPr>
            <a:r>
              <a:rPr lang="en-US" altLang="zh-CN" sz="2000">
                <a:solidFill>
                  <a:srgbClr val="006600"/>
                </a:solidFill>
                <a:latin typeface="Consolas" panose="020B0609020204030204" pitchFamily="49" charset="0"/>
                <a:ea typeface="楷体" panose="02010609060101010101" pitchFamily="49" charset="-122"/>
                <a:cs typeface="Consolas" panose="020B0609020204030204" pitchFamily="49" charset="0"/>
              </a:rPr>
              <a:t>upleft</a:t>
            </a:r>
            <a:endParaRPr lang="zh-CN" altLang="en-US" sz="2000">
              <a:solidFill>
                <a:srgbClr val="006600"/>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000496" y="1357298"/>
            <a:ext cx="714380" cy="400110"/>
          </a:xfrm>
          <a:prstGeom prst="rect">
            <a:avLst/>
          </a:prstGeom>
          <a:noFill/>
        </p:spPr>
        <p:txBody>
          <a:bodyPr wrap="square" rtlCol="0">
            <a:spAutoFit/>
          </a:bodyPr>
          <a:lstStyle/>
          <a:p>
            <a:pPr algn="l">
              <a:lnSpc>
                <a:spcPct val="100000"/>
              </a:lnSpc>
              <a:spcBef>
                <a:spcPts val="0"/>
              </a:spcBef>
            </a:pPr>
            <a:r>
              <a:rPr lang="en-US" altLang="zh-CN" sz="2000">
                <a:solidFill>
                  <a:srgbClr val="006600"/>
                </a:solidFill>
                <a:latin typeface="Consolas" panose="020B0609020204030204" pitchFamily="49" charset="0"/>
                <a:ea typeface="楷体" panose="02010609060101010101" pitchFamily="49" charset="-122"/>
                <a:cs typeface="Consolas" panose="020B0609020204030204" pitchFamily="49" charset="0"/>
              </a:rPr>
              <a:t>tmp</a:t>
            </a:r>
            <a:endParaRPr lang="zh-CN" altLang="en-US" sz="2000">
              <a:solidFill>
                <a:srgbClr val="006600"/>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p:nvPr/>
        </p:nvCxnSpPr>
        <p:spPr>
          <a:xfrm rot="5400000" flipH="1" flipV="1">
            <a:off x="1725855" y="2265532"/>
            <a:ext cx="972000" cy="538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51" name="直接箭头连接符 50"/>
          <p:cNvCxnSpPr>
            <a:stCxn id="28" idx="0"/>
          </p:cNvCxnSpPr>
          <p:nvPr/>
        </p:nvCxnSpPr>
        <p:spPr>
          <a:xfrm rot="16200000" flipV="1">
            <a:off x="3871687" y="2281029"/>
            <a:ext cx="972000"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2" name="Text Box 7"/>
          <p:cNvSpPr txBox="1">
            <a:spLocks noChangeArrowheads="1"/>
          </p:cNvSpPr>
          <p:nvPr/>
        </p:nvSpPr>
        <p:spPr bwMode="auto">
          <a:xfrm>
            <a:off x="3929058" y="4143380"/>
            <a:ext cx="857256" cy="32971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6" name="灯片编号占位符 2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15384"/>
            <a:ext cx="8643998" cy="61296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int </a:t>
            </a:r>
            <a:r>
              <a:rPr lang="nb-NO" altLang="zh-CN" sz="2000">
                <a:solidFill>
                  <a:srgbClr val="FF0000"/>
                </a:solidFill>
                <a:latin typeface="Consolas" panose="020B0609020204030204" pitchFamily="49" charset="0"/>
                <a:ea typeface="仿宋" panose="02010609060101010101" pitchFamily="49" charset="-122"/>
              </a:rPr>
              <a:t>LCSlength1</a:t>
            </a:r>
            <a:r>
              <a:rPr lang="nb-NO" altLang="zh-CN" sz="2000">
                <a:solidFill>
                  <a:srgbClr val="0000FF"/>
                </a:solidFill>
                <a:latin typeface="Consolas" panose="020B0609020204030204" pitchFamily="49" charset="0"/>
                <a:ea typeface="仿宋" panose="02010609060101010101" pitchFamily="49" charset="-122"/>
              </a:rPr>
              <a:t>(string&amp;a,string&amp;b) {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nb-NO" altLang="zh-CN" sz="2000">
                <a:solidFill>
                  <a:srgbClr val="00B0F0"/>
                </a:solidFill>
                <a:latin typeface="Consolas" panose="020B0609020204030204" pitchFamily="49" charset="0"/>
                <a:ea typeface="仿宋" panose="02010609060101010101" pitchFamily="49" charset="-122"/>
              </a:rPr>
              <a:t>LCS</a:t>
            </a:r>
            <a:r>
              <a:rPr lang="zh-CN" altLang="zh-CN" sz="2000">
                <a:solidFill>
                  <a:srgbClr val="00B0F0"/>
                </a:solidFill>
                <a:latin typeface="Consolas" panose="020B0609020204030204" pitchFamily="49" charset="0"/>
                <a:ea typeface="仿宋" panose="02010609060101010101" pitchFamily="49" charset="-122"/>
              </a:rPr>
              <a:t>的改进算法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int m=a.size();					      		</a:t>
            </a:r>
            <a:r>
              <a:rPr lang="nb-NO" altLang="zh-CN" sz="2000">
                <a:solidFill>
                  <a:srgbClr val="00B0F0"/>
                </a:solidFill>
                <a:latin typeface="Consolas" panose="020B0609020204030204" pitchFamily="49" charset="0"/>
                <a:ea typeface="仿宋" panose="02010609060101010101" pitchFamily="49" charset="-122"/>
              </a:rPr>
              <a:t>//m</a:t>
            </a:r>
            <a:r>
              <a:rPr lang="zh-CN" altLang="zh-CN" sz="2000">
                <a:solidFill>
                  <a:srgbClr val="00B0F0"/>
                </a:solidFill>
                <a:latin typeface="Consolas" panose="020B0609020204030204" pitchFamily="49" charset="0"/>
                <a:ea typeface="仿宋" panose="02010609060101010101" pitchFamily="49" charset="-122"/>
              </a:rPr>
              <a:t>为</a:t>
            </a:r>
            <a:r>
              <a:rPr lang="nb-NO"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int n=b.size();					        	</a:t>
            </a:r>
            <a:r>
              <a:rPr lang="nb-NO" altLang="zh-CN" sz="2000">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为</a:t>
            </a:r>
            <a:r>
              <a:rPr lang="nb-NO"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int dp[n+1];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memset(dp,0,sizeof(dp));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for (int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int </a:t>
            </a:r>
            <a:r>
              <a:rPr lang="nb-NO" altLang="zh-CN" sz="2000">
                <a:solidFill>
                  <a:srgbClr val="006600"/>
                </a:solidFill>
                <a:latin typeface="Consolas" panose="020B0609020204030204" pitchFamily="49" charset="0"/>
                <a:ea typeface="仿宋" panose="02010609060101010101" pitchFamily="49" charset="-122"/>
              </a:rPr>
              <a:t>upleft=dp[0]</a:t>
            </a:r>
            <a:r>
              <a:rPr lang="nb-NO" altLang="zh-CN" sz="2000">
                <a:solidFill>
                  <a:srgbClr val="0000FF"/>
                </a:solidFill>
                <a:latin typeface="Consolas" panose="020B0609020204030204" pitchFamily="49" charset="0"/>
                <a:ea typeface="仿宋" panose="02010609060101010101" pitchFamily="49" charset="-122"/>
              </a:rPr>
              <a:t>;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阶段</a:t>
            </a:r>
            <a:r>
              <a:rPr lang="nb-NO"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初始化</a:t>
            </a:r>
            <a:r>
              <a:rPr lang="nb-NO" altLang="zh-CN" sz="2000">
                <a:solidFill>
                  <a:srgbClr val="00B0F0"/>
                </a:solidFill>
                <a:latin typeface="Consolas" panose="020B0609020204030204" pitchFamily="49" charset="0"/>
                <a:ea typeface="仿宋" panose="02010609060101010101" pitchFamily="49" charset="-122"/>
              </a:rPr>
              <a:t>upleft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for (int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int tmp=dp[j];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临时保存</a:t>
            </a:r>
            <a:r>
              <a:rPr lang="nb-NO" altLang="zh-CN" sz="2000">
                <a:solidFill>
                  <a:srgbClr val="00B0F0"/>
                </a:solidFill>
                <a:latin typeface="Consolas" panose="020B0609020204030204" pitchFamily="49" charset="0"/>
                <a:ea typeface="仿宋" panose="02010609060101010101" pitchFamily="49" charset="-122"/>
              </a:rPr>
              <a:t>dp[j]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if (a[i-1]==b[j-1])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dp[j]=upleft+1;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修改</a:t>
            </a:r>
            <a:r>
              <a:rPr lang="nb-NO" altLang="zh-CN" sz="2000">
                <a:solidFill>
                  <a:srgbClr val="00B0F0"/>
                </a:solidFill>
                <a:latin typeface="Consolas" panose="020B0609020204030204" pitchFamily="49" charset="0"/>
                <a:ea typeface="仿宋" panose="02010609060101010101" pitchFamily="49" charset="-122"/>
              </a:rPr>
              <a:t>dp[j]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else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dp[j]=max(dp[j-1],dp[j]);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a:t>
            </a:r>
            <a:r>
              <a:rPr lang="nb-NO" altLang="zh-CN" sz="2000">
                <a:solidFill>
                  <a:srgbClr val="006600"/>
                </a:solidFill>
                <a:latin typeface="Consolas" panose="020B0609020204030204" pitchFamily="49" charset="0"/>
                <a:ea typeface="仿宋" panose="02010609060101010101" pitchFamily="49" charset="-122"/>
              </a:rPr>
              <a:t>upleft=tmp</a:t>
            </a:r>
            <a:r>
              <a:rPr lang="nb-NO" altLang="zh-CN" sz="2000">
                <a:solidFill>
                  <a:srgbClr val="0000FF"/>
                </a:solidFill>
                <a:latin typeface="Consolas" panose="020B0609020204030204" pitchFamily="49" charset="0"/>
                <a:ea typeface="仿宋" panose="02010609060101010101" pitchFamily="49" charset="-122"/>
              </a:rPr>
              <a:t>;     		</a:t>
            </a:r>
            <a:r>
              <a:rPr lang="nb-NO"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更新</a:t>
            </a:r>
            <a:r>
              <a:rPr lang="nb-NO" altLang="zh-CN" sz="2000">
                <a:solidFill>
                  <a:srgbClr val="00B0F0"/>
                </a:solidFill>
                <a:latin typeface="Consolas" panose="020B0609020204030204" pitchFamily="49" charset="0"/>
                <a:ea typeface="仿宋" panose="02010609060101010101" pitchFamily="49" charset="-122"/>
              </a:rPr>
              <a:t>upleft</a:t>
            </a:r>
            <a:r>
              <a:rPr lang="zh-CN" altLang="zh-CN" sz="2000">
                <a:solidFill>
                  <a:srgbClr val="00B0F0"/>
                </a:solidFill>
                <a:latin typeface="Consolas" panose="020B0609020204030204" pitchFamily="49" charset="0"/>
                <a:ea typeface="仿宋" panose="02010609060101010101" pitchFamily="49" charset="-122"/>
              </a:rPr>
              <a:t>为</a:t>
            </a:r>
            <a:r>
              <a:rPr lang="nb-NO" altLang="zh-CN" sz="2000">
                <a:solidFill>
                  <a:srgbClr val="00B0F0"/>
                </a:solidFill>
                <a:latin typeface="Consolas" panose="020B0609020204030204" pitchFamily="49" charset="0"/>
                <a:ea typeface="仿宋" panose="02010609060101010101" pitchFamily="49" charset="-122"/>
              </a:rPr>
              <a:t>dp[j]</a:t>
            </a:r>
            <a:r>
              <a:rPr lang="zh-CN" altLang="zh-CN" sz="2000">
                <a:solidFill>
                  <a:srgbClr val="00B0F0"/>
                </a:solidFill>
                <a:latin typeface="Consolas" panose="020B0609020204030204" pitchFamily="49" charset="0"/>
                <a:ea typeface="仿宋" panose="02010609060101010101" pitchFamily="49" charset="-122"/>
              </a:rPr>
              <a:t>修改之前的值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  	return dp[n];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nb-NO"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786050" y="357166"/>
            <a:ext cx="350046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7.6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编辑距离</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357298"/>
            <a:ext cx="8143932" cy="2552082"/>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是两个字符串。现在要用</a:t>
            </a:r>
            <a:r>
              <a:rPr lang="zh-CN" altLang="zh-CN">
                <a:solidFill>
                  <a:srgbClr val="FF3300"/>
                </a:solidFill>
                <a:latin typeface="Consolas" panose="020B0609020204030204" pitchFamily="49" charset="0"/>
                <a:ea typeface="仿宋" panose="02010609060101010101" pitchFamily="49" charset="-122"/>
                <a:cs typeface="Consolas" panose="020B0609020204030204" pitchFamily="49" charset="0"/>
              </a:rPr>
              <a:t>最少的字符操作次数</a:t>
            </a:r>
            <a:r>
              <a:rPr lang="zh-CN" altLang="en-US">
                <a:solidFill>
                  <a:srgbClr val="FF33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FF3300"/>
                </a:solidFill>
                <a:latin typeface="Consolas" panose="020B0609020204030204" pitchFamily="49" charset="0"/>
                <a:ea typeface="仿宋" panose="02010609060101010101" pitchFamily="49" charset="-122"/>
                <a:cs typeface="Consolas" panose="020B0609020204030204" pitchFamily="49" charset="0"/>
              </a:rPr>
              <a:t>最优编辑距离</a:t>
            </a:r>
            <a:r>
              <a:rPr lang="zh-CN" altLang="en-US">
                <a:solidFill>
                  <a:srgbClr val="FF33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，将字符串</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编辑为字符串</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。这里的字符编辑操作共有</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种：删除一个字符，插入一个字符或者将一个字符替换另一个字符。</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="sfdqxbw"</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="gfdgw"</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，结果为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85786" y="1158324"/>
            <a:ext cx="8143932" cy="345222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设计二维动态规划数组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表示将</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）编辑为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a:solidFill>
                  <a:srgbClr val="FF3300"/>
                </a:solidFill>
                <a:latin typeface="Consolas" panose="020B0609020204030204" pitchFamily="49" charset="0"/>
                <a:ea typeface="仿宋" panose="02010609060101010101" pitchFamily="49" charset="-122"/>
                <a:cs typeface="Consolas" panose="020B0609020204030204" pitchFamily="49" charset="0"/>
              </a:rPr>
              <a:t>最优编辑距离</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（即最少编辑操作次数）。</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为空串时，要删除</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中全部字符得到为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（删除</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个字符，共</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次操作）</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为空串时，要在</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中插入</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的全部字符得到</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dp[0][</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（向</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中插入</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个字符，共</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次操作）。</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928662" y="571480"/>
            <a:ext cx="1500198"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anose="020B0609020204030204" pitchFamily="49" charset="0"/>
                <a:ea typeface="楷体" panose="02010609060101010101" pitchFamily="49" charset="-122"/>
                <a:cs typeface="Times New Roman" panose="02020603050405020304" pitchFamily="18" charset="0"/>
              </a:rPr>
              <a:t>a</a:t>
            </a:r>
            <a:r>
              <a:rPr lang="en-US" altLang="zh-CN">
                <a:solidFill>
                  <a:srgbClr val="0000FF"/>
                </a:solidFill>
                <a:latin typeface="Consolas" panose="020B0609020204030204" pitchFamily="49" charset="0"/>
                <a:ea typeface="楷体" panose="02010609060101010101" pitchFamily="49" charset="-122"/>
                <a:cs typeface="Times New Roman" panose="02020603050405020304" pitchFamily="18" charset="0"/>
              </a:rPr>
              <a:t> </a:t>
            </a:r>
            <a:r>
              <a:rPr lang="en-US" altLang="zh-CN">
                <a:solidFill>
                  <a:srgbClr val="0000FF"/>
                </a:solidFill>
                <a:latin typeface="Consolas" panose="020B0609020204030204" pitchFamily="49" charset="0"/>
                <a:ea typeface="楷体" panose="02010609060101010101" pitchFamily="49" charset="-122"/>
                <a:cs typeface="Times New Roman" panose="02020603050405020304" pitchFamily="18" charset="0"/>
                <a:sym typeface="Wingdings" panose="05000000000000000000"/>
              </a:rPr>
              <a:t> </a:t>
            </a:r>
            <a:r>
              <a:rPr lang="en-US" altLang="zh-CN" i="1">
                <a:solidFill>
                  <a:srgbClr val="0000FF"/>
                </a:solidFill>
                <a:latin typeface="Consolas" panose="020B0609020204030204" pitchFamily="49" charset="0"/>
                <a:ea typeface="楷体" panose="02010609060101010101" pitchFamily="49" charset="-122"/>
                <a:cs typeface="Times New Roman" panose="02020603050405020304" pitchFamily="18" charset="0"/>
                <a:sym typeface="Wingdings" panose="05000000000000000000"/>
              </a:rPr>
              <a:t>b</a:t>
            </a:r>
            <a:endParaRPr lang="zh-CN" altLang="en-US" i="1">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0" name="Picture 4"/>
          <p:cNvPicPr>
            <a:picLocks noChangeAspect="1" noChangeArrowheads="1"/>
          </p:cNvPicPr>
          <p:nvPr/>
        </p:nvPicPr>
        <p:blipFill>
          <a:blip r:embed="rId2" cstate="print"/>
          <a:srcRect/>
          <a:stretch>
            <a:fillRect/>
          </a:stretch>
        </p:blipFill>
        <p:spPr bwMode="auto">
          <a:xfrm>
            <a:off x="142844" y="2457857"/>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69126" y="571480"/>
            <a:ext cx="8832030" cy="23012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当两个字符串</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均不空时，若</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时，这两个字符不需要任何操作，即</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FF00FF"/>
                </a:solidFill>
                <a:latin typeface="+mn-ea"/>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时，以下</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种操作都可以达到目的：</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914400" lvl="1" indent="-457200" algn="l">
              <a:lnSpc>
                <a:spcPts val="3000"/>
              </a:lnSpc>
              <a:spcBef>
                <a:spcPts val="1200"/>
              </a:spcBef>
              <a:buFont typeface="+mj-ea"/>
              <a:buAutoNum type="circleNumDbPlain"/>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替换为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（一次替换操作的次数计为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3"/>
          <p:cNvGrpSpPr/>
          <p:nvPr/>
        </p:nvGrpSpPr>
        <p:grpSpPr>
          <a:xfrm>
            <a:off x="1571604" y="3429000"/>
            <a:ext cx="4143404" cy="1925540"/>
            <a:chOff x="-428660" y="1714488"/>
            <a:chExt cx="4143404" cy="1925540"/>
          </a:xfrm>
        </p:grpSpPr>
        <p:sp>
          <p:nvSpPr>
            <p:cNvPr id="6" name="Text Box 25"/>
            <p:cNvSpPr txBox="1">
              <a:spLocks noChangeArrowheads="1"/>
            </p:cNvSpPr>
            <p:nvPr/>
          </p:nvSpPr>
          <p:spPr bwMode="auto">
            <a:xfrm>
              <a:off x="453390" y="1714488"/>
              <a:ext cx="3118478" cy="37808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n-ea"/>
                  <a:ea typeface="+mn-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24"/>
            <p:cNvSpPr txBox="1">
              <a:spLocks noChangeArrowheads="1"/>
            </p:cNvSpPr>
            <p:nvPr/>
          </p:nvSpPr>
          <p:spPr bwMode="auto">
            <a:xfrm>
              <a:off x="440239" y="2798946"/>
              <a:ext cx="3274505" cy="34430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Text Box 23"/>
            <p:cNvSpPr txBox="1">
              <a:spLocks noChangeArrowheads="1"/>
            </p:cNvSpPr>
            <p:nvPr/>
          </p:nvSpPr>
          <p:spPr bwMode="auto">
            <a:xfrm>
              <a:off x="1109821" y="3348716"/>
              <a:ext cx="1319039"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替换</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AutoShape 22"/>
            <p:cNvSpPr>
              <a:spLocks noChangeShapeType="1"/>
            </p:cNvSpPr>
            <p:nvPr/>
          </p:nvSpPr>
          <p:spPr bwMode="auto">
            <a:xfrm>
              <a:off x="603525" y="2158114"/>
              <a:ext cx="1980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ln w="28575">
                  <a:solidFill>
                    <a:schemeClr val="tx1"/>
                  </a:solidFill>
                </a:ln>
                <a:solidFill>
                  <a:srgbClr val="0000FF"/>
                </a:solidFill>
                <a:latin typeface="Consolas" panose="020B0609020204030204" pitchFamily="49" charset="0"/>
                <a:ea typeface="仿宋" panose="02010609060101010101" pitchFamily="49" charset="-122"/>
              </a:endParaRPr>
            </a:p>
          </p:txBody>
        </p:sp>
        <p:sp>
          <p:nvSpPr>
            <p:cNvPr id="11" name="AutoShape 21"/>
            <p:cNvSpPr>
              <a:spLocks noChangeShapeType="1"/>
            </p:cNvSpPr>
            <p:nvPr/>
          </p:nvSpPr>
          <p:spPr bwMode="auto">
            <a:xfrm>
              <a:off x="590374" y="2768620"/>
              <a:ext cx="1980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ln w="28575">
                  <a:solidFill>
                    <a:schemeClr val="tx1"/>
                  </a:solidFill>
                </a:ln>
                <a:solidFill>
                  <a:srgbClr val="0000FF"/>
                </a:solidFill>
                <a:latin typeface="Consolas" panose="020B0609020204030204" pitchFamily="49" charset="0"/>
                <a:ea typeface="仿宋" panose="02010609060101010101" pitchFamily="49" charset="-122"/>
              </a:endParaRPr>
            </a:p>
          </p:txBody>
        </p:sp>
        <p:sp>
          <p:nvSpPr>
            <p:cNvPr id="12" name="AutoShape 20"/>
            <p:cNvSpPr>
              <a:spLocks noChangeShapeType="1"/>
            </p:cNvSpPr>
            <p:nvPr/>
          </p:nvSpPr>
          <p:spPr bwMode="auto">
            <a:xfrm>
              <a:off x="1439681" y="2145055"/>
              <a:ext cx="1096" cy="630000"/>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ln w="28575">
                  <a:solidFill>
                    <a:schemeClr val="tx1"/>
                  </a:solidFill>
                </a:ln>
                <a:solidFill>
                  <a:srgbClr val="0000FF"/>
                </a:solidFill>
                <a:latin typeface="Consolas" panose="020B0609020204030204" pitchFamily="49" charset="0"/>
                <a:ea typeface="仿宋" panose="02010609060101010101" pitchFamily="49" charset="-122"/>
              </a:endParaRPr>
            </a:p>
          </p:txBody>
        </p:sp>
        <p:sp>
          <p:nvSpPr>
            <p:cNvPr id="13" name="Text Box 19"/>
            <p:cNvSpPr txBox="1">
              <a:spLocks noChangeArrowheads="1"/>
            </p:cNvSpPr>
            <p:nvPr/>
          </p:nvSpPr>
          <p:spPr bwMode="auto">
            <a:xfrm>
              <a:off x="-428660" y="2285992"/>
              <a:ext cx="1857388"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4" name="AutoShape 18"/>
            <p:cNvSpPr>
              <a:spLocks noChangeShapeType="1"/>
            </p:cNvSpPr>
            <p:nvPr/>
          </p:nvSpPr>
          <p:spPr bwMode="auto">
            <a:xfrm>
              <a:off x="3142144" y="2208657"/>
              <a:ext cx="1096" cy="538818"/>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gr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266" y="571480"/>
            <a:ext cx="8929718"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554355" lvl="1" indent="-457200" algn="l">
              <a:lnSpc>
                <a:spcPts val="3000"/>
              </a:lnSpc>
              <a:spcBef>
                <a:spcPts val="1200"/>
              </a:spcBef>
              <a:buFont typeface="+mj-ea"/>
              <a:buAutoNum type="circleNumDbPlain" startAt="2"/>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字符后面插入</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字符，有</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（一次插入操作的次数计为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3"/>
          <p:cNvGrpSpPr/>
          <p:nvPr/>
        </p:nvGrpSpPr>
        <p:grpSpPr>
          <a:xfrm>
            <a:off x="1428728" y="1928802"/>
            <a:ext cx="4214842" cy="1934386"/>
            <a:chOff x="3357554" y="571480"/>
            <a:chExt cx="4214842" cy="1934386"/>
          </a:xfrm>
        </p:grpSpPr>
        <p:sp>
          <p:nvSpPr>
            <p:cNvPr id="6" name="Text Box 17"/>
            <p:cNvSpPr txBox="1">
              <a:spLocks noChangeArrowheads="1"/>
            </p:cNvSpPr>
            <p:nvPr/>
          </p:nvSpPr>
          <p:spPr bwMode="auto">
            <a:xfrm>
              <a:off x="4058444" y="571480"/>
              <a:ext cx="3513952" cy="386927"/>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1"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16"/>
            <p:cNvSpPr txBox="1">
              <a:spLocks noChangeArrowheads="1"/>
            </p:cNvSpPr>
            <p:nvPr/>
          </p:nvSpPr>
          <p:spPr bwMode="auto">
            <a:xfrm>
              <a:off x="4045293" y="1664784"/>
              <a:ext cx="3169913" cy="406894"/>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Text Box 15"/>
            <p:cNvSpPr txBox="1">
              <a:spLocks noChangeArrowheads="1"/>
            </p:cNvSpPr>
            <p:nvPr/>
          </p:nvSpPr>
          <p:spPr bwMode="auto">
            <a:xfrm>
              <a:off x="4714876" y="2214554"/>
              <a:ext cx="1332134"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插入</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AutoShape 14"/>
            <p:cNvSpPr>
              <a:spLocks noChangeShapeType="1"/>
            </p:cNvSpPr>
            <p:nvPr/>
          </p:nvSpPr>
          <p:spPr bwMode="auto">
            <a:xfrm>
              <a:off x="4208579" y="1035240"/>
              <a:ext cx="2592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1" name="AutoShape 13"/>
            <p:cNvSpPr>
              <a:spLocks noChangeShapeType="1"/>
            </p:cNvSpPr>
            <p:nvPr/>
          </p:nvSpPr>
          <p:spPr bwMode="auto">
            <a:xfrm>
              <a:off x="4285741" y="1668324"/>
              <a:ext cx="1980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AutoShape 12"/>
            <p:cNvSpPr>
              <a:spLocks noChangeShapeType="1"/>
            </p:cNvSpPr>
            <p:nvPr/>
          </p:nvSpPr>
          <p:spPr bwMode="auto">
            <a:xfrm>
              <a:off x="5044735" y="1022181"/>
              <a:ext cx="1096" cy="651619"/>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Text Box 11"/>
            <p:cNvSpPr txBox="1">
              <a:spLocks noChangeArrowheads="1"/>
            </p:cNvSpPr>
            <p:nvPr/>
          </p:nvSpPr>
          <p:spPr bwMode="auto">
            <a:xfrm>
              <a:off x="3357554" y="1214422"/>
              <a:ext cx="1513294"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4" name="AutoShape 10"/>
            <p:cNvSpPr>
              <a:spLocks noChangeShapeType="1"/>
            </p:cNvSpPr>
            <p:nvPr/>
          </p:nvSpPr>
          <p:spPr bwMode="auto">
            <a:xfrm flipH="1">
              <a:off x="6929454" y="1087636"/>
              <a:ext cx="180820" cy="484060"/>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5" name="AutoShape 9"/>
            <p:cNvSpPr>
              <a:spLocks noChangeShapeType="1"/>
            </p:cNvSpPr>
            <p:nvPr/>
          </p:nvSpPr>
          <p:spPr bwMode="auto">
            <a:xfrm flipH="1">
              <a:off x="6975481" y="1104063"/>
              <a:ext cx="180820" cy="484060"/>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266" y="571480"/>
            <a:ext cx="892971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720090" lvl="1" indent="-457200" algn="l">
              <a:lnSpc>
                <a:spcPts val="3000"/>
              </a:lnSpc>
              <a:spcBef>
                <a:spcPts val="1200"/>
              </a:spcBef>
              <a:buFont typeface="+mj-ea"/>
              <a:buAutoNum type="circleNumDbPlain" startAt="3"/>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删除</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字符，有</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（一次删除操作的次数计为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此时</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取上述三种操作的最小值。</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3"/>
          <p:cNvGrpSpPr/>
          <p:nvPr/>
        </p:nvGrpSpPr>
        <p:grpSpPr>
          <a:xfrm>
            <a:off x="1714480" y="2571744"/>
            <a:ext cx="3688316" cy="2005824"/>
            <a:chOff x="3071803" y="4000504"/>
            <a:chExt cx="3688316" cy="2005824"/>
          </a:xfrm>
        </p:grpSpPr>
        <p:sp>
          <p:nvSpPr>
            <p:cNvPr id="6" name="Text Box 8"/>
            <p:cNvSpPr txBox="1">
              <a:spLocks noChangeArrowheads="1"/>
            </p:cNvSpPr>
            <p:nvPr/>
          </p:nvSpPr>
          <p:spPr bwMode="auto">
            <a:xfrm>
              <a:off x="3462877" y="4000504"/>
              <a:ext cx="3297242" cy="36805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j-ea"/>
                  <a:ea typeface="+mj-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1"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7"/>
            <p:cNvSpPr txBox="1">
              <a:spLocks noChangeArrowheads="1"/>
            </p:cNvSpPr>
            <p:nvPr/>
          </p:nvSpPr>
          <p:spPr bwMode="auto">
            <a:xfrm>
              <a:off x="3688103" y="5165246"/>
              <a:ext cx="2884161" cy="40689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0" u="none" strike="noStrike" cap="none" normalizeH="0" baseline="0">
                  <a:ln>
                    <a:noFill/>
                  </a:ln>
                  <a:solidFill>
                    <a:srgbClr val="0000FF"/>
                  </a:solidFill>
                  <a:effectLst/>
                  <a:latin typeface="+mn-ea"/>
                  <a:ea typeface="+mn-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b="1" i="1"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b</a:t>
              </a:r>
              <a:r>
                <a:rPr kumimoji="0" lang="en-US" altLang="zh-CN" sz="2000" b="1" i="1"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1" i="0" u="none" strike="noStrike" cap="none" normalizeH="0" baseline="-3000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Text Box 6"/>
            <p:cNvSpPr txBox="1">
              <a:spLocks noChangeArrowheads="1"/>
            </p:cNvSpPr>
            <p:nvPr/>
          </p:nvSpPr>
          <p:spPr bwMode="auto">
            <a:xfrm>
              <a:off x="4357686" y="5715016"/>
              <a:ext cx="1406532"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删除</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AutoShape 5"/>
            <p:cNvSpPr>
              <a:spLocks noChangeShapeType="1"/>
            </p:cNvSpPr>
            <p:nvPr/>
          </p:nvSpPr>
          <p:spPr bwMode="auto">
            <a:xfrm>
              <a:off x="3744204" y="4456679"/>
              <a:ext cx="1980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1" name="AutoShape 4"/>
            <p:cNvSpPr>
              <a:spLocks noChangeShapeType="1"/>
            </p:cNvSpPr>
            <p:nvPr/>
          </p:nvSpPr>
          <p:spPr bwMode="auto">
            <a:xfrm flipV="1">
              <a:off x="3715485" y="5121440"/>
              <a:ext cx="2700000" cy="1095"/>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AutoShape 3"/>
            <p:cNvSpPr>
              <a:spLocks noChangeShapeType="1"/>
            </p:cNvSpPr>
            <p:nvPr/>
          </p:nvSpPr>
          <p:spPr bwMode="auto">
            <a:xfrm>
              <a:off x="4924255" y="4477487"/>
              <a:ext cx="1096" cy="651619"/>
            </a:xfrm>
            <a:prstGeom prst="straightConnector1">
              <a:avLst/>
            </a:prstGeom>
            <a:noFill/>
            <a:ln w="2857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Text Box 2"/>
            <p:cNvSpPr txBox="1">
              <a:spLocks noChangeArrowheads="1"/>
            </p:cNvSpPr>
            <p:nvPr/>
          </p:nvSpPr>
          <p:spPr bwMode="auto">
            <a:xfrm>
              <a:off x="3071803" y="4617164"/>
              <a:ext cx="1789988" cy="29131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571612"/>
            <a:ext cx="8429684" cy="2244305"/>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][0]=</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边界情况</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dp[0][</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边界情况</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i="1">
                <a:solidFill>
                  <a:srgbClr val="00B0F0"/>
                </a:solidFill>
                <a:latin typeface="Consolas" panose="020B0609020204030204" pitchFamily="49" charset="0"/>
                <a:ea typeface="仿宋" panose="02010609060101010101" pitchFamily="49" charset="-122"/>
              </a:rPr>
              <a:t>a</a:t>
            </a:r>
            <a:r>
              <a:rPr lang="en-US" altLang="zh-CN" sz="2000">
                <a:solidFill>
                  <a:srgbClr val="00B0F0"/>
                </a:solidFill>
                <a:latin typeface="Consolas" panose="020B0609020204030204" pitchFamily="49" charset="0"/>
                <a:ea typeface="仿宋" panose="02010609060101010101" pitchFamily="49" charset="-122"/>
              </a:rPr>
              <a:t>[</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-1]=</a:t>
            </a:r>
            <a:r>
              <a:rPr lang="en-US" altLang="zh-CN" sz="2000" i="1">
                <a:solidFill>
                  <a:srgbClr val="00B0F0"/>
                </a:solidFill>
                <a:latin typeface="Consolas" panose="020B0609020204030204" pitchFamily="49" charset="0"/>
                <a:ea typeface="仿宋" panose="02010609060101010101" pitchFamily="49" charset="-122"/>
              </a:rPr>
              <a:t>b</a:t>
            </a:r>
            <a:r>
              <a:rPr lang="en-US" altLang="zh-CN" sz="2000">
                <a:solidFill>
                  <a:srgbClr val="00B0F0"/>
                </a:solidFill>
                <a:latin typeface="Consolas" panose="020B0609020204030204" pitchFamily="49" charset="0"/>
                <a:ea typeface="仿宋" panose="02010609060101010101" pitchFamily="49" charset="-122"/>
              </a:rPr>
              <a:t>[</a:t>
            </a:r>
            <a:r>
              <a:rPr lang="en-US" altLang="zh-CN" sz="2000" i="1">
                <a:solidFill>
                  <a:srgbClr val="00B0F0"/>
                </a:solidFill>
                <a:latin typeface="Consolas" panose="020B0609020204030204" pitchFamily="49" charset="0"/>
                <a:ea typeface="仿宋" panose="02010609060101010101" pitchFamily="49" charset="-122"/>
              </a:rPr>
              <a:t>j</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Consolas" panose="020B0609020204030204" pitchFamily="49" charset="0"/>
                <a:ea typeface="仿宋" panose="02010609060101010101" pitchFamily="49" charset="-122"/>
              </a:rPr>
              <a:t>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]=min(dp[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i="1">
                <a:solidFill>
                  <a:srgbClr val="00B0F0"/>
                </a:solidFill>
                <a:latin typeface="Consolas" panose="020B0609020204030204" pitchFamily="49" charset="0"/>
                <a:ea typeface="仿宋" panose="02010609060101010101" pitchFamily="49" charset="-122"/>
              </a:rPr>
              <a:t>a</a:t>
            </a:r>
            <a:r>
              <a:rPr lang="en-US" altLang="zh-CN" sz="2000">
                <a:solidFill>
                  <a:srgbClr val="00B0F0"/>
                </a:solidFill>
                <a:latin typeface="Consolas" panose="020B0609020204030204" pitchFamily="49" charset="0"/>
                <a:ea typeface="仿宋" panose="02010609060101010101" pitchFamily="49" charset="-122"/>
              </a:rPr>
              <a:t>[</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mn-ea"/>
              </a:rPr>
              <a:t>≠</a:t>
            </a:r>
            <a:r>
              <a:rPr lang="en-US" altLang="zh-CN" sz="2000" i="1">
                <a:solidFill>
                  <a:srgbClr val="00B0F0"/>
                </a:solidFill>
                <a:latin typeface="Consolas" panose="020B0609020204030204" pitchFamily="49" charset="0"/>
                <a:ea typeface="仿宋" panose="02010609060101010101" pitchFamily="49" charset="-122"/>
              </a:rPr>
              <a:t>b</a:t>
            </a:r>
            <a:r>
              <a:rPr lang="en-US" altLang="zh-CN" sz="2000">
                <a:solidFill>
                  <a:srgbClr val="00B0F0"/>
                </a:solidFill>
                <a:latin typeface="Consolas" panose="020B0609020204030204" pitchFamily="49" charset="0"/>
                <a:ea typeface="仿宋" panose="02010609060101010101" pitchFamily="49" charset="-122"/>
              </a:rPr>
              <a:t>[</a:t>
            </a:r>
            <a:r>
              <a:rPr lang="en-US" altLang="zh-CN" sz="2000" i="1">
                <a:solidFill>
                  <a:srgbClr val="00B0F0"/>
                </a:solidFill>
                <a:latin typeface="Consolas" panose="020B0609020204030204" pitchFamily="49" charset="0"/>
                <a:ea typeface="仿宋" panose="02010609060101010101" pitchFamily="49" charset="-122"/>
              </a:rPr>
              <a:t>j</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Consolas" panose="020B0609020204030204" pitchFamily="49" charset="0"/>
                <a:ea typeface="仿宋" panose="02010609060101010101" pitchFamily="49" charset="-122"/>
              </a:rPr>
              <a:t>时</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4" name="TextBox 3"/>
          <p:cNvSpPr txBox="1"/>
          <p:nvPr/>
        </p:nvSpPr>
        <p:spPr>
          <a:xfrm>
            <a:off x="500034" y="785794"/>
            <a:ext cx="228601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anose="02010609060101010101" pitchFamily="49" charset="-122"/>
                <a:ea typeface="楷体" panose="02010609060101010101" pitchFamily="49" charset="-122"/>
              </a:rPr>
              <a:t>状态转移方程</a:t>
            </a:r>
            <a:endParaRPr lang="zh-CN" altLang="en-US">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5" name="TextBox 4"/>
          <p:cNvSpPr txBox="1"/>
          <p:nvPr/>
        </p:nvSpPr>
        <p:spPr>
          <a:xfrm>
            <a:off x="571472" y="4357694"/>
            <a:ext cx="778674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最后得到的</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m</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即为所求。</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643998"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editdist</a:t>
            </a:r>
            <a:r>
              <a:rPr lang="en-US" altLang="zh-CN" sz="2000">
                <a:solidFill>
                  <a:srgbClr val="0000FF"/>
                </a:solidFill>
                <a:latin typeface="Consolas" panose="020B0609020204030204" pitchFamily="49" charset="0"/>
                <a:ea typeface="仿宋" panose="02010609060101010101" pitchFamily="49" charset="-122"/>
              </a:rPr>
              <a:t>(string&amp;a,string&amp;b)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的编辑距离</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n=b.size();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dp[m+1][n+1];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memset(dp,0,sizeof(dp));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dp[i][0]=i;</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把</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的</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个字符全部删除转换为</a:t>
            </a:r>
            <a:r>
              <a:rPr lang="en-US" altLang="zh-CN" sz="2000">
                <a:solidFill>
                  <a:srgbClr val="00B0F0"/>
                </a:solidFill>
                <a:latin typeface="Consolas" panose="020B0609020204030204" pitchFamily="49" charset="0"/>
                <a:ea typeface="仿宋" panose="02010609060101010101" pitchFamily="49" charset="-122"/>
              </a:rPr>
              <a:t>b</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 j&lt;=n;j++)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dp[0][j]=j;</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在</a:t>
            </a:r>
            <a:r>
              <a:rPr lang="en-US" altLang="zh-CN" sz="2000">
                <a:solidFill>
                  <a:srgbClr val="00B0F0"/>
                </a:solidFill>
                <a:latin typeface="Consolas" panose="020B0609020204030204" pitchFamily="49" charset="0"/>
                <a:ea typeface="仿宋" panose="02010609060101010101" pitchFamily="49" charset="-122"/>
              </a:rPr>
              <a:t>a</a:t>
            </a:r>
            <a:r>
              <a:rPr lang="zh-CN" altLang="zh-CN" sz="2000">
                <a:solidFill>
                  <a:srgbClr val="00B0F0"/>
                </a:solidFill>
                <a:latin typeface="Consolas" panose="020B0609020204030204" pitchFamily="49" charset="0"/>
                <a:ea typeface="仿宋" panose="02010609060101010101" pitchFamily="49" charset="-122"/>
              </a:rPr>
              <a:t>中插入</a:t>
            </a:r>
            <a:r>
              <a:rPr lang="en-US" altLang="zh-CN" sz="2000">
                <a:solidFill>
                  <a:srgbClr val="00B0F0"/>
                </a:solidFill>
                <a:latin typeface="Consolas" panose="020B0609020204030204" pitchFamily="49" charset="0"/>
                <a:ea typeface="仿宋" panose="02010609060101010101" pitchFamily="49" charset="-122"/>
              </a:rPr>
              <a:t>b</a:t>
            </a:r>
            <a:r>
              <a:rPr lang="zh-CN" altLang="zh-CN" sz="2000">
                <a:solidFill>
                  <a:srgbClr val="00B0F0"/>
                </a:solidFill>
                <a:latin typeface="Consolas" panose="020B0609020204030204" pitchFamily="49" charset="0"/>
                <a:ea typeface="仿宋" panose="02010609060101010101" pitchFamily="49" charset="-122"/>
              </a:rPr>
              <a:t>的全部字符转换为</a:t>
            </a:r>
            <a:r>
              <a:rPr lang="en-US" altLang="zh-CN" sz="2000">
                <a:solidFill>
                  <a:srgbClr val="00B0F0"/>
                </a:solidFill>
                <a:latin typeface="Consolas" panose="020B0609020204030204" pitchFamily="49" charset="0"/>
                <a:ea typeface="仿宋" panose="02010609060101010101" pitchFamily="49" charset="-122"/>
              </a:rPr>
              <a:t>b</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a[i-1]==b[j-1]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dp[i][j]=dp[i-1][j-1];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dp[i][j]=min(min(dp[i-1][j-1],</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6600"/>
                </a:solidFill>
                <a:latin typeface="Consolas" panose="020B0609020204030204" pitchFamily="49" charset="0"/>
                <a:ea typeface="仿宋" panose="02010609060101010101" pitchFamily="49" charset="-122"/>
              </a:rPr>
              <a:t>						dp[i][j-1]),dp[i-1][j])+1;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t>
            </a:r>
            <a:r>
              <a:rPr lang="en-US" altLang="zh-CN" sz="2000">
                <a:solidFill>
                  <a:srgbClr val="006600"/>
                </a:solidFill>
                <a:latin typeface="Consolas" panose="020B0609020204030204" pitchFamily="49" charset="0"/>
                <a:ea typeface="仿宋" panose="02010609060101010101" pitchFamily="49" charset="-122"/>
              </a:rPr>
              <a:t>dp[m][n]</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8001056" cy="91307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editdist</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：该算法中包含两重</a:t>
            </a:r>
            <a:r>
              <a:rPr lang="en-US" altLang="zh-CN" sz="2200">
                <a:solidFill>
                  <a:srgbClr val="0000FF"/>
                </a:solidFill>
                <a:latin typeface="Consolas" panose="020B0609020204030204" pitchFamily="49" charset="0"/>
                <a:ea typeface="仿宋" panose="02010609060101010101" pitchFamily="49" charset="-122"/>
              </a:rPr>
              <a:t>for</a:t>
            </a:r>
            <a:r>
              <a:rPr lang="zh-CN" altLang="zh-CN" sz="2200">
                <a:solidFill>
                  <a:srgbClr val="0000FF"/>
                </a:solidFill>
                <a:latin typeface="Consolas" panose="020B0609020204030204" pitchFamily="49" charset="0"/>
                <a:ea typeface="仿宋" panose="02010609060101010101" pitchFamily="49" charset="-122"/>
              </a:rPr>
              <a:t>循环，对应的时间复杂度为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m</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，空间复杂度为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m</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643174" y="357166"/>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7.7 0/1</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背包问题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zh-CN">
                <a:solidFill>
                  <a:srgbClr val="FF0000"/>
                </a:solidFill>
                <a:latin typeface="Consolas" panose="020B0609020204030204" pitchFamily="49" charset="0"/>
                <a:ea typeface="楷体" panose="02010609060101010101" pitchFamily="49" charset="-122"/>
              </a:rPr>
              <a:t>问题描述</a:t>
            </a:r>
            <a:r>
              <a:rPr lang="zh-CN" altLang="zh-CN">
                <a:solidFill>
                  <a:srgbClr val="0000FF"/>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有</a:t>
            </a:r>
            <a:r>
              <a:rPr lang="pt-BR"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个物品，物品编号为</a:t>
            </a:r>
            <a:r>
              <a:rPr lang="pt-BR"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n</a:t>
            </a:r>
            <a:r>
              <a:rPr lang="pt-BR"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，重量为</a:t>
            </a:r>
            <a:r>
              <a:rPr lang="pt-BR"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baseline="-25000">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j-ea"/>
                <a:ea typeface="+mj-ea"/>
              </a:rPr>
              <a:t>…</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i="1" baseline="-25000">
                <a:solidFill>
                  <a:srgbClr val="0000FF"/>
                </a:solidFill>
                <a:latin typeface="Consolas" panose="020B0609020204030204" pitchFamily="49" charset="0"/>
                <a:ea typeface="仿宋" panose="02010609060101010101" pitchFamily="49" charset="-122"/>
              </a:rPr>
              <a:t>n</a:t>
            </a:r>
            <a:r>
              <a:rPr lang="pt-BR" altLang="zh-CN" baseline="-25000">
                <a:solidFill>
                  <a:srgbClr val="0000FF"/>
                </a:solidFill>
                <a:latin typeface="Consolas" panose="020B0609020204030204" pitchFamily="49" charset="0"/>
                <a:ea typeface="仿宋" panose="02010609060101010101" pitchFamily="49" charset="-122"/>
              </a:rPr>
              <a:t>-1</a:t>
            </a:r>
            <a:r>
              <a:rPr lang="pt-BR"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，价值为</a:t>
            </a:r>
            <a:r>
              <a:rPr lang="pt-BR"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baseline="-25000">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rPr>
              <a:t>…</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i="1" baseline="-25000">
                <a:solidFill>
                  <a:srgbClr val="0000FF"/>
                </a:solidFill>
                <a:latin typeface="Consolas" panose="020B0609020204030204" pitchFamily="49" charset="0"/>
                <a:ea typeface="仿宋" panose="02010609060101010101" pitchFamily="49" charset="-122"/>
              </a:rPr>
              <a:t>n</a:t>
            </a:r>
            <a:r>
              <a:rPr lang="pt-BR" altLang="zh-CN" baseline="-25000">
                <a:solidFill>
                  <a:srgbClr val="0000FF"/>
                </a:solidFill>
                <a:latin typeface="Consolas" panose="020B0609020204030204" pitchFamily="49" charset="0"/>
                <a:ea typeface="仿宋" panose="02010609060101010101" pitchFamily="49" charset="-122"/>
              </a:rPr>
              <a:t>-1</a:t>
            </a:r>
            <a:r>
              <a:rPr lang="pt-BR"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，给定一个容量为</a:t>
            </a:r>
            <a:r>
              <a:rPr lang="pt-BR"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的背包。现在从这些物品中选取若干物品装入该背包的方案，每个物品要么选中要么不选中，要求选中的物品总重量不超过背包容量并且具有最大的价值。</a:t>
            </a:r>
            <a:endParaRPr lang="zh-CN" altLang="zh-CN">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429582"/>
            <a:ext cx="8358246" cy="1785104"/>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设置二维动态规划数组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0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r</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表示在物品</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（共</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个物品）中选择物品并且背包容量为</a:t>
            </a:r>
            <a:r>
              <a:rPr lang="en-US" altLang="zh-CN" i="1">
                <a:solidFill>
                  <a:srgbClr val="0000FF"/>
                </a:solidFill>
                <a:latin typeface="Consolas" panose="020B0609020204030204" pitchFamily="49" charset="0"/>
                <a:ea typeface="仿宋" panose="02010609060101010101" pitchFamily="49" charset="-122"/>
              </a:rPr>
              <a:t>r</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r</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）时最大价值，或者说只考虑前</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个物品并且背包容量为</a:t>
            </a:r>
            <a:r>
              <a:rPr lang="en-US" altLang="zh-CN" i="1">
                <a:solidFill>
                  <a:srgbClr val="0000FF"/>
                </a:solidFill>
                <a:latin typeface="Consolas" panose="020B0609020204030204" pitchFamily="49" charset="0"/>
                <a:ea typeface="仿宋" panose="02010609060101010101" pitchFamily="49" charset="-122"/>
              </a:rPr>
              <a:t>r</a:t>
            </a:r>
            <a:r>
              <a:rPr lang="zh-CN" altLang="zh-CN">
                <a:solidFill>
                  <a:srgbClr val="0000FF"/>
                </a:solidFill>
                <a:latin typeface="Consolas" panose="020B0609020204030204" pitchFamily="49" charset="0"/>
                <a:ea typeface="仿宋" panose="02010609060101010101" pitchFamily="49" charset="-122"/>
              </a:rPr>
              <a:t>时最大价值。</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6" name="Picture 4"/>
          <p:cNvPicPr>
            <a:picLocks noChangeAspect="1" noChangeArrowheads="1"/>
          </p:cNvPicPr>
          <p:nvPr/>
        </p:nvPicPr>
        <p:blipFill>
          <a:blip r:embed="rId2" cstate="print"/>
          <a:srcRect/>
          <a:stretch>
            <a:fillRect/>
          </a:stretch>
        </p:blipFill>
        <p:spPr bwMode="auto">
          <a:xfrm>
            <a:off x="642911" y="786640"/>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8286808"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当考虑物品</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～物品</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之后，已经求出相应的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元素，现在考虑物品</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，分为两种情况：</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357158" y="1785926"/>
            <a:ext cx="8429684"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Font typeface="+mj-lt"/>
              <a:buAutoNum type="arabicPeriod"/>
            </a:pPr>
            <a:r>
              <a:rPr lang="zh-CN" altLang="zh-CN" sz="2200">
                <a:solidFill>
                  <a:srgbClr val="0000FF"/>
                </a:solidFill>
                <a:latin typeface="Consolas" panose="020B0609020204030204" pitchFamily="49" charset="0"/>
                <a:ea typeface="仿宋" panose="02010609060101010101" pitchFamily="49" charset="-122"/>
              </a:rPr>
              <a:t>若</a:t>
            </a:r>
            <a:r>
              <a:rPr lang="en-US" altLang="zh-CN" sz="2200" i="1">
                <a:solidFill>
                  <a:srgbClr val="FF0000"/>
                </a:solidFill>
                <a:latin typeface="Consolas" panose="020B0609020204030204" pitchFamily="49" charset="0"/>
                <a:ea typeface="仿宋" panose="02010609060101010101" pitchFamily="49" charset="-122"/>
              </a:rPr>
              <a:t>r</a:t>
            </a:r>
            <a:r>
              <a:rPr lang="en-US" altLang="zh-CN" sz="2200">
                <a:solidFill>
                  <a:srgbClr val="FF0000"/>
                </a:solidFill>
                <a:latin typeface="Consolas" panose="020B0609020204030204" pitchFamily="49" charset="0"/>
                <a:ea typeface="仿宋" panose="02010609060101010101" pitchFamily="49" charset="-122"/>
              </a:rPr>
              <a:t>&lt;</a:t>
            </a:r>
            <a:r>
              <a:rPr lang="en-US" altLang="zh-CN" sz="2200" i="1">
                <a:solidFill>
                  <a:srgbClr val="FF0000"/>
                </a:solidFill>
                <a:latin typeface="Consolas" panose="020B0609020204030204" pitchFamily="49" charset="0"/>
                <a:ea typeface="仿宋" panose="02010609060101010101" pitchFamily="49" charset="-122"/>
              </a:rPr>
              <a:t>w</a:t>
            </a:r>
            <a:r>
              <a:rPr lang="en-US" altLang="zh-CN" sz="2200">
                <a:solidFill>
                  <a:srgbClr val="FF0000"/>
                </a:solidFill>
                <a:latin typeface="Consolas" panose="020B0609020204030204" pitchFamily="49" charset="0"/>
                <a:ea typeface="仿宋" panose="02010609060101010101" pitchFamily="49" charset="-122"/>
              </a:rPr>
              <a:t>[</a:t>
            </a:r>
            <a:r>
              <a:rPr lang="en-US" altLang="zh-CN" sz="2200" i="1">
                <a:solidFill>
                  <a:srgbClr val="FF0000"/>
                </a:solidFill>
                <a:latin typeface="Consolas" panose="020B0609020204030204" pitchFamily="49" charset="0"/>
                <a:ea typeface="仿宋" panose="02010609060101010101" pitchFamily="49" charset="-122"/>
              </a:rPr>
              <a:t>i</a:t>
            </a:r>
            <a:r>
              <a:rPr lang="en-US" altLang="zh-CN" sz="2200">
                <a:solidFill>
                  <a:srgbClr val="FF0000"/>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，说明物品</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放不下，此时等效于只考虑前</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个物品并且背包容量为</a:t>
            </a:r>
            <a:r>
              <a:rPr lang="en-US" altLang="zh-CN" sz="2200" i="1">
                <a:solidFill>
                  <a:srgbClr val="0000FF"/>
                </a:solidFill>
                <a:latin typeface="Consolas" panose="020B0609020204030204" pitchFamily="49" charset="0"/>
                <a:ea typeface="仿宋" panose="02010609060101010101" pitchFamily="49" charset="-122"/>
              </a:rPr>
              <a:t>r</a:t>
            </a:r>
            <a:r>
              <a:rPr lang="zh-CN" altLang="zh-CN" sz="2200">
                <a:solidFill>
                  <a:srgbClr val="0000FF"/>
                </a:solidFill>
                <a:latin typeface="Consolas" panose="020B0609020204030204" pitchFamily="49" charset="0"/>
                <a:ea typeface="仿宋" panose="02010609060101010101" pitchFamily="49" charset="-122"/>
              </a:rPr>
              <a:t>时的最大价值，所以有</a:t>
            </a:r>
            <a:r>
              <a:rPr lang="en-US" altLang="zh-CN" sz="2200">
                <a:solidFill>
                  <a:srgbClr val="0000FF"/>
                </a:solidFill>
                <a:latin typeface="Consolas" panose="020B0609020204030204" pitchFamily="49" charset="0"/>
                <a:ea typeface="仿宋" panose="02010609060101010101" pitchFamily="49" charset="-122"/>
              </a:rPr>
              <a:t>	</a:t>
            </a:r>
            <a:r>
              <a:rPr lang="en-US" altLang="zh-CN" sz="2200">
                <a:solidFill>
                  <a:srgbClr val="FF00FF"/>
                </a:solidFill>
                <a:latin typeface="Consolas" panose="020B0609020204030204" pitchFamily="49" charset="0"/>
                <a:ea typeface="仿宋" panose="02010609060101010101" pitchFamily="49" charset="-122"/>
              </a:rPr>
              <a:t>dp[</a:t>
            </a:r>
            <a:r>
              <a:rPr lang="en-US" altLang="zh-CN" sz="2200" i="1">
                <a:solidFill>
                  <a:srgbClr val="FF00FF"/>
                </a:solidFill>
                <a:latin typeface="Consolas" panose="020B0609020204030204" pitchFamily="49" charset="0"/>
                <a:ea typeface="仿宋" panose="02010609060101010101" pitchFamily="49" charset="-122"/>
              </a:rPr>
              <a:t>i</a:t>
            </a:r>
            <a:r>
              <a:rPr lang="en-US" altLang="zh-CN" sz="2200">
                <a:solidFill>
                  <a:srgbClr val="FF00FF"/>
                </a:solidFill>
                <a:latin typeface="Consolas" panose="020B0609020204030204" pitchFamily="49" charset="0"/>
                <a:ea typeface="仿宋" panose="02010609060101010101" pitchFamily="49" charset="-122"/>
              </a:rPr>
              <a:t>][</a:t>
            </a:r>
            <a:r>
              <a:rPr lang="en-US" altLang="zh-CN" sz="2200" i="1">
                <a:solidFill>
                  <a:srgbClr val="FF00FF"/>
                </a:solidFill>
                <a:latin typeface="Consolas" panose="020B0609020204030204" pitchFamily="49" charset="0"/>
                <a:ea typeface="仿宋" panose="02010609060101010101" pitchFamily="49" charset="-122"/>
              </a:rPr>
              <a:t>r</a:t>
            </a:r>
            <a:r>
              <a:rPr lang="en-US" altLang="zh-CN" sz="2200">
                <a:solidFill>
                  <a:srgbClr val="FF00FF"/>
                </a:solidFill>
                <a:latin typeface="Consolas" panose="020B0609020204030204" pitchFamily="49" charset="0"/>
                <a:ea typeface="仿宋" panose="02010609060101010101" pitchFamily="49" charset="-122"/>
              </a:rPr>
              <a:t>]=dp[</a:t>
            </a:r>
            <a:r>
              <a:rPr lang="en-US" altLang="zh-CN" sz="2200" i="1">
                <a:solidFill>
                  <a:srgbClr val="FF00FF"/>
                </a:solidFill>
                <a:latin typeface="Consolas" panose="020B0609020204030204" pitchFamily="49" charset="0"/>
                <a:ea typeface="仿宋" panose="02010609060101010101" pitchFamily="49" charset="-122"/>
              </a:rPr>
              <a:t>i</a:t>
            </a:r>
            <a:r>
              <a:rPr lang="en-US" altLang="zh-CN" sz="2200">
                <a:solidFill>
                  <a:srgbClr val="FF00FF"/>
                </a:solidFill>
                <a:latin typeface="Consolas" panose="020B0609020204030204" pitchFamily="49" charset="0"/>
                <a:ea typeface="仿宋" panose="02010609060101010101" pitchFamily="49" charset="-122"/>
              </a:rPr>
              <a:t>-1][</a:t>
            </a:r>
            <a:r>
              <a:rPr lang="en-US" altLang="zh-CN" sz="2200" i="1">
                <a:solidFill>
                  <a:srgbClr val="FF00FF"/>
                </a:solidFill>
                <a:latin typeface="Consolas" panose="020B0609020204030204" pitchFamily="49" charset="0"/>
                <a:ea typeface="仿宋" panose="02010609060101010101" pitchFamily="49" charset="-122"/>
              </a:rPr>
              <a:t>r</a:t>
            </a:r>
            <a:r>
              <a:rPr lang="en-US" altLang="zh-CN" sz="2200">
                <a:solidFill>
                  <a:srgbClr val="FF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429684" cy="32085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600"/>
              </a:spcBef>
              <a:buFont typeface="+mj-lt"/>
              <a:buAutoNum type="arabicPeriod" startAt="2"/>
            </a:pPr>
            <a:r>
              <a:rPr lang="zh-CN" altLang="zh-CN">
                <a:solidFill>
                  <a:srgbClr val="0000FF"/>
                </a:solidFill>
                <a:latin typeface="Consolas" panose="020B0609020204030204" pitchFamily="49" charset="0"/>
                <a:ea typeface="仿宋" panose="02010609060101010101" pitchFamily="49" charset="-122"/>
              </a:rPr>
              <a:t>若</a:t>
            </a:r>
            <a:r>
              <a:rPr lang="en-US" altLang="zh-CN" i="1">
                <a:solidFill>
                  <a:srgbClr val="FF0000"/>
                </a:solidFill>
                <a:latin typeface="Consolas" panose="020B0609020204030204" pitchFamily="49" charset="0"/>
                <a:ea typeface="仿宋" panose="02010609060101010101" pitchFamily="49" charset="-122"/>
              </a:rPr>
              <a:t>r</a:t>
            </a:r>
            <a:r>
              <a:rPr lang="zh-CN" altLang="zh-CN">
                <a:solidFill>
                  <a:srgbClr val="FF0000"/>
                </a:solidFill>
                <a:latin typeface="+mj-ea"/>
                <a:ea typeface="+mj-ea"/>
              </a:rPr>
              <a:t>≥</a:t>
            </a:r>
            <a:r>
              <a:rPr lang="en-US" altLang="zh-CN" i="1">
                <a:solidFill>
                  <a:srgbClr val="FF0000"/>
                </a:solidFill>
                <a:latin typeface="Consolas" panose="020B0609020204030204" pitchFamily="49" charset="0"/>
                <a:ea typeface="仿宋" panose="02010609060101010101" pitchFamily="49" charset="-122"/>
              </a:rPr>
              <a:t>w</a:t>
            </a:r>
            <a:r>
              <a:rPr lang="en-US" altLang="zh-CN">
                <a:solidFill>
                  <a:srgbClr val="FF0000"/>
                </a:solidFill>
                <a:latin typeface="Consolas" panose="020B0609020204030204" pitchFamily="49" charset="0"/>
                <a:ea typeface="仿宋" panose="02010609060101010101" pitchFamily="49" charset="-122"/>
              </a:rPr>
              <a:t>[</a:t>
            </a:r>
            <a:r>
              <a:rPr lang="en-US" altLang="zh-CN" i="1">
                <a:solidFill>
                  <a:srgbClr val="FF0000"/>
                </a:solidFill>
                <a:latin typeface="Consolas" panose="020B0609020204030204" pitchFamily="49" charset="0"/>
                <a:ea typeface="仿宋" panose="02010609060101010101" pitchFamily="49" charset="-122"/>
              </a:rPr>
              <a:t>i</a:t>
            </a:r>
            <a:r>
              <a:rPr lang="en-US" altLang="zh-CN">
                <a:solidFill>
                  <a:srgbClr val="FF0000"/>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，说明物品</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能够放入背包，又有两种子情况：</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300"/>
              </a:lnSpc>
              <a:spcBef>
                <a:spcPts val="600"/>
              </a:spcBef>
              <a:buBlip>
                <a:blip r:embed="rId1"/>
              </a:buBlip>
            </a:pPr>
            <a:r>
              <a:rPr lang="zh-CN" altLang="zh-CN" sz="2200">
                <a:solidFill>
                  <a:srgbClr val="0000FF"/>
                </a:solidFill>
                <a:latin typeface="Consolas" panose="020B0609020204030204" pitchFamily="49" charset="0"/>
                <a:ea typeface="仿宋" panose="02010609060101010101" pitchFamily="49" charset="-122"/>
              </a:rPr>
              <a:t>不选择物品</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即不将物品</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放入背包，等同于情况</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a:lnSpc>
                <a:spcPts val="3300"/>
              </a:lnSpc>
              <a:spcBef>
                <a:spcPts val="600"/>
              </a:spcBef>
              <a:buBlip>
                <a:blip r:embed="rId1"/>
              </a:buBlip>
            </a:pPr>
            <a:r>
              <a:rPr lang="zh-CN" altLang="zh-CN" sz="2200">
                <a:solidFill>
                  <a:srgbClr val="0000FF"/>
                </a:solidFill>
                <a:latin typeface="Consolas" panose="020B0609020204030204" pitchFamily="49" charset="0"/>
                <a:ea typeface="仿宋" panose="02010609060101010101" pitchFamily="49" charset="-122"/>
              </a:rPr>
              <a:t>选择物品</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即将物品</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放入背包，这样消耗了</a:t>
            </a:r>
            <a:r>
              <a:rPr lang="en-US" altLang="zh-CN" sz="2200" i="1">
                <a:solidFill>
                  <a:srgbClr val="0000FF"/>
                </a:solidFill>
                <a:latin typeface="Consolas" panose="020B0609020204030204" pitchFamily="49" charset="0"/>
                <a:ea typeface="仿宋" panose="02010609060101010101" pitchFamily="49" charset="-122"/>
              </a:rPr>
              <a:t>w</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的背包容量，获取了</a:t>
            </a:r>
            <a:r>
              <a:rPr lang="en-US" altLang="zh-CN" sz="2200" i="1">
                <a:solidFill>
                  <a:srgbClr val="0000FF"/>
                </a:solidFill>
                <a:latin typeface="Consolas" panose="020B0609020204030204" pitchFamily="49" charset="0"/>
                <a:ea typeface="仿宋" panose="02010609060101010101" pitchFamily="49" charset="-122"/>
              </a:rPr>
              <a:t>v</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的价值，那么留给前</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个物品的背包容量就只有</a:t>
            </a:r>
            <a:r>
              <a:rPr lang="en-US" altLang="zh-CN" sz="2200" i="1">
                <a:solidFill>
                  <a:srgbClr val="0000FF"/>
                </a:solidFill>
                <a:latin typeface="Consolas" panose="020B0609020204030204" pitchFamily="49" charset="0"/>
                <a:ea typeface="仿宋" panose="02010609060101010101" pitchFamily="49" charset="-122"/>
              </a:rPr>
              <a:t>r</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w</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i</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了，此时的最大价值为</a:t>
            </a:r>
            <a:r>
              <a:rPr lang="en-US" altLang="zh-CN" sz="2200">
                <a:solidFill>
                  <a:srgbClr val="0000FF"/>
                </a:solidFill>
                <a:latin typeface="Consolas" panose="020B0609020204030204" pitchFamily="49" charset="0"/>
                <a:ea typeface="仿宋" panose="02010609060101010101" pitchFamily="49" charset="-122"/>
              </a:rPr>
              <a:t>			</a:t>
            </a:r>
            <a:r>
              <a:rPr lang="en-US" altLang="zh-CN" sz="2200">
                <a:solidFill>
                  <a:srgbClr val="FF00FF"/>
                </a:solidFill>
                <a:latin typeface="Consolas" panose="020B0609020204030204" pitchFamily="49" charset="0"/>
                <a:ea typeface="仿宋" panose="02010609060101010101" pitchFamily="49" charset="-122"/>
              </a:rPr>
              <a:t>dp[</a:t>
            </a:r>
            <a:r>
              <a:rPr lang="en-US" altLang="zh-CN" sz="2200" i="1">
                <a:solidFill>
                  <a:srgbClr val="FF00FF"/>
                </a:solidFill>
                <a:latin typeface="Consolas" panose="020B0609020204030204" pitchFamily="49" charset="0"/>
                <a:ea typeface="仿宋" panose="02010609060101010101" pitchFamily="49" charset="-122"/>
              </a:rPr>
              <a:t>i</a:t>
            </a:r>
            <a:r>
              <a:rPr lang="en-US" altLang="zh-CN" sz="2200">
                <a:solidFill>
                  <a:srgbClr val="FF00FF"/>
                </a:solidFill>
                <a:latin typeface="Consolas" panose="020B0609020204030204" pitchFamily="49" charset="0"/>
                <a:ea typeface="仿宋" panose="02010609060101010101" pitchFamily="49" charset="-122"/>
              </a:rPr>
              <a:t>-1][</a:t>
            </a:r>
            <a:r>
              <a:rPr lang="en-US" altLang="zh-CN" sz="2200" i="1">
                <a:solidFill>
                  <a:srgbClr val="FF00FF"/>
                </a:solidFill>
                <a:latin typeface="Consolas" panose="020B0609020204030204" pitchFamily="49" charset="0"/>
                <a:ea typeface="仿宋" panose="02010609060101010101" pitchFamily="49" charset="-122"/>
              </a:rPr>
              <a:t>r</a:t>
            </a:r>
            <a:r>
              <a:rPr lang="en-US" altLang="zh-CN" sz="2200">
                <a:solidFill>
                  <a:srgbClr val="FF00FF"/>
                </a:solidFill>
                <a:latin typeface="Consolas" panose="020B0609020204030204" pitchFamily="49" charset="0"/>
                <a:ea typeface="仿宋" panose="02010609060101010101" pitchFamily="49" charset="-122"/>
              </a:rPr>
              <a:t>-</a:t>
            </a:r>
            <a:r>
              <a:rPr lang="en-US" altLang="zh-CN" sz="2200" i="1">
                <a:solidFill>
                  <a:srgbClr val="FF00FF"/>
                </a:solidFill>
                <a:latin typeface="Consolas" panose="020B0609020204030204" pitchFamily="49" charset="0"/>
                <a:ea typeface="仿宋" panose="02010609060101010101" pitchFamily="49" charset="-122"/>
              </a:rPr>
              <a:t>w</a:t>
            </a:r>
            <a:r>
              <a:rPr lang="en-US" altLang="zh-CN" sz="2200">
                <a:solidFill>
                  <a:srgbClr val="FF00FF"/>
                </a:solidFill>
                <a:latin typeface="Consolas" panose="020B0609020204030204" pitchFamily="49" charset="0"/>
                <a:ea typeface="仿宋" panose="02010609060101010101" pitchFamily="49" charset="-122"/>
              </a:rPr>
              <a:t>[</a:t>
            </a:r>
            <a:r>
              <a:rPr lang="en-US" altLang="zh-CN" sz="2200" i="1">
                <a:solidFill>
                  <a:srgbClr val="FF00FF"/>
                </a:solidFill>
                <a:latin typeface="Consolas" panose="020B0609020204030204" pitchFamily="49" charset="0"/>
                <a:ea typeface="仿宋" panose="02010609060101010101" pitchFamily="49" charset="-122"/>
              </a:rPr>
              <a:t>i</a:t>
            </a:r>
            <a:r>
              <a:rPr lang="en-US" altLang="zh-CN" sz="2200">
                <a:solidFill>
                  <a:srgbClr val="FF00FF"/>
                </a:solidFill>
                <a:latin typeface="Consolas" panose="020B0609020204030204" pitchFamily="49" charset="0"/>
                <a:ea typeface="仿宋" panose="02010609060101010101" pitchFamily="49" charset="-122"/>
              </a:rPr>
              <a:t>-1]]+</a:t>
            </a:r>
            <a:r>
              <a:rPr lang="en-US" altLang="zh-CN" sz="2200" i="1">
                <a:solidFill>
                  <a:srgbClr val="FF00FF"/>
                </a:solidFill>
                <a:latin typeface="Consolas" panose="020B0609020204030204" pitchFamily="49" charset="0"/>
                <a:ea typeface="仿宋" panose="02010609060101010101" pitchFamily="49" charset="-122"/>
              </a:rPr>
              <a:t>v</a:t>
            </a:r>
            <a:r>
              <a:rPr lang="en-US" altLang="zh-CN" sz="2200">
                <a:solidFill>
                  <a:srgbClr val="FF00FF"/>
                </a:solidFill>
                <a:latin typeface="Consolas" panose="020B0609020204030204" pitchFamily="49" charset="0"/>
                <a:ea typeface="仿宋" panose="02010609060101010101" pitchFamily="49" charset="-122"/>
              </a:rPr>
              <a:t>[</a:t>
            </a:r>
            <a:r>
              <a:rPr lang="en-US" altLang="zh-CN" sz="2200" i="1">
                <a:solidFill>
                  <a:srgbClr val="FF00FF"/>
                </a:solidFill>
                <a:latin typeface="Consolas" panose="020B0609020204030204" pitchFamily="49" charset="0"/>
                <a:ea typeface="仿宋" panose="02010609060101010101" pitchFamily="49" charset="-122"/>
              </a:rPr>
              <a:t>i</a:t>
            </a:r>
            <a:r>
              <a:rPr lang="en-US" altLang="zh-CN" sz="2200">
                <a:solidFill>
                  <a:srgbClr val="FF00FF"/>
                </a:solidFill>
                <a:latin typeface="Consolas" panose="020B0609020204030204" pitchFamily="49" charset="0"/>
                <a:ea typeface="仿宋" panose="02010609060101010101" pitchFamily="49" charset="-122"/>
              </a:rPr>
              <a:t>-1]</a:t>
            </a:r>
            <a:r>
              <a:rPr lang="zh-CN" altLang="zh-CN" sz="2200">
                <a:solidFill>
                  <a:srgbClr val="FF00FF"/>
                </a:solidFill>
                <a:latin typeface="Consolas" panose="020B0609020204030204" pitchFamily="49" charset="0"/>
                <a:ea typeface="仿宋" panose="02010609060101010101" pitchFamily="49" charset="-122"/>
              </a:rPr>
              <a:t>。</a:t>
            </a:r>
            <a:endParaRPr lang="zh-CN" altLang="en-US" sz="22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214282" y="1500174"/>
            <a:ext cx="8643998" cy="2857520"/>
            <a:chOff x="214282" y="928670"/>
            <a:chExt cx="8643998" cy="2857520"/>
          </a:xfrm>
        </p:grpSpPr>
        <p:sp>
          <p:nvSpPr>
            <p:cNvPr id="3" name="Rectangle 11"/>
            <p:cNvSpPr>
              <a:spLocks noChangeArrowheads="1"/>
            </p:cNvSpPr>
            <p:nvPr/>
          </p:nvSpPr>
          <p:spPr bwMode="auto">
            <a:xfrm>
              <a:off x="4703590" y="1930249"/>
              <a:ext cx="4154690" cy="704252"/>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r</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0" u="none" strike="noStrike" cap="none" normalizeH="0" baseline="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max</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r</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zh-CN" altLang="en-US"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indent="0" algn="l" defTabSz="914400" rtl="0" eaLnBrk="1" fontAlgn="base" latinLnBrk="0" hangingPunct="1">
                <a:lnSpc>
                  <a:spcPts val="2400"/>
                </a:lnSpc>
                <a:spcBef>
                  <a:spcPct val="0"/>
                </a:spcBef>
                <a:spcAft>
                  <a:spcPct val="0"/>
                </a:spcAft>
                <a:buClrTx/>
                <a:buSzTx/>
                <a:buFontTx/>
                <a:buNone/>
              </a:pPr>
              <a:r>
                <a:rPr kumimoji="0" lang="en-US" altLang="zh-CN" sz="200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dp[</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r</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w</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v</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 name="Rectangle 10"/>
            <p:cNvSpPr>
              <a:spLocks noChangeArrowheads="1"/>
            </p:cNvSpPr>
            <p:nvPr/>
          </p:nvSpPr>
          <p:spPr bwMode="auto">
            <a:xfrm>
              <a:off x="2571736" y="1500174"/>
              <a:ext cx="301392" cy="272369"/>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5" name="Oval 9"/>
            <p:cNvSpPr>
              <a:spLocks noChangeArrowheads="1"/>
            </p:cNvSpPr>
            <p:nvPr/>
          </p:nvSpPr>
          <p:spPr bwMode="auto">
            <a:xfrm>
              <a:off x="755800" y="1357298"/>
              <a:ext cx="1214446" cy="642942"/>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5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zh-CN" altLang="en-US"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r</a:t>
              </a:r>
              <a:endPar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6" name="Rectangle 8"/>
            <p:cNvSpPr>
              <a:spLocks noChangeArrowheads="1"/>
            </p:cNvSpPr>
            <p:nvPr/>
          </p:nvSpPr>
          <p:spPr bwMode="auto">
            <a:xfrm>
              <a:off x="500034" y="928670"/>
              <a:ext cx="1634578" cy="34905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7" name="Oval 7"/>
            <p:cNvSpPr>
              <a:spLocks noChangeArrowheads="1"/>
            </p:cNvSpPr>
            <p:nvPr/>
          </p:nvSpPr>
          <p:spPr bwMode="auto">
            <a:xfrm>
              <a:off x="500034" y="2428326"/>
              <a:ext cx="1714512" cy="78636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zh-CN" altLang="en-US"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r-w</a:t>
              </a:r>
              <a:r>
                <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6"/>
            <p:cNvSpPr>
              <a:spLocks noChangeArrowheads="1"/>
            </p:cNvSpPr>
            <p:nvPr/>
          </p:nvSpPr>
          <p:spPr bwMode="auto">
            <a:xfrm>
              <a:off x="214282" y="3357562"/>
              <a:ext cx="2428892" cy="428628"/>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w</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Oval 5"/>
            <p:cNvSpPr>
              <a:spLocks noChangeArrowheads="1"/>
            </p:cNvSpPr>
            <p:nvPr/>
          </p:nvSpPr>
          <p:spPr bwMode="auto">
            <a:xfrm>
              <a:off x="3537967" y="1872737"/>
              <a:ext cx="902866" cy="626122"/>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vert="horz" wrap="square" lIns="0" tIns="5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zh-CN" altLang="en-US" sz="2000">
                  <a:solidFill>
                    <a:srgbClr val="0000FF"/>
                  </a:solidFill>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2" name="Rectangle 2"/>
            <p:cNvSpPr>
              <a:spLocks noChangeArrowheads="1"/>
            </p:cNvSpPr>
            <p:nvPr/>
          </p:nvSpPr>
          <p:spPr bwMode="auto">
            <a:xfrm>
              <a:off x="2714612" y="2643182"/>
              <a:ext cx="811053" cy="359360"/>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v</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cxnSp>
          <p:nvCxnSpPr>
            <p:cNvPr id="14" name="直接连接符 13"/>
            <p:cNvCxnSpPr>
              <a:stCxn id="5" idx="6"/>
              <a:endCxn id="9" idx="1"/>
            </p:cNvCxnSpPr>
            <p:nvPr/>
          </p:nvCxnSpPr>
          <p:spPr>
            <a:xfrm>
              <a:off x="1970246" y="1678769"/>
              <a:ext cx="1699943" cy="28566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6" name="直接连接符 15"/>
            <p:cNvCxnSpPr>
              <a:stCxn id="7" idx="6"/>
              <a:endCxn id="9" idx="3"/>
            </p:cNvCxnSpPr>
            <p:nvPr/>
          </p:nvCxnSpPr>
          <p:spPr>
            <a:xfrm flipV="1">
              <a:off x="2214546" y="2407166"/>
              <a:ext cx="1455643" cy="414340"/>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18" name="TextBox 17"/>
          <p:cNvSpPr txBox="1"/>
          <p:nvPr/>
        </p:nvSpPr>
        <p:spPr>
          <a:xfrm>
            <a:off x="571472" y="571480"/>
            <a:ext cx="214314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anose="02010609060101010101" pitchFamily="49" charset="-122"/>
                <a:ea typeface="仿宋" panose="02010609060101010101" pitchFamily="49" charset="-122"/>
              </a:rPr>
              <a:t>状态转移图</a:t>
            </a:r>
            <a:endParaRPr lang="zh-CN" altLang="en-US">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521497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anose="02010609060101010101" pitchFamily="49" charset="-122"/>
                <a:ea typeface="楷体" panose="02010609060101010101" pitchFamily="49" charset="-122"/>
              </a:rPr>
              <a:t>状态转移方程</a:t>
            </a:r>
            <a:endParaRPr lang="zh-CN" altLang="en-US">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5" name="TextBox 4"/>
          <p:cNvSpPr txBox="1"/>
          <p:nvPr/>
        </p:nvSpPr>
        <p:spPr>
          <a:xfrm>
            <a:off x="500034" y="1357298"/>
            <a:ext cx="8286808" cy="3218931"/>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（没有装入任何物品，总价值为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边界情况</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（没有考虑任何物品，总价值为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边界情况</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时，物品</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放不下</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max{dp[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否则在不放入和放入物品</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之间取最大价值</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642910" y="4857760"/>
            <a:ext cx="707236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数组后</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][W]</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元素就是答案。</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286808" cy="59394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knap</a:t>
            </a:r>
            <a:r>
              <a:rPr lang="en-US" altLang="zh-CN" sz="2000">
                <a:solidFill>
                  <a:srgbClr val="0000FF"/>
                </a:solidFill>
                <a:latin typeface="Consolas" panose="020B0609020204030204" pitchFamily="49" charset="0"/>
                <a:ea typeface="仿宋" panose="02010609060101010101" pitchFamily="49" charset="-122"/>
              </a:rPr>
              <a:t>(int w[],int v[],int n,int W)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dp=vector&lt;vector&lt;int&gt;&gt;(n+1,vector&lt;int&gt;(W+1));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i=0;i&lt;=n;i++) dp[i][0]=0;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置边界条件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r=0;r&lt;=W;r++)	dp[0][r]=0;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置边界条件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r=0;r&lt;=W;r++)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r&lt;w[i-1]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dp[i][r]=dp[i-1][r];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dp[i][r]=max(dp[i-1][r],dp[i-1][r-w[i-1]]</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85794"/>
            <a:ext cx="8001056"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knap</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：该算法中包含两重</a:t>
            </a:r>
            <a:r>
              <a:rPr lang="en-US" altLang="zh-CN" sz="2200">
                <a:solidFill>
                  <a:srgbClr val="0000FF"/>
                </a:solidFill>
                <a:latin typeface="Consolas" panose="020B0609020204030204" pitchFamily="49" charset="0"/>
                <a:ea typeface="仿宋" panose="02010609060101010101" pitchFamily="49" charset="-122"/>
              </a:rPr>
              <a:t>for</a:t>
            </a:r>
            <a:r>
              <a:rPr lang="zh-CN" altLang="zh-CN" sz="2200">
                <a:solidFill>
                  <a:srgbClr val="0000FF"/>
                </a:solidFill>
                <a:latin typeface="Consolas" panose="020B0609020204030204" pitchFamily="49" charset="0"/>
                <a:ea typeface="仿宋" panose="02010609060101010101" pitchFamily="49" charset="-122"/>
              </a:rPr>
              <a:t>循环，所以时间复杂度为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W)</a:t>
            </a:r>
            <a:r>
              <a:rPr lang="zh-CN" altLang="zh-CN" sz="2200">
                <a:solidFill>
                  <a:srgbClr val="0000FF"/>
                </a:solidFill>
                <a:latin typeface="Consolas" panose="020B0609020204030204" pitchFamily="49" charset="0"/>
                <a:ea typeface="仿宋" panose="02010609060101010101" pitchFamily="49" charset="-122"/>
              </a:rPr>
              <a:t>，空间复杂度为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W)</a:t>
            </a:r>
            <a:r>
              <a:rPr lang="zh-CN" altLang="zh-CN" sz="2200">
                <a:solidFill>
                  <a:srgbClr val="0000FF"/>
                </a:solidFill>
                <a:latin typeface="Consolas" panose="020B0609020204030204" pitchFamily="49" charset="0"/>
                <a:ea typeface="仿宋" panose="02010609060101010101" pitchFamily="49" charset="-122"/>
              </a:rPr>
              <a:t>。</a:t>
            </a:r>
            <a:endParaRPr lang="en-US" altLang="zh-CN" sz="2200">
              <a:solidFill>
                <a:srgbClr val="0000FF"/>
              </a:solidFill>
              <a:latin typeface="Consolas" panose="020B0609020204030204" pitchFamily="49" charset="0"/>
              <a:ea typeface="仿宋" panose="02010609060101010101" pitchFamily="49" charset="-122"/>
            </a:endParaRPr>
          </a:p>
          <a:p>
            <a:pPr algn="l">
              <a:lnSpc>
                <a:spcPts val="3200"/>
              </a:lnSpc>
              <a:spcBef>
                <a:spcPts val="1200"/>
              </a:spcBef>
            </a:pPr>
            <a:r>
              <a:rPr lang="zh-CN" altLang="en-US" sz="3200">
                <a:solidFill>
                  <a:srgbClr val="FF0000"/>
                </a:solidFill>
                <a:latin typeface="Consolas" panose="020B0609020204030204" pitchFamily="49" charset="0"/>
                <a:ea typeface="仿宋" panose="02010609060101010101" pitchFamily="49" charset="-122"/>
                <a:sym typeface="Wingdings" panose="05000000000000000000"/>
              </a:rPr>
              <a:t></a:t>
            </a:r>
            <a:r>
              <a:rPr lang="zh-CN" altLang="zh-CN" sz="2200">
                <a:solidFill>
                  <a:srgbClr val="0000FF"/>
                </a:solidFill>
                <a:latin typeface="Consolas" panose="020B0609020204030204" pitchFamily="49" charset="0"/>
                <a:ea typeface="仿宋" panose="02010609060101010101" pitchFamily="49" charset="-122"/>
              </a:rPr>
              <a:t>表面上看其时间函数是</a:t>
            </a:r>
            <a:r>
              <a:rPr lang="en-US" altLang="zh-CN" sz="2200" i="1">
                <a:solidFill>
                  <a:srgbClr val="0000FF"/>
                </a:solidFill>
                <a:latin typeface="Consolas" panose="020B0609020204030204" pitchFamily="49" charset="0"/>
                <a:ea typeface="仿宋" panose="02010609060101010101" pitchFamily="49" charset="-122"/>
              </a:rPr>
              <a:t>n</a:t>
            </a:r>
            <a:r>
              <a:rPr lang="zh-CN" altLang="zh-CN" sz="2200">
                <a:solidFill>
                  <a:srgbClr val="0000FF"/>
                </a:solidFill>
                <a:latin typeface="Consolas" panose="020B0609020204030204" pitchFamily="49" charset="0"/>
                <a:ea typeface="仿宋" panose="02010609060101010101" pitchFamily="49" charset="-122"/>
              </a:rPr>
              <a:t>的多项式，但实际上并不是真正多项式级的算法。如果</a:t>
            </a:r>
            <a:r>
              <a:rPr lang="en-US" altLang="zh-CN" sz="2200">
                <a:solidFill>
                  <a:srgbClr val="0000FF"/>
                </a:solidFill>
                <a:latin typeface="Consolas" panose="020B0609020204030204" pitchFamily="49" charset="0"/>
                <a:ea typeface="仿宋" panose="02010609060101010101" pitchFamily="49" charset="-122"/>
              </a:rPr>
              <a:t>W</a:t>
            </a:r>
            <a:r>
              <a:rPr lang="zh-CN" altLang="zh-CN" sz="2200">
                <a:solidFill>
                  <a:srgbClr val="0000FF"/>
                </a:solidFill>
                <a:latin typeface="Consolas" panose="020B0609020204030204" pitchFamily="49" charset="0"/>
                <a:ea typeface="仿宋" panose="02010609060101010101" pitchFamily="49" charset="-122"/>
              </a:rPr>
              <a:t>不是太大，则</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W</a:t>
            </a:r>
            <a:r>
              <a:rPr lang="zh-CN" altLang="zh-CN" sz="2200">
                <a:solidFill>
                  <a:srgbClr val="0000FF"/>
                </a:solidFill>
                <a:latin typeface="Consolas" panose="020B0609020204030204" pitchFamily="49" charset="0"/>
                <a:ea typeface="仿宋" panose="02010609060101010101" pitchFamily="49" charset="-122"/>
              </a:rPr>
              <a:t>要远好于一个</a:t>
            </a:r>
            <a:r>
              <a:rPr lang="en-US" altLang="zh-CN" sz="2200" i="1">
                <a:solidFill>
                  <a:srgbClr val="0000FF"/>
                </a:solidFill>
                <a:latin typeface="Consolas" panose="020B0609020204030204" pitchFamily="49" charset="0"/>
                <a:ea typeface="仿宋" panose="02010609060101010101" pitchFamily="49" charset="-122"/>
              </a:rPr>
              <a:t>n</a:t>
            </a:r>
            <a:r>
              <a:rPr lang="zh-CN" altLang="zh-CN" sz="2200">
                <a:solidFill>
                  <a:srgbClr val="0000FF"/>
                </a:solidFill>
                <a:latin typeface="Consolas" panose="020B0609020204030204" pitchFamily="49" charset="0"/>
                <a:ea typeface="仿宋" panose="02010609060101010101" pitchFamily="49" charset="-122"/>
              </a:rPr>
              <a:t>的指数级。如果</a:t>
            </a:r>
            <a:r>
              <a:rPr lang="en-US" altLang="zh-CN" sz="2200">
                <a:solidFill>
                  <a:srgbClr val="0000FF"/>
                </a:solidFill>
                <a:latin typeface="Consolas" panose="020B0609020204030204" pitchFamily="49" charset="0"/>
                <a:ea typeface="仿宋" panose="02010609060101010101" pitchFamily="49" charset="-122"/>
              </a:rPr>
              <a:t>W</a:t>
            </a:r>
            <a:r>
              <a:rPr lang="zh-CN" altLang="zh-CN" sz="2200">
                <a:solidFill>
                  <a:srgbClr val="0000FF"/>
                </a:solidFill>
                <a:latin typeface="Consolas" panose="020B0609020204030204" pitchFamily="49" charset="0"/>
                <a:ea typeface="仿宋" panose="02010609060101010101" pitchFamily="49" charset="-122"/>
              </a:rPr>
              <a:t>非常大，或者为很大的实数，则该动态规划方法不可行，所以说这样的算法是伪多项式时间的算法</a:t>
            </a:r>
            <a:r>
              <a:rPr lang="zh-CN" altLang="en-US" sz="2200">
                <a:solidFill>
                  <a:srgbClr val="0000FF"/>
                </a:solidFill>
                <a:latin typeface="Consolas" panose="020B0609020204030204" pitchFamily="49" charset="0"/>
                <a:ea typeface="仿宋" panose="02010609060101010101" pitchFamily="49" charset="-122"/>
              </a:rPr>
              <a:t>。</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357166"/>
            <a:ext cx="8358246" cy="363176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120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数组后，如何</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推导出一个解向量</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）呢？从前面状态转移方程的后两行看出：</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360045" algn="l">
              <a:lnSpc>
                <a:spcPts val="2800"/>
              </a:lnSpc>
              <a:spcBef>
                <a:spcPts val="1200"/>
              </a:spcBef>
              <a:buBlip>
                <a:blip r:embed="rId1"/>
              </a:buBlip>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，表示物品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放不下或者不放入物品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的情况，总之</a:t>
            </a:r>
            <a:r>
              <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不选择物品</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。也就是说当前</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元素等于上方元素，不选择对应的物品（物品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），并跳到上方位置。</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720090" lvl="1" indent="-360045" algn="l">
              <a:lnSpc>
                <a:spcPts val="2800"/>
              </a:lnSpc>
              <a:spcBef>
                <a:spcPts val="1200"/>
              </a:spcBef>
              <a:buBlip>
                <a:blip r:embed="rId1"/>
              </a:buBlip>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否则一定有</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FF00FF"/>
                </a:solidFill>
                <a:latin typeface="Consolas" panose="020B0609020204030204" pitchFamily="49" charset="0"/>
                <a:cs typeface="Consolas" panose="020B0609020204030204" pitchFamily="49" charset="0"/>
              </a:rPr>
              <a:t>≠</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成立，表示选择物品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。也就是说当前</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不</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等于上方元素，选择对应的物品，并跳到左上角</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r-w</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的位置。</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85786" y="4362886"/>
            <a:ext cx="7715304" cy="1449216"/>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时，物品</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放不下</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max{dp[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否则在不放入和放入物品</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之间取最大价值</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p:cNvSpPr txBox="1"/>
          <p:nvPr/>
        </p:nvSpPr>
        <p:spPr>
          <a:xfrm>
            <a:off x="428596" y="214290"/>
            <a:ext cx="714380" cy="646331"/>
          </a:xfrm>
          <a:prstGeom prst="rect">
            <a:avLst/>
          </a:prstGeom>
          <a:blipFill>
            <a:blip r:embed="rId1"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矩形 6"/>
          <p:cNvSpPr/>
          <p:nvPr/>
        </p:nvSpPr>
        <p:spPr>
          <a:xfrm>
            <a:off x="1357290" y="1071546"/>
            <a:ext cx="6858048" cy="502702"/>
          </a:xfrm>
          <a:prstGeom prst="rect">
            <a:avLst/>
          </a:prstGeom>
        </p:spPr>
        <p:txBody>
          <a:bodyPr wrap="square">
            <a:spAutoFit/>
          </a:bodyPr>
          <a:lstStyle/>
          <a:p>
            <a:pPr algn="l">
              <a:lnSpc>
                <a:spcPts val="3200"/>
              </a:lnSpc>
              <a:spcBef>
                <a:spcPts val="0"/>
              </a:spcBef>
            </a:pPr>
            <a:r>
              <a:rPr lang="en-US" altLang="zh-CN" sz="2000" i="1">
                <a:solidFill>
                  <a:srgbClr val="0000FF"/>
                </a:solidFill>
                <a:latin typeface="Consolas" panose="020B0609020204030204" pitchFamily="49" charset="0"/>
                <a:cs typeface="Consolas" panose="020B0609020204030204" pitchFamily="49" charset="0"/>
              </a:rPr>
              <a:t>n</a:t>
            </a:r>
            <a:r>
              <a:rPr lang="en-US" altLang="zh-CN" sz="2000">
                <a:solidFill>
                  <a:srgbClr val="0000FF"/>
                </a:solidFill>
                <a:latin typeface="Consolas" panose="020B0609020204030204" pitchFamily="49" charset="0"/>
                <a:cs typeface="Consolas" panose="020B0609020204030204" pitchFamily="49" charset="0"/>
              </a:rPr>
              <a:t>=5</a:t>
            </a:r>
            <a:r>
              <a:rPr lang="zh-CN" altLang="zh-CN" sz="2000">
                <a:solidFill>
                  <a:srgbClr val="0000FF"/>
                </a:solidFill>
                <a:latin typeface="Consolas" panose="020B0609020204030204" pitchFamily="49" charset="0"/>
                <a:cs typeface="Consolas" panose="020B0609020204030204" pitchFamily="49" charset="0"/>
              </a:rPr>
              <a:t>，</a:t>
            </a:r>
            <a:r>
              <a:rPr lang="en-US" altLang="zh-CN" sz="2000" i="1">
                <a:solidFill>
                  <a:srgbClr val="0000FF"/>
                </a:solidFill>
                <a:latin typeface="Consolas" panose="020B0609020204030204" pitchFamily="49" charset="0"/>
                <a:cs typeface="Consolas" panose="020B0609020204030204" pitchFamily="49" charset="0"/>
              </a:rPr>
              <a:t>w</a:t>
            </a:r>
            <a:r>
              <a:rPr lang="en-US" altLang="zh-CN" sz="2000">
                <a:solidFill>
                  <a:srgbClr val="0000FF"/>
                </a:solidFill>
                <a:latin typeface="Consolas" panose="020B0609020204030204" pitchFamily="49" charset="0"/>
                <a:cs typeface="Consolas" panose="020B0609020204030204" pitchFamily="49" charset="0"/>
              </a:rPr>
              <a:t>={2</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2</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6</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5</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4}</a:t>
            </a:r>
            <a:r>
              <a:rPr lang="zh-CN" altLang="zh-CN" sz="2000">
                <a:solidFill>
                  <a:srgbClr val="0000FF"/>
                </a:solidFill>
                <a:latin typeface="Consolas" panose="020B0609020204030204" pitchFamily="49" charset="0"/>
                <a:cs typeface="Consolas" panose="020B0609020204030204" pitchFamily="49" charset="0"/>
              </a:rPr>
              <a:t>，</a:t>
            </a:r>
            <a:r>
              <a:rPr lang="en-US" altLang="zh-CN" sz="2000" i="1">
                <a:solidFill>
                  <a:srgbClr val="0000FF"/>
                </a:solidFill>
                <a:latin typeface="Consolas" panose="020B0609020204030204" pitchFamily="49" charset="0"/>
                <a:cs typeface="Consolas" panose="020B0609020204030204" pitchFamily="49" charset="0"/>
              </a:rPr>
              <a:t>v</a:t>
            </a:r>
            <a:r>
              <a:rPr lang="en-US" altLang="zh-CN" sz="2000">
                <a:solidFill>
                  <a:srgbClr val="0000FF"/>
                </a:solidFill>
                <a:latin typeface="Consolas" panose="020B0609020204030204" pitchFamily="49" charset="0"/>
                <a:cs typeface="Consolas" panose="020B0609020204030204" pitchFamily="49" charset="0"/>
              </a:rPr>
              <a:t>={6</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3</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5</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4</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6}</a:t>
            </a:r>
            <a:r>
              <a:rPr lang="zh-CN" altLang="zh-CN"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W=10</a:t>
            </a:r>
            <a:r>
              <a:rPr lang="zh-CN" altLang="zh-CN" sz="2000">
                <a:solidFill>
                  <a:srgbClr val="0000FF"/>
                </a:solidFill>
                <a:latin typeface="Consolas" panose="020B0609020204030204" pitchFamily="49" charset="0"/>
                <a:cs typeface="Consolas" panose="020B0609020204030204" pitchFamily="49" charset="0"/>
              </a:rPr>
              <a:t>。</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10" name="下箭头 9"/>
          <p:cNvSpPr/>
          <p:nvPr/>
        </p:nvSpPr>
        <p:spPr>
          <a:xfrm>
            <a:off x="3714744" y="1643050"/>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2" name="Picture 2"/>
          <p:cNvPicPr>
            <a:picLocks noChangeAspect="1" noChangeArrowheads="1"/>
          </p:cNvPicPr>
          <p:nvPr/>
        </p:nvPicPr>
        <p:blipFill>
          <a:blip r:embed="rId2" cstate="print"/>
          <a:srcRect/>
          <a:stretch>
            <a:fillRect/>
          </a:stretch>
        </p:blipFill>
        <p:spPr bwMode="auto">
          <a:xfrm>
            <a:off x="2143108" y="2214554"/>
            <a:ext cx="4044266" cy="2714644"/>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57154" y="357166"/>
          <a:ext cx="6742913" cy="3579634"/>
        </p:xfrm>
        <a:graphic>
          <a:graphicData uri="http://schemas.openxmlformats.org/drawingml/2006/table">
            <a:tbl>
              <a:tblPr/>
              <a:tblGrid>
                <a:gridCol w="797750"/>
                <a:gridCol w="723133"/>
                <a:gridCol w="415158"/>
                <a:gridCol w="415158"/>
                <a:gridCol w="415158"/>
                <a:gridCol w="415158"/>
                <a:gridCol w="415158"/>
                <a:gridCol w="415158"/>
                <a:gridCol w="537262"/>
                <a:gridCol w="537262"/>
                <a:gridCol w="537262"/>
                <a:gridCol w="549472"/>
                <a:gridCol w="569824"/>
              </a:tblGrid>
              <a:tr h="578454">
                <a:tc>
                  <a:txBody>
                    <a:bodyPr/>
                    <a:lstStyle/>
                    <a:p>
                      <a:pPr indent="0" algn="just">
                        <a:lnSpc>
                          <a:spcPts val="2200"/>
                        </a:lnSpc>
                        <a:spcAft>
                          <a:spcPts val="0"/>
                        </a:spcAft>
                      </a:pPr>
                      <a:endParaRPr lang="en-US"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just">
                        <a:lnSpc>
                          <a:spcPts val="2200"/>
                        </a:lnSpc>
                        <a:spcAft>
                          <a:spcPts val="0"/>
                        </a:spcAft>
                      </a:pPr>
                      <a:r>
                        <a:rPr lang="en-US" sz="1600" kern="100">
                          <a:solidFill>
                            <a:srgbClr val="0000FF"/>
                          </a:solidFill>
                          <a:latin typeface="Times New Roman" panose="02020603050405020304"/>
                          <a:ea typeface="宋体" panose="02010600030101010101" pitchFamily="2" charset="-122"/>
                          <a:cs typeface="Times New Roman" panose="02020603050405020304"/>
                        </a:rPr>
                        <a:t>         </a:t>
                      </a:r>
                      <a:r>
                        <a:rPr lang="en-US" sz="1600" i="1" kern="100">
                          <a:solidFill>
                            <a:srgbClr val="0000FF"/>
                          </a:solidFill>
                          <a:latin typeface="Times New Roman" panose="02020603050405020304"/>
                          <a:ea typeface="宋体" panose="02010600030101010101" pitchFamily="2" charset="-122"/>
                          <a:cs typeface="Times New Roman" panose="02020603050405020304"/>
                        </a:rPr>
                        <a:t>r</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i</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0</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1</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2</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3</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4</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5</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6</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7</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8</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9</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panose="02020603050405020304"/>
                          <a:ea typeface="宋体" panose="02010600030101010101" pitchFamily="2" charset="-122"/>
                          <a:cs typeface="Times New Roman" panose="02020603050405020304"/>
                        </a:rPr>
                        <a:t>10</a:t>
                      </a:r>
                      <a:endParaRPr lang="zh-CN" sz="1600" kern="10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117">
                <a:tc>
                  <a:txBody>
                    <a:bodyPr/>
                    <a:lstStyle/>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 w</a:t>
                      </a:r>
                      <a:r>
                        <a:rPr lang="en-US" sz="1600" kern="100" baseline="-25000">
                          <a:solidFill>
                            <a:srgbClr val="0000FF"/>
                          </a:solidFill>
                          <a:latin typeface="Times New Roman" panose="02020603050405020304"/>
                          <a:ea typeface="宋体" panose="02010600030101010101" pitchFamily="2" charset="-122"/>
                          <a:cs typeface="Times New Roman" panose="02020603050405020304"/>
                        </a:rPr>
                        <a:t>0</a:t>
                      </a:r>
                      <a:r>
                        <a:rPr lang="en-US" sz="1600" kern="100">
                          <a:solidFill>
                            <a:srgbClr val="0000FF"/>
                          </a:solidFill>
                          <a:latin typeface="Times New Roman" panose="02020603050405020304"/>
                          <a:ea typeface="宋体" panose="02010600030101010101" pitchFamily="2" charset="-122"/>
                          <a:cs typeface="Times New Roman" panose="02020603050405020304"/>
                        </a:rPr>
                        <a:t>=2</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panose="02020603050405020304"/>
                          <a:ea typeface="宋体" panose="02010600030101010101" pitchFamily="2" charset="-122"/>
                          <a:cs typeface="Times New Roman" panose="02020603050405020304"/>
                        </a:rPr>
                        <a:t>0</a:t>
                      </a:r>
                      <a:endParaRPr lang="zh-CN" sz="1600" kern="10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0066">
                <a:tc>
                  <a:txBody>
                    <a:bodyPr/>
                    <a:lstStyle/>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w</a:t>
                      </a:r>
                      <a:r>
                        <a:rPr lang="en-US" sz="1600" kern="100" baseline="-25000">
                          <a:solidFill>
                            <a:srgbClr val="0000FF"/>
                          </a:solidFill>
                          <a:latin typeface="Times New Roman" panose="02020603050405020304"/>
                          <a:ea typeface="宋体" panose="02010600030101010101" pitchFamily="2" charset="-122"/>
                          <a:cs typeface="Times New Roman" panose="02020603050405020304"/>
                        </a:rPr>
                        <a:t>1</a:t>
                      </a:r>
                      <a:r>
                        <a:rPr lang="en-US" sz="1600" kern="100">
                          <a:solidFill>
                            <a:srgbClr val="0000FF"/>
                          </a:solidFill>
                          <a:latin typeface="Times New Roman" panose="02020603050405020304"/>
                          <a:ea typeface="宋体" panose="02010600030101010101" pitchFamily="2" charset="-122"/>
                          <a:cs typeface="Times New Roman" panose="02020603050405020304"/>
                        </a:rPr>
                        <a:t>=2</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panose="02020603050405020304"/>
                          <a:ea typeface="宋体" panose="02010600030101010101" pitchFamily="2" charset="-122"/>
                          <a:cs typeface="Times New Roman" panose="02020603050405020304"/>
                        </a:rPr>
                        <a:t>1</a:t>
                      </a:r>
                      <a:endParaRPr lang="zh-CN" sz="1600" kern="100">
                        <a:solidFill>
                          <a:schemeClr val="bg1"/>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chemeClr val="bg1"/>
                          </a:solidFill>
                          <a:latin typeface="Times New Roman" panose="02020603050405020304"/>
                          <a:ea typeface="宋体" panose="02010600030101010101" pitchFamily="2" charset="-122"/>
                          <a:cs typeface="Times New Roman" panose="02020603050405020304"/>
                        </a:rPr>
                        <a:t>6</a:t>
                      </a:r>
                      <a:endParaRPr lang="zh-CN" sz="1600" b="1" kern="100">
                        <a:solidFill>
                          <a:schemeClr val="bg1"/>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0066">
                <a:tc>
                  <a:txBody>
                    <a:bodyPr/>
                    <a:lstStyle/>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w</a:t>
                      </a:r>
                      <a:r>
                        <a:rPr lang="en-US" sz="1600" kern="100" baseline="-25000">
                          <a:solidFill>
                            <a:srgbClr val="0000FF"/>
                          </a:solidFill>
                          <a:latin typeface="Times New Roman" panose="02020603050405020304"/>
                          <a:ea typeface="宋体" panose="02010600030101010101" pitchFamily="2" charset="-122"/>
                          <a:cs typeface="Times New Roman" panose="02020603050405020304"/>
                        </a:rPr>
                        <a:t>2</a:t>
                      </a:r>
                      <a:r>
                        <a:rPr lang="en-US" sz="1600" kern="100">
                          <a:solidFill>
                            <a:srgbClr val="0000FF"/>
                          </a:solidFill>
                          <a:latin typeface="Times New Roman" panose="02020603050405020304"/>
                          <a:ea typeface="宋体" panose="02010600030101010101" pitchFamily="2" charset="-122"/>
                          <a:cs typeface="Times New Roman" panose="02020603050405020304"/>
                        </a:rPr>
                        <a:t>=6</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panose="02020603050405020304"/>
                          <a:ea typeface="宋体" panose="02010600030101010101" pitchFamily="2" charset="-122"/>
                          <a:cs typeface="Times New Roman" panose="02020603050405020304"/>
                        </a:rPr>
                        <a:t>2</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chemeClr val="bg1"/>
                          </a:solidFill>
                          <a:latin typeface="Times New Roman" panose="02020603050405020304"/>
                          <a:ea typeface="宋体" panose="02010600030101010101" pitchFamily="2" charset="-122"/>
                          <a:cs typeface="Times New Roman" panose="02020603050405020304"/>
                        </a:rPr>
                        <a:t>9</a:t>
                      </a:r>
                      <a:endParaRPr lang="zh-CN" sz="1600" b="1" kern="10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0066">
                <a:tc>
                  <a:txBody>
                    <a:bodyPr/>
                    <a:lstStyle/>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w</a:t>
                      </a:r>
                      <a:r>
                        <a:rPr lang="en-US" sz="1600" kern="100" baseline="-25000">
                          <a:solidFill>
                            <a:srgbClr val="0000FF"/>
                          </a:solidFill>
                          <a:latin typeface="Times New Roman" panose="02020603050405020304"/>
                          <a:ea typeface="宋体" panose="02010600030101010101" pitchFamily="2" charset="-122"/>
                          <a:cs typeface="Times New Roman" panose="02020603050405020304"/>
                        </a:rPr>
                        <a:t>3</a:t>
                      </a:r>
                      <a:r>
                        <a:rPr lang="en-US" sz="1600" kern="100">
                          <a:solidFill>
                            <a:srgbClr val="0000FF"/>
                          </a:solidFill>
                          <a:latin typeface="Times New Roman" panose="02020603050405020304"/>
                          <a:ea typeface="宋体" panose="02010600030101010101" pitchFamily="2" charset="-122"/>
                          <a:cs typeface="Times New Roman" panose="02020603050405020304"/>
                        </a:rPr>
                        <a:t>=5</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panose="02020603050405020304"/>
                          <a:ea typeface="宋体" panose="02010600030101010101" pitchFamily="2" charset="-122"/>
                          <a:cs typeface="Times New Roman" panose="02020603050405020304"/>
                        </a:rPr>
                        <a:t>3</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11</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11</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14</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0066">
                <a:tc>
                  <a:txBody>
                    <a:bodyPr/>
                    <a:lstStyle/>
                    <a:p>
                      <a:pPr indent="0" algn="just">
                        <a:lnSpc>
                          <a:spcPts val="2200"/>
                        </a:lnSpc>
                        <a:spcAft>
                          <a:spcPts val="0"/>
                        </a:spcAft>
                      </a:pPr>
                      <a:r>
                        <a:rPr lang="en-US" sz="1600" i="1" kern="100">
                          <a:solidFill>
                            <a:srgbClr val="0000FF"/>
                          </a:solidFill>
                          <a:latin typeface="Times New Roman" panose="02020603050405020304"/>
                          <a:ea typeface="宋体" panose="02010600030101010101" pitchFamily="2" charset="-122"/>
                          <a:cs typeface="Times New Roman" panose="02020603050405020304"/>
                        </a:rPr>
                        <a:t>w</a:t>
                      </a:r>
                      <a:r>
                        <a:rPr lang="en-US" sz="1600" kern="100" baseline="-25000">
                          <a:solidFill>
                            <a:srgbClr val="0000FF"/>
                          </a:solidFill>
                          <a:latin typeface="Times New Roman" panose="02020603050405020304"/>
                          <a:ea typeface="宋体" panose="02010600030101010101" pitchFamily="2" charset="-122"/>
                          <a:cs typeface="Times New Roman" panose="02020603050405020304"/>
                        </a:rPr>
                        <a:t>4</a:t>
                      </a:r>
                      <a:r>
                        <a:rPr lang="en-US" sz="1600" kern="100">
                          <a:solidFill>
                            <a:srgbClr val="0000FF"/>
                          </a:solidFill>
                          <a:latin typeface="Times New Roman" panose="02020603050405020304"/>
                          <a:ea typeface="宋体" panose="02010600030101010101" pitchFamily="2" charset="-122"/>
                          <a:cs typeface="Times New Roman" panose="02020603050405020304"/>
                        </a:rPr>
                        <a:t>=4</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panose="02020603050405020304"/>
                          <a:ea typeface="宋体" panose="02010600030101010101" pitchFamily="2" charset="-122"/>
                          <a:cs typeface="Times New Roman" panose="02020603050405020304"/>
                        </a:rPr>
                        <a:t>4</a:t>
                      </a:r>
                      <a:endParaRPr lang="zh-CN" sz="1600" kern="10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11</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13</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14</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7799">
                <a:tc>
                  <a:txBody>
                    <a:bodyPr/>
                    <a:lstStyle/>
                    <a:p>
                      <a:pPr indent="0" algn="just">
                        <a:lnSpc>
                          <a:spcPts val="2200"/>
                        </a:lnSpc>
                        <a:spcAft>
                          <a:spcPts val="0"/>
                        </a:spcAft>
                      </a:pP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panose="02020603050405020304"/>
                          <a:ea typeface="宋体" panose="02010600030101010101" pitchFamily="2" charset="-122"/>
                          <a:cs typeface="Times New Roman" panose="02020603050405020304"/>
                        </a:rPr>
                        <a:t>5</a:t>
                      </a:r>
                      <a:endParaRPr lang="zh-CN" sz="1600"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0</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6</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9</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12</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12</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15</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panose="02020603050405020304"/>
                          <a:ea typeface="宋体" panose="02010600030101010101" pitchFamily="2" charset="-122"/>
                          <a:cs typeface="Times New Roman" panose="02020603050405020304"/>
                        </a:rPr>
                        <a:t>15</a:t>
                      </a:r>
                      <a:endParaRPr lang="zh-CN" sz="1600" b="1" kern="100">
                        <a:solidFill>
                          <a:srgbClr val="0000FF"/>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chemeClr val="bg1"/>
                          </a:solidFill>
                          <a:latin typeface="Times New Roman" panose="02020603050405020304"/>
                          <a:ea typeface="宋体" panose="02010600030101010101" pitchFamily="2" charset="-122"/>
                          <a:cs typeface="Times New Roman" panose="02020603050405020304"/>
                        </a:rPr>
                        <a:t>15</a:t>
                      </a:r>
                      <a:endParaRPr lang="zh-CN" sz="1600" b="1" kern="10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r>
            </a:tbl>
          </a:graphicData>
        </a:graphic>
      </p:graphicFrame>
      <p:sp>
        <p:nvSpPr>
          <p:cNvPr id="6" name="TextBox 5"/>
          <p:cNvSpPr txBox="1"/>
          <p:nvPr/>
        </p:nvSpPr>
        <p:spPr>
          <a:xfrm>
            <a:off x="285720" y="4357694"/>
            <a:ext cx="8572560" cy="196464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1" indent="-457200" algn="l">
              <a:lnSpc>
                <a:spcPts val="2800"/>
              </a:lnSpc>
              <a:spcBef>
                <a:spcPts val="600"/>
              </a:spcBef>
              <a:buBlip>
                <a:blip r:embed="rId1"/>
              </a:buBlip>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22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，当前</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元素等于上方元素，不选择物品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，并跳到上方位置</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dp[i][r] </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dp[i-1][r]</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lvl="1" indent="-457200" algn="l">
              <a:lnSpc>
                <a:spcPts val="2800"/>
              </a:lnSpc>
              <a:spcBef>
                <a:spcPts val="600"/>
              </a:spcBef>
              <a:buBlip>
                <a:blip r:embed="rId1"/>
              </a:buBlip>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否则当前</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元素</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不</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等于上方元素，选择对应的物品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，并跳到左上角</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r-w</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的位置</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dp[i][r] </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dp[i-1][r-w[i-1]]]</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箭头连接符 8"/>
          <p:cNvCxnSpPr/>
          <p:nvPr/>
        </p:nvCxnSpPr>
        <p:spPr>
          <a:xfrm rot="10800000">
            <a:off x="4857752" y="3357562"/>
            <a:ext cx="1714512" cy="214314"/>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5400000" flipH="1" flipV="1">
            <a:off x="4608513" y="2963859"/>
            <a:ext cx="357190"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rot="5400000" flipH="1" flipV="1">
            <a:off x="4608513" y="2463793"/>
            <a:ext cx="357190"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rot="10800000">
            <a:off x="3857620" y="1785926"/>
            <a:ext cx="571504"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7429520" y="2285992"/>
            <a:ext cx="1428760" cy="1135054"/>
          </a:xfrm>
          <a:prstGeom prst="rect">
            <a:avLst/>
          </a:prstGeom>
          <a:noFill/>
        </p:spPr>
        <p:txBody>
          <a:bodyPr wrap="square" rtlCol="0">
            <a:spAutoFit/>
          </a:bodyPr>
          <a:lstStyle/>
          <a:p>
            <a:pPr algn="l">
              <a:lnSpc>
                <a:spcPts val="28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选择物品</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选择物品</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选择物品</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0</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6" name="直接箭头连接符 15"/>
          <p:cNvCxnSpPr/>
          <p:nvPr/>
        </p:nvCxnSpPr>
        <p:spPr>
          <a:xfrm rot="5400000" flipH="1" flipV="1">
            <a:off x="6715140" y="4071942"/>
            <a:ext cx="285752" cy="158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rot="10800000">
            <a:off x="3016010" y="1172012"/>
            <a:ext cx="571504" cy="42862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5720" y="571480"/>
            <a:ext cx="8215370" cy="537760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(int w[],int n,int W)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回推求一个最优方案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x(n,0);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解向量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i=n,r=W;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(i&gt;=1)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dp[i][r]!=dp[i-1][r]</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x[i-1]=1;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选取物品</a:t>
            </a:r>
            <a:r>
              <a:rPr lang="en-US" altLang="zh-CN" sz="2000">
                <a:solidFill>
                  <a:srgbClr val="00B0F0"/>
                </a:solidFill>
                <a:latin typeface="Consolas" panose="020B0609020204030204" pitchFamily="49" charset="0"/>
                <a:ea typeface="仿宋" panose="02010609060101010101" pitchFamily="49" charset="-122"/>
              </a:rPr>
              <a:t>i-1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r=r-w[i-1];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 x[i-1]=0;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不选取物品</a:t>
            </a:r>
            <a:r>
              <a:rPr lang="en-US" altLang="zh-CN" sz="2000">
                <a:solidFill>
                  <a:srgbClr val="00B0F0"/>
                </a:solidFill>
                <a:latin typeface="Consolas" panose="020B0609020204030204" pitchFamily="49" charset="0"/>
                <a:ea typeface="仿宋" panose="02010609060101010101" pitchFamily="49" charset="-122"/>
              </a:rPr>
              <a:t>i-1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选择的物品</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if(x[i]==1) printf(" </a:t>
            </a:r>
            <a:r>
              <a:rPr lang="zh-CN" altLang="zh-CN" sz="2000">
                <a:solidFill>
                  <a:srgbClr val="0000FF"/>
                </a:solidFill>
                <a:latin typeface="Consolas" panose="020B0609020204030204" pitchFamily="49" charset="0"/>
                <a:ea typeface="仿宋" panose="02010609060101010101" pitchFamily="49" charset="-122"/>
              </a:rPr>
              <a:t>物品</a:t>
            </a:r>
            <a:r>
              <a:rPr lang="en-US" altLang="zh-CN" sz="2000">
                <a:solidFill>
                  <a:srgbClr val="0000FF"/>
                </a:solidFill>
                <a:latin typeface="Consolas" panose="020B0609020204030204" pitchFamily="49" charset="0"/>
                <a:ea typeface="仿宋" panose="02010609060101010101" pitchFamily="49" charset="-122"/>
              </a:rPr>
              <a:t>%d",i);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428596" y="285728"/>
            <a:ext cx="2643205"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anose="020B0503020204020204" pitchFamily="34" charset="-122"/>
                <a:ea typeface="微软雅黑" panose="020B0503020204020204" pitchFamily="34" charset="-122"/>
              </a:rPr>
              <a:t>算法空间优化*</a:t>
            </a:r>
            <a:endParaRPr lang="zh-CN" altLang="zh-C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400"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5" name="TextBox 34"/>
          <p:cNvSpPr txBox="1"/>
          <p:nvPr/>
        </p:nvSpPr>
        <p:spPr>
          <a:xfrm>
            <a:off x="642910" y="928670"/>
            <a:ext cx="7643866" cy="57718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1"/>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dp[MAXN][MAXW]</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改为一维数组</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dp[MAXW]</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857224" y="5238543"/>
            <a:ext cx="7643866" cy="833663"/>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]=max{dp[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上箭头 19"/>
          <p:cNvSpPr/>
          <p:nvPr/>
        </p:nvSpPr>
        <p:spPr>
          <a:xfrm>
            <a:off x="3786182" y="4667039"/>
            <a:ext cx="214314"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398" name="Rectangle 14"/>
          <p:cNvSpPr>
            <a:spLocks noChangeArrowheads="1"/>
          </p:cNvSpPr>
          <p:nvPr/>
        </p:nvSpPr>
        <p:spPr bwMode="auto">
          <a:xfrm>
            <a:off x="2714613" y="2609059"/>
            <a:ext cx="1158950" cy="370912"/>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w</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97" name="Text Box 13"/>
          <p:cNvSpPr txBox="1">
            <a:spLocks noChangeArrowheads="1"/>
          </p:cNvSpPr>
          <p:nvPr/>
        </p:nvSpPr>
        <p:spPr bwMode="auto">
          <a:xfrm>
            <a:off x="857224" y="2628580"/>
            <a:ext cx="1144581" cy="29065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96" name="Rectangle 12"/>
          <p:cNvSpPr>
            <a:spLocks noChangeArrowheads="1"/>
          </p:cNvSpPr>
          <p:nvPr/>
        </p:nvSpPr>
        <p:spPr bwMode="auto">
          <a:xfrm>
            <a:off x="4595564" y="2609059"/>
            <a:ext cx="628006" cy="370912"/>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95" name="Text Box 11"/>
          <p:cNvSpPr txBox="1">
            <a:spLocks noChangeArrowheads="1"/>
          </p:cNvSpPr>
          <p:nvPr/>
        </p:nvSpPr>
        <p:spPr bwMode="auto">
          <a:xfrm>
            <a:off x="1289339" y="3574297"/>
            <a:ext cx="700206" cy="29065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94" name="Text Box 10"/>
          <p:cNvSpPr txBox="1">
            <a:spLocks noChangeArrowheads="1"/>
          </p:cNvSpPr>
          <p:nvPr/>
        </p:nvSpPr>
        <p:spPr bwMode="auto">
          <a:xfrm>
            <a:off x="2975827" y="3572128"/>
            <a:ext cx="401869" cy="2429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mn-ea"/>
                <a:ea typeface="+mn-ea"/>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mn-ea"/>
              <a:ea typeface="+mn-ea"/>
              <a:cs typeface="宋体" panose="02010600030101010101" pitchFamily="2" charset="-122"/>
            </a:endParaRPr>
          </a:p>
        </p:txBody>
      </p:sp>
      <p:sp>
        <p:nvSpPr>
          <p:cNvPr id="16393" name="Rectangle 9"/>
          <p:cNvSpPr>
            <a:spLocks noChangeArrowheads="1"/>
          </p:cNvSpPr>
          <p:nvPr/>
        </p:nvSpPr>
        <p:spPr bwMode="auto">
          <a:xfrm>
            <a:off x="4595564" y="3501633"/>
            <a:ext cx="628006" cy="370912"/>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92" name="Text Box 8"/>
          <p:cNvSpPr txBox="1">
            <a:spLocks noChangeArrowheads="1"/>
          </p:cNvSpPr>
          <p:nvPr/>
        </p:nvSpPr>
        <p:spPr bwMode="auto">
          <a:xfrm>
            <a:off x="4020687" y="2676300"/>
            <a:ext cx="401869" cy="2429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mn-ea"/>
                <a:ea typeface="+mn-ea"/>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mn-ea"/>
              <a:ea typeface="+mn-ea"/>
              <a:cs typeface="宋体" panose="02010600030101010101" pitchFamily="2" charset="-122"/>
            </a:endParaRPr>
          </a:p>
        </p:txBody>
      </p:sp>
      <p:sp>
        <p:nvSpPr>
          <p:cNvPr id="16391" name="Text Box 7"/>
          <p:cNvSpPr txBox="1">
            <a:spLocks noChangeArrowheads="1"/>
          </p:cNvSpPr>
          <p:nvPr/>
        </p:nvSpPr>
        <p:spPr bwMode="auto">
          <a:xfrm>
            <a:off x="2000232" y="2676300"/>
            <a:ext cx="401869" cy="2429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mn-ea"/>
                <a:ea typeface="+mn-ea"/>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mn-ea"/>
              <a:ea typeface="+mn-ea"/>
              <a:cs typeface="宋体" panose="02010600030101010101" pitchFamily="2" charset="-122"/>
            </a:endParaRPr>
          </a:p>
        </p:txBody>
      </p:sp>
      <p:sp>
        <p:nvSpPr>
          <p:cNvPr id="16390" name="AutoShape 6"/>
          <p:cNvSpPr>
            <a:spLocks noChangeShapeType="1"/>
          </p:cNvSpPr>
          <p:nvPr/>
        </p:nvSpPr>
        <p:spPr bwMode="auto">
          <a:xfrm flipV="1">
            <a:off x="4910248" y="2979971"/>
            <a:ext cx="1362" cy="52166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6389" name="AutoShape 5"/>
          <p:cNvSpPr>
            <a:spLocks noChangeShapeType="1"/>
          </p:cNvSpPr>
          <p:nvPr/>
        </p:nvSpPr>
        <p:spPr bwMode="auto">
          <a:xfrm flipH="1" flipV="1">
            <a:off x="3354538" y="2979971"/>
            <a:ext cx="1241026" cy="70711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16388" name="Text Box 4"/>
          <p:cNvSpPr txBox="1">
            <a:spLocks noChangeArrowheads="1"/>
          </p:cNvSpPr>
          <p:nvPr/>
        </p:nvSpPr>
        <p:spPr bwMode="auto">
          <a:xfrm>
            <a:off x="5335276" y="2609059"/>
            <a:ext cx="2379996" cy="290656"/>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87" name="Text Box 3"/>
          <p:cNvSpPr txBox="1">
            <a:spLocks noChangeArrowheads="1"/>
          </p:cNvSpPr>
          <p:nvPr/>
        </p:nvSpPr>
        <p:spPr bwMode="auto">
          <a:xfrm>
            <a:off x="5335276" y="3560198"/>
            <a:ext cx="2165682" cy="290656"/>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386" name="Text Box 2"/>
          <p:cNvSpPr txBox="1">
            <a:spLocks noChangeArrowheads="1"/>
          </p:cNvSpPr>
          <p:nvPr/>
        </p:nvSpPr>
        <p:spPr bwMode="auto">
          <a:xfrm>
            <a:off x="1595119" y="2023833"/>
            <a:ext cx="4477079" cy="29065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w</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dp[</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r</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w</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宋体" panose="02010600030101010101" pitchFamily="2" charset="-122"/>
            </a:endParaRPr>
          </a:p>
        </p:txBody>
      </p:sp>
      <p:cxnSp>
        <p:nvCxnSpPr>
          <p:cNvPr id="24" name="直接箭头连接符 23"/>
          <p:cNvCxnSpPr/>
          <p:nvPr/>
        </p:nvCxnSpPr>
        <p:spPr>
          <a:xfrm rot="10800000">
            <a:off x="2643174" y="4286256"/>
            <a:ext cx="2857520" cy="1588"/>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5614996" y="4090992"/>
            <a:ext cx="1714512" cy="400110"/>
          </a:xfrm>
          <a:prstGeom prst="rect">
            <a:avLst/>
          </a:prstGeom>
          <a:noFill/>
        </p:spPr>
        <p:txBody>
          <a:bodyPr wrap="square" rtlCol="0">
            <a:spAutoFit/>
          </a:bodyPr>
          <a:lstStyle/>
          <a:p>
            <a:pPr algn="l">
              <a:lnSpc>
                <a:spcPct val="100000"/>
              </a:lnSpc>
              <a:spcBef>
                <a:spcPts val="0"/>
              </a:spcBef>
            </a:pPr>
            <a:r>
              <a:rPr lang="en-US" altLang="zh-CN" sz="2000" i="1">
                <a:solidFill>
                  <a:srgbClr val="FF00FF"/>
                </a:solidFill>
                <a:latin typeface="Consolas" panose="020B0609020204030204" pitchFamily="49" charset="0"/>
                <a:ea typeface="仿宋" panose="02010609060101010101" pitchFamily="49" charset="-122"/>
                <a:cs typeface="Times New Roman" panose="02020603050405020304" pitchFamily="18" charset="0"/>
              </a:rPr>
              <a:t>r</a:t>
            </a:r>
            <a:r>
              <a:rPr lang="zh-CN" altLang="en-US" sz="2000">
                <a:solidFill>
                  <a:srgbClr val="FF00FF"/>
                </a:solidFill>
                <a:latin typeface="Consolas" panose="020B0609020204030204" pitchFamily="49" charset="0"/>
                <a:ea typeface="仿宋" panose="02010609060101010101" pitchFamily="49" charset="-122"/>
                <a:cs typeface="Times New Roman" panose="02020603050405020304" pitchFamily="18" charset="0"/>
              </a:rPr>
              <a:t>从</a:t>
            </a:r>
            <a:r>
              <a:rPr lang="en-US" altLang="zh-CN" sz="2000">
                <a:solidFill>
                  <a:srgbClr val="FF00FF"/>
                </a:solidFill>
                <a:latin typeface="Consolas" panose="020B0609020204030204" pitchFamily="49" charset="0"/>
                <a:ea typeface="仿宋" panose="02010609060101010101" pitchFamily="49" charset="-122"/>
                <a:cs typeface="Times New Roman" panose="02020603050405020304" pitchFamily="18" charset="0"/>
              </a:rPr>
              <a:t>W</a:t>
            </a:r>
            <a:r>
              <a:rPr lang="zh-CN" altLang="en-US" sz="2000">
                <a:solidFill>
                  <a:srgbClr val="FF00FF"/>
                </a:solidFill>
                <a:latin typeface="Consolas" panose="020B0609020204030204" pitchFamily="49" charset="0"/>
                <a:ea typeface="仿宋" panose="02010609060101010101" pitchFamily="49" charset="-122"/>
                <a:cs typeface="Times New Roman" panose="02020603050405020304" pitchFamily="18" charset="0"/>
              </a:rPr>
              <a:t>到</a:t>
            </a:r>
            <a:r>
              <a:rPr lang="en-US" altLang="zh-CN" sz="2000">
                <a:solidFill>
                  <a:srgbClr val="FF00FF"/>
                </a:solidFill>
                <a:latin typeface="Consolas" panose="020B0609020204030204" pitchFamily="49" charset="0"/>
                <a:ea typeface="仿宋" panose="02010609060101010101" pitchFamily="49" charset="-122"/>
                <a:cs typeface="Times New Roman" panose="02020603050405020304" pitchFamily="18" charset="0"/>
              </a:rPr>
              <a:t>0</a:t>
            </a:r>
            <a:r>
              <a:rPr lang="zh-CN" altLang="en-US" sz="2000">
                <a:solidFill>
                  <a:srgbClr val="FF00FF"/>
                </a:solidFill>
                <a:latin typeface="Consolas" panose="020B0609020204030204" pitchFamily="49" charset="0"/>
                <a:ea typeface="仿宋" panose="02010609060101010101" pitchFamily="49" charset="-122"/>
                <a:cs typeface="Times New Roman" panose="02020603050405020304" pitchFamily="18" charset="0"/>
              </a:rPr>
              <a:t>循环</a:t>
            </a:r>
            <a:endParaRPr lang="zh-CN" altLang="en-US" sz="2000">
              <a:solidFill>
                <a:srgbClr val="FF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27" name="TextBox 26"/>
          <p:cNvSpPr txBox="1"/>
          <p:nvPr/>
        </p:nvSpPr>
        <p:spPr>
          <a:xfrm rot="1751186">
            <a:off x="3085159" y="3350572"/>
            <a:ext cx="1571636" cy="369332"/>
          </a:xfrm>
          <a:prstGeom prst="rect">
            <a:avLst/>
          </a:prstGeom>
          <a:noFill/>
        </p:spPr>
        <p:txBody>
          <a:bodyPr wrap="square" rtlCol="0">
            <a:spAutoFit/>
          </a:bodyPr>
          <a:lstStyle/>
          <a:p>
            <a:pPr algn="l">
              <a:lnSpc>
                <a:spcPct val="100000"/>
              </a:lnSpc>
              <a:spcBef>
                <a:spcPts val="0"/>
              </a:spcBef>
            </a:pPr>
            <a:r>
              <a:rPr lang="zh-CN" altLang="en-US" sz="1800">
                <a:solidFill>
                  <a:srgbClr val="FF00FF"/>
                </a:solidFill>
                <a:latin typeface="Consolas" panose="020B0609020204030204" pitchFamily="49" charset="0"/>
                <a:ea typeface="楷体" panose="02010609060101010101" pitchFamily="49" charset="-122"/>
                <a:cs typeface="Consolas" panose="020B0609020204030204" pitchFamily="49" charset="0"/>
              </a:rPr>
              <a:t>更新前的值</a:t>
            </a:r>
            <a:endParaRPr lang="zh-CN" altLang="en-US" sz="180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84893"/>
            <a:ext cx="8643998" cy="443049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knap1</a:t>
            </a:r>
            <a:r>
              <a:rPr lang="en-US" altLang="zh-CN" sz="2000">
                <a:solidFill>
                  <a:srgbClr val="0000FF"/>
                </a:solidFill>
                <a:latin typeface="Consolas" panose="020B0609020204030204" pitchFamily="49" charset="0"/>
                <a:ea typeface="仿宋" panose="02010609060101010101" pitchFamily="49" charset="-122"/>
              </a:rPr>
              <a:t>(int w[],int v[],int n,int W)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改进算法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dp(W+1,0);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a:t>
            </a:r>
            <a:r>
              <a:rPr lang="en-US" altLang="zh-CN" sz="2000">
                <a:solidFill>
                  <a:srgbClr val="FF0000"/>
                </a:solidFill>
                <a:latin typeface="Consolas" panose="020B0609020204030204" pitchFamily="49" charset="0"/>
                <a:ea typeface="仿宋" panose="02010609060101010101" pitchFamily="49" charset="-122"/>
              </a:rPr>
              <a:t>r=W;r&gt;=0;r--</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按</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W</a:t>
            </a:r>
            <a:r>
              <a:rPr lang="zh-CN" altLang="zh-CN" sz="2000">
                <a:solidFill>
                  <a:srgbClr val="00B0F0"/>
                </a:solidFill>
                <a:latin typeface="Consolas" panose="020B0609020204030204" pitchFamily="49" charset="0"/>
                <a:ea typeface="仿宋" panose="02010609060101010101" pitchFamily="49" charset="-122"/>
              </a:rPr>
              <a:t>的逆序（重点）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r&lt;w[i-1]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dp[r]=dp[r];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dp[r]=max(dp[r],dp[r-w[i-1]]+v[i-1]);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4643438" y="1797215"/>
            <a:ext cx="428628" cy="646331"/>
          </a:xfrm>
          <a:prstGeom prst="rect">
            <a:avLst/>
          </a:prstGeom>
          <a:noFill/>
        </p:spPr>
        <p:txBody>
          <a:bodyPr wrap="square" rtlCol="0">
            <a:spAutoFit/>
          </a:bodyPr>
          <a:lstStyle/>
          <a:p>
            <a:pPr algn="l">
              <a:lnSpc>
                <a:spcPct val="100000"/>
              </a:lnSpc>
              <a:spcBef>
                <a:spcPts val="0"/>
              </a:spcBef>
            </a:pPr>
            <a:r>
              <a:rPr lang="en-US" altLang="zh-CN" sz="360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endParaRPr lang="zh-CN" altLang="en-US" sz="36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000108"/>
            <a:ext cx="8643998" cy="299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knap2</a:t>
            </a:r>
            <a:r>
              <a:rPr lang="en-US" altLang="zh-CN" sz="2000">
                <a:solidFill>
                  <a:srgbClr val="0000FF"/>
                </a:solidFill>
                <a:latin typeface="Consolas" panose="020B0609020204030204" pitchFamily="49" charset="0"/>
                <a:ea typeface="仿宋" panose="02010609060101010101" pitchFamily="49" charset="-122"/>
              </a:rPr>
              <a:t>(int w[],int v[],int n,int W)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改进算法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dp(W+1,0);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a:t>
            </a:r>
            <a:r>
              <a:rPr lang="en-US" altLang="zh-CN" sz="2000">
                <a:solidFill>
                  <a:srgbClr val="FF0000"/>
                </a:solidFill>
                <a:latin typeface="Consolas" panose="020B0609020204030204" pitchFamily="49" charset="0"/>
                <a:ea typeface="仿宋" panose="02010609060101010101" pitchFamily="49" charset="-122"/>
              </a:rPr>
              <a:t>r=W;r&gt;=w[i-1];r--</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按</a:t>
            </a:r>
            <a:r>
              <a:rPr lang="en-US" altLang="zh-CN" sz="2000">
                <a:solidFill>
                  <a:srgbClr val="00B0F0"/>
                </a:solidFill>
                <a:latin typeface="Consolas" panose="020B0609020204030204" pitchFamily="49" charset="0"/>
                <a:ea typeface="仿宋" panose="02010609060101010101" pitchFamily="49" charset="-122"/>
              </a:rPr>
              <a:t>w[i-1]</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W</a:t>
            </a:r>
            <a:r>
              <a:rPr lang="zh-CN" altLang="zh-CN" sz="2000">
                <a:solidFill>
                  <a:srgbClr val="00B0F0"/>
                </a:solidFill>
                <a:latin typeface="Consolas" panose="020B0609020204030204" pitchFamily="49" charset="0"/>
                <a:ea typeface="仿宋" panose="02010609060101010101" pitchFamily="49" charset="-122"/>
              </a:rPr>
              <a:t>的逆序（重点）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dp[r]=max(dp[r],dp[r-w[i-1]]+v[i-1]);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357158" y="285728"/>
            <a:ext cx="56436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anose="02010609060101010101" pitchFamily="49" charset="-122"/>
                <a:ea typeface="仿宋" panose="02010609060101010101" pitchFamily="49" charset="-122"/>
              </a:rPr>
              <a:t>可以等价地改为如下</a:t>
            </a:r>
            <a:endParaRPr lang="zh-CN" altLang="en-US">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500166" y="500042"/>
            <a:ext cx="635233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7.8*</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完全背包和多重背包问题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785786" y="2500306"/>
            <a:ext cx="8072494" cy="201436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有</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种重量和价值分别为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）的物品，从这些物品中挑选总重量不超过</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的物品</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每种物品可以挑选任意多件</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求挑选物品的</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最大价值</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1571612"/>
            <a:ext cx="392909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nb-NO" altLang="zh-CN" sz="2800">
                <a:latin typeface="+mj-lt"/>
                <a:ea typeface="微软雅黑" panose="020B0503020204020204" pitchFamily="34" charset="-122"/>
              </a:rPr>
              <a:t>7.8.1   </a:t>
            </a:r>
            <a:r>
              <a:rPr lang="zh-CN" altLang="en-US" sz="2800">
                <a:latin typeface="+mj-lt"/>
                <a:ea typeface="微软雅黑" panose="020B0503020204020204" pitchFamily="34" charset="-122"/>
              </a:rPr>
              <a:t>完全</a:t>
            </a:r>
            <a:r>
              <a:rPr lang="zh-CN" altLang="zh-CN" sz="2800">
                <a:latin typeface="+mj-lt"/>
                <a:ea typeface="微软雅黑" panose="020B0503020204020204" pitchFamily="34" charset="-122"/>
              </a:rPr>
              <a:t>背包问题</a:t>
            </a:r>
            <a:endParaRPr lang="zh-CN" altLang="zh-CN" sz="2800">
              <a:latin typeface="+mj-lt"/>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478379"/>
            <a:ext cx="8215370" cy="298918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108000" bIns="144000" rtlCol="0">
            <a:spAutoFit/>
          </a:bodyPr>
          <a:lstStyle/>
          <a:p>
            <a:pPr marL="360045" indent="-360045"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设置动态规划二维数组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从物品</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（共</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zh-CN" altLang="en-US">
                <a:solidFill>
                  <a:srgbClr val="FF0000"/>
                </a:solidFill>
                <a:latin typeface="Consolas" panose="020B0609020204030204" pitchFamily="49" charset="0"/>
                <a:ea typeface="仿宋" panose="02010609060101010101" pitchFamily="49" charset="-122"/>
                <a:cs typeface="Consolas" panose="020B0609020204030204" pitchFamily="49" charset="0"/>
              </a:rPr>
              <a:t>种</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物品）中选出重量不超过</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的物品的最大总价值</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显然有</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（背包不能装入任何物品时，总价值为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dp[0][</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（没有任何物品可装入时，总价值为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），将它们作为边界情况，为此一次性将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数组初始化为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6" name="Picture 4"/>
          <p:cNvPicPr>
            <a:picLocks noChangeAspect="1" noChangeArrowheads="1"/>
          </p:cNvPicPr>
          <p:nvPr/>
        </p:nvPicPr>
        <p:blipFill>
          <a:blip r:embed="rId2" cstate="print"/>
          <a:srcRect/>
          <a:stretch>
            <a:fillRect/>
          </a:stretch>
        </p:blipFill>
        <p:spPr bwMode="auto">
          <a:xfrm>
            <a:off x="714348" y="763999"/>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16"/>
          <p:cNvSpPr>
            <a:spLocks noChangeArrowheads="1"/>
          </p:cNvSpPr>
          <p:nvPr/>
        </p:nvSpPr>
        <p:spPr bwMode="auto">
          <a:xfrm>
            <a:off x="5143504" y="2357430"/>
            <a:ext cx="3214710" cy="1357322"/>
          </a:xfrm>
          <a:prstGeom prst="rect">
            <a:avLst/>
          </a:prstGeom>
          <a:no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ts val="34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Times New Roman" panose="02020603050405020304" pitchFamily="18" charset="0"/>
              </a:rPr>
              <a:t>max</a:t>
            </a:r>
            <a:r>
              <a:rPr kumimoji="0" lang="en-US" altLang="zh-CN"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w</a:t>
            </a:r>
            <a:r>
              <a:rPr kumimoji="0" lang="en-US" altLang="zh-CN"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i="0" u="none" strike="noStrike" cap="none" normalizeH="0" baseline="-30000">
                <a:ln>
                  <a:noFill/>
                </a:ln>
                <a:solidFill>
                  <a:srgbClr val="0000FF"/>
                </a:solidFill>
                <a:effectLst/>
                <a:latin typeface="+mn-ea"/>
                <a:ea typeface="+mn-ea"/>
                <a:cs typeface="Times New Roman" panose="02020603050405020304" pitchFamily="18" charset="0"/>
              </a:rPr>
              <a:t>≤</a:t>
            </a:r>
            <a:r>
              <a:rPr kumimoji="0" lang="en-US" altLang="zh-CN"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ts val="34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dp[</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w</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- 1]]</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ts val="34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4" name="Rectangle 15"/>
          <p:cNvSpPr>
            <a:spLocks noChangeArrowheads="1"/>
          </p:cNvSpPr>
          <p:nvPr/>
        </p:nvSpPr>
        <p:spPr bwMode="auto">
          <a:xfrm>
            <a:off x="3564418" y="2067868"/>
            <a:ext cx="274114" cy="28338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5" name="Oval 14"/>
          <p:cNvSpPr>
            <a:spLocks noChangeArrowheads="1"/>
          </p:cNvSpPr>
          <p:nvPr/>
        </p:nvSpPr>
        <p:spPr bwMode="auto">
          <a:xfrm>
            <a:off x="1643042" y="1643050"/>
            <a:ext cx="1153014" cy="650309"/>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5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r</a:t>
            </a:r>
            <a:endPar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6" name="Rectangle 13"/>
          <p:cNvSpPr>
            <a:spLocks noChangeArrowheads="1"/>
          </p:cNvSpPr>
          <p:nvPr/>
        </p:nvSpPr>
        <p:spPr bwMode="auto">
          <a:xfrm>
            <a:off x="1428728" y="1214422"/>
            <a:ext cx="1675024" cy="357190"/>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7" name="Oval 12"/>
          <p:cNvSpPr>
            <a:spLocks noChangeArrowheads="1"/>
          </p:cNvSpPr>
          <p:nvPr/>
        </p:nvSpPr>
        <p:spPr bwMode="auto">
          <a:xfrm>
            <a:off x="1500166" y="2706124"/>
            <a:ext cx="1438767" cy="651438"/>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r-w</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8" name="Rectangle 11"/>
          <p:cNvSpPr>
            <a:spLocks noChangeArrowheads="1"/>
          </p:cNvSpPr>
          <p:nvPr/>
        </p:nvSpPr>
        <p:spPr bwMode="auto">
          <a:xfrm>
            <a:off x="142844" y="2714620"/>
            <a:ext cx="1285884" cy="714380"/>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w</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9" name="Oval 10"/>
          <p:cNvSpPr>
            <a:spLocks noChangeArrowheads="1"/>
          </p:cNvSpPr>
          <p:nvPr/>
        </p:nvSpPr>
        <p:spPr bwMode="auto">
          <a:xfrm>
            <a:off x="4235402" y="2748660"/>
            <a:ext cx="821151" cy="65143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vert="horz" wrap="square" lIns="0" tIns="5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2" name="Rectangle 7"/>
          <p:cNvSpPr>
            <a:spLocks noChangeArrowheads="1"/>
          </p:cNvSpPr>
          <p:nvPr/>
        </p:nvSpPr>
        <p:spPr bwMode="auto">
          <a:xfrm>
            <a:off x="3214678" y="3145619"/>
            <a:ext cx="794670" cy="28338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3" name="Oval 6"/>
          <p:cNvSpPr>
            <a:spLocks noChangeArrowheads="1"/>
          </p:cNvSpPr>
          <p:nvPr/>
        </p:nvSpPr>
        <p:spPr bwMode="auto">
          <a:xfrm>
            <a:off x="1428728" y="3902506"/>
            <a:ext cx="1919975" cy="651438"/>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r-k</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w</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4" name="Rectangle 5"/>
          <p:cNvSpPr>
            <a:spLocks noChangeArrowheads="1"/>
          </p:cNvSpPr>
          <p:nvPr/>
        </p:nvSpPr>
        <p:spPr bwMode="auto">
          <a:xfrm>
            <a:off x="857224" y="4643446"/>
            <a:ext cx="3214710" cy="357190"/>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 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w</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6" name="Rectangle 3"/>
          <p:cNvSpPr>
            <a:spLocks noChangeArrowheads="1"/>
          </p:cNvSpPr>
          <p:nvPr/>
        </p:nvSpPr>
        <p:spPr bwMode="auto">
          <a:xfrm rot="19076811">
            <a:off x="3413529" y="3709261"/>
            <a:ext cx="1412234" cy="28338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37" name="Rectangle 2"/>
          <p:cNvSpPr>
            <a:spLocks noChangeArrowheads="1"/>
          </p:cNvSpPr>
          <p:nvPr/>
        </p:nvSpPr>
        <p:spPr bwMode="auto">
          <a:xfrm>
            <a:off x="2234456" y="3502809"/>
            <a:ext cx="337280" cy="28338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21" name="TextBox 20"/>
          <p:cNvSpPr txBox="1"/>
          <p:nvPr/>
        </p:nvSpPr>
        <p:spPr>
          <a:xfrm>
            <a:off x="357158" y="285728"/>
            <a:ext cx="2714644"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仿宋" panose="02010609060101010101" pitchFamily="49" charset="-122"/>
                <a:ea typeface="仿宋" panose="02010609060101010101" pitchFamily="49" charset="-122"/>
                <a:cs typeface="Consolas" panose="020B0609020204030204" pitchFamily="49" charset="0"/>
              </a:rPr>
              <a:t>一般情况：</a:t>
            </a:r>
            <a:endParaRPr lang="zh-CN" altLang="en-US">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cxnSp>
        <p:nvCxnSpPr>
          <p:cNvPr id="39" name="直接连接符 38"/>
          <p:cNvCxnSpPr>
            <a:stCxn id="25" idx="6"/>
            <a:endCxn id="29" idx="1"/>
          </p:cNvCxnSpPr>
          <p:nvPr/>
        </p:nvCxnSpPr>
        <p:spPr>
          <a:xfrm>
            <a:off x="2796056" y="1968205"/>
            <a:ext cx="1559601" cy="87585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1" name="直接连接符 40"/>
          <p:cNvCxnSpPr>
            <a:stCxn id="27" idx="6"/>
            <a:endCxn id="29" idx="2"/>
          </p:cNvCxnSpPr>
          <p:nvPr/>
        </p:nvCxnSpPr>
        <p:spPr>
          <a:xfrm>
            <a:off x="2938933" y="3031843"/>
            <a:ext cx="1296469" cy="4253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3" name="直接连接符 42"/>
          <p:cNvCxnSpPr>
            <a:stCxn id="33" idx="6"/>
            <a:endCxn id="29" idx="3"/>
          </p:cNvCxnSpPr>
          <p:nvPr/>
        </p:nvCxnSpPr>
        <p:spPr>
          <a:xfrm flipV="1">
            <a:off x="3348703" y="3304697"/>
            <a:ext cx="1006954" cy="92352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8215370" cy="145671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108000" bIns="144000" rtlCol="0">
            <a:spAutoFit/>
          </a:bodyPr>
          <a:lstStyle/>
          <a:p>
            <a:pPr marL="360045" indent="-360045"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另外设置二维数组</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fk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fk[</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得到最大值时物品</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挑选的件数。考虑物品</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，可以选择</a:t>
            </a:r>
            <a:r>
              <a:rPr lang="nb-NO"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nb-NO"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zh-CN"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w</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FF00FF"/>
                </a:solidFill>
                <a:latin typeface="+mn-ea"/>
                <a:cs typeface="Consolas" panose="020B0609020204030204" pitchFamily="49" charset="0"/>
              </a:rPr>
              <a:t>≤</a:t>
            </a:r>
            <a:r>
              <a:rPr lang="en-US"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571472" y="3071810"/>
            <a:ext cx="442915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anose="02010609060101010101" pitchFamily="49" charset="-122"/>
                <a:ea typeface="仿宋" panose="02010609060101010101" pitchFamily="49" charset="-122"/>
              </a:rPr>
              <a:t>状态转移方程</a:t>
            </a:r>
            <a:endParaRPr lang="zh-CN" altLang="en-US">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22" name="TextBox 21"/>
          <p:cNvSpPr txBox="1"/>
          <p:nvPr/>
        </p:nvSpPr>
        <p:spPr>
          <a:xfrm>
            <a:off x="500034" y="3786190"/>
            <a:ext cx="8215370" cy="91060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max</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baseline="-25000">
                <a:solidFill>
                  <a:srgbClr val="0000FF"/>
                </a:solidFill>
                <a:latin typeface="+mj-ea"/>
                <a:ea typeface="+mj-ea"/>
                <a:cs typeface="Consolas" panose="020B0609020204030204" pitchFamily="49" charset="0"/>
              </a:rPr>
              <a:t>≤</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dp[</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fk[</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物品</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取</a:t>
            </a:r>
            <a:r>
              <a:rPr lang="en-US" altLang="zh-CN" sz="2000" i="1">
                <a:solidFill>
                  <a:srgbClr val="00B0F0"/>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件</a:t>
            </a:r>
            <a:endParaRPr lang="zh-CN" altLang="zh-CN"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下箭头 38"/>
          <p:cNvSpPr/>
          <p:nvPr/>
        </p:nvSpPr>
        <p:spPr>
          <a:xfrm>
            <a:off x="3643306" y="2285992"/>
            <a:ext cx="428628"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8"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5" name="表格 34"/>
          <p:cNvGraphicFramePr>
            <a:graphicFrameLocks noGrp="1"/>
          </p:cNvGraphicFramePr>
          <p:nvPr/>
        </p:nvGraphicFramePr>
        <p:xfrm>
          <a:off x="642910" y="1000108"/>
          <a:ext cx="7786740" cy="2745292"/>
        </p:xfrm>
        <a:graphic>
          <a:graphicData uri="http://schemas.openxmlformats.org/drawingml/2006/table">
            <a:tbl>
              <a:tblPr/>
              <a:tblGrid>
                <a:gridCol w="864510"/>
                <a:gridCol w="864510"/>
                <a:gridCol w="864510"/>
                <a:gridCol w="865535"/>
                <a:gridCol w="865535"/>
                <a:gridCol w="865535"/>
                <a:gridCol w="865535"/>
                <a:gridCol w="865535"/>
                <a:gridCol w="865535"/>
              </a:tblGrid>
              <a:tr h="720874">
                <a:tc>
                  <a:txBody>
                    <a:bodyPr/>
                    <a:lstStyle/>
                    <a:p>
                      <a:pPr indent="0" algn="ctr">
                        <a:lnSpc>
                          <a:spcPct val="150000"/>
                        </a:lnSpc>
                        <a:spcAft>
                          <a:spcPts val="0"/>
                        </a:spcAft>
                      </a:pPr>
                      <a:r>
                        <a:rPr lang="nb-NO" sz="1800" kern="100">
                          <a:solidFill>
                            <a:srgbClr val="0000FF"/>
                          </a:solidFill>
                          <a:latin typeface="Consolas" panose="020B0609020204030204" pitchFamily="49" charset="0"/>
                          <a:ea typeface="宋体" panose="02010600030101010101" pitchFamily="2" charset="-122"/>
                          <a:cs typeface="Times New Roman" panose="02020603050405020304"/>
                        </a:rPr>
                        <a:t>    </a:t>
                      </a:r>
                      <a:r>
                        <a:rPr lang="en-US" sz="1800" i="1" kern="100">
                          <a:solidFill>
                            <a:srgbClr val="0000FF"/>
                          </a:solidFill>
                          <a:latin typeface="Consolas" panose="020B0609020204030204" pitchFamily="49" charset="0"/>
                          <a:ea typeface="宋体" panose="02010600030101010101" pitchFamily="2" charset="-122"/>
                          <a:cs typeface="Times New Roman" panose="02020603050405020304"/>
                        </a:rPr>
                        <a:t>j</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p>
                      <a:pPr indent="0" algn="ctr">
                        <a:lnSpc>
                          <a:spcPct val="150000"/>
                        </a:lnSpc>
                        <a:spcAft>
                          <a:spcPts val="0"/>
                        </a:spcAft>
                      </a:pPr>
                      <a:r>
                        <a:rPr lang="en-US" sz="1800" i="1" kern="100">
                          <a:solidFill>
                            <a:srgbClr val="0000FF"/>
                          </a:solidFill>
                          <a:latin typeface="Consolas" panose="020B0609020204030204" pitchFamily="49" charset="0"/>
                          <a:ea typeface="宋体" panose="02010600030101010101" pitchFamily="2" charset="-122"/>
                          <a:cs typeface="Times New Roman" panose="02020603050405020304"/>
                        </a:rPr>
                        <a:t>i</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Times New Roman" panose="02020603050405020304"/>
                        </a:rPr>
                        <a:t>0</a:t>
                      </a:r>
                      <a:endParaRPr lang="zh-CN" sz="1800" kern="100">
                        <a:solidFill>
                          <a:schemeClr val="tx1"/>
                        </a:solidFill>
                        <a:latin typeface="Consolas" panose="020B0609020204030204" pitchFamily="49" charset="0"/>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1</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2</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3</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4</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5</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6</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宋体" panose="02010600030101010101" pitchFamily="2" charset="-122"/>
                        </a:rPr>
                        <a:t>7</a:t>
                      </a:r>
                      <a:endParaRPr lang="zh-CN" sz="1800" kern="100">
                        <a:solidFill>
                          <a:schemeClr val="tx1"/>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0583">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Times New Roman" panose="02020603050405020304"/>
                        </a:rPr>
                        <a:t>0</a:t>
                      </a:r>
                      <a:endParaRPr lang="zh-CN" sz="1800" kern="100">
                        <a:solidFill>
                          <a:schemeClr val="tx1"/>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Times New Roman" panose="02020603050405020304"/>
                        </a:rPr>
                        <a:t>0[0]</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480583">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Times New Roman" panose="02020603050405020304"/>
                        </a:rPr>
                        <a:t>1</a:t>
                      </a:r>
                      <a:endParaRPr lang="zh-CN" sz="1800" kern="100">
                        <a:solidFill>
                          <a:schemeClr val="tx1"/>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Times New Roman" panose="02020603050405020304"/>
                        </a:rPr>
                        <a:t>0[0]</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anose="020B0609020204030204" pitchFamily="49" charset="0"/>
                          <a:ea typeface="宋体" panose="02010600030101010101" pitchFamily="2" charset="-122"/>
                          <a:cs typeface="宋体" panose="02010600030101010101" pitchFamily="2" charset="-122"/>
                        </a:rPr>
                        <a:t>4[1]</a:t>
                      </a:r>
                      <a:endParaRPr lang="zh-CN" sz="1800" b="1" kern="100">
                        <a:solidFill>
                          <a:srgbClr val="FF0000"/>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4[1]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4[1]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8[2]</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8[2]</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480583">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Times New Roman" panose="02020603050405020304"/>
                        </a:rPr>
                        <a:t>2</a:t>
                      </a:r>
                      <a:endParaRPr lang="zh-CN" sz="1800" kern="100">
                        <a:solidFill>
                          <a:schemeClr val="tx1"/>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Times New Roman" panose="02020603050405020304"/>
                        </a:rPr>
                        <a:t>0[0]</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anose="020B0609020204030204" pitchFamily="49" charset="0"/>
                          <a:ea typeface="宋体" panose="02010600030101010101" pitchFamily="2" charset="-122"/>
                          <a:cs typeface="宋体" panose="02010600030101010101" pitchFamily="2" charset="-122"/>
                        </a:rPr>
                        <a:t>4[0]</a:t>
                      </a:r>
                      <a:endParaRPr lang="zh-CN" sz="1800" b="1" kern="100">
                        <a:solidFill>
                          <a:srgbClr val="FF0000"/>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5[1]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5[1]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8[0]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9[1]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480583">
                <a:tc>
                  <a:txBody>
                    <a:bodyPr/>
                    <a:lstStyle/>
                    <a:p>
                      <a:pPr indent="0" algn="ctr">
                        <a:lnSpc>
                          <a:spcPct val="150000"/>
                        </a:lnSpc>
                        <a:spcAft>
                          <a:spcPts val="0"/>
                        </a:spcAft>
                      </a:pPr>
                      <a:r>
                        <a:rPr lang="en-US" sz="1800" kern="100">
                          <a:solidFill>
                            <a:schemeClr val="tx1"/>
                          </a:solidFill>
                          <a:latin typeface="Consolas" panose="020B0609020204030204" pitchFamily="49" charset="0"/>
                          <a:ea typeface="宋体" panose="02010600030101010101" pitchFamily="2" charset="-122"/>
                          <a:cs typeface="Times New Roman" panose="02020603050405020304"/>
                        </a:rPr>
                        <a:t>3</a:t>
                      </a:r>
                      <a:endParaRPr lang="zh-CN" sz="1800" kern="100">
                        <a:solidFill>
                          <a:schemeClr val="tx1"/>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Times New Roman" panose="02020603050405020304"/>
                        </a:rPr>
                        <a:t>0[0]</a:t>
                      </a:r>
                      <a:endParaRPr lang="zh-CN" sz="1800" kern="100">
                        <a:solidFill>
                          <a:srgbClr val="0000FF"/>
                        </a:solidFill>
                        <a:latin typeface="Consolas" panose="020B0609020204030204" pitchFamily="49" charset="0"/>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0[0]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3[1]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4[0]</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6[2]</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7[1]</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anose="020B0609020204030204" pitchFamily="49" charset="0"/>
                          <a:ea typeface="宋体" panose="02010600030101010101" pitchFamily="2" charset="-122"/>
                          <a:cs typeface="宋体" panose="02010600030101010101" pitchFamily="2" charset="-122"/>
                        </a:rPr>
                        <a:t>9[3]</a:t>
                      </a:r>
                      <a:endParaRPr lang="zh-CN" sz="1800" kern="100">
                        <a:solidFill>
                          <a:srgbClr val="0000FF"/>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anose="020B0609020204030204" pitchFamily="49" charset="0"/>
                          <a:ea typeface="宋体" panose="02010600030101010101" pitchFamily="2" charset="-122"/>
                          <a:cs typeface="宋体" panose="02010600030101010101" pitchFamily="2" charset="-122"/>
                        </a:rPr>
                        <a:t>10[2]</a:t>
                      </a:r>
                      <a:endParaRPr lang="zh-CN" sz="1800" b="1" kern="100">
                        <a:solidFill>
                          <a:srgbClr val="FF0000"/>
                        </a:solidFill>
                        <a:latin typeface="Consolas" panose="020B0609020204030204" pitchFamily="49"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bl>
          </a:graphicData>
        </a:graphic>
      </p:graphicFrame>
      <p:sp>
        <p:nvSpPr>
          <p:cNvPr id="36" name="TextBox 35"/>
          <p:cNvSpPr txBox="1"/>
          <p:nvPr/>
        </p:nvSpPr>
        <p:spPr>
          <a:xfrm>
            <a:off x="428596" y="428604"/>
            <a:ext cx="6572296"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W=7</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642910" y="4143380"/>
            <a:ext cx="7929618"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最优方案</a:t>
            </a:r>
            <a:r>
              <a:rPr lang="zh-CN" altLang="en-US" sz="22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物品</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挑选</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件，物品</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挑选</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件，物品</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挑选</a:t>
            </a:r>
            <a:r>
              <a:rPr lang="en-US"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200">
                <a:solidFill>
                  <a:srgbClr val="0000FF"/>
                </a:solidFill>
                <a:latin typeface="Consolas" panose="020B0609020204030204" pitchFamily="49" charset="0"/>
                <a:ea typeface="仿宋" panose="02010609060101010101" pitchFamily="49" charset="-122"/>
                <a:cs typeface="Times New Roman" panose="02020603050405020304" pitchFamily="18" charset="0"/>
              </a:rPr>
              <a:t>件。</a:t>
            </a:r>
            <a:endParaRPr lang="zh-CN" altLang="en-US" sz="22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643998" cy="61855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fk;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物品件数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120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completeknap</a:t>
            </a:r>
            <a:r>
              <a:rPr lang="en-US" altLang="zh-CN" sz="2000">
                <a:solidFill>
                  <a:srgbClr val="0000FF"/>
                </a:solidFill>
                <a:latin typeface="Consolas" panose="020B0609020204030204" pitchFamily="49" charset="0"/>
                <a:ea typeface="仿宋" panose="02010609060101010101" pitchFamily="49" charset="-122"/>
              </a:rPr>
              <a:t>(int w[],int v[],int n,int W)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dp=vector&lt;vector&lt;int&gt;&gt;(n+1,vector&lt;int&gt;(W+1,0));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fk=vector&lt;vector&lt;int&gt;&gt;(n+1,vector&lt;int&gt;(W+1,0));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r=0;r&lt;=W;r++)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k=0;k*w[i-1]&lt;=r;k++)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dp[i][r]&lt;dp[i-1][r-k*w[i-1]]+k*v[i-1]</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dp[i][r]=dp[i-1][r-k*w[i-1]]+k*v[i-1];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fk[i][r]=k;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a:t>
            </a:r>
            <a:r>
              <a:rPr lang="en-US" altLang="zh-CN" sz="2000">
                <a:solidFill>
                  <a:srgbClr val="00B0F0"/>
                </a:solidFill>
                <a:latin typeface="Consolas" panose="020B0609020204030204" pitchFamily="49" charset="0"/>
                <a:ea typeface="仿宋" panose="02010609060101010101" pitchFamily="49" charset="-122"/>
              </a:rPr>
              <a:t>i-1</a:t>
            </a:r>
            <a:r>
              <a:rPr lang="zh-CN" altLang="zh-CN" sz="2000">
                <a:solidFill>
                  <a:srgbClr val="00B0F0"/>
                </a:solidFill>
                <a:latin typeface="Consolas" panose="020B0609020204030204" pitchFamily="49" charset="0"/>
                <a:ea typeface="仿宋" panose="02010609060101010101" pitchFamily="49" charset="-122"/>
              </a:rPr>
              <a:t>取</a:t>
            </a:r>
            <a:r>
              <a:rPr lang="en-US" altLang="zh-CN" sz="2000">
                <a:solidFill>
                  <a:srgbClr val="00B0F0"/>
                </a:solidFill>
                <a:latin typeface="Consolas" panose="020B0609020204030204" pitchFamily="49" charset="0"/>
                <a:ea typeface="仿宋" panose="02010609060101010101" pitchFamily="49" charset="-122"/>
              </a:rPr>
              <a:t>k</a:t>
            </a:r>
            <a:r>
              <a:rPr lang="zh-CN" altLang="zh-CN" sz="2000">
                <a:solidFill>
                  <a:srgbClr val="00B0F0"/>
                </a:solidFill>
                <a:latin typeface="Consolas" panose="020B0609020204030204" pitchFamily="49" charset="0"/>
                <a:ea typeface="仿宋" panose="02010609060101010101" pitchFamily="49" charset="-122"/>
              </a:rPr>
              <a:t>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00042"/>
            <a:ext cx="8643998" cy="34654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(int w[],int n,int W)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回推求一个最优方案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int i=n,r=W;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(i&gt;=1)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选择物品</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共</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件</a:t>
            </a:r>
            <a:r>
              <a:rPr lang="en-US" altLang="zh-CN" sz="2000">
                <a:solidFill>
                  <a:srgbClr val="0000FF"/>
                </a:solidFill>
                <a:latin typeface="Consolas" panose="020B0609020204030204" pitchFamily="49" charset="0"/>
                <a:ea typeface="仿宋" panose="02010609060101010101" pitchFamily="49" charset="-122"/>
              </a:rPr>
              <a:t>\n",i-1,fk[i][r]);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r-=fk[i][r]*w[i-1];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剩余重量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357158" y="4429132"/>
            <a:ext cx="8215370" cy="8270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【算法分析】</a:t>
            </a:r>
            <a:r>
              <a:rPr lang="nb-NO"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completeKnap</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算法中包含三重循环，</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的循环最坏可能从</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，所以算法的时间复杂度为</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2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7" y="500042"/>
            <a:ext cx="2571768"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anose="020B0503020204020204" pitchFamily="34" charset="-122"/>
                <a:ea typeface="微软雅黑" panose="020B0503020204020204" pitchFamily="34" charset="-122"/>
              </a:rPr>
              <a:t>算法时间优化</a:t>
            </a:r>
            <a:endParaRPr lang="zh-CN" altLang="zh-C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TextBox 4"/>
          <p:cNvSpPr txBox="1"/>
          <p:nvPr/>
        </p:nvSpPr>
        <p:spPr>
          <a:xfrm>
            <a:off x="428596" y="1357298"/>
            <a:ext cx="8001056" cy="33984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完全背包问题转换为这样的</a:t>
            </a:r>
            <a:r>
              <a:rPr lang="pt-BR" altLang="zh-CN">
                <a:solidFill>
                  <a:srgbClr val="FF0000"/>
                </a:solidFill>
                <a:latin typeface="Consolas" panose="020B0609020204030204" pitchFamily="49" charset="0"/>
                <a:ea typeface="仿宋" panose="02010609060101010101" pitchFamily="49" charset="-122"/>
                <a:cs typeface="Consolas" panose="020B0609020204030204" pitchFamily="49" charset="0"/>
              </a:rPr>
              <a:t>0/1</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背包问题</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，物品</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出现</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例如对于完全背包问题</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W=7</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），物品</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最多取</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W/3=2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次，物品</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最多取</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W/4=1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次，物品</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最多取</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W/2=3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次，对应的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背包问题是</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W=7</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后者的最大价值与前者是相同的。</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285728"/>
            <a:ext cx="8643998" cy="47895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completeknap1</a:t>
            </a:r>
            <a:r>
              <a:rPr lang="en-US" altLang="zh-CN" sz="2000">
                <a:solidFill>
                  <a:srgbClr val="0000FF"/>
                </a:solidFill>
                <a:latin typeface="Consolas" panose="020B0609020204030204" pitchFamily="49" charset="0"/>
                <a:ea typeface="仿宋" panose="02010609060101010101" pitchFamily="49" charset="-122"/>
              </a:rPr>
              <a:t>(int w[],int v[],int n,int W)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时间改进算法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dp=vector&lt;vector&lt;int&gt;&gt;(n+1,vector&lt;int&gt;(W+1,0));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r=0;r&lt;=W;r++)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r&lt;w[i-1]</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a:t>
            </a:r>
            <a:r>
              <a:rPr lang="en-US" altLang="zh-CN" sz="2000">
                <a:solidFill>
                  <a:srgbClr val="00B0F0"/>
                </a:solidFill>
                <a:latin typeface="Consolas" panose="020B0609020204030204" pitchFamily="49" charset="0"/>
                <a:ea typeface="仿宋" panose="02010609060101010101" pitchFamily="49" charset="-122"/>
              </a:rPr>
              <a:t>i-1</a:t>
            </a:r>
            <a:r>
              <a:rPr lang="zh-CN" altLang="zh-CN" sz="2000">
                <a:solidFill>
                  <a:srgbClr val="00B0F0"/>
                </a:solidFill>
                <a:latin typeface="Consolas" panose="020B0609020204030204" pitchFamily="49" charset="0"/>
                <a:ea typeface="仿宋" panose="02010609060101010101" pitchFamily="49" charset="-122"/>
              </a:rPr>
              <a:t>放不下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dp[i][r]=dp[i-1][r];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在不选择和选择物品</a:t>
            </a:r>
            <a:r>
              <a:rPr lang="en-US" altLang="zh-CN" sz="2000">
                <a:solidFill>
                  <a:srgbClr val="00B0F0"/>
                </a:solidFill>
                <a:latin typeface="Consolas" panose="020B0609020204030204" pitchFamily="49" charset="0"/>
                <a:ea typeface="仿宋" panose="02010609060101010101" pitchFamily="49" charset="-122"/>
              </a:rPr>
              <a:t>i-1</a:t>
            </a:r>
            <a:r>
              <a:rPr lang="zh-CN" altLang="zh-CN" sz="2000">
                <a:solidFill>
                  <a:srgbClr val="00B0F0"/>
                </a:solidFill>
                <a:latin typeface="Consolas" panose="020B0609020204030204" pitchFamily="49" charset="0"/>
                <a:ea typeface="仿宋" panose="02010609060101010101" pitchFamily="49" charset="-122"/>
              </a:rPr>
              <a:t>（多次）中求最大值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dp[i][r]=max(dp[i-1][r],dp[i][r-w[i-1]]+v[i-1]);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返回总价值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142844" y="5500702"/>
            <a:ext cx="8572560" cy="76944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【算法分析】</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上述算法中包含两重循环，所以算法的时间复杂度为</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42852"/>
            <a:ext cx="2214578"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anose="020B0503020204020204" pitchFamily="34" charset="-122"/>
                <a:ea typeface="微软雅黑" panose="020B0503020204020204" pitchFamily="34" charset="-122"/>
              </a:rPr>
              <a:t>算法空间优化</a:t>
            </a:r>
            <a:endParaRPr lang="zh-CN" altLang="zh-C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TextBox 3"/>
          <p:cNvSpPr txBox="1"/>
          <p:nvPr/>
        </p:nvSpPr>
        <p:spPr>
          <a:xfrm>
            <a:off x="285720" y="714356"/>
            <a:ext cx="8072494" cy="26076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completeknap</a:t>
            </a:r>
            <a:r>
              <a:rPr lang="en-US" altLang="zh-CN" sz="2000">
                <a:solidFill>
                  <a:srgbClr val="0000FF"/>
                </a:solidFill>
                <a:latin typeface="Consolas" panose="020B0609020204030204" pitchFamily="49" charset="0"/>
                <a:ea typeface="仿宋" panose="02010609060101010101" pitchFamily="49" charset="-122"/>
              </a:rPr>
              <a:t>2(int w[],int v[],int n,int W)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dp(W+1,0);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a:t>
            </a:r>
            <a:r>
              <a:rPr lang="en-US" altLang="zh-CN" sz="2000">
                <a:solidFill>
                  <a:srgbClr val="FF00FF"/>
                </a:solidFill>
                <a:latin typeface="Consolas" panose="020B0609020204030204" pitchFamily="49" charset="0"/>
                <a:ea typeface="仿宋" panose="02010609060101010101" pitchFamily="49" charset="-122"/>
              </a:rPr>
              <a:t>r=w[i-1];r&lt;=W;r++</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w[i-1]</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W</a:t>
            </a:r>
            <a:r>
              <a:rPr lang="zh-CN" altLang="zh-CN" sz="2000">
                <a:solidFill>
                  <a:srgbClr val="00B0F0"/>
                </a:solidFill>
                <a:latin typeface="Consolas" panose="020B0609020204030204" pitchFamily="49" charset="0"/>
                <a:ea typeface="仿宋" panose="02010609060101010101" pitchFamily="49" charset="-122"/>
              </a:rPr>
              <a:t>遍历</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dp[r]=max(dp[r],dp[r-w[i-1]]+v[i-1]);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9" name="右大括号 8"/>
          <p:cNvSpPr/>
          <p:nvPr/>
        </p:nvSpPr>
        <p:spPr>
          <a:xfrm>
            <a:off x="8501090" y="2643182"/>
            <a:ext cx="142876" cy="2000264"/>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8643966" y="3286124"/>
            <a:ext cx="357190" cy="707886"/>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差别</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TextBox 11"/>
          <p:cNvSpPr txBox="1"/>
          <p:nvPr/>
        </p:nvSpPr>
        <p:spPr>
          <a:xfrm>
            <a:off x="285720" y="3625722"/>
            <a:ext cx="8072494" cy="30179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knap2</a:t>
            </a:r>
            <a:r>
              <a:rPr lang="en-US" altLang="zh-CN" sz="2000">
                <a:solidFill>
                  <a:srgbClr val="0000FF"/>
                </a:solidFill>
                <a:latin typeface="Consolas" panose="020B0609020204030204" pitchFamily="49" charset="0"/>
                <a:ea typeface="仿宋" panose="02010609060101010101" pitchFamily="49" charset="-122"/>
              </a:rPr>
              <a:t>(int w[],int v[],int n,int W)	{		</a:t>
            </a:r>
            <a:r>
              <a:rPr lang="en-US" altLang="zh-CN" sz="2000">
                <a:solidFill>
                  <a:srgbClr val="00B0F0"/>
                </a:solidFill>
                <a:latin typeface="Consolas" panose="020B0609020204030204" pitchFamily="49" charset="0"/>
                <a:ea typeface="仿宋" panose="02010609060101010101" pitchFamily="49" charset="-122"/>
              </a:rPr>
              <a:t>//0/1</a:t>
            </a:r>
            <a:r>
              <a:rPr lang="zh-CN" altLang="en-US" sz="2000">
                <a:solidFill>
                  <a:srgbClr val="00B0F0"/>
                </a:solidFill>
                <a:latin typeface="Consolas" panose="020B0609020204030204" pitchFamily="49" charset="0"/>
                <a:ea typeface="仿宋" panose="02010609060101010101" pitchFamily="49" charset="-122"/>
              </a:rPr>
              <a:t>背包</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dp(W+1,0);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a:t>
            </a:r>
            <a:r>
              <a:rPr lang="en-US" altLang="zh-CN" sz="2000">
                <a:solidFill>
                  <a:srgbClr val="FF00FF"/>
                </a:solidFill>
                <a:latin typeface="Consolas" panose="020B0609020204030204" pitchFamily="49" charset="0"/>
                <a:ea typeface="仿宋" panose="02010609060101010101" pitchFamily="49" charset="-122"/>
              </a:rPr>
              <a:t>r=W;r&gt;=w[i-1];r--)</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按</a:t>
            </a:r>
            <a:r>
              <a:rPr lang="en-US" altLang="zh-CN" sz="2000">
                <a:solidFill>
                  <a:srgbClr val="00B0F0"/>
                </a:solidFill>
                <a:latin typeface="Consolas" panose="020B0609020204030204" pitchFamily="49" charset="0"/>
                <a:ea typeface="仿宋" panose="02010609060101010101" pitchFamily="49" charset="-122"/>
              </a:rPr>
              <a:t>w[i-1]</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W</a:t>
            </a:r>
            <a:r>
              <a:rPr lang="zh-CN" altLang="zh-CN" sz="2000">
                <a:solidFill>
                  <a:srgbClr val="00B0F0"/>
                </a:solidFill>
                <a:latin typeface="Consolas" panose="020B0609020204030204" pitchFamily="49" charset="0"/>
                <a:ea typeface="仿宋" panose="02010609060101010101" pitchFamily="49" charset="-122"/>
              </a:rPr>
              <a:t>的逆序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dp[r]=max(dp[r],dp[r-w[i-1]]+v[i-1]);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142984"/>
            <a:ext cx="7929618" cy="495167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300"/>
              </a:lnSpc>
              <a:spcBef>
                <a:spcPts val="600"/>
              </a:spcBef>
            </a:pP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7.3</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零钱兑换（</a:t>
            </a:r>
            <a:r>
              <a:rPr lang="en-US" altLang="zh-CN">
                <a:solidFill>
                  <a:srgbClr val="0000FF"/>
                </a:solidFill>
                <a:latin typeface="Consolas" panose="020B0609020204030204" pitchFamily="49" charset="0"/>
                <a:ea typeface="仿宋" panose="02010609060101010101" pitchFamily="49" charset="-122"/>
              </a:rPr>
              <a:t>LeetCode322</a:t>
            </a:r>
            <a:r>
              <a:rPr lang="zh-CN" altLang="zh-CN">
                <a:solidFill>
                  <a:srgbClr val="0000FF"/>
                </a:solidFill>
                <a:latin typeface="Consolas" panose="020B0609020204030204" pitchFamily="49" charset="0"/>
                <a:ea typeface="仿宋" panose="02010609060101010101" pitchFamily="49" charset="-122"/>
              </a:rPr>
              <a:t>★★）。给定一个含</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12</a:t>
            </a:r>
            <a:r>
              <a:rPr lang="zh-CN" altLang="zh-CN">
                <a:solidFill>
                  <a:srgbClr val="0000FF"/>
                </a:solidFill>
                <a:latin typeface="Consolas" panose="020B0609020204030204" pitchFamily="49" charset="0"/>
                <a:ea typeface="仿宋" panose="02010609060101010101" pitchFamily="49" charset="-122"/>
              </a:rPr>
              <a:t>）个整数的数组</a:t>
            </a:r>
            <a:r>
              <a:rPr lang="en-US" altLang="zh-CN">
                <a:solidFill>
                  <a:srgbClr val="0000FF"/>
                </a:solidFill>
                <a:latin typeface="Consolas" panose="020B0609020204030204" pitchFamily="49" charset="0"/>
                <a:ea typeface="仿宋" panose="02010609060101010101" pitchFamily="49" charset="-122"/>
              </a:rPr>
              <a:t>coins</a:t>
            </a:r>
            <a:r>
              <a:rPr lang="zh-CN" altLang="zh-CN">
                <a:solidFill>
                  <a:srgbClr val="0000FF"/>
                </a:solidFill>
                <a:latin typeface="Consolas" panose="020B0609020204030204" pitchFamily="49" charset="0"/>
                <a:ea typeface="仿宋" panose="02010609060101010101" pitchFamily="49" charset="-122"/>
              </a:rPr>
              <a:t>，表示不同面额的硬币（</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coins[</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2^31-1</a:t>
            </a:r>
            <a:r>
              <a:rPr lang="zh-CN" altLang="zh-CN">
                <a:solidFill>
                  <a:srgbClr val="0000FF"/>
                </a:solidFill>
                <a:latin typeface="Consolas" panose="020B0609020204030204" pitchFamily="49" charset="0"/>
                <a:ea typeface="仿宋" panose="02010609060101010101" pitchFamily="49" charset="-122"/>
              </a:rPr>
              <a:t>），以及一个表示总金额的整数</a:t>
            </a:r>
            <a:r>
              <a:rPr lang="en-US" altLang="zh-CN">
                <a:solidFill>
                  <a:srgbClr val="0000FF"/>
                </a:solidFill>
                <a:latin typeface="Consolas" panose="020B0609020204030204" pitchFamily="49" charset="0"/>
                <a:ea typeface="仿宋" panose="02010609060101010101" pitchFamily="49" charset="-122"/>
              </a:rPr>
              <a:t>amount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amount</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10^4</a:t>
            </a:r>
            <a:r>
              <a:rPr lang="zh-CN" altLang="zh-CN">
                <a:solidFill>
                  <a:srgbClr val="0000FF"/>
                </a:solidFill>
                <a:latin typeface="Consolas" panose="020B0609020204030204" pitchFamily="49" charset="0"/>
                <a:ea typeface="仿宋" panose="02010609060101010101" pitchFamily="49" charset="-122"/>
              </a:rPr>
              <a:t>）。设计一个算法求可以凑成总金额所需的最少的硬币个数，如果没有任何一种硬币组合能组成总金额则返回</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。可以认为每种硬币的数量是无限的。</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3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a:solidFill>
                  <a:srgbClr val="0000FF"/>
                </a:solidFill>
                <a:latin typeface="Consolas" panose="020B0609020204030204" pitchFamily="49" charset="0"/>
                <a:ea typeface="仿宋" panose="02010609060101010101" pitchFamily="49" charset="-122"/>
              </a:rPr>
              <a:t>coins={1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amount=11</a:t>
            </a:r>
            <a:r>
              <a:rPr lang="zh-CN" altLang="zh-CN">
                <a:solidFill>
                  <a:srgbClr val="0000FF"/>
                </a:solidFill>
                <a:latin typeface="Consolas" panose="020B0609020204030204" pitchFamily="49" charset="0"/>
                <a:ea typeface="仿宋" panose="02010609060101010101" pitchFamily="49" charset="-122"/>
              </a:rPr>
              <a:t>，对应的硬币组合是</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，答案为</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3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要求设计如下成员函数：</a:t>
            </a:r>
            <a:endParaRPr lang="zh-CN" altLang="zh-CN">
              <a:solidFill>
                <a:srgbClr val="0000FF"/>
              </a:solidFill>
              <a:latin typeface="Consolas" panose="020B0609020204030204" pitchFamily="49" charset="0"/>
              <a:ea typeface="仿宋" panose="02010609060101010101" pitchFamily="49" charset="-122"/>
            </a:endParaRPr>
          </a:p>
          <a:p>
            <a:pPr algn="l" defTabSz="360045">
              <a:lnSpc>
                <a:spcPts val="33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int coinChange(vector&lt;int&gt;&amp; coins, int amount) {}</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5" name="组合 4"/>
          <p:cNvGrpSpPr/>
          <p:nvPr/>
        </p:nvGrpSpPr>
        <p:grpSpPr>
          <a:xfrm>
            <a:off x="714348" y="0"/>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449245"/>
            <a:ext cx="7929618" cy="408672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由于每种硬币的数量是无限的，该问题转换为完全背包问题，只是这里求最少的硬币个数，相当于每个硬币的价值为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，并且将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max</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改为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采用改进的完全背包动态规划算法，设置一维动态规划</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表示总金额为</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的最少的硬币个数。</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4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另外考虑特殊情况，将</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所有元素初始化为∞，当最后出现</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dp[amount]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为∞，说明没有任何一种硬币组合能组成</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amount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金额，返回</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5"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214290"/>
            <a:ext cx="8643998" cy="61296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const int INF=0x3f3f3f3f;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表示∞</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coinChange</a:t>
            </a:r>
            <a:r>
              <a:rPr lang="en-US" altLang="zh-CN" sz="2000">
                <a:solidFill>
                  <a:srgbClr val="0000FF"/>
                </a:solidFill>
                <a:latin typeface="Consolas" panose="020B0609020204030204" pitchFamily="49" charset="0"/>
                <a:ea typeface="仿宋" panose="02010609060101010101" pitchFamily="49" charset="-122"/>
              </a:rPr>
              <a:t>(vector&lt;int&gt;&amp; coins, int amount)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n=coins.size();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(amount==0) return 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dp[amount+1];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一维动态规划数组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memset(dp,0x3f,sizeof(dp));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置边界情况</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r=1;r&lt;=amount;r++)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r&gt;=coins[i-1]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dp[r]=min(dp[r],dp[r-coins[i-1]]+1);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dp[amount]==INF?-1:dp[amount];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9"/>
          <p:cNvGrpSpPr/>
          <p:nvPr/>
        </p:nvGrpSpPr>
        <p:grpSpPr>
          <a:xfrm>
            <a:off x="714348" y="785794"/>
            <a:ext cx="7000924" cy="461665"/>
            <a:chOff x="1071538" y="6286520"/>
            <a:chExt cx="7000924" cy="461665"/>
          </a:xfrm>
        </p:grpSpPr>
        <p:sp>
          <p:nvSpPr>
            <p:cNvPr id="9" name="TextBox 8"/>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56ms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9.7MB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285860"/>
            <a:ext cx="8358246" cy="41091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defTabSz="360045">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多重背包问题是在完全背包问题基础上增加了每种物品的数量限制，有</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种重量和价值分别为</a:t>
            </a:r>
            <a:r>
              <a:rPr lang="en-US" altLang="zh-CN" i="1">
                <a:solidFill>
                  <a:srgbClr val="0000FF"/>
                </a:solidFill>
                <a:latin typeface="Consolas" panose="020B0609020204030204" pitchFamily="49" charset="0"/>
                <a:ea typeface="仿宋" panose="02010609060101010101" pitchFamily="49" charset="-122"/>
              </a:rPr>
              <a:t>w</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&lt;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）的物品，每种物品的数目为</a:t>
            </a:r>
            <a:r>
              <a:rPr lang="nb-NO" altLang="zh-CN" i="1">
                <a:solidFill>
                  <a:srgbClr val="0000FF"/>
                </a:solidFill>
                <a:latin typeface="Consolas" panose="020B0609020204030204" pitchFamily="49" charset="0"/>
                <a:ea typeface="仿宋" panose="02010609060101010101" pitchFamily="49" charset="-122"/>
              </a:rPr>
              <a:t>s</a:t>
            </a:r>
            <a:r>
              <a:rPr lang="nb-NO"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，从这些物品中挑选总重量不超过</a:t>
            </a:r>
            <a:r>
              <a:rPr lang="en-US"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的物品，求挑选物品的最大价值。同样可以将多重背包问题转换为</a:t>
            </a:r>
            <a:r>
              <a:rPr lang="en-US" altLang="zh-CN">
                <a:solidFill>
                  <a:srgbClr val="0000FF"/>
                </a:solidFill>
                <a:latin typeface="Consolas" panose="020B0609020204030204" pitchFamily="49" charset="0"/>
                <a:ea typeface="仿宋" panose="02010609060101010101" pitchFamily="49" charset="-122"/>
              </a:rPr>
              <a:t>0/1</a:t>
            </a:r>
            <a:r>
              <a:rPr lang="zh-CN" altLang="zh-CN">
                <a:solidFill>
                  <a:srgbClr val="0000FF"/>
                </a:solidFill>
                <a:latin typeface="Consolas" panose="020B0609020204030204" pitchFamily="49" charset="0"/>
                <a:ea typeface="仿宋" panose="02010609060101010101" pitchFamily="49" charset="-122"/>
              </a:rPr>
              <a:t>背包问题</a:t>
            </a:r>
            <a:r>
              <a:rPr lang="en-US"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例如对于多重背包问题</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W=7</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w</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），对应的</a:t>
            </a:r>
            <a:r>
              <a:rPr lang="en-US" altLang="zh-CN">
                <a:solidFill>
                  <a:srgbClr val="0000FF"/>
                </a:solidFill>
                <a:latin typeface="Consolas" panose="020B0609020204030204" pitchFamily="49" charset="0"/>
                <a:ea typeface="仿宋" panose="02010609060101010101" pitchFamily="49" charset="-122"/>
              </a:rPr>
              <a:t>0/1</a:t>
            </a:r>
            <a:r>
              <a:rPr lang="zh-CN" altLang="zh-CN">
                <a:solidFill>
                  <a:srgbClr val="0000FF"/>
                </a:solidFill>
                <a:latin typeface="Consolas" panose="020B0609020204030204" pitchFamily="49" charset="0"/>
                <a:ea typeface="仿宋" panose="02010609060101010101" pitchFamily="49" charset="-122"/>
              </a:rPr>
              <a:t>背包问题是</a:t>
            </a:r>
            <a:r>
              <a:rPr lang="en-US" altLang="zh-CN">
                <a:solidFill>
                  <a:srgbClr val="0000FF"/>
                </a:solidFill>
                <a:latin typeface="Consolas" panose="020B0609020204030204" pitchFamily="49" charset="0"/>
                <a:ea typeface="仿宋" panose="02010609060101010101" pitchFamily="49" charset="-122"/>
              </a:rPr>
              <a:t>W=7</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w</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），后者的最大价值与前者是相同的。</a:t>
            </a:r>
            <a:endParaRPr lang="zh-CN" altLang="zh-CN">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500034" y="428604"/>
            <a:ext cx="392909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nb-NO" altLang="zh-CN" sz="2800">
                <a:latin typeface="+mj-lt"/>
                <a:ea typeface="微软雅黑" panose="020B0503020204020204" pitchFamily="34" charset="-122"/>
              </a:rPr>
              <a:t>7.8.2  </a:t>
            </a:r>
            <a:r>
              <a:rPr lang="zh-CN" altLang="en-US" sz="2800">
                <a:latin typeface="+mj-lt"/>
                <a:ea typeface="微软雅黑" panose="020B0503020204020204" pitchFamily="34" charset="-122"/>
              </a:rPr>
              <a:t>多重</a:t>
            </a:r>
            <a:r>
              <a:rPr lang="zh-CN" altLang="zh-CN" sz="2800">
                <a:latin typeface="+mj-lt"/>
                <a:ea typeface="微软雅黑" panose="020B0503020204020204" pitchFamily="34" charset="-122"/>
              </a:rPr>
              <a:t>背包问题</a:t>
            </a:r>
            <a:endParaRPr lang="zh-CN" altLang="zh-CN" sz="2800">
              <a:latin typeface="+mj-lt"/>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8143932" cy="350031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200"/>
              </a:lnSpc>
              <a:spcBef>
                <a:spcPts val="1200"/>
              </a:spcBef>
            </a:pP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7.4</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为了庆祝某班在学校运动会上取得第一名成绩，班主任决定开一场庆功会，为此拨款购买奖品，期望拨款金额能够购买最大价值的奖品。给定希望购买奖品的种数</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和拨款金额</a:t>
            </a:r>
            <a:r>
              <a:rPr lang="en-US"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，每种奖品的价格数组</a:t>
            </a:r>
            <a:r>
              <a:rPr lang="en-US" altLang="zh-CN" i="1">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、价值数组</a:t>
            </a:r>
            <a:r>
              <a:rPr lang="en-US" altLang="zh-CN" i="1">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和能够购买的最大数目数组</a:t>
            </a:r>
            <a:r>
              <a:rPr lang="en-US" altLang="zh-CN">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（注意这里价格和价值是不同的概念）。设计一个算法求购买奖品的最大价值。</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W=7</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w</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，答案是</a:t>
            </a:r>
            <a:r>
              <a:rPr lang="en-US" altLang="zh-CN">
                <a:solidFill>
                  <a:srgbClr val="0000FF"/>
                </a:solidFill>
                <a:latin typeface="Consolas" panose="020B0609020204030204" pitchFamily="49" charset="0"/>
                <a:ea typeface="仿宋" panose="02010609060101010101" pitchFamily="49" charset="-122"/>
              </a:rPr>
              <a:t>9</a:t>
            </a:r>
            <a:r>
              <a:rPr lang="zh-CN" altLang="zh-CN">
                <a:solidFill>
                  <a:srgbClr val="0000FF"/>
                </a:solidFill>
                <a:latin typeface="Consolas" panose="020B0609020204030204" pitchFamily="49" charset="0"/>
                <a:ea typeface="仿宋" panose="02010609060101010101" pitchFamily="49" charset="-122"/>
              </a:rPr>
              <a:t>，购买物品</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和物品</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各</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件。</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1296725"/>
            <a:ext cx="8501122" cy="208617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设置动态规划二维数组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r</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表示从物品</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（共</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个物品）中选出价格不超过</a:t>
            </a:r>
            <a:r>
              <a:rPr lang="en-US" altLang="zh-CN" i="1">
                <a:solidFill>
                  <a:srgbClr val="0000FF"/>
                </a:solidFill>
                <a:latin typeface="Consolas" panose="020B0609020204030204" pitchFamily="49" charset="0"/>
                <a:ea typeface="仿宋" panose="02010609060101010101" pitchFamily="49" charset="-122"/>
              </a:rPr>
              <a:t>r</a:t>
            </a:r>
            <a:r>
              <a:rPr lang="zh-CN" altLang="zh-CN">
                <a:solidFill>
                  <a:srgbClr val="0000FF"/>
                </a:solidFill>
                <a:latin typeface="Consolas" panose="020B0609020204030204" pitchFamily="49" charset="0"/>
                <a:ea typeface="仿宋" panose="02010609060101010101" pitchFamily="49" charset="-122"/>
              </a:rPr>
              <a:t>并且满足物品数量限制的最大总价值</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将</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数组所有元素初始化为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。对应的状态转移方程如下：</a:t>
            </a:r>
            <a:endParaRPr lang="zh-CN" altLang="zh-CN">
              <a:solidFill>
                <a:srgbClr val="0000FF"/>
              </a:solidFill>
              <a:latin typeface="Consolas" panose="020B0609020204030204" pitchFamily="49" charset="0"/>
              <a:ea typeface="仿宋" panose="02010609060101010101" pitchFamily="49" charset="-122"/>
            </a:endParaRPr>
          </a:p>
        </p:txBody>
      </p:sp>
      <p:sp>
        <p:nvSpPr>
          <p:cNvPr id="8" name="TextBox 7"/>
          <p:cNvSpPr txBox="1"/>
          <p:nvPr/>
        </p:nvSpPr>
        <p:spPr>
          <a:xfrm>
            <a:off x="142844" y="3714752"/>
            <a:ext cx="8929750" cy="525886"/>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spcBef>
                <a:spcPts val="0"/>
              </a:spcBef>
            </a:pPr>
            <a:r>
              <a:rPr lang="en-US" altLang="zh-CN" sz="2000">
                <a:solidFill>
                  <a:srgbClr val="0000FF"/>
                </a:solidFill>
                <a:latin typeface="Consolas" panose="020B0609020204030204" pitchFamily="49" charset="0"/>
              </a:rPr>
              <a:t>dp[</a:t>
            </a:r>
            <a:r>
              <a:rPr lang="en-US" altLang="zh-CN" sz="2000" i="1">
                <a:solidFill>
                  <a:srgbClr val="0000FF"/>
                </a:solidFill>
                <a:latin typeface="Consolas" panose="020B0609020204030204" pitchFamily="49" charset="0"/>
              </a:rPr>
              <a:t>i</a:t>
            </a:r>
            <a:r>
              <a:rPr lang="en-US"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r</a:t>
            </a:r>
            <a:r>
              <a:rPr lang="en-US" altLang="zh-CN" sz="2000">
                <a:solidFill>
                  <a:srgbClr val="0000FF"/>
                </a:solidFill>
                <a:latin typeface="Consolas" panose="020B0609020204030204" pitchFamily="49" charset="0"/>
              </a:rPr>
              <a:t>]=max</a:t>
            </a:r>
            <a:r>
              <a:rPr lang="en-US" altLang="zh-CN" sz="2000" baseline="-25000">
                <a:solidFill>
                  <a:srgbClr val="0000FF"/>
                </a:solidFill>
                <a:latin typeface="Consolas" panose="020B0609020204030204" pitchFamily="49" charset="0"/>
              </a:rPr>
              <a:t>0</a:t>
            </a:r>
            <a:r>
              <a:rPr lang="zh-CN" altLang="zh-CN" sz="2000" baseline="-25000">
                <a:solidFill>
                  <a:srgbClr val="0000FF"/>
                </a:solidFill>
                <a:latin typeface="+mj-ea"/>
                <a:ea typeface="+mj-ea"/>
              </a:rPr>
              <a:t>≤</a:t>
            </a:r>
            <a:r>
              <a:rPr lang="en-US" altLang="zh-CN" sz="2000" i="1" baseline="-25000">
                <a:solidFill>
                  <a:srgbClr val="0000FF"/>
                </a:solidFill>
                <a:latin typeface="Consolas" panose="020B0609020204030204" pitchFamily="49" charset="0"/>
              </a:rPr>
              <a:t>k</a:t>
            </a:r>
            <a:r>
              <a:rPr lang="zh-CN" altLang="zh-CN" sz="2000" baseline="-25000">
                <a:solidFill>
                  <a:srgbClr val="0000FF"/>
                </a:solidFill>
                <a:latin typeface="+mj-ea"/>
                <a:ea typeface="+mj-ea"/>
              </a:rPr>
              <a:t>≤</a:t>
            </a:r>
            <a:r>
              <a:rPr lang="en-US" altLang="zh-CN" sz="2000" baseline="-25000">
                <a:solidFill>
                  <a:srgbClr val="0000FF"/>
                </a:solidFill>
                <a:latin typeface="Consolas" panose="020B0609020204030204" pitchFamily="49" charset="0"/>
              </a:rPr>
              <a:t>s[i-1] &amp;&amp; </a:t>
            </a:r>
            <a:r>
              <a:rPr lang="en-US" altLang="zh-CN" sz="2000" i="1" baseline="-25000">
                <a:solidFill>
                  <a:srgbClr val="0000FF"/>
                </a:solidFill>
                <a:latin typeface="Consolas" panose="020B0609020204030204" pitchFamily="49" charset="0"/>
              </a:rPr>
              <a:t>k</a:t>
            </a:r>
            <a:r>
              <a:rPr lang="zh-CN" altLang="zh-CN" sz="2000" baseline="-25000">
                <a:solidFill>
                  <a:srgbClr val="0000FF"/>
                </a:solidFill>
                <a:latin typeface="Consolas" panose="020B0609020204030204" pitchFamily="49" charset="0"/>
              </a:rPr>
              <a:t>×</a:t>
            </a:r>
            <a:r>
              <a:rPr lang="en-US" altLang="zh-CN" sz="2000" i="1" baseline="-25000">
                <a:solidFill>
                  <a:srgbClr val="0000FF"/>
                </a:solidFill>
                <a:latin typeface="Consolas" panose="020B0609020204030204" pitchFamily="49" charset="0"/>
              </a:rPr>
              <a:t>w</a:t>
            </a:r>
            <a:r>
              <a:rPr lang="en-US" altLang="zh-CN" sz="2000" baseline="-25000">
                <a:solidFill>
                  <a:srgbClr val="0000FF"/>
                </a:solidFill>
                <a:latin typeface="Consolas" panose="020B0609020204030204" pitchFamily="49" charset="0"/>
              </a:rPr>
              <a:t>[</a:t>
            </a:r>
            <a:r>
              <a:rPr lang="en-US" altLang="zh-CN" sz="2000" i="1" baseline="-25000">
                <a:solidFill>
                  <a:srgbClr val="0000FF"/>
                </a:solidFill>
                <a:latin typeface="Consolas" panose="020B0609020204030204" pitchFamily="49" charset="0"/>
              </a:rPr>
              <a:t>i</a:t>
            </a:r>
            <a:r>
              <a:rPr lang="en-US" altLang="zh-CN" sz="2000" baseline="-25000">
                <a:solidFill>
                  <a:srgbClr val="0000FF"/>
                </a:solidFill>
                <a:latin typeface="Consolas" panose="020B0609020204030204" pitchFamily="49" charset="0"/>
              </a:rPr>
              <a:t>-1]</a:t>
            </a:r>
            <a:r>
              <a:rPr lang="zh-CN" altLang="zh-CN" sz="2000" baseline="-25000">
                <a:solidFill>
                  <a:srgbClr val="0000FF"/>
                </a:solidFill>
                <a:latin typeface="+mj-ea"/>
                <a:ea typeface="+mj-ea"/>
              </a:rPr>
              <a:t>≤</a:t>
            </a:r>
            <a:r>
              <a:rPr lang="en-US" altLang="zh-CN" sz="2000" i="1" baseline="-25000">
                <a:solidFill>
                  <a:srgbClr val="0000FF"/>
                </a:solidFill>
                <a:latin typeface="Consolas" panose="020B0609020204030204" pitchFamily="49" charset="0"/>
              </a:rPr>
              <a:t>r</a:t>
            </a:r>
            <a:r>
              <a:rPr lang="en-US" altLang="zh-CN" sz="2000">
                <a:solidFill>
                  <a:srgbClr val="0000FF"/>
                </a:solidFill>
                <a:latin typeface="Consolas" panose="020B0609020204030204" pitchFamily="49" charset="0"/>
              </a:rPr>
              <a:t>{dp[</a:t>
            </a:r>
            <a:r>
              <a:rPr lang="en-US" altLang="zh-CN" sz="2000" i="1">
                <a:solidFill>
                  <a:srgbClr val="0000FF"/>
                </a:solidFill>
                <a:latin typeface="Consolas" panose="020B0609020204030204" pitchFamily="49" charset="0"/>
              </a:rPr>
              <a:t>i</a:t>
            </a:r>
            <a:r>
              <a:rPr lang="en-US" altLang="zh-CN" sz="2000">
                <a:solidFill>
                  <a:srgbClr val="0000FF"/>
                </a:solidFill>
                <a:latin typeface="Consolas" panose="020B0609020204030204" pitchFamily="49" charset="0"/>
              </a:rPr>
              <a:t>-1][</a:t>
            </a:r>
            <a:r>
              <a:rPr lang="en-US" altLang="zh-CN" sz="2000" i="1">
                <a:solidFill>
                  <a:srgbClr val="0000FF"/>
                </a:solidFill>
                <a:latin typeface="Consolas" panose="020B0609020204030204" pitchFamily="49" charset="0"/>
              </a:rPr>
              <a:t>r</a:t>
            </a:r>
            <a:r>
              <a:rPr lang="en-US"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k</a:t>
            </a:r>
            <a:r>
              <a:rPr lang="zh-CN"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w</a:t>
            </a:r>
            <a:r>
              <a:rPr lang="en-US"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i</a:t>
            </a:r>
            <a:r>
              <a:rPr lang="en-US" altLang="zh-CN" sz="2000">
                <a:solidFill>
                  <a:srgbClr val="0000FF"/>
                </a:solidFill>
                <a:latin typeface="Consolas" panose="020B0609020204030204" pitchFamily="49" charset="0"/>
              </a:rPr>
              <a:t>-1]]+</a:t>
            </a:r>
            <a:r>
              <a:rPr lang="en-US" altLang="zh-CN" sz="2000" i="1">
                <a:solidFill>
                  <a:srgbClr val="0000FF"/>
                </a:solidFill>
                <a:latin typeface="Consolas" panose="020B0609020204030204" pitchFamily="49" charset="0"/>
              </a:rPr>
              <a:t>k</a:t>
            </a:r>
            <a:r>
              <a:rPr lang="zh-CN"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v</a:t>
            </a:r>
            <a:r>
              <a:rPr lang="en-US" altLang="zh-CN" sz="2000">
                <a:solidFill>
                  <a:srgbClr val="0000FF"/>
                </a:solidFill>
                <a:latin typeface="Consolas" panose="020B0609020204030204" pitchFamily="49" charset="0"/>
              </a:rPr>
              <a:t>[</a:t>
            </a:r>
            <a:r>
              <a:rPr lang="en-US" altLang="zh-CN" sz="2000" i="1">
                <a:solidFill>
                  <a:srgbClr val="0000FF"/>
                </a:solidFill>
                <a:latin typeface="Consolas" panose="020B0609020204030204" pitchFamily="49" charset="0"/>
              </a:rPr>
              <a:t>i</a:t>
            </a:r>
            <a:r>
              <a:rPr lang="en-US" altLang="zh-CN" sz="2000">
                <a:solidFill>
                  <a:srgbClr val="0000FF"/>
                </a:solidFill>
                <a:latin typeface="Consolas" panose="020B0609020204030204" pitchFamily="49" charset="0"/>
              </a:rPr>
              <a:t>-1]}</a:t>
            </a:r>
            <a:endParaRPr lang="zh-CN" altLang="zh-CN" sz="2000">
              <a:solidFill>
                <a:srgbClr val="0000FF"/>
              </a:solidFill>
              <a:latin typeface="Consolas" panose="020B0609020204030204" pitchFamily="49" charset="0"/>
            </a:endParaRPr>
          </a:p>
        </p:txBody>
      </p:sp>
      <p:sp>
        <p:nvSpPr>
          <p:cNvPr id="9" name="TextBox 8"/>
          <p:cNvSpPr txBox="1"/>
          <p:nvPr/>
        </p:nvSpPr>
        <p:spPr>
          <a:xfrm>
            <a:off x="357158" y="4643446"/>
            <a:ext cx="8501122" cy="67386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数组后，</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便是最大价值。</a:t>
            </a:r>
            <a:endParaRPr lang="en-US" altLang="zh-CN">
              <a:solidFill>
                <a:srgbClr val="0000FF"/>
              </a:solidFill>
              <a:latin typeface="Consolas" panose="020B0609020204030204" pitchFamily="49" charset="0"/>
              <a:ea typeface="仿宋" panose="02010609060101010101" pitchFamily="49" charset="-122"/>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1" name="Picture 4"/>
          <p:cNvPicPr>
            <a:picLocks noChangeAspect="1" noChangeArrowheads="1"/>
          </p:cNvPicPr>
          <p:nvPr/>
        </p:nvPicPr>
        <p:blipFill>
          <a:blip r:embed="rId2" cstate="print"/>
          <a:srcRect/>
          <a:stretch>
            <a:fillRect/>
          </a:stretch>
        </p:blipFill>
        <p:spPr bwMode="auto">
          <a:xfrm>
            <a:off x="571472" y="642918"/>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286808" cy="539125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solve</a:t>
            </a:r>
            <a:r>
              <a:rPr lang="en-US" altLang="zh-CN" sz="2000">
                <a:solidFill>
                  <a:srgbClr val="0000FF"/>
                </a:solidFill>
                <a:latin typeface="Consolas" panose="020B0609020204030204" pitchFamily="49" charset="0"/>
                <a:ea typeface="仿宋" panose="02010609060101010101" pitchFamily="49" charset="-122"/>
              </a:rPr>
              <a:t>(int n,int W,vector&lt;int&gt;&amp;w,</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vector&lt;int&gt;&amp;v,vector&lt;int&gt;&amp;s)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vector&lt;vector&lt;int&gt;&gt; dp(n+1,vector&lt;int&gt;(W+1,0));	</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r=0;r&lt;=W;r++)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k=0;k&lt;=s[i-1];k++)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k*w[i-1]&lt;=r</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dp[i][r]=max(dp[i][r],</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6600"/>
                </a:solidFill>
                <a:latin typeface="Consolas" panose="020B0609020204030204" pitchFamily="49" charset="0"/>
                <a:ea typeface="仿宋" panose="02010609060101010101" pitchFamily="49" charset="-122"/>
              </a:rPr>
              <a:t>						dp[i-1][r-k*w[i-1]]+k*v[i-1]);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071546"/>
            <a:ext cx="8286808" cy="43525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solve1</a:t>
            </a:r>
            <a:r>
              <a:rPr lang="en-US" altLang="zh-CN" sz="2000">
                <a:solidFill>
                  <a:srgbClr val="0000FF"/>
                </a:solidFill>
                <a:latin typeface="Consolas" panose="020B0609020204030204" pitchFamily="49" charset="0"/>
                <a:ea typeface="仿宋" panose="02010609060101010101" pitchFamily="49" charset="-122"/>
              </a:rPr>
              <a:t>(int n,int W,vector&lt;int&gt;&amp;w,</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vector&lt;int&gt;&amp;v,vector&lt;int&gt;&amp;s)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vector&lt;int&gt; dp(W+1,0);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r=W;r&gt;=0;r--) {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W</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k=0;k&lt;=s[i-1] &amp;&amp; k*w[i-1]&lt;=r;k++)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dp[r]=max(dp[r],dp[r-k*w[i-1]]+k*v[i-1]);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500034" y="285728"/>
            <a:ext cx="642942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采用滚动数组方式，将</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r</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改为</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r</a:t>
            </a:r>
            <a:r>
              <a:rPr lang="en-US"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428860" y="357166"/>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7.9</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扔鸡蛋问题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428596" y="1928802"/>
            <a:ext cx="8358246" cy="4131900"/>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zh-CN" altLang="zh-CN">
                <a:solidFill>
                  <a:srgbClr val="FF0000"/>
                </a:solidFill>
                <a:latin typeface="楷体" panose="02010609060101010101" pitchFamily="49" charset="-122"/>
                <a:ea typeface="楷体" panose="02010609060101010101" pitchFamily="49" charset="-122"/>
              </a:rPr>
              <a:t> </a:t>
            </a: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zh-CN">
                <a:solidFill>
                  <a:srgbClr val="FF0000"/>
                </a:solidFill>
                <a:latin typeface="楷体" panose="02010609060101010101" pitchFamily="49" charset="-122"/>
                <a:ea typeface="楷体" panose="02010609060101010101" pitchFamily="49" charset="-122"/>
              </a:rPr>
              <a:t>问题描述：</a:t>
            </a:r>
            <a:r>
              <a:rPr lang="zh-CN" altLang="zh-CN">
                <a:solidFill>
                  <a:srgbClr val="0000FF"/>
                </a:solidFill>
                <a:latin typeface="Consolas" panose="020B0609020204030204" pitchFamily="49" charset="0"/>
                <a:ea typeface="仿宋" panose="02010609060101010101" pitchFamily="49" charset="-122"/>
              </a:rPr>
              <a:t>扔鸡蛋问题（</a:t>
            </a:r>
            <a:r>
              <a:rPr lang="en-US" altLang="zh-CN">
                <a:solidFill>
                  <a:srgbClr val="0000FF"/>
                </a:solidFill>
                <a:latin typeface="Consolas" panose="020B0609020204030204" pitchFamily="49" charset="0"/>
                <a:ea typeface="仿宋" panose="02010609060101010101" pitchFamily="49" charset="-122"/>
              </a:rPr>
              <a:t>LeetCode1884</a:t>
            </a:r>
            <a:r>
              <a:rPr lang="zh-CN"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ts val="3500"/>
              </a:lnSpc>
              <a:spcBef>
                <a:spcPts val="0"/>
              </a:spcBef>
            </a:pPr>
            <a:r>
              <a:rPr lang="zh-CN" altLang="zh-CN">
                <a:solidFill>
                  <a:srgbClr val="0000FF"/>
                </a:solidFill>
                <a:latin typeface="Consolas" panose="020B0609020204030204" pitchFamily="49" charset="0"/>
                <a:ea typeface="仿宋" panose="02010609060101010101" pitchFamily="49" charset="-122"/>
              </a:rPr>
              <a:t>给定两枚相同的鸡蛋和一栋</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1000</a:t>
            </a:r>
            <a:r>
              <a:rPr lang="zh-CN" altLang="zh-CN">
                <a:solidFill>
                  <a:srgbClr val="0000FF"/>
                </a:solidFill>
                <a:latin typeface="Consolas" panose="020B0609020204030204" pitchFamily="49" charset="0"/>
                <a:ea typeface="仿宋" panose="02010609060101010101" pitchFamily="49" charset="-122"/>
              </a:rPr>
              <a:t>）层楼的建筑（楼层编号为</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）。已知存在楼层</a:t>
            </a:r>
            <a:r>
              <a:rPr lang="en-US" altLang="zh-CN" i="1">
                <a:solidFill>
                  <a:srgbClr val="0000FF"/>
                </a:solidFill>
                <a:latin typeface="Consolas" panose="020B0609020204030204" pitchFamily="49" charset="0"/>
                <a:ea typeface="仿宋" panose="02010609060101010101" pitchFamily="49" charset="-122"/>
              </a:rPr>
              <a:t>f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），任何从高于</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的楼层落下的鸡蛋都会碎，从</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楼层或比它低的楼层落下的鸡蛋都不会碎。每次操作是取一枚没有碎的鸡蛋并把它从任一楼层</a:t>
            </a:r>
            <a:r>
              <a:rPr lang="en-US" altLang="zh-CN" i="1">
                <a:solidFill>
                  <a:srgbClr val="0000FF"/>
                </a:solidFill>
                <a:latin typeface="Consolas" panose="020B0609020204030204" pitchFamily="49" charset="0"/>
                <a:ea typeface="仿宋" panose="02010609060101010101" pitchFamily="49" charset="-122"/>
              </a:rPr>
              <a:t>x</a:t>
            </a:r>
            <a:r>
              <a:rPr lang="zh-CN" altLang="zh-CN">
                <a:solidFill>
                  <a:srgbClr val="0000FF"/>
                </a:solidFill>
                <a:latin typeface="Consolas" panose="020B0609020204030204" pitchFamily="49" charset="0"/>
                <a:ea typeface="仿宋" panose="02010609060101010101" pitchFamily="49" charset="-122"/>
              </a:rPr>
              <a:t>扔下（满足</a:t>
            </a:r>
            <a:r>
              <a:rPr lang="en-US" altLang="zh-CN">
                <a:solidFill>
                  <a:srgbClr val="0000FF"/>
                </a:solidFill>
                <a:latin typeface="Consolas" panose="020B0609020204030204" pitchFamily="49" charset="0"/>
                <a:ea typeface="仿宋" panose="02010609060101010101" pitchFamily="49" charset="-122"/>
              </a:rPr>
              <a:t> 1</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x</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），如果鸡蛋碎了就不能再次使用它，如果某枚鸡蛋扔下后没有摔碎则可以在之后的操作中重复使用这枚鸡蛋。求要确定</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确切的值的最小操作次数是多少？</a:t>
            </a:r>
            <a:endParaRPr lang="en-US" altLang="zh-CN">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6" name="组合 5"/>
          <p:cNvGrpSpPr/>
          <p:nvPr/>
        </p:nvGrpSpPr>
        <p:grpSpPr>
          <a:xfrm>
            <a:off x="714348" y="857232"/>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500042"/>
            <a:ext cx="8572560" cy="514724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，一种最优的策略是将第一枚鸡蛋从</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楼扔下，如果碎了，那么</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在</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之间，将第二枚从</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楼扔下，然后每扔一次上一层楼，在</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次内找到</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，总操作次数</a:t>
            </a:r>
            <a:r>
              <a:rPr lang="en-US" altLang="zh-CN">
                <a:solidFill>
                  <a:srgbClr val="0000FF"/>
                </a:solidFill>
                <a:latin typeface="Consolas" panose="020B0609020204030204" pitchFamily="49" charset="0"/>
                <a:ea typeface="仿宋" panose="02010609060101010101" pitchFamily="49" charset="-122"/>
              </a:rPr>
              <a:t>=1+3=4</a:t>
            </a:r>
            <a:r>
              <a:rPr lang="zh-CN" altLang="zh-CN">
                <a:solidFill>
                  <a:srgbClr val="0000FF"/>
                </a:solidFill>
                <a:latin typeface="Consolas" panose="020B0609020204030204" pitchFamily="49" charset="0"/>
                <a:ea typeface="仿宋" panose="02010609060101010101" pitchFamily="49" charset="-122"/>
              </a:rPr>
              <a:t>。如果第一枚鸡蛋没有碎，相当于在楼层</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共</a:t>
            </a:r>
            <a:r>
              <a:rPr lang="en-US" altLang="zh-CN">
                <a:solidFill>
                  <a:srgbClr val="0000FF"/>
                </a:solidFill>
                <a:latin typeface="Consolas" panose="020B0609020204030204" pitchFamily="49" charset="0"/>
                <a:ea typeface="仿宋" panose="02010609060101010101" pitchFamily="49" charset="-122"/>
              </a:rPr>
              <a:t>6</a:t>
            </a:r>
            <a:r>
              <a:rPr lang="zh-CN" altLang="zh-CN">
                <a:solidFill>
                  <a:srgbClr val="0000FF"/>
                </a:solidFill>
                <a:latin typeface="Consolas" panose="020B0609020204030204" pitchFamily="49" charset="0"/>
                <a:ea typeface="仿宋" panose="02010609060101010101" pitchFamily="49" charset="-122"/>
              </a:rPr>
              <a:t>层的楼中用两枚鸡蛋找到</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，将第一枚鸡蛋从</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楼扔下，如果碎了，那么</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在</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之间，将第二枚从</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楼扔下，然后每扔一次上一层楼，在</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次内找到</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，总操作次数</a:t>
            </a:r>
            <a:r>
              <a:rPr lang="en-US" altLang="zh-CN">
                <a:solidFill>
                  <a:srgbClr val="0000FF"/>
                </a:solidFill>
                <a:latin typeface="Consolas" panose="020B0609020204030204" pitchFamily="49" charset="0"/>
                <a:ea typeface="仿宋" panose="02010609060101010101" pitchFamily="49" charset="-122"/>
              </a:rPr>
              <a:t>=1+1+2=4</a:t>
            </a:r>
            <a:r>
              <a:rPr lang="zh-CN" altLang="zh-CN">
                <a:solidFill>
                  <a:srgbClr val="0000FF"/>
                </a:solidFill>
                <a:latin typeface="Consolas" panose="020B0609020204030204" pitchFamily="49" charset="0"/>
                <a:ea typeface="仿宋" panose="02010609060101010101" pitchFamily="49" charset="-122"/>
              </a:rPr>
              <a:t>。如果从</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楼扔下第一枚鸡蛋没有碎，相当于在楼层</a:t>
            </a:r>
            <a:r>
              <a:rPr lang="en-US" altLang="zh-CN">
                <a:solidFill>
                  <a:srgbClr val="0000FF"/>
                </a:solidFill>
                <a:latin typeface="Consolas" panose="020B0609020204030204" pitchFamily="49" charset="0"/>
                <a:ea typeface="仿宋" panose="02010609060101010101" pitchFamily="49" charset="-122"/>
              </a:rPr>
              <a:t>8</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共</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层的楼中用两枚鸡蛋找到</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，其结果为</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次，总操作次数</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层扔一次）</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层扔一次）</a:t>
            </a:r>
            <a:r>
              <a:rPr lang="en-US" altLang="zh-CN">
                <a:solidFill>
                  <a:srgbClr val="0000FF"/>
                </a:solidFill>
                <a:latin typeface="Consolas" panose="020B0609020204030204" pitchFamily="49" charset="0"/>
                <a:ea typeface="仿宋" panose="02010609060101010101" pitchFamily="49" charset="-122"/>
              </a:rPr>
              <a:t>+2=4</a:t>
            </a:r>
            <a:r>
              <a:rPr lang="zh-CN" altLang="zh-CN">
                <a:solidFill>
                  <a:srgbClr val="0000FF"/>
                </a:solidFill>
                <a:latin typeface="Consolas" panose="020B0609020204030204" pitchFamily="49" charset="0"/>
                <a:ea typeface="仿宋" panose="02010609060101010101" pitchFamily="49" charset="-122"/>
              </a:rPr>
              <a:t>，所以答案为</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要求设计如下成员函数：</a:t>
            </a:r>
            <a:endParaRPr lang="zh-CN" altLang="zh-CN">
              <a:solidFill>
                <a:srgbClr val="0000FF"/>
              </a:solidFill>
              <a:latin typeface="Consolas" panose="020B0609020204030204" pitchFamily="49" charset="0"/>
              <a:ea typeface="仿宋" panose="02010609060101010101" pitchFamily="49" charset="-122"/>
            </a:endParaRPr>
          </a:p>
          <a:p>
            <a:pPr lvl="1" algn="l">
              <a:lnSpc>
                <a:spcPts val="3200"/>
              </a:lnSpc>
              <a:spcBef>
                <a:spcPts val="600"/>
              </a:spcBef>
            </a:pPr>
            <a:r>
              <a:rPr lang="en-US" altLang="zh-CN" sz="2000">
                <a:solidFill>
                  <a:srgbClr val="006600"/>
                </a:solidFill>
                <a:latin typeface="Consolas" panose="020B0609020204030204" pitchFamily="49" charset="0"/>
                <a:ea typeface="仿宋" panose="02010609060101010101" pitchFamily="49" charset="-122"/>
              </a:rPr>
              <a:t> int twoEggDrop(int n) { }</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835643"/>
            <a:ext cx="8643998" cy="152191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200"/>
              </a:lnSpc>
              <a:spcBef>
                <a:spcPts val="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）当</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时表示只剩一枚鸡蛋，此时需要从楼层</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开始逐层验证才能确保获取确切的</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值</a:t>
            </a:r>
            <a:r>
              <a:rPr lang="zh-CN" altLang="en-US">
                <a:solidFill>
                  <a:srgbClr val="00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f</a:t>
            </a:r>
            <a:r>
              <a:rPr lang="zh-CN" altLang="en-US">
                <a:solidFill>
                  <a:srgbClr val="FF00FF"/>
                </a:solidFill>
                <a:latin typeface="Consolas" panose="020B0609020204030204" pitchFamily="49" charset="0"/>
                <a:ea typeface="仿宋" panose="02010609060101010101" pitchFamily="49" charset="-122"/>
              </a:rPr>
              <a:t>为</a:t>
            </a:r>
            <a:r>
              <a:rPr lang="zh-CN" altLang="zh-CN">
                <a:solidFill>
                  <a:srgbClr val="FF00FF"/>
                </a:solidFill>
                <a:latin typeface="Consolas" panose="020B0609020204030204" pitchFamily="49" charset="0"/>
                <a:ea typeface="仿宋" panose="02010609060101010101" pitchFamily="49" charset="-122"/>
              </a:rPr>
              <a:t>扔鸡蛋</a:t>
            </a:r>
            <a:r>
              <a:rPr lang="zh-CN" altLang="en-US">
                <a:solidFill>
                  <a:srgbClr val="FF00FF"/>
                </a:solidFill>
                <a:latin typeface="Consolas" panose="020B0609020204030204" pitchFamily="49" charset="0"/>
                <a:ea typeface="仿宋" panose="02010609060101010101" pitchFamily="49" charset="-122"/>
              </a:rPr>
              <a:t>的最优</a:t>
            </a:r>
            <a:r>
              <a:rPr lang="zh-CN" altLang="zh-CN">
                <a:solidFill>
                  <a:srgbClr val="FF00FF"/>
                </a:solidFill>
                <a:latin typeface="Consolas" panose="020B0609020204030204" pitchFamily="49" charset="0"/>
                <a:ea typeface="仿宋" panose="02010609060101010101" pitchFamily="49" charset="-122"/>
              </a:rPr>
              <a:t>楼</a:t>
            </a:r>
            <a:r>
              <a:rPr lang="zh-CN" altLang="en-US">
                <a:solidFill>
                  <a:srgbClr val="FF00FF"/>
                </a:solidFill>
                <a:latin typeface="Consolas" panose="020B0609020204030204" pitchFamily="49" charset="0"/>
                <a:ea typeface="仿宋" panose="02010609060101010101" pitchFamily="49" charset="-122"/>
              </a:rPr>
              <a:t>层</a:t>
            </a:r>
            <a:r>
              <a:rPr lang="zh-CN" altLang="en-US">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，因此对于任意的</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j-ea"/>
                <a:ea typeface="+mj-ea"/>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mj-ea"/>
                <a:ea typeface="+mj-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）都有</a:t>
            </a:r>
            <a:r>
              <a:rPr lang="en-US" altLang="zh-CN">
                <a:solidFill>
                  <a:srgbClr val="0000FF"/>
                </a:solidFill>
                <a:latin typeface="Consolas" panose="020B0609020204030204" pitchFamily="49" charset="0"/>
                <a:ea typeface="仿宋" panose="02010609060101010101" pitchFamily="49" charset="-122"/>
              </a:rPr>
              <a:t>dp[0][</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，如图</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所示。</a:t>
            </a:r>
            <a:endParaRPr lang="zh-CN" altLang="zh-CN">
              <a:solidFill>
                <a:srgbClr val="0000FF"/>
              </a:solidFill>
              <a:latin typeface="Consolas" panose="020B0609020204030204" pitchFamily="49" charset="0"/>
              <a:ea typeface="仿宋" panose="02010609060101010101" pitchFamily="49" charset="-122"/>
            </a:endParaRPr>
          </a:p>
        </p:txBody>
      </p:sp>
      <p:sp>
        <p:nvSpPr>
          <p:cNvPr id="5" name="TextBox 4"/>
          <p:cNvSpPr txBox="1"/>
          <p:nvPr/>
        </p:nvSpPr>
        <p:spPr>
          <a:xfrm>
            <a:off x="1142976" y="391049"/>
            <a:ext cx="7572428" cy="1323439"/>
          </a:xfrm>
          <a:prstGeom prst="rect">
            <a:avLst/>
          </a:prstGeom>
          <a:noFill/>
        </p:spPr>
        <p:txBody>
          <a:bodyPr wrap="square" rtlCol="0">
            <a:spAutoFit/>
          </a:bodyPr>
          <a:lstStyle/>
          <a:p>
            <a:pPr algn="l">
              <a:lnSpc>
                <a:spcPts val="3200"/>
              </a:lnSpc>
              <a:spcBef>
                <a:spcPts val="0"/>
              </a:spcBef>
            </a:pPr>
            <a:r>
              <a:rPr lang="zh-CN" altLang="zh-CN">
                <a:solidFill>
                  <a:srgbClr val="0000FF"/>
                </a:solidFill>
                <a:latin typeface="Consolas" panose="020B0609020204030204" pitchFamily="49" charset="0"/>
                <a:ea typeface="仿宋" panose="02010609060101010101" pitchFamily="49" charset="-122"/>
              </a:rPr>
              <a:t>设计二维动态规划数组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表示有</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枚鸡蛋时，验证</a:t>
            </a:r>
            <a:r>
              <a:rPr lang="zh-CN" altLang="en-US">
                <a:solidFill>
                  <a:srgbClr val="0000FF"/>
                </a:solidFill>
                <a:latin typeface="Consolas" panose="020B0609020204030204" pitchFamily="49" charset="0"/>
                <a:ea typeface="仿宋" panose="02010609060101010101" pitchFamily="49" charset="-122"/>
              </a:rPr>
              <a:t>高度为</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层楼需要的最少操作次数，分为</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和</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的情况：</a:t>
            </a:r>
            <a:endParaRPr lang="zh-CN" altLang="zh-CN">
              <a:solidFill>
                <a:srgbClr val="0000FF"/>
              </a:solidFill>
              <a:latin typeface="Consolas" panose="020B0609020204030204" pitchFamily="49" charset="0"/>
              <a:ea typeface="仿宋" panose="02010609060101010101" pitchFamily="49" charset="-122"/>
            </a:endParaRPr>
          </a:p>
        </p:txBody>
      </p:sp>
      <p:grpSp>
        <p:nvGrpSpPr>
          <p:cNvPr id="18" name="组合 17"/>
          <p:cNvGrpSpPr/>
          <p:nvPr/>
        </p:nvGrpSpPr>
        <p:grpSpPr>
          <a:xfrm>
            <a:off x="2500298" y="3643314"/>
            <a:ext cx="4261188" cy="2423974"/>
            <a:chOff x="3454084" y="3338887"/>
            <a:chExt cx="4261188" cy="2423974"/>
          </a:xfrm>
        </p:grpSpPr>
        <p:sp>
          <p:nvSpPr>
            <p:cNvPr id="7" name="Rectangle 53"/>
            <p:cNvSpPr>
              <a:spLocks noChangeArrowheads="1"/>
            </p:cNvSpPr>
            <p:nvPr/>
          </p:nvSpPr>
          <p:spPr bwMode="auto">
            <a:xfrm>
              <a:off x="3853106" y="3749911"/>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8" name="Text Box 52"/>
            <p:cNvSpPr txBox="1">
              <a:spLocks noChangeArrowheads="1"/>
            </p:cNvSpPr>
            <p:nvPr/>
          </p:nvSpPr>
          <p:spPr bwMode="auto">
            <a:xfrm>
              <a:off x="3496135" y="3830017"/>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Rectangle 51"/>
            <p:cNvSpPr>
              <a:spLocks noChangeArrowheads="1"/>
            </p:cNvSpPr>
            <p:nvPr/>
          </p:nvSpPr>
          <p:spPr bwMode="auto">
            <a:xfrm>
              <a:off x="3853106" y="4214526"/>
              <a:ext cx="586942" cy="624827"/>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0" name="Text Box 50"/>
            <p:cNvSpPr txBox="1">
              <a:spLocks noChangeArrowheads="1"/>
            </p:cNvSpPr>
            <p:nvPr/>
          </p:nvSpPr>
          <p:spPr bwMode="auto">
            <a:xfrm>
              <a:off x="3496135" y="4454844"/>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1" name="Rectangle 49"/>
            <p:cNvSpPr>
              <a:spLocks noChangeArrowheads="1"/>
            </p:cNvSpPr>
            <p:nvPr/>
          </p:nvSpPr>
          <p:spPr bwMode="auto">
            <a:xfrm>
              <a:off x="3853106" y="4838209"/>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Text Box 48"/>
            <p:cNvSpPr txBox="1">
              <a:spLocks noChangeArrowheads="1"/>
            </p:cNvSpPr>
            <p:nvPr/>
          </p:nvSpPr>
          <p:spPr bwMode="auto">
            <a:xfrm>
              <a:off x="3496135" y="4918315"/>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3" name="Rectangle 47"/>
            <p:cNvSpPr>
              <a:spLocks noChangeArrowheads="1"/>
            </p:cNvSpPr>
            <p:nvPr/>
          </p:nvSpPr>
          <p:spPr bwMode="auto">
            <a:xfrm>
              <a:off x="3853106" y="5298246"/>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Text Box 46"/>
            <p:cNvSpPr txBox="1">
              <a:spLocks noChangeArrowheads="1"/>
            </p:cNvSpPr>
            <p:nvPr/>
          </p:nvSpPr>
          <p:spPr bwMode="auto">
            <a:xfrm>
              <a:off x="3496135" y="5378352"/>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Text Box 35"/>
            <p:cNvSpPr txBox="1">
              <a:spLocks noChangeArrowheads="1"/>
            </p:cNvSpPr>
            <p:nvPr/>
          </p:nvSpPr>
          <p:spPr bwMode="auto">
            <a:xfrm>
              <a:off x="3454084" y="3338887"/>
              <a:ext cx="1189354"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dp[0][</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Text Box 2"/>
            <p:cNvSpPr txBox="1">
              <a:spLocks noChangeArrowheads="1"/>
            </p:cNvSpPr>
            <p:nvPr/>
          </p:nvSpPr>
          <p:spPr bwMode="auto">
            <a:xfrm>
              <a:off x="4714876" y="4219347"/>
              <a:ext cx="3000396" cy="709851"/>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只剩一枚鸡蛋：从楼层</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开始逐层验证</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7" name="Picture 4"/>
          <p:cNvPicPr>
            <a:picLocks noChangeAspect="1" noChangeArrowheads="1"/>
          </p:cNvPicPr>
          <p:nvPr/>
        </p:nvPicPr>
        <p:blipFill>
          <a:blip r:embed="rId1" cstate="print"/>
          <a:srcRect/>
          <a:stretch>
            <a:fillRect/>
          </a:stretch>
        </p:blipFill>
        <p:spPr bwMode="auto">
          <a:xfrm>
            <a:off x="357158" y="814783"/>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357166"/>
            <a:ext cx="8215370" cy="193899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）当</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时表示剩两枚鸡蛋，对于任意</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），第一次操作可以选择在</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范围内的任一</a:t>
            </a:r>
            <a:r>
              <a:rPr lang="zh-CN" altLang="zh-CN">
                <a:solidFill>
                  <a:srgbClr val="FF00FF"/>
                </a:solidFill>
                <a:latin typeface="Consolas" panose="020B0609020204030204" pitchFamily="49" charset="0"/>
                <a:ea typeface="仿宋" panose="02010609060101010101" pitchFamily="49" charset="-122"/>
              </a:rPr>
              <a:t>楼层</a:t>
            </a:r>
            <a:r>
              <a:rPr lang="en-US" altLang="zh-CN" i="1">
                <a:solidFill>
                  <a:srgbClr val="FF00FF"/>
                </a:solidFill>
                <a:latin typeface="Consolas" panose="020B0609020204030204" pitchFamily="49" charset="0"/>
                <a:ea typeface="仿宋" panose="02010609060101010101" pitchFamily="49" charset="-122"/>
              </a:rPr>
              <a:t>k</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ct val="100000"/>
              </a:lnSpc>
              <a:spcBef>
                <a:spcPts val="0"/>
              </a:spcBef>
            </a:pPr>
            <a:r>
              <a:rPr lang="en-US" altLang="zh-CN">
                <a:solidFill>
                  <a:srgbClr val="0000FF"/>
                </a:solidFill>
                <a:latin typeface="Consolas" panose="020B0609020204030204" pitchFamily="49" charset="0"/>
                <a:ea typeface="仿宋" panose="02010609060101010101" pitchFamily="49" charset="-122"/>
              </a:rPr>
              <a:t>   </a:t>
            </a:r>
            <a:r>
              <a:rPr lang="en-US" altLang="zh-CN">
                <a:solidFill>
                  <a:srgbClr val="FF0000"/>
                </a:solidFill>
                <a:latin typeface="Consolas" panose="020B0609020204030204" pitchFamily="49" charset="0"/>
                <a:ea typeface="仿宋" panose="02010609060101010101" pitchFamily="49" charset="-122"/>
              </a:rPr>
              <a:t>①</a:t>
            </a:r>
            <a:r>
              <a:rPr lang="zh-CN" altLang="zh-CN">
                <a:solidFill>
                  <a:srgbClr val="FF0000"/>
                </a:solidFill>
                <a:latin typeface="Consolas" panose="020B0609020204030204" pitchFamily="49" charset="0"/>
                <a:ea typeface="仿宋" panose="02010609060101010101" pitchFamily="49" charset="-122"/>
              </a:rPr>
              <a:t>如果鸡蛋在楼层</a:t>
            </a:r>
            <a:r>
              <a:rPr lang="en-US" altLang="zh-CN" i="1">
                <a:solidFill>
                  <a:srgbClr val="FF0000"/>
                </a:solidFill>
                <a:latin typeface="Consolas" panose="020B0609020204030204" pitchFamily="49" charset="0"/>
                <a:ea typeface="仿宋" panose="02010609060101010101" pitchFamily="49" charset="-122"/>
              </a:rPr>
              <a:t>k</a:t>
            </a:r>
            <a:r>
              <a:rPr lang="zh-CN" altLang="zh-CN">
                <a:solidFill>
                  <a:srgbClr val="FF0000"/>
                </a:solidFill>
                <a:latin typeface="Consolas" panose="020B0609020204030204" pitchFamily="49" charset="0"/>
                <a:ea typeface="仿宋" panose="02010609060101010101" pitchFamily="49" charset="-122"/>
              </a:rPr>
              <a:t>丢下后破碎</a:t>
            </a:r>
            <a:r>
              <a:rPr lang="zh-CN" altLang="zh-CN">
                <a:solidFill>
                  <a:srgbClr val="0000FF"/>
                </a:solidFill>
                <a:latin typeface="Consolas" panose="020B0609020204030204" pitchFamily="49" charset="0"/>
                <a:ea typeface="仿宋" panose="02010609060101010101" pitchFamily="49" charset="-122"/>
              </a:rPr>
              <a:t>，接下来问题转化成</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时验证楼层</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共</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层需要的次数即</a:t>
            </a:r>
            <a:r>
              <a:rPr lang="en-US" altLang="zh-CN">
                <a:solidFill>
                  <a:srgbClr val="0000FF"/>
                </a:solidFill>
                <a:latin typeface="Consolas" panose="020B0609020204030204" pitchFamily="49" charset="0"/>
                <a:ea typeface="仿宋" panose="02010609060101010101" pitchFamily="49" charset="-122"/>
              </a:rPr>
              <a:t>dp[0][</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，如图</a:t>
            </a:r>
            <a:r>
              <a:rPr lang="en-US" altLang="zh-CN">
                <a:solidFill>
                  <a:srgbClr val="0000FF"/>
                </a:solidFill>
                <a:latin typeface="Consolas" panose="020B0609020204030204" pitchFamily="49" charset="0"/>
                <a:ea typeface="仿宋" panose="02010609060101010101" pitchFamily="49" charset="-122"/>
              </a:rPr>
              <a:t>(b)</a:t>
            </a:r>
            <a:r>
              <a:rPr lang="zh-CN" altLang="zh-CN">
                <a:solidFill>
                  <a:srgbClr val="0000FF"/>
                </a:solidFill>
                <a:latin typeface="Consolas" panose="020B0609020204030204" pitchFamily="49" charset="0"/>
                <a:ea typeface="仿宋" panose="02010609060101010101" pitchFamily="49" charset="-122"/>
              </a:rPr>
              <a:t>所示，总操作次数为</a:t>
            </a:r>
            <a:r>
              <a:rPr lang="en-US" altLang="zh-CN">
                <a:solidFill>
                  <a:srgbClr val="0000FF"/>
                </a:solidFill>
                <a:latin typeface="Consolas" panose="020B0609020204030204" pitchFamily="49" charset="0"/>
                <a:ea typeface="仿宋" panose="02010609060101010101" pitchFamily="49" charset="-122"/>
              </a:rPr>
              <a:t>dp[0][</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-1]+1</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8" name="组合 27"/>
          <p:cNvGrpSpPr/>
          <p:nvPr/>
        </p:nvGrpSpPr>
        <p:grpSpPr>
          <a:xfrm>
            <a:off x="1500166" y="2857496"/>
            <a:ext cx="5857916" cy="2759080"/>
            <a:chOff x="1500166" y="2857496"/>
            <a:chExt cx="5857916" cy="2759080"/>
          </a:xfrm>
        </p:grpSpPr>
        <p:sp>
          <p:nvSpPr>
            <p:cNvPr id="5" name="Text Box 45"/>
            <p:cNvSpPr txBox="1">
              <a:spLocks noChangeArrowheads="1"/>
            </p:cNvSpPr>
            <p:nvPr/>
          </p:nvSpPr>
          <p:spPr bwMode="auto">
            <a:xfrm>
              <a:off x="5416137" y="4143380"/>
              <a:ext cx="1941945" cy="670748"/>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鸡蛋在楼层</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丢下后破碎</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 name="AutoShape 44"/>
            <p:cNvSpPr>
              <a:spLocks noChangeArrowheads="1"/>
            </p:cNvSpPr>
            <p:nvPr/>
          </p:nvSpPr>
          <p:spPr bwMode="auto">
            <a:xfrm>
              <a:off x="2730975" y="4503102"/>
              <a:ext cx="983769" cy="283220"/>
            </a:xfrm>
            <a:prstGeom prst="rightArrow">
              <a:avLst>
                <a:gd name="adj1" fmla="val 50000"/>
                <a:gd name="adj2" fmla="val 29526"/>
              </a:avLst>
            </a:prstGeom>
            <a:ln>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7" name="Rectangle 43"/>
            <p:cNvSpPr>
              <a:spLocks noChangeArrowheads="1"/>
            </p:cNvSpPr>
            <p:nvPr/>
          </p:nvSpPr>
          <p:spPr bwMode="auto">
            <a:xfrm>
              <a:off x="4301638" y="3706620"/>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8" name="Text Box 42"/>
            <p:cNvSpPr txBox="1">
              <a:spLocks noChangeArrowheads="1"/>
            </p:cNvSpPr>
            <p:nvPr/>
          </p:nvSpPr>
          <p:spPr bwMode="auto">
            <a:xfrm>
              <a:off x="3790478" y="3786726"/>
              <a:ext cx="435648"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Rectangle 41"/>
            <p:cNvSpPr>
              <a:spLocks noChangeArrowheads="1"/>
            </p:cNvSpPr>
            <p:nvPr/>
          </p:nvSpPr>
          <p:spPr bwMode="auto">
            <a:xfrm>
              <a:off x="4301638" y="4168946"/>
              <a:ext cx="586942" cy="524122"/>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0" name="Text Box 40"/>
            <p:cNvSpPr txBox="1">
              <a:spLocks noChangeArrowheads="1"/>
            </p:cNvSpPr>
            <p:nvPr/>
          </p:nvSpPr>
          <p:spPr bwMode="auto">
            <a:xfrm>
              <a:off x="3944668" y="4308559"/>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1" name="Rectangle 39"/>
            <p:cNvSpPr>
              <a:spLocks noChangeArrowheads="1"/>
            </p:cNvSpPr>
            <p:nvPr/>
          </p:nvSpPr>
          <p:spPr bwMode="auto">
            <a:xfrm>
              <a:off x="4301638" y="4691924"/>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Text Box 38"/>
            <p:cNvSpPr txBox="1">
              <a:spLocks noChangeArrowheads="1"/>
            </p:cNvSpPr>
            <p:nvPr/>
          </p:nvSpPr>
          <p:spPr bwMode="auto">
            <a:xfrm>
              <a:off x="3944668" y="4772030"/>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3" name="Rectangle 37"/>
            <p:cNvSpPr>
              <a:spLocks noChangeArrowheads="1"/>
            </p:cNvSpPr>
            <p:nvPr/>
          </p:nvSpPr>
          <p:spPr bwMode="auto">
            <a:xfrm>
              <a:off x="4301638" y="5151961"/>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Text Box 36"/>
            <p:cNvSpPr txBox="1">
              <a:spLocks noChangeArrowheads="1"/>
            </p:cNvSpPr>
            <p:nvPr/>
          </p:nvSpPr>
          <p:spPr bwMode="auto">
            <a:xfrm>
              <a:off x="3944668" y="5232067"/>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Text Box 34"/>
            <p:cNvSpPr txBox="1">
              <a:spLocks noChangeArrowheads="1"/>
            </p:cNvSpPr>
            <p:nvPr/>
          </p:nvSpPr>
          <p:spPr bwMode="auto">
            <a:xfrm>
              <a:off x="3861915" y="3332045"/>
              <a:ext cx="1411346"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dp[0][</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Rectangle 13"/>
            <p:cNvSpPr>
              <a:spLocks noChangeArrowheads="1"/>
            </p:cNvSpPr>
            <p:nvPr/>
          </p:nvSpPr>
          <p:spPr bwMode="auto">
            <a:xfrm>
              <a:off x="1919782" y="3260315"/>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8" name="Text Box 12"/>
            <p:cNvSpPr txBox="1">
              <a:spLocks noChangeArrowheads="1"/>
            </p:cNvSpPr>
            <p:nvPr/>
          </p:nvSpPr>
          <p:spPr bwMode="auto">
            <a:xfrm>
              <a:off x="1573109" y="3278625"/>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9" name="Rectangle 11"/>
            <p:cNvSpPr>
              <a:spLocks noChangeArrowheads="1"/>
            </p:cNvSpPr>
            <p:nvPr/>
          </p:nvSpPr>
          <p:spPr bwMode="auto">
            <a:xfrm>
              <a:off x="1919782" y="4667892"/>
              <a:ext cx="586942" cy="46461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0" name="Text Box 10"/>
            <p:cNvSpPr txBox="1">
              <a:spLocks noChangeArrowheads="1"/>
            </p:cNvSpPr>
            <p:nvPr/>
          </p:nvSpPr>
          <p:spPr bwMode="auto">
            <a:xfrm>
              <a:off x="1573109" y="4799495"/>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1" name="Rectangle 9"/>
            <p:cNvSpPr>
              <a:spLocks noChangeArrowheads="1"/>
            </p:cNvSpPr>
            <p:nvPr/>
          </p:nvSpPr>
          <p:spPr bwMode="auto">
            <a:xfrm>
              <a:off x="1919782" y="5127929"/>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2" name="Text Box 8"/>
            <p:cNvSpPr txBox="1">
              <a:spLocks noChangeArrowheads="1"/>
            </p:cNvSpPr>
            <p:nvPr/>
          </p:nvSpPr>
          <p:spPr bwMode="auto">
            <a:xfrm>
              <a:off x="1573109" y="5259532"/>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3" name="Text Box 7"/>
            <p:cNvSpPr txBox="1">
              <a:spLocks noChangeArrowheads="1"/>
            </p:cNvSpPr>
            <p:nvPr/>
          </p:nvSpPr>
          <p:spPr bwMode="auto">
            <a:xfrm>
              <a:off x="1500166" y="2857496"/>
              <a:ext cx="1231860"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4" name="Rectangle 6"/>
            <p:cNvSpPr>
              <a:spLocks noChangeArrowheads="1"/>
            </p:cNvSpPr>
            <p:nvPr/>
          </p:nvSpPr>
          <p:spPr bwMode="auto">
            <a:xfrm>
              <a:off x="1919782" y="3730652"/>
              <a:ext cx="586942" cy="46461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5" name="Text Box 5"/>
            <p:cNvSpPr txBox="1">
              <a:spLocks noChangeArrowheads="1"/>
            </p:cNvSpPr>
            <p:nvPr/>
          </p:nvSpPr>
          <p:spPr bwMode="auto">
            <a:xfrm>
              <a:off x="1573109" y="3755828"/>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6" name="Rectangle 4"/>
            <p:cNvSpPr>
              <a:spLocks noChangeArrowheads="1"/>
            </p:cNvSpPr>
            <p:nvPr/>
          </p:nvSpPr>
          <p:spPr bwMode="auto">
            <a:xfrm>
              <a:off x="1919782" y="4200988"/>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7" name="Text Box 3"/>
            <p:cNvSpPr txBox="1">
              <a:spLocks noChangeArrowheads="1"/>
            </p:cNvSpPr>
            <p:nvPr/>
          </p:nvSpPr>
          <p:spPr bwMode="auto">
            <a:xfrm>
              <a:off x="1573109" y="4283383"/>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215370" cy="120032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anose="020B0609020204030204" pitchFamily="49" charset="0"/>
                <a:ea typeface="仿宋" panose="02010609060101010101" pitchFamily="49" charset="-122"/>
              </a:rPr>
              <a:t>   </a:t>
            </a:r>
            <a:r>
              <a:rPr lang="en-US" altLang="zh-CN">
                <a:solidFill>
                  <a:srgbClr val="FF0000"/>
                </a:solidFill>
                <a:latin typeface="Consolas" panose="020B0609020204030204" pitchFamily="49" charset="0"/>
                <a:ea typeface="仿宋" panose="02010609060101010101" pitchFamily="49" charset="-122"/>
              </a:rPr>
              <a:t>②</a:t>
            </a:r>
            <a:r>
              <a:rPr lang="zh-CN" altLang="zh-CN">
                <a:solidFill>
                  <a:srgbClr val="FF0000"/>
                </a:solidFill>
                <a:latin typeface="Consolas" panose="020B0609020204030204" pitchFamily="49" charset="0"/>
                <a:ea typeface="仿宋" panose="02010609060101010101" pitchFamily="49" charset="-122"/>
              </a:rPr>
              <a:t>如果鸡蛋在楼层</a:t>
            </a:r>
            <a:r>
              <a:rPr lang="en-US" altLang="zh-CN" i="1">
                <a:solidFill>
                  <a:srgbClr val="FF0000"/>
                </a:solidFill>
                <a:latin typeface="Consolas" panose="020B0609020204030204" pitchFamily="49" charset="0"/>
                <a:ea typeface="仿宋" panose="02010609060101010101" pitchFamily="49" charset="-122"/>
              </a:rPr>
              <a:t>k</a:t>
            </a:r>
            <a:r>
              <a:rPr lang="zh-CN" altLang="zh-CN">
                <a:solidFill>
                  <a:srgbClr val="FF0000"/>
                </a:solidFill>
                <a:latin typeface="Consolas" panose="020B0609020204030204" pitchFamily="49" charset="0"/>
                <a:ea typeface="仿宋" panose="02010609060101010101" pitchFamily="49" charset="-122"/>
              </a:rPr>
              <a:t>丢下后没碎</a:t>
            </a:r>
            <a:r>
              <a:rPr lang="zh-CN" altLang="zh-CN">
                <a:solidFill>
                  <a:srgbClr val="0000FF"/>
                </a:solidFill>
                <a:latin typeface="Consolas" panose="020B0609020204030204" pitchFamily="49" charset="0"/>
                <a:ea typeface="仿宋" panose="02010609060101010101" pitchFamily="49" charset="-122"/>
              </a:rPr>
              <a:t>，接下来问题转化成</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时验证楼层</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共</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k</a:t>
            </a:r>
            <a:r>
              <a:rPr lang="zh-CN" altLang="zh-CN">
                <a:solidFill>
                  <a:srgbClr val="0000FF"/>
                </a:solidFill>
                <a:latin typeface="Consolas" panose="020B0609020204030204" pitchFamily="49" charset="0"/>
                <a:ea typeface="仿宋" panose="02010609060101010101" pitchFamily="49" charset="-122"/>
              </a:rPr>
              <a:t>层需要的次数即</a:t>
            </a:r>
            <a:r>
              <a:rPr lang="en-US" altLang="zh-CN">
                <a:solidFill>
                  <a:srgbClr val="0000FF"/>
                </a:solidFill>
                <a:latin typeface="Consolas" panose="020B0609020204030204" pitchFamily="49" charset="0"/>
                <a:ea typeface="仿宋" panose="02010609060101010101" pitchFamily="49" charset="-122"/>
              </a:rPr>
              <a:t>dp[1][</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，如图</a:t>
            </a:r>
            <a:r>
              <a:rPr lang="en-US" altLang="zh-CN">
                <a:solidFill>
                  <a:srgbClr val="0000FF"/>
                </a:solidFill>
                <a:latin typeface="Consolas" panose="020B0609020204030204" pitchFamily="49" charset="0"/>
                <a:ea typeface="仿宋" panose="02010609060101010101" pitchFamily="49" charset="-122"/>
              </a:rPr>
              <a:t>(c)</a:t>
            </a:r>
            <a:r>
              <a:rPr lang="zh-CN" altLang="zh-CN">
                <a:solidFill>
                  <a:srgbClr val="0000FF"/>
                </a:solidFill>
                <a:latin typeface="Consolas" panose="020B0609020204030204" pitchFamily="49" charset="0"/>
                <a:ea typeface="仿宋" panose="02010609060101010101" pitchFamily="49" charset="-122"/>
              </a:rPr>
              <a:t>所示，总操作次数为</a:t>
            </a:r>
            <a:r>
              <a:rPr lang="en-US" altLang="zh-CN">
                <a:solidFill>
                  <a:srgbClr val="0000FF"/>
                </a:solidFill>
                <a:latin typeface="Consolas" panose="020B0609020204030204" pitchFamily="49" charset="0"/>
                <a:ea typeface="仿宋" panose="02010609060101010101" pitchFamily="49" charset="-122"/>
              </a:rPr>
              <a:t>dp[1][</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]+1</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6" name="组合 25"/>
          <p:cNvGrpSpPr/>
          <p:nvPr/>
        </p:nvGrpSpPr>
        <p:grpSpPr>
          <a:xfrm>
            <a:off x="1571604" y="2214554"/>
            <a:ext cx="6467899" cy="2735048"/>
            <a:chOff x="1571604" y="2214554"/>
            <a:chExt cx="6467899" cy="2735048"/>
          </a:xfrm>
        </p:grpSpPr>
        <p:sp>
          <p:nvSpPr>
            <p:cNvPr id="5" name="Text Box 33"/>
            <p:cNvSpPr txBox="1">
              <a:spLocks noChangeArrowheads="1"/>
            </p:cNvSpPr>
            <p:nvPr/>
          </p:nvSpPr>
          <p:spPr bwMode="auto">
            <a:xfrm>
              <a:off x="5929322" y="3429000"/>
              <a:ext cx="2110181" cy="613042"/>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 </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鸡蛋在楼层</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丢下后没有碎</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 name="Rectangle 32"/>
            <p:cNvSpPr>
              <a:spLocks noChangeArrowheads="1"/>
            </p:cNvSpPr>
            <p:nvPr/>
          </p:nvSpPr>
          <p:spPr bwMode="auto">
            <a:xfrm>
              <a:off x="2024821" y="2617373"/>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7" name="Text Box 31"/>
            <p:cNvSpPr txBox="1">
              <a:spLocks noChangeArrowheads="1"/>
            </p:cNvSpPr>
            <p:nvPr/>
          </p:nvSpPr>
          <p:spPr bwMode="auto">
            <a:xfrm>
              <a:off x="1678148" y="2635683"/>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Rectangle 30"/>
            <p:cNvSpPr>
              <a:spLocks noChangeArrowheads="1"/>
            </p:cNvSpPr>
            <p:nvPr/>
          </p:nvSpPr>
          <p:spPr bwMode="auto">
            <a:xfrm>
              <a:off x="2024821" y="4024950"/>
              <a:ext cx="586942" cy="46461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9" name="Text Box 29"/>
            <p:cNvSpPr txBox="1">
              <a:spLocks noChangeArrowheads="1"/>
            </p:cNvSpPr>
            <p:nvPr/>
          </p:nvSpPr>
          <p:spPr bwMode="auto">
            <a:xfrm>
              <a:off x="1678148" y="4156552"/>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Rectangle 28"/>
            <p:cNvSpPr>
              <a:spLocks noChangeArrowheads="1"/>
            </p:cNvSpPr>
            <p:nvPr/>
          </p:nvSpPr>
          <p:spPr bwMode="auto">
            <a:xfrm>
              <a:off x="2024821" y="4484987"/>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1" name="Text Box 27"/>
            <p:cNvSpPr txBox="1">
              <a:spLocks noChangeArrowheads="1"/>
            </p:cNvSpPr>
            <p:nvPr/>
          </p:nvSpPr>
          <p:spPr bwMode="auto">
            <a:xfrm>
              <a:off x="1678148" y="4616590"/>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2" name="AutoShape 26"/>
            <p:cNvSpPr>
              <a:spLocks noChangeArrowheads="1"/>
            </p:cNvSpPr>
            <p:nvPr/>
          </p:nvSpPr>
          <p:spPr bwMode="auto">
            <a:xfrm>
              <a:off x="2857488" y="3558046"/>
              <a:ext cx="1227578" cy="228144"/>
            </a:xfrm>
            <a:prstGeom prst="rightArrow">
              <a:avLst>
                <a:gd name="adj1" fmla="val 50000"/>
                <a:gd name="adj2" fmla="val 29526"/>
              </a:avLst>
            </a:prstGeom>
            <a:ln>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Rectangle 25"/>
            <p:cNvSpPr>
              <a:spLocks noChangeArrowheads="1"/>
            </p:cNvSpPr>
            <p:nvPr/>
          </p:nvSpPr>
          <p:spPr bwMode="auto">
            <a:xfrm>
              <a:off x="4771407" y="3056811"/>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Text Box 24"/>
            <p:cNvSpPr txBox="1">
              <a:spLocks noChangeArrowheads="1"/>
            </p:cNvSpPr>
            <p:nvPr/>
          </p:nvSpPr>
          <p:spPr bwMode="auto">
            <a:xfrm>
              <a:off x="4414436" y="3136917"/>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Rectangle 23"/>
            <p:cNvSpPr>
              <a:spLocks noChangeArrowheads="1"/>
            </p:cNvSpPr>
            <p:nvPr/>
          </p:nvSpPr>
          <p:spPr bwMode="auto">
            <a:xfrm>
              <a:off x="4771407" y="3519138"/>
              <a:ext cx="586942" cy="524122"/>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6" name="Text Box 22"/>
            <p:cNvSpPr txBox="1">
              <a:spLocks noChangeArrowheads="1"/>
            </p:cNvSpPr>
            <p:nvPr/>
          </p:nvSpPr>
          <p:spPr bwMode="auto">
            <a:xfrm>
              <a:off x="4414436" y="3658751"/>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8" name="Rectangle 21"/>
            <p:cNvSpPr>
              <a:spLocks noChangeArrowheads="1"/>
            </p:cNvSpPr>
            <p:nvPr/>
          </p:nvSpPr>
          <p:spPr bwMode="auto">
            <a:xfrm>
              <a:off x="4771407" y="4042115"/>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9" name="Text Box 20"/>
            <p:cNvSpPr txBox="1">
              <a:spLocks noChangeArrowheads="1"/>
            </p:cNvSpPr>
            <p:nvPr/>
          </p:nvSpPr>
          <p:spPr bwMode="auto">
            <a:xfrm>
              <a:off x="1571604" y="2214554"/>
              <a:ext cx="1252282"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0" name="Text Box 19"/>
            <p:cNvSpPr txBox="1">
              <a:spLocks noChangeArrowheads="1"/>
            </p:cNvSpPr>
            <p:nvPr/>
          </p:nvSpPr>
          <p:spPr bwMode="auto">
            <a:xfrm>
              <a:off x="4286248" y="2643182"/>
              <a:ext cx="1469590"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dp[1][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1" name="Rectangle 18"/>
            <p:cNvSpPr>
              <a:spLocks noChangeArrowheads="1"/>
            </p:cNvSpPr>
            <p:nvPr/>
          </p:nvSpPr>
          <p:spPr bwMode="auto">
            <a:xfrm>
              <a:off x="2024821" y="3087709"/>
              <a:ext cx="586942" cy="464615"/>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2" name="Text Box 17"/>
            <p:cNvSpPr txBox="1">
              <a:spLocks noChangeArrowheads="1"/>
            </p:cNvSpPr>
            <p:nvPr/>
          </p:nvSpPr>
          <p:spPr bwMode="auto">
            <a:xfrm>
              <a:off x="1678148" y="3112886"/>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zh-CN"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3" name="Rectangle 16"/>
            <p:cNvSpPr>
              <a:spLocks noChangeArrowheads="1"/>
            </p:cNvSpPr>
            <p:nvPr/>
          </p:nvSpPr>
          <p:spPr bwMode="auto">
            <a:xfrm>
              <a:off x="2024821" y="3558046"/>
              <a:ext cx="586942" cy="464615"/>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4" name="Text Box 15"/>
            <p:cNvSpPr txBox="1">
              <a:spLocks noChangeArrowheads="1"/>
            </p:cNvSpPr>
            <p:nvPr/>
          </p:nvSpPr>
          <p:spPr bwMode="auto">
            <a:xfrm>
              <a:off x="1678148" y="3640441"/>
              <a:ext cx="281457"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FF00FF"/>
                  </a:solidFill>
                  <a:effectLst/>
                  <a:latin typeface="Consolas" panose="020B0609020204030204" pitchFamily="49" charset="0"/>
                  <a:ea typeface="仿宋"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5" name="Text Box 14"/>
            <p:cNvSpPr txBox="1">
              <a:spLocks noChangeArrowheads="1"/>
            </p:cNvSpPr>
            <p:nvPr/>
          </p:nvSpPr>
          <p:spPr bwMode="auto">
            <a:xfrm>
              <a:off x="4071934" y="4132521"/>
              <a:ext cx="630825" cy="304403"/>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k</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27" name="灯片编号占位符 2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358246"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考虑最坏的情况是两者取最大值，同时</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元素取所有情况下的</a:t>
            </a:r>
            <a:r>
              <a:rPr lang="zh-CN" altLang="zh-CN">
                <a:solidFill>
                  <a:srgbClr val="FF0000"/>
                </a:solidFill>
                <a:latin typeface="Consolas" panose="020B0609020204030204" pitchFamily="49" charset="0"/>
                <a:ea typeface="仿宋" panose="02010609060101010101" pitchFamily="49" charset="-122"/>
              </a:rPr>
              <a:t>最小值</a:t>
            </a:r>
            <a:r>
              <a:rPr lang="zh-CN" altLang="zh-CN">
                <a:solidFill>
                  <a:srgbClr val="0000FF"/>
                </a:solidFill>
                <a:latin typeface="Consolas" panose="020B0609020204030204" pitchFamily="49" charset="0"/>
                <a:ea typeface="仿宋" panose="02010609060101010101" pitchFamily="49" charset="-122"/>
              </a:rPr>
              <a:t>即：</a:t>
            </a:r>
            <a:endParaRPr lang="zh-CN" altLang="zh-CN">
              <a:solidFill>
                <a:srgbClr val="0000FF"/>
              </a:solidFill>
              <a:latin typeface="Consolas" panose="020B0609020204030204" pitchFamily="49" charset="0"/>
              <a:ea typeface="仿宋" panose="02010609060101010101" pitchFamily="49" charset="-122"/>
            </a:endParaRPr>
          </a:p>
        </p:txBody>
      </p:sp>
      <p:sp>
        <p:nvSpPr>
          <p:cNvPr id="5" name="TextBox 4"/>
          <p:cNvSpPr txBox="1"/>
          <p:nvPr/>
        </p:nvSpPr>
        <p:spPr>
          <a:xfrm>
            <a:off x="500034" y="3214686"/>
            <a:ext cx="8072494"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在求出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数组后，显然</a:t>
            </a:r>
            <a:r>
              <a:rPr lang="en-US" altLang="zh-CN">
                <a:solidFill>
                  <a:srgbClr val="0000FF"/>
                </a:solidFill>
                <a:latin typeface="Consolas" panose="020B0609020204030204" pitchFamily="49" charset="0"/>
                <a:ea typeface="仿宋" panose="02010609060101010101" pitchFamily="49" charset="-122"/>
              </a:rPr>
              <a:t>dp[1][</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就是找到</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中某个楼层</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的最少操作次数，返回该元素即可。</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7" name="Picture 2"/>
          <p:cNvPicPr>
            <a:picLocks noChangeAspect="1" noChangeArrowheads="1"/>
          </p:cNvPicPr>
          <p:nvPr/>
        </p:nvPicPr>
        <p:blipFill>
          <a:blip r:embed="rId1" cstate="print"/>
          <a:srcRect/>
          <a:stretch>
            <a:fillRect/>
          </a:stretch>
        </p:blipFill>
        <p:spPr bwMode="auto">
          <a:xfrm>
            <a:off x="642910" y="1785926"/>
            <a:ext cx="6415740" cy="50006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const int INF=0x3f3f3f3f;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表示</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twoEggDrop</a:t>
            </a:r>
            <a:r>
              <a:rPr lang="en-US" altLang="zh-CN" sz="2000">
                <a:solidFill>
                  <a:srgbClr val="0000FF"/>
                </a:solidFill>
                <a:latin typeface="Consolas" panose="020B0609020204030204" pitchFamily="49" charset="0"/>
                <a:ea typeface="仿宋" panose="02010609060101010101" pitchFamily="49" charset="-122"/>
              </a:rPr>
              <a:t>(int 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dp[2][n+1];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memset(dp,0x3f,sizeof(dp));			</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元素初始化为</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dp[0][0]=dp[1][0]=0;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dp[0][j]=j;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k=1;k&lt;=j;k++)</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dp[1][j]=min(dp[1][j],</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6600"/>
                </a:solidFill>
                <a:latin typeface="Consolas" panose="020B0609020204030204" pitchFamily="49" charset="0"/>
                <a:ea typeface="仿宋" panose="02010609060101010101" pitchFamily="49" charset="-122"/>
              </a:rPr>
              <a:t>						max(dp[0][k-1]+1,dp[1][j-k]+1));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dp[1][n];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500034" y="1000108"/>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60ms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5.8MB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6" name="TextBox 5"/>
          <p:cNvSpPr txBox="1"/>
          <p:nvPr/>
        </p:nvSpPr>
        <p:spPr>
          <a:xfrm>
            <a:off x="500034" y="3000372"/>
            <a:ext cx="8143932" cy="204158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sz="2200">
                <a:solidFill>
                  <a:srgbClr val="FF0000"/>
                </a:solidFill>
                <a:latin typeface="Consolas" panose="020B0609020204030204" pitchFamily="49" charset="0"/>
                <a:ea typeface="仿宋" panose="02010609060101010101" pitchFamily="49" charset="-122"/>
              </a:rPr>
              <a:t>将</a:t>
            </a:r>
            <a:r>
              <a:rPr lang="en-US" altLang="zh-CN" sz="2200">
                <a:solidFill>
                  <a:srgbClr val="FF0000"/>
                </a:solidFill>
                <a:latin typeface="Consolas" panose="020B0609020204030204" pitchFamily="49" charset="0"/>
                <a:ea typeface="仿宋" panose="02010609060101010101" pitchFamily="49" charset="-122"/>
              </a:rPr>
              <a:t>dp[0][</a:t>
            </a:r>
            <a:r>
              <a:rPr lang="en-US" altLang="zh-CN" sz="2200" i="1">
                <a:solidFill>
                  <a:srgbClr val="FF0000"/>
                </a:solidFill>
                <a:latin typeface="Consolas" panose="020B0609020204030204" pitchFamily="49" charset="0"/>
                <a:ea typeface="仿宋" panose="02010609060101010101" pitchFamily="49" charset="-122"/>
              </a:rPr>
              <a:t>k</a:t>
            </a:r>
            <a:r>
              <a:rPr lang="en-US" altLang="zh-CN" sz="2200">
                <a:solidFill>
                  <a:srgbClr val="FF0000"/>
                </a:solidFill>
                <a:latin typeface="Consolas" panose="020B0609020204030204" pitchFamily="49" charset="0"/>
                <a:ea typeface="仿宋" panose="02010609060101010101" pitchFamily="49" charset="-122"/>
              </a:rPr>
              <a:t>]</a:t>
            </a:r>
            <a:r>
              <a:rPr lang="zh-CN" altLang="zh-CN" sz="2200">
                <a:solidFill>
                  <a:srgbClr val="FF0000"/>
                </a:solidFill>
                <a:latin typeface="Consolas" panose="020B0609020204030204" pitchFamily="49" charset="0"/>
                <a:ea typeface="仿宋" panose="02010609060101010101" pitchFamily="49" charset="-122"/>
              </a:rPr>
              <a:t>表示为</a:t>
            </a:r>
            <a:r>
              <a:rPr lang="en-US" altLang="zh-CN" sz="2200" i="1">
                <a:solidFill>
                  <a:srgbClr val="FF0000"/>
                </a:solidFill>
                <a:latin typeface="Consolas" panose="020B0609020204030204" pitchFamily="49" charset="0"/>
                <a:ea typeface="仿宋" panose="02010609060101010101" pitchFamily="49" charset="-122"/>
              </a:rPr>
              <a:t>k</a:t>
            </a:r>
            <a:r>
              <a:rPr lang="zh-CN" altLang="zh-CN" sz="2200">
                <a:solidFill>
                  <a:srgbClr val="0000FF"/>
                </a:solidFill>
                <a:latin typeface="Consolas" panose="020B0609020204030204" pitchFamily="49" charset="0"/>
                <a:ea typeface="仿宋" panose="02010609060101010101" pitchFamily="49" charset="-122"/>
              </a:rPr>
              <a:t>（因为只剩一枚鸡蛋时总有</a:t>
            </a:r>
            <a:r>
              <a:rPr lang="en-US" altLang="zh-CN" sz="2200">
                <a:solidFill>
                  <a:srgbClr val="0000FF"/>
                </a:solidFill>
                <a:latin typeface="Consolas" panose="020B0609020204030204" pitchFamily="49" charset="0"/>
                <a:ea typeface="仿宋" panose="02010609060101010101" pitchFamily="49" charset="-122"/>
              </a:rPr>
              <a:t>dp[0][</a:t>
            </a:r>
            <a:r>
              <a:rPr lang="en-US" altLang="zh-CN" sz="2200" i="1">
                <a:solidFill>
                  <a:srgbClr val="0000FF"/>
                </a:solidFill>
                <a:latin typeface="Consolas" panose="020B0609020204030204" pitchFamily="49" charset="0"/>
                <a:ea typeface="仿宋" panose="02010609060101010101" pitchFamily="49" charset="-122"/>
              </a:rPr>
              <a:t>k</a:t>
            </a:r>
            <a:r>
              <a:rPr lang="en-US"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k</a:t>
            </a:r>
            <a:r>
              <a:rPr lang="zh-CN" altLang="zh-CN" sz="2200">
                <a:solidFill>
                  <a:srgbClr val="0000FF"/>
                </a:solidFill>
                <a:latin typeface="Consolas" panose="020B0609020204030204" pitchFamily="49" charset="0"/>
                <a:ea typeface="仿宋" panose="02010609060101010101" pitchFamily="49" charset="-122"/>
              </a:rPr>
              <a:t>），这样有</a:t>
            </a:r>
            <a:r>
              <a:rPr lang="en-US" altLang="zh-CN" sz="2200">
                <a:solidFill>
                  <a:srgbClr val="0000FF"/>
                </a:solidFill>
                <a:latin typeface="Consolas" panose="020B0609020204030204" pitchFamily="49" charset="0"/>
                <a:ea typeface="仿宋" panose="02010609060101010101" pitchFamily="49" charset="-122"/>
              </a:rPr>
              <a:t>dp[0][</a:t>
            </a:r>
            <a:r>
              <a:rPr lang="en-US" altLang="zh-CN" sz="2200" i="1">
                <a:solidFill>
                  <a:srgbClr val="0000FF"/>
                </a:solidFill>
                <a:latin typeface="Consolas" panose="020B0609020204030204" pitchFamily="49" charset="0"/>
                <a:ea typeface="仿宋" panose="02010609060101010101" pitchFamily="49" charset="-122"/>
              </a:rPr>
              <a:t>k</a:t>
            </a:r>
            <a:r>
              <a:rPr lang="en-US" altLang="zh-CN" sz="2200">
                <a:solidFill>
                  <a:srgbClr val="0000FF"/>
                </a:solidFill>
                <a:latin typeface="Consolas" panose="020B0609020204030204" pitchFamily="49" charset="0"/>
                <a:ea typeface="仿宋" panose="02010609060101010101" pitchFamily="49" charset="-122"/>
              </a:rPr>
              <a:t>-1]+1=</a:t>
            </a:r>
            <a:r>
              <a:rPr lang="en-US" altLang="zh-CN" sz="2200" i="1">
                <a:solidFill>
                  <a:srgbClr val="0000FF"/>
                </a:solidFill>
                <a:latin typeface="Consolas" panose="020B0609020204030204" pitchFamily="49" charset="0"/>
                <a:ea typeface="仿宋" panose="02010609060101010101" pitchFamily="49" charset="-122"/>
              </a:rPr>
              <a:t>k</a:t>
            </a:r>
            <a:r>
              <a:rPr lang="en-US" altLang="zh-CN" sz="2200">
                <a:solidFill>
                  <a:srgbClr val="0000FF"/>
                </a:solidFill>
                <a:latin typeface="Consolas" panose="020B0609020204030204" pitchFamily="49" charset="0"/>
                <a:ea typeface="仿宋" panose="02010609060101010101" pitchFamily="49" charset="-122"/>
              </a:rPr>
              <a:t>-1+1=</a:t>
            </a:r>
            <a:r>
              <a:rPr lang="en-US" altLang="zh-CN" sz="2200" i="1">
                <a:solidFill>
                  <a:srgbClr val="0000FF"/>
                </a:solidFill>
                <a:latin typeface="Consolas" panose="020B0609020204030204" pitchFamily="49" charset="0"/>
                <a:ea typeface="仿宋" panose="02010609060101010101" pitchFamily="49" charset="-122"/>
              </a:rPr>
              <a:t>k</a:t>
            </a:r>
            <a:r>
              <a:rPr lang="zh-CN" altLang="en-US" sz="2200">
                <a:solidFill>
                  <a:srgbClr val="0000FF"/>
                </a:solidFill>
                <a:latin typeface="Consolas" panose="020B0609020204030204" pitchFamily="49" charset="0"/>
                <a:ea typeface="仿宋" panose="02010609060101010101" pitchFamily="49" charset="-122"/>
              </a:rPr>
              <a:t>。</a:t>
            </a:r>
            <a:endParaRPr lang="en-US" altLang="zh-CN" sz="2200">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sz="2200">
                <a:solidFill>
                  <a:srgbClr val="0000FF"/>
                </a:solidFill>
                <a:latin typeface="Consolas" panose="020B0609020204030204" pitchFamily="49" charset="0"/>
                <a:ea typeface="仿宋" panose="02010609060101010101" pitchFamily="49" charset="-122"/>
              </a:rPr>
              <a:t>同时将</a:t>
            </a:r>
            <a:r>
              <a:rPr lang="en-US" altLang="zh-CN" sz="2200">
                <a:solidFill>
                  <a:srgbClr val="FF0000"/>
                </a:solidFill>
                <a:latin typeface="Consolas" panose="020B0609020204030204" pitchFamily="49" charset="0"/>
                <a:ea typeface="仿宋" panose="02010609060101010101" pitchFamily="49" charset="-122"/>
              </a:rPr>
              <a:t>dp[1][</a:t>
            </a:r>
            <a:r>
              <a:rPr lang="en-US" altLang="zh-CN" sz="2200" i="1">
                <a:solidFill>
                  <a:srgbClr val="FF0000"/>
                </a:solidFill>
                <a:latin typeface="Consolas" panose="020B0609020204030204" pitchFamily="49" charset="0"/>
                <a:ea typeface="仿宋" panose="02010609060101010101" pitchFamily="49" charset="-122"/>
              </a:rPr>
              <a:t>j</a:t>
            </a:r>
            <a:r>
              <a:rPr lang="en-US" altLang="zh-CN" sz="2200">
                <a:solidFill>
                  <a:srgbClr val="FF0000"/>
                </a:solidFill>
                <a:latin typeface="Consolas" panose="020B0609020204030204" pitchFamily="49" charset="0"/>
                <a:ea typeface="仿宋" panose="02010609060101010101" pitchFamily="49" charset="-122"/>
              </a:rPr>
              <a:t>]</a:t>
            </a:r>
            <a:r>
              <a:rPr lang="zh-CN" altLang="zh-CN" sz="2200">
                <a:solidFill>
                  <a:srgbClr val="FF0000"/>
                </a:solidFill>
                <a:latin typeface="Consolas" panose="020B0609020204030204" pitchFamily="49" charset="0"/>
                <a:ea typeface="仿宋" panose="02010609060101010101" pitchFamily="49" charset="-122"/>
              </a:rPr>
              <a:t>表示为</a:t>
            </a:r>
            <a:r>
              <a:rPr lang="en-US" altLang="zh-CN" sz="2200">
                <a:solidFill>
                  <a:srgbClr val="FF0000"/>
                </a:solidFill>
                <a:latin typeface="Consolas" panose="020B0609020204030204" pitchFamily="49" charset="0"/>
                <a:ea typeface="仿宋" panose="02010609060101010101" pitchFamily="49" charset="-122"/>
              </a:rPr>
              <a:t>dp[</a:t>
            </a:r>
            <a:r>
              <a:rPr lang="en-US" altLang="zh-CN" sz="2200" i="1">
                <a:solidFill>
                  <a:srgbClr val="FF0000"/>
                </a:solidFill>
                <a:latin typeface="Consolas" panose="020B0609020204030204" pitchFamily="49" charset="0"/>
                <a:ea typeface="仿宋" panose="02010609060101010101" pitchFamily="49" charset="-122"/>
              </a:rPr>
              <a:t>j</a:t>
            </a:r>
            <a:r>
              <a:rPr lang="en-US" altLang="zh-CN" sz="2200">
                <a:solidFill>
                  <a:srgbClr val="FF0000"/>
                </a:solidFill>
                <a:latin typeface="Consolas" panose="020B0609020204030204" pitchFamily="49" charset="0"/>
                <a:ea typeface="仿宋" panose="02010609060101010101" pitchFamily="49" charset="-122"/>
              </a:rPr>
              <a:t>]</a:t>
            </a:r>
            <a:r>
              <a:rPr lang="zh-CN" altLang="en-US" sz="2200">
                <a:solidFill>
                  <a:srgbClr val="0000FF"/>
                </a:solidFill>
                <a:latin typeface="Consolas" panose="020B0609020204030204" pitchFamily="49" charset="0"/>
                <a:ea typeface="仿宋" panose="02010609060101010101" pitchFamily="49" charset="-122"/>
              </a:rPr>
              <a:t>。</a:t>
            </a:r>
            <a:endParaRPr lang="en-US" altLang="zh-CN" sz="2200">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sz="2200">
                <a:solidFill>
                  <a:srgbClr val="0000FF"/>
                </a:solidFill>
                <a:latin typeface="Consolas" panose="020B0609020204030204" pitchFamily="49" charset="0"/>
                <a:ea typeface="仿宋" panose="02010609060101010101" pitchFamily="49" charset="-122"/>
              </a:rPr>
              <a:t>从而将二维数组</a:t>
            </a:r>
            <a:r>
              <a:rPr lang="en-US" altLang="zh-CN" sz="2200">
                <a:solidFill>
                  <a:srgbClr val="0000FF"/>
                </a:solidFill>
                <a:latin typeface="Consolas" panose="020B0609020204030204" pitchFamily="49" charset="0"/>
                <a:ea typeface="仿宋" panose="02010609060101010101" pitchFamily="49" charset="-122"/>
              </a:rPr>
              <a:t>dp</a:t>
            </a:r>
            <a:r>
              <a:rPr lang="zh-CN" altLang="zh-CN" sz="2200">
                <a:solidFill>
                  <a:srgbClr val="0000FF"/>
                </a:solidFill>
                <a:latin typeface="Consolas" panose="020B0609020204030204" pitchFamily="49" charset="0"/>
                <a:ea typeface="仿宋" panose="02010609060101010101" pitchFamily="49" charset="-122"/>
              </a:rPr>
              <a:t>优化为一维数组</a:t>
            </a:r>
            <a:r>
              <a:rPr lang="zh-CN" altLang="en-US" sz="2200">
                <a:solidFill>
                  <a:srgbClr val="0000FF"/>
                </a:solidFill>
                <a:latin typeface="Consolas" panose="020B0609020204030204" pitchFamily="49" charset="0"/>
                <a:ea typeface="仿宋" panose="02010609060101010101" pitchFamily="49" charset="-122"/>
              </a:rPr>
              <a:t>。</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8" name="TextBox 7"/>
          <p:cNvSpPr txBox="1"/>
          <p:nvPr/>
        </p:nvSpPr>
        <p:spPr>
          <a:xfrm>
            <a:off x="428596" y="2285992"/>
            <a:ext cx="335758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进一步优化空间</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00042"/>
            <a:ext cx="8643998" cy="48686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const int INF=0x3f3f3f3f;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表示</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twoEggDrop</a:t>
            </a:r>
            <a:r>
              <a:rPr lang="en-US" altLang="zh-CN" sz="2000">
                <a:solidFill>
                  <a:srgbClr val="0000FF"/>
                </a:solidFill>
                <a:latin typeface="Consolas" panose="020B0609020204030204" pitchFamily="49" charset="0"/>
                <a:ea typeface="仿宋" panose="02010609060101010101" pitchFamily="49" charset="-122"/>
              </a:rPr>
              <a:t>(int 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dp[n+1];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memset(dp,0x3f,sizeof(dp));			</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元素初始化为</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k=1;k&lt;=j;k++)</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dp[j]=</a:t>
            </a:r>
            <a:r>
              <a:rPr lang="en-US" altLang="zh-CN" sz="2000">
                <a:solidFill>
                  <a:srgbClr val="FF0000"/>
                </a:solidFill>
                <a:latin typeface="Consolas" panose="020B0609020204030204" pitchFamily="49" charset="0"/>
                <a:ea typeface="仿宋" panose="02010609060101010101" pitchFamily="49" charset="-122"/>
              </a:rPr>
              <a:t>min</a:t>
            </a:r>
            <a:r>
              <a:rPr lang="en-US" altLang="zh-CN" sz="2000">
                <a:solidFill>
                  <a:srgbClr val="0000FF"/>
                </a:solidFill>
                <a:latin typeface="Consolas" panose="020B0609020204030204" pitchFamily="49" charset="0"/>
                <a:ea typeface="仿宋" panose="02010609060101010101" pitchFamily="49" charset="-122"/>
              </a:rPr>
              <a:t>(dp[j],</a:t>
            </a:r>
            <a:r>
              <a:rPr lang="en-US" altLang="zh-CN" sz="2000">
                <a:solidFill>
                  <a:srgbClr val="FF0000"/>
                </a:solidFill>
                <a:latin typeface="Consolas" panose="020B0609020204030204" pitchFamily="49" charset="0"/>
                <a:ea typeface="仿宋" panose="02010609060101010101" pitchFamily="49" charset="-122"/>
              </a:rPr>
              <a:t>max</a:t>
            </a:r>
            <a:r>
              <a:rPr lang="en-US" altLang="zh-CN" sz="2000">
                <a:solidFill>
                  <a:srgbClr val="0000FF"/>
                </a:solidFill>
                <a:latin typeface="Consolas" panose="020B0609020204030204" pitchFamily="49" charset="0"/>
                <a:ea typeface="仿宋" panose="02010609060101010101" pitchFamily="49" charset="-122"/>
              </a:rPr>
              <a:t>(k,dp[j-k]+1));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4" name="组合 9"/>
          <p:cNvGrpSpPr/>
          <p:nvPr/>
        </p:nvGrpSpPr>
        <p:grpSpPr>
          <a:xfrm>
            <a:off x="500034" y="578645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28ms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5.7MB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00298" y="357166"/>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7.10</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资源分配问题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 Box 3"/>
          <p:cNvSpPr txBox="1">
            <a:spLocks noChangeArrowheads="1"/>
          </p:cNvSpPr>
          <p:nvPr/>
        </p:nvSpPr>
        <p:spPr bwMode="auto">
          <a:xfrm>
            <a:off x="395288" y="1196975"/>
            <a:ext cx="8534430" cy="2602636"/>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200"/>
              </a:lnSpc>
              <a:spcBef>
                <a:spcPts val="600"/>
              </a:spcBef>
            </a:pP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zh-CN">
                <a:solidFill>
                  <a:srgbClr val="FF0000"/>
                </a:solidFill>
                <a:latin typeface="楷体" panose="02010609060101010101" pitchFamily="49" charset="-122"/>
                <a:ea typeface="楷体" panose="02010609060101010101" pitchFamily="49" charset="-122"/>
                <a:cs typeface="Consolas" panose="020B0609020204030204" pitchFamily="49" charset="0"/>
              </a:rPr>
              <a:t>问题描述</a:t>
            </a:r>
            <a:r>
              <a:rPr lang="zh-CN" altLang="en-US">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资源分配问题是将数量一定的一种或若干种资源（原材料、资金、设备或劳动力等），合理地分配给若干使用者，使总收益最大。</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例如，某公司有</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个商店</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，拟将新招聘的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名员工分配给这</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个商店，各商店得到新员工后，每年的赢利情况如</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下</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表所示，求分配给各商店各多少员工才能</a:t>
            </a:r>
            <a:r>
              <a:rPr lang="zh-CN" altLang="zh-CN">
                <a:solidFill>
                  <a:srgbClr val="C00000"/>
                </a:solidFill>
                <a:latin typeface="Consolas" panose="020B0609020204030204" pitchFamily="49" charset="0"/>
                <a:ea typeface="仿宋" panose="02010609060101010101" pitchFamily="49" charset="-122"/>
                <a:cs typeface="Consolas" panose="020B0609020204030204" pitchFamily="49" charset="0"/>
              </a:rPr>
              <a:t>使公司的赢利最大</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Group 187"/>
          <p:cNvGraphicFramePr>
            <a:graphicFrameLocks noGrp="1"/>
          </p:cNvGraphicFramePr>
          <p:nvPr/>
        </p:nvGraphicFramePr>
        <p:xfrm>
          <a:off x="827088" y="4149725"/>
          <a:ext cx="7489825" cy="1737360"/>
        </p:xfrm>
        <a:graphic>
          <a:graphicData uri="http://schemas.openxmlformats.org/drawingml/2006/table">
            <a:tbl>
              <a:tblPr>
                <a:tableStyleId>{775DCB02-9BB8-47FD-8907-85C794F793BA}</a:tableStyleId>
              </a:tblPr>
              <a:tblGrid>
                <a:gridCol w="1633537"/>
                <a:gridCol w="1020763"/>
                <a:gridCol w="828675"/>
                <a:gridCol w="966787"/>
                <a:gridCol w="973138"/>
                <a:gridCol w="979487"/>
                <a:gridCol w="1087438"/>
              </a:tblGrid>
              <a:tr h="365125">
                <a:tc>
                  <a:txBody>
                    <a:bodyPr/>
                    <a:lstStyle/>
                    <a:p>
                      <a:pPr marL="0" marR="0" lvl="0" indent="127000" algn="l"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     员</a:t>
                      </a:r>
                      <a:r>
                        <a:rPr kumimoji="0" lang="zh-CN" altLang="en-US" sz="1800" b="1" u="none" strike="noStrike" cap="none" normalizeH="0" baseline="0" dirty="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工数</a:t>
                      </a:r>
                      <a:endParaRPr kumimoji="0" lang="zh-CN" altLang="en-US" sz="1800" b="1" u="none" strike="noStrike" cap="none" normalizeH="0" baseline="0" dirty="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p>
                      <a:pPr marL="0" marR="0" lvl="0" indent="127000" algn="l" defTabSz="914400" rtl="0" eaLnBrk="0" fontAlgn="base" latinLnBrk="0" hangingPunct="0">
                        <a:lnSpc>
                          <a:spcPct val="100000"/>
                        </a:lnSpc>
                        <a:spcBef>
                          <a:spcPct val="0"/>
                        </a:spcBef>
                        <a:spcAft>
                          <a:spcPct val="0"/>
                        </a:spcAft>
                        <a:buClrTx/>
                        <a:buSzTx/>
                        <a:buFontTx/>
                        <a:buNone/>
                      </a:pPr>
                      <a:r>
                        <a:rPr kumimoji="0" lang="zh-CN" altLang="en-US" sz="1800" b="1" u="none" strike="noStrike" cap="none" normalizeH="0" baseline="0" dirty="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商店</a:t>
                      </a:r>
                      <a:endParaRPr kumimoji="0" lang="zh-CN" altLang="en-US" sz="1800" b="1" i="0" u="none" strike="noStrike" cap="none" normalizeH="0" baseline="0" dirty="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0</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1</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2</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3</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4</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5</a:t>
                      </a:r>
                      <a:r>
                        <a:rPr kumimoji="0" lang="zh-CN" altLang="en-US"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人</a:t>
                      </a:r>
                      <a:endParaRPr kumimoji="0" lang="zh-CN" altLang="en-US"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A</a:t>
                      </a:r>
                      <a:endParaRPr kumimoji="0" lang="en-US" altLang="zh-CN"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0</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3</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7</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9</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12</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13</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B</a:t>
                      </a:r>
                      <a:endParaRPr kumimoji="0" lang="en-US" altLang="zh-CN"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0</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5</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10</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11</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11</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11</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rPr>
                        <a:t>C</a:t>
                      </a:r>
                      <a:endParaRPr kumimoji="0" lang="en-US" altLang="zh-CN" sz="1800" b="1" i="0" u="none" strike="noStrike" cap="none" normalizeH="0" baseline="0">
                        <a:ln>
                          <a:noFill/>
                        </a:ln>
                        <a:solidFill>
                          <a:srgbClr val="0066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0</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4</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6</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11</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12</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rPr>
                        <a:t>12</a:t>
                      </a:r>
                      <a:endParaRPr kumimoji="0" lang="en-US" altLang="zh-CN" sz="1800" b="1" i="0" u="none" strike="noStrike" cap="none" normalizeH="0" baseline="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tc>
              </a:tr>
            </a:tbl>
          </a:graphicData>
        </a:graphic>
      </p:graphicFrame>
      <p:cxnSp>
        <p:nvCxnSpPr>
          <p:cNvPr id="9" name="直接连接符 8"/>
          <p:cNvCxnSpPr/>
          <p:nvPr/>
        </p:nvCxnSpPr>
        <p:spPr>
          <a:xfrm>
            <a:off x="808364" y="4154669"/>
            <a:ext cx="1643074" cy="642942"/>
          </a:xfrm>
          <a:prstGeom prst="line">
            <a:avLst/>
          </a:prstGeom>
          <a:ln w="6350">
            <a:tailEnd type="none"/>
          </a:ln>
        </p:spPr>
        <p:style>
          <a:lnRef idx="2">
            <a:schemeClr val="dk1"/>
          </a:lnRef>
          <a:fillRef idx="0">
            <a:schemeClr val="dk1"/>
          </a:fillRef>
          <a:effectRef idx="1">
            <a:schemeClr val="dk1"/>
          </a:effectRef>
          <a:fontRef idx="minor">
            <a:schemeClr val="tx1"/>
          </a:fontRef>
        </p:style>
      </p:cxn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471047"/>
            <a:ext cx="8286808" cy="324383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设置二维动态规划数组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表示前</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个商店（商店编号为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）共分配</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）名新员工的最优增收。</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另外设置二维数组</a:t>
            </a:r>
            <a:r>
              <a:rPr lang="en-US" altLang="zh-CN">
                <a:solidFill>
                  <a:srgbClr val="0000FF"/>
                </a:solidFill>
                <a:latin typeface="Consolas" panose="020B0609020204030204" pitchFamily="49" charset="0"/>
                <a:ea typeface="仿宋" panose="02010609060101010101" pitchFamily="49" charset="-122"/>
              </a:rPr>
              <a:t>pnum</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pnum[</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表示求出</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时对应商店</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的分配人数。</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显然如果商店个数为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，无论增加多少人员，总增收一定为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，即</a:t>
            </a:r>
            <a:r>
              <a:rPr lang="en-US" altLang="zh-CN">
                <a:solidFill>
                  <a:srgbClr val="0000FF"/>
                </a:solidFill>
                <a:latin typeface="Consolas" panose="020B0609020204030204" pitchFamily="49" charset="0"/>
                <a:ea typeface="仿宋" panose="02010609060101010101" pitchFamily="49" charset="-122"/>
              </a:rPr>
              <a:t>dp[0][</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6"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8501122" cy="242855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现在考虑求</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，商店</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～商店</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共分配</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名新员工</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商店</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理论上讲可以分配</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ea typeface="+mn-ea"/>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mn-ea"/>
                <a:ea typeface="+mn-ea"/>
              </a:rPr>
              <a:t>≤</a:t>
            </a:r>
            <a:r>
              <a:rPr lang="en-US" altLang="zh-CN">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）名新员工，商店</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分配</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名新员工时的增收为</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，则最大增收为</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lvl="1" algn="l">
              <a:lnSpc>
                <a:spcPts val="3200"/>
              </a:lnSpc>
              <a:spcBef>
                <a:spcPts val="1200"/>
              </a:spcBef>
            </a:pPr>
            <a:r>
              <a:rPr lang="en-US" altLang="zh-CN">
                <a:solidFill>
                  <a:srgbClr val="FF00FF"/>
                </a:solidFill>
                <a:latin typeface="Consolas" panose="020B0609020204030204" pitchFamily="49" charset="0"/>
                <a:ea typeface="仿宋" panose="02010609060101010101" pitchFamily="49" charset="-122"/>
              </a:rPr>
              <a:t>  max</a:t>
            </a:r>
            <a:r>
              <a:rPr lang="en-US" altLang="zh-CN" sz="3200" baseline="-25000">
                <a:solidFill>
                  <a:srgbClr val="FF00FF"/>
                </a:solidFill>
                <a:latin typeface="Consolas" panose="020B0609020204030204" pitchFamily="49" charset="0"/>
                <a:ea typeface="仿宋" panose="02010609060101010101" pitchFamily="49" charset="-122"/>
              </a:rPr>
              <a:t>0</a:t>
            </a:r>
            <a:r>
              <a:rPr lang="zh-CN" altLang="zh-CN" sz="3200" baseline="-25000">
                <a:solidFill>
                  <a:srgbClr val="FF00FF"/>
                </a:solidFill>
                <a:latin typeface="+mn-ea"/>
                <a:ea typeface="+mn-ea"/>
              </a:rPr>
              <a:t>≤</a:t>
            </a:r>
            <a:r>
              <a:rPr lang="en-US" altLang="zh-CN" sz="3200" i="1" baseline="-25000">
                <a:solidFill>
                  <a:srgbClr val="FF00FF"/>
                </a:solidFill>
                <a:latin typeface="Consolas" panose="020B0609020204030204" pitchFamily="49" charset="0"/>
                <a:ea typeface="仿宋" panose="02010609060101010101" pitchFamily="49" charset="-122"/>
              </a:rPr>
              <a:t>s</a:t>
            </a:r>
            <a:r>
              <a:rPr lang="zh-CN" altLang="zh-CN" sz="3200" baseline="-25000">
                <a:solidFill>
                  <a:srgbClr val="FF00FF"/>
                </a:solidFill>
                <a:latin typeface="+mn-ea"/>
                <a:ea typeface="+mn-ea"/>
              </a:rPr>
              <a:t>≤</a:t>
            </a:r>
            <a:r>
              <a:rPr lang="en-US" altLang="zh-CN" sz="3200" i="1" baseline="-25000">
                <a:solidFill>
                  <a:srgbClr val="FF00FF"/>
                </a:solidFill>
                <a:latin typeface="Consolas" panose="020B0609020204030204" pitchFamily="49" charset="0"/>
                <a:ea typeface="仿宋" panose="02010609060101010101" pitchFamily="49" charset="-122"/>
              </a:rPr>
              <a:t>n</a:t>
            </a:r>
            <a:r>
              <a:rPr lang="en-US" altLang="zh-CN" sz="3200" baseline="-25000">
                <a:solidFill>
                  <a:srgbClr val="FF00FF"/>
                </a:solidFill>
                <a:latin typeface="Consolas" panose="020B0609020204030204" pitchFamily="49" charset="0"/>
                <a:ea typeface="仿宋" panose="02010609060101010101" pitchFamily="49" charset="-122"/>
              </a:rPr>
              <a:t>, 0</a:t>
            </a:r>
            <a:r>
              <a:rPr lang="zh-CN" altLang="zh-CN" sz="3200" baseline="-25000">
                <a:solidFill>
                  <a:srgbClr val="FF00FF"/>
                </a:solidFill>
                <a:latin typeface="+mn-ea"/>
                <a:ea typeface="+mn-ea"/>
              </a:rPr>
              <a:t>≤</a:t>
            </a:r>
            <a:r>
              <a:rPr lang="en-US" altLang="zh-CN" sz="3200" i="1" baseline="-25000">
                <a:solidFill>
                  <a:srgbClr val="FF00FF"/>
                </a:solidFill>
                <a:latin typeface="Consolas" panose="020B0609020204030204" pitchFamily="49" charset="0"/>
                <a:ea typeface="仿宋" panose="02010609060101010101" pitchFamily="49" charset="-122"/>
              </a:rPr>
              <a:t>j</a:t>
            </a:r>
            <a:r>
              <a:rPr lang="zh-CN" altLang="zh-CN" sz="3200" baseline="-25000">
                <a:solidFill>
                  <a:srgbClr val="FF00FF"/>
                </a:solidFill>
                <a:latin typeface="+mn-ea"/>
                <a:ea typeface="+mn-ea"/>
              </a:rPr>
              <a:t>≤</a:t>
            </a:r>
            <a:r>
              <a:rPr lang="en-US" altLang="zh-CN" sz="3200" i="1" baseline="-25000">
                <a:solidFill>
                  <a:srgbClr val="FF00FF"/>
                </a:solidFill>
                <a:latin typeface="Consolas" panose="020B0609020204030204" pitchFamily="49" charset="0"/>
                <a:ea typeface="仿宋" panose="02010609060101010101" pitchFamily="49" charset="-122"/>
              </a:rPr>
              <a:t>s</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 v</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-1][</a:t>
            </a:r>
            <a:r>
              <a:rPr lang="en-US" altLang="zh-CN" i="1">
                <a:solidFill>
                  <a:srgbClr val="FF00FF"/>
                </a:solidFill>
                <a:latin typeface="Consolas" panose="020B0609020204030204" pitchFamily="49" charset="0"/>
                <a:ea typeface="仿宋" panose="02010609060101010101" pitchFamily="49" charset="-122"/>
              </a:rPr>
              <a:t>j</a:t>
            </a:r>
            <a:r>
              <a:rPr lang="en-US" altLang="zh-CN">
                <a:solidFill>
                  <a:srgbClr val="FF00FF"/>
                </a:solidFill>
                <a:latin typeface="Consolas" panose="020B0609020204030204" pitchFamily="49" charset="0"/>
                <a:ea typeface="仿宋" panose="02010609060101010101" pitchFamily="49" charset="-122"/>
              </a:rPr>
              <a:t>]+dp[</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-1][</a:t>
            </a:r>
            <a:r>
              <a:rPr lang="en-US" altLang="zh-CN" i="1">
                <a:solidFill>
                  <a:srgbClr val="FF00FF"/>
                </a:solidFill>
                <a:latin typeface="Consolas" panose="020B0609020204030204" pitchFamily="49" charset="0"/>
                <a:ea typeface="仿宋" panose="02010609060101010101" pitchFamily="49" charset="-122"/>
              </a:rPr>
              <a:t>s</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j</a:t>
            </a:r>
            <a:r>
              <a:rPr lang="en-US" altLang="zh-CN">
                <a:solidFill>
                  <a:srgbClr val="FF00FF"/>
                </a:solidFill>
                <a:latin typeface="Consolas" panose="020B0609020204030204" pitchFamily="49" charset="0"/>
                <a:ea typeface="仿宋" panose="02010609060101010101" pitchFamily="49" charset="-122"/>
              </a:rPr>
              <a:t>] }</a:t>
            </a:r>
            <a:endParaRPr lang="zh-CN" altLang="en-US">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下箭头 3"/>
          <p:cNvSpPr/>
          <p:nvPr/>
        </p:nvSpPr>
        <p:spPr>
          <a:xfrm>
            <a:off x="3929058" y="3000372"/>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 name="TextBox 4"/>
          <p:cNvSpPr txBox="1"/>
          <p:nvPr/>
        </p:nvSpPr>
        <p:spPr>
          <a:xfrm>
            <a:off x="214282" y="3429000"/>
            <a:ext cx="8715436" cy="129532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dp[0][</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]=0														</a:t>
            </a:r>
            <a:r>
              <a:rPr lang="zh-CN" altLang="zh-CN" sz="2000">
                <a:solidFill>
                  <a:srgbClr val="00B0F0"/>
                </a:solidFill>
                <a:latin typeface="Consolas" panose="020B0609020204030204" pitchFamily="49" charset="0"/>
                <a:ea typeface="仿宋" panose="02010609060101010101" pitchFamily="49" charset="-122"/>
              </a:rPr>
              <a:t>边界条件（</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mj-ea"/>
                <a:ea typeface="+mj-ea"/>
              </a:rPr>
              <a:t>≤</a:t>
            </a:r>
            <a:r>
              <a:rPr lang="en-US" altLang="zh-CN" sz="2000" i="1">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mj-ea"/>
                <a:ea typeface="+mj-ea"/>
              </a:rPr>
              <a:t>≤</a:t>
            </a:r>
            <a:r>
              <a:rPr lang="en-US" altLang="zh-CN" sz="2000" i="1">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]=max</a:t>
            </a:r>
            <a:r>
              <a:rPr lang="en-US" altLang="zh-CN" sz="2000" baseline="-25000">
                <a:solidFill>
                  <a:srgbClr val="0000FF"/>
                </a:solidFill>
                <a:latin typeface="Consolas" panose="020B0609020204030204" pitchFamily="49" charset="0"/>
                <a:ea typeface="仿宋" panose="02010609060101010101" pitchFamily="49" charset="-122"/>
              </a:rPr>
              <a:t>0</a:t>
            </a:r>
            <a:r>
              <a:rPr lang="zh-CN" altLang="zh-CN" sz="2000" baseline="-25000">
                <a:solidFill>
                  <a:srgbClr val="0000FF"/>
                </a:solidFill>
                <a:latin typeface="+mj-ea"/>
                <a:ea typeface="+mj-ea"/>
              </a:rPr>
              <a:t>≤</a:t>
            </a:r>
            <a:r>
              <a:rPr lang="en-US" altLang="zh-CN" sz="2000" i="1" baseline="-25000">
                <a:solidFill>
                  <a:srgbClr val="0000FF"/>
                </a:solidFill>
                <a:latin typeface="Consolas" panose="020B0609020204030204" pitchFamily="49" charset="0"/>
                <a:ea typeface="仿宋" panose="02010609060101010101" pitchFamily="49" charset="-122"/>
              </a:rPr>
              <a:t>s</a:t>
            </a:r>
            <a:r>
              <a:rPr lang="zh-CN" altLang="zh-CN" sz="2000" baseline="-25000">
                <a:solidFill>
                  <a:srgbClr val="0000FF"/>
                </a:solidFill>
                <a:latin typeface="+mj-ea"/>
                <a:ea typeface="+mj-ea"/>
              </a:rPr>
              <a:t>≤</a:t>
            </a:r>
            <a:r>
              <a:rPr lang="en-US" altLang="zh-CN" sz="2000" i="1" baseline="-25000">
                <a:solidFill>
                  <a:srgbClr val="0000FF"/>
                </a:solidFill>
                <a:latin typeface="Consolas" panose="020B0609020204030204" pitchFamily="49" charset="0"/>
                <a:ea typeface="仿宋" panose="02010609060101010101" pitchFamily="49" charset="-122"/>
              </a:rPr>
              <a:t>n</a:t>
            </a:r>
            <a:r>
              <a:rPr lang="en-US" altLang="zh-CN" sz="2000" baseline="-25000">
                <a:solidFill>
                  <a:srgbClr val="0000FF"/>
                </a:solidFill>
                <a:latin typeface="Consolas" panose="020B0609020204030204" pitchFamily="49" charset="0"/>
                <a:ea typeface="仿宋" panose="02010609060101010101" pitchFamily="49" charset="-122"/>
              </a:rPr>
              <a:t>, 0</a:t>
            </a:r>
            <a:r>
              <a:rPr lang="zh-CN" altLang="zh-CN" sz="2000" baseline="-25000">
                <a:solidFill>
                  <a:srgbClr val="0000FF"/>
                </a:solidFill>
                <a:latin typeface="+mj-ea"/>
                <a:ea typeface="+mj-ea"/>
              </a:rPr>
              <a:t>≤</a:t>
            </a:r>
            <a:r>
              <a:rPr lang="en-US" altLang="zh-CN" sz="2000" i="1" baseline="-25000">
                <a:solidFill>
                  <a:srgbClr val="0000FF"/>
                </a:solidFill>
                <a:latin typeface="Consolas" panose="020B0609020204030204" pitchFamily="49" charset="0"/>
                <a:ea typeface="仿宋" panose="02010609060101010101" pitchFamily="49" charset="-122"/>
              </a:rPr>
              <a:t>j</a:t>
            </a:r>
            <a:r>
              <a:rPr lang="zh-CN" altLang="zh-CN" sz="2000" baseline="-25000">
                <a:solidFill>
                  <a:srgbClr val="0000FF"/>
                </a:solidFill>
                <a:latin typeface="+mn-ea"/>
              </a:rPr>
              <a:t>≤</a:t>
            </a:r>
            <a:r>
              <a:rPr lang="en-US" altLang="zh-CN" sz="2000" i="1" baseline="-25000">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v</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其他</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pnum[</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zh-CN" altLang="zh-CN" sz="2000">
                <a:solidFill>
                  <a:srgbClr val="0000FF"/>
                </a:solidFill>
                <a:latin typeface="Consolas" panose="020B0609020204030204" pitchFamily="49" charset="0"/>
                <a:ea typeface="仿宋" panose="02010609060101010101" pitchFamily="49" charset="-122"/>
              </a:rPr>
              <a:t>取最大值的</a:t>
            </a:r>
            <a:r>
              <a:rPr lang="en-US" altLang="zh-CN" sz="2000" i="1">
                <a:solidFill>
                  <a:srgbClr val="0000FF"/>
                </a:solidFill>
                <a:latin typeface="Consolas" panose="020B0609020204030204" pitchFamily="49" charset="0"/>
                <a:ea typeface="仿宋" panose="02010609060101010101" pitchFamily="49" charset="-122"/>
              </a:rPr>
              <a:t>j</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785786" y="5572140"/>
            <a:ext cx="678661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当求出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数组后，</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m</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就是最终的最优增收。</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3857620" y="5072074"/>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42918"/>
            <a:ext cx="8643998" cy="30650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pnum;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分配人数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120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plan</a:t>
            </a:r>
            <a:r>
              <a:rPr lang="en-US" altLang="zh-CN" sz="2000">
                <a:solidFill>
                  <a:srgbClr val="0000FF"/>
                </a:solidFill>
                <a:latin typeface="Consolas" panose="020B0609020204030204" pitchFamily="49" charset="0"/>
                <a:ea typeface="仿宋" panose="02010609060101010101" pitchFamily="49" charset="-122"/>
              </a:rPr>
              <a:t>(int m,int n,vector&lt;vector&lt;int&gt;&gt;&amp;v)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和</a:t>
            </a:r>
            <a:r>
              <a:rPr lang="en-US" altLang="zh-CN" sz="2000">
                <a:solidFill>
                  <a:srgbClr val="00B0F0"/>
                </a:solidFill>
                <a:latin typeface="Consolas" panose="020B0609020204030204" pitchFamily="49" charset="0"/>
                <a:ea typeface="仿宋" panose="02010609060101010101" pitchFamily="49" charset="-122"/>
              </a:rPr>
              <a:t>pnum</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dp=vector&lt;vector&lt;int&gt;&gt;(m+1,vector&lt;int&gt;(n+1,0));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pnum=vector&lt;vector&lt;int&gt;&gt;(m+1,vector&lt;int&gt;(n+1,0));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j=0;j&lt;=n;j++)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置边界条件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dp[0][j]=0;</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202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s=0;s&lt;=n;s++)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maxf=0,maxj=0;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j=0;j&lt;=s;j++)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(v[i-1][j]+dp[i-1][s-j])&gt;maxf</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maxf=v[i-1][j]+dp[i-1][s-j];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maxj=j;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dp[i][s]=maxf;</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pnum[i][s]=maxj;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dp[m][n];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72560"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可以从</a:t>
            </a:r>
            <a:r>
              <a:rPr lang="en-US" altLang="zh-CN">
                <a:solidFill>
                  <a:srgbClr val="0000FF"/>
                </a:solidFill>
                <a:latin typeface="Consolas" panose="020B0609020204030204" pitchFamily="49" charset="0"/>
                <a:ea typeface="仿宋" panose="02010609060101010101" pitchFamily="49" charset="-122"/>
              </a:rPr>
              <a:t>pnum[</a:t>
            </a:r>
            <a:r>
              <a:rPr lang="en-US" altLang="zh-CN" i="1">
                <a:solidFill>
                  <a:srgbClr val="0000FF"/>
                </a:solidFill>
                <a:latin typeface="Consolas" panose="020B0609020204030204" pitchFamily="49" charset="0"/>
                <a:ea typeface="仿宋" panose="02010609060101010101" pitchFamily="49" charset="-122"/>
              </a:rPr>
              <a:t>m</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开始推导出各个商店分配的人数，用</a:t>
            </a:r>
            <a:r>
              <a:rPr lang="en-US" altLang="zh-CN">
                <a:solidFill>
                  <a:srgbClr val="0000FF"/>
                </a:solidFill>
                <a:latin typeface="Consolas" panose="020B0609020204030204" pitchFamily="49" charset="0"/>
                <a:ea typeface="仿宋" panose="02010609060101010101" pitchFamily="49" charset="-122"/>
              </a:rPr>
              <a:t>vector&lt;int&gt;</a:t>
            </a:r>
            <a:r>
              <a:rPr lang="zh-CN" altLang="zh-CN">
                <a:solidFill>
                  <a:srgbClr val="0000FF"/>
                </a:solidFill>
                <a:latin typeface="Consolas" panose="020B0609020204030204" pitchFamily="49" charset="0"/>
                <a:ea typeface="仿宋" panose="02010609060101010101" pitchFamily="49" charset="-122"/>
              </a:rPr>
              <a:t>容器</a:t>
            </a:r>
            <a:r>
              <a:rPr lang="en-US" altLang="zh-CN" i="1">
                <a:solidFill>
                  <a:srgbClr val="0000FF"/>
                </a:solidFill>
                <a:latin typeface="Consolas" panose="020B0609020204030204" pitchFamily="49" charset="0"/>
                <a:ea typeface="仿宋" panose="02010609060101010101" pitchFamily="49" charset="-122"/>
              </a:rPr>
              <a:t>x</a:t>
            </a:r>
            <a:r>
              <a:rPr lang="zh-CN" altLang="zh-CN">
                <a:solidFill>
                  <a:srgbClr val="0000FF"/>
                </a:solidFill>
                <a:latin typeface="Consolas" panose="020B0609020204030204" pitchFamily="49" charset="0"/>
                <a:ea typeface="仿宋" panose="02010609060101010101" pitchFamily="49" charset="-122"/>
              </a:rPr>
              <a:t>存放各个商店分配的人数。</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357158" y="1352935"/>
            <a:ext cx="8643998" cy="45352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(int m,int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求一个最优分配方案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存放一个最优分配方案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s=pnum[m][n];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x.push_back(s);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r=n-s;										</a:t>
            </a:r>
            <a:r>
              <a:rPr lang="en-US" altLang="zh-CN" sz="2000">
                <a:solidFill>
                  <a:srgbClr val="00B0F0"/>
                </a:solidFill>
                <a:latin typeface="Consolas" panose="020B0609020204030204" pitchFamily="49" charset="0"/>
                <a:ea typeface="仿宋" panose="02010609060101010101" pitchFamily="49" charset="-122"/>
              </a:rPr>
              <a:t>//r</a:t>
            </a:r>
            <a:r>
              <a:rPr lang="zh-CN" altLang="zh-CN" sz="2000">
                <a:solidFill>
                  <a:srgbClr val="00B0F0"/>
                </a:solidFill>
                <a:latin typeface="Consolas" panose="020B0609020204030204" pitchFamily="49" charset="0"/>
                <a:ea typeface="仿宋" panose="02010609060101010101" pitchFamily="49" charset="-122"/>
              </a:rPr>
              <a:t>为余下的人数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k=m;k&gt;1;k--)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s=pnum[k-1][r];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求下一个阶段分配的人数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x.push_back(s);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r=r-s;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余下人数递减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reverse</a:t>
            </a:r>
            <a:r>
              <a:rPr lang="en-US" altLang="zh-CN" sz="2000">
                <a:solidFill>
                  <a:srgbClr val="0000FF"/>
                </a:solidFill>
                <a:latin typeface="Consolas" panose="020B0609020204030204" pitchFamily="49" charset="0"/>
                <a:ea typeface="仿宋" panose="02010609060101010101" pitchFamily="49" charset="-122"/>
              </a:rPr>
              <a:t>(x.begin(),x.end());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逆置</a:t>
            </a:r>
            <a:r>
              <a:rPr lang="en-US" altLang="zh-CN" sz="2000">
                <a:solidFill>
                  <a:srgbClr val="00B0F0"/>
                </a:solidFill>
                <a:latin typeface="Consolas" panose="020B0609020204030204" pitchFamily="49" charset="0"/>
                <a:ea typeface="仿宋" panose="02010609060101010101" pitchFamily="49" charset="-122"/>
              </a:rPr>
              <a:t>x</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642918"/>
            <a:ext cx="8358246" cy="574003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ct val="100000"/>
              </a:lnSpc>
              <a:spcBef>
                <a:spcPts val="600"/>
              </a:spcBef>
            </a:pPr>
            <a:r>
              <a:rPr lang="en-US" altLang="zh-CN">
                <a:solidFill>
                  <a:srgbClr val="FF0000"/>
                </a:solidFill>
                <a:latin typeface="Consolas" panose="020B0609020204030204" pitchFamily="49" charset="0"/>
                <a:ea typeface="楷体" panose="02010609060101010101" pitchFamily="49" charset="-122"/>
              </a:rPr>
              <a:t>        </a:t>
            </a: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7.5</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盈利计划（</a:t>
            </a:r>
            <a:r>
              <a:rPr lang="en-US" altLang="zh-CN">
                <a:solidFill>
                  <a:srgbClr val="0000FF"/>
                </a:solidFill>
                <a:latin typeface="Consolas" panose="020B0609020204030204" pitchFamily="49" charset="0"/>
                <a:ea typeface="仿宋" panose="02010609060101010101" pitchFamily="49" charset="-122"/>
              </a:rPr>
              <a:t>LintCode1607</a:t>
            </a:r>
            <a:r>
              <a:rPr lang="zh-CN" altLang="zh-CN">
                <a:solidFill>
                  <a:srgbClr val="0000FF"/>
                </a:solidFill>
                <a:latin typeface="Consolas" panose="020B0609020204030204" pitchFamily="49" charset="0"/>
                <a:ea typeface="仿宋" panose="02010609060101010101" pitchFamily="49" charset="-122"/>
              </a:rPr>
              <a:t>★★★）。共有</a:t>
            </a:r>
            <a:r>
              <a:rPr lang="en-US" altLang="zh-CN">
                <a:solidFill>
                  <a:srgbClr val="0000FF"/>
                </a:solidFill>
                <a:latin typeface="Consolas" panose="020B0609020204030204" pitchFamily="49" charset="0"/>
                <a:ea typeface="仿宋" panose="02010609060101010101" pitchFamily="49" charset="-122"/>
              </a:rPr>
              <a:t>g</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g</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）名人员计划完成</a:t>
            </a:r>
            <a:r>
              <a:rPr lang="en-US" altLang="zh-CN" i="1">
                <a:solidFill>
                  <a:srgbClr val="0000FF"/>
                </a:solidFill>
                <a:latin typeface="Consolas" panose="020B0609020204030204" pitchFamily="49" charset="0"/>
                <a:ea typeface="仿宋" panose="02010609060101010101" pitchFamily="49" charset="-122"/>
              </a:rPr>
              <a:t>m</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m</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）个活动，给出两个长度均为</a:t>
            </a:r>
            <a:r>
              <a:rPr lang="en-US" altLang="zh-CN" i="1">
                <a:solidFill>
                  <a:srgbClr val="0000FF"/>
                </a:solidFill>
                <a:latin typeface="Consolas" panose="020B0609020204030204" pitchFamily="49" charset="0"/>
                <a:ea typeface="仿宋" panose="02010609060101010101" pitchFamily="49" charset="-122"/>
              </a:rPr>
              <a:t>m</a:t>
            </a:r>
            <a:r>
              <a:rPr lang="zh-CN" altLang="zh-CN">
                <a:solidFill>
                  <a:srgbClr val="0000FF"/>
                </a:solidFill>
                <a:latin typeface="Consolas" panose="020B0609020204030204" pitchFamily="49" charset="0"/>
                <a:ea typeface="仿宋" panose="02010609060101010101" pitchFamily="49" charset="-122"/>
              </a:rPr>
              <a:t>的数组</a:t>
            </a:r>
            <a:r>
              <a:rPr lang="en-US" altLang="zh-CN">
                <a:solidFill>
                  <a:srgbClr val="0000FF"/>
                </a:solidFill>
                <a:latin typeface="Consolas" panose="020B0609020204030204" pitchFamily="49" charset="0"/>
                <a:ea typeface="仿宋" panose="02010609060101010101" pitchFamily="49" charset="-122"/>
              </a:rPr>
              <a:t>groups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group[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 profit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profit[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），它们的含义是活动</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需要投入</a:t>
            </a:r>
            <a:r>
              <a:rPr lang="en-US" altLang="zh-CN">
                <a:solidFill>
                  <a:srgbClr val="0000FF"/>
                </a:solidFill>
                <a:latin typeface="Consolas" panose="020B0609020204030204" pitchFamily="49" charset="0"/>
                <a:ea typeface="仿宋" panose="02010609060101010101" pitchFamily="49" charset="-122"/>
              </a:rPr>
              <a:t>groups[</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个人员可以获得</a:t>
            </a:r>
            <a:r>
              <a:rPr lang="en-US" altLang="zh-CN">
                <a:solidFill>
                  <a:srgbClr val="0000FF"/>
                </a:solidFill>
                <a:latin typeface="Consolas" panose="020B0609020204030204" pitchFamily="49" charset="0"/>
                <a:ea typeface="仿宋" panose="02010609060101010101" pitchFamily="49" charset="-122"/>
              </a:rPr>
              <a:t>profit[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的盈利。每个人只能同时参加一个活动。为了获得至少</a:t>
            </a:r>
            <a:r>
              <a:rPr lang="en-US" altLang="zh-CN" i="1">
                <a:solidFill>
                  <a:srgbClr val="0000FF"/>
                </a:solidFill>
                <a:latin typeface="Consolas" panose="020B0609020204030204" pitchFamily="49" charset="0"/>
                <a:ea typeface="仿宋" panose="02010609060101010101" pitchFamily="49" charset="-122"/>
              </a:rPr>
              <a:t>p</a:t>
            </a: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的盈利，求有多少种方案可以选择。因为答案很大，所以答案要对</a:t>
            </a:r>
            <a:r>
              <a:rPr lang="en-US" altLang="zh-CN">
                <a:solidFill>
                  <a:srgbClr val="0000FF"/>
                </a:solidFill>
                <a:latin typeface="Consolas" panose="020B0609020204030204" pitchFamily="49" charset="0"/>
                <a:ea typeface="仿宋" panose="02010609060101010101" pitchFamily="49" charset="-122"/>
              </a:rPr>
              <a:t>10^9+7</a:t>
            </a:r>
            <a:r>
              <a:rPr lang="zh-CN" altLang="zh-CN">
                <a:solidFill>
                  <a:srgbClr val="0000FF"/>
                </a:solidFill>
                <a:latin typeface="Consolas" panose="020B0609020204030204" pitchFamily="49" charset="0"/>
                <a:ea typeface="仿宋" panose="02010609060101010101" pitchFamily="49" charset="-122"/>
              </a:rPr>
              <a:t>取模。</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i="1">
                <a:solidFill>
                  <a:srgbClr val="0000FF"/>
                </a:solidFill>
                <a:latin typeface="Consolas" panose="020B0609020204030204" pitchFamily="49" charset="0"/>
                <a:ea typeface="仿宋" panose="02010609060101010101" pitchFamily="49" charset="-122"/>
              </a:rPr>
              <a:t>g</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p</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group={2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profit={2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，答案为</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，解释如下，共有两个活动，</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个人，要产生至少</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的盈利，方案</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是参加全部活动（需要的人数为</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），盈利为</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；方案</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是参加活动</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（需要的人数为</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），盈利为</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要求设计如下成员函数：</a:t>
            </a:r>
            <a:endParaRPr lang="zh-CN" altLang="zh-CN">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sz="2000">
                <a:solidFill>
                  <a:srgbClr val="006600"/>
                </a:solidFill>
                <a:latin typeface="Consolas" panose="020B0609020204030204" pitchFamily="49" charset="0"/>
                <a:ea typeface="仿宋" panose="02010609060101010101" pitchFamily="49" charset="-122"/>
              </a:rPr>
              <a:t>    int profitableSchemes(int g,int p,vector&lt;int&gt; &amp;group,				vector&lt;int&gt; &amp;profit) { }</a:t>
            </a:r>
            <a:endParaRPr lang="zh-CN" altLang="zh-CN" sz="2000">
              <a:solidFill>
                <a:srgbClr val="006600"/>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6" name="组合 5"/>
          <p:cNvGrpSpPr/>
          <p:nvPr/>
        </p:nvGrpSpPr>
        <p:grpSpPr>
          <a:xfrm>
            <a:off x="714348" y="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500174"/>
            <a:ext cx="8286808"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假设</a:t>
            </a:r>
            <a:r>
              <a:rPr lang="en-US" altLang="zh-CN" i="1">
                <a:solidFill>
                  <a:srgbClr val="0000FF"/>
                </a:solidFill>
                <a:latin typeface="Consolas" panose="020B0609020204030204" pitchFamily="49" charset="0"/>
                <a:ea typeface="仿宋" panose="02010609060101010101" pitchFamily="49" charset="-122"/>
              </a:rPr>
              <a:t>m</a:t>
            </a:r>
            <a:r>
              <a:rPr lang="zh-CN" altLang="zh-CN">
                <a:solidFill>
                  <a:srgbClr val="0000FF"/>
                </a:solidFill>
                <a:latin typeface="Consolas" panose="020B0609020204030204" pitchFamily="49" charset="0"/>
                <a:ea typeface="仿宋" panose="02010609060101010101" pitchFamily="49" charset="-122"/>
              </a:rPr>
              <a:t>个活动的编号为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m</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，设置三维动态规划数组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表示在前</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个活动中选择了</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个人并且盈利至少为</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的方案总数。</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在不考虑取模运算的情况下，满足要求的方案数</a:t>
            </a:r>
            <a:r>
              <a:rPr lang="en-US" altLang="zh-CN">
                <a:solidFill>
                  <a:srgbClr val="0000FF"/>
                </a:solidFill>
                <a:latin typeface="Consolas" panose="020B0609020204030204" pitchFamily="49" charset="0"/>
                <a:ea typeface="仿宋" panose="02010609060101010101" pitchFamily="49" charset="-122"/>
              </a:rPr>
              <a:t>ans</a:t>
            </a:r>
            <a:r>
              <a:rPr lang="zh-CN" altLang="zh-CN">
                <a:solidFill>
                  <a:srgbClr val="0000FF"/>
                </a:solidFill>
                <a:latin typeface="Consolas" panose="020B0609020204030204" pitchFamily="49" charset="0"/>
                <a:ea typeface="仿宋" panose="02010609060101010101" pitchFamily="49" charset="-122"/>
              </a:rPr>
              <a:t>为</a:t>
            </a:r>
            <a:r>
              <a:rPr lang="en-US"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pic>
        <p:nvPicPr>
          <p:cNvPr id="236546" name="Picture 2"/>
          <p:cNvPicPr>
            <a:picLocks noChangeAspect="1" noChangeArrowheads="1"/>
          </p:cNvPicPr>
          <p:nvPr/>
        </p:nvPicPr>
        <p:blipFill>
          <a:blip r:embed="rId2" cstate="print"/>
          <a:srcRect/>
          <a:stretch>
            <a:fillRect/>
          </a:stretch>
        </p:blipFill>
        <p:spPr bwMode="auto">
          <a:xfrm>
            <a:off x="3214678" y="3643314"/>
            <a:ext cx="2167774" cy="1071570"/>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7" name="Picture 4"/>
          <p:cNvPicPr>
            <a:picLocks noChangeAspect="1" noChangeArrowheads="1"/>
          </p:cNvPicPr>
          <p:nvPr/>
        </p:nvPicPr>
        <p:blipFill>
          <a:blip r:embed="rId3"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楷体" panose="02010609060101010101" pitchFamily="49" charset="-122"/>
              </a:rPr>
              <a:t>状态转移方程</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TextBox 3"/>
          <p:cNvSpPr txBox="1"/>
          <p:nvPr/>
        </p:nvSpPr>
        <p:spPr>
          <a:xfrm>
            <a:off x="500034" y="1285860"/>
            <a:ext cx="8286808" cy="152191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i="1">
                <a:solidFill>
                  <a:srgbClr val="00B0F0"/>
                </a:solidFill>
                <a:latin typeface="Consolas" panose="020B0609020204030204" pitchFamily="49" charset="0"/>
                <a:ea typeface="仿宋" panose="02010609060101010101" pitchFamily="49" charset="-122"/>
              </a:rPr>
              <a:t>s</a:t>
            </a:r>
            <a:r>
              <a:rPr lang="en-US" altLang="zh-CN" sz="2000">
                <a:solidFill>
                  <a:srgbClr val="00B0F0"/>
                </a:solidFill>
                <a:latin typeface="Consolas" panose="020B0609020204030204" pitchFamily="49" charset="0"/>
                <a:ea typeface="仿宋" panose="02010609060101010101" pitchFamily="49" charset="-122"/>
              </a:rPr>
              <a:t>&lt;group[</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dp[</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s</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a:t>
            </a:r>
            <a:r>
              <a:rPr lang="en-US" altLang="zh-CN" sz="2000" i="1">
                <a:solidFill>
                  <a:srgbClr val="006600"/>
                </a:solidFill>
                <a:latin typeface="Consolas" panose="020B0609020204030204" pitchFamily="49" charset="0"/>
                <a:ea typeface="仿宋" panose="02010609060101010101" pitchFamily="49" charset="-122"/>
              </a:rPr>
              <a:t>i</a:t>
            </a:r>
            <a:r>
              <a:rPr lang="en-US" altLang="zh-CN" sz="2000">
                <a:solidFill>
                  <a:srgbClr val="006600"/>
                </a:solidFill>
                <a:latin typeface="Consolas" panose="020B0609020204030204" pitchFamily="49" charset="0"/>
                <a:ea typeface="仿宋" panose="02010609060101010101" pitchFamily="49" charset="-122"/>
              </a:rPr>
              <a:t>−1][</a:t>
            </a:r>
            <a:r>
              <a:rPr lang="en-US" altLang="zh-CN" sz="2000" i="1">
                <a:solidFill>
                  <a:srgbClr val="006600"/>
                </a:solidFill>
                <a:latin typeface="Consolas" panose="020B0609020204030204" pitchFamily="49" charset="0"/>
                <a:ea typeface="仿宋" panose="02010609060101010101" pitchFamily="49" charset="-122"/>
              </a:rPr>
              <a:t>s</a:t>
            </a:r>
            <a:r>
              <a:rPr lang="en-US" altLang="zh-CN" sz="2000">
                <a:solidFill>
                  <a:srgbClr val="006600"/>
                </a:solidFill>
                <a:latin typeface="Consolas" panose="020B0609020204030204" pitchFamily="49" charset="0"/>
                <a:ea typeface="仿宋" panose="02010609060101010101" pitchFamily="49" charset="-122"/>
              </a:rPr>
              <a:t>][</a:t>
            </a:r>
            <a:r>
              <a:rPr lang="en-US" altLang="zh-CN" sz="2000" i="1">
                <a:solidFill>
                  <a:srgbClr val="006600"/>
                </a:solidFill>
                <a:latin typeface="Consolas" panose="020B0609020204030204" pitchFamily="49" charset="0"/>
                <a:ea typeface="仿宋" panose="02010609060101010101" pitchFamily="49" charset="-122"/>
              </a:rPr>
              <a:t>j</a:t>
            </a:r>
            <a:r>
              <a:rPr lang="en-US" altLang="zh-CN" sz="2000">
                <a:solidFill>
                  <a:srgbClr val="006600"/>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FF"/>
                </a:solidFill>
                <a:latin typeface="Consolas" panose="020B0609020204030204" pitchFamily="49" charset="0"/>
                <a:ea typeface="仿宋" panose="02010609060101010101" pitchFamily="49" charset="-122"/>
              </a:rPr>
              <a:t>dp[</a:t>
            </a:r>
            <a:r>
              <a:rPr lang="en-US" altLang="zh-CN" sz="2000" i="1">
                <a:solidFill>
                  <a:srgbClr val="FF00FF"/>
                </a:solidFill>
                <a:latin typeface="Consolas" panose="020B0609020204030204" pitchFamily="49" charset="0"/>
                <a:ea typeface="仿宋" panose="02010609060101010101" pitchFamily="49" charset="-122"/>
              </a:rPr>
              <a:t>i</a:t>
            </a:r>
            <a:r>
              <a:rPr lang="en-US" altLang="zh-CN" sz="2000">
                <a:solidFill>
                  <a:srgbClr val="FF00FF"/>
                </a:solidFill>
                <a:latin typeface="Consolas" panose="020B0609020204030204" pitchFamily="49" charset="0"/>
                <a:ea typeface="仿宋" panose="02010609060101010101" pitchFamily="49" charset="-122"/>
              </a:rPr>
              <a:t>−1][</a:t>
            </a:r>
            <a:r>
              <a:rPr lang="en-US" altLang="zh-CN" sz="2000" i="1">
                <a:solidFill>
                  <a:srgbClr val="FF00FF"/>
                </a:solidFill>
                <a:latin typeface="Consolas" panose="020B0609020204030204" pitchFamily="49" charset="0"/>
                <a:ea typeface="仿宋" panose="02010609060101010101" pitchFamily="49" charset="-122"/>
              </a:rPr>
              <a:t>s</a:t>
            </a:r>
            <a:r>
              <a:rPr lang="en-US" altLang="zh-CN" sz="2000">
                <a:solidFill>
                  <a:srgbClr val="FF00FF"/>
                </a:solidFill>
                <a:latin typeface="Consolas" panose="020B0609020204030204" pitchFamily="49" charset="0"/>
                <a:ea typeface="仿宋" panose="02010609060101010101" pitchFamily="49" charset="-122"/>
              </a:rPr>
              <a:t>−group[</a:t>
            </a:r>
            <a:r>
              <a:rPr lang="en-US" altLang="zh-CN" sz="2000" i="1">
                <a:solidFill>
                  <a:srgbClr val="FF00FF"/>
                </a:solidFill>
                <a:latin typeface="Consolas" panose="020B0609020204030204" pitchFamily="49" charset="0"/>
                <a:ea typeface="仿宋" panose="02010609060101010101" pitchFamily="49" charset="-122"/>
              </a:rPr>
              <a:t>i</a:t>
            </a:r>
            <a:r>
              <a:rPr lang="en-US" altLang="zh-CN" sz="2000">
                <a:solidFill>
                  <a:srgbClr val="FF00FF"/>
                </a:solidFill>
                <a:latin typeface="Consolas" panose="020B0609020204030204" pitchFamily="49" charset="0"/>
                <a:ea typeface="仿宋" panose="02010609060101010101" pitchFamily="49" charset="-122"/>
              </a:rPr>
              <a:t>-1]][max(0</a:t>
            </a:r>
            <a:r>
              <a:rPr lang="zh-CN" altLang="zh-CN" sz="2000">
                <a:solidFill>
                  <a:srgbClr val="FF00FF"/>
                </a:solidFill>
                <a:latin typeface="Consolas" panose="020B0609020204030204" pitchFamily="49" charset="0"/>
                <a:ea typeface="仿宋" panose="02010609060101010101" pitchFamily="49" charset="-122"/>
              </a:rPr>
              <a:t>，</a:t>
            </a:r>
            <a:r>
              <a:rPr lang="en-US" altLang="zh-CN" sz="2000" i="1">
                <a:solidFill>
                  <a:srgbClr val="FF00FF"/>
                </a:solidFill>
                <a:latin typeface="Consolas" panose="020B0609020204030204" pitchFamily="49" charset="0"/>
                <a:ea typeface="仿宋" panose="02010609060101010101" pitchFamily="49" charset="-122"/>
              </a:rPr>
              <a:t>j</a:t>
            </a:r>
            <a:r>
              <a:rPr lang="en-US" altLang="zh-CN" sz="2000">
                <a:solidFill>
                  <a:srgbClr val="FF00FF"/>
                </a:solidFill>
                <a:latin typeface="Consolas" panose="020B0609020204030204" pitchFamily="49" charset="0"/>
                <a:ea typeface="仿宋" panose="02010609060101010101" pitchFamily="49" charset="-122"/>
              </a:rPr>
              <a:t>−profit[</a:t>
            </a:r>
            <a:r>
              <a:rPr lang="en-US" altLang="zh-CN" sz="2000" i="1">
                <a:solidFill>
                  <a:srgbClr val="FF00FF"/>
                </a:solidFill>
                <a:latin typeface="Consolas" panose="020B0609020204030204" pitchFamily="49" charset="0"/>
                <a:ea typeface="仿宋" panose="02010609060101010101" pitchFamily="49" charset="-122"/>
              </a:rPr>
              <a:t>i</a:t>
            </a:r>
            <a:r>
              <a:rPr lang="en-US" altLang="zh-CN" sz="2000">
                <a:solidFill>
                  <a:srgbClr val="FF00FF"/>
                </a:solidFill>
                <a:latin typeface="Consolas" panose="020B0609020204030204" pitchFamily="49" charset="0"/>
                <a:ea typeface="仿宋" panose="02010609060101010101" pitchFamily="49" charset="-122"/>
              </a:rPr>
              <a:t>-1])]</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其他</a:t>
            </a:r>
            <a:endParaRPr lang="zh-CN" altLang="zh-CN" sz="2000">
              <a:solidFill>
                <a:srgbClr val="00B0F0"/>
              </a:solidFill>
              <a:latin typeface="Consolas" panose="020B0609020204030204" pitchFamily="49" charset="0"/>
              <a:ea typeface="仿宋" panose="02010609060101010101" pitchFamily="49" charset="-122"/>
            </a:endParaRPr>
          </a:p>
        </p:txBody>
      </p:sp>
      <p:grpSp>
        <p:nvGrpSpPr>
          <p:cNvPr id="13" name="组合 12"/>
          <p:cNvGrpSpPr/>
          <p:nvPr/>
        </p:nvGrpSpPr>
        <p:grpSpPr>
          <a:xfrm>
            <a:off x="4357686" y="2643976"/>
            <a:ext cx="1857388" cy="970820"/>
            <a:chOff x="4357686" y="3001166"/>
            <a:chExt cx="1857388" cy="970820"/>
          </a:xfrm>
        </p:grpSpPr>
        <p:sp>
          <p:nvSpPr>
            <p:cNvPr id="6" name="TextBox 5"/>
            <p:cNvSpPr txBox="1"/>
            <p:nvPr/>
          </p:nvSpPr>
          <p:spPr>
            <a:xfrm>
              <a:off x="4357686" y="3571876"/>
              <a:ext cx="1857388" cy="400110"/>
            </a:xfrm>
            <a:prstGeom prst="rect">
              <a:avLst/>
            </a:prstGeom>
            <a:noFill/>
          </p:spPr>
          <p:txBody>
            <a:bodyPr wrap="square" rtlCol="0">
              <a:spAutoFit/>
            </a:bodyPr>
            <a:lstStyle/>
            <a:p>
              <a:pPr algn="l">
                <a:lnSpc>
                  <a:spcPct val="100000"/>
                </a:lnSpc>
                <a:spcBef>
                  <a:spcPts val="0"/>
                </a:spcBef>
              </a:pPr>
              <a:r>
                <a:rPr lang="zh-CN" altLang="zh-CN" sz="2000">
                  <a:solidFill>
                    <a:srgbClr val="FF00FF"/>
                  </a:solidFill>
                  <a:latin typeface="Consolas" panose="020B0609020204030204" pitchFamily="49" charset="0"/>
                  <a:ea typeface="仿宋" panose="02010609060101010101" pitchFamily="49" charset="-122"/>
                </a:rPr>
                <a:t>做活动</a:t>
              </a:r>
              <a:r>
                <a:rPr lang="en-US" altLang="zh-CN" sz="2000" i="1">
                  <a:solidFill>
                    <a:srgbClr val="FF00FF"/>
                  </a:solidFill>
                  <a:latin typeface="Consolas" panose="020B0609020204030204" pitchFamily="49" charset="0"/>
                  <a:ea typeface="仿宋" panose="02010609060101010101" pitchFamily="49" charset="-122"/>
                </a:rPr>
                <a:t>i</a:t>
              </a:r>
              <a:r>
                <a:rPr lang="en-US" altLang="zh-CN" sz="2000">
                  <a:solidFill>
                    <a:srgbClr val="FF00FF"/>
                  </a:solidFill>
                  <a:latin typeface="Consolas" panose="020B0609020204030204" pitchFamily="49" charset="0"/>
                  <a:ea typeface="仿宋" panose="02010609060101010101" pitchFamily="49" charset="-122"/>
                </a:rPr>
                <a:t>-1</a:t>
              </a:r>
              <a:endPar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8" name="直接箭头连接符 7"/>
            <p:cNvCxnSpPr>
              <a:stCxn id="6" idx="0"/>
            </p:cNvCxnSpPr>
            <p:nvPr/>
          </p:nvCxnSpPr>
          <p:spPr>
            <a:xfrm rot="5400000" flipH="1" flipV="1">
              <a:off x="5000628" y="3286124"/>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12" name="组合 11"/>
          <p:cNvGrpSpPr/>
          <p:nvPr/>
        </p:nvGrpSpPr>
        <p:grpSpPr>
          <a:xfrm>
            <a:off x="857224" y="2143116"/>
            <a:ext cx="2143140" cy="1471680"/>
            <a:chOff x="857224" y="2500306"/>
            <a:chExt cx="2143140" cy="1471680"/>
          </a:xfrm>
        </p:grpSpPr>
        <p:sp>
          <p:nvSpPr>
            <p:cNvPr id="5" name="TextBox 4"/>
            <p:cNvSpPr txBox="1"/>
            <p:nvPr/>
          </p:nvSpPr>
          <p:spPr>
            <a:xfrm>
              <a:off x="857224" y="3571876"/>
              <a:ext cx="1857388" cy="400110"/>
            </a:xfrm>
            <a:prstGeom prst="rect">
              <a:avLst/>
            </a:prstGeom>
            <a:noFill/>
          </p:spPr>
          <p:txBody>
            <a:bodyPr wrap="square" rtlCol="0">
              <a:spAutoFit/>
            </a:bodyPr>
            <a:lstStyle/>
            <a:p>
              <a:pPr algn="l">
                <a:lnSpc>
                  <a:spcPct val="100000"/>
                </a:lnSpc>
                <a:spcBef>
                  <a:spcPts val="0"/>
                </a:spcBef>
              </a:pPr>
              <a:r>
                <a:rPr lang="zh-CN" altLang="zh-CN" sz="2000">
                  <a:solidFill>
                    <a:srgbClr val="006600"/>
                  </a:solidFill>
                  <a:latin typeface="Consolas" panose="020B0609020204030204" pitchFamily="49" charset="0"/>
                  <a:ea typeface="仿宋" panose="02010609060101010101" pitchFamily="49" charset="-122"/>
                </a:rPr>
                <a:t>不做活动</a:t>
              </a:r>
              <a:r>
                <a:rPr lang="en-US" altLang="zh-CN" sz="2000" i="1">
                  <a:solidFill>
                    <a:srgbClr val="006600"/>
                  </a:solidFill>
                  <a:latin typeface="Consolas" panose="020B0609020204030204" pitchFamily="49" charset="0"/>
                  <a:ea typeface="仿宋" panose="02010609060101010101" pitchFamily="49" charset="-122"/>
                </a:rPr>
                <a:t>i</a:t>
              </a:r>
              <a:r>
                <a:rPr lang="en-US" altLang="zh-CN" sz="2000">
                  <a:solidFill>
                    <a:srgbClr val="006600"/>
                  </a:solidFill>
                  <a:latin typeface="Consolas" panose="020B0609020204030204" pitchFamily="49" charset="0"/>
                  <a:ea typeface="仿宋" panose="02010609060101010101" pitchFamily="49" charset="-122"/>
                </a:rPr>
                <a:t>-1</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0" name="直接箭头连接符 9"/>
            <p:cNvCxnSpPr>
              <a:stCxn id="5" idx="0"/>
            </p:cNvCxnSpPr>
            <p:nvPr/>
          </p:nvCxnSpPr>
          <p:spPr>
            <a:xfrm rot="5400000" flipH="1" flipV="1">
              <a:off x="1857356" y="2428868"/>
              <a:ext cx="1071570" cy="121444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1" name="TextBox 10"/>
          <p:cNvSpPr txBox="1"/>
          <p:nvPr/>
        </p:nvSpPr>
        <p:spPr>
          <a:xfrm>
            <a:off x="571472" y="4214818"/>
            <a:ext cx="8072494"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当求出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数组后，由其计算出</a:t>
            </a:r>
            <a:r>
              <a:rPr lang="en-US" altLang="zh-CN">
                <a:solidFill>
                  <a:srgbClr val="0000FF"/>
                </a:solidFill>
                <a:latin typeface="Consolas" panose="020B0609020204030204" pitchFamily="49" charset="0"/>
                <a:ea typeface="仿宋" panose="02010609060101010101" pitchFamily="49" charset="-122"/>
              </a:rPr>
              <a:t>ans</a:t>
            </a:r>
            <a:r>
              <a:rPr lang="zh-CN" altLang="zh-CN">
                <a:solidFill>
                  <a:srgbClr val="0000FF"/>
                </a:solidFill>
                <a:latin typeface="Consolas" panose="020B0609020204030204" pitchFamily="49" charset="0"/>
                <a:ea typeface="仿宋" panose="02010609060101010101" pitchFamily="49" charset="-122"/>
              </a:rPr>
              <a:t>并且返回</a:t>
            </a:r>
            <a:r>
              <a:rPr lang="en-US" altLang="zh-CN">
                <a:solidFill>
                  <a:srgbClr val="0000FF"/>
                </a:solidFill>
                <a:latin typeface="Consolas" panose="020B0609020204030204" pitchFamily="49" charset="0"/>
                <a:ea typeface="仿宋" panose="02010609060101010101" pitchFamily="49" charset="-122"/>
              </a:rPr>
              <a:t>ans</a:t>
            </a:r>
            <a:r>
              <a:rPr lang="zh-CN" altLang="zh-CN">
                <a:solidFill>
                  <a:srgbClr val="0000FF"/>
                </a:solidFill>
                <a:latin typeface="Consolas" panose="020B0609020204030204" pitchFamily="49" charset="0"/>
                <a:ea typeface="仿宋" panose="02010609060101010101" pitchFamily="49" charset="-122"/>
              </a:rPr>
              <a:t>即可，在计算中考虑对</a:t>
            </a:r>
            <a:r>
              <a:rPr lang="en-US" altLang="zh-CN">
                <a:solidFill>
                  <a:srgbClr val="0000FF"/>
                </a:solidFill>
                <a:latin typeface="Consolas" panose="020B0609020204030204" pitchFamily="49" charset="0"/>
                <a:ea typeface="仿宋" panose="02010609060101010101" pitchFamily="49" charset="-122"/>
              </a:rPr>
              <a:t> 10^9+7 </a:t>
            </a:r>
            <a:r>
              <a:rPr lang="zh-CN" altLang="zh-CN">
                <a:solidFill>
                  <a:srgbClr val="0000FF"/>
                </a:solidFill>
                <a:latin typeface="Consolas" panose="020B0609020204030204" pitchFamily="49" charset="0"/>
                <a:ea typeface="仿宋" panose="02010609060101010101" pitchFamily="49" charset="-122"/>
              </a:rPr>
              <a:t>取模的情况。</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34259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const int MOD=(int)1e9+7;</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profitableSchemes</a:t>
            </a:r>
            <a:r>
              <a:rPr lang="en-US" altLang="zh-CN" sz="2000">
                <a:solidFill>
                  <a:srgbClr val="0000FF"/>
                </a:solidFill>
                <a:latin typeface="Consolas" panose="020B0609020204030204" pitchFamily="49" charset="0"/>
                <a:ea typeface="仿宋" panose="02010609060101010101" pitchFamily="49" charset="-122"/>
              </a:rPr>
              <a:t>(int g,int p,vector&lt;int&gt; &amp;group,</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&amp;profit)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m=group.size()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vector&lt;vector&lt;vector&lt;int&gt;&gt;&gt;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(m+1,</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vector&lt;vector&lt;int&gt;&gt;(g+1,vector&lt;int&gt;(p+1,0)));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dp[0][0][0]=1;</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786874" cy="57580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s=0;s&lt;=g;s++)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j=0;j&lt;=p;j++)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s&lt;group[i-1]</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	dp[i][s][j]=dp[i-1][s][j];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	dp[i][s][j]=(dp[i-1][s][j]+</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6600"/>
                </a:solidFill>
                <a:latin typeface="Consolas" panose="020B0609020204030204" pitchFamily="49" charset="0"/>
                <a:ea typeface="仿宋" panose="02010609060101010101" pitchFamily="49" charset="-122"/>
              </a:rPr>
              <a:t>				dp[i-1][s-group[i-1]][max(0,j-profit[i-1])]) % MOD;</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ans=0;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存放答案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s=0;s&lt;=g;s++)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ans=(ans+dp[m][s][p]) % MOD;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4" name="组合 9"/>
          <p:cNvGrpSpPr/>
          <p:nvPr/>
        </p:nvGrpSpPr>
        <p:grpSpPr>
          <a:xfrm>
            <a:off x="571472" y="6182045"/>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61ms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5.68MB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71736" y="428604"/>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7.11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旅行商</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357158" y="1428736"/>
            <a:ext cx="8429684" cy="160310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3600"/>
              </a:lnSpc>
              <a:spcBef>
                <a:spcPts val="0"/>
              </a:spcBef>
            </a:pP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zh-CN">
                <a:solidFill>
                  <a:srgbClr val="FF0000"/>
                </a:solidFill>
                <a:latin typeface="楷体" panose="02010609060101010101" pitchFamily="49" charset="-122"/>
                <a:ea typeface="楷体" panose="02010609060101010101" pitchFamily="49" charset="-122"/>
              </a:rPr>
              <a:t>问题描述</a:t>
            </a:r>
            <a:r>
              <a:rPr lang="zh-CN" altLang="zh-CN">
                <a:solidFill>
                  <a:srgbClr val="0000FF"/>
                </a:solidFill>
                <a:latin typeface="楷体" panose="02010609060101010101" pitchFamily="49" charset="-122"/>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假设有一个</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旅行商</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要拜访</a:t>
            </a:r>
            <a:r>
              <a:rPr lang="en-US" altLang="zh-CN" i="1">
                <a:solidFill>
                  <a:srgbClr val="0000FF"/>
                </a:solidFill>
                <a:latin typeface="Consolas" panose="020B0609020204030204" pitchFamily="49" charset="0"/>
                <a:ea typeface="仿宋" panose="02010609060101010101" pitchFamily="49" charset="-122"/>
                <a:cs typeface="Times New Roman" panose="02020603050405020304" pitchFamily="18" charset="0"/>
              </a:rPr>
              <a:t>n</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个城市，他必须选择所要走的路径，路径的限制是每个城市只能拜访一次，而且最后要回到原来出发的城市，要求路径长度最短的路径。</a:t>
            </a:r>
            <a:endPar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nvGrpSpPr>
          <p:cNvPr id="5" name="组合 98"/>
          <p:cNvGrpSpPr/>
          <p:nvPr/>
        </p:nvGrpSpPr>
        <p:grpSpPr>
          <a:xfrm>
            <a:off x="785786" y="3428999"/>
            <a:ext cx="7286676" cy="2432914"/>
            <a:chOff x="1214414" y="3429000"/>
            <a:chExt cx="6286544" cy="2000264"/>
          </a:xfrm>
        </p:grpSpPr>
        <p:sp>
          <p:nvSpPr>
            <p:cNvPr id="6" name="Text Box 29"/>
            <p:cNvSpPr txBox="1">
              <a:spLocks noChangeArrowheads="1"/>
            </p:cNvSpPr>
            <p:nvPr/>
          </p:nvSpPr>
          <p:spPr bwMode="auto">
            <a:xfrm>
              <a:off x="1940597" y="4749139"/>
              <a:ext cx="244951"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7" name="Text Box 28"/>
            <p:cNvSpPr txBox="1">
              <a:spLocks noChangeArrowheads="1"/>
            </p:cNvSpPr>
            <p:nvPr/>
          </p:nvSpPr>
          <p:spPr bwMode="auto">
            <a:xfrm>
              <a:off x="1745503" y="4536871"/>
              <a:ext cx="246035" cy="24692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8" name="Text Box 27"/>
            <p:cNvSpPr txBox="1">
              <a:spLocks noChangeArrowheads="1"/>
            </p:cNvSpPr>
            <p:nvPr/>
          </p:nvSpPr>
          <p:spPr bwMode="auto">
            <a:xfrm>
              <a:off x="1774767" y="4223883"/>
              <a:ext cx="247119" cy="24475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9" name="Text Box 26"/>
            <p:cNvSpPr txBox="1">
              <a:spLocks noChangeArrowheads="1"/>
            </p:cNvSpPr>
            <p:nvPr/>
          </p:nvSpPr>
          <p:spPr bwMode="auto">
            <a:xfrm>
              <a:off x="2056569" y="3941220"/>
              <a:ext cx="246035" cy="24692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0" name="Text Box 25"/>
            <p:cNvSpPr txBox="1">
              <a:spLocks noChangeArrowheads="1"/>
            </p:cNvSpPr>
            <p:nvPr/>
          </p:nvSpPr>
          <p:spPr bwMode="auto">
            <a:xfrm>
              <a:off x="1498384" y="4328934"/>
              <a:ext cx="244951"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1" name="Text Box 24"/>
            <p:cNvSpPr txBox="1">
              <a:spLocks noChangeArrowheads="1"/>
            </p:cNvSpPr>
            <p:nvPr/>
          </p:nvSpPr>
          <p:spPr bwMode="auto">
            <a:xfrm>
              <a:off x="1214414" y="4332183"/>
              <a:ext cx="247119"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2" name="Text Box 23"/>
            <p:cNvSpPr txBox="1">
              <a:spLocks noChangeArrowheads="1"/>
            </p:cNvSpPr>
            <p:nvPr/>
          </p:nvSpPr>
          <p:spPr bwMode="auto">
            <a:xfrm>
              <a:off x="2485776" y="3789599"/>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3" name="Text Box 22"/>
            <p:cNvSpPr txBox="1">
              <a:spLocks noChangeArrowheads="1"/>
            </p:cNvSpPr>
            <p:nvPr/>
          </p:nvSpPr>
          <p:spPr bwMode="auto">
            <a:xfrm>
              <a:off x="2485776" y="3500438"/>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4" name="Oval 21"/>
            <p:cNvSpPr>
              <a:spLocks noChangeArrowheads="1"/>
            </p:cNvSpPr>
            <p:nvPr/>
          </p:nvSpPr>
          <p:spPr bwMode="auto">
            <a:xfrm>
              <a:off x="1318464" y="3652058"/>
              <a:ext cx="368511" cy="368221"/>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5" name="Oval 20"/>
            <p:cNvSpPr>
              <a:spLocks noChangeArrowheads="1"/>
            </p:cNvSpPr>
            <p:nvPr/>
          </p:nvSpPr>
          <p:spPr bwMode="auto">
            <a:xfrm>
              <a:off x="1318464" y="4978735"/>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6" name="Oval 19"/>
            <p:cNvSpPr>
              <a:spLocks noChangeArrowheads="1"/>
            </p:cNvSpPr>
            <p:nvPr/>
          </p:nvSpPr>
          <p:spPr bwMode="auto">
            <a:xfrm>
              <a:off x="3165353" y="3620651"/>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8" name="Oval 18"/>
            <p:cNvSpPr>
              <a:spLocks noChangeArrowheads="1"/>
            </p:cNvSpPr>
            <p:nvPr/>
          </p:nvSpPr>
          <p:spPr bwMode="auto">
            <a:xfrm>
              <a:off x="3165353" y="4947328"/>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9" name="Freeform 17"/>
            <p:cNvSpPr/>
            <p:nvPr/>
          </p:nvSpPr>
          <p:spPr bwMode="auto">
            <a:xfrm>
              <a:off x="1704316" y="3836169"/>
              <a:ext cx="1475126" cy="1083"/>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0" name="Freeform 16"/>
            <p:cNvSpPr/>
            <p:nvPr/>
          </p:nvSpPr>
          <p:spPr bwMode="auto">
            <a:xfrm>
              <a:off x="1684807" y="3758192"/>
              <a:ext cx="1475126" cy="1083"/>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1" name="Text Box 15"/>
            <p:cNvSpPr txBox="1">
              <a:spLocks noChangeArrowheads="1"/>
            </p:cNvSpPr>
            <p:nvPr/>
          </p:nvSpPr>
          <p:spPr bwMode="auto">
            <a:xfrm>
              <a:off x="2274424" y="5183423"/>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2" name="Text Box 14"/>
            <p:cNvSpPr txBox="1">
              <a:spLocks noChangeArrowheads="1"/>
            </p:cNvSpPr>
            <p:nvPr/>
          </p:nvSpPr>
          <p:spPr bwMode="auto">
            <a:xfrm>
              <a:off x="2274424" y="4855273"/>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3" name="Freeform 13"/>
            <p:cNvSpPr/>
            <p:nvPr/>
          </p:nvSpPr>
          <p:spPr bwMode="auto">
            <a:xfrm>
              <a:off x="1689142" y="5204000"/>
              <a:ext cx="1475126" cy="2166"/>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4" name="Freeform 12"/>
            <p:cNvSpPr/>
            <p:nvPr/>
          </p:nvSpPr>
          <p:spPr bwMode="auto">
            <a:xfrm>
              <a:off x="1679388" y="5118443"/>
              <a:ext cx="1475126" cy="1083"/>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5" name="Line 11"/>
            <p:cNvSpPr>
              <a:spLocks noChangeShapeType="1"/>
            </p:cNvSpPr>
            <p:nvPr/>
          </p:nvSpPr>
          <p:spPr bwMode="auto">
            <a:xfrm>
              <a:off x="1442023" y="4023528"/>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6" name="Line 10"/>
            <p:cNvSpPr>
              <a:spLocks noChangeShapeType="1"/>
            </p:cNvSpPr>
            <p:nvPr/>
          </p:nvSpPr>
          <p:spPr bwMode="auto">
            <a:xfrm flipV="1">
              <a:off x="1531983" y="3995370"/>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7" name="Text Box 9"/>
            <p:cNvSpPr txBox="1">
              <a:spLocks noChangeArrowheads="1"/>
            </p:cNvSpPr>
            <p:nvPr/>
          </p:nvSpPr>
          <p:spPr bwMode="auto">
            <a:xfrm>
              <a:off x="3370201" y="4299693"/>
              <a:ext cx="247119"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8" name="Text Box 8"/>
            <p:cNvSpPr txBox="1">
              <a:spLocks noChangeArrowheads="1"/>
            </p:cNvSpPr>
            <p:nvPr/>
          </p:nvSpPr>
          <p:spPr bwMode="auto">
            <a:xfrm>
              <a:off x="3068889" y="4304025"/>
              <a:ext cx="244951" cy="24475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9" name="Line 7"/>
            <p:cNvSpPr>
              <a:spLocks noChangeShapeType="1"/>
            </p:cNvSpPr>
            <p:nvPr/>
          </p:nvSpPr>
          <p:spPr bwMode="auto">
            <a:xfrm>
              <a:off x="3316008" y="3974793"/>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0" name="Line 6"/>
            <p:cNvSpPr>
              <a:spLocks noChangeShapeType="1"/>
            </p:cNvSpPr>
            <p:nvPr/>
          </p:nvSpPr>
          <p:spPr bwMode="auto">
            <a:xfrm flipV="1">
              <a:off x="3394046" y="3971544"/>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1" name="Freeform 5"/>
            <p:cNvSpPr/>
            <p:nvPr/>
          </p:nvSpPr>
          <p:spPr bwMode="auto">
            <a:xfrm>
              <a:off x="1669633" y="3919560"/>
              <a:ext cx="1549912" cy="1066757"/>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2" name="Freeform 4"/>
            <p:cNvSpPr/>
            <p:nvPr/>
          </p:nvSpPr>
          <p:spPr bwMode="auto">
            <a:xfrm>
              <a:off x="1581841" y="3997536"/>
              <a:ext cx="1585680" cy="106025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3" name="Freeform 3"/>
            <p:cNvSpPr/>
            <p:nvPr/>
          </p:nvSpPr>
          <p:spPr bwMode="auto">
            <a:xfrm>
              <a:off x="1564499" y="3907647"/>
              <a:ext cx="1629034" cy="1080836"/>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4" name="Freeform 2"/>
            <p:cNvSpPr/>
            <p:nvPr/>
          </p:nvSpPr>
          <p:spPr bwMode="auto">
            <a:xfrm>
              <a:off x="1633866" y="3959631"/>
              <a:ext cx="1611692" cy="106784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5" name="TextBox 34"/>
            <p:cNvSpPr txBox="1"/>
            <p:nvPr/>
          </p:nvSpPr>
          <p:spPr>
            <a:xfrm>
              <a:off x="4214810" y="3429000"/>
              <a:ext cx="3286148" cy="1923134"/>
            </a:xfrm>
            <a:prstGeom prst="rect">
              <a:avLst/>
            </a:prstGeom>
            <a:noFill/>
          </p:spPr>
          <p:txBody>
            <a:bodyPr wrap="square" rtlCol="0">
              <a:spAutoFit/>
            </a:bodyPr>
            <a:lstStyle/>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28</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26</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4</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23</a:t>
              </a:r>
              <a:endPar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6</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500174"/>
            <a:ext cx="8358246" cy="9291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zh-CN" altLang="zh-CN">
                <a:solidFill>
                  <a:srgbClr val="0000FF"/>
                </a:solidFill>
                <a:latin typeface="Consolas" panose="020B0609020204030204" pitchFamily="49" charset="0"/>
                <a:ea typeface="仿宋" panose="02010609060101010101" pitchFamily="49" charset="-122"/>
              </a:rPr>
              <a:t>设</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表示从顶点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出发经过</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（一个顶点的集合）中全部顶点（每个顶点恰好经过一次）到达顶点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的最短路径长度。</a:t>
            </a:r>
            <a:endParaRPr lang="zh-CN" altLang="zh-CN">
              <a:solidFill>
                <a:srgbClr val="0000FF"/>
              </a:solidFill>
              <a:latin typeface="Consolas" panose="020B0609020204030204" pitchFamily="49" charset="0"/>
              <a:ea typeface="仿宋" panose="02010609060101010101" pitchFamily="49" charset="-122"/>
            </a:endParaRPr>
          </a:p>
        </p:txBody>
      </p:sp>
      <p:grpSp>
        <p:nvGrpSpPr>
          <p:cNvPr id="2" name="组合 5"/>
          <p:cNvGrpSpPr/>
          <p:nvPr/>
        </p:nvGrpSpPr>
        <p:grpSpPr>
          <a:xfrm>
            <a:off x="2143108" y="2786058"/>
            <a:ext cx="3539064" cy="1781408"/>
            <a:chOff x="368183" y="1081456"/>
            <a:chExt cx="3539064" cy="1781408"/>
          </a:xfrm>
        </p:grpSpPr>
        <p:sp>
          <p:nvSpPr>
            <p:cNvPr id="7" name="Text Box 33"/>
            <p:cNvSpPr txBox="1">
              <a:spLocks noChangeArrowheads="1"/>
            </p:cNvSpPr>
            <p:nvPr/>
          </p:nvSpPr>
          <p:spPr bwMode="auto">
            <a:xfrm>
              <a:off x="1141320" y="1081456"/>
              <a:ext cx="312838"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Oval 32"/>
            <p:cNvSpPr>
              <a:spLocks noChangeArrowheads="1"/>
            </p:cNvSpPr>
            <p:nvPr/>
          </p:nvSpPr>
          <p:spPr bwMode="auto">
            <a:xfrm>
              <a:off x="1258461" y="1081456"/>
              <a:ext cx="1849464" cy="1304466"/>
            </a:xfrm>
            <a:prstGeom prst="ellipse">
              <a:avLst/>
            </a:prstGeom>
            <a:solidFill>
              <a:srgbClr val="FFFFFF"/>
            </a:solidFill>
            <a:ln w="12700">
              <a:solidFill>
                <a:srgbClr val="FF00FF"/>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9" name="Oval 31"/>
            <p:cNvSpPr>
              <a:spLocks noChangeArrowheads="1"/>
            </p:cNvSpPr>
            <p:nvPr/>
          </p:nvSpPr>
          <p:spPr bwMode="auto">
            <a:xfrm>
              <a:off x="1659500" y="1889160"/>
              <a:ext cx="272872" cy="281210"/>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0" name="Oval 30"/>
            <p:cNvSpPr>
              <a:spLocks noChangeArrowheads="1"/>
            </p:cNvSpPr>
            <p:nvPr/>
          </p:nvSpPr>
          <p:spPr bwMode="auto">
            <a:xfrm>
              <a:off x="2015060" y="1226397"/>
              <a:ext cx="272872" cy="281210"/>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1" name="Oval 29"/>
            <p:cNvSpPr>
              <a:spLocks noChangeArrowheads="1"/>
            </p:cNvSpPr>
            <p:nvPr/>
          </p:nvSpPr>
          <p:spPr bwMode="auto">
            <a:xfrm>
              <a:off x="2489140" y="1866862"/>
              <a:ext cx="272872" cy="281210"/>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AutoShape 28"/>
            <p:cNvSpPr>
              <a:spLocks noChangeShapeType="1"/>
            </p:cNvSpPr>
            <p:nvPr/>
          </p:nvSpPr>
          <p:spPr bwMode="auto">
            <a:xfrm flipV="1">
              <a:off x="1795936" y="1466726"/>
              <a:ext cx="259090" cy="422434"/>
            </a:xfrm>
            <a:prstGeom prst="straightConnector1">
              <a:avLst/>
            </a:prstGeom>
            <a:noFill/>
            <a:ln w="19050">
              <a:solidFill>
                <a:srgbClr val="000000"/>
              </a:solidFill>
              <a:prstDash val="dash"/>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AutoShape 27"/>
            <p:cNvSpPr>
              <a:spLocks noChangeShapeType="1"/>
            </p:cNvSpPr>
            <p:nvPr/>
          </p:nvSpPr>
          <p:spPr bwMode="auto">
            <a:xfrm>
              <a:off x="2247966" y="1466726"/>
              <a:ext cx="281141" cy="441016"/>
            </a:xfrm>
            <a:prstGeom prst="straightConnector1">
              <a:avLst/>
            </a:prstGeom>
            <a:noFill/>
            <a:ln w="19050">
              <a:solidFill>
                <a:srgbClr val="000000"/>
              </a:solidFill>
              <a:prstDash val="dash"/>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Oval 26"/>
            <p:cNvSpPr>
              <a:spLocks noChangeArrowheads="1"/>
            </p:cNvSpPr>
            <p:nvPr/>
          </p:nvSpPr>
          <p:spPr bwMode="auto">
            <a:xfrm>
              <a:off x="368183" y="1507607"/>
              <a:ext cx="429980" cy="42119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Oval 25"/>
            <p:cNvSpPr>
              <a:spLocks noChangeArrowheads="1"/>
            </p:cNvSpPr>
            <p:nvPr/>
          </p:nvSpPr>
          <p:spPr bwMode="auto">
            <a:xfrm>
              <a:off x="3477267" y="1508846"/>
              <a:ext cx="429980" cy="42119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AutoShape 24"/>
            <p:cNvSpPr>
              <a:spLocks noChangeShapeType="1"/>
            </p:cNvSpPr>
            <p:nvPr/>
          </p:nvSpPr>
          <p:spPr bwMode="auto">
            <a:xfrm>
              <a:off x="798163" y="1718204"/>
              <a:ext cx="861337" cy="3121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7" name="AutoShape 23"/>
            <p:cNvSpPr>
              <a:spLocks noChangeShapeType="1"/>
            </p:cNvSpPr>
            <p:nvPr/>
          </p:nvSpPr>
          <p:spPr bwMode="auto">
            <a:xfrm flipV="1">
              <a:off x="2762012" y="1719443"/>
              <a:ext cx="715255" cy="2886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8" name="Text Box 22"/>
            <p:cNvSpPr txBox="1">
              <a:spLocks noChangeArrowheads="1"/>
            </p:cNvSpPr>
            <p:nvPr/>
          </p:nvSpPr>
          <p:spPr bwMode="auto">
            <a:xfrm>
              <a:off x="1071034" y="2579177"/>
              <a:ext cx="2320788"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f</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的含义</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9" name="Picture 4"/>
          <p:cNvPicPr>
            <a:picLocks noChangeAspect="1" noChangeArrowheads="1"/>
          </p:cNvPicPr>
          <p:nvPr/>
        </p:nvPicPr>
        <p:blipFill>
          <a:blip r:embed="rId1"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285728"/>
            <a:ext cx="8572560"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当</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为空集，那么</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表示从顶点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不经过任何顶点到达顶点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，显然此时有</a:t>
            </a:r>
            <a:r>
              <a:rPr lang="en-US" altLang="zh-CN" i="1">
                <a:solidFill>
                  <a:srgbClr val="FF00FF"/>
                </a:solidFill>
                <a:latin typeface="Consolas" panose="020B0609020204030204" pitchFamily="49" charset="0"/>
                <a:ea typeface="仿宋" panose="02010609060101010101" pitchFamily="49" charset="-122"/>
              </a:rPr>
              <a:t>f</a:t>
            </a:r>
            <a:r>
              <a:rPr lang="en-US" altLang="zh-CN">
                <a:solidFill>
                  <a:srgbClr val="FF00FF"/>
                </a:solidFill>
                <a:latin typeface="Consolas" panose="020B0609020204030204" pitchFamily="49" charset="0"/>
                <a:ea typeface="仿宋" panose="02010609060101010101" pitchFamily="49" charset="-122"/>
              </a:rPr>
              <a:t>(V</a:t>
            </a:r>
            <a:r>
              <a:rPr lang="zh-CN"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A</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s</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3" name="TextBox 2"/>
          <p:cNvSpPr txBox="1"/>
          <p:nvPr/>
        </p:nvSpPr>
        <p:spPr>
          <a:xfrm>
            <a:off x="285720" y="2428868"/>
            <a:ext cx="8572560"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如果</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不为空，对于</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sym typeface="Symbol" panose="05050102010706020507"/>
              </a:rPr>
              <a:t></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，那么</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(V-{</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就是子问题，尝试</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中的每个顶点</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对应的子问题，则</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0"/>
              </a:spcBef>
            </a:pPr>
            <a:r>
              <a:rPr lang="en-US" altLang="zh-CN" i="1">
                <a:solidFill>
                  <a:srgbClr val="0000FF"/>
                </a:solidFill>
                <a:latin typeface="Consolas" panose="020B0609020204030204" pitchFamily="49" charset="0"/>
                <a:ea typeface="仿宋" panose="02010609060101010101" pitchFamily="49" charset="-122"/>
              </a:rPr>
              <a:t>		</a:t>
            </a:r>
            <a:r>
              <a:rPr lang="en-US" altLang="zh-CN" i="1">
                <a:solidFill>
                  <a:srgbClr val="FF00FF"/>
                </a:solidFill>
                <a:latin typeface="Consolas" panose="020B0609020204030204" pitchFamily="49" charset="0"/>
                <a:ea typeface="仿宋" panose="02010609060101010101" pitchFamily="49" charset="-122"/>
              </a:rPr>
              <a:t>f</a:t>
            </a:r>
            <a:r>
              <a:rPr lang="en-US" altLang="zh-CN">
                <a:solidFill>
                  <a:srgbClr val="FF00FF"/>
                </a:solidFill>
                <a:latin typeface="Consolas" panose="020B0609020204030204" pitchFamily="49" charset="0"/>
                <a:ea typeface="仿宋" panose="02010609060101010101" pitchFamily="49" charset="-122"/>
              </a:rPr>
              <a:t>(V</a:t>
            </a:r>
            <a:r>
              <a:rPr lang="zh-CN"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)=min</a:t>
            </a:r>
            <a:r>
              <a:rPr lang="en-US" altLang="zh-CN" i="1" baseline="-25000">
                <a:solidFill>
                  <a:srgbClr val="FF00FF"/>
                </a:solidFill>
                <a:latin typeface="Consolas" panose="020B0609020204030204" pitchFamily="49" charset="0"/>
                <a:ea typeface="仿宋" panose="02010609060101010101" pitchFamily="49" charset="-122"/>
              </a:rPr>
              <a:t>j</a:t>
            </a:r>
            <a:r>
              <a:rPr lang="en-US" altLang="zh-CN" baseline="-25000">
                <a:solidFill>
                  <a:srgbClr val="FF00FF"/>
                </a:solidFill>
                <a:latin typeface="Consolas" panose="020B0609020204030204" pitchFamily="49" charset="0"/>
                <a:ea typeface="仿宋" panose="02010609060101010101" pitchFamily="49" charset="-122"/>
                <a:sym typeface="Symbol" panose="05050102010706020507"/>
              </a:rPr>
              <a:t></a:t>
            </a:r>
            <a:r>
              <a:rPr lang="en-US" altLang="zh-CN" baseline="-25000">
                <a:solidFill>
                  <a:srgbClr val="FF00FF"/>
                </a:solidFill>
                <a:latin typeface="Consolas" panose="020B0609020204030204" pitchFamily="49" charset="0"/>
                <a:ea typeface="仿宋" panose="02010609060101010101" pitchFamily="49" charset="-122"/>
              </a:rPr>
              <a:t>V</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f</a:t>
            </a:r>
            <a:r>
              <a:rPr lang="en-US" altLang="zh-CN">
                <a:solidFill>
                  <a:srgbClr val="FF00FF"/>
                </a:solidFill>
                <a:latin typeface="Consolas" panose="020B0609020204030204" pitchFamily="49" charset="0"/>
                <a:ea typeface="仿宋" panose="02010609060101010101" pitchFamily="49" charset="-122"/>
              </a:rPr>
              <a:t>(V</a:t>
            </a:r>
            <a:r>
              <a:rPr lang="en-US" altLang="zh-CN" i="1">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j</a:t>
            </a:r>
            <a:r>
              <a:rPr lang="en-US" altLang="zh-CN">
                <a:solidFill>
                  <a:srgbClr val="FF00FF"/>
                </a:solidFill>
                <a:latin typeface="Consolas" panose="020B0609020204030204" pitchFamily="49" charset="0"/>
                <a:ea typeface="仿宋" panose="02010609060101010101" pitchFamily="49" charset="-122"/>
              </a:rPr>
              <a:t>}</a:t>
            </a:r>
            <a:r>
              <a:rPr lang="zh-CN"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j</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A</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j</a:t>
            </a:r>
            <a:r>
              <a:rPr lang="en-US" altLang="zh-CN">
                <a:solidFill>
                  <a:srgbClr val="FF00FF"/>
                </a:solidFill>
                <a:latin typeface="Consolas" panose="020B0609020204030204" pitchFamily="49" charset="0"/>
                <a:ea typeface="仿宋" panose="02010609060101010101" pitchFamily="49" charset="-122"/>
              </a:rPr>
              <a:t>][</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a:t>
            </a:r>
            <a:r>
              <a:rPr lang="zh-CN" altLang="zh-CN">
                <a:solidFill>
                  <a:srgbClr val="FF00FF"/>
                </a:solidFill>
                <a:latin typeface="Consolas" panose="020B0609020204030204" pitchFamily="49" charset="0"/>
                <a:ea typeface="仿宋" panose="02010609060101010101" pitchFamily="49" charset="-122"/>
              </a:rPr>
              <a:t> </a:t>
            </a:r>
            <a:endParaRPr lang="zh-CN" altLang="zh-CN">
              <a:solidFill>
                <a:srgbClr val="FF00FF"/>
              </a:solidFill>
              <a:latin typeface="Consolas" panose="020B0609020204030204" pitchFamily="49" charset="0"/>
              <a:ea typeface="仿宋" panose="02010609060101010101" pitchFamily="49" charset="-122"/>
            </a:endParaRPr>
          </a:p>
        </p:txBody>
      </p:sp>
      <p:grpSp>
        <p:nvGrpSpPr>
          <p:cNvPr id="4" name="组合 3"/>
          <p:cNvGrpSpPr/>
          <p:nvPr/>
        </p:nvGrpSpPr>
        <p:grpSpPr>
          <a:xfrm>
            <a:off x="2357422" y="1551099"/>
            <a:ext cx="4786346" cy="580455"/>
            <a:chOff x="5536208" y="1556467"/>
            <a:chExt cx="4786346" cy="580455"/>
          </a:xfrm>
        </p:grpSpPr>
        <p:sp>
          <p:nvSpPr>
            <p:cNvPr id="5" name="Oval 21"/>
            <p:cNvSpPr>
              <a:spLocks noChangeArrowheads="1"/>
            </p:cNvSpPr>
            <p:nvPr/>
          </p:nvSpPr>
          <p:spPr bwMode="auto">
            <a:xfrm>
              <a:off x="5536208" y="1715727"/>
              <a:ext cx="429980" cy="42119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6" name="Oval 20"/>
            <p:cNvSpPr>
              <a:spLocks noChangeArrowheads="1"/>
            </p:cNvSpPr>
            <p:nvPr/>
          </p:nvSpPr>
          <p:spPr bwMode="auto">
            <a:xfrm>
              <a:off x="7535120" y="1715727"/>
              <a:ext cx="429980" cy="42119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 name="Text Box 19"/>
            <p:cNvSpPr txBox="1">
              <a:spLocks noChangeArrowheads="1"/>
            </p:cNvSpPr>
            <p:nvPr/>
          </p:nvSpPr>
          <p:spPr bwMode="auto">
            <a:xfrm>
              <a:off x="8241563" y="1793359"/>
              <a:ext cx="2080991"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 V={}</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的情况</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AutoShape 18"/>
            <p:cNvSpPr>
              <a:spLocks noChangeShapeType="1"/>
            </p:cNvSpPr>
            <p:nvPr/>
          </p:nvSpPr>
          <p:spPr bwMode="auto">
            <a:xfrm flipV="1">
              <a:off x="5966187" y="1907889"/>
              <a:ext cx="1570285" cy="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9" name="Text Box 17"/>
            <p:cNvSpPr txBox="1">
              <a:spLocks noChangeArrowheads="1"/>
            </p:cNvSpPr>
            <p:nvPr/>
          </p:nvSpPr>
          <p:spPr bwMode="auto">
            <a:xfrm>
              <a:off x="6310603" y="1556467"/>
              <a:ext cx="1011555"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grpSp>
        <p:nvGrpSpPr>
          <p:cNvPr id="10" name="组合 9"/>
          <p:cNvGrpSpPr/>
          <p:nvPr/>
        </p:nvGrpSpPr>
        <p:grpSpPr>
          <a:xfrm>
            <a:off x="893890" y="4071942"/>
            <a:ext cx="6964258" cy="2083677"/>
            <a:chOff x="2575963" y="3043730"/>
            <a:chExt cx="6964258" cy="2083677"/>
          </a:xfrm>
        </p:grpSpPr>
        <p:sp>
          <p:nvSpPr>
            <p:cNvPr id="11" name="Oval 16"/>
            <p:cNvSpPr>
              <a:spLocks noChangeArrowheads="1"/>
            </p:cNvSpPr>
            <p:nvPr/>
          </p:nvSpPr>
          <p:spPr bwMode="auto">
            <a:xfrm>
              <a:off x="3440057" y="3229552"/>
              <a:ext cx="1433265" cy="1320571"/>
            </a:xfrm>
            <a:prstGeom prst="ellipse">
              <a:avLst/>
            </a:prstGeom>
            <a:solidFill>
              <a:srgbClr val="FFFFFF"/>
            </a:solidFill>
            <a:ln w="12700">
              <a:solidFill>
                <a:srgbClr val="FF00FF"/>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Oval 15"/>
            <p:cNvSpPr>
              <a:spLocks noChangeArrowheads="1"/>
            </p:cNvSpPr>
            <p:nvPr/>
          </p:nvSpPr>
          <p:spPr bwMode="auto">
            <a:xfrm>
              <a:off x="3763920" y="4070703"/>
              <a:ext cx="272872" cy="281210"/>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Oval 14"/>
            <p:cNvSpPr>
              <a:spLocks noChangeArrowheads="1"/>
            </p:cNvSpPr>
            <p:nvPr/>
          </p:nvSpPr>
          <p:spPr bwMode="auto">
            <a:xfrm>
              <a:off x="4119480" y="3407940"/>
              <a:ext cx="272872" cy="281210"/>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AutoShape 13"/>
            <p:cNvSpPr>
              <a:spLocks noChangeShapeType="1"/>
            </p:cNvSpPr>
            <p:nvPr/>
          </p:nvSpPr>
          <p:spPr bwMode="auto">
            <a:xfrm flipV="1">
              <a:off x="3900356" y="3648269"/>
              <a:ext cx="259090" cy="422434"/>
            </a:xfrm>
            <a:prstGeom prst="straightConnector1">
              <a:avLst/>
            </a:prstGeom>
            <a:noFill/>
            <a:ln w="19050">
              <a:solidFill>
                <a:srgbClr val="000000"/>
              </a:solidFill>
              <a:prstDash val="dash"/>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5" name="Oval 12"/>
            <p:cNvSpPr>
              <a:spLocks noChangeArrowheads="1"/>
            </p:cNvSpPr>
            <p:nvPr/>
          </p:nvSpPr>
          <p:spPr bwMode="auto">
            <a:xfrm>
              <a:off x="2575963" y="3649508"/>
              <a:ext cx="429980" cy="42119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Oval 11"/>
            <p:cNvSpPr>
              <a:spLocks noChangeArrowheads="1"/>
            </p:cNvSpPr>
            <p:nvPr/>
          </p:nvSpPr>
          <p:spPr bwMode="auto">
            <a:xfrm>
              <a:off x="6791781" y="3768434"/>
              <a:ext cx="429980" cy="42119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7" name="Text Box 10"/>
            <p:cNvSpPr txBox="1">
              <a:spLocks noChangeArrowheads="1"/>
            </p:cNvSpPr>
            <p:nvPr/>
          </p:nvSpPr>
          <p:spPr bwMode="auto">
            <a:xfrm>
              <a:off x="7219433" y="3831613"/>
              <a:ext cx="2320788"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(c) V</a:t>
              </a:r>
              <a:r>
                <a:rPr kumimoji="0" lang="en-US" altLang="zh-CN" sz="2000" b="0" i="0" u="none" strike="noStrike" cap="none" normalizeH="0" baseline="0">
                  <a:ln>
                    <a:noFill/>
                  </a:ln>
                  <a:solidFill>
                    <a:srgbClr val="0000FF"/>
                  </a:solidFill>
                  <a:effectLst/>
                  <a:latin typeface="+mn-ea"/>
                  <a:ea typeface="+mn-ea"/>
                  <a:cs typeface="Times New Roman" panose="02020603050405020304" pitchFamily="18"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的情况</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8" name="Oval 9"/>
            <p:cNvSpPr>
              <a:spLocks noChangeArrowheads="1"/>
            </p:cNvSpPr>
            <p:nvPr/>
          </p:nvSpPr>
          <p:spPr bwMode="auto">
            <a:xfrm>
              <a:off x="5238529" y="3768434"/>
              <a:ext cx="429980" cy="42119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9" name="AutoShape 8"/>
            <p:cNvSpPr>
              <a:spLocks noChangeShapeType="1"/>
            </p:cNvSpPr>
            <p:nvPr/>
          </p:nvSpPr>
          <p:spPr bwMode="auto">
            <a:xfrm>
              <a:off x="3005943" y="3860106"/>
              <a:ext cx="757977" cy="35182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0" name="AutoShape 7"/>
            <p:cNvSpPr>
              <a:spLocks noChangeShapeType="1"/>
            </p:cNvSpPr>
            <p:nvPr/>
          </p:nvSpPr>
          <p:spPr bwMode="auto">
            <a:xfrm>
              <a:off x="4352385" y="3648269"/>
              <a:ext cx="886144" cy="33076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1" name="Text Box 6"/>
            <p:cNvSpPr txBox="1">
              <a:spLocks noChangeArrowheads="1"/>
            </p:cNvSpPr>
            <p:nvPr/>
          </p:nvSpPr>
          <p:spPr bwMode="auto">
            <a:xfrm>
              <a:off x="2961842" y="3043730"/>
              <a:ext cx="824128"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2" name="AutoShape 5"/>
            <p:cNvSpPr>
              <a:spLocks noChangeShapeType="1"/>
            </p:cNvSpPr>
            <p:nvPr/>
          </p:nvSpPr>
          <p:spPr bwMode="auto">
            <a:xfrm flipV="1">
              <a:off x="5668509" y="3955890"/>
              <a:ext cx="1157068" cy="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3" name="Text Box 4"/>
            <p:cNvSpPr txBox="1">
              <a:spLocks noChangeArrowheads="1"/>
            </p:cNvSpPr>
            <p:nvPr/>
          </p:nvSpPr>
          <p:spPr bwMode="auto">
            <a:xfrm>
              <a:off x="5735393" y="3576418"/>
              <a:ext cx="1011555"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24" name="AutoShape 3"/>
            <p:cNvSpPr/>
            <p:nvPr/>
          </p:nvSpPr>
          <p:spPr bwMode="auto">
            <a:xfrm rot="5400000">
              <a:off x="3919816" y="3206269"/>
              <a:ext cx="272538" cy="2960244"/>
            </a:xfrm>
            <a:prstGeom prst="rightBrace">
              <a:avLst>
                <a:gd name="adj1" fmla="val 81364"/>
                <a:gd name="adj2" fmla="val 50000"/>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25" name="Text Box 2"/>
            <p:cNvSpPr txBox="1">
              <a:spLocks noChangeArrowheads="1"/>
            </p:cNvSpPr>
            <p:nvPr/>
          </p:nvSpPr>
          <p:spPr bwMode="auto">
            <a:xfrm>
              <a:off x="3387688" y="4843720"/>
              <a:ext cx="1420862" cy="28368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f</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27" name="灯片编号占位符 2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8298" y="1114866"/>
            <a:ext cx="8692858" cy="311880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45">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这里假设起点</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，操作过程改为从</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中取出顶点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，置</a:t>
            </a:r>
            <a:r>
              <a:rPr lang="en-US" altLang="zh-CN">
                <a:solidFill>
                  <a:srgbClr val="0000FF"/>
                </a:solidFill>
                <a:latin typeface="Consolas" panose="020B0609020204030204" pitchFamily="49" charset="0"/>
                <a:ea typeface="仿宋" panose="02010609060101010101" pitchFamily="49" charset="-122"/>
              </a:rPr>
              <a:t>V1=V-{</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，尝试</a:t>
            </a:r>
            <a:r>
              <a:rPr lang="en-US" altLang="zh-CN">
                <a:solidFill>
                  <a:srgbClr val="0000FF"/>
                </a:solidFill>
                <a:latin typeface="Consolas" panose="020B0609020204030204" pitchFamily="49" charset="0"/>
                <a:ea typeface="仿宋" panose="02010609060101010101" pitchFamily="49" charset="-122"/>
              </a:rPr>
              <a:t>V1</a:t>
            </a:r>
            <a:r>
              <a:rPr lang="zh-CN" altLang="zh-CN">
                <a:solidFill>
                  <a:srgbClr val="0000FF"/>
                </a:solidFill>
                <a:latin typeface="Consolas" panose="020B0609020204030204" pitchFamily="49" charset="0"/>
                <a:ea typeface="仿宋" panose="02010609060101010101" pitchFamily="49" charset="-122"/>
              </a:rPr>
              <a:t>中的每个顶点</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作为一个子问题，所以递归出口是</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中只有一个顶点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时对应的路径长度为</a:t>
            </a:r>
            <a:r>
              <a:rPr lang="en-US" altLang="zh-CN" i="1">
                <a:solidFill>
                  <a:srgbClr val="0000FF"/>
                </a:solidFill>
                <a:latin typeface="Consolas" panose="020B0609020204030204" pitchFamily="49" charset="0"/>
                <a:ea typeface="仿宋" panose="02010609060101010101" pitchFamily="49" charset="-122"/>
              </a:rPr>
              <a:t>A</a:t>
            </a:r>
            <a:r>
              <a:rPr lang="en-US" altLang="zh-CN">
                <a:solidFill>
                  <a:srgbClr val="0000FF"/>
                </a:solidFill>
                <a:latin typeface="Consolas" panose="020B0609020204030204" pitchFamily="49" charset="0"/>
                <a:ea typeface="仿宋" panose="02010609060101010101" pitchFamily="49" charset="-122"/>
              </a:rPr>
              <a:t>[0][</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设计二维动态规划数组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dp[V][</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表示从起点</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出发经过</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中的全部顶点到达顶点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sym typeface="Symbol" panose="05050102010706020507"/>
              </a:rPr>
              <a:t></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）的最短路径长度。</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首先</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所有元素初始化为∞，当</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中只有一个顶点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时置</a:t>
            </a:r>
            <a:r>
              <a:rPr lang="en-US" altLang="zh-CN">
                <a:solidFill>
                  <a:srgbClr val="0000FF"/>
                </a:solidFill>
                <a:latin typeface="Consolas" panose="020B0609020204030204" pitchFamily="49" charset="0"/>
                <a:ea typeface="仿宋" panose="02010609060101010101" pitchFamily="49" charset="-122"/>
              </a:rPr>
              <a:t>dp[V][</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a:solidFill>
                  <a:srgbClr val="0000FF"/>
                </a:solidFill>
                <a:latin typeface="Consolas" panose="020B0609020204030204" pitchFamily="49" charset="0"/>
                <a:ea typeface="仿宋" panose="02010609060101010101" pitchFamily="49" charset="-122"/>
              </a:rPr>
              <a:t>[0][</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285860"/>
            <a:ext cx="8143932" cy="98331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]=A[0][</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a:solidFill>
                  <a:srgbClr val="00B0F0"/>
                </a:solidFill>
                <a:latin typeface="Consolas" panose="020B0609020204030204" pitchFamily="49" charset="0"/>
                <a:ea typeface="仿宋" panose="02010609060101010101" pitchFamily="49" charset="-122"/>
              </a:rPr>
              <a:t>V={</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时（</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mn-ea"/>
              </a:rPr>
              <a:t>≤</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&lt;</a:t>
            </a:r>
            <a:r>
              <a:rPr lang="en-US" altLang="zh-CN" sz="2000" i="1">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a:solidFill>
                  <a:srgbClr val="FF0000"/>
                </a:solidFill>
                <a:latin typeface="Consolas" panose="020B0609020204030204" pitchFamily="49" charset="0"/>
                <a:ea typeface="仿宋" panose="02010609060101010101" pitchFamily="49" charset="-122"/>
              </a:rPr>
              <a:t>min</a:t>
            </a:r>
            <a:r>
              <a:rPr lang="en-US" altLang="zh-CN" sz="2000" i="1" baseline="-25000">
                <a:solidFill>
                  <a:srgbClr val="0000FF"/>
                </a:solidFill>
                <a:latin typeface="Consolas" panose="020B0609020204030204" pitchFamily="49" charset="0"/>
                <a:ea typeface="仿宋" panose="02010609060101010101" pitchFamily="49" charset="-122"/>
              </a:rPr>
              <a:t> i</a:t>
            </a:r>
            <a:r>
              <a:rPr lang="en-US" altLang="zh-CN" sz="2000" baseline="-25000">
                <a:solidFill>
                  <a:srgbClr val="0000FF"/>
                </a:solidFill>
                <a:latin typeface="Consolas" panose="020B0609020204030204" pitchFamily="49" charset="0"/>
                <a:ea typeface="仿宋" panose="02010609060101010101" pitchFamily="49" charset="-122"/>
                <a:sym typeface="Symbol" panose="05050102010706020507"/>
              </a:rPr>
              <a:t></a:t>
            </a:r>
            <a:r>
              <a:rPr lang="en-US" altLang="zh-CN" sz="2000" baseline="-25000">
                <a:solidFill>
                  <a:srgbClr val="0000FF"/>
                </a:solidFill>
                <a:latin typeface="Consolas" panose="020B0609020204030204" pitchFamily="49" charset="0"/>
                <a:ea typeface="仿宋" panose="02010609060101010101" pitchFamily="49" charset="-122"/>
              </a:rPr>
              <a:t>V</a:t>
            </a:r>
            <a:r>
              <a:rPr lang="zh-CN" altLang="zh-CN" sz="2000" baseline="-25000">
                <a:solidFill>
                  <a:srgbClr val="0000FF"/>
                </a:solidFill>
                <a:latin typeface="Consolas" panose="020B0609020204030204" pitchFamily="49" charset="0"/>
                <a:ea typeface="仿宋" panose="02010609060101010101" pitchFamily="49" charset="-122"/>
              </a:rPr>
              <a:t>且</a:t>
            </a:r>
            <a:r>
              <a:rPr lang="en-US" altLang="zh-CN" sz="2000" i="1" baseline="-25000">
                <a:solidFill>
                  <a:srgbClr val="0000FF"/>
                </a:solidFill>
                <a:latin typeface="Consolas" panose="020B0609020204030204" pitchFamily="49" charset="0"/>
                <a:ea typeface="仿宋" panose="02010609060101010101" pitchFamily="49" charset="-122"/>
              </a:rPr>
              <a:t>j</a:t>
            </a:r>
            <a:r>
              <a:rPr lang="en-US" altLang="zh-CN" sz="2000" baseline="-25000">
                <a:solidFill>
                  <a:srgbClr val="0000FF"/>
                </a:solidFill>
                <a:latin typeface="Consolas" panose="020B0609020204030204" pitchFamily="49" charset="0"/>
                <a:ea typeface="仿宋" panose="02010609060101010101" pitchFamily="49" charset="-122"/>
                <a:sym typeface="Symbol" panose="05050102010706020507"/>
              </a:rPr>
              <a:t></a:t>
            </a:r>
            <a:r>
              <a:rPr lang="en-US" altLang="zh-CN" sz="2000" baseline="-25000">
                <a:solidFill>
                  <a:srgbClr val="0000FF"/>
                </a:solidFill>
                <a:latin typeface="Consolas" panose="020B0609020204030204" pitchFamily="49" charset="0"/>
                <a:ea typeface="仿宋" panose="02010609060101010101" pitchFamily="49" charset="-122"/>
              </a:rPr>
              <a:t>V</a:t>
            </a: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其他</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4" name="TextBox 3"/>
          <p:cNvSpPr txBox="1"/>
          <p:nvPr/>
        </p:nvSpPr>
        <p:spPr>
          <a:xfrm>
            <a:off x="571472" y="571480"/>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楷体" panose="02010609060101010101" pitchFamily="49" charset="-122"/>
              </a:rPr>
              <a:t>状态转移方程</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428596" y="2928934"/>
            <a:ext cx="8286808"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将</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改为十进制数，在对应的二进制数中用</a:t>
            </a:r>
            <a:r>
              <a:rPr lang="zh-CN" altLang="zh-CN">
                <a:solidFill>
                  <a:srgbClr val="FF00FF"/>
                </a:solidFill>
                <a:latin typeface="Consolas" panose="020B0609020204030204" pitchFamily="49" charset="0"/>
                <a:ea typeface="仿宋" panose="02010609060101010101" pitchFamily="49" charset="-122"/>
              </a:rPr>
              <a:t>位序</a:t>
            </a:r>
            <a:r>
              <a:rPr lang="en-US" altLang="zh-CN" i="1">
                <a:solidFill>
                  <a:srgbClr val="FF00FF"/>
                </a:solidFill>
                <a:latin typeface="Consolas" panose="020B0609020204030204" pitchFamily="49" charset="0"/>
                <a:ea typeface="仿宋" panose="02010609060101010101" pitchFamily="49" charset="-122"/>
              </a:rPr>
              <a:t>i</a:t>
            </a:r>
            <a:r>
              <a:rPr lang="zh-CN" altLang="zh-CN">
                <a:solidFill>
                  <a:srgbClr val="FF00FF"/>
                </a:solidFill>
                <a:latin typeface="Consolas" panose="020B0609020204030204" pitchFamily="49" charset="0"/>
                <a:ea typeface="仿宋" panose="02010609060101010101" pitchFamily="49" charset="-122"/>
              </a:rPr>
              <a:t>的值表示是否包含顶点</a:t>
            </a:r>
            <a:r>
              <a:rPr lang="en-US" altLang="zh-CN" i="1">
                <a:solidFill>
                  <a:srgbClr val="FF00FF"/>
                </a:solidFill>
                <a:latin typeface="Consolas" panose="020B0609020204030204" pitchFamily="49" charset="0"/>
                <a:ea typeface="仿宋" panose="02010609060101010101" pitchFamily="49" charset="-122"/>
              </a:rPr>
              <a:t>i</a:t>
            </a:r>
            <a:r>
              <a:rPr lang="en-US" altLang="zh-CN">
                <a:solidFill>
                  <a:srgbClr val="FF00FF"/>
                </a:solidFill>
                <a:latin typeface="Consolas" panose="020B0609020204030204" pitchFamily="49" charset="0"/>
                <a:ea typeface="仿宋" panose="02010609060101010101" pitchFamily="49" charset="-122"/>
              </a:rPr>
              <a:t>+1</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例如，</a:t>
            </a:r>
            <a:r>
              <a:rPr lang="en-US" altLang="zh-CN">
                <a:solidFill>
                  <a:srgbClr val="0000FF"/>
                </a:solidFill>
                <a:latin typeface="Consolas" panose="020B0609020204030204" pitchFamily="49" charset="0"/>
                <a:ea typeface="仿宋" panose="02010609060101010101" pitchFamily="49" charset="-122"/>
              </a:rPr>
              <a:t>V=11</a:t>
            </a:r>
            <a:r>
              <a:rPr lang="zh-CN" altLang="zh-CN">
                <a:solidFill>
                  <a:srgbClr val="0000FF"/>
                </a:solidFill>
                <a:latin typeface="Consolas" panose="020B0609020204030204" pitchFamily="49" charset="0"/>
                <a:ea typeface="仿宋" panose="02010609060101010101" pitchFamily="49" charset="-122"/>
              </a:rPr>
              <a:t>，对应的二进制数是</a:t>
            </a:r>
            <a:r>
              <a:rPr lang="en-US" altLang="zh-CN">
                <a:solidFill>
                  <a:srgbClr val="0000FF"/>
                </a:solidFill>
                <a:latin typeface="Consolas" panose="020B0609020204030204" pitchFamily="49" charset="0"/>
                <a:ea typeface="仿宋" panose="02010609060101010101" pitchFamily="49" charset="-122"/>
              </a:rPr>
              <a:t>[1011]</a:t>
            </a:r>
            <a:r>
              <a:rPr lang="en-US" altLang="zh-CN" baseline="-25000">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，位序</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的位值是</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说明包含顶点</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，位序</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的位值是</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说明包含顶点</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，位序</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的位值是</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说明包含顶点</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表示的顶点集合是</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01122"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通过</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枚举所有的顶点集即</a:t>
            </a:r>
            <a:r>
              <a:rPr lang="en-US" altLang="zh-CN">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从</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到 </a:t>
            </a:r>
            <a:r>
              <a:rPr lang="en-US" altLang="zh-CN">
                <a:solidFill>
                  <a:srgbClr val="0000FF"/>
                </a:solidFill>
                <a:latin typeface="Consolas" panose="020B0609020204030204" pitchFamily="49" charset="0"/>
                <a:ea typeface="仿宋" panose="02010609060101010101" pitchFamily="49" charset="-122"/>
              </a:rPr>
              <a:t>2</a:t>
            </a:r>
            <a:r>
              <a:rPr lang="en-US" altLang="zh-CN" i="1" baseline="30000">
                <a:solidFill>
                  <a:srgbClr val="0000FF"/>
                </a:solidFill>
                <a:latin typeface="Consolas" panose="020B0609020204030204" pitchFamily="49" charset="0"/>
                <a:ea typeface="仿宋" panose="02010609060101010101" pitchFamily="49" charset="-122"/>
              </a:rPr>
              <a:t>n</a:t>
            </a:r>
            <a:r>
              <a:rPr lang="en-US" altLang="zh-CN" baseline="30000">
                <a:solidFill>
                  <a:srgbClr val="0000FF"/>
                </a:solidFill>
                <a:latin typeface="Consolas" panose="020B0609020204030204" pitchFamily="49" charset="0"/>
                <a:ea typeface="仿宋" panose="02010609060101010101" pitchFamily="49" charset="-122"/>
              </a:rPr>
              <a:t>-1</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，从而求出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数组，那么</a:t>
            </a:r>
            <a:r>
              <a:rPr lang="en-US" altLang="zh-CN">
                <a:solidFill>
                  <a:srgbClr val="0000FF"/>
                </a:solidFill>
                <a:latin typeface="Consolas" panose="020B0609020204030204" pitchFamily="49" charset="0"/>
                <a:ea typeface="仿宋" panose="02010609060101010101" pitchFamily="49" charset="-122"/>
              </a:rPr>
              <a:t>min{dp[{1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j-ea"/>
                <a:ea typeface="+mj-ea"/>
              </a:rPr>
              <a:t>…</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即为所求。</a:t>
            </a:r>
            <a:endParaRPr lang="zh-CN" altLang="zh-CN">
              <a:solidFill>
                <a:srgbClr val="0000FF"/>
              </a:solidFill>
              <a:latin typeface="Consolas" panose="020B0609020204030204" pitchFamily="49" charset="0"/>
              <a:ea typeface="仿宋" panose="02010609060101010101" pitchFamily="49" charset="-122"/>
            </a:endParaRPr>
          </a:p>
        </p:txBody>
      </p:sp>
      <p:sp>
        <p:nvSpPr>
          <p:cNvPr id="37" name="TextBox 36"/>
          <p:cNvSpPr txBox="1"/>
          <p:nvPr/>
        </p:nvSpPr>
        <p:spPr>
          <a:xfrm>
            <a:off x="428596" y="3643314"/>
            <a:ext cx="8286808" cy="26314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a:t>
            </a:r>
            <a:r>
              <a:rPr lang="zh-CN" altLang="en-US" sz="2000">
                <a:solidFill>
                  <a:srgbClr val="0000FF"/>
                </a:solidFill>
                <a:latin typeface="Consolas" panose="020B0609020204030204" pitchFamily="49" charset="0"/>
                <a:ea typeface="仿宋" panose="02010609060101010101" pitchFamily="49" charset="-122"/>
              </a:rPr>
              <a:t>从</a:t>
            </a:r>
            <a:r>
              <a:rPr lang="en-US" altLang="zh-CN" sz="2000">
                <a:solidFill>
                  <a:srgbClr val="0000FF"/>
                </a:solidFill>
                <a:latin typeface="Consolas" panose="020B0609020204030204" pitchFamily="49" charset="0"/>
                <a:ea typeface="仿宋" panose="02010609060101010101" pitchFamily="49" charset="-122"/>
              </a:rPr>
              <a:t>0</a:t>
            </a:r>
            <a:r>
              <a:rPr lang="zh-CN" altLang="en-US" sz="2000">
                <a:solidFill>
                  <a:srgbClr val="0000FF"/>
                </a:solidFill>
                <a:latin typeface="Consolas" panose="020B0609020204030204" pitchFamily="49" charset="0"/>
                <a:ea typeface="仿宋" panose="02010609060101010101" pitchFamily="49" charset="-122"/>
              </a:rPr>
              <a:t>到</a:t>
            </a:r>
            <a:r>
              <a:rPr lang="en-US" altLang="zh-CN" sz="2000">
                <a:solidFill>
                  <a:srgbClr val="0000FF"/>
                </a:solidFill>
                <a:latin typeface="Consolas" panose="020B0609020204030204" pitchFamily="49" charset="0"/>
                <a:ea typeface="仿宋" panose="02010609060101010101" pitchFamily="49" charset="-122"/>
              </a:rPr>
              <a:t>7</a:t>
            </a:r>
            <a:r>
              <a:rPr lang="zh-CN" altLang="en-US" sz="2000">
                <a:solidFill>
                  <a:srgbClr val="0000FF"/>
                </a:solidFill>
                <a:latin typeface="Consolas" panose="020B0609020204030204" pitchFamily="49" charset="0"/>
                <a:ea typeface="仿宋" panose="02010609060101010101" pitchFamily="49" charset="-122"/>
              </a:rPr>
              <a:t>循环：</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600"/>
              </a:spcBef>
            </a:pPr>
            <a:r>
              <a:rPr lang="zh-CN" altLang="zh-CN" sz="2000">
                <a:solidFill>
                  <a:srgbClr val="0000FF"/>
                </a:solidFill>
                <a:latin typeface="Consolas" panose="020B0609020204030204" pitchFamily="49" charset="0"/>
                <a:ea typeface="仿宋" panose="02010609060101010101" pitchFamily="49" charset="-122"/>
              </a:rPr>
              <a:t>①</a:t>
            </a:r>
            <a:r>
              <a:rPr lang="en-US" altLang="zh-CN" sz="2000">
                <a:solidFill>
                  <a:srgbClr val="0000FF"/>
                </a:solidFill>
                <a:latin typeface="Consolas" panose="020B0609020204030204" pitchFamily="49" charset="0"/>
                <a:ea typeface="仿宋" panose="02010609060101010101" pitchFamily="49" charset="-122"/>
              </a:rPr>
              <a:t>V=0=[000]</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a:t>
            </a:r>
            <a:r>
              <a:rPr lang="zh-CN" altLang="zh-CN" sz="2000">
                <a:solidFill>
                  <a:srgbClr val="0000FF"/>
                </a:solidFill>
                <a:latin typeface="Consolas" panose="020B0609020204030204" pitchFamily="49" charset="0"/>
                <a:ea typeface="仿宋" panose="02010609060101010101" pitchFamily="49" charset="-122"/>
              </a:rPr>
              <a:t>，没有考虑任何顶点。</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600"/>
              </a:spcBef>
            </a:pPr>
            <a:r>
              <a:rPr lang="zh-CN" altLang="zh-CN" sz="2000">
                <a:solidFill>
                  <a:srgbClr val="0000FF"/>
                </a:solidFill>
                <a:latin typeface="Consolas" panose="020B0609020204030204" pitchFamily="49" charset="0"/>
                <a:ea typeface="仿宋" panose="02010609060101010101" pitchFamily="49" charset="-122"/>
              </a:rPr>
              <a:t>②</a:t>
            </a:r>
            <a:r>
              <a:rPr lang="en-US" altLang="zh-CN" sz="2000">
                <a:solidFill>
                  <a:srgbClr val="0000FF"/>
                </a:solidFill>
                <a:latin typeface="Consolas" panose="020B0609020204030204" pitchFamily="49" charset="0"/>
                <a:ea typeface="仿宋" panose="02010609060101010101" pitchFamily="49" charset="-122"/>
              </a:rPr>
              <a:t>V=1=[001]</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dp[V1][1]=A[0][1]=8</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3000"/>
              </a:lnSpc>
              <a:spcBef>
                <a:spcPts val="600"/>
              </a:spcBef>
            </a:pPr>
            <a:r>
              <a:rPr lang="zh-CN" altLang="zh-CN" sz="2000">
                <a:solidFill>
                  <a:srgbClr val="0000FF"/>
                </a:solidFill>
                <a:latin typeface="Consolas" panose="020B0609020204030204" pitchFamily="49" charset="0"/>
                <a:ea typeface="仿宋" panose="02010609060101010101" pitchFamily="49" charset="-122"/>
              </a:rPr>
              <a:t>③</a:t>
            </a:r>
            <a:r>
              <a:rPr lang="en-US" altLang="zh-CN" sz="2000">
                <a:solidFill>
                  <a:srgbClr val="0000FF"/>
                </a:solidFill>
                <a:latin typeface="Consolas" panose="020B0609020204030204" pitchFamily="49" charset="0"/>
                <a:ea typeface="仿宋" panose="02010609060101010101" pitchFamily="49" charset="-122"/>
              </a:rPr>
              <a:t>V=2=[010]</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V={2}</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=2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dp[V1][2]=A[0][2]=5</a:t>
            </a:r>
            <a:endParaRPr lang="zh-CN" altLang="zh-CN" sz="2000">
              <a:solidFill>
                <a:srgbClr val="006600"/>
              </a:solidFill>
              <a:latin typeface="Consolas" panose="020B0609020204030204" pitchFamily="49" charset="0"/>
              <a:ea typeface="仿宋" panose="02010609060101010101" pitchFamily="49" charset="-122"/>
            </a:endParaRPr>
          </a:p>
        </p:txBody>
      </p:sp>
      <p:grpSp>
        <p:nvGrpSpPr>
          <p:cNvPr id="38" name="组合 2"/>
          <p:cNvGrpSpPr/>
          <p:nvPr/>
        </p:nvGrpSpPr>
        <p:grpSpPr>
          <a:xfrm>
            <a:off x="2071670" y="1357298"/>
            <a:ext cx="3429024" cy="2000264"/>
            <a:chOff x="785786" y="3515889"/>
            <a:chExt cx="3500462" cy="2346024"/>
          </a:xfrm>
        </p:grpSpPr>
        <p:sp>
          <p:nvSpPr>
            <p:cNvPr id="39" name="Text Box 29"/>
            <p:cNvSpPr txBox="1">
              <a:spLocks noChangeArrowheads="1"/>
            </p:cNvSpPr>
            <p:nvPr/>
          </p:nvSpPr>
          <p:spPr bwMode="auto">
            <a:xfrm>
              <a:off x="1627498" y="5034679"/>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0" name="Text Box 28"/>
            <p:cNvSpPr txBox="1">
              <a:spLocks noChangeArrowheads="1"/>
            </p:cNvSpPr>
            <p:nvPr/>
          </p:nvSpPr>
          <p:spPr bwMode="auto">
            <a:xfrm>
              <a:off x="1401366" y="4776499"/>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1" name="Text Box 27"/>
            <p:cNvSpPr txBox="1">
              <a:spLocks noChangeArrowheads="1"/>
            </p:cNvSpPr>
            <p:nvPr/>
          </p:nvSpPr>
          <p:spPr bwMode="auto">
            <a:xfrm>
              <a:off x="1435286" y="4395812"/>
              <a:ext cx="286433"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2" name="Text Box 26"/>
            <p:cNvSpPr txBox="1">
              <a:spLocks noChangeArrowheads="1"/>
            </p:cNvSpPr>
            <p:nvPr/>
          </p:nvSpPr>
          <p:spPr bwMode="auto">
            <a:xfrm>
              <a:off x="1761920" y="4052010"/>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3" name="Text Box 25"/>
            <p:cNvSpPr txBox="1">
              <a:spLocks noChangeArrowheads="1"/>
            </p:cNvSpPr>
            <p:nvPr/>
          </p:nvSpPr>
          <p:spPr bwMode="auto">
            <a:xfrm>
              <a:off x="1114933" y="4523586"/>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4" name="Text Box 24"/>
            <p:cNvSpPr txBox="1">
              <a:spLocks noChangeArrowheads="1"/>
            </p:cNvSpPr>
            <p:nvPr/>
          </p:nvSpPr>
          <p:spPr bwMode="auto">
            <a:xfrm>
              <a:off x="785786" y="4527537"/>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5" name="Text Box 23"/>
            <p:cNvSpPr txBox="1">
              <a:spLocks noChangeArrowheads="1"/>
            </p:cNvSpPr>
            <p:nvPr/>
          </p:nvSpPr>
          <p:spPr bwMode="auto">
            <a:xfrm>
              <a:off x="2259410" y="3867594"/>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6" name="Text Box 22"/>
            <p:cNvSpPr txBox="1">
              <a:spLocks noChangeArrowheads="1"/>
            </p:cNvSpPr>
            <p:nvPr/>
          </p:nvSpPr>
          <p:spPr bwMode="auto">
            <a:xfrm>
              <a:off x="2259410" y="3515889"/>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7" name="Oval 21"/>
            <p:cNvSpPr>
              <a:spLocks noChangeArrowheads="1"/>
            </p:cNvSpPr>
            <p:nvPr/>
          </p:nvSpPr>
          <p:spPr bwMode="auto">
            <a:xfrm>
              <a:off x="906389" y="3700304"/>
              <a:ext cx="427138" cy="44786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8" name="Oval 20"/>
            <p:cNvSpPr>
              <a:spLocks noChangeArrowheads="1"/>
            </p:cNvSpPr>
            <p:nvPr/>
          </p:nvSpPr>
          <p:spPr bwMode="auto">
            <a:xfrm>
              <a:off x="906389" y="53139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9" name="Oval 19"/>
            <p:cNvSpPr>
              <a:spLocks noChangeArrowheads="1"/>
            </p:cNvSpPr>
            <p:nvPr/>
          </p:nvSpPr>
          <p:spPr bwMode="auto">
            <a:xfrm>
              <a:off x="3047102" y="3662103"/>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0" name="Oval 18"/>
            <p:cNvSpPr>
              <a:spLocks noChangeArrowheads="1"/>
            </p:cNvSpPr>
            <p:nvPr/>
          </p:nvSpPr>
          <p:spPr bwMode="auto">
            <a:xfrm>
              <a:off x="3047102" y="52757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1" name="Freeform 17"/>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2" name="Freeform 16"/>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3" name="Text Box 15"/>
            <p:cNvSpPr txBox="1">
              <a:spLocks noChangeArrowheads="1"/>
            </p:cNvSpPr>
            <p:nvPr/>
          </p:nvSpPr>
          <p:spPr bwMode="auto">
            <a:xfrm>
              <a:off x="2014434" y="5562897"/>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4" name="Text Box 14"/>
            <p:cNvSpPr txBox="1">
              <a:spLocks noChangeArrowheads="1"/>
            </p:cNvSpPr>
            <p:nvPr/>
          </p:nvSpPr>
          <p:spPr bwMode="auto">
            <a:xfrm>
              <a:off x="2014434" y="5163770"/>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5" name="Freeform 13"/>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6" name="Freeform 12"/>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7"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8"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9" name="Text Box 9"/>
            <p:cNvSpPr txBox="1">
              <a:spLocks noChangeArrowheads="1"/>
            </p:cNvSpPr>
            <p:nvPr/>
          </p:nvSpPr>
          <p:spPr bwMode="auto">
            <a:xfrm>
              <a:off x="3284539" y="4488020"/>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60" name="Text Box 8"/>
            <p:cNvSpPr txBox="1">
              <a:spLocks noChangeArrowheads="1"/>
            </p:cNvSpPr>
            <p:nvPr/>
          </p:nvSpPr>
          <p:spPr bwMode="auto">
            <a:xfrm>
              <a:off x="2935291" y="4493289"/>
              <a:ext cx="283920"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61"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2"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3" name="Freeform 5"/>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4" name="Freeform 4"/>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5" name="Freeform 3"/>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6" name="Freeform 2"/>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7" name="TextBox 66"/>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rPr>
                <a:t>s=0</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285720" y="2285992"/>
            <a:ext cx="8643998" cy="332398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000"/>
              </a:lnSpc>
              <a:spcBef>
                <a:spcPts val="0"/>
              </a:spcBef>
            </a:pPr>
            <a:r>
              <a:rPr lang="zh-CN" altLang="zh-CN" sz="2000">
                <a:solidFill>
                  <a:srgbClr val="0000FF"/>
                </a:solidFill>
                <a:latin typeface="Consolas" panose="020B0609020204030204" pitchFamily="49" charset="0"/>
                <a:ea typeface="仿宋" panose="02010609060101010101" pitchFamily="49" charset="-122"/>
              </a:rPr>
              <a:t>④</a:t>
            </a:r>
            <a:r>
              <a:rPr lang="en-US" altLang="zh-CN" sz="2000">
                <a:solidFill>
                  <a:srgbClr val="0000FF"/>
                </a:solidFill>
                <a:latin typeface="Consolas" panose="020B0609020204030204" pitchFamily="49" charset="0"/>
                <a:ea typeface="仿宋" panose="02010609060101010101" pitchFamily="49" charset="-122"/>
              </a:rPr>
              <a:t>V=3=[011]</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V1={2}</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dp[V1][1]=min{dp[2][2]+A[2][1]}=14</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=2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dp[V1][2]=min{dp[1][1]+A[1][2]}=16</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3000"/>
              </a:lnSpc>
              <a:spcBef>
                <a:spcPts val="600"/>
              </a:spcBef>
            </a:pPr>
            <a:r>
              <a:rPr lang="zh-CN" altLang="zh-CN" sz="2000">
                <a:solidFill>
                  <a:srgbClr val="0000FF"/>
                </a:solidFill>
                <a:latin typeface="Consolas" panose="020B0609020204030204" pitchFamily="49" charset="0"/>
                <a:ea typeface="仿宋" panose="02010609060101010101" pitchFamily="49" charset="-122"/>
              </a:rPr>
              <a:t>⑤</a:t>
            </a:r>
            <a:r>
              <a:rPr lang="en-US" altLang="zh-CN" sz="2000">
                <a:solidFill>
                  <a:srgbClr val="0000FF"/>
                </a:solidFill>
                <a:latin typeface="Consolas" panose="020B0609020204030204" pitchFamily="49" charset="0"/>
                <a:ea typeface="仿宋" panose="02010609060101010101" pitchFamily="49" charset="-122"/>
              </a:rPr>
              <a:t>V=4=[100]</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=3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dp[V1][3]=A[0][3]=36</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3000"/>
              </a:lnSpc>
              <a:spcBef>
                <a:spcPts val="600"/>
              </a:spcBef>
            </a:pPr>
            <a:r>
              <a:rPr lang="zh-CN" altLang="zh-CN" sz="2000">
                <a:solidFill>
                  <a:srgbClr val="0000FF"/>
                </a:solidFill>
                <a:latin typeface="Consolas" panose="020B0609020204030204" pitchFamily="49" charset="0"/>
                <a:ea typeface="仿宋" panose="02010609060101010101" pitchFamily="49" charset="-122"/>
              </a:rPr>
              <a:t>⑥</a:t>
            </a:r>
            <a:r>
              <a:rPr lang="en-US" altLang="zh-CN" sz="2000">
                <a:solidFill>
                  <a:srgbClr val="0000FF"/>
                </a:solidFill>
                <a:latin typeface="Consolas" panose="020B0609020204030204" pitchFamily="49" charset="0"/>
                <a:ea typeface="仿宋" panose="02010609060101010101" pitchFamily="49" charset="-122"/>
              </a:rPr>
              <a:t>V=5=[101]</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dp[V1][1]=min{dp[4][3]+A[3][1]}=43</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=3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dp[V1][3]= min{dp[1][1]+A[1][3]}=13</a:t>
            </a:r>
            <a:endParaRPr lang="zh-CN" altLang="zh-CN" sz="2000">
              <a:solidFill>
                <a:srgbClr val="006600"/>
              </a:solidFill>
              <a:latin typeface="Consolas" panose="020B0609020204030204" pitchFamily="49" charset="0"/>
              <a:ea typeface="仿宋" panose="02010609060101010101" pitchFamily="49" charset="-122"/>
            </a:endParaRPr>
          </a:p>
        </p:txBody>
      </p:sp>
      <p:grpSp>
        <p:nvGrpSpPr>
          <p:cNvPr id="35" name="组合 2"/>
          <p:cNvGrpSpPr/>
          <p:nvPr/>
        </p:nvGrpSpPr>
        <p:grpSpPr>
          <a:xfrm>
            <a:off x="2214546" y="142852"/>
            <a:ext cx="3429024" cy="2000264"/>
            <a:chOff x="785786" y="3515889"/>
            <a:chExt cx="3500462" cy="2346024"/>
          </a:xfrm>
        </p:grpSpPr>
        <p:sp>
          <p:nvSpPr>
            <p:cNvPr id="36" name="Text Box 29"/>
            <p:cNvSpPr txBox="1">
              <a:spLocks noChangeArrowheads="1"/>
            </p:cNvSpPr>
            <p:nvPr/>
          </p:nvSpPr>
          <p:spPr bwMode="auto">
            <a:xfrm>
              <a:off x="1627498" y="5034679"/>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37" name="Text Box 28"/>
            <p:cNvSpPr txBox="1">
              <a:spLocks noChangeArrowheads="1"/>
            </p:cNvSpPr>
            <p:nvPr/>
          </p:nvSpPr>
          <p:spPr bwMode="auto">
            <a:xfrm>
              <a:off x="1401366" y="4776499"/>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38" name="Text Box 27"/>
            <p:cNvSpPr txBox="1">
              <a:spLocks noChangeArrowheads="1"/>
            </p:cNvSpPr>
            <p:nvPr/>
          </p:nvSpPr>
          <p:spPr bwMode="auto">
            <a:xfrm>
              <a:off x="1435286" y="4395812"/>
              <a:ext cx="286433"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39" name="Text Box 26"/>
            <p:cNvSpPr txBox="1">
              <a:spLocks noChangeArrowheads="1"/>
            </p:cNvSpPr>
            <p:nvPr/>
          </p:nvSpPr>
          <p:spPr bwMode="auto">
            <a:xfrm>
              <a:off x="1761920" y="4052010"/>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0" name="Text Box 25"/>
            <p:cNvSpPr txBox="1">
              <a:spLocks noChangeArrowheads="1"/>
            </p:cNvSpPr>
            <p:nvPr/>
          </p:nvSpPr>
          <p:spPr bwMode="auto">
            <a:xfrm>
              <a:off x="1114933" y="4523586"/>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1" name="Text Box 24"/>
            <p:cNvSpPr txBox="1">
              <a:spLocks noChangeArrowheads="1"/>
            </p:cNvSpPr>
            <p:nvPr/>
          </p:nvSpPr>
          <p:spPr bwMode="auto">
            <a:xfrm>
              <a:off x="785786" y="4527537"/>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2" name="Text Box 23"/>
            <p:cNvSpPr txBox="1">
              <a:spLocks noChangeArrowheads="1"/>
            </p:cNvSpPr>
            <p:nvPr/>
          </p:nvSpPr>
          <p:spPr bwMode="auto">
            <a:xfrm>
              <a:off x="2259410" y="3867594"/>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3" name="Text Box 22"/>
            <p:cNvSpPr txBox="1">
              <a:spLocks noChangeArrowheads="1"/>
            </p:cNvSpPr>
            <p:nvPr/>
          </p:nvSpPr>
          <p:spPr bwMode="auto">
            <a:xfrm>
              <a:off x="2259410" y="3515889"/>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4" name="Oval 21"/>
            <p:cNvSpPr>
              <a:spLocks noChangeArrowheads="1"/>
            </p:cNvSpPr>
            <p:nvPr/>
          </p:nvSpPr>
          <p:spPr bwMode="auto">
            <a:xfrm>
              <a:off x="906389" y="3700304"/>
              <a:ext cx="427138" cy="44786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5" name="Oval 20"/>
            <p:cNvSpPr>
              <a:spLocks noChangeArrowheads="1"/>
            </p:cNvSpPr>
            <p:nvPr/>
          </p:nvSpPr>
          <p:spPr bwMode="auto">
            <a:xfrm>
              <a:off x="906389" y="53139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6" name="Oval 19"/>
            <p:cNvSpPr>
              <a:spLocks noChangeArrowheads="1"/>
            </p:cNvSpPr>
            <p:nvPr/>
          </p:nvSpPr>
          <p:spPr bwMode="auto">
            <a:xfrm>
              <a:off x="3047102" y="3662103"/>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7" name="Oval 18"/>
            <p:cNvSpPr>
              <a:spLocks noChangeArrowheads="1"/>
            </p:cNvSpPr>
            <p:nvPr/>
          </p:nvSpPr>
          <p:spPr bwMode="auto">
            <a:xfrm>
              <a:off x="3047102" y="52757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48" name="Freeform 17"/>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49" name="Freeform 16"/>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0" name="Text Box 15"/>
            <p:cNvSpPr txBox="1">
              <a:spLocks noChangeArrowheads="1"/>
            </p:cNvSpPr>
            <p:nvPr/>
          </p:nvSpPr>
          <p:spPr bwMode="auto">
            <a:xfrm>
              <a:off x="2014434" y="5562897"/>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1" name="Text Box 14"/>
            <p:cNvSpPr txBox="1">
              <a:spLocks noChangeArrowheads="1"/>
            </p:cNvSpPr>
            <p:nvPr/>
          </p:nvSpPr>
          <p:spPr bwMode="auto">
            <a:xfrm>
              <a:off x="2014434" y="5163770"/>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2" name="Freeform 13"/>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3" name="Freeform 12"/>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4"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5"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6" name="Text Box 9"/>
            <p:cNvSpPr txBox="1">
              <a:spLocks noChangeArrowheads="1"/>
            </p:cNvSpPr>
            <p:nvPr/>
          </p:nvSpPr>
          <p:spPr bwMode="auto">
            <a:xfrm>
              <a:off x="3284539" y="4488020"/>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7" name="Text Box 8"/>
            <p:cNvSpPr txBox="1">
              <a:spLocks noChangeArrowheads="1"/>
            </p:cNvSpPr>
            <p:nvPr/>
          </p:nvSpPr>
          <p:spPr bwMode="auto">
            <a:xfrm>
              <a:off x="2935291" y="4493289"/>
              <a:ext cx="283920"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8"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59"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0" name="Freeform 5"/>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1" name="Freeform 4"/>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2" name="Freeform 3"/>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3" name="Freeform 2"/>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64" name="TextBox 63"/>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rPr>
                <a:t>s=0</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65" name="灯片编号占位符 6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2214546" y="142852"/>
            <a:ext cx="3429024" cy="2000264"/>
            <a:chOff x="785786" y="3515889"/>
            <a:chExt cx="3500462" cy="2346024"/>
          </a:xfrm>
        </p:grpSpPr>
        <p:sp>
          <p:nvSpPr>
            <p:cNvPr id="4" name="Text Box 29"/>
            <p:cNvSpPr txBox="1">
              <a:spLocks noChangeArrowheads="1"/>
            </p:cNvSpPr>
            <p:nvPr/>
          </p:nvSpPr>
          <p:spPr bwMode="auto">
            <a:xfrm>
              <a:off x="1627498" y="5034679"/>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5" name="Text Box 28"/>
            <p:cNvSpPr txBox="1">
              <a:spLocks noChangeArrowheads="1"/>
            </p:cNvSpPr>
            <p:nvPr/>
          </p:nvSpPr>
          <p:spPr bwMode="auto">
            <a:xfrm>
              <a:off x="1401366" y="4776499"/>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6" name="Text Box 27"/>
            <p:cNvSpPr txBox="1">
              <a:spLocks noChangeArrowheads="1"/>
            </p:cNvSpPr>
            <p:nvPr/>
          </p:nvSpPr>
          <p:spPr bwMode="auto">
            <a:xfrm>
              <a:off x="1435286" y="4395812"/>
              <a:ext cx="286433"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7" name="Text Box 26"/>
            <p:cNvSpPr txBox="1">
              <a:spLocks noChangeArrowheads="1"/>
            </p:cNvSpPr>
            <p:nvPr/>
          </p:nvSpPr>
          <p:spPr bwMode="auto">
            <a:xfrm>
              <a:off x="1761920" y="4052010"/>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8" name="Text Box 25"/>
            <p:cNvSpPr txBox="1">
              <a:spLocks noChangeArrowheads="1"/>
            </p:cNvSpPr>
            <p:nvPr/>
          </p:nvSpPr>
          <p:spPr bwMode="auto">
            <a:xfrm>
              <a:off x="1114933" y="4523586"/>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9" name="Text Box 24"/>
            <p:cNvSpPr txBox="1">
              <a:spLocks noChangeArrowheads="1"/>
            </p:cNvSpPr>
            <p:nvPr/>
          </p:nvSpPr>
          <p:spPr bwMode="auto">
            <a:xfrm>
              <a:off x="785786" y="4527537"/>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0" name="Text Box 23"/>
            <p:cNvSpPr txBox="1">
              <a:spLocks noChangeArrowheads="1"/>
            </p:cNvSpPr>
            <p:nvPr/>
          </p:nvSpPr>
          <p:spPr bwMode="auto">
            <a:xfrm>
              <a:off x="2259410" y="3867594"/>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1" name="Text Box 22"/>
            <p:cNvSpPr txBox="1">
              <a:spLocks noChangeArrowheads="1"/>
            </p:cNvSpPr>
            <p:nvPr/>
          </p:nvSpPr>
          <p:spPr bwMode="auto">
            <a:xfrm>
              <a:off x="2259410" y="3515889"/>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2" name="Oval 21"/>
            <p:cNvSpPr>
              <a:spLocks noChangeArrowheads="1"/>
            </p:cNvSpPr>
            <p:nvPr/>
          </p:nvSpPr>
          <p:spPr bwMode="auto">
            <a:xfrm>
              <a:off x="906389" y="3700304"/>
              <a:ext cx="427138" cy="44786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3" name="Oval 20"/>
            <p:cNvSpPr>
              <a:spLocks noChangeArrowheads="1"/>
            </p:cNvSpPr>
            <p:nvPr/>
          </p:nvSpPr>
          <p:spPr bwMode="auto">
            <a:xfrm>
              <a:off x="906389" y="53139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4" name="Oval 19"/>
            <p:cNvSpPr>
              <a:spLocks noChangeArrowheads="1"/>
            </p:cNvSpPr>
            <p:nvPr/>
          </p:nvSpPr>
          <p:spPr bwMode="auto">
            <a:xfrm>
              <a:off x="3047102" y="3662103"/>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5" name="Oval 18"/>
            <p:cNvSpPr>
              <a:spLocks noChangeArrowheads="1"/>
            </p:cNvSpPr>
            <p:nvPr/>
          </p:nvSpPr>
          <p:spPr bwMode="auto">
            <a:xfrm>
              <a:off x="3047102" y="52757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6" name="Freeform 17"/>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18" name="Freeform 16"/>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19" name="Text Box 15"/>
            <p:cNvSpPr txBox="1">
              <a:spLocks noChangeArrowheads="1"/>
            </p:cNvSpPr>
            <p:nvPr/>
          </p:nvSpPr>
          <p:spPr bwMode="auto">
            <a:xfrm>
              <a:off x="2014434" y="5562897"/>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0" name="Text Box 14"/>
            <p:cNvSpPr txBox="1">
              <a:spLocks noChangeArrowheads="1"/>
            </p:cNvSpPr>
            <p:nvPr/>
          </p:nvSpPr>
          <p:spPr bwMode="auto">
            <a:xfrm>
              <a:off x="2014434" y="5163770"/>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1" name="Freeform 13"/>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2" name="Freeform 12"/>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3"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4"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5" name="Text Box 9"/>
            <p:cNvSpPr txBox="1">
              <a:spLocks noChangeArrowheads="1"/>
            </p:cNvSpPr>
            <p:nvPr/>
          </p:nvSpPr>
          <p:spPr bwMode="auto">
            <a:xfrm>
              <a:off x="3284539" y="4488020"/>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6" name="Text Box 8"/>
            <p:cNvSpPr txBox="1">
              <a:spLocks noChangeArrowheads="1"/>
            </p:cNvSpPr>
            <p:nvPr/>
          </p:nvSpPr>
          <p:spPr bwMode="auto">
            <a:xfrm>
              <a:off x="2935291" y="4493289"/>
              <a:ext cx="283920"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7"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8"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9" name="Freeform 5"/>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0" name="Freeform 4"/>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1" name="Freeform 3"/>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2" name="Freeform 2"/>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3" name="TextBox 32"/>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rPr>
                <a:t>s=0</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4" name="TextBox 33"/>
          <p:cNvSpPr txBox="1"/>
          <p:nvPr/>
        </p:nvSpPr>
        <p:spPr>
          <a:xfrm>
            <a:off x="285720" y="2214554"/>
            <a:ext cx="8643998" cy="38369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rPr>
              <a:t>⑦</a:t>
            </a:r>
            <a:r>
              <a:rPr lang="en-US" altLang="zh-CN" sz="2000">
                <a:solidFill>
                  <a:srgbClr val="0000FF"/>
                </a:solidFill>
                <a:latin typeface="Consolas" panose="020B0609020204030204" pitchFamily="49" charset="0"/>
                <a:ea typeface="仿宋" panose="02010609060101010101" pitchFamily="49" charset="-122"/>
              </a:rPr>
              <a:t>V=6=[110]</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=2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dp[V1][2]=min{dp[4][3]+A[3][2]}=44</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=3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V1={2}</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dp[V1][3]=min{dp[2][2]+A[2][3]}=10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1200"/>
              </a:spcBef>
            </a:pPr>
            <a:r>
              <a:rPr lang="zh-CN" altLang="zh-CN" sz="2000">
                <a:solidFill>
                  <a:srgbClr val="0000FF"/>
                </a:solidFill>
                <a:latin typeface="Consolas" panose="020B0609020204030204" pitchFamily="49" charset="0"/>
                <a:ea typeface="仿宋" panose="02010609060101010101" pitchFamily="49" charset="-122"/>
              </a:rPr>
              <a:t>⑧</a:t>
            </a:r>
            <a:r>
              <a:rPr lang="en-US" altLang="zh-CN" sz="2000">
                <a:solidFill>
                  <a:srgbClr val="0000FF"/>
                </a:solidFill>
                <a:latin typeface="Consolas" panose="020B0609020204030204" pitchFamily="49" charset="0"/>
                <a:ea typeface="仿宋" panose="02010609060101010101" pitchFamily="49" charset="-122"/>
              </a:rPr>
              <a:t>V=7=[111]</a:t>
            </a:r>
            <a:r>
              <a:rPr lang="en-US" altLang="zh-CN" sz="2000" baseline="-25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，即</a:t>
            </a:r>
            <a:r>
              <a:rPr lang="en-US" altLang="zh-CN" sz="2000">
                <a:solidFill>
                  <a:srgbClr val="0000FF"/>
                </a:solidFill>
                <a:latin typeface="Consolas" panose="020B0609020204030204" pitchFamily="49" charset="0"/>
                <a:ea typeface="仿宋" panose="02010609060101010101" pitchFamily="49" charset="-122"/>
              </a:rPr>
              <a:t>V={1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dp[V1][1]=min{dp[6][2]+A[2][1]}=53</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=1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dp[V1][1]=min{dp[6][3]+A[3][1]}=17</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=2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dp[V1][2]=min{dp[5][1]+A[1][2]}=51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=2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=3</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dp[V1][2]=min{dp[5][3]+A[3][2]}=21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=3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dp[V1][3]=min{dp[3][1]+A[1][3]}=19</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=3 </a:t>
            </a:r>
            <a:r>
              <a:rPr lang="en-US" altLang="zh-CN" sz="2000">
                <a:solidFill>
                  <a:srgbClr val="0000FF"/>
                </a:solidFill>
                <a:latin typeface="Consolas" panose="020B0609020204030204" pitchFamily="49" charset="0"/>
                <a:ea typeface="仿宋" panose="02010609060101010101" pitchFamily="49" charset="-122"/>
                <a:sym typeface="Wingdings" panose="05000000000000000000"/>
              </a:rPr>
              <a:t></a:t>
            </a:r>
            <a:r>
              <a:rPr lang="en-US" altLang="zh-CN" sz="2000">
                <a:solidFill>
                  <a:srgbClr val="0000FF"/>
                </a:solidFill>
                <a:latin typeface="Consolas" panose="020B0609020204030204" pitchFamily="49" charset="0"/>
                <a:ea typeface="仿宋" panose="02010609060101010101" pitchFamily="49" charset="-122"/>
              </a:rPr>
              <a:t> V1={1</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=2</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6600"/>
                </a:solidFill>
                <a:latin typeface="Consolas" panose="020B0609020204030204" pitchFamily="49" charset="0"/>
                <a:ea typeface="仿宋" panose="02010609060101010101" pitchFamily="49" charset="-122"/>
              </a:rPr>
              <a:t>dp[V1][3]=min{dp[3][2]+A[2][3]}=19</a:t>
            </a:r>
            <a:endParaRPr lang="zh-CN" altLang="zh-CN" sz="2000">
              <a:solidFill>
                <a:srgbClr val="006600"/>
              </a:solidFill>
              <a:latin typeface="Consolas" panose="020B0609020204030204" pitchFamily="49" charset="0"/>
              <a:ea typeface="仿宋" panose="02010609060101010101" pitchFamily="49" charset="-122"/>
            </a:endParaRPr>
          </a:p>
        </p:txBody>
      </p: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500306"/>
            <a:ext cx="8715436" cy="1438855"/>
          </a:xfrm>
          <a:prstGeom prst="rect">
            <a:avLst/>
          </a:prstGeom>
          <a:noFill/>
        </p:spPr>
        <p:txBody>
          <a:bodyPr wrap="square" rtlCol="0">
            <a:spAutoFit/>
          </a:bodyPr>
          <a:lstStyle/>
          <a:p>
            <a:pPr algn="l">
              <a:lnSpc>
                <a:spcPts val="3500"/>
              </a:lnSpc>
              <a:spcBef>
                <a:spcPts val="0"/>
              </a:spcBef>
            </a:pPr>
            <a:r>
              <a:rPr lang="zh-CN" altLang="zh-CN">
                <a:solidFill>
                  <a:srgbClr val="0000FF"/>
                </a:solidFill>
                <a:latin typeface="Consolas" panose="020B0609020204030204" pitchFamily="49" charset="0"/>
                <a:ea typeface="仿宋" panose="02010609060101010101" pitchFamily="49" charset="-122"/>
              </a:rPr>
              <a:t>算法执行的最终结果（</a:t>
            </a:r>
            <a:r>
              <a:rPr lang="en-US" altLang="zh-CN">
                <a:solidFill>
                  <a:srgbClr val="0000FF"/>
                </a:solidFill>
                <a:latin typeface="Consolas" panose="020B0609020204030204" pitchFamily="49" charset="0"/>
                <a:ea typeface="仿宋" panose="02010609060101010101" pitchFamily="49" charset="-122"/>
              </a:rPr>
              <a:t>V=[111]</a:t>
            </a:r>
            <a:r>
              <a:rPr lang="en-US" altLang="zh-CN" baseline="-25000">
                <a:solidFill>
                  <a:srgbClr val="0000FF"/>
                </a:solidFill>
                <a:latin typeface="Consolas" panose="020B0609020204030204" pitchFamily="49" charset="0"/>
                <a:ea typeface="仿宋" panose="02010609060101010101" pitchFamily="49" charset="-122"/>
              </a:rPr>
              <a:t>2</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）为</a:t>
            </a:r>
            <a:endParaRPr lang="en-US" altLang="zh-CN">
              <a:solidFill>
                <a:srgbClr val="0000FF"/>
              </a:solidFill>
              <a:latin typeface="Consolas" panose="020B0609020204030204" pitchFamily="49" charset="0"/>
              <a:ea typeface="仿宋" panose="02010609060101010101" pitchFamily="49" charset="-122"/>
            </a:endParaRPr>
          </a:p>
          <a:p>
            <a:pPr algn="l">
              <a:lnSpc>
                <a:spcPts val="3500"/>
              </a:lnSpc>
              <a:spcBef>
                <a:spcPts val="0"/>
              </a:spcBef>
            </a:pPr>
            <a:r>
              <a:rPr lang="en-US" altLang="zh-CN" sz="2000">
                <a:solidFill>
                  <a:srgbClr val="0000FF"/>
                </a:solidFill>
                <a:latin typeface="Consolas" panose="020B0609020204030204" pitchFamily="49" charset="0"/>
                <a:ea typeface="仿宋" panose="02010609060101010101" pitchFamily="49" charset="-122"/>
              </a:rPr>
              <a:t>ans=</a:t>
            </a:r>
            <a:r>
              <a:rPr lang="en-US" altLang="zh-CN" sz="2000">
                <a:solidFill>
                  <a:srgbClr val="FF00FF"/>
                </a:solidFill>
                <a:latin typeface="Consolas" panose="020B0609020204030204" pitchFamily="49" charset="0"/>
                <a:ea typeface="仿宋" panose="02010609060101010101" pitchFamily="49" charset="-122"/>
              </a:rPr>
              <a:t>min</a:t>
            </a:r>
            <a:r>
              <a:rPr lang="en-US" altLang="zh-CN" sz="2000">
                <a:solidFill>
                  <a:srgbClr val="0000FF"/>
                </a:solidFill>
                <a:latin typeface="Consolas" panose="020B0609020204030204" pitchFamily="49" charset="0"/>
                <a:ea typeface="仿宋" panose="02010609060101010101" pitchFamily="49" charset="-122"/>
              </a:rPr>
              <a:t>{dp[7][1]+A[1][0],dp[7][2]+A[2][0],dp[7][3]+A[3][0]}</a:t>
            </a:r>
            <a:endParaRPr lang="en-US" altLang="zh-CN" sz="2000">
              <a:solidFill>
                <a:srgbClr val="0000FF"/>
              </a:solidFill>
              <a:latin typeface="Consolas" panose="020B0609020204030204" pitchFamily="49" charset="0"/>
              <a:ea typeface="仿宋" panose="02010609060101010101" pitchFamily="49" charset="-122"/>
            </a:endParaRPr>
          </a:p>
          <a:p>
            <a:pPr algn="l">
              <a:lnSpc>
                <a:spcPts val="3500"/>
              </a:lnSpc>
              <a:spcBef>
                <a:spcPts val="0"/>
              </a:spcBef>
            </a:pPr>
            <a:r>
              <a:rPr lang="en-US" altLang="zh-CN" sz="2000">
                <a:solidFill>
                  <a:srgbClr val="0000FF"/>
                </a:solidFill>
                <a:latin typeface="Consolas" panose="020B0609020204030204" pitchFamily="49" charset="0"/>
                <a:ea typeface="仿宋" panose="02010609060101010101" pitchFamily="49" charset="-122"/>
              </a:rPr>
              <a:t>   ={23</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29</a:t>
            </a:r>
            <a:r>
              <a:rPr lang="zh-CN" altLang="zh-CN" sz="2000">
                <a:solidFill>
                  <a:srgbClr val="0000FF"/>
                </a:solidFill>
                <a:latin typeface="Consolas" panose="020B0609020204030204" pitchFamily="49" charset="0"/>
                <a:ea typeface="仿宋" panose="02010609060101010101" pitchFamily="49" charset="-122"/>
              </a:rPr>
              <a:t>，</a:t>
            </a:r>
            <a:r>
              <a:rPr lang="en-US" altLang="zh-CN" sz="2000">
                <a:solidFill>
                  <a:srgbClr val="0000FF"/>
                </a:solidFill>
                <a:latin typeface="Consolas" panose="020B0609020204030204" pitchFamily="49" charset="0"/>
                <a:ea typeface="仿宋" panose="02010609060101010101" pitchFamily="49" charset="-122"/>
              </a:rPr>
              <a:t>26}=23</a:t>
            </a:r>
            <a:r>
              <a:rPr lang="zh-CN" altLang="zh-CN" sz="2000">
                <a:solidFill>
                  <a:srgbClr val="0000FF"/>
                </a:solidFill>
                <a:latin typeface="Consolas" panose="020B0609020204030204" pitchFamily="49" charset="0"/>
                <a:ea typeface="仿宋" panose="02010609060101010101" pitchFamily="49" charset="-122"/>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2"/>
          <p:cNvGrpSpPr/>
          <p:nvPr/>
        </p:nvGrpSpPr>
        <p:grpSpPr>
          <a:xfrm>
            <a:off x="2214546" y="142852"/>
            <a:ext cx="3429024" cy="2000264"/>
            <a:chOff x="785786" y="3515889"/>
            <a:chExt cx="3500462" cy="2346024"/>
          </a:xfrm>
        </p:grpSpPr>
        <p:sp>
          <p:nvSpPr>
            <p:cNvPr id="5" name="Text Box 29"/>
            <p:cNvSpPr txBox="1">
              <a:spLocks noChangeArrowheads="1"/>
            </p:cNvSpPr>
            <p:nvPr/>
          </p:nvSpPr>
          <p:spPr bwMode="auto">
            <a:xfrm>
              <a:off x="1627498" y="5034679"/>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6" name="Text Box 28"/>
            <p:cNvSpPr txBox="1">
              <a:spLocks noChangeArrowheads="1"/>
            </p:cNvSpPr>
            <p:nvPr/>
          </p:nvSpPr>
          <p:spPr bwMode="auto">
            <a:xfrm>
              <a:off x="1401366" y="4776499"/>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7" name="Text Box 27"/>
            <p:cNvSpPr txBox="1">
              <a:spLocks noChangeArrowheads="1"/>
            </p:cNvSpPr>
            <p:nvPr/>
          </p:nvSpPr>
          <p:spPr bwMode="auto">
            <a:xfrm>
              <a:off x="1435286" y="4395812"/>
              <a:ext cx="286433"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8" name="Text Box 26"/>
            <p:cNvSpPr txBox="1">
              <a:spLocks noChangeArrowheads="1"/>
            </p:cNvSpPr>
            <p:nvPr/>
          </p:nvSpPr>
          <p:spPr bwMode="auto">
            <a:xfrm>
              <a:off x="1761920" y="4052010"/>
              <a:ext cx="285177" cy="30033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9" name="Text Box 25"/>
            <p:cNvSpPr txBox="1">
              <a:spLocks noChangeArrowheads="1"/>
            </p:cNvSpPr>
            <p:nvPr/>
          </p:nvSpPr>
          <p:spPr bwMode="auto">
            <a:xfrm>
              <a:off x="1114933" y="4523586"/>
              <a:ext cx="283920"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0" name="Text Box 24"/>
            <p:cNvSpPr txBox="1">
              <a:spLocks noChangeArrowheads="1"/>
            </p:cNvSpPr>
            <p:nvPr/>
          </p:nvSpPr>
          <p:spPr bwMode="auto">
            <a:xfrm>
              <a:off x="785786" y="4527537"/>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1" name="Text Box 23"/>
            <p:cNvSpPr txBox="1">
              <a:spLocks noChangeArrowheads="1"/>
            </p:cNvSpPr>
            <p:nvPr/>
          </p:nvSpPr>
          <p:spPr bwMode="auto">
            <a:xfrm>
              <a:off x="2259410" y="3867594"/>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2" name="Text Box 22"/>
            <p:cNvSpPr txBox="1">
              <a:spLocks noChangeArrowheads="1"/>
            </p:cNvSpPr>
            <p:nvPr/>
          </p:nvSpPr>
          <p:spPr bwMode="auto">
            <a:xfrm>
              <a:off x="2259410" y="3515889"/>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3" name="Oval 21"/>
            <p:cNvSpPr>
              <a:spLocks noChangeArrowheads="1"/>
            </p:cNvSpPr>
            <p:nvPr/>
          </p:nvSpPr>
          <p:spPr bwMode="auto">
            <a:xfrm>
              <a:off x="906389" y="3700304"/>
              <a:ext cx="427138" cy="44786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4" name="Oval 20"/>
            <p:cNvSpPr>
              <a:spLocks noChangeArrowheads="1"/>
            </p:cNvSpPr>
            <p:nvPr/>
          </p:nvSpPr>
          <p:spPr bwMode="auto">
            <a:xfrm>
              <a:off x="906389" y="53139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5" name="Oval 19"/>
            <p:cNvSpPr>
              <a:spLocks noChangeArrowheads="1"/>
            </p:cNvSpPr>
            <p:nvPr/>
          </p:nvSpPr>
          <p:spPr bwMode="auto">
            <a:xfrm>
              <a:off x="3047102" y="3662103"/>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6" name="Oval 18"/>
            <p:cNvSpPr>
              <a:spLocks noChangeArrowheads="1"/>
            </p:cNvSpPr>
            <p:nvPr/>
          </p:nvSpPr>
          <p:spPr bwMode="auto">
            <a:xfrm>
              <a:off x="3047102" y="5275736"/>
              <a:ext cx="427138" cy="4478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8" name="Freeform 17"/>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19" name="Freeform 16"/>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0" name="Text Box 15"/>
            <p:cNvSpPr txBox="1">
              <a:spLocks noChangeArrowheads="1"/>
            </p:cNvSpPr>
            <p:nvPr/>
          </p:nvSpPr>
          <p:spPr bwMode="auto">
            <a:xfrm>
              <a:off x="2014434" y="5562897"/>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1" name="Text Box 14"/>
            <p:cNvSpPr txBox="1">
              <a:spLocks noChangeArrowheads="1"/>
            </p:cNvSpPr>
            <p:nvPr/>
          </p:nvSpPr>
          <p:spPr bwMode="auto">
            <a:xfrm>
              <a:off x="2014434" y="5163770"/>
              <a:ext cx="285177"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2" name="Freeform 13"/>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3" name="Freeform 12"/>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4"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5"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6" name="Text Box 9"/>
            <p:cNvSpPr txBox="1">
              <a:spLocks noChangeArrowheads="1"/>
            </p:cNvSpPr>
            <p:nvPr/>
          </p:nvSpPr>
          <p:spPr bwMode="auto">
            <a:xfrm>
              <a:off x="3284539" y="4488020"/>
              <a:ext cx="286433" cy="29901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7" name="Text Box 8"/>
            <p:cNvSpPr txBox="1">
              <a:spLocks noChangeArrowheads="1"/>
            </p:cNvSpPr>
            <p:nvPr/>
          </p:nvSpPr>
          <p:spPr bwMode="auto">
            <a:xfrm>
              <a:off x="2935291" y="4493289"/>
              <a:ext cx="283920" cy="29769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8"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29"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0" name="Freeform 5"/>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1" name="Freeform 4"/>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2" name="Freeform 3"/>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3" name="Freeform 2"/>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Times New Roman" panose="02020603050405020304" pitchFamily="18" charset="0"/>
              </a:endParaRPr>
            </a:p>
          </p:txBody>
        </p:sp>
        <p:sp>
          <p:nvSpPr>
            <p:cNvPr id="34" name="TextBox 33"/>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rPr>
                <a:t>s=0</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38697"/>
            <a:ext cx="8643998" cy="32189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bool </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(int V,int 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判断顶点</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是否在</a:t>
            </a:r>
            <a:r>
              <a:rPr lang="en-US" altLang="zh-CN" sz="2000">
                <a:solidFill>
                  <a:srgbClr val="00B0F0"/>
                </a:solidFill>
                <a:latin typeface="Consolas" panose="020B0609020204030204" pitchFamily="49" charset="0"/>
                <a:ea typeface="仿宋" panose="02010609060101010101" pitchFamily="49" charset="-122"/>
              </a:rPr>
              <a:t>used</a:t>
            </a:r>
            <a:r>
              <a:rPr lang="zh-CN" altLang="zh-CN" sz="2000">
                <a:solidFill>
                  <a:srgbClr val="00B0F0"/>
                </a:solidFill>
                <a:latin typeface="Consolas" panose="020B0609020204030204" pitchFamily="49" charset="0"/>
                <a:ea typeface="仿宋" panose="02010609060101010101" pitchFamily="49" charset="-122"/>
              </a:rPr>
              <a:t>中</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(V &amp; (1&lt;&lt;(j-1)))!=0;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delj</a:t>
            </a:r>
            <a:r>
              <a:rPr lang="en-US" altLang="zh-CN" sz="2000">
                <a:solidFill>
                  <a:srgbClr val="0000FF"/>
                </a:solidFill>
                <a:latin typeface="Consolas" panose="020B0609020204030204" pitchFamily="49" charset="0"/>
                <a:ea typeface="仿宋" panose="02010609060101010101" pitchFamily="49" charset="-122"/>
              </a:rPr>
              <a:t>(int V,int 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中删除顶点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得到</a:t>
            </a:r>
            <a:r>
              <a:rPr lang="en-US" altLang="zh-CN" sz="2000">
                <a:solidFill>
                  <a:srgbClr val="00B0F0"/>
                </a:solidFill>
                <a:latin typeface="Consolas" panose="020B0609020204030204" pitchFamily="49" charset="0"/>
                <a:ea typeface="仿宋" panose="02010609060101010101" pitchFamily="49" charset="-122"/>
              </a:rPr>
              <a:t>V1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V^(1&lt;&lt;(j-1));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643998" cy="1756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TSP</a:t>
            </a:r>
            <a:r>
              <a:rPr lang="en-US" altLang="zh-CN" sz="2000">
                <a:solidFill>
                  <a:srgbClr val="0000FF"/>
                </a:solidFill>
                <a:latin typeface="Consolas" panose="020B0609020204030204" pitchFamily="49" charset="0"/>
                <a:ea typeface="仿宋" panose="02010609060101010101" pitchFamily="49" charset="-122"/>
              </a:rPr>
              <a:t>(vector&lt;vector&lt;int&gt;&gt; &amp;A)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TSP</a:t>
            </a:r>
            <a:r>
              <a:rPr lang="zh-CN" altLang="zh-CN" sz="2000">
                <a:solidFill>
                  <a:srgbClr val="00B0F0"/>
                </a:solidFill>
                <a:latin typeface="Consolas" panose="020B0609020204030204" pitchFamily="49" charset="0"/>
                <a:ea typeface="仿宋" panose="02010609060101010101" pitchFamily="49" charset="-122"/>
              </a:rPr>
              <a:t>所有解的路径长度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							</a:t>
            </a:r>
            <a:r>
              <a:rPr lang="en-US" altLang="zh-CN" sz="2000">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为顶点个数减</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Consolas" panose="020B0609020204030204" pitchFamily="49" charset="0"/>
                <a:ea typeface="仿宋" panose="02010609060101010101" pitchFamily="49" charset="-122"/>
              </a:rPr>
              <a:t>（除开起点</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dp=vector&lt;vector&lt;int&gt;&gt;(1&lt;&lt;n,vector&lt;int&gt;(n,INF));</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dp[0][0]=0;</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62985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V=1;V&lt;(1&lt;&lt;(n-1));V++)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n-1</a:t>
            </a:r>
            <a:r>
              <a:rPr lang="zh-CN" altLang="zh-CN" sz="2000">
                <a:solidFill>
                  <a:srgbClr val="00B0F0"/>
                </a:solidFill>
                <a:latin typeface="Consolas" panose="020B0609020204030204" pitchFamily="49" charset="0"/>
                <a:ea typeface="仿宋" panose="02010609060101010101" pitchFamily="49" charset="-122"/>
              </a:rPr>
              <a:t>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(V,i))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在</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V==(1&lt;&lt;(i-1))</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中只有一个顶点</a:t>
            </a:r>
            <a:r>
              <a:rPr lang="en-US" altLang="zh-CN" sz="2000">
                <a:solidFill>
                  <a:srgbClr val="00B0F0"/>
                </a:solidFill>
                <a:latin typeface="Consolas" panose="020B0609020204030204" pitchFamily="49" charset="0"/>
                <a:ea typeface="仿宋" panose="02010609060101010101" pitchFamily="49" charset="-122"/>
              </a:rPr>
              <a:t>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dp[V][i]=min(dp[V][i],A[0][i]);</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 {							</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中有多个顶点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V1=</a:t>
            </a:r>
            <a:r>
              <a:rPr lang="en-US" altLang="zh-CN" sz="2000">
                <a:solidFill>
                  <a:srgbClr val="FF0000"/>
                </a:solidFill>
                <a:latin typeface="Consolas" panose="020B0609020204030204" pitchFamily="49" charset="0"/>
                <a:ea typeface="仿宋" panose="02010609060101010101" pitchFamily="49" charset="-122"/>
              </a:rPr>
              <a:t>delj</a:t>
            </a:r>
            <a:r>
              <a:rPr lang="en-US" altLang="zh-CN" sz="2000">
                <a:solidFill>
                  <a:srgbClr val="0000FF"/>
                </a:solidFill>
                <a:latin typeface="Consolas" panose="020B0609020204030204" pitchFamily="49" charset="0"/>
                <a:ea typeface="仿宋" panose="02010609060101010101" pitchFamily="49" charset="-122"/>
              </a:rPr>
              <a:t>(V,i);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中删除顶点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得到</a:t>
            </a:r>
            <a:r>
              <a:rPr lang="en-US" altLang="zh-CN" sz="2000">
                <a:solidFill>
                  <a:srgbClr val="00B0F0"/>
                </a:solidFill>
                <a:latin typeface="Consolas" panose="020B0609020204030204" pitchFamily="49" charset="0"/>
                <a:ea typeface="仿宋" panose="02010609060101010101" pitchFamily="49" charset="-122"/>
              </a:rPr>
              <a:t>V1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(V1,j))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处理</a:t>
            </a:r>
            <a:r>
              <a:rPr lang="en-US" altLang="zh-CN" sz="2000">
                <a:solidFill>
                  <a:srgbClr val="00B0F0"/>
                </a:solidFill>
                <a:latin typeface="Consolas" panose="020B0609020204030204" pitchFamily="49" charset="0"/>
                <a:ea typeface="仿宋" panose="02010609060101010101" pitchFamily="49" charset="-122"/>
              </a:rPr>
              <a:t>V1</a:t>
            </a:r>
            <a:r>
              <a:rPr lang="zh-CN" altLang="zh-CN" sz="2000">
                <a:solidFill>
                  <a:srgbClr val="00B0F0"/>
                </a:solidFill>
                <a:latin typeface="Consolas" panose="020B0609020204030204" pitchFamily="49" charset="0"/>
                <a:ea typeface="仿宋" panose="02010609060101010101" pitchFamily="49" charset="-122"/>
              </a:rPr>
              <a:t>中每一个顶点</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dp[V][i]=min(dp[V][i],dp[V1][j]+A[j][i]);</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ans=INF;</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TSP</a:t>
            </a:r>
            <a:r>
              <a:rPr lang="zh-CN" altLang="zh-CN" sz="2000">
                <a:solidFill>
                  <a:srgbClr val="00B0F0"/>
                </a:solidFill>
                <a:latin typeface="Consolas" panose="020B0609020204030204" pitchFamily="49" charset="0"/>
                <a:ea typeface="仿宋" panose="02010609060101010101" pitchFamily="49" charset="-122"/>
              </a:rPr>
              <a:t>路径长度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ans=min(ans,dp[(1&lt;&lt;(n-1))-1][i]+A[i][0]);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500034" y="3214686"/>
            <a:ext cx="8143932" cy="163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TSP</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若图中有</a:t>
            </a:r>
            <a:r>
              <a:rPr lang="nb-NO" altLang="zh-CN" sz="2200" i="1">
                <a:solidFill>
                  <a:srgbClr val="0000FF"/>
                </a:solidFill>
                <a:latin typeface="Consolas" panose="020B0609020204030204" pitchFamily="49" charset="0"/>
                <a:ea typeface="仿宋" panose="02010609060101010101" pitchFamily="49" charset="-122"/>
              </a:rPr>
              <a:t>n</a:t>
            </a:r>
            <a:r>
              <a:rPr lang="zh-CN" altLang="zh-CN" sz="2200">
                <a:solidFill>
                  <a:srgbClr val="0000FF"/>
                </a:solidFill>
                <a:latin typeface="Consolas" panose="020B0609020204030204" pitchFamily="49" charset="0"/>
                <a:ea typeface="仿宋" panose="02010609060101010101" pitchFamily="49" charset="-122"/>
              </a:rPr>
              <a:t>个顶点，该算法主要含</a:t>
            </a:r>
            <a:r>
              <a:rPr lang="en-US" altLang="zh-CN" sz="2200">
                <a:solidFill>
                  <a:srgbClr val="0000FF"/>
                </a:solidFill>
                <a:latin typeface="Consolas" panose="020B0609020204030204" pitchFamily="49" charset="0"/>
                <a:ea typeface="仿宋" panose="02010609060101010101" pitchFamily="49" charset="-122"/>
              </a:rPr>
              <a:t>3</a:t>
            </a:r>
            <a:r>
              <a:rPr lang="zh-CN" altLang="zh-CN" sz="2200">
                <a:solidFill>
                  <a:srgbClr val="0000FF"/>
                </a:solidFill>
                <a:latin typeface="Consolas" panose="020B0609020204030204" pitchFamily="49" charset="0"/>
                <a:ea typeface="仿宋" panose="02010609060101010101" pitchFamily="49" charset="-122"/>
              </a:rPr>
              <a:t>重循环，第一重循环需要操作</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a:t>
            </a:r>
            <a:r>
              <a:rPr lang="en-US" altLang="zh-CN" sz="2200">
                <a:solidFill>
                  <a:srgbClr val="0000FF"/>
                </a:solidFill>
                <a:latin typeface="Consolas" panose="020B0609020204030204" pitchFamily="49" charset="0"/>
                <a:ea typeface="仿宋" panose="02010609060101010101" pitchFamily="49" charset="-122"/>
              </a:rPr>
              <a:t>2</a:t>
            </a:r>
            <a:r>
              <a:rPr lang="zh-CN"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mj-ea"/>
                <a:ea typeface="+mj-ea"/>
              </a:rPr>
              <a:t>…</a:t>
            </a:r>
            <a:r>
              <a:rPr lang="zh-CN"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的每个子集，执行时间为</a:t>
            </a:r>
            <a:r>
              <a:rPr lang="en-US" altLang="zh-CN" sz="2200">
                <a:solidFill>
                  <a:srgbClr val="0000FF"/>
                </a:solidFill>
                <a:latin typeface="Consolas" panose="020B0609020204030204" pitchFamily="49" charset="0"/>
                <a:ea typeface="仿宋" panose="02010609060101010101" pitchFamily="49" charset="-122"/>
              </a:rPr>
              <a:t>O(2</a:t>
            </a:r>
            <a:r>
              <a:rPr lang="en-US" altLang="zh-CN" sz="2200" i="1" baseline="30000">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-1</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，后面两重循环的执行时间为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2</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，所以算法的时间复杂度为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2</a:t>
            </a:r>
            <a:r>
              <a:rPr lang="zh-CN" altLang="zh-CN" sz="2200">
                <a:solidFill>
                  <a:srgbClr val="0000FF"/>
                </a:solidFill>
                <a:latin typeface="Consolas" panose="020B0609020204030204" pitchFamily="49" charset="0"/>
                <a:ea typeface="仿宋" panose="02010609060101010101" pitchFamily="49" charset="-122"/>
              </a:rPr>
              <a:t>×</a:t>
            </a:r>
            <a:r>
              <a:rPr lang="en-US" altLang="zh-CN" sz="2200">
                <a:solidFill>
                  <a:srgbClr val="0000FF"/>
                </a:solidFill>
                <a:latin typeface="Consolas" panose="020B0609020204030204" pitchFamily="49" charset="0"/>
                <a:ea typeface="仿宋" panose="02010609060101010101" pitchFamily="49" charset="-122"/>
              </a:rPr>
              <a:t>2</a:t>
            </a:r>
            <a:r>
              <a:rPr lang="en-US" altLang="zh-CN" sz="2200" i="1" baseline="30000">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357166"/>
            <a:ext cx="8501122" cy="476027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200"/>
              </a:lnSpc>
              <a:spcBef>
                <a:spcPts val="600"/>
              </a:spcBef>
            </a:pPr>
            <a:r>
              <a:rPr lang="en-US" altLang="zh-CN">
                <a:solidFill>
                  <a:srgbClr val="FF0000"/>
                </a:solidFill>
                <a:latin typeface="Consolas" panose="020B0609020204030204" pitchFamily="49" charset="0"/>
                <a:ea typeface="楷体" panose="02010609060101010101" pitchFamily="49" charset="-122"/>
              </a:rPr>
              <a:t>       </a:t>
            </a: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7.6</a:t>
            </a:r>
            <a:r>
              <a:rPr lang="zh-CN" altLang="zh-CN">
                <a:solidFill>
                  <a:srgbClr val="FF0000"/>
                </a:solidFill>
                <a:latin typeface="Consolas" panose="020B0609020204030204" pitchFamily="49" charset="0"/>
                <a:ea typeface="楷体" panose="02010609060101010101" pitchFamily="49" charset="-122"/>
              </a:rPr>
              <a:t>】</a:t>
            </a:r>
            <a:r>
              <a:rPr lang="en-US" altLang="zh-CN">
                <a:solidFill>
                  <a:srgbClr val="FF0000"/>
                </a:solidFill>
                <a:latin typeface="Consolas" panose="020B0609020204030204" pitchFamily="49" charset="0"/>
                <a:ea typeface="楷体" panose="02010609060101010101" pitchFamily="49" charset="-122"/>
              </a:rPr>
              <a:t>=</a:t>
            </a:r>
            <a:r>
              <a:rPr lang="zh-CN" altLang="zh-CN">
                <a:solidFill>
                  <a:srgbClr val="FF0000"/>
                </a:solidFill>
                <a:latin typeface="Consolas" panose="020B0609020204030204" pitchFamily="49" charset="0"/>
                <a:ea typeface="楷体" panose="02010609060101010101" pitchFamily="49" charset="-122"/>
              </a:rPr>
              <a:t>【例</a:t>
            </a:r>
            <a:r>
              <a:rPr lang="en-US" altLang="zh-CN">
                <a:solidFill>
                  <a:srgbClr val="FF0000"/>
                </a:solidFill>
                <a:latin typeface="Consolas" panose="020B0609020204030204" pitchFamily="49" charset="0"/>
                <a:ea typeface="楷体" panose="02010609060101010101" pitchFamily="49" charset="-122"/>
              </a:rPr>
              <a:t>3.9</a:t>
            </a:r>
            <a:r>
              <a:rPr lang="zh-CN" altLang="zh-CN">
                <a:solidFill>
                  <a:srgbClr val="FF0000"/>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旅行计划</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LintCode1891</a:t>
            </a:r>
            <a:r>
              <a:rPr lang="zh-CN" altLang="zh-CN">
                <a:solidFill>
                  <a:srgbClr val="0000FF"/>
                </a:solidFill>
                <a:latin typeface="Consolas" panose="020B0609020204030204" pitchFamily="49" charset="0"/>
                <a:ea typeface="仿宋" panose="02010609060101010101" pitchFamily="49" charset="-122"/>
              </a:rPr>
              <a:t>★★）有</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）个城市，城市编号为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。给出邻接矩阵</a:t>
            </a:r>
            <a:r>
              <a:rPr lang="en-US" altLang="zh-CN">
                <a:solidFill>
                  <a:srgbClr val="0000FF"/>
                </a:solidFill>
                <a:latin typeface="Consolas" panose="020B0609020204030204" pitchFamily="49" charset="0"/>
                <a:ea typeface="仿宋" panose="02010609060101010101" pitchFamily="49" charset="-122"/>
              </a:rPr>
              <a:t>arr</a:t>
            </a:r>
            <a:r>
              <a:rPr lang="zh-CN" altLang="zh-CN">
                <a:solidFill>
                  <a:srgbClr val="0000FF"/>
                </a:solidFill>
                <a:latin typeface="Consolas" panose="020B0609020204030204" pitchFamily="49" charset="0"/>
                <a:ea typeface="仿宋" panose="02010609060101010101" pitchFamily="49" charset="-122"/>
              </a:rPr>
              <a:t>代表任意两个城市的距离，其中</a:t>
            </a:r>
            <a:r>
              <a:rPr lang="en-US" altLang="zh-CN">
                <a:solidFill>
                  <a:srgbClr val="0000FF"/>
                </a:solidFill>
                <a:latin typeface="Consolas" panose="020B0609020204030204" pitchFamily="49" charset="0"/>
                <a:ea typeface="仿宋" panose="02010609060101010101" pitchFamily="49" charset="-122"/>
              </a:rPr>
              <a:t>arr[</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arr[</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10000</a:t>
            </a:r>
            <a:r>
              <a:rPr lang="zh-CN" altLang="zh-CN">
                <a:solidFill>
                  <a:srgbClr val="0000FF"/>
                </a:solidFill>
                <a:latin typeface="Consolas" panose="020B0609020204030204" pitchFamily="49" charset="0"/>
                <a:ea typeface="仿宋" panose="02010609060101010101" pitchFamily="49" charset="-122"/>
              </a:rPr>
              <a:t>）表示从城市</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到城市</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的距离。</a:t>
            </a:r>
            <a:r>
              <a:rPr lang="en-US" altLang="zh-CN">
                <a:solidFill>
                  <a:srgbClr val="0000FF"/>
                </a:solidFill>
                <a:latin typeface="Consolas" panose="020B0609020204030204" pitchFamily="49" charset="0"/>
                <a:ea typeface="仿宋" panose="02010609060101010101" pitchFamily="49" charset="-122"/>
              </a:rPr>
              <a:t>Alice</a:t>
            </a:r>
            <a:r>
              <a:rPr lang="zh-CN" altLang="zh-CN">
                <a:solidFill>
                  <a:srgbClr val="0000FF"/>
                </a:solidFill>
                <a:latin typeface="Consolas" panose="020B0609020204030204" pitchFamily="49" charset="0"/>
                <a:ea typeface="仿宋" panose="02010609060101010101" pitchFamily="49" charset="-122"/>
              </a:rPr>
              <a:t>在周末制定了一个游玩计划，她从所在的</a:t>
            </a:r>
            <a:r>
              <a:rPr lang="zh-CN" altLang="zh-CN">
                <a:solidFill>
                  <a:srgbClr val="FF0000"/>
                </a:solidFill>
                <a:latin typeface="Consolas" panose="020B0609020204030204" pitchFamily="49" charset="0"/>
                <a:ea typeface="仿宋" panose="02010609060101010101" pitchFamily="49" charset="-122"/>
              </a:rPr>
              <a:t>城市</a:t>
            </a:r>
            <a:r>
              <a:rPr lang="en-US" altLang="zh-CN">
                <a:solidFill>
                  <a:srgbClr val="FF0000"/>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开始，游玩其他的</a:t>
            </a:r>
            <a:r>
              <a:rPr lang="en-US" altLang="zh-CN">
                <a:solidFill>
                  <a:srgbClr val="0000FF"/>
                </a:solidFill>
                <a:latin typeface="Consolas" panose="020B0609020204030204" pitchFamily="49" charset="0"/>
                <a:ea typeface="仿宋" panose="02010609060101010101" pitchFamily="49" charset="-122"/>
              </a:rPr>
              <a:t>1~</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的全部城市，最后回到城市</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Alice</a:t>
            </a:r>
            <a:r>
              <a:rPr lang="zh-CN" altLang="zh-CN">
                <a:solidFill>
                  <a:srgbClr val="0000FF"/>
                </a:solidFill>
                <a:latin typeface="Consolas" panose="020B0609020204030204" pitchFamily="49" charset="0"/>
                <a:ea typeface="仿宋" panose="02010609060101010101" pitchFamily="49" charset="-122"/>
              </a:rPr>
              <a:t>想知道她能完成游玩计划需要行走的最小距离，返回这个最小距离。除了城市</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之外每个城市都只能经过一次，且城市</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只能是起点和终点，</a:t>
            </a:r>
            <a:r>
              <a:rPr lang="en-US" altLang="zh-CN">
                <a:solidFill>
                  <a:srgbClr val="0000FF"/>
                </a:solidFill>
                <a:latin typeface="Consolas" panose="020B0609020204030204" pitchFamily="49" charset="0"/>
                <a:ea typeface="仿宋" panose="02010609060101010101" pitchFamily="49" charset="-122"/>
              </a:rPr>
              <a:t>Alice</a:t>
            </a:r>
            <a:r>
              <a:rPr lang="zh-CN" altLang="zh-CN">
                <a:solidFill>
                  <a:srgbClr val="0000FF"/>
                </a:solidFill>
                <a:latin typeface="Consolas" panose="020B0609020204030204" pitchFamily="49" charset="0"/>
                <a:ea typeface="仿宋" panose="02010609060101010101" pitchFamily="49" charset="-122"/>
              </a:rPr>
              <a:t>中途不可经过城市</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a:solidFill>
                  <a:srgbClr val="0000FF"/>
                </a:solidFill>
                <a:latin typeface="Consolas" panose="020B0609020204030204" pitchFamily="49" charset="0"/>
                <a:ea typeface="仿宋" panose="02010609060101010101" pitchFamily="49" charset="-122"/>
              </a:rPr>
              <a:t>arr={{0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，答案是</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，对应的路径是城市</a:t>
            </a:r>
            <a:r>
              <a:rPr lang="en-US" altLang="zh-CN">
                <a:solidFill>
                  <a:srgbClr val="0000FF"/>
                </a:solidFill>
                <a:latin typeface="Consolas" panose="020B0609020204030204" pitchFamily="49" charset="0"/>
                <a:ea typeface="仿宋" panose="02010609060101010101" pitchFamily="49" charset="-122"/>
              </a:rPr>
              <a:t>0-&gt;</a:t>
            </a:r>
            <a:r>
              <a:rPr lang="zh-CN" altLang="zh-CN">
                <a:solidFill>
                  <a:srgbClr val="0000FF"/>
                </a:solidFill>
                <a:latin typeface="Consolas" panose="020B0609020204030204" pitchFamily="49" charset="0"/>
                <a:ea typeface="仿宋" panose="02010609060101010101" pitchFamily="49" charset="-122"/>
              </a:rPr>
              <a:t>城市</a:t>
            </a:r>
            <a:r>
              <a:rPr lang="en-US" altLang="zh-CN">
                <a:solidFill>
                  <a:srgbClr val="0000FF"/>
                </a:solidFill>
                <a:latin typeface="Consolas" panose="020B0609020204030204" pitchFamily="49" charset="0"/>
                <a:ea typeface="仿宋" panose="02010609060101010101" pitchFamily="49" charset="-122"/>
              </a:rPr>
              <a:t>2-&gt;</a:t>
            </a:r>
            <a:r>
              <a:rPr lang="zh-CN" altLang="zh-CN">
                <a:solidFill>
                  <a:srgbClr val="0000FF"/>
                </a:solidFill>
                <a:latin typeface="Consolas" panose="020B0609020204030204" pitchFamily="49" charset="0"/>
                <a:ea typeface="仿宋" panose="02010609060101010101" pitchFamily="49" charset="-122"/>
              </a:rPr>
              <a:t>城市</a:t>
            </a:r>
            <a:r>
              <a:rPr lang="en-US" altLang="zh-CN">
                <a:solidFill>
                  <a:srgbClr val="0000FF"/>
                </a:solidFill>
                <a:latin typeface="Consolas" panose="020B0609020204030204" pitchFamily="49" charset="0"/>
                <a:ea typeface="仿宋" panose="02010609060101010101" pitchFamily="49" charset="-122"/>
              </a:rPr>
              <a:t>1-&gt;</a:t>
            </a:r>
            <a:r>
              <a:rPr lang="zh-CN" altLang="zh-CN">
                <a:solidFill>
                  <a:srgbClr val="0000FF"/>
                </a:solidFill>
                <a:latin typeface="Consolas" panose="020B0609020204030204" pitchFamily="49" charset="0"/>
                <a:ea typeface="仿宋" panose="02010609060101010101" pitchFamily="49" charset="-122"/>
              </a:rPr>
              <a:t>城市</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   </a:t>
            </a:r>
            <a:endParaRPr lang="zh-CN" altLang="zh-CN" sz="2000">
              <a:solidFill>
                <a:srgbClr val="006600"/>
              </a:solidFill>
              <a:latin typeface="Consolas" panose="020B0609020204030204" pitchFamily="49" charset="0"/>
              <a:ea typeface="仿宋" panose="02010609060101010101" pitchFamily="49" charset="-122"/>
            </a:endParaRPr>
          </a:p>
        </p:txBody>
      </p:sp>
      <p:grpSp>
        <p:nvGrpSpPr>
          <p:cNvPr id="2" name="组合 26"/>
          <p:cNvGrpSpPr/>
          <p:nvPr/>
        </p:nvGrpSpPr>
        <p:grpSpPr>
          <a:xfrm>
            <a:off x="3214678" y="5023214"/>
            <a:ext cx="2071702" cy="1477620"/>
            <a:chOff x="1928794" y="4880338"/>
            <a:chExt cx="2071702" cy="1477620"/>
          </a:xfrm>
        </p:grpSpPr>
        <p:sp>
          <p:nvSpPr>
            <p:cNvPr id="4" name="椭圆 3"/>
            <p:cNvSpPr/>
            <p:nvPr/>
          </p:nvSpPr>
          <p:spPr>
            <a:xfrm>
              <a:off x="1928794"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anose="020B0609020204030204" pitchFamily="49" charset="0"/>
                </a:rPr>
                <a:t>0</a:t>
              </a:r>
              <a:endParaRPr lang="zh-CN" altLang="en-US" sz="2000">
                <a:latin typeface="Consolas" panose="020B0609020204030204" pitchFamily="49" charset="0"/>
              </a:endParaRPr>
            </a:p>
          </p:txBody>
        </p:sp>
        <p:sp>
          <p:nvSpPr>
            <p:cNvPr id="5" name="椭圆 4"/>
            <p:cNvSpPr/>
            <p:nvPr/>
          </p:nvSpPr>
          <p:spPr>
            <a:xfrm>
              <a:off x="3571868"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anose="020B0609020204030204" pitchFamily="49" charset="0"/>
                </a:rPr>
                <a:t>1</a:t>
              </a:r>
              <a:endParaRPr lang="zh-CN" altLang="en-US" sz="2000">
                <a:latin typeface="Consolas" panose="020B0609020204030204" pitchFamily="49" charset="0"/>
              </a:endParaRPr>
            </a:p>
          </p:txBody>
        </p:sp>
        <p:sp>
          <p:nvSpPr>
            <p:cNvPr id="6" name="椭圆 5"/>
            <p:cNvSpPr/>
            <p:nvPr/>
          </p:nvSpPr>
          <p:spPr>
            <a:xfrm>
              <a:off x="2786050" y="5929330"/>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anose="020B0609020204030204" pitchFamily="49" charset="0"/>
                </a:rPr>
                <a:t>2</a:t>
              </a:r>
              <a:endParaRPr lang="zh-CN" altLang="en-US" sz="2000">
                <a:latin typeface="Consolas" panose="020B0609020204030204" pitchFamily="49" charset="0"/>
              </a:endParaRPr>
            </a:p>
          </p:txBody>
        </p:sp>
        <p:cxnSp>
          <p:nvCxnSpPr>
            <p:cNvPr id="8" name="直接箭头连接符 7"/>
            <p:cNvCxnSpPr/>
            <p:nvPr/>
          </p:nvCxnSpPr>
          <p:spPr>
            <a:xfrm>
              <a:off x="2357422" y="5218654"/>
              <a:ext cx="1214446"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16200000" flipH="1">
              <a:off x="2226917" y="5505665"/>
              <a:ext cx="554170" cy="554170"/>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2786050" y="528638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TextBox 12"/>
            <p:cNvSpPr txBox="1"/>
            <p:nvPr/>
          </p:nvSpPr>
          <p:spPr>
            <a:xfrm>
              <a:off x="2143108" y="5715016"/>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TextBox 13"/>
            <p:cNvSpPr txBox="1"/>
            <p:nvPr/>
          </p:nvSpPr>
          <p:spPr>
            <a:xfrm>
              <a:off x="2786050" y="488033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6" name="直接箭头连接符 15"/>
            <p:cNvCxnSpPr/>
            <p:nvPr/>
          </p:nvCxnSpPr>
          <p:spPr>
            <a:xfrm rot="10800000">
              <a:off x="2357422" y="5308966"/>
              <a:ext cx="1214446" cy="1588"/>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p:nvPr/>
          </p:nvCxnSpPr>
          <p:spPr>
            <a:xfrm rot="5400000">
              <a:off x="3082321" y="5451072"/>
              <a:ext cx="554170" cy="482732"/>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3109373" y="5444257"/>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1" name="TextBox 20"/>
            <p:cNvSpPr txBox="1"/>
            <p:nvPr/>
          </p:nvSpPr>
          <p:spPr>
            <a:xfrm>
              <a:off x="2545454" y="5500702"/>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2" name="TextBox 21"/>
            <p:cNvSpPr txBox="1"/>
            <p:nvPr/>
          </p:nvSpPr>
          <p:spPr>
            <a:xfrm>
              <a:off x="3357554" y="564357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4" name="直接箭头连接符 23"/>
            <p:cNvCxnSpPr>
              <a:stCxn id="6" idx="1"/>
              <a:endCxn id="4" idx="5"/>
            </p:cNvCxnSpPr>
            <p:nvPr/>
          </p:nvCxnSpPr>
          <p:spPr>
            <a:xfrm rot="16200000" flipV="1">
              <a:off x="2294651" y="5437931"/>
              <a:ext cx="554170" cy="554170"/>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flipH="1" flipV="1">
              <a:off x="3138766" y="5518806"/>
              <a:ext cx="554170" cy="482732"/>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23" name="灯片编号占位符 22"/>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25" name="组合 24"/>
          <p:cNvGrpSpPr/>
          <p:nvPr/>
        </p:nvGrpSpPr>
        <p:grpSpPr>
          <a:xfrm>
            <a:off x="357158" y="26971"/>
            <a:ext cx="1041400" cy="1044575"/>
            <a:chOff x="857224" y="1071546"/>
            <a:chExt cx="1041400" cy="1044575"/>
          </a:xfrm>
        </p:grpSpPr>
        <p:sp>
          <p:nvSpPr>
            <p:cNvPr id="2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2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48" y="1422679"/>
            <a:ext cx="8001056" cy="8874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采用与前面求解</a:t>
            </a:r>
            <a:r>
              <a:rPr lang="zh-CN" altLang="en-US">
                <a:solidFill>
                  <a:srgbClr val="0000FF"/>
                </a:solidFill>
                <a:latin typeface="Consolas" panose="020B0609020204030204" pitchFamily="49" charset="0"/>
                <a:ea typeface="仿宋" panose="02010609060101010101" pitchFamily="49" charset="-122"/>
              </a:rPr>
              <a:t>旅行商</a:t>
            </a:r>
            <a:r>
              <a:rPr lang="zh-CN" altLang="zh-CN">
                <a:solidFill>
                  <a:srgbClr val="0000FF"/>
                </a:solidFill>
                <a:latin typeface="Consolas" panose="020B0609020204030204" pitchFamily="49" charset="0"/>
                <a:ea typeface="仿宋" panose="02010609060101010101" pitchFamily="49" charset="-122"/>
              </a:rPr>
              <a:t>问题完全相同的思路，设置起始顶点</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=0</a:t>
            </a:r>
            <a:r>
              <a:rPr lang="zh-CN" altLang="en-US">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714348" y="3374384"/>
            <a:ext cx="8143932" cy="98331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]=A[0][</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a:t>
            </a:r>
            <a:r>
              <a:rPr lang="en-US" altLang="zh-CN" sz="2000">
                <a:solidFill>
                  <a:srgbClr val="00B0F0"/>
                </a:solidFill>
                <a:latin typeface="Consolas" panose="020B0609020204030204" pitchFamily="49" charset="0"/>
                <a:ea typeface="仿宋" panose="02010609060101010101" pitchFamily="49" charset="-122"/>
              </a:rPr>
              <a:t>V={</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时（</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mn-ea"/>
              </a:rPr>
              <a:t>≤</a:t>
            </a:r>
            <a:r>
              <a:rPr lang="en-US" altLang="zh-CN" sz="2000" i="1">
                <a:solidFill>
                  <a:srgbClr val="00B0F0"/>
                </a:solidFill>
                <a:latin typeface="Consolas" panose="020B0609020204030204" pitchFamily="49" charset="0"/>
                <a:ea typeface="仿宋" panose="02010609060101010101" pitchFamily="49" charset="-122"/>
              </a:rPr>
              <a:t>i</a:t>
            </a:r>
            <a:r>
              <a:rPr lang="en-US" altLang="zh-CN" sz="2000">
                <a:solidFill>
                  <a:srgbClr val="00B0F0"/>
                </a:solidFill>
                <a:latin typeface="Consolas" panose="020B0609020204030204" pitchFamily="49" charset="0"/>
                <a:ea typeface="仿宋" panose="02010609060101010101" pitchFamily="49" charset="-122"/>
              </a:rPr>
              <a:t>&lt;</a:t>
            </a:r>
            <a:r>
              <a:rPr lang="en-US" altLang="zh-CN" sz="2000" i="1">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600"/>
              </a:spcBef>
            </a:pP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a:solidFill>
                  <a:srgbClr val="FF0000"/>
                </a:solidFill>
                <a:latin typeface="Consolas" panose="020B0609020204030204" pitchFamily="49" charset="0"/>
                <a:ea typeface="仿宋" panose="02010609060101010101" pitchFamily="49" charset="-122"/>
              </a:rPr>
              <a:t>min</a:t>
            </a:r>
            <a:r>
              <a:rPr lang="en-US" altLang="zh-CN" sz="2000" i="1" baseline="-25000">
                <a:solidFill>
                  <a:srgbClr val="0000FF"/>
                </a:solidFill>
                <a:latin typeface="Consolas" panose="020B0609020204030204" pitchFamily="49" charset="0"/>
                <a:ea typeface="仿宋" panose="02010609060101010101" pitchFamily="49" charset="-122"/>
              </a:rPr>
              <a:t> i</a:t>
            </a:r>
            <a:r>
              <a:rPr lang="en-US" altLang="zh-CN" sz="2000" baseline="-25000">
                <a:solidFill>
                  <a:srgbClr val="0000FF"/>
                </a:solidFill>
                <a:latin typeface="Consolas" panose="020B0609020204030204" pitchFamily="49" charset="0"/>
                <a:ea typeface="仿宋" panose="02010609060101010101" pitchFamily="49" charset="-122"/>
                <a:sym typeface="Symbol" panose="05050102010706020507"/>
              </a:rPr>
              <a:t></a:t>
            </a:r>
            <a:r>
              <a:rPr lang="en-US" altLang="zh-CN" sz="2000" baseline="-25000">
                <a:solidFill>
                  <a:srgbClr val="0000FF"/>
                </a:solidFill>
                <a:latin typeface="Consolas" panose="020B0609020204030204" pitchFamily="49" charset="0"/>
                <a:ea typeface="仿宋" panose="02010609060101010101" pitchFamily="49" charset="-122"/>
              </a:rPr>
              <a:t>V</a:t>
            </a:r>
            <a:r>
              <a:rPr lang="zh-CN" altLang="zh-CN" sz="2000" baseline="-25000">
                <a:solidFill>
                  <a:srgbClr val="0000FF"/>
                </a:solidFill>
                <a:latin typeface="Consolas" panose="020B0609020204030204" pitchFamily="49" charset="0"/>
                <a:ea typeface="仿宋" panose="02010609060101010101" pitchFamily="49" charset="-122"/>
              </a:rPr>
              <a:t>且</a:t>
            </a:r>
            <a:r>
              <a:rPr lang="en-US" altLang="zh-CN" sz="2000" i="1" baseline="-25000">
                <a:solidFill>
                  <a:srgbClr val="0000FF"/>
                </a:solidFill>
                <a:latin typeface="Consolas" panose="020B0609020204030204" pitchFamily="49" charset="0"/>
                <a:ea typeface="仿宋" panose="02010609060101010101" pitchFamily="49" charset="-122"/>
              </a:rPr>
              <a:t>j</a:t>
            </a:r>
            <a:r>
              <a:rPr lang="en-US" altLang="zh-CN" sz="2000" baseline="-25000">
                <a:solidFill>
                  <a:srgbClr val="0000FF"/>
                </a:solidFill>
                <a:latin typeface="Consolas" panose="020B0609020204030204" pitchFamily="49" charset="0"/>
                <a:ea typeface="仿宋" panose="02010609060101010101" pitchFamily="49" charset="-122"/>
                <a:sym typeface="Symbol" panose="05050102010706020507"/>
              </a:rPr>
              <a:t></a:t>
            </a:r>
            <a:r>
              <a:rPr lang="en-US" altLang="zh-CN" sz="2000" baseline="-25000">
                <a:solidFill>
                  <a:srgbClr val="0000FF"/>
                </a:solidFill>
                <a:latin typeface="Consolas" panose="020B0609020204030204" pitchFamily="49" charset="0"/>
                <a:ea typeface="仿宋" panose="02010609060101010101" pitchFamily="49" charset="-122"/>
              </a:rPr>
              <a:t>V</a:t>
            </a:r>
            <a:r>
              <a:rPr lang="en-US" altLang="zh-CN" sz="2000">
                <a:solidFill>
                  <a:srgbClr val="0000FF"/>
                </a:solidFill>
                <a:latin typeface="Consolas" panose="020B0609020204030204" pitchFamily="49" charset="0"/>
                <a:ea typeface="仿宋" panose="02010609060101010101" pitchFamily="49" charset="-122"/>
              </a:rPr>
              <a:t>{dp[V-{</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a:t>
            </a:r>
            <a:r>
              <a:rPr lang="en-US" altLang="zh-CN" sz="2000" i="1">
                <a:solidFill>
                  <a:srgbClr val="0000FF"/>
                </a:solidFill>
                <a:latin typeface="Consolas" panose="020B0609020204030204" pitchFamily="49" charset="0"/>
                <a:ea typeface="仿宋" panose="02010609060101010101" pitchFamily="49" charset="-122"/>
              </a:rPr>
              <a:t>j</a:t>
            </a:r>
            <a:r>
              <a:rPr lang="en-US" altLang="zh-CN" sz="2000">
                <a:solidFill>
                  <a:srgbClr val="0000FF"/>
                </a:solidFill>
                <a:latin typeface="Consolas" panose="020B0609020204030204" pitchFamily="49" charset="0"/>
                <a:ea typeface="仿宋" panose="02010609060101010101" pitchFamily="49" charset="-122"/>
              </a:rPr>
              <a:t>][</a:t>
            </a:r>
            <a:r>
              <a:rPr lang="en-US" altLang="zh-CN" sz="2000" i="1">
                <a:solidFill>
                  <a:srgbClr val="0000FF"/>
                </a:solidFill>
                <a:latin typeface="Consolas" panose="020B0609020204030204" pitchFamily="49" charset="0"/>
                <a:ea typeface="仿宋" panose="02010609060101010101" pitchFamily="49" charset="-122"/>
              </a:rPr>
              <a:t>i</a:t>
            </a: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其他</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7" name="TextBox 6"/>
          <p:cNvSpPr txBox="1"/>
          <p:nvPr/>
        </p:nvSpPr>
        <p:spPr>
          <a:xfrm>
            <a:off x="714348" y="2660004"/>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楷体" panose="02010609060101010101" pitchFamily="49" charset="-122"/>
              </a:rPr>
              <a:t>状态转移方程</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9"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59690"/>
            <a:ext cx="8643998"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const int INF=0x3f3f3f3f;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表示</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travelPlan</a:t>
            </a:r>
            <a:r>
              <a:rPr lang="en-US" altLang="zh-CN" sz="2000">
                <a:solidFill>
                  <a:srgbClr val="0000FF"/>
                </a:solidFill>
                <a:latin typeface="Consolas" panose="020B0609020204030204" pitchFamily="49" charset="0"/>
                <a:ea typeface="仿宋" panose="02010609060101010101" pitchFamily="49" charset="-122"/>
              </a:rPr>
              <a:t>(vector&lt;vector&lt;int&gt;&gt; &amp;arr)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t>
            </a:r>
            <a:r>
              <a:rPr lang="en-US" altLang="zh-CN" sz="2000">
                <a:solidFill>
                  <a:srgbClr val="FF0000"/>
                </a:solidFill>
                <a:latin typeface="Consolas" panose="020B0609020204030204" pitchFamily="49" charset="0"/>
                <a:ea typeface="仿宋" panose="02010609060101010101" pitchFamily="49" charset="-122"/>
              </a:rPr>
              <a:t>TSP</a:t>
            </a:r>
            <a:r>
              <a:rPr lang="en-US" altLang="zh-CN" sz="2000">
                <a:solidFill>
                  <a:srgbClr val="0000FF"/>
                </a:solidFill>
                <a:latin typeface="Consolas" panose="020B0609020204030204" pitchFamily="49" charset="0"/>
                <a:ea typeface="仿宋" panose="02010609060101010101" pitchFamily="49" charset="-122"/>
              </a:rPr>
              <a:t>(arr);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056455"/>
            <a:ext cx="8643998"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TSP</a:t>
            </a:r>
            <a:r>
              <a:rPr lang="en-US" altLang="zh-CN" sz="2000">
                <a:solidFill>
                  <a:srgbClr val="0000FF"/>
                </a:solidFill>
                <a:latin typeface="Consolas" panose="020B0609020204030204" pitchFamily="49" charset="0"/>
                <a:ea typeface="仿宋" panose="02010609060101010101" pitchFamily="49" charset="-122"/>
              </a:rPr>
              <a:t>(vector&lt;vector&lt;int&gt;&gt; &amp;A)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TSP</a:t>
            </a:r>
            <a:r>
              <a:rPr lang="zh-CN" altLang="zh-CN" sz="2000">
                <a:solidFill>
                  <a:srgbClr val="00B0F0"/>
                </a:solidFill>
                <a:latin typeface="Consolas" panose="020B0609020204030204" pitchFamily="49" charset="0"/>
                <a:ea typeface="仿宋" panose="02010609060101010101" pitchFamily="49" charset="-122"/>
              </a:rPr>
              <a:t>问题（起始点为</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vector&lt;vector&lt;int&gt;&gt;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dp=vector&lt;vector&lt;int&gt;&gt;(1&lt;&lt;n,vector&lt;int&gt;(n,INF));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均设置为∞</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dp[0][0]=0;</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for(int V=0;V&lt;(1&lt;&lt;(n-1));V++)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1</a:t>
            </a:r>
            <a:r>
              <a:rPr lang="zh-CN" altLang="zh-CN" sz="2000">
                <a:solidFill>
                  <a:srgbClr val="00B0F0"/>
                </a:solidFill>
                <a:latin typeface="Consolas" panose="020B0609020204030204" pitchFamily="49" charset="0"/>
                <a:ea typeface="仿宋" panose="02010609060101010101" pitchFamily="49" charset="-122"/>
              </a:rPr>
              <a:t>到</a:t>
            </a:r>
            <a:r>
              <a:rPr lang="en-US" altLang="zh-CN" sz="2000">
                <a:solidFill>
                  <a:srgbClr val="00B0F0"/>
                </a:solidFill>
                <a:latin typeface="Consolas" panose="020B0609020204030204" pitchFamily="49" charset="0"/>
                <a:ea typeface="仿宋" panose="02010609060101010101" pitchFamily="49" charset="-122"/>
              </a:rPr>
              <a:t>n-1</a:t>
            </a:r>
            <a:r>
              <a:rPr lang="zh-CN" altLang="zh-CN" sz="2000">
                <a:solidFill>
                  <a:srgbClr val="00B0F0"/>
                </a:solidFill>
                <a:latin typeface="Consolas" panose="020B0609020204030204" pitchFamily="49" charset="0"/>
                <a:ea typeface="仿宋" panose="02010609060101010101" pitchFamily="49" charset="-122"/>
              </a:rPr>
              <a:t>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(V,i))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在</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if(V==(1&lt;&lt;(i-1))) {  		</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中只有一个顶点</a:t>
            </a:r>
            <a:r>
              <a:rPr lang="en-US" altLang="zh-CN" sz="2000">
                <a:solidFill>
                  <a:srgbClr val="00B0F0"/>
                </a:solidFill>
                <a:latin typeface="Consolas" panose="020B0609020204030204" pitchFamily="49" charset="0"/>
                <a:ea typeface="仿宋" panose="02010609060101010101" pitchFamily="49" charset="-122"/>
              </a:rPr>
              <a:t>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dp[V][i]=min(dp[V][i],A[0][i]);</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else {    							</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中有多个顶点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int V1=</a:t>
            </a:r>
            <a:r>
              <a:rPr lang="en-US" altLang="zh-CN" sz="2000">
                <a:solidFill>
                  <a:srgbClr val="FF0000"/>
                </a:solidFill>
                <a:latin typeface="Consolas" panose="020B0609020204030204" pitchFamily="49" charset="0"/>
                <a:ea typeface="仿宋" panose="02010609060101010101" pitchFamily="49" charset="-122"/>
              </a:rPr>
              <a:t>delj</a:t>
            </a:r>
            <a:r>
              <a:rPr lang="en-US" altLang="zh-CN" sz="2000">
                <a:solidFill>
                  <a:srgbClr val="0000FF"/>
                </a:solidFill>
                <a:latin typeface="Consolas" panose="020B0609020204030204" pitchFamily="49" charset="0"/>
                <a:ea typeface="仿宋" panose="02010609060101010101" pitchFamily="49" charset="-122"/>
              </a:rPr>
              <a:t>(V,i);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中删除顶点</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得到</a:t>
            </a:r>
            <a:r>
              <a:rPr lang="en-US" altLang="zh-CN" sz="2000">
                <a:solidFill>
                  <a:srgbClr val="00B0F0"/>
                </a:solidFill>
                <a:latin typeface="Consolas" panose="020B0609020204030204" pitchFamily="49" charset="0"/>
                <a:ea typeface="仿宋" panose="02010609060101010101" pitchFamily="49" charset="-122"/>
              </a:rPr>
              <a:t>V1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j=1;j&lt;n;j++)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(V1,j))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在</a:t>
            </a:r>
            <a:r>
              <a:rPr lang="en-US" altLang="zh-CN" sz="2000">
                <a:solidFill>
                  <a:srgbClr val="00B0F0"/>
                </a:solidFill>
                <a:latin typeface="Consolas" panose="020B0609020204030204" pitchFamily="49" charset="0"/>
                <a:ea typeface="仿宋" panose="02010609060101010101" pitchFamily="49" charset="-122"/>
              </a:rPr>
              <a:t>V1</a:t>
            </a:r>
            <a:r>
              <a:rPr lang="zh-CN" altLang="zh-CN" sz="2000">
                <a:solidFill>
                  <a:srgbClr val="00B0F0"/>
                </a:solidFill>
                <a:latin typeface="Consolas" panose="020B0609020204030204" pitchFamily="49" charset="0"/>
                <a:ea typeface="仿宋" panose="02010609060101010101" pitchFamily="49" charset="-122"/>
              </a:rPr>
              <a:t>中</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dp[V][i]=min(dp[V][i],dp[V1][j]+A[j][i]);</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5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59690"/>
            <a:ext cx="8643998"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ans=INF;</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求答案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ans=min(ans,dp[(1&lt;&lt;(n-1))-1][i]+A[i][0]);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4" name="组合 9"/>
          <p:cNvGrpSpPr/>
          <p:nvPr/>
        </p:nvGrpSpPr>
        <p:grpSpPr>
          <a:xfrm>
            <a:off x="714348" y="3857628"/>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41ms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4.25MB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85984" y="285728"/>
            <a:ext cx="44949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7.12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最少士兵数问题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00034" y="1518382"/>
            <a:ext cx="8072494" cy="310918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zh-CN">
                <a:solidFill>
                  <a:srgbClr val="FF0000"/>
                </a:solidFill>
                <a:latin typeface="Consolas" panose="020B0609020204030204" pitchFamily="49" charset="0"/>
                <a:ea typeface="楷体" panose="02010609060101010101" pitchFamily="49" charset="-122"/>
              </a:rPr>
              <a:t>问题描述</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POJ1463</a:t>
            </a:r>
            <a:r>
              <a:rPr lang="zh-CN" altLang="zh-CN">
                <a:solidFill>
                  <a:srgbClr val="0000FF"/>
                </a:solidFill>
                <a:latin typeface="Consolas" panose="020B0609020204030204" pitchFamily="49" charset="0"/>
                <a:ea typeface="仿宋" panose="02010609060101010101" pitchFamily="49" charset="-122"/>
              </a:rPr>
              <a:t>，时间限制为</a:t>
            </a:r>
            <a:r>
              <a:rPr lang="en-US" altLang="zh-CN">
                <a:solidFill>
                  <a:srgbClr val="0000FF"/>
                </a:solidFill>
                <a:latin typeface="Consolas" panose="020B0609020204030204" pitchFamily="49" charset="0"/>
                <a:ea typeface="仿宋" panose="02010609060101010101" pitchFamily="49" charset="-122"/>
              </a:rPr>
              <a:t>2000ms</a:t>
            </a:r>
            <a:r>
              <a:rPr lang="zh-CN" altLang="zh-CN">
                <a:solidFill>
                  <a:srgbClr val="0000FF"/>
                </a:solidFill>
                <a:latin typeface="Consolas" panose="020B0609020204030204" pitchFamily="49" charset="0"/>
                <a:ea typeface="仿宋" panose="02010609060101010101" pitchFamily="49" charset="-122"/>
              </a:rPr>
              <a:t>，内存限制为</a:t>
            </a:r>
            <a:r>
              <a:rPr lang="en-US" altLang="zh-CN">
                <a:solidFill>
                  <a:srgbClr val="0000FF"/>
                </a:solidFill>
                <a:latin typeface="Consolas" panose="020B0609020204030204" pitchFamily="49" charset="0"/>
                <a:ea typeface="仿宋" panose="02010609060101010101" pitchFamily="49" charset="-122"/>
              </a:rPr>
              <a:t>10000KB</a:t>
            </a:r>
            <a:r>
              <a:rPr lang="zh-CN" altLang="zh-CN">
                <a:solidFill>
                  <a:srgbClr val="0000FF"/>
                </a:solidFill>
                <a:latin typeface="Consolas" panose="020B0609020204030204" pitchFamily="49" charset="0"/>
                <a:ea typeface="仿宋" panose="02010609060101010101" pitchFamily="49" charset="-122"/>
              </a:rPr>
              <a:t>）：有一座中世纪的城市，其道路构成一棵树，为了保卫城市，必须在道路结点上放置一定数量的士兵（每个结点处最多只能放置一个士兵），以便他们可以观察所有边缘。给定一棵树，求需要放置的最少士兵数。</a:t>
            </a:r>
            <a:endParaRPr lang="en-US" altLang="zh-CN">
              <a:solidFill>
                <a:srgbClr val="0000FF"/>
              </a:solidFill>
              <a:latin typeface="Consolas" panose="020B0609020204030204" pitchFamily="49" charset="0"/>
              <a:ea typeface="仿宋" panose="02010609060101010101" pitchFamily="49" charset="-122"/>
            </a:endParaRPr>
          </a:p>
          <a:p>
            <a:pPr algn="l">
              <a:lnSpc>
                <a:spcPts val="3400"/>
              </a:lnSpc>
              <a:spcBef>
                <a:spcPts val="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例如，对于如图所示的一棵树，答案为</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，即最少在结点</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放置一个士兵，这样可以观察所有边缘。</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831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8312" name="Oval 8"/>
          <p:cNvSpPr>
            <a:spLocks noChangeArrowheads="1"/>
          </p:cNvSpPr>
          <p:nvPr/>
        </p:nvSpPr>
        <p:spPr bwMode="auto">
          <a:xfrm>
            <a:off x="3988986" y="4741697"/>
            <a:ext cx="430930" cy="365766"/>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8311" name="Oval 7"/>
          <p:cNvSpPr>
            <a:spLocks noChangeArrowheads="1"/>
          </p:cNvSpPr>
          <p:nvPr/>
        </p:nvSpPr>
        <p:spPr bwMode="auto">
          <a:xfrm>
            <a:off x="3988986" y="5351665"/>
            <a:ext cx="430930" cy="365766"/>
          </a:xfrm>
          <a:prstGeom prst="ellipse">
            <a:avLst/>
          </a:prstGeom>
          <a:solidFill>
            <a:srgbClr val="FF0000"/>
          </a:solidFill>
          <a:ln w="9525">
            <a:solidFill>
              <a:srgbClr val="000000"/>
            </a:solidFill>
            <a:round/>
            <a:tailEnd type="none" w="sm" len="sm"/>
          </a:ln>
        </p:spPr>
        <p:txBody>
          <a:bodyPr vert="horz" wrap="square" lIns="0" tIns="1080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bg1"/>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8310" name="Oval 6"/>
          <p:cNvSpPr>
            <a:spLocks noChangeArrowheads="1"/>
          </p:cNvSpPr>
          <p:nvPr/>
        </p:nvSpPr>
        <p:spPr bwMode="auto">
          <a:xfrm>
            <a:off x="3582917" y="5920754"/>
            <a:ext cx="430930" cy="365766"/>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8309" name="Oval 5"/>
          <p:cNvSpPr>
            <a:spLocks noChangeArrowheads="1"/>
          </p:cNvSpPr>
          <p:nvPr/>
        </p:nvSpPr>
        <p:spPr bwMode="auto">
          <a:xfrm>
            <a:off x="4415773" y="5920754"/>
            <a:ext cx="430930" cy="365766"/>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8308" name="AutoShape 4"/>
          <p:cNvSpPr>
            <a:spLocks noChangeShapeType="1"/>
          </p:cNvSpPr>
          <p:nvPr/>
        </p:nvSpPr>
        <p:spPr bwMode="auto">
          <a:xfrm>
            <a:off x="4204451" y="5107463"/>
            <a:ext cx="1381" cy="24420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200"/>
              </a:lnSpc>
            </a:pPr>
            <a:endParaRPr lang="zh-CN" altLang="en-US" sz="2000">
              <a:solidFill>
                <a:srgbClr val="0000FF"/>
              </a:solidFill>
              <a:latin typeface="Consolas" panose="020B0609020204030204" pitchFamily="49" charset="0"/>
            </a:endParaRPr>
          </a:p>
        </p:txBody>
      </p:sp>
      <p:sp>
        <p:nvSpPr>
          <p:cNvPr id="98307" name="AutoShape 3"/>
          <p:cNvSpPr>
            <a:spLocks noChangeShapeType="1"/>
          </p:cNvSpPr>
          <p:nvPr/>
        </p:nvSpPr>
        <p:spPr bwMode="auto">
          <a:xfrm flipH="1">
            <a:off x="3798382" y="5663642"/>
            <a:ext cx="254138" cy="25711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200"/>
              </a:lnSpc>
            </a:pPr>
            <a:endParaRPr lang="zh-CN" altLang="en-US" sz="2000">
              <a:solidFill>
                <a:srgbClr val="0000FF"/>
              </a:solidFill>
              <a:latin typeface="Consolas" panose="020B0609020204030204" pitchFamily="49" charset="0"/>
            </a:endParaRPr>
          </a:p>
        </p:txBody>
      </p:sp>
      <p:sp>
        <p:nvSpPr>
          <p:cNvPr id="98306" name="AutoShape 2"/>
          <p:cNvSpPr>
            <a:spLocks noChangeShapeType="1"/>
          </p:cNvSpPr>
          <p:nvPr/>
        </p:nvSpPr>
        <p:spPr bwMode="auto">
          <a:xfrm>
            <a:off x="4356382" y="5663642"/>
            <a:ext cx="274856" cy="25711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200"/>
              </a:lnSpc>
            </a:pPr>
            <a:endParaRPr lang="zh-CN" altLang="en-US" sz="2000">
              <a:solidFill>
                <a:srgbClr val="0000FF"/>
              </a:solidFill>
              <a:latin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grpSp>
        <p:nvGrpSpPr>
          <p:cNvPr id="14" name="组合 13"/>
          <p:cNvGrpSpPr/>
          <p:nvPr/>
        </p:nvGrpSpPr>
        <p:grpSpPr>
          <a:xfrm>
            <a:off x="714348" y="312723"/>
            <a:ext cx="1041400" cy="1044575"/>
            <a:chOff x="857224" y="1071546"/>
            <a:chExt cx="1041400" cy="1044575"/>
          </a:xfrm>
        </p:grpSpPr>
        <p:sp>
          <p:nvSpPr>
            <p:cNvPr id="15"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16"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00042"/>
            <a:ext cx="8572560" cy="5529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200"/>
              </a:lnSpc>
              <a:spcBef>
                <a:spcPts val="1200"/>
              </a:spcBef>
            </a:pPr>
            <a:r>
              <a:rPr lang="zh-CN" altLang="zh-CN">
                <a:solidFill>
                  <a:srgbClr val="FF0000"/>
                </a:solidFill>
                <a:latin typeface="Consolas" panose="020B0609020204030204" pitchFamily="49" charset="0"/>
                <a:ea typeface="仿宋" panose="02010609060101010101" pitchFamily="49" charset="-122"/>
              </a:rPr>
              <a:t>输入格式</a:t>
            </a:r>
            <a:r>
              <a:rPr lang="zh-CN" altLang="zh-CN">
                <a:solidFill>
                  <a:srgbClr val="0000FF"/>
                </a:solidFill>
                <a:latin typeface="Consolas" panose="020B0609020204030204" pitchFamily="49" charset="0"/>
                <a:ea typeface="仿宋" panose="02010609060101010101" pitchFamily="49" charset="-122"/>
              </a:rPr>
              <a:t>：输入包含多个测试用例。每个测试用例代表一棵树，其描述如下：</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第一行是结点个数</a:t>
            </a:r>
            <a:r>
              <a:rPr lang="en-US" altLang="zh-CN" i="1">
                <a:solidFill>
                  <a:srgbClr val="006600"/>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0&lt;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mn-ea"/>
              </a:rPr>
              <a:t>≤</a:t>
            </a:r>
            <a:r>
              <a:rPr lang="en-US" altLang="zh-CN">
                <a:solidFill>
                  <a:srgbClr val="0000FF"/>
                </a:solidFill>
                <a:latin typeface="Consolas" panose="020B0609020204030204" pitchFamily="49" charset="0"/>
                <a:ea typeface="仿宋" panose="02010609060101010101" pitchFamily="49" charset="-122"/>
              </a:rPr>
              <a:t>1500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个结点编号为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），接下来</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行，每行的格式为：</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en-US" altLang="zh-CN" sz="2000">
                <a:solidFill>
                  <a:srgbClr val="006600"/>
                </a:solidFill>
                <a:latin typeface="Consolas" panose="020B0609020204030204" pitchFamily="49" charset="0"/>
                <a:ea typeface="仿宋" panose="02010609060101010101" pitchFamily="49" charset="-122"/>
              </a:rPr>
              <a:t>   </a:t>
            </a:r>
            <a:r>
              <a:rPr lang="zh-CN" altLang="zh-CN" sz="2000">
                <a:solidFill>
                  <a:srgbClr val="006600"/>
                </a:solidFill>
                <a:latin typeface="Consolas" panose="020B0609020204030204" pitchFamily="49" charset="0"/>
                <a:ea typeface="仿宋" panose="02010609060101010101" pitchFamily="49" charset="-122"/>
              </a:rPr>
              <a:t>结点编号</a:t>
            </a:r>
            <a:r>
              <a:rPr lang="en-US" altLang="zh-CN" sz="2000">
                <a:solidFill>
                  <a:srgbClr val="006600"/>
                </a:solidFill>
                <a:latin typeface="Consolas" panose="020B0609020204030204" pitchFamily="49" charset="0"/>
                <a:ea typeface="仿宋" panose="02010609060101010101" pitchFamily="49" charset="-122"/>
              </a:rPr>
              <a:t>(</a:t>
            </a:r>
            <a:r>
              <a:rPr lang="zh-CN" altLang="zh-CN" sz="2000">
                <a:solidFill>
                  <a:srgbClr val="006600"/>
                </a:solidFill>
                <a:latin typeface="Consolas" panose="020B0609020204030204" pitchFamily="49" charset="0"/>
                <a:ea typeface="仿宋" panose="02010609060101010101" pitchFamily="49" charset="-122"/>
              </a:rPr>
              <a:t>子结点个数</a:t>
            </a:r>
            <a:r>
              <a:rPr lang="en-US" altLang="zh-CN" sz="2000" i="1">
                <a:solidFill>
                  <a:srgbClr val="006600"/>
                </a:solidFill>
                <a:latin typeface="Consolas" panose="020B0609020204030204" pitchFamily="49" charset="0"/>
                <a:ea typeface="仿宋" panose="02010609060101010101" pitchFamily="49" charset="-122"/>
              </a:rPr>
              <a:t>m</a:t>
            </a:r>
            <a:r>
              <a:rPr lang="en-US" altLang="zh-CN" sz="2000">
                <a:solidFill>
                  <a:srgbClr val="006600"/>
                </a:solidFill>
                <a:latin typeface="Consolas" panose="020B0609020204030204" pitchFamily="49" charset="0"/>
                <a:ea typeface="仿宋" panose="02010609060101010101" pitchFamily="49" charset="-122"/>
              </a:rPr>
              <a:t>) </a:t>
            </a:r>
            <a:r>
              <a:rPr lang="zh-CN" altLang="zh-CN" sz="2000">
                <a:solidFill>
                  <a:srgbClr val="006600"/>
                </a:solidFill>
                <a:latin typeface="Consolas" panose="020B0609020204030204" pitchFamily="49" charset="0"/>
                <a:ea typeface="仿宋" panose="02010609060101010101" pitchFamily="49" charset="-122"/>
              </a:rPr>
              <a:t>子结点</a:t>
            </a:r>
            <a:r>
              <a:rPr lang="en-US" altLang="zh-CN" sz="2000">
                <a:solidFill>
                  <a:srgbClr val="006600"/>
                </a:solidFill>
                <a:latin typeface="Consolas" panose="020B0609020204030204" pitchFamily="49" charset="0"/>
                <a:ea typeface="仿宋" panose="02010609060101010101" pitchFamily="49" charset="-122"/>
              </a:rPr>
              <a:t>1</a:t>
            </a:r>
            <a:r>
              <a:rPr lang="zh-CN" altLang="zh-CN" sz="2000">
                <a:solidFill>
                  <a:srgbClr val="006600"/>
                </a:solidFill>
                <a:latin typeface="Consolas" panose="020B0609020204030204" pitchFamily="49" charset="0"/>
                <a:ea typeface="仿宋" panose="02010609060101010101" pitchFamily="49" charset="-122"/>
              </a:rPr>
              <a:t>编号 子结点</a:t>
            </a:r>
            <a:r>
              <a:rPr lang="en-US" altLang="zh-CN" sz="2000">
                <a:solidFill>
                  <a:srgbClr val="006600"/>
                </a:solidFill>
                <a:latin typeface="Consolas" panose="020B0609020204030204" pitchFamily="49" charset="0"/>
                <a:ea typeface="仿宋" panose="02010609060101010101" pitchFamily="49" charset="-122"/>
              </a:rPr>
              <a:t>2</a:t>
            </a:r>
            <a:r>
              <a:rPr lang="zh-CN" altLang="zh-CN" sz="2000">
                <a:solidFill>
                  <a:srgbClr val="006600"/>
                </a:solidFill>
                <a:latin typeface="Consolas" panose="020B0609020204030204" pitchFamily="49" charset="0"/>
                <a:ea typeface="仿宋" panose="02010609060101010101" pitchFamily="49" charset="-122"/>
              </a:rPr>
              <a:t>编号</a:t>
            </a:r>
            <a:r>
              <a:rPr lang="zh-CN" altLang="zh-CN" sz="2000">
                <a:solidFill>
                  <a:srgbClr val="006600"/>
                </a:solidFill>
                <a:latin typeface="+mj-ea"/>
                <a:ea typeface="+mj-ea"/>
              </a:rPr>
              <a:t>…</a:t>
            </a:r>
            <a:r>
              <a:rPr lang="zh-CN" altLang="zh-CN" sz="2000">
                <a:solidFill>
                  <a:srgbClr val="006600"/>
                </a:solidFill>
                <a:latin typeface="Consolas" panose="020B0609020204030204" pitchFamily="49" charset="0"/>
                <a:ea typeface="仿宋" panose="02010609060101010101" pitchFamily="49" charset="-122"/>
              </a:rPr>
              <a:t> 子结点</a:t>
            </a:r>
            <a:r>
              <a:rPr lang="en-US" altLang="zh-CN" sz="2000" i="1">
                <a:solidFill>
                  <a:srgbClr val="006600"/>
                </a:solidFill>
                <a:latin typeface="Consolas" panose="020B0609020204030204" pitchFamily="49" charset="0"/>
                <a:ea typeface="仿宋" panose="02010609060101010101" pitchFamily="49" charset="-122"/>
              </a:rPr>
              <a:t>m</a:t>
            </a:r>
            <a:r>
              <a:rPr lang="zh-CN" altLang="zh-CN" sz="2000">
                <a:solidFill>
                  <a:srgbClr val="006600"/>
                </a:solidFill>
                <a:latin typeface="Consolas" panose="020B0609020204030204" pitchFamily="49" charset="0"/>
                <a:ea typeface="仿宋" panose="02010609060101010101" pitchFamily="49" charset="-122"/>
              </a:rPr>
              <a:t>编号</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或者</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en-US" altLang="zh-CN" sz="2000">
                <a:solidFill>
                  <a:srgbClr val="006600"/>
                </a:solidFill>
                <a:latin typeface="Consolas" panose="020B0609020204030204" pitchFamily="49" charset="0"/>
                <a:ea typeface="仿宋" panose="02010609060101010101" pitchFamily="49" charset="-122"/>
              </a:rPr>
              <a:t>   </a:t>
            </a:r>
            <a:r>
              <a:rPr lang="zh-CN" altLang="zh-CN" sz="2000">
                <a:solidFill>
                  <a:srgbClr val="006600"/>
                </a:solidFill>
                <a:latin typeface="Consolas" panose="020B0609020204030204" pitchFamily="49" charset="0"/>
                <a:ea typeface="仿宋" panose="02010609060101010101" pitchFamily="49" charset="-122"/>
              </a:rPr>
              <a:t>结点编号</a:t>
            </a:r>
            <a:r>
              <a:rPr lang="en-US" altLang="zh-CN" sz="2000">
                <a:solidFill>
                  <a:srgbClr val="006600"/>
                </a:solidFill>
                <a:latin typeface="Consolas" panose="020B0609020204030204" pitchFamily="49" charset="0"/>
                <a:ea typeface="仿宋" panose="02010609060101010101" pitchFamily="49" charset="-122"/>
              </a:rPr>
              <a:t>(</a:t>
            </a:r>
            <a:r>
              <a:rPr lang="zh-CN" altLang="zh-CN" sz="2000">
                <a:solidFill>
                  <a:srgbClr val="006600"/>
                </a:solidFill>
                <a:latin typeface="Consolas" panose="020B0609020204030204" pitchFamily="49" charset="0"/>
                <a:ea typeface="仿宋" panose="02010609060101010101" pitchFamily="49" charset="-122"/>
              </a:rPr>
              <a:t>子结点个数</a:t>
            </a:r>
            <a:r>
              <a:rPr lang="en-US" altLang="zh-CN" sz="2000">
                <a:solidFill>
                  <a:srgbClr val="006600"/>
                </a:solidFill>
                <a:latin typeface="Consolas" panose="020B0609020204030204" pitchFamily="49" charset="0"/>
                <a:ea typeface="仿宋" panose="02010609060101010101" pitchFamily="49" charset="-122"/>
              </a:rPr>
              <a:t>0)</a:t>
            </a:r>
            <a:endParaRPr lang="en-US" altLang="zh-CN" sz="2000">
              <a:solidFill>
                <a:srgbClr val="006600"/>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每行输入中的子结点个数不会超过</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，每条边在输入数据中只出现一次。</a:t>
            </a:r>
            <a:endParaRPr lang="zh-CN"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1200"/>
              </a:spcBef>
            </a:pPr>
            <a:r>
              <a:rPr lang="zh-CN" altLang="zh-CN">
                <a:solidFill>
                  <a:srgbClr val="FF0000"/>
                </a:solidFill>
                <a:latin typeface="Consolas" panose="020B0609020204030204" pitchFamily="49" charset="0"/>
                <a:ea typeface="仿宋" panose="02010609060101010101" pitchFamily="49" charset="-122"/>
              </a:rPr>
              <a:t>输出格式</a:t>
            </a:r>
            <a:r>
              <a:rPr lang="zh-CN" altLang="zh-CN">
                <a:solidFill>
                  <a:srgbClr val="0000FF"/>
                </a:solidFill>
                <a:latin typeface="Consolas" panose="020B0609020204030204" pitchFamily="49" charset="0"/>
                <a:ea typeface="仿宋" panose="02010609060101010101" pitchFamily="49" charset="-122"/>
              </a:rPr>
              <a:t>：对于每个测试用例输出一行，其中包含一个表示最少士兵数的整数。</a:t>
            </a:r>
            <a:endParaRPr lang="zh-CN" altLang="zh-CN">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7858180" cy="565699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rtlCol="0">
            <a:spAutoFit/>
          </a:bodyPr>
          <a:lstStyle/>
          <a:p>
            <a:pPr algn="l" defTabSz="360045">
              <a:lnSpc>
                <a:spcPts val="2880"/>
              </a:lnSpc>
              <a:spcBef>
                <a:spcPts val="0"/>
              </a:spcBef>
            </a:pPr>
            <a:r>
              <a:rPr lang="zh-CN" altLang="zh-CN">
                <a:solidFill>
                  <a:srgbClr val="FF0000"/>
                </a:solidFill>
                <a:latin typeface="Consolas" panose="020B0609020204030204" pitchFamily="49" charset="0"/>
                <a:ea typeface="仿宋" panose="02010609060101010101" pitchFamily="49" charset="-122"/>
              </a:rPr>
              <a:t>输入样例：</a:t>
            </a:r>
            <a:endParaRPr lang="zh-CN" altLang="zh-CN">
              <a:solidFill>
                <a:srgbClr val="FF0000"/>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4</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0:(1) 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1:(2) 2 3</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2:(0)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3:(0)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5</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3:(3) 1 4 2</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1:(1) 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2:(0)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0:(0)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4:(0)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zh-CN" altLang="zh-CN">
                <a:solidFill>
                  <a:srgbClr val="FF0000"/>
                </a:solidFill>
                <a:latin typeface="Consolas" panose="020B0609020204030204" pitchFamily="49" charset="0"/>
                <a:ea typeface="仿宋" panose="02010609060101010101" pitchFamily="49" charset="-122"/>
              </a:rPr>
              <a:t>输出样例：</a:t>
            </a:r>
            <a:endParaRPr lang="zh-CN" altLang="zh-CN">
              <a:solidFill>
                <a:srgbClr val="FF0000"/>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80"/>
              </a:lnSpc>
              <a:spcBef>
                <a:spcPts val="0"/>
              </a:spcBef>
            </a:pPr>
            <a:r>
              <a:rPr lang="en-US" altLang="zh-CN" sz="2000">
                <a:solidFill>
                  <a:srgbClr val="0000FF"/>
                </a:solidFill>
                <a:latin typeface="Consolas" panose="020B0609020204030204" pitchFamily="49" charset="0"/>
                <a:ea typeface="仿宋" panose="02010609060101010101" pitchFamily="49" charset="-122"/>
              </a:rPr>
              <a:t>2</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512878"/>
            <a:ext cx="8286808" cy="341632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城市由</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个结点构成，编号分别为</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，给出若干连接结点的道路，整个城市构成一棵</a:t>
            </a:r>
            <a:r>
              <a:rPr lang="zh-CN" altLang="zh-CN">
                <a:solidFill>
                  <a:srgbClr val="FF0000"/>
                </a:solidFill>
                <a:latin typeface="Consolas" panose="020B0609020204030204" pitchFamily="49" charset="0"/>
                <a:ea typeface="仿宋" panose="02010609060101010101" pitchFamily="49" charset="-122"/>
              </a:rPr>
              <a:t>树</a:t>
            </a:r>
            <a:r>
              <a:rPr lang="zh-CN" altLang="zh-CN">
                <a:solidFill>
                  <a:srgbClr val="0000FF"/>
                </a:solidFill>
                <a:latin typeface="Consolas" panose="020B0609020204030204" pitchFamily="49" charset="0"/>
                <a:ea typeface="仿宋" panose="02010609060101010101" pitchFamily="49" charset="-122"/>
              </a:rPr>
              <a:t>结构（有根树）。</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城市图采用</a:t>
            </a:r>
            <a:r>
              <a:rPr lang="zh-CN" altLang="zh-CN">
                <a:solidFill>
                  <a:srgbClr val="FF0000"/>
                </a:solidFill>
                <a:latin typeface="Consolas" panose="020B0609020204030204" pitchFamily="49" charset="0"/>
                <a:ea typeface="仿宋" panose="02010609060101010101" pitchFamily="49" charset="-122"/>
              </a:rPr>
              <a:t>邻接表</a:t>
            </a:r>
            <a:r>
              <a:rPr lang="en-US" altLang="zh-CN">
                <a:solidFill>
                  <a:srgbClr val="0000FF"/>
                </a:solidFill>
                <a:latin typeface="Consolas" panose="020B0609020204030204" pitchFamily="49" charset="0"/>
                <a:ea typeface="仿宋" panose="02010609060101010101" pitchFamily="49" charset="-122"/>
              </a:rPr>
              <a:t>G</a:t>
            </a:r>
            <a:r>
              <a:rPr lang="zh-CN" altLang="zh-CN">
                <a:solidFill>
                  <a:srgbClr val="0000FF"/>
                </a:solidFill>
                <a:latin typeface="Consolas" panose="020B0609020204030204" pitchFamily="49" charset="0"/>
                <a:ea typeface="仿宋" panose="02010609060101010101" pitchFamily="49" charset="-122"/>
              </a:rPr>
              <a:t>存储，即</a:t>
            </a:r>
            <a:r>
              <a:rPr lang="en-US" altLang="zh-CN">
                <a:solidFill>
                  <a:srgbClr val="0000FF"/>
                </a:solidFill>
                <a:latin typeface="Consolas" panose="020B0609020204030204" pitchFamily="49" charset="0"/>
                <a:ea typeface="仿宋" panose="02010609060101010101" pitchFamily="49" charset="-122"/>
              </a:rPr>
              <a:t>G[</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）存放顶点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的全部子结点的编号。</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为了求出哪个结点是根结点，设置一个</a:t>
            </a:r>
            <a:r>
              <a:rPr lang="en-US" altLang="zh-CN">
                <a:solidFill>
                  <a:srgbClr val="FF0000"/>
                </a:solidFill>
                <a:latin typeface="Consolas" panose="020B0609020204030204" pitchFamily="49" charset="0"/>
                <a:ea typeface="仿宋" panose="02010609060101010101" pitchFamily="49" charset="-122"/>
              </a:rPr>
              <a:t>parent</a:t>
            </a:r>
            <a:r>
              <a:rPr lang="zh-CN" altLang="zh-CN">
                <a:solidFill>
                  <a:srgbClr val="FF0000"/>
                </a:solidFill>
                <a:latin typeface="Consolas" panose="020B0609020204030204" pitchFamily="49" charset="0"/>
                <a:ea typeface="仿宋" panose="02010609060101010101" pitchFamily="49" charset="-122"/>
              </a:rPr>
              <a:t>数组</a:t>
            </a:r>
            <a:r>
              <a:rPr lang="zh-CN" altLang="zh-CN">
                <a:solidFill>
                  <a:srgbClr val="0000FF"/>
                </a:solidFill>
                <a:latin typeface="Consolas" panose="020B0609020204030204" pitchFamily="49" charset="0"/>
                <a:ea typeface="仿宋" panose="02010609060101010101" pitchFamily="49" charset="-122"/>
              </a:rPr>
              <a:t>，其中</a:t>
            </a:r>
            <a:r>
              <a:rPr lang="en-US" altLang="zh-CN">
                <a:solidFill>
                  <a:srgbClr val="0000FF"/>
                </a:solidFill>
                <a:latin typeface="Consolas" panose="020B0609020204030204" pitchFamily="49" charset="0"/>
                <a:ea typeface="仿宋" panose="02010609060101010101" pitchFamily="49" charset="-122"/>
              </a:rPr>
              <a:t>parent[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表示结点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的双亲为</a:t>
            </a:r>
            <a:r>
              <a:rPr lang="en-US" altLang="zh-CN" i="1">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，初始时</a:t>
            </a:r>
            <a:r>
              <a:rPr lang="en-US" altLang="zh-CN">
                <a:solidFill>
                  <a:srgbClr val="0000FF"/>
                </a:solidFill>
                <a:latin typeface="Consolas" panose="020B0609020204030204" pitchFamily="49" charset="0"/>
                <a:ea typeface="仿宋" panose="02010609060101010101" pitchFamily="49" charset="-122"/>
              </a:rPr>
              <a:t>parent</a:t>
            </a:r>
            <a:r>
              <a:rPr lang="zh-CN" altLang="zh-CN">
                <a:solidFill>
                  <a:srgbClr val="0000FF"/>
                </a:solidFill>
                <a:latin typeface="Consolas" panose="020B0609020204030204" pitchFamily="49" charset="0"/>
                <a:ea typeface="仿宋" panose="02010609060101010101" pitchFamily="49" charset="-122"/>
              </a:rPr>
              <a:t>数组元素均置为</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，当输入结束后，从任意一个结点出发找到双亲，直到</a:t>
            </a:r>
            <a:r>
              <a:rPr lang="en-US" altLang="zh-CN">
                <a:solidFill>
                  <a:srgbClr val="0000FF"/>
                </a:solidFill>
                <a:latin typeface="Consolas" panose="020B0609020204030204" pitchFamily="49" charset="0"/>
                <a:ea typeface="仿宋" panose="02010609060101010101" pitchFamily="49" charset="-122"/>
              </a:rPr>
              <a:t>parent[root]</a:t>
            </a:r>
            <a:r>
              <a:rPr lang="zh-CN" altLang="zh-CN">
                <a:solidFill>
                  <a:srgbClr val="0000FF"/>
                </a:solidFill>
                <a:latin typeface="Consolas" panose="020B0609020204030204" pitchFamily="49" charset="0"/>
                <a:ea typeface="仿宋" panose="02010609060101010101" pitchFamily="49" charset="-122"/>
              </a:rPr>
              <a:t>为</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，则</a:t>
            </a:r>
            <a:r>
              <a:rPr lang="en-US" altLang="zh-CN">
                <a:solidFill>
                  <a:srgbClr val="0000FF"/>
                </a:solidFill>
                <a:latin typeface="Consolas" panose="020B0609020204030204" pitchFamily="49" charset="0"/>
                <a:ea typeface="仿宋" panose="02010609060101010101" pitchFamily="49" charset="-122"/>
              </a:rPr>
              <a:t>root</a:t>
            </a:r>
            <a:r>
              <a:rPr lang="zh-CN" altLang="zh-CN">
                <a:solidFill>
                  <a:srgbClr val="0000FF"/>
                </a:solidFill>
                <a:latin typeface="Consolas" panose="020B0609020204030204" pitchFamily="49" charset="0"/>
                <a:ea typeface="仿宋" panose="02010609060101010101" pitchFamily="49" charset="-122"/>
              </a:rPr>
              <a:t>就是根结点。</a:t>
            </a:r>
            <a:endParaRPr lang="zh-CN" altLang="zh-CN">
              <a:solidFill>
                <a:srgbClr val="0000FF"/>
              </a:solidFill>
              <a:latin typeface="Consolas" panose="020B0609020204030204" pitchFamily="49" charset="0"/>
              <a:ea typeface="仿宋" panose="02010609060101010101"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6"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145429"/>
            <a:ext cx="8358246" cy="342657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设置二维动态规划数组</a:t>
            </a:r>
            <a:r>
              <a:rPr lang="en-US" altLang="zh-CN">
                <a:solidFill>
                  <a:srgbClr val="0000FF"/>
                </a:solidFill>
                <a:latin typeface="Consolas" panose="020B0609020204030204" pitchFamily="49" charset="0"/>
                <a:ea typeface="仿宋" panose="02010609060101010101" pitchFamily="49" charset="-122"/>
              </a:rPr>
              <a:t>dp</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表示在结点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上放置一个士兵时以该结点为根的子树所需的最少士兵数</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dp[</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表示在结点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上不放置士兵时以该结点为根的子树所需的最少士兵数。</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对于以</a:t>
            </a:r>
            <a:r>
              <a:rPr lang="en-US" altLang="zh-CN">
                <a:solidFill>
                  <a:srgbClr val="0000FF"/>
                </a:solidFill>
                <a:latin typeface="Consolas" panose="020B0609020204030204" pitchFamily="49" charset="0"/>
                <a:ea typeface="仿宋" panose="02010609060101010101" pitchFamily="49" charset="-122"/>
              </a:rPr>
              <a:t>root</a:t>
            </a:r>
            <a:r>
              <a:rPr lang="zh-CN" altLang="zh-CN">
                <a:solidFill>
                  <a:srgbClr val="0000FF"/>
                </a:solidFill>
                <a:latin typeface="Consolas" panose="020B0609020204030204" pitchFamily="49" charset="0"/>
                <a:ea typeface="仿宋" panose="02010609060101010101" pitchFamily="49" charset="-122"/>
              </a:rPr>
              <a:t>为根的树，采用深度优先搜索方式，先求出其所有子树的</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，考虑根结点</a:t>
            </a:r>
            <a:r>
              <a:rPr lang="en-US" altLang="zh-CN">
                <a:solidFill>
                  <a:srgbClr val="0000FF"/>
                </a:solidFill>
                <a:latin typeface="Consolas" panose="020B0609020204030204" pitchFamily="49" charset="0"/>
                <a:ea typeface="仿宋" panose="02010609060101010101" pitchFamily="49" charset="-122"/>
              </a:rPr>
              <a:t>root</a:t>
            </a:r>
            <a:r>
              <a:rPr lang="zh-CN" altLang="zh-CN">
                <a:solidFill>
                  <a:srgbClr val="0000FF"/>
                </a:solidFill>
                <a:latin typeface="Consolas" panose="020B0609020204030204" pitchFamily="49" charset="0"/>
                <a:ea typeface="仿宋" panose="02010609060101010101" pitchFamily="49" charset="-122"/>
              </a:rPr>
              <a:t>的两种情况</a:t>
            </a:r>
            <a:r>
              <a:rPr lang="zh-CN" altLang="en-US">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571472" y="357166"/>
            <a:ext cx="228601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rPr>
              <a:t>树形动态规划</a:t>
            </a:r>
            <a:endPar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643866" cy="144655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1"/>
              </a:buBlip>
            </a:pPr>
            <a:r>
              <a:rPr lang="zh-CN" altLang="zh-CN" sz="2200">
                <a:solidFill>
                  <a:srgbClr val="0000FF"/>
                </a:solidFill>
                <a:latin typeface="Consolas" panose="020B0609020204030204" pitchFamily="49" charset="0"/>
                <a:ea typeface="仿宋" panose="02010609060101010101" pitchFamily="49" charset="-122"/>
              </a:rPr>
              <a:t>若</a:t>
            </a:r>
            <a:r>
              <a:rPr lang="zh-CN" altLang="zh-CN" sz="2200">
                <a:solidFill>
                  <a:srgbClr val="FF00FF"/>
                </a:solidFill>
                <a:latin typeface="Consolas" panose="020B0609020204030204" pitchFamily="49" charset="0"/>
                <a:ea typeface="仿宋" panose="02010609060101010101" pitchFamily="49" charset="-122"/>
              </a:rPr>
              <a:t>在根结点</a:t>
            </a:r>
            <a:r>
              <a:rPr lang="en-US" altLang="zh-CN" sz="2200">
                <a:solidFill>
                  <a:srgbClr val="FF00FF"/>
                </a:solidFill>
                <a:latin typeface="Consolas" panose="020B0609020204030204" pitchFamily="49" charset="0"/>
                <a:ea typeface="仿宋" panose="02010609060101010101" pitchFamily="49" charset="-122"/>
              </a:rPr>
              <a:t>root</a:t>
            </a:r>
            <a:r>
              <a:rPr lang="zh-CN" altLang="zh-CN" sz="2200">
                <a:solidFill>
                  <a:srgbClr val="FF00FF"/>
                </a:solidFill>
                <a:latin typeface="Consolas" panose="020B0609020204030204" pitchFamily="49" charset="0"/>
                <a:ea typeface="仿宋" panose="02010609060101010101" pitchFamily="49" charset="-122"/>
              </a:rPr>
              <a:t>上放置一个士兵</a:t>
            </a:r>
            <a:r>
              <a:rPr lang="zh-CN" altLang="zh-CN" sz="2200">
                <a:solidFill>
                  <a:srgbClr val="0000FF"/>
                </a:solidFill>
                <a:latin typeface="Consolas" panose="020B0609020204030204" pitchFamily="49" charset="0"/>
                <a:ea typeface="仿宋" panose="02010609060101010101" pitchFamily="49" charset="-122"/>
              </a:rPr>
              <a:t>，该士兵可以观察到根结点</a:t>
            </a:r>
            <a:r>
              <a:rPr lang="en-US" altLang="zh-CN" sz="2200">
                <a:solidFill>
                  <a:srgbClr val="0000FF"/>
                </a:solidFill>
                <a:latin typeface="Consolas" panose="020B0609020204030204" pitchFamily="49" charset="0"/>
                <a:ea typeface="仿宋" panose="02010609060101010101" pitchFamily="49" charset="-122"/>
              </a:rPr>
              <a:t>root</a:t>
            </a:r>
            <a:r>
              <a:rPr lang="zh-CN" altLang="zh-CN" sz="2200">
                <a:solidFill>
                  <a:srgbClr val="0000FF"/>
                </a:solidFill>
                <a:latin typeface="Consolas" panose="020B0609020204030204" pitchFamily="49" charset="0"/>
                <a:ea typeface="仿宋" panose="02010609060101010101" pitchFamily="49" charset="-122"/>
              </a:rPr>
              <a:t>到每个子结点的边缘，如图</a:t>
            </a:r>
            <a:r>
              <a:rPr lang="en-US" altLang="zh-CN" sz="2200">
                <a:solidFill>
                  <a:srgbClr val="0000FF"/>
                </a:solidFill>
                <a:latin typeface="Consolas" panose="020B0609020204030204" pitchFamily="49" charset="0"/>
                <a:ea typeface="仿宋" panose="02010609060101010101" pitchFamily="49" charset="-122"/>
              </a:rPr>
              <a:t>(a)</a:t>
            </a:r>
            <a:r>
              <a:rPr lang="zh-CN" altLang="zh-CN" sz="2200">
                <a:solidFill>
                  <a:srgbClr val="0000FF"/>
                </a:solidFill>
                <a:latin typeface="Consolas" panose="020B0609020204030204" pitchFamily="49" charset="0"/>
                <a:ea typeface="仿宋" panose="02010609060101010101" pitchFamily="49" charset="-122"/>
              </a:rPr>
              <a:t>所示，则它的每一个子结点可以放置一个士兵，也可以不放置士兵，两种子情况中取最小值，即：</a:t>
            </a:r>
            <a:endParaRPr lang="zh-CN" altLang="zh-CN" sz="2200">
              <a:solidFill>
                <a:srgbClr val="0000FF"/>
              </a:solidFill>
              <a:latin typeface="Consolas" panose="020B0609020204030204" pitchFamily="49" charset="0"/>
              <a:ea typeface="仿宋" panose="02010609060101010101" pitchFamily="49" charset="-122"/>
            </a:endParaRPr>
          </a:p>
        </p:txBody>
      </p:sp>
      <p:pic>
        <p:nvPicPr>
          <p:cNvPr id="66561" name="Picture 1"/>
          <p:cNvPicPr>
            <a:picLocks noChangeAspect="1" noChangeArrowheads="1"/>
          </p:cNvPicPr>
          <p:nvPr/>
        </p:nvPicPr>
        <p:blipFill>
          <a:blip r:embed="rId2" cstate="print"/>
          <a:srcRect/>
          <a:stretch>
            <a:fillRect/>
          </a:stretch>
        </p:blipFill>
        <p:spPr bwMode="auto">
          <a:xfrm>
            <a:off x="1071537" y="2285992"/>
            <a:ext cx="6719313" cy="785818"/>
          </a:xfrm>
          <a:prstGeom prst="rect">
            <a:avLst/>
          </a:prstGeom>
          <a:noFill/>
          <a:ln w="9525">
            <a:noFill/>
            <a:miter lim="800000"/>
            <a:headEnd/>
            <a:tailEnd/>
          </a:ln>
        </p:spPr>
      </p:pic>
      <p:grpSp>
        <p:nvGrpSpPr>
          <p:cNvPr id="5" name="组合 4"/>
          <p:cNvGrpSpPr/>
          <p:nvPr/>
        </p:nvGrpSpPr>
        <p:grpSpPr>
          <a:xfrm>
            <a:off x="2500298" y="3429000"/>
            <a:ext cx="2857520" cy="2051715"/>
            <a:chOff x="714348" y="2752191"/>
            <a:chExt cx="2857520" cy="2051715"/>
          </a:xfrm>
        </p:grpSpPr>
        <p:pic>
          <p:nvPicPr>
            <p:cNvPr id="6" name="图片 35"/>
            <p:cNvPicPr>
              <a:picLocks noChangeAspect="1" noChangeArrowheads="1"/>
            </p:cNvPicPr>
            <p:nvPr/>
          </p:nvPicPr>
          <p:blipFill>
            <a:blip r:embed="rId3" cstate="print"/>
            <a:srcRect/>
            <a:stretch>
              <a:fillRect/>
            </a:stretch>
          </p:blipFill>
          <p:spPr bwMode="auto">
            <a:xfrm>
              <a:off x="2237124" y="2752191"/>
              <a:ext cx="285752" cy="517926"/>
            </a:xfrm>
            <a:prstGeom prst="rect">
              <a:avLst/>
            </a:prstGeom>
            <a:noFill/>
          </p:spPr>
        </p:pic>
        <p:sp>
          <p:nvSpPr>
            <p:cNvPr id="7" name="Oval 29"/>
            <p:cNvSpPr>
              <a:spLocks noChangeArrowheads="1"/>
            </p:cNvSpPr>
            <p:nvPr/>
          </p:nvSpPr>
          <p:spPr bwMode="auto">
            <a:xfrm>
              <a:off x="1807971" y="3018956"/>
              <a:ext cx="390784" cy="383998"/>
            </a:xfrm>
            <a:prstGeom prst="ellipse">
              <a:avLst/>
            </a:prstGeom>
            <a:solidFill>
              <a:srgbClr val="FF0000"/>
            </a:solidFill>
            <a:ln>
              <a:tailEnd type="none" w="sm" len="sm"/>
            </a:ln>
          </p:spPr>
          <p:style>
            <a:lnRef idx="2">
              <a:schemeClr val="accent6"/>
            </a:lnRef>
            <a:fillRef idx="1">
              <a:schemeClr val="lt1"/>
            </a:fillRef>
            <a:effectRef idx="0">
              <a:schemeClr val="accent6"/>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28"/>
            <p:cNvSpPr txBox="1">
              <a:spLocks noChangeArrowheads="1"/>
            </p:cNvSpPr>
            <p:nvPr/>
          </p:nvSpPr>
          <p:spPr bwMode="auto">
            <a:xfrm>
              <a:off x="1123338" y="2928934"/>
              <a:ext cx="662580"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root</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9" name="Oval 27"/>
            <p:cNvSpPr>
              <a:spLocks noChangeArrowheads="1"/>
            </p:cNvSpPr>
            <p:nvPr/>
          </p:nvSpPr>
          <p:spPr bwMode="auto">
            <a:xfrm>
              <a:off x="1092786" y="3816491"/>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0" name="Oval 26"/>
            <p:cNvSpPr>
              <a:spLocks noChangeArrowheads="1"/>
            </p:cNvSpPr>
            <p:nvPr/>
          </p:nvSpPr>
          <p:spPr bwMode="auto">
            <a:xfrm>
              <a:off x="1751608" y="3816491"/>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1" name="Oval 25"/>
            <p:cNvSpPr>
              <a:spLocks noChangeArrowheads="1"/>
            </p:cNvSpPr>
            <p:nvPr/>
          </p:nvSpPr>
          <p:spPr bwMode="auto">
            <a:xfrm>
              <a:off x="2774912" y="3816491"/>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2" name="Text Box 24"/>
            <p:cNvSpPr txBox="1">
              <a:spLocks noChangeArrowheads="1"/>
            </p:cNvSpPr>
            <p:nvPr/>
          </p:nvSpPr>
          <p:spPr bwMode="auto">
            <a:xfrm>
              <a:off x="2207523" y="3888065"/>
              <a:ext cx="494743"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2000" i="0" u="none" strike="noStrike" cap="none" normalizeH="0" baseline="0">
                <a:ln>
                  <a:noFill/>
                </a:ln>
                <a:solidFill>
                  <a:srgbClr val="0000FF"/>
                </a:solidFill>
                <a:effectLst/>
                <a:latin typeface="+mj-ea"/>
                <a:ea typeface="+mj-ea"/>
                <a:cs typeface="宋体" panose="02010600030101010101" pitchFamily="2" charset="-122"/>
              </a:endParaRPr>
            </a:p>
          </p:txBody>
        </p:sp>
        <p:sp>
          <p:nvSpPr>
            <p:cNvPr id="13" name="AutoShape 23"/>
            <p:cNvSpPr>
              <a:spLocks noChangeShapeType="1"/>
            </p:cNvSpPr>
            <p:nvPr/>
          </p:nvSpPr>
          <p:spPr bwMode="auto">
            <a:xfrm flipH="1">
              <a:off x="1947000" y="3402954"/>
              <a:ext cx="56363" cy="41353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AutoShape 22"/>
            <p:cNvSpPr>
              <a:spLocks noChangeShapeType="1"/>
            </p:cNvSpPr>
            <p:nvPr/>
          </p:nvSpPr>
          <p:spPr bwMode="auto">
            <a:xfrm flipH="1">
              <a:off x="1288178" y="3347286"/>
              <a:ext cx="577409" cy="4692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5" name="Rectangle 20"/>
            <p:cNvSpPr>
              <a:spLocks noChangeArrowheads="1"/>
            </p:cNvSpPr>
            <p:nvPr/>
          </p:nvSpPr>
          <p:spPr bwMode="auto">
            <a:xfrm>
              <a:off x="2380338" y="2786058"/>
              <a:ext cx="65" cy="246221"/>
            </a:xfrm>
            <a:prstGeom prst="rect">
              <a:avLst/>
            </a:prstGeom>
            <a:solidFill>
              <a:srgbClr val="FFFFFF"/>
            </a:solidFill>
            <a:ln w="9525">
              <a:noFill/>
              <a:miter lim="800000"/>
              <a:tailEnd type="none" w="sm" len="sm"/>
            </a:ln>
          </p:spPr>
          <p:txBody>
            <a:bodyPr vert="horz" wrap="none" lIns="0" tIns="0" rIns="0" bIns="0" numCol="1" anchor="t" anchorCtr="0" compatLnSpc="1">
              <a:spAutoFit/>
            </a:bodyPr>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6" name="AutoShape 5"/>
            <p:cNvSpPr>
              <a:spLocks noChangeShapeType="1"/>
            </p:cNvSpPr>
            <p:nvPr/>
          </p:nvSpPr>
          <p:spPr bwMode="auto">
            <a:xfrm>
              <a:off x="2141140" y="3347286"/>
              <a:ext cx="829164" cy="4692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8" name="Text Box 2"/>
            <p:cNvSpPr txBox="1">
              <a:spLocks noChangeArrowheads="1"/>
            </p:cNvSpPr>
            <p:nvPr/>
          </p:nvSpPr>
          <p:spPr bwMode="auto">
            <a:xfrm>
              <a:off x="714348" y="4500570"/>
              <a:ext cx="2857520"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 root</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放置一个士兵</a:t>
              </a:r>
              <a:endPar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7858180" cy="124649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1"/>
              </a:buBlip>
            </a:pPr>
            <a:r>
              <a:rPr lang="zh-CN" altLang="zh-CN" sz="2200">
                <a:solidFill>
                  <a:srgbClr val="0000FF"/>
                </a:solidFill>
                <a:latin typeface="Consolas" panose="020B0609020204030204" pitchFamily="49" charset="0"/>
                <a:ea typeface="仿宋" panose="02010609060101010101" pitchFamily="49" charset="-122"/>
              </a:rPr>
              <a:t>若</a:t>
            </a:r>
            <a:r>
              <a:rPr lang="zh-CN" altLang="zh-CN" sz="2200">
                <a:solidFill>
                  <a:srgbClr val="FF00FF"/>
                </a:solidFill>
                <a:latin typeface="Consolas" panose="020B0609020204030204" pitchFamily="49" charset="0"/>
                <a:ea typeface="仿宋" panose="02010609060101010101" pitchFamily="49" charset="-122"/>
              </a:rPr>
              <a:t>在根结点</a:t>
            </a:r>
            <a:r>
              <a:rPr lang="en-US" altLang="zh-CN" sz="2200">
                <a:solidFill>
                  <a:srgbClr val="FF00FF"/>
                </a:solidFill>
                <a:latin typeface="Consolas" panose="020B0609020204030204" pitchFamily="49" charset="0"/>
                <a:ea typeface="仿宋" panose="02010609060101010101" pitchFamily="49" charset="-122"/>
              </a:rPr>
              <a:t>root</a:t>
            </a:r>
            <a:r>
              <a:rPr lang="zh-CN" altLang="zh-CN" sz="2200">
                <a:solidFill>
                  <a:srgbClr val="FF00FF"/>
                </a:solidFill>
                <a:latin typeface="Consolas" panose="020B0609020204030204" pitchFamily="49" charset="0"/>
                <a:ea typeface="仿宋" panose="02010609060101010101" pitchFamily="49" charset="-122"/>
              </a:rPr>
              <a:t>上不放置士兵</a:t>
            </a:r>
            <a:r>
              <a:rPr lang="zh-CN" altLang="zh-CN" sz="2200">
                <a:solidFill>
                  <a:srgbClr val="0000FF"/>
                </a:solidFill>
                <a:latin typeface="Consolas" panose="020B0609020204030204" pitchFamily="49" charset="0"/>
                <a:ea typeface="仿宋" panose="02010609060101010101" pitchFamily="49" charset="-122"/>
              </a:rPr>
              <a:t>，则它的每一个子结点必须放置一个士兵，这样才能从每个子结点位置的士兵观察到该子结点到根结点</a:t>
            </a:r>
            <a:r>
              <a:rPr lang="en-US" altLang="zh-CN" sz="2200">
                <a:solidFill>
                  <a:srgbClr val="0000FF"/>
                </a:solidFill>
                <a:latin typeface="Consolas" panose="020B0609020204030204" pitchFamily="49" charset="0"/>
                <a:ea typeface="仿宋" panose="02010609060101010101" pitchFamily="49" charset="-122"/>
              </a:rPr>
              <a:t>root</a:t>
            </a:r>
            <a:r>
              <a:rPr lang="zh-CN" altLang="zh-CN" sz="2200">
                <a:solidFill>
                  <a:srgbClr val="0000FF"/>
                </a:solidFill>
                <a:latin typeface="Consolas" panose="020B0609020204030204" pitchFamily="49" charset="0"/>
                <a:ea typeface="仿宋" panose="02010609060101010101" pitchFamily="49" charset="-122"/>
              </a:rPr>
              <a:t>的边缘，如图</a:t>
            </a:r>
            <a:r>
              <a:rPr lang="en-US" altLang="zh-CN" sz="2200">
                <a:solidFill>
                  <a:srgbClr val="0000FF"/>
                </a:solidFill>
                <a:latin typeface="Consolas" panose="020B0609020204030204" pitchFamily="49" charset="0"/>
                <a:ea typeface="仿宋" panose="02010609060101010101" pitchFamily="49" charset="-122"/>
              </a:rPr>
              <a:t>(b)</a:t>
            </a:r>
            <a:r>
              <a:rPr lang="zh-CN" altLang="zh-CN" sz="2200">
                <a:solidFill>
                  <a:srgbClr val="0000FF"/>
                </a:solidFill>
                <a:latin typeface="Consolas" panose="020B0609020204030204" pitchFamily="49" charset="0"/>
                <a:ea typeface="仿宋" panose="02010609060101010101" pitchFamily="49" charset="-122"/>
              </a:rPr>
              <a:t>所示，即：</a:t>
            </a:r>
            <a:endParaRPr lang="zh-CN" altLang="zh-CN" sz="2200">
              <a:solidFill>
                <a:srgbClr val="0000FF"/>
              </a:solidFill>
              <a:latin typeface="Consolas" panose="020B0609020204030204" pitchFamily="49" charset="0"/>
              <a:ea typeface="仿宋" panose="02010609060101010101" pitchFamily="49" charset="-122"/>
            </a:endParaRPr>
          </a:p>
        </p:txBody>
      </p:sp>
      <p:pic>
        <p:nvPicPr>
          <p:cNvPr id="64513" name="Picture 1"/>
          <p:cNvPicPr>
            <a:picLocks noChangeAspect="1" noChangeArrowheads="1"/>
          </p:cNvPicPr>
          <p:nvPr/>
        </p:nvPicPr>
        <p:blipFill>
          <a:blip r:embed="rId2" cstate="print"/>
          <a:srcRect/>
          <a:stretch>
            <a:fillRect/>
          </a:stretch>
        </p:blipFill>
        <p:spPr bwMode="auto">
          <a:xfrm>
            <a:off x="1500166" y="1714488"/>
            <a:ext cx="4692456" cy="785818"/>
          </a:xfrm>
          <a:prstGeom prst="rect">
            <a:avLst/>
          </a:prstGeom>
          <a:noFill/>
          <a:ln w="9525">
            <a:noFill/>
            <a:miter lim="800000"/>
            <a:headEnd/>
            <a:tailEnd/>
          </a:ln>
        </p:spPr>
      </p:pic>
      <p:grpSp>
        <p:nvGrpSpPr>
          <p:cNvPr id="5" name="组合 4"/>
          <p:cNvGrpSpPr/>
          <p:nvPr/>
        </p:nvGrpSpPr>
        <p:grpSpPr>
          <a:xfrm>
            <a:off x="2428860" y="2643182"/>
            <a:ext cx="2759319" cy="2375038"/>
            <a:chOff x="4241573" y="3000372"/>
            <a:chExt cx="2759319" cy="2375038"/>
          </a:xfrm>
        </p:grpSpPr>
        <p:sp>
          <p:nvSpPr>
            <p:cNvPr id="6" name="Oval 19"/>
            <p:cNvSpPr>
              <a:spLocks noChangeArrowheads="1"/>
            </p:cNvSpPr>
            <p:nvPr/>
          </p:nvSpPr>
          <p:spPr bwMode="auto">
            <a:xfrm>
              <a:off x="5298726" y="3087122"/>
              <a:ext cx="390784" cy="383998"/>
            </a:xfrm>
            <a:prstGeom prst="ellipse">
              <a:avLst/>
            </a:prstGeom>
            <a:solidFill>
              <a:srgbClr val="FF0000"/>
            </a:solidFill>
            <a:ln>
              <a:tailEnd type="none" w="sm" len="sm"/>
            </a:ln>
          </p:spPr>
          <p:style>
            <a:lnRef idx="2">
              <a:schemeClr val="accent6"/>
            </a:lnRef>
            <a:fillRef idx="1">
              <a:schemeClr val="lt1"/>
            </a:fillRef>
            <a:effectRef idx="0">
              <a:schemeClr val="accent6"/>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7" name="Text Box 18"/>
            <p:cNvSpPr txBox="1">
              <a:spLocks noChangeArrowheads="1"/>
            </p:cNvSpPr>
            <p:nvPr/>
          </p:nvSpPr>
          <p:spPr bwMode="auto">
            <a:xfrm>
              <a:off x="4643438" y="3000372"/>
              <a:ext cx="662580"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root</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8" name="Text Box 17"/>
            <p:cNvSpPr txBox="1">
              <a:spLocks noChangeArrowheads="1"/>
            </p:cNvSpPr>
            <p:nvPr/>
          </p:nvSpPr>
          <p:spPr bwMode="auto">
            <a:xfrm>
              <a:off x="5698278" y="3956230"/>
              <a:ext cx="494743"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i="0" u="none" strike="noStrike" cap="none" normalizeH="0" baseline="0">
                  <a:ln>
                    <a:noFill/>
                  </a:ln>
                  <a:solidFill>
                    <a:srgbClr val="0000FF"/>
                  </a:solidFill>
                  <a:effectLst/>
                  <a:latin typeface="+mj-ea"/>
                  <a:ea typeface="+mj-ea"/>
                  <a:cs typeface="Times New Roman" panose="02020603050405020304" pitchFamily="18" charset="0"/>
                </a:rPr>
                <a:t>…</a:t>
              </a:r>
              <a:endParaRPr kumimoji="0" lang="zh-CN" altLang="zh-CN" sz="2000" i="0" u="none" strike="noStrike" cap="none" normalizeH="0" baseline="0">
                <a:ln>
                  <a:noFill/>
                </a:ln>
                <a:solidFill>
                  <a:srgbClr val="0000FF"/>
                </a:solidFill>
                <a:effectLst/>
                <a:latin typeface="+mj-ea"/>
                <a:ea typeface="+mj-ea"/>
                <a:cs typeface="宋体" panose="02010600030101010101" pitchFamily="2" charset="-122"/>
              </a:endParaRPr>
            </a:p>
          </p:txBody>
        </p:sp>
        <p:sp>
          <p:nvSpPr>
            <p:cNvPr id="9" name="AutoShape 16"/>
            <p:cNvSpPr>
              <a:spLocks noChangeShapeType="1"/>
            </p:cNvSpPr>
            <p:nvPr/>
          </p:nvSpPr>
          <p:spPr bwMode="auto">
            <a:xfrm flipH="1">
              <a:off x="5437755" y="3471120"/>
              <a:ext cx="56363" cy="41353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0" name="AutoShape 15"/>
            <p:cNvSpPr>
              <a:spLocks noChangeShapeType="1"/>
            </p:cNvSpPr>
            <p:nvPr/>
          </p:nvSpPr>
          <p:spPr bwMode="auto">
            <a:xfrm>
              <a:off x="5631895" y="3415451"/>
              <a:ext cx="829164" cy="4692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1" name="Rectangle 13"/>
            <p:cNvSpPr>
              <a:spLocks noChangeArrowheads="1"/>
            </p:cNvSpPr>
            <p:nvPr/>
          </p:nvSpPr>
          <p:spPr bwMode="auto">
            <a:xfrm>
              <a:off x="5034414" y="3613131"/>
              <a:ext cx="65" cy="246221"/>
            </a:xfrm>
            <a:prstGeom prst="rect">
              <a:avLst/>
            </a:prstGeom>
            <a:solidFill>
              <a:srgbClr val="FFFFFF"/>
            </a:solidFill>
            <a:ln w="9525">
              <a:noFill/>
              <a:miter lim="800000"/>
              <a:tailEnd type="none" w="sm" len="sm"/>
            </a:ln>
          </p:spPr>
          <p:txBody>
            <a:bodyPr vert="horz" wrap="none" lIns="0" tIns="0" rIns="0" bIns="0" numCol="1" anchor="t" anchorCtr="0" compatLnSpc="1">
              <a:spAutoFit/>
            </a:bodyPr>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2" name="Rectangle 11"/>
            <p:cNvSpPr>
              <a:spLocks noChangeArrowheads="1"/>
            </p:cNvSpPr>
            <p:nvPr/>
          </p:nvSpPr>
          <p:spPr bwMode="auto">
            <a:xfrm>
              <a:off x="4241573" y="3623356"/>
              <a:ext cx="65" cy="246221"/>
            </a:xfrm>
            <a:prstGeom prst="rect">
              <a:avLst/>
            </a:prstGeom>
            <a:solidFill>
              <a:srgbClr val="FFFFFF"/>
            </a:solidFill>
            <a:ln w="9525">
              <a:noFill/>
              <a:miter lim="800000"/>
              <a:tailEnd type="none" w="sm" len="sm"/>
            </a:ln>
          </p:spPr>
          <p:txBody>
            <a:bodyPr vert="horz" wrap="none" lIns="0" tIns="0" rIns="0" bIns="0" numCol="1" anchor="t" anchorCtr="0" compatLnSpc="1">
              <a:spAutoFit/>
            </a:bodyPr>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3" name="Rectangle 9"/>
            <p:cNvSpPr>
              <a:spLocks noChangeArrowheads="1"/>
            </p:cNvSpPr>
            <p:nvPr/>
          </p:nvSpPr>
          <p:spPr bwMode="auto">
            <a:xfrm>
              <a:off x="6661461" y="3592681"/>
              <a:ext cx="339431" cy="765724"/>
            </a:xfrm>
            <a:prstGeom prst="rect">
              <a:avLst/>
            </a:prstGeom>
            <a:solidFill>
              <a:srgbClr val="FFFFFF"/>
            </a:solidFill>
            <a:ln w="9525">
              <a:noFill/>
              <a:miter lim="800000"/>
              <a:tailEnd type="none" w="sm" len="sm"/>
            </a:ln>
          </p:spPr>
          <p:txBody>
            <a:bodyPr vert="horz" wrap="square" lIns="0" tIns="0" rIns="0" bIns="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sp>
          <p:nvSpPr>
            <p:cNvPr id="14" name="Oval 8"/>
            <p:cNvSpPr>
              <a:spLocks noChangeArrowheads="1"/>
            </p:cNvSpPr>
            <p:nvPr/>
          </p:nvSpPr>
          <p:spPr bwMode="auto">
            <a:xfrm>
              <a:off x="4459542" y="3884656"/>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5" name="Oval 7"/>
            <p:cNvSpPr>
              <a:spLocks noChangeArrowheads="1"/>
            </p:cNvSpPr>
            <p:nvPr/>
          </p:nvSpPr>
          <p:spPr bwMode="auto">
            <a:xfrm>
              <a:off x="5242363" y="3884656"/>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6" name="Oval 6"/>
            <p:cNvSpPr>
              <a:spLocks noChangeArrowheads="1"/>
            </p:cNvSpPr>
            <p:nvPr/>
          </p:nvSpPr>
          <p:spPr bwMode="auto">
            <a:xfrm>
              <a:off x="6265667" y="3884656"/>
              <a:ext cx="390784" cy="38399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8" name="Text Box 4"/>
            <p:cNvSpPr txBox="1">
              <a:spLocks noChangeArrowheads="1"/>
            </p:cNvSpPr>
            <p:nvPr/>
          </p:nvSpPr>
          <p:spPr bwMode="auto">
            <a:xfrm>
              <a:off x="4286248" y="5072074"/>
              <a:ext cx="2661725" cy="303336"/>
            </a:xfrm>
            <a:prstGeom prst="rect">
              <a:avLst/>
            </a:prstGeom>
            <a:no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(b) root</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不放置士兵</a:t>
              </a:r>
              <a:endPar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宋体" panose="02010600030101010101" pitchFamily="2" charset="-122"/>
              </a:endParaRPr>
            </a:p>
          </p:txBody>
        </p:sp>
        <p:sp>
          <p:nvSpPr>
            <p:cNvPr id="19" name="AutoShape 3"/>
            <p:cNvSpPr>
              <a:spLocks noChangeShapeType="1"/>
            </p:cNvSpPr>
            <p:nvPr/>
          </p:nvSpPr>
          <p:spPr bwMode="auto">
            <a:xfrm flipH="1">
              <a:off x="4654934" y="3415451"/>
              <a:ext cx="701408" cy="4692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endParaRPr>
            </a:p>
          </p:txBody>
        </p:sp>
        <p:pic>
          <p:nvPicPr>
            <p:cNvPr id="20" name="图片 35"/>
            <p:cNvPicPr>
              <a:picLocks noChangeAspect="1" noChangeArrowheads="1"/>
            </p:cNvPicPr>
            <p:nvPr/>
          </p:nvPicPr>
          <p:blipFill>
            <a:blip r:embed="rId3" cstate="print"/>
            <a:srcRect/>
            <a:stretch>
              <a:fillRect/>
            </a:stretch>
          </p:blipFill>
          <p:spPr bwMode="auto">
            <a:xfrm>
              <a:off x="4500562" y="4357694"/>
              <a:ext cx="285752" cy="517926"/>
            </a:xfrm>
            <a:prstGeom prst="rect">
              <a:avLst/>
            </a:prstGeom>
            <a:noFill/>
          </p:spPr>
        </p:pic>
        <p:pic>
          <p:nvPicPr>
            <p:cNvPr id="21" name="图片 35"/>
            <p:cNvPicPr>
              <a:picLocks noChangeAspect="1" noChangeArrowheads="1"/>
            </p:cNvPicPr>
            <p:nvPr/>
          </p:nvPicPr>
          <p:blipFill>
            <a:blip r:embed="rId3" cstate="print"/>
            <a:srcRect/>
            <a:stretch>
              <a:fillRect/>
            </a:stretch>
          </p:blipFill>
          <p:spPr bwMode="auto">
            <a:xfrm>
              <a:off x="5286380" y="4357694"/>
              <a:ext cx="285752" cy="517926"/>
            </a:xfrm>
            <a:prstGeom prst="rect">
              <a:avLst/>
            </a:prstGeom>
            <a:noFill/>
          </p:spPr>
        </p:pic>
        <p:pic>
          <p:nvPicPr>
            <p:cNvPr id="22" name="图片 35"/>
            <p:cNvPicPr>
              <a:picLocks noChangeAspect="1" noChangeArrowheads="1"/>
            </p:cNvPicPr>
            <p:nvPr/>
          </p:nvPicPr>
          <p:blipFill>
            <a:blip r:embed="rId3" cstate="print"/>
            <a:srcRect/>
            <a:stretch>
              <a:fillRect/>
            </a:stretch>
          </p:blipFill>
          <p:spPr bwMode="auto">
            <a:xfrm>
              <a:off x="6357950" y="4357694"/>
              <a:ext cx="285752" cy="517926"/>
            </a:xfrm>
            <a:prstGeom prst="rect">
              <a:avLst/>
            </a:prstGeom>
            <a:noFill/>
          </p:spPr>
        </p:pic>
      </p:grpSp>
      <p:sp>
        <p:nvSpPr>
          <p:cNvPr id="23" name="TextBox 22"/>
          <p:cNvSpPr txBox="1"/>
          <p:nvPr/>
        </p:nvSpPr>
        <p:spPr>
          <a:xfrm>
            <a:off x="428596" y="5429264"/>
            <a:ext cx="8429684"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4"/>
              </a:buBlip>
            </a:pPr>
            <a:r>
              <a:rPr lang="zh-CN" altLang="zh-CN">
                <a:solidFill>
                  <a:srgbClr val="0000FF"/>
                </a:solidFill>
                <a:latin typeface="Consolas" panose="020B0609020204030204" pitchFamily="49" charset="0"/>
                <a:ea typeface="仿宋" panose="02010609060101010101" pitchFamily="49" charset="-122"/>
              </a:rPr>
              <a:t>在求出</a:t>
            </a:r>
            <a:r>
              <a:rPr lang="en-US" altLang="zh-CN">
                <a:solidFill>
                  <a:srgbClr val="0000FF"/>
                </a:solidFill>
                <a:latin typeface="Consolas" panose="020B0609020204030204" pitchFamily="49" charset="0"/>
                <a:ea typeface="仿宋" panose="02010609060101010101" pitchFamily="49" charset="-122"/>
              </a:rPr>
              <a:t>dp</a:t>
            </a:r>
            <a:r>
              <a:rPr lang="zh-CN" altLang="zh-CN">
                <a:solidFill>
                  <a:srgbClr val="0000FF"/>
                </a:solidFill>
                <a:latin typeface="Consolas" panose="020B0609020204030204" pitchFamily="49" charset="0"/>
                <a:ea typeface="仿宋" panose="02010609060101010101" pitchFamily="49" charset="-122"/>
              </a:rPr>
              <a:t>数组后，则</a:t>
            </a:r>
            <a:r>
              <a:rPr lang="en-US" altLang="zh-CN">
                <a:solidFill>
                  <a:srgbClr val="0000FF"/>
                </a:solidFill>
                <a:latin typeface="Consolas" panose="020B0609020204030204" pitchFamily="49" charset="0"/>
                <a:ea typeface="仿宋" panose="02010609060101010101" pitchFamily="49" charset="-122"/>
              </a:rPr>
              <a:t>min(dp[root][0],dp[root][1])</a:t>
            </a:r>
            <a:r>
              <a:rPr lang="zh-CN" altLang="zh-CN">
                <a:solidFill>
                  <a:srgbClr val="0000FF"/>
                </a:solidFill>
                <a:latin typeface="Consolas" panose="020B0609020204030204" pitchFamily="49" charset="0"/>
                <a:ea typeface="仿宋" panose="02010609060101010101" pitchFamily="49" charset="-122"/>
              </a:rPr>
              <a:t>就是以</a:t>
            </a:r>
            <a:r>
              <a:rPr lang="en-US" altLang="zh-CN">
                <a:solidFill>
                  <a:srgbClr val="0000FF"/>
                </a:solidFill>
                <a:latin typeface="Consolas" panose="020B0609020204030204" pitchFamily="49" charset="0"/>
                <a:ea typeface="仿宋" panose="02010609060101010101" pitchFamily="49" charset="-122"/>
              </a:rPr>
              <a:t>root</a:t>
            </a:r>
            <a:r>
              <a:rPr lang="zh-CN" altLang="zh-CN">
                <a:solidFill>
                  <a:srgbClr val="0000FF"/>
                </a:solidFill>
                <a:latin typeface="Consolas" panose="020B0609020204030204" pitchFamily="49" charset="0"/>
                <a:ea typeface="仿宋" panose="02010609060101010101" pitchFamily="49" charset="-122"/>
              </a:rPr>
              <a:t>结点为根的树中最少士兵数，返回该结果即可。</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灯片编号占位符 23"/>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 name="TextBox 42"/>
          <p:cNvSpPr txBox="1"/>
          <p:nvPr/>
        </p:nvSpPr>
        <p:spPr>
          <a:xfrm>
            <a:off x="285720" y="759690"/>
            <a:ext cx="8643998" cy="32958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#include&lt;iostream&gt;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#include&lt;vector&gt;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#include&lt;cstring&gt;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using namespace std;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const int MAXN=1510;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G[MAXN];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邻接表</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parent[MAXN];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双亲数组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006600"/>
                </a:solidFill>
                <a:latin typeface="Consolas" panose="020B0609020204030204" pitchFamily="49" charset="0"/>
                <a:ea typeface="仿宋" panose="02010609060101010101" pitchFamily="49" charset="-122"/>
              </a:rPr>
              <a:t>dp</a:t>
            </a:r>
            <a:r>
              <a:rPr lang="en-US" altLang="zh-CN" sz="2000">
                <a:solidFill>
                  <a:srgbClr val="0000FF"/>
                </a:solidFill>
                <a:latin typeface="Consolas" panose="020B0609020204030204" pitchFamily="49" charset="0"/>
                <a:ea typeface="仿宋" panose="02010609060101010101" pitchFamily="49" charset="-122"/>
              </a:rPr>
              <a:t>[MAXN][2];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 name="TextBox 42"/>
          <p:cNvSpPr txBox="1"/>
          <p:nvPr/>
        </p:nvSpPr>
        <p:spPr>
          <a:xfrm>
            <a:off x="285720" y="357166"/>
            <a:ext cx="8643998" cy="45031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dfs</a:t>
            </a:r>
            <a:r>
              <a:rPr lang="en-US" altLang="zh-CN" sz="2000">
                <a:solidFill>
                  <a:srgbClr val="0000FF"/>
                </a:solidFill>
                <a:latin typeface="Consolas" panose="020B0609020204030204" pitchFamily="49" charset="0"/>
                <a:ea typeface="仿宋" panose="02010609060101010101" pitchFamily="49" charset="-122"/>
              </a:rPr>
              <a:t>(int root)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深度优先搜索</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m=G[root].size();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dfs</a:t>
            </a:r>
            <a:r>
              <a:rPr lang="en-US" altLang="zh-CN" sz="2000">
                <a:solidFill>
                  <a:srgbClr val="0000FF"/>
                </a:solidFill>
                <a:latin typeface="Consolas" panose="020B0609020204030204" pitchFamily="49" charset="0"/>
                <a:ea typeface="仿宋" panose="02010609060101010101" pitchFamily="49" charset="-122"/>
              </a:rPr>
              <a:t>(G[root][i]);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	dp[root][0]=0;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6600"/>
                </a:solidFill>
                <a:latin typeface="Consolas" panose="020B0609020204030204" pitchFamily="49" charset="0"/>
                <a:ea typeface="仿宋" panose="02010609060101010101" pitchFamily="49" charset="-122"/>
              </a:rPr>
              <a:t>  	dp[root][1]=1;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i=0;i&lt;m;i++)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dp[root][1]+=min(dp[G[root][i]][1],dp[G[root][i]][0]);</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6600"/>
                </a:solidFill>
                <a:latin typeface="Consolas" panose="020B0609020204030204" pitchFamily="49" charset="0"/>
                <a:ea typeface="仿宋" panose="02010609060101010101" pitchFamily="49" charset="-122"/>
              </a:rPr>
              <a:t>    	dp[root][0]+=dp[G[root][i]][1];</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0" name="Picture 1"/>
          <p:cNvPicPr>
            <a:picLocks noChangeAspect="1" noChangeArrowheads="1"/>
          </p:cNvPicPr>
          <p:nvPr/>
        </p:nvPicPr>
        <p:blipFill>
          <a:blip r:embed="rId1" cstate="print"/>
          <a:srcRect/>
          <a:stretch>
            <a:fillRect/>
          </a:stretch>
        </p:blipFill>
        <p:spPr bwMode="auto">
          <a:xfrm>
            <a:off x="714348" y="5890340"/>
            <a:ext cx="4071966" cy="681908"/>
          </a:xfrm>
          <a:prstGeom prst="rect">
            <a:avLst/>
          </a:prstGeom>
          <a:noFill/>
          <a:ln w="9525">
            <a:noFill/>
            <a:miter lim="800000"/>
            <a:headEnd/>
            <a:tailEnd/>
          </a:ln>
        </p:spPr>
      </p:pic>
      <p:pic>
        <p:nvPicPr>
          <p:cNvPr id="11" name="Picture 1"/>
          <p:cNvPicPr>
            <a:picLocks noChangeAspect="1" noChangeArrowheads="1"/>
          </p:cNvPicPr>
          <p:nvPr/>
        </p:nvPicPr>
        <p:blipFill>
          <a:blip r:embed="rId2" cstate="print"/>
          <a:srcRect/>
          <a:stretch>
            <a:fillRect/>
          </a:stretch>
        </p:blipFill>
        <p:spPr bwMode="auto">
          <a:xfrm>
            <a:off x="714348" y="5000636"/>
            <a:ext cx="6429420" cy="751915"/>
          </a:xfrm>
          <a:prstGeom prst="rect">
            <a:avLst/>
          </a:prstGeom>
          <a:noFill/>
          <a:ln w="9525">
            <a:noFill/>
            <a:miter lim="800000"/>
            <a:headEnd/>
            <a:tailEnd/>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 name="TextBox 42"/>
          <p:cNvSpPr txBox="1"/>
          <p:nvPr/>
        </p:nvSpPr>
        <p:spPr>
          <a:xfrm>
            <a:off x="214282" y="142852"/>
            <a:ext cx="8643998" cy="45526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main</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n,m,fa,son;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while(scanf("%d",&amp;n)!=EOF)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C00000"/>
                </a:solidFill>
                <a:latin typeface="Consolas" panose="020B0609020204030204" pitchFamily="49" charset="0"/>
                <a:ea typeface="仿宋" panose="02010609060101010101" pitchFamily="49" charset="-122"/>
              </a:rPr>
              <a:t>memset(parent,0xff,sizeof(parent));</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初始化为</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i=1;i&lt;=n;i++)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scanf("%d:(%d)",&amp;fa,&amp;m);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G[fa].clear();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while(m--)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scanf("%d",&amp;son);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G[fa].push_back(son)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parent[son]=fa;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置</a:t>
            </a:r>
            <a:r>
              <a:rPr lang="en-US" altLang="zh-CN" sz="2000">
                <a:solidFill>
                  <a:srgbClr val="00B0F0"/>
                </a:solidFill>
                <a:latin typeface="Consolas" panose="020B0609020204030204" pitchFamily="49" charset="0"/>
                <a:ea typeface="仿宋" panose="02010609060101010101" pitchFamily="49" charset="-122"/>
              </a:rPr>
              <a:t>son</a:t>
            </a:r>
            <a:r>
              <a:rPr lang="zh-CN" altLang="zh-CN" sz="2000">
                <a:solidFill>
                  <a:srgbClr val="00B0F0"/>
                </a:solidFill>
                <a:latin typeface="Consolas" panose="020B0609020204030204" pitchFamily="49" charset="0"/>
                <a:ea typeface="仿宋" panose="02010609060101010101" pitchFamily="49" charset="-122"/>
              </a:rPr>
              <a:t>的双亲为</a:t>
            </a:r>
            <a:r>
              <a:rPr lang="en-US" altLang="zh-CN" sz="2000">
                <a:solidFill>
                  <a:srgbClr val="00B0F0"/>
                </a:solidFill>
                <a:latin typeface="Consolas" panose="020B0609020204030204" pitchFamily="49" charset="0"/>
                <a:ea typeface="仿宋" panose="02010609060101010101" pitchFamily="49" charset="-122"/>
              </a:rPr>
              <a:t>fa</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9" name="矩形 8"/>
          <p:cNvSpPr/>
          <p:nvPr/>
        </p:nvSpPr>
        <p:spPr>
          <a:xfrm>
            <a:off x="2428860" y="5000636"/>
            <a:ext cx="2214578" cy="571504"/>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en-US" altLang="zh-CN" sz="2000">
                <a:latin typeface="Consolas" panose="020B0609020204030204" pitchFamily="49" charset="0"/>
              </a:rPr>
              <a:t>son1  son2 </a:t>
            </a:r>
            <a:r>
              <a:rPr lang="en-US" altLang="zh-CN" sz="2000">
                <a:latin typeface="+mn-ea"/>
              </a:rPr>
              <a:t>…</a:t>
            </a:r>
            <a:r>
              <a:rPr lang="en-US" altLang="zh-CN" sz="2000">
                <a:latin typeface="Consolas" panose="020B0609020204030204" pitchFamily="49" charset="0"/>
              </a:rPr>
              <a:t> </a:t>
            </a:r>
            <a:endParaRPr lang="zh-CN" altLang="en-US" sz="2000">
              <a:latin typeface="Consolas" panose="020B0609020204030204" pitchFamily="49" charset="0"/>
            </a:endParaRPr>
          </a:p>
        </p:txBody>
      </p:sp>
      <p:sp>
        <p:nvSpPr>
          <p:cNvPr id="10" name="TextBox 9"/>
          <p:cNvSpPr txBox="1"/>
          <p:nvPr/>
        </p:nvSpPr>
        <p:spPr>
          <a:xfrm>
            <a:off x="1857356" y="5120934"/>
            <a:ext cx="571504"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fa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12" name="TextBox 11"/>
          <p:cNvSpPr txBox="1"/>
          <p:nvPr/>
        </p:nvSpPr>
        <p:spPr>
          <a:xfrm>
            <a:off x="2357422" y="5786454"/>
            <a:ext cx="135732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邻接表</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ln>
          <a:effectLst/>
        </p:spPr>
        <p:txBody>
          <a:bodyPr vert="horz" wrap="square" lIns="91440" tIns="45720" rIns="91440" bIns="45720" numCol="1" anchor="t" anchorCtr="0" compatLnSpc="1"/>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 name="TextBox 42"/>
          <p:cNvSpPr txBox="1"/>
          <p:nvPr/>
        </p:nvSpPr>
        <p:spPr>
          <a:xfrm>
            <a:off x="285720" y="428604"/>
            <a:ext cx="8643998" cy="348823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root=1;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while(parent[root]!=-1)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找到根结点的编号</a:t>
            </a:r>
            <a:r>
              <a:rPr lang="en-US" altLang="zh-CN" sz="2000">
                <a:solidFill>
                  <a:srgbClr val="00B0F0"/>
                </a:solidFill>
                <a:latin typeface="Consolas" panose="020B0609020204030204" pitchFamily="49" charset="0"/>
                <a:ea typeface="仿宋" panose="02010609060101010101" pitchFamily="49" charset="-122"/>
              </a:rPr>
              <a:t>root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root=parent[root];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600"/>
              </a:spcBef>
              <a:spcAft>
                <a:spcPts val="600"/>
              </a:spcAft>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dfs</a:t>
            </a:r>
            <a:r>
              <a:rPr lang="en-US" altLang="zh-CN" sz="2000">
                <a:solidFill>
                  <a:srgbClr val="0000FF"/>
                </a:solidFill>
                <a:latin typeface="Consolas" panose="020B0609020204030204" pitchFamily="49" charset="0"/>
                <a:ea typeface="仿宋" panose="02010609060101010101" pitchFamily="49" charset="-122"/>
              </a:rPr>
              <a:t>(root);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ans=min(dp[root][0],dp[root][1]);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printf("%d\n",ans);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grpSp>
        <p:nvGrpSpPr>
          <p:cNvPr id="2" name="组合 9"/>
          <p:cNvGrpSpPr/>
          <p:nvPr/>
        </p:nvGrpSpPr>
        <p:grpSpPr>
          <a:xfrm>
            <a:off x="714348" y="4824723"/>
            <a:ext cx="7000924" cy="461665"/>
            <a:chOff x="1071538" y="6286520"/>
            <a:chExt cx="7000924" cy="461665"/>
          </a:xfrm>
        </p:grpSpPr>
        <p:sp>
          <p:nvSpPr>
            <p:cNvPr id="45" name="TextBox 4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375ms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272KB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anose="020B0805030504020804" pitchFamily="34" charset="0"/>
                  <a:ea typeface="仿宋" panose="02010609060101010101" pitchFamily="49" charset="-122"/>
                  <a:cs typeface="Consolas" panose="020B0609020204030204" pitchFamily="49" charset="0"/>
                </a:rPr>
                <a:t>EXE</a:t>
              </a:r>
              <a:endParaRPr lang="zh-CN" altLang="en-US" sz="2000">
                <a:solidFill>
                  <a:srgbClr val="FF3300"/>
                </a:solidFill>
                <a:latin typeface="Eras Demi ITC" panose="020B0805030504020804" pitchFamily="34" charset="0"/>
                <a:ea typeface="仿宋" panose="02010609060101010101" pitchFamily="49" charset="-122"/>
                <a:cs typeface="Consolas" panose="020B0609020204030204" pitchFamily="49" charset="0"/>
              </a:endParaRPr>
            </a:p>
          </p:txBody>
        </p:sp>
      </p:gr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71736" y="428604"/>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7.13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矩阵连乘问题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428628" y="1564218"/>
            <a:ext cx="8501090" cy="312704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44000" rtlCol="0">
            <a:spAutoFit/>
          </a:bodyPr>
          <a:lstStyle/>
          <a:p>
            <a:pPr algn="l">
              <a:lnSpc>
                <a:spcPts val="3200"/>
              </a:lnSpc>
              <a:spcBef>
                <a:spcPts val="0"/>
              </a:spcBef>
            </a:pP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en-US">
                <a:solidFill>
                  <a:srgbClr val="FF0000"/>
                </a:solidFill>
                <a:latin typeface="楷体" panose="02010609060101010101" pitchFamily="49" charset="-122"/>
                <a:ea typeface="楷体" panose="02010609060101010101" pitchFamily="49" charset="-122"/>
                <a:cs typeface="Consolas" panose="020B0609020204030204" pitchFamily="49" charset="0"/>
              </a:rPr>
              <a:t>问题描述</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假设</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矩阵，</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矩阵，在计算</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的标准算法中需要做</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pqr</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次数乘。</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200"/>
              </a:lnSpc>
              <a:spcBef>
                <a:spcPts val="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&gt;2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）个矩阵</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是可乘的（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rPr>
              <a:t>例如，</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时，</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和</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的大小分别为</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50</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50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a:lnSpc>
                <a:spcPts val="3200"/>
              </a:lnSpc>
              <a:spcBef>
                <a:spcPts val="0"/>
              </a:spcBef>
            </a:pP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求这</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个矩阵的乘积</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n-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时最少的数乘次数是多少？</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428596" y="1076789"/>
            <a:ext cx="8429684" cy="4961963"/>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用一维数组</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个矩阵的大小，</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的行数，</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）的列数，例如</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和</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的大小分别为</a:t>
            </a:r>
            <a:r>
              <a:rPr lang="en-US" altLang="zh-CN">
                <a:solidFill>
                  <a:srgbClr val="0000FF"/>
                </a:solidFill>
                <a:latin typeface="Consolas" panose="020B0609020204030204" pitchFamily="49" charset="0"/>
                <a:ea typeface="仿宋" panose="02010609060101010101" pitchFamily="49" charset="-122"/>
              </a:rPr>
              <a:t>10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100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50</a:t>
            </a:r>
            <a:r>
              <a:rPr lang="zh-CN" altLang="zh-CN">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50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en-US">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对应的</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[0..3]={10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100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其运算</a:t>
            </a:r>
            <a:r>
              <a:rPr lang="zh-CN" altLang="zh-CN">
                <a:solidFill>
                  <a:srgbClr val="0000FF"/>
                </a:solidFill>
                <a:latin typeface="Consolas" panose="020B0609020204030204" pitchFamily="49" charset="0"/>
                <a:ea typeface="仿宋" panose="02010609060101010101" pitchFamily="49" charset="-122"/>
              </a:rPr>
              <a:t>方式</a:t>
            </a:r>
            <a:r>
              <a:rPr lang="zh-CN" altLang="en-US">
                <a:solidFill>
                  <a:srgbClr val="0000FF"/>
                </a:solidFill>
                <a:latin typeface="Consolas" panose="020B0609020204030204" pitchFamily="49" charset="0"/>
                <a:ea typeface="仿宋" panose="02010609060101010101" pitchFamily="49" charset="-122"/>
              </a:rPr>
              <a:t>有</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2</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3</a:t>
            </a:r>
            <a:r>
              <a:rPr lang="en-US"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r>
              <a:rPr lang="zh-CN" altLang="zh-CN">
                <a:solidFill>
                  <a:srgbClr val="FF00FF"/>
                </a:solidFill>
                <a:latin typeface="Consolas" panose="020B0609020204030204" pitchFamily="49" charset="0"/>
                <a:ea typeface="仿宋" panose="02010609060101010101" pitchFamily="49" charset="-122"/>
              </a:rPr>
              <a:t>总计数乘次数为</a:t>
            </a:r>
            <a:r>
              <a:rPr lang="en-US" altLang="zh-CN">
                <a:solidFill>
                  <a:srgbClr val="FF00FF"/>
                </a:solidFill>
                <a:latin typeface="Consolas" panose="020B0609020204030204" pitchFamily="49" charset="0"/>
                <a:ea typeface="仿宋" panose="02010609060101010101" pitchFamily="49" charset="-122"/>
              </a:rPr>
              <a:t>52500</a:t>
            </a:r>
            <a:r>
              <a:rPr lang="zh-CN" altLang="en-US">
                <a:solidFill>
                  <a:srgbClr val="0000FF"/>
                </a:solidFill>
                <a:latin typeface="Consolas" panose="020B0609020204030204" pitchFamily="49" charset="0"/>
                <a:ea typeface="仿宋" panose="02010609060101010101" pitchFamily="49" charset="-122"/>
              </a:rPr>
              <a:t>）和</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A</a:t>
            </a:r>
            <a:r>
              <a:rPr lang="en-US" altLang="zh-CN" baseline="-25000">
                <a:solidFill>
                  <a:srgbClr val="0000FF"/>
                </a:solidFill>
                <a:latin typeface="Consolas" panose="020B0609020204030204" pitchFamily="49" charset="0"/>
                <a:ea typeface="仿宋" panose="02010609060101010101" pitchFamily="49" charset="-122"/>
              </a:rPr>
              <a:t>3</a:t>
            </a:r>
            <a:r>
              <a:rPr lang="en-US"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a:t>
            </a:r>
            <a:r>
              <a:rPr lang="zh-CN" altLang="zh-CN">
                <a:solidFill>
                  <a:srgbClr val="FF00FF"/>
                </a:solidFill>
                <a:latin typeface="Consolas" panose="020B0609020204030204" pitchFamily="49" charset="0"/>
                <a:ea typeface="仿宋" panose="02010609060101010101" pitchFamily="49" charset="-122"/>
              </a:rPr>
              <a:t>总数乘次数为</a:t>
            </a:r>
            <a:r>
              <a:rPr lang="en-US" altLang="zh-CN">
                <a:solidFill>
                  <a:srgbClr val="FF00FF"/>
                </a:solidFill>
                <a:latin typeface="Consolas" panose="020B0609020204030204" pitchFamily="49" charset="0"/>
                <a:ea typeface="仿宋" panose="02010609060101010101" pitchFamily="49" charset="-122"/>
              </a:rPr>
              <a:t>30000</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实际上每加上一个括号就是做一次两个矩阵相乘的标准算法，用</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n-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的连乘结果，显然</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是一个</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大小的矩阵。</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设计二维动态规划数组</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表示计算</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的最少数乘次数，初始时置</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所有元素为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1428728" y="379744"/>
            <a:ext cx="228601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rPr>
              <a:t>区间动态规划</a:t>
            </a:r>
            <a:endPar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9" name="Picture 4"/>
          <p:cNvPicPr>
            <a:picLocks noChangeAspect="1" noChangeArrowheads="1"/>
          </p:cNvPicPr>
          <p:nvPr/>
        </p:nvPicPr>
        <p:blipFill>
          <a:blip r:embed="rId2" cstate="print"/>
          <a:srcRect/>
          <a:stretch>
            <a:fillRect/>
          </a:stretch>
        </p:blipFill>
        <p:spPr bwMode="auto">
          <a:xfrm>
            <a:off x="642911" y="35716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TextBox 6"/>
          <p:cNvSpPr txBox="1"/>
          <p:nvPr/>
        </p:nvSpPr>
        <p:spPr>
          <a:xfrm>
            <a:off x="214282" y="285728"/>
            <a:ext cx="8715436" cy="1082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枚举区间</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开始递增），如</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下</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图所示，枚举该区间中每个位置</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FF00FF"/>
                </a:solidFill>
                <a:latin typeface="Consolas" panose="020B0609020204030204" pitchFamily="49" charset="0"/>
                <a:ea typeface="仿宋" panose="02010609060101010101" pitchFamily="49" charset="-122"/>
                <a:cs typeface="Consolas" panose="020B0609020204030204" pitchFamily="49" charset="0"/>
              </a:rPr>
              <a:t>m</a:t>
            </a:r>
            <a:r>
              <a:rPr lang="zh-CN" altLang="zh-CN">
                <a:solidFill>
                  <a:srgbClr val="FF00FF"/>
                </a:solidFill>
                <a:latin typeface="Consolas" panose="020B0609020204030204" pitchFamily="49" charset="0"/>
                <a:ea typeface="仿宋" panose="02010609060101010101" pitchFamily="49" charset="-122"/>
                <a:cs typeface="Consolas" panose="020B0609020204030204" pitchFamily="49" charset="0"/>
              </a:rPr>
              <a:t>称为分割点</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mj-ea"/>
                <a:ea typeface="+mj-ea"/>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12"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8" name="组合 17"/>
          <p:cNvGrpSpPr/>
          <p:nvPr/>
        </p:nvGrpSpPr>
        <p:grpSpPr>
          <a:xfrm>
            <a:off x="1142976" y="1857364"/>
            <a:ext cx="5143536" cy="1970949"/>
            <a:chOff x="1785918" y="3844063"/>
            <a:chExt cx="5143536" cy="1970949"/>
          </a:xfrm>
        </p:grpSpPr>
        <p:sp>
          <p:nvSpPr>
            <p:cNvPr id="102404" name="Rectangle 4"/>
            <p:cNvSpPr>
              <a:spLocks noChangeArrowheads="1"/>
            </p:cNvSpPr>
            <p:nvPr/>
          </p:nvSpPr>
          <p:spPr bwMode="auto">
            <a:xfrm>
              <a:off x="1785918" y="4519372"/>
              <a:ext cx="5143536" cy="338388"/>
            </a:xfrm>
            <a:prstGeom prst="rect">
              <a:avLst/>
            </a:prstGeom>
            <a:solidFill>
              <a:srgbClr val="FFFFFF"/>
            </a:solidFill>
            <a:ln w="9525">
              <a:noFill/>
              <a:miter lim="800000"/>
              <a:headEnd type="none" w="sm" len="sm"/>
              <a:tailEnd type="none" w="sm" len="sm"/>
            </a:ln>
          </p:spPr>
          <p:txBody>
            <a:bodyPr vert="horz" wrap="square" lIns="0" tIns="0" rIns="0" bIns="216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1" i="1" u="none" strike="noStrike" cap="none" normalizeH="0" baseline="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1" i="1" u="none" strike="noStrike" cap="none" normalizeH="0" baseline="-30000">
                  <a:ln>
                    <a:noFill/>
                  </a:ln>
                  <a:solidFill>
                    <a:srgbClr val="C00000"/>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0" u="none" strike="noStrike" cap="none" normalizeH="0" baseline="0">
                  <a:ln>
                    <a:noFill/>
                  </a:ln>
                  <a:solidFill>
                    <a:srgbClr val="0000FF"/>
                  </a:solidFill>
                  <a:effectLst/>
                  <a:latin typeface="+mj-ea"/>
                  <a:ea typeface="+mj-ea"/>
                  <a:cs typeface="Consolas" panose="020B0609020204030204" pitchFamily="49" charset="0"/>
                </a:rPr>
                <a:t>…</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b="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2000" b="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410" name="Rectangle 10"/>
            <p:cNvSpPr>
              <a:spLocks noChangeArrowheads="1"/>
            </p:cNvSpPr>
            <p:nvPr/>
          </p:nvSpPr>
          <p:spPr bwMode="auto">
            <a:xfrm>
              <a:off x="3687753" y="3844063"/>
              <a:ext cx="1192400" cy="3143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409" name="AutoShape 9"/>
            <p:cNvSpPr/>
            <p:nvPr/>
          </p:nvSpPr>
          <p:spPr bwMode="auto">
            <a:xfrm rot="5400000">
              <a:off x="3064914" y="3721641"/>
              <a:ext cx="228091" cy="2500329"/>
            </a:xfrm>
            <a:prstGeom prst="rightBrace">
              <a:avLst>
                <a:gd name="adj1" fmla="val 56204"/>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08" name="AutoShape 8"/>
            <p:cNvSpPr/>
            <p:nvPr/>
          </p:nvSpPr>
          <p:spPr bwMode="auto">
            <a:xfrm rot="16200000">
              <a:off x="4156740" y="1870732"/>
              <a:ext cx="187578" cy="4929222"/>
            </a:xfrm>
            <a:prstGeom prst="rightBrace">
              <a:avLst>
                <a:gd name="adj1" fmla="val 144546"/>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07" name="Rectangle 7"/>
            <p:cNvSpPr>
              <a:spLocks noChangeArrowheads="1"/>
            </p:cNvSpPr>
            <p:nvPr/>
          </p:nvSpPr>
          <p:spPr bwMode="auto">
            <a:xfrm>
              <a:off x="2643174" y="5164366"/>
              <a:ext cx="1143008" cy="26489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406" name="AutoShape 6"/>
            <p:cNvSpPr/>
            <p:nvPr/>
          </p:nvSpPr>
          <p:spPr bwMode="auto">
            <a:xfrm rot="5400000">
              <a:off x="5744016" y="4043111"/>
              <a:ext cx="228090" cy="1857388"/>
            </a:xfrm>
            <a:prstGeom prst="rightBrace">
              <a:avLst>
                <a:gd name="adj1" fmla="val 49963"/>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405" name="Rectangle 5"/>
            <p:cNvSpPr>
              <a:spLocks noChangeArrowheads="1"/>
            </p:cNvSpPr>
            <p:nvPr/>
          </p:nvSpPr>
          <p:spPr bwMode="auto">
            <a:xfrm>
              <a:off x="5000628" y="5143512"/>
              <a:ext cx="1571636" cy="28575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dp[</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403" name="Rectangle 3"/>
            <p:cNvSpPr>
              <a:spLocks noChangeArrowheads="1"/>
            </p:cNvSpPr>
            <p:nvPr/>
          </p:nvSpPr>
          <p:spPr bwMode="auto">
            <a:xfrm>
              <a:off x="3928846" y="5572140"/>
              <a:ext cx="1428972" cy="24287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做一次</a:t>
              </a:r>
              <a:r>
                <a:rPr kumimoji="0" lang="nb-NO"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a:t>
              </a:r>
              <a:endParaRPr kumimoji="0" lang="nb-NO" altLang="zh-CN" sz="20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402" name="AutoShape 2"/>
            <p:cNvSpPr>
              <a:spLocks noChangeShapeType="1"/>
            </p:cNvSpPr>
            <p:nvPr/>
          </p:nvSpPr>
          <p:spPr bwMode="auto">
            <a:xfrm flipV="1">
              <a:off x="4572000" y="4786322"/>
              <a:ext cx="1484" cy="68255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9" name="TextBox 18"/>
          <p:cNvSpPr txBox="1"/>
          <p:nvPr/>
        </p:nvSpPr>
        <p:spPr>
          <a:xfrm>
            <a:off x="214282" y="4083258"/>
            <a:ext cx="8643998" cy="106025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0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本次矩阵相乘的数乘次数为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有</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]=min</a:t>
            </a:r>
            <a:r>
              <a:rPr lang="pt-BR" altLang="zh-CN" sz="20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zh-CN" altLang="zh-CN" sz="2000" baseline="-25000">
                <a:solidFill>
                  <a:srgbClr val="006600"/>
                </a:solidFill>
                <a:latin typeface="+mj-ea"/>
                <a:ea typeface="+mj-ea"/>
                <a:cs typeface="Consolas" panose="020B0609020204030204" pitchFamily="49" charset="0"/>
              </a:rPr>
              <a:t>≤</a:t>
            </a:r>
            <a:r>
              <a:rPr lang="pt-BR" altLang="zh-CN" sz="20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pt-BR" altLang="zh-CN" sz="20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&lt;</a:t>
            </a:r>
            <a:r>
              <a:rPr lang="pt-BR" altLang="zh-CN" sz="20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 dp[</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]+dp[</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p</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p</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p</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pt-BR"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52" y="785794"/>
            <a:ext cx="8572528" cy="1552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360045" algn="l">
              <a:lnSpc>
                <a:spcPts val="28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另外设计一个二维数组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取最小值时的分割点。</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360045" algn="l">
              <a:lnSpc>
                <a:spcPts val="28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当求出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数组后，</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dp[1][</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就是最少的数乘次数。</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5424"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142844" y="285728"/>
            <a:ext cx="8858312"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dp;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二维动态规划数组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存放最优分割点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120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matrixchain</a:t>
            </a:r>
            <a:r>
              <a:rPr lang="en-US" altLang="zh-CN" sz="2000">
                <a:solidFill>
                  <a:srgbClr val="0000FF"/>
                </a:solidFill>
                <a:latin typeface="Consolas" panose="020B0609020204030204" pitchFamily="49" charset="0"/>
                <a:ea typeface="仿宋" panose="02010609060101010101" pitchFamily="49" charset="-122"/>
              </a:rPr>
              <a:t>(int p[],int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dp</a:t>
            </a:r>
            <a:r>
              <a:rPr lang="zh-CN" altLang="zh-CN" sz="2000">
                <a:solidFill>
                  <a:srgbClr val="00B0F0"/>
                </a:solidFill>
                <a:latin typeface="Consolas" panose="020B0609020204030204" pitchFamily="49" charset="0"/>
                <a:ea typeface="仿宋" panose="02010609060101010101" pitchFamily="49" charset="-122"/>
              </a:rPr>
              <a:t>和</a:t>
            </a:r>
            <a:r>
              <a:rPr lang="en-US" altLang="zh-CN" sz="2000">
                <a:solidFill>
                  <a:srgbClr val="00B0F0"/>
                </a:solidFill>
                <a:latin typeface="Consolas" panose="020B0609020204030204" pitchFamily="49" charset="0"/>
                <a:ea typeface="仿宋" panose="02010609060101010101" pitchFamily="49" charset="-122"/>
              </a:rPr>
              <a:t>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len=2;len&lt;=n;len++)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按长度</a:t>
            </a:r>
            <a:r>
              <a:rPr lang="en-US" altLang="zh-CN" sz="2000">
                <a:solidFill>
                  <a:srgbClr val="00B0F0"/>
                </a:solidFill>
                <a:latin typeface="Consolas" panose="020B0609020204030204" pitchFamily="49" charset="0"/>
                <a:ea typeface="仿宋" panose="02010609060101010101" pitchFamily="49" charset="-122"/>
              </a:rPr>
              <a:t>len</a:t>
            </a:r>
            <a:r>
              <a:rPr lang="zh-CN" altLang="zh-CN" sz="2000">
                <a:solidFill>
                  <a:srgbClr val="00B0F0"/>
                </a:solidFill>
                <a:latin typeface="Consolas" panose="020B0609020204030204" pitchFamily="49" charset="0"/>
                <a:ea typeface="仿宋" panose="02010609060101010101" pitchFamily="49" charset="-122"/>
              </a:rPr>
              <a:t>枚举区间</a:t>
            </a:r>
            <a:r>
              <a:rPr lang="en-US" altLang="zh-CN" sz="2000">
                <a:solidFill>
                  <a:srgbClr val="00B0F0"/>
                </a:solidFill>
                <a:latin typeface="Consolas" panose="020B0609020204030204" pitchFamily="49" charset="0"/>
                <a:ea typeface="仿宋" panose="02010609060101010101" pitchFamily="49" charset="-122"/>
              </a:rPr>
              <a:t>[i,j]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i=1;i+len-1&lt;=n;i++)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j=i+len-1;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dp[i][j]=dp[i+1][j]+p[i-1]*p[i]*p[j];</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s[i][j]=i;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m=i+1;m&lt;j;m++)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枚举分割点</a:t>
            </a:r>
            <a:r>
              <a:rPr lang="en-US" altLang="zh-CN" sz="2000">
                <a:solidFill>
                  <a:srgbClr val="00B0F0"/>
                </a:solidFill>
                <a:latin typeface="Consolas" panose="020B0609020204030204" pitchFamily="49" charset="0"/>
                <a:ea typeface="仿宋" panose="02010609060101010101" pitchFamily="49" charset="-122"/>
              </a:rPr>
              <a:t>m(</a:t>
            </a:r>
            <a:r>
              <a:rPr lang="zh-CN" altLang="zh-CN" sz="2000">
                <a:solidFill>
                  <a:srgbClr val="00B0F0"/>
                </a:solidFill>
                <a:latin typeface="Consolas" panose="020B0609020204030204" pitchFamily="49" charset="0"/>
                <a:ea typeface="仿宋" panose="02010609060101010101" pitchFamily="49" charset="-122"/>
              </a:rPr>
              <a:t>不包含</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和</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int tmp=dp[i][m]+dp[m+1][j]+p[i-1]*p[m]*p[j];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if(tmp&lt;dp[i][j])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dp[i][j]=tmp;</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s[i][j]=m;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6" end="1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142844" y="642017"/>
            <a:ext cx="8858312" cy="227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(int i,int 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构造一个最优解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if(i==j) return;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(i,s[i][j]);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(s[i][j]+1,j);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A[%d..%d] × A[%d..%d]\n",i,s[i][j],s[i][j]+1,j);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1571604" y="3571876"/>
            <a:ext cx="5143536"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a:solidFill>
                  <a:srgbClr val="0000FF"/>
                </a:solidFill>
                <a:latin typeface="+mn-ea"/>
                <a:ea typeface="+mn-ea"/>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a:solidFill>
                  <a:srgbClr val="0000FF"/>
                </a:solidFill>
                <a:latin typeface="+mn-ea"/>
                <a:ea typeface="+mn-ea"/>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8" name="直接箭头连接符 7"/>
          <p:cNvCxnSpPr/>
          <p:nvPr/>
        </p:nvCxnSpPr>
        <p:spPr>
          <a:xfrm rot="5400000" flipH="1" flipV="1">
            <a:off x="3391421" y="3929066"/>
            <a:ext cx="1000132" cy="1588"/>
          </a:xfrm>
          <a:prstGeom prst="straightConnector1">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cxnSp>
      <p:sp>
        <p:nvSpPr>
          <p:cNvPr id="9" name="下箭头 8"/>
          <p:cNvSpPr/>
          <p:nvPr/>
        </p:nvSpPr>
        <p:spPr>
          <a:xfrm>
            <a:off x="3786182" y="4643446"/>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1357290" y="5143512"/>
            <a:ext cx="5643602" cy="461665"/>
          </a:xfrm>
          <a:prstGeom prst="rect">
            <a:avLst/>
          </a:prstGeom>
          <a:noFill/>
        </p:spPr>
        <p:txBody>
          <a:bodyPr wrap="square" rtlCol="0">
            <a:spAutoFit/>
          </a:bodyPr>
          <a:lstStyle/>
          <a:p>
            <a:pPr algn="l">
              <a:lnSpc>
                <a:spcPct val="100000"/>
              </a:lnSpc>
              <a:spcBef>
                <a:spcPts val="0"/>
              </a:spcBef>
            </a:pPr>
            <a:r>
              <a:rPr lang="en-US" altLang="zh-CN">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a:solidFill>
                  <a:srgbClr val="0000FF"/>
                </a:solidFill>
                <a:latin typeface="+mn-ea"/>
                <a:ea typeface="+mn-ea"/>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a:solidFill>
                  <a:srgbClr val="0000FF"/>
                </a:solidFill>
                <a:latin typeface="+mn-ea"/>
                <a:ea typeface="+mn-ea"/>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a:solidFill>
                  <a:srgbClr val="FF00FF"/>
                </a:solidFill>
                <a:latin typeface="Consolas" panose="020B0609020204030204" pitchFamily="49" charset="0"/>
                <a:ea typeface="楷体"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楷体" panose="02010609060101010101" pitchFamily="49" charset="-122"/>
                <a:cs typeface="Consolas" panose="020B0609020204030204" pitchFamily="49" charset="0"/>
              </a:rPr>
              <a:t> </a:t>
            </a:r>
            <a:endPar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642017"/>
            <a:ext cx="8286808" cy="34283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solve</a:t>
            </a:r>
            <a:r>
              <a:rPr lang="en-US" altLang="zh-CN" sz="2000">
                <a:solidFill>
                  <a:srgbClr val="0000FF"/>
                </a:solidFill>
                <a:latin typeface="Consolas" panose="020B0609020204030204" pitchFamily="49" charset="0"/>
                <a:ea typeface="仿宋" panose="02010609060101010101" pitchFamily="49" charset="-122"/>
              </a:rPr>
              <a:t>(int p[],int 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求解算法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dp=vector&lt;vector&lt;int&gt;&gt;(n+1,vector&lt;int&gt;(n+1,0));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s=vector&lt;vector&lt;int&gt;&gt;(n+1,vector&lt;int&gt;(n+1));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matrixchain</a:t>
            </a:r>
            <a:r>
              <a:rPr lang="en-US" altLang="zh-CN" sz="2000">
                <a:solidFill>
                  <a:srgbClr val="0000FF"/>
                </a:solidFill>
                <a:latin typeface="Consolas" panose="020B0609020204030204" pitchFamily="49" charset="0"/>
                <a:ea typeface="仿宋" panose="02010609060101010101" pitchFamily="49" charset="-122"/>
              </a:rPr>
              <a:t>(p,n);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矩阵最优计算次序</a:t>
            </a:r>
            <a:r>
              <a:rPr lang="en-US" altLang="zh-CN" sz="2000">
                <a:solidFill>
                  <a:srgbClr val="0000FF"/>
                </a:solidFill>
                <a:latin typeface="Consolas" panose="020B0609020204030204" pitchFamily="49" charset="0"/>
                <a:ea typeface="仿宋" panose="02010609060101010101" pitchFamily="49" charset="-122"/>
              </a:rPr>
              <a:t>:\n");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getx</a:t>
            </a:r>
            <a:r>
              <a:rPr lang="en-US" altLang="zh-CN" sz="2000">
                <a:solidFill>
                  <a:srgbClr val="0000FF"/>
                </a:solidFill>
                <a:latin typeface="Consolas" panose="020B0609020204030204" pitchFamily="49" charset="0"/>
                <a:ea typeface="仿宋" panose="02010609060101010101" pitchFamily="49" charset="-122"/>
              </a:rPr>
              <a:t>(1,n);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最少数乘次数</a:t>
            </a:r>
            <a:r>
              <a:rPr lang="en-US" altLang="zh-CN" sz="2000">
                <a:solidFill>
                  <a:srgbClr val="0000FF"/>
                </a:solidFill>
                <a:latin typeface="Consolas" panose="020B0609020204030204" pitchFamily="49" charset="0"/>
                <a:ea typeface="仿宋" panose="02010609060101010101" pitchFamily="49" charset="-122"/>
              </a:rPr>
              <a:t>=%d\n",dp[1][n]);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6" name="TextBox 5"/>
          <p:cNvSpPr txBox="1"/>
          <p:nvPr/>
        </p:nvSpPr>
        <p:spPr>
          <a:xfrm>
            <a:off x="357158" y="4286256"/>
            <a:ext cx="8572560" cy="87806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matrixchain</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：该算法中包含</a:t>
            </a:r>
            <a:r>
              <a:rPr lang="en-US" altLang="zh-CN" sz="2200">
                <a:solidFill>
                  <a:srgbClr val="0000FF"/>
                </a:solidFill>
                <a:latin typeface="Consolas" panose="020B0609020204030204" pitchFamily="49" charset="0"/>
                <a:ea typeface="仿宋" panose="02010609060101010101" pitchFamily="49" charset="-122"/>
              </a:rPr>
              <a:t>3</a:t>
            </a:r>
            <a:r>
              <a:rPr lang="zh-CN" altLang="zh-CN" sz="2200">
                <a:solidFill>
                  <a:srgbClr val="0000FF"/>
                </a:solidFill>
                <a:latin typeface="Consolas" panose="020B0609020204030204" pitchFamily="49" charset="0"/>
                <a:ea typeface="仿宋" panose="02010609060101010101" pitchFamily="49" charset="-122"/>
              </a:rPr>
              <a:t>重循环，时间复杂度为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3</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，空间复杂度为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2</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2740" name="Rectangle 10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2738" name="Rectangle 98"/>
          <p:cNvSpPr>
            <a:spLocks noChangeArrowheads="1"/>
          </p:cNvSpPr>
          <p:nvPr/>
        </p:nvSpPr>
        <p:spPr bwMode="auto">
          <a:xfrm>
            <a:off x="442915" y="3008789"/>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7" name="Rectangle 97"/>
          <p:cNvSpPr>
            <a:spLocks noChangeArrowheads="1"/>
          </p:cNvSpPr>
          <p:nvPr/>
        </p:nvSpPr>
        <p:spPr bwMode="auto">
          <a:xfrm>
            <a:off x="442915" y="339028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6" name="Rectangle 96"/>
          <p:cNvSpPr>
            <a:spLocks noChangeArrowheads="1"/>
          </p:cNvSpPr>
          <p:nvPr/>
        </p:nvSpPr>
        <p:spPr bwMode="auto">
          <a:xfrm>
            <a:off x="442915" y="3789119"/>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5" name="Rectangle 95"/>
          <p:cNvSpPr>
            <a:spLocks noChangeArrowheads="1"/>
          </p:cNvSpPr>
          <p:nvPr/>
        </p:nvSpPr>
        <p:spPr bwMode="auto">
          <a:xfrm>
            <a:off x="442915" y="4170613"/>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4" name="Rectangle 94"/>
          <p:cNvSpPr>
            <a:spLocks noChangeArrowheads="1"/>
          </p:cNvSpPr>
          <p:nvPr/>
        </p:nvSpPr>
        <p:spPr bwMode="auto">
          <a:xfrm>
            <a:off x="442915" y="455210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3" name="Rectangle 93"/>
          <p:cNvSpPr>
            <a:spLocks noChangeArrowheads="1"/>
          </p:cNvSpPr>
          <p:nvPr/>
        </p:nvSpPr>
        <p:spPr bwMode="auto">
          <a:xfrm>
            <a:off x="442915" y="493360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2" name="Rectangle 92"/>
          <p:cNvSpPr>
            <a:spLocks noChangeArrowheads="1"/>
          </p:cNvSpPr>
          <p:nvPr/>
        </p:nvSpPr>
        <p:spPr bwMode="auto">
          <a:xfrm>
            <a:off x="285720" y="3203871"/>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1" name="Rectangle 91"/>
          <p:cNvSpPr>
            <a:spLocks noChangeArrowheads="1"/>
          </p:cNvSpPr>
          <p:nvPr/>
        </p:nvSpPr>
        <p:spPr bwMode="auto">
          <a:xfrm>
            <a:off x="888482" y="2383441"/>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30" name="Rectangle 90"/>
          <p:cNvSpPr>
            <a:spLocks noChangeArrowheads="1"/>
          </p:cNvSpPr>
          <p:nvPr/>
        </p:nvSpPr>
        <p:spPr bwMode="auto">
          <a:xfrm>
            <a:off x="607699"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9" name="Rectangle 89"/>
          <p:cNvSpPr>
            <a:spLocks noChangeArrowheads="1"/>
          </p:cNvSpPr>
          <p:nvPr/>
        </p:nvSpPr>
        <p:spPr bwMode="auto">
          <a:xfrm>
            <a:off x="954612"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8" name="Rectangle 88"/>
          <p:cNvSpPr>
            <a:spLocks noChangeArrowheads="1"/>
          </p:cNvSpPr>
          <p:nvPr/>
        </p:nvSpPr>
        <p:spPr bwMode="auto">
          <a:xfrm>
            <a:off x="1275507"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7" name="Rectangle 87"/>
          <p:cNvSpPr>
            <a:spLocks noChangeArrowheads="1"/>
          </p:cNvSpPr>
          <p:nvPr/>
        </p:nvSpPr>
        <p:spPr bwMode="auto">
          <a:xfrm>
            <a:off x="1622420"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6" name="Rectangle 86"/>
          <p:cNvSpPr>
            <a:spLocks noChangeArrowheads="1"/>
          </p:cNvSpPr>
          <p:nvPr/>
        </p:nvSpPr>
        <p:spPr bwMode="auto">
          <a:xfrm>
            <a:off x="1995352"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5" name="Rectangle 85"/>
          <p:cNvSpPr>
            <a:spLocks noChangeArrowheads="1"/>
          </p:cNvSpPr>
          <p:nvPr/>
        </p:nvSpPr>
        <p:spPr bwMode="auto">
          <a:xfrm>
            <a:off x="2342265"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24" name="AutoShape 84"/>
          <p:cNvSpPr>
            <a:spLocks noChangeShapeType="1"/>
          </p:cNvSpPr>
          <p:nvPr/>
        </p:nvSpPr>
        <p:spPr bwMode="auto">
          <a:xfrm>
            <a:off x="2123276" y="2976275"/>
            <a:ext cx="263437" cy="351148"/>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723" name="AutoShape 83"/>
          <p:cNvSpPr>
            <a:spLocks noChangeShapeType="1"/>
          </p:cNvSpPr>
          <p:nvPr/>
        </p:nvSpPr>
        <p:spPr bwMode="auto">
          <a:xfrm>
            <a:off x="1766606" y="2954599"/>
            <a:ext cx="588668" cy="810676"/>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722" name="AutoShape 82"/>
          <p:cNvSpPr>
            <a:spLocks noChangeShapeType="1"/>
          </p:cNvSpPr>
          <p:nvPr/>
        </p:nvSpPr>
        <p:spPr bwMode="auto">
          <a:xfrm>
            <a:off x="1405599" y="2922085"/>
            <a:ext cx="936666" cy="1300550"/>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721" name="AutoShape 81"/>
          <p:cNvSpPr>
            <a:spLocks noChangeShapeType="1"/>
          </p:cNvSpPr>
          <p:nvPr/>
        </p:nvSpPr>
        <p:spPr bwMode="auto">
          <a:xfrm>
            <a:off x="1085789" y="2922085"/>
            <a:ext cx="1256476" cy="1673374"/>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720" name="AutoShape 80"/>
          <p:cNvSpPr>
            <a:spLocks noChangeShapeType="1"/>
          </p:cNvSpPr>
          <p:nvPr/>
        </p:nvSpPr>
        <p:spPr bwMode="auto">
          <a:xfrm>
            <a:off x="737791" y="2922085"/>
            <a:ext cx="1604474" cy="2141572"/>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719" name="Rectangle 79"/>
          <p:cNvSpPr>
            <a:spLocks noChangeArrowheads="1"/>
          </p:cNvSpPr>
          <p:nvPr/>
        </p:nvSpPr>
        <p:spPr bwMode="auto">
          <a:xfrm>
            <a:off x="571472" y="5454906"/>
            <a:ext cx="2071702" cy="33154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 dp</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计算顺序</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8" name="Rectangle 78"/>
          <p:cNvSpPr>
            <a:spLocks noChangeArrowheads="1"/>
          </p:cNvSpPr>
          <p:nvPr/>
        </p:nvSpPr>
        <p:spPr bwMode="auto">
          <a:xfrm>
            <a:off x="2801925" y="3008789"/>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7" name="Rectangle 77"/>
          <p:cNvSpPr>
            <a:spLocks noChangeArrowheads="1"/>
          </p:cNvSpPr>
          <p:nvPr/>
        </p:nvSpPr>
        <p:spPr bwMode="auto">
          <a:xfrm>
            <a:off x="2801925" y="339028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6" name="Rectangle 76"/>
          <p:cNvSpPr>
            <a:spLocks noChangeArrowheads="1"/>
          </p:cNvSpPr>
          <p:nvPr/>
        </p:nvSpPr>
        <p:spPr bwMode="auto">
          <a:xfrm>
            <a:off x="2801925" y="3789119"/>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5" name="Rectangle 75"/>
          <p:cNvSpPr>
            <a:spLocks noChangeArrowheads="1"/>
          </p:cNvSpPr>
          <p:nvPr/>
        </p:nvSpPr>
        <p:spPr bwMode="auto">
          <a:xfrm>
            <a:off x="2801925" y="4170613"/>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4" name="Rectangle 74"/>
          <p:cNvSpPr>
            <a:spLocks noChangeArrowheads="1"/>
          </p:cNvSpPr>
          <p:nvPr/>
        </p:nvSpPr>
        <p:spPr bwMode="auto">
          <a:xfrm>
            <a:off x="2801925" y="455210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3" name="Rectangle 73"/>
          <p:cNvSpPr>
            <a:spLocks noChangeArrowheads="1"/>
          </p:cNvSpPr>
          <p:nvPr/>
        </p:nvSpPr>
        <p:spPr bwMode="auto">
          <a:xfrm>
            <a:off x="2801925" y="493360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2" name="Rectangle 72"/>
          <p:cNvSpPr>
            <a:spLocks noChangeArrowheads="1"/>
          </p:cNvSpPr>
          <p:nvPr/>
        </p:nvSpPr>
        <p:spPr bwMode="auto">
          <a:xfrm>
            <a:off x="2644730" y="3203871"/>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1" name="Rectangle 71"/>
          <p:cNvSpPr>
            <a:spLocks noChangeArrowheads="1"/>
          </p:cNvSpPr>
          <p:nvPr/>
        </p:nvSpPr>
        <p:spPr bwMode="auto">
          <a:xfrm>
            <a:off x="3472985" y="2374771"/>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10" name="Rectangle 70"/>
          <p:cNvSpPr>
            <a:spLocks noChangeArrowheads="1"/>
          </p:cNvSpPr>
          <p:nvPr/>
        </p:nvSpPr>
        <p:spPr bwMode="auto">
          <a:xfrm>
            <a:off x="3088128"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9" name="Rectangle 69"/>
          <p:cNvSpPr>
            <a:spLocks noChangeArrowheads="1"/>
          </p:cNvSpPr>
          <p:nvPr/>
        </p:nvSpPr>
        <p:spPr bwMode="auto">
          <a:xfrm>
            <a:off x="3521770"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8" name="Rectangle 68"/>
          <p:cNvSpPr>
            <a:spLocks noChangeArrowheads="1"/>
          </p:cNvSpPr>
          <p:nvPr/>
        </p:nvSpPr>
        <p:spPr bwMode="auto">
          <a:xfrm>
            <a:off x="4076831"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7" name="Rectangle 67"/>
          <p:cNvSpPr>
            <a:spLocks noChangeArrowheads="1"/>
          </p:cNvSpPr>
          <p:nvPr/>
        </p:nvSpPr>
        <p:spPr bwMode="auto">
          <a:xfrm>
            <a:off x="4614546"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6" name="Rectangle 66"/>
          <p:cNvSpPr>
            <a:spLocks noChangeArrowheads="1"/>
          </p:cNvSpPr>
          <p:nvPr/>
        </p:nvSpPr>
        <p:spPr bwMode="auto">
          <a:xfrm>
            <a:off x="5169607"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5" name="Rectangle 65"/>
          <p:cNvSpPr>
            <a:spLocks noChangeArrowheads="1"/>
          </p:cNvSpPr>
          <p:nvPr/>
        </p:nvSpPr>
        <p:spPr bwMode="auto">
          <a:xfrm>
            <a:off x="5698650"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4" name="Rectangle 64"/>
          <p:cNvSpPr>
            <a:spLocks noChangeArrowheads="1"/>
          </p:cNvSpPr>
          <p:nvPr/>
        </p:nvSpPr>
        <p:spPr bwMode="auto">
          <a:xfrm>
            <a:off x="6539915" y="2991448"/>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3" name="Rectangle 63"/>
          <p:cNvSpPr>
            <a:spLocks noChangeArrowheads="1"/>
          </p:cNvSpPr>
          <p:nvPr/>
        </p:nvSpPr>
        <p:spPr bwMode="auto">
          <a:xfrm>
            <a:off x="6539915" y="337294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2" name="Rectangle 62"/>
          <p:cNvSpPr>
            <a:spLocks noChangeArrowheads="1"/>
          </p:cNvSpPr>
          <p:nvPr/>
        </p:nvSpPr>
        <p:spPr bwMode="auto">
          <a:xfrm>
            <a:off x="6539915" y="377177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1" name="Rectangle 61"/>
          <p:cNvSpPr>
            <a:spLocks noChangeArrowheads="1"/>
          </p:cNvSpPr>
          <p:nvPr/>
        </p:nvSpPr>
        <p:spPr bwMode="auto">
          <a:xfrm>
            <a:off x="6539915" y="415327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700" name="Rectangle 60"/>
          <p:cNvSpPr>
            <a:spLocks noChangeArrowheads="1"/>
          </p:cNvSpPr>
          <p:nvPr/>
        </p:nvSpPr>
        <p:spPr bwMode="auto">
          <a:xfrm>
            <a:off x="6539915" y="4534767"/>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9" name="Rectangle 59"/>
          <p:cNvSpPr>
            <a:spLocks noChangeArrowheads="1"/>
          </p:cNvSpPr>
          <p:nvPr/>
        </p:nvSpPr>
        <p:spPr bwMode="auto">
          <a:xfrm>
            <a:off x="6539915" y="491626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8" name="Rectangle 58"/>
          <p:cNvSpPr>
            <a:spLocks noChangeArrowheads="1"/>
          </p:cNvSpPr>
          <p:nvPr/>
        </p:nvSpPr>
        <p:spPr bwMode="auto">
          <a:xfrm>
            <a:off x="6382720" y="3186530"/>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7" name="Rectangle 57"/>
          <p:cNvSpPr>
            <a:spLocks noChangeArrowheads="1"/>
          </p:cNvSpPr>
          <p:nvPr/>
        </p:nvSpPr>
        <p:spPr bwMode="auto">
          <a:xfrm>
            <a:off x="7106901" y="2357430"/>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6" name="Rectangle 56"/>
          <p:cNvSpPr>
            <a:spLocks noChangeArrowheads="1"/>
          </p:cNvSpPr>
          <p:nvPr/>
        </p:nvSpPr>
        <p:spPr bwMode="auto">
          <a:xfrm>
            <a:off x="6826118"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5" name="Rectangle 55"/>
          <p:cNvSpPr>
            <a:spLocks noChangeArrowheads="1"/>
          </p:cNvSpPr>
          <p:nvPr/>
        </p:nvSpPr>
        <p:spPr bwMode="auto">
          <a:xfrm>
            <a:off x="7173031"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4" name="Rectangle 54"/>
          <p:cNvSpPr>
            <a:spLocks noChangeArrowheads="1"/>
          </p:cNvSpPr>
          <p:nvPr/>
        </p:nvSpPr>
        <p:spPr bwMode="auto">
          <a:xfrm>
            <a:off x="7493926"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3" name="Rectangle 53"/>
          <p:cNvSpPr>
            <a:spLocks noChangeArrowheads="1"/>
          </p:cNvSpPr>
          <p:nvPr/>
        </p:nvSpPr>
        <p:spPr bwMode="auto">
          <a:xfrm>
            <a:off x="7840839"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2" name="Rectangle 52"/>
          <p:cNvSpPr>
            <a:spLocks noChangeArrowheads="1"/>
          </p:cNvSpPr>
          <p:nvPr/>
        </p:nvSpPr>
        <p:spPr bwMode="auto">
          <a:xfrm>
            <a:off x="8213771"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1" name="Rectangle 51"/>
          <p:cNvSpPr>
            <a:spLocks noChangeArrowheads="1"/>
          </p:cNvSpPr>
          <p:nvPr/>
        </p:nvSpPr>
        <p:spPr bwMode="auto">
          <a:xfrm>
            <a:off x="8560684"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90" name="Rectangle 50"/>
          <p:cNvSpPr>
            <a:spLocks noChangeArrowheads="1"/>
          </p:cNvSpPr>
          <p:nvPr/>
        </p:nvSpPr>
        <p:spPr bwMode="auto">
          <a:xfrm>
            <a:off x="3082708" y="2987113"/>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9" name="Rectangle 49"/>
          <p:cNvSpPr>
            <a:spLocks noChangeArrowheads="1"/>
          </p:cNvSpPr>
          <p:nvPr/>
        </p:nvSpPr>
        <p:spPr bwMode="auto">
          <a:xfrm>
            <a:off x="3360238" y="2987113"/>
            <a:ext cx="568070"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15750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8" name="Rectangle 48"/>
          <p:cNvSpPr>
            <a:spLocks noChangeArrowheads="1"/>
          </p:cNvSpPr>
          <p:nvPr/>
        </p:nvSpPr>
        <p:spPr bwMode="auto">
          <a:xfrm>
            <a:off x="3993355" y="298711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7875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7" name="Rectangle 47"/>
          <p:cNvSpPr>
            <a:spLocks noChangeArrowheads="1"/>
          </p:cNvSpPr>
          <p:nvPr/>
        </p:nvSpPr>
        <p:spPr bwMode="auto">
          <a:xfrm>
            <a:off x="4529986" y="298711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9375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6" name="Rectangle 46"/>
          <p:cNvSpPr>
            <a:spLocks noChangeArrowheads="1"/>
          </p:cNvSpPr>
          <p:nvPr/>
        </p:nvSpPr>
        <p:spPr bwMode="auto">
          <a:xfrm>
            <a:off x="5005908" y="29871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11875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5" name="Rectangle 45"/>
          <p:cNvSpPr>
            <a:spLocks noChangeArrowheads="1"/>
          </p:cNvSpPr>
          <p:nvPr/>
        </p:nvSpPr>
        <p:spPr bwMode="auto">
          <a:xfrm>
            <a:off x="5588071" y="2987113"/>
            <a:ext cx="563734" cy="260110"/>
          </a:xfrm>
          <a:prstGeom prst="rect">
            <a:avLst/>
          </a:prstGeom>
          <a:solidFill>
            <a:srgbClr val="000000"/>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15125</a:t>
            </a:r>
            <a:endParaRPr kumimoji="0" lang="en-US" altLang="zh-CN" sz="1600" b="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4" name="Rectangle 44"/>
          <p:cNvSpPr>
            <a:spLocks noChangeArrowheads="1"/>
          </p:cNvSpPr>
          <p:nvPr/>
        </p:nvSpPr>
        <p:spPr bwMode="auto">
          <a:xfrm>
            <a:off x="3516349" y="3390283"/>
            <a:ext cx="28078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3" name="Rectangle 43"/>
          <p:cNvSpPr>
            <a:spLocks noChangeArrowheads="1"/>
          </p:cNvSpPr>
          <p:nvPr/>
        </p:nvSpPr>
        <p:spPr bwMode="auto">
          <a:xfrm>
            <a:off x="4002028" y="339028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2625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2" name="Rectangle 42"/>
          <p:cNvSpPr>
            <a:spLocks noChangeArrowheads="1"/>
          </p:cNvSpPr>
          <p:nvPr/>
        </p:nvSpPr>
        <p:spPr bwMode="auto">
          <a:xfrm>
            <a:off x="4538659" y="339028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4375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1" name="Rectangle 41"/>
          <p:cNvSpPr>
            <a:spLocks noChangeArrowheads="1"/>
          </p:cNvSpPr>
          <p:nvPr/>
        </p:nvSpPr>
        <p:spPr bwMode="auto">
          <a:xfrm>
            <a:off x="5014581" y="339028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7125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80" name="Rectangle 40"/>
          <p:cNvSpPr>
            <a:spLocks noChangeArrowheads="1"/>
          </p:cNvSpPr>
          <p:nvPr/>
        </p:nvSpPr>
        <p:spPr bwMode="auto">
          <a:xfrm>
            <a:off x="5596744" y="339028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10500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9" name="Rectangle 39"/>
          <p:cNvSpPr>
            <a:spLocks noChangeArrowheads="1"/>
          </p:cNvSpPr>
          <p:nvPr/>
        </p:nvSpPr>
        <p:spPr bwMode="auto">
          <a:xfrm>
            <a:off x="4106102" y="3789119"/>
            <a:ext cx="24392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8" name="Rectangle 38"/>
          <p:cNvSpPr>
            <a:spLocks noChangeArrowheads="1"/>
          </p:cNvSpPr>
          <p:nvPr/>
        </p:nvSpPr>
        <p:spPr bwMode="auto">
          <a:xfrm>
            <a:off x="4547332" y="3789119"/>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750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7" name="Rectangle 37"/>
          <p:cNvSpPr>
            <a:spLocks noChangeArrowheads="1"/>
          </p:cNvSpPr>
          <p:nvPr/>
        </p:nvSpPr>
        <p:spPr bwMode="auto">
          <a:xfrm>
            <a:off x="5023253" y="3789119"/>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2500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6" name="Rectangle 36"/>
          <p:cNvSpPr>
            <a:spLocks noChangeArrowheads="1"/>
          </p:cNvSpPr>
          <p:nvPr/>
        </p:nvSpPr>
        <p:spPr bwMode="auto">
          <a:xfrm>
            <a:off x="5605417" y="3789119"/>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5375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5" name="Rectangle 35"/>
          <p:cNvSpPr>
            <a:spLocks noChangeArrowheads="1"/>
          </p:cNvSpPr>
          <p:nvPr/>
        </p:nvSpPr>
        <p:spPr bwMode="auto">
          <a:xfrm>
            <a:off x="4642733" y="4170613"/>
            <a:ext cx="32848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4" name="Rectangle 34"/>
          <p:cNvSpPr>
            <a:spLocks noChangeArrowheads="1"/>
          </p:cNvSpPr>
          <p:nvPr/>
        </p:nvSpPr>
        <p:spPr bwMode="auto">
          <a:xfrm>
            <a:off x="5023253" y="41706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1000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3" name="Rectangle 33"/>
          <p:cNvSpPr>
            <a:spLocks noChangeArrowheads="1"/>
          </p:cNvSpPr>
          <p:nvPr/>
        </p:nvSpPr>
        <p:spPr bwMode="auto">
          <a:xfrm>
            <a:off x="5605417" y="41706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3500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2" name="Rectangle 32"/>
          <p:cNvSpPr>
            <a:spLocks noChangeArrowheads="1"/>
          </p:cNvSpPr>
          <p:nvPr/>
        </p:nvSpPr>
        <p:spPr bwMode="auto">
          <a:xfrm>
            <a:off x="5162019" y="4552108"/>
            <a:ext cx="34799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1" name="Rectangle 31"/>
          <p:cNvSpPr>
            <a:spLocks noChangeArrowheads="1"/>
          </p:cNvSpPr>
          <p:nvPr/>
        </p:nvSpPr>
        <p:spPr bwMode="auto">
          <a:xfrm>
            <a:off x="5596744" y="4552108"/>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5000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70" name="Rectangle 30"/>
          <p:cNvSpPr>
            <a:spLocks noChangeArrowheads="1"/>
          </p:cNvSpPr>
          <p:nvPr/>
        </p:nvSpPr>
        <p:spPr bwMode="auto">
          <a:xfrm>
            <a:off x="5752855" y="4933602"/>
            <a:ext cx="34799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9" name="Rectangle 29"/>
          <p:cNvSpPr>
            <a:spLocks noChangeArrowheads="1"/>
          </p:cNvSpPr>
          <p:nvPr/>
        </p:nvSpPr>
        <p:spPr bwMode="auto">
          <a:xfrm>
            <a:off x="6842380"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8" name="Rectangle 28"/>
          <p:cNvSpPr>
            <a:spLocks noChangeArrowheads="1"/>
          </p:cNvSpPr>
          <p:nvPr/>
        </p:nvSpPr>
        <p:spPr bwMode="auto">
          <a:xfrm>
            <a:off x="7180620"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7" name="Rectangle 27"/>
          <p:cNvSpPr>
            <a:spLocks noChangeArrowheads="1"/>
          </p:cNvSpPr>
          <p:nvPr/>
        </p:nvSpPr>
        <p:spPr bwMode="auto">
          <a:xfrm>
            <a:off x="7501515"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6" name="Rectangle 26"/>
          <p:cNvSpPr>
            <a:spLocks noChangeArrowheads="1"/>
          </p:cNvSpPr>
          <p:nvPr/>
        </p:nvSpPr>
        <p:spPr bwMode="auto">
          <a:xfrm>
            <a:off x="7857101"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5" name="Rectangle 25"/>
          <p:cNvSpPr>
            <a:spLocks noChangeArrowheads="1"/>
          </p:cNvSpPr>
          <p:nvPr/>
        </p:nvSpPr>
        <p:spPr bwMode="auto">
          <a:xfrm>
            <a:off x="8212687"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4" name="Rectangle 24"/>
          <p:cNvSpPr>
            <a:spLocks noChangeArrowheads="1"/>
          </p:cNvSpPr>
          <p:nvPr/>
        </p:nvSpPr>
        <p:spPr bwMode="auto">
          <a:xfrm>
            <a:off x="8533581"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3" name="Rectangle 23"/>
          <p:cNvSpPr>
            <a:spLocks noChangeArrowheads="1"/>
          </p:cNvSpPr>
          <p:nvPr/>
        </p:nvSpPr>
        <p:spPr bwMode="auto">
          <a:xfrm>
            <a:off x="7180620"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2" name="Rectangle 22"/>
          <p:cNvSpPr>
            <a:spLocks noChangeArrowheads="1"/>
          </p:cNvSpPr>
          <p:nvPr/>
        </p:nvSpPr>
        <p:spPr bwMode="auto">
          <a:xfrm>
            <a:off x="7501515"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1" name="Rectangle 21"/>
          <p:cNvSpPr>
            <a:spLocks noChangeArrowheads="1"/>
          </p:cNvSpPr>
          <p:nvPr/>
        </p:nvSpPr>
        <p:spPr bwMode="auto">
          <a:xfrm>
            <a:off x="7857101"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60" name="Rectangle 20"/>
          <p:cNvSpPr>
            <a:spLocks noChangeArrowheads="1"/>
          </p:cNvSpPr>
          <p:nvPr/>
        </p:nvSpPr>
        <p:spPr bwMode="auto">
          <a:xfrm>
            <a:off x="8212687"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9" name="Rectangle 19"/>
          <p:cNvSpPr>
            <a:spLocks noChangeArrowheads="1"/>
          </p:cNvSpPr>
          <p:nvPr/>
        </p:nvSpPr>
        <p:spPr bwMode="auto">
          <a:xfrm>
            <a:off x="8533581"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8" name="Rectangle 18"/>
          <p:cNvSpPr>
            <a:spLocks noChangeArrowheads="1"/>
          </p:cNvSpPr>
          <p:nvPr/>
        </p:nvSpPr>
        <p:spPr bwMode="auto">
          <a:xfrm>
            <a:off x="7501515"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7" name="Rectangle 17"/>
          <p:cNvSpPr>
            <a:spLocks noChangeArrowheads="1"/>
          </p:cNvSpPr>
          <p:nvPr/>
        </p:nvSpPr>
        <p:spPr bwMode="auto">
          <a:xfrm>
            <a:off x="7857101"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6" name="Rectangle 16"/>
          <p:cNvSpPr>
            <a:spLocks noChangeArrowheads="1"/>
          </p:cNvSpPr>
          <p:nvPr/>
        </p:nvSpPr>
        <p:spPr bwMode="auto">
          <a:xfrm>
            <a:off x="8212687"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5" name="Rectangle 15"/>
          <p:cNvSpPr>
            <a:spLocks noChangeArrowheads="1"/>
          </p:cNvSpPr>
          <p:nvPr/>
        </p:nvSpPr>
        <p:spPr bwMode="auto">
          <a:xfrm>
            <a:off x="8533581"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4" name="Rectangle 14"/>
          <p:cNvSpPr>
            <a:spLocks noChangeArrowheads="1"/>
          </p:cNvSpPr>
          <p:nvPr/>
        </p:nvSpPr>
        <p:spPr bwMode="auto">
          <a:xfrm>
            <a:off x="7857101"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3" name="Rectangle 13"/>
          <p:cNvSpPr>
            <a:spLocks noChangeArrowheads="1"/>
          </p:cNvSpPr>
          <p:nvPr/>
        </p:nvSpPr>
        <p:spPr bwMode="auto">
          <a:xfrm>
            <a:off x="8212687"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2" name="Rectangle 12"/>
          <p:cNvSpPr>
            <a:spLocks noChangeArrowheads="1"/>
          </p:cNvSpPr>
          <p:nvPr/>
        </p:nvSpPr>
        <p:spPr bwMode="auto">
          <a:xfrm>
            <a:off x="8533581"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1" name="Rectangle 11"/>
          <p:cNvSpPr>
            <a:spLocks noChangeArrowheads="1"/>
          </p:cNvSpPr>
          <p:nvPr/>
        </p:nvSpPr>
        <p:spPr bwMode="auto">
          <a:xfrm>
            <a:off x="8212687" y="4482745"/>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50" name="Rectangle 10"/>
          <p:cNvSpPr>
            <a:spLocks noChangeArrowheads="1"/>
          </p:cNvSpPr>
          <p:nvPr/>
        </p:nvSpPr>
        <p:spPr bwMode="auto">
          <a:xfrm>
            <a:off x="8533581" y="4482745"/>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49" name="Rectangle 9"/>
          <p:cNvSpPr>
            <a:spLocks noChangeArrowheads="1"/>
          </p:cNvSpPr>
          <p:nvPr/>
        </p:nvSpPr>
        <p:spPr bwMode="auto">
          <a:xfrm>
            <a:off x="8533581" y="482955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48" name="Rectangle 8"/>
          <p:cNvSpPr>
            <a:spLocks noChangeArrowheads="1"/>
          </p:cNvSpPr>
          <p:nvPr/>
        </p:nvSpPr>
        <p:spPr bwMode="auto">
          <a:xfrm>
            <a:off x="3071802" y="2902652"/>
            <a:ext cx="3162331" cy="2353995"/>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647" name="Rectangle 7"/>
          <p:cNvSpPr>
            <a:spLocks noChangeArrowheads="1"/>
          </p:cNvSpPr>
          <p:nvPr/>
        </p:nvSpPr>
        <p:spPr bwMode="auto">
          <a:xfrm>
            <a:off x="6842380" y="2943761"/>
            <a:ext cx="1961144" cy="2288968"/>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646" name="Rectangle 6"/>
          <p:cNvSpPr>
            <a:spLocks noChangeArrowheads="1"/>
          </p:cNvSpPr>
          <p:nvPr/>
        </p:nvSpPr>
        <p:spPr bwMode="auto">
          <a:xfrm>
            <a:off x="3627242" y="5454906"/>
            <a:ext cx="1873452" cy="33154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 dp</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45" name="Rectangle 5"/>
          <p:cNvSpPr>
            <a:spLocks noChangeArrowheads="1"/>
          </p:cNvSpPr>
          <p:nvPr/>
        </p:nvSpPr>
        <p:spPr bwMode="auto">
          <a:xfrm>
            <a:off x="7000893" y="5454906"/>
            <a:ext cx="164977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 s</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644" name="AutoShape 4"/>
          <p:cNvSpPr>
            <a:spLocks noChangeArrowheads="1"/>
          </p:cNvSpPr>
          <p:nvPr/>
        </p:nvSpPr>
        <p:spPr bwMode="auto">
          <a:xfrm rot="18497410">
            <a:off x="1112685" y="3509598"/>
            <a:ext cx="1538984" cy="122504"/>
          </a:xfrm>
          <a:prstGeom prst="rightArrow">
            <a:avLst>
              <a:gd name="adj1" fmla="val 50000"/>
              <a:gd name="adj2" fmla="val 314159"/>
            </a:avLst>
          </a:prstGeom>
          <a:solidFill>
            <a:srgbClr val="000000"/>
          </a:solidFill>
          <a:ln w="9525">
            <a:solidFill>
              <a:srgbClr val="000000"/>
            </a:solidFill>
            <a:miter lim="800000"/>
            <a:headEnd type="none" w="sm" len="sm"/>
            <a:tailEnd type="none" w="sm" len="sm"/>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643" name="AutoShape 3"/>
          <p:cNvSpPr>
            <a:spLocks noChangeShapeType="1"/>
          </p:cNvSpPr>
          <p:nvPr/>
        </p:nvSpPr>
        <p:spPr bwMode="auto">
          <a:xfrm>
            <a:off x="2450675" y="2939426"/>
            <a:ext cx="104074" cy="132223"/>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 name="TextBox 104"/>
          <p:cNvSpPr txBox="1"/>
          <p:nvPr/>
        </p:nvSpPr>
        <p:spPr>
          <a:xfrm>
            <a:off x="1500166" y="571480"/>
            <a:ext cx="7286676"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，矩阵分别是</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[15</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25]</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 name="下箭头 105"/>
          <p:cNvSpPr/>
          <p:nvPr/>
        </p:nvSpPr>
        <p:spPr>
          <a:xfrm>
            <a:off x="4500562" y="1785926"/>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2642" name="Rectangle 2"/>
          <p:cNvSpPr>
            <a:spLocks noChangeArrowheads="1"/>
          </p:cNvSpPr>
          <p:nvPr/>
        </p:nvSpPr>
        <p:spPr bwMode="auto">
          <a:xfrm>
            <a:off x="703100" y="2913415"/>
            <a:ext cx="1941630" cy="2254286"/>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07" name="Group 27"/>
          <p:cNvGrpSpPr/>
          <p:nvPr/>
        </p:nvGrpSpPr>
        <p:grpSpPr bwMode="auto">
          <a:xfrm>
            <a:off x="428596" y="571480"/>
            <a:ext cx="857255" cy="785818"/>
            <a:chOff x="741" y="1117"/>
            <a:chExt cx="1313" cy="1313"/>
          </a:xfrm>
        </p:grpSpPr>
        <p:grpSp>
          <p:nvGrpSpPr>
            <p:cNvPr id="108" name="Group 28"/>
            <p:cNvGrpSpPr/>
            <p:nvPr/>
          </p:nvGrpSpPr>
          <p:grpSpPr bwMode="auto">
            <a:xfrm>
              <a:off x="741" y="1117"/>
              <a:ext cx="1313" cy="1313"/>
              <a:chOff x="796" y="1102"/>
              <a:chExt cx="2132" cy="2132"/>
            </a:xfrm>
          </p:grpSpPr>
          <p:sp>
            <p:nvSpPr>
              <p:cNvPr id="110" name="Oval 29"/>
              <p:cNvSpPr>
                <a:spLocks noChangeArrowheads="1"/>
              </p:cNvSpPr>
              <p:nvPr/>
            </p:nvSpPr>
            <p:spPr bwMode="auto">
              <a:xfrm>
                <a:off x="796" y="1102"/>
                <a:ext cx="2132" cy="2132"/>
              </a:xfrm>
              <a:prstGeom prst="ellipse">
                <a:avLst/>
              </a:prstGeom>
              <a:solidFill>
                <a:schemeClr val="folHlink"/>
              </a:solidFill>
              <a:ln w="22225">
                <a:noFill/>
                <a:round/>
              </a:ln>
              <a:effectLst/>
            </p:spPr>
            <p:txBody>
              <a:bodyPr wrap="none" anchor="ctr"/>
              <a:lstStyle/>
              <a:p>
                <a:endParaRPr lang="zh-CN" altLang="en-US"/>
              </a:p>
            </p:txBody>
          </p:sp>
          <p:pic>
            <p:nvPicPr>
              <p:cNvPr id="111" name="Picture 30" descr="Round Pic Frame 1"/>
              <p:cNvPicPr>
                <a:picLocks noChangeAspect="1" noChangeArrowheads="1"/>
              </p:cNvPicPr>
              <p:nvPr/>
            </p:nvPicPr>
            <p:blipFill>
              <a:blip r:embed="rId1" cstate="print"/>
              <a:srcRect/>
              <a:stretch>
                <a:fillRect/>
              </a:stretch>
            </p:blipFill>
            <p:spPr bwMode="auto">
              <a:xfrm>
                <a:off x="841" y="1147"/>
                <a:ext cx="2042" cy="2042"/>
              </a:xfrm>
              <a:prstGeom prst="rect">
                <a:avLst/>
              </a:prstGeom>
              <a:noFill/>
              <a:ln w="9525">
                <a:noFill/>
                <a:miter lim="800000"/>
                <a:headEnd/>
                <a:tailEnd/>
              </a:ln>
            </p:spPr>
          </p:pic>
        </p:grpSp>
        <p:sp>
          <p:nvSpPr>
            <p:cNvPr id="109" name="Text Box 31"/>
            <p:cNvSpPr txBox="1">
              <a:spLocks noChangeArrowheads="1"/>
            </p:cNvSpPr>
            <p:nvPr/>
          </p:nvSpPr>
          <p:spPr bwMode="auto">
            <a:xfrm>
              <a:off x="866" y="1502"/>
              <a:ext cx="1061" cy="525"/>
            </a:xfrm>
            <a:prstGeom prst="rect">
              <a:avLst/>
            </a:prstGeom>
            <a:noFill/>
            <a:ln w="9525">
              <a:noFill/>
              <a:miter lim="800000"/>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grpSp>
      <p:sp>
        <p:nvSpPr>
          <p:cNvPr id="112" name="灯片编号占位符 11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24"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8" name="组合 7"/>
          <p:cNvGrpSpPr/>
          <p:nvPr/>
        </p:nvGrpSpPr>
        <p:grpSpPr>
          <a:xfrm>
            <a:off x="1714480" y="1500174"/>
            <a:ext cx="5143536" cy="1762125"/>
            <a:chOff x="714348" y="928670"/>
            <a:chExt cx="5143536" cy="1762125"/>
          </a:xfrm>
        </p:grpSpPr>
        <p:pic>
          <p:nvPicPr>
            <p:cNvPr id="5" name="Picture 5"/>
            <p:cNvPicPr>
              <a:picLocks noChangeAspect="1" noChangeArrowheads="1"/>
            </p:cNvPicPr>
            <p:nvPr/>
          </p:nvPicPr>
          <p:blipFill>
            <a:blip r:embed="rId1" cstate="print"/>
            <a:srcRect/>
            <a:stretch>
              <a:fillRect/>
            </a:stretch>
          </p:blipFill>
          <p:spPr bwMode="auto">
            <a:xfrm>
              <a:off x="714348" y="928670"/>
              <a:ext cx="1019175" cy="1762125"/>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
          <p:nvSpPr>
            <p:cNvPr id="7" name="TextBox 6"/>
            <p:cNvSpPr txBox="1"/>
            <p:nvPr/>
          </p:nvSpPr>
          <p:spPr>
            <a:xfrm>
              <a:off x="1928794" y="1643050"/>
              <a:ext cx="392909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rPr>
                <a:t>枚举区间还有其他的方式吗？</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sp>
        <p:nvSpPr>
          <p:cNvPr id="2" name="文本框 1"/>
          <p:cNvSpPr txBox="1"/>
          <p:nvPr/>
        </p:nvSpPr>
        <p:spPr>
          <a:xfrm>
            <a:off x="781685" y="3462020"/>
            <a:ext cx="7593330" cy="1476375"/>
          </a:xfrm>
          <a:prstGeom prst="rect">
            <a:avLst/>
          </a:prstGeom>
          <a:noFill/>
        </p:spPr>
        <p:txBody>
          <a:bodyPr wrap="square" rtlCol="0">
            <a:spAutoFit/>
          </a:bodyPr>
          <a:p>
            <a:pPr algn="l">
              <a:lnSpc>
                <a:spcPct val="100000"/>
              </a:lnSpc>
              <a:spcBef>
                <a:spcPts val="0"/>
              </a:spcBef>
            </a:pP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、袋鼠过河</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https://www.nowcoder.com/practice/74acf832651e45bd9e059c59bc6e1cbf?tpId=182&amp;tqId=34693&amp;ru=/exam/oj</a:t>
            </a:r>
            <a:endPar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ct val="100000"/>
              </a:lnSpc>
              <a:spcBef>
                <a:spcPts val="0"/>
              </a:spcBef>
            </a:pPr>
            <a:endPar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ct val="100000"/>
              </a:lnSpc>
              <a:spcBef>
                <a:spcPts val="0"/>
              </a:spcBef>
            </a:pPr>
            <a:endParaRPr lang="zh-CN" altLang="en-US"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AF016A1-9F15-429F-9EFD-84004B73C732}" type="slidenum">
              <a:rPr lang="en-US" altLang="zh-CN" smtClean="0"/>
            </a:fld>
            <a:r>
              <a:rPr lang="en-US" altLang="zh-CN"/>
              <a:t>/182</a:t>
            </a:r>
            <a:endParaRPr lang="en-US" altLang="zh-CN"/>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4139952" y="4797152"/>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思政</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none"/>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楷体"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40187</Words>
  <Application>WPS 演示</Application>
  <PresentationFormat>全屏显示(4:3)</PresentationFormat>
  <Paragraphs>4427</Paragraphs>
  <Slides>184</Slides>
  <Notes>107</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184</vt:i4>
      </vt:variant>
    </vt:vector>
  </HeadingPairs>
  <TitlesOfParts>
    <vt:vector size="209" baseType="lpstr">
      <vt:lpstr>Arial</vt:lpstr>
      <vt:lpstr>宋体</vt:lpstr>
      <vt:lpstr>Wingdings</vt:lpstr>
      <vt:lpstr>Times New Roman</vt:lpstr>
      <vt:lpstr>楷体_GB2312</vt:lpstr>
      <vt:lpstr>新宋体</vt:lpstr>
      <vt:lpstr>Consolas</vt:lpstr>
      <vt:lpstr>楷体</vt:lpstr>
      <vt:lpstr>微软雅黑</vt:lpstr>
      <vt:lpstr>Arial</vt:lpstr>
      <vt:lpstr>仿宋</vt:lpstr>
      <vt:lpstr>华文中宋</vt:lpstr>
      <vt:lpstr>Arial Unicode MS</vt:lpstr>
      <vt:lpstr>Calibri</vt:lpstr>
      <vt:lpstr>Wingdings</vt:lpstr>
      <vt:lpstr>Eras Demi ITC</vt:lpstr>
      <vt:lpstr>Times New Roman</vt:lpstr>
      <vt:lpstr>Courier New</vt:lpstr>
      <vt:lpstr>Symbol</vt:lpstr>
      <vt:lpstr>Courier New</vt:lpstr>
      <vt:lpstr>Symbol</vt:lpstr>
      <vt:lpstr>Wingdings</vt:lpstr>
      <vt:lpstr>楷体_GB2312</vt:lpstr>
      <vt:lpstr>方正楷体_GB2312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果果她娘</cp:lastModifiedBy>
  <cp:revision>1984</cp:revision>
  <dcterms:created xsi:type="dcterms:W3CDTF">2004-03-31T23:50:00Z</dcterms:created>
  <dcterms:modified xsi:type="dcterms:W3CDTF">2026-04-26T03:10:10Z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B2FFE82F2C464E33B1E9C05C2AD8BC44_12</vt:lpwstr>
  </property>
</Properties>
</file>