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3" r:id="rId1"/>
  </p:sldMasterIdLst>
  <p:notesMasterIdLst>
    <p:notesMasterId r:id="rId161"/>
  </p:notesMasterIdLst>
  <p:handoutMasterIdLst>
    <p:handoutMasterId r:id="rId162"/>
  </p:handoutMasterIdLst>
  <p:sldIdLst>
    <p:sldId id="522" r:id="rId2"/>
    <p:sldId id="365" r:id="rId3"/>
    <p:sldId id="532" r:id="rId4"/>
    <p:sldId id="533" r:id="rId5"/>
    <p:sldId id="534" r:id="rId6"/>
    <p:sldId id="535" r:id="rId7"/>
    <p:sldId id="537" r:id="rId8"/>
    <p:sldId id="628" r:id="rId9"/>
    <p:sldId id="538" r:id="rId10"/>
    <p:sldId id="629" r:id="rId11"/>
    <p:sldId id="539" r:id="rId12"/>
    <p:sldId id="540" r:id="rId13"/>
    <p:sldId id="541" r:id="rId14"/>
    <p:sldId id="542" r:id="rId15"/>
    <p:sldId id="602" r:id="rId16"/>
    <p:sldId id="544" r:id="rId17"/>
    <p:sldId id="545" r:id="rId18"/>
    <p:sldId id="546" r:id="rId19"/>
    <p:sldId id="547" r:id="rId20"/>
    <p:sldId id="603" r:id="rId21"/>
    <p:sldId id="604" r:id="rId22"/>
    <p:sldId id="605" r:id="rId23"/>
    <p:sldId id="606" r:id="rId24"/>
    <p:sldId id="554" r:id="rId25"/>
    <p:sldId id="555" r:id="rId26"/>
    <p:sldId id="607" r:id="rId27"/>
    <p:sldId id="608" r:id="rId28"/>
    <p:sldId id="609" r:id="rId29"/>
    <p:sldId id="611" r:id="rId30"/>
    <p:sldId id="610" r:id="rId31"/>
    <p:sldId id="612" r:id="rId32"/>
    <p:sldId id="613" r:id="rId33"/>
    <p:sldId id="614" r:id="rId34"/>
    <p:sldId id="615" r:id="rId35"/>
    <p:sldId id="560" r:id="rId36"/>
    <p:sldId id="561" r:id="rId37"/>
    <p:sldId id="562" r:id="rId38"/>
    <p:sldId id="563" r:id="rId39"/>
    <p:sldId id="564" r:id="rId40"/>
    <p:sldId id="565" r:id="rId41"/>
    <p:sldId id="566" r:id="rId42"/>
    <p:sldId id="616" r:id="rId43"/>
    <p:sldId id="630" r:id="rId44"/>
    <p:sldId id="567" r:id="rId45"/>
    <p:sldId id="568" r:id="rId46"/>
    <p:sldId id="569" r:id="rId47"/>
    <p:sldId id="570" r:id="rId48"/>
    <p:sldId id="571" r:id="rId49"/>
    <p:sldId id="572" r:id="rId50"/>
    <p:sldId id="617" r:id="rId51"/>
    <p:sldId id="618" r:id="rId52"/>
    <p:sldId id="619" r:id="rId53"/>
    <p:sldId id="620" r:id="rId54"/>
    <p:sldId id="621" r:id="rId55"/>
    <p:sldId id="622" r:id="rId56"/>
    <p:sldId id="623" r:id="rId57"/>
    <p:sldId id="624" r:id="rId58"/>
    <p:sldId id="627" r:id="rId59"/>
    <p:sldId id="625" r:id="rId60"/>
    <p:sldId id="626" r:id="rId61"/>
    <p:sldId id="573" r:id="rId62"/>
    <p:sldId id="574" r:id="rId63"/>
    <p:sldId id="575" r:id="rId64"/>
    <p:sldId id="576" r:id="rId65"/>
    <p:sldId id="632" r:id="rId66"/>
    <p:sldId id="578" r:id="rId67"/>
    <p:sldId id="579" r:id="rId68"/>
    <p:sldId id="633" r:id="rId69"/>
    <p:sldId id="581" r:id="rId70"/>
    <p:sldId id="582" r:id="rId71"/>
    <p:sldId id="641" r:id="rId72"/>
    <p:sldId id="642" r:id="rId73"/>
    <p:sldId id="643" r:id="rId74"/>
    <p:sldId id="644" r:id="rId75"/>
    <p:sldId id="646" r:id="rId76"/>
    <p:sldId id="645" r:id="rId77"/>
    <p:sldId id="590" r:id="rId78"/>
    <p:sldId id="635" r:id="rId79"/>
    <p:sldId id="636" r:id="rId80"/>
    <p:sldId id="637" r:id="rId81"/>
    <p:sldId id="638" r:id="rId82"/>
    <p:sldId id="592" r:id="rId83"/>
    <p:sldId id="591" r:id="rId84"/>
    <p:sldId id="639" r:id="rId85"/>
    <p:sldId id="601" r:id="rId86"/>
    <p:sldId id="523" r:id="rId87"/>
    <p:sldId id="525" r:id="rId88"/>
    <p:sldId id="526" r:id="rId89"/>
    <p:sldId id="527" r:id="rId90"/>
    <p:sldId id="647" r:id="rId91"/>
    <p:sldId id="648" r:id="rId92"/>
    <p:sldId id="649" r:id="rId93"/>
    <p:sldId id="650" r:id="rId94"/>
    <p:sldId id="651" r:id="rId95"/>
    <p:sldId id="652" r:id="rId96"/>
    <p:sldId id="657" r:id="rId97"/>
    <p:sldId id="653" r:id="rId98"/>
    <p:sldId id="658" r:id="rId99"/>
    <p:sldId id="654" r:id="rId100"/>
    <p:sldId id="675" r:id="rId101"/>
    <p:sldId id="655" r:id="rId102"/>
    <p:sldId id="656" r:id="rId103"/>
    <p:sldId id="676" r:id="rId104"/>
    <p:sldId id="528" r:id="rId105"/>
    <p:sldId id="661" r:id="rId106"/>
    <p:sldId id="678" r:id="rId107"/>
    <p:sldId id="677" r:id="rId108"/>
    <p:sldId id="679" r:id="rId109"/>
    <p:sldId id="530" r:id="rId110"/>
    <p:sldId id="680" r:id="rId111"/>
    <p:sldId id="681" r:id="rId112"/>
    <p:sldId id="682" r:id="rId113"/>
    <p:sldId id="529" r:id="rId114"/>
    <p:sldId id="662" r:id="rId115"/>
    <p:sldId id="663" r:id="rId116"/>
    <p:sldId id="664" r:id="rId117"/>
    <p:sldId id="659" r:id="rId118"/>
    <p:sldId id="684" r:id="rId119"/>
    <p:sldId id="683" r:id="rId120"/>
    <p:sldId id="685" r:id="rId121"/>
    <p:sldId id="665" r:id="rId122"/>
    <p:sldId id="686" r:id="rId123"/>
    <p:sldId id="687" r:id="rId124"/>
    <p:sldId id="666" r:id="rId125"/>
    <p:sldId id="660" r:id="rId126"/>
    <p:sldId id="667" r:id="rId127"/>
    <p:sldId id="688" r:id="rId128"/>
    <p:sldId id="689" r:id="rId129"/>
    <p:sldId id="669" r:id="rId130"/>
    <p:sldId id="670" r:id="rId131"/>
    <p:sldId id="671" r:id="rId132"/>
    <p:sldId id="690" r:id="rId133"/>
    <p:sldId id="668" r:id="rId134"/>
    <p:sldId id="672" r:id="rId135"/>
    <p:sldId id="673" r:id="rId136"/>
    <p:sldId id="674" r:id="rId137"/>
    <p:sldId id="691" r:id="rId138"/>
    <p:sldId id="692" r:id="rId139"/>
    <p:sldId id="704" r:id="rId140"/>
    <p:sldId id="703" r:id="rId141"/>
    <p:sldId id="705" r:id="rId142"/>
    <p:sldId id="693" r:id="rId143"/>
    <p:sldId id="697" r:id="rId144"/>
    <p:sldId id="698" r:id="rId145"/>
    <p:sldId id="699" r:id="rId146"/>
    <p:sldId id="700" r:id="rId147"/>
    <p:sldId id="701" r:id="rId148"/>
    <p:sldId id="702" r:id="rId149"/>
    <p:sldId id="706" r:id="rId150"/>
    <p:sldId id="694" r:id="rId151"/>
    <p:sldId id="707" r:id="rId152"/>
    <p:sldId id="708" r:id="rId153"/>
    <p:sldId id="709" r:id="rId154"/>
    <p:sldId id="710" r:id="rId155"/>
    <p:sldId id="711" r:id="rId156"/>
    <p:sldId id="712" r:id="rId157"/>
    <p:sldId id="713" r:id="rId158"/>
    <p:sldId id="696" r:id="rId159"/>
    <p:sldId id="714" r:id="rId160"/>
  </p:sldIdLst>
  <p:sldSz cx="9144000" cy="6858000" type="screen4x3"/>
  <p:notesSz cx="6858000" cy="9144000"/>
  <p:defaultTex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00"/>
    <a:srgbClr val="0000FF"/>
    <a:srgbClr val="FF00FF"/>
    <a:srgbClr val="339933"/>
    <a:srgbClr val="000000"/>
    <a:srgbClr val="FF3300"/>
    <a:srgbClr val="FF3399"/>
    <a:srgbClr val="3333FF"/>
    <a:srgbClr val="6600CC"/>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5758FB7-9AC5-4552-8A53-C91805E547FA}" styleName="主题样式 1 - 强调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40" autoAdjust="0"/>
    <p:restoredTop sz="94581" autoAdjust="0"/>
  </p:normalViewPr>
  <p:slideViewPr>
    <p:cSldViewPr>
      <p:cViewPr varScale="1">
        <p:scale>
          <a:sx n="99" d="100"/>
          <a:sy n="99" d="100"/>
        </p:scale>
        <p:origin x="129"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67" d="100"/>
          <a:sy n="67" d="100"/>
        </p:scale>
        <p:origin x="-3360"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notesMaster" Target="notesMasters/notesMaster1.xml"/><Relationship Id="rId16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handoutMaster" Target="handoutMasters/handoutMaster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presProps" Target="pres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theme" Target="theme/theme1.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9348C81-2EE0-4ADC-AD51-9DC87E0EF387}" type="datetimeFigureOut">
              <a:rPr lang="zh-CN" altLang="en-US" smtClean="0"/>
              <a:pPr/>
              <a:t>2024-01-28</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FF0761C-5A44-4BA0-B4C5-00F13EA65E0F}" type="slidenum">
              <a:rPr lang="zh-CN" altLang="en-US" smtClean="0"/>
              <a:pPr/>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504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lnSpc>
                <a:spcPct val="100000"/>
              </a:lnSpc>
              <a:spcBef>
                <a:spcPct val="0"/>
              </a:spcBef>
              <a:defRPr sz="1200" b="0">
                <a:solidFill>
                  <a:schemeClr val="tx1"/>
                </a:solidFill>
                <a:ea typeface="宋体" pitchFamily="2" charset="-122"/>
              </a:defRPr>
            </a:lvl1pPr>
          </a:lstStyle>
          <a:p>
            <a:endParaRPr lang="en-US" altLang="zh-CN"/>
          </a:p>
        </p:txBody>
      </p:sp>
      <p:sp>
        <p:nvSpPr>
          <p:cNvPr id="21504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defRPr sz="1200" b="0">
                <a:solidFill>
                  <a:schemeClr val="tx1"/>
                </a:solidFill>
                <a:ea typeface="宋体" pitchFamily="2" charset="-122"/>
              </a:defRPr>
            </a:lvl1pPr>
          </a:lstStyle>
          <a:p>
            <a:endParaRPr lang="en-US" altLang="zh-CN"/>
          </a:p>
        </p:txBody>
      </p:sp>
      <p:sp>
        <p:nvSpPr>
          <p:cNvPr id="21504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21504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1504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lnSpc>
                <a:spcPct val="100000"/>
              </a:lnSpc>
              <a:spcBef>
                <a:spcPct val="0"/>
              </a:spcBef>
              <a:defRPr sz="1200" b="0">
                <a:solidFill>
                  <a:schemeClr val="tx1"/>
                </a:solidFill>
                <a:ea typeface="宋体" pitchFamily="2" charset="-122"/>
              </a:defRPr>
            </a:lvl1pPr>
          </a:lstStyle>
          <a:p>
            <a:endParaRPr lang="en-US" altLang="zh-CN"/>
          </a:p>
        </p:txBody>
      </p:sp>
      <p:sp>
        <p:nvSpPr>
          <p:cNvPr id="21504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defRPr sz="1200" b="0">
                <a:solidFill>
                  <a:schemeClr val="tx1"/>
                </a:solidFill>
                <a:ea typeface="宋体" pitchFamily="2" charset="-122"/>
              </a:defRPr>
            </a:lvl1pPr>
          </a:lstStyle>
          <a:p>
            <a:fld id="{0D1E2EF4-146E-47B5-A412-FFD548A1AB6A}"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fontAlgn="base">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fontAlgn="base">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fontAlgn="base">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fontAlgn="base">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a:t>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2</a:t>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71</a:t>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86</a:t>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87</a:t>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88</a:t>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89</a:t>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90</a:t>
            </a:fld>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91</a:t>
            </a:fld>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92</a:t>
            </a:fld>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93</a:t>
            </a:fld>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94</a:t>
            </a:fld>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95</a:t>
            </a:fld>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96</a:t>
            </a:fld>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97</a:t>
            </a:fld>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98</a:t>
            </a:fld>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99</a:t>
            </a:fld>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100</a:t>
            </a:fld>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101</a:t>
            </a:fld>
            <a:endParaRPr lang="en-US"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102</a:t>
            </a:fld>
            <a:endParaRPr lang="en-US"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103</a:t>
            </a:fld>
            <a:endParaRPr lang="en-US"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104</a:t>
            </a:fld>
            <a:endParaRPr lang="en-US"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105</a:t>
            </a:fld>
            <a:endParaRPr lang="en-US"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106</a:t>
            </a:fld>
            <a:endParaRPr lang="en-US"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107</a:t>
            </a:fld>
            <a:endParaRPr lang="en-US"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108</a:t>
            </a:fld>
            <a:endParaRPr lang="en-US"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109</a:t>
            </a:fld>
            <a:endParaRPr lang="en-US"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110</a:t>
            </a:fld>
            <a:endParaRPr lang="en-US"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111</a:t>
            </a:fld>
            <a:endParaRPr lang="en-US"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112</a:t>
            </a:fld>
            <a:endParaRPr lang="en-US" altLang="zh-CN"/>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113</a:t>
            </a:fld>
            <a:endParaRPr lang="en-US" altLang="zh-CN"/>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114</a:t>
            </a:fld>
            <a:endParaRPr lang="en-US" altLang="zh-CN"/>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115</a:t>
            </a:fld>
            <a:endParaRPr lang="en-US" altLang="zh-CN"/>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116</a:t>
            </a:fld>
            <a:endParaRPr lang="en-US" altLang="zh-CN"/>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117</a:t>
            </a:fld>
            <a:endParaRPr lang="en-US" altLang="zh-CN"/>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118</a:t>
            </a:fld>
            <a:endParaRPr lang="en-US" altLang="zh-CN"/>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119</a:t>
            </a:fld>
            <a:endParaRPr lang="en-US" altLang="zh-CN"/>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120</a:t>
            </a:fld>
            <a:endParaRPr lang="en-US" altLang="zh-CN"/>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121</a:t>
            </a:fld>
            <a:endParaRPr lang="en-US" altLang="zh-CN"/>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122</a:t>
            </a:fld>
            <a:endParaRPr lang="en-US" altLang="zh-CN"/>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123</a:t>
            </a:fld>
            <a:endParaRPr lang="en-US" altLang="zh-CN"/>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124</a:t>
            </a:fld>
            <a:endParaRPr lang="en-US" altLang="zh-CN"/>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125</a:t>
            </a:fld>
            <a:endParaRPr lang="en-US" altLang="zh-CN"/>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126</a:t>
            </a:fld>
            <a:endParaRPr lang="en-US" altLang="zh-CN"/>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127</a:t>
            </a:fld>
            <a:endParaRPr lang="en-US" altLang="zh-CN"/>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128</a:t>
            </a:fld>
            <a:endParaRPr lang="en-US" altLang="zh-CN"/>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129</a:t>
            </a:fld>
            <a:endParaRPr lang="en-US" altLang="zh-CN"/>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130</a:t>
            </a:fld>
            <a:endParaRPr lang="en-US" altLang="zh-CN"/>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131</a:t>
            </a:fld>
            <a:endParaRPr lang="en-US" altLang="zh-CN"/>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132</a:t>
            </a:fld>
            <a:endParaRPr lang="en-US" altLang="zh-CN"/>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133</a:t>
            </a:fld>
            <a:endParaRPr lang="en-US" altLang="zh-CN"/>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134</a:t>
            </a:fld>
            <a:endParaRPr lang="en-US" altLang="zh-CN"/>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135</a:t>
            </a:fld>
            <a:endParaRPr lang="en-US" altLang="zh-CN"/>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136</a:t>
            </a:fld>
            <a:endParaRPr lang="en-US" altLang="zh-CN"/>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137</a:t>
            </a:fld>
            <a:endParaRPr lang="en-US" altLang="zh-CN"/>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138</a:t>
            </a:fld>
            <a:endParaRPr lang="en-US" altLang="zh-CN"/>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139</a:t>
            </a:fld>
            <a:endParaRPr lang="en-US" altLang="zh-CN"/>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140</a:t>
            </a:fld>
            <a:endParaRPr lang="en-US" altLang="zh-CN"/>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141</a:t>
            </a:fld>
            <a:endParaRPr lang="en-US" altLang="zh-CN"/>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142</a:t>
            </a:fld>
            <a:endParaRPr lang="en-US" altLang="zh-CN"/>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143</a:t>
            </a:fld>
            <a:endParaRPr lang="en-US" altLang="zh-CN"/>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144</a:t>
            </a:fld>
            <a:endParaRPr lang="en-US" altLang="zh-CN"/>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145</a:t>
            </a:fld>
            <a:endParaRPr lang="en-US" altLang="zh-CN"/>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146</a:t>
            </a:fld>
            <a:endParaRPr lang="en-US" altLang="zh-CN"/>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147</a:t>
            </a:fld>
            <a:endParaRPr lang="en-US" altLang="zh-CN"/>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148</a:t>
            </a:fld>
            <a:endParaRPr lang="en-US" altLang="zh-CN"/>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149</a:t>
            </a:fld>
            <a:endParaRPr lang="en-US" altLang="zh-CN"/>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150</a:t>
            </a:fld>
            <a:endParaRPr lang="en-US" altLang="zh-CN"/>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151</a:t>
            </a:fld>
            <a:endParaRPr lang="en-US" altLang="zh-CN"/>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152</a:t>
            </a:fld>
            <a:endParaRPr lang="en-US" altLang="zh-CN"/>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153</a:t>
            </a:fld>
            <a:endParaRPr lang="en-US" altLang="zh-CN"/>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154</a:t>
            </a:fld>
            <a:endParaRPr lang="en-US" altLang="zh-CN"/>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155</a:t>
            </a:fld>
            <a:endParaRPr lang="en-US" altLang="zh-CN"/>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156</a:t>
            </a:fld>
            <a:endParaRPr lang="en-US" altLang="zh-CN"/>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157</a:t>
            </a:fld>
            <a:endParaRPr lang="en-US" altLang="zh-CN"/>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158</a:t>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endParaRPr lang="en-US" altLang="zh-CN"/>
          </a:p>
        </p:txBody>
      </p:sp>
      <p:sp>
        <p:nvSpPr>
          <p:cNvPr id="3" name="页脚占位符 2"/>
          <p:cNvSpPr>
            <a:spLocks noGrp="1"/>
          </p:cNvSpPr>
          <p:nvPr>
            <p:ph type="ftr" sz="quarter" idx="11"/>
          </p:nvPr>
        </p:nvSpPr>
        <p:spPr/>
        <p:txBody>
          <a:bodyPr/>
          <a:lstStyle/>
          <a:p>
            <a:endParaRPr lang="en-US" altLang="zh-CN"/>
          </a:p>
        </p:txBody>
      </p:sp>
      <p:sp>
        <p:nvSpPr>
          <p:cNvPr id="4" name="灯片编号占位符 3"/>
          <p:cNvSpPr>
            <a:spLocks noGrp="1"/>
          </p:cNvSpPr>
          <p:nvPr>
            <p:ph type="sldNum" sz="quarter" idx="12"/>
          </p:nvPr>
        </p:nvSpPr>
        <p:spPr/>
        <p:txBody>
          <a:bodyPr/>
          <a:lstStyle>
            <a:lvl1pPr>
              <a:defRPr sz="1400">
                <a:solidFill>
                  <a:srgbClr val="FF0000"/>
                </a:solidFill>
                <a:latin typeface="Consolas" pitchFamily="49" charset="0"/>
                <a:cs typeface="Consolas" pitchFamily="49" charset="0"/>
              </a:defRPr>
            </a:lvl1pPr>
          </a:lstStyle>
          <a:p>
            <a:fld id="{7AF016A1-9F15-429F-9EFD-84004B73C732}" type="slidenum">
              <a:rPr lang="en-US" altLang="zh-CN" smtClean="0"/>
              <a:pPr/>
              <a:t>‹#›</a:t>
            </a:fld>
            <a:r>
              <a:rPr lang="en-US" altLang="zh-CN"/>
              <a:t>/158</a:t>
            </a: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ltLang="zh-CN"/>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ltLang="zh-CN"/>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9D3DD41-1E0E-46B0-ABE7-D5048A3DF737}" type="slidenum">
              <a:rPr lang="en-US" altLang="zh-CN" smtClean="0"/>
              <a:pPr/>
              <a:t>‹#›</a:t>
            </a:fld>
            <a:endParaRPr lang="en-US" altLang="zh-CN"/>
          </a:p>
        </p:txBody>
      </p:sp>
    </p:spTree>
  </p:cSld>
  <p:clrMap bg1="lt1" tx1="dk1" bg2="lt2" tx2="dk2" accent1="accent1" accent2="accent2" accent3="accent3" accent4="accent4" accent5="accent5" accent6="accent6" hlink="hlink" folHlink="folHlink"/>
  <p:sldLayoutIdLst>
    <p:sldLayoutId id="2147483710" r:id="rId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gi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139.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140.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141.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149.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153.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15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15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2285984" y="500042"/>
            <a:ext cx="4786346" cy="879829"/>
          </a:xfrm>
          <a:prstGeom prst="rect">
            <a:avLst/>
          </a:prstGeom>
          <a:ln>
            <a:noFill/>
          </a:ln>
          <a:effectLst>
            <a:outerShdw blurRad="76200" dist="12700" dir="8100000" sy="-23000" kx="800400" algn="br" rotWithShape="0">
              <a:prstClr val="black">
                <a:alpha val="20000"/>
              </a:prstClr>
            </a:outerShdw>
          </a:effectLst>
          <a:scene3d>
            <a:camera prst="orthographicFront">
              <a:rot lat="0" lon="0" rev="0"/>
            </a:camera>
            <a:lightRig rig="balanced" dir="t">
              <a:rot lat="0" lon="0" rev="8700000"/>
            </a:lightRig>
          </a:scene3d>
          <a:sp3d>
            <a:bevelT w="190500" h="38100"/>
          </a:sp3d>
        </p:spPr>
        <p:style>
          <a:lnRef idx="1">
            <a:schemeClr val="accent5"/>
          </a:lnRef>
          <a:fillRef idx="2">
            <a:schemeClr val="accent5"/>
          </a:fillRef>
          <a:effectRef idx="1">
            <a:schemeClr val="accent5"/>
          </a:effectRef>
          <a:fontRef idx="minor">
            <a:schemeClr val="dk1"/>
          </a:fontRef>
        </p:style>
        <p:txBody>
          <a:bodyPr wrap="square" tIns="216000"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zh-CN" altLang="en-US" sz="4000">
                <a:ln w="11430"/>
                <a:solidFill>
                  <a:srgbClr val="FF0000"/>
                </a:solidFill>
                <a:effectLst>
                  <a:outerShdw blurRad="50800" dist="39000" dir="5460000" algn="tl">
                    <a:srgbClr val="000000">
                      <a:alpha val="38000"/>
                    </a:srgbClr>
                  </a:outerShdw>
                </a:effectLst>
                <a:latin typeface="微软雅黑" pitchFamily="34" charset="-122"/>
                <a:ea typeface="微软雅黑" pitchFamily="34" charset="-122"/>
              </a:rPr>
              <a:t>第</a:t>
            </a:r>
            <a:r>
              <a:rPr lang="en-US" altLang="zh-CN" sz="4000">
                <a:ln w="11430"/>
                <a:solidFill>
                  <a:srgbClr val="FF0000"/>
                </a:solidFill>
                <a:effectLst>
                  <a:outerShdw blurRad="50800" dist="39000" dir="5460000" algn="tl">
                    <a:srgbClr val="000000">
                      <a:alpha val="38000"/>
                    </a:srgbClr>
                  </a:outerShdw>
                </a:effectLst>
                <a:latin typeface="微软雅黑" pitchFamily="34" charset="-122"/>
                <a:ea typeface="微软雅黑" pitchFamily="34" charset="-122"/>
              </a:rPr>
              <a:t>9</a:t>
            </a:r>
            <a:r>
              <a:rPr lang="zh-CN" altLang="en-US" sz="4000">
                <a:ln w="11430"/>
                <a:solidFill>
                  <a:srgbClr val="FF0000"/>
                </a:solidFill>
                <a:effectLst>
                  <a:outerShdw blurRad="50800" dist="39000" dir="5460000" algn="tl">
                    <a:srgbClr val="000000">
                      <a:alpha val="38000"/>
                    </a:srgbClr>
                  </a:outerShdw>
                </a:effectLst>
                <a:latin typeface="微软雅黑" pitchFamily="34" charset="-122"/>
                <a:ea typeface="微软雅黑" pitchFamily="34" charset="-122"/>
              </a:rPr>
              <a:t>章</a:t>
            </a:r>
            <a:r>
              <a:rPr lang="en-US" altLang="zh-CN" sz="4000">
                <a:ln w="11430"/>
                <a:solidFill>
                  <a:srgbClr val="FF0000"/>
                </a:solidFill>
                <a:effectLst>
                  <a:outerShdw blurRad="50800" dist="39000" dir="5460000" algn="tl">
                    <a:srgbClr val="000000">
                      <a:alpha val="38000"/>
                    </a:srgbClr>
                  </a:outerShdw>
                </a:effectLst>
                <a:latin typeface="微软雅黑" pitchFamily="34" charset="-122"/>
                <a:ea typeface="微软雅黑" pitchFamily="34" charset="-122"/>
              </a:rPr>
              <a:t>—</a:t>
            </a:r>
            <a:r>
              <a:rPr lang="zh-CN" altLang="en-US" sz="4000">
                <a:ln w="11430"/>
                <a:solidFill>
                  <a:srgbClr val="FF0000"/>
                </a:solidFill>
                <a:effectLst>
                  <a:outerShdw blurRad="50800" dist="39000" dir="5460000" algn="tl">
                    <a:srgbClr val="000000">
                      <a:alpha val="38000"/>
                    </a:srgbClr>
                  </a:outerShdw>
                </a:effectLst>
                <a:latin typeface="微软雅黑" pitchFamily="34" charset="-122"/>
                <a:ea typeface="微软雅黑" pitchFamily="34" charset="-122"/>
              </a:rPr>
              <a:t>图算法</a:t>
            </a:r>
          </a:p>
        </p:txBody>
      </p:sp>
      <p:sp>
        <p:nvSpPr>
          <p:cNvPr id="5" name="TextBox 4">
            <a:hlinkClick r:id="rId3" action="ppaction://hlinksldjump"/>
          </p:cNvPr>
          <p:cNvSpPr txBox="1"/>
          <p:nvPr/>
        </p:nvSpPr>
        <p:spPr>
          <a:xfrm>
            <a:off x="3389652" y="2357430"/>
            <a:ext cx="4468496" cy="5847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9.1 </a:t>
            </a:r>
            <a:r>
              <a:rPr lang="zh-CN" altLang="en-US"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图的最小生成树</a:t>
            </a:r>
          </a:p>
        </p:txBody>
      </p:sp>
      <p:sp>
        <p:nvSpPr>
          <p:cNvPr id="9" name="TextBox 8">
            <a:hlinkClick r:id="" action="ppaction://noaction"/>
          </p:cNvPr>
          <p:cNvSpPr txBox="1"/>
          <p:nvPr/>
        </p:nvSpPr>
        <p:spPr>
          <a:xfrm>
            <a:off x="3389652" y="3395963"/>
            <a:ext cx="4468496" cy="5847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9.2 </a:t>
            </a:r>
            <a:r>
              <a:rPr lang="zh-CN" altLang="en-US"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图的最短路径</a:t>
            </a:r>
          </a:p>
        </p:txBody>
      </p:sp>
      <p:grpSp>
        <p:nvGrpSpPr>
          <p:cNvPr id="16" name="组合 79"/>
          <p:cNvGrpSpPr>
            <a:grpSpLocks/>
          </p:cNvGrpSpPr>
          <p:nvPr/>
        </p:nvGrpSpPr>
        <p:grpSpPr bwMode="auto">
          <a:xfrm>
            <a:off x="571472" y="2679762"/>
            <a:ext cx="2160000" cy="2177998"/>
            <a:chOff x="6379728" y="2488774"/>
            <a:chExt cx="2513016" cy="2533955"/>
          </a:xfrm>
        </p:grpSpPr>
        <p:sp>
          <p:nvSpPr>
            <p:cNvPr id="17" name="任意多边形 82"/>
            <p:cNvSpPr/>
            <p:nvPr/>
          </p:nvSpPr>
          <p:spPr>
            <a:xfrm rot="3738964">
              <a:off x="6379728" y="2488774"/>
              <a:ext cx="2513016" cy="2513016"/>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flip="none" rotWithShape="1">
              <a:gsLst>
                <a:gs pos="17000">
                  <a:srgbClr val="FFFFFF"/>
                </a:gs>
                <a:gs pos="88000">
                  <a:srgbClr val="FFFFFF">
                    <a:lumMod val="72000"/>
                  </a:srgbClr>
                </a:gs>
              </a:gsLst>
              <a:lin ang="2700000" scaled="1"/>
              <a:tileRect/>
            </a:gradFill>
            <a:ln w="25400" cap="flat" cmpd="sng" algn="ctr">
              <a:noFill/>
              <a:prstDash val="solid"/>
            </a:ln>
            <a:effectLst>
              <a:outerShdw blurRad="127000" dist="63500" dir="7380000" sx="102000" sy="102000" algn="tr" rotWithShape="0">
                <a:prstClr val="black">
                  <a:alpha val="39000"/>
                </a:prstClr>
              </a:outerShdw>
            </a:effectLst>
          </p:spPr>
          <p:txBody>
            <a:bodyPr anchor="ctr"/>
            <a:lstStyle/>
            <a:p>
              <a:pPr algn="ctr" eaLnBrk="1" hangingPunct="1">
                <a:defRPr/>
              </a:pPr>
              <a:endParaRPr lang="zh-CN" altLang="en-US" kern="0">
                <a:solidFill>
                  <a:srgbClr val="FFFFFF"/>
                </a:solidFill>
                <a:latin typeface="Arial"/>
                <a:ea typeface="宋体"/>
              </a:endParaRPr>
            </a:p>
          </p:txBody>
        </p:sp>
        <p:sp>
          <p:nvSpPr>
            <p:cNvPr id="18" name="任意多边形 83"/>
            <p:cNvSpPr/>
            <p:nvPr/>
          </p:nvSpPr>
          <p:spPr>
            <a:xfrm rot="16377237">
              <a:off x="6409519" y="2545928"/>
              <a:ext cx="2476803" cy="2476799"/>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flip="none" rotWithShape="1">
              <a:gsLst>
                <a:gs pos="29000">
                  <a:srgbClr val="FFFFFF"/>
                </a:gs>
                <a:gs pos="98000">
                  <a:srgbClr val="FFFFFF">
                    <a:lumMod val="75000"/>
                  </a:srgbClr>
                </a:gs>
              </a:gsLst>
              <a:lin ang="2700000" scaled="1"/>
              <a:tileRect/>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en-US" kern="0">
                <a:solidFill>
                  <a:srgbClr val="FFFFFF"/>
                </a:solidFill>
              </a:endParaRPr>
            </a:p>
          </p:txBody>
        </p:sp>
      </p:grpSp>
      <p:sp>
        <p:nvSpPr>
          <p:cNvPr id="19" name="文本框 20"/>
          <p:cNvSpPr txBox="1">
            <a:spLocks noChangeArrowheads="1"/>
          </p:cNvSpPr>
          <p:nvPr/>
        </p:nvSpPr>
        <p:spPr bwMode="auto">
          <a:xfrm>
            <a:off x="822994" y="3789539"/>
            <a:ext cx="167871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微软雅黑" pitchFamily="34" charset="-122"/>
                <a:ea typeface="微软雅黑" pitchFamily="34" charset="-122"/>
              </a:defRPr>
            </a:lvl1pPr>
            <a:lvl2pPr marL="742950" indent="-285750">
              <a:defRPr>
                <a:solidFill>
                  <a:schemeClr val="tx1"/>
                </a:solidFill>
                <a:latin typeface="微软雅黑" pitchFamily="34" charset="-122"/>
                <a:ea typeface="微软雅黑" pitchFamily="34" charset="-122"/>
              </a:defRPr>
            </a:lvl2pPr>
            <a:lvl3pPr marL="1143000" indent="-228600">
              <a:defRPr>
                <a:solidFill>
                  <a:schemeClr val="tx1"/>
                </a:solidFill>
                <a:latin typeface="微软雅黑" pitchFamily="34" charset="-122"/>
                <a:ea typeface="微软雅黑" pitchFamily="34" charset="-122"/>
              </a:defRPr>
            </a:lvl3pPr>
            <a:lvl4pPr marL="1600200" indent="-228600">
              <a:defRPr>
                <a:solidFill>
                  <a:schemeClr val="tx1"/>
                </a:solidFill>
                <a:latin typeface="微软雅黑" pitchFamily="34" charset="-122"/>
                <a:ea typeface="微软雅黑" pitchFamily="34" charset="-122"/>
              </a:defRPr>
            </a:lvl4pPr>
            <a:lvl5pPr marL="2057400" indent="-228600">
              <a:defRPr>
                <a:solidFill>
                  <a:schemeClr val="tx1"/>
                </a:solidFill>
                <a:latin typeface="微软雅黑" pitchFamily="34" charset="-122"/>
                <a:ea typeface="微软雅黑" pitchFamily="34" charset="-122"/>
              </a:defRPr>
            </a:lvl5pPr>
            <a:lvl6pPr marL="2514600" indent="-228600" eaLnBrk="0" fontAlgn="base" hangingPunct="0">
              <a:spcBef>
                <a:spcPct val="0"/>
              </a:spcBef>
              <a:spcAft>
                <a:spcPct val="0"/>
              </a:spcAft>
              <a:defRPr>
                <a:solidFill>
                  <a:schemeClr val="tx1"/>
                </a:solidFill>
                <a:latin typeface="微软雅黑" pitchFamily="34" charset="-122"/>
                <a:ea typeface="微软雅黑" pitchFamily="34" charset="-122"/>
              </a:defRPr>
            </a:lvl6pPr>
            <a:lvl7pPr marL="2971800" indent="-228600" eaLnBrk="0" fontAlgn="base" hangingPunct="0">
              <a:spcBef>
                <a:spcPct val="0"/>
              </a:spcBef>
              <a:spcAft>
                <a:spcPct val="0"/>
              </a:spcAft>
              <a:defRPr>
                <a:solidFill>
                  <a:schemeClr val="tx1"/>
                </a:solidFill>
                <a:latin typeface="微软雅黑" pitchFamily="34" charset="-122"/>
                <a:ea typeface="微软雅黑" pitchFamily="34" charset="-122"/>
              </a:defRPr>
            </a:lvl7pPr>
            <a:lvl8pPr marL="3429000" indent="-228600" eaLnBrk="0" fontAlgn="base" hangingPunct="0">
              <a:spcBef>
                <a:spcPct val="0"/>
              </a:spcBef>
              <a:spcAft>
                <a:spcPct val="0"/>
              </a:spcAft>
              <a:defRPr>
                <a:solidFill>
                  <a:schemeClr val="tx1"/>
                </a:solidFill>
                <a:latin typeface="微软雅黑" pitchFamily="34" charset="-122"/>
                <a:ea typeface="微软雅黑" pitchFamily="34" charset="-122"/>
              </a:defRPr>
            </a:lvl8pPr>
            <a:lvl9pPr marL="3886200" indent="-228600" eaLnBrk="0" fontAlgn="base" hangingPunct="0">
              <a:spcBef>
                <a:spcPct val="0"/>
              </a:spcBef>
              <a:spcAft>
                <a:spcPct val="0"/>
              </a:spcAft>
              <a:defRPr>
                <a:solidFill>
                  <a:schemeClr val="tx1"/>
                </a:solidFill>
                <a:latin typeface="微软雅黑" pitchFamily="34" charset="-122"/>
                <a:ea typeface="微软雅黑" pitchFamily="34" charset="-122"/>
              </a:defRPr>
            </a:lvl9pPr>
          </a:lstStyle>
          <a:p>
            <a:pPr algn="ctr" eaLnBrk="1" hangingPunct="1">
              <a:lnSpc>
                <a:spcPct val="100000"/>
              </a:lnSpc>
            </a:pPr>
            <a:r>
              <a:rPr lang="en-US" altLang="zh-CN" sz="2000" b="1" dirty="0">
                <a:solidFill>
                  <a:srgbClr val="9900FF"/>
                </a:solidFill>
              </a:rPr>
              <a:t>CONTENTS</a:t>
            </a:r>
            <a:endParaRPr lang="zh-CN" altLang="en-US" sz="2000" b="1" dirty="0">
              <a:solidFill>
                <a:srgbClr val="9900FF"/>
              </a:solidFill>
            </a:endParaRPr>
          </a:p>
        </p:txBody>
      </p:sp>
      <p:sp>
        <p:nvSpPr>
          <p:cNvPr id="20" name="文本框 20"/>
          <p:cNvSpPr txBox="1">
            <a:spLocks noChangeArrowheads="1"/>
          </p:cNvSpPr>
          <p:nvPr/>
        </p:nvSpPr>
        <p:spPr bwMode="auto">
          <a:xfrm>
            <a:off x="967010" y="3109529"/>
            <a:ext cx="141222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微软雅黑" pitchFamily="34" charset="-122"/>
                <a:ea typeface="微软雅黑" pitchFamily="34" charset="-122"/>
              </a:defRPr>
            </a:lvl1pPr>
            <a:lvl2pPr marL="742950" indent="-285750">
              <a:defRPr>
                <a:solidFill>
                  <a:schemeClr val="tx1"/>
                </a:solidFill>
                <a:latin typeface="微软雅黑" pitchFamily="34" charset="-122"/>
                <a:ea typeface="微软雅黑" pitchFamily="34" charset="-122"/>
              </a:defRPr>
            </a:lvl2pPr>
            <a:lvl3pPr marL="1143000" indent="-228600">
              <a:defRPr>
                <a:solidFill>
                  <a:schemeClr val="tx1"/>
                </a:solidFill>
                <a:latin typeface="微软雅黑" pitchFamily="34" charset="-122"/>
                <a:ea typeface="微软雅黑" pitchFamily="34" charset="-122"/>
              </a:defRPr>
            </a:lvl3pPr>
            <a:lvl4pPr marL="1600200" indent="-228600">
              <a:defRPr>
                <a:solidFill>
                  <a:schemeClr val="tx1"/>
                </a:solidFill>
                <a:latin typeface="微软雅黑" pitchFamily="34" charset="-122"/>
                <a:ea typeface="微软雅黑" pitchFamily="34" charset="-122"/>
              </a:defRPr>
            </a:lvl4pPr>
            <a:lvl5pPr marL="2057400" indent="-228600">
              <a:defRPr>
                <a:solidFill>
                  <a:schemeClr val="tx1"/>
                </a:solidFill>
                <a:latin typeface="微软雅黑" pitchFamily="34" charset="-122"/>
                <a:ea typeface="微软雅黑" pitchFamily="34" charset="-122"/>
              </a:defRPr>
            </a:lvl5pPr>
            <a:lvl6pPr marL="2514600" indent="-228600" eaLnBrk="0" fontAlgn="base" hangingPunct="0">
              <a:spcBef>
                <a:spcPct val="0"/>
              </a:spcBef>
              <a:spcAft>
                <a:spcPct val="0"/>
              </a:spcAft>
              <a:defRPr>
                <a:solidFill>
                  <a:schemeClr val="tx1"/>
                </a:solidFill>
                <a:latin typeface="微软雅黑" pitchFamily="34" charset="-122"/>
                <a:ea typeface="微软雅黑" pitchFamily="34" charset="-122"/>
              </a:defRPr>
            </a:lvl6pPr>
            <a:lvl7pPr marL="2971800" indent="-228600" eaLnBrk="0" fontAlgn="base" hangingPunct="0">
              <a:spcBef>
                <a:spcPct val="0"/>
              </a:spcBef>
              <a:spcAft>
                <a:spcPct val="0"/>
              </a:spcAft>
              <a:defRPr>
                <a:solidFill>
                  <a:schemeClr val="tx1"/>
                </a:solidFill>
                <a:latin typeface="微软雅黑" pitchFamily="34" charset="-122"/>
                <a:ea typeface="微软雅黑" pitchFamily="34" charset="-122"/>
              </a:defRPr>
            </a:lvl7pPr>
            <a:lvl8pPr marL="3429000" indent="-228600" eaLnBrk="0" fontAlgn="base" hangingPunct="0">
              <a:spcBef>
                <a:spcPct val="0"/>
              </a:spcBef>
              <a:spcAft>
                <a:spcPct val="0"/>
              </a:spcAft>
              <a:defRPr>
                <a:solidFill>
                  <a:schemeClr val="tx1"/>
                </a:solidFill>
                <a:latin typeface="微软雅黑" pitchFamily="34" charset="-122"/>
                <a:ea typeface="微软雅黑" pitchFamily="34" charset="-122"/>
              </a:defRPr>
            </a:lvl8pPr>
            <a:lvl9pPr marL="3886200" indent="-228600" eaLnBrk="0" fontAlgn="base" hangingPunct="0">
              <a:spcBef>
                <a:spcPct val="0"/>
              </a:spcBef>
              <a:spcAft>
                <a:spcPct val="0"/>
              </a:spcAft>
              <a:defRPr>
                <a:solidFill>
                  <a:schemeClr val="tx1"/>
                </a:solidFill>
                <a:latin typeface="微软雅黑" pitchFamily="34" charset="-122"/>
                <a:ea typeface="微软雅黑" pitchFamily="34" charset="-122"/>
              </a:defRPr>
            </a:lvl9pPr>
          </a:lstStyle>
          <a:p>
            <a:pPr algn="ctr" eaLnBrk="1" hangingPunct="1">
              <a:lnSpc>
                <a:spcPct val="100000"/>
              </a:lnSpc>
            </a:pPr>
            <a:r>
              <a:rPr lang="zh-CN" altLang="en-US" sz="3200" b="1" dirty="0">
                <a:solidFill>
                  <a:srgbClr val="008000"/>
                </a:solidFill>
              </a:rPr>
              <a:t>提纲</a:t>
            </a:r>
          </a:p>
        </p:txBody>
      </p:sp>
      <p:sp>
        <p:nvSpPr>
          <p:cNvPr id="12" name="TextBox 11">
            <a:hlinkClick r:id="" action="ppaction://noaction"/>
          </p:cNvPr>
          <p:cNvSpPr txBox="1"/>
          <p:nvPr/>
        </p:nvSpPr>
        <p:spPr>
          <a:xfrm>
            <a:off x="3389652" y="4490687"/>
            <a:ext cx="4468496" cy="5847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9.3 </a:t>
            </a:r>
            <a:r>
              <a:rPr lang="zh-CN" altLang="en-US"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网络流</a:t>
            </a:r>
          </a:p>
        </p:txBody>
      </p:sp>
      <p:sp>
        <p:nvSpPr>
          <p:cNvPr id="13" name="灯片编号占位符 12"/>
          <p:cNvSpPr>
            <a:spLocks noGrp="1"/>
          </p:cNvSpPr>
          <p:nvPr>
            <p:ph type="sldNum" sz="quarter" idx="12"/>
          </p:nvPr>
        </p:nvSpPr>
        <p:spPr/>
        <p:txBody>
          <a:bodyPr/>
          <a:lstStyle/>
          <a:p>
            <a:fld id="{7AF016A1-9F15-429F-9EFD-84004B73C732}" type="slidenum">
              <a:rPr lang="en-US" altLang="zh-CN" smtClean="0"/>
              <a:pPr/>
              <a:t>1</a:t>
            </a:fld>
            <a:r>
              <a:rPr lang="en-US" altLang="zh-CN"/>
              <a:t>/158</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357158" y="1405582"/>
            <a:ext cx="4643470" cy="523220"/>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rPr>
              <a:t>9.1.1 </a:t>
            </a:r>
            <a:r>
              <a:rPr lang="zh-CN" altLang="en-US"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rPr>
              <a:t>什么是最小生成树</a:t>
            </a:r>
            <a:endParaRPr lang="zh-CN" altLang="zh-CN"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endParaRPr>
          </a:p>
        </p:txBody>
      </p:sp>
      <p:sp>
        <p:nvSpPr>
          <p:cNvPr id="5" name="TextBox 4">
            <a:hlinkClick r:id="rId3" action="ppaction://hlinksldjump"/>
          </p:cNvPr>
          <p:cNvSpPr txBox="1"/>
          <p:nvPr/>
        </p:nvSpPr>
        <p:spPr>
          <a:xfrm>
            <a:off x="2357422" y="357166"/>
            <a:ext cx="4468496" cy="5847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9.1 </a:t>
            </a:r>
            <a:r>
              <a:rPr lang="zh-CN" altLang="en-US"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图的最小生成树</a:t>
            </a:r>
          </a:p>
        </p:txBody>
      </p:sp>
      <p:sp>
        <p:nvSpPr>
          <p:cNvPr id="6" name="Text Box 4"/>
          <p:cNvSpPr txBox="1">
            <a:spLocks noChangeArrowheads="1"/>
          </p:cNvSpPr>
          <p:nvPr/>
        </p:nvSpPr>
        <p:spPr bwMode="auto">
          <a:xfrm>
            <a:off x="500034" y="2357430"/>
            <a:ext cx="8143932" cy="3243837"/>
          </a:xfrm>
          <a:prstGeom prst="rect">
            <a:avLst/>
          </a:prstGeom>
          <a:ln>
            <a:solidFill>
              <a:schemeClr val="accent6">
                <a:lumMod val="40000"/>
                <a:lumOff val="60000"/>
              </a:schemeClr>
            </a:solidFill>
            <a:headEnd/>
            <a:tailEnd/>
          </a:ln>
        </p:spPr>
        <p:style>
          <a:lnRef idx="2">
            <a:schemeClr val="accent6"/>
          </a:lnRef>
          <a:fillRef idx="1">
            <a:schemeClr val="lt1"/>
          </a:fillRef>
          <a:effectRef idx="0">
            <a:schemeClr val="accent6"/>
          </a:effectRef>
          <a:fontRef idx="minor">
            <a:schemeClr val="dk1"/>
          </a:fontRef>
        </p:style>
        <p:txBody>
          <a:bodyPr wrap="square">
            <a:spAutoFit/>
          </a:bodyPr>
          <a:lstStyle/>
          <a:p>
            <a:pPr marL="457200" indent="-457200" algn="l">
              <a:lnSpc>
                <a:spcPts val="3200"/>
              </a:lnSpc>
              <a:spcBef>
                <a:spcPts val="1200"/>
              </a:spcBef>
              <a:buBlip>
                <a:blip r:embed="rId4"/>
              </a:buBlip>
            </a:pPr>
            <a:r>
              <a:rPr lang="zh-CN" altLang="en-US">
                <a:solidFill>
                  <a:srgbClr val="0000FF"/>
                </a:solidFill>
                <a:latin typeface="Consolas" pitchFamily="49" charset="0"/>
                <a:ea typeface="仿宋" pitchFamily="49" charset="-122"/>
                <a:cs typeface="Consolas" pitchFamily="49" charset="0"/>
              </a:rPr>
              <a:t>一个连通图的</a:t>
            </a:r>
            <a:r>
              <a:rPr lang="zh-CN" altLang="en-US">
                <a:solidFill>
                  <a:srgbClr val="FF0000"/>
                </a:solidFill>
                <a:latin typeface="Consolas" pitchFamily="49" charset="0"/>
                <a:ea typeface="仿宋" pitchFamily="49" charset="-122"/>
                <a:cs typeface="Consolas" pitchFamily="49" charset="0"/>
              </a:rPr>
              <a:t>生成树</a:t>
            </a:r>
            <a:r>
              <a:rPr lang="zh-CN" altLang="en-US">
                <a:solidFill>
                  <a:srgbClr val="0000FF"/>
                </a:solidFill>
                <a:latin typeface="Consolas" pitchFamily="49" charset="0"/>
                <a:ea typeface="仿宋" pitchFamily="49" charset="-122"/>
                <a:cs typeface="Consolas" pitchFamily="49" charset="0"/>
              </a:rPr>
              <a:t>是一个极小连通子图，它含有图中全部顶点，但只有构成一棵树的</a:t>
            </a:r>
            <a:r>
              <a:rPr lang="en-US" altLang="zh-CN" i="1">
                <a:solidFill>
                  <a:srgbClr val="0000FF"/>
                </a:solidFill>
                <a:latin typeface="Consolas" pitchFamily="49" charset="0"/>
                <a:ea typeface="仿宋" pitchFamily="49" charset="-122"/>
                <a:cs typeface="Consolas" pitchFamily="49" charset="0"/>
              </a:rPr>
              <a:t>n</a:t>
            </a:r>
            <a:r>
              <a:rPr lang="en-US" altLang="zh-CN">
                <a:solidFill>
                  <a:srgbClr val="0000FF"/>
                </a:solidFill>
                <a:latin typeface="Consolas" pitchFamily="49" charset="0"/>
                <a:ea typeface="仿宋" pitchFamily="49" charset="-122"/>
                <a:cs typeface="Consolas" pitchFamily="49" charset="0"/>
              </a:rPr>
              <a:t>-1</a:t>
            </a:r>
            <a:r>
              <a:rPr lang="zh-CN" altLang="en-US">
                <a:solidFill>
                  <a:srgbClr val="0000FF"/>
                </a:solidFill>
                <a:latin typeface="Consolas" pitchFamily="49" charset="0"/>
                <a:ea typeface="仿宋" pitchFamily="49" charset="-122"/>
                <a:cs typeface="Consolas" pitchFamily="49" charset="0"/>
              </a:rPr>
              <a:t>条边。</a:t>
            </a:r>
          </a:p>
          <a:p>
            <a:pPr marL="457200" indent="-457200" algn="l">
              <a:lnSpc>
                <a:spcPts val="3200"/>
              </a:lnSpc>
              <a:spcBef>
                <a:spcPts val="1200"/>
              </a:spcBef>
              <a:buBlip>
                <a:blip r:embed="rId4"/>
              </a:buBlip>
            </a:pPr>
            <a:r>
              <a:rPr lang="zh-CN" altLang="en-US">
                <a:solidFill>
                  <a:srgbClr val="0000FF"/>
                </a:solidFill>
                <a:latin typeface="Consolas" pitchFamily="49" charset="0"/>
                <a:ea typeface="仿宋" pitchFamily="49" charset="-122"/>
                <a:cs typeface="Consolas" pitchFamily="49" charset="0"/>
              </a:rPr>
              <a:t>对于一个带权（假定每条边上的权均为大于零的数）连通无向图</a:t>
            </a:r>
            <a:r>
              <a:rPr lang="en-US" altLang="zh-CN">
                <a:solidFill>
                  <a:srgbClr val="0000FF"/>
                </a:solidFill>
                <a:latin typeface="Consolas" pitchFamily="49" charset="0"/>
                <a:ea typeface="仿宋" pitchFamily="49" charset="-122"/>
                <a:cs typeface="Consolas" pitchFamily="49" charset="0"/>
              </a:rPr>
              <a:t>G</a:t>
            </a:r>
            <a:r>
              <a:rPr lang="zh-CN" altLang="en-US">
                <a:solidFill>
                  <a:srgbClr val="0000FF"/>
                </a:solidFill>
                <a:latin typeface="Consolas" pitchFamily="49" charset="0"/>
                <a:ea typeface="仿宋" pitchFamily="49" charset="-122"/>
                <a:cs typeface="Consolas" pitchFamily="49" charset="0"/>
              </a:rPr>
              <a:t>中的不同生成树，其每棵树的所有边上的权值之和也可能不同。</a:t>
            </a:r>
          </a:p>
          <a:p>
            <a:pPr marL="457200" indent="-457200" algn="l">
              <a:lnSpc>
                <a:spcPts val="3200"/>
              </a:lnSpc>
              <a:spcBef>
                <a:spcPts val="1200"/>
              </a:spcBef>
              <a:buBlip>
                <a:blip r:embed="rId4"/>
              </a:buBlip>
            </a:pPr>
            <a:r>
              <a:rPr lang="zh-CN" altLang="en-US">
                <a:solidFill>
                  <a:srgbClr val="0000FF"/>
                </a:solidFill>
                <a:latin typeface="Consolas" pitchFamily="49" charset="0"/>
                <a:ea typeface="仿宋" pitchFamily="49" charset="-122"/>
                <a:cs typeface="Consolas" pitchFamily="49" charset="0"/>
              </a:rPr>
              <a:t>图的所有生成树中具有边上的权值之和最小的树称为图的</a:t>
            </a:r>
            <a:r>
              <a:rPr lang="zh-CN" altLang="en-US">
                <a:solidFill>
                  <a:srgbClr val="FF0000"/>
                </a:solidFill>
                <a:latin typeface="Consolas" pitchFamily="49" charset="0"/>
                <a:ea typeface="仿宋" pitchFamily="49" charset="-122"/>
                <a:cs typeface="Consolas" pitchFamily="49" charset="0"/>
              </a:rPr>
              <a:t>最小生成树</a:t>
            </a:r>
            <a:r>
              <a:rPr lang="zh-CN" altLang="en-US">
                <a:solidFill>
                  <a:srgbClr val="0000FF"/>
                </a:solidFill>
                <a:latin typeface="Consolas" pitchFamily="49" charset="0"/>
                <a:ea typeface="仿宋" pitchFamily="49" charset="-122"/>
                <a:cs typeface="Consolas" pitchFamily="49" charset="0"/>
              </a:rPr>
              <a:t>。</a:t>
            </a:r>
          </a:p>
        </p:txBody>
      </p:sp>
      <p:sp>
        <p:nvSpPr>
          <p:cNvPr id="8" name="灯片编号占位符 7"/>
          <p:cNvSpPr>
            <a:spLocks noGrp="1"/>
          </p:cNvSpPr>
          <p:nvPr>
            <p:ph type="sldNum" sz="quarter" idx="12"/>
          </p:nvPr>
        </p:nvSpPr>
        <p:spPr/>
        <p:txBody>
          <a:bodyPr/>
          <a:lstStyle/>
          <a:p>
            <a:fld id="{7AF016A1-9F15-429F-9EFD-84004B73C732}" type="slidenum">
              <a:rPr lang="en-US" altLang="zh-CN" smtClean="0"/>
              <a:pPr/>
              <a:t>2</a:t>
            </a:fld>
            <a:r>
              <a:rPr lang="en-US" altLang="zh-CN"/>
              <a:t>/158</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Text Box 3"/>
          <p:cNvSpPr txBox="1">
            <a:spLocks noChangeArrowheads="1"/>
          </p:cNvSpPr>
          <p:nvPr/>
        </p:nvSpPr>
        <p:spPr bwMode="auto">
          <a:xfrm>
            <a:off x="500034" y="1357298"/>
            <a:ext cx="5675323" cy="461665"/>
          </a:xfrm>
          <a:prstGeom prst="rect">
            <a:avLst/>
          </a:prstGeom>
          <a:solidFill>
            <a:srgbClr val="9900FF"/>
          </a:solidFill>
          <a:ln w="9525">
            <a:noFill/>
            <a:miter lim="800000"/>
            <a:headEnd/>
            <a:tailEnd/>
          </a:ln>
        </p:spPr>
        <p:txBody>
          <a:bodyPr wrap="square">
            <a:spAutoFit/>
          </a:bodyPr>
          <a:lstStyle/>
          <a:p>
            <a:pPr algn="l">
              <a:lnSpc>
                <a:spcPct val="100000"/>
              </a:lnSpc>
              <a:spcBef>
                <a:spcPct val="50000"/>
              </a:spcBef>
            </a:pPr>
            <a:r>
              <a:rPr lang="en-US" altLang="zh-CN">
                <a:solidFill>
                  <a:schemeClr val="bg1"/>
                </a:solidFill>
                <a:latin typeface="Consolas" pitchFamily="49" charset="0"/>
                <a:ea typeface="微软雅黑" pitchFamily="34" charset="-122"/>
                <a:cs typeface="Consolas" pitchFamily="49" charset="0"/>
              </a:rPr>
              <a:t>1. </a:t>
            </a:r>
            <a:r>
              <a:rPr lang="zh-CN" altLang="en-US">
                <a:solidFill>
                  <a:schemeClr val="bg1"/>
                </a:solidFill>
                <a:latin typeface="Consolas" pitchFamily="49" charset="0"/>
                <a:ea typeface="微软雅黑" pitchFamily="34" charset="-122"/>
                <a:cs typeface="Consolas" pitchFamily="49" charset="0"/>
              </a:rPr>
              <a:t>普里姆算法构造最小生成树的过程</a:t>
            </a:r>
          </a:p>
        </p:txBody>
      </p:sp>
      <p:sp>
        <p:nvSpPr>
          <p:cNvPr id="60420" name="Text Box 4"/>
          <p:cNvSpPr txBox="1">
            <a:spLocks noChangeArrowheads="1"/>
          </p:cNvSpPr>
          <p:nvPr/>
        </p:nvSpPr>
        <p:spPr bwMode="auto">
          <a:xfrm>
            <a:off x="428596" y="2143116"/>
            <a:ext cx="8321702" cy="2285241"/>
          </a:xfrm>
          <a:prstGeom prst="rect">
            <a:avLst/>
          </a:prstGeom>
          <a:ln>
            <a:solidFill>
              <a:schemeClr val="accent6">
                <a:lumMod val="40000"/>
                <a:lumOff val="60000"/>
              </a:schemeClr>
            </a:solidFill>
            <a:headEnd/>
            <a:tailEnd/>
          </a:ln>
        </p:spPr>
        <p:style>
          <a:lnRef idx="2">
            <a:schemeClr val="accent6"/>
          </a:lnRef>
          <a:fillRef idx="1">
            <a:schemeClr val="lt1"/>
          </a:fillRef>
          <a:effectRef idx="0">
            <a:schemeClr val="accent6"/>
          </a:effectRef>
          <a:fontRef idx="minor">
            <a:schemeClr val="dk1"/>
          </a:fontRef>
        </p:style>
        <p:txBody>
          <a:bodyPr wrap="square">
            <a:spAutoFit/>
          </a:bodyPr>
          <a:lstStyle/>
          <a:p>
            <a:pPr algn="l">
              <a:lnSpc>
                <a:spcPts val="3300"/>
              </a:lnSpc>
              <a:spcBef>
                <a:spcPts val="600"/>
              </a:spcBef>
            </a:pPr>
            <a:r>
              <a:rPr lang="zh-CN" altLang="en-US">
                <a:solidFill>
                  <a:srgbClr val="0000FF"/>
                </a:solidFill>
                <a:latin typeface="Consolas" pitchFamily="49" charset="0"/>
                <a:ea typeface="仿宋" pitchFamily="49" charset="-122"/>
                <a:cs typeface="Consolas" pitchFamily="49" charset="0"/>
              </a:rPr>
              <a:t>　</a:t>
            </a:r>
            <a:r>
              <a:rPr lang="zh-CN" altLang="en-US">
                <a:solidFill>
                  <a:srgbClr val="FF0000"/>
                </a:solidFill>
                <a:latin typeface="Consolas" pitchFamily="49" charset="0"/>
                <a:ea typeface="仿宋" pitchFamily="49" charset="-122"/>
                <a:cs typeface="Consolas" pitchFamily="49" charset="0"/>
              </a:rPr>
              <a:t>普</a:t>
            </a:r>
            <a:r>
              <a:rPr lang="zh-CN" altLang="en-US" dirty="0">
                <a:solidFill>
                  <a:srgbClr val="FF0000"/>
                </a:solidFill>
                <a:latin typeface="Consolas" pitchFamily="49" charset="0"/>
                <a:ea typeface="仿宋" pitchFamily="49" charset="-122"/>
                <a:cs typeface="Consolas" pitchFamily="49" charset="0"/>
              </a:rPr>
              <a:t>里姆（</a:t>
            </a:r>
            <a:r>
              <a:rPr lang="en-US" altLang="zh-CN" dirty="0">
                <a:solidFill>
                  <a:srgbClr val="FF0000"/>
                </a:solidFill>
                <a:latin typeface="Consolas" pitchFamily="49" charset="0"/>
                <a:ea typeface="仿宋" pitchFamily="49" charset="-122"/>
                <a:cs typeface="Consolas" pitchFamily="49" charset="0"/>
              </a:rPr>
              <a:t>Prim</a:t>
            </a:r>
            <a:r>
              <a:rPr lang="zh-CN" altLang="en-US" dirty="0">
                <a:solidFill>
                  <a:srgbClr val="FF0000"/>
                </a:solidFill>
                <a:latin typeface="Consolas" pitchFamily="49" charset="0"/>
                <a:ea typeface="仿宋" pitchFamily="49" charset="-122"/>
                <a:cs typeface="Consolas" pitchFamily="49" charset="0"/>
              </a:rPr>
              <a:t>）算法</a:t>
            </a:r>
            <a:r>
              <a:rPr lang="zh-CN" altLang="en-US" dirty="0">
                <a:solidFill>
                  <a:srgbClr val="0000FF"/>
                </a:solidFill>
                <a:latin typeface="Consolas" pitchFamily="49" charset="0"/>
                <a:ea typeface="仿宋" pitchFamily="49" charset="-122"/>
                <a:cs typeface="Consolas" pitchFamily="49" charset="0"/>
              </a:rPr>
              <a:t>是一种构造性算法。假设</a:t>
            </a:r>
            <a:r>
              <a:rPr lang="en-US" altLang="zh-CN" dirty="0">
                <a:solidFill>
                  <a:srgbClr val="0000FF"/>
                </a:solidFill>
                <a:latin typeface="Consolas" pitchFamily="49" charset="0"/>
                <a:ea typeface="仿宋" pitchFamily="49" charset="-122"/>
                <a:cs typeface="Consolas" pitchFamily="49" charset="0"/>
              </a:rPr>
              <a:t>G</a:t>
            </a:r>
            <a:r>
              <a:rPr lang="en-US" altLang="zh-CN">
                <a:solidFill>
                  <a:srgbClr val="0000FF"/>
                </a:solidFill>
                <a:latin typeface="Consolas" pitchFamily="49" charset="0"/>
                <a:ea typeface="仿宋" pitchFamily="49" charset="-122"/>
                <a:cs typeface="Consolas" pitchFamily="49" charset="0"/>
              </a:rPr>
              <a:t>=(V</a:t>
            </a:r>
            <a:r>
              <a:rPr lang="zh-CN" altLang="en-US">
                <a:solidFill>
                  <a:srgbClr val="0000FF"/>
                </a:solidFill>
                <a:latin typeface="Consolas" pitchFamily="49" charset="0"/>
                <a:ea typeface="仿宋" pitchFamily="49" charset="-122"/>
                <a:cs typeface="Consolas" pitchFamily="49" charset="0"/>
              </a:rPr>
              <a:t>，</a:t>
            </a:r>
            <a:r>
              <a:rPr lang="en-US" altLang="zh-CN">
                <a:solidFill>
                  <a:srgbClr val="0000FF"/>
                </a:solidFill>
                <a:latin typeface="Consolas" pitchFamily="49" charset="0"/>
                <a:ea typeface="仿宋" pitchFamily="49" charset="-122"/>
                <a:cs typeface="Consolas" pitchFamily="49" charset="0"/>
              </a:rPr>
              <a:t>E</a:t>
            </a:r>
            <a:r>
              <a:rPr lang="en-US" altLang="zh-CN" dirty="0">
                <a:solidFill>
                  <a:srgbClr val="0000FF"/>
                </a:solidFill>
                <a:latin typeface="Consolas" pitchFamily="49" charset="0"/>
                <a:ea typeface="仿宋" pitchFamily="49" charset="-122"/>
                <a:cs typeface="Consolas" pitchFamily="49" charset="0"/>
              </a:rPr>
              <a:t>)</a:t>
            </a:r>
            <a:r>
              <a:rPr lang="zh-CN" altLang="en-US" dirty="0">
                <a:solidFill>
                  <a:srgbClr val="0000FF"/>
                </a:solidFill>
                <a:latin typeface="Consolas" pitchFamily="49" charset="0"/>
                <a:ea typeface="仿宋" pitchFamily="49" charset="-122"/>
                <a:cs typeface="Consolas" pitchFamily="49" charset="0"/>
              </a:rPr>
              <a:t>是一个具有</a:t>
            </a:r>
            <a:r>
              <a:rPr lang="en-US" altLang="zh-CN" i="1" dirty="0">
                <a:solidFill>
                  <a:srgbClr val="0000FF"/>
                </a:solidFill>
                <a:latin typeface="Consolas" pitchFamily="49" charset="0"/>
                <a:ea typeface="仿宋" pitchFamily="49" charset="-122"/>
                <a:cs typeface="Consolas" pitchFamily="49" charset="0"/>
              </a:rPr>
              <a:t>n</a:t>
            </a:r>
            <a:r>
              <a:rPr lang="zh-CN" altLang="en-US" dirty="0">
                <a:solidFill>
                  <a:srgbClr val="0000FF"/>
                </a:solidFill>
                <a:latin typeface="Consolas" pitchFamily="49" charset="0"/>
                <a:ea typeface="仿宋" pitchFamily="49" charset="-122"/>
                <a:cs typeface="Consolas" pitchFamily="49" charset="0"/>
              </a:rPr>
              <a:t>个顶点的带权连通无</a:t>
            </a:r>
            <a:r>
              <a:rPr lang="zh-CN" altLang="en-US">
                <a:solidFill>
                  <a:srgbClr val="0000FF"/>
                </a:solidFill>
                <a:latin typeface="Consolas" pitchFamily="49" charset="0"/>
                <a:ea typeface="仿宋" pitchFamily="49" charset="-122"/>
                <a:cs typeface="Consolas" pitchFamily="49" charset="0"/>
              </a:rPr>
              <a:t>向图，</a:t>
            </a:r>
            <a:r>
              <a:rPr lang="en-US" altLang="zh-CN">
                <a:solidFill>
                  <a:srgbClr val="0000FF"/>
                </a:solidFill>
                <a:latin typeface="Consolas" pitchFamily="49" charset="0"/>
                <a:ea typeface="仿宋" pitchFamily="49" charset="-122"/>
                <a:cs typeface="Consolas" pitchFamily="49" charset="0"/>
              </a:rPr>
              <a:t>T=(U</a:t>
            </a:r>
            <a:r>
              <a:rPr lang="zh-CN" altLang="en-US">
                <a:solidFill>
                  <a:srgbClr val="0000FF"/>
                </a:solidFill>
                <a:latin typeface="Consolas" pitchFamily="49" charset="0"/>
                <a:ea typeface="仿宋" pitchFamily="49" charset="-122"/>
                <a:cs typeface="Consolas" pitchFamily="49" charset="0"/>
              </a:rPr>
              <a:t>，</a:t>
            </a:r>
            <a:r>
              <a:rPr lang="en-US" altLang="zh-CN">
                <a:solidFill>
                  <a:srgbClr val="0000FF"/>
                </a:solidFill>
                <a:latin typeface="Consolas" pitchFamily="49" charset="0"/>
                <a:ea typeface="仿宋" pitchFamily="49" charset="-122"/>
                <a:cs typeface="Consolas" pitchFamily="49" charset="0"/>
              </a:rPr>
              <a:t>TE</a:t>
            </a:r>
            <a:r>
              <a:rPr lang="en-US" altLang="zh-CN" dirty="0">
                <a:solidFill>
                  <a:srgbClr val="0000FF"/>
                </a:solidFill>
                <a:latin typeface="Consolas" pitchFamily="49" charset="0"/>
                <a:ea typeface="仿宋" pitchFamily="49" charset="-122"/>
                <a:cs typeface="Consolas" pitchFamily="49" charset="0"/>
              </a:rPr>
              <a:t>)</a:t>
            </a:r>
            <a:r>
              <a:rPr lang="zh-CN" altLang="en-US" dirty="0">
                <a:solidFill>
                  <a:srgbClr val="0000FF"/>
                </a:solidFill>
                <a:latin typeface="Consolas" pitchFamily="49" charset="0"/>
                <a:ea typeface="仿宋" pitchFamily="49" charset="-122"/>
                <a:cs typeface="Consolas" pitchFamily="49" charset="0"/>
              </a:rPr>
              <a:t>是</a:t>
            </a:r>
            <a:r>
              <a:rPr lang="en-US" altLang="zh-CN" dirty="0">
                <a:solidFill>
                  <a:srgbClr val="0000FF"/>
                </a:solidFill>
                <a:latin typeface="Consolas" pitchFamily="49" charset="0"/>
                <a:ea typeface="仿宋" pitchFamily="49" charset="-122"/>
                <a:cs typeface="Consolas" pitchFamily="49" charset="0"/>
              </a:rPr>
              <a:t>G</a:t>
            </a:r>
            <a:r>
              <a:rPr lang="zh-CN" altLang="en-US" dirty="0">
                <a:solidFill>
                  <a:srgbClr val="0000FF"/>
                </a:solidFill>
                <a:latin typeface="Consolas" pitchFamily="49" charset="0"/>
                <a:ea typeface="仿宋" pitchFamily="49" charset="-122"/>
                <a:cs typeface="Consolas" pitchFamily="49" charset="0"/>
              </a:rPr>
              <a:t>的最小生</a:t>
            </a:r>
            <a:r>
              <a:rPr lang="zh-CN" altLang="en-US">
                <a:solidFill>
                  <a:srgbClr val="0000FF"/>
                </a:solidFill>
                <a:latin typeface="Consolas" pitchFamily="49" charset="0"/>
                <a:ea typeface="仿宋" pitchFamily="49" charset="-122"/>
                <a:cs typeface="Consolas" pitchFamily="49" charset="0"/>
              </a:rPr>
              <a:t>成树，其</a:t>
            </a:r>
            <a:r>
              <a:rPr lang="zh-CN" altLang="en-US" dirty="0">
                <a:solidFill>
                  <a:srgbClr val="0000FF"/>
                </a:solidFill>
                <a:latin typeface="Consolas" pitchFamily="49" charset="0"/>
                <a:ea typeface="仿宋" pitchFamily="49" charset="-122"/>
                <a:cs typeface="Consolas" pitchFamily="49" charset="0"/>
              </a:rPr>
              <a:t>中</a:t>
            </a:r>
            <a:r>
              <a:rPr lang="en-US" altLang="zh-CN" dirty="0">
                <a:solidFill>
                  <a:srgbClr val="0000FF"/>
                </a:solidFill>
                <a:latin typeface="Consolas" pitchFamily="49" charset="0"/>
                <a:ea typeface="仿宋" pitchFamily="49" charset="-122"/>
                <a:cs typeface="Consolas" pitchFamily="49" charset="0"/>
              </a:rPr>
              <a:t>U</a:t>
            </a:r>
            <a:r>
              <a:rPr lang="zh-CN" altLang="en-US" dirty="0">
                <a:solidFill>
                  <a:srgbClr val="0000FF"/>
                </a:solidFill>
                <a:latin typeface="Consolas" pitchFamily="49" charset="0"/>
                <a:ea typeface="仿宋" pitchFamily="49" charset="-122"/>
                <a:cs typeface="Consolas" pitchFamily="49" charset="0"/>
              </a:rPr>
              <a:t>是</a:t>
            </a:r>
            <a:r>
              <a:rPr lang="en-US" altLang="zh-CN" dirty="0">
                <a:solidFill>
                  <a:srgbClr val="0000FF"/>
                </a:solidFill>
                <a:latin typeface="Consolas" pitchFamily="49" charset="0"/>
                <a:ea typeface="仿宋" pitchFamily="49" charset="-122"/>
                <a:cs typeface="Consolas" pitchFamily="49" charset="0"/>
              </a:rPr>
              <a:t>T</a:t>
            </a:r>
            <a:r>
              <a:rPr lang="zh-CN" altLang="en-US" dirty="0">
                <a:solidFill>
                  <a:srgbClr val="0000FF"/>
                </a:solidFill>
                <a:latin typeface="Consolas" pitchFamily="49" charset="0"/>
                <a:ea typeface="仿宋" pitchFamily="49" charset="-122"/>
                <a:cs typeface="Consolas" pitchFamily="49" charset="0"/>
              </a:rPr>
              <a:t>的顶</a:t>
            </a:r>
            <a:r>
              <a:rPr lang="zh-CN" altLang="en-US">
                <a:solidFill>
                  <a:srgbClr val="0000FF"/>
                </a:solidFill>
                <a:latin typeface="Consolas" pitchFamily="49" charset="0"/>
                <a:ea typeface="仿宋" pitchFamily="49" charset="-122"/>
                <a:cs typeface="Consolas" pitchFamily="49" charset="0"/>
              </a:rPr>
              <a:t>点集，</a:t>
            </a:r>
            <a:r>
              <a:rPr lang="en-US" altLang="zh-CN">
                <a:solidFill>
                  <a:srgbClr val="0000FF"/>
                </a:solidFill>
                <a:latin typeface="Consolas" pitchFamily="49" charset="0"/>
                <a:ea typeface="仿宋" pitchFamily="49" charset="-122"/>
                <a:cs typeface="Consolas" pitchFamily="49" charset="0"/>
              </a:rPr>
              <a:t>TE</a:t>
            </a:r>
            <a:r>
              <a:rPr lang="zh-CN" altLang="en-US" dirty="0">
                <a:solidFill>
                  <a:srgbClr val="0000FF"/>
                </a:solidFill>
                <a:latin typeface="Consolas" pitchFamily="49" charset="0"/>
                <a:ea typeface="仿宋" pitchFamily="49" charset="-122"/>
                <a:cs typeface="Consolas" pitchFamily="49" charset="0"/>
              </a:rPr>
              <a:t>是</a:t>
            </a:r>
            <a:r>
              <a:rPr lang="en-US" altLang="zh-CN" dirty="0">
                <a:solidFill>
                  <a:srgbClr val="0000FF"/>
                </a:solidFill>
                <a:latin typeface="Consolas" pitchFamily="49" charset="0"/>
                <a:ea typeface="仿宋" pitchFamily="49" charset="-122"/>
                <a:cs typeface="Consolas" pitchFamily="49" charset="0"/>
              </a:rPr>
              <a:t>T</a:t>
            </a:r>
            <a:r>
              <a:rPr lang="zh-CN" altLang="en-US" dirty="0">
                <a:solidFill>
                  <a:srgbClr val="0000FF"/>
                </a:solidFill>
                <a:latin typeface="Consolas" pitchFamily="49" charset="0"/>
                <a:ea typeface="仿宋" pitchFamily="49" charset="-122"/>
                <a:cs typeface="Consolas" pitchFamily="49" charset="0"/>
              </a:rPr>
              <a:t>的</a:t>
            </a:r>
            <a:r>
              <a:rPr lang="zh-CN" altLang="en-US">
                <a:solidFill>
                  <a:srgbClr val="0000FF"/>
                </a:solidFill>
                <a:latin typeface="Consolas" pitchFamily="49" charset="0"/>
                <a:ea typeface="仿宋" pitchFamily="49" charset="-122"/>
                <a:cs typeface="Consolas" pitchFamily="49" charset="0"/>
              </a:rPr>
              <a:t>边集，则</a:t>
            </a:r>
            <a:r>
              <a:rPr lang="zh-CN" altLang="en-US" dirty="0">
                <a:solidFill>
                  <a:srgbClr val="0000FF"/>
                </a:solidFill>
                <a:latin typeface="Consolas" pitchFamily="49" charset="0"/>
                <a:ea typeface="仿宋" pitchFamily="49" charset="-122"/>
                <a:cs typeface="Consolas" pitchFamily="49" charset="0"/>
              </a:rPr>
              <a:t>由</a:t>
            </a:r>
            <a:r>
              <a:rPr lang="en-US" altLang="zh-CN" dirty="0">
                <a:solidFill>
                  <a:srgbClr val="0000FF"/>
                </a:solidFill>
                <a:latin typeface="Consolas" pitchFamily="49" charset="0"/>
                <a:ea typeface="仿宋" pitchFamily="49" charset="-122"/>
                <a:cs typeface="Consolas" pitchFamily="49" charset="0"/>
              </a:rPr>
              <a:t>G</a:t>
            </a:r>
            <a:r>
              <a:rPr lang="zh-CN" altLang="en-US" dirty="0">
                <a:solidFill>
                  <a:srgbClr val="0000FF"/>
                </a:solidFill>
                <a:latin typeface="Consolas" pitchFamily="49" charset="0"/>
                <a:ea typeface="仿宋" pitchFamily="49" charset="-122"/>
                <a:cs typeface="Consolas" pitchFamily="49" charset="0"/>
              </a:rPr>
              <a:t>构造从起始</a:t>
            </a:r>
            <a:r>
              <a:rPr lang="zh-CN" altLang="en-US">
                <a:solidFill>
                  <a:srgbClr val="0000FF"/>
                </a:solidFill>
                <a:latin typeface="Consolas" pitchFamily="49" charset="0"/>
                <a:ea typeface="仿宋" pitchFamily="49" charset="-122"/>
                <a:cs typeface="Consolas" pitchFamily="49" charset="0"/>
              </a:rPr>
              <a:t>顶点</a:t>
            </a:r>
            <a:r>
              <a:rPr lang="en-US" altLang="zh-CN" i="1" dirty="0">
                <a:solidFill>
                  <a:srgbClr val="0000FF"/>
                </a:solidFill>
                <a:latin typeface="Consolas" pitchFamily="49" charset="0"/>
                <a:ea typeface="仿宋" pitchFamily="49" charset="-122"/>
                <a:cs typeface="Consolas" pitchFamily="49" charset="0"/>
              </a:rPr>
              <a:t>s</a:t>
            </a:r>
            <a:r>
              <a:rPr lang="zh-CN" altLang="en-US">
                <a:solidFill>
                  <a:srgbClr val="0000FF"/>
                </a:solidFill>
                <a:latin typeface="Consolas" pitchFamily="49" charset="0"/>
                <a:ea typeface="仿宋" pitchFamily="49" charset="-122"/>
                <a:cs typeface="Consolas" pitchFamily="49" charset="0"/>
              </a:rPr>
              <a:t>出</a:t>
            </a:r>
            <a:r>
              <a:rPr lang="zh-CN" altLang="en-US" dirty="0">
                <a:solidFill>
                  <a:srgbClr val="0000FF"/>
                </a:solidFill>
                <a:latin typeface="Consolas" pitchFamily="49" charset="0"/>
                <a:ea typeface="仿宋" pitchFamily="49" charset="-122"/>
                <a:cs typeface="Consolas" pitchFamily="49" charset="0"/>
              </a:rPr>
              <a:t>发的最小生成树</a:t>
            </a:r>
            <a:r>
              <a:rPr lang="en-US" altLang="zh-CN" dirty="0">
                <a:solidFill>
                  <a:srgbClr val="0000FF"/>
                </a:solidFill>
                <a:latin typeface="Consolas" pitchFamily="49" charset="0"/>
                <a:ea typeface="仿宋" pitchFamily="49" charset="-122"/>
                <a:cs typeface="Consolas" pitchFamily="49" charset="0"/>
              </a:rPr>
              <a:t>T</a:t>
            </a:r>
            <a:r>
              <a:rPr lang="zh-CN" altLang="en-US" dirty="0">
                <a:solidFill>
                  <a:srgbClr val="0000FF"/>
                </a:solidFill>
                <a:latin typeface="Consolas" pitchFamily="49" charset="0"/>
                <a:ea typeface="仿宋" pitchFamily="49" charset="-122"/>
                <a:cs typeface="Consolas" pitchFamily="49" charset="0"/>
              </a:rPr>
              <a:t>的步骤如下：</a:t>
            </a:r>
          </a:p>
          <a:p>
            <a:pPr algn="l">
              <a:lnSpc>
                <a:spcPts val="3300"/>
              </a:lnSpc>
              <a:spcBef>
                <a:spcPts val="600"/>
              </a:spcBef>
            </a:pPr>
            <a:r>
              <a:rPr lang="zh-CN" altLang="en-US">
                <a:solidFill>
                  <a:srgbClr val="0000FF"/>
                </a:solidFill>
                <a:latin typeface="Consolas" pitchFamily="49" charset="0"/>
                <a:ea typeface="仿宋" pitchFamily="49" charset="-122"/>
                <a:cs typeface="Consolas" pitchFamily="49" charset="0"/>
              </a:rPr>
              <a:t>　</a:t>
            </a:r>
            <a:r>
              <a:rPr lang="zh-CN" altLang="en-US">
                <a:solidFill>
                  <a:srgbClr val="C00000"/>
                </a:solidFill>
                <a:latin typeface="Consolas" pitchFamily="49" charset="0"/>
                <a:ea typeface="仿宋" pitchFamily="49" charset="-122"/>
                <a:cs typeface="Consolas" pitchFamily="49" charset="0"/>
              </a:rPr>
              <a:t>（</a:t>
            </a:r>
            <a:r>
              <a:rPr lang="en-US" altLang="zh-CN" dirty="0">
                <a:solidFill>
                  <a:srgbClr val="C00000"/>
                </a:solidFill>
                <a:latin typeface="Consolas" pitchFamily="49" charset="0"/>
                <a:ea typeface="仿宋" pitchFamily="49" charset="-122"/>
                <a:cs typeface="Consolas" pitchFamily="49" charset="0"/>
              </a:rPr>
              <a:t>1</a:t>
            </a:r>
            <a:r>
              <a:rPr lang="zh-CN" altLang="en-US" dirty="0">
                <a:solidFill>
                  <a:srgbClr val="C00000"/>
                </a:solidFill>
                <a:latin typeface="Consolas" pitchFamily="49" charset="0"/>
                <a:ea typeface="仿宋" pitchFamily="49" charset="-122"/>
                <a:cs typeface="Consolas" pitchFamily="49" charset="0"/>
              </a:rPr>
              <a:t>）初始化</a:t>
            </a:r>
            <a:r>
              <a:rPr lang="en-US" altLang="zh-CN">
                <a:solidFill>
                  <a:srgbClr val="C00000"/>
                </a:solidFill>
                <a:latin typeface="Consolas" pitchFamily="49" charset="0"/>
                <a:ea typeface="仿宋" pitchFamily="49" charset="-122"/>
                <a:cs typeface="Consolas" pitchFamily="49" charset="0"/>
              </a:rPr>
              <a:t>U={</a:t>
            </a:r>
            <a:r>
              <a:rPr lang="en-US" altLang="zh-CN" i="1" dirty="0">
                <a:solidFill>
                  <a:srgbClr val="C00000"/>
                </a:solidFill>
                <a:latin typeface="Consolas" pitchFamily="49" charset="0"/>
                <a:ea typeface="仿宋" pitchFamily="49" charset="-122"/>
                <a:cs typeface="Consolas" pitchFamily="49" charset="0"/>
              </a:rPr>
              <a:t>s</a:t>
            </a:r>
            <a:r>
              <a:rPr lang="en-US" altLang="zh-CN">
                <a:solidFill>
                  <a:srgbClr val="C00000"/>
                </a:solidFill>
                <a:latin typeface="Consolas" pitchFamily="49" charset="0"/>
                <a:ea typeface="仿宋" pitchFamily="49" charset="-122"/>
                <a:cs typeface="Consolas" pitchFamily="49" charset="0"/>
              </a:rPr>
              <a:t>}</a:t>
            </a:r>
            <a:r>
              <a:rPr lang="zh-CN" altLang="en-US">
                <a:solidFill>
                  <a:srgbClr val="006600"/>
                </a:solidFill>
                <a:latin typeface="Consolas" pitchFamily="49" charset="0"/>
                <a:ea typeface="仿宋" pitchFamily="49" charset="-122"/>
                <a:cs typeface="Consolas" pitchFamily="49" charset="0"/>
              </a:rPr>
              <a:t>。以</a:t>
            </a:r>
            <a:r>
              <a:rPr lang="en-US" altLang="zh-CN" i="1" dirty="0">
                <a:solidFill>
                  <a:srgbClr val="006600"/>
                </a:solidFill>
                <a:latin typeface="Consolas" pitchFamily="49" charset="0"/>
                <a:ea typeface="仿宋" pitchFamily="49" charset="-122"/>
                <a:cs typeface="Consolas" pitchFamily="49" charset="0"/>
              </a:rPr>
              <a:t>s</a:t>
            </a:r>
            <a:r>
              <a:rPr lang="zh-CN" altLang="en-US">
                <a:solidFill>
                  <a:srgbClr val="006600"/>
                </a:solidFill>
                <a:latin typeface="Consolas" pitchFamily="49" charset="0"/>
                <a:ea typeface="仿宋" pitchFamily="49" charset="-122"/>
                <a:cs typeface="Consolas" pitchFamily="49" charset="0"/>
              </a:rPr>
              <a:t>到</a:t>
            </a:r>
            <a:r>
              <a:rPr lang="zh-CN" altLang="en-US" dirty="0">
                <a:solidFill>
                  <a:srgbClr val="006600"/>
                </a:solidFill>
                <a:latin typeface="Consolas" pitchFamily="49" charset="0"/>
                <a:ea typeface="仿宋" pitchFamily="49" charset="-122"/>
                <a:cs typeface="Consolas" pitchFamily="49" charset="0"/>
              </a:rPr>
              <a:t>其他顶点的所有边为候选边；</a:t>
            </a:r>
            <a:r>
              <a:rPr lang="zh-CN" altLang="en-US" dirty="0">
                <a:solidFill>
                  <a:srgbClr val="0000FF"/>
                </a:solidFill>
                <a:latin typeface="Consolas" pitchFamily="49" charset="0"/>
                <a:ea typeface="仿宋" pitchFamily="49" charset="-122"/>
                <a:cs typeface="Consolas" pitchFamily="49" charset="0"/>
              </a:rPr>
              <a:t>　　</a:t>
            </a:r>
          </a:p>
        </p:txBody>
      </p:sp>
      <p:sp>
        <p:nvSpPr>
          <p:cNvPr id="5" name="TextBox 4"/>
          <p:cNvSpPr txBox="1"/>
          <p:nvPr/>
        </p:nvSpPr>
        <p:spPr>
          <a:xfrm>
            <a:off x="357158" y="500042"/>
            <a:ext cx="3286148" cy="523220"/>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rPr>
              <a:t>9.1.2 Prim</a:t>
            </a:r>
            <a:r>
              <a:rPr lang="zh-CN" altLang="en-US"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rPr>
              <a:t>算法</a:t>
            </a:r>
            <a:endParaRPr lang="zh-CN" altLang="zh-CN"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endParaRPr>
          </a:p>
        </p:txBody>
      </p:sp>
      <p:sp>
        <p:nvSpPr>
          <p:cNvPr id="7" name="灯片编号占位符 6"/>
          <p:cNvSpPr>
            <a:spLocks noGrp="1"/>
          </p:cNvSpPr>
          <p:nvPr>
            <p:ph type="sldNum" sz="quarter" idx="12"/>
          </p:nvPr>
        </p:nvSpPr>
        <p:spPr/>
        <p:txBody>
          <a:bodyPr/>
          <a:lstStyle/>
          <a:p>
            <a:fld id="{7AF016A1-9F15-429F-9EFD-84004B73C732}" type="slidenum">
              <a:rPr lang="en-US" altLang="zh-CN" smtClean="0"/>
              <a:pPr/>
              <a:t>3</a:t>
            </a:fld>
            <a:r>
              <a:rPr lang="en-US" altLang="zh-CN"/>
              <a:t>/158</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4"/>
          <p:cNvSpPr txBox="1">
            <a:spLocks noChangeArrowheads="1"/>
          </p:cNvSpPr>
          <p:nvPr/>
        </p:nvSpPr>
        <p:spPr bwMode="auto">
          <a:xfrm>
            <a:off x="288955" y="785794"/>
            <a:ext cx="8569325" cy="3301545"/>
          </a:xfrm>
          <a:prstGeom prst="rect">
            <a:avLst/>
          </a:prstGeom>
          <a:ln>
            <a:solidFill>
              <a:schemeClr val="accent6">
                <a:lumMod val="40000"/>
                <a:lumOff val="60000"/>
              </a:schemeClr>
            </a:solidFill>
            <a:headEnd/>
            <a:tailEnd/>
          </a:ln>
        </p:spPr>
        <p:style>
          <a:lnRef idx="2">
            <a:schemeClr val="accent6"/>
          </a:lnRef>
          <a:fillRef idx="1">
            <a:schemeClr val="lt1"/>
          </a:fillRef>
          <a:effectRef idx="0">
            <a:schemeClr val="accent6"/>
          </a:effectRef>
          <a:fontRef idx="minor">
            <a:schemeClr val="dk1"/>
          </a:fontRef>
        </p:style>
        <p:txBody>
          <a:bodyPr>
            <a:spAutoFit/>
          </a:bodyPr>
          <a:lstStyle/>
          <a:p>
            <a:pPr algn="l">
              <a:lnSpc>
                <a:spcPts val="3000"/>
              </a:lnSpc>
              <a:spcBef>
                <a:spcPts val="600"/>
              </a:spcBef>
            </a:pPr>
            <a:r>
              <a:rPr lang="zh-CN" altLang="en-US">
                <a:solidFill>
                  <a:srgbClr val="0000FF"/>
                </a:solidFill>
                <a:latin typeface="Consolas" pitchFamily="49" charset="0"/>
                <a:ea typeface="仿宋" pitchFamily="49" charset="-122"/>
                <a:cs typeface="Consolas" pitchFamily="49" charset="0"/>
              </a:rPr>
              <a:t>　（</a:t>
            </a:r>
            <a:r>
              <a:rPr lang="en-US" altLang="zh-CN" dirty="0">
                <a:solidFill>
                  <a:srgbClr val="0000FF"/>
                </a:solidFill>
                <a:latin typeface="Consolas" pitchFamily="49" charset="0"/>
                <a:ea typeface="仿宋" pitchFamily="49" charset="-122"/>
                <a:cs typeface="Consolas" pitchFamily="49" charset="0"/>
              </a:rPr>
              <a:t>2</a:t>
            </a:r>
            <a:r>
              <a:rPr lang="zh-CN" altLang="en-US" dirty="0">
                <a:solidFill>
                  <a:srgbClr val="0000FF"/>
                </a:solidFill>
                <a:latin typeface="Consolas" pitchFamily="49" charset="0"/>
                <a:ea typeface="仿宋" pitchFamily="49" charset="-122"/>
                <a:cs typeface="Consolas" pitchFamily="49" charset="0"/>
              </a:rPr>
              <a:t>）重复以下步骤</a:t>
            </a:r>
            <a:r>
              <a:rPr lang="en-US" altLang="zh-CN" i="1">
                <a:solidFill>
                  <a:srgbClr val="0000FF"/>
                </a:solidFill>
                <a:latin typeface="Consolas" pitchFamily="49" charset="0"/>
                <a:ea typeface="仿宋" pitchFamily="49" charset="-122"/>
                <a:cs typeface="Consolas" pitchFamily="49" charset="0"/>
              </a:rPr>
              <a:t>n</a:t>
            </a:r>
            <a:r>
              <a:rPr lang="en-US" altLang="zh-CN">
                <a:solidFill>
                  <a:srgbClr val="0000FF"/>
                </a:solidFill>
                <a:latin typeface="Consolas" pitchFamily="49" charset="0"/>
                <a:ea typeface="仿宋" pitchFamily="49" charset="-122"/>
                <a:cs typeface="Consolas" pitchFamily="49" charset="0"/>
              </a:rPr>
              <a:t>-1</a:t>
            </a:r>
            <a:r>
              <a:rPr lang="zh-CN" altLang="en-US">
                <a:solidFill>
                  <a:srgbClr val="0000FF"/>
                </a:solidFill>
                <a:latin typeface="Consolas" pitchFamily="49" charset="0"/>
                <a:ea typeface="仿宋" pitchFamily="49" charset="-122"/>
                <a:cs typeface="Consolas" pitchFamily="49" charset="0"/>
              </a:rPr>
              <a:t>次，使</a:t>
            </a:r>
            <a:r>
              <a:rPr lang="zh-CN" altLang="en-US" dirty="0">
                <a:solidFill>
                  <a:srgbClr val="0000FF"/>
                </a:solidFill>
                <a:latin typeface="Consolas" pitchFamily="49" charset="0"/>
                <a:ea typeface="仿宋" pitchFamily="49" charset="-122"/>
                <a:cs typeface="Consolas" pitchFamily="49" charset="0"/>
              </a:rPr>
              <a:t>得其他</a:t>
            </a:r>
            <a:r>
              <a:rPr lang="en-US" altLang="zh-CN" i="1" dirty="0">
                <a:solidFill>
                  <a:srgbClr val="0000FF"/>
                </a:solidFill>
                <a:latin typeface="Consolas" pitchFamily="49" charset="0"/>
                <a:ea typeface="仿宋" pitchFamily="49" charset="-122"/>
                <a:cs typeface="Consolas" pitchFamily="49" charset="0"/>
              </a:rPr>
              <a:t>n</a:t>
            </a:r>
            <a:r>
              <a:rPr lang="en-US" altLang="zh-CN" dirty="0">
                <a:solidFill>
                  <a:srgbClr val="0000FF"/>
                </a:solidFill>
                <a:latin typeface="Consolas" pitchFamily="49" charset="0"/>
                <a:ea typeface="仿宋" pitchFamily="49" charset="-122"/>
                <a:cs typeface="Consolas" pitchFamily="49" charset="0"/>
              </a:rPr>
              <a:t>-1</a:t>
            </a:r>
            <a:r>
              <a:rPr lang="zh-CN" altLang="en-US" dirty="0">
                <a:solidFill>
                  <a:srgbClr val="0000FF"/>
                </a:solidFill>
                <a:latin typeface="Consolas" pitchFamily="49" charset="0"/>
                <a:ea typeface="仿宋" pitchFamily="49" charset="-122"/>
                <a:cs typeface="Consolas" pitchFamily="49" charset="0"/>
              </a:rPr>
              <a:t>个顶点被加入到</a:t>
            </a:r>
            <a:r>
              <a:rPr lang="en-US" altLang="zh-CN" dirty="0">
                <a:solidFill>
                  <a:srgbClr val="0000FF"/>
                </a:solidFill>
                <a:latin typeface="Consolas" pitchFamily="49" charset="0"/>
                <a:ea typeface="仿宋" pitchFamily="49" charset="-122"/>
                <a:cs typeface="Consolas" pitchFamily="49" charset="0"/>
              </a:rPr>
              <a:t>U</a:t>
            </a:r>
            <a:r>
              <a:rPr lang="zh-CN" altLang="en-US" dirty="0">
                <a:solidFill>
                  <a:srgbClr val="0000FF"/>
                </a:solidFill>
                <a:latin typeface="Consolas" pitchFamily="49" charset="0"/>
                <a:ea typeface="仿宋" pitchFamily="49" charset="-122"/>
                <a:cs typeface="Consolas" pitchFamily="49" charset="0"/>
              </a:rPr>
              <a:t>中：</a:t>
            </a:r>
          </a:p>
          <a:p>
            <a:pPr algn="l">
              <a:lnSpc>
                <a:spcPts val="3000"/>
              </a:lnSpc>
              <a:spcBef>
                <a:spcPts val="600"/>
              </a:spcBef>
            </a:pPr>
            <a:r>
              <a:rPr lang="zh-CN" altLang="en-US">
                <a:solidFill>
                  <a:srgbClr val="006600"/>
                </a:solidFill>
                <a:latin typeface="Consolas" pitchFamily="49" charset="0"/>
                <a:ea typeface="仿宋" pitchFamily="49" charset="-122"/>
                <a:cs typeface="Consolas" pitchFamily="49" charset="0"/>
              </a:rPr>
              <a:t>　 ① 以两个顶</a:t>
            </a:r>
            <a:r>
              <a:rPr lang="zh-CN" altLang="en-US" dirty="0">
                <a:solidFill>
                  <a:srgbClr val="006600"/>
                </a:solidFill>
                <a:latin typeface="Consolas" pitchFamily="49" charset="0"/>
                <a:ea typeface="仿宋" pitchFamily="49" charset="-122"/>
                <a:cs typeface="Consolas" pitchFamily="49" charset="0"/>
              </a:rPr>
              <a:t>点集</a:t>
            </a:r>
            <a:r>
              <a:rPr lang="en-US" altLang="zh-CN">
                <a:solidFill>
                  <a:srgbClr val="006600"/>
                </a:solidFill>
                <a:latin typeface="Consolas" pitchFamily="49" charset="0"/>
                <a:ea typeface="仿宋" pitchFamily="49" charset="-122"/>
                <a:cs typeface="Consolas" pitchFamily="49" charset="0"/>
              </a:rPr>
              <a:t>U</a:t>
            </a:r>
            <a:r>
              <a:rPr lang="zh-CN" altLang="en-US">
                <a:solidFill>
                  <a:srgbClr val="006600"/>
                </a:solidFill>
                <a:latin typeface="Consolas" pitchFamily="49" charset="0"/>
                <a:ea typeface="仿宋" pitchFamily="49" charset="-122"/>
                <a:cs typeface="Consolas" pitchFamily="49" charset="0"/>
              </a:rPr>
              <a:t>和</a:t>
            </a:r>
            <a:r>
              <a:rPr lang="en-US" altLang="zh-CN">
                <a:solidFill>
                  <a:srgbClr val="006600"/>
                </a:solidFill>
                <a:latin typeface="Consolas" pitchFamily="49" charset="0"/>
                <a:ea typeface="仿宋" pitchFamily="49" charset="-122"/>
                <a:cs typeface="Consolas" pitchFamily="49" charset="0"/>
              </a:rPr>
              <a:t>V-U</a:t>
            </a:r>
            <a:r>
              <a:rPr lang="zh-CN" altLang="en-US" dirty="0">
                <a:solidFill>
                  <a:srgbClr val="006600"/>
                </a:solidFill>
                <a:latin typeface="Consolas" pitchFamily="49" charset="0"/>
                <a:ea typeface="仿宋" pitchFamily="49" charset="-122"/>
                <a:cs typeface="Consolas" pitchFamily="49" charset="0"/>
              </a:rPr>
              <a:t>之间的所有边（称为</a:t>
            </a:r>
            <a:r>
              <a:rPr lang="zh-CN" altLang="en-US" dirty="0">
                <a:solidFill>
                  <a:srgbClr val="FF00FF"/>
                </a:solidFill>
                <a:latin typeface="Consolas" pitchFamily="49" charset="0"/>
                <a:ea typeface="仿宋" pitchFamily="49" charset="-122"/>
                <a:cs typeface="Consolas" pitchFamily="49" charset="0"/>
              </a:rPr>
              <a:t>割集</a:t>
            </a:r>
            <a:r>
              <a:rPr lang="en-US" altLang="zh-CN">
                <a:solidFill>
                  <a:srgbClr val="006600"/>
                </a:solidFill>
                <a:latin typeface="Consolas" pitchFamily="49" charset="0"/>
                <a:ea typeface="仿宋" pitchFamily="49" charset="-122"/>
                <a:cs typeface="Consolas" pitchFamily="49" charset="0"/>
              </a:rPr>
              <a:t>(U</a:t>
            </a:r>
            <a:r>
              <a:rPr lang="zh-CN" altLang="en-US">
                <a:solidFill>
                  <a:srgbClr val="006600"/>
                </a:solidFill>
                <a:latin typeface="Consolas" pitchFamily="49" charset="0"/>
                <a:ea typeface="仿宋" pitchFamily="49" charset="-122"/>
                <a:cs typeface="Consolas" pitchFamily="49" charset="0"/>
              </a:rPr>
              <a:t>，</a:t>
            </a:r>
            <a:r>
              <a:rPr lang="en-US" altLang="zh-CN">
                <a:solidFill>
                  <a:srgbClr val="006600"/>
                </a:solidFill>
                <a:latin typeface="Consolas" pitchFamily="49" charset="0"/>
                <a:ea typeface="仿宋" pitchFamily="49" charset="-122"/>
                <a:cs typeface="Consolas" pitchFamily="49" charset="0"/>
              </a:rPr>
              <a:t>V-U</a:t>
            </a:r>
            <a:r>
              <a:rPr lang="en-US" altLang="zh-CN" dirty="0">
                <a:solidFill>
                  <a:srgbClr val="006600"/>
                </a:solidFill>
                <a:latin typeface="Consolas" pitchFamily="49" charset="0"/>
                <a:ea typeface="仿宋" pitchFamily="49" charset="-122"/>
                <a:cs typeface="Consolas" pitchFamily="49" charset="0"/>
              </a:rPr>
              <a:t>)</a:t>
            </a:r>
            <a:r>
              <a:rPr lang="zh-CN" altLang="en-US" dirty="0">
                <a:solidFill>
                  <a:srgbClr val="006600"/>
                </a:solidFill>
                <a:latin typeface="Consolas" pitchFamily="49" charset="0"/>
                <a:ea typeface="仿宋" pitchFamily="49" charset="-122"/>
                <a:cs typeface="Consolas" pitchFamily="49" charset="0"/>
              </a:rPr>
              <a:t>）作为候</a:t>
            </a:r>
            <a:r>
              <a:rPr lang="zh-CN" altLang="en-US">
                <a:solidFill>
                  <a:srgbClr val="006600"/>
                </a:solidFill>
                <a:latin typeface="Consolas" pitchFamily="49" charset="0"/>
                <a:ea typeface="仿宋" pitchFamily="49" charset="-122"/>
                <a:cs typeface="Consolas" pitchFamily="49" charset="0"/>
              </a:rPr>
              <a:t>选边，从</a:t>
            </a:r>
            <a:r>
              <a:rPr lang="zh-CN" altLang="en-US" dirty="0">
                <a:solidFill>
                  <a:srgbClr val="006600"/>
                </a:solidFill>
                <a:latin typeface="Consolas" pitchFamily="49" charset="0"/>
                <a:ea typeface="仿宋" pitchFamily="49" charset="-122"/>
                <a:cs typeface="Consolas" pitchFamily="49" charset="0"/>
              </a:rPr>
              <a:t>中挑选权值最小的边（称为</a:t>
            </a:r>
            <a:r>
              <a:rPr lang="zh-CN" altLang="en-US" dirty="0">
                <a:solidFill>
                  <a:srgbClr val="FF00FF"/>
                </a:solidFill>
                <a:latin typeface="Consolas" pitchFamily="49" charset="0"/>
                <a:ea typeface="仿宋" pitchFamily="49" charset="-122"/>
                <a:cs typeface="Consolas" pitchFamily="49" charset="0"/>
              </a:rPr>
              <a:t>轻边</a:t>
            </a:r>
            <a:r>
              <a:rPr lang="zh-CN" altLang="en-US" dirty="0">
                <a:solidFill>
                  <a:srgbClr val="006600"/>
                </a:solidFill>
                <a:latin typeface="Consolas" pitchFamily="49" charset="0"/>
                <a:ea typeface="仿宋" pitchFamily="49" charset="-122"/>
                <a:cs typeface="Consolas" pitchFamily="49" charset="0"/>
              </a:rPr>
              <a:t>）加</a:t>
            </a:r>
            <a:r>
              <a:rPr lang="zh-CN" altLang="en-US">
                <a:solidFill>
                  <a:srgbClr val="006600"/>
                </a:solidFill>
                <a:latin typeface="Consolas" pitchFamily="49" charset="0"/>
                <a:ea typeface="仿宋" pitchFamily="49" charset="-122"/>
                <a:cs typeface="Consolas" pitchFamily="49" charset="0"/>
              </a:rPr>
              <a:t>入</a:t>
            </a:r>
            <a:r>
              <a:rPr lang="en-US" altLang="zh-CN">
                <a:solidFill>
                  <a:srgbClr val="006600"/>
                </a:solidFill>
                <a:latin typeface="Consolas" pitchFamily="49" charset="0"/>
                <a:ea typeface="仿宋" pitchFamily="49" charset="-122"/>
                <a:cs typeface="Consolas" pitchFamily="49" charset="0"/>
              </a:rPr>
              <a:t>TE</a:t>
            </a:r>
            <a:r>
              <a:rPr lang="zh-CN" altLang="en-US">
                <a:solidFill>
                  <a:srgbClr val="006600"/>
                </a:solidFill>
                <a:latin typeface="Consolas" pitchFamily="49" charset="0"/>
                <a:ea typeface="仿宋" pitchFamily="49" charset="-122"/>
                <a:cs typeface="Consolas" pitchFamily="49" charset="0"/>
              </a:rPr>
              <a:t>，设</a:t>
            </a:r>
            <a:r>
              <a:rPr lang="zh-CN" altLang="en-US" dirty="0">
                <a:solidFill>
                  <a:srgbClr val="006600"/>
                </a:solidFill>
                <a:latin typeface="Consolas" pitchFamily="49" charset="0"/>
                <a:ea typeface="仿宋" pitchFamily="49" charset="-122"/>
                <a:cs typeface="Consolas" pitchFamily="49" charset="0"/>
              </a:rPr>
              <a:t>该边在</a:t>
            </a:r>
            <a:r>
              <a:rPr lang="en-US" altLang="zh-CN" dirty="0">
                <a:solidFill>
                  <a:srgbClr val="006600"/>
                </a:solidFill>
                <a:latin typeface="Consolas" pitchFamily="49" charset="0"/>
                <a:ea typeface="仿宋" pitchFamily="49" charset="-122"/>
                <a:cs typeface="Consolas" pitchFamily="49" charset="0"/>
              </a:rPr>
              <a:t>V-U</a:t>
            </a:r>
            <a:r>
              <a:rPr lang="zh-CN" altLang="en-US" dirty="0">
                <a:solidFill>
                  <a:srgbClr val="006600"/>
                </a:solidFill>
                <a:latin typeface="Consolas" pitchFamily="49" charset="0"/>
                <a:ea typeface="仿宋" pitchFamily="49" charset="-122"/>
                <a:cs typeface="Consolas" pitchFamily="49" charset="0"/>
              </a:rPr>
              <a:t>中的顶点</a:t>
            </a:r>
            <a:r>
              <a:rPr lang="zh-CN" altLang="en-US">
                <a:solidFill>
                  <a:srgbClr val="006600"/>
                </a:solidFill>
                <a:latin typeface="Consolas" pitchFamily="49" charset="0"/>
                <a:ea typeface="仿宋" pitchFamily="49" charset="-122"/>
                <a:cs typeface="Consolas" pitchFamily="49" charset="0"/>
              </a:rPr>
              <a:t>是</a:t>
            </a:r>
            <a:r>
              <a:rPr lang="en-US" altLang="zh-CN" i="1">
                <a:solidFill>
                  <a:srgbClr val="006600"/>
                </a:solidFill>
                <a:latin typeface="Consolas" pitchFamily="49" charset="0"/>
                <a:ea typeface="仿宋" pitchFamily="49" charset="-122"/>
                <a:cs typeface="Consolas" pitchFamily="49" charset="0"/>
              </a:rPr>
              <a:t>k</a:t>
            </a:r>
            <a:r>
              <a:rPr lang="zh-CN" altLang="en-US">
                <a:solidFill>
                  <a:srgbClr val="006600"/>
                </a:solidFill>
                <a:latin typeface="Consolas" pitchFamily="49" charset="0"/>
                <a:ea typeface="仿宋" pitchFamily="49" charset="-122"/>
                <a:cs typeface="Consolas" pitchFamily="49" charset="0"/>
              </a:rPr>
              <a:t>，将</a:t>
            </a:r>
            <a:r>
              <a:rPr lang="en-US" altLang="zh-CN" i="1" dirty="0">
                <a:solidFill>
                  <a:srgbClr val="006600"/>
                </a:solidFill>
                <a:latin typeface="Consolas" pitchFamily="49" charset="0"/>
                <a:ea typeface="仿宋" pitchFamily="49" charset="-122"/>
                <a:cs typeface="Consolas" pitchFamily="49" charset="0"/>
              </a:rPr>
              <a:t>k</a:t>
            </a:r>
            <a:r>
              <a:rPr lang="zh-CN" altLang="en-US" dirty="0">
                <a:solidFill>
                  <a:srgbClr val="006600"/>
                </a:solidFill>
                <a:latin typeface="Consolas" pitchFamily="49" charset="0"/>
                <a:ea typeface="仿宋" pitchFamily="49" charset="-122"/>
                <a:cs typeface="Consolas" pitchFamily="49" charset="0"/>
              </a:rPr>
              <a:t>加入</a:t>
            </a:r>
            <a:r>
              <a:rPr lang="en-US" altLang="zh-CN" dirty="0">
                <a:solidFill>
                  <a:srgbClr val="006600"/>
                </a:solidFill>
                <a:latin typeface="Consolas" pitchFamily="49" charset="0"/>
                <a:ea typeface="仿宋" pitchFamily="49" charset="-122"/>
                <a:cs typeface="Consolas" pitchFamily="49" charset="0"/>
              </a:rPr>
              <a:t>U</a:t>
            </a:r>
            <a:r>
              <a:rPr lang="zh-CN" altLang="en-US" dirty="0">
                <a:solidFill>
                  <a:srgbClr val="006600"/>
                </a:solidFill>
                <a:latin typeface="Consolas" pitchFamily="49" charset="0"/>
                <a:ea typeface="仿宋" pitchFamily="49" charset="-122"/>
                <a:cs typeface="Consolas" pitchFamily="49" charset="0"/>
              </a:rPr>
              <a:t>中；</a:t>
            </a:r>
          </a:p>
          <a:p>
            <a:pPr algn="l">
              <a:lnSpc>
                <a:spcPts val="3000"/>
              </a:lnSpc>
              <a:spcBef>
                <a:spcPts val="600"/>
              </a:spcBef>
            </a:pPr>
            <a:r>
              <a:rPr lang="zh-CN" altLang="en-US">
                <a:solidFill>
                  <a:srgbClr val="006600"/>
                </a:solidFill>
                <a:latin typeface="Consolas" pitchFamily="49" charset="0"/>
                <a:ea typeface="仿宋" pitchFamily="49" charset="-122"/>
                <a:cs typeface="Consolas" pitchFamily="49" charset="0"/>
              </a:rPr>
              <a:t>　 ② </a:t>
            </a:r>
            <a:r>
              <a:rPr lang="zh-CN" altLang="en-US" dirty="0">
                <a:solidFill>
                  <a:srgbClr val="006600"/>
                </a:solidFill>
                <a:latin typeface="Consolas" pitchFamily="49" charset="0"/>
                <a:ea typeface="仿宋" pitchFamily="49" charset="-122"/>
                <a:cs typeface="Consolas" pitchFamily="49" charset="0"/>
              </a:rPr>
              <a:t>考察当前</a:t>
            </a:r>
            <a:r>
              <a:rPr lang="en-US" altLang="zh-CN" dirty="0">
                <a:solidFill>
                  <a:srgbClr val="006600"/>
                </a:solidFill>
                <a:latin typeface="Consolas" pitchFamily="49" charset="0"/>
                <a:ea typeface="仿宋" pitchFamily="49" charset="-122"/>
                <a:cs typeface="Consolas" pitchFamily="49" charset="0"/>
              </a:rPr>
              <a:t>V-U</a:t>
            </a:r>
            <a:r>
              <a:rPr lang="zh-CN" altLang="en-US" dirty="0">
                <a:solidFill>
                  <a:srgbClr val="006600"/>
                </a:solidFill>
                <a:latin typeface="Consolas" pitchFamily="49" charset="0"/>
                <a:ea typeface="仿宋" pitchFamily="49" charset="-122"/>
                <a:cs typeface="Consolas" pitchFamily="49" charset="0"/>
              </a:rPr>
              <a:t>中的所有顶</a:t>
            </a:r>
            <a:r>
              <a:rPr lang="zh-CN" altLang="en-US">
                <a:solidFill>
                  <a:srgbClr val="006600"/>
                </a:solidFill>
                <a:latin typeface="Consolas" pitchFamily="49" charset="0"/>
                <a:ea typeface="仿宋" pitchFamily="49" charset="-122"/>
                <a:cs typeface="Consolas" pitchFamily="49" charset="0"/>
              </a:rPr>
              <a:t>点</a:t>
            </a:r>
            <a:r>
              <a:rPr lang="en-US" altLang="zh-CN" i="1">
                <a:solidFill>
                  <a:srgbClr val="006600"/>
                </a:solidFill>
                <a:latin typeface="Consolas" pitchFamily="49" charset="0"/>
                <a:ea typeface="仿宋" pitchFamily="49" charset="-122"/>
                <a:cs typeface="Consolas" pitchFamily="49" charset="0"/>
              </a:rPr>
              <a:t>j</a:t>
            </a:r>
            <a:r>
              <a:rPr lang="zh-CN" altLang="en-US">
                <a:solidFill>
                  <a:srgbClr val="006600"/>
                </a:solidFill>
                <a:latin typeface="Consolas" pitchFamily="49" charset="0"/>
                <a:ea typeface="仿宋" pitchFamily="49" charset="-122"/>
                <a:cs typeface="Consolas" pitchFamily="49" charset="0"/>
              </a:rPr>
              <a:t>，修</a:t>
            </a:r>
            <a:r>
              <a:rPr lang="zh-CN" altLang="en-US" dirty="0">
                <a:solidFill>
                  <a:srgbClr val="006600"/>
                </a:solidFill>
                <a:latin typeface="Consolas" pitchFamily="49" charset="0"/>
                <a:ea typeface="仿宋" pitchFamily="49" charset="-122"/>
                <a:cs typeface="Consolas" pitchFamily="49" charset="0"/>
              </a:rPr>
              <a:t>改候选边：若</a:t>
            </a:r>
            <a:r>
              <a:rPr lang="en-US" altLang="zh-CN">
                <a:solidFill>
                  <a:srgbClr val="006600"/>
                </a:solidFill>
                <a:latin typeface="Consolas" pitchFamily="49" charset="0"/>
                <a:ea typeface="仿宋" pitchFamily="49" charset="-122"/>
                <a:cs typeface="Consolas" pitchFamily="49" charset="0"/>
              </a:rPr>
              <a:t>(</a:t>
            </a:r>
            <a:r>
              <a:rPr lang="en-US" altLang="zh-CN" i="1">
                <a:solidFill>
                  <a:srgbClr val="006600"/>
                </a:solidFill>
                <a:latin typeface="Consolas" pitchFamily="49" charset="0"/>
                <a:ea typeface="仿宋" pitchFamily="49" charset="-122"/>
                <a:cs typeface="Consolas" pitchFamily="49" charset="0"/>
              </a:rPr>
              <a:t>k</a:t>
            </a:r>
            <a:r>
              <a:rPr lang="zh-CN" altLang="en-US">
                <a:solidFill>
                  <a:srgbClr val="006600"/>
                </a:solidFill>
                <a:latin typeface="Consolas" pitchFamily="49" charset="0"/>
                <a:ea typeface="仿宋" pitchFamily="49" charset="-122"/>
                <a:cs typeface="Consolas" pitchFamily="49" charset="0"/>
              </a:rPr>
              <a:t>，</a:t>
            </a:r>
            <a:r>
              <a:rPr lang="en-US" altLang="zh-CN" i="1">
                <a:solidFill>
                  <a:srgbClr val="006600"/>
                </a:solidFill>
                <a:latin typeface="Consolas" pitchFamily="49" charset="0"/>
                <a:ea typeface="仿宋" pitchFamily="49" charset="-122"/>
                <a:cs typeface="Consolas" pitchFamily="49" charset="0"/>
              </a:rPr>
              <a:t>j</a:t>
            </a:r>
            <a:r>
              <a:rPr lang="en-US" altLang="zh-CN" dirty="0">
                <a:solidFill>
                  <a:srgbClr val="006600"/>
                </a:solidFill>
                <a:latin typeface="Consolas" pitchFamily="49" charset="0"/>
                <a:ea typeface="仿宋" pitchFamily="49" charset="-122"/>
                <a:cs typeface="Consolas" pitchFamily="49" charset="0"/>
              </a:rPr>
              <a:t>)</a:t>
            </a:r>
            <a:r>
              <a:rPr lang="zh-CN" altLang="en-US" dirty="0">
                <a:solidFill>
                  <a:srgbClr val="006600"/>
                </a:solidFill>
                <a:latin typeface="Consolas" pitchFamily="49" charset="0"/>
                <a:ea typeface="仿宋" pitchFamily="49" charset="-122"/>
                <a:cs typeface="Consolas" pitchFamily="49" charset="0"/>
              </a:rPr>
              <a:t>的权值小于原来和顶点</a:t>
            </a:r>
            <a:r>
              <a:rPr lang="en-US" altLang="zh-CN" i="1" dirty="0">
                <a:solidFill>
                  <a:srgbClr val="006600"/>
                </a:solidFill>
                <a:latin typeface="Consolas" pitchFamily="49" charset="0"/>
                <a:ea typeface="仿宋" pitchFamily="49" charset="-122"/>
                <a:cs typeface="Consolas" pitchFamily="49" charset="0"/>
              </a:rPr>
              <a:t>j</a:t>
            </a:r>
            <a:r>
              <a:rPr lang="zh-CN" altLang="en-US" dirty="0">
                <a:solidFill>
                  <a:srgbClr val="006600"/>
                </a:solidFill>
                <a:latin typeface="Consolas" pitchFamily="49" charset="0"/>
                <a:ea typeface="仿宋" pitchFamily="49" charset="-122"/>
                <a:cs typeface="Consolas" pitchFamily="49" charset="0"/>
              </a:rPr>
              <a:t>关联的候</a:t>
            </a:r>
            <a:r>
              <a:rPr lang="zh-CN" altLang="en-US">
                <a:solidFill>
                  <a:srgbClr val="006600"/>
                </a:solidFill>
                <a:latin typeface="Consolas" pitchFamily="49" charset="0"/>
                <a:ea typeface="仿宋" pitchFamily="49" charset="-122"/>
                <a:cs typeface="Consolas" pitchFamily="49" charset="0"/>
              </a:rPr>
              <a:t>选边，则</a:t>
            </a:r>
            <a:r>
              <a:rPr lang="zh-CN" altLang="en-US" dirty="0">
                <a:solidFill>
                  <a:srgbClr val="006600"/>
                </a:solidFill>
                <a:latin typeface="Consolas" pitchFamily="49" charset="0"/>
                <a:ea typeface="仿宋" pitchFamily="49" charset="-122"/>
                <a:cs typeface="Consolas" pitchFamily="49" charset="0"/>
              </a:rPr>
              <a:t>用</a:t>
            </a:r>
            <a:r>
              <a:rPr lang="en-US" altLang="zh-CN">
                <a:solidFill>
                  <a:srgbClr val="006600"/>
                </a:solidFill>
                <a:latin typeface="Consolas" pitchFamily="49" charset="0"/>
                <a:ea typeface="仿宋" pitchFamily="49" charset="-122"/>
                <a:cs typeface="Consolas" pitchFamily="49" charset="0"/>
              </a:rPr>
              <a:t>(</a:t>
            </a:r>
            <a:r>
              <a:rPr lang="en-US" altLang="zh-CN" i="1">
                <a:solidFill>
                  <a:srgbClr val="006600"/>
                </a:solidFill>
                <a:latin typeface="Consolas" pitchFamily="49" charset="0"/>
                <a:ea typeface="仿宋" pitchFamily="49" charset="-122"/>
                <a:cs typeface="Consolas" pitchFamily="49" charset="0"/>
              </a:rPr>
              <a:t>k</a:t>
            </a:r>
            <a:r>
              <a:rPr lang="zh-CN" altLang="en-US">
                <a:solidFill>
                  <a:srgbClr val="006600"/>
                </a:solidFill>
                <a:latin typeface="Consolas" pitchFamily="49" charset="0"/>
                <a:ea typeface="仿宋" pitchFamily="49" charset="-122"/>
                <a:cs typeface="Consolas" pitchFamily="49" charset="0"/>
              </a:rPr>
              <a:t>，</a:t>
            </a:r>
            <a:r>
              <a:rPr lang="en-US" altLang="zh-CN" i="1">
                <a:solidFill>
                  <a:srgbClr val="006600"/>
                </a:solidFill>
                <a:latin typeface="Consolas" pitchFamily="49" charset="0"/>
                <a:ea typeface="仿宋" pitchFamily="49" charset="-122"/>
                <a:cs typeface="Consolas" pitchFamily="49" charset="0"/>
              </a:rPr>
              <a:t>j</a:t>
            </a:r>
            <a:r>
              <a:rPr lang="en-US" altLang="zh-CN" dirty="0">
                <a:solidFill>
                  <a:srgbClr val="006600"/>
                </a:solidFill>
                <a:latin typeface="Consolas" pitchFamily="49" charset="0"/>
                <a:ea typeface="仿宋" pitchFamily="49" charset="-122"/>
                <a:cs typeface="Consolas" pitchFamily="49" charset="0"/>
              </a:rPr>
              <a:t>)</a:t>
            </a:r>
            <a:r>
              <a:rPr lang="zh-CN" altLang="en-US" dirty="0">
                <a:solidFill>
                  <a:srgbClr val="006600"/>
                </a:solidFill>
                <a:latin typeface="Consolas" pitchFamily="49" charset="0"/>
                <a:ea typeface="仿宋" pitchFamily="49" charset="-122"/>
                <a:cs typeface="Consolas" pitchFamily="49" charset="0"/>
              </a:rPr>
              <a:t>取代后者作为候选边。</a:t>
            </a:r>
          </a:p>
        </p:txBody>
      </p:sp>
      <p:sp>
        <p:nvSpPr>
          <p:cNvPr id="4" name="灯片编号占位符 3"/>
          <p:cNvSpPr>
            <a:spLocks noGrp="1"/>
          </p:cNvSpPr>
          <p:nvPr>
            <p:ph type="sldNum" sz="quarter" idx="12"/>
          </p:nvPr>
        </p:nvSpPr>
        <p:spPr/>
        <p:txBody>
          <a:bodyPr/>
          <a:lstStyle/>
          <a:p>
            <a:fld id="{7AF016A1-9F15-429F-9EFD-84004B73C732}" type="slidenum">
              <a:rPr lang="en-US" altLang="zh-CN" smtClean="0"/>
              <a:pPr/>
              <a:t>4</a:t>
            </a:fld>
            <a:r>
              <a:rPr lang="en-US" altLang="zh-CN"/>
              <a:t>/158</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Rectangle 3"/>
          <p:cNvSpPr>
            <a:spLocks noChangeArrowheads="1"/>
          </p:cNvSpPr>
          <p:nvPr/>
        </p:nvSpPr>
        <p:spPr bwMode="auto">
          <a:xfrm>
            <a:off x="0" y="3014663"/>
            <a:ext cx="184731" cy="461665"/>
          </a:xfrm>
          <a:prstGeom prst="rect">
            <a:avLst/>
          </a:prstGeom>
          <a:noFill/>
          <a:ln w="9525">
            <a:noFill/>
            <a:miter lim="800000"/>
            <a:headEnd/>
            <a:tailEnd/>
          </a:ln>
        </p:spPr>
        <p:txBody>
          <a:bodyPr wrap="none" anchor="ctr">
            <a:spAutoFit/>
          </a:bodyPr>
          <a:lstStyle/>
          <a:p>
            <a:endParaRPr lang="zh-CN" altLang="en-US">
              <a:latin typeface="Consolas" pitchFamily="49" charset="0"/>
              <a:cs typeface="Consolas" pitchFamily="49" charset="0"/>
            </a:endParaRPr>
          </a:p>
        </p:txBody>
      </p:sp>
      <p:grpSp>
        <p:nvGrpSpPr>
          <p:cNvPr id="2" name="组合 69"/>
          <p:cNvGrpSpPr/>
          <p:nvPr/>
        </p:nvGrpSpPr>
        <p:grpSpPr>
          <a:xfrm>
            <a:off x="642910" y="1785926"/>
            <a:ext cx="3214710" cy="2155282"/>
            <a:chOff x="285720" y="1785926"/>
            <a:chExt cx="3214710" cy="2155282"/>
          </a:xfrm>
        </p:grpSpPr>
        <p:sp>
          <p:nvSpPr>
            <p:cNvPr id="7" name="椭圆 6"/>
            <p:cNvSpPr/>
            <p:nvPr/>
          </p:nvSpPr>
          <p:spPr>
            <a:xfrm>
              <a:off x="285720" y="2643182"/>
              <a:ext cx="357190" cy="42862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sz="2000">
                  <a:solidFill>
                    <a:srgbClr val="0000FF"/>
                  </a:solidFill>
                  <a:latin typeface="Consolas" pitchFamily="49" charset="0"/>
                  <a:cs typeface="Consolas" pitchFamily="49" charset="0"/>
                </a:rPr>
                <a:t>5</a:t>
              </a:r>
              <a:endParaRPr lang="zh-CN" altLang="en-US" sz="2000">
                <a:solidFill>
                  <a:srgbClr val="0000FF"/>
                </a:solidFill>
                <a:latin typeface="Consolas" pitchFamily="49" charset="0"/>
                <a:cs typeface="Consolas" pitchFamily="49" charset="0"/>
              </a:endParaRPr>
            </a:p>
          </p:txBody>
        </p:sp>
        <p:sp>
          <p:nvSpPr>
            <p:cNvPr id="8" name="椭圆 7"/>
            <p:cNvSpPr/>
            <p:nvPr/>
          </p:nvSpPr>
          <p:spPr>
            <a:xfrm>
              <a:off x="1000100" y="1928802"/>
              <a:ext cx="357190" cy="428628"/>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a:solidFill>
                    <a:srgbClr val="0000FF"/>
                  </a:solidFill>
                  <a:latin typeface="Consolas" pitchFamily="49" charset="0"/>
                  <a:cs typeface="Consolas" pitchFamily="49" charset="0"/>
                </a:rPr>
                <a:t>0</a:t>
              </a:r>
              <a:endParaRPr lang="zh-CN" altLang="en-US" sz="2000">
                <a:solidFill>
                  <a:srgbClr val="0000FF"/>
                </a:solidFill>
                <a:latin typeface="Consolas" pitchFamily="49" charset="0"/>
                <a:cs typeface="Consolas" pitchFamily="49" charset="0"/>
              </a:endParaRPr>
            </a:p>
          </p:txBody>
        </p:sp>
        <p:sp>
          <p:nvSpPr>
            <p:cNvPr id="9" name="椭圆 8"/>
            <p:cNvSpPr/>
            <p:nvPr/>
          </p:nvSpPr>
          <p:spPr>
            <a:xfrm>
              <a:off x="1000100" y="3357562"/>
              <a:ext cx="357190" cy="428628"/>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a:solidFill>
                    <a:srgbClr val="0000FF"/>
                  </a:solidFill>
                  <a:latin typeface="Consolas" pitchFamily="49" charset="0"/>
                  <a:cs typeface="Consolas" pitchFamily="49" charset="0"/>
                </a:rPr>
                <a:t>4</a:t>
              </a:r>
              <a:endParaRPr lang="zh-CN" altLang="en-US" sz="2000">
                <a:solidFill>
                  <a:srgbClr val="0000FF"/>
                </a:solidFill>
                <a:latin typeface="Consolas" pitchFamily="49" charset="0"/>
                <a:cs typeface="Consolas" pitchFamily="49" charset="0"/>
              </a:endParaRPr>
            </a:p>
          </p:txBody>
        </p:sp>
        <p:sp>
          <p:nvSpPr>
            <p:cNvPr id="10" name="椭圆 9"/>
            <p:cNvSpPr/>
            <p:nvPr/>
          </p:nvSpPr>
          <p:spPr>
            <a:xfrm>
              <a:off x="2357422" y="1928802"/>
              <a:ext cx="357190" cy="428628"/>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a:solidFill>
                    <a:srgbClr val="0000FF"/>
                  </a:solidFill>
                  <a:latin typeface="Consolas" pitchFamily="49" charset="0"/>
                  <a:cs typeface="Consolas" pitchFamily="49" charset="0"/>
                </a:rPr>
                <a:t>1</a:t>
              </a:r>
              <a:endParaRPr lang="zh-CN" altLang="en-US" sz="2000">
                <a:solidFill>
                  <a:srgbClr val="0000FF"/>
                </a:solidFill>
                <a:latin typeface="Consolas" pitchFamily="49" charset="0"/>
                <a:cs typeface="Consolas" pitchFamily="49" charset="0"/>
              </a:endParaRPr>
            </a:p>
          </p:txBody>
        </p:sp>
        <p:sp>
          <p:nvSpPr>
            <p:cNvPr id="11" name="椭圆 10"/>
            <p:cNvSpPr/>
            <p:nvPr/>
          </p:nvSpPr>
          <p:spPr>
            <a:xfrm>
              <a:off x="2357422" y="3357562"/>
              <a:ext cx="357190" cy="428628"/>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a:solidFill>
                    <a:srgbClr val="0000FF"/>
                  </a:solidFill>
                  <a:latin typeface="Consolas" pitchFamily="49" charset="0"/>
                  <a:cs typeface="Consolas" pitchFamily="49" charset="0"/>
                </a:rPr>
                <a:t>3</a:t>
              </a:r>
              <a:endParaRPr lang="zh-CN" altLang="en-US" sz="2000">
                <a:solidFill>
                  <a:srgbClr val="0000FF"/>
                </a:solidFill>
                <a:latin typeface="Consolas" pitchFamily="49" charset="0"/>
                <a:cs typeface="Consolas" pitchFamily="49" charset="0"/>
              </a:endParaRPr>
            </a:p>
          </p:txBody>
        </p:sp>
        <p:sp>
          <p:nvSpPr>
            <p:cNvPr id="12" name="椭圆 11"/>
            <p:cNvSpPr/>
            <p:nvPr/>
          </p:nvSpPr>
          <p:spPr>
            <a:xfrm>
              <a:off x="1714480" y="2643182"/>
              <a:ext cx="357190" cy="428628"/>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a:solidFill>
                    <a:srgbClr val="0000FF"/>
                  </a:solidFill>
                  <a:latin typeface="Consolas" pitchFamily="49" charset="0"/>
                  <a:cs typeface="Consolas" pitchFamily="49" charset="0"/>
                </a:rPr>
                <a:t>6</a:t>
              </a:r>
              <a:endParaRPr lang="zh-CN" altLang="en-US" sz="2000">
                <a:solidFill>
                  <a:srgbClr val="0000FF"/>
                </a:solidFill>
                <a:latin typeface="Consolas" pitchFamily="49" charset="0"/>
                <a:cs typeface="Consolas" pitchFamily="49" charset="0"/>
              </a:endParaRPr>
            </a:p>
          </p:txBody>
        </p:sp>
        <p:sp>
          <p:nvSpPr>
            <p:cNvPr id="13" name="椭圆 12"/>
            <p:cNvSpPr/>
            <p:nvPr/>
          </p:nvSpPr>
          <p:spPr>
            <a:xfrm>
              <a:off x="3143240" y="2643182"/>
              <a:ext cx="357190" cy="428628"/>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a:solidFill>
                    <a:srgbClr val="0000FF"/>
                  </a:solidFill>
                  <a:latin typeface="Consolas" pitchFamily="49" charset="0"/>
                  <a:cs typeface="Consolas" pitchFamily="49" charset="0"/>
                </a:rPr>
                <a:t>2</a:t>
              </a:r>
              <a:endParaRPr lang="zh-CN" altLang="en-US" sz="2000">
                <a:solidFill>
                  <a:srgbClr val="0000FF"/>
                </a:solidFill>
                <a:latin typeface="Consolas" pitchFamily="49" charset="0"/>
                <a:cs typeface="Consolas" pitchFamily="49" charset="0"/>
              </a:endParaRPr>
            </a:p>
          </p:txBody>
        </p:sp>
        <p:cxnSp>
          <p:nvCxnSpPr>
            <p:cNvPr id="15" name="直接连接符 14"/>
            <p:cNvCxnSpPr>
              <a:stCxn id="7" idx="7"/>
              <a:endCxn id="8" idx="3"/>
            </p:cNvCxnSpPr>
            <p:nvPr/>
          </p:nvCxnSpPr>
          <p:spPr>
            <a:xfrm rot="5400000" flipH="1" flipV="1">
              <a:off x="615858" y="2269402"/>
              <a:ext cx="411294" cy="461808"/>
            </a:xfrm>
            <a:prstGeom prst="line">
              <a:avLst/>
            </a:prstGeom>
          </p:spPr>
          <p:style>
            <a:lnRef idx="2">
              <a:schemeClr val="accent1"/>
            </a:lnRef>
            <a:fillRef idx="0">
              <a:schemeClr val="accent1"/>
            </a:fillRef>
            <a:effectRef idx="1">
              <a:schemeClr val="accent1"/>
            </a:effectRef>
            <a:fontRef idx="minor">
              <a:schemeClr val="tx1"/>
            </a:fontRef>
          </p:style>
        </p:cxnSp>
        <p:cxnSp>
          <p:nvCxnSpPr>
            <p:cNvPr id="17" name="直接连接符 16"/>
            <p:cNvCxnSpPr>
              <a:stCxn id="8" idx="6"/>
              <a:endCxn id="10" idx="2"/>
            </p:cNvCxnSpPr>
            <p:nvPr/>
          </p:nvCxnSpPr>
          <p:spPr>
            <a:xfrm>
              <a:off x="1357290" y="2143116"/>
              <a:ext cx="100013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9" name="直接连接符 18"/>
            <p:cNvCxnSpPr>
              <a:stCxn id="12" idx="7"/>
              <a:endCxn id="10" idx="3"/>
            </p:cNvCxnSpPr>
            <p:nvPr/>
          </p:nvCxnSpPr>
          <p:spPr>
            <a:xfrm rot="5400000" flipH="1" flipV="1">
              <a:off x="2008899" y="2305121"/>
              <a:ext cx="411294" cy="390370"/>
            </a:xfrm>
            <a:prstGeom prst="line">
              <a:avLst/>
            </a:prstGeom>
          </p:spPr>
          <p:style>
            <a:lnRef idx="2">
              <a:schemeClr val="accent1"/>
            </a:lnRef>
            <a:fillRef idx="0">
              <a:schemeClr val="accent1"/>
            </a:fillRef>
            <a:effectRef idx="1">
              <a:schemeClr val="accent1"/>
            </a:effectRef>
            <a:fontRef idx="minor">
              <a:schemeClr val="tx1"/>
            </a:fontRef>
          </p:style>
        </p:cxnSp>
        <p:cxnSp>
          <p:nvCxnSpPr>
            <p:cNvPr id="21" name="直接连接符 20"/>
            <p:cNvCxnSpPr>
              <a:stCxn id="12" idx="3"/>
              <a:endCxn id="9" idx="7"/>
            </p:cNvCxnSpPr>
            <p:nvPr/>
          </p:nvCxnSpPr>
          <p:spPr>
            <a:xfrm rot="5400000">
              <a:off x="1330238" y="2983782"/>
              <a:ext cx="411294" cy="461808"/>
            </a:xfrm>
            <a:prstGeom prst="line">
              <a:avLst/>
            </a:prstGeom>
          </p:spPr>
          <p:style>
            <a:lnRef idx="2">
              <a:schemeClr val="accent1"/>
            </a:lnRef>
            <a:fillRef idx="0">
              <a:schemeClr val="accent1"/>
            </a:fillRef>
            <a:effectRef idx="1">
              <a:schemeClr val="accent1"/>
            </a:effectRef>
            <a:fontRef idx="minor">
              <a:schemeClr val="tx1"/>
            </a:fontRef>
          </p:style>
        </p:cxnSp>
        <p:cxnSp>
          <p:nvCxnSpPr>
            <p:cNvPr id="23" name="直接连接符 22"/>
            <p:cNvCxnSpPr>
              <a:stCxn id="7" idx="5"/>
              <a:endCxn id="9" idx="1"/>
            </p:cNvCxnSpPr>
            <p:nvPr/>
          </p:nvCxnSpPr>
          <p:spPr>
            <a:xfrm rot="16200000" flipH="1">
              <a:off x="615858" y="2983782"/>
              <a:ext cx="411294" cy="461808"/>
            </a:xfrm>
            <a:prstGeom prst="line">
              <a:avLst/>
            </a:prstGeom>
          </p:spPr>
          <p:style>
            <a:lnRef idx="2">
              <a:schemeClr val="accent1"/>
            </a:lnRef>
            <a:fillRef idx="0">
              <a:schemeClr val="accent1"/>
            </a:fillRef>
            <a:effectRef idx="1">
              <a:schemeClr val="accent1"/>
            </a:effectRef>
            <a:fontRef idx="minor">
              <a:schemeClr val="tx1"/>
            </a:fontRef>
          </p:style>
        </p:cxnSp>
        <p:cxnSp>
          <p:nvCxnSpPr>
            <p:cNvPr id="25" name="直接连接符 24"/>
            <p:cNvCxnSpPr>
              <a:stCxn id="9" idx="6"/>
              <a:endCxn id="11" idx="2"/>
            </p:cNvCxnSpPr>
            <p:nvPr/>
          </p:nvCxnSpPr>
          <p:spPr>
            <a:xfrm>
              <a:off x="1357290" y="3571876"/>
              <a:ext cx="100013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7" name="直接连接符 26"/>
            <p:cNvCxnSpPr>
              <a:stCxn id="12" idx="5"/>
              <a:endCxn id="11" idx="1"/>
            </p:cNvCxnSpPr>
            <p:nvPr/>
          </p:nvCxnSpPr>
          <p:spPr>
            <a:xfrm rot="16200000" flipH="1">
              <a:off x="2008899" y="3019501"/>
              <a:ext cx="411294" cy="390370"/>
            </a:xfrm>
            <a:prstGeom prst="line">
              <a:avLst/>
            </a:prstGeom>
          </p:spPr>
          <p:style>
            <a:lnRef idx="2">
              <a:schemeClr val="accent1"/>
            </a:lnRef>
            <a:fillRef idx="0">
              <a:schemeClr val="accent1"/>
            </a:fillRef>
            <a:effectRef idx="1">
              <a:schemeClr val="accent1"/>
            </a:effectRef>
            <a:fontRef idx="minor">
              <a:schemeClr val="tx1"/>
            </a:fontRef>
          </p:style>
        </p:cxnSp>
        <p:cxnSp>
          <p:nvCxnSpPr>
            <p:cNvPr id="29" name="直接连接符 28"/>
            <p:cNvCxnSpPr>
              <a:stCxn id="10" idx="5"/>
              <a:endCxn id="13" idx="1"/>
            </p:cNvCxnSpPr>
            <p:nvPr/>
          </p:nvCxnSpPr>
          <p:spPr>
            <a:xfrm rot="16200000" flipH="1">
              <a:off x="2723279" y="2233683"/>
              <a:ext cx="411294" cy="533246"/>
            </a:xfrm>
            <a:prstGeom prst="line">
              <a:avLst/>
            </a:prstGeom>
          </p:spPr>
          <p:style>
            <a:lnRef idx="2">
              <a:schemeClr val="accent1"/>
            </a:lnRef>
            <a:fillRef idx="0">
              <a:schemeClr val="accent1"/>
            </a:fillRef>
            <a:effectRef idx="1">
              <a:schemeClr val="accent1"/>
            </a:effectRef>
            <a:fontRef idx="minor">
              <a:schemeClr val="tx1"/>
            </a:fontRef>
          </p:style>
        </p:cxnSp>
        <p:cxnSp>
          <p:nvCxnSpPr>
            <p:cNvPr id="31" name="直接连接符 30"/>
            <p:cNvCxnSpPr>
              <a:stCxn id="11" idx="7"/>
              <a:endCxn id="13" idx="3"/>
            </p:cNvCxnSpPr>
            <p:nvPr/>
          </p:nvCxnSpPr>
          <p:spPr>
            <a:xfrm rot="5400000" flipH="1" flipV="1">
              <a:off x="2723279" y="2948063"/>
              <a:ext cx="411294" cy="533246"/>
            </a:xfrm>
            <a:prstGeom prst="line">
              <a:avLst/>
            </a:prstGeom>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571472" y="2202412"/>
              <a:ext cx="285752" cy="369332"/>
            </a:xfrm>
            <a:prstGeom prst="rect">
              <a:avLst/>
            </a:prstGeom>
            <a:noFill/>
          </p:spPr>
          <p:txBody>
            <a:bodyPr wrap="square" rtlCol="0">
              <a:spAutoFit/>
            </a:bodyPr>
            <a:lstStyle/>
            <a:p>
              <a:r>
                <a:rPr lang="en-US" altLang="zh-CN" sz="1800">
                  <a:solidFill>
                    <a:srgbClr val="0000FF"/>
                  </a:solidFill>
                  <a:latin typeface="Consolas" pitchFamily="49" charset="0"/>
                  <a:cs typeface="Consolas" pitchFamily="49" charset="0"/>
                </a:rPr>
                <a:t>1</a:t>
              </a:r>
              <a:endParaRPr lang="zh-CN" altLang="en-US" sz="1800">
                <a:solidFill>
                  <a:srgbClr val="0000FF"/>
                </a:solidFill>
                <a:latin typeface="Consolas" pitchFamily="49" charset="0"/>
                <a:cs typeface="Consolas" pitchFamily="49" charset="0"/>
              </a:endParaRPr>
            </a:p>
          </p:txBody>
        </p:sp>
        <p:sp>
          <p:nvSpPr>
            <p:cNvPr id="37" name="TextBox 36"/>
            <p:cNvSpPr txBox="1"/>
            <p:nvPr/>
          </p:nvSpPr>
          <p:spPr>
            <a:xfrm>
              <a:off x="571472" y="3202544"/>
              <a:ext cx="285752" cy="369332"/>
            </a:xfrm>
            <a:prstGeom prst="rect">
              <a:avLst/>
            </a:prstGeom>
            <a:noFill/>
          </p:spPr>
          <p:txBody>
            <a:bodyPr wrap="square" rtlCol="0">
              <a:spAutoFit/>
            </a:bodyPr>
            <a:lstStyle/>
            <a:p>
              <a:r>
                <a:rPr lang="en-US" altLang="zh-CN" sz="1800">
                  <a:solidFill>
                    <a:srgbClr val="0000FF"/>
                  </a:solidFill>
                  <a:latin typeface="Consolas" pitchFamily="49" charset="0"/>
                  <a:cs typeface="Consolas" pitchFamily="49" charset="0"/>
                </a:rPr>
                <a:t>8</a:t>
              </a:r>
              <a:endParaRPr lang="zh-CN" altLang="en-US" sz="1800">
                <a:solidFill>
                  <a:srgbClr val="0000FF"/>
                </a:solidFill>
                <a:latin typeface="Consolas" pitchFamily="49" charset="0"/>
                <a:cs typeface="Consolas" pitchFamily="49" charset="0"/>
              </a:endParaRPr>
            </a:p>
          </p:txBody>
        </p:sp>
        <p:sp>
          <p:nvSpPr>
            <p:cNvPr id="38" name="TextBox 37"/>
            <p:cNvSpPr txBox="1"/>
            <p:nvPr/>
          </p:nvSpPr>
          <p:spPr>
            <a:xfrm>
              <a:off x="1714480" y="1785926"/>
              <a:ext cx="285752" cy="369332"/>
            </a:xfrm>
            <a:prstGeom prst="rect">
              <a:avLst/>
            </a:prstGeom>
            <a:noFill/>
          </p:spPr>
          <p:txBody>
            <a:bodyPr wrap="square" rtlCol="0">
              <a:spAutoFit/>
            </a:bodyPr>
            <a:lstStyle/>
            <a:p>
              <a:r>
                <a:rPr lang="en-US" altLang="zh-CN" sz="1800">
                  <a:solidFill>
                    <a:srgbClr val="0000FF"/>
                  </a:solidFill>
                  <a:latin typeface="Consolas" pitchFamily="49" charset="0"/>
                  <a:cs typeface="Consolas" pitchFamily="49" charset="0"/>
                </a:rPr>
                <a:t>6</a:t>
              </a:r>
              <a:endParaRPr lang="zh-CN" altLang="en-US" sz="1800">
                <a:solidFill>
                  <a:srgbClr val="0000FF"/>
                </a:solidFill>
                <a:latin typeface="Consolas" pitchFamily="49" charset="0"/>
                <a:cs typeface="Consolas" pitchFamily="49" charset="0"/>
              </a:endParaRPr>
            </a:p>
          </p:txBody>
        </p:sp>
        <p:sp>
          <p:nvSpPr>
            <p:cNvPr id="39" name="TextBox 38"/>
            <p:cNvSpPr txBox="1"/>
            <p:nvPr/>
          </p:nvSpPr>
          <p:spPr>
            <a:xfrm>
              <a:off x="1285852" y="2916792"/>
              <a:ext cx="285752" cy="369332"/>
            </a:xfrm>
            <a:prstGeom prst="rect">
              <a:avLst/>
            </a:prstGeom>
            <a:noFill/>
          </p:spPr>
          <p:txBody>
            <a:bodyPr wrap="square" rtlCol="0">
              <a:spAutoFit/>
            </a:bodyPr>
            <a:lstStyle/>
            <a:p>
              <a:r>
                <a:rPr lang="en-US" altLang="zh-CN" sz="1800">
                  <a:solidFill>
                    <a:srgbClr val="0000FF"/>
                  </a:solidFill>
                  <a:latin typeface="Consolas" pitchFamily="49" charset="0"/>
                  <a:cs typeface="Consolas" pitchFamily="49" charset="0"/>
                </a:rPr>
                <a:t>7</a:t>
              </a:r>
              <a:endParaRPr lang="zh-CN" altLang="en-US" sz="1800">
                <a:solidFill>
                  <a:srgbClr val="0000FF"/>
                </a:solidFill>
                <a:latin typeface="Consolas" pitchFamily="49" charset="0"/>
                <a:cs typeface="Consolas" pitchFamily="49" charset="0"/>
              </a:endParaRPr>
            </a:p>
          </p:txBody>
        </p:sp>
        <p:sp>
          <p:nvSpPr>
            <p:cNvPr id="40" name="TextBox 39"/>
            <p:cNvSpPr txBox="1"/>
            <p:nvPr/>
          </p:nvSpPr>
          <p:spPr>
            <a:xfrm>
              <a:off x="1714480" y="3571876"/>
              <a:ext cx="285752" cy="369332"/>
            </a:xfrm>
            <a:prstGeom prst="rect">
              <a:avLst/>
            </a:prstGeom>
            <a:noFill/>
          </p:spPr>
          <p:txBody>
            <a:bodyPr wrap="square" rtlCol="0">
              <a:spAutoFit/>
            </a:bodyPr>
            <a:lstStyle/>
            <a:p>
              <a:r>
                <a:rPr lang="en-US" altLang="zh-CN" sz="1800">
                  <a:solidFill>
                    <a:srgbClr val="0000FF"/>
                  </a:solidFill>
                  <a:latin typeface="Consolas" pitchFamily="49" charset="0"/>
                  <a:cs typeface="Consolas" pitchFamily="49" charset="0"/>
                </a:rPr>
                <a:t>6</a:t>
              </a:r>
              <a:endParaRPr lang="zh-CN" altLang="en-US" sz="1800">
                <a:solidFill>
                  <a:srgbClr val="0000FF"/>
                </a:solidFill>
                <a:latin typeface="Consolas" pitchFamily="49" charset="0"/>
                <a:cs typeface="Consolas" pitchFamily="49" charset="0"/>
              </a:endParaRPr>
            </a:p>
          </p:txBody>
        </p:sp>
        <p:sp>
          <p:nvSpPr>
            <p:cNvPr id="41" name="TextBox 40"/>
            <p:cNvSpPr txBox="1"/>
            <p:nvPr/>
          </p:nvSpPr>
          <p:spPr>
            <a:xfrm>
              <a:off x="2143108" y="2916792"/>
              <a:ext cx="285752" cy="369332"/>
            </a:xfrm>
            <a:prstGeom prst="rect">
              <a:avLst/>
            </a:prstGeom>
            <a:noFill/>
          </p:spPr>
          <p:txBody>
            <a:bodyPr wrap="square" rtlCol="0">
              <a:spAutoFit/>
            </a:bodyPr>
            <a:lstStyle/>
            <a:p>
              <a:r>
                <a:rPr lang="en-US" altLang="zh-CN" sz="1800">
                  <a:solidFill>
                    <a:srgbClr val="0000FF"/>
                  </a:solidFill>
                  <a:latin typeface="Consolas" pitchFamily="49" charset="0"/>
                  <a:cs typeface="Consolas" pitchFamily="49" charset="0"/>
                </a:rPr>
                <a:t>5</a:t>
              </a:r>
              <a:endParaRPr lang="zh-CN" altLang="en-US" sz="1800">
                <a:solidFill>
                  <a:srgbClr val="0000FF"/>
                </a:solidFill>
                <a:latin typeface="Consolas" pitchFamily="49" charset="0"/>
                <a:cs typeface="Consolas" pitchFamily="49" charset="0"/>
              </a:endParaRPr>
            </a:p>
          </p:txBody>
        </p:sp>
        <p:sp>
          <p:nvSpPr>
            <p:cNvPr id="42" name="TextBox 41"/>
            <p:cNvSpPr txBox="1"/>
            <p:nvPr/>
          </p:nvSpPr>
          <p:spPr>
            <a:xfrm>
              <a:off x="2143108" y="2416726"/>
              <a:ext cx="285752" cy="369332"/>
            </a:xfrm>
            <a:prstGeom prst="rect">
              <a:avLst/>
            </a:prstGeom>
            <a:noFill/>
          </p:spPr>
          <p:txBody>
            <a:bodyPr wrap="square" rtlCol="0">
              <a:spAutoFit/>
            </a:bodyPr>
            <a:lstStyle/>
            <a:p>
              <a:r>
                <a:rPr lang="en-US" altLang="zh-CN" sz="1800">
                  <a:solidFill>
                    <a:srgbClr val="0000FF"/>
                  </a:solidFill>
                  <a:latin typeface="Consolas" pitchFamily="49" charset="0"/>
                  <a:cs typeface="Consolas" pitchFamily="49" charset="0"/>
                </a:rPr>
                <a:t>3</a:t>
              </a:r>
              <a:endParaRPr lang="zh-CN" altLang="en-US" sz="1800">
                <a:solidFill>
                  <a:srgbClr val="0000FF"/>
                </a:solidFill>
                <a:latin typeface="Consolas" pitchFamily="49" charset="0"/>
                <a:cs typeface="Consolas" pitchFamily="49" charset="0"/>
              </a:endParaRPr>
            </a:p>
          </p:txBody>
        </p:sp>
        <p:sp>
          <p:nvSpPr>
            <p:cNvPr id="43" name="TextBox 42"/>
            <p:cNvSpPr txBox="1"/>
            <p:nvPr/>
          </p:nvSpPr>
          <p:spPr>
            <a:xfrm>
              <a:off x="2857488" y="2202412"/>
              <a:ext cx="285752" cy="369332"/>
            </a:xfrm>
            <a:prstGeom prst="rect">
              <a:avLst/>
            </a:prstGeom>
            <a:noFill/>
          </p:spPr>
          <p:txBody>
            <a:bodyPr wrap="square" rtlCol="0">
              <a:spAutoFit/>
            </a:bodyPr>
            <a:lstStyle/>
            <a:p>
              <a:r>
                <a:rPr lang="en-US" altLang="zh-CN" sz="1800">
                  <a:solidFill>
                    <a:srgbClr val="0000FF"/>
                  </a:solidFill>
                  <a:latin typeface="Consolas" pitchFamily="49" charset="0"/>
                  <a:cs typeface="Consolas" pitchFamily="49" charset="0"/>
                </a:rPr>
                <a:t>4</a:t>
              </a:r>
              <a:endParaRPr lang="zh-CN" altLang="en-US" sz="1800">
                <a:solidFill>
                  <a:srgbClr val="0000FF"/>
                </a:solidFill>
                <a:latin typeface="Consolas" pitchFamily="49" charset="0"/>
                <a:cs typeface="Consolas" pitchFamily="49" charset="0"/>
              </a:endParaRPr>
            </a:p>
          </p:txBody>
        </p:sp>
        <p:sp>
          <p:nvSpPr>
            <p:cNvPr id="44" name="TextBox 43"/>
            <p:cNvSpPr txBox="1"/>
            <p:nvPr/>
          </p:nvSpPr>
          <p:spPr>
            <a:xfrm>
              <a:off x="2928926" y="3202544"/>
              <a:ext cx="285752" cy="369332"/>
            </a:xfrm>
            <a:prstGeom prst="rect">
              <a:avLst/>
            </a:prstGeom>
            <a:noFill/>
          </p:spPr>
          <p:txBody>
            <a:bodyPr wrap="square" rtlCol="0">
              <a:spAutoFit/>
            </a:bodyPr>
            <a:lstStyle/>
            <a:p>
              <a:r>
                <a:rPr lang="en-US" altLang="zh-CN" sz="1800">
                  <a:solidFill>
                    <a:srgbClr val="0000FF"/>
                  </a:solidFill>
                  <a:latin typeface="Consolas" pitchFamily="49" charset="0"/>
                  <a:cs typeface="Consolas" pitchFamily="49" charset="0"/>
                </a:rPr>
                <a:t>2</a:t>
              </a:r>
              <a:endParaRPr lang="zh-CN" altLang="en-US" sz="1800">
                <a:solidFill>
                  <a:srgbClr val="0000FF"/>
                </a:solidFill>
                <a:latin typeface="Consolas" pitchFamily="49" charset="0"/>
                <a:cs typeface="Consolas" pitchFamily="49" charset="0"/>
              </a:endParaRPr>
            </a:p>
          </p:txBody>
        </p:sp>
      </p:grpSp>
      <p:grpSp>
        <p:nvGrpSpPr>
          <p:cNvPr id="3" name="组合 71"/>
          <p:cNvGrpSpPr/>
          <p:nvPr/>
        </p:nvGrpSpPr>
        <p:grpSpPr>
          <a:xfrm>
            <a:off x="5000628" y="1785926"/>
            <a:ext cx="3214710" cy="2155282"/>
            <a:chOff x="5000628" y="1785926"/>
            <a:chExt cx="3214710" cy="2155282"/>
          </a:xfrm>
        </p:grpSpPr>
        <p:sp>
          <p:nvSpPr>
            <p:cNvPr id="45" name="椭圆 44"/>
            <p:cNvSpPr/>
            <p:nvPr/>
          </p:nvSpPr>
          <p:spPr>
            <a:xfrm>
              <a:off x="5000628" y="2643182"/>
              <a:ext cx="357190" cy="42862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sz="2000">
                  <a:solidFill>
                    <a:srgbClr val="0000FF"/>
                  </a:solidFill>
                  <a:latin typeface="Consolas" pitchFamily="49" charset="0"/>
                  <a:cs typeface="Consolas" pitchFamily="49" charset="0"/>
                </a:rPr>
                <a:t>5</a:t>
              </a:r>
              <a:endParaRPr lang="zh-CN" altLang="en-US" sz="2000">
                <a:solidFill>
                  <a:srgbClr val="0000FF"/>
                </a:solidFill>
                <a:latin typeface="Consolas" pitchFamily="49" charset="0"/>
                <a:cs typeface="Consolas" pitchFamily="49" charset="0"/>
              </a:endParaRPr>
            </a:p>
          </p:txBody>
        </p:sp>
        <p:sp>
          <p:nvSpPr>
            <p:cNvPr id="46" name="椭圆 45"/>
            <p:cNvSpPr/>
            <p:nvPr/>
          </p:nvSpPr>
          <p:spPr>
            <a:xfrm>
              <a:off x="5715008" y="1928802"/>
              <a:ext cx="357190" cy="428628"/>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a:solidFill>
                    <a:srgbClr val="0000FF"/>
                  </a:solidFill>
                  <a:latin typeface="Consolas" pitchFamily="49" charset="0"/>
                  <a:cs typeface="Consolas" pitchFamily="49" charset="0"/>
                </a:rPr>
                <a:t>0</a:t>
              </a:r>
              <a:endParaRPr lang="zh-CN" altLang="en-US" sz="2000">
                <a:solidFill>
                  <a:srgbClr val="0000FF"/>
                </a:solidFill>
                <a:latin typeface="Consolas" pitchFamily="49" charset="0"/>
                <a:cs typeface="Consolas" pitchFamily="49" charset="0"/>
              </a:endParaRPr>
            </a:p>
          </p:txBody>
        </p:sp>
        <p:sp>
          <p:nvSpPr>
            <p:cNvPr id="47" name="椭圆 46"/>
            <p:cNvSpPr/>
            <p:nvPr/>
          </p:nvSpPr>
          <p:spPr>
            <a:xfrm>
              <a:off x="5715008" y="3357562"/>
              <a:ext cx="357190" cy="428628"/>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a:solidFill>
                    <a:srgbClr val="0000FF"/>
                  </a:solidFill>
                  <a:latin typeface="Consolas" pitchFamily="49" charset="0"/>
                  <a:cs typeface="Consolas" pitchFamily="49" charset="0"/>
                </a:rPr>
                <a:t>4</a:t>
              </a:r>
              <a:endParaRPr lang="zh-CN" altLang="en-US" sz="2000">
                <a:solidFill>
                  <a:srgbClr val="0000FF"/>
                </a:solidFill>
                <a:latin typeface="Consolas" pitchFamily="49" charset="0"/>
                <a:cs typeface="Consolas" pitchFamily="49" charset="0"/>
              </a:endParaRPr>
            </a:p>
          </p:txBody>
        </p:sp>
        <p:sp>
          <p:nvSpPr>
            <p:cNvPr id="48" name="椭圆 47"/>
            <p:cNvSpPr/>
            <p:nvPr/>
          </p:nvSpPr>
          <p:spPr>
            <a:xfrm>
              <a:off x="7072330" y="1928802"/>
              <a:ext cx="357190" cy="428628"/>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a:solidFill>
                    <a:srgbClr val="0000FF"/>
                  </a:solidFill>
                  <a:latin typeface="Consolas" pitchFamily="49" charset="0"/>
                  <a:cs typeface="Consolas" pitchFamily="49" charset="0"/>
                </a:rPr>
                <a:t>1</a:t>
              </a:r>
              <a:endParaRPr lang="zh-CN" altLang="en-US" sz="2000">
                <a:solidFill>
                  <a:srgbClr val="0000FF"/>
                </a:solidFill>
                <a:latin typeface="Consolas" pitchFamily="49" charset="0"/>
                <a:cs typeface="Consolas" pitchFamily="49" charset="0"/>
              </a:endParaRPr>
            </a:p>
          </p:txBody>
        </p:sp>
        <p:sp>
          <p:nvSpPr>
            <p:cNvPr id="49" name="椭圆 48"/>
            <p:cNvSpPr/>
            <p:nvPr/>
          </p:nvSpPr>
          <p:spPr>
            <a:xfrm>
              <a:off x="7072330" y="3357562"/>
              <a:ext cx="357190" cy="428628"/>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a:solidFill>
                    <a:srgbClr val="0000FF"/>
                  </a:solidFill>
                  <a:latin typeface="Consolas" pitchFamily="49" charset="0"/>
                  <a:cs typeface="Consolas" pitchFamily="49" charset="0"/>
                </a:rPr>
                <a:t>3</a:t>
              </a:r>
              <a:endParaRPr lang="zh-CN" altLang="en-US" sz="2000">
                <a:solidFill>
                  <a:srgbClr val="0000FF"/>
                </a:solidFill>
                <a:latin typeface="Consolas" pitchFamily="49" charset="0"/>
                <a:cs typeface="Consolas" pitchFamily="49" charset="0"/>
              </a:endParaRPr>
            </a:p>
          </p:txBody>
        </p:sp>
        <p:sp>
          <p:nvSpPr>
            <p:cNvPr id="50" name="椭圆 49"/>
            <p:cNvSpPr/>
            <p:nvPr/>
          </p:nvSpPr>
          <p:spPr>
            <a:xfrm>
              <a:off x="6429388" y="2643182"/>
              <a:ext cx="357190" cy="428628"/>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a:solidFill>
                    <a:srgbClr val="0000FF"/>
                  </a:solidFill>
                  <a:latin typeface="Consolas" pitchFamily="49" charset="0"/>
                  <a:cs typeface="Consolas" pitchFamily="49" charset="0"/>
                </a:rPr>
                <a:t>6</a:t>
              </a:r>
              <a:endParaRPr lang="zh-CN" altLang="en-US" sz="2000">
                <a:solidFill>
                  <a:srgbClr val="0000FF"/>
                </a:solidFill>
                <a:latin typeface="Consolas" pitchFamily="49" charset="0"/>
                <a:cs typeface="Consolas" pitchFamily="49" charset="0"/>
              </a:endParaRPr>
            </a:p>
          </p:txBody>
        </p:sp>
        <p:sp>
          <p:nvSpPr>
            <p:cNvPr id="51" name="椭圆 50"/>
            <p:cNvSpPr/>
            <p:nvPr/>
          </p:nvSpPr>
          <p:spPr>
            <a:xfrm>
              <a:off x="7858148" y="2643182"/>
              <a:ext cx="357190" cy="428628"/>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a:solidFill>
                    <a:srgbClr val="0000FF"/>
                  </a:solidFill>
                  <a:latin typeface="Consolas" pitchFamily="49" charset="0"/>
                  <a:cs typeface="Consolas" pitchFamily="49" charset="0"/>
                </a:rPr>
                <a:t>2</a:t>
              </a:r>
              <a:endParaRPr lang="zh-CN" altLang="en-US" sz="2000">
                <a:solidFill>
                  <a:srgbClr val="0000FF"/>
                </a:solidFill>
                <a:latin typeface="Consolas" pitchFamily="49" charset="0"/>
                <a:cs typeface="Consolas" pitchFamily="49" charset="0"/>
              </a:endParaRPr>
            </a:p>
          </p:txBody>
        </p:sp>
        <p:cxnSp>
          <p:nvCxnSpPr>
            <p:cNvPr id="52" name="直接连接符 51"/>
            <p:cNvCxnSpPr>
              <a:stCxn id="45" idx="7"/>
              <a:endCxn id="46" idx="3"/>
            </p:cNvCxnSpPr>
            <p:nvPr/>
          </p:nvCxnSpPr>
          <p:spPr>
            <a:xfrm rot="5400000" flipH="1" flipV="1">
              <a:off x="5330766" y="2269402"/>
              <a:ext cx="411294" cy="461808"/>
            </a:xfrm>
            <a:prstGeom prst="line">
              <a:avLst/>
            </a:prstGeom>
          </p:spPr>
          <p:style>
            <a:lnRef idx="2">
              <a:schemeClr val="accent1"/>
            </a:lnRef>
            <a:fillRef idx="0">
              <a:schemeClr val="accent1"/>
            </a:fillRef>
            <a:effectRef idx="1">
              <a:schemeClr val="accent1"/>
            </a:effectRef>
            <a:fontRef idx="minor">
              <a:schemeClr val="tx1"/>
            </a:fontRef>
          </p:style>
        </p:cxnSp>
        <p:cxnSp>
          <p:nvCxnSpPr>
            <p:cNvPr id="53" name="直接连接符 52"/>
            <p:cNvCxnSpPr>
              <a:stCxn id="46" idx="6"/>
              <a:endCxn id="48" idx="2"/>
            </p:cNvCxnSpPr>
            <p:nvPr/>
          </p:nvCxnSpPr>
          <p:spPr>
            <a:xfrm>
              <a:off x="6072198" y="2143116"/>
              <a:ext cx="100013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54" name="直接连接符 53"/>
            <p:cNvCxnSpPr>
              <a:stCxn id="50" idx="7"/>
              <a:endCxn id="48" idx="3"/>
            </p:cNvCxnSpPr>
            <p:nvPr/>
          </p:nvCxnSpPr>
          <p:spPr>
            <a:xfrm rot="5400000" flipH="1" flipV="1">
              <a:off x="6723807" y="2305121"/>
              <a:ext cx="411294" cy="390370"/>
            </a:xfrm>
            <a:prstGeom prst="line">
              <a:avLst/>
            </a:prstGeom>
          </p:spPr>
          <p:style>
            <a:lnRef idx="2">
              <a:schemeClr val="accent1"/>
            </a:lnRef>
            <a:fillRef idx="0">
              <a:schemeClr val="accent1"/>
            </a:fillRef>
            <a:effectRef idx="1">
              <a:schemeClr val="accent1"/>
            </a:effectRef>
            <a:fontRef idx="minor">
              <a:schemeClr val="tx1"/>
            </a:fontRef>
          </p:style>
        </p:cxnSp>
        <p:cxnSp>
          <p:nvCxnSpPr>
            <p:cNvPr id="57" name="直接连接符 56"/>
            <p:cNvCxnSpPr>
              <a:stCxn id="47" idx="6"/>
              <a:endCxn id="49" idx="2"/>
            </p:cNvCxnSpPr>
            <p:nvPr/>
          </p:nvCxnSpPr>
          <p:spPr>
            <a:xfrm>
              <a:off x="6072198" y="3571876"/>
              <a:ext cx="100013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59" name="直接连接符 58"/>
            <p:cNvCxnSpPr>
              <a:stCxn id="48" idx="5"/>
              <a:endCxn id="51" idx="1"/>
            </p:cNvCxnSpPr>
            <p:nvPr/>
          </p:nvCxnSpPr>
          <p:spPr>
            <a:xfrm rot="16200000" flipH="1">
              <a:off x="7438187" y="2233683"/>
              <a:ext cx="411294" cy="533246"/>
            </a:xfrm>
            <a:prstGeom prst="line">
              <a:avLst/>
            </a:prstGeom>
          </p:spPr>
          <p:style>
            <a:lnRef idx="2">
              <a:schemeClr val="accent1"/>
            </a:lnRef>
            <a:fillRef idx="0">
              <a:schemeClr val="accent1"/>
            </a:fillRef>
            <a:effectRef idx="1">
              <a:schemeClr val="accent1"/>
            </a:effectRef>
            <a:fontRef idx="minor">
              <a:schemeClr val="tx1"/>
            </a:fontRef>
          </p:style>
        </p:cxnSp>
        <p:cxnSp>
          <p:nvCxnSpPr>
            <p:cNvPr id="60" name="直接连接符 59"/>
            <p:cNvCxnSpPr>
              <a:stCxn id="49" idx="7"/>
              <a:endCxn id="51" idx="3"/>
            </p:cNvCxnSpPr>
            <p:nvPr/>
          </p:nvCxnSpPr>
          <p:spPr>
            <a:xfrm rot="5400000" flipH="1" flipV="1">
              <a:off x="7438187" y="2948063"/>
              <a:ext cx="411294" cy="533246"/>
            </a:xfrm>
            <a:prstGeom prst="line">
              <a:avLst/>
            </a:prstGeom>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5286380" y="2202412"/>
              <a:ext cx="285752" cy="369332"/>
            </a:xfrm>
            <a:prstGeom prst="rect">
              <a:avLst/>
            </a:prstGeom>
            <a:noFill/>
          </p:spPr>
          <p:txBody>
            <a:bodyPr wrap="square" rtlCol="0">
              <a:spAutoFit/>
            </a:bodyPr>
            <a:lstStyle/>
            <a:p>
              <a:r>
                <a:rPr lang="en-US" altLang="zh-CN" sz="1800">
                  <a:solidFill>
                    <a:srgbClr val="0000FF"/>
                  </a:solidFill>
                  <a:latin typeface="Consolas" pitchFamily="49" charset="0"/>
                  <a:cs typeface="Consolas" pitchFamily="49" charset="0"/>
                </a:rPr>
                <a:t>1</a:t>
              </a:r>
              <a:endParaRPr lang="zh-CN" altLang="en-US" sz="1800">
                <a:solidFill>
                  <a:srgbClr val="0000FF"/>
                </a:solidFill>
                <a:latin typeface="Consolas" pitchFamily="49" charset="0"/>
                <a:cs typeface="Consolas" pitchFamily="49" charset="0"/>
              </a:endParaRPr>
            </a:p>
          </p:txBody>
        </p:sp>
        <p:sp>
          <p:nvSpPr>
            <p:cNvPr id="63" name="TextBox 62"/>
            <p:cNvSpPr txBox="1"/>
            <p:nvPr/>
          </p:nvSpPr>
          <p:spPr>
            <a:xfrm>
              <a:off x="6429388" y="1785926"/>
              <a:ext cx="285752" cy="369332"/>
            </a:xfrm>
            <a:prstGeom prst="rect">
              <a:avLst/>
            </a:prstGeom>
            <a:noFill/>
          </p:spPr>
          <p:txBody>
            <a:bodyPr wrap="square" rtlCol="0">
              <a:spAutoFit/>
            </a:bodyPr>
            <a:lstStyle/>
            <a:p>
              <a:r>
                <a:rPr lang="en-US" altLang="zh-CN" sz="1800">
                  <a:solidFill>
                    <a:srgbClr val="0000FF"/>
                  </a:solidFill>
                  <a:latin typeface="Consolas" pitchFamily="49" charset="0"/>
                  <a:cs typeface="Consolas" pitchFamily="49" charset="0"/>
                </a:rPr>
                <a:t>6</a:t>
              </a:r>
              <a:endParaRPr lang="zh-CN" altLang="en-US" sz="1800">
                <a:solidFill>
                  <a:srgbClr val="0000FF"/>
                </a:solidFill>
                <a:latin typeface="Consolas" pitchFamily="49" charset="0"/>
                <a:cs typeface="Consolas" pitchFamily="49" charset="0"/>
              </a:endParaRPr>
            </a:p>
          </p:txBody>
        </p:sp>
        <p:sp>
          <p:nvSpPr>
            <p:cNvPr id="65" name="TextBox 64"/>
            <p:cNvSpPr txBox="1"/>
            <p:nvPr/>
          </p:nvSpPr>
          <p:spPr>
            <a:xfrm>
              <a:off x="6429388" y="3571876"/>
              <a:ext cx="285752" cy="369332"/>
            </a:xfrm>
            <a:prstGeom prst="rect">
              <a:avLst/>
            </a:prstGeom>
            <a:noFill/>
          </p:spPr>
          <p:txBody>
            <a:bodyPr wrap="square" rtlCol="0">
              <a:spAutoFit/>
            </a:bodyPr>
            <a:lstStyle/>
            <a:p>
              <a:r>
                <a:rPr lang="en-US" altLang="zh-CN" sz="1800">
                  <a:solidFill>
                    <a:srgbClr val="0000FF"/>
                  </a:solidFill>
                  <a:latin typeface="Consolas" pitchFamily="49" charset="0"/>
                  <a:cs typeface="Consolas" pitchFamily="49" charset="0"/>
                </a:rPr>
                <a:t>6</a:t>
              </a:r>
              <a:endParaRPr lang="zh-CN" altLang="en-US" sz="1800">
                <a:solidFill>
                  <a:srgbClr val="0000FF"/>
                </a:solidFill>
                <a:latin typeface="Consolas" pitchFamily="49" charset="0"/>
                <a:cs typeface="Consolas" pitchFamily="49" charset="0"/>
              </a:endParaRPr>
            </a:p>
          </p:txBody>
        </p:sp>
        <p:sp>
          <p:nvSpPr>
            <p:cNvPr id="67" name="TextBox 66"/>
            <p:cNvSpPr txBox="1"/>
            <p:nvPr/>
          </p:nvSpPr>
          <p:spPr>
            <a:xfrm>
              <a:off x="6858016" y="2416726"/>
              <a:ext cx="285752" cy="369332"/>
            </a:xfrm>
            <a:prstGeom prst="rect">
              <a:avLst/>
            </a:prstGeom>
            <a:noFill/>
          </p:spPr>
          <p:txBody>
            <a:bodyPr wrap="square" rtlCol="0">
              <a:spAutoFit/>
            </a:bodyPr>
            <a:lstStyle/>
            <a:p>
              <a:r>
                <a:rPr lang="en-US" altLang="zh-CN" sz="1800">
                  <a:solidFill>
                    <a:srgbClr val="0000FF"/>
                  </a:solidFill>
                  <a:latin typeface="Consolas" pitchFamily="49" charset="0"/>
                  <a:cs typeface="Consolas" pitchFamily="49" charset="0"/>
                </a:rPr>
                <a:t>3</a:t>
              </a:r>
              <a:endParaRPr lang="zh-CN" altLang="en-US" sz="1800">
                <a:solidFill>
                  <a:srgbClr val="0000FF"/>
                </a:solidFill>
                <a:latin typeface="Consolas" pitchFamily="49" charset="0"/>
                <a:cs typeface="Consolas" pitchFamily="49" charset="0"/>
              </a:endParaRPr>
            </a:p>
          </p:txBody>
        </p:sp>
        <p:sp>
          <p:nvSpPr>
            <p:cNvPr id="68" name="TextBox 67"/>
            <p:cNvSpPr txBox="1"/>
            <p:nvPr/>
          </p:nvSpPr>
          <p:spPr>
            <a:xfrm>
              <a:off x="7572396" y="2202412"/>
              <a:ext cx="285752" cy="369332"/>
            </a:xfrm>
            <a:prstGeom prst="rect">
              <a:avLst/>
            </a:prstGeom>
            <a:noFill/>
          </p:spPr>
          <p:txBody>
            <a:bodyPr wrap="square" rtlCol="0">
              <a:spAutoFit/>
            </a:bodyPr>
            <a:lstStyle/>
            <a:p>
              <a:r>
                <a:rPr lang="en-US" altLang="zh-CN" sz="1800">
                  <a:solidFill>
                    <a:srgbClr val="0000FF"/>
                  </a:solidFill>
                  <a:latin typeface="Consolas" pitchFamily="49" charset="0"/>
                  <a:cs typeface="Consolas" pitchFamily="49" charset="0"/>
                </a:rPr>
                <a:t>4</a:t>
              </a:r>
              <a:endParaRPr lang="zh-CN" altLang="en-US" sz="1800">
                <a:solidFill>
                  <a:srgbClr val="0000FF"/>
                </a:solidFill>
                <a:latin typeface="Consolas" pitchFamily="49" charset="0"/>
                <a:cs typeface="Consolas" pitchFamily="49" charset="0"/>
              </a:endParaRPr>
            </a:p>
          </p:txBody>
        </p:sp>
        <p:sp>
          <p:nvSpPr>
            <p:cNvPr id="69" name="TextBox 68"/>
            <p:cNvSpPr txBox="1"/>
            <p:nvPr/>
          </p:nvSpPr>
          <p:spPr>
            <a:xfrm>
              <a:off x="7643834" y="3202544"/>
              <a:ext cx="285752" cy="369332"/>
            </a:xfrm>
            <a:prstGeom prst="rect">
              <a:avLst/>
            </a:prstGeom>
            <a:noFill/>
          </p:spPr>
          <p:txBody>
            <a:bodyPr wrap="square" rtlCol="0">
              <a:spAutoFit/>
            </a:bodyPr>
            <a:lstStyle/>
            <a:p>
              <a:r>
                <a:rPr lang="en-US" altLang="zh-CN" sz="1800">
                  <a:solidFill>
                    <a:srgbClr val="0000FF"/>
                  </a:solidFill>
                  <a:latin typeface="Consolas" pitchFamily="49" charset="0"/>
                  <a:cs typeface="Consolas" pitchFamily="49" charset="0"/>
                </a:rPr>
                <a:t>2</a:t>
              </a:r>
              <a:endParaRPr lang="zh-CN" altLang="en-US" sz="1800">
                <a:solidFill>
                  <a:srgbClr val="0000FF"/>
                </a:solidFill>
                <a:latin typeface="Consolas" pitchFamily="49" charset="0"/>
                <a:cs typeface="Consolas" pitchFamily="49" charset="0"/>
              </a:endParaRPr>
            </a:p>
          </p:txBody>
        </p:sp>
      </p:grpSp>
      <p:sp>
        <p:nvSpPr>
          <p:cNvPr id="71" name="右箭头 70"/>
          <p:cNvSpPr/>
          <p:nvPr/>
        </p:nvSpPr>
        <p:spPr>
          <a:xfrm>
            <a:off x="4286248" y="2714620"/>
            <a:ext cx="428628" cy="357190"/>
          </a:xfrm>
          <a:prstGeom prst="right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latin typeface="Consolas" pitchFamily="49" charset="0"/>
              <a:cs typeface="Consolas" pitchFamily="49" charset="0"/>
            </a:endParaRPr>
          </a:p>
        </p:txBody>
      </p:sp>
      <p:grpSp>
        <p:nvGrpSpPr>
          <p:cNvPr id="55" name="组合 54"/>
          <p:cNvGrpSpPr/>
          <p:nvPr/>
        </p:nvGrpSpPr>
        <p:grpSpPr>
          <a:xfrm>
            <a:off x="928662" y="642918"/>
            <a:ext cx="853211" cy="761171"/>
            <a:chOff x="6862060" y="4310903"/>
            <a:chExt cx="1128915" cy="1130667"/>
          </a:xfrm>
        </p:grpSpPr>
        <p:grpSp>
          <p:nvGrpSpPr>
            <p:cNvPr id="56" name="Group 103"/>
            <p:cNvGrpSpPr>
              <a:grpSpLocks/>
            </p:cNvGrpSpPr>
            <p:nvPr/>
          </p:nvGrpSpPr>
          <p:grpSpPr bwMode="auto">
            <a:xfrm>
              <a:off x="6862060" y="4310903"/>
              <a:ext cx="1128915" cy="1130667"/>
              <a:chOff x="2880" y="1515"/>
              <a:chExt cx="644" cy="645"/>
            </a:xfrm>
          </p:grpSpPr>
          <p:sp>
            <p:nvSpPr>
              <p:cNvPr id="62" name="Oval 104"/>
              <p:cNvSpPr>
                <a:spLocks noChangeArrowheads="1"/>
              </p:cNvSpPr>
              <p:nvPr/>
            </p:nvSpPr>
            <p:spPr bwMode="auto">
              <a:xfrm>
                <a:off x="2880" y="1516"/>
                <a:ext cx="644" cy="644"/>
              </a:xfrm>
              <a:prstGeom prst="ellipse">
                <a:avLst/>
              </a:prstGeom>
              <a:gradFill rotWithShape="1">
                <a:gsLst>
                  <a:gs pos="0">
                    <a:srgbClr val="10942F"/>
                  </a:gs>
                  <a:gs pos="100000">
                    <a:srgbClr val="16D83B"/>
                  </a:gs>
                </a:gsLst>
                <a:lin ang="5400000" scaled="1"/>
              </a:gradFill>
              <a:ln w="9525" algn="ctr">
                <a:noFill/>
                <a:round/>
                <a:headEnd/>
                <a:tailEnd/>
              </a:ln>
              <a:effectLst>
                <a:outerShdw blurRad="76200" dir="18900000" sy="23000" kx="-1200000" algn="bl" rotWithShape="0">
                  <a:prstClr val="black">
                    <a:alpha val="20000"/>
                  </a:prstClr>
                </a:outerShdw>
              </a:effectLst>
            </p:spPr>
            <p:txBody>
              <a:bodyPr wrap="none" anchor="ctr"/>
              <a:lstStyle/>
              <a:p>
                <a:endParaRPr lang="zh-CN" altLang="en-US"/>
              </a:p>
            </p:txBody>
          </p:sp>
          <p:sp>
            <p:nvSpPr>
              <p:cNvPr id="64" name="Freeform 105"/>
              <p:cNvSpPr>
                <a:spLocks/>
              </p:cNvSpPr>
              <p:nvPr/>
            </p:nvSpPr>
            <p:spPr bwMode="auto">
              <a:xfrm>
                <a:off x="2887" y="1515"/>
                <a:ext cx="630" cy="441"/>
              </a:xfrm>
              <a:custGeom>
                <a:avLst/>
                <a:gdLst/>
                <a:ahLst/>
                <a:cxnLst>
                  <a:cxn ang="0">
                    <a:pos x="1400" y="275"/>
                  </a:cxn>
                  <a:cxn ang="0">
                    <a:pos x="1596" y="795"/>
                  </a:cxn>
                  <a:cxn ang="0">
                    <a:pos x="0" y="795"/>
                  </a:cxn>
                  <a:cxn ang="0">
                    <a:pos x="217" y="252"/>
                  </a:cxn>
                  <a:cxn ang="0">
                    <a:pos x="796" y="0"/>
                  </a:cxn>
                  <a:cxn ang="0">
                    <a:pos x="1400" y="275"/>
                  </a:cxn>
                </a:cxnLst>
                <a:rect l="0" t="0" r="r" b="b"/>
                <a:pathLst>
                  <a:path w="1596" h="1118">
                    <a:moveTo>
                      <a:pt x="1400" y="275"/>
                    </a:moveTo>
                    <a:cubicBezTo>
                      <a:pt x="1522" y="417"/>
                      <a:pt x="1596" y="597"/>
                      <a:pt x="1596" y="795"/>
                    </a:cubicBezTo>
                    <a:cubicBezTo>
                      <a:pt x="1037" y="1118"/>
                      <a:pt x="668" y="611"/>
                      <a:pt x="0" y="795"/>
                    </a:cubicBezTo>
                    <a:cubicBezTo>
                      <a:pt x="0" y="585"/>
                      <a:pt x="83" y="392"/>
                      <a:pt x="217" y="252"/>
                    </a:cubicBezTo>
                    <a:cubicBezTo>
                      <a:pt x="364" y="95"/>
                      <a:pt x="570" y="0"/>
                      <a:pt x="796" y="0"/>
                    </a:cubicBezTo>
                    <a:cubicBezTo>
                      <a:pt x="1039" y="0"/>
                      <a:pt x="1253" y="108"/>
                      <a:pt x="1400" y="275"/>
                    </a:cubicBezTo>
                    <a:close/>
                  </a:path>
                </a:pathLst>
              </a:custGeom>
              <a:gradFill rotWithShape="1">
                <a:gsLst>
                  <a:gs pos="0">
                    <a:schemeClr val="bg1">
                      <a:alpha val="53000"/>
                    </a:schemeClr>
                  </a:gs>
                  <a:gs pos="100000">
                    <a:schemeClr val="bg1">
                      <a:gamma/>
                      <a:shade val="46275"/>
                      <a:invGamma/>
                      <a:alpha val="0"/>
                    </a:schemeClr>
                  </a:gs>
                </a:gsLst>
                <a:lin ang="5400000" scaled="1"/>
              </a:gradFill>
              <a:ln w="9525">
                <a:noFill/>
                <a:round/>
                <a:headEnd/>
                <a:tailEnd/>
              </a:ln>
            </p:spPr>
            <p:txBody>
              <a:bodyPr/>
              <a:lstStyle/>
              <a:p>
                <a:endParaRPr lang="zh-CN" altLang="en-US"/>
              </a:p>
            </p:txBody>
          </p:sp>
        </p:grpSp>
        <p:sp>
          <p:nvSpPr>
            <p:cNvPr id="58" name="Text Box 71"/>
            <p:cNvSpPr txBox="1">
              <a:spLocks noChangeArrowheads="1"/>
            </p:cNvSpPr>
            <p:nvPr/>
          </p:nvSpPr>
          <p:spPr bwMode="auto">
            <a:xfrm>
              <a:off x="6923115" y="4640482"/>
              <a:ext cx="1039812" cy="466324"/>
            </a:xfrm>
            <a:prstGeom prst="rect">
              <a:avLst/>
            </a:prstGeom>
            <a:noFill/>
            <a:ln w="9525">
              <a:noFill/>
              <a:miter lim="800000"/>
              <a:headEnd/>
              <a:tailEnd/>
            </a:ln>
            <a:effectLst/>
          </p:spPr>
          <p:txBody>
            <a:bodyPr anchor="ctr">
              <a:spAutoFit/>
            </a:bodyPr>
            <a:lstStyle/>
            <a:p>
              <a:pPr algn="ctr">
                <a:spcBef>
                  <a:spcPct val="50000"/>
                </a:spcBef>
              </a:pPr>
              <a:r>
                <a:rPr lang="zh-CN" altLang="en-US" sz="1800">
                  <a:solidFill>
                    <a:srgbClr val="FF0000"/>
                  </a:solidFill>
                  <a:latin typeface="微软雅黑" pitchFamily="34" charset="-122"/>
                  <a:ea typeface="微软雅黑" pitchFamily="34" charset="-122"/>
                </a:rPr>
                <a:t>示例</a:t>
              </a:r>
              <a:endParaRPr lang="en-GB" altLang="zh-CN" sz="1800">
                <a:solidFill>
                  <a:srgbClr val="FF0000"/>
                </a:solidFill>
                <a:latin typeface="微软雅黑" pitchFamily="34" charset="-122"/>
                <a:ea typeface="微软雅黑" pitchFamily="34" charset="-122"/>
              </a:endParaRPr>
            </a:p>
          </p:txBody>
        </p:sp>
      </p:grpSp>
      <p:sp>
        <p:nvSpPr>
          <p:cNvPr id="70" name="灯片编号占位符 69"/>
          <p:cNvSpPr>
            <a:spLocks noGrp="1"/>
          </p:cNvSpPr>
          <p:nvPr>
            <p:ph type="sldNum" sz="quarter" idx="12"/>
          </p:nvPr>
        </p:nvSpPr>
        <p:spPr/>
        <p:txBody>
          <a:bodyPr/>
          <a:lstStyle/>
          <a:p>
            <a:fld id="{7AF016A1-9F15-429F-9EFD-84004B73C732}" type="slidenum">
              <a:rPr lang="en-US" altLang="zh-CN" smtClean="0"/>
              <a:pPr/>
              <a:t>5</a:t>
            </a:fld>
            <a:r>
              <a:rPr lang="en-US" altLang="zh-CN"/>
              <a:t>/158</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Text Box 2"/>
          <p:cNvSpPr txBox="1">
            <a:spLocks noChangeArrowheads="1"/>
          </p:cNvSpPr>
          <p:nvPr/>
        </p:nvSpPr>
        <p:spPr bwMode="auto">
          <a:xfrm>
            <a:off x="468313" y="404813"/>
            <a:ext cx="3174993" cy="461665"/>
          </a:xfrm>
          <a:prstGeom prst="rect">
            <a:avLst/>
          </a:prstGeom>
          <a:solidFill>
            <a:srgbClr val="9900FF"/>
          </a:solidFill>
          <a:ln w="9525">
            <a:noFill/>
            <a:miter lim="800000"/>
            <a:headEnd/>
            <a:tailEnd/>
          </a:ln>
        </p:spPr>
        <p:txBody>
          <a:bodyPr wrap="square">
            <a:spAutoFit/>
          </a:bodyPr>
          <a:lstStyle/>
          <a:p>
            <a:pPr>
              <a:lnSpc>
                <a:spcPct val="100000"/>
              </a:lnSpc>
              <a:spcBef>
                <a:spcPct val="50000"/>
              </a:spcBef>
            </a:pPr>
            <a:r>
              <a:rPr lang="en-US" altLang="zh-CN">
                <a:solidFill>
                  <a:schemeClr val="bg1"/>
                </a:solidFill>
                <a:latin typeface="Consolas" pitchFamily="49" charset="0"/>
                <a:ea typeface="微软雅黑" pitchFamily="34" charset="-122"/>
                <a:cs typeface="Consolas" pitchFamily="49" charset="0"/>
              </a:rPr>
              <a:t>2. </a:t>
            </a:r>
            <a:r>
              <a:rPr lang="zh-CN" altLang="en-US">
                <a:solidFill>
                  <a:schemeClr val="bg1"/>
                </a:solidFill>
                <a:latin typeface="Consolas" pitchFamily="49" charset="0"/>
                <a:ea typeface="微软雅黑" pitchFamily="34" charset="-122"/>
                <a:cs typeface="Consolas" pitchFamily="49" charset="0"/>
              </a:rPr>
              <a:t>普里姆算法设计</a:t>
            </a:r>
          </a:p>
        </p:txBody>
      </p:sp>
      <p:sp>
        <p:nvSpPr>
          <p:cNvPr id="10244" name="Text Box 3"/>
          <p:cNvSpPr txBox="1">
            <a:spLocks noChangeArrowheads="1"/>
          </p:cNvSpPr>
          <p:nvPr/>
        </p:nvSpPr>
        <p:spPr bwMode="auto">
          <a:xfrm>
            <a:off x="428596" y="1319743"/>
            <a:ext cx="8501122" cy="1323439"/>
          </a:xfrm>
          <a:prstGeom prst="rect">
            <a:avLst/>
          </a:prstGeom>
          <a:ln>
            <a:solidFill>
              <a:schemeClr val="accent6">
                <a:lumMod val="20000"/>
                <a:lumOff val="80000"/>
              </a:schemeClr>
            </a:solidFill>
            <a:headEnd/>
            <a:tailEnd/>
          </a:ln>
        </p:spPr>
        <p:style>
          <a:lnRef idx="2">
            <a:schemeClr val="accent6"/>
          </a:lnRef>
          <a:fillRef idx="1">
            <a:schemeClr val="lt1"/>
          </a:fillRef>
          <a:effectRef idx="0">
            <a:schemeClr val="accent6"/>
          </a:effectRef>
          <a:fontRef idx="minor">
            <a:schemeClr val="dk1"/>
          </a:fontRef>
        </p:style>
        <p:txBody>
          <a:bodyPr wrap="square">
            <a:spAutoFit/>
          </a:bodyPr>
          <a:lstStyle/>
          <a:p>
            <a:pPr marL="457200" indent="-457200" algn="l">
              <a:lnSpc>
                <a:spcPts val="3200"/>
              </a:lnSpc>
              <a:spcBef>
                <a:spcPts val="0"/>
              </a:spcBef>
              <a:buBlip>
                <a:blip r:embed="rId2"/>
              </a:buBlip>
            </a:pPr>
            <a:r>
              <a:rPr lang="zh-CN" altLang="en-US">
                <a:solidFill>
                  <a:srgbClr val="0000FF"/>
                </a:solidFill>
                <a:latin typeface="Consolas" pitchFamily="49" charset="0"/>
                <a:ea typeface="仿宋" pitchFamily="49" charset="-122"/>
                <a:cs typeface="Consolas" pitchFamily="49" charset="0"/>
              </a:rPr>
              <a:t>建立两个数组</a:t>
            </a:r>
            <a:r>
              <a:rPr lang="en-US" altLang="zh-CN">
                <a:solidFill>
                  <a:srgbClr val="FF0000"/>
                </a:solidFill>
                <a:latin typeface="Consolas" pitchFamily="49" charset="0"/>
                <a:ea typeface="仿宋" pitchFamily="49" charset="-122"/>
                <a:cs typeface="Consolas" pitchFamily="49" charset="0"/>
              </a:rPr>
              <a:t>closest</a:t>
            </a:r>
            <a:r>
              <a:rPr lang="zh-CN" altLang="en-US">
                <a:solidFill>
                  <a:srgbClr val="0000FF"/>
                </a:solidFill>
                <a:latin typeface="Consolas" pitchFamily="49" charset="0"/>
                <a:ea typeface="仿宋" pitchFamily="49" charset="-122"/>
                <a:cs typeface="Consolas" pitchFamily="49" charset="0"/>
              </a:rPr>
              <a:t>和</a:t>
            </a:r>
            <a:r>
              <a:rPr lang="en-US" altLang="zh-CN">
                <a:solidFill>
                  <a:srgbClr val="FF0000"/>
                </a:solidFill>
                <a:latin typeface="Consolas" pitchFamily="49" charset="0"/>
                <a:ea typeface="仿宋" pitchFamily="49" charset="-122"/>
                <a:cs typeface="Consolas" pitchFamily="49" charset="0"/>
              </a:rPr>
              <a:t>lowcost</a:t>
            </a:r>
            <a:r>
              <a:rPr lang="zh-CN" altLang="en-US">
                <a:solidFill>
                  <a:srgbClr val="0000FF"/>
                </a:solidFill>
                <a:latin typeface="Consolas" pitchFamily="49" charset="0"/>
                <a:ea typeface="仿宋" pitchFamily="49" charset="-122"/>
                <a:cs typeface="Consolas" pitchFamily="49" charset="0"/>
              </a:rPr>
              <a:t>，记录从</a:t>
            </a:r>
            <a:r>
              <a:rPr lang="en-US" altLang="zh-CN">
                <a:solidFill>
                  <a:srgbClr val="0000FF"/>
                </a:solidFill>
                <a:latin typeface="Consolas" pitchFamily="49" charset="0"/>
                <a:ea typeface="仿宋" pitchFamily="49" charset="-122"/>
                <a:cs typeface="Consolas" pitchFamily="49" charset="0"/>
              </a:rPr>
              <a:t>U</a:t>
            </a:r>
            <a:r>
              <a:rPr lang="zh-CN" altLang="en-US">
                <a:solidFill>
                  <a:srgbClr val="0000FF"/>
                </a:solidFill>
                <a:latin typeface="Consolas" pitchFamily="49" charset="0"/>
                <a:ea typeface="仿宋" pitchFamily="49" charset="-122"/>
                <a:cs typeface="Consolas" pitchFamily="49" charset="0"/>
              </a:rPr>
              <a:t>到</a:t>
            </a:r>
            <a:r>
              <a:rPr lang="en-US" altLang="zh-CN">
                <a:solidFill>
                  <a:srgbClr val="0000FF"/>
                </a:solidFill>
                <a:latin typeface="Consolas" pitchFamily="49" charset="0"/>
                <a:ea typeface="仿宋" pitchFamily="49" charset="-122"/>
                <a:cs typeface="Consolas" pitchFamily="49" charset="0"/>
              </a:rPr>
              <a:t>V-U</a:t>
            </a:r>
            <a:r>
              <a:rPr lang="zh-CN" altLang="en-US">
                <a:solidFill>
                  <a:srgbClr val="0000FF"/>
                </a:solidFill>
                <a:latin typeface="Consolas" pitchFamily="49" charset="0"/>
                <a:ea typeface="仿宋" pitchFamily="49" charset="-122"/>
                <a:cs typeface="Consolas" pitchFamily="49" charset="0"/>
              </a:rPr>
              <a:t>具有最小权值的边，对于某个</a:t>
            </a:r>
            <a:r>
              <a:rPr lang="en-US" altLang="zh-CN" i="1">
                <a:solidFill>
                  <a:srgbClr val="0000FF"/>
                </a:solidFill>
                <a:latin typeface="Consolas" pitchFamily="49" charset="0"/>
                <a:ea typeface="仿宋" pitchFamily="49" charset="-122"/>
                <a:cs typeface="Consolas" pitchFamily="49" charset="0"/>
              </a:rPr>
              <a:t>j</a:t>
            </a:r>
            <a:r>
              <a:rPr lang="en-US" altLang="zh-CN">
                <a:solidFill>
                  <a:srgbClr val="0000FF"/>
                </a:solidFill>
                <a:latin typeface="Consolas" pitchFamily="49" charset="0"/>
                <a:ea typeface="仿宋" pitchFamily="49" charset="-122"/>
                <a:cs typeface="Consolas" pitchFamily="49" charset="0"/>
              </a:rPr>
              <a:t>∈V-U</a:t>
            </a:r>
            <a:r>
              <a:rPr lang="zh-CN" altLang="en-US">
                <a:solidFill>
                  <a:srgbClr val="0000FF"/>
                </a:solidFill>
                <a:latin typeface="Consolas" pitchFamily="49" charset="0"/>
                <a:ea typeface="仿宋" pitchFamily="49" charset="-122"/>
                <a:cs typeface="Consolas" pitchFamily="49" charset="0"/>
              </a:rPr>
              <a:t>，</a:t>
            </a:r>
            <a:r>
              <a:rPr lang="en-US" altLang="zh-CN">
                <a:solidFill>
                  <a:srgbClr val="0000FF"/>
                </a:solidFill>
                <a:latin typeface="Consolas" pitchFamily="49" charset="0"/>
                <a:ea typeface="仿宋" pitchFamily="49" charset="-122"/>
                <a:cs typeface="Consolas" pitchFamily="49" charset="0"/>
              </a:rPr>
              <a:t>closest[</a:t>
            </a:r>
            <a:r>
              <a:rPr lang="en-US" altLang="zh-CN" i="1">
                <a:solidFill>
                  <a:srgbClr val="0000FF"/>
                </a:solidFill>
                <a:latin typeface="Consolas" pitchFamily="49" charset="0"/>
                <a:ea typeface="仿宋" pitchFamily="49" charset="-122"/>
                <a:cs typeface="Consolas" pitchFamily="49" charset="0"/>
              </a:rPr>
              <a:t>j</a:t>
            </a:r>
            <a:r>
              <a:rPr lang="en-US" altLang="zh-CN">
                <a:solidFill>
                  <a:srgbClr val="0000FF"/>
                </a:solidFill>
                <a:latin typeface="Consolas" pitchFamily="49" charset="0"/>
                <a:ea typeface="仿宋" pitchFamily="49" charset="-122"/>
                <a:cs typeface="Consolas" pitchFamily="49" charset="0"/>
              </a:rPr>
              <a:t>]</a:t>
            </a:r>
            <a:r>
              <a:rPr lang="zh-CN" altLang="en-US">
                <a:solidFill>
                  <a:srgbClr val="0000FF"/>
                </a:solidFill>
                <a:latin typeface="Consolas" pitchFamily="49" charset="0"/>
                <a:ea typeface="仿宋" pitchFamily="49" charset="-122"/>
                <a:cs typeface="Consolas" pitchFamily="49" charset="0"/>
              </a:rPr>
              <a:t>存储该边依附的在</a:t>
            </a:r>
            <a:r>
              <a:rPr lang="en-US" altLang="zh-CN">
                <a:solidFill>
                  <a:srgbClr val="0000FF"/>
                </a:solidFill>
                <a:latin typeface="Consolas" pitchFamily="49" charset="0"/>
                <a:ea typeface="仿宋" pitchFamily="49" charset="-122"/>
                <a:cs typeface="Consolas" pitchFamily="49" charset="0"/>
              </a:rPr>
              <a:t>U</a:t>
            </a:r>
            <a:r>
              <a:rPr lang="zh-CN" altLang="en-US">
                <a:solidFill>
                  <a:srgbClr val="0000FF"/>
                </a:solidFill>
                <a:latin typeface="Consolas" pitchFamily="49" charset="0"/>
                <a:ea typeface="仿宋" pitchFamily="49" charset="-122"/>
                <a:cs typeface="Consolas" pitchFamily="49" charset="0"/>
              </a:rPr>
              <a:t>中的顶点编号，</a:t>
            </a:r>
            <a:r>
              <a:rPr lang="en-US" altLang="zh-CN">
                <a:solidFill>
                  <a:srgbClr val="0000FF"/>
                </a:solidFill>
                <a:latin typeface="Consolas" pitchFamily="49" charset="0"/>
                <a:ea typeface="仿宋" pitchFamily="49" charset="-122"/>
                <a:cs typeface="Consolas" pitchFamily="49" charset="0"/>
              </a:rPr>
              <a:t>lowcost[</a:t>
            </a:r>
            <a:r>
              <a:rPr lang="en-US" altLang="zh-CN" i="1">
                <a:solidFill>
                  <a:srgbClr val="0000FF"/>
                </a:solidFill>
                <a:latin typeface="Consolas" pitchFamily="49" charset="0"/>
                <a:ea typeface="仿宋" pitchFamily="49" charset="-122"/>
                <a:cs typeface="Consolas" pitchFamily="49" charset="0"/>
              </a:rPr>
              <a:t>j</a:t>
            </a:r>
            <a:r>
              <a:rPr lang="en-US" altLang="zh-CN">
                <a:solidFill>
                  <a:srgbClr val="0000FF"/>
                </a:solidFill>
                <a:latin typeface="Consolas" pitchFamily="49" charset="0"/>
                <a:ea typeface="仿宋" pitchFamily="49" charset="-122"/>
                <a:cs typeface="Consolas" pitchFamily="49" charset="0"/>
              </a:rPr>
              <a:t>]</a:t>
            </a:r>
            <a:r>
              <a:rPr lang="zh-CN" altLang="en-US">
                <a:solidFill>
                  <a:srgbClr val="0000FF"/>
                </a:solidFill>
                <a:latin typeface="Consolas" pitchFamily="49" charset="0"/>
                <a:ea typeface="仿宋" pitchFamily="49" charset="-122"/>
                <a:cs typeface="Consolas" pitchFamily="49" charset="0"/>
              </a:rPr>
              <a:t>存储该边的权值。 </a:t>
            </a:r>
          </a:p>
        </p:txBody>
      </p:sp>
      <p:sp>
        <p:nvSpPr>
          <p:cNvPr id="10245" name="Rectangle 5"/>
          <p:cNvSpPr>
            <a:spLocks noChangeArrowheads="1"/>
          </p:cNvSpPr>
          <p:nvPr/>
        </p:nvSpPr>
        <p:spPr bwMode="auto">
          <a:xfrm>
            <a:off x="0" y="2828925"/>
            <a:ext cx="184731" cy="461665"/>
          </a:xfrm>
          <a:prstGeom prst="rect">
            <a:avLst/>
          </a:prstGeom>
          <a:noFill/>
          <a:ln w="9525">
            <a:noFill/>
            <a:miter lim="800000"/>
            <a:headEnd/>
            <a:tailEnd/>
          </a:ln>
        </p:spPr>
        <p:txBody>
          <a:bodyPr wrap="none" anchor="ctr">
            <a:spAutoFit/>
          </a:bodyPr>
          <a:lstStyle/>
          <a:p>
            <a:endParaRPr lang="zh-CN" altLang="en-US">
              <a:latin typeface="Consolas" pitchFamily="49" charset="0"/>
              <a:cs typeface="Consolas" pitchFamily="49" charset="0"/>
            </a:endParaRPr>
          </a:p>
        </p:txBody>
      </p:sp>
      <p:grpSp>
        <p:nvGrpSpPr>
          <p:cNvPr id="20" name="组合 19"/>
          <p:cNvGrpSpPr/>
          <p:nvPr/>
        </p:nvGrpSpPr>
        <p:grpSpPr>
          <a:xfrm>
            <a:off x="1357290" y="2988230"/>
            <a:ext cx="6215106" cy="2869662"/>
            <a:chOff x="1357290" y="2988230"/>
            <a:chExt cx="6215106" cy="2869662"/>
          </a:xfrm>
        </p:grpSpPr>
        <p:sp>
          <p:nvSpPr>
            <p:cNvPr id="6" name="TextBox 5"/>
            <p:cNvSpPr txBox="1"/>
            <p:nvPr/>
          </p:nvSpPr>
          <p:spPr>
            <a:xfrm>
              <a:off x="2786050" y="5519338"/>
              <a:ext cx="1571636" cy="338554"/>
            </a:xfrm>
            <a:prstGeom prst="rect">
              <a:avLst/>
            </a:prstGeom>
            <a:noFill/>
          </p:spPr>
          <p:txBody>
            <a:bodyPr wrap="square" rtlCol="0">
              <a:spAutoFit/>
            </a:bodyPr>
            <a:lstStyle/>
            <a:p>
              <a:r>
                <a:rPr lang="en-US" altLang="zh-CN" sz="1600">
                  <a:solidFill>
                    <a:srgbClr val="0000FF"/>
                  </a:solidFill>
                  <a:latin typeface="Consolas" pitchFamily="49" charset="0"/>
                  <a:cs typeface="Consolas" pitchFamily="49" charset="0"/>
                </a:rPr>
                <a:t>closest[</a:t>
              </a:r>
              <a:r>
                <a:rPr lang="en-US" altLang="zh-CN" sz="1600" i="1">
                  <a:solidFill>
                    <a:srgbClr val="0000FF"/>
                  </a:solidFill>
                  <a:latin typeface="Consolas" pitchFamily="49" charset="0"/>
                  <a:cs typeface="Consolas" pitchFamily="49" charset="0"/>
                </a:rPr>
                <a:t>j</a:t>
              </a:r>
              <a:r>
                <a:rPr lang="en-US" altLang="zh-CN" sz="1600">
                  <a:solidFill>
                    <a:srgbClr val="0000FF"/>
                  </a:solidFill>
                  <a:latin typeface="Consolas" pitchFamily="49" charset="0"/>
                  <a:cs typeface="Consolas" pitchFamily="49" charset="0"/>
                </a:rPr>
                <a:t>]</a:t>
              </a:r>
              <a:endParaRPr lang="zh-CN" altLang="en-US" sz="1600">
                <a:solidFill>
                  <a:srgbClr val="0000FF"/>
                </a:solidFill>
                <a:latin typeface="Consolas" pitchFamily="49" charset="0"/>
                <a:cs typeface="Consolas" pitchFamily="49" charset="0"/>
              </a:endParaRPr>
            </a:p>
          </p:txBody>
        </p:sp>
        <p:sp>
          <p:nvSpPr>
            <p:cNvPr id="7" name="椭圆 6"/>
            <p:cNvSpPr/>
            <p:nvPr/>
          </p:nvSpPr>
          <p:spPr>
            <a:xfrm>
              <a:off x="2925554" y="3988362"/>
              <a:ext cx="432000" cy="43200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sz="2000" i="1">
                  <a:solidFill>
                    <a:srgbClr val="0000FF"/>
                  </a:solidFill>
                  <a:latin typeface="Consolas" pitchFamily="49" charset="0"/>
                  <a:cs typeface="Consolas" pitchFamily="49" charset="0"/>
                </a:rPr>
                <a:t>s</a:t>
              </a:r>
              <a:endParaRPr lang="zh-CN" altLang="en-US" sz="2000" i="1">
                <a:solidFill>
                  <a:srgbClr val="0000FF"/>
                </a:solidFill>
                <a:latin typeface="Consolas" pitchFamily="49" charset="0"/>
                <a:cs typeface="Consolas" pitchFamily="49" charset="0"/>
              </a:endParaRPr>
            </a:p>
          </p:txBody>
        </p:sp>
        <p:sp>
          <p:nvSpPr>
            <p:cNvPr id="8" name="椭圆 7"/>
            <p:cNvSpPr/>
            <p:nvPr/>
          </p:nvSpPr>
          <p:spPr>
            <a:xfrm>
              <a:off x="2928926" y="4770808"/>
              <a:ext cx="432000" cy="4320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i="1">
                  <a:solidFill>
                    <a:schemeClr val="bg1"/>
                  </a:solidFill>
                  <a:latin typeface="Consolas" pitchFamily="49" charset="0"/>
                  <a:cs typeface="Consolas" pitchFamily="49" charset="0"/>
                </a:rPr>
                <a:t>k</a:t>
              </a:r>
              <a:endParaRPr lang="zh-CN" altLang="en-US" sz="2000" i="1">
                <a:solidFill>
                  <a:schemeClr val="bg1"/>
                </a:solidFill>
                <a:latin typeface="Consolas" pitchFamily="49" charset="0"/>
                <a:cs typeface="Consolas" pitchFamily="49" charset="0"/>
              </a:endParaRPr>
            </a:p>
          </p:txBody>
        </p:sp>
        <p:sp>
          <p:nvSpPr>
            <p:cNvPr id="9" name="椭圆 8"/>
            <p:cNvSpPr/>
            <p:nvPr/>
          </p:nvSpPr>
          <p:spPr>
            <a:xfrm>
              <a:off x="5357818" y="4270742"/>
              <a:ext cx="432000" cy="43200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i="1">
                  <a:solidFill>
                    <a:srgbClr val="0000FF"/>
                  </a:solidFill>
                  <a:latin typeface="Consolas" pitchFamily="49" charset="0"/>
                  <a:cs typeface="Consolas" pitchFamily="49" charset="0"/>
                </a:rPr>
                <a:t>j</a:t>
              </a:r>
              <a:endParaRPr lang="zh-CN" altLang="en-US" sz="2000" i="1">
                <a:solidFill>
                  <a:srgbClr val="0000FF"/>
                </a:solidFill>
                <a:latin typeface="Consolas" pitchFamily="49" charset="0"/>
                <a:cs typeface="Consolas" pitchFamily="49" charset="0"/>
              </a:endParaRPr>
            </a:p>
          </p:txBody>
        </p:sp>
        <p:cxnSp>
          <p:nvCxnSpPr>
            <p:cNvPr id="11" name="直接连接符 10"/>
            <p:cNvCxnSpPr>
              <a:stCxn id="8" idx="6"/>
              <a:endCxn id="9" idx="2"/>
            </p:cNvCxnSpPr>
            <p:nvPr/>
          </p:nvCxnSpPr>
          <p:spPr>
            <a:xfrm flipV="1">
              <a:off x="3360926" y="4486742"/>
              <a:ext cx="1996892" cy="500066"/>
            </a:xfrm>
            <a:prstGeom prst="line">
              <a:avLst/>
            </a:prstGeom>
          </p:spPr>
          <p:style>
            <a:lnRef idx="3">
              <a:schemeClr val="accent2"/>
            </a:lnRef>
            <a:fillRef idx="0">
              <a:schemeClr val="accent2"/>
            </a:fillRef>
            <a:effectRef idx="2">
              <a:schemeClr val="accent2"/>
            </a:effectRef>
            <a:fontRef idx="minor">
              <a:schemeClr val="tx1"/>
            </a:fontRef>
          </p:style>
        </p:cxnSp>
        <p:cxnSp>
          <p:nvCxnSpPr>
            <p:cNvPr id="15" name="直接连接符 14"/>
            <p:cNvCxnSpPr>
              <a:stCxn id="7" idx="4"/>
              <a:endCxn id="8" idx="0"/>
            </p:cNvCxnSpPr>
            <p:nvPr/>
          </p:nvCxnSpPr>
          <p:spPr>
            <a:xfrm rot="16200000" flipH="1">
              <a:off x="2968017" y="4593899"/>
              <a:ext cx="350446" cy="3372"/>
            </a:xfrm>
            <a:prstGeom prst="line">
              <a:avLst/>
            </a:prstGeom>
          </p:spPr>
          <p:style>
            <a:lnRef idx="1">
              <a:schemeClr val="dk1"/>
            </a:lnRef>
            <a:fillRef idx="0">
              <a:schemeClr val="dk1"/>
            </a:fillRef>
            <a:effectRef idx="0">
              <a:schemeClr val="dk1"/>
            </a:effectRef>
            <a:fontRef idx="minor">
              <a:schemeClr val="tx1"/>
            </a:fontRef>
          </p:style>
        </p:cxnSp>
        <p:sp>
          <p:nvSpPr>
            <p:cNvPr id="17" name="TextBox 16"/>
            <p:cNvSpPr txBox="1"/>
            <p:nvPr/>
          </p:nvSpPr>
          <p:spPr>
            <a:xfrm rot="20614958">
              <a:off x="3662278" y="4325968"/>
              <a:ext cx="1416252" cy="338554"/>
            </a:xfrm>
            <a:prstGeom prst="rect">
              <a:avLst/>
            </a:prstGeom>
            <a:noFill/>
          </p:spPr>
          <p:txBody>
            <a:bodyPr wrap="square" rtlCol="0">
              <a:spAutoFit/>
            </a:bodyPr>
            <a:lstStyle/>
            <a:p>
              <a:r>
                <a:rPr lang="en-US" altLang="zh-CN" sz="1600">
                  <a:solidFill>
                    <a:srgbClr val="0000FF"/>
                  </a:solidFill>
                  <a:latin typeface="Consolas" pitchFamily="49" charset="0"/>
                  <a:cs typeface="Consolas" pitchFamily="49" charset="0"/>
                </a:rPr>
                <a:t>lowcost[</a:t>
              </a:r>
              <a:r>
                <a:rPr lang="en-US" altLang="zh-CN" sz="1600" i="1">
                  <a:solidFill>
                    <a:srgbClr val="0000FF"/>
                  </a:solidFill>
                  <a:latin typeface="Consolas" pitchFamily="49" charset="0"/>
                  <a:cs typeface="Consolas" pitchFamily="49" charset="0"/>
                </a:rPr>
                <a:t>j</a:t>
              </a:r>
              <a:r>
                <a:rPr lang="en-US" altLang="zh-CN" sz="1600">
                  <a:solidFill>
                    <a:srgbClr val="0000FF"/>
                  </a:solidFill>
                  <a:latin typeface="Consolas" pitchFamily="49" charset="0"/>
                  <a:cs typeface="Consolas" pitchFamily="49" charset="0"/>
                </a:rPr>
                <a:t>]</a:t>
              </a:r>
              <a:endParaRPr lang="zh-CN" altLang="en-US" sz="1600">
                <a:solidFill>
                  <a:srgbClr val="0000FF"/>
                </a:solidFill>
                <a:latin typeface="Consolas" pitchFamily="49" charset="0"/>
                <a:cs typeface="Consolas" pitchFamily="49" charset="0"/>
              </a:endParaRPr>
            </a:p>
          </p:txBody>
        </p:sp>
        <p:sp>
          <p:nvSpPr>
            <p:cNvPr id="18" name="椭圆 17"/>
            <p:cNvSpPr/>
            <p:nvPr/>
          </p:nvSpPr>
          <p:spPr>
            <a:xfrm>
              <a:off x="2571736" y="3631172"/>
              <a:ext cx="1143008" cy="1798092"/>
            </a:xfrm>
            <a:prstGeom prst="ellipse">
              <a:avLst/>
            </a:prstGeom>
            <a:no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itchFamily="49" charset="0"/>
                <a:cs typeface="Consolas" pitchFamily="49" charset="0"/>
              </a:endParaRPr>
            </a:p>
          </p:txBody>
        </p:sp>
        <p:sp>
          <p:nvSpPr>
            <p:cNvPr id="19" name="椭圆 18"/>
            <p:cNvSpPr/>
            <p:nvPr/>
          </p:nvSpPr>
          <p:spPr>
            <a:xfrm>
              <a:off x="5000628" y="3488296"/>
              <a:ext cx="1143008" cy="1798092"/>
            </a:xfrm>
            <a:prstGeom prst="ellipse">
              <a:avLst/>
            </a:prstGeom>
            <a:no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itchFamily="49" charset="0"/>
                <a:cs typeface="Consolas" pitchFamily="49" charset="0"/>
              </a:endParaRPr>
            </a:p>
          </p:txBody>
        </p:sp>
        <p:cxnSp>
          <p:nvCxnSpPr>
            <p:cNvPr id="21" name="直接箭头连接符 20"/>
            <p:cNvCxnSpPr>
              <a:stCxn id="6" idx="0"/>
              <a:endCxn id="8" idx="5"/>
            </p:cNvCxnSpPr>
            <p:nvPr/>
          </p:nvCxnSpPr>
          <p:spPr>
            <a:xfrm rot="16200000" flipV="1">
              <a:off x="3244868" y="5192337"/>
              <a:ext cx="379795" cy="274207"/>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22" name="TextBox 21"/>
            <p:cNvSpPr txBox="1"/>
            <p:nvPr/>
          </p:nvSpPr>
          <p:spPr>
            <a:xfrm>
              <a:off x="4429124" y="2988230"/>
              <a:ext cx="3143272" cy="338554"/>
            </a:xfrm>
            <a:prstGeom prst="rect">
              <a:avLst/>
            </a:prstGeom>
            <a:noFill/>
          </p:spPr>
          <p:txBody>
            <a:bodyPr wrap="square" rtlCol="0">
              <a:spAutoFit/>
            </a:bodyPr>
            <a:lstStyle/>
            <a:p>
              <a:r>
                <a:rPr lang="en-US" altLang="zh-CN" sz="2000">
                  <a:solidFill>
                    <a:srgbClr val="C00000"/>
                  </a:solidFill>
                  <a:latin typeface="Consolas" pitchFamily="49" charset="0"/>
                  <a:cs typeface="Consolas" pitchFamily="49" charset="0"/>
                </a:rPr>
                <a:t>V-U</a:t>
              </a:r>
              <a:r>
                <a:rPr lang="en-US" altLang="zh-CN" sz="2000">
                  <a:solidFill>
                    <a:srgbClr val="0000FF"/>
                  </a:solidFill>
                  <a:latin typeface="Consolas" pitchFamily="49" charset="0"/>
                  <a:cs typeface="Consolas" pitchFamily="49" charset="0"/>
                </a:rPr>
                <a:t>={</a:t>
              </a:r>
              <a:r>
                <a:rPr lang="en-US" altLang="zh-CN" sz="2000" i="1">
                  <a:solidFill>
                    <a:srgbClr val="0000FF"/>
                  </a:solidFill>
                  <a:latin typeface="Consolas" pitchFamily="49" charset="0"/>
                  <a:cs typeface="Consolas" pitchFamily="49" charset="0"/>
                </a:rPr>
                <a:t>j</a:t>
              </a:r>
              <a:r>
                <a:rPr lang="en-US" altLang="zh-CN" sz="2000">
                  <a:solidFill>
                    <a:srgbClr val="0000FF"/>
                  </a:solidFill>
                  <a:latin typeface="Consolas" pitchFamily="49" charset="0"/>
                  <a:cs typeface="Consolas" pitchFamily="49" charset="0"/>
                </a:rPr>
                <a:t>|lowcost[</a:t>
              </a:r>
              <a:r>
                <a:rPr lang="en-US" altLang="zh-CN" sz="2000" i="1">
                  <a:solidFill>
                    <a:srgbClr val="0000FF"/>
                  </a:solidFill>
                  <a:latin typeface="Consolas" pitchFamily="49" charset="0"/>
                  <a:cs typeface="Consolas" pitchFamily="49" charset="0"/>
                </a:rPr>
                <a:t>j</a:t>
              </a:r>
              <a:r>
                <a:rPr lang="en-US" altLang="zh-CN" sz="2000">
                  <a:solidFill>
                    <a:srgbClr val="0000FF"/>
                  </a:solidFill>
                  <a:latin typeface="Consolas" pitchFamily="49" charset="0"/>
                  <a:cs typeface="Consolas" pitchFamily="49" charset="0"/>
                </a:rPr>
                <a:t>]</a:t>
              </a:r>
              <a:r>
                <a:rPr lang="en-US" altLang="zh-CN" sz="2000">
                  <a:solidFill>
                    <a:srgbClr val="0000FF"/>
                  </a:solidFill>
                  <a:latin typeface="+mj-ea"/>
                  <a:ea typeface="+mj-ea"/>
                  <a:cs typeface="Consolas" pitchFamily="49" charset="0"/>
                </a:rPr>
                <a:t>≠</a:t>
              </a:r>
              <a:r>
                <a:rPr lang="en-US" altLang="zh-CN" sz="2000">
                  <a:solidFill>
                    <a:srgbClr val="0000FF"/>
                  </a:solidFill>
                  <a:latin typeface="Consolas" pitchFamily="49" charset="0"/>
                  <a:cs typeface="Consolas" pitchFamily="49" charset="0"/>
                </a:rPr>
                <a:t>0}</a:t>
              </a:r>
              <a:endParaRPr lang="zh-CN" altLang="en-US" sz="2000">
                <a:solidFill>
                  <a:srgbClr val="0000FF"/>
                </a:solidFill>
                <a:latin typeface="Consolas" pitchFamily="49" charset="0"/>
                <a:cs typeface="Consolas" pitchFamily="49" charset="0"/>
              </a:endParaRPr>
            </a:p>
          </p:txBody>
        </p:sp>
        <p:sp>
          <p:nvSpPr>
            <p:cNvPr id="23" name="TextBox 22"/>
            <p:cNvSpPr txBox="1"/>
            <p:nvPr/>
          </p:nvSpPr>
          <p:spPr>
            <a:xfrm>
              <a:off x="1357290" y="3131106"/>
              <a:ext cx="2786082" cy="342979"/>
            </a:xfrm>
            <a:prstGeom prst="rect">
              <a:avLst/>
            </a:prstGeom>
            <a:noFill/>
          </p:spPr>
          <p:txBody>
            <a:bodyPr wrap="square" rtlCol="0">
              <a:spAutoFit/>
            </a:bodyPr>
            <a:lstStyle/>
            <a:p>
              <a:r>
                <a:rPr lang="en-US" altLang="zh-CN" sz="2000">
                  <a:solidFill>
                    <a:srgbClr val="C00000"/>
                  </a:solidFill>
                  <a:latin typeface="Consolas" pitchFamily="49" charset="0"/>
                  <a:cs typeface="Consolas" pitchFamily="49" charset="0"/>
                </a:rPr>
                <a:t>U</a:t>
              </a:r>
              <a:r>
                <a:rPr lang="en-US" altLang="zh-CN" sz="2000">
                  <a:solidFill>
                    <a:srgbClr val="0000FF"/>
                  </a:solidFill>
                  <a:latin typeface="Consolas" pitchFamily="49" charset="0"/>
                  <a:cs typeface="Consolas" pitchFamily="49" charset="0"/>
                </a:rPr>
                <a:t>={</a:t>
              </a:r>
              <a:r>
                <a:rPr lang="en-US" altLang="zh-CN" sz="2000" i="1">
                  <a:solidFill>
                    <a:srgbClr val="0000FF"/>
                  </a:solidFill>
                  <a:latin typeface="Consolas" pitchFamily="49" charset="0"/>
                  <a:cs typeface="Consolas" pitchFamily="49" charset="0"/>
                </a:rPr>
                <a:t>i</a:t>
              </a:r>
              <a:r>
                <a:rPr lang="en-US" altLang="zh-CN" sz="2000">
                  <a:solidFill>
                    <a:srgbClr val="0000FF"/>
                  </a:solidFill>
                  <a:latin typeface="Consolas" pitchFamily="49" charset="0"/>
                  <a:cs typeface="Consolas" pitchFamily="49" charset="0"/>
                </a:rPr>
                <a:t>|lowcost[</a:t>
              </a:r>
              <a:r>
                <a:rPr lang="en-US" altLang="zh-CN" sz="2000" i="1">
                  <a:solidFill>
                    <a:srgbClr val="0000FF"/>
                  </a:solidFill>
                  <a:latin typeface="Consolas" pitchFamily="49" charset="0"/>
                  <a:cs typeface="Consolas" pitchFamily="49" charset="0"/>
                </a:rPr>
                <a:t>i</a:t>
              </a:r>
              <a:r>
                <a:rPr lang="en-US" altLang="zh-CN" sz="2000">
                  <a:solidFill>
                    <a:srgbClr val="0000FF"/>
                  </a:solidFill>
                  <a:latin typeface="Consolas" pitchFamily="49" charset="0"/>
                  <a:cs typeface="Consolas" pitchFamily="49" charset="0"/>
                </a:rPr>
                <a:t>]=0}</a:t>
              </a:r>
              <a:endParaRPr lang="zh-CN" altLang="en-US" sz="2000">
                <a:solidFill>
                  <a:srgbClr val="0000FF"/>
                </a:solidFill>
                <a:latin typeface="Consolas" pitchFamily="49" charset="0"/>
                <a:cs typeface="Consolas" pitchFamily="49" charset="0"/>
              </a:endParaRPr>
            </a:p>
          </p:txBody>
        </p:sp>
      </p:grpSp>
      <p:sp>
        <p:nvSpPr>
          <p:cNvPr id="25" name="灯片编号占位符 24"/>
          <p:cNvSpPr>
            <a:spLocks noGrp="1"/>
          </p:cNvSpPr>
          <p:nvPr>
            <p:ph type="sldNum" sz="quarter" idx="12"/>
          </p:nvPr>
        </p:nvSpPr>
        <p:spPr/>
        <p:txBody>
          <a:bodyPr/>
          <a:lstStyle/>
          <a:p>
            <a:fld id="{7AF016A1-9F15-429F-9EFD-84004B73C732}" type="slidenum">
              <a:rPr lang="en-US" altLang="zh-CN" smtClean="0"/>
              <a:pPr/>
              <a:t>6</a:t>
            </a:fld>
            <a:r>
              <a:rPr lang="en-US" altLang="zh-CN"/>
              <a:t>/158</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3" name="Text Box 3"/>
          <p:cNvSpPr txBox="1">
            <a:spLocks noChangeArrowheads="1"/>
          </p:cNvSpPr>
          <p:nvPr/>
        </p:nvSpPr>
        <p:spPr bwMode="auto">
          <a:xfrm>
            <a:off x="292128" y="714356"/>
            <a:ext cx="8280400" cy="477054"/>
          </a:xfrm>
          <a:prstGeom prst="rect">
            <a:avLst/>
          </a:prstGeom>
          <a:solidFill>
            <a:schemeClr val="bg1"/>
          </a:solidFill>
          <a:ln w="9525">
            <a:noFill/>
            <a:miter lim="800000"/>
            <a:headEnd/>
            <a:tailEnd/>
          </a:ln>
        </p:spPr>
        <p:txBody>
          <a:bodyPr>
            <a:spAutoFit/>
          </a:bodyPr>
          <a:lstStyle/>
          <a:p>
            <a:pPr algn="l">
              <a:lnSpc>
                <a:spcPts val="3000"/>
              </a:lnSpc>
              <a:spcBef>
                <a:spcPts val="0"/>
              </a:spcBef>
            </a:pPr>
            <a:r>
              <a:rPr lang="en-US" altLang="zh-CN">
                <a:solidFill>
                  <a:srgbClr val="0000FF"/>
                </a:solidFill>
                <a:latin typeface="Consolas" pitchFamily="49" charset="0"/>
                <a:ea typeface="仿宋" pitchFamily="49" charset="-122"/>
                <a:cs typeface="Consolas" pitchFamily="49" charset="0"/>
              </a:rPr>
              <a:t>Prim(A</a:t>
            </a:r>
            <a:r>
              <a:rPr lang="zh-CN" altLang="en-US">
                <a:solidFill>
                  <a:srgbClr val="0000FF"/>
                </a:solidFill>
                <a:latin typeface="Consolas" pitchFamily="49" charset="0"/>
                <a:ea typeface="仿宋" pitchFamily="49" charset="-122"/>
                <a:cs typeface="Consolas" pitchFamily="49" charset="0"/>
              </a:rPr>
              <a:t>，</a:t>
            </a:r>
            <a:r>
              <a:rPr lang="en-US" altLang="zh-CN">
                <a:solidFill>
                  <a:srgbClr val="0000FF"/>
                </a:solidFill>
                <a:latin typeface="Consolas" pitchFamily="49" charset="0"/>
                <a:ea typeface="仿宋" pitchFamily="49" charset="-122"/>
                <a:cs typeface="Consolas" pitchFamily="49" charset="0"/>
              </a:rPr>
              <a:t>s)</a:t>
            </a:r>
            <a:r>
              <a:rPr lang="zh-CN" altLang="en-US">
                <a:solidFill>
                  <a:srgbClr val="0000FF"/>
                </a:solidFill>
                <a:latin typeface="Consolas" pitchFamily="49" charset="0"/>
                <a:ea typeface="仿宋" pitchFamily="49" charset="-122"/>
                <a:cs typeface="Consolas" pitchFamily="49" charset="0"/>
              </a:rPr>
              <a:t>算法利用上述过程构造最小生成树。</a:t>
            </a:r>
          </a:p>
        </p:txBody>
      </p:sp>
      <p:sp>
        <p:nvSpPr>
          <p:cNvPr id="4" name="TextBox 3"/>
          <p:cNvSpPr txBox="1"/>
          <p:nvPr/>
        </p:nvSpPr>
        <p:spPr>
          <a:xfrm>
            <a:off x="285720" y="1377771"/>
            <a:ext cx="8501122" cy="3265675"/>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3000"/>
              </a:lnSpc>
              <a:spcBef>
                <a:spcPts val="0"/>
              </a:spcBef>
            </a:pPr>
            <a:r>
              <a:rPr lang="en-US" altLang="zh-CN" sz="2000">
                <a:solidFill>
                  <a:srgbClr val="0000FF"/>
                </a:solidFill>
                <a:latin typeface="Consolas" pitchFamily="49" charset="0"/>
                <a:ea typeface="仿宋" pitchFamily="49" charset="-122"/>
              </a:rPr>
              <a:t>void </a:t>
            </a:r>
            <a:r>
              <a:rPr lang="en-US" altLang="zh-CN" sz="2000">
                <a:solidFill>
                  <a:srgbClr val="FF0000"/>
                </a:solidFill>
                <a:latin typeface="Consolas" pitchFamily="49" charset="0"/>
                <a:ea typeface="仿宋" pitchFamily="49" charset="-122"/>
              </a:rPr>
              <a:t>Prim</a:t>
            </a:r>
            <a:r>
              <a:rPr lang="en-US" altLang="zh-CN" sz="2000">
                <a:solidFill>
                  <a:srgbClr val="0000FF"/>
                </a:solidFill>
                <a:latin typeface="Consolas" pitchFamily="49" charset="0"/>
                <a:ea typeface="仿宋" pitchFamily="49" charset="-122"/>
              </a:rPr>
              <a:t>(vector&lt;vector&lt;int&gt;&gt;&amp;A,</a:t>
            </a:r>
            <a:r>
              <a:rPr lang="en-US" altLang="zh-CN" sz="2000">
                <a:solidFill>
                  <a:srgbClr val="006600"/>
                </a:solidFill>
                <a:latin typeface="Consolas" pitchFamily="49" charset="0"/>
                <a:ea typeface="仿宋" pitchFamily="49" charset="-122"/>
              </a:rPr>
              <a:t>int s</a:t>
            </a: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int lowcost[MAXN];</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int closest[MAXN];</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int n=A.size();</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for (int j=0;j&lt;n;j++)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初始化</a:t>
            </a:r>
            <a:r>
              <a:rPr lang="en-US" altLang="zh-CN" sz="2000">
                <a:solidFill>
                  <a:srgbClr val="00B0F0"/>
                </a:solidFill>
                <a:latin typeface="Consolas" pitchFamily="49" charset="0"/>
                <a:ea typeface="仿宋" pitchFamily="49" charset="-122"/>
              </a:rPr>
              <a:t>lowcost</a:t>
            </a:r>
            <a:r>
              <a:rPr lang="zh-CN" altLang="zh-CN" sz="2000">
                <a:solidFill>
                  <a:srgbClr val="00B0F0"/>
                </a:solidFill>
                <a:latin typeface="Consolas" pitchFamily="49" charset="0"/>
                <a:ea typeface="仿宋" pitchFamily="49" charset="-122"/>
              </a:rPr>
              <a:t>和</a:t>
            </a:r>
            <a:r>
              <a:rPr lang="en-US" altLang="zh-CN" sz="2000">
                <a:solidFill>
                  <a:srgbClr val="00B0F0"/>
                </a:solidFill>
                <a:latin typeface="Consolas" pitchFamily="49" charset="0"/>
                <a:ea typeface="仿宋" pitchFamily="49" charset="-122"/>
              </a:rPr>
              <a:t>closest</a:t>
            </a:r>
            <a:r>
              <a:rPr lang="zh-CN" altLang="zh-CN" sz="2000">
                <a:solidFill>
                  <a:srgbClr val="00B0F0"/>
                </a:solidFill>
                <a:latin typeface="Consolas" pitchFamily="49" charset="0"/>
                <a:ea typeface="仿宋" pitchFamily="49" charset="-122"/>
              </a:rPr>
              <a:t>数组</a:t>
            </a:r>
          </a:p>
          <a:p>
            <a:pPr algn="l" defTabSz="360000">
              <a:lnSpc>
                <a:spcPts val="3000"/>
              </a:lnSpc>
              <a:spcBef>
                <a:spcPts val="0"/>
              </a:spcBef>
            </a:pPr>
            <a:r>
              <a:rPr lang="en-US" altLang="zh-CN" sz="2000">
                <a:solidFill>
                  <a:srgbClr val="0000FF"/>
                </a:solidFill>
                <a:latin typeface="Consolas" pitchFamily="49" charset="0"/>
                <a:ea typeface="仿宋" pitchFamily="49" charset="-122"/>
              </a:rPr>
              <a:t>		lowcost[j]=A[s][j];</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closest[j]=s;</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p:txBody>
      </p:sp>
      <p:grpSp>
        <p:nvGrpSpPr>
          <p:cNvPr id="10" name="组合 9"/>
          <p:cNvGrpSpPr/>
          <p:nvPr/>
        </p:nvGrpSpPr>
        <p:grpSpPr>
          <a:xfrm>
            <a:off x="1785918" y="5214950"/>
            <a:ext cx="2075074" cy="646314"/>
            <a:chOff x="1785918" y="5214950"/>
            <a:chExt cx="2075074" cy="646314"/>
          </a:xfrm>
        </p:grpSpPr>
        <p:sp>
          <p:nvSpPr>
            <p:cNvPr id="5" name="椭圆 4"/>
            <p:cNvSpPr/>
            <p:nvPr/>
          </p:nvSpPr>
          <p:spPr>
            <a:xfrm>
              <a:off x="1785918" y="5429264"/>
              <a:ext cx="432000" cy="43200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sz="2000" i="1">
                  <a:solidFill>
                    <a:srgbClr val="0000FF"/>
                  </a:solidFill>
                  <a:latin typeface="Consolas" pitchFamily="49" charset="0"/>
                  <a:cs typeface="Consolas" pitchFamily="49" charset="0"/>
                </a:rPr>
                <a:t>s</a:t>
              </a:r>
              <a:endParaRPr lang="zh-CN" altLang="en-US" sz="2000" i="1">
                <a:solidFill>
                  <a:srgbClr val="0000FF"/>
                </a:solidFill>
                <a:latin typeface="Consolas" pitchFamily="49" charset="0"/>
                <a:cs typeface="Consolas" pitchFamily="49" charset="0"/>
              </a:endParaRPr>
            </a:p>
          </p:txBody>
        </p:sp>
        <p:sp>
          <p:nvSpPr>
            <p:cNvPr id="6" name="椭圆 5"/>
            <p:cNvSpPr/>
            <p:nvPr/>
          </p:nvSpPr>
          <p:spPr>
            <a:xfrm>
              <a:off x="3428992" y="5429264"/>
              <a:ext cx="432000" cy="43200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i="1">
                  <a:solidFill>
                    <a:srgbClr val="0000FF"/>
                  </a:solidFill>
                  <a:latin typeface="Consolas" pitchFamily="49" charset="0"/>
                  <a:cs typeface="Consolas" pitchFamily="49" charset="0"/>
                </a:rPr>
                <a:t>j</a:t>
              </a:r>
              <a:endParaRPr lang="zh-CN" altLang="en-US" sz="2000" i="1">
                <a:solidFill>
                  <a:srgbClr val="0000FF"/>
                </a:solidFill>
                <a:latin typeface="Consolas" pitchFamily="49" charset="0"/>
                <a:cs typeface="Consolas" pitchFamily="49" charset="0"/>
              </a:endParaRPr>
            </a:p>
          </p:txBody>
        </p:sp>
        <p:cxnSp>
          <p:nvCxnSpPr>
            <p:cNvPr id="8" name="直接连接符 7"/>
            <p:cNvCxnSpPr>
              <a:stCxn id="5" idx="6"/>
              <a:endCxn id="6" idx="2"/>
            </p:cNvCxnSpPr>
            <p:nvPr/>
          </p:nvCxnSpPr>
          <p:spPr>
            <a:xfrm>
              <a:off x="2217918" y="5645264"/>
              <a:ext cx="1211074" cy="0"/>
            </a:xfrm>
            <a:prstGeom prst="line">
              <a:avLst/>
            </a:prstGeom>
            <a:ln w="19050">
              <a:tailEnd type="none"/>
            </a:ln>
          </p:spPr>
          <p:style>
            <a:lnRef idx="2">
              <a:schemeClr val="dk1"/>
            </a:lnRef>
            <a:fillRef idx="0">
              <a:schemeClr val="dk1"/>
            </a:fillRef>
            <a:effectRef idx="1">
              <a:schemeClr val="dk1"/>
            </a:effectRef>
            <a:fontRef idx="minor">
              <a:schemeClr val="tx1"/>
            </a:fontRef>
          </p:style>
        </p:cxnSp>
        <p:sp>
          <p:nvSpPr>
            <p:cNvPr id="9" name="TextBox 8"/>
            <p:cNvSpPr txBox="1"/>
            <p:nvPr/>
          </p:nvSpPr>
          <p:spPr>
            <a:xfrm>
              <a:off x="2214546" y="5214950"/>
              <a:ext cx="1214446" cy="369332"/>
            </a:xfrm>
            <a:prstGeom prst="rect">
              <a:avLst/>
            </a:prstGeom>
            <a:noFill/>
          </p:spPr>
          <p:txBody>
            <a:bodyPr wrap="square" rtlCol="0">
              <a:spAutoFit/>
            </a:bodyPr>
            <a:lstStyle/>
            <a:p>
              <a:pPr>
                <a:lnSpc>
                  <a:spcPct val="100000"/>
                </a:lnSpc>
                <a:spcBef>
                  <a:spcPts val="0"/>
                </a:spcBef>
              </a:pPr>
              <a:r>
                <a:rPr lang="en-US" altLang="zh-CN" sz="1800">
                  <a:solidFill>
                    <a:srgbClr val="0000FF"/>
                  </a:solidFill>
                  <a:latin typeface="Consolas" pitchFamily="49" charset="0"/>
                  <a:ea typeface="仿宋" pitchFamily="49" charset="-122"/>
                </a:rPr>
                <a:t>A[s][j]</a:t>
              </a:r>
              <a:endParaRPr lang="zh-CN" altLang="en-US" sz="1800">
                <a:solidFill>
                  <a:srgbClr val="0000FF"/>
                </a:solidFill>
                <a:latin typeface="Consolas" pitchFamily="49" charset="0"/>
                <a:ea typeface="楷体" pitchFamily="49" charset="-122"/>
                <a:cs typeface="Consolas" pitchFamily="49" charset="0"/>
              </a:endParaRPr>
            </a:p>
          </p:txBody>
        </p:sp>
      </p:grpSp>
      <p:sp>
        <p:nvSpPr>
          <p:cNvPr id="12" name="灯片编号占位符 11"/>
          <p:cNvSpPr>
            <a:spLocks noGrp="1"/>
          </p:cNvSpPr>
          <p:nvPr>
            <p:ph type="sldNum" sz="quarter" idx="12"/>
          </p:nvPr>
        </p:nvSpPr>
        <p:spPr/>
        <p:txBody>
          <a:bodyPr/>
          <a:lstStyle/>
          <a:p>
            <a:fld id="{7AF016A1-9F15-429F-9EFD-84004B73C732}" type="slidenum">
              <a:rPr lang="en-US" altLang="zh-CN" smtClean="0"/>
              <a:pPr/>
              <a:t>7</a:t>
            </a:fld>
            <a:r>
              <a:rPr lang="en-US" altLang="zh-CN"/>
              <a:t>/158</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14282" y="500042"/>
            <a:ext cx="8501122" cy="2988098"/>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2700"/>
              </a:lnSpc>
              <a:spcBef>
                <a:spcPts val="0"/>
              </a:spcBef>
            </a:pPr>
            <a:r>
              <a:rPr lang="en-US" altLang="zh-CN" sz="2000">
                <a:solidFill>
                  <a:srgbClr val="0000FF"/>
                </a:solidFill>
                <a:latin typeface="Consolas" pitchFamily="49" charset="0"/>
                <a:ea typeface="仿宋" pitchFamily="49" charset="-122"/>
              </a:rPr>
              <a:t>	for (int i=1;i&lt;n;i++)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找出</a:t>
            </a:r>
            <a:r>
              <a:rPr lang="en-US" altLang="zh-CN" sz="2000">
                <a:solidFill>
                  <a:srgbClr val="00B0F0"/>
                </a:solidFill>
                <a:latin typeface="Consolas" pitchFamily="49" charset="0"/>
                <a:ea typeface="仿宋" pitchFamily="49" charset="-122"/>
              </a:rPr>
              <a:t>(n-1)</a:t>
            </a:r>
            <a:r>
              <a:rPr lang="zh-CN" altLang="zh-CN" sz="2000">
                <a:solidFill>
                  <a:srgbClr val="00B0F0"/>
                </a:solidFill>
                <a:latin typeface="Consolas" pitchFamily="49" charset="0"/>
                <a:ea typeface="仿宋" pitchFamily="49" charset="-122"/>
              </a:rPr>
              <a:t>个顶点</a:t>
            </a:r>
          </a:p>
          <a:p>
            <a:pPr algn="l" defTabSz="360000">
              <a:lnSpc>
                <a:spcPts val="2700"/>
              </a:lnSpc>
              <a:spcBef>
                <a:spcPts val="0"/>
              </a:spcBef>
            </a:pPr>
            <a:r>
              <a:rPr lang="en-US" altLang="zh-CN" sz="2000">
                <a:solidFill>
                  <a:srgbClr val="0000FF"/>
                </a:solidFill>
                <a:latin typeface="Consolas" pitchFamily="49" charset="0"/>
                <a:ea typeface="仿宋" pitchFamily="49" charset="-122"/>
              </a:rPr>
              <a:t>		int mincost=INF,k;</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for (int j=0;j&lt;n;j++)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在</a:t>
            </a:r>
            <a:r>
              <a:rPr lang="en-US" altLang="zh-CN" sz="2000">
                <a:solidFill>
                  <a:srgbClr val="00B0F0"/>
                </a:solidFill>
                <a:latin typeface="Consolas" pitchFamily="49" charset="0"/>
                <a:ea typeface="仿宋" pitchFamily="49" charset="-122"/>
              </a:rPr>
              <a:t>(V-U)</a:t>
            </a:r>
            <a:r>
              <a:rPr lang="zh-CN" altLang="zh-CN" sz="2000">
                <a:solidFill>
                  <a:srgbClr val="00B0F0"/>
                </a:solidFill>
                <a:latin typeface="Consolas" pitchFamily="49" charset="0"/>
                <a:ea typeface="仿宋" pitchFamily="49" charset="-122"/>
              </a:rPr>
              <a:t>中找出离</a:t>
            </a:r>
            <a:r>
              <a:rPr lang="en-US" altLang="zh-CN" sz="2000">
                <a:solidFill>
                  <a:srgbClr val="00B0F0"/>
                </a:solidFill>
                <a:latin typeface="Consolas" pitchFamily="49" charset="0"/>
                <a:ea typeface="仿宋" pitchFamily="49" charset="-122"/>
              </a:rPr>
              <a:t>U</a:t>
            </a:r>
            <a:r>
              <a:rPr lang="zh-CN" altLang="zh-CN" sz="2000">
                <a:solidFill>
                  <a:srgbClr val="00B0F0"/>
                </a:solidFill>
                <a:latin typeface="Consolas" pitchFamily="49" charset="0"/>
                <a:ea typeface="仿宋" pitchFamily="49" charset="-122"/>
              </a:rPr>
              <a:t>最近的顶点</a:t>
            </a:r>
            <a:r>
              <a:rPr lang="en-US" altLang="zh-CN" sz="2000">
                <a:solidFill>
                  <a:srgbClr val="00B0F0"/>
                </a:solidFill>
                <a:latin typeface="Consolas" pitchFamily="49" charset="0"/>
                <a:ea typeface="仿宋" pitchFamily="49" charset="-122"/>
              </a:rPr>
              <a:t>k</a:t>
            </a:r>
            <a:endParaRPr lang="zh-CN" altLang="zh-CN" sz="2000">
              <a:solidFill>
                <a:srgbClr val="00B0F0"/>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if (</a:t>
            </a:r>
            <a:r>
              <a:rPr lang="en-US" altLang="zh-CN" sz="2000">
                <a:solidFill>
                  <a:srgbClr val="FF00FF"/>
                </a:solidFill>
                <a:latin typeface="Consolas" pitchFamily="49" charset="0"/>
                <a:ea typeface="仿宋" pitchFamily="49" charset="-122"/>
              </a:rPr>
              <a:t>lowcost[j]!=0 &amp;&amp; lowcost[j]&lt;mincost</a:t>
            </a: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mincost=lowcost[j];</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000000"/>
                </a:solidFill>
                <a:latin typeface="Consolas" pitchFamily="49" charset="0"/>
                <a:ea typeface="仿宋" pitchFamily="49" charset="-122"/>
              </a:rPr>
              <a:t>k=j;</a:t>
            </a:r>
            <a:r>
              <a:rPr lang="en-US" altLang="zh-CN" sz="2000">
                <a:solidFill>
                  <a:srgbClr val="006600"/>
                </a:solidFill>
                <a:latin typeface="Consolas" pitchFamily="49" charset="0"/>
                <a:ea typeface="仿宋" pitchFamily="49" charset="-122"/>
              </a:rPr>
              <a:t>	</a:t>
            </a:r>
            <a:r>
              <a:rPr lang="en-US" altLang="zh-CN" sz="2000">
                <a:solidFill>
                  <a:srgbClr val="0000FF"/>
                </a:solidFill>
                <a:latin typeface="Consolas" pitchFamily="49" charset="0"/>
                <a:ea typeface="仿宋" pitchFamily="49" charset="-122"/>
              </a:rPr>
              <a:t>						</a:t>
            </a:r>
            <a:r>
              <a:rPr lang="en-US" altLang="zh-CN" sz="2000">
                <a:solidFill>
                  <a:srgbClr val="00B0F0"/>
                </a:solidFill>
                <a:latin typeface="Consolas" pitchFamily="49" charset="0"/>
                <a:ea typeface="仿宋" pitchFamily="49" charset="-122"/>
              </a:rPr>
              <a:t>//k</a:t>
            </a:r>
            <a:r>
              <a:rPr lang="zh-CN" altLang="zh-CN" sz="2000">
                <a:solidFill>
                  <a:srgbClr val="00B0F0"/>
                </a:solidFill>
                <a:latin typeface="Consolas" pitchFamily="49" charset="0"/>
                <a:ea typeface="仿宋" pitchFamily="49" charset="-122"/>
              </a:rPr>
              <a:t>记录最近顶点的编号</a:t>
            </a:r>
          </a:p>
          <a:p>
            <a:pPr algn="l" defTabSz="360000">
              <a:lnSpc>
                <a:spcPts val="27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p:txBody>
      </p:sp>
      <p:grpSp>
        <p:nvGrpSpPr>
          <p:cNvPr id="27" name="组合 26"/>
          <p:cNvGrpSpPr/>
          <p:nvPr/>
        </p:nvGrpSpPr>
        <p:grpSpPr>
          <a:xfrm>
            <a:off x="928662" y="3869770"/>
            <a:ext cx="5143536" cy="2214578"/>
            <a:chOff x="928662" y="3869770"/>
            <a:chExt cx="5143536" cy="2214578"/>
          </a:xfrm>
        </p:grpSpPr>
        <p:sp>
          <p:nvSpPr>
            <p:cNvPr id="23" name="椭圆 22"/>
            <p:cNvSpPr/>
            <p:nvPr/>
          </p:nvSpPr>
          <p:spPr>
            <a:xfrm>
              <a:off x="2285984" y="5068702"/>
              <a:ext cx="432000" cy="43200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i="1">
                  <a:solidFill>
                    <a:srgbClr val="0000FF"/>
                  </a:solidFill>
                  <a:latin typeface="Consolas" pitchFamily="49" charset="0"/>
                  <a:cs typeface="Consolas" pitchFamily="49" charset="0"/>
                </a:rPr>
                <a:t>j</a:t>
              </a:r>
              <a:endParaRPr lang="zh-CN" altLang="en-US" sz="2000" i="1">
                <a:solidFill>
                  <a:srgbClr val="0000FF"/>
                </a:solidFill>
                <a:latin typeface="Consolas" pitchFamily="49" charset="0"/>
                <a:cs typeface="Consolas" pitchFamily="49" charset="0"/>
              </a:endParaRPr>
            </a:p>
          </p:txBody>
        </p:sp>
        <p:sp>
          <p:nvSpPr>
            <p:cNvPr id="24" name="椭圆 23"/>
            <p:cNvSpPr/>
            <p:nvPr/>
          </p:nvSpPr>
          <p:spPr>
            <a:xfrm>
              <a:off x="1928794" y="4286256"/>
              <a:ext cx="1143008" cy="1798092"/>
            </a:xfrm>
            <a:prstGeom prst="ellipse">
              <a:avLst/>
            </a:prstGeom>
            <a:no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itchFamily="49" charset="0"/>
                <a:cs typeface="Consolas" pitchFamily="49" charset="0"/>
              </a:endParaRPr>
            </a:p>
          </p:txBody>
        </p:sp>
        <p:sp>
          <p:nvSpPr>
            <p:cNvPr id="25" name="TextBox 24"/>
            <p:cNvSpPr txBox="1"/>
            <p:nvPr/>
          </p:nvSpPr>
          <p:spPr>
            <a:xfrm>
              <a:off x="928662" y="3869770"/>
              <a:ext cx="3286148" cy="338554"/>
            </a:xfrm>
            <a:prstGeom prst="rect">
              <a:avLst/>
            </a:prstGeom>
            <a:noFill/>
          </p:spPr>
          <p:txBody>
            <a:bodyPr wrap="square" rtlCol="0">
              <a:spAutoFit/>
            </a:bodyPr>
            <a:lstStyle/>
            <a:p>
              <a:r>
                <a:rPr lang="en-US" altLang="zh-CN" sz="2000">
                  <a:solidFill>
                    <a:srgbClr val="C00000"/>
                  </a:solidFill>
                  <a:latin typeface="Consolas" pitchFamily="49" charset="0"/>
                  <a:cs typeface="Consolas" pitchFamily="49" charset="0"/>
                </a:rPr>
                <a:t>V-U</a:t>
              </a:r>
              <a:r>
                <a:rPr lang="en-US" altLang="zh-CN" sz="2000">
                  <a:solidFill>
                    <a:srgbClr val="0000FF"/>
                  </a:solidFill>
                  <a:latin typeface="Consolas" pitchFamily="49" charset="0"/>
                  <a:cs typeface="Consolas" pitchFamily="49" charset="0"/>
                </a:rPr>
                <a:t>={</a:t>
              </a:r>
              <a:r>
                <a:rPr lang="en-US" altLang="zh-CN" sz="2000" i="1">
                  <a:solidFill>
                    <a:srgbClr val="0000FF"/>
                  </a:solidFill>
                  <a:latin typeface="Consolas" pitchFamily="49" charset="0"/>
                  <a:cs typeface="Consolas" pitchFamily="49" charset="0"/>
                </a:rPr>
                <a:t>j</a:t>
              </a:r>
              <a:r>
                <a:rPr lang="en-US" altLang="zh-CN" sz="2000">
                  <a:solidFill>
                    <a:srgbClr val="0000FF"/>
                  </a:solidFill>
                  <a:latin typeface="Consolas" pitchFamily="49" charset="0"/>
                  <a:cs typeface="Consolas" pitchFamily="49" charset="0"/>
                </a:rPr>
                <a:t>|lowcost[</a:t>
              </a:r>
              <a:r>
                <a:rPr lang="en-US" altLang="zh-CN" sz="2000" i="1">
                  <a:solidFill>
                    <a:srgbClr val="0000FF"/>
                  </a:solidFill>
                  <a:latin typeface="Consolas" pitchFamily="49" charset="0"/>
                  <a:cs typeface="Consolas" pitchFamily="49" charset="0"/>
                </a:rPr>
                <a:t>j</a:t>
              </a:r>
              <a:r>
                <a:rPr lang="en-US" altLang="zh-CN" sz="2000">
                  <a:solidFill>
                    <a:srgbClr val="0000FF"/>
                  </a:solidFill>
                  <a:latin typeface="Consolas" pitchFamily="49" charset="0"/>
                  <a:cs typeface="Consolas" pitchFamily="49" charset="0"/>
                </a:rPr>
                <a:t>]</a:t>
              </a:r>
              <a:r>
                <a:rPr lang="en-US" altLang="zh-CN" sz="2000">
                  <a:solidFill>
                    <a:srgbClr val="0000FF"/>
                  </a:solidFill>
                  <a:latin typeface="+mj-ea"/>
                  <a:ea typeface="+mj-ea"/>
                  <a:cs typeface="Consolas" pitchFamily="49" charset="0"/>
                </a:rPr>
                <a:t>≠</a:t>
              </a:r>
              <a:r>
                <a:rPr lang="en-US" altLang="zh-CN" sz="2000">
                  <a:solidFill>
                    <a:srgbClr val="0000FF"/>
                  </a:solidFill>
                  <a:latin typeface="Consolas" pitchFamily="49" charset="0"/>
                  <a:cs typeface="Consolas" pitchFamily="49" charset="0"/>
                </a:rPr>
                <a:t>0}</a:t>
              </a:r>
              <a:endParaRPr lang="zh-CN" altLang="en-US" sz="2000">
                <a:solidFill>
                  <a:srgbClr val="0000FF"/>
                </a:solidFill>
                <a:latin typeface="Consolas" pitchFamily="49" charset="0"/>
                <a:cs typeface="Consolas" pitchFamily="49" charset="0"/>
              </a:endParaRPr>
            </a:p>
          </p:txBody>
        </p:sp>
        <p:sp>
          <p:nvSpPr>
            <p:cNvPr id="26" name="TextBox 25"/>
            <p:cNvSpPr txBox="1"/>
            <p:nvPr/>
          </p:nvSpPr>
          <p:spPr>
            <a:xfrm>
              <a:off x="3214678" y="4857760"/>
              <a:ext cx="2857520" cy="400110"/>
            </a:xfrm>
            <a:prstGeom prst="rect">
              <a:avLst/>
            </a:prstGeom>
            <a:noFill/>
          </p:spPr>
          <p:txBody>
            <a:bodyPr wrap="square" rtlCol="0">
              <a:spAutoFit/>
            </a:bodyPr>
            <a:lstStyle/>
            <a:p>
              <a:pPr algn="l">
                <a:lnSpc>
                  <a:spcPct val="100000"/>
                </a:lnSpc>
                <a:spcBef>
                  <a:spcPts val="0"/>
                </a:spcBef>
              </a:pPr>
              <a:r>
                <a:rPr lang="en-US" altLang="zh-CN" sz="2000" i="1">
                  <a:solidFill>
                    <a:srgbClr val="0000FF"/>
                  </a:solidFill>
                  <a:latin typeface="Consolas" pitchFamily="49" charset="0"/>
                  <a:ea typeface="楷体" pitchFamily="49" charset="-122"/>
                  <a:cs typeface="Consolas" pitchFamily="49" charset="0"/>
                </a:rPr>
                <a:t>k</a:t>
              </a:r>
              <a:r>
                <a:rPr lang="en-US" altLang="zh-CN" sz="2000">
                  <a:solidFill>
                    <a:srgbClr val="0000FF"/>
                  </a:solidFill>
                  <a:latin typeface="Consolas" pitchFamily="49" charset="0"/>
                  <a:ea typeface="楷体" pitchFamily="49" charset="-122"/>
                  <a:cs typeface="Consolas" pitchFamily="49" charset="0"/>
                </a:rPr>
                <a:t>={</a:t>
              </a:r>
              <a:r>
                <a:rPr lang="en-US" altLang="zh-CN" sz="2000" i="1">
                  <a:solidFill>
                    <a:srgbClr val="0000FF"/>
                  </a:solidFill>
                  <a:latin typeface="Consolas" pitchFamily="49" charset="0"/>
                  <a:ea typeface="楷体" pitchFamily="49" charset="-122"/>
                  <a:cs typeface="Consolas" pitchFamily="49" charset="0"/>
                </a:rPr>
                <a:t>j</a:t>
              </a:r>
              <a:r>
                <a:rPr lang="en-US" altLang="zh-CN" sz="2000">
                  <a:solidFill>
                    <a:srgbClr val="0000FF"/>
                  </a:solidFill>
                  <a:latin typeface="Consolas" pitchFamily="49" charset="0"/>
                  <a:ea typeface="楷体" pitchFamily="49" charset="-122"/>
                  <a:cs typeface="Consolas" pitchFamily="49" charset="0"/>
                </a:rPr>
                <a:t>|min(dist[</a:t>
              </a:r>
              <a:r>
                <a:rPr lang="en-US" altLang="zh-CN" sz="2000" i="1">
                  <a:solidFill>
                    <a:srgbClr val="0000FF"/>
                  </a:solidFill>
                  <a:latin typeface="Consolas" pitchFamily="49" charset="0"/>
                  <a:ea typeface="楷体" pitchFamily="49" charset="-122"/>
                  <a:cs typeface="Consolas" pitchFamily="49" charset="0"/>
                </a:rPr>
                <a:t>j</a:t>
              </a:r>
              <a:r>
                <a:rPr lang="en-US" altLang="zh-CN" sz="2000">
                  <a:solidFill>
                    <a:srgbClr val="0000FF"/>
                  </a:solidFill>
                  <a:latin typeface="Consolas" pitchFamily="49" charset="0"/>
                  <a:ea typeface="楷体" pitchFamily="49" charset="-122"/>
                  <a:cs typeface="Consolas" pitchFamily="49" charset="0"/>
                </a:rPr>
                <a:t>])}</a:t>
              </a:r>
              <a:endParaRPr lang="zh-CN" altLang="en-US" sz="2000">
                <a:solidFill>
                  <a:srgbClr val="0000FF"/>
                </a:solidFill>
                <a:latin typeface="Consolas" pitchFamily="49" charset="0"/>
                <a:ea typeface="楷体" pitchFamily="49" charset="-122"/>
                <a:cs typeface="Consolas" pitchFamily="49" charset="0"/>
              </a:endParaRPr>
            </a:p>
          </p:txBody>
        </p:sp>
      </p:grpSp>
      <p:sp>
        <p:nvSpPr>
          <p:cNvPr id="9" name="灯片编号占位符 8"/>
          <p:cNvSpPr>
            <a:spLocks noGrp="1"/>
          </p:cNvSpPr>
          <p:nvPr>
            <p:ph type="sldNum" sz="quarter" idx="12"/>
          </p:nvPr>
        </p:nvSpPr>
        <p:spPr/>
        <p:txBody>
          <a:bodyPr/>
          <a:lstStyle/>
          <a:p>
            <a:fld id="{7AF016A1-9F15-429F-9EFD-84004B73C732}" type="slidenum">
              <a:rPr lang="en-US" altLang="zh-CN" smtClean="0"/>
              <a:pPr/>
              <a:t>8</a:t>
            </a:fld>
            <a:r>
              <a:rPr lang="en-US" altLang="zh-CN"/>
              <a:t>/158</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42844" y="214290"/>
            <a:ext cx="8858280" cy="3660014"/>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27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006600"/>
                </a:solidFill>
                <a:latin typeface="Consolas" pitchFamily="49" charset="0"/>
                <a:ea typeface="仿宋" pitchFamily="49" charset="-122"/>
              </a:rPr>
              <a:t>printf(" </a:t>
            </a:r>
            <a:r>
              <a:rPr lang="zh-CN" altLang="zh-CN" sz="2000">
                <a:solidFill>
                  <a:srgbClr val="006600"/>
                </a:solidFill>
                <a:latin typeface="Consolas" pitchFamily="49" charset="0"/>
                <a:ea typeface="仿宋" pitchFamily="49" charset="-122"/>
              </a:rPr>
              <a:t>边</a:t>
            </a:r>
            <a:r>
              <a:rPr lang="en-US" altLang="zh-CN" sz="2000">
                <a:solidFill>
                  <a:srgbClr val="006600"/>
                </a:solidFill>
                <a:latin typeface="Consolas" pitchFamily="49" charset="0"/>
                <a:ea typeface="仿宋" pitchFamily="49" charset="-122"/>
              </a:rPr>
              <a:t>(%d,%d)</a:t>
            </a:r>
            <a:r>
              <a:rPr lang="zh-CN" altLang="zh-CN" sz="2000">
                <a:solidFill>
                  <a:srgbClr val="006600"/>
                </a:solidFill>
                <a:latin typeface="Consolas" pitchFamily="49" charset="0"/>
                <a:ea typeface="仿宋" pitchFamily="49" charset="-122"/>
              </a:rPr>
              <a:t>权为</a:t>
            </a:r>
            <a:r>
              <a:rPr lang="en-US" altLang="zh-CN" sz="2000">
                <a:solidFill>
                  <a:srgbClr val="006600"/>
                </a:solidFill>
                <a:latin typeface="Consolas" pitchFamily="49" charset="0"/>
                <a:ea typeface="仿宋" pitchFamily="49" charset="-122"/>
              </a:rPr>
              <a:t>:%d\n",closest[k],k,mincost);</a:t>
            </a:r>
            <a:endParaRPr lang="zh-CN" altLang="zh-CN" sz="2000">
              <a:solidFill>
                <a:srgbClr val="006600"/>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000000"/>
                </a:solidFill>
                <a:latin typeface="Consolas" pitchFamily="49" charset="0"/>
                <a:ea typeface="仿宋" pitchFamily="49" charset="-122"/>
              </a:rPr>
              <a:t>lowcost[k]=0;</a:t>
            </a:r>
            <a:r>
              <a:rPr lang="en-US" altLang="zh-CN" sz="2000">
                <a:solidFill>
                  <a:srgbClr val="0000FF"/>
                </a:solidFill>
                <a:latin typeface="Consolas" pitchFamily="49" charset="0"/>
                <a:ea typeface="仿宋" pitchFamily="49" charset="-122"/>
              </a:rPr>
              <a:t>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标记</a:t>
            </a:r>
            <a:r>
              <a:rPr lang="en-US" altLang="zh-CN" sz="2000">
                <a:solidFill>
                  <a:srgbClr val="00B0F0"/>
                </a:solidFill>
                <a:latin typeface="Consolas" pitchFamily="49" charset="0"/>
                <a:ea typeface="仿宋" pitchFamily="49" charset="-122"/>
              </a:rPr>
              <a:t>k</a:t>
            </a:r>
            <a:r>
              <a:rPr lang="zh-CN" altLang="zh-CN" sz="2000">
                <a:solidFill>
                  <a:srgbClr val="00B0F0"/>
                </a:solidFill>
                <a:latin typeface="Consolas" pitchFamily="49" charset="0"/>
                <a:ea typeface="仿宋" pitchFamily="49" charset="-122"/>
              </a:rPr>
              <a:t>已经加入</a:t>
            </a:r>
            <a:r>
              <a:rPr lang="en-US" altLang="zh-CN" sz="2000">
                <a:solidFill>
                  <a:srgbClr val="00B0F0"/>
                </a:solidFill>
                <a:latin typeface="Consolas" pitchFamily="49" charset="0"/>
                <a:ea typeface="仿宋" pitchFamily="49" charset="-122"/>
              </a:rPr>
              <a:t>U</a:t>
            </a:r>
            <a:endParaRPr lang="zh-CN" altLang="zh-CN" sz="2000">
              <a:solidFill>
                <a:srgbClr val="00B0F0"/>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for (int j=0;j&lt;n;j++)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修改数组</a:t>
            </a:r>
            <a:r>
              <a:rPr lang="en-US" altLang="zh-CN" sz="2000">
                <a:solidFill>
                  <a:srgbClr val="00B0F0"/>
                </a:solidFill>
                <a:latin typeface="Consolas" pitchFamily="49" charset="0"/>
                <a:ea typeface="仿宋" pitchFamily="49" charset="-122"/>
              </a:rPr>
              <a:t>lowcost</a:t>
            </a:r>
            <a:r>
              <a:rPr lang="zh-CN" altLang="zh-CN" sz="2000">
                <a:solidFill>
                  <a:srgbClr val="00B0F0"/>
                </a:solidFill>
                <a:latin typeface="Consolas" pitchFamily="49" charset="0"/>
                <a:ea typeface="仿宋" pitchFamily="49" charset="-122"/>
              </a:rPr>
              <a:t>和</a:t>
            </a:r>
            <a:r>
              <a:rPr lang="en-US" altLang="zh-CN" sz="2000">
                <a:solidFill>
                  <a:srgbClr val="00B0F0"/>
                </a:solidFill>
                <a:latin typeface="Consolas" pitchFamily="49" charset="0"/>
                <a:ea typeface="仿宋" pitchFamily="49" charset="-122"/>
              </a:rPr>
              <a:t>closest</a:t>
            </a:r>
            <a:endParaRPr lang="zh-CN" altLang="zh-CN" sz="2000">
              <a:solidFill>
                <a:srgbClr val="00B0F0"/>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if (</a:t>
            </a:r>
            <a:r>
              <a:rPr lang="en-US" altLang="zh-CN" sz="2000">
                <a:solidFill>
                  <a:srgbClr val="FF00FF"/>
                </a:solidFill>
                <a:latin typeface="Consolas" pitchFamily="49" charset="0"/>
                <a:ea typeface="仿宋" pitchFamily="49" charset="-122"/>
              </a:rPr>
              <a:t>A[k][j]!=0 &amp;&amp; A[k][j]&lt;lowcost[j]</a:t>
            </a: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lowcost[j]=A[k][j];</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000000"/>
                </a:solidFill>
                <a:latin typeface="Consolas" pitchFamily="49" charset="0"/>
                <a:ea typeface="仿宋" pitchFamily="49" charset="-122"/>
              </a:rPr>
              <a:t>closest[j]=k;</a:t>
            </a:r>
            <a:endParaRPr lang="zh-CN" altLang="zh-CN" sz="2000">
              <a:solidFill>
                <a:srgbClr val="000000"/>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grpSp>
        <p:nvGrpSpPr>
          <p:cNvPr id="5" name="组合 4"/>
          <p:cNvGrpSpPr/>
          <p:nvPr/>
        </p:nvGrpSpPr>
        <p:grpSpPr>
          <a:xfrm>
            <a:off x="1000100" y="4000504"/>
            <a:ext cx="6715172" cy="2714644"/>
            <a:chOff x="1071538" y="3857628"/>
            <a:chExt cx="6715172" cy="2714644"/>
          </a:xfrm>
        </p:grpSpPr>
        <p:sp>
          <p:nvSpPr>
            <p:cNvPr id="6" name="TextBox 5"/>
            <p:cNvSpPr txBox="1"/>
            <p:nvPr/>
          </p:nvSpPr>
          <p:spPr>
            <a:xfrm>
              <a:off x="2500298" y="6233718"/>
              <a:ext cx="1571636" cy="338554"/>
            </a:xfrm>
            <a:prstGeom prst="rect">
              <a:avLst/>
            </a:prstGeom>
            <a:noFill/>
          </p:spPr>
          <p:txBody>
            <a:bodyPr wrap="square" rtlCol="0">
              <a:spAutoFit/>
            </a:bodyPr>
            <a:lstStyle/>
            <a:p>
              <a:r>
                <a:rPr lang="en-US" altLang="zh-CN" sz="1600">
                  <a:solidFill>
                    <a:srgbClr val="0000FF"/>
                  </a:solidFill>
                  <a:latin typeface="Consolas" pitchFamily="49" charset="0"/>
                  <a:cs typeface="Consolas" pitchFamily="49" charset="0"/>
                </a:rPr>
                <a:t>closest[</a:t>
              </a:r>
              <a:r>
                <a:rPr lang="en-US" altLang="zh-CN" sz="1600" i="1">
                  <a:solidFill>
                    <a:srgbClr val="0000FF"/>
                  </a:solidFill>
                  <a:latin typeface="Consolas" pitchFamily="49" charset="0"/>
                  <a:cs typeface="Consolas" pitchFamily="49" charset="0"/>
                </a:rPr>
                <a:t>j</a:t>
              </a:r>
              <a:r>
                <a:rPr lang="en-US" altLang="zh-CN" sz="1600">
                  <a:solidFill>
                    <a:srgbClr val="0000FF"/>
                  </a:solidFill>
                  <a:latin typeface="Consolas" pitchFamily="49" charset="0"/>
                  <a:cs typeface="Consolas" pitchFamily="49" charset="0"/>
                </a:rPr>
                <a:t>]</a:t>
              </a:r>
              <a:endParaRPr lang="zh-CN" altLang="en-US" sz="1600">
                <a:solidFill>
                  <a:srgbClr val="0000FF"/>
                </a:solidFill>
                <a:latin typeface="Consolas" pitchFamily="49" charset="0"/>
                <a:cs typeface="Consolas" pitchFamily="49" charset="0"/>
              </a:endParaRPr>
            </a:p>
          </p:txBody>
        </p:sp>
        <p:sp>
          <p:nvSpPr>
            <p:cNvPr id="7" name="椭圆 6"/>
            <p:cNvSpPr/>
            <p:nvPr/>
          </p:nvSpPr>
          <p:spPr>
            <a:xfrm>
              <a:off x="2639802" y="4702742"/>
              <a:ext cx="432000" cy="43200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sz="2000" i="1">
                  <a:solidFill>
                    <a:srgbClr val="0000FF"/>
                  </a:solidFill>
                  <a:latin typeface="Consolas" pitchFamily="49" charset="0"/>
                  <a:cs typeface="Consolas" pitchFamily="49" charset="0"/>
                </a:rPr>
                <a:t>s</a:t>
              </a:r>
              <a:endParaRPr lang="zh-CN" altLang="en-US" sz="2000" i="1">
                <a:solidFill>
                  <a:srgbClr val="0000FF"/>
                </a:solidFill>
                <a:latin typeface="Consolas" pitchFamily="49" charset="0"/>
                <a:cs typeface="Consolas" pitchFamily="49" charset="0"/>
              </a:endParaRPr>
            </a:p>
          </p:txBody>
        </p:sp>
        <p:sp>
          <p:nvSpPr>
            <p:cNvPr id="8" name="椭圆 7"/>
            <p:cNvSpPr/>
            <p:nvPr/>
          </p:nvSpPr>
          <p:spPr>
            <a:xfrm>
              <a:off x="2643174" y="5485188"/>
              <a:ext cx="432000" cy="4320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i="1">
                  <a:solidFill>
                    <a:schemeClr val="bg1"/>
                  </a:solidFill>
                  <a:latin typeface="Consolas" pitchFamily="49" charset="0"/>
                  <a:cs typeface="Consolas" pitchFamily="49" charset="0"/>
                </a:rPr>
                <a:t>k</a:t>
              </a:r>
              <a:endParaRPr lang="zh-CN" altLang="en-US" sz="2000" i="1">
                <a:solidFill>
                  <a:schemeClr val="bg1"/>
                </a:solidFill>
                <a:latin typeface="Consolas" pitchFamily="49" charset="0"/>
                <a:cs typeface="Consolas" pitchFamily="49" charset="0"/>
              </a:endParaRPr>
            </a:p>
          </p:txBody>
        </p:sp>
        <p:sp>
          <p:nvSpPr>
            <p:cNvPr id="9" name="椭圆 8"/>
            <p:cNvSpPr/>
            <p:nvPr/>
          </p:nvSpPr>
          <p:spPr>
            <a:xfrm>
              <a:off x="5072066" y="4985122"/>
              <a:ext cx="432000" cy="43200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i="1">
                  <a:solidFill>
                    <a:srgbClr val="0000FF"/>
                  </a:solidFill>
                  <a:latin typeface="Consolas" pitchFamily="49" charset="0"/>
                  <a:cs typeface="Consolas" pitchFamily="49" charset="0"/>
                </a:rPr>
                <a:t>j</a:t>
              </a:r>
              <a:endParaRPr lang="zh-CN" altLang="en-US" sz="2000" i="1">
                <a:solidFill>
                  <a:srgbClr val="0000FF"/>
                </a:solidFill>
                <a:latin typeface="Consolas" pitchFamily="49" charset="0"/>
                <a:cs typeface="Consolas" pitchFamily="49" charset="0"/>
              </a:endParaRPr>
            </a:p>
          </p:txBody>
        </p:sp>
        <p:cxnSp>
          <p:nvCxnSpPr>
            <p:cNvPr id="10" name="直接连接符 9"/>
            <p:cNvCxnSpPr>
              <a:stCxn id="8" idx="6"/>
              <a:endCxn id="9" idx="2"/>
            </p:cNvCxnSpPr>
            <p:nvPr/>
          </p:nvCxnSpPr>
          <p:spPr>
            <a:xfrm flipV="1">
              <a:off x="3075174" y="5201122"/>
              <a:ext cx="1996892" cy="500066"/>
            </a:xfrm>
            <a:prstGeom prst="line">
              <a:avLst/>
            </a:prstGeom>
          </p:spPr>
          <p:style>
            <a:lnRef idx="3">
              <a:schemeClr val="accent2"/>
            </a:lnRef>
            <a:fillRef idx="0">
              <a:schemeClr val="accent2"/>
            </a:fillRef>
            <a:effectRef idx="2">
              <a:schemeClr val="accent2"/>
            </a:effectRef>
            <a:fontRef idx="minor">
              <a:schemeClr val="tx1"/>
            </a:fontRef>
          </p:style>
        </p:cxnSp>
        <p:cxnSp>
          <p:nvCxnSpPr>
            <p:cNvPr id="11" name="直接连接符 10"/>
            <p:cNvCxnSpPr>
              <a:stCxn id="7" idx="4"/>
              <a:endCxn id="8" idx="0"/>
            </p:cNvCxnSpPr>
            <p:nvPr/>
          </p:nvCxnSpPr>
          <p:spPr>
            <a:xfrm rot="16200000" flipH="1">
              <a:off x="2682265" y="5308279"/>
              <a:ext cx="350446" cy="3372"/>
            </a:xfrm>
            <a:prstGeom prst="line">
              <a:avLst/>
            </a:prstGeom>
          </p:spPr>
          <p:style>
            <a:lnRef idx="1">
              <a:schemeClr val="dk1"/>
            </a:lnRef>
            <a:fillRef idx="0">
              <a:schemeClr val="dk1"/>
            </a:fillRef>
            <a:effectRef idx="0">
              <a:schemeClr val="dk1"/>
            </a:effectRef>
            <a:fontRef idx="minor">
              <a:schemeClr val="tx1"/>
            </a:fontRef>
          </p:style>
        </p:cxnSp>
        <p:sp>
          <p:nvSpPr>
            <p:cNvPr id="12" name="TextBox 11"/>
            <p:cNvSpPr txBox="1"/>
            <p:nvPr/>
          </p:nvSpPr>
          <p:spPr>
            <a:xfrm rot="686413">
              <a:off x="3448499" y="4512849"/>
              <a:ext cx="1416252" cy="338554"/>
            </a:xfrm>
            <a:prstGeom prst="rect">
              <a:avLst/>
            </a:prstGeom>
            <a:noFill/>
          </p:spPr>
          <p:txBody>
            <a:bodyPr wrap="square" rtlCol="0">
              <a:spAutoFit/>
            </a:bodyPr>
            <a:lstStyle/>
            <a:p>
              <a:r>
                <a:rPr lang="en-US" altLang="zh-CN" sz="1600">
                  <a:solidFill>
                    <a:srgbClr val="0000FF"/>
                  </a:solidFill>
                  <a:latin typeface="Consolas" pitchFamily="49" charset="0"/>
                  <a:cs typeface="Consolas" pitchFamily="49" charset="0"/>
                </a:rPr>
                <a:t>lowcost[</a:t>
              </a:r>
              <a:r>
                <a:rPr lang="en-US" altLang="zh-CN" sz="1600" i="1">
                  <a:solidFill>
                    <a:srgbClr val="0000FF"/>
                  </a:solidFill>
                  <a:latin typeface="Consolas" pitchFamily="49" charset="0"/>
                  <a:cs typeface="Consolas" pitchFamily="49" charset="0"/>
                </a:rPr>
                <a:t>j</a:t>
              </a:r>
              <a:r>
                <a:rPr lang="en-US" altLang="zh-CN" sz="1600">
                  <a:solidFill>
                    <a:srgbClr val="0000FF"/>
                  </a:solidFill>
                  <a:latin typeface="Consolas" pitchFamily="49" charset="0"/>
                  <a:cs typeface="Consolas" pitchFamily="49" charset="0"/>
                </a:rPr>
                <a:t>]</a:t>
              </a:r>
              <a:endParaRPr lang="zh-CN" altLang="en-US" sz="1600">
                <a:solidFill>
                  <a:srgbClr val="0000FF"/>
                </a:solidFill>
                <a:latin typeface="Consolas" pitchFamily="49" charset="0"/>
                <a:cs typeface="Consolas" pitchFamily="49" charset="0"/>
              </a:endParaRPr>
            </a:p>
          </p:txBody>
        </p:sp>
        <p:sp>
          <p:nvSpPr>
            <p:cNvPr id="13" name="椭圆 12"/>
            <p:cNvSpPr/>
            <p:nvPr/>
          </p:nvSpPr>
          <p:spPr>
            <a:xfrm>
              <a:off x="2285984" y="4345552"/>
              <a:ext cx="1143008" cy="1798092"/>
            </a:xfrm>
            <a:prstGeom prst="ellipse">
              <a:avLst/>
            </a:prstGeom>
            <a:no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itchFamily="49" charset="0"/>
                <a:cs typeface="Consolas" pitchFamily="49" charset="0"/>
              </a:endParaRPr>
            </a:p>
          </p:txBody>
        </p:sp>
        <p:sp>
          <p:nvSpPr>
            <p:cNvPr id="14" name="椭圆 13"/>
            <p:cNvSpPr/>
            <p:nvPr/>
          </p:nvSpPr>
          <p:spPr>
            <a:xfrm>
              <a:off x="4714876" y="4202676"/>
              <a:ext cx="1143008" cy="1798092"/>
            </a:xfrm>
            <a:prstGeom prst="ellipse">
              <a:avLst/>
            </a:prstGeom>
            <a:no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itchFamily="49" charset="0"/>
                <a:cs typeface="Consolas" pitchFamily="49" charset="0"/>
              </a:endParaRPr>
            </a:p>
          </p:txBody>
        </p:sp>
        <p:cxnSp>
          <p:nvCxnSpPr>
            <p:cNvPr id="15" name="直接箭头连接符 14"/>
            <p:cNvCxnSpPr>
              <a:stCxn id="6" idx="0"/>
              <a:endCxn id="8" idx="5"/>
            </p:cNvCxnSpPr>
            <p:nvPr/>
          </p:nvCxnSpPr>
          <p:spPr>
            <a:xfrm rot="16200000" flipV="1">
              <a:off x="2959116" y="5906717"/>
              <a:ext cx="379795" cy="274207"/>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6" name="直接连接符 15"/>
            <p:cNvCxnSpPr>
              <a:stCxn id="9" idx="1"/>
            </p:cNvCxnSpPr>
            <p:nvPr/>
          </p:nvCxnSpPr>
          <p:spPr>
            <a:xfrm rot="16200000" flipV="1">
              <a:off x="4037902" y="3950957"/>
              <a:ext cx="345645" cy="1849215"/>
            </a:xfrm>
            <a:prstGeom prst="line">
              <a:avLst/>
            </a:prstGeom>
            <a:ln w="19050">
              <a:tailEnd type="none"/>
            </a:ln>
          </p:spPr>
          <p:style>
            <a:lnRef idx="2">
              <a:schemeClr val="dk1"/>
            </a:lnRef>
            <a:fillRef idx="0">
              <a:schemeClr val="dk1"/>
            </a:fillRef>
            <a:effectRef idx="1">
              <a:schemeClr val="dk1"/>
            </a:effectRef>
            <a:fontRef idx="minor">
              <a:schemeClr val="tx1"/>
            </a:fontRef>
          </p:style>
        </p:cxnSp>
        <p:sp>
          <p:nvSpPr>
            <p:cNvPr id="17" name="TextBox 16"/>
            <p:cNvSpPr txBox="1"/>
            <p:nvPr/>
          </p:nvSpPr>
          <p:spPr>
            <a:xfrm rot="20843345">
              <a:off x="3670440" y="5472690"/>
              <a:ext cx="1093018" cy="369332"/>
            </a:xfrm>
            <a:prstGeom prst="rect">
              <a:avLst/>
            </a:prstGeom>
            <a:noFill/>
          </p:spPr>
          <p:txBody>
            <a:bodyPr wrap="square" rtlCol="0">
              <a:spAutoFit/>
            </a:bodyPr>
            <a:lstStyle/>
            <a:p>
              <a:pPr algn="l">
                <a:lnSpc>
                  <a:spcPct val="100000"/>
                </a:lnSpc>
                <a:spcBef>
                  <a:spcPts val="0"/>
                </a:spcBef>
              </a:pPr>
              <a:r>
                <a:rPr lang="en-US" altLang="zh-CN" sz="1800">
                  <a:solidFill>
                    <a:srgbClr val="0000FF"/>
                  </a:solidFill>
                  <a:latin typeface="Consolas" pitchFamily="49" charset="0"/>
                  <a:ea typeface="楷体" pitchFamily="49" charset="-122"/>
                  <a:cs typeface="Consolas" pitchFamily="49" charset="0"/>
                </a:rPr>
                <a:t>A[k][j]</a:t>
              </a:r>
              <a:endParaRPr lang="zh-CN" altLang="en-US" sz="1800">
                <a:solidFill>
                  <a:srgbClr val="0000FF"/>
                </a:solidFill>
                <a:latin typeface="Consolas" pitchFamily="49" charset="0"/>
                <a:ea typeface="楷体" pitchFamily="49" charset="-122"/>
                <a:cs typeface="Consolas" pitchFamily="49" charset="0"/>
              </a:endParaRPr>
            </a:p>
          </p:txBody>
        </p:sp>
        <p:sp>
          <p:nvSpPr>
            <p:cNvPr id="18" name="TextBox 17"/>
            <p:cNvSpPr txBox="1"/>
            <p:nvPr/>
          </p:nvSpPr>
          <p:spPr>
            <a:xfrm>
              <a:off x="4643438" y="3857628"/>
              <a:ext cx="3143272" cy="338554"/>
            </a:xfrm>
            <a:prstGeom prst="rect">
              <a:avLst/>
            </a:prstGeom>
            <a:noFill/>
          </p:spPr>
          <p:txBody>
            <a:bodyPr wrap="square" rtlCol="0">
              <a:spAutoFit/>
            </a:bodyPr>
            <a:lstStyle/>
            <a:p>
              <a:r>
                <a:rPr lang="en-US" altLang="zh-CN" sz="2000">
                  <a:solidFill>
                    <a:srgbClr val="C00000"/>
                  </a:solidFill>
                  <a:latin typeface="Consolas" pitchFamily="49" charset="0"/>
                  <a:cs typeface="Consolas" pitchFamily="49" charset="0"/>
                </a:rPr>
                <a:t>V-U</a:t>
              </a:r>
              <a:r>
                <a:rPr lang="en-US" altLang="zh-CN" sz="2000">
                  <a:solidFill>
                    <a:srgbClr val="0000FF"/>
                  </a:solidFill>
                  <a:latin typeface="Consolas" pitchFamily="49" charset="0"/>
                  <a:cs typeface="Consolas" pitchFamily="49" charset="0"/>
                </a:rPr>
                <a:t>={</a:t>
              </a:r>
              <a:r>
                <a:rPr lang="en-US" altLang="zh-CN" sz="2000" i="1">
                  <a:solidFill>
                    <a:srgbClr val="0000FF"/>
                  </a:solidFill>
                  <a:latin typeface="Consolas" pitchFamily="49" charset="0"/>
                  <a:cs typeface="Consolas" pitchFamily="49" charset="0"/>
                </a:rPr>
                <a:t>j</a:t>
              </a:r>
              <a:r>
                <a:rPr lang="en-US" altLang="zh-CN" sz="2000">
                  <a:solidFill>
                    <a:srgbClr val="0000FF"/>
                  </a:solidFill>
                  <a:latin typeface="Consolas" pitchFamily="49" charset="0"/>
                  <a:cs typeface="Consolas" pitchFamily="49" charset="0"/>
                </a:rPr>
                <a:t>|lowcost[</a:t>
              </a:r>
              <a:r>
                <a:rPr lang="en-US" altLang="zh-CN" sz="2000" i="1">
                  <a:solidFill>
                    <a:srgbClr val="0000FF"/>
                  </a:solidFill>
                  <a:latin typeface="Consolas" pitchFamily="49" charset="0"/>
                  <a:cs typeface="Consolas" pitchFamily="49" charset="0"/>
                </a:rPr>
                <a:t>j</a:t>
              </a:r>
              <a:r>
                <a:rPr lang="en-US" altLang="zh-CN" sz="2000">
                  <a:solidFill>
                    <a:srgbClr val="0000FF"/>
                  </a:solidFill>
                  <a:latin typeface="Consolas" pitchFamily="49" charset="0"/>
                  <a:cs typeface="Consolas" pitchFamily="49" charset="0"/>
                </a:rPr>
                <a:t>]</a:t>
              </a:r>
              <a:r>
                <a:rPr lang="en-US" altLang="zh-CN" sz="2000">
                  <a:solidFill>
                    <a:srgbClr val="0000FF"/>
                  </a:solidFill>
                  <a:latin typeface="+mj-ea"/>
                  <a:ea typeface="+mj-ea"/>
                  <a:cs typeface="Consolas" pitchFamily="49" charset="0"/>
                </a:rPr>
                <a:t>≠</a:t>
              </a:r>
              <a:r>
                <a:rPr lang="en-US" altLang="zh-CN" sz="2000">
                  <a:solidFill>
                    <a:srgbClr val="0000FF"/>
                  </a:solidFill>
                  <a:latin typeface="Consolas" pitchFamily="49" charset="0"/>
                  <a:cs typeface="Consolas" pitchFamily="49" charset="0"/>
                </a:rPr>
                <a:t>0}</a:t>
              </a:r>
              <a:endParaRPr lang="zh-CN" altLang="en-US" sz="2000">
                <a:solidFill>
                  <a:srgbClr val="0000FF"/>
                </a:solidFill>
                <a:latin typeface="Consolas" pitchFamily="49" charset="0"/>
                <a:cs typeface="Consolas" pitchFamily="49" charset="0"/>
              </a:endParaRPr>
            </a:p>
          </p:txBody>
        </p:sp>
        <p:sp>
          <p:nvSpPr>
            <p:cNvPr id="19" name="TextBox 18"/>
            <p:cNvSpPr txBox="1"/>
            <p:nvPr/>
          </p:nvSpPr>
          <p:spPr>
            <a:xfrm>
              <a:off x="1071538" y="3929066"/>
              <a:ext cx="2643206" cy="342979"/>
            </a:xfrm>
            <a:prstGeom prst="rect">
              <a:avLst/>
            </a:prstGeom>
            <a:noFill/>
          </p:spPr>
          <p:txBody>
            <a:bodyPr wrap="square" rtlCol="0">
              <a:spAutoFit/>
            </a:bodyPr>
            <a:lstStyle/>
            <a:p>
              <a:r>
                <a:rPr lang="en-US" altLang="zh-CN" sz="2000">
                  <a:solidFill>
                    <a:srgbClr val="C00000"/>
                  </a:solidFill>
                  <a:latin typeface="Consolas" pitchFamily="49" charset="0"/>
                  <a:cs typeface="Consolas" pitchFamily="49" charset="0"/>
                </a:rPr>
                <a:t>U</a:t>
              </a:r>
              <a:r>
                <a:rPr lang="en-US" altLang="zh-CN" sz="2000">
                  <a:solidFill>
                    <a:srgbClr val="0000FF"/>
                  </a:solidFill>
                  <a:latin typeface="Consolas" pitchFamily="49" charset="0"/>
                  <a:cs typeface="Consolas" pitchFamily="49" charset="0"/>
                </a:rPr>
                <a:t>={</a:t>
              </a:r>
              <a:r>
                <a:rPr lang="en-US" altLang="zh-CN" sz="2000" i="1">
                  <a:solidFill>
                    <a:srgbClr val="0000FF"/>
                  </a:solidFill>
                  <a:latin typeface="Consolas" pitchFamily="49" charset="0"/>
                  <a:cs typeface="Consolas" pitchFamily="49" charset="0"/>
                </a:rPr>
                <a:t>i</a:t>
              </a:r>
              <a:r>
                <a:rPr lang="en-US" altLang="zh-CN" sz="2000">
                  <a:solidFill>
                    <a:srgbClr val="0000FF"/>
                  </a:solidFill>
                  <a:latin typeface="Consolas" pitchFamily="49" charset="0"/>
                  <a:cs typeface="Consolas" pitchFamily="49" charset="0"/>
                </a:rPr>
                <a:t>|lowcost[</a:t>
              </a:r>
              <a:r>
                <a:rPr lang="en-US" altLang="zh-CN" sz="2000" i="1">
                  <a:solidFill>
                    <a:srgbClr val="0000FF"/>
                  </a:solidFill>
                  <a:latin typeface="Consolas" pitchFamily="49" charset="0"/>
                  <a:cs typeface="Consolas" pitchFamily="49" charset="0"/>
                </a:rPr>
                <a:t>i</a:t>
              </a:r>
              <a:r>
                <a:rPr lang="en-US" altLang="zh-CN" sz="2000">
                  <a:solidFill>
                    <a:srgbClr val="0000FF"/>
                  </a:solidFill>
                  <a:latin typeface="Consolas" pitchFamily="49" charset="0"/>
                  <a:cs typeface="Consolas" pitchFamily="49" charset="0"/>
                </a:rPr>
                <a:t>]=0}</a:t>
              </a:r>
              <a:endParaRPr lang="zh-CN" altLang="en-US" sz="2000">
                <a:solidFill>
                  <a:srgbClr val="0000FF"/>
                </a:solidFill>
                <a:latin typeface="Consolas" pitchFamily="49" charset="0"/>
                <a:cs typeface="Consolas" pitchFamily="49" charset="0"/>
              </a:endParaRPr>
            </a:p>
          </p:txBody>
        </p:sp>
      </p:grpSp>
      <p:sp>
        <p:nvSpPr>
          <p:cNvPr id="21" name="灯片编号占位符 20"/>
          <p:cNvSpPr>
            <a:spLocks noGrp="1"/>
          </p:cNvSpPr>
          <p:nvPr>
            <p:ph type="sldNum" sz="quarter" idx="12"/>
          </p:nvPr>
        </p:nvSpPr>
        <p:spPr/>
        <p:txBody>
          <a:bodyPr/>
          <a:lstStyle/>
          <a:p>
            <a:fld id="{7AF016A1-9F15-429F-9EFD-84004B73C732}" type="slidenum">
              <a:rPr lang="en-US" altLang="zh-CN" smtClean="0"/>
              <a:pPr/>
              <a:t>9</a:t>
            </a:fld>
            <a:r>
              <a:rPr lang="en-US" altLang="zh-CN"/>
              <a:t>/158</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Text Box 3"/>
          <p:cNvSpPr txBox="1">
            <a:spLocks noChangeArrowheads="1"/>
          </p:cNvSpPr>
          <p:nvPr/>
        </p:nvSpPr>
        <p:spPr bwMode="auto">
          <a:xfrm>
            <a:off x="500034" y="1214422"/>
            <a:ext cx="8280400" cy="1217898"/>
          </a:xfrm>
          <a:prstGeom prst="rect">
            <a:avLst/>
          </a:prstGeom>
          <a:ln>
            <a:solidFill>
              <a:schemeClr val="accent6">
                <a:lumMod val="20000"/>
                <a:lumOff val="80000"/>
              </a:schemeClr>
            </a:solidFill>
            <a:headEnd/>
            <a:tailEnd/>
          </a:ln>
        </p:spPr>
        <p:style>
          <a:lnRef idx="2">
            <a:schemeClr val="accent6"/>
          </a:lnRef>
          <a:fillRef idx="1">
            <a:schemeClr val="lt1"/>
          </a:fillRef>
          <a:effectRef idx="0">
            <a:schemeClr val="accent6"/>
          </a:effectRef>
          <a:fontRef idx="minor">
            <a:schemeClr val="dk1"/>
          </a:fontRef>
        </p:style>
        <p:txBody>
          <a:bodyPr>
            <a:spAutoFit/>
          </a:bodyPr>
          <a:lstStyle/>
          <a:p>
            <a:pPr algn="l">
              <a:lnSpc>
                <a:spcPts val="3000"/>
              </a:lnSpc>
              <a:spcBef>
                <a:spcPts val="0"/>
              </a:spcBef>
            </a:pPr>
            <a:r>
              <a:rPr lang="en-US" altLang="zh-CN" sz="2200">
                <a:solidFill>
                  <a:srgbClr val="FF0000"/>
                </a:solidFill>
                <a:latin typeface="Consolas" pitchFamily="49" charset="0"/>
                <a:ea typeface="楷体" pitchFamily="49" charset="-122"/>
                <a:sym typeface="Wingdings"/>
              </a:rPr>
              <a:t></a:t>
            </a:r>
            <a:r>
              <a:rPr lang="en-US" altLang="zh-CN" sz="2200">
                <a:solidFill>
                  <a:srgbClr val="FF0000"/>
                </a:solidFill>
                <a:latin typeface="Consolas" pitchFamily="49" charset="0"/>
                <a:ea typeface="楷体" pitchFamily="49" charset="-122"/>
              </a:rPr>
              <a:t>Prim</a:t>
            </a:r>
            <a:r>
              <a:rPr lang="zh-CN" altLang="zh-CN" sz="2200">
                <a:solidFill>
                  <a:srgbClr val="FF0000"/>
                </a:solidFill>
                <a:latin typeface="Consolas" pitchFamily="49" charset="0"/>
                <a:ea typeface="楷体" pitchFamily="49" charset="-122"/>
              </a:rPr>
              <a:t>算法分析：</a:t>
            </a:r>
            <a:r>
              <a:rPr lang="zh-CN" altLang="zh-CN" sz="2200">
                <a:solidFill>
                  <a:srgbClr val="0000FF"/>
                </a:solidFill>
                <a:latin typeface="Consolas" pitchFamily="49" charset="0"/>
                <a:ea typeface="仿宋" pitchFamily="49" charset="-122"/>
              </a:rPr>
              <a:t>该算法中有两重</a:t>
            </a:r>
            <a:r>
              <a:rPr lang="en-US" altLang="zh-CN" sz="2200">
                <a:solidFill>
                  <a:srgbClr val="0000FF"/>
                </a:solidFill>
                <a:latin typeface="Consolas" pitchFamily="49" charset="0"/>
                <a:ea typeface="仿宋" pitchFamily="49" charset="-122"/>
              </a:rPr>
              <a:t>for</a:t>
            </a:r>
            <a:r>
              <a:rPr lang="zh-CN" altLang="zh-CN" sz="2200">
                <a:solidFill>
                  <a:srgbClr val="0000FF"/>
                </a:solidFill>
                <a:latin typeface="Consolas" pitchFamily="49" charset="0"/>
                <a:ea typeface="仿宋" pitchFamily="49" charset="-122"/>
              </a:rPr>
              <a:t>循环，所以时间复杂度为</a:t>
            </a:r>
            <a:r>
              <a:rPr lang="en-US" altLang="zh-CN" sz="2200">
                <a:solidFill>
                  <a:srgbClr val="0000FF"/>
                </a:solidFill>
                <a:latin typeface="Consolas" pitchFamily="49" charset="0"/>
                <a:ea typeface="仿宋" pitchFamily="49" charset="-122"/>
              </a:rPr>
              <a:t>O(</a:t>
            </a:r>
            <a:r>
              <a:rPr lang="en-US" altLang="zh-CN" sz="2200" i="1">
                <a:solidFill>
                  <a:srgbClr val="0000FF"/>
                </a:solidFill>
                <a:latin typeface="Consolas" pitchFamily="49" charset="0"/>
                <a:ea typeface="仿宋" pitchFamily="49" charset="-122"/>
              </a:rPr>
              <a:t>n</a:t>
            </a:r>
            <a:r>
              <a:rPr lang="en-US" altLang="zh-CN" sz="2200" baseline="30000">
                <a:solidFill>
                  <a:srgbClr val="0000FF"/>
                </a:solidFill>
                <a:latin typeface="Consolas" pitchFamily="49" charset="0"/>
                <a:ea typeface="仿宋" pitchFamily="49" charset="-122"/>
              </a:rPr>
              <a:t>2</a:t>
            </a:r>
            <a:r>
              <a:rPr lang="en-US" altLang="zh-CN" sz="2200">
                <a:solidFill>
                  <a:srgbClr val="0000FF"/>
                </a:solidFill>
                <a:latin typeface="Consolas" pitchFamily="49" charset="0"/>
                <a:ea typeface="仿宋" pitchFamily="49" charset="-122"/>
              </a:rPr>
              <a:t>)</a:t>
            </a:r>
            <a:r>
              <a:rPr lang="zh-CN" altLang="zh-CN" sz="2200">
                <a:solidFill>
                  <a:srgbClr val="0000FF"/>
                </a:solidFill>
                <a:latin typeface="Consolas" pitchFamily="49" charset="0"/>
                <a:ea typeface="仿宋" pitchFamily="49" charset="-122"/>
              </a:rPr>
              <a:t>。从中看出执行时间与图边数</a:t>
            </a:r>
            <a:r>
              <a:rPr lang="en-US" altLang="zh-CN" sz="2200" i="1">
                <a:solidFill>
                  <a:srgbClr val="0000FF"/>
                </a:solidFill>
                <a:latin typeface="Consolas" pitchFamily="49" charset="0"/>
                <a:ea typeface="仿宋" pitchFamily="49" charset="-122"/>
              </a:rPr>
              <a:t>e</a:t>
            </a:r>
            <a:r>
              <a:rPr lang="zh-CN" altLang="zh-CN" sz="2200">
                <a:solidFill>
                  <a:srgbClr val="0000FF"/>
                </a:solidFill>
                <a:latin typeface="Consolas" pitchFamily="49" charset="0"/>
                <a:ea typeface="仿宋" pitchFamily="49" charset="-122"/>
              </a:rPr>
              <a:t>无关，所以适合稠密图构造最小生成树。</a:t>
            </a:r>
          </a:p>
        </p:txBody>
      </p:sp>
      <p:sp>
        <p:nvSpPr>
          <p:cNvPr id="4" name="灯片编号占位符 3"/>
          <p:cNvSpPr>
            <a:spLocks noGrp="1"/>
          </p:cNvSpPr>
          <p:nvPr>
            <p:ph type="sldNum" sz="quarter" idx="12"/>
          </p:nvPr>
        </p:nvSpPr>
        <p:spPr/>
        <p:txBody>
          <a:bodyPr/>
          <a:lstStyle/>
          <a:p>
            <a:fld id="{7AF016A1-9F15-429F-9EFD-84004B73C732}" type="slidenum">
              <a:rPr lang="en-US" altLang="zh-CN" smtClean="0"/>
              <a:pPr/>
              <a:t>10</a:t>
            </a:fld>
            <a:r>
              <a:rPr lang="en-US" altLang="zh-CN"/>
              <a:t>/158</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24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ext Box 2"/>
          <p:cNvSpPr txBox="1">
            <a:spLocks noChangeArrowheads="1"/>
          </p:cNvSpPr>
          <p:nvPr/>
        </p:nvSpPr>
        <p:spPr bwMode="auto">
          <a:xfrm>
            <a:off x="285720" y="428604"/>
            <a:ext cx="4248149" cy="461665"/>
          </a:xfrm>
          <a:prstGeom prst="rect">
            <a:avLst/>
          </a:prstGeom>
          <a:solidFill>
            <a:srgbClr val="9900FF"/>
          </a:solidFill>
          <a:ln w="9525">
            <a:noFill/>
            <a:miter lim="800000"/>
            <a:headEnd/>
            <a:tailEnd/>
          </a:ln>
        </p:spPr>
        <p:txBody>
          <a:bodyPr wrap="square">
            <a:spAutoFit/>
          </a:bodyPr>
          <a:lstStyle/>
          <a:p>
            <a:pPr algn="l">
              <a:lnSpc>
                <a:spcPct val="100000"/>
              </a:lnSpc>
              <a:spcBef>
                <a:spcPct val="50000"/>
              </a:spcBef>
            </a:pPr>
            <a:r>
              <a:rPr lang="en-US" altLang="zh-CN">
                <a:solidFill>
                  <a:schemeClr val="bg1"/>
                </a:solidFill>
                <a:latin typeface="Consolas" pitchFamily="49" charset="0"/>
                <a:ea typeface="微软雅黑" pitchFamily="34" charset="-122"/>
                <a:cs typeface="Consolas" pitchFamily="49" charset="0"/>
              </a:rPr>
              <a:t>3. </a:t>
            </a:r>
            <a:r>
              <a:rPr lang="zh-CN" altLang="en-US">
                <a:solidFill>
                  <a:schemeClr val="bg1"/>
                </a:solidFill>
                <a:latin typeface="Consolas" pitchFamily="49" charset="0"/>
                <a:ea typeface="微软雅黑" pitchFamily="34" charset="-122"/>
                <a:cs typeface="Consolas" pitchFamily="49" charset="0"/>
              </a:rPr>
              <a:t>普里姆算法的正确性证明</a:t>
            </a:r>
          </a:p>
        </p:txBody>
      </p:sp>
      <p:sp>
        <p:nvSpPr>
          <p:cNvPr id="63491" name="Text Box 3"/>
          <p:cNvSpPr txBox="1">
            <a:spLocks noChangeArrowheads="1"/>
          </p:cNvSpPr>
          <p:nvPr/>
        </p:nvSpPr>
        <p:spPr bwMode="auto">
          <a:xfrm>
            <a:off x="428596" y="1428736"/>
            <a:ext cx="8424863" cy="913070"/>
          </a:xfrm>
          <a:prstGeom prst="rect">
            <a:avLst/>
          </a:prstGeom>
          <a:noFill/>
          <a:ln w="9525">
            <a:noFill/>
            <a:miter lim="800000"/>
            <a:headEnd/>
            <a:tailEnd/>
          </a:ln>
        </p:spPr>
        <p:txBody>
          <a:bodyPr>
            <a:spAutoFit/>
          </a:bodyPr>
          <a:lstStyle/>
          <a:p>
            <a:pPr algn="l" defTabSz="360000">
              <a:lnSpc>
                <a:spcPts val="3200"/>
              </a:lnSpc>
              <a:spcBef>
                <a:spcPts val="600"/>
              </a:spcBef>
            </a:pPr>
            <a:r>
              <a:rPr lang="en-US" altLang="zh-CN">
                <a:solidFill>
                  <a:srgbClr val="0000FF"/>
                </a:solidFill>
                <a:latin typeface="Consolas" pitchFamily="49" charset="0"/>
                <a:ea typeface="仿宋" pitchFamily="49" charset="-122"/>
                <a:cs typeface="Consolas" pitchFamily="49" charset="0"/>
              </a:rPr>
              <a:t>  </a:t>
            </a:r>
            <a:r>
              <a:rPr lang="zh-CN" altLang="zh-CN">
                <a:solidFill>
                  <a:srgbClr val="0000FF"/>
                </a:solidFill>
                <a:latin typeface="Consolas" pitchFamily="49" charset="0"/>
                <a:ea typeface="仿宋" pitchFamily="49" charset="-122"/>
                <a:cs typeface="Consolas" pitchFamily="49" charset="0"/>
              </a:rPr>
              <a:t>普里姆算法是一种贪心算法。对于带权连通无向图</a:t>
            </a:r>
            <a:r>
              <a:rPr lang="en-US" altLang="zh-CN">
                <a:solidFill>
                  <a:srgbClr val="0000FF"/>
                </a:solidFill>
                <a:latin typeface="Consolas" pitchFamily="49" charset="0"/>
                <a:ea typeface="仿宋" pitchFamily="49" charset="-122"/>
                <a:cs typeface="Consolas" pitchFamily="49" charset="0"/>
              </a:rPr>
              <a:t>G=(V</a:t>
            </a:r>
            <a:r>
              <a:rPr lang="zh-CN" altLang="zh-CN">
                <a:solidFill>
                  <a:srgbClr val="0000FF"/>
                </a:solidFill>
                <a:latin typeface="Consolas" pitchFamily="49" charset="0"/>
                <a:ea typeface="仿宋" pitchFamily="49" charset="-122"/>
                <a:cs typeface="Consolas" pitchFamily="49" charset="0"/>
              </a:rPr>
              <a:t>，</a:t>
            </a:r>
            <a:r>
              <a:rPr lang="en-US" altLang="zh-CN">
                <a:solidFill>
                  <a:srgbClr val="0000FF"/>
                </a:solidFill>
                <a:latin typeface="Consolas" pitchFamily="49" charset="0"/>
                <a:ea typeface="仿宋" pitchFamily="49" charset="-122"/>
                <a:cs typeface="Consolas" pitchFamily="49" charset="0"/>
              </a:rPr>
              <a:t>E)</a:t>
            </a:r>
            <a:r>
              <a:rPr lang="zh-CN" altLang="zh-CN">
                <a:solidFill>
                  <a:srgbClr val="0000FF"/>
                </a:solidFill>
                <a:latin typeface="Consolas" pitchFamily="49" charset="0"/>
                <a:ea typeface="仿宋" pitchFamily="49" charset="-122"/>
                <a:cs typeface="Consolas" pitchFamily="49" charset="0"/>
              </a:rPr>
              <a:t>，采用通过对算法步骤的归纳来证明普里姆算法的正确性。</a:t>
            </a:r>
            <a:r>
              <a:rPr lang="en-US" altLang="zh-CN">
                <a:solidFill>
                  <a:srgbClr val="0000FF"/>
                </a:solidFill>
                <a:latin typeface="Consolas" pitchFamily="49" charset="0"/>
                <a:ea typeface="仿宋" pitchFamily="49" charset="-122"/>
                <a:cs typeface="Consolas" pitchFamily="49" charset="0"/>
              </a:rPr>
              <a:t>   </a:t>
            </a:r>
            <a:endParaRPr lang="zh-CN" altLang="zh-CN">
              <a:solidFill>
                <a:srgbClr val="0000FF"/>
              </a:solidFill>
              <a:latin typeface="Consolas" pitchFamily="49" charset="0"/>
              <a:ea typeface="仿宋" pitchFamily="49" charset="-122"/>
              <a:cs typeface="Consolas" pitchFamily="49" charset="0"/>
            </a:endParaRPr>
          </a:p>
        </p:txBody>
      </p:sp>
      <p:sp>
        <p:nvSpPr>
          <p:cNvPr id="4" name="Text Box 3"/>
          <p:cNvSpPr txBox="1">
            <a:spLocks noChangeArrowheads="1"/>
          </p:cNvSpPr>
          <p:nvPr/>
        </p:nvSpPr>
        <p:spPr bwMode="auto">
          <a:xfrm>
            <a:off x="357158" y="2571744"/>
            <a:ext cx="8424863" cy="913070"/>
          </a:xfrm>
          <a:prstGeom prst="rect">
            <a:avLst/>
          </a:prstGeom>
          <a:ln>
            <a:solidFill>
              <a:schemeClr val="accent6">
                <a:lumMod val="40000"/>
                <a:lumOff val="60000"/>
              </a:schemeClr>
            </a:solidFill>
            <a:headEnd/>
            <a:tailEnd/>
          </a:ln>
        </p:spPr>
        <p:style>
          <a:lnRef idx="2">
            <a:schemeClr val="accent6"/>
          </a:lnRef>
          <a:fillRef idx="1">
            <a:schemeClr val="lt1"/>
          </a:fillRef>
          <a:effectRef idx="0">
            <a:schemeClr val="accent6"/>
          </a:effectRef>
          <a:fontRef idx="minor">
            <a:schemeClr val="dk1"/>
          </a:fontRef>
        </p:style>
        <p:txBody>
          <a:bodyPr>
            <a:spAutoFit/>
          </a:bodyPr>
          <a:lstStyle/>
          <a:p>
            <a:pPr algn="l" defTabSz="360000">
              <a:lnSpc>
                <a:spcPts val="3200"/>
              </a:lnSpc>
              <a:spcBef>
                <a:spcPts val="600"/>
              </a:spcBef>
            </a:pPr>
            <a:r>
              <a:rPr lang="en-US" altLang="zh-CN">
                <a:solidFill>
                  <a:srgbClr val="0000FF"/>
                </a:solidFill>
                <a:latin typeface="Consolas" pitchFamily="49" charset="0"/>
                <a:ea typeface="仿宋" pitchFamily="49" charset="-122"/>
                <a:cs typeface="Consolas" pitchFamily="49" charset="0"/>
              </a:rPr>
              <a:t>  </a:t>
            </a:r>
            <a:r>
              <a:rPr lang="zh-CN" altLang="zh-CN">
                <a:solidFill>
                  <a:srgbClr val="FF0000"/>
                </a:solidFill>
                <a:latin typeface="Consolas" pitchFamily="49" charset="0"/>
                <a:ea typeface="楷体" pitchFamily="49" charset="-122"/>
                <a:cs typeface="Consolas" pitchFamily="49" charset="0"/>
              </a:rPr>
              <a:t>定理</a:t>
            </a:r>
            <a:r>
              <a:rPr lang="en-US" altLang="zh-CN">
                <a:solidFill>
                  <a:srgbClr val="FF0000"/>
                </a:solidFill>
                <a:latin typeface="Consolas" pitchFamily="49" charset="0"/>
                <a:ea typeface="楷体" pitchFamily="49" charset="-122"/>
                <a:cs typeface="Consolas" pitchFamily="49" charset="0"/>
              </a:rPr>
              <a:t>9.1 </a:t>
            </a:r>
            <a:r>
              <a:rPr lang="zh-CN" altLang="zh-CN">
                <a:solidFill>
                  <a:srgbClr val="0000FF"/>
                </a:solidFill>
                <a:latin typeface="Consolas" pitchFamily="49" charset="0"/>
                <a:ea typeface="仿宋" pitchFamily="49" charset="-122"/>
                <a:cs typeface="Consolas" pitchFamily="49" charset="0"/>
              </a:rPr>
              <a:t>对于任意正整数</a:t>
            </a:r>
            <a:r>
              <a:rPr lang="en-US" altLang="zh-CN" i="1">
                <a:solidFill>
                  <a:srgbClr val="0000FF"/>
                </a:solidFill>
                <a:latin typeface="Consolas" pitchFamily="49" charset="0"/>
                <a:ea typeface="仿宋" pitchFamily="49" charset="-122"/>
                <a:cs typeface="Consolas" pitchFamily="49" charset="0"/>
              </a:rPr>
              <a:t>k</a:t>
            </a:r>
            <a:r>
              <a:rPr lang="en-US" altLang="zh-CN">
                <a:solidFill>
                  <a:srgbClr val="0000FF"/>
                </a:solidFill>
                <a:latin typeface="Consolas" pitchFamily="49" charset="0"/>
                <a:ea typeface="仿宋" pitchFamily="49" charset="-122"/>
                <a:cs typeface="Consolas" pitchFamily="49" charset="0"/>
              </a:rPr>
              <a:t>&lt;</a:t>
            </a:r>
            <a:r>
              <a:rPr lang="en-US" altLang="zh-CN" i="1">
                <a:solidFill>
                  <a:srgbClr val="0000FF"/>
                </a:solidFill>
                <a:latin typeface="Consolas" pitchFamily="49" charset="0"/>
                <a:ea typeface="仿宋" pitchFamily="49" charset="-122"/>
                <a:cs typeface="Consolas" pitchFamily="49" charset="0"/>
              </a:rPr>
              <a:t>n</a:t>
            </a:r>
            <a:r>
              <a:rPr lang="zh-CN" altLang="zh-CN">
                <a:solidFill>
                  <a:srgbClr val="0000FF"/>
                </a:solidFill>
                <a:latin typeface="Consolas" pitchFamily="49" charset="0"/>
                <a:ea typeface="仿宋" pitchFamily="49" charset="-122"/>
                <a:cs typeface="Consolas" pitchFamily="49" charset="0"/>
              </a:rPr>
              <a:t>，存在一棵最小生成树</a:t>
            </a:r>
            <a:r>
              <a:rPr lang="en-US" altLang="zh-CN">
                <a:solidFill>
                  <a:srgbClr val="0000FF"/>
                </a:solidFill>
                <a:latin typeface="Consolas" pitchFamily="49" charset="0"/>
                <a:ea typeface="仿宋" pitchFamily="49" charset="-122"/>
                <a:cs typeface="Consolas" pitchFamily="49" charset="0"/>
              </a:rPr>
              <a:t>T</a:t>
            </a:r>
            <a:r>
              <a:rPr lang="zh-CN" altLang="zh-CN">
                <a:solidFill>
                  <a:srgbClr val="0000FF"/>
                </a:solidFill>
                <a:latin typeface="Consolas" pitchFamily="49" charset="0"/>
                <a:ea typeface="仿宋" pitchFamily="49" charset="-122"/>
                <a:cs typeface="Consolas" pitchFamily="49" charset="0"/>
              </a:rPr>
              <a:t>包含</a:t>
            </a:r>
            <a:r>
              <a:rPr lang="en-US" altLang="zh-CN">
                <a:solidFill>
                  <a:srgbClr val="0000FF"/>
                </a:solidFill>
                <a:latin typeface="Consolas" pitchFamily="49" charset="0"/>
                <a:ea typeface="仿宋" pitchFamily="49" charset="-122"/>
                <a:cs typeface="Consolas" pitchFamily="49" charset="0"/>
              </a:rPr>
              <a:t>Prim</a:t>
            </a:r>
            <a:r>
              <a:rPr lang="zh-CN" altLang="zh-CN">
                <a:solidFill>
                  <a:srgbClr val="0000FF"/>
                </a:solidFill>
                <a:latin typeface="Consolas" pitchFamily="49" charset="0"/>
                <a:ea typeface="仿宋" pitchFamily="49" charset="-122"/>
                <a:cs typeface="Consolas" pitchFamily="49" charset="0"/>
              </a:rPr>
              <a:t>算法前</a:t>
            </a:r>
            <a:r>
              <a:rPr lang="en-US" altLang="zh-CN" i="1">
                <a:solidFill>
                  <a:srgbClr val="0000FF"/>
                </a:solidFill>
                <a:latin typeface="Consolas" pitchFamily="49" charset="0"/>
                <a:ea typeface="仿宋" pitchFamily="49" charset="-122"/>
                <a:cs typeface="Consolas" pitchFamily="49" charset="0"/>
              </a:rPr>
              <a:t>k</a:t>
            </a:r>
            <a:r>
              <a:rPr lang="zh-CN" altLang="zh-CN">
                <a:solidFill>
                  <a:srgbClr val="0000FF"/>
                </a:solidFill>
                <a:latin typeface="Consolas" pitchFamily="49" charset="0"/>
                <a:ea typeface="仿宋" pitchFamily="49" charset="-122"/>
                <a:cs typeface="Consolas" pitchFamily="49" charset="0"/>
              </a:rPr>
              <a:t>步选择的边。</a:t>
            </a:r>
          </a:p>
        </p:txBody>
      </p:sp>
      <p:sp>
        <p:nvSpPr>
          <p:cNvPr id="6" name="灯片编号占位符 5"/>
          <p:cNvSpPr>
            <a:spLocks noGrp="1"/>
          </p:cNvSpPr>
          <p:nvPr>
            <p:ph type="sldNum" sz="quarter" idx="12"/>
          </p:nvPr>
        </p:nvSpPr>
        <p:spPr/>
        <p:txBody>
          <a:bodyPr/>
          <a:lstStyle/>
          <a:p>
            <a:fld id="{7AF016A1-9F15-429F-9EFD-84004B73C732}" type="slidenum">
              <a:rPr lang="en-US" altLang="zh-CN" smtClean="0"/>
              <a:pPr/>
              <a:t>11</a:t>
            </a:fld>
            <a:r>
              <a:rPr lang="en-US" altLang="zh-CN"/>
              <a:t>/158</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57158" y="1328212"/>
            <a:ext cx="8572560" cy="3600986"/>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ct val="100000"/>
              </a:lnSpc>
            </a:pPr>
            <a:r>
              <a:rPr lang="en-US" altLang="zh-CN">
                <a:solidFill>
                  <a:srgbClr val="0000FF"/>
                </a:solidFill>
                <a:latin typeface="Consolas" pitchFamily="49" charset="0"/>
                <a:ea typeface="仿宋" pitchFamily="49" charset="-122"/>
                <a:cs typeface="Consolas" pitchFamily="49" charset="0"/>
              </a:rPr>
              <a:t> </a:t>
            </a:r>
            <a:r>
              <a:rPr lang="zh-CN" altLang="zh-CN">
                <a:solidFill>
                  <a:srgbClr val="0000FF"/>
                </a:solidFill>
                <a:latin typeface="Consolas" pitchFamily="49" charset="0"/>
                <a:ea typeface="仿宋" pitchFamily="49" charset="-122"/>
                <a:cs typeface="Consolas" pitchFamily="49" charset="0"/>
              </a:rPr>
              <a:t>（</a:t>
            </a:r>
            <a:r>
              <a:rPr lang="en-US" altLang="zh-CN">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a:t>
            </a:r>
            <a:r>
              <a:rPr lang="en-US" altLang="zh-CN" i="1">
                <a:solidFill>
                  <a:srgbClr val="FF0000"/>
                </a:solidFill>
                <a:latin typeface="Consolas" pitchFamily="49" charset="0"/>
                <a:ea typeface="仿宋" pitchFamily="49" charset="-122"/>
                <a:cs typeface="Consolas" pitchFamily="49" charset="0"/>
              </a:rPr>
              <a:t>k</a:t>
            </a:r>
            <a:r>
              <a:rPr lang="en-US" altLang="zh-CN">
                <a:solidFill>
                  <a:srgbClr val="FF0000"/>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时，用反证法证明存在一棵最小生成树</a:t>
            </a:r>
            <a:r>
              <a:rPr lang="en-US" altLang="zh-CN">
                <a:solidFill>
                  <a:srgbClr val="0000FF"/>
                </a:solidFill>
                <a:latin typeface="Consolas" pitchFamily="49" charset="0"/>
                <a:ea typeface="仿宋" pitchFamily="49" charset="-122"/>
                <a:cs typeface="Consolas" pitchFamily="49" charset="0"/>
              </a:rPr>
              <a:t>T</a:t>
            </a:r>
            <a:r>
              <a:rPr lang="zh-CN" altLang="zh-CN">
                <a:solidFill>
                  <a:srgbClr val="0000FF"/>
                </a:solidFill>
                <a:latin typeface="Consolas" pitchFamily="49" charset="0"/>
                <a:ea typeface="仿宋" pitchFamily="49" charset="-122"/>
                <a:cs typeface="Consolas" pitchFamily="49" charset="0"/>
              </a:rPr>
              <a:t>包含</a:t>
            </a:r>
            <a:r>
              <a:rPr lang="en-US" altLang="zh-CN" i="1">
                <a:solidFill>
                  <a:srgbClr val="0000FF"/>
                </a:solidFill>
                <a:latin typeface="Consolas" pitchFamily="49" charset="0"/>
                <a:ea typeface="仿宋" pitchFamily="49" charset="-122"/>
                <a:cs typeface="Consolas" pitchFamily="49" charset="0"/>
              </a:rPr>
              <a:t>e</a:t>
            </a:r>
            <a:r>
              <a:rPr lang="en-US" altLang="zh-CN">
                <a:solidFill>
                  <a:srgbClr val="0000FF"/>
                </a:solidFill>
                <a:latin typeface="Consolas" pitchFamily="49" charset="0"/>
                <a:ea typeface="仿宋" pitchFamily="49" charset="-122"/>
                <a:cs typeface="Consolas" pitchFamily="49" charset="0"/>
              </a:rPr>
              <a:t>=(0</a:t>
            </a:r>
            <a:r>
              <a:rPr lang="zh-CN"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i</a:t>
            </a:r>
            <a:r>
              <a:rPr lang="en-US"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，其中</a:t>
            </a:r>
            <a:r>
              <a:rPr lang="en-US" altLang="zh-CN">
                <a:solidFill>
                  <a:srgbClr val="0000FF"/>
                </a:solidFill>
                <a:latin typeface="Consolas" pitchFamily="49" charset="0"/>
                <a:ea typeface="仿宋" pitchFamily="49" charset="-122"/>
                <a:cs typeface="Consolas" pitchFamily="49" charset="0"/>
              </a:rPr>
              <a:t>(0</a:t>
            </a:r>
            <a:r>
              <a:rPr lang="zh-CN"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i</a:t>
            </a:r>
            <a:r>
              <a:rPr lang="en-US"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是所有关联顶点</a:t>
            </a:r>
            <a:r>
              <a:rPr lang="en-US" altLang="zh-CN">
                <a:solidFill>
                  <a:srgbClr val="0000FF"/>
                </a:solidFill>
                <a:latin typeface="Consolas" pitchFamily="49" charset="0"/>
                <a:ea typeface="仿宋" pitchFamily="49" charset="-122"/>
                <a:cs typeface="Consolas" pitchFamily="49" charset="0"/>
              </a:rPr>
              <a:t>0</a:t>
            </a:r>
            <a:r>
              <a:rPr lang="zh-CN" altLang="zh-CN">
                <a:solidFill>
                  <a:srgbClr val="0000FF"/>
                </a:solidFill>
                <a:latin typeface="Consolas" pitchFamily="49" charset="0"/>
                <a:ea typeface="仿宋" pitchFamily="49" charset="-122"/>
                <a:cs typeface="Consolas" pitchFamily="49" charset="0"/>
              </a:rPr>
              <a:t>的边中权最小的。</a:t>
            </a:r>
          </a:p>
          <a:p>
            <a:pPr algn="l">
              <a:lnSpc>
                <a:spcPct val="100000"/>
              </a:lnSpc>
            </a:pPr>
            <a:r>
              <a:rPr lang="en-US" altLang="zh-CN">
                <a:solidFill>
                  <a:srgbClr val="0000FF"/>
                </a:solidFill>
                <a:latin typeface="Consolas" pitchFamily="49" charset="0"/>
                <a:ea typeface="仿宋" pitchFamily="49" charset="-122"/>
                <a:cs typeface="Consolas" pitchFamily="49" charset="0"/>
              </a:rPr>
              <a:t>    </a:t>
            </a:r>
            <a:r>
              <a:rPr lang="zh-CN" altLang="zh-CN">
                <a:solidFill>
                  <a:srgbClr val="0000FF"/>
                </a:solidFill>
                <a:latin typeface="Consolas" pitchFamily="49" charset="0"/>
                <a:ea typeface="仿宋" pitchFamily="49" charset="-122"/>
                <a:cs typeface="Consolas" pitchFamily="49" charset="0"/>
              </a:rPr>
              <a:t>令</a:t>
            </a:r>
            <a:r>
              <a:rPr lang="en-US" altLang="zh-CN">
                <a:solidFill>
                  <a:srgbClr val="0000FF"/>
                </a:solidFill>
                <a:latin typeface="Consolas" pitchFamily="49" charset="0"/>
                <a:ea typeface="仿宋" pitchFamily="49" charset="-122"/>
                <a:cs typeface="Consolas" pitchFamily="49" charset="0"/>
              </a:rPr>
              <a:t>T</a:t>
            </a:r>
            <a:r>
              <a:rPr lang="zh-CN" altLang="zh-CN">
                <a:solidFill>
                  <a:srgbClr val="0000FF"/>
                </a:solidFill>
                <a:latin typeface="Consolas" pitchFamily="49" charset="0"/>
                <a:ea typeface="仿宋" pitchFamily="49" charset="-122"/>
                <a:cs typeface="Consolas" pitchFamily="49" charset="0"/>
              </a:rPr>
              <a:t>为一棵最小生成树，假如</a:t>
            </a:r>
            <a:r>
              <a:rPr lang="en-US" altLang="zh-CN">
                <a:solidFill>
                  <a:srgbClr val="0000FF"/>
                </a:solidFill>
                <a:latin typeface="Consolas" pitchFamily="49" charset="0"/>
                <a:ea typeface="仿宋" pitchFamily="49" charset="-122"/>
                <a:cs typeface="Consolas" pitchFamily="49" charset="0"/>
              </a:rPr>
              <a:t>T</a:t>
            </a:r>
            <a:r>
              <a:rPr lang="zh-CN" altLang="zh-CN">
                <a:solidFill>
                  <a:srgbClr val="0000FF"/>
                </a:solidFill>
                <a:latin typeface="Consolas" pitchFamily="49" charset="0"/>
                <a:ea typeface="仿宋" pitchFamily="49" charset="-122"/>
                <a:cs typeface="Consolas" pitchFamily="49" charset="0"/>
              </a:rPr>
              <a:t>不包含</a:t>
            </a:r>
            <a:r>
              <a:rPr lang="en-US" altLang="zh-CN">
                <a:solidFill>
                  <a:srgbClr val="0000FF"/>
                </a:solidFill>
                <a:latin typeface="Consolas" pitchFamily="49" charset="0"/>
                <a:ea typeface="仿宋" pitchFamily="49" charset="-122"/>
                <a:cs typeface="Consolas" pitchFamily="49" charset="0"/>
              </a:rPr>
              <a:t>(0</a:t>
            </a:r>
            <a:r>
              <a:rPr lang="zh-CN"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i</a:t>
            </a:r>
            <a:r>
              <a:rPr lang="en-US"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a:t>
            </a:r>
            <a:r>
              <a:rPr lang="zh-CN" altLang="en-US">
                <a:solidFill>
                  <a:srgbClr val="0000FF"/>
                </a:solidFill>
                <a:latin typeface="Consolas" pitchFamily="49" charset="0"/>
                <a:ea typeface="仿宋" pitchFamily="49" charset="-122"/>
                <a:cs typeface="Consolas" pitchFamily="49" charset="0"/>
              </a:rPr>
              <a:t>则</a:t>
            </a:r>
            <a:r>
              <a:rPr lang="en-US" altLang="zh-CN">
                <a:solidFill>
                  <a:srgbClr val="0000FF"/>
                </a:solidFill>
                <a:latin typeface="Consolas" pitchFamily="49" charset="0"/>
                <a:ea typeface="仿宋" pitchFamily="49" charset="-122"/>
                <a:cs typeface="Consolas" pitchFamily="49" charset="0"/>
              </a:rPr>
              <a:t>T</a:t>
            </a:r>
            <a:r>
              <a:rPr lang="zh-CN" altLang="zh-CN">
                <a:solidFill>
                  <a:srgbClr val="0000FF"/>
                </a:solidFill>
                <a:latin typeface="Consolas" pitchFamily="49" charset="0"/>
                <a:ea typeface="仿宋" pitchFamily="49" charset="-122"/>
                <a:cs typeface="Consolas" pitchFamily="49" charset="0"/>
              </a:rPr>
              <a:t>∪</a:t>
            </a:r>
            <a:r>
              <a:rPr lang="en-US" altLang="zh-CN">
                <a:solidFill>
                  <a:srgbClr val="0000FF"/>
                </a:solidFill>
                <a:latin typeface="Consolas" pitchFamily="49" charset="0"/>
                <a:ea typeface="仿宋" pitchFamily="49" charset="-122"/>
                <a:cs typeface="Consolas" pitchFamily="49" charset="0"/>
              </a:rPr>
              <a:t>{(0</a:t>
            </a:r>
            <a:r>
              <a:rPr lang="zh-CN"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i</a:t>
            </a:r>
            <a:r>
              <a:rPr lang="en-US"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含有一个回路，设这个回路中关联顶点</a:t>
            </a:r>
            <a:r>
              <a:rPr lang="en-US" altLang="zh-CN">
                <a:solidFill>
                  <a:srgbClr val="0000FF"/>
                </a:solidFill>
                <a:latin typeface="Consolas" pitchFamily="49" charset="0"/>
                <a:ea typeface="仿宋" pitchFamily="49" charset="-122"/>
                <a:cs typeface="Consolas" pitchFamily="49" charset="0"/>
              </a:rPr>
              <a:t>0</a:t>
            </a:r>
            <a:r>
              <a:rPr lang="zh-CN" altLang="zh-CN">
                <a:solidFill>
                  <a:srgbClr val="0000FF"/>
                </a:solidFill>
                <a:latin typeface="Consolas" pitchFamily="49" charset="0"/>
                <a:ea typeface="仿宋" pitchFamily="49" charset="-122"/>
                <a:cs typeface="Consolas" pitchFamily="49" charset="0"/>
              </a:rPr>
              <a:t>的边是</a:t>
            </a:r>
            <a:r>
              <a:rPr lang="en-US" altLang="zh-CN">
                <a:solidFill>
                  <a:srgbClr val="0000FF"/>
                </a:solidFill>
                <a:latin typeface="Consolas" pitchFamily="49" charset="0"/>
                <a:ea typeface="仿宋" pitchFamily="49" charset="-122"/>
                <a:cs typeface="Consolas" pitchFamily="49" charset="0"/>
              </a:rPr>
              <a:t>(0</a:t>
            </a:r>
            <a:r>
              <a:rPr lang="zh-CN"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j</a:t>
            </a:r>
            <a:r>
              <a:rPr lang="en-US"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a:t>
            </a:r>
            <a:r>
              <a:rPr lang="en-US" altLang="zh-CN">
                <a:solidFill>
                  <a:srgbClr val="0000FF"/>
                </a:solidFill>
                <a:latin typeface="Consolas" pitchFamily="49" charset="0"/>
                <a:ea typeface="仿宋" pitchFamily="49" charset="-122"/>
                <a:cs typeface="Consolas" pitchFamily="49" charset="0"/>
              </a:rPr>
              <a:t> </a:t>
            </a:r>
            <a:r>
              <a:rPr lang="zh-CN" altLang="zh-CN">
                <a:solidFill>
                  <a:srgbClr val="0000FF"/>
                </a:solidFill>
                <a:latin typeface="Consolas" pitchFamily="49" charset="0"/>
                <a:ea typeface="仿宋" pitchFamily="49" charset="-122"/>
                <a:cs typeface="Consolas" pitchFamily="49" charset="0"/>
              </a:rPr>
              <a:t>令：</a:t>
            </a:r>
          </a:p>
          <a:p>
            <a:pPr algn="l">
              <a:lnSpc>
                <a:spcPct val="100000"/>
              </a:lnSpc>
            </a:pPr>
            <a:r>
              <a:rPr lang="en-US" altLang="zh-CN" i="1">
                <a:solidFill>
                  <a:srgbClr val="C00000"/>
                </a:solidFill>
                <a:latin typeface="Consolas" pitchFamily="49" charset="0"/>
                <a:ea typeface="仿宋" pitchFamily="49" charset="-122"/>
                <a:cs typeface="Consolas" pitchFamily="49" charset="0"/>
              </a:rPr>
              <a:t>     </a:t>
            </a:r>
            <a:r>
              <a:rPr lang="en-US" altLang="zh-CN">
                <a:solidFill>
                  <a:srgbClr val="C00000"/>
                </a:solidFill>
                <a:latin typeface="Consolas" pitchFamily="49" charset="0"/>
                <a:ea typeface="仿宋" pitchFamily="49" charset="-122"/>
                <a:cs typeface="Consolas" pitchFamily="49" charset="0"/>
              </a:rPr>
              <a:t>T'=(T-{(0</a:t>
            </a:r>
            <a:r>
              <a:rPr lang="zh-CN" altLang="zh-CN">
                <a:solidFill>
                  <a:srgbClr val="C00000"/>
                </a:solidFill>
                <a:latin typeface="Consolas" pitchFamily="49" charset="0"/>
                <a:ea typeface="仿宋" pitchFamily="49" charset="-122"/>
                <a:cs typeface="Consolas" pitchFamily="49" charset="0"/>
              </a:rPr>
              <a:t>，</a:t>
            </a:r>
            <a:r>
              <a:rPr lang="en-US" altLang="zh-CN" i="1">
                <a:solidFill>
                  <a:srgbClr val="C00000"/>
                </a:solidFill>
                <a:latin typeface="Consolas" pitchFamily="49" charset="0"/>
                <a:ea typeface="仿宋" pitchFamily="49" charset="-122"/>
                <a:cs typeface="Consolas" pitchFamily="49" charset="0"/>
              </a:rPr>
              <a:t>j</a:t>
            </a:r>
            <a:r>
              <a:rPr lang="en-US" altLang="zh-CN">
                <a:solidFill>
                  <a:srgbClr val="C00000"/>
                </a:solidFill>
                <a:latin typeface="Consolas" pitchFamily="49" charset="0"/>
                <a:ea typeface="仿宋" pitchFamily="49" charset="-122"/>
                <a:cs typeface="Consolas" pitchFamily="49" charset="0"/>
              </a:rPr>
              <a:t>)})</a:t>
            </a:r>
            <a:r>
              <a:rPr lang="zh-CN" altLang="zh-CN">
                <a:solidFill>
                  <a:srgbClr val="C00000"/>
                </a:solidFill>
                <a:latin typeface="Consolas" pitchFamily="49" charset="0"/>
                <a:ea typeface="仿宋" pitchFamily="49" charset="-122"/>
                <a:cs typeface="Consolas" pitchFamily="49" charset="0"/>
              </a:rPr>
              <a:t>∪</a:t>
            </a:r>
            <a:r>
              <a:rPr lang="en-US" altLang="zh-CN">
                <a:solidFill>
                  <a:srgbClr val="C00000"/>
                </a:solidFill>
                <a:latin typeface="Consolas" pitchFamily="49" charset="0"/>
                <a:ea typeface="仿宋" pitchFamily="49" charset="-122"/>
                <a:cs typeface="Consolas" pitchFamily="49" charset="0"/>
              </a:rPr>
              <a:t>{(0</a:t>
            </a:r>
            <a:r>
              <a:rPr lang="zh-CN" altLang="zh-CN">
                <a:solidFill>
                  <a:srgbClr val="C00000"/>
                </a:solidFill>
                <a:latin typeface="Consolas" pitchFamily="49" charset="0"/>
                <a:ea typeface="仿宋" pitchFamily="49" charset="-122"/>
                <a:cs typeface="Consolas" pitchFamily="49" charset="0"/>
              </a:rPr>
              <a:t>，</a:t>
            </a:r>
            <a:r>
              <a:rPr lang="en-US" altLang="zh-CN" i="1">
                <a:solidFill>
                  <a:srgbClr val="C00000"/>
                </a:solidFill>
                <a:latin typeface="Consolas" pitchFamily="49" charset="0"/>
                <a:ea typeface="仿宋" pitchFamily="49" charset="-122"/>
                <a:cs typeface="Consolas" pitchFamily="49" charset="0"/>
              </a:rPr>
              <a:t>i</a:t>
            </a:r>
            <a:r>
              <a:rPr lang="en-US" altLang="zh-CN">
                <a:solidFill>
                  <a:srgbClr val="C00000"/>
                </a:solidFill>
                <a:latin typeface="Consolas" pitchFamily="49" charset="0"/>
                <a:ea typeface="仿宋" pitchFamily="49" charset="-122"/>
                <a:cs typeface="Consolas" pitchFamily="49" charset="0"/>
              </a:rPr>
              <a:t>)}</a:t>
            </a:r>
            <a:endParaRPr lang="zh-CN" altLang="zh-CN">
              <a:solidFill>
                <a:srgbClr val="C00000"/>
              </a:solidFill>
              <a:latin typeface="Consolas" pitchFamily="49" charset="0"/>
              <a:ea typeface="仿宋" pitchFamily="49" charset="-122"/>
              <a:cs typeface="Consolas" pitchFamily="49" charset="0"/>
            </a:endParaRPr>
          </a:p>
          <a:p>
            <a:pPr algn="l">
              <a:lnSpc>
                <a:spcPct val="100000"/>
              </a:lnSpc>
            </a:pPr>
            <a:r>
              <a:rPr lang="zh-CN" altLang="zh-CN">
                <a:solidFill>
                  <a:srgbClr val="0000FF"/>
                </a:solidFill>
                <a:latin typeface="Consolas" pitchFamily="49" charset="0"/>
                <a:ea typeface="仿宋" pitchFamily="49" charset="-122"/>
                <a:cs typeface="Consolas" pitchFamily="49" charset="0"/>
              </a:rPr>
              <a:t>则</a:t>
            </a:r>
            <a:r>
              <a:rPr lang="en-US" altLang="zh-CN">
                <a:solidFill>
                  <a:srgbClr val="0000FF"/>
                </a:solidFill>
                <a:latin typeface="Consolas" pitchFamily="49" charset="0"/>
                <a:ea typeface="仿宋" pitchFamily="49" charset="-122"/>
                <a:cs typeface="Consolas" pitchFamily="49" charset="0"/>
              </a:rPr>
              <a:t>T'</a:t>
            </a:r>
            <a:r>
              <a:rPr lang="zh-CN" altLang="zh-CN">
                <a:solidFill>
                  <a:srgbClr val="0000FF"/>
                </a:solidFill>
                <a:latin typeface="Consolas" pitchFamily="49" charset="0"/>
                <a:ea typeface="仿宋" pitchFamily="49" charset="-122"/>
                <a:cs typeface="Consolas" pitchFamily="49" charset="0"/>
              </a:rPr>
              <a:t>也是一棵生成树，并且所有边权值和更小（除非</a:t>
            </a:r>
            <a:r>
              <a:rPr lang="en-US" altLang="zh-CN">
                <a:solidFill>
                  <a:srgbClr val="0000FF"/>
                </a:solidFill>
                <a:latin typeface="Consolas" pitchFamily="49" charset="0"/>
                <a:ea typeface="仿宋" pitchFamily="49" charset="-122"/>
                <a:cs typeface="Consolas" pitchFamily="49" charset="0"/>
              </a:rPr>
              <a:t>(0</a:t>
            </a:r>
            <a:r>
              <a:rPr lang="zh-CN"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i</a:t>
            </a:r>
            <a:r>
              <a:rPr lang="en-US"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与</a:t>
            </a:r>
            <a:r>
              <a:rPr lang="en-US" altLang="zh-CN">
                <a:solidFill>
                  <a:srgbClr val="0000FF"/>
                </a:solidFill>
                <a:latin typeface="Consolas" pitchFamily="49" charset="0"/>
                <a:ea typeface="仿宋" pitchFamily="49" charset="-122"/>
                <a:cs typeface="Consolas" pitchFamily="49" charset="0"/>
              </a:rPr>
              <a:t>(0</a:t>
            </a:r>
            <a:r>
              <a:rPr lang="zh-CN"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j</a:t>
            </a:r>
            <a:r>
              <a:rPr lang="en-US"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的权相同），与</a:t>
            </a:r>
            <a:r>
              <a:rPr lang="en-US" altLang="zh-CN">
                <a:solidFill>
                  <a:srgbClr val="0000FF"/>
                </a:solidFill>
                <a:latin typeface="Consolas" pitchFamily="49" charset="0"/>
                <a:ea typeface="仿宋" pitchFamily="49" charset="-122"/>
                <a:cs typeface="Consolas" pitchFamily="49" charset="0"/>
              </a:rPr>
              <a:t>T</a:t>
            </a:r>
            <a:r>
              <a:rPr lang="zh-CN" altLang="zh-CN">
                <a:solidFill>
                  <a:srgbClr val="0000FF"/>
                </a:solidFill>
                <a:latin typeface="Consolas" pitchFamily="49" charset="0"/>
                <a:ea typeface="仿宋" pitchFamily="49" charset="-122"/>
                <a:cs typeface="Consolas" pitchFamily="49" charset="0"/>
              </a:rPr>
              <a:t>为一棵最小生成树矛盾。</a:t>
            </a:r>
          </a:p>
        </p:txBody>
      </p:sp>
      <p:sp>
        <p:nvSpPr>
          <p:cNvPr id="5" name="TextBox 4"/>
          <p:cNvSpPr txBox="1"/>
          <p:nvPr/>
        </p:nvSpPr>
        <p:spPr>
          <a:xfrm>
            <a:off x="571472" y="538443"/>
            <a:ext cx="1143008" cy="461665"/>
          </a:xfrm>
          <a:prstGeom prst="rect">
            <a:avLst/>
          </a:prstGeom>
          <a:noFill/>
        </p:spPr>
        <p:txBody>
          <a:bodyPr wrap="square" rtlCol="0">
            <a:spAutoFit/>
          </a:bodyPr>
          <a:lstStyle/>
          <a:p>
            <a:pPr algn="l">
              <a:lnSpc>
                <a:spcPct val="100000"/>
              </a:lnSpc>
              <a:spcBef>
                <a:spcPts val="0"/>
              </a:spcBef>
            </a:pPr>
            <a:r>
              <a:rPr lang="zh-CN" altLang="zh-CN">
                <a:solidFill>
                  <a:srgbClr val="FF0000"/>
                </a:solidFill>
                <a:latin typeface="微软雅黑" pitchFamily="34" charset="-122"/>
                <a:ea typeface="微软雅黑" pitchFamily="34" charset="-122"/>
                <a:cs typeface="Consolas" pitchFamily="49" charset="0"/>
              </a:rPr>
              <a:t>证明</a:t>
            </a:r>
            <a:r>
              <a:rPr lang="zh-CN" altLang="zh-CN">
                <a:solidFill>
                  <a:srgbClr val="FF0000"/>
                </a:solidFill>
                <a:latin typeface="楷体" pitchFamily="49" charset="-122"/>
                <a:ea typeface="楷体" pitchFamily="49" charset="-122"/>
                <a:cs typeface="Consolas" pitchFamily="49" charset="0"/>
              </a:rPr>
              <a:t>：</a:t>
            </a:r>
            <a:endParaRPr lang="en-US" altLang="zh-CN">
              <a:solidFill>
                <a:srgbClr val="FF0000"/>
              </a:solidFill>
              <a:latin typeface="楷体" pitchFamily="49" charset="-122"/>
              <a:ea typeface="楷体" pitchFamily="49" charset="-122"/>
              <a:cs typeface="Consolas" pitchFamily="49" charset="0"/>
            </a:endParaRPr>
          </a:p>
        </p:txBody>
      </p:sp>
      <p:sp>
        <p:nvSpPr>
          <p:cNvPr id="6" name="灯片编号占位符 5"/>
          <p:cNvSpPr>
            <a:spLocks noGrp="1"/>
          </p:cNvSpPr>
          <p:nvPr>
            <p:ph type="sldNum" sz="quarter" idx="12"/>
          </p:nvPr>
        </p:nvSpPr>
        <p:spPr/>
        <p:txBody>
          <a:bodyPr/>
          <a:lstStyle/>
          <a:p>
            <a:fld id="{7AF016A1-9F15-429F-9EFD-84004B73C732}" type="slidenum">
              <a:rPr lang="en-US" altLang="zh-CN" smtClean="0"/>
              <a:pPr/>
              <a:t>12</a:t>
            </a:fld>
            <a:r>
              <a:rPr lang="en-US" altLang="zh-CN"/>
              <a:t>/158</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28596" y="928670"/>
            <a:ext cx="8072494" cy="1400383"/>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400"/>
              </a:lnSpc>
              <a:spcBef>
                <a:spcPts val="0"/>
              </a:spcBef>
            </a:pPr>
            <a:r>
              <a:rPr lang="en-US" altLang="zh-CN">
                <a:solidFill>
                  <a:srgbClr val="0000FF"/>
                </a:solidFill>
                <a:latin typeface="Consolas" pitchFamily="49" charset="0"/>
                <a:ea typeface="仿宋" pitchFamily="49" charset="-122"/>
                <a:cs typeface="Consolas" pitchFamily="49" charset="0"/>
              </a:rPr>
              <a:t>  </a:t>
            </a:r>
            <a:r>
              <a:rPr lang="zh-CN" altLang="zh-CN">
                <a:solidFill>
                  <a:srgbClr val="0000FF"/>
                </a:solidFill>
                <a:latin typeface="Consolas" pitchFamily="49" charset="0"/>
                <a:ea typeface="仿宋" pitchFamily="49" charset="-122"/>
                <a:cs typeface="Consolas" pitchFamily="49" charset="0"/>
              </a:rPr>
              <a:t>（</a:t>
            </a:r>
            <a:r>
              <a:rPr lang="en-US" altLang="zh-CN">
                <a:solidFill>
                  <a:srgbClr val="0000FF"/>
                </a:solidFill>
                <a:latin typeface="Consolas" pitchFamily="49" charset="0"/>
                <a:ea typeface="仿宋" pitchFamily="49" charset="-122"/>
                <a:cs typeface="Consolas" pitchFamily="49" charset="0"/>
              </a:rPr>
              <a:t>2</a:t>
            </a:r>
            <a:r>
              <a:rPr lang="zh-CN" altLang="zh-CN">
                <a:solidFill>
                  <a:srgbClr val="0000FF"/>
                </a:solidFill>
                <a:latin typeface="Consolas" pitchFamily="49" charset="0"/>
                <a:ea typeface="仿宋" pitchFamily="49" charset="-122"/>
                <a:cs typeface="Consolas" pitchFamily="49" charset="0"/>
              </a:rPr>
              <a:t>）假设算法进行了</a:t>
            </a:r>
            <a:r>
              <a:rPr lang="en-US" altLang="zh-CN" i="1">
                <a:solidFill>
                  <a:srgbClr val="FF0000"/>
                </a:solidFill>
                <a:latin typeface="Consolas" pitchFamily="49" charset="0"/>
                <a:ea typeface="仿宋" pitchFamily="49" charset="-122"/>
                <a:cs typeface="Consolas" pitchFamily="49" charset="0"/>
              </a:rPr>
              <a:t>k</a:t>
            </a:r>
            <a:r>
              <a:rPr lang="en-US" altLang="zh-CN">
                <a:solidFill>
                  <a:srgbClr val="FF0000"/>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步，生成树的边为</a:t>
            </a:r>
            <a:r>
              <a:rPr lang="en-US" altLang="zh-CN" i="1">
                <a:solidFill>
                  <a:srgbClr val="0000FF"/>
                </a:solidFill>
                <a:latin typeface="Consolas" pitchFamily="49" charset="0"/>
                <a:ea typeface="仿宋" pitchFamily="49" charset="-122"/>
                <a:cs typeface="Consolas" pitchFamily="49" charset="0"/>
              </a:rPr>
              <a:t>e</a:t>
            </a:r>
            <a:r>
              <a:rPr lang="en-US" altLang="zh-CN" baseline="-25000">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e</a:t>
            </a:r>
            <a:r>
              <a:rPr lang="en-US" altLang="zh-CN" baseline="-25000">
                <a:solidFill>
                  <a:srgbClr val="0000FF"/>
                </a:solidFill>
                <a:latin typeface="Consolas" pitchFamily="49" charset="0"/>
                <a:ea typeface="仿宋" pitchFamily="49" charset="-122"/>
                <a:cs typeface="Consolas" pitchFamily="49" charset="0"/>
              </a:rPr>
              <a:t>2</a:t>
            </a:r>
            <a:r>
              <a:rPr lang="zh-CN"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mj-ea"/>
                <a:ea typeface="+mj-ea"/>
                <a:cs typeface="Consolas" pitchFamily="49" charset="0"/>
              </a:rPr>
              <a:t>…</a:t>
            </a:r>
            <a:r>
              <a:rPr lang="zh-CN"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e</a:t>
            </a:r>
            <a:r>
              <a:rPr lang="en-US" altLang="zh-CN" i="1" baseline="-25000">
                <a:solidFill>
                  <a:srgbClr val="0000FF"/>
                </a:solidFill>
                <a:latin typeface="Consolas" pitchFamily="49" charset="0"/>
                <a:ea typeface="仿宋" pitchFamily="49" charset="-122"/>
                <a:cs typeface="Consolas" pitchFamily="49" charset="0"/>
              </a:rPr>
              <a:t>k</a:t>
            </a:r>
            <a:r>
              <a:rPr lang="en-US" altLang="zh-CN" baseline="-25000">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，这些边的</a:t>
            </a:r>
            <a:r>
              <a:rPr lang="en-US" altLang="zh-CN" i="1">
                <a:solidFill>
                  <a:srgbClr val="0000FF"/>
                </a:solidFill>
                <a:latin typeface="Consolas" pitchFamily="49" charset="0"/>
                <a:ea typeface="仿宋" pitchFamily="49" charset="-122"/>
                <a:cs typeface="Consolas" pitchFamily="49" charset="0"/>
              </a:rPr>
              <a:t>k</a:t>
            </a:r>
            <a:r>
              <a:rPr lang="zh-CN" altLang="zh-CN">
                <a:solidFill>
                  <a:srgbClr val="0000FF"/>
                </a:solidFill>
                <a:latin typeface="Consolas" pitchFamily="49" charset="0"/>
                <a:ea typeface="仿宋" pitchFamily="49" charset="-122"/>
                <a:cs typeface="Consolas" pitchFamily="49" charset="0"/>
              </a:rPr>
              <a:t>个端点构成集合</a:t>
            </a:r>
            <a:r>
              <a:rPr lang="en-US" altLang="zh-CN">
                <a:solidFill>
                  <a:srgbClr val="0000FF"/>
                </a:solidFill>
                <a:latin typeface="Consolas" pitchFamily="49" charset="0"/>
                <a:ea typeface="仿宋" pitchFamily="49" charset="-122"/>
                <a:cs typeface="Consolas" pitchFamily="49" charset="0"/>
              </a:rPr>
              <a:t>U</a:t>
            </a:r>
            <a:r>
              <a:rPr lang="zh-CN" altLang="zh-CN">
                <a:solidFill>
                  <a:srgbClr val="0000FF"/>
                </a:solidFill>
                <a:latin typeface="Consolas" pitchFamily="49" charset="0"/>
                <a:ea typeface="仿宋" pitchFamily="49" charset="-122"/>
                <a:cs typeface="Consolas" pitchFamily="49" charset="0"/>
              </a:rPr>
              <a:t>，并且存在</a:t>
            </a:r>
            <a:r>
              <a:rPr lang="en-US" altLang="zh-CN">
                <a:solidFill>
                  <a:srgbClr val="0000FF"/>
                </a:solidFill>
                <a:latin typeface="Consolas" pitchFamily="49" charset="0"/>
                <a:ea typeface="仿宋" pitchFamily="49" charset="-122"/>
                <a:cs typeface="Consolas" pitchFamily="49" charset="0"/>
              </a:rPr>
              <a:t>G</a:t>
            </a:r>
            <a:r>
              <a:rPr lang="zh-CN" altLang="zh-CN">
                <a:solidFill>
                  <a:srgbClr val="0000FF"/>
                </a:solidFill>
                <a:latin typeface="Consolas" pitchFamily="49" charset="0"/>
                <a:ea typeface="仿宋" pitchFamily="49" charset="-122"/>
                <a:cs typeface="Consolas" pitchFamily="49" charset="0"/>
              </a:rPr>
              <a:t>的一棵最小生成树</a:t>
            </a:r>
            <a:r>
              <a:rPr lang="en-US" altLang="zh-CN">
                <a:solidFill>
                  <a:srgbClr val="0000FF"/>
                </a:solidFill>
                <a:latin typeface="Consolas" pitchFamily="49" charset="0"/>
                <a:ea typeface="仿宋" pitchFamily="49" charset="-122"/>
                <a:cs typeface="Consolas" pitchFamily="49" charset="0"/>
              </a:rPr>
              <a:t>T</a:t>
            </a:r>
            <a:r>
              <a:rPr lang="zh-CN" altLang="zh-CN">
                <a:solidFill>
                  <a:srgbClr val="0000FF"/>
                </a:solidFill>
                <a:latin typeface="Consolas" pitchFamily="49" charset="0"/>
                <a:ea typeface="仿宋" pitchFamily="49" charset="-122"/>
                <a:cs typeface="Consolas" pitchFamily="49" charset="0"/>
              </a:rPr>
              <a:t>包含这些边。</a:t>
            </a:r>
          </a:p>
        </p:txBody>
      </p:sp>
      <p:sp>
        <p:nvSpPr>
          <p:cNvPr id="4" name="灯片编号占位符 3"/>
          <p:cNvSpPr>
            <a:spLocks noGrp="1"/>
          </p:cNvSpPr>
          <p:nvPr>
            <p:ph type="sldNum" sz="quarter" idx="12"/>
          </p:nvPr>
        </p:nvSpPr>
        <p:spPr/>
        <p:txBody>
          <a:bodyPr/>
          <a:lstStyle/>
          <a:p>
            <a:fld id="{7AF016A1-9F15-429F-9EFD-84004B73C732}" type="slidenum">
              <a:rPr lang="en-US" altLang="zh-CN" smtClean="0"/>
              <a:pPr/>
              <a:t>13</a:t>
            </a:fld>
            <a:r>
              <a:rPr lang="en-US" altLang="zh-CN"/>
              <a:t>/158</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Text Box 2"/>
          <p:cNvSpPr txBox="1">
            <a:spLocks noChangeArrowheads="1"/>
          </p:cNvSpPr>
          <p:nvPr/>
        </p:nvSpPr>
        <p:spPr bwMode="auto">
          <a:xfrm>
            <a:off x="285720" y="214290"/>
            <a:ext cx="8572560" cy="1246495"/>
          </a:xfrm>
          <a:prstGeom prst="rect">
            <a:avLst/>
          </a:prstGeom>
          <a:ln>
            <a:solidFill>
              <a:schemeClr val="accent6">
                <a:lumMod val="40000"/>
                <a:lumOff val="60000"/>
              </a:schemeClr>
            </a:solidFill>
            <a:headEnd/>
            <a:tailEnd/>
          </a:ln>
        </p:spPr>
        <p:style>
          <a:lnRef idx="2">
            <a:schemeClr val="accent6"/>
          </a:lnRef>
          <a:fillRef idx="1">
            <a:schemeClr val="lt1"/>
          </a:fillRef>
          <a:effectRef idx="0">
            <a:schemeClr val="accent6"/>
          </a:effectRef>
          <a:fontRef idx="minor">
            <a:schemeClr val="dk1"/>
          </a:fontRef>
        </p:style>
        <p:txBody>
          <a:bodyPr wrap="square">
            <a:spAutoFit/>
          </a:bodyPr>
          <a:lstStyle/>
          <a:p>
            <a:pPr algn="l">
              <a:lnSpc>
                <a:spcPts val="3000"/>
              </a:lnSpc>
              <a:spcBef>
                <a:spcPts val="0"/>
              </a:spcBef>
            </a:pPr>
            <a:r>
              <a:rPr lang="en-US" altLang="zh-CN">
                <a:solidFill>
                  <a:srgbClr val="0000FF"/>
                </a:solidFill>
                <a:latin typeface="Consolas" pitchFamily="49" charset="0"/>
                <a:ea typeface="仿宋" pitchFamily="49" charset="-122"/>
                <a:cs typeface="Consolas" pitchFamily="49" charset="0"/>
              </a:rPr>
              <a:t>  </a:t>
            </a:r>
            <a:r>
              <a:rPr lang="zh-CN" altLang="zh-CN">
                <a:solidFill>
                  <a:srgbClr val="0000FF"/>
                </a:solidFill>
                <a:latin typeface="Consolas" pitchFamily="49" charset="0"/>
                <a:ea typeface="仿宋" pitchFamily="49" charset="-122"/>
                <a:cs typeface="Consolas" pitchFamily="49" charset="0"/>
              </a:rPr>
              <a:t>（</a:t>
            </a:r>
            <a:r>
              <a:rPr lang="en-US" altLang="zh-CN">
                <a:solidFill>
                  <a:srgbClr val="0000FF"/>
                </a:solidFill>
                <a:latin typeface="Consolas" pitchFamily="49" charset="0"/>
                <a:ea typeface="仿宋" pitchFamily="49" charset="-122"/>
                <a:cs typeface="Consolas" pitchFamily="49" charset="0"/>
              </a:rPr>
              <a:t>3</a:t>
            </a:r>
            <a:r>
              <a:rPr lang="zh-CN" altLang="zh-CN">
                <a:solidFill>
                  <a:srgbClr val="0000FF"/>
                </a:solidFill>
                <a:latin typeface="Consolas" pitchFamily="49" charset="0"/>
                <a:ea typeface="仿宋" pitchFamily="49" charset="-122"/>
                <a:cs typeface="Consolas" pitchFamily="49" charset="0"/>
              </a:rPr>
              <a:t>）算法第</a:t>
            </a:r>
            <a:r>
              <a:rPr lang="en-US" altLang="zh-CN" i="1">
                <a:solidFill>
                  <a:srgbClr val="FF0000"/>
                </a:solidFill>
                <a:latin typeface="Consolas" pitchFamily="49" charset="0"/>
                <a:ea typeface="仿宋" pitchFamily="49" charset="-122"/>
                <a:cs typeface="Consolas" pitchFamily="49" charset="0"/>
              </a:rPr>
              <a:t>k</a:t>
            </a:r>
            <a:r>
              <a:rPr lang="zh-CN" altLang="zh-CN">
                <a:solidFill>
                  <a:srgbClr val="0000FF"/>
                </a:solidFill>
                <a:latin typeface="Consolas" pitchFamily="49" charset="0"/>
                <a:ea typeface="仿宋" pitchFamily="49" charset="-122"/>
                <a:cs typeface="Consolas" pitchFamily="49" charset="0"/>
              </a:rPr>
              <a:t>步选择了顶点</a:t>
            </a:r>
            <a:r>
              <a:rPr lang="en-US" altLang="zh-CN" i="1">
                <a:solidFill>
                  <a:srgbClr val="0000FF"/>
                </a:solidFill>
                <a:latin typeface="Consolas" pitchFamily="49" charset="0"/>
                <a:ea typeface="仿宋" pitchFamily="49" charset="-122"/>
                <a:cs typeface="Consolas" pitchFamily="49" charset="0"/>
              </a:rPr>
              <a:t>i</a:t>
            </a:r>
            <a:r>
              <a:rPr lang="en-US" altLang="zh-CN" i="1" baseline="-25000">
                <a:solidFill>
                  <a:srgbClr val="0000FF"/>
                </a:solidFill>
                <a:latin typeface="Consolas" pitchFamily="49" charset="0"/>
                <a:ea typeface="仿宋" pitchFamily="49" charset="-122"/>
                <a:cs typeface="Consolas" pitchFamily="49" charset="0"/>
              </a:rPr>
              <a:t>k</a:t>
            </a:r>
            <a:r>
              <a:rPr lang="zh-CN" altLang="zh-CN">
                <a:solidFill>
                  <a:srgbClr val="0000FF"/>
                </a:solidFill>
                <a:latin typeface="Consolas" pitchFamily="49" charset="0"/>
                <a:ea typeface="仿宋" pitchFamily="49" charset="-122"/>
                <a:cs typeface="Consolas" pitchFamily="49" charset="0"/>
              </a:rPr>
              <a:t>，则</a:t>
            </a:r>
            <a:r>
              <a:rPr lang="en-US" altLang="zh-CN" i="1">
                <a:solidFill>
                  <a:srgbClr val="0000FF"/>
                </a:solidFill>
                <a:latin typeface="Consolas" pitchFamily="49" charset="0"/>
                <a:ea typeface="仿宋" pitchFamily="49" charset="-122"/>
                <a:cs typeface="Consolas" pitchFamily="49" charset="0"/>
              </a:rPr>
              <a:t>i</a:t>
            </a:r>
            <a:r>
              <a:rPr lang="en-US" altLang="zh-CN" i="1" baseline="-25000">
                <a:solidFill>
                  <a:srgbClr val="0000FF"/>
                </a:solidFill>
                <a:latin typeface="Consolas" pitchFamily="49" charset="0"/>
                <a:ea typeface="仿宋" pitchFamily="49" charset="-122"/>
                <a:cs typeface="Consolas" pitchFamily="49" charset="0"/>
              </a:rPr>
              <a:t>k</a:t>
            </a:r>
            <a:r>
              <a:rPr lang="zh-CN" altLang="zh-CN">
                <a:solidFill>
                  <a:srgbClr val="0000FF"/>
                </a:solidFill>
                <a:latin typeface="Consolas" pitchFamily="49" charset="0"/>
                <a:ea typeface="仿宋" pitchFamily="49" charset="-122"/>
                <a:cs typeface="Consolas" pitchFamily="49" charset="0"/>
              </a:rPr>
              <a:t>到</a:t>
            </a:r>
            <a:r>
              <a:rPr lang="en-US" altLang="zh-CN">
                <a:solidFill>
                  <a:srgbClr val="0000FF"/>
                </a:solidFill>
                <a:latin typeface="Consolas" pitchFamily="49" charset="0"/>
                <a:ea typeface="仿宋" pitchFamily="49" charset="-122"/>
                <a:cs typeface="Consolas" pitchFamily="49" charset="0"/>
              </a:rPr>
              <a:t>U</a:t>
            </a:r>
            <a:r>
              <a:rPr lang="zh-CN" altLang="zh-CN">
                <a:solidFill>
                  <a:srgbClr val="0000FF"/>
                </a:solidFill>
                <a:latin typeface="Consolas" pitchFamily="49" charset="0"/>
                <a:ea typeface="仿宋" pitchFamily="49" charset="-122"/>
                <a:cs typeface="Consolas" pitchFamily="49" charset="0"/>
              </a:rPr>
              <a:t>中顶点的边的权值最小，设这条边为</a:t>
            </a:r>
            <a:r>
              <a:rPr lang="en-US" altLang="zh-CN">
                <a:solidFill>
                  <a:srgbClr val="0000FF"/>
                </a:solidFill>
                <a:latin typeface="Consolas" pitchFamily="49" charset="0"/>
                <a:ea typeface="仿宋" pitchFamily="49" charset="-122"/>
                <a:cs typeface="Consolas" pitchFamily="49" charset="0"/>
              </a:rPr>
              <a:t>e</a:t>
            </a:r>
            <a:r>
              <a:rPr lang="en-US" altLang="zh-CN" i="1" baseline="-25000">
                <a:solidFill>
                  <a:srgbClr val="0000FF"/>
                </a:solidFill>
                <a:latin typeface="Consolas" pitchFamily="49" charset="0"/>
                <a:ea typeface="仿宋" pitchFamily="49" charset="-122"/>
                <a:cs typeface="Consolas" pitchFamily="49" charset="0"/>
              </a:rPr>
              <a:t>k</a:t>
            </a:r>
            <a:r>
              <a:rPr lang="en-US"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i</a:t>
            </a:r>
            <a:r>
              <a:rPr lang="en-US" altLang="zh-CN" i="1" baseline="-25000">
                <a:solidFill>
                  <a:srgbClr val="0000FF"/>
                </a:solidFill>
                <a:latin typeface="Consolas" pitchFamily="49" charset="0"/>
                <a:ea typeface="仿宋" pitchFamily="49" charset="-122"/>
                <a:cs typeface="Consolas" pitchFamily="49" charset="0"/>
              </a:rPr>
              <a:t>k</a:t>
            </a:r>
            <a:r>
              <a:rPr lang="zh-CN"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i</a:t>
            </a:r>
            <a:r>
              <a:rPr lang="en-US" altLang="zh-CN" i="1" baseline="-25000">
                <a:solidFill>
                  <a:srgbClr val="0000FF"/>
                </a:solidFill>
                <a:latin typeface="Consolas" pitchFamily="49" charset="0"/>
                <a:ea typeface="仿宋" pitchFamily="49" charset="-122"/>
                <a:cs typeface="Consolas" pitchFamily="49" charset="0"/>
              </a:rPr>
              <a:t>l</a:t>
            </a:r>
            <a:r>
              <a:rPr lang="en-US"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。假设最小生成树</a:t>
            </a:r>
            <a:r>
              <a:rPr lang="en-US" altLang="zh-CN">
                <a:solidFill>
                  <a:srgbClr val="0000FF"/>
                </a:solidFill>
                <a:latin typeface="Consolas" pitchFamily="49" charset="0"/>
                <a:ea typeface="仿宋" pitchFamily="49" charset="-122"/>
                <a:cs typeface="Consolas" pitchFamily="49" charset="0"/>
              </a:rPr>
              <a:t>T</a:t>
            </a:r>
            <a:r>
              <a:rPr lang="zh-CN" altLang="zh-CN">
                <a:solidFill>
                  <a:srgbClr val="0000FF"/>
                </a:solidFill>
                <a:latin typeface="Consolas" pitchFamily="49" charset="0"/>
                <a:ea typeface="仿宋" pitchFamily="49" charset="-122"/>
                <a:cs typeface="Consolas" pitchFamily="49" charset="0"/>
              </a:rPr>
              <a:t>不含有边</a:t>
            </a:r>
            <a:r>
              <a:rPr lang="en-US" altLang="zh-CN">
                <a:solidFill>
                  <a:srgbClr val="0000FF"/>
                </a:solidFill>
                <a:latin typeface="Consolas" pitchFamily="49" charset="0"/>
                <a:ea typeface="仿宋" pitchFamily="49" charset="-122"/>
                <a:cs typeface="Consolas" pitchFamily="49" charset="0"/>
              </a:rPr>
              <a:t>e</a:t>
            </a:r>
            <a:r>
              <a:rPr lang="en-US" altLang="zh-CN" i="1" baseline="-25000">
                <a:solidFill>
                  <a:srgbClr val="0000FF"/>
                </a:solidFill>
                <a:latin typeface="Consolas" pitchFamily="49" charset="0"/>
                <a:ea typeface="仿宋" pitchFamily="49" charset="-122"/>
                <a:cs typeface="Consolas" pitchFamily="49" charset="0"/>
              </a:rPr>
              <a:t>k</a:t>
            </a:r>
            <a:r>
              <a:rPr lang="zh-CN" altLang="zh-CN">
                <a:solidFill>
                  <a:srgbClr val="0000FF"/>
                </a:solidFill>
                <a:latin typeface="Consolas" pitchFamily="49" charset="0"/>
                <a:ea typeface="仿宋" pitchFamily="49" charset="-122"/>
                <a:cs typeface="Consolas" pitchFamily="49" charset="0"/>
              </a:rPr>
              <a:t>，将</a:t>
            </a:r>
            <a:r>
              <a:rPr lang="en-US" altLang="zh-CN">
                <a:solidFill>
                  <a:srgbClr val="0000FF"/>
                </a:solidFill>
                <a:latin typeface="Consolas" pitchFamily="49" charset="0"/>
                <a:ea typeface="仿宋" pitchFamily="49" charset="-122"/>
                <a:cs typeface="Consolas" pitchFamily="49" charset="0"/>
              </a:rPr>
              <a:t>e</a:t>
            </a:r>
            <a:r>
              <a:rPr lang="en-US" altLang="zh-CN" i="1" baseline="-25000">
                <a:solidFill>
                  <a:srgbClr val="0000FF"/>
                </a:solidFill>
                <a:latin typeface="Consolas" pitchFamily="49" charset="0"/>
                <a:ea typeface="仿宋" pitchFamily="49" charset="-122"/>
                <a:cs typeface="Consolas" pitchFamily="49" charset="0"/>
              </a:rPr>
              <a:t>k</a:t>
            </a:r>
            <a:r>
              <a:rPr lang="zh-CN" altLang="zh-CN">
                <a:solidFill>
                  <a:srgbClr val="0000FF"/>
                </a:solidFill>
                <a:latin typeface="Consolas" pitchFamily="49" charset="0"/>
                <a:ea typeface="仿宋" pitchFamily="49" charset="-122"/>
                <a:cs typeface="Consolas" pitchFamily="49" charset="0"/>
              </a:rPr>
              <a:t>添加到</a:t>
            </a:r>
            <a:r>
              <a:rPr lang="en-US" altLang="zh-CN">
                <a:solidFill>
                  <a:srgbClr val="0000FF"/>
                </a:solidFill>
                <a:latin typeface="Consolas" pitchFamily="49" charset="0"/>
                <a:ea typeface="仿宋" pitchFamily="49" charset="-122"/>
                <a:cs typeface="Consolas" pitchFamily="49" charset="0"/>
              </a:rPr>
              <a:t>T</a:t>
            </a:r>
            <a:r>
              <a:rPr lang="zh-CN" altLang="zh-CN">
                <a:solidFill>
                  <a:srgbClr val="0000FF"/>
                </a:solidFill>
                <a:latin typeface="Consolas" pitchFamily="49" charset="0"/>
                <a:ea typeface="仿宋" pitchFamily="49" charset="-122"/>
                <a:cs typeface="Consolas" pitchFamily="49" charset="0"/>
              </a:rPr>
              <a:t>中形成一个回路，如</a:t>
            </a:r>
            <a:r>
              <a:rPr lang="zh-CN" altLang="en-US">
                <a:solidFill>
                  <a:srgbClr val="0000FF"/>
                </a:solidFill>
                <a:latin typeface="Consolas" pitchFamily="49" charset="0"/>
                <a:ea typeface="仿宋" pitchFamily="49" charset="-122"/>
                <a:cs typeface="Consolas" pitchFamily="49" charset="0"/>
              </a:rPr>
              <a:t>下</a:t>
            </a:r>
            <a:r>
              <a:rPr lang="zh-CN" altLang="zh-CN">
                <a:solidFill>
                  <a:srgbClr val="0000FF"/>
                </a:solidFill>
                <a:latin typeface="Consolas" pitchFamily="49" charset="0"/>
                <a:ea typeface="仿宋" pitchFamily="49" charset="-122"/>
                <a:cs typeface="Consolas" pitchFamily="49" charset="0"/>
              </a:rPr>
              <a:t>图所示</a:t>
            </a:r>
            <a:r>
              <a:rPr lang="zh-CN" altLang="en-US">
                <a:solidFill>
                  <a:srgbClr val="0000FF"/>
                </a:solidFill>
                <a:latin typeface="Consolas" pitchFamily="49" charset="0"/>
                <a:ea typeface="仿宋" pitchFamily="49" charset="-122"/>
                <a:cs typeface="Consolas" pitchFamily="49" charset="0"/>
              </a:rPr>
              <a:t>。</a:t>
            </a:r>
            <a:endParaRPr lang="zh-CN" altLang="zh-CN">
              <a:solidFill>
                <a:srgbClr val="0000FF"/>
              </a:solidFill>
              <a:latin typeface="Consolas" pitchFamily="49" charset="0"/>
              <a:ea typeface="仿宋" pitchFamily="49" charset="-122"/>
              <a:cs typeface="Consolas" pitchFamily="49" charset="0"/>
            </a:endParaRPr>
          </a:p>
        </p:txBody>
      </p:sp>
      <p:grpSp>
        <p:nvGrpSpPr>
          <p:cNvPr id="2" name="组合 30"/>
          <p:cNvGrpSpPr/>
          <p:nvPr/>
        </p:nvGrpSpPr>
        <p:grpSpPr>
          <a:xfrm>
            <a:off x="1857356" y="1500174"/>
            <a:ext cx="4357718" cy="1714514"/>
            <a:chOff x="1988124" y="3357561"/>
            <a:chExt cx="4727016" cy="1905015"/>
          </a:xfrm>
        </p:grpSpPr>
        <p:sp>
          <p:nvSpPr>
            <p:cNvPr id="23" name="椭圆 22"/>
            <p:cNvSpPr/>
            <p:nvPr/>
          </p:nvSpPr>
          <p:spPr>
            <a:xfrm>
              <a:off x="2786050" y="3786190"/>
              <a:ext cx="432000" cy="432000"/>
            </a:xfrm>
            <a:prstGeom prst="ellipse">
              <a:avLst/>
            </a:prstGeom>
          </p:spPr>
          <p:style>
            <a:lnRef idx="1">
              <a:schemeClr val="accent2"/>
            </a:lnRef>
            <a:fillRef idx="2">
              <a:schemeClr val="accent2"/>
            </a:fillRef>
            <a:effectRef idx="1">
              <a:schemeClr val="accent2"/>
            </a:effectRef>
            <a:fontRef idx="minor">
              <a:schemeClr val="dk1"/>
            </a:fontRef>
          </p:style>
          <p:txBody>
            <a:bodyPr lIns="0" rIns="0" rtlCol="0" anchor="ctr"/>
            <a:lstStyle/>
            <a:p>
              <a:pPr algn="ctr"/>
              <a:r>
                <a:rPr lang="en-US" altLang="zh-CN" sz="2000" i="1">
                  <a:solidFill>
                    <a:srgbClr val="006600"/>
                  </a:solidFill>
                  <a:latin typeface="Consolas" pitchFamily="49" charset="0"/>
                  <a:cs typeface="Consolas" pitchFamily="49" charset="0"/>
                </a:rPr>
                <a:t>i</a:t>
              </a:r>
              <a:r>
                <a:rPr lang="en-US" altLang="zh-CN" sz="2000" i="1" baseline="-25000">
                  <a:solidFill>
                    <a:srgbClr val="006600"/>
                  </a:solidFill>
                  <a:latin typeface="Consolas" pitchFamily="49" charset="0"/>
                  <a:cs typeface="Consolas" pitchFamily="49" charset="0"/>
                </a:rPr>
                <a:t>l</a:t>
              </a:r>
              <a:endParaRPr lang="zh-CN" altLang="en-US" sz="2000" i="1" baseline="-25000">
                <a:solidFill>
                  <a:srgbClr val="006600"/>
                </a:solidFill>
                <a:latin typeface="Consolas" pitchFamily="49" charset="0"/>
                <a:cs typeface="Consolas" pitchFamily="49" charset="0"/>
              </a:endParaRPr>
            </a:p>
          </p:txBody>
        </p:sp>
        <p:sp>
          <p:nvSpPr>
            <p:cNvPr id="24" name="椭圆 23"/>
            <p:cNvSpPr/>
            <p:nvPr/>
          </p:nvSpPr>
          <p:spPr>
            <a:xfrm>
              <a:off x="5214942" y="3714752"/>
              <a:ext cx="432000" cy="432000"/>
            </a:xfrm>
            <a:prstGeom prst="ellipse">
              <a:avLst/>
            </a:prstGeom>
          </p:spPr>
          <p:style>
            <a:lnRef idx="1">
              <a:schemeClr val="accent2"/>
            </a:lnRef>
            <a:fillRef idx="2">
              <a:schemeClr val="accent2"/>
            </a:fillRef>
            <a:effectRef idx="1">
              <a:schemeClr val="accent2"/>
            </a:effectRef>
            <a:fontRef idx="minor">
              <a:schemeClr val="dk1"/>
            </a:fontRef>
          </p:style>
          <p:txBody>
            <a:bodyPr lIns="0" rIns="0" rtlCol="0" anchor="ctr"/>
            <a:lstStyle/>
            <a:p>
              <a:pPr algn="ctr"/>
              <a:r>
                <a:rPr lang="en-US" altLang="zh-CN" sz="2000" i="1">
                  <a:solidFill>
                    <a:srgbClr val="0000FF"/>
                  </a:solidFill>
                  <a:latin typeface="Consolas" pitchFamily="49" charset="0"/>
                  <a:cs typeface="Consolas" pitchFamily="49" charset="0"/>
                </a:rPr>
                <a:t>i</a:t>
              </a:r>
              <a:r>
                <a:rPr lang="en-US" altLang="zh-CN" sz="2000" i="1" baseline="-25000">
                  <a:solidFill>
                    <a:srgbClr val="0000FF"/>
                  </a:solidFill>
                  <a:latin typeface="Consolas" pitchFamily="49" charset="0"/>
                  <a:cs typeface="Consolas" pitchFamily="49" charset="0"/>
                </a:rPr>
                <a:t>k</a:t>
              </a:r>
              <a:endParaRPr lang="zh-CN" altLang="en-US" sz="2000" i="1" baseline="-25000">
                <a:solidFill>
                  <a:srgbClr val="0000FF"/>
                </a:solidFill>
                <a:latin typeface="Consolas" pitchFamily="49" charset="0"/>
                <a:cs typeface="Consolas" pitchFamily="49" charset="0"/>
              </a:endParaRPr>
            </a:p>
          </p:txBody>
        </p:sp>
        <p:cxnSp>
          <p:nvCxnSpPr>
            <p:cNvPr id="25" name="直接连接符 24"/>
            <p:cNvCxnSpPr>
              <a:stCxn id="23" idx="6"/>
              <a:endCxn id="24" idx="2"/>
            </p:cNvCxnSpPr>
            <p:nvPr/>
          </p:nvCxnSpPr>
          <p:spPr>
            <a:xfrm flipV="1">
              <a:off x="3218050" y="3930752"/>
              <a:ext cx="1996892" cy="71438"/>
            </a:xfrm>
            <a:prstGeom prst="line">
              <a:avLst/>
            </a:prstGeom>
          </p:spPr>
          <p:style>
            <a:lnRef idx="3">
              <a:schemeClr val="accent2"/>
            </a:lnRef>
            <a:fillRef idx="0">
              <a:schemeClr val="accent2"/>
            </a:fillRef>
            <a:effectRef idx="2">
              <a:schemeClr val="accent2"/>
            </a:effectRef>
            <a:fontRef idx="minor">
              <a:schemeClr val="tx1"/>
            </a:fontRef>
          </p:style>
        </p:cxnSp>
        <p:sp>
          <p:nvSpPr>
            <p:cNvPr id="26" name="TextBox 25"/>
            <p:cNvSpPr txBox="1"/>
            <p:nvPr/>
          </p:nvSpPr>
          <p:spPr>
            <a:xfrm rot="21138762">
              <a:off x="4027694" y="3582426"/>
              <a:ext cx="478225" cy="376171"/>
            </a:xfrm>
            <a:prstGeom prst="rect">
              <a:avLst/>
            </a:prstGeom>
            <a:noFill/>
          </p:spPr>
          <p:txBody>
            <a:bodyPr wrap="square" rtlCol="0">
              <a:spAutoFit/>
            </a:bodyPr>
            <a:lstStyle/>
            <a:p>
              <a:r>
                <a:rPr lang="en-US" altLang="zh-CN" sz="2000">
                  <a:solidFill>
                    <a:srgbClr val="0000FF"/>
                  </a:solidFill>
                  <a:latin typeface="Consolas" pitchFamily="49" charset="0"/>
                  <a:cs typeface="Consolas" pitchFamily="49" charset="0"/>
                </a:rPr>
                <a:t>e</a:t>
              </a:r>
              <a:r>
                <a:rPr lang="en-US" altLang="zh-CN" sz="2000" i="1" baseline="-25000">
                  <a:solidFill>
                    <a:srgbClr val="0000FF"/>
                  </a:solidFill>
                  <a:latin typeface="Consolas" pitchFamily="49" charset="0"/>
                  <a:cs typeface="Consolas" pitchFamily="49" charset="0"/>
                </a:rPr>
                <a:t>k</a:t>
              </a:r>
              <a:endParaRPr lang="zh-CN" altLang="en-US" sz="2000" i="1" baseline="-25000">
                <a:solidFill>
                  <a:srgbClr val="0000FF"/>
                </a:solidFill>
                <a:latin typeface="Consolas" pitchFamily="49" charset="0"/>
                <a:cs typeface="Consolas" pitchFamily="49" charset="0"/>
              </a:endParaRPr>
            </a:p>
          </p:txBody>
        </p:sp>
        <p:sp>
          <p:nvSpPr>
            <p:cNvPr id="27" name="椭圆 26"/>
            <p:cNvSpPr/>
            <p:nvPr/>
          </p:nvSpPr>
          <p:spPr>
            <a:xfrm>
              <a:off x="2428861" y="3500438"/>
              <a:ext cx="1143009" cy="1762138"/>
            </a:xfrm>
            <a:prstGeom prst="ellipse">
              <a:avLst/>
            </a:prstGeom>
            <a:no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itchFamily="49" charset="0"/>
                <a:cs typeface="Consolas" pitchFamily="49" charset="0"/>
              </a:endParaRPr>
            </a:p>
          </p:txBody>
        </p:sp>
        <p:sp>
          <p:nvSpPr>
            <p:cNvPr id="28" name="椭圆 27"/>
            <p:cNvSpPr/>
            <p:nvPr/>
          </p:nvSpPr>
          <p:spPr>
            <a:xfrm>
              <a:off x="4857752" y="3357561"/>
              <a:ext cx="1143009" cy="1825637"/>
            </a:xfrm>
            <a:prstGeom prst="ellipse">
              <a:avLst/>
            </a:prstGeom>
            <a:no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itchFamily="49" charset="0"/>
                <a:cs typeface="Consolas" pitchFamily="49" charset="0"/>
              </a:endParaRPr>
            </a:p>
          </p:txBody>
        </p:sp>
        <p:sp>
          <p:nvSpPr>
            <p:cNvPr id="29" name="TextBox 28"/>
            <p:cNvSpPr txBox="1"/>
            <p:nvPr/>
          </p:nvSpPr>
          <p:spPr>
            <a:xfrm>
              <a:off x="1988124" y="3879182"/>
              <a:ext cx="428628" cy="430887"/>
            </a:xfrm>
            <a:prstGeom prst="rect">
              <a:avLst/>
            </a:prstGeom>
            <a:noFill/>
          </p:spPr>
          <p:txBody>
            <a:bodyPr wrap="square" rtlCol="0">
              <a:spAutoFit/>
            </a:bodyPr>
            <a:lstStyle/>
            <a:p>
              <a:r>
                <a:rPr lang="en-US" altLang="zh-CN" sz="2200">
                  <a:solidFill>
                    <a:srgbClr val="0000FF"/>
                  </a:solidFill>
                  <a:latin typeface="Consolas" pitchFamily="49" charset="0"/>
                  <a:cs typeface="Consolas" pitchFamily="49" charset="0"/>
                </a:rPr>
                <a:t>U</a:t>
              </a:r>
              <a:endParaRPr lang="zh-CN" altLang="en-US" sz="2200">
                <a:solidFill>
                  <a:srgbClr val="0000FF"/>
                </a:solidFill>
                <a:latin typeface="Consolas" pitchFamily="49" charset="0"/>
                <a:cs typeface="Consolas" pitchFamily="49" charset="0"/>
              </a:endParaRPr>
            </a:p>
          </p:txBody>
        </p:sp>
        <p:sp>
          <p:nvSpPr>
            <p:cNvPr id="30" name="TextBox 29"/>
            <p:cNvSpPr txBox="1"/>
            <p:nvPr/>
          </p:nvSpPr>
          <p:spPr>
            <a:xfrm>
              <a:off x="6000760" y="3798332"/>
              <a:ext cx="714380" cy="430887"/>
            </a:xfrm>
            <a:prstGeom prst="rect">
              <a:avLst/>
            </a:prstGeom>
            <a:noFill/>
          </p:spPr>
          <p:txBody>
            <a:bodyPr wrap="square" rtlCol="0">
              <a:spAutoFit/>
            </a:bodyPr>
            <a:lstStyle/>
            <a:p>
              <a:r>
                <a:rPr lang="en-US" altLang="zh-CN" sz="2200">
                  <a:solidFill>
                    <a:srgbClr val="0000FF"/>
                  </a:solidFill>
                  <a:latin typeface="Consolas" pitchFamily="49" charset="0"/>
                  <a:cs typeface="Consolas" pitchFamily="49" charset="0"/>
                </a:rPr>
                <a:t>V-U</a:t>
              </a:r>
              <a:endParaRPr lang="zh-CN" altLang="en-US" sz="2200">
                <a:solidFill>
                  <a:srgbClr val="0000FF"/>
                </a:solidFill>
                <a:latin typeface="Consolas" pitchFamily="49" charset="0"/>
                <a:cs typeface="Consolas" pitchFamily="49" charset="0"/>
              </a:endParaRPr>
            </a:p>
          </p:txBody>
        </p:sp>
        <p:sp>
          <p:nvSpPr>
            <p:cNvPr id="13" name="椭圆 12"/>
            <p:cNvSpPr/>
            <p:nvPr/>
          </p:nvSpPr>
          <p:spPr>
            <a:xfrm>
              <a:off x="2786050" y="4572008"/>
              <a:ext cx="432000" cy="432000"/>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2000" i="1">
                  <a:solidFill>
                    <a:srgbClr val="006600"/>
                  </a:solidFill>
                  <a:latin typeface="Consolas" pitchFamily="49" charset="0"/>
                  <a:cs typeface="Consolas" pitchFamily="49" charset="0"/>
                </a:rPr>
                <a:t>x</a:t>
              </a:r>
              <a:endParaRPr lang="zh-CN" altLang="en-US" sz="2000" i="1" baseline="-25000">
                <a:solidFill>
                  <a:srgbClr val="006600"/>
                </a:solidFill>
                <a:latin typeface="Consolas" pitchFamily="49" charset="0"/>
                <a:cs typeface="Consolas" pitchFamily="49" charset="0"/>
              </a:endParaRPr>
            </a:p>
          </p:txBody>
        </p:sp>
        <p:sp>
          <p:nvSpPr>
            <p:cNvPr id="14" name="椭圆 13"/>
            <p:cNvSpPr/>
            <p:nvPr/>
          </p:nvSpPr>
          <p:spPr>
            <a:xfrm>
              <a:off x="5214942" y="4500570"/>
              <a:ext cx="432000" cy="432000"/>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2000" i="1">
                  <a:solidFill>
                    <a:srgbClr val="0000FF"/>
                  </a:solidFill>
                  <a:latin typeface="Consolas" pitchFamily="49" charset="0"/>
                  <a:cs typeface="Consolas" pitchFamily="49" charset="0"/>
                </a:rPr>
                <a:t>y</a:t>
              </a:r>
              <a:endParaRPr lang="zh-CN" altLang="en-US" sz="2000" i="1" baseline="-25000">
                <a:solidFill>
                  <a:srgbClr val="0000FF"/>
                </a:solidFill>
                <a:latin typeface="Consolas" pitchFamily="49" charset="0"/>
                <a:cs typeface="Consolas" pitchFamily="49" charset="0"/>
              </a:endParaRPr>
            </a:p>
          </p:txBody>
        </p:sp>
        <p:sp>
          <p:nvSpPr>
            <p:cNvPr id="15" name="TextBox 14"/>
            <p:cNvSpPr txBox="1"/>
            <p:nvPr/>
          </p:nvSpPr>
          <p:spPr>
            <a:xfrm rot="21371623">
              <a:off x="4022914" y="4863913"/>
              <a:ext cx="601445" cy="381088"/>
            </a:xfrm>
            <a:prstGeom prst="rect">
              <a:avLst/>
            </a:prstGeom>
            <a:noFill/>
          </p:spPr>
          <p:txBody>
            <a:bodyPr wrap="square" rtlCol="0">
              <a:spAutoFit/>
            </a:bodyPr>
            <a:lstStyle/>
            <a:p>
              <a:r>
                <a:rPr lang="en-US" altLang="zh-CN" sz="2000">
                  <a:solidFill>
                    <a:srgbClr val="FF0000"/>
                  </a:solidFill>
                  <a:latin typeface="Consolas" pitchFamily="49" charset="0"/>
                  <a:cs typeface="Consolas" pitchFamily="49" charset="0"/>
                </a:rPr>
                <a:t>e'</a:t>
              </a:r>
              <a:endParaRPr lang="zh-CN" altLang="en-US" sz="2000" i="1" baseline="-25000">
                <a:solidFill>
                  <a:srgbClr val="FF0000"/>
                </a:solidFill>
                <a:latin typeface="Consolas" pitchFamily="49" charset="0"/>
                <a:cs typeface="Consolas" pitchFamily="49" charset="0"/>
              </a:endParaRPr>
            </a:p>
          </p:txBody>
        </p:sp>
        <p:cxnSp>
          <p:nvCxnSpPr>
            <p:cNvPr id="17" name="直接连接符 16"/>
            <p:cNvCxnSpPr>
              <a:stCxn id="13" idx="6"/>
              <a:endCxn id="14" idx="2"/>
            </p:cNvCxnSpPr>
            <p:nvPr/>
          </p:nvCxnSpPr>
          <p:spPr>
            <a:xfrm flipV="1">
              <a:off x="3218050" y="4716570"/>
              <a:ext cx="1996892" cy="71438"/>
            </a:xfrm>
            <a:prstGeom prst="line">
              <a:avLst/>
            </a:prstGeom>
            <a:ln w="28575">
              <a:solidFill>
                <a:srgbClr val="0000FF"/>
              </a:solidFill>
              <a:prstDash val="solid"/>
            </a:ln>
          </p:spPr>
          <p:style>
            <a:lnRef idx="1">
              <a:schemeClr val="accent1"/>
            </a:lnRef>
            <a:fillRef idx="0">
              <a:schemeClr val="accent1"/>
            </a:fillRef>
            <a:effectRef idx="0">
              <a:schemeClr val="accent1"/>
            </a:effectRef>
            <a:fontRef idx="minor">
              <a:schemeClr val="tx1"/>
            </a:fontRef>
          </p:style>
        </p:cxnSp>
        <p:sp>
          <p:nvSpPr>
            <p:cNvPr id="19" name="任意多边形 18"/>
            <p:cNvSpPr/>
            <p:nvPr/>
          </p:nvSpPr>
          <p:spPr>
            <a:xfrm>
              <a:off x="2865967" y="4216400"/>
              <a:ext cx="131233" cy="330200"/>
            </a:xfrm>
            <a:custGeom>
              <a:avLst/>
              <a:gdLst>
                <a:gd name="connsiteX0" fmla="*/ 105833 w 131233"/>
                <a:gd name="connsiteY0" fmla="*/ 0 h 330200"/>
                <a:gd name="connsiteX1" fmla="*/ 4233 w 131233"/>
                <a:gd name="connsiteY1" fmla="*/ 139700 h 330200"/>
                <a:gd name="connsiteX2" fmla="*/ 131233 w 131233"/>
                <a:gd name="connsiteY2" fmla="*/ 330200 h 330200"/>
              </a:gdLst>
              <a:ahLst/>
              <a:cxnLst>
                <a:cxn ang="0">
                  <a:pos x="connsiteX0" y="connsiteY0"/>
                </a:cxn>
                <a:cxn ang="0">
                  <a:pos x="connsiteX1" y="connsiteY1"/>
                </a:cxn>
                <a:cxn ang="0">
                  <a:pos x="connsiteX2" y="connsiteY2"/>
                </a:cxn>
              </a:cxnLst>
              <a:rect l="l" t="t" r="r" b="b"/>
              <a:pathLst>
                <a:path w="131233" h="330200">
                  <a:moveTo>
                    <a:pt x="105833" y="0"/>
                  </a:moveTo>
                  <a:cubicBezTo>
                    <a:pt x="52916" y="42333"/>
                    <a:pt x="0" y="84667"/>
                    <a:pt x="4233" y="139700"/>
                  </a:cubicBezTo>
                  <a:cubicBezTo>
                    <a:pt x="8466" y="194733"/>
                    <a:pt x="69849" y="262466"/>
                    <a:pt x="131233" y="330200"/>
                  </a:cubicBezTo>
                </a:path>
              </a:pathLst>
            </a:custGeom>
            <a:ln>
              <a:prstDash val="sysDash"/>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latin typeface="Consolas" pitchFamily="49" charset="0"/>
                <a:cs typeface="Consolas" pitchFamily="49" charset="0"/>
              </a:endParaRPr>
            </a:p>
          </p:txBody>
        </p:sp>
        <p:sp>
          <p:nvSpPr>
            <p:cNvPr id="20" name="任意多边形 19"/>
            <p:cNvSpPr/>
            <p:nvPr/>
          </p:nvSpPr>
          <p:spPr>
            <a:xfrm>
              <a:off x="5332418" y="4168780"/>
              <a:ext cx="131233" cy="330200"/>
            </a:xfrm>
            <a:custGeom>
              <a:avLst/>
              <a:gdLst>
                <a:gd name="connsiteX0" fmla="*/ 105833 w 131233"/>
                <a:gd name="connsiteY0" fmla="*/ 0 h 330200"/>
                <a:gd name="connsiteX1" fmla="*/ 4233 w 131233"/>
                <a:gd name="connsiteY1" fmla="*/ 139700 h 330200"/>
                <a:gd name="connsiteX2" fmla="*/ 131233 w 131233"/>
                <a:gd name="connsiteY2" fmla="*/ 330200 h 330200"/>
              </a:gdLst>
              <a:ahLst/>
              <a:cxnLst>
                <a:cxn ang="0">
                  <a:pos x="connsiteX0" y="connsiteY0"/>
                </a:cxn>
                <a:cxn ang="0">
                  <a:pos x="connsiteX1" y="connsiteY1"/>
                </a:cxn>
                <a:cxn ang="0">
                  <a:pos x="connsiteX2" y="connsiteY2"/>
                </a:cxn>
              </a:cxnLst>
              <a:rect l="l" t="t" r="r" b="b"/>
              <a:pathLst>
                <a:path w="131233" h="330200">
                  <a:moveTo>
                    <a:pt x="105833" y="0"/>
                  </a:moveTo>
                  <a:cubicBezTo>
                    <a:pt x="52916" y="42333"/>
                    <a:pt x="0" y="84667"/>
                    <a:pt x="4233" y="139700"/>
                  </a:cubicBezTo>
                  <a:cubicBezTo>
                    <a:pt x="8466" y="194733"/>
                    <a:pt x="69849" y="262466"/>
                    <a:pt x="131233" y="330200"/>
                  </a:cubicBezTo>
                </a:path>
              </a:pathLst>
            </a:custGeom>
            <a:ln>
              <a:prstDash val="sysDash"/>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latin typeface="Consolas" pitchFamily="49" charset="0"/>
                <a:cs typeface="Consolas" pitchFamily="49" charset="0"/>
              </a:endParaRPr>
            </a:p>
          </p:txBody>
        </p:sp>
        <p:sp>
          <p:nvSpPr>
            <p:cNvPr id="21" name="椭圆 20"/>
            <p:cNvSpPr/>
            <p:nvPr/>
          </p:nvSpPr>
          <p:spPr>
            <a:xfrm>
              <a:off x="3214678" y="4071942"/>
              <a:ext cx="2000264" cy="500066"/>
            </a:xfrm>
            <a:prstGeom prst="ellipse">
              <a:avLst/>
            </a:prstGeom>
            <a:noFill/>
            <a:ln>
              <a:solidFill>
                <a:srgbClr val="FF0000"/>
              </a:solidFill>
              <a:tailEnd type="arrow"/>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zh-CN" altLang="en-US">
                <a:latin typeface="Consolas" pitchFamily="49" charset="0"/>
                <a:cs typeface="Consolas" pitchFamily="49" charset="0"/>
              </a:endParaRPr>
            </a:p>
          </p:txBody>
        </p:sp>
      </p:grpSp>
      <p:sp>
        <p:nvSpPr>
          <p:cNvPr id="22" name="Text Box 2"/>
          <p:cNvSpPr txBox="1">
            <a:spLocks noChangeArrowheads="1"/>
          </p:cNvSpPr>
          <p:nvPr/>
        </p:nvSpPr>
        <p:spPr bwMode="auto">
          <a:xfrm>
            <a:off x="285720" y="3424615"/>
            <a:ext cx="8572560" cy="2400657"/>
          </a:xfrm>
          <a:prstGeom prst="rect">
            <a:avLst/>
          </a:prstGeom>
          <a:ln>
            <a:solidFill>
              <a:schemeClr val="accent6">
                <a:lumMod val="20000"/>
                <a:lumOff val="80000"/>
              </a:schemeClr>
            </a:solidFill>
            <a:headEnd/>
            <a:tailEnd/>
          </a:ln>
        </p:spPr>
        <p:style>
          <a:lnRef idx="2">
            <a:schemeClr val="accent6"/>
          </a:lnRef>
          <a:fillRef idx="1">
            <a:schemeClr val="lt1"/>
          </a:fillRef>
          <a:effectRef idx="0">
            <a:schemeClr val="accent6"/>
          </a:effectRef>
          <a:fontRef idx="minor">
            <a:schemeClr val="dk1"/>
          </a:fontRef>
        </p:style>
        <p:txBody>
          <a:bodyPr wrap="square">
            <a:spAutoFit/>
          </a:bodyPr>
          <a:lstStyle/>
          <a:p>
            <a:pPr algn="l">
              <a:lnSpc>
                <a:spcPts val="3000"/>
              </a:lnSpc>
              <a:spcBef>
                <a:spcPts val="0"/>
              </a:spcBef>
            </a:pPr>
            <a:r>
              <a:rPr lang="en-US" altLang="zh-CN">
                <a:solidFill>
                  <a:srgbClr val="0000FF"/>
                </a:solidFill>
                <a:latin typeface="Consolas" pitchFamily="49" charset="0"/>
                <a:ea typeface="仿宋" pitchFamily="49" charset="-122"/>
                <a:cs typeface="Consolas" pitchFamily="49" charset="0"/>
              </a:rPr>
              <a:t>   </a:t>
            </a:r>
            <a:r>
              <a:rPr lang="zh-CN" altLang="zh-CN">
                <a:solidFill>
                  <a:srgbClr val="0000FF"/>
                </a:solidFill>
                <a:latin typeface="Consolas" pitchFamily="49" charset="0"/>
                <a:ea typeface="仿宋" pitchFamily="49" charset="-122"/>
                <a:cs typeface="Consolas" pitchFamily="49" charset="0"/>
              </a:rPr>
              <a:t>这个回路一定有连接</a:t>
            </a:r>
            <a:r>
              <a:rPr lang="en-US" altLang="zh-CN">
                <a:solidFill>
                  <a:srgbClr val="0000FF"/>
                </a:solidFill>
                <a:latin typeface="Consolas" pitchFamily="49" charset="0"/>
                <a:ea typeface="仿宋" pitchFamily="49" charset="-122"/>
                <a:cs typeface="Consolas" pitchFamily="49" charset="0"/>
              </a:rPr>
              <a:t>U</a:t>
            </a:r>
            <a:r>
              <a:rPr lang="zh-CN" altLang="zh-CN">
                <a:solidFill>
                  <a:srgbClr val="0000FF"/>
                </a:solidFill>
                <a:latin typeface="Consolas" pitchFamily="49" charset="0"/>
                <a:ea typeface="仿宋" pitchFamily="49" charset="-122"/>
                <a:cs typeface="Consolas" pitchFamily="49" charset="0"/>
              </a:rPr>
              <a:t>与</a:t>
            </a:r>
            <a:r>
              <a:rPr lang="en-US" altLang="zh-CN">
                <a:solidFill>
                  <a:srgbClr val="0000FF"/>
                </a:solidFill>
                <a:latin typeface="Consolas" pitchFamily="49" charset="0"/>
                <a:ea typeface="仿宋" pitchFamily="49" charset="-122"/>
                <a:cs typeface="Consolas" pitchFamily="49" charset="0"/>
              </a:rPr>
              <a:t>V-U</a:t>
            </a:r>
            <a:r>
              <a:rPr lang="zh-CN" altLang="zh-CN">
                <a:solidFill>
                  <a:srgbClr val="0000FF"/>
                </a:solidFill>
                <a:latin typeface="Consolas" pitchFamily="49" charset="0"/>
                <a:ea typeface="仿宋" pitchFamily="49" charset="-122"/>
                <a:cs typeface="Consolas" pitchFamily="49" charset="0"/>
              </a:rPr>
              <a:t>中顶点的边</a:t>
            </a:r>
            <a:r>
              <a:rPr lang="en-US" altLang="zh-CN">
                <a:solidFill>
                  <a:srgbClr val="0000FF"/>
                </a:solidFill>
                <a:latin typeface="Consolas" pitchFamily="49" charset="0"/>
                <a:ea typeface="仿宋" pitchFamily="49" charset="-122"/>
                <a:cs typeface="Consolas" pitchFamily="49" charset="0"/>
              </a:rPr>
              <a:t>e'</a:t>
            </a:r>
            <a:r>
              <a:rPr lang="zh-CN" altLang="zh-CN">
                <a:solidFill>
                  <a:srgbClr val="0000FF"/>
                </a:solidFill>
                <a:latin typeface="Consolas" pitchFamily="49" charset="0"/>
                <a:ea typeface="仿宋" pitchFamily="49" charset="-122"/>
                <a:cs typeface="Consolas" pitchFamily="49" charset="0"/>
              </a:rPr>
              <a:t>，用</a:t>
            </a:r>
            <a:r>
              <a:rPr lang="en-US" altLang="zh-CN" i="1">
                <a:solidFill>
                  <a:srgbClr val="0000FF"/>
                </a:solidFill>
                <a:latin typeface="Consolas" pitchFamily="49" charset="0"/>
                <a:ea typeface="仿宋" pitchFamily="49" charset="-122"/>
                <a:cs typeface="Consolas" pitchFamily="49" charset="0"/>
              </a:rPr>
              <a:t>e</a:t>
            </a:r>
            <a:r>
              <a:rPr lang="en-US" altLang="zh-CN" i="1" baseline="-25000">
                <a:solidFill>
                  <a:srgbClr val="0000FF"/>
                </a:solidFill>
                <a:latin typeface="Consolas" pitchFamily="49" charset="0"/>
                <a:ea typeface="仿宋" pitchFamily="49" charset="-122"/>
                <a:cs typeface="Consolas" pitchFamily="49" charset="0"/>
              </a:rPr>
              <a:t>k</a:t>
            </a:r>
            <a:r>
              <a:rPr lang="zh-CN" altLang="zh-CN">
                <a:solidFill>
                  <a:srgbClr val="0000FF"/>
                </a:solidFill>
                <a:latin typeface="Consolas" pitchFamily="49" charset="0"/>
                <a:ea typeface="仿宋" pitchFamily="49" charset="-122"/>
                <a:cs typeface="Consolas" pitchFamily="49" charset="0"/>
              </a:rPr>
              <a:t>替换</a:t>
            </a:r>
            <a:r>
              <a:rPr lang="en-US" altLang="zh-CN" i="1">
                <a:solidFill>
                  <a:srgbClr val="0000FF"/>
                </a:solidFill>
                <a:latin typeface="Consolas" pitchFamily="49" charset="0"/>
                <a:ea typeface="仿宋" pitchFamily="49" charset="-122"/>
                <a:cs typeface="Consolas" pitchFamily="49" charset="0"/>
              </a:rPr>
              <a:t>e</a:t>
            </a:r>
            <a:r>
              <a:rPr lang="en-US"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得到树</a:t>
            </a:r>
            <a:r>
              <a:rPr lang="en-US" altLang="zh-CN">
                <a:solidFill>
                  <a:srgbClr val="0000FF"/>
                </a:solidFill>
                <a:latin typeface="Consolas" pitchFamily="49" charset="0"/>
                <a:ea typeface="仿宋" pitchFamily="49" charset="-122"/>
                <a:cs typeface="Consolas" pitchFamily="49" charset="0"/>
              </a:rPr>
              <a:t>T'</a:t>
            </a:r>
            <a:r>
              <a:rPr lang="zh-CN" altLang="zh-CN">
                <a:solidFill>
                  <a:srgbClr val="0000FF"/>
                </a:solidFill>
                <a:latin typeface="Consolas" pitchFamily="49" charset="0"/>
                <a:ea typeface="仿宋" pitchFamily="49" charset="-122"/>
                <a:cs typeface="Consolas" pitchFamily="49" charset="0"/>
              </a:rPr>
              <a:t>，即：</a:t>
            </a:r>
          </a:p>
          <a:p>
            <a:pPr algn="l">
              <a:lnSpc>
                <a:spcPts val="3000"/>
              </a:lnSpc>
              <a:spcBef>
                <a:spcPts val="0"/>
              </a:spcBef>
            </a:pPr>
            <a:r>
              <a:rPr lang="en-US" altLang="zh-CN" i="1">
                <a:solidFill>
                  <a:srgbClr val="C00000"/>
                </a:solidFill>
                <a:latin typeface="Consolas" pitchFamily="49" charset="0"/>
                <a:ea typeface="仿宋" pitchFamily="49" charset="-122"/>
                <a:cs typeface="Consolas" pitchFamily="49" charset="0"/>
              </a:rPr>
              <a:t>     </a:t>
            </a:r>
            <a:r>
              <a:rPr lang="en-US" altLang="zh-CN">
                <a:solidFill>
                  <a:srgbClr val="C00000"/>
                </a:solidFill>
                <a:latin typeface="Consolas" pitchFamily="49" charset="0"/>
                <a:ea typeface="仿宋" pitchFamily="49" charset="-122"/>
                <a:cs typeface="Consolas" pitchFamily="49" charset="0"/>
              </a:rPr>
              <a:t>T'=(T-{e'})</a:t>
            </a:r>
            <a:r>
              <a:rPr lang="zh-CN" altLang="zh-CN">
                <a:solidFill>
                  <a:srgbClr val="C00000"/>
                </a:solidFill>
                <a:latin typeface="Consolas" pitchFamily="49" charset="0"/>
                <a:ea typeface="仿宋" pitchFamily="49" charset="-122"/>
                <a:cs typeface="Consolas" pitchFamily="49" charset="0"/>
              </a:rPr>
              <a:t>∪</a:t>
            </a:r>
            <a:r>
              <a:rPr lang="en-US" altLang="zh-CN">
                <a:solidFill>
                  <a:srgbClr val="C00000"/>
                </a:solidFill>
                <a:latin typeface="Consolas" pitchFamily="49" charset="0"/>
                <a:ea typeface="仿宋" pitchFamily="49" charset="-122"/>
                <a:cs typeface="Consolas" pitchFamily="49" charset="0"/>
              </a:rPr>
              <a:t>{e</a:t>
            </a:r>
            <a:r>
              <a:rPr lang="en-US" altLang="zh-CN" i="1" baseline="-25000">
                <a:solidFill>
                  <a:srgbClr val="C00000"/>
                </a:solidFill>
                <a:latin typeface="Consolas" pitchFamily="49" charset="0"/>
                <a:ea typeface="仿宋" pitchFamily="49" charset="-122"/>
                <a:cs typeface="Consolas" pitchFamily="49" charset="0"/>
              </a:rPr>
              <a:t>k</a:t>
            </a:r>
            <a:r>
              <a:rPr lang="en-US" altLang="zh-CN">
                <a:solidFill>
                  <a:srgbClr val="C00000"/>
                </a:solidFill>
                <a:latin typeface="Consolas" pitchFamily="49" charset="0"/>
                <a:ea typeface="仿宋" pitchFamily="49" charset="-122"/>
                <a:cs typeface="Consolas" pitchFamily="49" charset="0"/>
              </a:rPr>
              <a:t>}</a:t>
            </a:r>
          </a:p>
          <a:p>
            <a:pPr algn="l">
              <a:lnSpc>
                <a:spcPts val="3000"/>
              </a:lnSpc>
              <a:spcBef>
                <a:spcPts val="0"/>
              </a:spcBef>
            </a:pPr>
            <a:r>
              <a:rPr lang="zh-CN" altLang="zh-CN">
                <a:solidFill>
                  <a:srgbClr val="0000FF"/>
                </a:solidFill>
                <a:latin typeface="Consolas" pitchFamily="49" charset="0"/>
                <a:ea typeface="仿宋" pitchFamily="49" charset="-122"/>
                <a:cs typeface="Consolas" pitchFamily="49" charset="0"/>
              </a:rPr>
              <a:t>则</a:t>
            </a:r>
            <a:r>
              <a:rPr lang="en-US" altLang="zh-CN">
                <a:solidFill>
                  <a:srgbClr val="0000FF"/>
                </a:solidFill>
                <a:latin typeface="Consolas" pitchFamily="49" charset="0"/>
                <a:ea typeface="仿宋" pitchFamily="49" charset="-122"/>
                <a:cs typeface="Consolas" pitchFamily="49" charset="0"/>
              </a:rPr>
              <a:t>T'</a:t>
            </a:r>
            <a:r>
              <a:rPr lang="zh-CN" altLang="zh-CN">
                <a:solidFill>
                  <a:srgbClr val="0000FF"/>
                </a:solidFill>
                <a:latin typeface="Consolas" pitchFamily="49" charset="0"/>
                <a:ea typeface="仿宋" pitchFamily="49" charset="-122"/>
                <a:cs typeface="Consolas" pitchFamily="49" charset="0"/>
              </a:rPr>
              <a:t>也是一棵生成树，包含边</a:t>
            </a:r>
            <a:r>
              <a:rPr lang="en-US" altLang="zh-CN">
                <a:solidFill>
                  <a:srgbClr val="0000FF"/>
                </a:solidFill>
                <a:latin typeface="Consolas" pitchFamily="49" charset="0"/>
                <a:ea typeface="仿宋" pitchFamily="49" charset="-122"/>
                <a:cs typeface="Consolas" pitchFamily="49" charset="0"/>
              </a:rPr>
              <a:t>e</a:t>
            </a:r>
            <a:r>
              <a:rPr lang="en-US" altLang="zh-CN" baseline="-25000">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a:t>
            </a:r>
            <a:r>
              <a:rPr lang="en-US" altLang="zh-CN">
                <a:solidFill>
                  <a:srgbClr val="0000FF"/>
                </a:solidFill>
                <a:latin typeface="Consolas" pitchFamily="49" charset="0"/>
                <a:ea typeface="仿宋" pitchFamily="49" charset="-122"/>
                <a:cs typeface="Consolas" pitchFamily="49" charset="0"/>
              </a:rPr>
              <a:t>e</a:t>
            </a:r>
            <a:r>
              <a:rPr lang="en-US" altLang="zh-CN" baseline="-25000">
                <a:solidFill>
                  <a:srgbClr val="0000FF"/>
                </a:solidFill>
                <a:latin typeface="Consolas" pitchFamily="49" charset="0"/>
                <a:ea typeface="仿宋" pitchFamily="49" charset="-122"/>
                <a:cs typeface="Consolas" pitchFamily="49" charset="0"/>
              </a:rPr>
              <a:t>2</a:t>
            </a:r>
            <a:r>
              <a:rPr lang="zh-CN"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mn-ea"/>
                <a:ea typeface="+mn-ea"/>
                <a:cs typeface="Consolas" pitchFamily="49" charset="0"/>
              </a:rPr>
              <a:t>…</a:t>
            </a:r>
            <a:r>
              <a:rPr lang="zh-CN" altLang="zh-CN">
                <a:solidFill>
                  <a:srgbClr val="0000FF"/>
                </a:solidFill>
                <a:latin typeface="Consolas" pitchFamily="49" charset="0"/>
                <a:ea typeface="仿宋" pitchFamily="49" charset="-122"/>
                <a:cs typeface="Consolas" pitchFamily="49" charset="0"/>
              </a:rPr>
              <a:t>，</a:t>
            </a:r>
            <a:r>
              <a:rPr lang="en-US" altLang="zh-CN">
                <a:solidFill>
                  <a:srgbClr val="0000FF"/>
                </a:solidFill>
                <a:latin typeface="Consolas" pitchFamily="49" charset="0"/>
                <a:ea typeface="仿宋" pitchFamily="49" charset="-122"/>
                <a:cs typeface="Consolas" pitchFamily="49" charset="0"/>
              </a:rPr>
              <a:t>e</a:t>
            </a:r>
            <a:r>
              <a:rPr lang="en-US" altLang="zh-CN" i="1" baseline="-25000">
                <a:solidFill>
                  <a:srgbClr val="0000FF"/>
                </a:solidFill>
                <a:latin typeface="Consolas" pitchFamily="49" charset="0"/>
                <a:ea typeface="仿宋" pitchFamily="49" charset="-122"/>
                <a:cs typeface="Consolas" pitchFamily="49" charset="0"/>
              </a:rPr>
              <a:t>k</a:t>
            </a:r>
            <a:r>
              <a:rPr lang="en-US" altLang="zh-CN" baseline="-25000">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a:t>
            </a:r>
            <a:r>
              <a:rPr lang="en-US" altLang="zh-CN">
                <a:solidFill>
                  <a:srgbClr val="0000FF"/>
                </a:solidFill>
                <a:latin typeface="Consolas" pitchFamily="49" charset="0"/>
                <a:ea typeface="仿宋" pitchFamily="49" charset="-122"/>
                <a:cs typeface="Consolas" pitchFamily="49" charset="0"/>
              </a:rPr>
              <a:t>e</a:t>
            </a:r>
            <a:r>
              <a:rPr lang="en-US" altLang="zh-CN" i="1" baseline="-25000">
                <a:solidFill>
                  <a:srgbClr val="0000FF"/>
                </a:solidFill>
                <a:latin typeface="Consolas" pitchFamily="49" charset="0"/>
                <a:ea typeface="仿宋" pitchFamily="49" charset="-122"/>
                <a:cs typeface="Consolas" pitchFamily="49" charset="0"/>
              </a:rPr>
              <a:t>k</a:t>
            </a:r>
            <a:r>
              <a:rPr lang="zh-CN" altLang="zh-CN">
                <a:solidFill>
                  <a:srgbClr val="0000FF"/>
                </a:solidFill>
                <a:latin typeface="Consolas" pitchFamily="49" charset="0"/>
                <a:ea typeface="仿宋" pitchFamily="49" charset="-122"/>
                <a:cs typeface="Consolas" pitchFamily="49" charset="0"/>
              </a:rPr>
              <a:t>，并且</a:t>
            </a:r>
            <a:r>
              <a:rPr lang="en-US" altLang="zh-CN">
                <a:solidFill>
                  <a:srgbClr val="0000FF"/>
                </a:solidFill>
                <a:latin typeface="Consolas" pitchFamily="49" charset="0"/>
                <a:ea typeface="仿宋" pitchFamily="49" charset="-122"/>
                <a:cs typeface="Consolas" pitchFamily="49" charset="0"/>
              </a:rPr>
              <a:t>T'</a:t>
            </a:r>
            <a:r>
              <a:rPr lang="zh-CN" altLang="zh-CN">
                <a:solidFill>
                  <a:srgbClr val="0000FF"/>
                </a:solidFill>
                <a:latin typeface="Consolas" pitchFamily="49" charset="0"/>
                <a:ea typeface="仿宋" pitchFamily="49" charset="-122"/>
                <a:cs typeface="Consolas" pitchFamily="49" charset="0"/>
              </a:rPr>
              <a:t>所有边权值和更小（除非</a:t>
            </a:r>
            <a:r>
              <a:rPr lang="en-US" altLang="zh-CN">
                <a:solidFill>
                  <a:srgbClr val="0000FF"/>
                </a:solidFill>
                <a:latin typeface="Consolas" pitchFamily="49" charset="0"/>
                <a:ea typeface="仿宋" pitchFamily="49" charset="-122"/>
                <a:cs typeface="Consolas" pitchFamily="49" charset="0"/>
              </a:rPr>
              <a:t>e'</a:t>
            </a:r>
            <a:r>
              <a:rPr lang="zh-CN" altLang="zh-CN">
                <a:solidFill>
                  <a:srgbClr val="0000FF"/>
                </a:solidFill>
                <a:latin typeface="Consolas" pitchFamily="49" charset="0"/>
                <a:ea typeface="仿宋" pitchFamily="49" charset="-122"/>
                <a:cs typeface="Consolas" pitchFamily="49" charset="0"/>
              </a:rPr>
              <a:t>与</a:t>
            </a:r>
            <a:r>
              <a:rPr lang="en-US" altLang="zh-CN">
                <a:solidFill>
                  <a:srgbClr val="0000FF"/>
                </a:solidFill>
                <a:latin typeface="Consolas" pitchFamily="49" charset="0"/>
                <a:ea typeface="仿宋" pitchFamily="49" charset="-122"/>
                <a:cs typeface="Consolas" pitchFamily="49" charset="0"/>
              </a:rPr>
              <a:t>e</a:t>
            </a:r>
            <a:r>
              <a:rPr lang="en-US" altLang="zh-CN" i="1" baseline="-25000">
                <a:solidFill>
                  <a:srgbClr val="0000FF"/>
                </a:solidFill>
                <a:latin typeface="Consolas" pitchFamily="49" charset="0"/>
                <a:ea typeface="仿宋" pitchFamily="49" charset="-122"/>
                <a:cs typeface="Consolas" pitchFamily="49" charset="0"/>
              </a:rPr>
              <a:t>k</a:t>
            </a:r>
            <a:r>
              <a:rPr lang="zh-CN" altLang="zh-CN">
                <a:solidFill>
                  <a:srgbClr val="0000FF"/>
                </a:solidFill>
                <a:latin typeface="Consolas" pitchFamily="49" charset="0"/>
                <a:ea typeface="仿宋" pitchFamily="49" charset="-122"/>
                <a:cs typeface="Consolas" pitchFamily="49" charset="0"/>
              </a:rPr>
              <a:t>的权相同），与</a:t>
            </a:r>
            <a:r>
              <a:rPr lang="en-US" altLang="zh-CN">
                <a:solidFill>
                  <a:srgbClr val="0000FF"/>
                </a:solidFill>
                <a:latin typeface="Consolas" pitchFamily="49" charset="0"/>
                <a:ea typeface="仿宋" pitchFamily="49" charset="-122"/>
                <a:cs typeface="Consolas" pitchFamily="49" charset="0"/>
              </a:rPr>
              <a:t>T</a:t>
            </a:r>
            <a:r>
              <a:rPr lang="zh-CN" altLang="zh-CN">
                <a:solidFill>
                  <a:srgbClr val="0000FF"/>
                </a:solidFill>
                <a:latin typeface="Consolas" pitchFamily="49" charset="0"/>
                <a:ea typeface="仿宋" pitchFamily="49" charset="-122"/>
                <a:cs typeface="Consolas" pitchFamily="49" charset="0"/>
              </a:rPr>
              <a:t>为一棵最小生成树矛盾。定理即证。</a:t>
            </a:r>
            <a:r>
              <a:rPr lang="en-US" altLang="zh-CN">
                <a:solidFill>
                  <a:srgbClr val="006600"/>
                </a:solidFill>
                <a:latin typeface="Consolas" pitchFamily="49" charset="0"/>
                <a:ea typeface="仿宋" pitchFamily="49" charset="-122"/>
                <a:cs typeface="Consolas" pitchFamily="49" charset="0"/>
              </a:rPr>
              <a:t>   </a:t>
            </a:r>
            <a:endParaRPr lang="zh-CN" altLang="zh-CN">
              <a:solidFill>
                <a:srgbClr val="006600"/>
              </a:solidFill>
              <a:latin typeface="Consolas" pitchFamily="49" charset="0"/>
              <a:ea typeface="仿宋" pitchFamily="49" charset="-122"/>
              <a:cs typeface="Consolas" pitchFamily="49" charset="0"/>
            </a:endParaRPr>
          </a:p>
        </p:txBody>
      </p:sp>
      <p:sp>
        <p:nvSpPr>
          <p:cNvPr id="32" name="灯片编号占位符 31"/>
          <p:cNvSpPr>
            <a:spLocks noGrp="1"/>
          </p:cNvSpPr>
          <p:nvPr>
            <p:ph type="sldNum" sz="quarter" idx="12"/>
          </p:nvPr>
        </p:nvSpPr>
        <p:spPr/>
        <p:txBody>
          <a:bodyPr/>
          <a:lstStyle/>
          <a:p>
            <a:fld id="{7AF016A1-9F15-429F-9EFD-84004B73C732}" type="slidenum">
              <a:rPr lang="en-US" altLang="zh-CN" smtClean="0"/>
              <a:pPr/>
              <a:t>14</a:t>
            </a:fld>
            <a:r>
              <a:rPr lang="en-US" altLang="zh-CN"/>
              <a:t>/158</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2">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 Box 2"/>
          <p:cNvSpPr txBox="1">
            <a:spLocks noChangeArrowheads="1"/>
          </p:cNvSpPr>
          <p:nvPr/>
        </p:nvSpPr>
        <p:spPr bwMode="auto">
          <a:xfrm>
            <a:off x="285720" y="1785926"/>
            <a:ext cx="8572560" cy="964367"/>
          </a:xfrm>
          <a:prstGeom prst="rect">
            <a:avLst/>
          </a:prstGeom>
          <a:ln>
            <a:solidFill>
              <a:schemeClr val="accent6">
                <a:lumMod val="40000"/>
                <a:lumOff val="60000"/>
              </a:schemeClr>
            </a:solidFill>
            <a:headEnd/>
            <a:tailEnd/>
          </a:ln>
        </p:spPr>
        <p:style>
          <a:lnRef idx="2">
            <a:schemeClr val="accent5"/>
          </a:lnRef>
          <a:fillRef idx="1">
            <a:schemeClr val="lt1"/>
          </a:fillRef>
          <a:effectRef idx="0">
            <a:schemeClr val="accent5"/>
          </a:effectRef>
          <a:fontRef idx="minor">
            <a:schemeClr val="dk1"/>
          </a:fontRef>
        </p:style>
        <p:txBody>
          <a:bodyPr wrap="square">
            <a:spAutoFit/>
          </a:bodyPr>
          <a:lstStyle/>
          <a:p>
            <a:pPr algn="l">
              <a:lnSpc>
                <a:spcPts val="3400"/>
              </a:lnSpc>
              <a:spcBef>
                <a:spcPts val="0"/>
              </a:spcBef>
            </a:pPr>
            <a:r>
              <a:rPr lang="en-US" altLang="zh-CN">
                <a:solidFill>
                  <a:srgbClr val="0000FF"/>
                </a:solidFill>
                <a:latin typeface="Consolas" pitchFamily="49" charset="0"/>
                <a:ea typeface="楷体" pitchFamily="49" charset="-122"/>
                <a:cs typeface="Consolas" pitchFamily="49" charset="0"/>
              </a:rPr>
              <a:t>   </a:t>
            </a:r>
            <a:r>
              <a:rPr lang="zh-CN" altLang="zh-CN">
                <a:solidFill>
                  <a:srgbClr val="0000FF"/>
                </a:solidFill>
                <a:latin typeface="Consolas" pitchFamily="49" charset="0"/>
                <a:ea typeface="楷体" pitchFamily="49" charset="-122"/>
                <a:cs typeface="Consolas" pitchFamily="49" charset="0"/>
              </a:rPr>
              <a:t>当</a:t>
            </a:r>
            <a:r>
              <a:rPr lang="en-US" altLang="zh-CN" i="1">
                <a:solidFill>
                  <a:srgbClr val="FF00FF"/>
                </a:solidFill>
                <a:latin typeface="Consolas" pitchFamily="49" charset="0"/>
                <a:ea typeface="楷体" pitchFamily="49" charset="-122"/>
                <a:cs typeface="Consolas" pitchFamily="49" charset="0"/>
              </a:rPr>
              <a:t>k</a:t>
            </a:r>
            <a:r>
              <a:rPr lang="en-US" altLang="zh-CN">
                <a:solidFill>
                  <a:srgbClr val="FF00FF"/>
                </a:solidFill>
                <a:latin typeface="Consolas" pitchFamily="49" charset="0"/>
                <a:ea typeface="楷体" pitchFamily="49" charset="-122"/>
                <a:cs typeface="Consolas" pitchFamily="49" charset="0"/>
              </a:rPr>
              <a:t>=</a:t>
            </a:r>
            <a:r>
              <a:rPr lang="en-US" altLang="zh-CN" i="1">
                <a:solidFill>
                  <a:srgbClr val="FF00FF"/>
                </a:solidFill>
                <a:latin typeface="Consolas" pitchFamily="49" charset="0"/>
                <a:ea typeface="楷体" pitchFamily="49" charset="-122"/>
                <a:cs typeface="Consolas" pitchFamily="49" charset="0"/>
              </a:rPr>
              <a:t>n</a:t>
            </a:r>
            <a:r>
              <a:rPr lang="zh-CN" altLang="zh-CN">
                <a:solidFill>
                  <a:srgbClr val="0000FF"/>
                </a:solidFill>
                <a:latin typeface="Consolas" pitchFamily="49" charset="0"/>
                <a:ea typeface="楷体" pitchFamily="49" charset="-122"/>
                <a:cs typeface="Consolas" pitchFamily="49" charset="0"/>
              </a:rPr>
              <a:t>时，</a:t>
            </a:r>
            <a:r>
              <a:rPr lang="en-US" altLang="zh-CN">
                <a:solidFill>
                  <a:srgbClr val="0000FF"/>
                </a:solidFill>
                <a:latin typeface="Consolas" pitchFamily="49" charset="0"/>
                <a:ea typeface="楷体" pitchFamily="49" charset="-122"/>
                <a:cs typeface="Consolas" pitchFamily="49" charset="0"/>
              </a:rPr>
              <a:t>U</a:t>
            </a:r>
            <a:r>
              <a:rPr lang="zh-CN" altLang="zh-CN">
                <a:solidFill>
                  <a:srgbClr val="0000FF"/>
                </a:solidFill>
                <a:latin typeface="Consolas" pitchFamily="49" charset="0"/>
                <a:ea typeface="楷体" pitchFamily="49" charset="-122"/>
                <a:cs typeface="Consolas" pitchFamily="49" charset="0"/>
              </a:rPr>
              <a:t>包含</a:t>
            </a:r>
            <a:r>
              <a:rPr lang="en-US" altLang="zh-CN">
                <a:solidFill>
                  <a:srgbClr val="0000FF"/>
                </a:solidFill>
                <a:latin typeface="Consolas" pitchFamily="49" charset="0"/>
                <a:ea typeface="楷体" pitchFamily="49" charset="-122"/>
                <a:cs typeface="Consolas" pitchFamily="49" charset="0"/>
              </a:rPr>
              <a:t>G</a:t>
            </a:r>
            <a:r>
              <a:rPr lang="zh-CN" altLang="zh-CN">
                <a:solidFill>
                  <a:srgbClr val="0000FF"/>
                </a:solidFill>
                <a:latin typeface="Consolas" pitchFamily="49" charset="0"/>
                <a:ea typeface="楷体" pitchFamily="49" charset="-122"/>
                <a:cs typeface="Consolas" pitchFamily="49" charset="0"/>
              </a:rPr>
              <a:t>中所有顶点，由普里姆算法构造的</a:t>
            </a:r>
            <a:r>
              <a:rPr lang="en-US" altLang="zh-CN">
                <a:solidFill>
                  <a:srgbClr val="0000FF"/>
                </a:solidFill>
                <a:latin typeface="Consolas" pitchFamily="49" charset="0"/>
                <a:ea typeface="楷体" pitchFamily="49" charset="-122"/>
                <a:cs typeface="Consolas" pitchFamily="49" charset="0"/>
              </a:rPr>
              <a:t>T=</a:t>
            </a:r>
            <a:r>
              <a:rPr lang="zh-CN" altLang="zh-CN">
                <a:solidFill>
                  <a:srgbClr val="0000FF"/>
                </a:solidFill>
                <a:latin typeface="Consolas" pitchFamily="49" charset="0"/>
                <a:ea typeface="楷体" pitchFamily="49" charset="-122"/>
                <a:cs typeface="Consolas" pitchFamily="49" charset="0"/>
              </a:rPr>
              <a:t>（</a:t>
            </a:r>
            <a:r>
              <a:rPr lang="en-US" altLang="zh-CN">
                <a:solidFill>
                  <a:srgbClr val="0000FF"/>
                </a:solidFill>
                <a:latin typeface="Consolas" pitchFamily="49" charset="0"/>
                <a:ea typeface="楷体" pitchFamily="49" charset="-122"/>
                <a:cs typeface="Consolas" pitchFamily="49" charset="0"/>
              </a:rPr>
              <a:t>U</a:t>
            </a:r>
            <a:r>
              <a:rPr lang="zh-CN" altLang="zh-CN">
                <a:solidFill>
                  <a:srgbClr val="0000FF"/>
                </a:solidFill>
                <a:latin typeface="Consolas" pitchFamily="49" charset="0"/>
                <a:ea typeface="楷体" pitchFamily="49" charset="-122"/>
                <a:cs typeface="Consolas" pitchFamily="49" charset="0"/>
              </a:rPr>
              <a:t>，</a:t>
            </a:r>
            <a:r>
              <a:rPr lang="en-US" altLang="zh-CN">
                <a:solidFill>
                  <a:srgbClr val="0000FF"/>
                </a:solidFill>
                <a:latin typeface="Consolas" pitchFamily="49" charset="0"/>
                <a:ea typeface="楷体" pitchFamily="49" charset="-122"/>
                <a:cs typeface="Consolas" pitchFamily="49" charset="0"/>
              </a:rPr>
              <a:t>TE</a:t>
            </a:r>
            <a:r>
              <a:rPr lang="zh-CN" altLang="zh-CN">
                <a:solidFill>
                  <a:srgbClr val="0000FF"/>
                </a:solidFill>
                <a:latin typeface="Consolas" pitchFamily="49" charset="0"/>
                <a:ea typeface="楷体" pitchFamily="49" charset="-122"/>
                <a:cs typeface="Consolas" pitchFamily="49" charset="0"/>
              </a:rPr>
              <a:t>）就是</a:t>
            </a:r>
            <a:r>
              <a:rPr lang="en-US" altLang="zh-CN">
                <a:solidFill>
                  <a:srgbClr val="FF0000"/>
                </a:solidFill>
                <a:latin typeface="Consolas" pitchFamily="49" charset="0"/>
                <a:ea typeface="楷体" pitchFamily="49" charset="-122"/>
                <a:cs typeface="Consolas" pitchFamily="49" charset="0"/>
              </a:rPr>
              <a:t>G</a:t>
            </a:r>
            <a:r>
              <a:rPr lang="zh-CN" altLang="zh-CN">
                <a:solidFill>
                  <a:srgbClr val="FF0000"/>
                </a:solidFill>
                <a:latin typeface="Consolas" pitchFamily="49" charset="0"/>
                <a:ea typeface="楷体" pitchFamily="49" charset="-122"/>
                <a:cs typeface="Consolas" pitchFamily="49" charset="0"/>
              </a:rPr>
              <a:t>的最小生成树</a:t>
            </a:r>
            <a:r>
              <a:rPr lang="zh-CN" altLang="zh-CN">
                <a:solidFill>
                  <a:srgbClr val="0000FF"/>
                </a:solidFill>
                <a:latin typeface="Consolas" pitchFamily="49" charset="0"/>
                <a:ea typeface="楷体" pitchFamily="49" charset="-122"/>
                <a:cs typeface="Consolas" pitchFamily="49" charset="0"/>
              </a:rPr>
              <a:t>。</a:t>
            </a:r>
          </a:p>
        </p:txBody>
      </p:sp>
      <p:sp>
        <p:nvSpPr>
          <p:cNvPr id="4" name="灯片编号占位符 3"/>
          <p:cNvSpPr>
            <a:spLocks noGrp="1"/>
          </p:cNvSpPr>
          <p:nvPr>
            <p:ph type="sldNum" sz="quarter" idx="12"/>
          </p:nvPr>
        </p:nvSpPr>
        <p:spPr/>
        <p:txBody>
          <a:bodyPr/>
          <a:lstStyle/>
          <a:p>
            <a:fld id="{7AF016A1-9F15-429F-9EFD-84004B73C732}" type="slidenum">
              <a:rPr lang="en-US" altLang="zh-CN" smtClean="0"/>
              <a:pPr/>
              <a:t>15</a:t>
            </a:fld>
            <a:r>
              <a:rPr lang="en-US" altLang="zh-CN"/>
              <a:t>/158</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5" name="Text Box 3"/>
          <p:cNvSpPr txBox="1">
            <a:spLocks noChangeArrowheads="1"/>
          </p:cNvSpPr>
          <p:nvPr/>
        </p:nvSpPr>
        <p:spPr bwMode="auto">
          <a:xfrm>
            <a:off x="393701" y="1109947"/>
            <a:ext cx="5964249" cy="461665"/>
          </a:xfrm>
          <a:prstGeom prst="rect">
            <a:avLst/>
          </a:prstGeom>
          <a:solidFill>
            <a:srgbClr val="9900FF"/>
          </a:solidFill>
          <a:ln w="9525">
            <a:noFill/>
            <a:miter lim="800000"/>
            <a:headEnd/>
            <a:tailEnd/>
          </a:ln>
        </p:spPr>
        <p:txBody>
          <a:bodyPr wrap="square">
            <a:spAutoFit/>
          </a:bodyPr>
          <a:lstStyle/>
          <a:p>
            <a:pPr algn="ctr">
              <a:lnSpc>
                <a:spcPct val="100000"/>
              </a:lnSpc>
              <a:spcBef>
                <a:spcPct val="50000"/>
              </a:spcBef>
            </a:pPr>
            <a:r>
              <a:rPr lang="en-US" altLang="zh-CN">
                <a:solidFill>
                  <a:schemeClr val="bg1"/>
                </a:solidFill>
                <a:latin typeface="Consolas" pitchFamily="49" charset="0"/>
                <a:ea typeface="微软雅黑" pitchFamily="34" charset="-122"/>
                <a:cs typeface="Consolas" pitchFamily="49" charset="0"/>
              </a:rPr>
              <a:t>1. Kruskal</a:t>
            </a:r>
            <a:r>
              <a:rPr lang="zh-CN" altLang="en-US">
                <a:solidFill>
                  <a:schemeClr val="bg1"/>
                </a:solidFill>
                <a:latin typeface="Consolas" pitchFamily="49" charset="0"/>
                <a:ea typeface="微软雅黑" pitchFamily="34" charset="-122"/>
                <a:cs typeface="Consolas" pitchFamily="49" charset="0"/>
              </a:rPr>
              <a:t>算法构造最小生成树的过程</a:t>
            </a:r>
          </a:p>
        </p:txBody>
      </p:sp>
      <p:sp>
        <p:nvSpPr>
          <p:cNvPr id="64516" name="Text Box 4"/>
          <p:cNvSpPr txBox="1">
            <a:spLocks noChangeArrowheads="1"/>
          </p:cNvSpPr>
          <p:nvPr/>
        </p:nvSpPr>
        <p:spPr bwMode="auto">
          <a:xfrm>
            <a:off x="285720" y="1724046"/>
            <a:ext cx="8462993" cy="1704954"/>
          </a:xfrm>
          <a:prstGeom prst="rect">
            <a:avLst/>
          </a:prstGeom>
          <a:noFill/>
          <a:ln w="9525">
            <a:noFill/>
            <a:miter lim="800000"/>
            <a:headEnd/>
            <a:tailEnd/>
          </a:ln>
        </p:spPr>
        <p:txBody>
          <a:bodyPr wrap="square">
            <a:spAutoFit/>
          </a:bodyPr>
          <a:lstStyle/>
          <a:p>
            <a:pPr algn="l">
              <a:lnSpc>
                <a:spcPts val="3200"/>
              </a:lnSpc>
            </a:pPr>
            <a:r>
              <a:rPr lang="zh-CN" altLang="en-US">
                <a:solidFill>
                  <a:srgbClr val="0000FF"/>
                </a:solidFill>
                <a:latin typeface="Consolas" pitchFamily="49" charset="0"/>
                <a:ea typeface="仿宋" pitchFamily="49" charset="-122"/>
                <a:cs typeface="Consolas" pitchFamily="49" charset="0"/>
              </a:rPr>
              <a:t>　　</a:t>
            </a:r>
            <a:r>
              <a:rPr lang="en-US" altLang="zh-CN">
                <a:solidFill>
                  <a:srgbClr val="0000FF"/>
                </a:solidFill>
                <a:latin typeface="Consolas" pitchFamily="49" charset="0"/>
                <a:ea typeface="仿宋" pitchFamily="49" charset="-122"/>
                <a:cs typeface="Consolas" pitchFamily="49" charset="0"/>
              </a:rPr>
              <a:t>Kruskal</a:t>
            </a:r>
            <a:r>
              <a:rPr lang="zh-CN" altLang="en-US">
                <a:solidFill>
                  <a:srgbClr val="0000FF"/>
                </a:solidFill>
                <a:latin typeface="Consolas" pitchFamily="49" charset="0"/>
                <a:ea typeface="仿宋" pitchFamily="49" charset="-122"/>
                <a:cs typeface="Consolas" pitchFamily="49" charset="0"/>
              </a:rPr>
              <a:t>（克鲁斯卡尔）算法是一种按权值的递增次序选择合适的边来构造最小生成树的方法。假设</a:t>
            </a:r>
            <a:r>
              <a:rPr lang="en-US" altLang="zh-CN">
                <a:solidFill>
                  <a:srgbClr val="0000FF"/>
                </a:solidFill>
                <a:latin typeface="Consolas" pitchFamily="49" charset="0"/>
                <a:ea typeface="仿宋" pitchFamily="49" charset="-122"/>
                <a:cs typeface="Consolas" pitchFamily="49" charset="0"/>
              </a:rPr>
              <a:t>G=(V</a:t>
            </a:r>
            <a:r>
              <a:rPr lang="zh-CN" altLang="en-US">
                <a:solidFill>
                  <a:srgbClr val="0000FF"/>
                </a:solidFill>
                <a:latin typeface="Consolas" pitchFamily="49" charset="0"/>
                <a:ea typeface="仿宋" pitchFamily="49" charset="-122"/>
                <a:cs typeface="Consolas" pitchFamily="49" charset="0"/>
              </a:rPr>
              <a:t>，</a:t>
            </a:r>
            <a:r>
              <a:rPr lang="en-US" altLang="zh-CN">
                <a:solidFill>
                  <a:srgbClr val="0000FF"/>
                </a:solidFill>
                <a:latin typeface="Consolas" pitchFamily="49" charset="0"/>
                <a:ea typeface="仿宋" pitchFamily="49" charset="-122"/>
                <a:cs typeface="Consolas" pitchFamily="49" charset="0"/>
              </a:rPr>
              <a:t>E)</a:t>
            </a:r>
            <a:r>
              <a:rPr lang="zh-CN" altLang="en-US">
                <a:solidFill>
                  <a:srgbClr val="0000FF"/>
                </a:solidFill>
                <a:latin typeface="Consolas" pitchFamily="49" charset="0"/>
                <a:ea typeface="仿宋" pitchFamily="49" charset="-122"/>
                <a:cs typeface="Consolas" pitchFamily="49" charset="0"/>
              </a:rPr>
              <a:t>是一个具有</a:t>
            </a:r>
            <a:r>
              <a:rPr lang="en-US" altLang="zh-CN" i="1">
                <a:solidFill>
                  <a:srgbClr val="0000FF"/>
                </a:solidFill>
                <a:latin typeface="Consolas" pitchFamily="49" charset="0"/>
                <a:ea typeface="仿宋" pitchFamily="49" charset="-122"/>
                <a:cs typeface="Consolas" pitchFamily="49" charset="0"/>
              </a:rPr>
              <a:t>n</a:t>
            </a:r>
            <a:r>
              <a:rPr lang="zh-CN" altLang="en-US">
                <a:solidFill>
                  <a:srgbClr val="0000FF"/>
                </a:solidFill>
                <a:latin typeface="Consolas" pitchFamily="49" charset="0"/>
                <a:ea typeface="仿宋" pitchFamily="49" charset="-122"/>
                <a:cs typeface="Consolas" pitchFamily="49" charset="0"/>
              </a:rPr>
              <a:t>个顶点</a:t>
            </a:r>
            <a:r>
              <a:rPr lang="en-US" altLang="zh-CN" i="1">
                <a:solidFill>
                  <a:srgbClr val="0000FF"/>
                </a:solidFill>
                <a:latin typeface="Consolas" pitchFamily="49" charset="0"/>
                <a:ea typeface="仿宋" pitchFamily="49" charset="-122"/>
                <a:cs typeface="Consolas" pitchFamily="49" charset="0"/>
              </a:rPr>
              <a:t>e</a:t>
            </a:r>
            <a:r>
              <a:rPr lang="zh-CN" altLang="en-US">
                <a:solidFill>
                  <a:srgbClr val="0000FF"/>
                </a:solidFill>
                <a:latin typeface="Consolas" pitchFamily="49" charset="0"/>
                <a:ea typeface="仿宋" pitchFamily="49" charset="-122"/>
                <a:cs typeface="Consolas" pitchFamily="49" charset="0"/>
              </a:rPr>
              <a:t>条边的带权连通无向图，</a:t>
            </a:r>
            <a:r>
              <a:rPr lang="en-US" altLang="zh-CN">
                <a:solidFill>
                  <a:srgbClr val="0000FF"/>
                </a:solidFill>
                <a:latin typeface="Consolas" pitchFamily="49" charset="0"/>
                <a:ea typeface="仿宋" pitchFamily="49" charset="-122"/>
                <a:cs typeface="Consolas" pitchFamily="49" charset="0"/>
              </a:rPr>
              <a:t>T=(U</a:t>
            </a:r>
            <a:r>
              <a:rPr lang="zh-CN" altLang="en-US">
                <a:solidFill>
                  <a:srgbClr val="0000FF"/>
                </a:solidFill>
                <a:latin typeface="Consolas" pitchFamily="49" charset="0"/>
                <a:ea typeface="仿宋" pitchFamily="49" charset="-122"/>
                <a:cs typeface="Consolas" pitchFamily="49" charset="0"/>
              </a:rPr>
              <a:t>，</a:t>
            </a:r>
            <a:r>
              <a:rPr lang="en-US" altLang="zh-CN">
                <a:solidFill>
                  <a:srgbClr val="0000FF"/>
                </a:solidFill>
                <a:latin typeface="Consolas" pitchFamily="49" charset="0"/>
                <a:ea typeface="仿宋" pitchFamily="49" charset="-122"/>
                <a:cs typeface="Consolas" pitchFamily="49" charset="0"/>
              </a:rPr>
              <a:t>TE)</a:t>
            </a:r>
            <a:r>
              <a:rPr lang="zh-CN" altLang="en-US">
                <a:solidFill>
                  <a:srgbClr val="0000FF"/>
                </a:solidFill>
                <a:latin typeface="Consolas" pitchFamily="49" charset="0"/>
                <a:ea typeface="仿宋" pitchFamily="49" charset="-122"/>
                <a:cs typeface="Consolas" pitchFamily="49" charset="0"/>
              </a:rPr>
              <a:t>是</a:t>
            </a:r>
            <a:r>
              <a:rPr lang="en-US" altLang="zh-CN">
                <a:solidFill>
                  <a:srgbClr val="0000FF"/>
                </a:solidFill>
                <a:latin typeface="Consolas" pitchFamily="49" charset="0"/>
                <a:ea typeface="仿宋" pitchFamily="49" charset="-122"/>
                <a:cs typeface="Consolas" pitchFamily="49" charset="0"/>
              </a:rPr>
              <a:t>G</a:t>
            </a:r>
            <a:r>
              <a:rPr lang="zh-CN" altLang="en-US">
                <a:solidFill>
                  <a:srgbClr val="0000FF"/>
                </a:solidFill>
                <a:latin typeface="Consolas" pitchFamily="49" charset="0"/>
                <a:ea typeface="仿宋" pitchFamily="49" charset="-122"/>
                <a:cs typeface="Consolas" pitchFamily="49" charset="0"/>
              </a:rPr>
              <a:t>的最小生成树，则构造最小生成树的步骤如下：</a:t>
            </a:r>
          </a:p>
        </p:txBody>
      </p:sp>
      <p:sp>
        <p:nvSpPr>
          <p:cNvPr id="5" name="TextBox 4"/>
          <p:cNvSpPr txBox="1"/>
          <p:nvPr/>
        </p:nvSpPr>
        <p:spPr>
          <a:xfrm>
            <a:off x="428596" y="3571876"/>
            <a:ext cx="8001056" cy="2390746"/>
          </a:xfrm>
          <a:prstGeom prst="rect">
            <a:avLst/>
          </a:prstGeom>
          <a:ln>
            <a:solidFill>
              <a:schemeClr val="accent6">
                <a:lumMod val="40000"/>
                <a:lumOff val="60000"/>
              </a:schemeClr>
            </a:solidFill>
          </a:ln>
        </p:spPr>
        <p:style>
          <a:lnRef idx="2">
            <a:schemeClr val="accent2"/>
          </a:lnRef>
          <a:fillRef idx="1">
            <a:schemeClr val="lt1"/>
          </a:fillRef>
          <a:effectRef idx="0">
            <a:schemeClr val="accent2"/>
          </a:effectRef>
          <a:fontRef idx="minor">
            <a:schemeClr val="dk1"/>
          </a:fontRef>
        </p:style>
        <p:txBody>
          <a:bodyPr wrap="square" lIns="180000" tIns="144000" rIns="180000" bIns="144000" rtlCol="0">
            <a:spAutoFit/>
          </a:bodyPr>
          <a:lstStyle/>
          <a:p>
            <a:pPr algn="l">
              <a:lnSpc>
                <a:spcPts val="3200"/>
              </a:lnSpc>
              <a:spcBef>
                <a:spcPts val="600"/>
              </a:spcBef>
            </a:pPr>
            <a:r>
              <a:rPr lang="zh-CN" altLang="en-US">
                <a:solidFill>
                  <a:srgbClr val="0000FF"/>
                </a:solidFill>
                <a:latin typeface="Consolas" pitchFamily="49" charset="0"/>
                <a:ea typeface="仿宋" pitchFamily="49" charset="-122"/>
                <a:cs typeface="Consolas" pitchFamily="49" charset="0"/>
              </a:rPr>
              <a:t>　　① 置</a:t>
            </a:r>
            <a:r>
              <a:rPr lang="en-US" altLang="zh-CN">
                <a:solidFill>
                  <a:srgbClr val="0000FF"/>
                </a:solidFill>
                <a:latin typeface="Consolas" pitchFamily="49" charset="0"/>
                <a:ea typeface="仿宋" pitchFamily="49" charset="-122"/>
                <a:cs typeface="Consolas" pitchFamily="49" charset="0"/>
              </a:rPr>
              <a:t>U</a:t>
            </a:r>
            <a:r>
              <a:rPr lang="zh-CN" altLang="en-US">
                <a:solidFill>
                  <a:srgbClr val="0000FF"/>
                </a:solidFill>
                <a:latin typeface="Consolas" pitchFamily="49" charset="0"/>
                <a:ea typeface="仿宋" pitchFamily="49" charset="-122"/>
                <a:cs typeface="Consolas" pitchFamily="49" charset="0"/>
              </a:rPr>
              <a:t>的初值等于</a:t>
            </a:r>
            <a:r>
              <a:rPr lang="en-US" altLang="zh-CN">
                <a:solidFill>
                  <a:srgbClr val="0000FF"/>
                </a:solidFill>
                <a:latin typeface="Consolas" pitchFamily="49" charset="0"/>
                <a:ea typeface="仿宋" pitchFamily="49" charset="-122"/>
                <a:cs typeface="Consolas" pitchFamily="49" charset="0"/>
              </a:rPr>
              <a:t>V</a:t>
            </a:r>
            <a:r>
              <a:rPr lang="zh-CN" altLang="en-US">
                <a:solidFill>
                  <a:srgbClr val="0000FF"/>
                </a:solidFill>
                <a:latin typeface="Consolas" pitchFamily="49" charset="0"/>
                <a:ea typeface="仿宋" pitchFamily="49" charset="-122"/>
                <a:cs typeface="Consolas" pitchFamily="49" charset="0"/>
              </a:rPr>
              <a:t>（即包含有</a:t>
            </a:r>
            <a:r>
              <a:rPr lang="en-US" altLang="zh-CN">
                <a:solidFill>
                  <a:srgbClr val="0000FF"/>
                </a:solidFill>
                <a:latin typeface="Consolas" pitchFamily="49" charset="0"/>
                <a:ea typeface="仿宋" pitchFamily="49" charset="-122"/>
                <a:cs typeface="Consolas" pitchFamily="49" charset="0"/>
              </a:rPr>
              <a:t>G</a:t>
            </a:r>
            <a:r>
              <a:rPr lang="zh-CN" altLang="en-US">
                <a:solidFill>
                  <a:srgbClr val="0000FF"/>
                </a:solidFill>
                <a:latin typeface="Consolas" pitchFamily="49" charset="0"/>
                <a:ea typeface="仿宋" pitchFamily="49" charset="-122"/>
                <a:cs typeface="Consolas" pitchFamily="49" charset="0"/>
              </a:rPr>
              <a:t>中的全部顶点），</a:t>
            </a:r>
            <a:r>
              <a:rPr lang="en-US" altLang="zh-CN">
                <a:solidFill>
                  <a:srgbClr val="0000FF"/>
                </a:solidFill>
                <a:latin typeface="Consolas" pitchFamily="49" charset="0"/>
                <a:ea typeface="仿宋" pitchFamily="49" charset="-122"/>
                <a:cs typeface="Consolas" pitchFamily="49" charset="0"/>
              </a:rPr>
              <a:t>TE</a:t>
            </a:r>
            <a:r>
              <a:rPr lang="zh-CN" altLang="en-US">
                <a:solidFill>
                  <a:srgbClr val="0000FF"/>
                </a:solidFill>
                <a:latin typeface="Consolas" pitchFamily="49" charset="0"/>
                <a:ea typeface="仿宋" pitchFamily="49" charset="-122"/>
                <a:cs typeface="Consolas" pitchFamily="49" charset="0"/>
              </a:rPr>
              <a:t>的初值为空集（即图</a:t>
            </a:r>
            <a:r>
              <a:rPr lang="en-US" altLang="zh-CN">
                <a:solidFill>
                  <a:srgbClr val="0000FF"/>
                </a:solidFill>
                <a:latin typeface="Consolas" pitchFamily="49" charset="0"/>
                <a:ea typeface="仿宋" pitchFamily="49" charset="-122"/>
                <a:cs typeface="Consolas" pitchFamily="49" charset="0"/>
              </a:rPr>
              <a:t>T</a:t>
            </a:r>
            <a:r>
              <a:rPr lang="zh-CN" altLang="en-US">
                <a:solidFill>
                  <a:srgbClr val="0000FF"/>
                </a:solidFill>
                <a:latin typeface="Consolas" pitchFamily="49" charset="0"/>
                <a:ea typeface="仿宋" pitchFamily="49" charset="-122"/>
                <a:cs typeface="Consolas" pitchFamily="49" charset="0"/>
              </a:rPr>
              <a:t>中每一个顶点都构成一个分量）。</a:t>
            </a:r>
          </a:p>
          <a:p>
            <a:pPr algn="l">
              <a:lnSpc>
                <a:spcPts val="3200"/>
              </a:lnSpc>
              <a:spcBef>
                <a:spcPts val="600"/>
              </a:spcBef>
            </a:pPr>
            <a:r>
              <a:rPr lang="zh-CN" altLang="en-US">
                <a:solidFill>
                  <a:srgbClr val="0000FF"/>
                </a:solidFill>
                <a:latin typeface="Consolas" pitchFamily="49" charset="0"/>
                <a:ea typeface="仿宋" pitchFamily="49" charset="-122"/>
                <a:cs typeface="Consolas" pitchFamily="49" charset="0"/>
              </a:rPr>
              <a:t>　　② 将图</a:t>
            </a:r>
            <a:r>
              <a:rPr lang="en-US" altLang="zh-CN">
                <a:solidFill>
                  <a:srgbClr val="0000FF"/>
                </a:solidFill>
                <a:latin typeface="Consolas" pitchFamily="49" charset="0"/>
                <a:ea typeface="仿宋" pitchFamily="49" charset="-122"/>
                <a:cs typeface="Consolas" pitchFamily="49" charset="0"/>
              </a:rPr>
              <a:t>G</a:t>
            </a:r>
            <a:r>
              <a:rPr lang="zh-CN" altLang="en-US">
                <a:solidFill>
                  <a:srgbClr val="0000FF"/>
                </a:solidFill>
                <a:latin typeface="Consolas" pitchFamily="49" charset="0"/>
                <a:ea typeface="仿宋" pitchFamily="49" charset="-122"/>
                <a:cs typeface="Consolas" pitchFamily="49" charset="0"/>
              </a:rPr>
              <a:t>中的边按权值从小到大的顺序依次选取：若选取的边未使生成树</a:t>
            </a:r>
            <a:r>
              <a:rPr lang="en-US" altLang="zh-CN">
                <a:solidFill>
                  <a:srgbClr val="0000FF"/>
                </a:solidFill>
                <a:latin typeface="Consolas" pitchFamily="49" charset="0"/>
                <a:ea typeface="仿宋" pitchFamily="49" charset="-122"/>
                <a:cs typeface="Consolas" pitchFamily="49" charset="0"/>
              </a:rPr>
              <a:t>T</a:t>
            </a:r>
            <a:r>
              <a:rPr lang="zh-CN" altLang="en-US">
                <a:solidFill>
                  <a:srgbClr val="0000FF"/>
                </a:solidFill>
                <a:latin typeface="Consolas" pitchFamily="49" charset="0"/>
                <a:ea typeface="仿宋" pitchFamily="49" charset="-122"/>
                <a:cs typeface="Consolas" pitchFamily="49" charset="0"/>
              </a:rPr>
              <a:t>形成回路，则加入</a:t>
            </a:r>
            <a:r>
              <a:rPr lang="en-US" altLang="zh-CN">
                <a:solidFill>
                  <a:srgbClr val="0000FF"/>
                </a:solidFill>
                <a:latin typeface="Consolas" pitchFamily="49" charset="0"/>
                <a:ea typeface="仿宋" pitchFamily="49" charset="-122"/>
                <a:cs typeface="Consolas" pitchFamily="49" charset="0"/>
              </a:rPr>
              <a:t>TE</a:t>
            </a:r>
            <a:r>
              <a:rPr lang="zh-CN" altLang="en-US">
                <a:solidFill>
                  <a:srgbClr val="0000FF"/>
                </a:solidFill>
                <a:latin typeface="Consolas" pitchFamily="49" charset="0"/>
                <a:ea typeface="仿宋" pitchFamily="49" charset="-122"/>
                <a:cs typeface="Consolas" pitchFamily="49" charset="0"/>
              </a:rPr>
              <a:t>；否则舍弃，直到</a:t>
            </a:r>
            <a:r>
              <a:rPr lang="en-US" altLang="zh-CN">
                <a:solidFill>
                  <a:srgbClr val="0000FF"/>
                </a:solidFill>
                <a:latin typeface="Consolas" pitchFamily="49" charset="0"/>
                <a:ea typeface="仿宋" pitchFamily="49" charset="-122"/>
                <a:cs typeface="Consolas" pitchFamily="49" charset="0"/>
              </a:rPr>
              <a:t>TE</a:t>
            </a:r>
            <a:r>
              <a:rPr lang="zh-CN" altLang="en-US">
                <a:solidFill>
                  <a:srgbClr val="0000FF"/>
                </a:solidFill>
                <a:latin typeface="Consolas" pitchFamily="49" charset="0"/>
                <a:ea typeface="仿宋" pitchFamily="49" charset="-122"/>
                <a:cs typeface="Consolas" pitchFamily="49" charset="0"/>
              </a:rPr>
              <a:t>中包含</a:t>
            </a:r>
            <a:r>
              <a:rPr lang="en-US" altLang="zh-CN" i="1">
                <a:solidFill>
                  <a:srgbClr val="0000FF"/>
                </a:solidFill>
                <a:latin typeface="Consolas" pitchFamily="49" charset="0"/>
                <a:ea typeface="仿宋" pitchFamily="49" charset="-122"/>
                <a:cs typeface="Consolas" pitchFamily="49" charset="0"/>
              </a:rPr>
              <a:t>n</a:t>
            </a:r>
            <a:r>
              <a:rPr lang="en-US" altLang="zh-CN">
                <a:solidFill>
                  <a:srgbClr val="0000FF"/>
                </a:solidFill>
                <a:latin typeface="Consolas" pitchFamily="49" charset="0"/>
                <a:ea typeface="仿宋" pitchFamily="49" charset="-122"/>
                <a:cs typeface="Consolas" pitchFamily="49" charset="0"/>
              </a:rPr>
              <a:t>-1</a:t>
            </a:r>
            <a:r>
              <a:rPr lang="zh-CN" altLang="en-US">
                <a:solidFill>
                  <a:srgbClr val="0000FF"/>
                </a:solidFill>
                <a:latin typeface="Consolas" pitchFamily="49" charset="0"/>
                <a:ea typeface="仿宋" pitchFamily="49" charset="-122"/>
                <a:cs typeface="Consolas" pitchFamily="49" charset="0"/>
              </a:rPr>
              <a:t>条边为止。</a:t>
            </a:r>
          </a:p>
        </p:txBody>
      </p:sp>
      <p:sp>
        <p:nvSpPr>
          <p:cNvPr id="6" name="TextBox 5"/>
          <p:cNvSpPr txBox="1"/>
          <p:nvPr/>
        </p:nvSpPr>
        <p:spPr>
          <a:xfrm>
            <a:off x="357158" y="295286"/>
            <a:ext cx="4000528" cy="523220"/>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rPr>
              <a:t>9.1.3 Kruskal</a:t>
            </a:r>
            <a:r>
              <a:rPr lang="zh-CN" altLang="en-US"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rPr>
              <a:t>算法</a:t>
            </a:r>
            <a:endParaRPr lang="zh-CN" altLang="zh-CN"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endParaRPr>
          </a:p>
        </p:txBody>
      </p:sp>
      <p:sp>
        <p:nvSpPr>
          <p:cNvPr id="8" name="灯片编号占位符 7"/>
          <p:cNvSpPr>
            <a:spLocks noGrp="1"/>
          </p:cNvSpPr>
          <p:nvPr>
            <p:ph type="sldNum" sz="quarter" idx="12"/>
          </p:nvPr>
        </p:nvSpPr>
        <p:spPr/>
        <p:txBody>
          <a:bodyPr/>
          <a:lstStyle/>
          <a:p>
            <a:fld id="{7AF016A1-9F15-429F-9EFD-84004B73C732}" type="slidenum">
              <a:rPr lang="en-US" altLang="zh-CN" smtClean="0"/>
              <a:pPr/>
              <a:t>16</a:t>
            </a:fld>
            <a:r>
              <a:rPr lang="en-US" altLang="zh-CN"/>
              <a:t>/158</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椭圆 6"/>
          <p:cNvSpPr/>
          <p:nvPr/>
        </p:nvSpPr>
        <p:spPr>
          <a:xfrm>
            <a:off x="642910" y="2643182"/>
            <a:ext cx="357190" cy="428628"/>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a:solidFill>
                  <a:srgbClr val="0000FF"/>
                </a:solidFill>
                <a:latin typeface="Consolas" pitchFamily="49" charset="0"/>
                <a:cs typeface="Consolas" pitchFamily="49" charset="0"/>
              </a:rPr>
              <a:t>5</a:t>
            </a:r>
            <a:endParaRPr lang="zh-CN" altLang="en-US" sz="2000">
              <a:solidFill>
                <a:srgbClr val="0000FF"/>
              </a:solidFill>
              <a:latin typeface="Consolas" pitchFamily="49" charset="0"/>
              <a:cs typeface="Consolas" pitchFamily="49" charset="0"/>
            </a:endParaRPr>
          </a:p>
        </p:txBody>
      </p:sp>
      <p:sp>
        <p:nvSpPr>
          <p:cNvPr id="8" name="椭圆 7"/>
          <p:cNvSpPr/>
          <p:nvPr/>
        </p:nvSpPr>
        <p:spPr>
          <a:xfrm>
            <a:off x="1357290" y="1928802"/>
            <a:ext cx="357190" cy="428628"/>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a:solidFill>
                  <a:srgbClr val="0000FF"/>
                </a:solidFill>
                <a:latin typeface="Consolas" pitchFamily="49" charset="0"/>
                <a:cs typeface="Consolas" pitchFamily="49" charset="0"/>
              </a:rPr>
              <a:t>0</a:t>
            </a:r>
            <a:endParaRPr lang="zh-CN" altLang="en-US" sz="2000">
              <a:solidFill>
                <a:srgbClr val="0000FF"/>
              </a:solidFill>
              <a:latin typeface="Consolas" pitchFamily="49" charset="0"/>
              <a:cs typeface="Consolas" pitchFamily="49" charset="0"/>
            </a:endParaRPr>
          </a:p>
        </p:txBody>
      </p:sp>
      <p:sp>
        <p:nvSpPr>
          <p:cNvPr id="9" name="椭圆 8"/>
          <p:cNvSpPr/>
          <p:nvPr/>
        </p:nvSpPr>
        <p:spPr>
          <a:xfrm>
            <a:off x="1357290" y="3357562"/>
            <a:ext cx="357190" cy="428628"/>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a:solidFill>
                  <a:srgbClr val="0000FF"/>
                </a:solidFill>
                <a:latin typeface="Consolas" pitchFamily="49" charset="0"/>
                <a:cs typeface="Consolas" pitchFamily="49" charset="0"/>
              </a:rPr>
              <a:t>4</a:t>
            </a:r>
            <a:endParaRPr lang="zh-CN" altLang="en-US" sz="2000">
              <a:solidFill>
                <a:srgbClr val="0000FF"/>
              </a:solidFill>
              <a:latin typeface="Consolas" pitchFamily="49" charset="0"/>
              <a:cs typeface="Consolas" pitchFamily="49" charset="0"/>
            </a:endParaRPr>
          </a:p>
        </p:txBody>
      </p:sp>
      <p:sp>
        <p:nvSpPr>
          <p:cNvPr id="10" name="椭圆 9"/>
          <p:cNvSpPr/>
          <p:nvPr/>
        </p:nvSpPr>
        <p:spPr>
          <a:xfrm>
            <a:off x="2714612" y="1928802"/>
            <a:ext cx="357190" cy="428628"/>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a:solidFill>
                  <a:srgbClr val="0000FF"/>
                </a:solidFill>
                <a:latin typeface="Consolas" pitchFamily="49" charset="0"/>
                <a:cs typeface="Consolas" pitchFamily="49" charset="0"/>
              </a:rPr>
              <a:t>1</a:t>
            </a:r>
            <a:endParaRPr lang="zh-CN" altLang="en-US" sz="2000">
              <a:solidFill>
                <a:srgbClr val="0000FF"/>
              </a:solidFill>
              <a:latin typeface="Consolas" pitchFamily="49" charset="0"/>
              <a:cs typeface="Consolas" pitchFamily="49" charset="0"/>
            </a:endParaRPr>
          </a:p>
        </p:txBody>
      </p:sp>
      <p:sp>
        <p:nvSpPr>
          <p:cNvPr id="11" name="椭圆 10"/>
          <p:cNvSpPr/>
          <p:nvPr/>
        </p:nvSpPr>
        <p:spPr>
          <a:xfrm>
            <a:off x="2714612" y="3357562"/>
            <a:ext cx="357190" cy="428628"/>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a:solidFill>
                  <a:srgbClr val="0000FF"/>
                </a:solidFill>
                <a:latin typeface="Consolas" pitchFamily="49" charset="0"/>
                <a:cs typeface="Consolas" pitchFamily="49" charset="0"/>
              </a:rPr>
              <a:t>3</a:t>
            </a:r>
            <a:endParaRPr lang="zh-CN" altLang="en-US" sz="2000">
              <a:solidFill>
                <a:srgbClr val="0000FF"/>
              </a:solidFill>
              <a:latin typeface="Consolas" pitchFamily="49" charset="0"/>
              <a:cs typeface="Consolas" pitchFamily="49" charset="0"/>
            </a:endParaRPr>
          </a:p>
        </p:txBody>
      </p:sp>
      <p:sp>
        <p:nvSpPr>
          <p:cNvPr id="12" name="椭圆 11"/>
          <p:cNvSpPr/>
          <p:nvPr/>
        </p:nvSpPr>
        <p:spPr>
          <a:xfrm>
            <a:off x="2071670" y="2643182"/>
            <a:ext cx="357190" cy="428628"/>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a:solidFill>
                  <a:srgbClr val="0000FF"/>
                </a:solidFill>
                <a:latin typeface="Consolas" pitchFamily="49" charset="0"/>
                <a:cs typeface="Consolas" pitchFamily="49" charset="0"/>
              </a:rPr>
              <a:t>6</a:t>
            </a:r>
            <a:endParaRPr lang="zh-CN" altLang="en-US" sz="2000">
              <a:solidFill>
                <a:srgbClr val="0000FF"/>
              </a:solidFill>
              <a:latin typeface="Consolas" pitchFamily="49" charset="0"/>
              <a:cs typeface="Consolas" pitchFamily="49" charset="0"/>
            </a:endParaRPr>
          </a:p>
        </p:txBody>
      </p:sp>
      <p:sp>
        <p:nvSpPr>
          <p:cNvPr id="13" name="椭圆 12"/>
          <p:cNvSpPr/>
          <p:nvPr/>
        </p:nvSpPr>
        <p:spPr>
          <a:xfrm>
            <a:off x="3500430" y="2643182"/>
            <a:ext cx="357190" cy="428628"/>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a:solidFill>
                  <a:srgbClr val="0000FF"/>
                </a:solidFill>
                <a:latin typeface="Consolas" pitchFamily="49" charset="0"/>
                <a:cs typeface="Consolas" pitchFamily="49" charset="0"/>
              </a:rPr>
              <a:t>2</a:t>
            </a:r>
            <a:endParaRPr lang="zh-CN" altLang="en-US" sz="2000">
              <a:solidFill>
                <a:srgbClr val="0000FF"/>
              </a:solidFill>
              <a:latin typeface="Consolas" pitchFamily="49" charset="0"/>
              <a:cs typeface="Consolas" pitchFamily="49" charset="0"/>
            </a:endParaRPr>
          </a:p>
        </p:txBody>
      </p:sp>
      <p:cxnSp>
        <p:nvCxnSpPr>
          <p:cNvPr id="14" name="直接连接符 13"/>
          <p:cNvCxnSpPr>
            <a:stCxn id="7" idx="7"/>
            <a:endCxn id="8" idx="3"/>
          </p:cNvCxnSpPr>
          <p:nvPr/>
        </p:nvCxnSpPr>
        <p:spPr>
          <a:xfrm rot="5400000" flipH="1" flipV="1">
            <a:off x="973048" y="2269402"/>
            <a:ext cx="411294" cy="461808"/>
          </a:xfrm>
          <a:prstGeom prst="line">
            <a:avLst/>
          </a:prstGeom>
        </p:spPr>
        <p:style>
          <a:lnRef idx="2">
            <a:schemeClr val="accent1"/>
          </a:lnRef>
          <a:fillRef idx="0">
            <a:schemeClr val="accent1"/>
          </a:fillRef>
          <a:effectRef idx="1">
            <a:schemeClr val="accent1"/>
          </a:effectRef>
          <a:fontRef idx="minor">
            <a:schemeClr val="tx1"/>
          </a:fontRef>
        </p:style>
      </p:cxnSp>
      <p:cxnSp>
        <p:nvCxnSpPr>
          <p:cNvPr id="15" name="直接连接符 14"/>
          <p:cNvCxnSpPr>
            <a:stCxn id="8" idx="6"/>
            <a:endCxn id="10" idx="2"/>
          </p:cNvCxnSpPr>
          <p:nvPr/>
        </p:nvCxnSpPr>
        <p:spPr>
          <a:xfrm>
            <a:off x="1714480" y="2143116"/>
            <a:ext cx="100013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6" name="直接连接符 15"/>
          <p:cNvCxnSpPr>
            <a:stCxn id="12" idx="7"/>
            <a:endCxn id="10" idx="3"/>
          </p:cNvCxnSpPr>
          <p:nvPr/>
        </p:nvCxnSpPr>
        <p:spPr>
          <a:xfrm rot="5400000" flipH="1" flipV="1">
            <a:off x="2366089" y="2305121"/>
            <a:ext cx="411294" cy="390370"/>
          </a:xfrm>
          <a:prstGeom prst="line">
            <a:avLst/>
          </a:prstGeom>
        </p:spPr>
        <p:style>
          <a:lnRef idx="2">
            <a:schemeClr val="accent1"/>
          </a:lnRef>
          <a:fillRef idx="0">
            <a:schemeClr val="accent1"/>
          </a:fillRef>
          <a:effectRef idx="1">
            <a:schemeClr val="accent1"/>
          </a:effectRef>
          <a:fontRef idx="minor">
            <a:schemeClr val="tx1"/>
          </a:fontRef>
        </p:style>
      </p:cxnSp>
      <p:cxnSp>
        <p:nvCxnSpPr>
          <p:cNvPr id="17" name="直接连接符 16"/>
          <p:cNvCxnSpPr>
            <a:stCxn id="12" idx="3"/>
            <a:endCxn id="9" idx="7"/>
          </p:cNvCxnSpPr>
          <p:nvPr/>
        </p:nvCxnSpPr>
        <p:spPr>
          <a:xfrm rot="5400000">
            <a:off x="1687428" y="2983782"/>
            <a:ext cx="411294" cy="461808"/>
          </a:xfrm>
          <a:prstGeom prst="line">
            <a:avLst/>
          </a:prstGeom>
        </p:spPr>
        <p:style>
          <a:lnRef idx="2">
            <a:schemeClr val="accent1"/>
          </a:lnRef>
          <a:fillRef idx="0">
            <a:schemeClr val="accent1"/>
          </a:fillRef>
          <a:effectRef idx="1">
            <a:schemeClr val="accent1"/>
          </a:effectRef>
          <a:fontRef idx="minor">
            <a:schemeClr val="tx1"/>
          </a:fontRef>
        </p:style>
      </p:cxnSp>
      <p:cxnSp>
        <p:nvCxnSpPr>
          <p:cNvPr id="18" name="直接连接符 17"/>
          <p:cNvCxnSpPr>
            <a:stCxn id="7" idx="5"/>
            <a:endCxn id="9" idx="1"/>
          </p:cNvCxnSpPr>
          <p:nvPr/>
        </p:nvCxnSpPr>
        <p:spPr>
          <a:xfrm rot="16200000" flipH="1">
            <a:off x="973048" y="2983782"/>
            <a:ext cx="411294" cy="461808"/>
          </a:xfrm>
          <a:prstGeom prst="line">
            <a:avLst/>
          </a:prstGeom>
        </p:spPr>
        <p:style>
          <a:lnRef idx="2">
            <a:schemeClr val="accent1"/>
          </a:lnRef>
          <a:fillRef idx="0">
            <a:schemeClr val="accent1"/>
          </a:fillRef>
          <a:effectRef idx="1">
            <a:schemeClr val="accent1"/>
          </a:effectRef>
          <a:fontRef idx="minor">
            <a:schemeClr val="tx1"/>
          </a:fontRef>
        </p:style>
      </p:cxnSp>
      <p:cxnSp>
        <p:nvCxnSpPr>
          <p:cNvPr id="19" name="直接连接符 18"/>
          <p:cNvCxnSpPr>
            <a:stCxn id="9" idx="6"/>
            <a:endCxn id="11" idx="2"/>
          </p:cNvCxnSpPr>
          <p:nvPr/>
        </p:nvCxnSpPr>
        <p:spPr>
          <a:xfrm>
            <a:off x="1714480" y="3571876"/>
            <a:ext cx="100013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0" name="直接连接符 19"/>
          <p:cNvCxnSpPr>
            <a:stCxn id="12" idx="5"/>
            <a:endCxn id="11" idx="1"/>
          </p:cNvCxnSpPr>
          <p:nvPr/>
        </p:nvCxnSpPr>
        <p:spPr>
          <a:xfrm rot="16200000" flipH="1">
            <a:off x="2366089" y="3019501"/>
            <a:ext cx="411294" cy="390370"/>
          </a:xfrm>
          <a:prstGeom prst="line">
            <a:avLst/>
          </a:prstGeom>
        </p:spPr>
        <p:style>
          <a:lnRef idx="2">
            <a:schemeClr val="accent1"/>
          </a:lnRef>
          <a:fillRef idx="0">
            <a:schemeClr val="accent1"/>
          </a:fillRef>
          <a:effectRef idx="1">
            <a:schemeClr val="accent1"/>
          </a:effectRef>
          <a:fontRef idx="minor">
            <a:schemeClr val="tx1"/>
          </a:fontRef>
        </p:style>
      </p:cxnSp>
      <p:cxnSp>
        <p:nvCxnSpPr>
          <p:cNvPr id="21" name="直接连接符 20"/>
          <p:cNvCxnSpPr>
            <a:stCxn id="10" idx="5"/>
            <a:endCxn id="13" idx="1"/>
          </p:cNvCxnSpPr>
          <p:nvPr/>
        </p:nvCxnSpPr>
        <p:spPr>
          <a:xfrm rot="16200000" flipH="1">
            <a:off x="3080469" y="2233683"/>
            <a:ext cx="411294" cy="533246"/>
          </a:xfrm>
          <a:prstGeom prst="line">
            <a:avLst/>
          </a:prstGeom>
        </p:spPr>
        <p:style>
          <a:lnRef idx="2">
            <a:schemeClr val="accent1"/>
          </a:lnRef>
          <a:fillRef idx="0">
            <a:schemeClr val="accent1"/>
          </a:fillRef>
          <a:effectRef idx="1">
            <a:schemeClr val="accent1"/>
          </a:effectRef>
          <a:fontRef idx="minor">
            <a:schemeClr val="tx1"/>
          </a:fontRef>
        </p:style>
      </p:cxnSp>
      <p:cxnSp>
        <p:nvCxnSpPr>
          <p:cNvPr id="22" name="直接连接符 21"/>
          <p:cNvCxnSpPr>
            <a:stCxn id="11" idx="7"/>
            <a:endCxn id="13" idx="3"/>
          </p:cNvCxnSpPr>
          <p:nvPr/>
        </p:nvCxnSpPr>
        <p:spPr>
          <a:xfrm rot="5400000" flipH="1" flipV="1">
            <a:off x="3080469" y="2948063"/>
            <a:ext cx="411294" cy="533246"/>
          </a:xfrm>
          <a:prstGeom prst="line">
            <a:avLst/>
          </a:prstGeom>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928662" y="2202412"/>
            <a:ext cx="285752" cy="369332"/>
          </a:xfrm>
          <a:prstGeom prst="rect">
            <a:avLst/>
          </a:prstGeom>
          <a:noFill/>
        </p:spPr>
        <p:txBody>
          <a:bodyPr wrap="square" rtlCol="0">
            <a:spAutoFit/>
          </a:bodyPr>
          <a:lstStyle/>
          <a:p>
            <a:r>
              <a:rPr lang="en-US" altLang="zh-CN" sz="1800">
                <a:solidFill>
                  <a:srgbClr val="0000FF"/>
                </a:solidFill>
                <a:latin typeface="Consolas" pitchFamily="49" charset="0"/>
                <a:cs typeface="Consolas" pitchFamily="49" charset="0"/>
              </a:rPr>
              <a:t>1</a:t>
            </a:r>
            <a:endParaRPr lang="zh-CN" altLang="en-US" sz="1800">
              <a:solidFill>
                <a:srgbClr val="0000FF"/>
              </a:solidFill>
              <a:latin typeface="Consolas" pitchFamily="49" charset="0"/>
              <a:cs typeface="Consolas" pitchFamily="49" charset="0"/>
            </a:endParaRPr>
          </a:p>
        </p:txBody>
      </p:sp>
      <p:sp>
        <p:nvSpPr>
          <p:cNvPr id="24" name="TextBox 23"/>
          <p:cNvSpPr txBox="1"/>
          <p:nvPr/>
        </p:nvSpPr>
        <p:spPr>
          <a:xfrm>
            <a:off x="928662" y="3202544"/>
            <a:ext cx="285752" cy="369332"/>
          </a:xfrm>
          <a:prstGeom prst="rect">
            <a:avLst/>
          </a:prstGeom>
          <a:noFill/>
        </p:spPr>
        <p:txBody>
          <a:bodyPr wrap="square" rtlCol="0">
            <a:spAutoFit/>
          </a:bodyPr>
          <a:lstStyle/>
          <a:p>
            <a:r>
              <a:rPr lang="en-US" altLang="zh-CN" sz="1800">
                <a:solidFill>
                  <a:srgbClr val="0000FF"/>
                </a:solidFill>
                <a:latin typeface="Consolas" pitchFamily="49" charset="0"/>
                <a:cs typeface="Consolas" pitchFamily="49" charset="0"/>
              </a:rPr>
              <a:t>8</a:t>
            </a:r>
            <a:endParaRPr lang="zh-CN" altLang="en-US" sz="1800">
              <a:solidFill>
                <a:srgbClr val="0000FF"/>
              </a:solidFill>
              <a:latin typeface="Consolas" pitchFamily="49" charset="0"/>
              <a:cs typeface="Consolas" pitchFamily="49" charset="0"/>
            </a:endParaRPr>
          </a:p>
        </p:txBody>
      </p:sp>
      <p:sp>
        <p:nvSpPr>
          <p:cNvPr id="25" name="TextBox 24"/>
          <p:cNvSpPr txBox="1"/>
          <p:nvPr/>
        </p:nvSpPr>
        <p:spPr>
          <a:xfrm>
            <a:off x="2071670" y="1785926"/>
            <a:ext cx="285752" cy="369332"/>
          </a:xfrm>
          <a:prstGeom prst="rect">
            <a:avLst/>
          </a:prstGeom>
          <a:noFill/>
        </p:spPr>
        <p:txBody>
          <a:bodyPr wrap="square" rtlCol="0">
            <a:spAutoFit/>
          </a:bodyPr>
          <a:lstStyle/>
          <a:p>
            <a:r>
              <a:rPr lang="en-US" altLang="zh-CN" sz="1800">
                <a:solidFill>
                  <a:srgbClr val="0000FF"/>
                </a:solidFill>
                <a:latin typeface="Consolas" pitchFamily="49" charset="0"/>
                <a:cs typeface="Consolas" pitchFamily="49" charset="0"/>
              </a:rPr>
              <a:t>6</a:t>
            </a:r>
            <a:endParaRPr lang="zh-CN" altLang="en-US" sz="1800">
              <a:solidFill>
                <a:srgbClr val="0000FF"/>
              </a:solidFill>
              <a:latin typeface="Consolas" pitchFamily="49" charset="0"/>
              <a:cs typeface="Consolas" pitchFamily="49" charset="0"/>
            </a:endParaRPr>
          </a:p>
        </p:txBody>
      </p:sp>
      <p:sp>
        <p:nvSpPr>
          <p:cNvPr id="26" name="TextBox 25"/>
          <p:cNvSpPr txBox="1"/>
          <p:nvPr/>
        </p:nvSpPr>
        <p:spPr>
          <a:xfrm>
            <a:off x="1643042" y="2916792"/>
            <a:ext cx="285752" cy="369332"/>
          </a:xfrm>
          <a:prstGeom prst="rect">
            <a:avLst/>
          </a:prstGeom>
          <a:noFill/>
        </p:spPr>
        <p:txBody>
          <a:bodyPr wrap="square" rtlCol="0">
            <a:spAutoFit/>
          </a:bodyPr>
          <a:lstStyle/>
          <a:p>
            <a:r>
              <a:rPr lang="en-US" altLang="zh-CN" sz="1800">
                <a:solidFill>
                  <a:srgbClr val="0000FF"/>
                </a:solidFill>
                <a:latin typeface="Consolas" pitchFamily="49" charset="0"/>
                <a:cs typeface="Consolas" pitchFamily="49" charset="0"/>
              </a:rPr>
              <a:t>7</a:t>
            </a:r>
            <a:endParaRPr lang="zh-CN" altLang="en-US" sz="1800">
              <a:solidFill>
                <a:srgbClr val="0000FF"/>
              </a:solidFill>
              <a:latin typeface="Consolas" pitchFamily="49" charset="0"/>
              <a:cs typeface="Consolas" pitchFamily="49" charset="0"/>
            </a:endParaRPr>
          </a:p>
        </p:txBody>
      </p:sp>
      <p:sp>
        <p:nvSpPr>
          <p:cNvPr id="27" name="TextBox 26"/>
          <p:cNvSpPr txBox="1"/>
          <p:nvPr/>
        </p:nvSpPr>
        <p:spPr>
          <a:xfrm>
            <a:off x="2071670" y="3571876"/>
            <a:ext cx="285752" cy="369332"/>
          </a:xfrm>
          <a:prstGeom prst="rect">
            <a:avLst/>
          </a:prstGeom>
          <a:noFill/>
        </p:spPr>
        <p:txBody>
          <a:bodyPr wrap="square" rtlCol="0">
            <a:spAutoFit/>
          </a:bodyPr>
          <a:lstStyle/>
          <a:p>
            <a:r>
              <a:rPr lang="en-US" altLang="zh-CN" sz="1800">
                <a:solidFill>
                  <a:srgbClr val="0000FF"/>
                </a:solidFill>
                <a:latin typeface="Consolas" pitchFamily="49" charset="0"/>
                <a:cs typeface="Consolas" pitchFamily="49" charset="0"/>
              </a:rPr>
              <a:t>6</a:t>
            </a:r>
            <a:endParaRPr lang="zh-CN" altLang="en-US" sz="1800">
              <a:solidFill>
                <a:srgbClr val="0000FF"/>
              </a:solidFill>
              <a:latin typeface="Consolas" pitchFamily="49" charset="0"/>
              <a:cs typeface="Consolas" pitchFamily="49" charset="0"/>
            </a:endParaRPr>
          </a:p>
        </p:txBody>
      </p:sp>
      <p:sp>
        <p:nvSpPr>
          <p:cNvPr id="28" name="TextBox 27"/>
          <p:cNvSpPr txBox="1"/>
          <p:nvPr/>
        </p:nvSpPr>
        <p:spPr>
          <a:xfrm>
            <a:off x="2500298" y="2916792"/>
            <a:ext cx="285752" cy="369332"/>
          </a:xfrm>
          <a:prstGeom prst="rect">
            <a:avLst/>
          </a:prstGeom>
          <a:noFill/>
        </p:spPr>
        <p:txBody>
          <a:bodyPr wrap="square" rtlCol="0">
            <a:spAutoFit/>
          </a:bodyPr>
          <a:lstStyle/>
          <a:p>
            <a:r>
              <a:rPr lang="en-US" altLang="zh-CN" sz="1800">
                <a:solidFill>
                  <a:srgbClr val="0000FF"/>
                </a:solidFill>
                <a:latin typeface="Consolas" pitchFamily="49" charset="0"/>
                <a:cs typeface="Consolas" pitchFamily="49" charset="0"/>
              </a:rPr>
              <a:t>5</a:t>
            </a:r>
            <a:endParaRPr lang="zh-CN" altLang="en-US" sz="1800">
              <a:solidFill>
                <a:srgbClr val="0000FF"/>
              </a:solidFill>
              <a:latin typeface="Consolas" pitchFamily="49" charset="0"/>
              <a:cs typeface="Consolas" pitchFamily="49" charset="0"/>
            </a:endParaRPr>
          </a:p>
        </p:txBody>
      </p:sp>
      <p:sp>
        <p:nvSpPr>
          <p:cNvPr id="29" name="TextBox 28"/>
          <p:cNvSpPr txBox="1"/>
          <p:nvPr/>
        </p:nvSpPr>
        <p:spPr>
          <a:xfrm>
            <a:off x="2500298" y="2416726"/>
            <a:ext cx="285752" cy="369332"/>
          </a:xfrm>
          <a:prstGeom prst="rect">
            <a:avLst/>
          </a:prstGeom>
          <a:noFill/>
        </p:spPr>
        <p:txBody>
          <a:bodyPr wrap="square" rtlCol="0">
            <a:spAutoFit/>
          </a:bodyPr>
          <a:lstStyle/>
          <a:p>
            <a:r>
              <a:rPr lang="en-US" altLang="zh-CN" sz="1800">
                <a:solidFill>
                  <a:srgbClr val="0000FF"/>
                </a:solidFill>
                <a:latin typeface="Consolas" pitchFamily="49" charset="0"/>
                <a:cs typeface="Consolas" pitchFamily="49" charset="0"/>
              </a:rPr>
              <a:t>3</a:t>
            </a:r>
            <a:endParaRPr lang="zh-CN" altLang="en-US" sz="1800">
              <a:solidFill>
                <a:srgbClr val="0000FF"/>
              </a:solidFill>
              <a:latin typeface="Consolas" pitchFamily="49" charset="0"/>
              <a:cs typeface="Consolas" pitchFamily="49" charset="0"/>
            </a:endParaRPr>
          </a:p>
        </p:txBody>
      </p:sp>
      <p:sp>
        <p:nvSpPr>
          <p:cNvPr id="30" name="TextBox 29"/>
          <p:cNvSpPr txBox="1"/>
          <p:nvPr/>
        </p:nvSpPr>
        <p:spPr>
          <a:xfrm>
            <a:off x="3214678" y="2202412"/>
            <a:ext cx="285752" cy="369332"/>
          </a:xfrm>
          <a:prstGeom prst="rect">
            <a:avLst/>
          </a:prstGeom>
          <a:noFill/>
        </p:spPr>
        <p:txBody>
          <a:bodyPr wrap="square" rtlCol="0">
            <a:spAutoFit/>
          </a:bodyPr>
          <a:lstStyle/>
          <a:p>
            <a:r>
              <a:rPr lang="en-US" altLang="zh-CN" sz="1800">
                <a:solidFill>
                  <a:srgbClr val="0000FF"/>
                </a:solidFill>
                <a:latin typeface="Consolas" pitchFamily="49" charset="0"/>
                <a:cs typeface="Consolas" pitchFamily="49" charset="0"/>
              </a:rPr>
              <a:t>4</a:t>
            </a:r>
            <a:endParaRPr lang="zh-CN" altLang="en-US" sz="1800">
              <a:solidFill>
                <a:srgbClr val="0000FF"/>
              </a:solidFill>
              <a:latin typeface="Consolas" pitchFamily="49" charset="0"/>
              <a:cs typeface="Consolas" pitchFamily="49" charset="0"/>
            </a:endParaRPr>
          </a:p>
        </p:txBody>
      </p:sp>
      <p:sp>
        <p:nvSpPr>
          <p:cNvPr id="31" name="TextBox 30"/>
          <p:cNvSpPr txBox="1"/>
          <p:nvPr/>
        </p:nvSpPr>
        <p:spPr>
          <a:xfrm>
            <a:off x="3286116" y="3202544"/>
            <a:ext cx="285752" cy="369332"/>
          </a:xfrm>
          <a:prstGeom prst="rect">
            <a:avLst/>
          </a:prstGeom>
          <a:noFill/>
        </p:spPr>
        <p:txBody>
          <a:bodyPr wrap="square" rtlCol="0">
            <a:spAutoFit/>
          </a:bodyPr>
          <a:lstStyle/>
          <a:p>
            <a:r>
              <a:rPr lang="en-US" altLang="zh-CN" sz="1800">
                <a:solidFill>
                  <a:srgbClr val="0000FF"/>
                </a:solidFill>
                <a:latin typeface="Consolas" pitchFamily="49" charset="0"/>
                <a:cs typeface="Consolas" pitchFamily="49" charset="0"/>
              </a:rPr>
              <a:t>2</a:t>
            </a:r>
            <a:endParaRPr lang="zh-CN" altLang="en-US" sz="1800">
              <a:solidFill>
                <a:srgbClr val="0000FF"/>
              </a:solidFill>
              <a:latin typeface="Consolas" pitchFamily="49" charset="0"/>
              <a:cs typeface="Consolas" pitchFamily="49" charset="0"/>
            </a:endParaRPr>
          </a:p>
        </p:txBody>
      </p:sp>
      <p:grpSp>
        <p:nvGrpSpPr>
          <p:cNvPr id="3" name="组合 53"/>
          <p:cNvGrpSpPr/>
          <p:nvPr/>
        </p:nvGrpSpPr>
        <p:grpSpPr>
          <a:xfrm>
            <a:off x="5000628" y="1928802"/>
            <a:ext cx="3214710" cy="1857388"/>
            <a:chOff x="5000628" y="1928802"/>
            <a:chExt cx="3214710" cy="1857388"/>
          </a:xfrm>
        </p:grpSpPr>
        <p:sp>
          <p:nvSpPr>
            <p:cNvPr id="33" name="椭圆 32"/>
            <p:cNvSpPr/>
            <p:nvPr/>
          </p:nvSpPr>
          <p:spPr>
            <a:xfrm>
              <a:off x="5000628" y="2643182"/>
              <a:ext cx="357190" cy="428628"/>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a:solidFill>
                    <a:srgbClr val="0000FF"/>
                  </a:solidFill>
                  <a:latin typeface="Consolas" pitchFamily="49" charset="0"/>
                  <a:cs typeface="Consolas" pitchFamily="49" charset="0"/>
                </a:rPr>
                <a:t>5</a:t>
              </a:r>
              <a:endParaRPr lang="zh-CN" altLang="en-US" sz="2000">
                <a:solidFill>
                  <a:srgbClr val="0000FF"/>
                </a:solidFill>
                <a:latin typeface="Consolas" pitchFamily="49" charset="0"/>
                <a:cs typeface="Consolas" pitchFamily="49" charset="0"/>
              </a:endParaRPr>
            </a:p>
          </p:txBody>
        </p:sp>
        <p:sp>
          <p:nvSpPr>
            <p:cNvPr id="34" name="椭圆 33"/>
            <p:cNvSpPr/>
            <p:nvPr/>
          </p:nvSpPr>
          <p:spPr>
            <a:xfrm>
              <a:off x="5715008" y="1928802"/>
              <a:ext cx="357190" cy="428628"/>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a:solidFill>
                    <a:srgbClr val="0000FF"/>
                  </a:solidFill>
                  <a:latin typeface="Consolas" pitchFamily="49" charset="0"/>
                  <a:cs typeface="Consolas" pitchFamily="49" charset="0"/>
                </a:rPr>
                <a:t>0</a:t>
              </a:r>
              <a:endParaRPr lang="zh-CN" altLang="en-US" sz="2000">
                <a:solidFill>
                  <a:srgbClr val="0000FF"/>
                </a:solidFill>
                <a:latin typeface="Consolas" pitchFamily="49" charset="0"/>
                <a:cs typeface="Consolas" pitchFamily="49" charset="0"/>
              </a:endParaRPr>
            </a:p>
          </p:txBody>
        </p:sp>
        <p:sp>
          <p:nvSpPr>
            <p:cNvPr id="35" name="椭圆 34"/>
            <p:cNvSpPr/>
            <p:nvPr/>
          </p:nvSpPr>
          <p:spPr>
            <a:xfrm>
              <a:off x="5715008" y="3357562"/>
              <a:ext cx="357190" cy="428628"/>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a:solidFill>
                    <a:srgbClr val="0000FF"/>
                  </a:solidFill>
                  <a:latin typeface="Consolas" pitchFamily="49" charset="0"/>
                  <a:cs typeface="Consolas" pitchFamily="49" charset="0"/>
                </a:rPr>
                <a:t>4</a:t>
              </a:r>
              <a:endParaRPr lang="zh-CN" altLang="en-US" sz="2000">
                <a:solidFill>
                  <a:srgbClr val="0000FF"/>
                </a:solidFill>
                <a:latin typeface="Consolas" pitchFamily="49" charset="0"/>
                <a:cs typeface="Consolas" pitchFamily="49" charset="0"/>
              </a:endParaRPr>
            </a:p>
          </p:txBody>
        </p:sp>
        <p:sp>
          <p:nvSpPr>
            <p:cNvPr id="36" name="椭圆 35"/>
            <p:cNvSpPr/>
            <p:nvPr/>
          </p:nvSpPr>
          <p:spPr>
            <a:xfrm>
              <a:off x="7072330" y="1928802"/>
              <a:ext cx="357190" cy="428628"/>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a:solidFill>
                    <a:srgbClr val="0000FF"/>
                  </a:solidFill>
                  <a:latin typeface="Consolas" pitchFamily="49" charset="0"/>
                  <a:cs typeface="Consolas" pitchFamily="49" charset="0"/>
                </a:rPr>
                <a:t>1</a:t>
              </a:r>
              <a:endParaRPr lang="zh-CN" altLang="en-US" sz="2000">
                <a:solidFill>
                  <a:srgbClr val="0000FF"/>
                </a:solidFill>
                <a:latin typeface="Consolas" pitchFamily="49" charset="0"/>
                <a:cs typeface="Consolas" pitchFamily="49" charset="0"/>
              </a:endParaRPr>
            </a:p>
          </p:txBody>
        </p:sp>
        <p:sp>
          <p:nvSpPr>
            <p:cNvPr id="37" name="椭圆 36"/>
            <p:cNvSpPr/>
            <p:nvPr/>
          </p:nvSpPr>
          <p:spPr>
            <a:xfrm>
              <a:off x="7072330" y="3357562"/>
              <a:ext cx="357190" cy="428628"/>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a:solidFill>
                    <a:srgbClr val="0000FF"/>
                  </a:solidFill>
                  <a:latin typeface="Consolas" pitchFamily="49" charset="0"/>
                  <a:cs typeface="Consolas" pitchFamily="49" charset="0"/>
                </a:rPr>
                <a:t>3</a:t>
              </a:r>
              <a:endParaRPr lang="zh-CN" altLang="en-US" sz="2000">
                <a:solidFill>
                  <a:srgbClr val="0000FF"/>
                </a:solidFill>
                <a:latin typeface="Consolas" pitchFamily="49" charset="0"/>
                <a:cs typeface="Consolas" pitchFamily="49" charset="0"/>
              </a:endParaRPr>
            </a:p>
          </p:txBody>
        </p:sp>
        <p:sp>
          <p:nvSpPr>
            <p:cNvPr id="38" name="椭圆 37"/>
            <p:cNvSpPr/>
            <p:nvPr/>
          </p:nvSpPr>
          <p:spPr>
            <a:xfrm>
              <a:off x="6429388" y="2643182"/>
              <a:ext cx="357190" cy="428628"/>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a:solidFill>
                    <a:srgbClr val="0000FF"/>
                  </a:solidFill>
                  <a:latin typeface="Consolas" pitchFamily="49" charset="0"/>
                  <a:cs typeface="Consolas" pitchFamily="49" charset="0"/>
                </a:rPr>
                <a:t>6</a:t>
              </a:r>
              <a:endParaRPr lang="zh-CN" altLang="en-US" sz="2000">
                <a:solidFill>
                  <a:srgbClr val="0000FF"/>
                </a:solidFill>
                <a:latin typeface="Consolas" pitchFamily="49" charset="0"/>
                <a:cs typeface="Consolas" pitchFamily="49" charset="0"/>
              </a:endParaRPr>
            </a:p>
          </p:txBody>
        </p:sp>
        <p:sp>
          <p:nvSpPr>
            <p:cNvPr id="39" name="椭圆 38"/>
            <p:cNvSpPr/>
            <p:nvPr/>
          </p:nvSpPr>
          <p:spPr>
            <a:xfrm>
              <a:off x="7858148" y="2643182"/>
              <a:ext cx="357190" cy="428628"/>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a:solidFill>
                    <a:srgbClr val="0000FF"/>
                  </a:solidFill>
                  <a:latin typeface="Consolas" pitchFamily="49" charset="0"/>
                  <a:cs typeface="Consolas" pitchFamily="49" charset="0"/>
                </a:rPr>
                <a:t>2</a:t>
              </a:r>
              <a:endParaRPr lang="zh-CN" altLang="en-US" sz="2000">
                <a:solidFill>
                  <a:srgbClr val="0000FF"/>
                </a:solidFill>
                <a:latin typeface="Consolas" pitchFamily="49" charset="0"/>
                <a:cs typeface="Consolas" pitchFamily="49" charset="0"/>
              </a:endParaRPr>
            </a:p>
          </p:txBody>
        </p:sp>
      </p:grpSp>
      <p:grpSp>
        <p:nvGrpSpPr>
          <p:cNvPr id="4" name="组合 52"/>
          <p:cNvGrpSpPr/>
          <p:nvPr/>
        </p:nvGrpSpPr>
        <p:grpSpPr>
          <a:xfrm>
            <a:off x="5286380" y="2202412"/>
            <a:ext cx="480937" cy="503541"/>
            <a:chOff x="5286380" y="2202412"/>
            <a:chExt cx="480937" cy="503541"/>
          </a:xfrm>
        </p:grpSpPr>
        <p:cxnSp>
          <p:nvCxnSpPr>
            <p:cNvPr id="40" name="直接连接符 39"/>
            <p:cNvCxnSpPr>
              <a:stCxn id="33" idx="7"/>
              <a:endCxn id="34" idx="3"/>
            </p:cNvCxnSpPr>
            <p:nvPr/>
          </p:nvCxnSpPr>
          <p:spPr>
            <a:xfrm rot="5400000" flipH="1" flipV="1">
              <a:off x="5330766" y="2269402"/>
              <a:ext cx="411294" cy="461808"/>
            </a:xfrm>
            <a:prstGeom prst="line">
              <a:avLst/>
            </a:prstGeom>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5286380" y="2202412"/>
              <a:ext cx="285752" cy="369332"/>
            </a:xfrm>
            <a:prstGeom prst="rect">
              <a:avLst/>
            </a:prstGeom>
            <a:noFill/>
          </p:spPr>
          <p:txBody>
            <a:bodyPr wrap="square" rtlCol="0">
              <a:spAutoFit/>
            </a:bodyPr>
            <a:lstStyle/>
            <a:p>
              <a:r>
                <a:rPr lang="en-US" altLang="zh-CN" sz="1800">
                  <a:solidFill>
                    <a:srgbClr val="0000FF"/>
                  </a:solidFill>
                  <a:latin typeface="Consolas" pitchFamily="49" charset="0"/>
                  <a:cs typeface="Consolas" pitchFamily="49" charset="0"/>
                </a:rPr>
                <a:t>1</a:t>
              </a:r>
              <a:endParaRPr lang="zh-CN" altLang="en-US" sz="1800">
                <a:solidFill>
                  <a:srgbClr val="0000FF"/>
                </a:solidFill>
                <a:latin typeface="Consolas" pitchFamily="49" charset="0"/>
                <a:cs typeface="Consolas" pitchFamily="49" charset="0"/>
              </a:endParaRPr>
            </a:p>
          </p:txBody>
        </p:sp>
      </p:grpSp>
      <p:grpSp>
        <p:nvGrpSpPr>
          <p:cNvPr id="5" name="组合 57"/>
          <p:cNvGrpSpPr/>
          <p:nvPr/>
        </p:nvGrpSpPr>
        <p:grpSpPr>
          <a:xfrm>
            <a:off x="6072198" y="1785926"/>
            <a:ext cx="1000132" cy="369332"/>
            <a:chOff x="6072198" y="1785926"/>
            <a:chExt cx="1000132" cy="369332"/>
          </a:xfrm>
        </p:grpSpPr>
        <p:cxnSp>
          <p:nvCxnSpPr>
            <p:cNvPr id="41" name="直接连接符 40"/>
            <p:cNvCxnSpPr>
              <a:stCxn id="34" idx="6"/>
              <a:endCxn id="36" idx="2"/>
            </p:cNvCxnSpPr>
            <p:nvPr/>
          </p:nvCxnSpPr>
          <p:spPr>
            <a:xfrm>
              <a:off x="6072198" y="2143116"/>
              <a:ext cx="1000132" cy="0"/>
            </a:xfrm>
            <a:prstGeom prst="line">
              <a:avLst/>
            </a:prstGeom>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6429388" y="1785926"/>
              <a:ext cx="285752" cy="369332"/>
            </a:xfrm>
            <a:prstGeom prst="rect">
              <a:avLst/>
            </a:prstGeom>
            <a:noFill/>
          </p:spPr>
          <p:txBody>
            <a:bodyPr wrap="square" rtlCol="0">
              <a:spAutoFit/>
            </a:bodyPr>
            <a:lstStyle/>
            <a:p>
              <a:r>
                <a:rPr lang="en-US" altLang="zh-CN" sz="1800">
                  <a:solidFill>
                    <a:srgbClr val="0000FF"/>
                  </a:solidFill>
                  <a:latin typeface="Consolas" pitchFamily="49" charset="0"/>
                  <a:cs typeface="Consolas" pitchFamily="49" charset="0"/>
                </a:rPr>
                <a:t>6</a:t>
              </a:r>
              <a:endParaRPr lang="zh-CN" altLang="en-US" sz="1800">
                <a:solidFill>
                  <a:srgbClr val="0000FF"/>
                </a:solidFill>
                <a:latin typeface="Consolas" pitchFamily="49" charset="0"/>
                <a:cs typeface="Consolas" pitchFamily="49" charset="0"/>
              </a:endParaRPr>
            </a:p>
          </p:txBody>
        </p:sp>
      </p:grpSp>
      <p:grpSp>
        <p:nvGrpSpPr>
          <p:cNvPr id="6" name="组合 58"/>
          <p:cNvGrpSpPr/>
          <p:nvPr/>
        </p:nvGrpSpPr>
        <p:grpSpPr>
          <a:xfrm>
            <a:off x="6072198" y="3571876"/>
            <a:ext cx="1000132" cy="369332"/>
            <a:chOff x="6072198" y="3571876"/>
            <a:chExt cx="1000132" cy="369332"/>
          </a:xfrm>
        </p:grpSpPr>
        <p:cxnSp>
          <p:nvCxnSpPr>
            <p:cNvPr id="43" name="直接连接符 42"/>
            <p:cNvCxnSpPr>
              <a:stCxn id="35" idx="6"/>
              <a:endCxn id="37" idx="2"/>
            </p:cNvCxnSpPr>
            <p:nvPr/>
          </p:nvCxnSpPr>
          <p:spPr>
            <a:xfrm>
              <a:off x="6072198" y="3571876"/>
              <a:ext cx="1000132" cy="0"/>
            </a:xfrm>
            <a:prstGeom prst="line">
              <a:avLst/>
            </a:prstGeom>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6429388" y="3571876"/>
              <a:ext cx="285752" cy="369332"/>
            </a:xfrm>
            <a:prstGeom prst="rect">
              <a:avLst/>
            </a:prstGeom>
            <a:noFill/>
          </p:spPr>
          <p:txBody>
            <a:bodyPr wrap="square" rtlCol="0">
              <a:spAutoFit/>
            </a:bodyPr>
            <a:lstStyle/>
            <a:p>
              <a:r>
                <a:rPr lang="en-US" altLang="zh-CN" sz="1800">
                  <a:solidFill>
                    <a:srgbClr val="0000FF"/>
                  </a:solidFill>
                  <a:latin typeface="Consolas" pitchFamily="49" charset="0"/>
                  <a:cs typeface="Consolas" pitchFamily="49" charset="0"/>
                </a:rPr>
                <a:t>6</a:t>
              </a:r>
              <a:endParaRPr lang="zh-CN" altLang="en-US" sz="1800">
                <a:solidFill>
                  <a:srgbClr val="0000FF"/>
                </a:solidFill>
                <a:latin typeface="Consolas" pitchFamily="49" charset="0"/>
                <a:cs typeface="Consolas" pitchFamily="49" charset="0"/>
              </a:endParaRPr>
            </a:p>
          </p:txBody>
        </p:sp>
      </p:grpSp>
      <p:grpSp>
        <p:nvGrpSpPr>
          <p:cNvPr id="32" name="组合 55"/>
          <p:cNvGrpSpPr/>
          <p:nvPr/>
        </p:nvGrpSpPr>
        <p:grpSpPr>
          <a:xfrm>
            <a:off x="6734269" y="2294659"/>
            <a:ext cx="409499" cy="491399"/>
            <a:chOff x="6734269" y="2294659"/>
            <a:chExt cx="409499" cy="491399"/>
          </a:xfrm>
        </p:grpSpPr>
        <p:cxnSp>
          <p:nvCxnSpPr>
            <p:cNvPr id="42" name="直接连接符 41"/>
            <p:cNvCxnSpPr>
              <a:stCxn id="38" idx="7"/>
              <a:endCxn id="36" idx="3"/>
            </p:cNvCxnSpPr>
            <p:nvPr/>
          </p:nvCxnSpPr>
          <p:spPr>
            <a:xfrm rot="5400000" flipH="1" flipV="1">
              <a:off x="6723807" y="2305121"/>
              <a:ext cx="411294" cy="390370"/>
            </a:xfrm>
            <a:prstGeom prst="line">
              <a:avLst/>
            </a:prstGeom>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6858016" y="2416726"/>
              <a:ext cx="285752" cy="369332"/>
            </a:xfrm>
            <a:prstGeom prst="rect">
              <a:avLst/>
            </a:prstGeom>
            <a:noFill/>
          </p:spPr>
          <p:txBody>
            <a:bodyPr wrap="square" rtlCol="0">
              <a:spAutoFit/>
            </a:bodyPr>
            <a:lstStyle/>
            <a:p>
              <a:r>
                <a:rPr lang="en-US" altLang="zh-CN" sz="1800">
                  <a:solidFill>
                    <a:srgbClr val="0000FF"/>
                  </a:solidFill>
                  <a:latin typeface="Consolas" pitchFamily="49" charset="0"/>
                  <a:cs typeface="Consolas" pitchFamily="49" charset="0"/>
                </a:rPr>
                <a:t>3</a:t>
              </a:r>
              <a:endParaRPr lang="zh-CN" altLang="en-US" sz="1800">
                <a:solidFill>
                  <a:srgbClr val="0000FF"/>
                </a:solidFill>
                <a:latin typeface="Consolas" pitchFamily="49" charset="0"/>
                <a:cs typeface="Consolas" pitchFamily="49" charset="0"/>
              </a:endParaRPr>
            </a:p>
          </p:txBody>
        </p:sp>
      </p:grpSp>
      <p:grpSp>
        <p:nvGrpSpPr>
          <p:cNvPr id="53" name="组合 56"/>
          <p:cNvGrpSpPr/>
          <p:nvPr/>
        </p:nvGrpSpPr>
        <p:grpSpPr>
          <a:xfrm>
            <a:off x="7377211" y="2202412"/>
            <a:ext cx="533246" cy="503541"/>
            <a:chOff x="7377211" y="2202412"/>
            <a:chExt cx="533246" cy="503541"/>
          </a:xfrm>
        </p:grpSpPr>
        <p:cxnSp>
          <p:nvCxnSpPr>
            <p:cNvPr id="44" name="直接连接符 43"/>
            <p:cNvCxnSpPr>
              <a:stCxn id="36" idx="5"/>
              <a:endCxn id="39" idx="1"/>
            </p:cNvCxnSpPr>
            <p:nvPr/>
          </p:nvCxnSpPr>
          <p:spPr>
            <a:xfrm rot="16200000" flipH="1">
              <a:off x="7438187" y="2233683"/>
              <a:ext cx="411294" cy="533246"/>
            </a:xfrm>
            <a:prstGeom prst="line">
              <a:avLst/>
            </a:prstGeom>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7572396" y="2202412"/>
              <a:ext cx="285752" cy="369332"/>
            </a:xfrm>
            <a:prstGeom prst="rect">
              <a:avLst/>
            </a:prstGeom>
            <a:noFill/>
          </p:spPr>
          <p:txBody>
            <a:bodyPr wrap="square" rtlCol="0">
              <a:spAutoFit/>
            </a:bodyPr>
            <a:lstStyle/>
            <a:p>
              <a:r>
                <a:rPr lang="en-US" altLang="zh-CN" sz="1800">
                  <a:solidFill>
                    <a:srgbClr val="0000FF"/>
                  </a:solidFill>
                  <a:latin typeface="Consolas" pitchFamily="49" charset="0"/>
                  <a:cs typeface="Consolas" pitchFamily="49" charset="0"/>
                </a:rPr>
                <a:t>4</a:t>
              </a:r>
              <a:endParaRPr lang="zh-CN" altLang="en-US" sz="1800">
                <a:solidFill>
                  <a:srgbClr val="0000FF"/>
                </a:solidFill>
                <a:latin typeface="Consolas" pitchFamily="49" charset="0"/>
                <a:cs typeface="Consolas" pitchFamily="49" charset="0"/>
              </a:endParaRPr>
            </a:p>
          </p:txBody>
        </p:sp>
      </p:grpSp>
      <p:grpSp>
        <p:nvGrpSpPr>
          <p:cNvPr id="54" name="组合 54"/>
          <p:cNvGrpSpPr/>
          <p:nvPr/>
        </p:nvGrpSpPr>
        <p:grpSpPr>
          <a:xfrm>
            <a:off x="7377211" y="3009039"/>
            <a:ext cx="552375" cy="562837"/>
            <a:chOff x="7377211" y="3009039"/>
            <a:chExt cx="552375" cy="562837"/>
          </a:xfrm>
        </p:grpSpPr>
        <p:cxnSp>
          <p:nvCxnSpPr>
            <p:cNvPr id="45" name="直接连接符 44"/>
            <p:cNvCxnSpPr>
              <a:stCxn id="37" idx="7"/>
              <a:endCxn id="39" idx="3"/>
            </p:cNvCxnSpPr>
            <p:nvPr/>
          </p:nvCxnSpPr>
          <p:spPr>
            <a:xfrm rot="5400000" flipH="1" flipV="1">
              <a:off x="7438187" y="2948063"/>
              <a:ext cx="411294" cy="533246"/>
            </a:xfrm>
            <a:prstGeom prst="line">
              <a:avLst/>
            </a:prstGeom>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7643834" y="3202544"/>
              <a:ext cx="285752" cy="369332"/>
            </a:xfrm>
            <a:prstGeom prst="rect">
              <a:avLst/>
            </a:prstGeom>
            <a:noFill/>
          </p:spPr>
          <p:txBody>
            <a:bodyPr wrap="square" rtlCol="0">
              <a:spAutoFit/>
            </a:bodyPr>
            <a:lstStyle/>
            <a:p>
              <a:r>
                <a:rPr lang="en-US" altLang="zh-CN" sz="1800">
                  <a:solidFill>
                    <a:srgbClr val="0000FF"/>
                  </a:solidFill>
                  <a:latin typeface="Consolas" pitchFamily="49" charset="0"/>
                  <a:cs typeface="Consolas" pitchFamily="49" charset="0"/>
                </a:rPr>
                <a:t>2</a:t>
              </a:r>
              <a:endParaRPr lang="zh-CN" altLang="en-US" sz="1800">
                <a:solidFill>
                  <a:srgbClr val="0000FF"/>
                </a:solidFill>
                <a:latin typeface="Consolas" pitchFamily="49" charset="0"/>
                <a:cs typeface="Consolas" pitchFamily="49" charset="0"/>
              </a:endParaRPr>
            </a:p>
          </p:txBody>
        </p:sp>
      </p:grpSp>
      <p:sp>
        <p:nvSpPr>
          <p:cNvPr id="52" name="右箭头 51"/>
          <p:cNvSpPr/>
          <p:nvPr/>
        </p:nvSpPr>
        <p:spPr>
          <a:xfrm>
            <a:off x="4286248" y="2714620"/>
            <a:ext cx="428628" cy="357190"/>
          </a:xfrm>
          <a:prstGeom prst="right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latin typeface="Consolas" pitchFamily="49" charset="0"/>
              <a:cs typeface="Consolas" pitchFamily="49" charset="0"/>
            </a:endParaRPr>
          </a:p>
        </p:txBody>
      </p:sp>
      <p:grpSp>
        <p:nvGrpSpPr>
          <p:cNvPr id="55" name="组合 54"/>
          <p:cNvGrpSpPr/>
          <p:nvPr/>
        </p:nvGrpSpPr>
        <p:grpSpPr>
          <a:xfrm>
            <a:off x="928662" y="642918"/>
            <a:ext cx="853211" cy="761171"/>
            <a:chOff x="6862060" y="4310903"/>
            <a:chExt cx="1128915" cy="1130667"/>
          </a:xfrm>
        </p:grpSpPr>
        <p:grpSp>
          <p:nvGrpSpPr>
            <p:cNvPr id="56" name="Group 103"/>
            <p:cNvGrpSpPr>
              <a:grpSpLocks/>
            </p:cNvGrpSpPr>
            <p:nvPr/>
          </p:nvGrpSpPr>
          <p:grpSpPr bwMode="auto">
            <a:xfrm>
              <a:off x="6862060" y="4310903"/>
              <a:ext cx="1128915" cy="1130667"/>
              <a:chOff x="2880" y="1515"/>
              <a:chExt cx="644" cy="645"/>
            </a:xfrm>
          </p:grpSpPr>
          <p:sp>
            <p:nvSpPr>
              <p:cNvPr id="58" name="Oval 104"/>
              <p:cNvSpPr>
                <a:spLocks noChangeArrowheads="1"/>
              </p:cNvSpPr>
              <p:nvPr/>
            </p:nvSpPr>
            <p:spPr bwMode="auto">
              <a:xfrm>
                <a:off x="2880" y="1516"/>
                <a:ext cx="644" cy="644"/>
              </a:xfrm>
              <a:prstGeom prst="ellipse">
                <a:avLst/>
              </a:prstGeom>
              <a:gradFill rotWithShape="1">
                <a:gsLst>
                  <a:gs pos="0">
                    <a:srgbClr val="10942F"/>
                  </a:gs>
                  <a:gs pos="100000">
                    <a:srgbClr val="16D83B"/>
                  </a:gs>
                </a:gsLst>
                <a:lin ang="5400000" scaled="1"/>
              </a:gradFill>
              <a:ln w="9525" algn="ctr">
                <a:noFill/>
                <a:round/>
                <a:headEnd/>
                <a:tailEnd/>
              </a:ln>
              <a:effectLst>
                <a:outerShdw blurRad="76200" dir="18900000" sy="23000" kx="-1200000" algn="bl" rotWithShape="0">
                  <a:prstClr val="black">
                    <a:alpha val="20000"/>
                  </a:prstClr>
                </a:outerShdw>
              </a:effectLst>
            </p:spPr>
            <p:txBody>
              <a:bodyPr wrap="none" anchor="ctr"/>
              <a:lstStyle/>
              <a:p>
                <a:endParaRPr lang="zh-CN" altLang="en-US"/>
              </a:p>
            </p:txBody>
          </p:sp>
          <p:sp>
            <p:nvSpPr>
              <p:cNvPr id="59" name="Freeform 105"/>
              <p:cNvSpPr>
                <a:spLocks/>
              </p:cNvSpPr>
              <p:nvPr/>
            </p:nvSpPr>
            <p:spPr bwMode="auto">
              <a:xfrm>
                <a:off x="2887" y="1515"/>
                <a:ext cx="630" cy="441"/>
              </a:xfrm>
              <a:custGeom>
                <a:avLst/>
                <a:gdLst/>
                <a:ahLst/>
                <a:cxnLst>
                  <a:cxn ang="0">
                    <a:pos x="1400" y="275"/>
                  </a:cxn>
                  <a:cxn ang="0">
                    <a:pos x="1596" y="795"/>
                  </a:cxn>
                  <a:cxn ang="0">
                    <a:pos x="0" y="795"/>
                  </a:cxn>
                  <a:cxn ang="0">
                    <a:pos x="217" y="252"/>
                  </a:cxn>
                  <a:cxn ang="0">
                    <a:pos x="796" y="0"/>
                  </a:cxn>
                  <a:cxn ang="0">
                    <a:pos x="1400" y="275"/>
                  </a:cxn>
                </a:cxnLst>
                <a:rect l="0" t="0" r="r" b="b"/>
                <a:pathLst>
                  <a:path w="1596" h="1118">
                    <a:moveTo>
                      <a:pt x="1400" y="275"/>
                    </a:moveTo>
                    <a:cubicBezTo>
                      <a:pt x="1522" y="417"/>
                      <a:pt x="1596" y="597"/>
                      <a:pt x="1596" y="795"/>
                    </a:cubicBezTo>
                    <a:cubicBezTo>
                      <a:pt x="1037" y="1118"/>
                      <a:pt x="668" y="611"/>
                      <a:pt x="0" y="795"/>
                    </a:cubicBezTo>
                    <a:cubicBezTo>
                      <a:pt x="0" y="585"/>
                      <a:pt x="83" y="392"/>
                      <a:pt x="217" y="252"/>
                    </a:cubicBezTo>
                    <a:cubicBezTo>
                      <a:pt x="364" y="95"/>
                      <a:pt x="570" y="0"/>
                      <a:pt x="796" y="0"/>
                    </a:cubicBezTo>
                    <a:cubicBezTo>
                      <a:pt x="1039" y="0"/>
                      <a:pt x="1253" y="108"/>
                      <a:pt x="1400" y="275"/>
                    </a:cubicBezTo>
                    <a:close/>
                  </a:path>
                </a:pathLst>
              </a:custGeom>
              <a:gradFill rotWithShape="1">
                <a:gsLst>
                  <a:gs pos="0">
                    <a:schemeClr val="bg1">
                      <a:alpha val="53000"/>
                    </a:schemeClr>
                  </a:gs>
                  <a:gs pos="100000">
                    <a:schemeClr val="bg1">
                      <a:gamma/>
                      <a:shade val="46275"/>
                      <a:invGamma/>
                      <a:alpha val="0"/>
                    </a:schemeClr>
                  </a:gs>
                </a:gsLst>
                <a:lin ang="5400000" scaled="1"/>
              </a:gradFill>
              <a:ln w="9525">
                <a:noFill/>
                <a:round/>
                <a:headEnd/>
                <a:tailEnd/>
              </a:ln>
            </p:spPr>
            <p:txBody>
              <a:bodyPr/>
              <a:lstStyle/>
              <a:p>
                <a:endParaRPr lang="zh-CN" altLang="en-US"/>
              </a:p>
            </p:txBody>
          </p:sp>
        </p:grpSp>
        <p:sp>
          <p:nvSpPr>
            <p:cNvPr id="57" name="Text Box 71"/>
            <p:cNvSpPr txBox="1">
              <a:spLocks noChangeArrowheads="1"/>
            </p:cNvSpPr>
            <p:nvPr/>
          </p:nvSpPr>
          <p:spPr bwMode="auto">
            <a:xfrm>
              <a:off x="6923115" y="4640482"/>
              <a:ext cx="1039812" cy="466324"/>
            </a:xfrm>
            <a:prstGeom prst="rect">
              <a:avLst/>
            </a:prstGeom>
            <a:noFill/>
            <a:ln w="9525">
              <a:noFill/>
              <a:miter lim="800000"/>
              <a:headEnd/>
              <a:tailEnd/>
            </a:ln>
            <a:effectLst/>
          </p:spPr>
          <p:txBody>
            <a:bodyPr anchor="ctr">
              <a:spAutoFit/>
            </a:bodyPr>
            <a:lstStyle/>
            <a:p>
              <a:pPr algn="ctr">
                <a:spcBef>
                  <a:spcPct val="50000"/>
                </a:spcBef>
              </a:pPr>
              <a:r>
                <a:rPr lang="zh-CN" altLang="en-US" sz="1800">
                  <a:solidFill>
                    <a:srgbClr val="FF0000"/>
                  </a:solidFill>
                  <a:latin typeface="微软雅黑" pitchFamily="34" charset="-122"/>
                  <a:ea typeface="微软雅黑" pitchFamily="34" charset="-122"/>
                </a:rPr>
                <a:t>示例</a:t>
              </a:r>
              <a:endParaRPr lang="en-GB" altLang="zh-CN" sz="1800">
                <a:solidFill>
                  <a:srgbClr val="FF0000"/>
                </a:solidFill>
                <a:latin typeface="微软雅黑" pitchFamily="34" charset="-122"/>
                <a:ea typeface="微软雅黑" pitchFamily="34" charset="-122"/>
              </a:endParaRPr>
            </a:p>
          </p:txBody>
        </p:sp>
      </p:grpSp>
      <p:sp>
        <p:nvSpPr>
          <p:cNvPr id="61" name="灯片编号占位符 60"/>
          <p:cNvSpPr>
            <a:spLocks noGrp="1"/>
          </p:cNvSpPr>
          <p:nvPr>
            <p:ph type="sldNum" sz="quarter" idx="12"/>
          </p:nvPr>
        </p:nvSpPr>
        <p:spPr/>
        <p:txBody>
          <a:bodyPr/>
          <a:lstStyle/>
          <a:p>
            <a:fld id="{7AF016A1-9F15-429F-9EFD-84004B73C732}" type="slidenum">
              <a:rPr lang="en-US" altLang="zh-CN" smtClean="0"/>
              <a:pPr/>
              <a:t>17</a:t>
            </a:fld>
            <a:r>
              <a:rPr lang="en-US" altLang="zh-CN"/>
              <a:t>/158</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ext Box 2"/>
          <p:cNvSpPr txBox="1">
            <a:spLocks noChangeArrowheads="1"/>
          </p:cNvSpPr>
          <p:nvPr/>
        </p:nvSpPr>
        <p:spPr bwMode="auto">
          <a:xfrm>
            <a:off x="539751" y="404813"/>
            <a:ext cx="3532184" cy="461665"/>
          </a:xfrm>
          <a:prstGeom prst="rect">
            <a:avLst/>
          </a:prstGeom>
          <a:solidFill>
            <a:srgbClr val="9900FF"/>
          </a:solidFill>
          <a:ln w="9525">
            <a:noFill/>
            <a:miter lim="800000"/>
            <a:headEnd/>
            <a:tailEnd/>
          </a:ln>
        </p:spPr>
        <p:txBody>
          <a:bodyPr wrap="square">
            <a:spAutoFit/>
          </a:bodyPr>
          <a:lstStyle/>
          <a:p>
            <a:pPr algn="ctr">
              <a:lnSpc>
                <a:spcPct val="100000"/>
              </a:lnSpc>
              <a:spcBef>
                <a:spcPct val="50000"/>
              </a:spcBef>
            </a:pPr>
            <a:r>
              <a:rPr lang="en-US" altLang="zh-CN">
                <a:solidFill>
                  <a:schemeClr val="bg1"/>
                </a:solidFill>
                <a:latin typeface="Consolas" pitchFamily="49" charset="0"/>
                <a:ea typeface="微软雅黑" pitchFamily="34" charset="-122"/>
                <a:cs typeface="Consolas" pitchFamily="49" charset="0"/>
              </a:rPr>
              <a:t>2. Kruskal</a:t>
            </a:r>
            <a:r>
              <a:rPr lang="zh-CN" altLang="en-US">
                <a:solidFill>
                  <a:schemeClr val="bg1"/>
                </a:solidFill>
                <a:latin typeface="Consolas" pitchFamily="49" charset="0"/>
                <a:ea typeface="微软雅黑" pitchFamily="34" charset="-122"/>
                <a:cs typeface="Consolas" pitchFamily="49" charset="0"/>
              </a:rPr>
              <a:t>算法设计</a:t>
            </a:r>
          </a:p>
        </p:txBody>
      </p:sp>
      <p:sp>
        <p:nvSpPr>
          <p:cNvPr id="65539" name="Text Box 3"/>
          <p:cNvSpPr txBox="1">
            <a:spLocks noChangeArrowheads="1"/>
          </p:cNvSpPr>
          <p:nvPr/>
        </p:nvSpPr>
        <p:spPr bwMode="auto">
          <a:xfrm>
            <a:off x="428596" y="1500174"/>
            <a:ext cx="7891488" cy="964367"/>
          </a:xfrm>
          <a:prstGeom prst="rect">
            <a:avLst/>
          </a:prstGeom>
          <a:ln>
            <a:solidFill>
              <a:schemeClr val="accent6">
                <a:lumMod val="40000"/>
                <a:lumOff val="60000"/>
              </a:schemeClr>
            </a:solidFill>
            <a:headEnd/>
            <a:tailEnd/>
          </a:ln>
        </p:spPr>
        <p:style>
          <a:lnRef idx="2">
            <a:schemeClr val="accent6"/>
          </a:lnRef>
          <a:fillRef idx="1">
            <a:schemeClr val="lt1"/>
          </a:fillRef>
          <a:effectRef idx="0">
            <a:schemeClr val="accent6"/>
          </a:effectRef>
          <a:fontRef idx="minor">
            <a:schemeClr val="dk1"/>
          </a:fontRef>
        </p:style>
        <p:txBody>
          <a:bodyPr wrap="square">
            <a:spAutoFit/>
          </a:bodyPr>
          <a:lstStyle/>
          <a:p>
            <a:pPr algn="l">
              <a:lnSpc>
                <a:spcPts val="3400"/>
              </a:lnSpc>
              <a:spcBef>
                <a:spcPts val="0"/>
              </a:spcBef>
            </a:pPr>
            <a:r>
              <a:rPr lang="zh-CN" altLang="en-US">
                <a:solidFill>
                  <a:srgbClr val="0000FF"/>
                </a:solidFill>
                <a:latin typeface="Consolas" pitchFamily="49" charset="0"/>
                <a:ea typeface="仿宋" pitchFamily="49" charset="-122"/>
                <a:cs typeface="Consolas" pitchFamily="49" charset="0"/>
              </a:rPr>
              <a:t>　　实现克鲁斯卡尔算法的关键是如何判断选取的边是否与生成树中已有的边形成回路，这可以通过</a:t>
            </a:r>
            <a:r>
              <a:rPr lang="zh-CN" altLang="en-US">
                <a:solidFill>
                  <a:srgbClr val="FF0000"/>
                </a:solidFill>
                <a:latin typeface="Consolas" pitchFamily="49" charset="0"/>
                <a:ea typeface="仿宋" pitchFamily="49" charset="-122"/>
                <a:cs typeface="Consolas" pitchFamily="49" charset="0"/>
              </a:rPr>
              <a:t>并查集</a:t>
            </a:r>
            <a:r>
              <a:rPr lang="zh-CN" altLang="en-US">
                <a:solidFill>
                  <a:srgbClr val="0000FF"/>
                </a:solidFill>
                <a:latin typeface="Consolas" pitchFamily="49" charset="0"/>
                <a:ea typeface="仿宋" pitchFamily="49" charset="-122"/>
                <a:cs typeface="Consolas" pitchFamily="49" charset="0"/>
              </a:rPr>
              <a:t>来解决。　</a:t>
            </a: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18</a:t>
            </a:fld>
            <a:r>
              <a:rPr lang="en-US" altLang="zh-CN"/>
              <a:t>/158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608330"/>
            <a:ext cx="8858280" cy="5202102"/>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2600"/>
              </a:lnSpc>
              <a:spcBef>
                <a:spcPts val="0"/>
              </a:spcBef>
            </a:pPr>
            <a:r>
              <a:rPr lang="en-US" altLang="zh-CN" sz="2000">
                <a:solidFill>
                  <a:srgbClr val="0000FF"/>
                </a:solidFill>
                <a:latin typeface="Consolas" pitchFamily="49" charset="0"/>
                <a:ea typeface="仿宋" pitchFamily="49" charset="-122"/>
              </a:rPr>
              <a:t>int parent[MAXN];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并查集存储结构</a:t>
            </a:r>
          </a:p>
          <a:p>
            <a:pPr algn="l" defTabSz="360000">
              <a:lnSpc>
                <a:spcPts val="2600"/>
              </a:lnSpc>
              <a:spcBef>
                <a:spcPts val="0"/>
              </a:spcBef>
            </a:pPr>
            <a:r>
              <a:rPr lang="en-US" altLang="zh-CN" sz="2000">
                <a:solidFill>
                  <a:srgbClr val="0000FF"/>
                </a:solidFill>
                <a:latin typeface="Consolas" pitchFamily="49" charset="0"/>
                <a:ea typeface="仿宋" pitchFamily="49" charset="-122"/>
              </a:rPr>
              <a:t>int rnk[MAXN];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存储结点的秩</a:t>
            </a:r>
            <a:endParaRPr lang="en-US" altLang="zh-CN" sz="2000">
              <a:solidFill>
                <a:srgbClr val="00B0F0"/>
              </a:solidFill>
              <a:latin typeface="Consolas" pitchFamily="49" charset="0"/>
              <a:ea typeface="仿宋" pitchFamily="49" charset="-122"/>
            </a:endParaRPr>
          </a:p>
          <a:p>
            <a:pPr algn="l" defTabSz="360000">
              <a:lnSpc>
                <a:spcPts val="2600"/>
              </a:lnSpc>
              <a:spcBef>
                <a:spcPts val="0"/>
              </a:spcBef>
            </a:pP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void </a:t>
            </a:r>
            <a:r>
              <a:rPr lang="en-US" altLang="zh-CN" sz="2000">
                <a:solidFill>
                  <a:srgbClr val="FF0000"/>
                </a:solidFill>
                <a:latin typeface="Consolas" pitchFamily="49" charset="0"/>
                <a:ea typeface="仿宋" pitchFamily="49" charset="-122"/>
              </a:rPr>
              <a:t>Init</a:t>
            </a:r>
            <a:r>
              <a:rPr lang="en-US" altLang="zh-CN" sz="2000">
                <a:solidFill>
                  <a:srgbClr val="0000FF"/>
                </a:solidFill>
                <a:latin typeface="Consolas" pitchFamily="49" charset="0"/>
                <a:ea typeface="仿宋" pitchFamily="49" charset="-122"/>
              </a:rPr>
              <a:t>(int n)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并查集初始化</a:t>
            </a:r>
          </a:p>
          <a:p>
            <a:pPr algn="l" defTabSz="360000">
              <a:lnSpc>
                <a:spcPts val="2600"/>
              </a:lnSpc>
              <a:spcBef>
                <a:spcPts val="0"/>
              </a:spcBef>
            </a:pPr>
            <a:r>
              <a:rPr lang="en-US" altLang="zh-CN" sz="2000">
                <a:solidFill>
                  <a:srgbClr val="0000FF"/>
                </a:solidFill>
                <a:latin typeface="Consolas" pitchFamily="49" charset="0"/>
                <a:ea typeface="仿宋" pitchFamily="49" charset="-122"/>
              </a:rPr>
              <a:t>	for (int i=0;i&lt;n;i++)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parent[i]=i;</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rnk[i]=0;</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a:t>
            </a:r>
          </a:p>
          <a:p>
            <a:pPr algn="l" defTabSz="360000">
              <a:lnSpc>
                <a:spcPts val="2600"/>
              </a:lnSpc>
              <a:spcBef>
                <a:spcPts val="0"/>
              </a:spcBef>
            </a:pP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int </a:t>
            </a:r>
            <a:r>
              <a:rPr lang="en-US" altLang="zh-CN" sz="2000">
                <a:solidFill>
                  <a:srgbClr val="FF0000"/>
                </a:solidFill>
                <a:latin typeface="Consolas" pitchFamily="49" charset="0"/>
                <a:ea typeface="仿宋" pitchFamily="49" charset="-122"/>
              </a:rPr>
              <a:t>Find</a:t>
            </a:r>
            <a:r>
              <a:rPr lang="en-US" altLang="zh-CN" sz="2000">
                <a:solidFill>
                  <a:srgbClr val="0000FF"/>
                </a:solidFill>
                <a:latin typeface="Consolas" pitchFamily="49" charset="0"/>
                <a:ea typeface="仿宋" pitchFamily="49" charset="-122"/>
              </a:rPr>
              <a:t>(int x)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查找</a:t>
            </a:r>
            <a:r>
              <a:rPr lang="en-US" altLang="zh-CN" sz="2000">
                <a:solidFill>
                  <a:srgbClr val="00B0F0"/>
                </a:solidFill>
                <a:latin typeface="Consolas" pitchFamily="49" charset="0"/>
                <a:ea typeface="仿宋" pitchFamily="49" charset="-122"/>
              </a:rPr>
              <a:t>x</a:t>
            </a:r>
            <a:r>
              <a:rPr lang="zh-CN" altLang="zh-CN" sz="2000">
                <a:solidFill>
                  <a:srgbClr val="00B0F0"/>
                </a:solidFill>
                <a:latin typeface="Consolas" pitchFamily="49" charset="0"/>
                <a:ea typeface="仿宋" pitchFamily="49" charset="-122"/>
              </a:rPr>
              <a:t>结点的根结点</a:t>
            </a:r>
          </a:p>
          <a:p>
            <a:pPr algn="l" defTabSz="360000">
              <a:lnSpc>
                <a:spcPts val="2600"/>
              </a:lnSpc>
              <a:spcBef>
                <a:spcPts val="0"/>
              </a:spcBef>
            </a:pPr>
            <a:r>
              <a:rPr lang="en-US" altLang="zh-CN" sz="2000">
                <a:solidFill>
                  <a:srgbClr val="0000FF"/>
                </a:solidFill>
                <a:latin typeface="Consolas" pitchFamily="49" charset="0"/>
                <a:ea typeface="仿宋" pitchFamily="49" charset="-122"/>
              </a:rPr>
              <a:t>	if (x!=parent[x])</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parent[x]=</a:t>
            </a:r>
            <a:r>
              <a:rPr lang="en-US" altLang="zh-CN" sz="2000">
                <a:solidFill>
                  <a:srgbClr val="FF0000"/>
                </a:solidFill>
                <a:latin typeface="Consolas" pitchFamily="49" charset="0"/>
                <a:ea typeface="仿宋" pitchFamily="49" charset="-122"/>
              </a:rPr>
              <a:t>Find</a:t>
            </a:r>
            <a:r>
              <a:rPr lang="en-US" altLang="zh-CN" sz="2000">
                <a:solidFill>
                  <a:srgbClr val="0000FF"/>
                </a:solidFill>
                <a:latin typeface="Consolas" pitchFamily="49" charset="0"/>
                <a:ea typeface="仿宋" pitchFamily="49" charset="-122"/>
              </a:rPr>
              <a:t>(parent[x]);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路径压缩</a:t>
            </a:r>
          </a:p>
          <a:p>
            <a:pPr algn="l" defTabSz="360000">
              <a:lnSpc>
                <a:spcPts val="2600"/>
              </a:lnSpc>
              <a:spcBef>
                <a:spcPts val="0"/>
              </a:spcBef>
            </a:pPr>
            <a:r>
              <a:rPr lang="en-US" altLang="zh-CN" sz="2000">
                <a:solidFill>
                  <a:srgbClr val="0000FF"/>
                </a:solidFill>
                <a:latin typeface="Consolas" pitchFamily="49" charset="0"/>
                <a:ea typeface="仿宋" pitchFamily="49" charset="-122"/>
              </a:rPr>
              <a:t>	return parent[x];</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19</a:t>
            </a:fld>
            <a:r>
              <a:rPr lang="en-US" altLang="zh-CN"/>
              <a:t>/158</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608330"/>
            <a:ext cx="8858280" cy="453525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2600"/>
              </a:lnSpc>
              <a:spcBef>
                <a:spcPts val="0"/>
              </a:spcBef>
            </a:pPr>
            <a:r>
              <a:rPr lang="en-US" altLang="zh-CN" sz="2000">
                <a:solidFill>
                  <a:srgbClr val="0000FF"/>
                </a:solidFill>
                <a:latin typeface="Consolas" pitchFamily="49" charset="0"/>
                <a:ea typeface="仿宋" pitchFamily="49" charset="-122"/>
              </a:rPr>
              <a:t>void </a:t>
            </a:r>
            <a:r>
              <a:rPr lang="en-US" altLang="zh-CN" sz="2000">
                <a:solidFill>
                  <a:srgbClr val="FF0000"/>
                </a:solidFill>
                <a:latin typeface="Consolas" pitchFamily="49" charset="0"/>
                <a:ea typeface="仿宋" pitchFamily="49" charset="-122"/>
              </a:rPr>
              <a:t>Union</a:t>
            </a:r>
            <a:r>
              <a:rPr lang="en-US" altLang="zh-CN" sz="2000">
                <a:solidFill>
                  <a:srgbClr val="0000FF"/>
                </a:solidFill>
                <a:latin typeface="Consolas" pitchFamily="49" charset="0"/>
                <a:ea typeface="仿宋" pitchFamily="49" charset="-122"/>
              </a:rPr>
              <a:t>(int x,int y)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并查集中</a:t>
            </a:r>
            <a:r>
              <a:rPr lang="en-US" altLang="zh-CN" sz="2000">
                <a:solidFill>
                  <a:srgbClr val="00B0F0"/>
                </a:solidFill>
                <a:latin typeface="Consolas" pitchFamily="49" charset="0"/>
                <a:ea typeface="仿宋" pitchFamily="49" charset="-122"/>
              </a:rPr>
              <a:t>x</a:t>
            </a:r>
            <a:r>
              <a:rPr lang="zh-CN" altLang="zh-CN" sz="2000">
                <a:solidFill>
                  <a:srgbClr val="00B0F0"/>
                </a:solidFill>
                <a:latin typeface="Consolas" pitchFamily="49" charset="0"/>
                <a:ea typeface="仿宋" pitchFamily="49" charset="-122"/>
              </a:rPr>
              <a:t>和</a:t>
            </a:r>
            <a:r>
              <a:rPr lang="en-US" altLang="zh-CN" sz="2000">
                <a:solidFill>
                  <a:srgbClr val="00B0F0"/>
                </a:solidFill>
                <a:latin typeface="Consolas" pitchFamily="49" charset="0"/>
                <a:ea typeface="仿宋" pitchFamily="49" charset="-122"/>
              </a:rPr>
              <a:t>y</a:t>
            </a:r>
            <a:r>
              <a:rPr lang="zh-CN" altLang="zh-CN" sz="2000">
                <a:solidFill>
                  <a:srgbClr val="00B0F0"/>
                </a:solidFill>
                <a:latin typeface="Consolas" pitchFamily="49" charset="0"/>
                <a:ea typeface="仿宋" pitchFamily="49" charset="-122"/>
              </a:rPr>
              <a:t>的两个集合的合并</a:t>
            </a:r>
          </a:p>
          <a:p>
            <a:pPr algn="l" defTabSz="360000">
              <a:lnSpc>
                <a:spcPts val="2600"/>
              </a:lnSpc>
              <a:spcBef>
                <a:spcPts val="0"/>
              </a:spcBef>
            </a:pPr>
            <a:r>
              <a:rPr lang="en-US" altLang="zh-CN" sz="2000">
                <a:solidFill>
                  <a:srgbClr val="0000FF"/>
                </a:solidFill>
                <a:latin typeface="Consolas" pitchFamily="49" charset="0"/>
                <a:ea typeface="仿宋" pitchFamily="49" charset="-122"/>
              </a:rPr>
              <a:t>	int rx=</a:t>
            </a:r>
            <a:r>
              <a:rPr lang="en-US" altLang="zh-CN" sz="2000">
                <a:solidFill>
                  <a:srgbClr val="FF0000"/>
                </a:solidFill>
                <a:latin typeface="Consolas" pitchFamily="49" charset="0"/>
                <a:ea typeface="仿宋" pitchFamily="49" charset="-122"/>
              </a:rPr>
              <a:t>Find</a:t>
            </a:r>
            <a:r>
              <a:rPr lang="en-US" altLang="zh-CN" sz="2000">
                <a:solidFill>
                  <a:srgbClr val="0000FF"/>
                </a:solidFill>
                <a:latin typeface="Consolas" pitchFamily="49" charset="0"/>
                <a:ea typeface="仿宋" pitchFamily="49" charset="-122"/>
              </a:rPr>
              <a:t>(x);</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int ry=</a:t>
            </a:r>
            <a:r>
              <a:rPr lang="en-US" altLang="zh-CN" sz="2000">
                <a:solidFill>
                  <a:srgbClr val="FF0000"/>
                </a:solidFill>
                <a:latin typeface="Consolas" pitchFamily="49" charset="0"/>
                <a:ea typeface="仿宋" pitchFamily="49" charset="-122"/>
              </a:rPr>
              <a:t>Find</a:t>
            </a:r>
            <a:r>
              <a:rPr lang="en-US" altLang="zh-CN" sz="2000">
                <a:solidFill>
                  <a:srgbClr val="0000FF"/>
                </a:solidFill>
                <a:latin typeface="Consolas" pitchFamily="49" charset="0"/>
                <a:ea typeface="仿宋" pitchFamily="49" charset="-122"/>
              </a:rPr>
              <a:t>(y);</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if (rx==ry)								</a:t>
            </a:r>
            <a:r>
              <a:rPr lang="en-US" altLang="zh-CN" sz="2000">
                <a:solidFill>
                  <a:srgbClr val="00B0F0"/>
                </a:solidFill>
                <a:latin typeface="Consolas" pitchFamily="49" charset="0"/>
                <a:ea typeface="仿宋" pitchFamily="49" charset="-122"/>
              </a:rPr>
              <a:t>//x</a:t>
            </a:r>
            <a:r>
              <a:rPr lang="zh-CN" altLang="zh-CN" sz="2000">
                <a:solidFill>
                  <a:srgbClr val="00B0F0"/>
                </a:solidFill>
                <a:latin typeface="Consolas" pitchFamily="49" charset="0"/>
                <a:ea typeface="仿宋" pitchFamily="49" charset="-122"/>
              </a:rPr>
              <a:t>和</a:t>
            </a:r>
            <a:r>
              <a:rPr lang="en-US" altLang="zh-CN" sz="2000">
                <a:solidFill>
                  <a:srgbClr val="00B0F0"/>
                </a:solidFill>
                <a:latin typeface="Consolas" pitchFamily="49" charset="0"/>
                <a:ea typeface="仿宋" pitchFamily="49" charset="-122"/>
              </a:rPr>
              <a:t>y</a:t>
            </a:r>
            <a:r>
              <a:rPr lang="zh-CN" altLang="zh-CN" sz="2000">
                <a:solidFill>
                  <a:srgbClr val="00B0F0"/>
                </a:solidFill>
                <a:latin typeface="Consolas" pitchFamily="49" charset="0"/>
                <a:ea typeface="仿宋" pitchFamily="49" charset="-122"/>
              </a:rPr>
              <a:t>属于同一棵树的情况</a:t>
            </a:r>
          </a:p>
          <a:p>
            <a:pPr algn="l" defTabSz="360000">
              <a:lnSpc>
                <a:spcPts val="2600"/>
              </a:lnSpc>
              <a:spcBef>
                <a:spcPts val="0"/>
              </a:spcBef>
            </a:pPr>
            <a:r>
              <a:rPr lang="en-US" altLang="zh-CN" sz="2000">
                <a:solidFill>
                  <a:srgbClr val="0000FF"/>
                </a:solidFill>
                <a:latin typeface="Consolas" pitchFamily="49" charset="0"/>
                <a:ea typeface="仿宋" pitchFamily="49" charset="-122"/>
              </a:rPr>
              <a:t>		return;</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if (rnk[rx]&lt;rnk[ry])</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parent[rx]=ry;						</a:t>
            </a:r>
            <a:r>
              <a:rPr lang="en-US" altLang="zh-CN" sz="2000">
                <a:solidFill>
                  <a:srgbClr val="00B0F0"/>
                </a:solidFill>
                <a:latin typeface="Consolas" pitchFamily="49" charset="0"/>
                <a:ea typeface="仿宋" pitchFamily="49" charset="-122"/>
              </a:rPr>
              <a:t>//rx</a:t>
            </a:r>
            <a:r>
              <a:rPr lang="zh-CN" altLang="zh-CN" sz="2000">
                <a:solidFill>
                  <a:srgbClr val="00B0F0"/>
                </a:solidFill>
                <a:latin typeface="Consolas" pitchFamily="49" charset="0"/>
                <a:ea typeface="仿宋" pitchFamily="49" charset="-122"/>
              </a:rPr>
              <a:t>结点作为</a:t>
            </a:r>
            <a:r>
              <a:rPr lang="en-US" altLang="zh-CN" sz="2000">
                <a:solidFill>
                  <a:srgbClr val="00B0F0"/>
                </a:solidFill>
                <a:latin typeface="Consolas" pitchFamily="49" charset="0"/>
                <a:ea typeface="仿宋" pitchFamily="49" charset="-122"/>
              </a:rPr>
              <a:t>ry</a:t>
            </a:r>
            <a:r>
              <a:rPr lang="zh-CN" altLang="zh-CN" sz="2000">
                <a:solidFill>
                  <a:srgbClr val="00B0F0"/>
                </a:solidFill>
                <a:latin typeface="Consolas" pitchFamily="49" charset="0"/>
                <a:ea typeface="仿宋" pitchFamily="49" charset="-122"/>
              </a:rPr>
              <a:t>的孩子</a:t>
            </a:r>
          </a:p>
          <a:p>
            <a:pPr algn="l" defTabSz="360000">
              <a:lnSpc>
                <a:spcPts val="2600"/>
              </a:lnSpc>
              <a:spcBef>
                <a:spcPts val="0"/>
              </a:spcBef>
            </a:pPr>
            <a:r>
              <a:rPr lang="en-US" altLang="zh-CN" sz="2000">
                <a:solidFill>
                  <a:srgbClr val="0000FF"/>
                </a:solidFill>
                <a:latin typeface="Consolas" pitchFamily="49" charset="0"/>
                <a:ea typeface="仿宋" pitchFamily="49" charset="-122"/>
              </a:rPr>
              <a:t>	else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if (rnk[rx]==rnk[ry])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秩相同，合并后</a:t>
            </a:r>
            <a:r>
              <a:rPr lang="en-US" altLang="zh-CN" sz="2000">
                <a:solidFill>
                  <a:srgbClr val="00B0F0"/>
                </a:solidFill>
                <a:latin typeface="Consolas" pitchFamily="49" charset="0"/>
                <a:ea typeface="仿宋" pitchFamily="49" charset="-122"/>
              </a:rPr>
              <a:t>rx</a:t>
            </a:r>
            <a:r>
              <a:rPr lang="zh-CN" altLang="zh-CN" sz="2000">
                <a:solidFill>
                  <a:srgbClr val="00B0F0"/>
                </a:solidFill>
                <a:latin typeface="Consolas" pitchFamily="49" charset="0"/>
                <a:ea typeface="仿宋" pitchFamily="49" charset="-122"/>
              </a:rPr>
              <a:t>的秩增</a:t>
            </a:r>
            <a:r>
              <a:rPr lang="en-US" altLang="zh-CN" sz="2000">
                <a:solidFill>
                  <a:srgbClr val="00B0F0"/>
                </a:solidFill>
                <a:latin typeface="Consolas" pitchFamily="49" charset="0"/>
                <a:ea typeface="仿宋" pitchFamily="49" charset="-122"/>
              </a:rPr>
              <a:t>1</a:t>
            </a:r>
            <a:endParaRPr lang="zh-CN" altLang="zh-CN" sz="2000">
              <a:solidFill>
                <a:srgbClr val="00B0F0"/>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rnk[rx]++;</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parent[ry]=rx;						</a:t>
            </a:r>
            <a:r>
              <a:rPr lang="en-US" altLang="zh-CN" sz="2000">
                <a:solidFill>
                  <a:srgbClr val="00B0F0"/>
                </a:solidFill>
                <a:latin typeface="Consolas" pitchFamily="49" charset="0"/>
                <a:ea typeface="仿宋" pitchFamily="49" charset="-122"/>
              </a:rPr>
              <a:t>//ry</a:t>
            </a:r>
            <a:r>
              <a:rPr lang="zh-CN" altLang="zh-CN" sz="2000">
                <a:solidFill>
                  <a:srgbClr val="00B0F0"/>
                </a:solidFill>
                <a:latin typeface="Consolas" pitchFamily="49" charset="0"/>
                <a:ea typeface="仿宋" pitchFamily="49" charset="-122"/>
              </a:rPr>
              <a:t>结点作为</a:t>
            </a:r>
            <a:r>
              <a:rPr lang="en-US" altLang="zh-CN" sz="2000">
                <a:solidFill>
                  <a:srgbClr val="00B0F0"/>
                </a:solidFill>
                <a:latin typeface="Consolas" pitchFamily="49" charset="0"/>
                <a:ea typeface="仿宋" pitchFamily="49" charset="-122"/>
              </a:rPr>
              <a:t>rx</a:t>
            </a:r>
            <a:r>
              <a:rPr lang="zh-CN" altLang="zh-CN" sz="2000">
                <a:solidFill>
                  <a:srgbClr val="00B0F0"/>
                </a:solidFill>
                <a:latin typeface="Consolas" pitchFamily="49" charset="0"/>
                <a:ea typeface="仿宋" pitchFamily="49" charset="-122"/>
              </a:rPr>
              <a:t>的孩子</a:t>
            </a: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20</a:t>
            </a:fld>
            <a:r>
              <a:rPr lang="en-US" altLang="zh-CN"/>
              <a:t>/158</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608330"/>
            <a:ext cx="8858280" cy="3680596"/>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3000"/>
              </a:lnSpc>
              <a:spcBef>
                <a:spcPts val="0"/>
              </a:spcBef>
            </a:pPr>
            <a:r>
              <a:rPr lang="en-US" altLang="zh-CN" sz="2000">
                <a:solidFill>
                  <a:srgbClr val="0000FF"/>
                </a:solidFill>
                <a:latin typeface="Consolas" pitchFamily="49" charset="0"/>
                <a:ea typeface="仿宋" pitchFamily="49" charset="-122"/>
              </a:rPr>
              <a:t>struct </a:t>
            </a:r>
            <a:r>
              <a:rPr lang="en-US" altLang="zh-CN" sz="2000">
                <a:solidFill>
                  <a:srgbClr val="FF0000"/>
                </a:solidFill>
                <a:latin typeface="Consolas" pitchFamily="49" charset="0"/>
                <a:ea typeface="仿宋" pitchFamily="49" charset="-122"/>
              </a:rPr>
              <a:t>Edge</a:t>
            </a:r>
            <a:r>
              <a:rPr lang="en-US" altLang="zh-CN" sz="2000">
                <a:solidFill>
                  <a:srgbClr val="0000FF"/>
                </a:solidFill>
                <a:latin typeface="Consolas" pitchFamily="49" charset="0"/>
                <a:ea typeface="仿宋" pitchFamily="49" charset="-122"/>
              </a:rPr>
              <a:t>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边的类型</a:t>
            </a:r>
          </a:p>
          <a:p>
            <a:pPr algn="l" defTabSz="360000">
              <a:lnSpc>
                <a:spcPts val="3000"/>
              </a:lnSpc>
              <a:spcBef>
                <a:spcPts val="0"/>
              </a:spcBef>
            </a:pPr>
            <a:r>
              <a:rPr lang="en-US" altLang="zh-CN" sz="2000">
                <a:solidFill>
                  <a:srgbClr val="0000FF"/>
                </a:solidFill>
                <a:latin typeface="Consolas" pitchFamily="49" charset="0"/>
                <a:ea typeface="仿宋" pitchFamily="49" charset="-122"/>
              </a:rPr>
              <a:t>	int u;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边的起点</a:t>
            </a:r>
          </a:p>
          <a:p>
            <a:pPr algn="l" defTabSz="360000">
              <a:lnSpc>
                <a:spcPts val="3000"/>
              </a:lnSpc>
              <a:spcBef>
                <a:spcPts val="0"/>
              </a:spcBef>
            </a:pPr>
            <a:r>
              <a:rPr lang="en-US" altLang="zh-CN" sz="2000">
                <a:solidFill>
                  <a:srgbClr val="0000FF"/>
                </a:solidFill>
                <a:latin typeface="Consolas" pitchFamily="49" charset="0"/>
                <a:ea typeface="仿宋" pitchFamily="49" charset="-122"/>
              </a:rPr>
              <a:t>	int v;												</a:t>
            </a:r>
            <a:r>
              <a:rPr lang="en-US" altLang="zh-CN" sz="2000">
                <a:solidFill>
                  <a:srgbClr val="00B0F0"/>
                </a:solidFill>
                <a:latin typeface="Consolas" pitchFamily="49" charset="0"/>
                <a:ea typeface="仿宋" pitchFamily="49" charset="-122"/>
              </a:rPr>
              <a:t>	//</a:t>
            </a:r>
            <a:r>
              <a:rPr lang="zh-CN" altLang="zh-CN" sz="2000">
                <a:solidFill>
                  <a:srgbClr val="00B0F0"/>
                </a:solidFill>
                <a:latin typeface="Consolas" pitchFamily="49" charset="0"/>
                <a:ea typeface="仿宋" pitchFamily="49" charset="-122"/>
              </a:rPr>
              <a:t>边的终点</a:t>
            </a:r>
          </a:p>
          <a:p>
            <a:pPr algn="l" defTabSz="360000">
              <a:lnSpc>
                <a:spcPts val="3000"/>
              </a:lnSpc>
              <a:spcBef>
                <a:spcPts val="0"/>
              </a:spcBef>
            </a:pPr>
            <a:r>
              <a:rPr lang="en-US" altLang="zh-CN" sz="2000">
                <a:solidFill>
                  <a:srgbClr val="0000FF"/>
                </a:solidFill>
                <a:latin typeface="Consolas" pitchFamily="49" charset="0"/>
                <a:ea typeface="仿宋" pitchFamily="49" charset="-122"/>
              </a:rPr>
              <a:t>	int w;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边的权值</a:t>
            </a:r>
            <a:endParaRPr lang="en-US" altLang="zh-CN" sz="2000">
              <a:solidFill>
                <a:srgbClr val="00B0F0"/>
              </a:solidFill>
              <a:latin typeface="Consolas" pitchFamily="49" charset="0"/>
              <a:ea typeface="仿宋" pitchFamily="49" charset="-122"/>
            </a:endParaRPr>
          </a:p>
          <a:p>
            <a:pPr algn="l" defTabSz="360000">
              <a:lnSpc>
                <a:spcPts val="3000"/>
              </a:lnSpc>
              <a:spcBef>
                <a:spcPts val="0"/>
              </a:spcBef>
            </a:pP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bool </a:t>
            </a:r>
            <a:r>
              <a:rPr lang="en-US" altLang="zh-CN" sz="2000">
                <a:solidFill>
                  <a:srgbClr val="FF0000"/>
                </a:solidFill>
                <a:latin typeface="Consolas" pitchFamily="49" charset="0"/>
                <a:ea typeface="仿宋" pitchFamily="49" charset="-122"/>
              </a:rPr>
              <a:t>operator&lt;</a:t>
            </a:r>
            <a:r>
              <a:rPr lang="en-US" altLang="zh-CN" sz="2000">
                <a:solidFill>
                  <a:srgbClr val="0000FF"/>
                </a:solidFill>
                <a:latin typeface="Consolas" pitchFamily="49" charset="0"/>
                <a:ea typeface="仿宋" pitchFamily="49" charset="-122"/>
              </a:rPr>
              <a:t>(const Edge &amp;e) const	{</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return w&lt;e.w;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用于按</a:t>
            </a:r>
            <a:r>
              <a:rPr lang="en-US" altLang="zh-CN" sz="2000">
                <a:solidFill>
                  <a:srgbClr val="00B0F0"/>
                </a:solidFill>
                <a:latin typeface="Consolas" pitchFamily="49" charset="0"/>
                <a:ea typeface="仿宋" pitchFamily="49" charset="-122"/>
              </a:rPr>
              <a:t>w</a:t>
            </a:r>
            <a:r>
              <a:rPr lang="zh-CN" altLang="zh-CN" sz="2000">
                <a:solidFill>
                  <a:srgbClr val="00B0F0"/>
                </a:solidFill>
                <a:latin typeface="Consolas" pitchFamily="49" charset="0"/>
                <a:ea typeface="仿宋" pitchFamily="49" charset="-122"/>
              </a:rPr>
              <a:t>递增排序</a:t>
            </a:r>
          </a:p>
          <a:p>
            <a:pPr algn="l" defTabSz="360000">
              <a:lnSpc>
                <a:spcPts val="30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21</a:t>
            </a:fld>
            <a:r>
              <a:rPr lang="en-US" altLang="zh-CN"/>
              <a:t>/158</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608330"/>
            <a:ext cx="8858280" cy="4552629"/>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2600"/>
              </a:lnSpc>
              <a:spcBef>
                <a:spcPts val="0"/>
              </a:spcBef>
            </a:pPr>
            <a:r>
              <a:rPr lang="en-US" altLang="zh-CN" sz="2000">
                <a:solidFill>
                  <a:srgbClr val="0000FF"/>
                </a:solidFill>
                <a:latin typeface="Consolas" pitchFamily="49" charset="0"/>
                <a:ea typeface="仿宋" pitchFamily="49" charset="-122"/>
              </a:rPr>
              <a:t>void </a:t>
            </a:r>
            <a:r>
              <a:rPr lang="en-US" altLang="zh-CN" sz="2000">
                <a:solidFill>
                  <a:srgbClr val="FF0000"/>
                </a:solidFill>
                <a:latin typeface="Consolas" pitchFamily="49" charset="0"/>
                <a:ea typeface="仿宋" pitchFamily="49" charset="-122"/>
              </a:rPr>
              <a:t>Kruskal</a:t>
            </a:r>
            <a:r>
              <a:rPr lang="en-US" altLang="zh-CN" sz="2000">
                <a:solidFill>
                  <a:srgbClr val="0000FF"/>
                </a:solidFill>
                <a:latin typeface="Consolas" pitchFamily="49" charset="0"/>
                <a:ea typeface="仿宋" pitchFamily="49" charset="-122"/>
              </a:rPr>
              <a:t>(vector&lt;vector&lt;int&gt;&gt;&amp;A) {		</a:t>
            </a:r>
            <a:r>
              <a:rPr lang="en-US" altLang="zh-CN" sz="2000">
                <a:solidFill>
                  <a:srgbClr val="00B0F0"/>
                </a:solidFill>
                <a:latin typeface="Consolas" pitchFamily="49" charset="0"/>
                <a:ea typeface="仿宋" pitchFamily="49" charset="-122"/>
              </a:rPr>
              <a:t>//Kruskal</a:t>
            </a:r>
            <a:r>
              <a:rPr lang="zh-CN" altLang="zh-CN" sz="2000">
                <a:solidFill>
                  <a:srgbClr val="00B0F0"/>
                </a:solidFill>
                <a:latin typeface="Consolas" pitchFamily="49" charset="0"/>
                <a:ea typeface="仿宋" pitchFamily="49" charset="-122"/>
              </a:rPr>
              <a:t>算法</a:t>
            </a:r>
          </a:p>
          <a:p>
            <a:pPr algn="l" defTabSz="360000">
              <a:lnSpc>
                <a:spcPts val="2600"/>
              </a:lnSpc>
              <a:spcBef>
                <a:spcPts val="0"/>
              </a:spcBef>
            </a:pPr>
            <a:r>
              <a:rPr lang="en-US" altLang="zh-CN" sz="2000">
                <a:solidFill>
                  <a:srgbClr val="0000FF"/>
                </a:solidFill>
                <a:latin typeface="Consolas" pitchFamily="49" charset="0"/>
                <a:ea typeface="仿宋" pitchFamily="49" charset="-122"/>
              </a:rPr>
              <a:t>	int n=A.size();</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Edge E[10*MAXN];</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int k=0;</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for (int i=0;i&lt;n;i++)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由</a:t>
            </a:r>
            <a:r>
              <a:rPr lang="en-US" altLang="zh-CN" sz="2000">
                <a:solidFill>
                  <a:srgbClr val="00B0F0"/>
                </a:solidFill>
                <a:latin typeface="Consolas" pitchFamily="49" charset="0"/>
                <a:ea typeface="仿宋" pitchFamily="49" charset="-122"/>
              </a:rPr>
              <a:t>A</a:t>
            </a:r>
            <a:r>
              <a:rPr lang="zh-CN" altLang="zh-CN" sz="2000">
                <a:solidFill>
                  <a:srgbClr val="00B0F0"/>
                </a:solidFill>
                <a:latin typeface="Consolas" pitchFamily="49" charset="0"/>
                <a:ea typeface="仿宋" pitchFamily="49" charset="-122"/>
              </a:rPr>
              <a:t>下三角部分产生的边集</a:t>
            </a:r>
            <a:r>
              <a:rPr lang="en-US" altLang="zh-CN" sz="2000">
                <a:solidFill>
                  <a:srgbClr val="00B0F0"/>
                </a:solidFill>
                <a:latin typeface="Consolas" pitchFamily="49" charset="0"/>
                <a:ea typeface="仿宋" pitchFamily="49" charset="-122"/>
              </a:rPr>
              <a:t>E</a:t>
            </a:r>
            <a:endParaRPr lang="zh-CN" altLang="zh-CN" sz="2000">
              <a:solidFill>
                <a:srgbClr val="00B0F0"/>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for (int j=0;j&lt;i;j++)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if (A[i][j]!=0 &amp;&amp; A[i][j]!=INF)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E[k].u=i;E[k].v=j;E[k].w=A[i][j];</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k++;</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006600"/>
                </a:solidFill>
                <a:latin typeface="Consolas" pitchFamily="49" charset="0"/>
                <a:ea typeface="仿宋" pitchFamily="49" charset="-122"/>
              </a:rPr>
              <a:t>sort</a:t>
            </a:r>
            <a:r>
              <a:rPr lang="en-US" altLang="zh-CN" sz="2000">
                <a:solidFill>
                  <a:srgbClr val="0000FF"/>
                </a:solidFill>
                <a:latin typeface="Consolas" pitchFamily="49" charset="0"/>
                <a:ea typeface="仿宋" pitchFamily="49" charset="-122"/>
              </a:rPr>
              <a:t>(E,E+k);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按</a:t>
            </a:r>
            <a:r>
              <a:rPr lang="en-US" altLang="zh-CN" sz="2000">
                <a:solidFill>
                  <a:srgbClr val="00B0F0"/>
                </a:solidFill>
                <a:latin typeface="Consolas" pitchFamily="49" charset="0"/>
                <a:ea typeface="仿宋" pitchFamily="49" charset="-122"/>
              </a:rPr>
              <a:t>w</a:t>
            </a:r>
            <a:r>
              <a:rPr lang="zh-CN" altLang="zh-CN" sz="2000">
                <a:solidFill>
                  <a:srgbClr val="00B0F0"/>
                </a:solidFill>
                <a:latin typeface="Consolas" pitchFamily="49" charset="0"/>
                <a:ea typeface="仿宋" pitchFamily="49" charset="-122"/>
              </a:rPr>
              <a:t>递增排序</a:t>
            </a: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22</a:t>
            </a:fld>
            <a:r>
              <a:rPr lang="en-US" altLang="zh-CN"/>
              <a:t>/158</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608330"/>
            <a:ext cx="8858280" cy="5758088"/>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27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FF0000"/>
                </a:solidFill>
                <a:latin typeface="Consolas" pitchFamily="49" charset="0"/>
                <a:ea typeface="仿宋" pitchFamily="49" charset="-122"/>
              </a:rPr>
              <a:t>Init</a:t>
            </a:r>
            <a:r>
              <a:rPr lang="en-US" altLang="zh-CN" sz="2000">
                <a:solidFill>
                  <a:srgbClr val="0000FF"/>
                </a:solidFill>
                <a:latin typeface="Consolas" pitchFamily="49" charset="0"/>
                <a:ea typeface="仿宋" pitchFamily="49" charset="-122"/>
              </a:rPr>
              <a:t>(n);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初始化并查集</a:t>
            </a:r>
          </a:p>
          <a:p>
            <a:pPr algn="l" defTabSz="360000">
              <a:lnSpc>
                <a:spcPts val="2700"/>
              </a:lnSpc>
              <a:spcBef>
                <a:spcPts val="0"/>
              </a:spcBef>
            </a:pPr>
            <a:r>
              <a:rPr lang="en-US" altLang="zh-CN" sz="2000">
                <a:solidFill>
                  <a:srgbClr val="0000FF"/>
                </a:solidFill>
                <a:latin typeface="Consolas" pitchFamily="49" charset="0"/>
                <a:ea typeface="仿宋" pitchFamily="49" charset="-122"/>
              </a:rPr>
              <a:t>	k=1;										</a:t>
            </a:r>
            <a:r>
              <a:rPr lang="en-US" altLang="zh-CN" sz="2000">
                <a:solidFill>
                  <a:srgbClr val="00B0F0"/>
                </a:solidFill>
                <a:latin typeface="Consolas" pitchFamily="49" charset="0"/>
                <a:ea typeface="仿宋" pitchFamily="49" charset="-122"/>
              </a:rPr>
              <a:t>//k</a:t>
            </a:r>
            <a:r>
              <a:rPr lang="zh-CN" altLang="zh-CN" sz="2000">
                <a:solidFill>
                  <a:srgbClr val="00B0F0"/>
                </a:solidFill>
                <a:latin typeface="Consolas" pitchFamily="49" charset="0"/>
                <a:ea typeface="仿宋" pitchFamily="49" charset="-122"/>
              </a:rPr>
              <a:t>为当前构造生成树的第几条边</a:t>
            </a:r>
          </a:p>
          <a:p>
            <a:pPr algn="l" defTabSz="360000">
              <a:lnSpc>
                <a:spcPts val="2700"/>
              </a:lnSpc>
              <a:spcBef>
                <a:spcPts val="0"/>
              </a:spcBef>
            </a:pPr>
            <a:r>
              <a:rPr lang="en-US" altLang="zh-CN" sz="2000">
                <a:solidFill>
                  <a:srgbClr val="0000FF"/>
                </a:solidFill>
                <a:latin typeface="Consolas" pitchFamily="49" charset="0"/>
                <a:ea typeface="仿宋" pitchFamily="49" charset="-122"/>
              </a:rPr>
              <a:t>	int j=0;								</a:t>
            </a:r>
            <a:r>
              <a:rPr lang="en-US" altLang="zh-CN" sz="2000">
                <a:solidFill>
                  <a:srgbClr val="00B0F0"/>
                </a:solidFill>
                <a:latin typeface="Consolas" pitchFamily="49" charset="0"/>
                <a:ea typeface="仿宋" pitchFamily="49" charset="-122"/>
              </a:rPr>
              <a:t>//j</a:t>
            </a:r>
            <a:r>
              <a:rPr lang="zh-CN" altLang="zh-CN" sz="2000">
                <a:solidFill>
                  <a:srgbClr val="00B0F0"/>
                </a:solidFill>
                <a:latin typeface="Consolas" pitchFamily="49" charset="0"/>
                <a:ea typeface="仿宋" pitchFamily="49" charset="-122"/>
              </a:rPr>
              <a:t>为</a:t>
            </a:r>
            <a:r>
              <a:rPr lang="en-US" altLang="zh-CN" sz="2000">
                <a:solidFill>
                  <a:srgbClr val="00B0F0"/>
                </a:solidFill>
                <a:latin typeface="Consolas" pitchFamily="49" charset="0"/>
                <a:ea typeface="仿宋" pitchFamily="49" charset="-122"/>
              </a:rPr>
              <a:t>E</a:t>
            </a:r>
            <a:r>
              <a:rPr lang="zh-CN" altLang="zh-CN" sz="2000">
                <a:solidFill>
                  <a:srgbClr val="00B0F0"/>
                </a:solidFill>
                <a:latin typeface="Consolas" pitchFamily="49" charset="0"/>
                <a:ea typeface="仿宋" pitchFamily="49" charset="-122"/>
              </a:rPr>
              <a:t>中边的下标</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初值为</a:t>
            </a:r>
            <a:r>
              <a:rPr lang="en-US" altLang="zh-CN" sz="2000">
                <a:solidFill>
                  <a:srgbClr val="00B0F0"/>
                </a:solidFill>
                <a:latin typeface="Consolas" pitchFamily="49" charset="0"/>
                <a:ea typeface="仿宋" pitchFamily="49" charset="-122"/>
              </a:rPr>
              <a:t>0</a:t>
            </a:r>
            <a:endParaRPr lang="zh-CN" altLang="zh-CN" sz="2000">
              <a:solidFill>
                <a:srgbClr val="00B0F0"/>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while (k&lt;n)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生成的边数小于</a:t>
            </a:r>
            <a:r>
              <a:rPr lang="en-US" altLang="zh-CN" sz="2000">
                <a:solidFill>
                  <a:srgbClr val="00B0F0"/>
                </a:solidFill>
                <a:latin typeface="Consolas" pitchFamily="49" charset="0"/>
                <a:ea typeface="仿宋" pitchFamily="49" charset="-122"/>
              </a:rPr>
              <a:t>n</a:t>
            </a:r>
            <a:r>
              <a:rPr lang="zh-CN" altLang="zh-CN" sz="2000">
                <a:solidFill>
                  <a:srgbClr val="00B0F0"/>
                </a:solidFill>
                <a:latin typeface="Consolas" pitchFamily="49" charset="0"/>
                <a:ea typeface="仿宋" pitchFamily="49" charset="-122"/>
              </a:rPr>
              <a:t>时循环</a:t>
            </a:r>
          </a:p>
          <a:p>
            <a:pPr algn="l" defTabSz="360000">
              <a:lnSpc>
                <a:spcPts val="2700"/>
              </a:lnSpc>
              <a:spcBef>
                <a:spcPts val="0"/>
              </a:spcBef>
            </a:pPr>
            <a:r>
              <a:rPr lang="en-US" altLang="zh-CN" sz="2000">
                <a:solidFill>
                  <a:srgbClr val="0000FF"/>
                </a:solidFill>
                <a:latin typeface="Consolas" pitchFamily="49" charset="0"/>
                <a:ea typeface="仿宋" pitchFamily="49" charset="-122"/>
              </a:rPr>
              <a:t>		int u1=E[j].u;</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int v1=E[j].v;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取一条边的头尾顶点编号</a:t>
            </a:r>
            <a:r>
              <a:rPr lang="en-US" altLang="zh-CN" sz="2000">
                <a:solidFill>
                  <a:srgbClr val="00B0F0"/>
                </a:solidFill>
                <a:latin typeface="Consolas" pitchFamily="49" charset="0"/>
                <a:ea typeface="仿宋" pitchFamily="49" charset="-122"/>
              </a:rPr>
              <a:t>u1</a:t>
            </a:r>
            <a:r>
              <a:rPr lang="zh-CN" altLang="zh-CN" sz="2000">
                <a:solidFill>
                  <a:srgbClr val="00B0F0"/>
                </a:solidFill>
                <a:latin typeface="Consolas" pitchFamily="49" charset="0"/>
                <a:ea typeface="仿宋" pitchFamily="49" charset="-122"/>
              </a:rPr>
              <a:t>和</a:t>
            </a:r>
            <a:r>
              <a:rPr lang="en-US" altLang="zh-CN" sz="2000">
                <a:solidFill>
                  <a:srgbClr val="00B0F0"/>
                </a:solidFill>
                <a:latin typeface="Consolas" pitchFamily="49" charset="0"/>
                <a:ea typeface="仿宋" pitchFamily="49" charset="-122"/>
              </a:rPr>
              <a:t>v2</a:t>
            </a:r>
            <a:endParaRPr lang="zh-CN" altLang="zh-CN" sz="2000">
              <a:solidFill>
                <a:srgbClr val="00B0F0"/>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int sn1=</a:t>
            </a:r>
            <a:r>
              <a:rPr lang="en-US" altLang="zh-CN" sz="2000">
                <a:solidFill>
                  <a:srgbClr val="FF0000"/>
                </a:solidFill>
                <a:latin typeface="Consolas" pitchFamily="49" charset="0"/>
                <a:ea typeface="仿宋" pitchFamily="49" charset="-122"/>
              </a:rPr>
              <a:t>Find</a:t>
            </a:r>
            <a:r>
              <a:rPr lang="en-US" altLang="zh-CN" sz="2000">
                <a:solidFill>
                  <a:srgbClr val="0000FF"/>
                </a:solidFill>
                <a:latin typeface="Consolas" pitchFamily="49" charset="0"/>
                <a:ea typeface="仿宋" pitchFamily="49" charset="-122"/>
              </a:rPr>
              <a:t>(u1);</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int sn2=</a:t>
            </a:r>
            <a:r>
              <a:rPr lang="en-US" altLang="zh-CN" sz="2000">
                <a:solidFill>
                  <a:srgbClr val="FF0000"/>
                </a:solidFill>
                <a:latin typeface="Consolas" pitchFamily="49" charset="0"/>
                <a:ea typeface="仿宋" pitchFamily="49" charset="-122"/>
              </a:rPr>
              <a:t>Find</a:t>
            </a:r>
            <a:r>
              <a:rPr lang="en-US" altLang="zh-CN" sz="2000">
                <a:solidFill>
                  <a:srgbClr val="0000FF"/>
                </a:solidFill>
                <a:latin typeface="Consolas" pitchFamily="49" charset="0"/>
                <a:ea typeface="仿宋" pitchFamily="49" charset="-122"/>
              </a:rPr>
              <a:t>(v1);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分别得到两个顶点所属子集树编号</a:t>
            </a:r>
          </a:p>
          <a:p>
            <a:pPr algn="l" defTabSz="360000">
              <a:lnSpc>
                <a:spcPts val="2700"/>
              </a:lnSpc>
              <a:spcBef>
                <a:spcPts val="0"/>
              </a:spcBef>
            </a:pPr>
            <a:r>
              <a:rPr lang="en-US" altLang="zh-CN" sz="2000">
                <a:solidFill>
                  <a:srgbClr val="0000FF"/>
                </a:solidFill>
                <a:latin typeface="Consolas" pitchFamily="49" charset="0"/>
                <a:ea typeface="仿宋" pitchFamily="49" charset="-122"/>
              </a:rPr>
              <a:t>		if (</a:t>
            </a:r>
            <a:r>
              <a:rPr lang="en-US" altLang="zh-CN" sz="2000">
                <a:solidFill>
                  <a:srgbClr val="FF00FF"/>
                </a:solidFill>
                <a:latin typeface="Consolas" pitchFamily="49" charset="0"/>
                <a:ea typeface="仿宋" pitchFamily="49" charset="-122"/>
              </a:rPr>
              <a:t>sn1!=sn2</a:t>
            </a:r>
            <a:r>
              <a:rPr lang="en-US" altLang="zh-CN" sz="2000">
                <a:solidFill>
                  <a:srgbClr val="0000FF"/>
                </a:solidFill>
                <a:latin typeface="Consolas" pitchFamily="49" charset="0"/>
                <a:ea typeface="仿宋" pitchFamily="49" charset="-122"/>
              </a:rPr>
              <a:t>)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添加该边不会构成回路</a:t>
            </a:r>
          </a:p>
          <a:p>
            <a:pPr algn="l" defTabSz="360000">
              <a:lnSpc>
                <a:spcPts val="2700"/>
              </a:lnSpc>
              <a:spcBef>
                <a:spcPts val="0"/>
              </a:spcBef>
            </a:pPr>
            <a:r>
              <a:rPr lang="en-US" altLang="zh-CN" sz="2000">
                <a:solidFill>
                  <a:srgbClr val="0000FF"/>
                </a:solidFill>
                <a:latin typeface="Consolas" pitchFamily="49" charset="0"/>
                <a:ea typeface="仿宋" pitchFamily="49" charset="-122"/>
              </a:rPr>
              <a:t>			printf("  (%d,%d):%d\n",u1,v1,E[j].w);</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k++;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生成边数增</a:t>
            </a:r>
            <a:r>
              <a:rPr lang="en-US" altLang="zh-CN" sz="2000">
                <a:solidFill>
                  <a:srgbClr val="00B0F0"/>
                </a:solidFill>
                <a:latin typeface="Consolas" pitchFamily="49" charset="0"/>
                <a:ea typeface="仿宋" pitchFamily="49" charset="-122"/>
              </a:rPr>
              <a:t>1</a:t>
            </a:r>
            <a:endParaRPr lang="zh-CN" altLang="zh-CN" sz="2000">
              <a:solidFill>
                <a:srgbClr val="00B0F0"/>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FF0000"/>
                </a:solidFill>
                <a:latin typeface="Consolas" pitchFamily="49" charset="0"/>
                <a:ea typeface="仿宋" pitchFamily="49" charset="-122"/>
              </a:rPr>
              <a:t>Union</a:t>
            </a:r>
            <a:r>
              <a:rPr lang="en-US" altLang="zh-CN" sz="2000">
                <a:solidFill>
                  <a:srgbClr val="0000FF"/>
                </a:solidFill>
                <a:latin typeface="Consolas" pitchFamily="49" charset="0"/>
                <a:ea typeface="仿宋" pitchFamily="49" charset="-122"/>
              </a:rPr>
              <a:t>(sn1,sn2);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将</a:t>
            </a:r>
            <a:r>
              <a:rPr lang="en-US" altLang="zh-CN" sz="2000">
                <a:solidFill>
                  <a:srgbClr val="00B0F0"/>
                </a:solidFill>
                <a:latin typeface="Consolas" pitchFamily="49" charset="0"/>
                <a:ea typeface="仿宋" pitchFamily="49" charset="-122"/>
              </a:rPr>
              <a:t>sn1</a:t>
            </a:r>
            <a:r>
              <a:rPr lang="zh-CN" altLang="zh-CN" sz="2000">
                <a:solidFill>
                  <a:srgbClr val="00B0F0"/>
                </a:solidFill>
                <a:latin typeface="Consolas" pitchFamily="49" charset="0"/>
                <a:ea typeface="仿宋" pitchFamily="49" charset="-122"/>
              </a:rPr>
              <a:t>和</a:t>
            </a:r>
            <a:r>
              <a:rPr lang="en-US" altLang="zh-CN" sz="2000">
                <a:solidFill>
                  <a:srgbClr val="00B0F0"/>
                </a:solidFill>
                <a:latin typeface="Consolas" pitchFamily="49" charset="0"/>
                <a:ea typeface="仿宋" pitchFamily="49" charset="-122"/>
              </a:rPr>
              <a:t>sn1</a:t>
            </a:r>
            <a:r>
              <a:rPr lang="zh-CN" altLang="zh-CN" sz="2000">
                <a:solidFill>
                  <a:srgbClr val="00B0F0"/>
                </a:solidFill>
                <a:latin typeface="Consolas" pitchFamily="49" charset="0"/>
                <a:ea typeface="仿宋" pitchFamily="49" charset="-122"/>
              </a:rPr>
              <a:t>两个顶点合并</a:t>
            </a:r>
          </a:p>
          <a:p>
            <a:pPr algn="l" defTabSz="360000">
              <a:lnSpc>
                <a:spcPts val="27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j++;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遍历下一条边</a:t>
            </a:r>
          </a:p>
          <a:p>
            <a:pPr algn="l" defTabSz="360000">
              <a:lnSpc>
                <a:spcPts val="27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23</a:t>
            </a:fld>
            <a:r>
              <a:rPr lang="en-US" altLang="zh-CN"/>
              <a:t>/158</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85786" y="928670"/>
            <a:ext cx="7715304" cy="1246495"/>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000"/>
              </a:lnSpc>
              <a:spcBef>
                <a:spcPts val="0"/>
              </a:spcBef>
            </a:pPr>
            <a:r>
              <a:rPr lang="en-US" altLang="zh-CN" sz="2200">
                <a:solidFill>
                  <a:srgbClr val="FF0000"/>
                </a:solidFill>
                <a:latin typeface="Consolas" pitchFamily="49" charset="0"/>
                <a:ea typeface="楷体" pitchFamily="49" charset="-122"/>
                <a:sym typeface="Wingdings"/>
              </a:rPr>
              <a:t></a:t>
            </a:r>
            <a:r>
              <a:rPr lang="en-US" altLang="zh-CN" sz="2200">
                <a:solidFill>
                  <a:srgbClr val="FF0000"/>
                </a:solidFill>
                <a:latin typeface="Consolas" pitchFamily="49" charset="0"/>
                <a:ea typeface="楷体" pitchFamily="49" charset="-122"/>
              </a:rPr>
              <a:t>Kruskal</a:t>
            </a:r>
            <a:r>
              <a:rPr lang="zh-CN" altLang="zh-CN" sz="2200">
                <a:solidFill>
                  <a:srgbClr val="FF0000"/>
                </a:solidFill>
                <a:latin typeface="Consolas" pitchFamily="49" charset="0"/>
                <a:ea typeface="楷体" pitchFamily="49" charset="-122"/>
              </a:rPr>
              <a:t>算法分析</a:t>
            </a:r>
            <a:r>
              <a:rPr lang="zh-CN" altLang="zh-CN" sz="2200">
                <a:solidFill>
                  <a:srgbClr val="0000FF"/>
                </a:solidFill>
                <a:latin typeface="Consolas" pitchFamily="49" charset="0"/>
                <a:ea typeface="仿宋" pitchFamily="49" charset="-122"/>
              </a:rPr>
              <a:t>：时间复杂度为</a:t>
            </a:r>
            <a:r>
              <a:rPr lang="en-US" altLang="zh-CN" sz="2200">
                <a:solidFill>
                  <a:srgbClr val="0000FF"/>
                </a:solidFill>
                <a:latin typeface="Consolas" pitchFamily="49" charset="0"/>
                <a:ea typeface="仿宋" pitchFamily="49" charset="-122"/>
              </a:rPr>
              <a:t>O(</a:t>
            </a:r>
            <a:r>
              <a:rPr lang="en-US" altLang="zh-CN" sz="2200" i="1">
                <a:solidFill>
                  <a:srgbClr val="0000FF"/>
                </a:solidFill>
                <a:latin typeface="Consolas" pitchFamily="49" charset="0"/>
                <a:ea typeface="仿宋" pitchFamily="49" charset="-122"/>
              </a:rPr>
              <a:t>e</a:t>
            </a:r>
            <a:r>
              <a:rPr lang="en-US" altLang="zh-CN" sz="2200">
                <a:solidFill>
                  <a:srgbClr val="0000FF"/>
                </a:solidFill>
                <a:latin typeface="Consolas" pitchFamily="49" charset="0"/>
                <a:ea typeface="仿宋" pitchFamily="49" charset="-122"/>
              </a:rPr>
              <a:t>log</a:t>
            </a:r>
            <a:r>
              <a:rPr lang="en-US" altLang="zh-CN" sz="2200" baseline="-25000">
                <a:solidFill>
                  <a:srgbClr val="0000FF"/>
                </a:solidFill>
                <a:latin typeface="Consolas" pitchFamily="49" charset="0"/>
                <a:ea typeface="仿宋" pitchFamily="49" charset="-122"/>
              </a:rPr>
              <a:t>2</a:t>
            </a:r>
            <a:r>
              <a:rPr lang="en-US" altLang="zh-CN" sz="2200" i="1">
                <a:solidFill>
                  <a:srgbClr val="0000FF"/>
                </a:solidFill>
                <a:latin typeface="Consolas" pitchFamily="49" charset="0"/>
                <a:ea typeface="仿宋" pitchFamily="49" charset="-122"/>
              </a:rPr>
              <a:t>e</a:t>
            </a:r>
            <a:r>
              <a:rPr lang="en-US" altLang="zh-CN" sz="2200">
                <a:solidFill>
                  <a:srgbClr val="0000FF"/>
                </a:solidFill>
                <a:latin typeface="Consolas" pitchFamily="49" charset="0"/>
                <a:ea typeface="仿宋" pitchFamily="49" charset="-122"/>
              </a:rPr>
              <a:t>)</a:t>
            </a:r>
            <a:r>
              <a:rPr lang="zh-CN" altLang="zh-CN" sz="2200">
                <a:solidFill>
                  <a:srgbClr val="0000FF"/>
                </a:solidFill>
                <a:latin typeface="Consolas" pitchFamily="49" charset="0"/>
                <a:ea typeface="仿宋" pitchFamily="49" charset="-122"/>
              </a:rPr>
              <a:t>。从中看出执行时间与图顶点数</a:t>
            </a:r>
            <a:r>
              <a:rPr lang="en-US" altLang="zh-CN" sz="2200" i="1">
                <a:solidFill>
                  <a:srgbClr val="0000FF"/>
                </a:solidFill>
                <a:latin typeface="Consolas" pitchFamily="49" charset="0"/>
                <a:ea typeface="仿宋" pitchFamily="49" charset="-122"/>
              </a:rPr>
              <a:t>n</a:t>
            </a:r>
            <a:r>
              <a:rPr lang="zh-CN" altLang="zh-CN" sz="2200">
                <a:solidFill>
                  <a:srgbClr val="0000FF"/>
                </a:solidFill>
                <a:latin typeface="Consolas" pitchFamily="49" charset="0"/>
                <a:ea typeface="仿宋" pitchFamily="49" charset="-122"/>
              </a:rPr>
              <a:t>无关而与边数</a:t>
            </a:r>
            <a:r>
              <a:rPr lang="en-US" altLang="zh-CN" sz="2200" i="1">
                <a:solidFill>
                  <a:srgbClr val="0000FF"/>
                </a:solidFill>
                <a:latin typeface="Consolas" pitchFamily="49" charset="0"/>
                <a:ea typeface="仿宋" pitchFamily="49" charset="-122"/>
              </a:rPr>
              <a:t>e</a:t>
            </a:r>
            <a:r>
              <a:rPr lang="zh-CN" altLang="zh-CN" sz="2200">
                <a:solidFill>
                  <a:srgbClr val="0000FF"/>
                </a:solidFill>
                <a:latin typeface="Consolas" pitchFamily="49" charset="0"/>
                <a:ea typeface="仿宋" pitchFamily="49" charset="-122"/>
              </a:rPr>
              <a:t>相关，所以适合稀疏图构造最小生成树。</a:t>
            </a: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24</a:t>
            </a:fld>
            <a:r>
              <a:rPr lang="en-US" altLang="zh-CN"/>
              <a:t>/158</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ext Box 2"/>
          <p:cNvSpPr txBox="1">
            <a:spLocks noChangeArrowheads="1"/>
          </p:cNvSpPr>
          <p:nvPr/>
        </p:nvSpPr>
        <p:spPr bwMode="auto">
          <a:xfrm>
            <a:off x="395289" y="674974"/>
            <a:ext cx="4676778" cy="457200"/>
          </a:xfrm>
          <a:prstGeom prst="rect">
            <a:avLst/>
          </a:prstGeom>
          <a:solidFill>
            <a:srgbClr val="9900FF"/>
          </a:solidFill>
          <a:ln w="9525">
            <a:noFill/>
            <a:miter lim="800000"/>
            <a:headEnd/>
            <a:tailEnd/>
          </a:ln>
        </p:spPr>
        <p:txBody>
          <a:bodyPr wrap="square">
            <a:spAutoFit/>
          </a:bodyPr>
          <a:lstStyle/>
          <a:p>
            <a:pPr algn="ctr">
              <a:lnSpc>
                <a:spcPct val="100000"/>
              </a:lnSpc>
              <a:spcBef>
                <a:spcPct val="50000"/>
              </a:spcBef>
            </a:pPr>
            <a:r>
              <a:rPr lang="en-US" altLang="zh-CN">
                <a:solidFill>
                  <a:schemeClr val="bg1"/>
                </a:solidFill>
                <a:latin typeface="Consolas" pitchFamily="49" charset="0"/>
                <a:ea typeface="微软雅黑" pitchFamily="34" charset="-122"/>
                <a:cs typeface="Consolas" pitchFamily="49" charset="0"/>
              </a:rPr>
              <a:t>3. </a:t>
            </a:r>
            <a:r>
              <a:rPr lang="zh-CN" altLang="en-US">
                <a:solidFill>
                  <a:schemeClr val="bg1"/>
                </a:solidFill>
                <a:latin typeface="Consolas" pitchFamily="49" charset="0"/>
                <a:ea typeface="微软雅黑" pitchFamily="34" charset="-122"/>
                <a:cs typeface="Consolas" pitchFamily="49" charset="0"/>
              </a:rPr>
              <a:t>克鲁斯卡尔算法的正确性证明</a:t>
            </a:r>
          </a:p>
        </p:txBody>
      </p:sp>
      <p:sp>
        <p:nvSpPr>
          <p:cNvPr id="73731" name="Text Box 3"/>
          <p:cNvSpPr txBox="1">
            <a:spLocks noChangeArrowheads="1"/>
          </p:cNvSpPr>
          <p:nvPr/>
        </p:nvSpPr>
        <p:spPr bwMode="auto">
          <a:xfrm>
            <a:off x="468313" y="1467137"/>
            <a:ext cx="8207375" cy="461665"/>
          </a:xfrm>
          <a:prstGeom prst="rect">
            <a:avLst/>
          </a:prstGeom>
          <a:noFill/>
          <a:ln w="9525">
            <a:noFill/>
            <a:miter lim="800000"/>
            <a:headEnd/>
            <a:tailEnd/>
          </a:ln>
        </p:spPr>
        <p:txBody>
          <a:bodyPr>
            <a:spAutoFit/>
          </a:bodyPr>
          <a:lstStyle/>
          <a:p>
            <a:pPr algn="l">
              <a:lnSpc>
                <a:spcPct val="100000"/>
              </a:lnSpc>
            </a:pPr>
            <a:r>
              <a:rPr lang="en-US" altLang="zh-CN">
                <a:solidFill>
                  <a:srgbClr val="0000FF"/>
                </a:solidFill>
                <a:latin typeface="Consolas" pitchFamily="49" charset="0"/>
                <a:ea typeface="仿宋" pitchFamily="49" charset="-122"/>
              </a:rPr>
              <a:t>Kruskal</a:t>
            </a:r>
            <a:r>
              <a:rPr lang="zh-CN" altLang="zh-CN">
                <a:solidFill>
                  <a:srgbClr val="0000FF"/>
                </a:solidFill>
                <a:latin typeface="Consolas" pitchFamily="49" charset="0"/>
                <a:ea typeface="仿宋" pitchFamily="49" charset="-122"/>
              </a:rPr>
              <a:t>算法的正确性证明与</a:t>
            </a:r>
            <a:r>
              <a:rPr lang="en-US" altLang="zh-CN">
                <a:solidFill>
                  <a:srgbClr val="0000FF"/>
                </a:solidFill>
                <a:latin typeface="Consolas" pitchFamily="49" charset="0"/>
                <a:ea typeface="仿宋" pitchFamily="49" charset="-122"/>
              </a:rPr>
              <a:t>Prim</a:t>
            </a:r>
            <a:r>
              <a:rPr lang="zh-CN" altLang="zh-CN">
                <a:solidFill>
                  <a:srgbClr val="0000FF"/>
                </a:solidFill>
                <a:latin typeface="Consolas" pitchFamily="49" charset="0"/>
                <a:ea typeface="仿宋" pitchFamily="49" charset="-122"/>
              </a:rPr>
              <a:t>算法类似，这里不再讨论。</a:t>
            </a: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25</a:t>
            </a:fld>
            <a:r>
              <a:rPr lang="en-US" altLang="zh-CN"/>
              <a:t>/158</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28596" y="1142984"/>
            <a:ext cx="8429684" cy="4742837"/>
          </a:xfrm>
          <a:prstGeom prst="rect">
            <a:avLst/>
          </a:prstGeom>
          <a:ln>
            <a:solidFill>
              <a:schemeClr val="accent6">
                <a:lumMod val="20000"/>
                <a:lumOff val="8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200"/>
              </a:lnSpc>
              <a:spcBef>
                <a:spcPts val="600"/>
              </a:spcBef>
            </a:pPr>
            <a:r>
              <a:rPr lang="zh-CN" altLang="zh-CN">
                <a:solidFill>
                  <a:srgbClr val="FF0000"/>
                </a:solidFill>
                <a:latin typeface="Consolas" pitchFamily="49" charset="0"/>
                <a:ea typeface="楷体" pitchFamily="49" charset="-122"/>
              </a:rPr>
              <a:t>【例</a:t>
            </a:r>
            <a:r>
              <a:rPr lang="en-US" altLang="zh-CN">
                <a:solidFill>
                  <a:srgbClr val="FF0000"/>
                </a:solidFill>
                <a:latin typeface="Consolas" pitchFamily="49" charset="0"/>
                <a:ea typeface="楷体" pitchFamily="49" charset="-122"/>
              </a:rPr>
              <a:t>9.1</a:t>
            </a:r>
            <a:r>
              <a:rPr lang="zh-CN" altLang="zh-CN">
                <a:solidFill>
                  <a:srgbClr val="FF0000"/>
                </a:solidFill>
                <a:latin typeface="Consolas" pitchFamily="49" charset="0"/>
                <a:ea typeface="楷体" pitchFamily="49" charset="-122"/>
              </a:rPr>
              <a:t>】</a:t>
            </a:r>
            <a:r>
              <a:rPr lang="zh-CN" altLang="zh-CN">
                <a:solidFill>
                  <a:srgbClr val="0000FF"/>
                </a:solidFill>
                <a:latin typeface="Consolas" pitchFamily="49" charset="0"/>
                <a:ea typeface="仿宋" pitchFamily="49" charset="-122"/>
              </a:rPr>
              <a:t>连接所有点的最小费用（</a:t>
            </a:r>
            <a:r>
              <a:rPr lang="en-US" altLang="zh-CN">
                <a:solidFill>
                  <a:srgbClr val="0000FF"/>
                </a:solidFill>
                <a:latin typeface="Consolas" pitchFamily="49" charset="0"/>
                <a:ea typeface="仿宋" pitchFamily="49" charset="-122"/>
              </a:rPr>
              <a:t>LeetCode1584</a:t>
            </a:r>
            <a:r>
              <a:rPr lang="zh-CN" altLang="zh-CN">
                <a:solidFill>
                  <a:srgbClr val="0000FF"/>
                </a:solidFill>
                <a:latin typeface="Consolas" pitchFamily="49" charset="0"/>
                <a:ea typeface="仿宋" pitchFamily="49" charset="-122"/>
              </a:rPr>
              <a:t>★★）。给定一个</a:t>
            </a:r>
            <a:r>
              <a:rPr lang="en-US" altLang="zh-CN">
                <a:solidFill>
                  <a:srgbClr val="0000FF"/>
                </a:solidFill>
                <a:latin typeface="Consolas" pitchFamily="49" charset="0"/>
                <a:ea typeface="仿宋" pitchFamily="49" charset="-122"/>
              </a:rPr>
              <a:t>points</a:t>
            </a:r>
            <a:r>
              <a:rPr lang="zh-CN" altLang="zh-CN">
                <a:solidFill>
                  <a:srgbClr val="0000FF"/>
                </a:solidFill>
                <a:latin typeface="Consolas" pitchFamily="49" charset="0"/>
                <a:ea typeface="仿宋" pitchFamily="49" charset="-122"/>
              </a:rPr>
              <a:t>数组（</a:t>
            </a:r>
            <a:r>
              <a:rPr lang="en-US" altLang="zh-CN">
                <a:solidFill>
                  <a:srgbClr val="0000FF"/>
                </a:solidFill>
                <a:latin typeface="Consolas" pitchFamily="49" charset="0"/>
                <a:ea typeface="仿宋" pitchFamily="49" charset="-122"/>
              </a:rPr>
              <a:t>1</a:t>
            </a:r>
            <a:r>
              <a:rPr lang="zh-CN" altLang="zh-CN">
                <a:solidFill>
                  <a:srgbClr val="0000FF"/>
                </a:solidFill>
                <a:latin typeface="+mn-ea"/>
              </a:rPr>
              <a:t>≤</a:t>
            </a:r>
            <a:r>
              <a:rPr lang="en-US" altLang="zh-CN">
                <a:solidFill>
                  <a:srgbClr val="0000FF"/>
                </a:solidFill>
                <a:latin typeface="Consolas" pitchFamily="49" charset="0"/>
                <a:ea typeface="仿宋" pitchFamily="49" charset="-122"/>
              </a:rPr>
              <a:t>points.length</a:t>
            </a:r>
            <a:r>
              <a:rPr lang="zh-CN" altLang="zh-CN">
                <a:solidFill>
                  <a:srgbClr val="0000FF"/>
                </a:solidFill>
                <a:latin typeface="+mn-ea"/>
              </a:rPr>
              <a:t>≤</a:t>
            </a:r>
            <a:r>
              <a:rPr lang="en-US" altLang="zh-CN">
                <a:solidFill>
                  <a:srgbClr val="0000FF"/>
                </a:solidFill>
                <a:latin typeface="Consolas" pitchFamily="49" charset="0"/>
                <a:ea typeface="仿宋" pitchFamily="49" charset="-122"/>
              </a:rPr>
              <a:t>1000</a:t>
            </a:r>
            <a:r>
              <a:rPr lang="zh-CN" altLang="zh-CN">
                <a:solidFill>
                  <a:srgbClr val="0000FF"/>
                </a:solidFill>
                <a:latin typeface="Consolas" pitchFamily="49" charset="0"/>
                <a:ea typeface="仿宋" pitchFamily="49" charset="-122"/>
              </a:rPr>
              <a:t>）表示二维平面上的一些点，其中</a:t>
            </a:r>
            <a:r>
              <a:rPr lang="en-US" altLang="zh-CN">
                <a:solidFill>
                  <a:srgbClr val="0000FF"/>
                </a:solidFill>
                <a:latin typeface="Consolas" pitchFamily="49" charset="0"/>
                <a:ea typeface="仿宋" pitchFamily="49" charset="-122"/>
              </a:rPr>
              <a:t>points[</a:t>
            </a:r>
            <a:r>
              <a:rPr lang="en-US" altLang="zh-CN" i="1">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x</a:t>
            </a:r>
            <a:r>
              <a:rPr lang="en-US" altLang="zh-CN" i="1" baseline="-25000">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y</a:t>
            </a:r>
            <a:r>
              <a:rPr lang="en-US" altLang="zh-CN" i="1" baseline="-25000">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-10^6</a:t>
            </a:r>
            <a:r>
              <a:rPr lang="zh-CN" altLang="zh-CN">
                <a:solidFill>
                  <a:srgbClr val="0000FF"/>
                </a:solidFill>
                <a:latin typeface="+mn-ea"/>
              </a:rPr>
              <a:t>≤</a:t>
            </a:r>
            <a:r>
              <a:rPr lang="en-US" altLang="zh-CN">
                <a:solidFill>
                  <a:srgbClr val="0000FF"/>
                </a:solidFill>
                <a:latin typeface="Consolas" pitchFamily="49" charset="0"/>
                <a:ea typeface="仿宋" pitchFamily="49" charset="-122"/>
              </a:rPr>
              <a:t>x</a:t>
            </a:r>
            <a:r>
              <a:rPr lang="en-US" altLang="zh-CN" i="1" baseline="-25000">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y</a:t>
            </a:r>
            <a:r>
              <a:rPr lang="en-US" altLang="zh-CN" i="1" baseline="-25000">
                <a:solidFill>
                  <a:srgbClr val="0000FF"/>
                </a:solidFill>
                <a:latin typeface="Consolas" pitchFamily="49" charset="0"/>
                <a:ea typeface="仿宋" pitchFamily="49" charset="-122"/>
              </a:rPr>
              <a:t>i</a:t>
            </a:r>
            <a:r>
              <a:rPr lang="zh-CN" altLang="zh-CN">
                <a:solidFill>
                  <a:srgbClr val="0000FF"/>
                </a:solidFill>
                <a:latin typeface="+mj-ea"/>
                <a:ea typeface="+mj-ea"/>
              </a:rPr>
              <a:t>≤</a:t>
            </a:r>
            <a:r>
              <a:rPr lang="en-US" altLang="zh-CN">
                <a:solidFill>
                  <a:srgbClr val="0000FF"/>
                </a:solidFill>
                <a:latin typeface="Consolas" pitchFamily="49" charset="0"/>
                <a:ea typeface="仿宋" pitchFamily="49" charset="-122"/>
              </a:rPr>
              <a:t>10^6</a:t>
            </a:r>
            <a:r>
              <a:rPr lang="zh-CN" altLang="zh-CN">
                <a:solidFill>
                  <a:srgbClr val="0000FF"/>
                </a:solidFill>
                <a:latin typeface="Consolas" pitchFamily="49" charset="0"/>
                <a:ea typeface="仿宋" pitchFamily="49" charset="-122"/>
              </a:rPr>
              <a:t>）。连接两个点</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x</a:t>
            </a:r>
            <a:r>
              <a:rPr lang="en-US" altLang="zh-CN" i="1" baseline="-25000">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y</a:t>
            </a:r>
            <a:r>
              <a:rPr lang="en-US" altLang="zh-CN" i="1" baseline="-25000">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和</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x</a:t>
            </a:r>
            <a:r>
              <a:rPr lang="en-US" altLang="zh-CN" i="1" baseline="-25000">
                <a:solidFill>
                  <a:srgbClr val="0000FF"/>
                </a:solidFill>
                <a:latin typeface="Consolas" pitchFamily="49" charset="0"/>
                <a:ea typeface="仿宋" pitchFamily="49" charset="-122"/>
              </a:rPr>
              <a:t>j</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y</a:t>
            </a:r>
            <a:r>
              <a:rPr lang="en-US" altLang="zh-CN" i="1" baseline="-25000">
                <a:solidFill>
                  <a:srgbClr val="0000FF"/>
                </a:solidFill>
                <a:latin typeface="Consolas" pitchFamily="49" charset="0"/>
                <a:ea typeface="仿宋" pitchFamily="49" charset="-122"/>
              </a:rPr>
              <a:t>j</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的费用为它们之间的曼哈顿距离即</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x</a:t>
            </a:r>
            <a:r>
              <a:rPr lang="en-US" altLang="zh-CN" i="1" baseline="-25000">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x</a:t>
            </a:r>
            <a:r>
              <a:rPr lang="en-US" altLang="zh-CN" i="1" baseline="-25000">
                <a:solidFill>
                  <a:srgbClr val="0000FF"/>
                </a:solidFill>
                <a:latin typeface="Consolas" pitchFamily="49" charset="0"/>
                <a:ea typeface="仿宋" pitchFamily="49" charset="-122"/>
              </a:rPr>
              <a:t>j</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y</a:t>
            </a:r>
            <a:r>
              <a:rPr lang="en-US" altLang="zh-CN" i="1" baseline="-25000">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y</a:t>
            </a:r>
            <a:r>
              <a:rPr lang="en-US" altLang="zh-CN" i="1" baseline="-25000">
                <a:solidFill>
                  <a:srgbClr val="0000FF"/>
                </a:solidFill>
                <a:latin typeface="Consolas" pitchFamily="49" charset="0"/>
                <a:ea typeface="仿宋" pitchFamily="49" charset="-122"/>
              </a:rPr>
              <a:t>j</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。求将所有点连接的最小总费用，只有任意两点之间有且仅有一条简单路径时才认为所有点都已连接。</a:t>
            </a:r>
            <a:endParaRPr lang="en-US" altLang="zh-CN">
              <a:solidFill>
                <a:srgbClr val="0000FF"/>
              </a:solidFill>
              <a:latin typeface="Consolas" pitchFamily="49" charset="0"/>
              <a:ea typeface="仿宋" pitchFamily="49" charset="-122"/>
            </a:endParaRPr>
          </a:p>
          <a:p>
            <a:pPr algn="l">
              <a:lnSpc>
                <a:spcPts val="3200"/>
              </a:lnSpc>
              <a:spcBef>
                <a:spcPts val="600"/>
              </a:spcBef>
            </a:pPr>
            <a:r>
              <a:rPr lang="en-US" altLang="zh-CN">
                <a:solidFill>
                  <a:srgbClr val="0000FF"/>
                </a:solidFill>
                <a:latin typeface="Consolas" pitchFamily="49" charset="0"/>
                <a:ea typeface="仿宋" pitchFamily="49" charset="-122"/>
              </a:rPr>
              <a:t>   </a:t>
            </a:r>
            <a:r>
              <a:rPr lang="zh-CN" altLang="zh-CN">
                <a:solidFill>
                  <a:srgbClr val="0000FF"/>
                </a:solidFill>
                <a:latin typeface="Consolas" pitchFamily="49" charset="0"/>
                <a:ea typeface="仿宋" pitchFamily="49" charset="-122"/>
              </a:rPr>
              <a:t>例如，</a:t>
            </a:r>
            <a:r>
              <a:rPr lang="en-US" altLang="zh-CN">
                <a:solidFill>
                  <a:srgbClr val="0000FF"/>
                </a:solidFill>
                <a:latin typeface="Consolas" pitchFamily="49" charset="0"/>
                <a:ea typeface="仿宋" pitchFamily="49" charset="-122"/>
              </a:rPr>
              <a:t>points={{0</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{3</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10}</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{5</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{7</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，答案为</a:t>
            </a:r>
            <a:r>
              <a:rPr lang="en-US" altLang="zh-CN">
                <a:solidFill>
                  <a:srgbClr val="0000FF"/>
                </a:solidFill>
                <a:latin typeface="Consolas" pitchFamily="49" charset="0"/>
                <a:ea typeface="仿宋" pitchFamily="49" charset="-122"/>
              </a:rPr>
              <a:t>20</a:t>
            </a:r>
            <a:r>
              <a:rPr lang="zh-CN" altLang="zh-CN">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algn="l"/>
            <a:r>
              <a:rPr lang="en-US" altLang="zh-CN">
                <a:solidFill>
                  <a:srgbClr val="0000FF"/>
                </a:solidFill>
                <a:latin typeface="Consolas" pitchFamily="49" charset="0"/>
                <a:ea typeface="仿宋" pitchFamily="49" charset="-122"/>
              </a:rPr>
              <a:t>  </a:t>
            </a:r>
            <a:r>
              <a:rPr lang="zh-CN" altLang="zh-CN">
                <a:solidFill>
                  <a:srgbClr val="0000FF"/>
                </a:solidFill>
                <a:latin typeface="Consolas" pitchFamily="49" charset="0"/>
                <a:ea typeface="仿宋" pitchFamily="49" charset="-122"/>
              </a:rPr>
              <a:t>要求设计如下成员函数：</a:t>
            </a:r>
          </a:p>
          <a:p>
            <a:pPr algn="l"/>
            <a:r>
              <a:rPr lang="en-US" altLang="zh-CN" sz="2000">
                <a:solidFill>
                  <a:srgbClr val="006600"/>
                </a:solidFill>
                <a:latin typeface="Consolas" pitchFamily="49" charset="0"/>
                <a:ea typeface="仿宋" pitchFamily="49" charset="-122"/>
              </a:rPr>
              <a:t>  int minCostConnectPoints(vector&lt;vector&lt;int&gt;&gt;&amp; points) {}</a:t>
            </a:r>
            <a:endParaRPr lang="zh-CN" altLang="zh-CN">
              <a:solidFill>
                <a:srgbClr val="0000FF"/>
              </a:solidFill>
              <a:latin typeface="Consolas" pitchFamily="49" charset="0"/>
              <a:ea typeface="仿宋" pitchFamily="49" charset="-122"/>
            </a:endParaRPr>
          </a:p>
        </p:txBody>
      </p:sp>
      <p:grpSp>
        <p:nvGrpSpPr>
          <p:cNvPr id="5" name="组合 4"/>
          <p:cNvGrpSpPr/>
          <p:nvPr/>
        </p:nvGrpSpPr>
        <p:grpSpPr>
          <a:xfrm>
            <a:off x="214282" y="1"/>
            <a:ext cx="1000132" cy="1000108"/>
            <a:chOff x="857224" y="1071546"/>
            <a:chExt cx="1041400" cy="1044575"/>
          </a:xfrm>
        </p:grpSpPr>
        <p:sp>
          <p:nvSpPr>
            <p:cNvPr id="6" name="Freeform 8"/>
            <p:cNvSpPr>
              <a:spLocks noEditPoints="1"/>
            </p:cNvSpPr>
            <p:nvPr/>
          </p:nvSpPr>
          <p:spPr bwMode="auto">
            <a:xfrm>
              <a:off x="857224" y="1071546"/>
              <a:ext cx="1041400" cy="1044575"/>
            </a:xfrm>
            <a:custGeom>
              <a:avLst/>
              <a:gdLst>
                <a:gd name="T0" fmla="*/ 964145 w 337"/>
                <a:gd name="T1" fmla="*/ 540830 h 338"/>
                <a:gd name="T2" fmla="*/ 964145 w 337"/>
                <a:gd name="T3" fmla="*/ 494473 h 338"/>
                <a:gd name="T4" fmla="*/ 1041400 w 337"/>
                <a:gd name="T5" fmla="*/ 441936 h 338"/>
                <a:gd name="T6" fmla="*/ 1007408 w 337"/>
                <a:gd name="T7" fmla="*/ 321408 h 338"/>
                <a:gd name="T8" fmla="*/ 914701 w 337"/>
                <a:gd name="T9" fmla="*/ 318317 h 338"/>
                <a:gd name="T10" fmla="*/ 889980 w 337"/>
                <a:gd name="T11" fmla="*/ 275051 h 338"/>
                <a:gd name="T12" fmla="*/ 930153 w 337"/>
                <a:gd name="T13" fmla="*/ 191608 h 338"/>
                <a:gd name="T14" fmla="*/ 843627 w 337"/>
                <a:gd name="T15" fmla="*/ 105076 h 338"/>
                <a:gd name="T16" fmla="*/ 760191 w 337"/>
                <a:gd name="T17" fmla="*/ 148342 h 338"/>
                <a:gd name="T18" fmla="*/ 716928 w 337"/>
                <a:gd name="T19" fmla="*/ 123618 h 338"/>
                <a:gd name="T20" fmla="*/ 710748 w 337"/>
                <a:gd name="T21" fmla="*/ 30905 h 338"/>
                <a:gd name="T22" fmla="*/ 652034 w 337"/>
                <a:gd name="T23" fmla="*/ 15452 h 338"/>
                <a:gd name="T24" fmla="*/ 590230 w 337"/>
                <a:gd name="T25" fmla="*/ 0 h 338"/>
                <a:gd name="T26" fmla="*/ 540786 w 337"/>
                <a:gd name="T27" fmla="*/ 77261 h 338"/>
                <a:gd name="T28" fmla="*/ 494433 w 337"/>
                <a:gd name="T29" fmla="*/ 77261 h 338"/>
                <a:gd name="T30" fmla="*/ 441900 w 337"/>
                <a:gd name="T31" fmla="*/ 3090 h 338"/>
                <a:gd name="T32" fmla="*/ 321382 w 337"/>
                <a:gd name="T33" fmla="*/ 33995 h 338"/>
                <a:gd name="T34" fmla="*/ 318291 w 337"/>
                <a:gd name="T35" fmla="*/ 126709 h 338"/>
                <a:gd name="T36" fmla="*/ 275028 w 337"/>
                <a:gd name="T37" fmla="*/ 151432 h 338"/>
                <a:gd name="T38" fmla="*/ 191593 w 337"/>
                <a:gd name="T39" fmla="*/ 111257 h 338"/>
                <a:gd name="T40" fmla="*/ 105067 w 337"/>
                <a:gd name="T41" fmla="*/ 200880 h 338"/>
                <a:gd name="T42" fmla="*/ 148330 w 337"/>
                <a:gd name="T43" fmla="*/ 281232 h 338"/>
                <a:gd name="T44" fmla="*/ 123608 w 337"/>
                <a:gd name="T45" fmla="*/ 324498 h 338"/>
                <a:gd name="T46" fmla="*/ 30902 w 337"/>
                <a:gd name="T47" fmla="*/ 330679 h 338"/>
                <a:gd name="T48" fmla="*/ 15451 w 337"/>
                <a:gd name="T49" fmla="*/ 392488 h 338"/>
                <a:gd name="T50" fmla="*/ 0 w 337"/>
                <a:gd name="T51" fmla="*/ 451207 h 338"/>
                <a:gd name="T52" fmla="*/ 77255 w 337"/>
                <a:gd name="T53" fmla="*/ 500654 h 338"/>
                <a:gd name="T54" fmla="*/ 77255 w 337"/>
                <a:gd name="T55" fmla="*/ 550102 h 338"/>
                <a:gd name="T56" fmla="*/ 0 w 337"/>
                <a:gd name="T57" fmla="*/ 602639 h 338"/>
                <a:gd name="T58" fmla="*/ 33992 w 337"/>
                <a:gd name="T59" fmla="*/ 723167 h 338"/>
                <a:gd name="T60" fmla="*/ 126699 w 337"/>
                <a:gd name="T61" fmla="*/ 726258 h 338"/>
                <a:gd name="T62" fmla="*/ 151420 w 337"/>
                <a:gd name="T63" fmla="*/ 766434 h 338"/>
                <a:gd name="T64" fmla="*/ 111247 w 337"/>
                <a:gd name="T65" fmla="*/ 849876 h 338"/>
                <a:gd name="T66" fmla="*/ 200864 w 337"/>
                <a:gd name="T67" fmla="*/ 939499 h 338"/>
                <a:gd name="T68" fmla="*/ 281209 w 337"/>
                <a:gd name="T69" fmla="*/ 896233 h 338"/>
                <a:gd name="T70" fmla="*/ 324472 w 337"/>
                <a:gd name="T71" fmla="*/ 920957 h 338"/>
                <a:gd name="T72" fmla="*/ 330652 w 337"/>
                <a:gd name="T73" fmla="*/ 1013670 h 338"/>
                <a:gd name="T74" fmla="*/ 389366 w 337"/>
                <a:gd name="T75" fmla="*/ 1029123 h 338"/>
                <a:gd name="T76" fmla="*/ 451170 w 337"/>
                <a:gd name="T77" fmla="*/ 1044575 h 338"/>
                <a:gd name="T78" fmla="*/ 500614 w 337"/>
                <a:gd name="T79" fmla="*/ 964223 h 338"/>
                <a:gd name="T80" fmla="*/ 550057 w 337"/>
                <a:gd name="T81" fmla="*/ 964223 h 338"/>
                <a:gd name="T82" fmla="*/ 602591 w 337"/>
                <a:gd name="T83" fmla="*/ 1041485 h 338"/>
                <a:gd name="T84" fmla="*/ 720018 w 337"/>
                <a:gd name="T85" fmla="*/ 1007489 h 338"/>
                <a:gd name="T86" fmla="*/ 726199 w 337"/>
                <a:gd name="T87" fmla="*/ 914776 h 338"/>
                <a:gd name="T88" fmla="*/ 766372 w 337"/>
                <a:gd name="T89" fmla="*/ 890052 h 338"/>
                <a:gd name="T90" fmla="*/ 849807 w 337"/>
                <a:gd name="T91" fmla="*/ 933318 h 338"/>
                <a:gd name="T92" fmla="*/ 936333 w 337"/>
                <a:gd name="T93" fmla="*/ 843695 h 338"/>
                <a:gd name="T94" fmla="*/ 896160 w 337"/>
                <a:gd name="T95" fmla="*/ 760253 h 338"/>
                <a:gd name="T96" fmla="*/ 917792 w 337"/>
                <a:gd name="T97" fmla="*/ 720077 h 338"/>
                <a:gd name="T98" fmla="*/ 1010498 w 337"/>
                <a:gd name="T99" fmla="*/ 713896 h 338"/>
                <a:gd name="T100" fmla="*/ 1025949 w 337"/>
                <a:gd name="T101" fmla="*/ 652087 h 338"/>
                <a:gd name="T102" fmla="*/ 1041400 w 337"/>
                <a:gd name="T103" fmla="*/ 593368 h 338"/>
                <a:gd name="T104" fmla="*/ 964145 w 337"/>
                <a:gd name="T105" fmla="*/ 540830 h 338"/>
                <a:gd name="T106" fmla="*/ 432629 w 337"/>
                <a:gd name="T107" fmla="*/ 868419 h 338"/>
                <a:gd name="T108" fmla="*/ 176142 w 337"/>
                <a:gd name="T109" fmla="*/ 432664 h 338"/>
                <a:gd name="T110" fmla="*/ 611861 w 337"/>
                <a:gd name="T111" fmla="*/ 176156 h 338"/>
                <a:gd name="T112" fmla="*/ 868348 w 337"/>
                <a:gd name="T113" fmla="*/ 611911 h 338"/>
                <a:gd name="T114" fmla="*/ 432629 w 337"/>
                <a:gd name="T115" fmla="*/ 868419 h 338"/>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337" h="338">
                  <a:moveTo>
                    <a:pt x="312" y="175"/>
                  </a:moveTo>
                  <a:cubicBezTo>
                    <a:pt x="312" y="170"/>
                    <a:pt x="312" y="165"/>
                    <a:pt x="312" y="160"/>
                  </a:cubicBezTo>
                  <a:cubicBezTo>
                    <a:pt x="337" y="143"/>
                    <a:pt x="337" y="143"/>
                    <a:pt x="337" y="143"/>
                  </a:cubicBezTo>
                  <a:cubicBezTo>
                    <a:pt x="326" y="104"/>
                    <a:pt x="326" y="104"/>
                    <a:pt x="326" y="104"/>
                  </a:cubicBezTo>
                  <a:cubicBezTo>
                    <a:pt x="296" y="103"/>
                    <a:pt x="296" y="103"/>
                    <a:pt x="296" y="103"/>
                  </a:cubicBezTo>
                  <a:cubicBezTo>
                    <a:pt x="294" y="98"/>
                    <a:pt x="291" y="94"/>
                    <a:pt x="288" y="89"/>
                  </a:cubicBezTo>
                  <a:cubicBezTo>
                    <a:pt x="301" y="62"/>
                    <a:pt x="301" y="62"/>
                    <a:pt x="301" y="62"/>
                  </a:cubicBezTo>
                  <a:cubicBezTo>
                    <a:pt x="273" y="34"/>
                    <a:pt x="273" y="34"/>
                    <a:pt x="273" y="34"/>
                  </a:cubicBezTo>
                  <a:cubicBezTo>
                    <a:pt x="246" y="48"/>
                    <a:pt x="246" y="48"/>
                    <a:pt x="246" y="48"/>
                  </a:cubicBezTo>
                  <a:cubicBezTo>
                    <a:pt x="242" y="45"/>
                    <a:pt x="237" y="42"/>
                    <a:pt x="232" y="40"/>
                  </a:cubicBezTo>
                  <a:cubicBezTo>
                    <a:pt x="230" y="10"/>
                    <a:pt x="230" y="10"/>
                    <a:pt x="230" y="10"/>
                  </a:cubicBezTo>
                  <a:cubicBezTo>
                    <a:pt x="211" y="5"/>
                    <a:pt x="211" y="5"/>
                    <a:pt x="211" y="5"/>
                  </a:cubicBezTo>
                  <a:cubicBezTo>
                    <a:pt x="191" y="0"/>
                    <a:pt x="191" y="0"/>
                    <a:pt x="191" y="0"/>
                  </a:cubicBezTo>
                  <a:cubicBezTo>
                    <a:pt x="175" y="25"/>
                    <a:pt x="175" y="25"/>
                    <a:pt x="175" y="25"/>
                  </a:cubicBezTo>
                  <a:cubicBezTo>
                    <a:pt x="170" y="25"/>
                    <a:pt x="165" y="25"/>
                    <a:pt x="160" y="25"/>
                  </a:cubicBezTo>
                  <a:cubicBezTo>
                    <a:pt x="143" y="1"/>
                    <a:pt x="143" y="1"/>
                    <a:pt x="143" y="1"/>
                  </a:cubicBezTo>
                  <a:cubicBezTo>
                    <a:pt x="104" y="11"/>
                    <a:pt x="104" y="11"/>
                    <a:pt x="104" y="11"/>
                  </a:cubicBezTo>
                  <a:cubicBezTo>
                    <a:pt x="103" y="41"/>
                    <a:pt x="103" y="41"/>
                    <a:pt x="103" y="41"/>
                  </a:cubicBezTo>
                  <a:cubicBezTo>
                    <a:pt x="98" y="44"/>
                    <a:pt x="93" y="46"/>
                    <a:pt x="89" y="49"/>
                  </a:cubicBezTo>
                  <a:cubicBezTo>
                    <a:pt x="62" y="36"/>
                    <a:pt x="62" y="36"/>
                    <a:pt x="62" y="36"/>
                  </a:cubicBezTo>
                  <a:cubicBezTo>
                    <a:pt x="34" y="65"/>
                    <a:pt x="34" y="65"/>
                    <a:pt x="34" y="65"/>
                  </a:cubicBezTo>
                  <a:cubicBezTo>
                    <a:pt x="48" y="91"/>
                    <a:pt x="48" y="91"/>
                    <a:pt x="48" y="91"/>
                  </a:cubicBezTo>
                  <a:cubicBezTo>
                    <a:pt x="45" y="96"/>
                    <a:pt x="42" y="100"/>
                    <a:pt x="40" y="105"/>
                  </a:cubicBezTo>
                  <a:cubicBezTo>
                    <a:pt x="10" y="107"/>
                    <a:pt x="10" y="107"/>
                    <a:pt x="10" y="107"/>
                  </a:cubicBezTo>
                  <a:cubicBezTo>
                    <a:pt x="5" y="127"/>
                    <a:pt x="5" y="127"/>
                    <a:pt x="5" y="127"/>
                  </a:cubicBezTo>
                  <a:cubicBezTo>
                    <a:pt x="0" y="146"/>
                    <a:pt x="0" y="146"/>
                    <a:pt x="0" y="146"/>
                  </a:cubicBezTo>
                  <a:cubicBezTo>
                    <a:pt x="25" y="162"/>
                    <a:pt x="25" y="162"/>
                    <a:pt x="25" y="162"/>
                  </a:cubicBezTo>
                  <a:cubicBezTo>
                    <a:pt x="25" y="168"/>
                    <a:pt x="25" y="173"/>
                    <a:pt x="25" y="178"/>
                  </a:cubicBezTo>
                  <a:cubicBezTo>
                    <a:pt x="0" y="195"/>
                    <a:pt x="0" y="195"/>
                    <a:pt x="0" y="195"/>
                  </a:cubicBezTo>
                  <a:cubicBezTo>
                    <a:pt x="11" y="234"/>
                    <a:pt x="11" y="234"/>
                    <a:pt x="11" y="234"/>
                  </a:cubicBezTo>
                  <a:cubicBezTo>
                    <a:pt x="41" y="235"/>
                    <a:pt x="41" y="235"/>
                    <a:pt x="41" y="235"/>
                  </a:cubicBezTo>
                  <a:cubicBezTo>
                    <a:pt x="44" y="240"/>
                    <a:pt x="46" y="244"/>
                    <a:pt x="49" y="248"/>
                  </a:cubicBezTo>
                  <a:cubicBezTo>
                    <a:pt x="36" y="275"/>
                    <a:pt x="36" y="275"/>
                    <a:pt x="36" y="275"/>
                  </a:cubicBezTo>
                  <a:cubicBezTo>
                    <a:pt x="65" y="304"/>
                    <a:pt x="65" y="304"/>
                    <a:pt x="65" y="304"/>
                  </a:cubicBezTo>
                  <a:cubicBezTo>
                    <a:pt x="91" y="290"/>
                    <a:pt x="91" y="290"/>
                    <a:pt x="91" y="290"/>
                  </a:cubicBezTo>
                  <a:cubicBezTo>
                    <a:pt x="96" y="293"/>
                    <a:pt x="100" y="295"/>
                    <a:pt x="105" y="298"/>
                  </a:cubicBezTo>
                  <a:cubicBezTo>
                    <a:pt x="107" y="328"/>
                    <a:pt x="107" y="328"/>
                    <a:pt x="107" y="328"/>
                  </a:cubicBezTo>
                  <a:cubicBezTo>
                    <a:pt x="126" y="333"/>
                    <a:pt x="126" y="333"/>
                    <a:pt x="126" y="333"/>
                  </a:cubicBezTo>
                  <a:cubicBezTo>
                    <a:pt x="146" y="338"/>
                    <a:pt x="146" y="338"/>
                    <a:pt x="146" y="338"/>
                  </a:cubicBezTo>
                  <a:cubicBezTo>
                    <a:pt x="162" y="312"/>
                    <a:pt x="162" y="312"/>
                    <a:pt x="162" y="312"/>
                  </a:cubicBezTo>
                  <a:cubicBezTo>
                    <a:pt x="167" y="313"/>
                    <a:pt x="173" y="313"/>
                    <a:pt x="178" y="312"/>
                  </a:cubicBezTo>
                  <a:cubicBezTo>
                    <a:pt x="195" y="337"/>
                    <a:pt x="195" y="337"/>
                    <a:pt x="195" y="337"/>
                  </a:cubicBezTo>
                  <a:cubicBezTo>
                    <a:pt x="233" y="326"/>
                    <a:pt x="233" y="326"/>
                    <a:pt x="233" y="326"/>
                  </a:cubicBezTo>
                  <a:cubicBezTo>
                    <a:pt x="235" y="296"/>
                    <a:pt x="235" y="296"/>
                    <a:pt x="235" y="296"/>
                  </a:cubicBezTo>
                  <a:cubicBezTo>
                    <a:pt x="239" y="294"/>
                    <a:pt x="244" y="291"/>
                    <a:pt x="248" y="288"/>
                  </a:cubicBezTo>
                  <a:cubicBezTo>
                    <a:pt x="275" y="302"/>
                    <a:pt x="275" y="302"/>
                    <a:pt x="275" y="302"/>
                  </a:cubicBezTo>
                  <a:cubicBezTo>
                    <a:pt x="303" y="273"/>
                    <a:pt x="303" y="273"/>
                    <a:pt x="303" y="273"/>
                  </a:cubicBezTo>
                  <a:cubicBezTo>
                    <a:pt x="290" y="246"/>
                    <a:pt x="290" y="246"/>
                    <a:pt x="290" y="246"/>
                  </a:cubicBezTo>
                  <a:cubicBezTo>
                    <a:pt x="293" y="242"/>
                    <a:pt x="295" y="237"/>
                    <a:pt x="297" y="233"/>
                  </a:cubicBezTo>
                  <a:cubicBezTo>
                    <a:pt x="327" y="231"/>
                    <a:pt x="327" y="231"/>
                    <a:pt x="327" y="231"/>
                  </a:cubicBezTo>
                  <a:cubicBezTo>
                    <a:pt x="332" y="211"/>
                    <a:pt x="332" y="211"/>
                    <a:pt x="332" y="211"/>
                  </a:cubicBezTo>
                  <a:cubicBezTo>
                    <a:pt x="337" y="192"/>
                    <a:pt x="337" y="192"/>
                    <a:pt x="337" y="192"/>
                  </a:cubicBezTo>
                  <a:lnTo>
                    <a:pt x="312" y="175"/>
                  </a:lnTo>
                  <a:close/>
                  <a:moveTo>
                    <a:pt x="140" y="281"/>
                  </a:moveTo>
                  <a:cubicBezTo>
                    <a:pt x="78" y="265"/>
                    <a:pt x="41" y="202"/>
                    <a:pt x="57" y="140"/>
                  </a:cubicBezTo>
                  <a:cubicBezTo>
                    <a:pt x="73" y="78"/>
                    <a:pt x="136" y="41"/>
                    <a:pt x="198" y="57"/>
                  </a:cubicBezTo>
                  <a:cubicBezTo>
                    <a:pt x="259" y="73"/>
                    <a:pt x="297" y="136"/>
                    <a:pt x="281" y="198"/>
                  </a:cubicBezTo>
                  <a:cubicBezTo>
                    <a:pt x="265" y="260"/>
                    <a:pt x="202" y="297"/>
                    <a:pt x="140" y="281"/>
                  </a:cubicBezTo>
                  <a:close/>
                </a:path>
              </a:pathLst>
            </a:custGeom>
            <a:solidFill>
              <a:srgbClr val="1848C0"/>
            </a:solidFill>
            <a:ln>
              <a:noFill/>
            </a:ln>
          </p:spPr>
          <p:txBody>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endParaRPr lang="zh-CN" altLang="en-US"/>
            </a:p>
          </p:txBody>
        </p:sp>
        <p:sp>
          <p:nvSpPr>
            <p:cNvPr id="7" name="Rectangle 16"/>
            <p:cNvSpPr>
              <a:spLocks noChangeArrowheads="1"/>
            </p:cNvSpPr>
            <p:nvPr/>
          </p:nvSpPr>
          <p:spPr bwMode="auto">
            <a:xfrm>
              <a:off x="1066774" y="1399481"/>
              <a:ext cx="6635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pPr algn="ctr">
                <a:lnSpc>
                  <a:spcPct val="120000"/>
                </a:lnSpc>
              </a:pPr>
              <a:r>
                <a:rPr lang="zh-CN" altLang="en-US" sz="2000"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华文中宋" pitchFamily="2" charset="-122"/>
                  <a:ea typeface="华文中宋" pitchFamily="2" charset="-122"/>
                </a:rPr>
                <a:t>实例</a:t>
              </a:r>
              <a:endParaRPr lang="zh-CN" altLang="zh-CN" sz="2000"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华文中宋" pitchFamily="2" charset="-122"/>
                <a:ea typeface="华文中宋" pitchFamily="2" charset="-122"/>
              </a:endParaRPr>
            </a:p>
          </p:txBody>
        </p:sp>
      </p:grpSp>
      <p:sp>
        <p:nvSpPr>
          <p:cNvPr id="8" name="灯片编号占位符 7"/>
          <p:cNvSpPr>
            <a:spLocks noGrp="1"/>
          </p:cNvSpPr>
          <p:nvPr>
            <p:ph type="sldNum" sz="quarter" idx="12"/>
          </p:nvPr>
        </p:nvSpPr>
        <p:spPr/>
        <p:txBody>
          <a:bodyPr/>
          <a:lstStyle/>
          <a:p>
            <a:fld id="{7AF016A1-9F15-429F-9EFD-84004B73C732}" type="slidenum">
              <a:rPr lang="en-US" altLang="zh-CN" smtClean="0"/>
              <a:pPr/>
              <a:t>26</a:t>
            </a:fld>
            <a:r>
              <a:rPr lang="en-US" altLang="zh-CN"/>
              <a:t>/158</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71472" y="1500174"/>
            <a:ext cx="8143932" cy="2362185"/>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300"/>
              </a:lnSpc>
              <a:spcBef>
                <a:spcPts val="1200"/>
              </a:spcBef>
              <a:buBlip>
                <a:blip r:embed="rId2"/>
              </a:buBlip>
            </a:pPr>
            <a:r>
              <a:rPr lang="zh-CN" altLang="zh-CN">
                <a:solidFill>
                  <a:srgbClr val="0000FF"/>
                </a:solidFill>
                <a:latin typeface="Consolas" pitchFamily="49" charset="0"/>
                <a:ea typeface="仿宋" pitchFamily="49" charset="-122"/>
              </a:rPr>
              <a:t>本题给定的</a:t>
            </a:r>
            <a:r>
              <a:rPr lang="en-US"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个点看成是一个完全无向图，边的权值为对应两个点的曼哈顿距离，问题转化为求最小生成树的长度（最小生成树中所有边的权值和）。</a:t>
            </a:r>
            <a:endParaRPr lang="en-US" altLang="zh-CN">
              <a:solidFill>
                <a:srgbClr val="0000FF"/>
              </a:solidFill>
              <a:latin typeface="Consolas" pitchFamily="49" charset="0"/>
              <a:ea typeface="仿宋" pitchFamily="49" charset="-122"/>
            </a:endParaRPr>
          </a:p>
          <a:p>
            <a:pPr marL="457200" indent="-457200" algn="l">
              <a:lnSpc>
                <a:spcPts val="3300"/>
              </a:lnSpc>
              <a:spcBef>
                <a:spcPts val="1200"/>
              </a:spcBef>
              <a:buBlip>
                <a:blip r:embed="rId2"/>
              </a:buBlip>
            </a:pPr>
            <a:r>
              <a:rPr lang="zh-CN" altLang="zh-CN">
                <a:solidFill>
                  <a:srgbClr val="0000FF"/>
                </a:solidFill>
                <a:latin typeface="Consolas" pitchFamily="49" charset="0"/>
                <a:ea typeface="仿宋" pitchFamily="49" charset="-122"/>
              </a:rPr>
              <a:t>采用</a:t>
            </a:r>
            <a:r>
              <a:rPr lang="en-US" altLang="zh-CN">
                <a:solidFill>
                  <a:srgbClr val="FF0000"/>
                </a:solidFill>
                <a:latin typeface="Consolas" pitchFamily="49" charset="0"/>
                <a:ea typeface="仿宋" pitchFamily="49" charset="-122"/>
              </a:rPr>
              <a:t>Prim</a:t>
            </a:r>
            <a:r>
              <a:rPr lang="zh-CN" altLang="zh-CN">
                <a:solidFill>
                  <a:srgbClr val="FF0000"/>
                </a:solidFill>
                <a:latin typeface="Consolas" pitchFamily="49" charset="0"/>
                <a:ea typeface="仿宋" pitchFamily="49" charset="-122"/>
              </a:rPr>
              <a:t>算法</a:t>
            </a:r>
            <a:r>
              <a:rPr lang="zh-CN" altLang="zh-CN">
                <a:solidFill>
                  <a:srgbClr val="0000FF"/>
                </a:solidFill>
                <a:latin typeface="Consolas" pitchFamily="49" charset="0"/>
                <a:ea typeface="仿宋" pitchFamily="49" charset="-122"/>
              </a:rPr>
              <a:t>求解，为了简单用一个</a:t>
            </a:r>
            <a:r>
              <a:rPr lang="en-US" altLang="zh-CN">
                <a:solidFill>
                  <a:srgbClr val="0000FF"/>
                </a:solidFill>
                <a:latin typeface="Consolas" pitchFamily="49" charset="0"/>
                <a:ea typeface="仿宋" pitchFamily="49" charset="-122"/>
              </a:rPr>
              <a:t>U</a:t>
            </a:r>
            <a:r>
              <a:rPr lang="zh-CN" altLang="zh-CN">
                <a:solidFill>
                  <a:srgbClr val="0000FF"/>
                </a:solidFill>
                <a:latin typeface="Consolas" pitchFamily="49" charset="0"/>
                <a:ea typeface="仿宋" pitchFamily="49" charset="-122"/>
              </a:rPr>
              <a:t>数组记录一个顶点</a:t>
            </a:r>
            <a:r>
              <a:rPr lang="en-US" altLang="zh-CN" i="1">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属于</a:t>
            </a:r>
            <a:r>
              <a:rPr lang="en-US" altLang="zh-CN">
                <a:solidFill>
                  <a:srgbClr val="0000FF"/>
                </a:solidFill>
                <a:latin typeface="Consolas" pitchFamily="49" charset="0"/>
                <a:ea typeface="仿宋" pitchFamily="49" charset="-122"/>
              </a:rPr>
              <a:t>U</a:t>
            </a:r>
            <a:r>
              <a:rPr lang="zh-CN" altLang="zh-CN">
                <a:solidFill>
                  <a:srgbClr val="0000FF"/>
                </a:solidFill>
                <a:latin typeface="Consolas" pitchFamily="49" charset="0"/>
                <a:ea typeface="仿宋" pitchFamily="49" charset="-122"/>
              </a:rPr>
              <a:t>集合（</a:t>
            </a:r>
            <a:r>
              <a:rPr lang="en-US" altLang="zh-CN">
                <a:solidFill>
                  <a:srgbClr val="0000FF"/>
                </a:solidFill>
                <a:latin typeface="Consolas" pitchFamily="49" charset="0"/>
                <a:ea typeface="仿宋" pitchFamily="49" charset="-122"/>
              </a:rPr>
              <a:t>U[</a:t>
            </a:r>
            <a:r>
              <a:rPr lang="en-US" altLang="zh-CN" i="1">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）还是</a:t>
            </a:r>
            <a:r>
              <a:rPr lang="en-US" altLang="zh-CN">
                <a:solidFill>
                  <a:srgbClr val="0000FF"/>
                </a:solidFill>
                <a:latin typeface="Consolas" pitchFamily="49" charset="0"/>
                <a:ea typeface="仿宋" pitchFamily="49" charset="-122"/>
              </a:rPr>
              <a:t>V-U</a:t>
            </a:r>
            <a:r>
              <a:rPr lang="zh-CN" altLang="zh-CN">
                <a:solidFill>
                  <a:srgbClr val="0000FF"/>
                </a:solidFill>
                <a:latin typeface="Consolas" pitchFamily="49" charset="0"/>
                <a:ea typeface="仿宋" pitchFamily="49" charset="-122"/>
              </a:rPr>
              <a:t>集合（</a:t>
            </a:r>
            <a:r>
              <a:rPr lang="en-US" altLang="zh-CN">
                <a:solidFill>
                  <a:srgbClr val="0000FF"/>
                </a:solidFill>
                <a:latin typeface="Consolas" pitchFamily="49" charset="0"/>
                <a:ea typeface="仿宋" pitchFamily="49" charset="-122"/>
              </a:rPr>
              <a:t>U[</a:t>
            </a:r>
            <a:r>
              <a:rPr lang="en-US" altLang="zh-CN" i="1">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a:t>
            </a:r>
          </a:p>
        </p:txBody>
      </p:sp>
      <p:sp>
        <p:nvSpPr>
          <p:cNvPr id="3" name="TextBox 2"/>
          <p:cNvSpPr txBox="1"/>
          <p:nvPr/>
        </p:nvSpPr>
        <p:spPr>
          <a:xfrm>
            <a:off x="285720" y="642918"/>
            <a:ext cx="1143008" cy="461665"/>
          </a:xfrm>
          <a:prstGeom prst="rect">
            <a:avLst/>
          </a:prstGeom>
          <a:solidFill>
            <a:schemeClr val="accent5">
              <a:lumMod val="20000"/>
              <a:lumOff val="80000"/>
            </a:schemeClr>
          </a:solidFill>
          <a:ln/>
          <a:effectLst>
            <a:outerShdw blurRad="76200" dir="13500000" sy="23000" kx="1200000" algn="br" rotWithShape="0">
              <a:prstClr val="black">
                <a:alpha val="20000"/>
              </a:prstClr>
            </a:outerShdw>
          </a:effectLst>
        </p:spPr>
        <p:style>
          <a:lnRef idx="3">
            <a:schemeClr val="lt1"/>
          </a:lnRef>
          <a:fillRef idx="1">
            <a:schemeClr val="dk1"/>
          </a:fillRef>
          <a:effectRef idx="1">
            <a:schemeClr val="dk1"/>
          </a:effectRef>
          <a:fontRef idx="minor">
            <a:schemeClr val="lt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pPr>
              <a:lnSpc>
                <a:spcPct val="100000"/>
              </a:lnSpc>
              <a:spcBef>
                <a:spcPts val="0"/>
              </a:spcBef>
            </a:pPr>
            <a:r>
              <a:rPr lang="zh-CN" altLang="en-US"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Consolas" pitchFamily="49" charset="0"/>
                <a:ea typeface="华文中宋" pitchFamily="2" charset="-122"/>
                <a:cs typeface="Consolas" pitchFamily="49" charset="0"/>
              </a:rPr>
              <a:t>解法</a:t>
            </a:r>
            <a:r>
              <a:rPr lang="en-US" altLang="zh-CN"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Consolas" pitchFamily="49" charset="0"/>
                <a:ea typeface="华文中宋" pitchFamily="2" charset="-122"/>
                <a:cs typeface="Consolas" pitchFamily="49" charset="0"/>
              </a:rPr>
              <a:t>1</a:t>
            </a:r>
            <a:endParaRPr lang="zh-CN" altLang="en-US"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Consolas" pitchFamily="49" charset="0"/>
              <a:ea typeface="华文中宋" pitchFamily="2" charset="-122"/>
              <a:cs typeface="Consolas" pitchFamily="49" charset="0"/>
            </a:endParaRPr>
          </a:p>
        </p:txBody>
      </p:sp>
      <p:sp>
        <p:nvSpPr>
          <p:cNvPr id="6" name="灯片编号占位符 5"/>
          <p:cNvSpPr>
            <a:spLocks noGrp="1"/>
          </p:cNvSpPr>
          <p:nvPr>
            <p:ph type="sldNum" sz="quarter" idx="12"/>
          </p:nvPr>
        </p:nvSpPr>
        <p:spPr/>
        <p:txBody>
          <a:bodyPr/>
          <a:lstStyle/>
          <a:p>
            <a:fld id="{7AF016A1-9F15-429F-9EFD-84004B73C732}" type="slidenum">
              <a:rPr lang="en-US" altLang="zh-CN" smtClean="0"/>
              <a:pPr/>
              <a:t>27</a:t>
            </a:fld>
            <a:r>
              <a:rPr lang="en-US" altLang="zh-CN"/>
              <a:t>/158</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85720" y="427997"/>
            <a:ext cx="8572560" cy="5411839"/>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2700"/>
              </a:lnSpc>
              <a:spcBef>
                <a:spcPts val="0"/>
              </a:spcBef>
            </a:pPr>
            <a:r>
              <a:rPr lang="en-US" altLang="zh-CN" sz="2000" b="0">
                <a:solidFill>
                  <a:srgbClr val="0000FF"/>
                </a:solidFill>
                <a:latin typeface="Consolas" pitchFamily="49" charset="0"/>
                <a:ea typeface="仿宋" pitchFamily="49" charset="-122"/>
              </a:rPr>
              <a:t>int </a:t>
            </a:r>
            <a:r>
              <a:rPr lang="en-US" altLang="zh-CN" sz="2000" b="0">
                <a:solidFill>
                  <a:srgbClr val="FF0000"/>
                </a:solidFill>
                <a:latin typeface="Consolas" pitchFamily="49" charset="0"/>
                <a:ea typeface="仿宋" pitchFamily="49" charset="-122"/>
              </a:rPr>
              <a:t>distance</a:t>
            </a:r>
            <a:r>
              <a:rPr lang="en-US" altLang="zh-CN" sz="2000" b="0">
                <a:solidFill>
                  <a:srgbClr val="0000FF"/>
                </a:solidFill>
                <a:latin typeface="Consolas" pitchFamily="49" charset="0"/>
                <a:ea typeface="仿宋" pitchFamily="49" charset="-122"/>
              </a:rPr>
              <a:t>(vector&lt;vector&lt;int&gt;&gt;&amp;p,int i,int j) {     </a:t>
            </a:r>
          </a:p>
          <a:p>
            <a:pPr algn="l" defTabSz="360000">
              <a:lnSpc>
                <a:spcPts val="2700"/>
              </a:lnSpc>
              <a:spcBef>
                <a:spcPts val="0"/>
              </a:spcBef>
            </a:pPr>
            <a:r>
              <a:rPr lang="en-US" altLang="zh-CN" sz="2000" b="0">
                <a:solidFill>
                  <a:srgbClr val="00B050"/>
                </a:solidFill>
                <a:latin typeface="Consolas" pitchFamily="49" charset="0"/>
                <a:ea typeface="仿宋" pitchFamily="49" charset="-122"/>
              </a:rPr>
              <a:t>//</a:t>
            </a:r>
            <a:r>
              <a:rPr lang="zh-CN" altLang="zh-CN" sz="2000" b="0">
                <a:solidFill>
                  <a:srgbClr val="00B050"/>
                </a:solidFill>
                <a:latin typeface="Consolas" pitchFamily="49" charset="0"/>
                <a:ea typeface="仿宋" pitchFamily="49" charset="-122"/>
              </a:rPr>
              <a:t>求</a:t>
            </a:r>
            <a:r>
              <a:rPr lang="en-US" altLang="zh-CN" sz="2000" b="0">
                <a:solidFill>
                  <a:srgbClr val="00B050"/>
                </a:solidFill>
                <a:latin typeface="Consolas" pitchFamily="49" charset="0"/>
                <a:ea typeface="仿宋" pitchFamily="49" charset="-122"/>
              </a:rPr>
              <a:t>p[i]</a:t>
            </a:r>
            <a:r>
              <a:rPr lang="zh-CN" altLang="zh-CN" sz="2000" b="0">
                <a:solidFill>
                  <a:srgbClr val="00B050"/>
                </a:solidFill>
                <a:latin typeface="Consolas" pitchFamily="49" charset="0"/>
                <a:ea typeface="仿宋" pitchFamily="49" charset="-122"/>
              </a:rPr>
              <a:t>和</a:t>
            </a:r>
            <a:r>
              <a:rPr lang="en-US" altLang="zh-CN" sz="2000" b="0">
                <a:solidFill>
                  <a:srgbClr val="00B050"/>
                </a:solidFill>
                <a:latin typeface="Consolas" pitchFamily="49" charset="0"/>
                <a:ea typeface="仿宋" pitchFamily="49" charset="-122"/>
              </a:rPr>
              <a:t>p[j]</a:t>
            </a:r>
            <a:r>
              <a:rPr lang="zh-CN" altLang="zh-CN" sz="2000" b="0">
                <a:solidFill>
                  <a:srgbClr val="00B050"/>
                </a:solidFill>
                <a:latin typeface="Consolas" pitchFamily="49" charset="0"/>
                <a:ea typeface="仿宋" pitchFamily="49" charset="-122"/>
              </a:rPr>
              <a:t>的曼哈顿距离</a:t>
            </a:r>
          </a:p>
          <a:p>
            <a:pPr algn="l" defTabSz="360000">
              <a:lnSpc>
                <a:spcPts val="2700"/>
              </a:lnSpc>
              <a:spcBef>
                <a:spcPts val="0"/>
              </a:spcBef>
            </a:pPr>
            <a:r>
              <a:rPr lang="en-US" altLang="zh-CN" sz="2000" b="0">
                <a:solidFill>
                  <a:srgbClr val="0000FF"/>
                </a:solidFill>
                <a:latin typeface="Consolas" pitchFamily="49" charset="0"/>
                <a:ea typeface="仿宋" pitchFamily="49" charset="-122"/>
              </a:rPr>
              <a:t>	return abs(p[i][0]-p[j][0])+abs(p[i][1]-p[j][1]);</a:t>
            </a:r>
            <a:endParaRPr lang="zh-CN" altLang="zh-CN" sz="2000" b="0">
              <a:solidFill>
                <a:srgbClr val="0000FF"/>
              </a:solidFill>
              <a:latin typeface="Consolas" pitchFamily="49" charset="0"/>
              <a:ea typeface="仿宋" pitchFamily="49" charset="-122"/>
            </a:endParaRPr>
          </a:p>
          <a:p>
            <a:pPr algn="l" defTabSz="360000">
              <a:lnSpc>
                <a:spcPts val="2700"/>
              </a:lnSpc>
              <a:spcBef>
                <a:spcPts val="0"/>
              </a:spcBef>
            </a:pPr>
            <a:r>
              <a:rPr lang="en-US" altLang="zh-CN" sz="2000" b="0">
                <a:solidFill>
                  <a:srgbClr val="0000FF"/>
                </a:solidFill>
                <a:latin typeface="Consolas" pitchFamily="49" charset="0"/>
                <a:ea typeface="仿宋" pitchFamily="49" charset="-122"/>
              </a:rPr>
              <a:t>}</a:t>
            </a:r>
            <a:endParaRPr lang="zh-CN" altLang="zh-CN" sz="2000" b="0">
              <a:solidFill>
                <a:srgbClr val="0000FF"/>
              </a:solidFill>
              <a:latin typeface="Consolas" pitchFamily="49" charset="0"/>
              <a:ea typeface="仿宋" pitchFamily="49" charset="-122"/>
            </a:endParaRPr>
          </a:p>
          <a:p>
            <a:pPr algn="l" defTabSz="360000">
              <a:lnSpc>
                <a:spcPts val="2700"/>
              </a:lnSpc>
              <a:spcBef>
                <a:spcPts val="0"/>
              </a:spcBef>
            </a:pPr>
            <a:endParaRPr lang="en-US" altLang="zh-CN" sz="2000" b="0">
              <a:solidFill>
                <a:srgbClr val="0000FF"/>
              </a:solidFill>
              <a:latin typeface="Consolas" pitchFamily="49" charset="0"/>
              <a:ea typeface="仿宋" pitchFamily="49" charset="-122"/>
            </a:endParaRPr>
          </a:p>
          <a:p>
            <a:pPr algn="l" defTabSz="360000">
              <a:lnSpc>
                <a:spcPts val="2700"/>
              </a:lnSpc>
              <a:spcBef>
                <a:spcPts val="0"/>
              </a:spcBef>
            </a:pPr>
            <a:r>
              <a:rPr lang="en-US" altLang="zh-CN" sz="2000" b="0">
                <a:solidFill>
                  <a:srgbClr val="0000FF"/>
                </a:solidFill>
                <a:latin typeface="Consolas" pitchFamily="49" charset="0"/>
                <a:ea typeface="仿宋" pitchFamily="49" charset="-122"/>
              </a:rPr>
              <a:t>int </a:t>
            </a:r>
            <a:r>
              <a:rPr lang="en-US" altLang="zh-CN" sz="2000" b="0">
                <a:solidFill>
                  <a:srgbClr val="FF0000"/>
                </a:solidFill>
                <a:latin typeface="Consolas" pitchFamily="49" charset="0"/>
                <a:ea typeface="仿宋" pitchFamily="49" charset="-122"/>
              </a:rPr>
              <a:t>Prim</a:t>
            </a:r>
            <a:r>
              <a:rPr lang="en-US" altLang="zh-CN" sz="2000" b="0">
                <a:solidFill>
                  <a:srgbClr val="0000FF"/>
                </a:solidFill>
                <a:latin typeface="Consolas" pitchFamily="49" charset="0"/>
                <a:ea typeface="仿宋" pitchFamily="49" charset="-122"/>
              </a:rPr>
              <a:t>(vector&lt;vector&lt;int&gt;&gt;&amp;p,int n,int v) { 	 </a:t>
            </a:r>
            <a:r>
              <a:rPr lang="en-US" altLang="zh-CN" sz="2000" b="0">
                <a:solidFill>
                  <a:srgbClr val="00B050"/>
                </a:solidFill>
                <a:latin typeface="Consolas" pitchFamily="49" charset="0"/>
                <a:ea typeface="仿宋" pitchFamily="49" charset="-122"/>
              </a:rPr>
              <a:t>//Prim</a:t>
            </a:r>
            <a:r>
              <a:rPr lang="zh-CN" altLang="zh-CN" sz="2000" b="0">
                <a:solidFill>
                  <a:srgbClr val="00B050"/>
                </a:solidFill>
                <a:latin typeface="Consolas" pitchFamily="49" charset="0"/>
                <a:ea typeface="仿宋" pitchFamily="49" charset="-122"/>
              </a:rPr>
              <a:t>算法</a:t>
            </a:r>
          </a:p>
          <a:p>
            <a:pPr algn="l" defTabSz="360000">
              <a:lnSpc>
                <a:spcPts val="2700"/>
              </a:lnSpc>
              <a:spcBef>
                <a:spcPts val="0"/>
              </a:spcBef>
            </a:pPr>
            <a:r>
              <a:rPr lang="en-US" altLang="zh-CN" sz="2000" b="0">
                <a:solidFill>
                  <a:srgbClr val="0000FF"/>
                </a:solidFill>
                <a:latin typeface="Consolas" pitchFamily="49" charset="0"/>
                <a:ea typeface="仿宋" pitchFamily="49" charset="-122"/>
              </a:rPr>
              <a:t>	int ans=0								</a:t>
            </a:r>
            <a:r>
              <a:rPr lang="en-US" altLang="zh-CN" sz="2000" b="0">
                <a:solidFill>
                  <a:srgbClr val="00B0F0"/>
                </a:solidFill>
                <a:latin typeface="Consolas" pitchFamily="49" charset="0"/>
                <a:ea typeface="仿宋" pitchFamily="49" charset="-122"/>
              </a:rPr>
              <a:t>//</a:t>
            </a:r>
            <a:r>
              <a:rPr lang="zh-CN" altLang="zh-CN" sz="2000" b="0">
                <a:solidFill>
                  <a:srgbClr val="00B0F0"/>
                </a:solidFill>
                <a:latin typeface="Consolas" pitchFamily="49" charset="0"/>
                <a:ea typeface="仿宋" pitchFamily="49" charset="-122"/>
              </a:rPr>
              <a:t>存放最小生成树的长度</a:t>
            </a:r>
          </a:p>
          <a:p>
            <a:pPr algn="l" defTabSz="360000">
              <a:lnSpc>
                <a:spcPts val="2700"/>
              </a:lnSpc>
              <a:spcBef>
                <a:spcPts val="0"/>
              </a:spcBef>
            </a:pPr>
            <a:r>
              <a:rPr lang="en-US" altLang="zh-CN" sz="2000" b="0">
                <a:solidFill>
                  <a:srgbClr val="0000FF"/>
                </a:solidFill>
                <a:latin typeface="Consolas" pitchFamily="49" charset="0"/>
                <a:ea typeface="仿宋" pitchFamily="49" charset="-122"/>
              </a:rPr>
              <a:t>  	vector&lt;int&gt; lowcost(n,INF);</a:t>
            </a:r>
            <a:endParaRPr lang="zh-CN" altLang="zh-CN" sz="2000" b="0">
              <a:solidFill>
                <a:srgbClr val="0000FF"/>
              </a:solidFill>
              <a:latin typeface="Consolas" pitchFamily="49" charset="0"/>
              <a:ea typeface="仿宋" pitchFamily="49" charset="-122"/>
            </a:endParaRPr>
          </a:p>
          <a:p>
            <a:pPr algn="l" defTabSz="360000">
              <a:lnSpc>
                <a:spcPts val="2700"/>
              </a:lnSpc>
              <a:spcBef>
                <a:spcPts val="0"/>
              </a:spcBef>
            </a:pPr>
            <a:r>
              <a:rPr lang="en-US" altLang="zh-CN" sz="2000" b="0">
                <a:solidFill>
                  <a:srgbClr val="0000FF"/>
                </a:solidFill>
                <a:latin typeface="Consolas" pitchFamily="49" charset="0"/>
                <a:ea typeface="仿宋" pitchFamily="49" charset="-122"/>
              </a:rPr>
              <a:t>  	vector&lt;int&gt; U(n,0);</a:t>
            </a:r>
            <a:endParaRPr lang="zh-CN" altLang="zh-CN" sz="2000" b="0">
              <a:solidFill>
                <a:srgbClr val="0000FF"/>
              </a:solidFill>
              <a:latin typeface="Consolas" pitchFamily="49" charset="0"/>
              <a:ea typeface="仿宋" pitchFamily="49" charset="-122"/>
            </a:endParaRPr>
          </a:p>
          <a:p>
            <a:pPr algn="l" defTabSz="360000">
              <a:lnSpc>
                <a:spcPts val="2700"/>
              </a:lnSpc>
              <a:spcBef>
                <a:spcPts val="0"/>
              </a:spcBef>
            </a:pPr>
            <a:r>
              <a:rPr lang="en-US" altLang="zh-CN" sz="2000" b="0">
                <a:solidFill>
                  <a:srgbClr val="0000FF"/>
                </a:solidFill>
                <a:latin typeface="Consolas" pitchFamily="49" charset="0"/>
                <a:ea typeface="仿宋" pitchFamily="49" charset="-122"/>
              </a:rPr>
              <a:t>  	vector&lt;int&gt; closest(n,0);</a:t>
            </a:r>
            <a:endParaRPr lang="zh-CN" altLang="zh-CN" sz="2000" b="0">
              <a:solidFill>
                <a:srgbClr val="0000FF"/>
              </a:solidFill>
              <a:latin typeface="Consolas" pitchFamily="49" charset="0"/>
              <a:ea typeface="仿宋" pitchFamily="49" charset="-122"/>
            </a:endParaRPr>
          </a:p>
          <a:p>
            <a:pPr algn="l" defTabSz="360000">
              <a:lnSpc>
                <a:spcPts val="2700"/>
              </a:lnSpc>
              <a:spcBef>
                <a:spcPts val="0"/>
              </a:spcBef>
            </a:pPr>
            <a:r>
              <a:rPr lang="en-US" altLang="zh-CN" sz="2000" b="0">
                <a:solidFill>
                  <a:srgbClr val="0000FF"/>
                </a:solidFill>
                <a:latin typeface="Consolas" pitchFamily="49" charset="0"/>
                <a:ea typeface="仿宋" pitchFamily="49" charset="-122"/>
              </a:rPr>
              <a:t>  	int mincost;</a:t>
            </a:r>
            <a:endParaRPr lang="zh-CN" altLang="zh-CN" sz="2000" b="0">
              <a:solidFill>
                <a:srgbClr val="0000FF"/>
              </a:solidFill>
              <a:latin typeface="Consolas" pitchFamily="49" charset="0"/>
              <a:ea typeface="仿宋" pitchFamily="49" charset="-122"/>
            </a:endParaRPr>
          </a:p>
          <a:p>
            <a:pPr algn="l" defTabSz="360000">
              <a:lnSpc>
                <a:spcPts val="2700"/>
              </a:lnSpc>
              <a:spcBef>
                <a:spcPts val="0"/>
              </a:spcBef>
            </a:pPr>
            <a:r>
              <a:rPr lang="en-US" altLang="zh-CN" sz="2000" b="0">
                <a:solidFill>
                  <a:srgbClr val="0000FF"/>
                </a:solidFill>
                <a:latin typeface="Consolas" pitchFamily="49" charset="0"/>
                <a:ea typeface="仿宋" pitchFamily="49" charset="-122"/>
              </a:rPr>
              <a:t>  	for (int j=0;j&lt;n;j++) {  		</a:t>
            </a:r>
            <a:r>
              <a:rPr lang="en-US" altLang="zh-CN" sz="2000" b="0">
                <a:solidFill>
                  <a:srgbClr val="00B0F0"/>
                </a:solidFill>
                <a:latin typeface="Consolas" pitchFamily="49" charset="0"/>
                <a:ea typeface="仿宋" pitchFamily="49" charset="-122"/>
              </a:rPr>
              <a:t>//</a:t>
            </a:r>
            <a:r>
              <a:rPr lang="zh-CN" altLang="zh-CN" sz="2000" b="0">
                <a:solidFill>
                  <a:srgbClr val="00B0F0"/>
                </a:solidFill>
                <a:latin typeface="Consolas" pitchFamily="49" charset="0"/>
                <a:ea typeface="仿宋" pitchFamily="49" charset="-122"/>
              </a:rPr>
              <a:t>初始化</a:t>
            </a:r>
            <a:r>
              <a:rPr lang="en-US" altLang="zh-CN" sz="2000" b="0">
                <a:solidFill>
                  <a:srgbClr val="00B0F0"/>
                </a:solidFill>
                <a:latin typeface="Consolas" pitchFamily="49" charset="0"/>
                <a:ea typeface="仿宋" pitchFamily="49" charset="-122"/>
              </a:rPr>
              <a:t>lowcost</a:t>
            </a:r>
            <a:r>
              <a:rPr lang="zh-CN" altLang="zh-CN" sz="2000" b="0">
                <a:solidFill>
                  <a:srgbClr val="00B0F0"/>
                </a:solidFill>
                <a:latin typeface="Consolas" pitchFamily="49" charset="0"/>
                <a:ea typeface="仿宋" pitchFamily="49" charset="-122"/>
              </a:rPr>
              <a:t>和</a:t>
            </a:r>
            <a:r>
              <a:rPr lang="en-US" altLang="zh-CN" sz="2000" b="0">
                <a:solidFill>
                  <a:srgbClr val="00B0F0"/>
                </a:solidFill>
                <a:latin typeface="Consolas" pitchFamily="49" charset="0"/>
                <a:ea typeface="仿宋" pitchFamily="49" charset="-122"/>
              </a:rPr>
              <a:t>closest</a:t>
            </a:r>
            <a:r>
              <a:rPr lang="zh-CN" altLang="zh-CN" sz="2000" b="0">
                <a:solidFill>
                  <a:srgbClr val="00B0F0"/>
                </a:solidFill>
                <a:latin typeface="Consolas" pitchFamily="49" charset="0"/>
                <a:ea typeface="仿宋" pitchFamily="49" charset="-122"/>
              </a:rPr>
              <a:t>数组</a:t>
            </a:r>
          </a:p>
          <a:p>
            <a:pPr algn="l" defTabSz="360000">
              <a:lnSpc>
                <a:spcPts val="2700"/>
              </a:lnSpc>
              <a:spcBef>
                <a:spcPts val="0"/>
              </a:spcBef>
            </a:pPr>
            <a:r>
              <a:rPr lang="en-US" altLang="zh-CN" sz="2000" b="0">
                <a:solidFill>
                  <a:srgbClr val="0000FF"/>
                </a:solidFill>
                <a:latin typeface="Consolas" pitchFamily="49" charset="0"/>
                <a:ea typeface="仿宋" pitchFamily="49" charset="-122"/>
              </a:rPr>
              <a:t>     	lowcost[j]=</a:t>
            </a:r>
            <a:r>
              <a:rPr lang="en-US" altLang="zh-CN" sz="2000" b="0">
                <a:solidFill>
                  <a:srgbClr val="FF0000"/>
                </a:solidFill>
                <a:latin typeface="Consolas" pitchFamily="49" charset="0"/>
                <a:ea typeface="仿宋" pitchFamily="49" charset="-122"/>
              </a:rPr>
              <a:t>distance</a:t>
            </a:r>
            <a:r>
              <a:rPr lang="en-US" altLang="zh-CN" sz="2000" b="0">
                <a:solidFill>
                  <a:srgbClr val="0000FF"/>
                </a:solidFill>
                <a:latin typeface="Consolas" pitchFamily="49" charset="0"/>
                <a:ea typeface="仿宋" pitchFamily="49" charset="-122"/>
              </a:rPr>
              <a:t>(p,v,j);</a:t>
            </a:r>
            <a:endParaRPr lang="zh-CN" altLang="zh-CN" sz="2000" b="0">
              <a:solidFill>
                <a:srgbClr val="0000FF"/>
              </a:solidFill>
              <a:latin typeface="Consolas" pitchFamily="49" charset="0"/>
              <a:ea typeface="仿宋" pitchFamily="49" charset="-122"/>
            </a:endParaRPr>
          </a:p>
          <a:p>
            <a:pPr algn="l" defTabSz="360000">
              <a:lnSpc>
                <a:spcPts val="2700"/>
              </a:lnSpc>
              <a:spcBef>
                <a:spcPts val="0"/>
              </a:spcBef>
            </a:pPr>
            <a:r>
              <a:rPr lang="en-US" altLang="zh-CN" sz="2000" b="0">
                <a:solidFill>
                  <a:srgbClr val="0000FF"/>
                </a:solidFill>
                <a:latin typeface="Consolas" pitchFamily="49" charset="0"/>
                <a:ea typeface="仿宋" pitchFamily="49" charset="-122"/>
              </a:rPr>
              <a:t>     	closest[j]=v;</a:t>
            </a:r>
            <a:endParaRPr lang="zh-CN" altLang="zh-CN" sz="2000" b="0">
              <a:solidFill>
                <a:srgbClr val="0000FF"/>
              </a:solidFill>
              <a:latin typeface="Consolas" pitchFamily="49" charset="0"/>
              <a:ea typeface="仿宋" pitchFamily="49" charset="-122"/>
            </a:endParaRPr>
          </a:p>
          <a:p>
            <a:pPr algn="l" defTabSz="360000">
              <a:lnSpc>
                <a:spcPts val="2700"/>
              </a:lnSpc>
              <a:spcBef>
                <a:spcPts val="0"/>
              </a:spcBef>
            </a:pPr>
            <a:r>
              <a:rPr lang="en-US" altLang="zh-CN" sz="2000" b="0">
                <a:solidFill>
                  <a:srgbClr val="0000FF"/>
                </a:solidFill>
                <a:latin typeface="Consolas" pitchFamily="49" charset="0"/>
                <a:ea typeface="仿宋" pitchFamily="49" charset="-122"/>
              </a:rPr>
              <a:t>  	}</a:t>
            </a:r>
            <a:endParaRPr lang="zh-CN" altLang="zh-CN" sz="2000" b="0">
              <a:solidFill>
                <a:srgbClr val="0000FF"/>
              </a:solidFill>
              <a:latin typeface="Consolas" pitchFamily="49" charset="0"/>
              <a:ea typeface="仿宋" pitchFamily="49" charset="-122"/>
            </a:endParaRPr>
          </a:p>
        </p:txBody>
      </p:sp>
      <p:sp>
        <p:nvSpPr>
          <p:cNvPr id="4" name="灯片编号占位符 3"/>
          <p:cNvSpPr>
            <a:spLocks noGrp="1"/>
          </p:cNvSpPr>
          <p:nvPr>
            <p:ph type="sldNum" sz="quarter" idx="12"/>
          </p:nvPr>
        </p:nvSpPr>
        <p:spPr/>
        <p:txBody>
          <a:bodyPr/>
          <a:lstStyle/>
          <a:p>
            <a:fld id="{7AF016A1-9F15-429F-9EFD-84004B73C732}" type="slidenum">
              <a:rPr lang="en-US" altLang="zh-CN" smtClean="0"/>
              <a:pPr/>
              <a:t>28</a:t>
            </a:fld>
            <a:r>
              <a:rPr lang="en-US" altLang="zh-CN"/>
              <a:t>/158</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9" end="9"/>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10" end="1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11" end="1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12" end="12"/>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xEl>
                                              <p:pRg st="13" end="13"/>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42844" y="142852"/>
            <a:ext cx="8858280" cy="3744716"/>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2500"/>
              </a:lnSpc>
              <a:spcBef>
                <a:spcPts val="0"/>
              </a:spcBef>
            </a:pPr>
            <a:r>
              <a:rPr lang="en-US" altLang="zh-CN" sz="2000" b="0">
                <a:solidFill>
                  <a:srgbClr val="006600"/>
                </a:solidFill>
                <a:latin typeface="Consolas" pitchFamily="49" charset="0"/>
                <a:ea typeface="仿宋" pitchFamily="49" charset="-122"/>
              </a:rPr>
              <a:t>	</a:t>
            </a:r>
            <a:r>
              <a:rPr lang="en-US" altLang="zh-CN" sz="2000">
                <a:solidFill>
                  <a:srgbClr val="006600"/>
                </a:solidFill>
                <a:latin typeface="Consolas" pitchFamily="49" charset="0"/>
                <a:ea typeface="仿宋" pitchFamily="49" charset="-122"/>
              </a:rPr>
              <a:t>ans+=mincost;</a:t>
            </a:r>
            <a:r>
              <a:rPr lang="en-US" altLang="zh-CN" sz="2000" b="0">
                <a:solidFill>
                  <a:srgbClr val="006600"/>
                </a:solidFill>
                <a:latin typeface="Consolas" pitchFamily="49" charset="0"/>
                <a:ea typeface="仿宋" pitchFamily="49" charset="-122"/>
              </a:rPr>
              <a:t> </a:t>
            </a:r>
            <a:r>
              <a:rPr lang="en-US" altLang="zh-CN" sz="2000" b="0">
                <a:solidFill>
                  <a:srgbClr val="0000FF"/>
                </a:solidFill>
                <a:latin typeface="Consolas" pitchFamily="49" charset="0"/>
                <a:ea typeface="仿宋" pitchFamily="49" charset="-122"/>
              </a:rPr>
              <a:t> 						</a:t>
            </a:r>
            <a:r>
              <a:rPr lang="en-US" altLang="zh-CN" sz="2000" b="0">
                <a:solidFill>
                  <a:srgbClr val="00B0F0"/>
                </a:solidFill>
                <a:latin typeface="Consolas" pitchFamily="49" charset="0"/>
                <a:ea typeface="仿宋" pitchFamily="49" charset="-122"/>
              </a:rPr>
              <a:t>//</a:t>
            </a:r>
            <a:r>
              <a:rPr lang="zh-CN" altLang="zh-CN" sz="2000" b="0">
                <a:solidFill>
                  <a:srgbClr val="00B0F0"/>
                </a:solidFill>
                <a:latin typeface="Consolas" pitchFamily="49" charset="0"/>
                <a:ea typeface="仿宋" pitchFamily="49" charset="-122"/>
              </a:rPr>
              <a:t>产生最小生成树的一条边</a:t>
            </a:r>
            <a:endParaRPr lang="en-US" altLang="zh-CN" sz="2000" b="0">
              <a:solidFill>
                <a:srgbClr val="00B0F0"/>
              </a:solidFill>
              <a:latin typeface="Consolas" pitchFamily="49" charset="0"/>
              <a:ea typeface="仿宋" pitchFamily="49" charset="-122"/>
            </a:endParaRPr>
          </a:p>
          <a:p>
            <a:pPr algn="l" defTabSz="360000">
              <a:lnSpc>
                <a:spcPts val="2500"/>
              </a:lnSpc>
              <a:spcBef>
                <a:spcPts val="0"/>
              </a:spcBef>
            </a:pPr>
            <a:r>
              <a:rPr lang="en-US" altLang="zh-CN" sz="2000" b="0">
                <a:solidFill>
                  <a:srgbClr val="0000FF"/>
                </a:solidFill>
                <a:latin typeface="Consolas" pitchFamily="49" charset="0"/>
                <a:ea typeface="仿宋" pitchFamily="49" charset="-122"/>
              </a:rPr>
              <a:t>  	U[v]=1;  								</a:t>
            </a:r>
            <a:r>
              <a:rPr lang="en-US" altLang="zh-CN" sz="2000" b="0">
                <a:solidFill>
                  <a:srgbClr val="00B0F0"/>
                </a:solidFill>
                <a:latin typeface="Consolas" pitchFamily="49" charset="0"/>
                <a:ea typeface="仿宋" pitchFamily="49" charset="-122"/>
              </a:rPr>
              <a:t>//</a:t>
            </a:r>
            <a:r>
              <a:rPr lang="zh-CN" altLang="zh-CN" sz="2000" b="0">
                <a:solidFill>
                  <a:srgbClr val="00B0F0"/>
                </a:solidFill>
                <a:latin typeface="Consolas" pitchFamily="49" charset="0"/>
                <a:ea typeface="仿宋" pitchFamily="49" charset="-122"/>
              </a:rPr>
              <a:t>源点加入</a:t>
            </a:r>
            <a:r>
              <a:rPr lang="en-US" altLang="zh-CN" sz="2000" b="0">
                <a:solidFill>
                  <a:srgbClr val="00B0F0"/>
                </a:solidFill>
                <a:latin typeface="Consolas" pitchFamily="49" charset="0"/>
                <a:ea typeface="仿宋" pitchFamily="49" charset="-122"/>
              </a:rPr>
              <a:t>U </a:t>
            </a:r>
            <a:endParaRPr lang="zh-CN" altLang="zh-CN" sz="2000" b="0">
              <a:solidFill>
                <a:srgbClr val="00B0F0"/>
              </a:solidFill>
              <a:latin typeface="Consolas" pitchFamily="49" charset="0"/>
              <a:ea typeface="仿宋" pitchFamily="49" charset="-122"/>
            </a:endParaRPr>
          </a:p>
          <a:p>
            <a:pPr algn="l" defTabSz="360000">
              <a:lnSpc>
                <a:spcPts val="2500"/>
              </a:lnSpc>
              <a:spcBef>
                <a:spcPts val="0"/>
              </a:spcBef>
            </a:pPr>
            <a:r>
              <a:rPr lang="en-US" altLang="zh-CN" sz="2000" b="0">
                <a:solidFill>
                  <a:srgbClr val="0000FF"/>
                </a:solidFill>
                <a:latin typeface="Consolas" pitchFamily="49" charset="0"/>
                <a:ea typeface="仿宋" pitchFamily="49" charset="-122"/>
              </a:rPr>
              <a:t>  	for (int i=1;i&lt;n;i++) {   	</a:t>
            </a:r>
            <a:r>
              <a:rPr lang="en-US" altLang="zh-CN" sz="2000" b="0">
                <a:solidFill>
                  <a:srgbClr val="00B0F0"/>
                </a:solidFill>
                <a:latin typeface="Consolas" pitchFamily="49" charset="0"/>
                <a:ea typeface="仿宋" pitchFamily="49" charset="-122"/>
              </a:rPr>
              <a:t>//</a:t>
            </a:r>
            <a:r>
              <a:rPr lang="zh-CN" altLang="zh-CN" sz="2000" b="0">
                <a:solidFill>
                  <a:srgbClr val="00B0F0"/>
                </a:solidFill>
                <a:latin typeface="Consolas" pitchFamily="49" charset="0"/>
                <a:ea typeface="仿宋" pitchFamily="49" charset="-122"/>
              </a:rPr>
              <a:t>找出</a:t>
            </a:r>
            <a:r>
              <a:rPr lang="en-US" altLang="zh-CN" sz="2000" b="0">
                <a:solidFill>
                  <a:srgbClr val="00B0F0"/>
                </a:solidFill>
                <a:latin typeface="Consolas" pitchFamily="49" charset="0"/>
                <a:ea typeface="仿宋" pitchFamily="49" charset="-122"/>
              </a:rPr>
              <a:t>(n-1)</a:t>
            </a:r>
            <a:r>
              <a:rPr lang="zh-CN" altLang="zh-CN" sz="2000" b="0">
                <a:solidFill>
                  <a:srgbClr val="00B0F0"/>
                </a:solidFill>
                <a:latin typeface="Consolas" pitchFamily="49" charset="0"/>
                <a:ea typeface="仿宋" pitchFamily="49" charset="-122"/>
              </a:rPr>
              <a:t>个顶点</a:t>
            </a:r>
          </a:p>
          <a:p>
            <a:pPr algn="l" defTabSz="360000">
              <a:lnSpc>
                <a:spcPts val="2500"/>
              </a:lnSpc>
              <a:spcBef>
                <a:spcPts val="0"/>
              </a:spcBef>
            </a:pPr>
            <a:r>
              <a:rPr lang="en-US" altLang="zh-CN" sz="2000" b="0">
                <a:solidFill>
                  <a:srgbClr val="0000FF"/>
                </a:solidFill>
                <a:latin typeface="Consolas" pitchFamily="49" charset="0"/>
                <a:ea typeface="仿宋" pitchFamily="49" charset="-122"/>
              </a:rPr>
              <a:t>     	mincost=INF;</a:t>
            </a:r>
            <a:endParaRPr lang="zh-CN" altLang="zh-CN" sz="2000" b="0">
              <a:solidFill>
                <a:srgbClr val="0000FF"/>
              </a:solidFill>
              <a:latin typeface="Consolas" pitchFamily="49" charset="0"/>
              <a:ea typeface="仿宋" pitchFamily="49" charset="-122"/>
            </a:endParaRPr>
          </a:p>
          <a:p>
            <a:pPr algn="l" defTabSz="360000">
              <a:lnSpc>
                <a:spcPts val="2500"/>
              </a:lnSpc>
              <a:spcBef>
                <a:spcPts val="0"/>
              </a:spcBef>
            </a:pPr>
            <a:r>
              <a:rPr lang="en-US" altLang="zh-CN" sz="2000" b="0">
                <a:solidFill>
                  <a:srgbClr val="0000FF"/>
                </a:solidFill>
                <a:latin typeface="Consolas" pitchFamily="49" charset="0"/>
                <a:ea typeface="仿宋" pitchFamily="49" charset="-122"/>
              </a:rPr>
              <a:t>     	int k=-1; </a:t>
            </a:r>
            <a:endParaRPr lang="zh-CN" altLang="zh-CN" sz="2000" b="0">
              <a:solidFill>
                <a:srgbClr val="0000FF"/>
              </a:solidFill>
              <a:latin typeface="Consolas" pitchFamily="49" charset="0"/>
              <a:ea typeface="仿宋" pitchFamily="49" charset="-122"/>
            </a:endParaRPr>
          </a:p>
          <a:p>
            <a:pPr algn="l" defTabSz="360000">
              <a:lnSpc>
                <a:spcPts val="2500"/>
              </a:lnSpc>
              <a:spcBef>
                <a:spcPts val="0"/>
              </a:spcBef>
            </a:pPr>
            <a:r>
              <a:rPr lang="en-US" altLang="zh-CN" sz="2000" b="0">
                <a:solidFill>
                  <a:srgbClr val="0000FF"/>
                </a:solidFill>
                <a:latin typeface="Consolas" pitchFamily="49" charset="0"/>
                <a:ea typeface="仿宋" pitchFamily="49" charset="-122"/>
              </a:rPr>
              <a:t>     	for (int j=0;j&lt;n;j++) {   </a:t>
            </a:r>
            <a:r>
              <a:rPr lang="en-US" altLang="zh-CN" sz="2000" b="0">
                <a:solidFill>
                  <a:srgbClr val="00B0F0"/>
                </a:solidFill>
                <a:latin typeface="Consolas" pitchFamily="49" charset="0"/>
                <a:ea typeface="仿宋" pitchFamily="49" charset="-122"/>
              </a:rPr>
              <a:t>//</a:t>
            </a:r>
            <a:r>
              <a:rPr lang="zh-CN" altLang="zh-CN" sz="2000" b="0">
                <a:solidFill>
                  <a:srgbClr val="00B0F0"/>
                </a:solidFill>
                <a:latin typeface="Consolas" pitchFamily="49" charset="0"/>
                <a:ea typeface="仿宋" pitchFamily="49" charset="-122"/>
              </a:rPr>
              <a:t>在</a:t>
            </a:r>
            <a:r>
              <a:rPr lang="en-US" altLang="zh-CN" sz="2000" b="0">
                <a:solidFill>
                  <a:srgbClr val="00B0F0"/>
                </a:solidFill>
                <a:latin typeface="Consolas" pitchFamily="49" charset="0"/>
                <a:ea typeface="仿宋" pitchFamily="49" charset="-122"/>
              </a:rPr>
              <a:t>(V-U)</a:t>
            </a:r>
            <a:r>
              <a:rPr lang="zh-CN" altLang="zh-CN" sz="2000" b="0">
                <a:solidFill>
                  <a:srgbClr val="00B0F0"/>
                </a:solidFill>
                <a:latin typeface="Consolas" pitchFamily="49" charset="0"/>
                <a:ea typeface="仿宋" pitchFamily="49" charset="-122"/>
              </a:rPr>
              <a:t>中找出离</a:t>
            </a:r>
            <a:r>
              <a:rPr lang="en-US" altLang="zh-CN" sz="2000" b="0">
                <a:solidFill>
                  <a:srgbClr val="00B0F0"/>
                </a:solidFill>
                <a:latin typeface="Consolas" pitchFamily="49" charset="0"/>
                <a:ea typeface="仿宋" pitchFamily="49" charset="-122"/>
              </a:rPr>
              <a:t>U</a:t>
            </a:r>
            <a:r>
              <a:rPr lang="zh-CN" altLang="zh-CN" sz="2000" b="0">
                <a:solidFill>
                  <a:srgbClr val="00B0F0"/>
                </a:solidFill>
                <a:latin typeface="Consolas" pitchFamily="49" charset="0"/>
                <a:ea typeface="仿宋" pitchFamily="49" charset="-122"/>
              </a:rPr>
              <a:t>最近的顶点</a:t>
            </a:r>
            <a:r>
              <a:rPr lang="en-US" altLang="zh-CN" sz="2000" b="0">
                <a:solidFill>
                  <a:srgbClr val="00B0F0"/>
                </a:solidFill>
                <a:latin typeface="Consolas" pitchFamily="49" charset="0"/>
                <a:ea typeface="仿宋" pitchFamily="49" charset="-122"/>
              </a:rPr>
              <a:t>k</a:t>
            </a:r>
            <a:endParaRPr lang="zh-CN" altLang="zh-CN" sz="2000" b="0">
              <a:solidFill>
                <a:srgbClr val="00B0F0"/>
              </a:solidFill>
              <a:latin typeface="Consolas" pitchFamily="49" charset="0"/>
              <a:ea typeface="仿宋" pitchFamily="49" charset="-122"/>
            </a:endParaRPr>
          </a:p>
          <a:p>
            <a:pPr algn="l" defTabSz="360000">
              <a:lnSpc>
                <a:spcPts val="2500"/>
              </a:lnSpc>
              <a:spcBef>
                <a:spcPts val="0"/>
              </a:spcBef>
            </a:pPr>
            <a:r>
              <a:rPr lang="en-US" altLang="zh-CN" sz="2000" b="0">
                <a:solidFill>
                  <a:srgbClr val="0000FF"/>
                </a:solidFill>
                <a:latin typeface="Consolas" pitchFamily="49" charset="0"/>
                <a:ea typeface="仿宋" pitchFamily="49" charset="-122"/>
              </a:rPr>
              <a:t>     		if (</a:t>
            </a:r>
            <a:r>
              <a:rPr lang="en-US" altLang="zh-CN" sz="2000" b="0">
                <a:solidFill>
                  <a:srgbClr val="FF00FF"/>
                </a:solidFill>
                <a:latin typeface="Consolas" pitchFamily="49" charset="0"/>
                <a:ea typeface="仿宋" pitchFamily="49" charset="-122"/>
              </a:rPr>
              <a:t>U[j]==0 &amp;&amp; lowcost[j]&lt;mincost</a:t>
            </a:r>
            <a:r>
              <a:rPr lang="en-US" altLang="zh-CN" sz="2000" b="0">
                <a:solidFill>
                  <a:srgbClr val="0000FF"/>
                </a:solidFill>
                <a:latin typeface="Consolas" pitchFamily="49" charset="0"/>
                <a:ea typeface="仿宋" pitchFamily="49" charset="-122"/>
              </a:rPr>
              <a:t>) {</a:t>
            </a:r>
            <a:endParaRPr lang="zh-CN" altLang="zh-CN" sz="2000" b="0">
              <a:solidFill>
                <a:srgbClr val="0000FF"/>
              </a:solidFill>
              <a:latin typeface="Consolas" pitchFamily="49" charset="0"/>
              <a:ea typeface="仿宋" pitchFamily="49" charset="-122"/>
            </a:endParaRPr>
          </a:p>
          <a:p>
            <a:pPr algn="l" defTabSz="360000">
              <a:lnSpc>
                <a:spcPts val="2500"/>
              </a:lnSpc>
              <a:spcBef>
                <a:spcPts val="0"/>
              </a:spcBef>
            </a:pPr>
            <a:r>
              <a:rPr lang="en-US" altLang="zh-CN" sz="2000" b="0">
                <a:solidFill>
                  <a:srgbClr val="0000FF"/>
                </a:solidFill>
                <a:latin typeface="Consolas" pitchFamily="49" charset="0"/>
                <a:ea typeface="仿宋" pitchFamily="49" charset="-122"/>
              </a:rPr>
              <a:t>       		mincost=lowcost[j];</a:t>
            </a:r>
            <a:endParaRPr lang="zh-CN" altLang="zh-CN" sz="2000" b="0">
              <a:solidFill>
                <a:srgbClr val="0000FF"/>
              </a:solidFill>
              <a:latin typeface="Consolas" pitchFamily="49" charset="0"/>
              <a:ea typeface="仿宋" pitchFamily="49" charset="-122"/>
            </a:endParaRPr>
          </a:p>
          <a:p>
            <a:pPr algn="l" defTabSz="360000">
              <a:lnSpc>
                <a:spcPts val="2500"/>
              </a:lnSpc>
              <a:spcBef>
                <a:spcPts val="0"/>
              </a:spcBef>
            </a:pPr>
            <a:r>
              <a:rPr lang="en-US" altLang="zh-CN" sz="2000" b="0">
                <a:solidFill>
                  <a:srgbClr val="0000FF"/>
                </a:solidFill>
                <a:latin typeface="Consolas" pitchFamily="49" charset="0"/>
                <a:ea typeface="仿宋" pitchFamily="49" charset="-122"/>
              </a:rPr>
              <a:t>          	k=j;  						</a:t>
            </a:r>
            <a:r>
              <a:rPr lang="en-US" altLang="zh-CN" sz="2000" b="0">
                <a:solidFill>
                  <a:srgbClr val="00B0F0"/>
                </a:solidFill>
                <a:latin typeface="Consolas" pitchFamily="49" charset="0"/>
                <a:ea typeface="仿宋" pitchFamily="49" charset="-122"/>
              </a:rPr>
              <a:t>//k</a:t>
            </a:r>
            <a:r>
              <a:rPr lang="zh-CN" altLang="zh-CN" sz="2000" b="0">
                <a:solidFill>
                  <a:srgbClr val="00B0F0"/>
                </a:solidFill>
                <a:latin typeface="Consolas" pitchFamily="49" charset="0"/>
                <a:ea typeface="仿宋" pitchFamily="49" charset="-122"/>
              </a:rPr>
              <a:t>记录最近顶点的编号</a:t>
            </a:r>
          </a:p>
          <a:p>
            <a:pPr algn="l" defTabSz="360000">
              <a:lnSpc>
                <a:spcPts val="2500"/>
              </a:lnSpc>
              <a:spcBef>
                <a:spcPts val="0"/>
              </a:spcBef>
            </a:pPr>
            <a:r>
              <a:rPr lang="en-US" altLang="zh-CN" sz="2000" b="0">
                <a:solidFill>
                  <a:srgbClr val="0000FF"/>
                </a:solidFill>
                <a:latin typeface="Consolas" pitchFamily="49" charset="0"/>
                <a:ea typeface="仿宋" pitchFamily="49" charset="-122"/>
              </a:rPr>
              <a:t>       	}</a:t>
            </a:r>
            <a:endParaRPr lang="zh-CN" altLang="zh-CN" sz="2000" b="0">
              <a:solidFill>
                <a:srgbClr val="0000FF"/>
              </a:solidFill>
              <a:latin typeface="Consolas" pitchFamily="49" charset="0"/>
              <a:ea typeface="仿宋" pitchFamily="49" charset="-122"/>
            </a:endParaRPr>
          </a:p>
          <a:p>
            <a:pPr algn="l" defTabSz="360000">
              <a:lnSpc>
                <a:spcPts val="2500"/>
              </a:lnSpc>
              <a:spcBef>
                <a:spcPts val="0"/>
              </a:spcBef>
            </a:pPr>
            <a:r>
              <a:rPr lang="en-US" altLang="zh-CN" sz="2000" b="0">
                <a:solidFill>
                  <a:srgbClr val="0000FF"/>
                </a:solidFill>
                <a:latin typeface="Consolas" pitchFamily="49" charset="0"/>
                <a:ea typeface="仿宋" pitchFamily="49" charset="-122"/>
              </a:rPr>
              <a:t>     	}</a:t>
            </a:r>
            <a:endParaRPr lang="zh-CN" altLang="zh-CN" sz="2000" b="0">
              <a:solidFill>
                <a:srgbClr val="0000FF"/>
              </a:solidFill>
              <a:latin typeface="Consolas" pitchFamily="49" charset="0"/>
              <a:ea typeface="仿宋" pitchFamily="49" charset="-122"/>
            </a:endParaRPr>
          </a:p>
        </p:txBody>
      </p:sp>
      <p:grpSp>
        <p:nvGrpSpPr>
          <p:cNvPr id="3" name="组合 2"/>
          <p:cNvGrpSpPr/>
          <p:nvPr/>
        </p:nvGrpSpPr>
        <p:grpSpPr>
          <a:xfrm>
            <a:off x="642910" y="3857628"/>
            <a:ext cx="7143800" cy="2369596"/>
            <a:chOff x="1357290" y="3488296"/>
            <a:chExt cx="7143800" cy="2369596"/>
          </a:xfrm>
        </p:grpSpPr>
        <p:sp>
          <p:nvSpPr>
            <p:cNvPr id="4" name="TextBox 3"/>
            <p:cNvSpPr txBox="1"/>
            <p:nvPr/>
          </p:nvSpPr>
          <p:spPr>
            <a:xfrm>
              <a:off x="2786050" y="5519338"/>
              <a:ext cx="1571636" cy="338554"/>
            </a:xfrm>
            <a:prstGeom prst="rect">
              <a:avLst/>
            </a:prstGeom>
            <a:noFill/>
          </p:spPr>
          <p:txBody>
            <a:bodyPr wrap="square" rtlCol="0">
              <a:spAutoFit/>
            </a:bodyPr>
            <a:lstStyle/>
            <a:p>
              <a:r>
                <a:rPr lang="en-US" altLang="zh-CN" sz="1600">
                  <a:solidFill>
                    <a:srgbClr val="0000FF"/>
                  </a:solidFill>
                  <a:latin typeface="Consolas" pitchFamily="49" charset="0"/>
                  <a:cs typeface="Consolas" pitchFamily="49" charset="0"/>
                </a:rPr>
                <a:t>closest[</a:t>
              </a:r>
              <a:r>
                <a:rPr lang="en-US" altLang="zh-CN" sz="1600" i="1">
                  <a:solidFill>
                    <a:srgbClr val="0000FF"/>
                  </a:solidFill>
                  <a:latin typeface="Consolas" pitchFamily="49" charset="0"/>
                  <a:cs typeface="Consolas" pitchFamily="49" charset="0"/>
                </a:rPr>
                <a:t>j</a:t>
              </a:r>
              <a:r>
                <a:rPr lang="en-US" altLang="zh-CN" sz="1600">
                  <a:solidFill>
                    <a:srgbClr val="0000FF"/>
                  </a:solidFill>
                  <a:latin typeface="Consolas" pitchFamily="49" charset="0"/>
                  <a:cs typeface="Consolas" pitchFamily="49" charset="0"/>
                </a:rPr>
                <a:t>]</a:t>
              </a:r>
              <a:endParaRPr lang="zh-CN" altLang="en-US" sz="1600">
                <a:solidFill>
                  <a:srgbClr val="0000FF"/>
                </a:solidFill>
                <a:latin typeface="Consolas" pitchFamily="49" charset="0"/>
                <a:cs typeface="Consolas" pitchFamily="49" charset="0"/>
              </a:endParaRPr>
            </a:p>
          </p:txBody>
        </p:sp>
        <p:sp>
          <p:nvSpPr>
            <p:cNvPr id="6" name="椭圆 5"/>
            <p:cNvSpPr/>
            <p:nvPr/>
          </p:nvSpPr>
          <p:spPr>
            <a:xfrm>
              <a:off x="2925554" y="3988362"/>
              <a:ext cx="432000" cy="43200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sz="2000" i="1">
                  <a:solidFill>
                    <a:srgbClr val="0000FF"/>
                  </a:solidFill>
                  <a:latin typeface="Consolas" pitchFamily="49" charset="0"/>
                  <a:cs typeface="Consolas" pitchFamily="49" charset="0"/>
                </a:rPr>
                <a:t>v</a:t>
              </a:r>
              <a:endParaRPr lang="zh-CN" altLang="en-US" sz="2000" i="1">
                <a:solidFill>
                  <a:srgbClr val="0000FF"/>
                </a:solidFill>
                <a:latin typeface="Consolas" pitchFamily="49" charset="0"/>
                <a:cs typeface="Consolas" pitchFamily="49" charset="0"/>
              </a:endParaRPr>
            </a:p>
          </p:txBody>
        </p:sp>
        <p:sp>
          <p:nvSpPr>
            <p:cNvPr id="7" name="椭圆 6"/>
            <p:cNvSpPr/>
            <p:nvPr/>
          </p:nvSpPr>
          <p:spPr>
            <a:xfrm>
              <a:off x="2928926" y="4770808"/>
              <a:ext cx="432000" cy="4320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i="1">
                  <a:solidFill>
                    <a:schemeClr val="bg1"/>
                  </a:solidFill>
                  <a:latin typeface="Consolas" pitchFamily="49" charset="0"/>
                  <a:cs typeface="Consolas" pitchFamily="49" charset="0"/>
                </a:rPr>
                <a:t>k</a:t>
              </a:r>
              <a:endParaRPr lang="zh-CN" altLang="en-US" sz="2000" i="1">
                <a:solidFill>
                  <a:schemeClr val="bg1"/>
                </a:solidFill>
                <a:latin typeface="Consolas" pitchFamily="49" charset="0"/>
                <a:cs typeface="Consolas" pitchFamily="49" charset="0"/>
              </a:endParaRPr>
            </a:p>
          </p:txBody>
        </p:sp>
        <p:sp>
          <p:nvSpPr>
            <p:cNvPr id="8" name="椭圆 7"/>
            <p:cNvSpPr/>
            <p:nvPr/>
          </p:nvSpPr>
          <p:spPr>
            <a:xfrm>
              <a:off x="5357818" y="4270742"/>
              <a:ext cx="432000" cy="43200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i="1">
                  <a:solidFill>
                    <a:srgbClr val="0000FF"/>
                  </a:solidFill>
                  <a:latin typeface="Consolas" pitchFamily="49" charset="0"/>
                  <a:cs typeface="Consolas" pitchFamily="49" charset="0"/>
                </a:rPr>
                <a:t>j</a:t>
              </a:r>
              <a:endParaRPr lang="zh-CN" altLang="en-US" sz="2000" i="1">
                <a:solidFill>
                  <a:srgbClr val="0000FF"/>
                </a:solidFill>
                <a:latin typeface="Consolas" pitchFamily="49" charset="0"/>
                <a:cs typeface="Consolas" pitchFamily="49" charset="0"/>
              </a:endParaRPr>
            </a:p>
          </p:txBody>
        </p:sp>
        <p:cxnSp>
          <p:nvCxnSpPr>
            <p:cNvPr id="9" name="直接连接符 8"/>
            <p:cNvCxnSpPr>
              <a:endCxn id="8" idx="2"/>
            </p:cNvCxnSpPr>
            <p:nvPr/>
          </p:nvCxnSpPr>
          <p:spPr>
            <a:xfrm>
              <a:off x="3714744" y="4416990"/>
              <a:ext cx="1643074" cy="69752"/>
            </a:xfrm>
            <a:prstGeom prst="line">
              <a:avLst/>
            </a:prstGeom>
          </p:spPr>
          <p:style>
            <a:lnRef idx="3">
              <a:schemeClr val="accent2"/>
            </a:lnRef>
            <a:fillRef idx="0">
              <a:schemeClr val="accent2"/>
            </a:fillRef>
            <a:effectRef idx="2">
              <a:schemeClr val="accent2"/>
            </a:effectRef>
            <a:fontRef idx="minor">
              <a:schemeClr val="tx1"/>
            </a:fontRef>
          </p:style>
        </p:cxnSp>
        <p:cxnSp>
          <p:nvCxnSpPr>
            <p:cNvPr id="10" name="直接连接符 9"/>
            <p:cNvCxnSpPr>
              <a:stCxn id="6" idx="4"/>
              <a:endCxn id="7" idx="0"/>
            </p:cNvCxnSpPr>
            <p:nvPr/>
          </p:nvCxnSpPr>
          <p:spPr>
            <a:xfrm rot="16200000" flipH="1">
              <a:off x="2968017" y="4593899"/>
              <a:ext cx="350446" cy="3372"/>
            </a:xfrm>
            <a:prstGeom prst="line">
              <a:avLst/>
            </a:prstGeom>
          </p:spPr>
          <p:style>
            <a:lnRef idx="1">
              <a:schemeClr val="dk1"/>
            </a:lnRef>
            <a:fillRef idx="0">
              <a:schemeClr val="dk1"/>
            </a:fillRef>
            <a:effectRef idx="0">
              <a:schemeClr val="dk1"/>
            </a:effectRef>
            <a:fontRef idx="minor">
              <a:schemeClr val="tx1"/>
            </a:fontRef>
          </p:style>
        </p:cxnSp>
        <p:sp>
          <p:nvSpPr>
            <p:cNvPr id="11" name="TextBox 10"/>
            <p:cNvSpPr txBox="1"/>
            <p:nvPr/>
          </p:nvSpPr>
          <p:spPr>
            <a:xfrm>
              <a:off x="3714744" y="4078436"/>
              <a:ext cx="1416252" cy="338554"/>
            </a:xfrm>
            <a:prstGeom prst="rect">
              <a:avLst/>
            </a:prstGeom>
            <a:noFill/>
          </p:spPr>
          <p:txBody>
            <a:bodyPr wrap="square" rtlCol="0">
              <a:spAutoFit/>
            </a:bodyPr>
            <a:lstStyle/>
            <a:p>
              <a:r>
                <a:rPr lang="en-US" altLang="zh-CN" sz="1600">
                  <a:solidFill>
                    <a:srgbClr val="0000FF"/>
                  </a:solidFill>
                  <a:latin typeface="Consolas" pitchFamily="49" charset="0"/>
                  <a:cs typeface="Consolas" pitchFamily="49" charset="0"/>
                </a:rPr>
                <a:t>lowcost[</a:t>
              </a:r>
              <a:r>
                <a:rPr lang="en-US" altLang="zh-CN" sz="1600" i="1">
                  <a:solidFill>
                    <a:srgbClr val="0000FF"/>
                  </a:solidFill>
                  <a:latin typeface="Consolas" pitchFamily="49" charset="0"/>
                  <a:cs typeface="Consolas" pitchFamily="49" charset="0"/>
                </a:rPr>
                <a:t>j</a:t>
              </a:r>
              <a:r>
                <a:rPr lang="en-US" altLang="zh-CN" sz="1600">
                  <a:solidFill>
                    <a:srgbClr val="0000FF"/>
                  </a:solidFill>
                  <a:latin typeface="Consolas" pitchFamily="49" charset="0"/>
                  <a:cs typeface="Consolas" pitchFamily="49" charset="0"/>
                </a:rPr>
                <a:t>]</a:t>
              </a:r>
              <a:endParaRPr lang="zh-CN" altLang="en-US" sz="1600">
                <a:solidFill>
                  <a:srgbClr val="0000FF"/>
                </a:solidFill>
                <a:latin typeface="Consolas" pitchFamily="49" charset="0"/>
                <a:cs typeface="Consolas" pitchFamily="49" charset="0"/>
              </a:endParaRPr>
            </a:p>
          </p:txBody>
        </p:sp>
        <p:sp>
          <p:nvSpPr>
            <p:cNvPr id="12" name="椭圆 11"/>
            <p:cNvSpPr/>
            <p:nvPr/>
          </p:nvSpPr>
          <p:spPr>
            <a:xfrm>
              <a:off x="2571736" y="3631172"/>
              <a:ext cx="1143008" cy="1798092"/>
            </a:xfrm>
            <a:prstGeom prst="ellipse">
              <a:avLst/>
            </a:prstGeom>
            <a:no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itchFamily="49" charset="0"/>
                <a:cs typeface="Consolas" pitchFamily="49" charset="0"/>
              </a:endParaRPr>
            </a:p>
          </p:txBody>
        </p:sp>
        <p:sp>
          <p:nvSpPr>
            <p:cNvPr id="13" name="椭圆 12"/>
            <p:cNvSpPr/>
            <p:nvPr/>
          </p:nvSpPr>
          <p:spPr>
            <a:xfrm>
              <a:off x="5000628" y="3488296"/>
              <a:ext cx="1143008" cy="1798092"/>
            </a:xfrm>
            <a:prstGeom prst="ellipse">
              <a:avLst/>
            </a:prstGeom>
            <a:no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itchFamily="49" charset="0"/>
                <a:cs typeface="Consolas" pitchFamily="49" charset="0"/>
              </a:endParaRPr>
            </a:p>
          </p:txBody>
        </p:sp>
        <p:cxnSp>
          <p:nvCxnSpPr>
            <p:cNvPr id="14" name="直接箭头连接符 13"/>
            <p:cNvCxnSpPr>
              <a:stCxn id="4" idx="0"/>
              <a:endCxn id="7" idx="5"/>
            </p:cNvCxnSpPr>
            <p:nvPr/>
          </p:nvCxnSpPr>
          <p:spPr>
            <a:xfrm rot="16200000" flipV="1">
              <a:off x="3244868" y="5192337"/>
              <a:ext cx="379795" cy="274207"/>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15" name="TextBox 14"/>
            <p:cNvSpPr txBox="1"/>
            <p:nvPr/>
          </p:nvSpPr>
          <p:spPr>
            <a:xfrm>
              <a:off x="6286512" y="4202676"/>
              <a:ext cx="2214578" cy="338554"/>
            </a:xfrm>
            <a:prstGeom prst="rect">
              <a:avLst/>
            </a:prstGeom>
            <a:noFill/>
          </p:spPr>
          <p:txBody>
            <a:bodyPr wrap="square" rtlCol="0">
              <a:spAutoFit/>
            </a:bodyPr>
            <a:lstStyle/>
            <a:p>
              <a:r>
                <a:rPr lang="en-US" altLang="zh-CN" sz="2000">
                  <a:solidFill>
                    <a:srgbClr val="C00000"/>
                  </a:solidFill>
                  <a:latin typeface="Consolas" pitchFamily="49" charset="0"/>
                  <a:cs typeface="Consolas" pitchFamily="49" charset="0"/>
                </a:rPr>
                <a:t>V-U</a:t>
              </a:r>
              <a:r>
                <a:rPr lang="en-US" altLang="zh-CN" sz="2000">
                  <a:solidFill>
                    <a:srgbClr val="0000FF"/>
                  </a:solidFill>
                  <a:latin typeface="Consolas" pitchFamily="49" charset="0"/>
                  <a:cs typeface="Consolas" pitchFamily="49" charset="0"/>
                </a:rPr>
                <a:t>={</a:t>
              </a:r>
              <a:r>
                <a:rPr lang="en-US" altLang="zh-CN" sz="2000" i="1">
                  <a:solidFill>
                    <a:srgbClr val="0000FF"/>
                  </a:solidFill>
                  <a:latin typeface="Consolas" pitchFamily="49" charset="0"/>
                  <a:cs typeface="Consolas" pitchFamily="49" charset="0"/>
                </a:rPr>
                <a:t>j</a:t>
              </a:r>
              <a:r>
                <a:rPr lang="en-US" altLang="zh-CN" sz="2000">
                  <a:solidFill>
                    <a:srgbClr val="0000FF"/>
                  </a:solidFill>
                  <a:latin typeface="Consolas" pitchFamily="49" charset="0"/>
                  <a:cs typeface="Consolas" pitchFamily="49" charset="0"/>
                </a:rPr>
                <a:t>|</a:t>
              </a:r>
              <a:r>
                <a:rPr lang="en-US" altLang="zh-CN" sz="2000">
                  <a:solidFill>
                    <a:srgbClr val="FF00FF"/>
                  </a:solidFill>
                  <a:latin typeface="Consolas" pitchFamily="49" charset="0"/>
                  <a:cs typeface="Consolas" pitchFamily="49" charset="0"/>
                </a:rPr>
                <a:t>U</a:t>
              </a:r>
              <a:r>
                <a:rPr lang="en-US" altLang="zh-CN" sz="2000">
                  <a:solidFill>
                    <a:srgbClr val="0000FF"/>
                  </a:solidFill>
                  <a:latin typeface="Consolas" pitchFamily="49" charset="0"/>
                  <a:cs typeface="Consolas" pitchFamily="49" charset="0"/>
                </a:rPr>
                <a:t>[</a:t>
              </a:r>
              <a:r>
                <a:rPr lang="en-US" altLang="zh-CN" sz="2000" i="1">
                  <a:solidFill>
                    <a:srgbClr val="0000FF"/>
                  </a:solidFill>
                  <a:latin typeface="Consolas" pitchFamily="49" charset="0"/>
                  <a:cs typeface="Consolas" pitchFamily="49" charset="0"/>
                </a:rPr>
                <a:t>j</a:t>
              </a:r>
              <a:r>
                <a:rPr lang="en-US" altLang="zh-CN" sz="2000">
                  <a:solidFill>
                    <a:srgbClr val="0000FF"/>
                  </a:solidFill>
                  <a:latin typeface="Consolas" pitchFamily="49" charset="0"/>
                  <a:cs typeface="Consolas" pitchFamily="49" charset="0"/>
                </a:rPr>
                <a:t>]=0}</a:t>
              </a:r>
              <a:endParaRPr lang="zh-CN" altLang="en-US" sz="2000">
                <a:solidFill>
                  <a:srgbClr val="0000FF"/>
                </a:solidFill>
                <a:latin typeface="Consolas" pitchFamily="49" charset="0"/>
                <a:cs typeface="Consolas" pitchFamily="49" charset="0"/>
              </a:endParaRPr>
            </a:p>
          </p:txBody>
        </p:sp>
        <p:sp>
          <p:nvSpPr>
            <p:cNvPr id="16" name="TextBox 15"/>
            <p:cNvSpPr txBox="1"/>
            <p:nvPr/>
          </p:nvSpPr>
          <p:spPr>
            <a:xfrm>
              <a:off x="1357290" y="4345552"/>
              <a:ext cx="1214446" cy="342979"/>
            </a:xfrm>
            <a:prstGeom prst="rect">
              <a:avLst/>
            </a:prstGeom>
            <a:noFill/>
          </p:spPr>
          <p:txBody>
            <a:bodyPr wrap="square" rtlCol="0">
              <a:spAutoFit/>
            </a:bodyPr>
            <a:lstStyle/>
            <a:p>
              <a:r>
                <a:rPr lang="en-US" altLang="zh-CN" sz="2000">
                  <a:solidFill>
                    <a:srgbClr val="C00000"/>
                  </a:solidFill>
                  <a:latin typeface="Consolas" pitchFamily="49" charset="0"/>
                  <a:cs typeface="Consolas" pitchFamily="49" charset="0"/>
                </a:rPr>
                <a:t>U</a:t>
              </a:r>
              <a:r>
                <a:rPr lang="en-US" altLang="zh-CN" sz="2000">
                  <a:solidFill>
                    <a:srgbClr val="0000FF"/>
                  </a:solidFill>
                  <a:latin typeface="Consolas" pitchFamily="49" charset="0"/>
                  <a:cs typeface="Consolas" pitchFamily="49" charset="0"/>
                </a:rPr>
                <a:t>[</a:t>
              </a:r>
              <a:r>
                <a:rPr lang="en-US" altLang="zh-CN" sz="2000" i="1">
                  <a:solidFill>
                    <a:srgbClr val="0000FF"/>
                  </a:solidFill>
                  <a:latin typeface="Consolas" pitchFamily="49" charset="0"/>
                  <a:cs typeface="Consolas" pitchFamily="49" charset="0"/>
                </a:rPr>
                <a:t>i</a:t>
              </a:r>
              <a:r>
                <a:rPr lang="en-US" altLang="zh-CN" sz="2000">
                  <a:solidFill>
                    <a:srgbClr val="0000FF"/>
                  </a:solidFill>
                  <a:latin typeface="Consolas" pitchFamily="49" charset="0"/>
                  <a:cs typeface="Consolas" pitchFamily="49" charset="0"/>
                </a:rPr>
                <a:t>]=1</a:t>
              </a:r>
              <a:endParaRPr lang="zh-CN" altLang="en-US" sz="2000">
                <a:solidFill>
                  <a:srgbClr val="0000FF"/>
                </a:solidFill>
                <a:latin typeface="Consolas" pitchFamily="49" charset="0"/>
                <a:cs typeface="Consolas" pitchFamily="49" charset="0"/>
              </a:endParaRPr>
            </a:p>
          </p:txBody>
        </p:sp>
      </p:grpSp>
      <p:sp>
        <p:nvSpPr>
          <p:cNvPr id="18" name="灯片编号占位符 17"/>
          <p:cNvSpPr>
            <a:spLocks noGrp="1"/>
          </p:cNvSpPr>
          <p:nvPr>
            <p:ph type="sldNum" sz="quarter" idx="12"/>
          </p:nvPr>
        </p:nvSpPr>
        <p:spPr/>
        <p:txBody>
          <a:bodyPr/>
          <a:lstStyle/>
          <a:p>
            <a:fld id="{7AF016A1-9F15-429F-9EFD-84004B73C732}" type="slidenum">
              <a:rPr lang="en-US" altLang="zh-CN" smtClean="0"/>
              <a:pPr/>
              <a:t>29</a:t>
            </a:fld>
            <a:r>
              <a:rPr lang="en-US" altLang="zh-CN"/>
              <a:t>/158</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42876" y="186162"/>
            <a:ext cx="8858280" cy="3885780"/>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2600"/>
              </a:lnSpc>
              <a:spcBef>
                <a:spcPts val="0"/>
              </a:spcBef>
            </a:pPr>
            <a:r>
              <a:rPr lang="en-US" altLang="zh-CN" sz="2000" b="0">
                <a:solidFill>
                  <a:srgbClr val="0000FF"/>
                </a:solidFill>
                <a:latin typeface="Consolas" pitchFamily="49" charset="0"/>
                <a:ea typeface="仿宋" pitchFamily="49" charset="-122"/>
              </a:rPr>
              <a:t>      	U[k]=1;     						</a:t>
            </a:r>
            <a:r>
              <a:rPr lang="en-US" altLang="zh-CN" sz="2000" b="0">
                <a:solidFill>
                  <a:srgbClr val="00B0F0"/>
                </a:solidFill>
                <a:latin typeface="Consolas" pitchFamily="49" charset="0"/>
                <a:ea typeface="仿宋" pitchFamily="49" charset="-122"/>
              </a:rPr>
              <a:t>//</a:t>
            </a:r>
            <a:r>
              <a:rPr lang="zh-CN" altLang="zh-CN" sz="2000" b="0">
                <a:solidFill>
                  <a:srgbClr val="00B0F0"/>
                </a:solidFill>
                <a:latin typeface="Consolas" pitchFamily="49" charset="0"/>
                <a:ea typeface="仿宋" pitchFamily="49" charset="-122"/>
              </a:rPr>
              <a:t>顶点</a:t>
            </a:r>
            <a:r>
              <a:rPr lang="en-US" altLang="zh-CN" sz="2000" b="0">
                <a:solidFill>
                  <a:srgbClr val="00B0F0"/>
                </a:solidFill>
                <a:latin typeface="Consolas" pitchFamily="49" charset="0"/>
                <a:ea typeface="仿宋" pitchFamily="49" charset="-122"/>
              </a:rPr>
              <a:t>k</a:t>
            </a:r>
            <a:r>
              <a:rPr lang="zh-CN" altLang="zh-CN" sz="2000" b="0">
                <a:solidFill>
                  <a:srgbClr val="00B0F0"/>
                </a:solidFill>
                <a:latin typeface="Consolas" pitchFamily="49" charset="0"/>
                <a:ea typeface="仿宋" pitchFamily="49" charset="-122"/>
              </a:rPr>
              <a:t>加入</a:t>
            </a:r>
            <a:r>
              <a:rPr lang="en-US" altLang="zh-CN" sz="2000" b="0">
                <a:solidFill>
                  <a:srgbClr val="00B0F0"/>
                </a:solidFill>
                <a:latin typeface="Consolas" pitchFamily="49" charset="0"/>
                <a:ea typeface="仿宋" pitchFamily="49" charset="-122"/>
              </a:rPr>
              <a:t>U</a:t>
            </a:r>
            <a:endParaRPr lang="zh-CN" altLang="zh-CN" sz="2000" b="0">
              <a:solidFill>
                <a:srgbClr val="00B0F0"/>
              </a:solidFill>
              <a:latin typeface="Consolas" pitchFamily="49" charset="0"/>
              <a:ea typeface="仿宋" pitchFamily="49" charset="-122"/>
            </a:endParaRPr>
          </a:p>
          <a:p>
            <a:pPr algn="l" defTabSz="360000">
              <a:lnSpc>
                <a:spcPts val="2600"/>
              </a:lnSpc>
              <a:spcBef>
                <a:spcPts val="0"/>
              </a:spcBef>
            </a:pPr>
            <a:r>
              <a:rPr lang="en-US" altLang="zh-CN" sz="2000" b="0">
                <a:solidFill>
                  <a:srgbClr val="0000FF"/>
                </a:solidFill>
                <a:latin typeface="Consolas" pitchFamily="49" charset="0"/>
                <a:ea typeface="仿宋" pitchFamily="49" charset="-122"/>
              </a:rPr>
              <a:t>    		for (int j=0;j&lt;n;j++) { 	</a:t>
            </a:r>
            <a:r>
              <a:rPr lang="en-US" altLang="zh-CN" sz="2000" b="0">
                <a:solidFill>
                  <a:srgbClr val="00B0F0"/>
                </a:solidFill>
                <a:latin typeface="Consolas" pitchFamily="49" charset="0"/>
                <a:ea typeface="仿宋" pitchFamily="49" charset="-122"/>
              </a:rPr>
              <a:t>//</a:t>
            </a:r>
            <a:r>
              <a:rPr lang="zh-CN" altLang="zh-CN" sz="2000" b="0">
                <a:solidFill>
                  <a:srgbClr val="00B0F0"/>
                </a:solidFill>
                <a:latin typeface="Consolas" pitchFamily="49" charset="0"/>
                <a:ea typeface="仿宋" pitchFamily="49" charset="-122"/>
              </a:rPr>
              <a:t>修改数组</a:t>
            </a:r>
            <a:r>
              <a:rPr lang="en-US" altLang="zh-CN" sz="2000" b="0">
                <a:solidFill>
                  <a:srgbClr val="00B0F0"/>
                </a:solidFill>
                <a:latin typeface="Consolas" pitchFamily="49" charset="0"/>
                <a:ea typeface="仿宋" pitchFamily="49" charset="-122"/>
              </a:rPr>
              <a:t>lowcost</a:t>
            </a:r>
            <a:r>
              <a:rPr lang="zh-CN" altLang="zh-CN" sz="2000" b="0">
                <a:solidFill>
                  <a:srgbClr val="00B0F0"/>
                </a:solidFill>
                <a:latin typeface="Consolas" pitchFamily="49" charset="0"/>
                <a:ea typeface="仿宋" pitchFamily="49" charset="-122"/>
              </a:rPr>
              <a:t>和</a:t>
            </a:r>
            <a:r>
              <a:rPr lang="en-US" altLang="zh-CN" sz="2000" b="0">
                <a:solidFill>
                  <a:srgbClr val="00B0F0"/>
                </a:solidFill>
                <a:latin typeface="Consolas" pitchFamily="49" charset="0"/>
                <a:ea typeface="仿宋" pitchFamily="49" charset="-122"/>
              </a:rPr>
              <a:t>closest</a:t>
            </a:r>
            <a:endParaRPr lang="zh-CN" altLang="zh-CN" sz="2000" b="0">
              <a:solidFill>
                <a:srgbClr val="00B0F0"/>
              </a:solidFill>
              <a:latin typeface="Consolas" pitchFamily="49" charset="0"/>
              <a:ea typeface="仿宋" pitchFamily="49" charset="-122"/>
            </a:endParaRPr>
          </a:p>
          <a:p>
            <a:pPr algn="l" defTabSz="360000">
              <a:lnSpc>
                <a:spcPts val="2600"/>
              </a:lnSpc>
              <a:spcBef>
                <a:spcPts val="0"/>
              </a:spcBef>
            </a:pPr>
            <a:r>
              <a:rPr lang="en-US" altLang="zh-CN" sz="2000" b="0">
                <a:solidFill>
                  <a:srgbClr val="0000FF"/>
                </a:solidFill>
                <a:latin typeface="Consolas" pitchFamily="49" charset="0"/>
                <a:ea typeface="仿宋" pitchFamily="49" charset="-122"/>
              </a:rPr>
              <a:t>				if (</a:t>
            </a:r>
            <a:r>
              <a:rPr lang="en-US" altLang="zh-CN" sz="2000" b="0">
                <a:solidFill>
                  <a:srgbClr val="FF00FF"/>
                </a:solidFill>
                <a:latin typeface="Consolas" pitchFamily="49" charset="0"/>
                <a:ea typeface="仿宋" pitchFamily="49" charset="-122"/>
              </a:rPr>
              <a:t>U[j]==0 &amp;&amp; distance(p,k,j)&lt;lowcost[j]</a:t>
            </a:r>
            <a:r>
              <a:rPr lang="en-US" altLang="zh-CN" sz="2000" b="0">
                <a:solidFill>
                  <a:srgbClr val="0000FF"/>
                </a:solidFill>
                <a:latin typeface="Consolas" pitchFamily="49" charset="0"/>
                <a:ea typeface="仿宋" pitchFamily="49" charset="-122"/>
              </a:rPr>
              <a:t>) {</a:t>
            </a:r>
            <a:endParaRPr lang="zh-CN" altLang="zh-CN" sz="2000" b="0">
              <a:solidFill>
                <a:srgbClr val="0000FF"/>
              </a:solidFill>
              <a:latin typeface="Consolas" pitchFamily="49" charset="0"/>
              <a:ea typeface="仿宋" pitchFamily="49" charset="-122"/>
            </a:endParaRPr>
          </a:p>
          <a:p>
            <a:pPr algn="l" defTabSz="360000">
              <a:lnSpc>
                <a:spcPts val="2600"/>
              </a:lnSpc>
              <a:spcBef>
                <a:spcPts val="0"/>
              </a:spcBef>
            </a:pPr>
            <a:r>
              <a:rPr lang="en-US" altLang="zh-CN" sz="2000" b="0">
                <a:solidFill>
                  <a:srgbClr val="0000FF"/>
                </a:solidFill>
                <a:latin typeface="Consolas" pitchFamily="49" charset="0"/>
                <a:ea typeface="仿宋" pitchFamily="49" charset="-122"/>
              </a:rPr>
              <a:t>            	lowcost[j]=distance(p,k,j);</a:t>
            </a:r>
            <a:endParaRPr lang="zh-CN" altLang="zh-CN" sz="2000" b="0">
              <a:solidFill>
                <a:srgbClr val="0000FF"/>
              </a:solidFill>
              <a:latin typeface="Consolas" pitchFamily="49" charset="0"/>
              <a:ea typeface="仿宋" pitchFamily="49" charset="-122"/>
            </a:endParaRPr>
          </a:p>
          <a:p>
            <a:pPr algn="l" defTabSz="360000">
              <a:lnSpc>
                <a:spcPts val="2600"/>
              </a:lnSpc>
              <a:spcBef>
                <a:spcPts val="0"/>
              </a:spcBef>
            </a:pPr>
            <a:r>
              <a:rPr lang="en-US" altLang="zh-CN" sz="2000" b="0">
                <a:solidFill>
                  <a:srgbClr val="0000FF"/>
                </a:solidFill>
                <a:latin typeface="Consolas" pitchFamily="49" charset="0"/>
                <a:ea typeface="仿宋" pitchFamily="49" charset="-122"/>
              </a:rPr>
              <a:t>          		closest[j]=k;</a:t>
            </a:r>
            <a:endParaRPr lang="zh-CN" altLang="zh-CN" sz="2000" b="0">
              <a:solidFill>
                <a:srgbClr val="0000FF"/>
              </a:solidFill>
              <a:latin typeface="Consolas" pitchFamily="49" charset="0"/>
              <a:ea typeface="仿宋" pitchFamily="49" charset="-122"/>
            </a:endParaRPr>
          </a:p>
          <a:p>
            <a:pPr algn="l" defTabSz="360000">
              <a:lnSpc>
                <a:spcPts val="2600"/>
              </a:lnSpc>
              <a:spcBef>
                <a:spcPts val="0"/>
              </a:spcBef>
            </a:pPr>
            <a:r>
              <a:rPr lang="en-US" altLang="zh-CN" sz="2000" b="0">
                <a:solidFill>
                  <a:srgbClr val="0000FF"/>
                </a:solidFill>
                <a:latin typeface="Consolas" pitchFamily="49" charset="0"/>
                <a:ea typeface="仿宋" pitchFamily="49" charset="-122"/>
              </a:rPr>
              <a:t>        	}</a:t>
            </a:r>
            <a:endParaRPr lang="zh-CN" altLang="zh-CN" sz="2000" b="0">
              <a:solidFill>
                <a:srgbClr val="0000FF"/>
              </a:solidFill>
              <a:latin typeface="Consolas" pitchFamily="49" charset="0"/>
              <a:ea typeface="仿宋" pitchFamily="49" charset="-122"/>
            </a:endParaRPr>
          </a:p>
          <a:p>
            <a:pPr algn="l" defTabSz="360000">
              <a:lnSpc>
                <a:spcPts val="2600"/>
              </a:lnSpc>
              <a:spcBef>
                <a:spcPts val="0"/>
              </a:spcBef>
            </a:pPr>
            <a:r>
              <a:rPr lang="en-US" altLang="zh-CN" sz="2000" b="0">
                <a:solidFill>
                  <a:srgbClr val="0000FF"/>
                </a:solidFill>
                <a:latin typeface="Consolas" pitchFamily="49" charset="0"/>
                <a:ea typeface="仿宋" pitchFamily="49" charset="-122"/>
              </a:rPr>
              <a:t>     		}</a:t>
            </a:r>
            <a:endParaRPr lang="zh-CN" altLang="zh-CN" sz="2000" b="0">
              <a:solidFill>
                <a:srgbClr val="0000FF"/>
              </a:solidFill>
              <a:latin typeface="Consolas" pitchFamily="49" charset="0"/>
              <a:ea typeface="仿宋" pitchFamily="49" charset="-122"/>
            </a:endParaRPr>
          </a:p>
          <a:p>
            <a:pPr algn="l" defTabSz="360000">
              <a:lnSpc>
                <a:spcPts val="2600"/>
              </a:lnSpc>
              <a:spcBef>
                <a:spcPts val="0"/>
              </a:spcBef>
            </a:pPr>
            <a:r>
              <a:rPr lang="en-US" altLang="zh-CN" sz="2000" b="0">
                <a:solidFill>
                  <a:srgbClr val="0000FF"/>
                </a:solidFill>
                <a:latin typeface="Consolas" pitchFamily="49" charset="0"/>
                <a:ea typeface="仿宋" pitchFamily="49" charset="-122"/>
              </a:rPr>
              <a:t>    	}</a:t>
            </a:r>
            <a:endParaRPr lang="zh-CN" altLang="zh-CN" sz="2000" b="0">
              <a:solidFill>
                <a:srgbClr val="0000FF"/>
              </a:solidFill>
              <a:latin typeface="Consolas" pitchFamily="49" charset="0"/>
              <a:ea typeface="仿宋" pitchFamily="49" charset="-122"/>
            </a:endParaRPr>
          </a:p>
          <a:p>
            <a:pPr algn="l" defTabSz="360000">
              <a:lnSpc>
                <a:spcPts val="2600"/>
              </a:lnSpc>
              <a:spcBef>
                <a:spcPts val="0"/>
              </a:spcBef>
            </a:pPr>
            <a:r>
              <a:rPr lang="en-US" altLang="zh-CN" sz="2000" b="0">
                <a:solidFill>
                  <a:srgbClr val="0000FF"/>
                </a:solidFill>
                <a:latin typeface="Consolas" pitchFamily="49" charset="0"/>
                <a:ea typeface="仿宋" pitchFamily="49" charset="-122"/>
              </a:rPr>
              <a:t>   	return ans;</a:t>
            </a:r>
            <a:endParaRPr lang="zh-CN" altLang="zh-CN" sz="2000" b="0">
              <a:solidFill>
                <a:srgbClr val="0000FF"/>
              </a:solidFill>
              <a:latin typeface="Consolas" pitchFamily="49" charset="0"/>
              <a:ea typeface="仿宋" pitchFamily="49" charset="-122"/>
            </a:endParaRPr>
          </a:p>
          <a:p>
            <a:pPr algn="l" defTabSz="360000">
              <a:lnSpc>
                <a:spcPts val="2600"/>
              </a:lnSpc>
              <a:spcBef>
                <a:spcPts val="0"/>
              </a:spcBef>
            </a:pPr>
            <a:r>
              <a:rPr lang="en-US" altLang="zh-CN" sz="2000" b="0">
                <a:solidFill>
                  <a:srgbClr val="0000FF"/>
                </a:solidFill>
                <a:latin typeface="Consolas" pitchFamily="49" charset="0"/>
                <a:ea typeface="仿宋" pitchFamily="49" charset="-122"/>
              </a:rPr>
              <a:t>  	}</a:t>
            </a:r>
            <a:endParaRPr lang="zh-CN" altLang="zh-CN" sz="2000" b="0">
              <a:solidFill>
                <a:srgbClr val="0000FF"/>
              </a:solidFill>
              <a:latin typeface="Consolas" pitchFamily="49" charset="0"/>
              <a:ea typeface="仿宋" pitchFamily="49" charset="-122"/>
            </a:endParaRPr>
          </a:p>
          <a:p>
            <a:pPr algn="l" defTabSz="360000">
              <a:lnSpc>
                <a:spcPts val="2600"/>
              </a:lnSpc>
              <a:spcBef>
                <a:spcPts val="0"/>
              </a:spcBef>
            </a:pPr>
            <a:r>
              <a:rPr lang="en-US" altLang="zh-CN" sz="2000" b="0">
                <a:solidFill>
                  <a:srgbClr val="0000FF"/>
                </a:solidFill>
                <a:latin typeface="Consolas" pitchFamily="49" charset="0"/>
                <a:ea typeface="仿宋" pitchFamily="49" charset="-122"/>
              </a:rPr>
              <a:t>};</a:t>
            </a:r>
            <a:endParaRPr lang="zh-CN" altLang="zh-CN" sz="2000" b="0">
              <a:solidFill>
                <a:srgbClr val="0000FF"/>
              </a:solidFill>
              <a:latin typeface="Consolas" pitchFamily="49" charset="0"/>
              <a:ea typeface="仿宋" pitchFamily="49" charset="-122"/>
            </a:endParaRPr>
          </a:p>
        </p:txBody>
      </p:sp>
      <p:grpSp>
        <p:nvGrpSpPr>
          <p:cNvPr id="25" name="组合 24"/>
          <p:cNvGrpSpPr/>
          <p:nvPr/>
        </p:nvGrpSpPr>
        <p:grpSpPr>
          <a:xfrm>
            <a:off x="1071538" y="4202676"/>
            <a:ext cx="7143800" cy="2369596"/>
            <a:chOff x="857224" y="3143248"/>
            <a:chExt cx="7143800" cy="2369596"/>
          </a:xfrm>
        </p:grpSpPr>
        <p:sp>
          <p:nvSpPr>
            <p:cNvPr id="9" name="TextBox 8"/>
            <p:cNvSpPr txBox="1"/>
            <p:nvPr/>
          </p:nvSpPr>
          <p:spPr>
            <a:xfrm>
              <a:off x="2285984" y="5174290"/>
              <a:ext cx="1571636" cy="338554"/>
            </a:xfrm>
            <a:prstGeom prst="rect">
              <a:avLst/>
            </a:prstGeom>
            <a:noFill/>
          </p:spPr>
          <p:txBody>
            <a:bodyPr wrap="square" rtlCol="0">
              <a:spAutoFit/>
            </a:bodyPr>
            <a:lstStyle/>
            <a:p>
              <a:r>
                <a:rPr lang="en-US" altLang="zh-CN" sz="1600">
                  <a:solidFill>
                    <a:srgbClr val="0000FF"/>
                  </a:solidFill>
                  <a:latin typeface="Consolas" pitchFamily="49" charset="0"/>
                  <a:cs typeface="Consolas" pitchFamily="49" charset="0"/>
                </a:rPr>
                <a:t>closest[</a:t>
              </a:r>
              <a:r>
                <a:rPr lang="en-US" altLang="zh-CN" sz="1600" i="1">
                  <a:solidFill>
                    <a:srgbClr val="0000FF"/>
                  </a:solidFill>
                  <a:latin typeface="Consolas" pitchFamily="49" charset="0"/>
                  <a:cs typeface="Consolas" pitchFamily="49" charset="0"/>
                </a:rPr>
                <a:t>j</a:t>
              </a:r>
              <a:r>
                <a:rPr lang="en-US" altLang="zh-CN" sz="1600">
                  <a:solidFill>
                    <a:srgbClr val="0000FF"/>
                  </a:solidFill>
                  <a:latin typeface="Consolas" pitchFamily="49" charset="0"/>
                  <a:cs typeface="Consolas" pitchFamily="49" charset="0"/>
                </a:rPr>
                <a:t>]</a:t>
              </a:r>
              <a:endParaRPr lang="zh-CN" altLang="en-US" sz="1600">
                <a:solidFill>
                  <a:srgbClr val="0000FF"/>
                </a:solidFill>
                <a:latin typeface="Consolas" pitchFamily="49" charset="0"/>
                <a:cs typeface="Consolas" pitchFamily="49" charset="0"/>
              </a:endParaRPr>
            </a:p>
          </p:txBody>
        </p:sp>
        <p:sp>
          <p:nvSpPr>
            <p:cNvPr id="10" name="椭圆 9"/>
            <p:cNvSpPr/>
            <p:nvPr/>
          </p:nvSpPr>
          <p:spPr>
            <a:xfrm>
              <a:off x="2425488" y="3643314"/>
              <a:ext cx="432000" cy="43200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sz="2000" i="1">
                  <a:solidFill>
                    <a:srgbClr val="0000FF"/>
                  </a:solidFill>
                  <a:latin typeface="Consolas" pitchFamily="49" charset="0"/>
                  <a:cs typeface="Consolas" pitchFamily="49" charset="0"/>
                </a:rPr>
                <a:t>v</a:t>
              </a:r>
              <a:endParaRPr lang="zh-CN" altLang="en-US" sz="2000" i="1">
                <a:solidFill>
                  <a:srgbClr val="0000FF"/>
                </a:solidFill>
                <a:latin typeface="Consolas" pitchFamily="49" charset="0"/>
                <a:cs typeface="Consolas" pitchFamily="49" charset="0"/>
              </a:endParaRPr>
            </a:p>
          </p:txBody>
        </p:sp>
        <p:sp>
          <p:nvSpPr>
            <p:cNvPr id="11" name="椭圆 10"/>
            <p:cNvSpPr/>
            <p:nvPr/>
          </p:nvSpPr>
          <p:spPr>
            <a:xfrm>
              <a:off x="2428860" y="4425760"/>
              <a:ext cx="432000" cy="4320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i="1">
                  <a:solidFill>
                    <a:schemeClr val="bg1"/>
                  </a:solidFill>
                  <a:latin typeface="Consolas" pitchFamily="49" charset="0"/>
                  <a:cs typeface="Consolas" pitchFamily="49" charset="0"/>
                </a:rPr>
                <a:t>k</a:t>
              </a:r>
              <a:endParaRPr lang="zh-CN" altLang="en-US" sz="2000" i="1">
                <a:solidFill>
                  <a:schemeClr val="bg1"/>
                </a:solidFill>
                <a:latin typeface="Consolas" pitchFamily="49" charset="0"/>
                <a:cs typeface="Consolas" pitchFamily="49" charset="0"/>
              </a:endParaRPr>
            </a:p>
          </p:txBody>
        </p:sp>
        <p:sp>
          <p:nvSpPr>
            <p:cNvPr id="12" name="椭圆 11"/>
            <p:cNvSpPr/>
            <p:nvPr/>
          </p:nvSpPr>
          <p:spPr>
            <a:xfrm>
              <a:off x="4857752" y="3925694"/>
              <a:ext cx="432000" cy="43200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i="1">
                  <a:solidFill>
                    <a:srgbClr val="0000FF"/>
                  </a:solidFill>
                  <a:latin typeface="Consolas" pitchFamily="49" charset="0"/>
                  <a:cs typeface="Consolas" pitchFamily="49" charset="0"/>
                </a:rPr>
                <a:t>j</a:t>
              </a:r>
              <a:endParaRPr lang="zh-CN" altLang="en-US" sz="2000" i="1">
                <a:solidFill>
                  <a:srgbClr val="0000FF"/>
                </a:solidFill>
                <a:latin typeface="Consolas" pitchFamily="49" charset="0"/>
                <a:cs typeface="Consolas" pitchFamily="49" charset="0"/>
              </a:endParaRPr>
            </a:p>
          </p:txBody>
        </p:sp>
        <p:cxnSp>
          <p:nvCxnSpPr>
            <p:cNvPr id="13" name="直接连接符 12"/>
            <p:cNvCxnSpPr>
              <a:stCxn id="11" idx="6"/>
              <a:endCxn id="12" idx="2"/>
            </p:cNvCxnSpPr>
            <p:nvPr/>
          </p:nvCxnSpPr>
          <p:spPr>
            <a:xfrm flipV="1">
              <a:off x="2860860" y="4141694"/>
              <a:ext cx="1996892" cy="500066"/>
            </a:xfrm>
            <a:prstGeom prst="line">
              <a:avLst/>
            </a:prstGeom>
          </p:spPr>
          <p:style>
            <a:lnRef idx="3">
              <a:schemeClr val="accent2"/>
            </a:lnRef>
            <a:fillRef idx="0">
              <a:schemeClr val="accent2"/>
            </a:fillRef>
            <a:effectRef idx="2">
              <a:schemeClr val="accent2"/>
            </a:effectRef>
            <a:fontRef idx="minor">
              <a:schemeClr val="tx1"/>
            </a:fontRef>
          </p:style>
        </p:cxnSp>
        <p:cxnSp>
          <p:nvCxnSpPr>
            <p:cNvPr id="14" name="直接连接符 13"/>
            <p:cNvCxnSpPr>
              <a:stCxn id="10" idx="4"/>
              <a:endCxn id="11" idx="0"/>
            </p:cNvCxnSpPr>
            <p:nvPr/>
          </p:nvCxnSpPr>
          <p:spPr>
            <a:xfrm rot="16200000" flipH="1">
              <a:off x="2467951" y="4248851"/>
              <a:ext cx="350446" cy="3372"/>
            </a:xfrm>
            <a:prstGeom prst="line">
              <a:avLst/>
            </a:prstGeom>
          </p:spPr>
          <p:style>
            <a:lnRef idx="1">
              <a:schemeClr val="dk1"/>
            </a:lnRef>
            <a:fillRef idx="0">
              <a:schemeClr val="dk1"/>
            </a:fillRef>
            <a:effectRef idx="0">
              <a:schemeClr val="dk1"/>
            </a:effectRef>
            <a:fontRef idx="minor">
              <a:schemeClr val="tx1"/>
            </a:fontRef>
          </p:style>
        </p:cxnSp>
        <p:sp>
          <p:nvSpPr>
            <p:cNvPr id="15" name="TextBox 14"/>
            <p:cNvSpPr txBox="1"/>
            <p:nvPr/>
          </p:nvSpPr>
          <p:spPr>
            <a:xfrm rot="686413">
              <a:off x="3234185" y="3453421"/>
              <a:ext cx="1416252" cy="338554"/>
            </a:xfrm>
            <a:prstGeom prst="rect">
              <a:avLst/>
            </a:prstGeom>
            <a:noFill/>
          </p:spPr>
          <p:txBody>
            <a:bodyPr wrap="square" rtlCol="0">
              <a:spAutoFit/>
            </a:bodyPr>
            <a:lstStyle/>
            <a:p>
              <a:r>
                <a:rPr lang="en-US" altLang="zh-CN" sz="1600">
                  <a:solidFill>
                    <a:srgbClr val="0000FF"/>
                  </a:solidFill>
                  <a:latin typeface="Consolas" pitchFamily="49" charset="0"/>
                  <a:cs typeface="Consolas" pitchFamily="49" charset="0"/>
                </a:rPr>
                <a:t>lowcost[</a:t>
              </a:r>
              <a:r>
                <a:rPr lang="en-US" altLang="zh-CN" sz="1600" i="1">
                  <a:solidFill>
                    <a:srgbClr val="0000FF"/>
                  </a:solidFill>
                  <a:latin typeface="Consolas" pitchFamily="49" charset="0"/>
                  <a:cs typeface="Consolas" pitchFamily="49" charset="0"/>
                </a:rPr>
                <a:t>j</a:t>
              </a:r>
              <a:r>
                <a:rPr lang="en-US" altLang="zh-CN" sz="1600">
                  <a:solidFill>
                    <a:srgbClr val="0000FF"/>
                  </a:solidFill>
                  <a:latin typeface="Consolas" pitchFamily="49" charset="0"/>
                  <a:cs typeface="Consolas" pitchFamily="49" charset="0"/>
                </a:rPr>
                <a:t>]</a:t>
              </a:r>
              <a:endParaRPr lang="zh-CN" altLang="en-US" sz="1600">
                <a:solidFill>
                  <a:srgbClr val="0000FF"/>
                </a:solidFill>
                <a:latin typeface="Consolas" pitchFamily="49" charset="0"/>
                <a:cs typeface="Consolas" pitchFamily="49" charset="0"/>
              </a:endParaRPr>
            </a:p>
          </p:txBody>
        </p:sp>
        <p:sp>
          <p:nvSpPr>
            <p:cNvPr id="16" name="椭圆 15"/>
            <p:cNvSpPr/>
            <p:nvPr/>
          </p:nvSpPr>
          <p:spPr>
            <a:xfrm>
              <a:off x="2071670" y="3286124"/>
              <a:ext cx="1143008" cy="1798092"/>
            </a:xfrm>
            <a:prstGeom prst="ellipse">
              <a:avLst/>
            </a:prstGeom>
            <a:no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itchFamily="49" charset="0"/>
                <a:cs typeface="Consolas" pitchFamily="49" charset="0"/>
              </a:endParaRPr>
            </a:p>
          </p:txBody>
        </p:sp>
        <p:sp>
          <p:nvSpPr>
            <p:cNvPr id="17" name="椭圆 16"/>
            <p:cNvSpPr/>
            <p:nvPr/>
          </p:nvSpPr>
          <p:spPr>
            <a:xfrm>
              <a:off x="4500562" y="3143248"/>
              <a:ext cx="1143008" cy="1798092"/>
            </a:xfrm>
            <a:prstGeom prst="ellipse">
              <a:avLst/>
            </a:prstGeom>
            <a:no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itchFamily="49" charset="0"/>
                <a:cs typeface="Consolas" pitchFamily="49" charset="0"/>
              </a:endParaRPr>
            </a:p>
          </p:txBody>
        </p:sp>
        <p:cxnSp>
          <p:nvCxnSpPr>
            <p:cNvPr id="18" name="直接箭头连接符 17"/>
            <p:cNvCxnSpPr>
              <a:stCxn id="9" idx="0"/>
              <a:endCxn id="11" idx="5"/>
            </p:cNvCxnSpPr>
            <p:nvPr/>
          </p:nvCxnSpPr>
          <p:spPr>
            <a:xfrm rot="16200000" flipV="1">
              <a:off x="2744802" y="4847289"/>
              <a:ext cx="379795" cy="274207"/>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19" name="TextBox 18"/>
            <p:cNvSpPr txBox="1"/>
            <p:nvPr/>
          </p:nvSpPr>
          <p:spPr>
            <a:xfrm>
              <a:off x="5786446" y="3857628"/>
              <a:ext cx="2214578" cy="338554"/>
            </a:xfrm>
            <a:prstGeom prst="rect">
              <a:avLst/>
            </a:prstGeom>
            <a:noFill/>
          </p:spPr>
          <p:txBody>
            <a:bodyPr wrap="square" rtlCol="0">
              <a:spAutoFit/>
            </a:bodyPr>
            <a:lstStyle/>
            <a:p>
              <a:r>
                <a:rPr lang="en-US" altLang="zh-CN" sz="2000">
                  <a:solidFill>
                    <a:srgbClr val="C00000"/>
                  </a:solidFill>
                  <a:latin typeface="Consolas" pitchFamily="49" charset="0"/>
                  <a:cs typeface="Consolas" pitchFamily="49" charset="0"/>
                </a:rPr>
                <a:t>V-U</a:t>
              </a:r>
              <a:r>
                <a:rPr lang="en-US" altLang="zh-CN" sz="2000">
                  <a:solidFill>
                    <a:srgbClr val="0000FF"/>
                  </a:solidFill>
                  <a:latin typeface="Consolas" pitchFamily="49" charset="0"/>
                  <a:cs typeface="Consolas" pitchFamily="49" charset="0"/>
                </a:rPr>
                <a:t>={</a:t>
              </a:r>
              <a:r>
                <a:rPr lang="en-US" altLang="zh-CN" sz="2000" i="1">
                  <a:solidFill>
                    <a:srgbClr val="0000FF"/>
                  </a:solidFill>
                  <a:latin typeface="Consolas" pitchFamily="49" charset="0"/>
                  <a:cs typeface="Consolas" pitchFamily="49" charset="0"/>
                </a:rPr>
                <a:t>j</a:t>
              </a:r>
              <a:r>
                <a:rPr lang="en-US" altLang="zh-CN" sz="2000">
                  <a:solidFill>
                    <a:srgbClr val="0000FF"/>
                  </a:solidFill>
                  <a:latin typeface="Consolas" pitchFamily="49" charset="0"/>
                  <a:cs typeface="Consolas" pitchFamily="49" charset="0"/>
                </a:rPr>
                <a:t>|U[j]=0}</a:t>
              </a:r>
              <a:endParaRPr lang="zh-CN" altLang="en-US" sz="2000">
                <a:solidFill>
                  <a:srgbClr val="0000FF"/>
                </a:solidFill>
                <a:latin typeface="Consolas" pitchFamily="49" charset="0"/>
                <a:cs typeface="Consolas" pitchFamily="49" charset="0"/>
              </a:endParaRPr>
            </a:p>
          </p:txBody>
        </p:sp>
        <p:sp>
          <p:nvSpPr>
            <p:cNvPr id="20" name="TextBox 19"/>
            <p:cNvSpPr txBox="1"/>
            <p:nvPr/>
          </p:nvSpPr>
          <p:spPr>
            <a:xfrm>
              <a:off x="857224" y="4000504"/>
              <a:ext cx="1214446" cy="342979"/>
            </a:xfrm>
            <a:prstGeom prst="rect">
              <a:avLst/>
            </a:prstGeom>
            <a:noFill/>
          </p:spPr>
          <p:txBody>
            <a:bodyPr wrap="square" rtlCol="0">
              <a:spAutoFit/>
            </a:bodyPr>
            <a:lstStyle/>
            <a:p>
              <a:r>
                <a:rPr lang="en-US" altLang="zh-CN" sz="2000">
                  <a:solidFill>
                    <a:srgbClr val="C00000"/>
                  </a:solidFill>
                  <a:latin typeface="Consolas" pitchFamily="49" charset="0"/>
                  <a:cs typeface="Consolas" pitchFamily="49" charset="0"/>
                </a:rPr>
                <a:t>U</a:t>
              </a:r>
              <a:r>
                <a:rPr lang="en-US" altLang="zh-CN" sz="2000">
                  <a:solidFill>
                    <a:srgbClr val="0000FF"/>
                  </a:solidFill>
                  <a:latin typeface="Consolas" pitchFamily="49" charset="0"/>
                  <a:cs typeface="Consolas" pitchFamily="49" charset="0"/>
                </a:rPr>
                <a:t>[</a:t>
              </a:r>
              <a:r>
                <a:rPr lang="en-US" altLang="zh-CN" sz="2000" i="1">
                  <a:solidFill>
                    <a:srgbClr val="0000FF"/>
                  </a:solidFill>
                  <a:latin typeface="Consolas" pitchFamily="49" charset="0"/>
                  <a:cs typeface="Consolas" pitchFamily="49" charset="0"/>
                </a:rPr>
                <a:t>i</a:t>
              </a:r>
              <a:r>
                <a:rPr lang="en-US" altLang="zh-CN" sz="2000">
                  <a:solidFill>
                    <a:srgbClr val="0000FF"/>
                  </a:solidFill>
                  <a:latin typeface="Consolas" pitchFamily="49" charset="0"/>
                  <a:cs typeface="Consolas" pitchFamily="49" charset="0"/>
                </a:rPr>
                <a:t>]=1</a:t>
              </a:r>
              <a:endParaRPr lang="zh-CN" altLang="en-US" sz="2000">
                <a:solidFill>
                  <a:srgbClr val="0000FF"/>
                </a:solidFill>
                <a:latin typeface="Consolas" pitchFamily="49" charset="0"/>
                <a:cs typeface="Consolas" pitchFamily="49" charset="0"/>
              </a:endParaRPr>
            </a:p>
          </p:txBody>
        </p:sp>
        <p:cxnSp>
          <p:nvCxnSpPr>
            <p:cNvPr id="22" name="直接连接符 21"/>
            <p:cNvCxnSpPr>
              <a:stCxn id="12" idx="1"/>
            </p:cNvCxnSpPr>
            <p:nvPr/>
          </p:nvCxnSpPr>
          <p:spPr>
            <a:xfrm rot="16200000" flipV="1">
              <a:off x="3823588" y="2891529"/>
              <a:ext cx="345645" cy="1849215"/>
            </a:xfrm>
            <a:prstGeom prst="line">
              <a:avLst/>
            </a:prstGeom>
            <a:ln w="19050">
              <a:tailEnd type="none"/>
            </a:ln>
          </p:spPr>
          <p:style>
            <a:lnRef idx="2">
              <a:schemeClr val="dk1"/>
            </a:lnRef>
            <a:fillRef idx="0">
              <a:schemeClr val="dk1"/>
            </a:fillRef>
            <a:effectRef idx="1">
              <a:schemeClr val="dk1"/>
            </a:effectRef>
            <a:fontRef idx="minor">
              <a:schemeClr val="tx1"/>
            </a:fontRef>
          </p:style>
        </p:cxnSp>
        <p:sp>
          <p:nvSpPr>
            <p:cNvPr id="23" name="TextBox 22"/>
            <p:cNvSpPr txBox="1"/>
            <p:nvPr/>
          </p:nvSpPr>
          <p:spPr>
            <a:xfrm rot="20843345">
              <a:off x="2963696" y="4401314"/>
              <a:ext cx="2214578" cy="369332"/>
            </a:xfrm>
            <a:prstGeom prst="rect">
              <a:avLst/>
            </a:prstGeom>
            <a:noFill/>
          </p:spPr>
          <p:txBody>
            <a:bodyPr wrap="square" rtlCol="0">
              <a:spAutoFit/>
            </a:bodyPr>
            <a:lstStyle/>
            <a:p>
              <a:pPr algn="l">
                <a:lnSpc>
                  <a:spcPct val="100000"/>
                </a:lnSpc>
                <a:spcBef>
                  <a:spcPts val="0"/>
                </a:spcBef>
              </a:pPr>
              <a:r>
                <a:rPr lang="en-US" altLang="zh-CN" sz="1800">
                  <a:solidFill>
                    <a:srgbClr val="0000FF"/>
                  </a:solidFill>
                  <a:latin typeface="Consolas" pitchFamily="49" charset="0"/>
                  <a:ea typeface="楷体" pitchFamily="49" charset="-122"/>
                  <a:cs typeface="Consolas" pitchFamily="49" charset="0"/>
                </a:rPr>
                <a:t>distance(p,k,j)</a:t>
              </a:r>
              <a:endParaRPr lang="zh-CN" altLang="en-US" sz="1800">
                <a:solidFill>
                  <a:srgbClr val="0000FF"/>
                </a:solidFill>
                <a:latin typeface="Consolas" pitchFamily="49" charset="0"/>
                <a:ea typeface="楷体" pitchFamily="49" charset="-122"/>
                <a:cs typeface="Consolas" pitchFamily="49" charset="0"/>
              </a:endParaRPr>
            </a:p>
          </p:txBody>
        </p:sp>
      </p:grpSp>
      <p:sp>
        <p:nvSpPr>
          <p:cNvPr id="24" name="灯片编号占位符 23"/>
          <p:cNvSpPr>
            <a:spLocks noGrp="1"/>
          </p:cNvSpPr>
          <p:nvPr>
            <p:ph type="sldNum" sz="quarter" idx="12"/>
          </p:nvPr>
        </p:nvSpPr>
        <p:spPr/>
        <p:txBody>
          <a:bodyPr/>
          <a:lstStyle/>
          <a:p>
            <a:fld id="{7AF016A1-9F15-429F-9EFD-84004B73C732}" type="slidenum">
              <a:rPr lang="en-US" altLang="zh-CN" smtClean="0"/>
              <a:pPr/>
              <a:t>30</a:t>
            </a:fld>
            <a:r>
              <a:rPr lang="en-US" altLang="zh-CN"/>
              <a:t>/158</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71472" y="1500174"/>
            <a:ext cx="8143932" cy="929100"/>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400"/>
              </a:lnSpc>
              <a:spcBef>
                <a:spcPts val="0"/>
              </a:spcBef>
              <a:buBlip>
                <a:blip r:embed="rId2"/>
              </a:buBlip>
            </a:pPr>
            <a:r>
              <a:rPr lang="zh-CN" altLang="zh-CN">
                <a:solidFill>
                  <a:srgbClr val="0000FF"/>
                </a:solidFill>
                <a:latin typeface="Consolas" pitchFamily="49" charset="0"/>
                <a:ea typeface="仿宋" pitchFamily="49" charset="-122"/>
              </a:rPr>
              <a:t>采用</a:t>
            </a:r>
            <a:r>
              <a:rPr lang="en-US" altLang="zh-CN">
                <a:solidFill>
                  <a:srgbClr val="0000FF"/>
                </a:solidFill>
                <a:latin typeface="Consolas" pitchFamily="49" charset="0"/>
                <a:ea typeface="仿宋" pitchFamily="49" charset="-122"/>
              </a:rPr>
              <a:t>Kruskal</a:t>
            </a:r>
            <a:r>
              <a:rPr lang="zh-CN" altLang="zh-CN">
                <a:solidFill>
                  <a:srgbClr val="0000FF"/>
                </a:solidFill>
                <a:latin typeface="Consolas" pitchFamily="49" charset="0"/>
                <a:ea typeface="仿宋" pitchFamily="49" charset="-122"/>
              </a:rPr>
              <a:t>算法求解，其中</a:t>
            </a:r>
            <a:r>
              <a:rPr lang="en-US" altLang="zh-CN">
                <a:solidFill>
                  <a:srgbClr val="0000FF"/>
                </a:solidFill>
                <a:latin typeface="Consolas" pitchFamily="49" charset="0"/>
                <a:ea typeface="仿宋" pitchFamily="49" charset="-122"/>
              </a:rPr>
              <a:t>Edge</a:t>
            </a:r>
            <a:r>
              <a:rPr lang="zh-CN" altLang="zh-CN">
                <a:solidFill>
                  <a:srgbClr val="0000FF"/>
                </a:solidFill>
                <a:latin typeface="Consolas" pitchFamily="49" charset="0"/>
                <a:ea typeface="仿宋" pitchFamily="49" charset="-122"/>
              </a:rPr>
              <a:t>结构体类型、并查集的存储结构和相关运算算法见</a:t>
            </a:r>
            <a:r>
              <a:rPr lang="en-US" altLang="zh-CN">
                <a:solidFill>
                  <a:srgbClr val="0000FF"/>
                </a:solidFill>
                <a:latin typeface="Consolas" pitchFamily="49" charset="0"/>
                <a:ea typeface="仿宋" pitchFamily="49" charset="-122"/>
              </a:rPr>
              <a:t>9.1.3</a:t>
            </a:r>
            <a:r>
              <a:rPr lang="zh-CN" altLang="zh-CN">
                <a:solidFill>
                  <a:srgbClr val="0000FF"/>
                </a:solidFill>
                <a:latin typeface="Consolas" pitchFamily="49" charset="0"/>
                <a:ea typeface="仿宋" pitchFamily="49" charset="-122"/>
              </a:rPr>
              <a:t>节。</a:t>
            </a:r>
          </a:p>
        </p:txBody>
      </p:sp>
      <p:sp>
        <p:nvSpPr>
          <p:cNvPr id="3" name="TextBox 2"/>
          <p:cNvSpPr txBox="1"/>
          <p:nvPr/>
        </p:nvSpPr>
        <p:spPr>
          <a:xfrm>
            <a:off x="285720" y="642918"/>
            <a:ext cx="1143008" cy="461665"/>
          </a:xfrm>
          <a:prstGeom prst="rect">
            <a:avLst/>
          </a:prstGeom>
          <a:solidFill>
            <a:schemeClr val="accent5">
              <a:lumMod val="20000"/>
              <a:lumOff val="80000"/>
            </a:schemeClr>
          </a:solidFill>
          <a:ln/>
          <a:effectLst>
            <a:outerShdw blurRad="76200" dir="13500000" sy="23000" kx="1200000" algn="br" rotWithShape="0">
              <a:prstClr val="black">
                <a:alpha val="20000"/>
              </a:prstClr>
            </a:outerShdw>
          </a:effectLst>
        </p:spPr>
        <p:style>
          <a:lnRef idx="3">
            <a:schemeClr val="lt1"/>
          </a:lnRef>
          <a:fillRef idx="1">
            <a:schemeClr val="dk1"/>
          </a:fillRef>
          <a:effectRef idx="1">
            <a:schemeClr val="dk1"/>
          </a:effectRef>
          <a:fontRef idx="minor">
            <a:schemeClr val="lt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pPr>
              <a:lnSpc>
                <a:spcPct val="100000"/>
              </a:lnSpc>
              <a:spcBef>
                <a:spcPts val="0"/>
              </a:spcBef>
            </a:pPr>
            <a:r>
              <a:rPr lang="zh-CN" altLang="en-US"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Consolas" pitchFamily="49" charset="0"/>
                <a:ea typeface="华文中宋" pitchFamily="2" charset="-122"/>
                <a:cs typeface="Consolas" pitchFamily="49" charset="0"/>
              </a:rPr>
              <a:t>解法</a:t>
            </a:r>
            <a:r>
              <a:rPr lang="en-US" altLang="zh-CN"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Consolas" pitchFamily="49" charset="0"/>
                <a:ea typeface="华文中宋" pitchFamily="2" charset="-122"/>
                <a:cs typeface="Consolas" pitchFamily="49" charset="0"/>
              </a:rPr>
              <a:t>2</a:t>
            </a:r>
            <a:endParaRPr lang="zh-CN" altLang="en-US"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Consolas" pitchFamily="49" charset="0"/>
              <a:ea typeface="华文中宋" pitchFamily="2" charset="-122"/>
              <a:cs typeface="Consolas" pitchFamily="49" charset="0"/>
            </a:endParaRPr>
          </a:p>
        </p:txBody>
      </p:sp>
      <p:sp>
        <p:nvSpPr>
          <p:cNvPr id="6" name="灯片编号占位符 5"/>
          <p:cNvSpPr>
            <a:spLocks noGrp="1"/>
          </p:cNvSpPr>
          <p:nvPr>
            <p:ph type="sldNum" sz="quarter" idx="12"/>
          </p:nvPr>
        </p:nvSpPr>
        <p:spPr/>
        <p:txBody>
          <a:bodyPr/>
          <a:lstStyle/>
          <a:p>
            <a:fld id="{7AF016A1-9F15-429F-9EFD-84004B73C732}" type="slidenum">
              <a:rPr lang="en-US" altLang="zh-CN" smtClean="0"/>
              <a:pPr/>
              <a:t>31</a:t>
            </a:fld>
            <a:r>
              <a:rPr lang="en-US" altLang="zh-CN"/>
              <a:t>/158</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85720" y="427997"/>
            <a:ext cx="8572560" cy="5142534"/>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2400"/>
              </a:lnSpc>
              <a:spcBef>
                <a:spcPts val="0"/>
              </a:spcBef>
            </a:pPr>
            <a:r>
              <a:rPr lang="en-US" altLang="zh-CN" sz="2000">
                <a:solidFill>
                  <a:srgbClr val="0000FF"/>
                </a:solidFill>
                <a:latin typeface="Consolas" pitchFamily="49" charset="0"/>
                <a:ea typeface="仿宋" pitchFamily="49" charset="-122"/>
              </a:rPr>
              <a:t>int </a:t>
            </a:r>
            <a:r>
              <a:rPr lang="en-US" altLang="zh-CN" sz="2000">
                <a:solidFill>
                  <a:srgbClr val="FF0000"/>
                </a:solidFill>
                <a:latin typeface="Consolas" pitchFamily="49" charset="0"/>
                <a:ea typeface="仿宋" pitchFamily="49" charset="-122"/>
              </a:rPr>
              <a:t>distance</a:t>
            </a:r>
            <a:r>
              <a:rPr lang="en-US" altLang="zh-CN" sz="2000">
                <a:solidFill>
                  <a:srgbClr val="0000FF"/>
                </a:solidFill>
                <a:latin typeface="Consolas" pitchFamily="49" charset="0"/>
                <a:ea typeface="仿宋" pitchFamily="49" charset="-122"/>
              </a:rPr>
              <a:t>(vector&lt;vector&lt;int&gt;&gt;&amp;p,int i,int j) {     </a:t>
            </a:r>
          </a:p>
          <a:p>
            <a:pPr algn="l" defTabSz="360000">
              <a:lnSpc>
                <a:spcPts val="2400"/>
              </a:lnSpc>
              <a:spcBef>
                <a:spcPts val="0"/>
              </a:spcBef>
            </a:pPr>
            <a:r>
              <a:rPr lang="en-US" altLang="zh-CN" sz="2000">
                <a:solidFill>
                  <a:srgbClr val="00B050"/>
                </a:solidFill>
                <a:latin typeface="Consolas" pitchFamily="49" charset="0"/>
                <a:ea typeface="仿宋" pitchFamily="49" charset="-122"/>
              </a:rPr>
              <a:t>//</a:t>
            </a:r>
            <a:r>
              <a:rPr lang="zh-CN" altLang="zh-CN" sz="2000">
                <a:solidFill>
                  <a:srgbClr val="00B050"/>
                </a:solidFill>
                <a:latin typeface="Consolas" pitchFamily="49" charset="0"/>
                <a:ea typeface="仿宋" pitchFamily="49" charset="-122"/>
              </a:rPr>
              <a:t>求</a:t>
            </a:r>
            <a:r>
              <a:rPr lang="en-US" altLang="zh-CN" sz="2000">
                <a:solidFill>
                  <a:srgbClr val="00B050"/>
                </a:solidFill>
                <a:latin typeface="Consolas" pitchFamily="49" charset="0"/>
                <a:ea typeface="仿宋" pitchFamily="49" charset="-122"/>
              </a:rPr>
              <a:t>p[i]</a:t>
            </a:r>
            <a:r>
              <a:rPr lang="zh-CN" altLang="zh-CN" sz="2000">
                <a:solidFill>
                  <a:srgbClr val="00B050"/>
                </a:solidFill>
                <a:latin typeface="Consolas" pitchFamily="49" charset="0"/>
                <a:ea typeface="仿宋" pitchFamily="49" charset="-122"/>
              </a:rPr>
              <a:t>和</a:t>
            </a:r>
            <a:r>
              <a:rPr lang="en-US" altLang="zh-CN" sz="2000">
                <a:solidFill>
                  <a:srgbClr val="00B050"/>
                </a:solidFill>
                <a:latin typeface="Consolas" pitchFamily="49" charset="0"/>
                <a:ea typeface="仿宋" pitchFamily="49" charset="-122"/>
              </a:rPr>
              <a:t>p[j]</a:t>
            </a:r>
            <a:r>
              <a:rPr lang="zh-CN" altLang="zh-CN" sz="2000">
                <a:solidFill>
                  <a:srgbClr val="00B050"/>
                </a:solidFill>
                <a:latin typeface="Consolas" pitchFamily="49" charset="0"/>
                <a:ea typeface="仿宋" pitchFamily="49" charset="-122"/>
              </a:rPr>
              <a:t>的曼哈顿距离</a:t>
            </a:r>
          </a:p>
          <a:p>
            <a:pPr algn="l" defTabSz="360000">
              <a:lnSpc>
                <a:spcPts val="2400"/>
              </a:lnSpc>
              <a:spcBef>
                <a:spcPts val="0"/>
              </a:spcBef>
            </a:pPr>
            <a:r>
              <a:rPr lang="en-US" altLang="zh-CN" sz="2000">
                <a:solidFill>
                  <a:srgbClr val="0000FF"/>
                </a:solidFill>
                <a:latin typeface="Consolas" pitchFamily="49" charset="0"/>
                <a:ea typeface="仿宋" pitchFamily="49" charset="-122"/>
              </a:rPr>
              <a:t>	return abs(p[i][0]-p[j][0])+abs(p[i][1]-p[j][1]);</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a:t>
            </a:r>
          </a:p>
          <a:p>
            <a:pPr algn="l" defTabSz="360000">
              <a:lnSpc>
                <a:spcPts val="2400"/>
              </a:lnSpc>
              <a:spcBef>
                <a:spcPts val="0"/>
              </a:spcBef>
            </a:pP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int </a:t>
            </a:r>
            <a:r>
              <a:rPr lang="en-US" altLang="zh-CN" sz="2000">
                <a:solidFill>
                  <a:srgbClr val="FF0000"/>
                </a:solidFill>
                <a:latin typeface="Consolas" pitchFamily="49" charset="0"/>
                <a:ea typeface="仿宋" pitchFamily="49" charset="-122"/>
              </a:rPr>
              <a:t>Kruskal</a:t>
            </a:r>
            <a:r>
              <a:rPr lang="en-US" altLang="zh-CN" sz="2000">
                <a:solidFill>
                  <a:srgbClr val="0000FF"/>
                </a:solidFill>
                <a:latin typeface="Consolas" pitchFamily="49" charset="0"/>
                <a:ea typeface="仿宋" pitchFamily="49" charset="-122"/>
              </a:rPr>
              <a:t>(vector&lt;vector&lt;int&gt;&gt;&amp;p,int n) { 	</a:t>
            </a:r>
            <a:r>
              <a:rPr lang="en-US" altLang="zh-CN" sz="2000">
                <a:solidFill>
                  <a:srgbClr val="00B050"/>
                </a:solidFill>
                <a:latin typeface="Consolas" pitchFamily="49" charset="0"/>
                <a:ea typeface="仿宋" pitchFamily="49" charset="-122"/>
              </a:rPr>
              <a:t>//Kruskal</a:t>
            </a:r>
            <a:r>
              <a:rPr lang="zh-CN" altLang="zh-CN" sz="2000">
                <a:solidFill>
                  <a:srgbClr val="00B050"/>
                </a:solidFill>
                <a:latin typeface="Consolas" pitchFamily="49" charset="0"/>
                <a:ea typeface="仿宋" pitchFamily="49" charset="-122"/>
              </a:rPr>
              <a:t>算法</a:t>
            </a:r>
          </a:p>
          <a:p>
            <a:pPr algn="l" defTabSz="360000">
              <a:lnSpc>
                <a:spcPts val="2400"/>
              </a:lnSpc>
              <a:spcBef>
                <a:spcPts val="0"/>
              </a:spcBef>
            </a:pPr>
            <a:r>
              <a:rPr lang="en-US" altLang="zh-CN" sz="2000">
                <a:solidFill>
                  <a:srgbClr val="0000FF"/>
                </a:solidFill>
                <a:latin typeface="Consolas" pitchFamily="49" charset="0"/>
                <a:ea typeface="仿宋" pitchFamily="49" charset="-122"/>
              </a:rPr>
              <a:t>	parent=vector&lt;int&gt;(n);</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rnk=vector&lt;int&gt;(n);</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int ans=0;;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存放最小生成树的长度</a:t>
            </a:r>
          </a:p>
          <a:p>
            <a:pPr algn="l" defTabSz="360000">
              <a:lnSpc>
                <a:spcPts val="2400"/>
              </a:lnSpc>
              <a:spcBef>
                <a:spcPts val="0"/>
              </a:spcBef>
            </a:pPr>
            <a:r>
              <a:rPr lang="en-US" altLang="zh-CN" sz="2000">
                <a:solidFill>
                  <a:srgbClr val="0000FF"/>
                </a:solidFill>
                <a:latin typeface="Consolas" pitchFamily="49" charset="0"/>
                <a:ea typeface="仿宋" pitchFamily="49" charset="-122"/>
              </a:rPr>
              <a:t>  	vector&lt;Edge&gt; E;</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for (int i=0;i&lt;n;i++)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由</a:t>
            </a:r>
            <a:r>
              <a:rPr lang="en-US" altLang="zh-CN" sz="2000">
                <a:solidFill>
                  <a:srgbClr val="00B0F0"/>
                </a:solidFill>
                <a:latin typeface="Consolas" pitchFamily="49" charset="0"/>
                <a:ea typeface="仿宋" pitchFamily="49" charset="-122"/>
              </a:rPr>
              <a:t>A</a:t>
            </a:r>
            <a:r>
              <a:rPr lang="zh-CN" altLang="zh-CN" sz="2000">
                <a:solidFill>
                  <a:srgbClr val="00B0F0"/>
                </a:solidFill>
                <a:latin typeface="Consolas" pitchFamily="49" charset="0"/>
                <a:ea typeface="仿宋" pitchFamily="49" charset="-122"/>
              </a:rPr>
              <a:t>下三角部分产生的边集</a:t>
            </a:r>
            <a:r>
              <a:rPr lang="en-US" altLang="zh-CN" sz="2000">
                <a:solidFill>
                  <a:srgbClr val="00B0F0"/>
                </a:solidFill>
                <a:latin typeface="Consolas" pitchFamily="49" charset="0"/>
                <a:ea typeface="仿宋" pitchFamily="49" charset="-122"/>
              </a:rPr>
              <a:t>E</a:t>
            </a:r>
            <a:endParaRPr lang="zh-CN" altLang="zh-CN" sz="2000">
              <a:solidFill>
                <a:srgbClr val="00B0F0"/>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for (int j=0;j&lt;i;j++) {</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E.push_back(Edge(i,j,distance(p,i,j)));</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006600"/>
                </a:solidFill>
                <a:latin typeface="Consolas" pitchFamily="49" charset="0"/>
                <a:ea typeface="仿宋" pitchFamily="49" charset="-122"/>
              </a:rPr>
              <a:t>sort</a:t>
            </a:r>
            <a:r>
              <a:rPr lang="en-US" altLang="zh-CN" sz="2000">
                <a:solidFill>
                  <a:srgbClr val="0000FF"/>
                </a:solidFill>
                <a:latin typeface="Consolas" pitchFamily="49" charset="0"/>
                <a:ea typeface="仿宋" pitchFamily="49" charset="-122"/>
              </a:rPr>
              <a:t>(E.begin(),E.end());</a:t>
            </a:r>
            <a:endParaRPr lang="zh-CN" altLang="zh-CN" sz="2000">
              <a:solidFill>
                <a:srgbClr val="0000FF"/>
              </a:solidFill>
              <a:latin typeface="Consolas" pitchFamily="49" charset="0"/>
              <a:ea typeface="仿宋" pitchFamily="49" charset="-122"/>
            </a:endParaRPr>
          </a:p>
        </p:txBody>
      </p:sp>
      <p:sp>
        <p:nvSpPr>
          <p:cNvPr id="4" name="灯片编号占位符 3"/>
          <p:cNvSpPr>
            <a:spLocks noGrp="1"/>
          </p:cNvSpPr>
          <p:nvPr>
            <p:ph type="sldNum" sz="quarter" idx="12"/>
          </p:nvPr>
        </p:nvSpPr>
        <p:spPr/>
        <p:txBody>
          <a:bodyPr/>
          <a:lstStyle/>
          <a:p>
            <a:fld id="{7AF016A1-9F15-429F-9EFD-84004B73C732}" type="slidenum">
              <a:rPr lang="en-US" altLang="zh-CN" smtClean="0"/>
              <a:pPr/>
              <a:t>32</a:t>
            </a:fld>
            <a:r>
              <a:rPr lang="en-US" altLang="zh-CN"/>
              <a:t>/158</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42844" y="142852"/>
            <a:ext cx="8858280" cy="6202376"/>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2600"/>
              </a:lnSpc>
              <a:spcBef>
                <a:spcPts val="0"/>
              </a:spcBef>
            </a:pPr>
            <a:r>
              <a:rPr lang="en-US" altLang="zh-CN" sz="2000">
                <a:solidFill>
                  <a:srgbClr val="0000FF"/>
                </a:solidFill>
                <a:latin typeface="Consolas" pitchFamily="49" charset="0"/>
                <a:ea typeface="仿宋" pitchFamily="49" charset="-122"/>
              </a:rPr>
              <a:t>		Init(n);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初始化并查集</a:t>
            </a:r>
          </a:p>
          <a:p>
            <a:pPr algn="l" defTabSz="360000">
              <a:lnSpc>
                <a:spcPts val="2600"/>
              </a:lnSpc>
              <a:spcBef>
                <a:spcPts val="0"/>
              </a:spcBef>
            </a:pPr>
            <a:r>
              <a:rPr lang="en-US" altLang="zh-CN" sz="2000">
                <a:solidFill>
                  <a:srgbClr val="0000FF"/>
                </a:solidFill>
                <a:latin typeface="Consolas" pitchFamily="49" charset="0"/>
                <a:ea typeface="仿宋" pitchFamily="49" charset="-122"/>
              </a:rPr>
              <a:t>     	int k=0;  						</a:t>
            </a:r>
            <a:r>
              <a:rPr lang="en-US" altLang="zh-CN" sz="2000">
                <a:solidFill>
                  <a:srgbClr val="00B0F0"/>
                </a:solidFill>
                <a:latin typeface="Consolas" pitchFamily="49" charset="0"/>
                <a:ea typeface="仿宋" pitchFamily="49" charset="-122"/>
              </a:rPr>
              <a:t>//k</a:t>
            </a:r>
            <a:r>
              <a:rPr lang="zh-CN" altLang="zh-CN" sz="2000">
                <a:solidFill>
                  <a:srgbClr val="00B0F0"/>
                </a:solidFill>
                <a:latin typeface="Consolas" pitchFamily="49" charset="0"/>
                <a:ea typeface="仿宋" pitchFamily="49" charset="-122"/>
              </a:rPr>
              <a:t>表示当前构造生成树的边数</a:t>
            </a:r>
          </a:p>
          <a:p>
            <a:pPr algn="l" defTabSz="360000">
              <a:lnSpc>
                <a:spcPts val="2600"/>
              </a:lnSpc>
              <a:spcBef>
                <a:spcPts val="0"/>
              </a:spcBef>
            </a:pPr>
            <a:r>
              <a:rPr lang="en-US" altLang="zh-CN" sz="2000">
                <a:solidFill>
                  <a:srgbClr val="0000FF"/>
                </a:solidFill>
                <a:latin typeface="Consolas" pitchFamily="49" charset="0"/>
                <a:ea typeface="仿宋" pitchFamily="49" charset="-122"/>
              </a:rPr>
              <a:t>     	int j=0; 						</a:t>
            </a:r>
            <a:r>
              <a:rPr lang="en-US" altLang="zh-CN" sz="2000">
                <a:solidFill>
                  <a:srgbClr val="00B0F0"/>
                </a:solidFill>
                <a:latin typeface="Consolas" pitchFamily="49" charset="0"/>
                <a:ea typeface="仿宋" pitchFamily="49" charset="-122"/>
              </a:rPr>
              <a:t>//j</a:t>
            </a:r>
            <a:r>
              <a:rPr lang="zh-CN" altLang="zh-CN" sz="2000">
                <a:solidFill>
                  <a:srgbClr val="00B0F0"/>
                </a:solidFill>
                <a:latin typeface="Consolas" pitchFamily="49" charset="0"/>
                <a:ea typeface="仿宋" pitchFamily="49" charset="-122"/>
              </a:rPr>
              <a:t>为</a:t>
            </a:r>
            <a:r>
              <a:rPr lang="en-US" altLang="zh-CN" sz="2000">
                <a:solidFill>
                  <a:srgbClr val="00B0F0"/>
                </a:solidFill>
                <a:latin typeface="Consolas" pitchFamily="49" charset="0"/>
                <a:ea typeface="仿宋" pitchFamily="49" charset="-122"/>
              </a:rPr>
              <a:t>E</a:t>
            </a:r>
            <a:r>
              <a:rPr lang="zh-CN" altLang="zh-CN" sz="2000">
                <a:solidFill>
                  <a:srgbClr val="00B0F0"/>
                </a:solidFill>
                <a:latin typeface="Consolas" pitchFamily="49" charset="0"/>
                <a:ea typeface="仿宋" pitchFamily="49" charset="-122"/>
              </a:rPr>
              <a:t>中边的下标</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初值为</a:t>
            </a:r>
            <a:r>
              <a:rPr lang="en-US" altLang="zh-CN" sz="2000">
                <a:solidFill>
                  <a:srgbClr val="00B0F0"/>
                </a:solidFill>
                <a:latin typeface="Consolas" pitchFamily="49" charset="0"/>
                <a:ea typeface="仿宋" pitchFamily="49" charset="-122"/>
              </a:rPr>
              <a:t>0</a:t>
            </a:r>
            <a:endParaRPr lang="zh-CN" altLang="zh-CN" sz="2000">
              <a:solidFill>
                <a:srgbClr val="00B0F0"/>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while (k&lt;n-1)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生成的边数小于</a:t>
            </a:r>
            <a:r>
              <a:rPr lang="en-US" altLang="zh-CN" sz="2000">
                <a:solidFill>
                  <a:srgbClr val="00B0F0"/>
                </a:solidFill>
                <a:latin typeface="Consolas" pitchFamily="49" charset="0"/>
                <a:ea typeface="仿宋" pitchFamily="49" charset="-122"/>
              </a:rPr>
              <a:t>n-1</a:t>
            </a:r>
            <a:r>
              <a:rPr lang="zh-CN" altLang="zh-CN" sz="2000">
                <a:solidFill>
                  <a:srgbClr val="00B0F0"/>
                </a:solidFill>
                <a:latin typeface="Consolas" pitchFamily="49" charset="0"/>
                <a:ea typeface="仿宋" pitchFamily="49" charset="-122"/>
              </a:rPr>
              <a:t>时循环</a:t>
            </a:r>
          </a:p>
          <a:p>
            <a:pPr algn="l" defTabSz="360000">
              <a:lnSpc>
                <a:spcPts val="2600"/>
              </a:lnSpc>
              <a:spcBef>
                <a:spcPts val="0"/>
              </a:spcBef>
            </a:pPr>
            <a:r>
              <a:rPr lang="en-US" altLang="zh-CN" sz="2000">
                <a:solidFill>
                  <a:srgbClr val="0000FF"/>
                </a:solidFill>
                <a:latin typeface="Consolas" pitchFamily="49" charset="0"/>
                <a:ea typeface="仿宋" pitchFamily="49" charset="-122"/>
              </a:rPr>
              <a:t>     		int u1=E[j].u;</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int v1=E[j].v;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取一条边的头尾顶点编号</a:t>
            </a:r>
            <a:r>
              <a:rPr lang="en-US" altLang="zh-CN" sz="2000">
                <a:solidFill>
                  <a:srgbClr val="00B0F0"/>
                </a:solidFill>
                <a:latin typeface="Consolas" pitchFamily="49" charset="0"/>
                <a:ea typeface="仿宋" pitchFamily="49" charset="-122"/>
              </a:rPr>
              <a:t>u1</a:t>
            </a:r>
            <a:r>
              <a:rPr lang="zh-CN" altLang="zh-CN" sz="2000">
                <a:solidFill>
                  <a:srgbClr val="00B0F0"/>
                </a:solidFill>
                <a:latin typeface="Consolas" pitchFamily="49" charset="0"/>
                <a:ea typeface="仿宋" pitchFamily="49" charset="-122"/>
              </a:rPr>
              <a:t>和</a:t>
            </a:r>
            <a:r>
              <a:rPr lang="en-US" altLang="zh-CN" sz="2000">
                <a:solidFill>
                  <a:srgbClr val="00B0F0"/>
                </a:solidFill>
                <a:latin typeface="Consolas" pitchFamily="49" charset="0"/>
                <a:ea typeface="仿宋" pitchFamily="49" charset="-122"/>
              </a:rPr>
              <a:t>v2</a:t>
            </a:r>
            <a:endParaRPr lang="zh-CN" altLang="zh-CN" sz="2000">
              <a:solidFill>
                <a:srgbClr val="00B0F0"/>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int sn1=</a:t>
            </a:r>
            <a:r>
              <a:rPr lang="en-US" altLang="zh-CN" sz="2000">
                <a:solidFill>
                  <a:srgbClr val="FF0000"/>
                </a:solidFill>
                <a:latin typeface="Consolas" pitchFamily="49" charset="0"/>
                <a:ea typeface="仿宋" pitchFamily="49" charset="-122"/>
              </a:rPr>
              <a:t>Find</a:t>
            </a:r>
            <a:r>
              <a:rPr lang="en-US" altLang="zh-CN" sz="2000">
                <a:solidFill>
                  <a:srgbClr val="0000FF"/>
                </a:solidFill>
                <a:latin typeface="Consolas" pitchFamily="49" charset="0"/>
                <a:ea typeface="仿宋" pitchFamily="49" charset="-122"/>
              </a:rPr>
              <a:t>(u1);</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int sn2=</a:t>
            </a:r>
            <a:r>
              <a:rPr lang="en-US" altLang="zh-CN" sz="2000">
                <a:solidFill>
                  <a:srgbClr val="FF0000"/>
                </a:solidFill>
                <a:latin typeface="Consolas" pitchFamily="49" charset="0"/>
                <a:ea typeface="仿宋" pitchFamily="49" charset="-122"/>
              </a:rPr>
              <a:t>Find</a:t>
            </a:r>
            <a:r>
              <a:rPr lang="en-US" altLang="zh-CN" sz="2000">
                <a:solidFill>
                  <a:srgbClr val="0000FF"/>
                </a:solidFill>
                <a:latin typeface="Consolas" pitchFamily="49" charset="0"/>
                <a:ea typeface="仿宋" pitchFamily="49" charset="-122"/>
              </a:rPr>
              <a:t>(v1);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分别得到两个顶点所属子集树</a:t>
            </a:r>
          </a:p>
          <a:p>
            <a:pPr algn="l" defTabSz="360000">
              <a:lnSpc>
                <a:spcPts val="2600"/>
              </a:lnSpc>
              <a:spcBef>
                <a:spcPts val="0"/>
              </a:spcBef>
            </a:pPr>
            <a:r>
              <a:rPr lang="en-US" altLang="zh-CN" sz="2000">
                <a:solidFill>
                  <a:srgbClr val="0000FF"/>
                </a:solidFill>
                <a:latin typeface="Consolas" pitchFamily="49" charset="0"/>
                <a:ea typeface="仿宋" pitchFamily="49" charset="-122"/>
              </a:rPr>
              <a:t>        if (sn1!=sn2)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添加该边不会构成回路</a:t>
            </a:r>
          </a:p>
          <a:p>
            <a:pPr algn="l" defTabSz="360000">
              <a:lnSpc>
                <a:spcPts val="2600"/>
              </a:lnSpc>
              <a:spcBef>
                <a:spcPts val="0"/>
              </a:spcBef>
            </a:pPr>
            <a:r>
              <a:rPr lang="en-US" altLang="zh-CN" sz="2000">
                <a:solidFill>
                  <a:srgbClr val="0000FF"/>
                </a:solidFill>
                <a:latin typeface="Consolas" pitchFamily="49" charset="0"/>
                <a:ea typeface="仿宋" pitchFamily="49" charset="-122"/>
              </a:rPr>
              <a:t>        	ans+=E[j].w;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产生最小生成树的一条边</a:t>
            </a:r>
          </a:p>
          <a:p>
            <a:pPr algn="l" defTabSz="360000">
              <a:lnSpc>
                <a:spcPts val="2600"/>
              </a:lnSpc>
              <a:spcBef>
                <a:spcPts val="0"/>
              </a:spcBef>
            </a:pPr>
            <a:r>
              <a:rPr lang="en-US" altLang="zh-CN" sz="2000">
                <a:solidFill>
                  <a:srgbClr val="0000FF"/>
                </a:solidFill>
                <a:latin typeface="Consolas" pitchFamily="49" charset="0"/>
                <a:ea typeface="仿宋" pitchFamily="49" charset="-122"/>
              </a:rPr>
              <a:t>          	k++;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生成边数增</a:t>
            </a:r>
            <a:r>
              <a:rPr lang="en-US" altLang="zh-CN" sz="2000">
                <a:solidFill>
                  <a:srgbClr val="00B0F0"/>
                </a:solidFill>
                <a:latin typeface="Consolas" pitchFamily="49" charset="0"/>
                <a:ea typeface="仿宋" pitchFamily="49" charset="-122"/>
              </a:rPr>
              <a:t>1</a:t>
            </a:r>
            <a:endParaRPr lang="zh-CN" altLang="zh-CN" sz="2000">
              <a:solidFill>
                <a:srgbClr val="00B0F0"/>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FF0000"/>
                </a:solidFill>
                <a:latin typeface="Consolas" pitchFamily="49" charset="0"/>
                <a:ea typeface="仿宋" pitchFamily="49" charset="-122"/>
              </a:rPr>
              <a:t>Union</a:t>
            </a:r>
            <a:r>
              <a:rPr lang="en-US" altLang="zh-CN" sz="2000">
                <a:solidFill>
                  <a:srgbClr val="0000FF"/>
                </a:solidFill>
                <a:latin typeface="Consolas" pitchFamily="49" charset="0"/>
                <a:ea typeface="仿宋" pitchFamily="49" charset="-122"/>
              </a:rPr>
              <a:t>(sn1,sn2);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将</a:t>
            </a:r>
            <a:r>
              <a:rPr lang="en-US" altLang="zh-CN" sz="2000">
                <a:solidFill>
                  <a:srgbClr val="00B0F0"/>
                </a:solidFill>
                <a:latin typeface="Consolas" pitchFamily="49" charset="0"/>
                <a:ea typeface="仿宋" pitchFamily="49" charset="-122"/>
              </a:rPr>
              <a:t>sn1</a:t>
            </a:r>
            <a:r>
              <a:rPr lang="zh-CN" altLang="zh-CN" sz="2000">
                <a:solidFill>
                  <a:srgbClr val="00B0F0"/>
                </a:solidFill>
                <a:latin typeface="Consolas" pitchFamily="49" charset="0"/>
                <a:ea typeface="仿宋" pitchFamily="49" charset="-122"/>
              </a:rPr>
              <a:t>和</a:t>
            </a:r>
            <a:r>
              <a:rPr lang="en-US" altLang="zh-CN" sz="2000">
                <a:solidFill>
                  <a:srgbClr val="00B0F0"/>
                </a:solidFill>
                <a:latin typeface="Consolas" pitchFamily="49" charset="0"/>
                <a:ea typeface="仿宋" pitchFamily="49" charset="-122"/>
              </a:rPr>
              <a:t>sn2</a:t>
            </a:r>
            <a:r>
              <a:rPr lang="zh-CN" altLang="zh-CN" sz="2000">
                <a:solidFill>
                  <a:srgbClr val="00B0F0"/>
                </a:solidFill>
                <a:latin typeface="Consolas" pitchFamily="49" charset="0"/>
                <a:ea typeface="仿宋" pitchFamily="49" charset="-122"/>
              </a:rPr>
              <a:t>两个顶点合并</a:t>
            </a: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j++;  					</a:t>
            </a:r>
            <a:r>
              <a:rPr lang="en-US" altLang="zh-CN" sz="2000">
                <a:solidFill>
                  <a:srgbClr val="00B0F0"/>
                </a:solidFill>
                <a:latin typeface="Consolas" pitchFamily="49" charset="0"/>
                <a:ea typeface="仿宋" pitchFamily="49" charset="-122"/>
              </a:rPr>
              <a:t>	//</a:t>
            </a:r>
            <a:r>
              <a:rPr lang="zh-CN" altLang="zh-CN" sz="2000">
                <a:solidFill>
                  <a:srgbClr val="00B0F0"/>
                </a:solidFill>
                <a:latin typeface="Consolas" pitchFamily="49" charset="0"/>
                <a:ea typeface="仿宋" pitchFamily="49" charset="-122"/>
              </a:rPr>
              <a:t>遍历下一条边</a:t>
            </a: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return ans;</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4" name="灯片编号占位符 3"/>
          <p:cNvSpPr>
            <a:spLocks noGrp="1"/>
          </p:cNvSpPr>
          <p:nvPr>
            <p:ph type="sldNum" sz="quarter" idx="12"/>
          </p:nvPr>
        </p:nvSpPr>
        <p:spPr/>
        <p:txBody>
          <a:bodyPr/>
          <a:lstStyle/>
          <a:p>
            <a:fld id="{7AF016A1-9F15-429F-9EFD-84004B73C732}" type="slidenum">
              <a:rPr lang="en-US" altLang="zh-CN" smtClean="0"/>
              <a:pPr/>
              <a:t>33</a:t>
            </a:fld>
            <a:r>
              <a:rPr lang="en-US" altLang="zh-CN"/>
              <a:t>/158</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9"/>
          <p:cNvGrpSpPr/>
          <p:nvPr/>
        </p:nvGrpSpPr>
        <p:grpSpPr>
          <a:xfrm>
            <a:off x="500034" y="2895897"/>
            <a:ext cx="7929618" cy="461665"/>
            <a:chOff x="1071538" y="6286520"/>
            <a:chExt cx="7929618" cy="461665"/>
          </a:xfrm>
        </p:grpSpPr>
        <p:sp>
          <p:nvSpPr>
            <p:cNvPr id="5" name="TextBox 4"/>
            <p:cNvSpPr txBox="1"/>
            <p:nvPr/>
          </p:nvSpPr>
          <p:spPr>
            <a:xfrm>
              <a:off x="1928794" y="6286520"/>
              <a:ext cx="7072362" cy="461665"/>
            </a:xfrm>
            <a:prstGeom prst="rect">
              <a:avLst/>
            </a:prstGeom>
            <a:noFill/>
          </p:spPr>
          <p:txBody>
            <a:bodyPr wrap="square" rtlCol="0">
              <a:spAutoFit/>
            </a:bodyPr>
            <a:lstStyle/>
            <a:p>
              <a:pPr algn="l">
                <a:lnSpc>
                  <a:spcPct val="100000"/>
                </a:lnSpc>
                <a:spcBef>
                  <a:spcPts val="0"/>
                </a:spcBef>
              </a:pPr>
              <a:r>
                <a:rPr lang="en-US" altLang="zh-CN">
                  <a:solidFill>
                    <a:srgbClr val="0000FF"/>
                  </a:solidFill>
                  <a:latin typeface="Consolas" pitchFamily="49" charset="0"/>
                  <a:ea typeface="仿宋" pitchFamily="49" charset="-122"/>
                </a:rPr>
                <a:t>Kruskal:</a:t>
              </a:r>
              <a:r>
                <a:rPr lang="zh-CN" altLang="zh-CN">
                  <a:solidFill>
                    <a:srgbClr val="0000FF"/>
                  </a:solidFill>
                  <a:latin typeface="Consolas" pitchFamily="49" charset="0"/>
                  <a:ea typeface="仿宋" pitchFamily="49" charset="-122"/>
                </a:rPr>
                <a:t>执行用时为</a:t>
              </a:r>
              <a:r>
                <a:rPr lang="en-US" altLang="zh-CN">
                  <a:solidFill>
                    <a:srgbClr val="0000FF"/>
                  </a:solidFill>
                  <a:latin typeface="Consolas" pitchFamily="49" charset="0"/>
                  <a:ea typeface="仿宋" pitchFamily="49" charset="-122"/>
                </a:rPr>
                <a:t>464ms</a:t>
              </a:r>
              <a:r>
                <a:rPr lang="zh-CN" altLang="zh-CN">
                  <a:solidFill>
                    <a:srgbClr val="0000FF"/>
                  </a:solidFill>
                  <a:latin typeface="Consolas" pitchFamily="49" charset="0"/>
                  <a:ea typeface="仿宋" pitchFamily="49" charset="-122"/>
                </a:rPr>
                <a:t>，内存消耗为</a:t>
              </a:r>
              <a:r>
                <a:rPr lang="en-US" altLang="zh-CN">
                  <a:solidFill>
                    <a:srgbClr val="0000FF"/>
                  </a:solidFill>
                  <a:latin typeface="Consolas" pitchFamily="49" charset="0"/>
                  <a:ea typeface="仿宋" pitchFamily="49" charset="-122"/>
                </a:rPr>
                <a:t>56.8MB</a:t>
              </a:r>
              <a:r>
                <a:rPr lang="zh-CN" altLang="zh-CN">
                  <a:solidFill>
                    <a:srgbClr val="0000FF"/>
                  </a:solidFill>
                  <a:latin typeface="Consolas" pitchFamily="49" charset="0"/>
                  <a:ea typeface="仿宋" pitchFamily="49" charset="-122"/>
                </a:rPr>
                <a:t>。</a:t>
              </a:r>
              <a:endParaRPr lang="zh-CN" altLang="en-US">
                <a:solidFill>
                  <a:srgbClr val="0000FF"/>
                </a:solidFill>
                <a:latin typeface="Consolas" pitchFamily="49" charset="0"/>
                <a:ea typeface="仿宋" pitchFamily="49" charset="-122"/>
                <a:cs typeface="Consolas" pitchFamily="49" charset="0"/>
              </a:endParaRPr>
            </a:p>
          </p:txBody>
        </p:sp>
        <p:sp>
          <p:nvSpPr>
            <p:cNvPr id="6" name="TextBox 5"/>
            <p:cNvSpPr txBox="1"/>
            <p:nvPr/>
          </p:nvSpPr>
          <p:spPr>
            <a:xfrm>
              <a:off x="1071538" y="6286520"/>
              <a:ext cx="785818" cy="441018"/>
            </a:xfrm>
            <a:prstGeom prst="rect">
              <a:avLst/>
            </a:prstGeom>
            <a:ln>
              <a:noFill/>
            </a:ln>
            <a:effectLst>
              <a:outerShdw blurRad="76200" dir="13500000" sy="23000" kx="1200000" algn="br" rotWithShape="0">
                <a:prstClr val="black">
                  <a:alpha val="20000"/>
                </a:prstClr>
              </a:outerShdw>
            </a:effectLst>
            <a:scene3d>
              <a:camera prst="orthographicFront"/>
              <a:lightRig rig="threePt" dir="t"/>
            </a:scene3d>
            <a:sp3d>
              <a:bevelT prst="convex"/>
            </a:sp3d>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ts val="3000"/>
                </a:lnSpc>
                <a:spcBef>
                  <a:spcPts val="0"/>
                </a:spcBef>
              </a:pPr>
              <a:r>
                <a:rPr lang="en-US" altLang="zh-CN" sz="2000">
                  <a:solidFill>
                    <a:srgbClr val="FF3300"/>
                  </a:solidFill>
                  <a:latin typeface="Eras Bold ITC" pitchFamily="34" charset="0"/>
                  <a:ea typeface="仿宋" pitchFamily="49" charset="-122"/>
                  <a:cs typeface="Courier New" pitchFamily="49" charset="0"/>
                </a:rPr>
                <a:t>EXE</a:t>
              </a:r>
              <a:endParaRPr lang="zh-CN" altLang="en-US" sz="2000">
                <a:solidFill>
                  <a:srgbClr val="FF3300"/>
                </a:solidFill>
                <a:latin typeface="Forte" pitchFamily="66" charset="0"/>
                <a:ea typeface="仿宋" pitchFamily="49" charset="-122"/>
                <a:cs typeface="Consolas" pitchFamily="49" charset="0"/>
              </a:endParaRPr>
            </a:p>
          </p:txBody>
        </p:sp>
      </p:grpSp>
      <p:grpSp>
        <p:nvGrpSpPr>
          <p:cNvPr id="21" name="组合 9"/>
          <p:cNvGrpSpPr/>
          <p:nvPr/>
        </p:nvGrpSpPr>
        <p:grpSpPr>
          <a:xfrm>
            <a:off x="500034" y="2252955"/>
            <a:ext cx="6858048" cy="461665"/>
            <a:chOff x="1071538" y="6286520"/>
            <a:chExt cx="6858048" cy="461665"/>
          </a:xfrm>
        </p:grpSpPr>
        <p:sp>
          <p:nvSpPr>
            <p:cNvPr id="24" name="TextBox 23"/>
            <p:cNvSpPr txBox="1"/>
            <p:nvPr/>
          </p:nvSpPr>
          <p:spPr>
            <a:xfrm>
              <a:off x="1928794" y="6286520"/>
              <a:ext cx="6000792" cy="461665"/>
            </a:xfrm>
            <a:prstGeom prst="rect">
              <a:avLst/>
            </a:prstGeom>
            <a:noFill/>
          </p:spPr>
          <p:txBody>
            <a:bodyPr wrap="square" rtlCol="0">
              <a:spAutoFit/>
            </a:bodyPr>
            <a:lstStyle/>
            <a:p>
              <a:pPr algn="l">
                <a:lnSpc>
                  <a:spcPct val="100000"/>
                </a:lnSpc>
                <a:spcBef>
                  <a:spcPts val="0"/>
                </a:spcBef>
              </a:pPr>
              <a:r>
                <a:rPr lang="en-US" altLang="zh-CN">
                  <a:solidFill>
                    <a:srgbClr val="0000FF"/>
                  </a:solidFill>
                  <a:latin typeface="Consolas" pitchFamily="49" charset="0"/>
                  <a:ea typeface="仿宋" pitchFamily="49" charset="-122"/>
                </a:rPr>
                <a:t>Prim:</a:t>
              </a:r>
              <a:r>
                <a:rPr lang="zh-CN" altLang="zh-CN">
                  <a:solidFill>
                    <a:srgbClr val="0000FF"/>
                  </a:solidFill>
                  <a:latin typeface="Consolas" pitchFamily="49" charset="0"/>
                  <a:ea typeface="仿宋" pitchFamily="49" charset="-122"/>
                </a:rPr>
                <a:t>执行用时为</a:t>
              </a:r>
              <a:r>
                <a:rPr lang="en-US" altLang="zh-CN">
                  <a:solidFill>
                    <a:srgbClr val="0000FF"/>
                  </a:solidFill>
                  <a:latin typeface="Consolas" pitchFamily="49" charset="0"/>
                  <a:ea typeface="仿宋" pitchFamily="49" charset="-122"/>
                </a:rPr>
                <a:t>72ms</a:t>
              </a:r>
              <a:r>
                <a:rPr lang="zh-CN" altLang="zh-CN">
                  <a:solidFill>
                    <a:srgbClr val="0000FF"/>
                  </a:solidFill>
                  <a:latin typeface="Consolas" pitchFamily="49" charset="0"/>
                  <a:ea typeface="仿宋" pitchFamily="49" charset="-122"/>
                </a:rPr>
                <a:t>，内存消耗为</a:t>
              </a:r>
              <a:r>
                <a:rPr lang="en-US" altLang="zh-CN">
                  <a:solidFill>
                    <a:srgbClr val="0000FF"/>
                  </a:solidFill>
                  <a:latin typeface="Consolas" pitchFamily="49" charset="0"/>
                  <a:ea typeface="仿宋" pitchFamily="49" charset="-122"/>
                </a:rPr>
                <a:t>9.9MB</a:t>
              </a:r>
              <a:r>
                <a:rPr lang="zh-CN" altLang="zh-CN">
                  <a:solidFill>
                    <a:srgbClr val="0000FF"/>
                  </a:solidFill>
                  <a:latin typeface="Consolas" pitchFamily="49" charset="0"/>
                  <a:ea typeface="仿宋" pitchFamily="49" charset="-122"/>
                </a:rPr>
                <a:t>。</a:t>
              </a:r>
              <a:endParaRPr lang="zh-CN" altLang="en-US">
                <a:solidFill>
                  <a:srgbClr val="0000FF"/>
                </a:solidFill>
                <a:latin typeface="Consolas" pitchFamily="49" charset="0"/>
                <a:ea typeface="仿宋" pitchFamily="49" charset="-122"/>
                <a:cs typeface="Consolas" pitchFamily="49" charset="0"/>
              </a:endParaRPr>
            </a:p>
          </p:txBody>
        </p:sp>
        <p:sp>
          <p:nvSpPr>
            <p:cNvPr id="25" name="TextBox 24"/>
            <p:cNvSpPr txBox="1"/>
            <p:nvPr/>
          </p:nvSpPr>
          <p:spPr>
            <a:xfrm>
              <a:off x="1071538" y="6286520"/>
              <a:ext cx="785818" cy="441018"/>
            </a:xfrm>
            <a:prstGeom prst="rect">
              <a:avLst/>
            </a:prstGeom>
            <a:ln>
              <a:noFill/>
            </a:ln>
            <a:effectLst>
              <a:outerShdw blurRad="76200" dir="13500000" sy="23000" kx="1200000" algn="br" rotWithShape="0">
                <a:prstClr val="black">
                  <a:alpha val="20000"/>
                </a:prstClr>
              </a:outerShdw>
            </a:effectLst>
            <a:scene3d>
              <a:camera prst="orthographicFront"/>
              <a:lightRig rig="threePt" dir="t"/>
            </a:scene3d>
            <a:sp3d>
              <a:bevelT prst="convex"/>
            </a:sp3d>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ts val="3000"/>
                </a:lnSpc>
                <a:spcBef>
                  <a:spcPts val="0"/>
                </a:spcBef>
              </a:pPr>
              <a:r>
                <a:rPr lang="en-US" altLang="zh-CN" sz="2000">
                  <a:solidFill>
                    <a:srgbClr val="FF3300"/>
                  </a:solidFill>
                  <a:latin typeface="Eras Bold ITC" pitchFamily="34" charset="0"/>
                  <a:ea typeface="仿宋" pitchFamily="49" charset="-122"/>
                  <a:cs typeface="Courier New" pitchFamily="49" charset="0"/>
                </a:rPr>
                <a:t>EXE</a:t>
              </a:r>
              <a:endParaRPr lang="zh-CN" altLang="en-US" sz="2000">
                <a:solidFill>
                  <a:srgbClr val="FF3300"/>
                </a:solidFill>
                <a:latin typeface="Forte" pitchFamily="66" charset="0"/>
                <a:ea typeface="仿宋" pitchFamily="49" charset="-122"/>
                <a:cs typeface="Consolas" pitchFamily="49" charset="0"/>
              </a:endParaRPr>
            </a:p>
          </p:txBody>
        </p:sp>
      </p:grpSp>
      <p:grpSp>
        <p:nvGrpSpPr>
          <p:cNvPr id="26" name="组合 25"/>
          <p:cNvGrpSpPr/>
          <p:nvPr/>
        </p:nvGrpSpPr>
        <p:grpSpPr>
          <a:xfrm>
            <a:off x="3071802" y="857232"/>
            <a:ext cx="1143008" cy="1214445"/>
            <a:chOff x="1589596" y="810715"/>
            <a:chExt cx="2340698" cy="2345431"/>
          </a:xfrm>
        </p:grpSpPr>
        <p:grpSp>
          <p:nvGrpSpPr>
            <p:cNvPr id="27" name="组合 79"/>
            <p:cNvGrpSpPr/>
            <p:nvPr/>
          </p:nvGrpSpPr>
          <p:grpSpPr bwMode="auto">
            <a:xfrm>
              <a:off x="1589596" y="810715"/>
              <a:ext cx="2340698" cy="2345431"/>
              <a:chOff x="6379729" y="2488774"/>
              <a:chExt cx="2513016" cy="2513016"/>
            </a:xfrm>
          </p:grpSpPr>
          <p:sp>
            <p:nvSpPr>
              <p:cNvPr id="29" name="任意多边形 82"/>
              <p:cNvSpPr/>
              <p:nvPr/>
            </p:nvSpPr>
            <p:spPr>
              <a:xfrm rot="3738964">
                <a:off x="6379729" y="2488774"/>
                <a:ext cx="2513016" cy="2513016"/>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flip="none" rotWithShape="1">
                <a:gsLst>
                  <a:gs pos="17000">
                    <a:srgbClr val="FFFFFF"/>
                  </a:gs>
                  <a:gs pos="88000">
                    <a:srgbClr val="FFFFFF">
                      <a:lumMod val="72000"/>
                    </a:srgbClr>
                  </a:gs>
                </a:gsLst>
                <a:lin ang="2700000" scaled="1"/>
                <a:tileRect/>
              </a:gradFill>
              <a:ln w="25400" cap="flat" cmpd="sng" algn="ctr">
                <a:noFill/>
                <a:prstDash val="solid"/>
              </a:ln>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宋体" panose="02010600030101010101" pitchFamily="2" charset="-122"/>
                </a:endParaRPr>
              </a:p>
            </p:txBody>
          </p:sp>
          <p:sp>
            <p:nvSpPr>
              <p:cNvPr id="30" name="任意多边形 83"/>
              <p:cNvSpPr/>
              <p:nvPr/>
            </p:nvSpPr>
            <p:spPr>
              <a:xfrm rot="16377237">
                <a:off x="6409518" y="2506880"/>
                <a:ext cx="2476803" cy="2476800"/>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flip="none" rotWithShape="1">
                <a:gsLst>
                  <a:gs pos="29000">
                    <a:srgbClr val="FFFFFF"/>
                  </a:gs>
                  <a:gs pos="98000">
                    <a:srgbClr val="FFFFFF">
                      <a:lumMod val="75000"/>
                    </a:srgbClr>
                  </a:gs>
                </a:gsLst>
                <a:lin ang="2700000" scaled="1"/>
                <a:tileRect/>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pSp>
        <p:sp>
          <p:nvSpPr>
            <p:cNvPr id="28" name="椭圆 80"/>
            <p:cNvSpPr/>
            <p:nvPr/>
          </p:nvSpPr>
          <p:spPr bwMode="auto">
            <a:xfrm>
              <a:off x="1932719" y="1141999"/>
              <a:ext cx="1691508" cy="1694936"/>
            </a:xfrm>
            <a:prstGeom prst="ellipse">
              <a:avLst/>
            </a:prstGeom>
            <a:solidFill>
              <a:srgbClr val="FF0000"/>
            </a:solidFill>
            <a:ln w="25400" cap="flat" cmpd="sng" algn="ctr">
              <a:noFill/>
              <a:prstDash val="solid"/>
            </a:ln>
            <a:effectLst>
              <a:innerShdw blurRad="63500" dist="25400" dir="18660000">
                <a:prstClr val="black">
                  <a:alpha val="35000"/>
                </a:prstClr>
              </a:innerShdw>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0" lang="en-US" sz="5400" kern="0" dirty="0">
                  <a:solidFill>
                    <a:srgbClr val="FFFFFF"/>
                  </a:solidFill>
                </a:rPr>
                <a:t>?</a:t>
              </a:r>
              <a:endParaRPr kumimoji="0" lang="en-US" sz="5400" b="1" i="0" u="none" strike="noStrike" kern="0" cap="none" spc="0" normalizeH="0" baseline="0" noProof="0" dirty="0">
                <a:ln>
                  <a:noFill/>
                </a:ln>
                <a:solidFill>
                  <a:srgbClr val="FFFFFF"/>
                </a:solidFill>
                <a:effectLst/>
                <a:uLnTx/>
                <a:uFillTx/>
                <a:latin typeface="Arial" panose="020B0604020202020204" pitchFamily="34" charset="0"/>
                <a:ea typeface="宋体" panose="02010600030101010101" pitchFamily="2" charset="-122"/>
              </a:endParaRPr>
            </a:p>
          </p:txBody>
        </p:sp>
      </p:grpSp>
      <p:sp>
        <p:nvSpPr>
          <p:cNvPr id="14" name="灯片编号占位符 13"/>
          <p:cNvSpPr>
            <a:spLocks noGrp="1"/>
          </p:cNvSpPr>
          <p:nvPr>
            <p:ph type="sldNum" sz="quarter" idx="12"/>
          </p:nvPr>
        </p:nvSpPr>
        <p:spPr/>
        <p:txBody>
          <a:bodyPr/>
          <a:lstStyle/>
          <a:p>
            <a:fld id="{7AF016A1-9F15-429F-9EFD-84004B73C732}" type="slidenum">
              <a:rPr lang="en-US" altLang="zh-CN" smtClean="0"/>
              <a:pPr/>
              <a:t>34</a:t>
            </a:fld>
            <a:r>
              <a:rPr lang="en-US" altLang="zh-CN"/>
              <a:t>/158</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5" name="Text Box 3"/>
          <p:cNvSpPr txBox="1">
            <a:spLocks noChangeArrowheads="1"/>
          </p:cNvSpPr>
          <p:nvPr/>
        </p:nvSpPr>
        <p:spPr bwMode="auto">
          <a:xfrm>
            <a:off x="571472" y="1643050"/>
            <a:ext cx="8207375" cy="2753318"/>
          </a:xfrm>
          <a:prstGeom prst="rect">
            <a:avLst/>
          </a:prstGeom>
          <a:ln>
            <a:solidFill>
              <a:schemeClr val="accent6">
                <a:lumMod val="40000"/>
                <a:lumOff val="60000"/>
              </a:schemeClr>
            </a:solidFill>
            <a:headEnd/>
            <a:tailEnd/>
          </a:ln>
        </p:spPr>
        <p:style>
          <a:lnRef idx="2">
            <a:schemeClr val="accent6"/>
          </a:lnRef>
          <a:fillRef idx="1">
            <a:schemeClr val="lt1"/>
          </a:fillRef>
          <a:effectRef idx="0">
            <a:schemeClr val="accent6"/>
          </a:effectRef>
          <a:fontRef idx="minor">
            <a:schemeClr val="dk1"/>
          </a:fontRef>
        </p:style>
        <p:txBody>
          <a:bodyPr>
            <a:spAutoFit/>
          </a:bodyPr>
          <a:lstStyle/>
          <a:p>
            <a:pPr marL="457200" indent="-457200" algn="l" defTabSz="360000">
              <a:lnSpc>
                <a:spcPts val="3300"/>
              </a:lnSpc>
              <a:spcBef>
                <a:spcPts val="1200"/>
              </a:spcBef>
              <a:buBlip>
                <a:blip r:embed="rId2"/>
              </a:buBlip>
            </a:pPr>
            <a:r>
              <a:rPr lang="zh-CN" altLang="en-US">
                <a:solidFill>
                  <a:srgbClr val="0000FF"/>
                </a:solidFill>
                <a:latin typeface="Consolas" pitchFamily="49" charset="0"/>
                <a:ea typeface="仿宋" pitchFamily="49" charset="-122"/>
                <a:cs typeface="Times New Roman" pitchFamily="18" charset="0"/>
              </a:rPr>
              <a:t>对</a:t>
            </a:r>
            <a:r>
              <a:rPr lang="zh-CN" altLang="en-US" dirty="0">
                <a:solidFill>
                  <a:srgbClr val="0000FF"/>
                </a:solidFill>
                <a:latin typeface="Consolas" pitchFamily="49" charset="0"/>
                <a:ea typeface="仿宋" pitchFamily="49" charset="-122"/>
                <a:cs typeface="Times New Roman" pitchFamily="18" charset="0"/>
              </a:rPr>
              <a:t>于带</a:t>
            </a:r>
            <a:r>
              <a:rPr lang="zh-CN" altLang="en-US">
                <a:solidFill>
                  <a:srgbClr val="0000FF"/>
                </a:solidFill>
                <a:latin typeface="Consolas" pitchFamily="49" charset="0"/>
                <a:ea typeface="仿宋" pitchFamily="49" charset="-122"/>
                <a:cs typeface="Times New Roman" pitchFamily="18" charset="0"/>
              </a:rPr>
              <a:t>权图，考</a:t>
            </a:r>
            <a:r>
              <a:rPr lang="zh-CN" altLang="en-US" dirty="0">
                <a:solidFill>
                  <a:srgbClr val="0000FF"/>
                </a:solidFill>
                <a:latin typeface="Consolas" pitchFamily="49" charset="0"/>
                <a:ea typeface="仿宋" pitchFamily="49" charset="-122"/>
                <a:cs typeface="Times New Roman" pitchFamily="18" charset="0"/>
              </a:rPr>
              <a:t>虑路径上各边上的</a:t>
            </a:r>
            <a:r>
              <a:rPr lang="zh-CN" altLang="en-US">
                <a:solidFill>
                  <a:srgbClr val="0000FF"/>
                </a:solidFill>
                <a:latin typeface="Consolas" pitchFamily="49" charset="0"/>
                <a:ea typeface="仿宋" pitchFamily="49" charset="-122"/>
                <a:cs typeface="Times New Roman" pitchFamily="18" charset="0"/>
              </a:rPr>
              <a:t>权值，则</a:t>
            </a:r>
            <a:r>
              <a:rPr lang="zh-CN" altLang="en-US" dirty="0">
                <a:solidFill>
                  <a:srgbClr val="0000FF"/>
                </a:solidFill>
                <a:latin typeface="Consolas" pitchFamily="49" charset="0"/>
                <a:ea typeface="仿宋" pitchFamily="49" charset="-122"/>
                <a:cs typeface="Times New Roman" pitchFamily="18" charset="0"/>
              </a:rPr>
              <a:t>通常把一条路径上所经边的权值之和定义为该</a:t>
            </a:r>
            <a:r>
              <a:rPr lang="zh-CN" altLang="en-US" dirty="0">
                <a:solidFill>
                  <a:srgbClr val="C00000"/>
                </a:solidFill>
                <a:latin typeface="Consolas" pitchFamily="49" charset="0"/>
                <a:ea typeface="仿宋" pitchFamily="49" charset="-122"/>
                <a:cs typeface="Times New Roman" pitchFamily="18" charset="0"/>
              </a:rPr>
              <a:t>路径的路径长度</a:t>
            </a:r>
            <a:r>
              <a:rPr lang="zh-CN" altLang="en-US" dirty="0">
                <a:solidFill>
                  <a:srgbClr val="0000FF"/>
                </a:solidFill>
                <a:latin typeface="Consolas" pitchFamily="49" charset="0"/>
                <a:ea typeface="仿宋" pitchFamily="49" charset="-122"/>
                <a:cs typeface="Times New Roman" pitchFamily="18" charset="0"/>
              </a:rPr>
              <a:t>或称带权路径长度。</a:t>
            </a:r>
          </a:p>
          <a:p>
            <a:pPr marL="457200" indent="-457200" algn="l" defTabSz="360000">
              <a:lnSpc>
                <a:spcPts val="3300"/>
              </a:lnSpc>
              <a:spcBef>
                <a:spcPts val="1200"/>
              </a:spcBef>
              <a:buBlip>
                <a:blip r:embed="rId2"/>
              </a:buBlip>
            </a:pPr>
            <a:r>
              <a:rPr lang="zh-CN" altLang="en-US">
                <a:solidFill>
                  <a:srgbClr val="0000FF"/>
                </a:solidFill>
                <a:latin typeface="Consolas" pitchFamily="49" charset="0"/>
                <a:ea typeface="仿宋" pitchFamily="49" charset="-122"/>
                <a:cs typeface="Times New Roman" pitchFamily="18" charset="0"/>
              </a:rPr>
              <a:t>从</a:t>
            </a:r>
            <a:r>
              <a:rPr lang="zh-CN" altLang="en-US" dirty="0">
                <a:solidFill>
                  <a:srgbClr val="0000FF"/>
                </a:solidFill>
                <a:latin typeface="Consolas" pitchFamily="49" charset="0"/>
                <a:ea typeface="仿宋" pitchFamily="49" charset="-122"/>
                <a:cs typeface="Times New Roman" pitchFamily="18" charset="0"/>
              </a:rPr>
              <a:t>源点到终点可能不止一条</a:t>
            </a:r>
            <a:r>
              <a:rPr lang="zh-CN" altLang="en-US">
                <a:solidFill>
                  <a:srgbClr val="0000FF"/>
                </a:solidFill>
                <a:latin typeface="Consolas" pitchFamily="49" charset="0"/>
                <a:ea typeface="仿宋" pitchFamily="49" charset="-122"/>
                <a:cs typeface="Times New Roman" pitchFamily="18" charset="0"/>
              </a:rPr>
              <a:t>路径，把</a:t>
            </a:r>
            <a:r>
              <a:rPr lang="zh-CN" altLang="en-US" dirty="0">
                <a:solidFill>
                  <a:srgbClr val="0000FF"/>
                </a:solidFill>
                <a:latin typeface="Consolas" pitchFamily="49" charset="0"/>
                <a:ea typeface="仿宋" pitchFamily="49" charset="-122"/>
                <a:cs typeface="Times New Roman" pitchFamily="18" charset="0"/>
              </a:rPr>
              <a:t>带权路径长度最短的那条路径称为最短</a:t>
            </a:r>
            <a:r>
              <a:rPr lang="zh-CN" altLang="en-US">
                <a:solidFill>
                  <a:srgbClr val="0000FF"/>
                </a:solidFill>
                <a:latin typeface="Consolas" pitchFamily="49" charset="0"/>
                <a:ea typeface="仿宋" pitchFamily="49" charset="-122"/>
                <a:cs typeface="Times New Roman" pitchFamily="18" charset="0"/>
              </a:rPr>
              <a:t>路径，其</a:t>
            </a:r>
            <a:r>
              <a:rPr lang="zh-CN" altLang="en-US" dirty="0">
                <a:solidFill>
                  <a:srgbClr val="0000FF"/>
                </a:solidFill>
                <a:latin typeface="Consolas" pitchFamily="49" charset="0"/>
                <a:ea typeface="仿宋" pitchFamily="49" charset="-122"/>
                <a:cs typeface="Times New Roman" pitchFamily="18" charset="0"/>
              </a:rPr>
              <a:t>路径长度（权值之和）称为</a:t>
            </a:r>
            <a:r>
              <a:rPr lang="zh-CN" altLang="en-US" dirty="0">
                <a:solidFill>
                  <a:srgbClr val="C00000"/>
                </a:solidFill>
                <a:latin typeface="Consolas" pitchFamily="49" charset="0"/>
                <a:ea typeface="仿宋" pitchFamily="49" charset="-122"/>
                <a:cs typeface="Times New Roman" pitchFamily="18" charset="0"/>
              </a:rPr>
              <a:t>最短路径长度</a:t>
            </a:r>
            <a:r>
              <a:rPr lang="zh-CN" altLang="en-US" dirty="0">
                <a:solidFill>
                  <a:srgbClr val="0000FF"/>
                </a:solidFill>
                <a:latin typeface="Consolas" pitchFamily="49" charset="0"/>
                <a:ea typeface="仿宋" pitchFamily="49" charset="-122"/>
                <a:cs typeface="Times New Roman" pitchFamily="18" charset="0"/>
              </a:rPr>
              <a:t>或者</a:t>
            </a:r>
            <a:r>
              <a:rPr lang="zh-CN" altLang="en-US" dirty="0">
                <a:solidFill>
                  <a:srgbClr val="C00000"/>
                </a:solidFill>
                <a:latin typeface="Consolas" pitchFamily="49" charset="0"/>
                <a:ea typeface="仿宋" pitchFamily="49" charset="-122"/>
                <a:cs typeface="Times New Roman" pitchFamily="18" charset="0"/>
              </a:rPr>
              <a:t>最短距离</a:t>
            </a:r>
            <a:r>
              <a:rPr lang="zh-CN" altLang="en-US" dirty="0">
                <a:solidFill>
                  <a:srgbClr val="0000FF"/>
                </a:solidFill>
                <a:latin typeface="Consolas" pitchFamily="49" charset="0"/>
                <a:ea typeface="仿宋" pitchFamily="49" charset="-122"/>
                <a:cs typeface="Times New Roman" pitchFamily="18" charset="0"/>
              </a:rPr>
              <a:t>。</a:t>
            </a:r>
          </a:p>
        </p:txBody>
      </p:sp>
      <p:sp>
        <p:nvSpPr>
          <p:cNvPr id="5" name="TextBox 4">
            <a:hlinkClick r:id="" action="ppaction://noaction"/>
          </p:cNvPr>
          <p:cNvSpPr txBox="1"/>
          <p:nvPr/>
        </p:nvSpPr>
        <p:spPr>
          <a:xfrm>
            <a:off x="2285984" y="486771"/>
            <a:ext cx="4286280" cy="5847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9.2 </a:t>
            </a:r>
            <a:r>
              <a:rPr lang="zh-CN" altLang="en-US"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图的最短路径</a:t>
            </a:r>
          </a:p>
        </p:txBody>
      </p:sp>
      <p:sp>
        <p:nvSpPr>
          <p:cNvPr id="6" name="灯片编号占位符 5"/>
          <p:cNvSpPr>
            <a:spLocks noGrp="1"/>
          </p:cNvSpPr>
          <p:nvPr>
            <p:ph type="sldNum" sz="quarter" idx="12"/>
          </p:nvPr>
        </p:nvSpPr>
        <p:spPr/>
        <p:txBody>
          <a:bodyPr/>
          <a:lstStyle/>
          <a:p>
            <a:fld id="{7AF016A1-9F15-429F-9EFD-84004B73C732}" type="slidenum">
              <a:rPr lang="en-US" altLang="zh-CN" smtClean="0"/>
              <a:pPr/>
              <a:t>35</a:t>
            </a:fld>
            <a:r>
              <a:rPr lang="en-US" altLang="zh-CN"/>
              <a:t>/158</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9" name="Text Box 3"/>
          <p:cNvSpPr txBox="1">
            <a:spLocks noChangeArrowheads="1"/>
          </p:cNvSpPr>
          <p:nvPr/>
        </p:nvSpPr>
        <p:spPr bwMode="auto">
          <a:xfrm>
            <a:off x="468313" y="1368667"/>
            <a:ext cx="4603753" cy="461665"/>
          </a:xfrm>
          <a:prstGeom prst="rect">
            <a:avLst/>
          </a:prstGeom>
          <a:solidFill>
            <a:srgbClr val="9900FF"/>
          </a:solidFill>
          <a:ln w="9525">
            <a:noFill/>
            <a:miter lim="800000"/>
            <a:headEnd/>
            <a:tailEnd/>
          </a:ln>
        </p:spPr>
        <p:txBody>
          <a:bodyPr wrap="square">
            <a:spAutoFit/>
          </a:bodyPr>
          <a:lstStyle/>
          <a:p>
            <a:pPr>
              <a:lnSpc>
                <a:spcPct val="100000"/>
              </a:lnSpc>
              <a:spcBef>
                <a:spcPct val="50000"/>
              </a:spcBef>
            </a:pPr>
            <a:r>
              <a:rPr lang="en-US" altLang="zh-CN">
                <a:solidFill>
                  <a:schemeClr val="bg1"/>
                </a:solidFill>
                <a:latin typeface="Consolas" pitchFamily="49" charset="0"/>
                <a:ea typeface="微软雅黑" pitchFamily="34" charset="-122"/>
                <a:cs typeface="Consolas" pitchFamily="49" charset="0"/>
              </a:rPr>
              <a:t>1</a:t>
            </a:r>
            <a:r>
              <a:rPr lang="zh-CN" altLang="en-US">
                <a:solidFill>
                  <a:schemeClr val="bg1"/>
                </a:solidFill>
                <a:latin typeface="Consolas" pitchFamily="49" charset="0"/>
                <a:ea typeface="微软雅黑" pitchFamily="34" charset="-122"/>
                <a:cs typeface="Consolas" pitchFamily="49" charset="0"/>
              </a:rPr>
              <a:t>、</a:t>
            </a:r>
            <a:r>
              <a:rPr lang="en-US" altLang="zh-CN">
                <a:solidFill>
                  <a:schemeClr val="bg1"/>
                </a:solidFill>
                <a:latin typeface="Consolas" pitchFamily="49" charset="0"/>
                <a:ea typeface="微软雅黑" pitchFamily="34" charset="-122"/>
                <a:cs typeface="Consolas" pitchFamily="49" charset="0"/>
              </a:rPr>
              <a:t>Dijkstra</a:t>
            </a:r>
            <a:r>
              <a:rPr lang="zh-CN" altLang="en-US">
                <a:solidFill>
                  <a:schemeClr val="bg1"/>
                </a:solidFill>
                <a:latin typeface="Consolas" pitchFamily="49" charset="0"/>
                <a:ea typeface="微软雅黑" pitchFamily="34" charset="-122"/>
                <a:cs typeface="Consolas" pitchFamily="49" charset="0"/>
              </a:rPr>
              <a:t>算法的求解步骤</a:t>
            </a:r>
          </a:p>
        </p:txBody>
      </p:sp>
      <p:sp>
        <p:nvSpPr>
          <p:cNvPr id="75780" name="Text Box 4"/>
          <p:cNvSpPr txBox="1">
            <a:spLocks noChangeArrowheads="1"/>
          </p:cNvSpPr>
          <p:nvPr/>
        </p:nvSpPr>
        <p:spPr bwMode="auto">
          <a:xfrm>
            <a:off x="357158" y="2143116"/>
            <a:ext cx="8351837" cy="461665"/>
          </a:xfrm>
          <a:prstGeom prst="rect">
            <a:avLst/>
          </a:prstGeom>
          <a:noFill/>
          <a:ln w="9525">
            <a:noFill/>
            <a:miter lim="800000"/>
            <a:headEnd/>
            <a:tailEnd/>
          </a:ln>
        </p:spPr>
        <p:txBody>
          <a:bodyPr>
            <a:spAutoFit/>
          </a:bodyPr>
          <a:lstStyle/>
          <a:p>
            <a:pPr algn="l">
              <a:lnSpc>
                <a:spcPct val="100000"/>
              </a:lnSpc>
              <a:spcBef>
                <a:spcPts val="0"/>
              </a:spcBef>
            </a:pPr>
            <a:r>
              <a:rPr lang="zh-CN" altLang="en-US">
                <a:solidFill>
                  <a:srgbClr val="0000FF"/>
                </a:solidFill>
                <a:latin typeface="Consolas" pitchFamily="49" charset="0"/>
                <a:ea typeface="仿宋" pitchFamily="49" charset="-122"/>
                <a:cs typeface="Consolas" pitchFamily="49" charset="0"/>
              </a:rPr>
              <a:t>设</a:t>
            </a:r>
            <a:r>
              <a:rPr lang="en-US" altLang="zh-CN">
                <a:solidFill>
                  <a:srgbClr val="0000FF"/>
                </a:solidFill>
                <a:latin typeface="Consolas" pitchFamily="49" charset="0"/>
                <a:ea typeface="仿宋" pitchFamily="49" charset="-122"/>
                <a:cs typeface="Consolas" pitchFamily="49" charset="0"/>
              </a:rPr>
              <a:t>G=(V</a:t>
            </a:r>
            <a:r>
              <a:rPr lang="zh-CN" altLang="en-US">
                <a:solidFill>
                  <a:srgbClr val="0000FF"/>
                </a:solidFill>
                <a:latin typeface="Consolas" pitchFamily="49" charset="0"/>
                <a:ea typeface="仿宋" pitchFamily="49" charset="-122"/>
                <a:cs typeface="Consolas" pitchFamily="49" charset="0"/>
              </a:rPr>
              <a:t>，</a:t>
            </a:r>
            <a:r>
              <a:rPr lang="en-US" altLang="zh-CN">
                <a:solidFill>
                  <a:srgbClr val="0000FF"/>
                </a:solidFill>
                <a:latin typeface="Consolas" pitchFamily="49" charset="0"/>
                <a:ea typeface="仿宋" pitchFamily="49" charset="-122"/>
                <a:cs typeface="Consolas" pitchFamily="49" charset="0"/>
              </a:rPr>
              <a:t>E)</a:t>
            </a:r>
            <a:r>
              <a:rPr lang="zh-CN" altLang="en-US">
                <a:solidFill>
                  <a:srgbClr val="0000FF"/>
                </a:solidFill>
                <a:latin typeface="Consolas" pitchFamily="49" charset="0"/>
                <a:ea typeface="仿宋" pitchFamily="49" charset="-122"/>
                <a:cs typeface="Consolas" pitchFamily="49" charset="0"/>
              </a:rPr>
              <a:t>是一个带权有向图，把图中顶点集合</a:t>
            </a:r>
            <a:r>
              <a:rPr lang="en-US" altLang="zh-CN">
                <a:solidFill>
                  <a:srgbClr val="0000FF"/>
                </a:solidFill>
                <a:latin typeface="Consolas" pitchFamily="49" charset="0"/>
                <a:ea typeface="仿宋" pitchFamily="49" charset="-122"/>
                <a:cs typeface="Consolas" pitchFamily="49" charset="0"/>
              </a:rPr>
              <a:t>V</a:t>
            </a:r>
            <a:r>
              <a:rPr lang="zh-CN" altLang="en-US">
                <a:solidFill>
                  <a:srgbClr val="0000FF"/>
                </a:solidFill>
                <a:latin typeface="Consolas" pitchFamily="49" charset="0"/>
                <a:ea typeface="仿宋" pitchFamily="49" charset="-122"/>
                <a:cs typeface="Consolas" pitchFamily="49" charset="0"/>
              </a:rPr>
              <a:t>分成两组：</a:t>
            </a:r>
          </a:p>
        </p:txBody>
      </p:sp>
      <p:sp>
        <p:nvSpPr>
          <p:cNvPr id="5" name="TextBox 4"/>
          <p:cNvSpPr txBox="1"/>
          <p:nvPr/>
        </p:nvSpPr>
        <p:spPr>
          <a:xfrm>
            <a:off x="500034" y="2857496"/>
            <a:ext cx="8286808" cy="2757266"/>
          </a:xfrm>
          <a:prstGeom prst="rect">
            <a:avLst/>
          </a:prstGeom>
          <a:ln>
            <a:solidFill>
              <a:schemeClr val="accent6">
                <a:lumMod val="40000"/>
                <a:lumOff val="60000"/>
              </a:schemeClr>
            </a:solidFill>
          </a:ln>
        </p:spPr>
        <p:style>
          <a:lnRef idx="2">
            <a:schemeClr val="accent2"/>
          </a:lnRef>
          <a:fillRef idx="1">
            <a:schemeClr val="lt1"/>
          </a:fillRef>
          <a:effectRef idx="0">
            <a:schemeClr val="accent2"/>
          </a:effectRef>
          <a:fontRef idx="minor">
            <a:schemeClr val="dk1"/>
          </a:fontRef>
        </p:style>
        <p:txBody>
          <a:bodyPr wrap="square" lIns="108000" tIns="108000" rIns="108000" bIns="108000" rtlCol="0">
            <a:spAutoFit/>
          </a:bodyPr>
          <a:lstStyle/>
          <a:p>
            <a:pPr marL="457200" indent="-457200" algn="l">
              <a:lnSpc>
                <a:spcPts val="3200"/>
              </a:lnSpc>
              <a:spcBef>
                <a:spcPts val="600"/>
              </a:spcBef>
              <a:buBlip>
                <a:blip r:embed="rId2"/>
              </a:buBlip>
            </a:pPr>
            <a:r>
              <a:rPr lang="zh-CN" altLang="en-US">
                <a:solidFill>
                  <a:srgbClr val="C00000"/>
                </a:solidFill>
                <a:latin typeface="Consolas" pitchFamily="49" charset="0"/>
                <a:ea typeface="仿宋" pitchFamily="49" charset="-122"/>
                <a:cs typeface="Consolas" pitchFamily="49" charset="0"/>
              </a:rPr>
              <a:t>第</a:t>
            </a:r>
            <a:r>
              <a:rPr lang="en-US" altLang="zh-CN">
                <a:solidFill>
                  <a:srgbClr val="C00000"/>
                </a:solidFill>
                <a:latin typeface="Consolas" pitchFamily="49" charset="0"/>
                <a:ea typeface="仿宋" pitchFamily="49" charset="-122"/>
                <a:cs typeface="Consolas" pitchFamily="49" charset="0"/>
              </a:rPr>
              <a:t>1</a:t>
            </a:r>
            <a:r>
              <a:rPr lang="zh-CN" altLang="en-US">
                <a:solidFill>
                  <a:srgbClr val="C00000"/>
                </a:solidFill>
                <a:latin typeface="Consolas" pitchFamily="49" charset="0"/>
                <a:ea typeface="仿宋" pitchFamily="49" charset="-122"/>
                <a:cs typeface="Consolas" pitchFamily="49" charset="0"/>
              </a:rPr>
              <a:t>组</a:t>
            </a:r>
            <a:r>
              <a:rPr lang="zh-CN" altLang="en-US">
                <a:solidFill>
                  <a:srgbClr val="0000FF"/>
                </a:solidFill>
                <a:latin typeface="Consolas" pitchFamily="49" charset="0"/>
                <a:ea typeface="仿宋" pitchFamily="49" charset="-122"/>
                <a:cs typeface="Consolas" pitchFamily="49" charset="0"/>
              </a:rPr>
              <a:t>为已求出最短路径的顶点集合（用</a:t>
            </a:r>
            <a:r>
              <a:rPr lang="en-US" altLang="zh-CN">
                <a:solidFill>
                  <a:srgbClr val="FF0000"/>
                </a:solidFill>
                <a:latin typeface="Consolas" pitchFamily="49" charset="0"/>
                <a:ea typeface="仿宋" pitchFamily="49" charset="-122"/>
                <a:cs typeface="Consolas" pitchFamily="49" charset="0"/>
              </a:rPr>
              <a:t>S</a:t>
            </a:r>
            <a:r>
              <a:rPr lang="zh-CN" altLang="en-US">
                <a:solidFill>
                  <a:srgbClr val="0000FF"/>
                </a:solidFill>
                <a:latin typeface="Consolas" pitchFamily="49" charset="0"/>
                <a:ea typeface="仿宋" pitchFamily="49" charset="-122"/>
                <a:cs typeface="Consolas" pitchFamily="49" charset="0"/>
              </a:rPr>
              <a:t>表示，初始时</a:t>
            </a:r>
            <a:r>
              <a:rPr lang="en-US" altLang="zh-CN">
                <a:solidFill>
                  <a:srgbClr val="0000FF"/>
                </a:solidFill>
                <a:latin typeface="Consolas" pitchFamily="49" charset="0"/>
                <a:ea typeface="仿宋" pitchFamily="49" charset="-122"/>
                <a:cs typeface="Consolas" pitchFamily="49" charset="0"/>
              </a:rPr>
              <a:t>S</a:t>
            </a:r>
            <a:r>
              <a:rPr lang="zh-CN" altLang="en-US">
                <a:solidFill>
                  <a:srgbClr val="0000FF"/>
                </a:solidFill>
                <a:latin typeface="Consolas" pitchFamily="49" charset="0"/>
                <a:ea typeface="仿宋" pitchFamily="49" charset="-122"/>
                <a:cs typeface="Consolas" pitchFamily="49" charset="0"/>
              </a:rPr>
              <a:t>中只有一个源点</a:t>
            </a:r>
            <a:r>
              <a:rPr lang="en-US" altLang="zh-CN">
                <a:solidFill>
                  <a:srgbClr val="0000FF"/>
                </a:solidFill>
                <a:latin typeface="Consolas" pitchFamily="49" charset="0"/>
                <a:ea typeface="仿宋" pitchFamily="49" charset="-122"/>
                <a:cs typeface="Consolas" pitchFamily="49" charset="0"/>
              </a:rPr>
              <a:t>s</a:t>
            </a:r>
            <a:r>
              <a:rPr lang="zh-CN" altLang="en-US">
                <a:solidFill>
                  <a:srgbClr val="0000FF"/>
                </a:solidFill>
                <a:latin typeface="Consolas" pitchFamily="49" charset="0"/>
                <a:ea typeface="仿宋" pitchFamily="49" charset="-122"/>
                <a:cs typeface="Consolas" pitchFamily="49" charset="0"/>
              </a:rPr>
              <a:t>，以后每求得一条最短路径</a:t>
            </a:r>
            <a:r>
              <a:rPr lang="en-US" altLang="zh-CN" i="1">
                <a:solidFill>
                  <a:srgbClr val="0000FF"/>
                </a:solidFill>
                <a:latin typeface="Consolas" pitchFamily="49" charset="0"/>
                <a:ea typeface="仿宋" pitchFamily="49" charset="-122"/>
                <a:cs typeface="Consolas" pitchFamily="49" charset="0"/>
              </a:rPr>
              <a:t>s</a:t>
            </a:r>
            <a:r>
              <a:rPr lang="zh-CN" altLang="en-US">
                <a:solidFill>
                  <a:srgbClr val="0000FF"/>
                </a:solidFill>
                <a:latin typeface="Consolas" pitchFamily="49" charset="0"/>
                <a:ea typeface="仿宋" pitchFamily="49" charset="-122"/>
                <a:cs typeface="Consolas" pitchFamily="49" charset="0"/>
              </a:rPr>
              <a:t>，</a:t>
            </a:r>
            <a:r>
              <a:rPr lang="en-US" altLang="zh-CN">
                <a:solidFill>
                  <a:srgbClr val="0000FF"/>
                </a:solidFill>
                <a:latin typeface="+mn-ea"/>
                <a:cs typeface="Consolas" pitchFamily="49" charset="0"/>
              </a:rPr>
              <a:t>…</a:t>
            </a:r>
            <a:r>
              <a:rPr lang="zh-CN" altLang="en-US">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u</a:t>
            </a:r>
            <a:r>
              <a:rPr lang="zh-CN" altLang="en-US">
                <a:solidFill>
                  <a:srgbClr val="0000FF"/>
                </a:solidFill>
                <a:latin typeface="Consolas" pitchFamily="49" charset="0"/>
                <a:ea typeface="仿宋" pitchFamily="49" charset="-122"/>
                <a:cs typeface="Consolas" pitchFamily="49" charset="0"/>
              </a:rPr>
              <a:t>，就将</a:t>
            </a:r>
            <a:r>
              <a:rPr lang="en-US" altLang="zh-CN" i="1">
                <a:solidFill>
                  <a:srgbClr val="0000FF"/>
                </a:solidFill>
                <a:latin typeface="Consolas" pitchFamily="49" charset="0"/>
                <a:ea typeface="仿宋" pitchFamily="49" charset="-122"/>
                <a:cs typeface="Consolas" pitchFamily="49" charset="0"/>
              </a:rPr>
              <a:t>u</a:t>
            </a:r>
            <a:r>
              <a:rPr lang="zh-CN" altLang="en-US">
                <a:solidFill>
                  <a:srgbClr val="0000FF"/>
                </a:solidFill>
                <a:latin typeface="Consolas" pitchFamily="49" charset="0"/>
                <a:ea typeface="仿宋" pitchFamily="49" charset="-122"/>
                <a:cs typeface="Consolas" pitchFamily="49" charset="0"/>
              </a:rPr>
              <a:t>加入到集合</a:t>
            </a:r>
            <a:r>
              <a:rPr lang="en-US" altLang="zh-CN">
                <a:solidFill>
                  <a:srgbClr val="0000FF"/>
                </a:solidFill>
                <a:latin typeface="Consolas" pitchFamily="49" charset="0"/>
                <a:ea typeface="仿宋" pitchFamily="49" charset="-122"/>
                <a:cs typeface="Consolas" pitchFamily="49" charset="0"/>
              </a:rPr>
              <a:t>S</a:t>
            </a:r>
            <a:r>
              <a:rPr lang="zh-CN" altLang="en-US">
                <a:solidFill>
                  <a:srgbClr val="0000FF"/>
                </a:solidFill>
                <a:latin typeface="Consolas" pitchFamily="49" charset="0"/>
                <a:ea typeface="仿宋" pitchFamily="49" charset="-122"/>
                <a:cs typeface="Consolas" pitchFamily="49" charset="0"/>
              </a:rPr>
              <a:t>中，直到全部顶点都加入到</a:t>
            </a:r>
            <a:r>
              <a:rPr lang="en-US" altLang="zh-CN">
                <a:solidFill>
                  <a:srgbClr val="0000FF"/>
                </a:solidFill>
                <a:latin typeface="Consolas" pitchFamily="49" charset="0"/>
                <a:ea typeface="仿宋" pitchFamily="49" charset="-122"/>
                <a:cs typeface="Consolas" pitchFamily="49" charset="0"/>
              </a:rPr>
              <a:t>S</a:t>
            </a:r>
            <a:r>
              <a:rPr lang="zh-CN" altLang="en-US">
                <a:solidFill>
                  <a:srgbClr val="0000FF"/>
                </a:solidFill>
                <a:latin typeface="Consolas" pitchFamily="49" charset="0"/>
                <a:ea typeface="仿宋" pitchFamily="49" charset="-122"/>
                <a:cs typeface="Consolas" pitchFamily="49" charset="0"/>
              </a:rPr>
              <a:t>中，算法就结束了）。</a:t>
            </a:r>
          </a:p>
          <a:p>
            <a:pPr marL="457200" indent="-457200" algn="l">
              <a:lnSpc>
                <a:spcPts val="3200"/>
              </a:lnSpc>
              <a:spcBef>
                <a:spcPts val="600"/>
              </a:spcBef>
              <a:buBlip>
                <a:blip r:embed="rId2"/>
              </a:buBlip>
            </a:pPr>
            <a:r>
              <a:rPr lang="zh-CN" altLang="en-US">
                <a:solidFill>
                  <a:srgbClr val="C00000"/>
                </a:solidFill>
                <a:latin typeface="Consolas" pitchFamily="49" charset="0"/>
                <a:ea typeface="仿宋" pitchFamily="49" charset="-122"/>
                <a:cs typeface="Consolas" pitchFamily="49" charset="0"/>
              </a:rPr>
              <a:t>第</a:t>
            </a:r>
            <a:r>
              <a:rPr lang="en-US" altLang="zh-CN">
                <a:solidFill>
                  <a:srgbClr val="C00000"/>
                </a:solidFill>
                <a:latin typeface="Consolas" pitchFamily="49" charset="0"/>
                <a:ea typeface="仿宋" pitchFamily="49" charset="-122"/>
                <a:cs typeface="Consolas" pitchFamily="49" charset="0"/>
              </a:rPr>
              <a:t>2</a:t>
            </a:r>
            <a:r>
              <a:rPr lang="zh-CN" altLang="en-US">
                <a:solidFill>
                  <a:srgbClr val="C00000"/>
                </a:solidFill>
                <a:latin typeface="Consolas" pitchFamily="49" charset="0"/>
                <a:ea typeface="仿宋" pitchFamily="49" charset="-122"/>
                <a:cs typeface="Consolas" pitchFamily="49" charset="0"/>
              </a:rPr>
              <a:t>组</a:t>
            </a:r>
            <a:r>
              <a:rPr lang="zh-CN" altLang="en-US">
                <a:solidFill>
                  <a:srgbClr val="0000FF"/>
                </a:solidFill>
                <a:latin typeface="Consolas" pitchFamily="49" charset="0"/>
                <a:ea typeface="仿宋" pitchFamily="49" charset="-122"/>
                <a:cs typeface="Consolas" pitchFamily="49" charset="0"/>
              </a:rPr>
              <a:t>为其余未确定最短路径的顶点集合（用</a:t>
            </a:r>
            <a:r>
              <a:rPr lang="en-US" altLang="zh-CN">
                <a:solidFill>
                  <a:srgbClr val="FF0000"/>
                </a:solidFill>
                <a:latin typeface="Consolas" pitchFamily="49" charset="0"/>
                <a:ea typeface="仿宋" pitchFamily="49" charset="-122"/>
                <a:cs typeface="Consolas" pitchFamily="49" charset="0"/>
              </a:rPr>
              <a:t>U</a:t>
            </a:r>
            <a:r>
              <a:rPr lang="zh-CN" altLang="en-US">
                <a:solidFill>
                  <a:srgbClr val="0000FF"/>
                </a:solidFill>
                <a:latin typeface="Consolas" pitchFamily="49" charset="0"/>
                <a:ea typeface="仿宋" pitchFamily="49" charset="-122"/>
                <a:cs typeface="Consolas" pitchFamily="49" charset="0"/>
              </a:rPr>
              <a:t>表示），按最短路径长度的递增次序依次把第</a:t>
            </a:r>
            <a:r>
              <a:rPr lang="en-US" altLang="zh-CN">
                <a:solidFill>
                  <a:srgbClr val="0000FF"/>
                </a:solidFill>
                <a:latin typeface="Consolas" pitchFamily="49" charset="0"/>
                <a:ea typeface="仿宋" pitchFamily="49" charset="-122"/>
                <a:cs typeface="Consolas" pitchFamily="49" charset="0"/>
              </a:rPr>
              <a:t>2</a:t>
            </a:r>
            <a:r>
              <a:rPr lang="zh-CN" altLang="en-US">
                <a:solidFill>
                  <a:srgbClr val="0000FF"/>
                </a:solidFill>
                <a:latin typeface="Consolas" pitchFamily="49" charset="0"/>
                <a:ea typeface="仿宋" pitchFamily="49" charset="-122"/>
                <a:cs typeface="Consolas" pitchFamily="49" charset="0"/>
              </a:rPr>
              <a:t>组的顶点加入</a:t>
            </a:r>
            <a:r>
              <a:rPr lang="en-US" altLang="zh-CN">
                <a:solidFill>
                  <a:srgbClr val="0000FF"/>
                </a:solidFill>
                <a:latin typeface="Consolas" pitchFamily="49" charset="0"/>
                <a:ea typeface="仿宋" pitchFamily="49" charset="-122"/>
                <a:cs typeface="Consolas" pitchFamily="49" charset="0"/>
              </a:rPr>
              <a:t>S</a:t>
            </a:r>
            <a:r>
              <a:rPr lang="zh-CN" altLang="en-US">
                <a:solidFill>
                  <a:srgbClr val="0000FF"/>
                </a:solidFill>
                <a:latin typeface="Consolas" pitchFamily="49" charset="0"/>
                <a:ea typeface="仿宋" pitchFamily="49" charset="-122"/>
                <a:cs typeface="Consolas" pitchFamily="49" charset="0"/>
              </a:rPr>
              <a:t>中。</a:t>
            </a:r>
          </a:p>
        </p:txBody>
      </p:sp>
      <p:sp>
        <p:nvSpPr>
          <p:cNvPr id="6" name="TextBox 5"/>
          <p:cNvSpPr txBox="1"/>
          <p:nvPr/>
        </p:nvSpPr>
        <p:spPr>
          <a:xfrm>
            <a:off x="357158" y="466978"/>
            <a:ext cx="4000528" cy="523220"/>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rPr>
              <a:t>9.2.1 Dijkstra</a:t>
            </a:r>
            <a:r>
              <a:rPr lang="zh-CN" altLang="en-US"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rPr>
              <a:t>算法</a:t>
            </a:r>
            <a:endParaRPr lang="zh-CN" altLang="zh-CN"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endParaRPr>
          </a:p>
        </p:txBody>
      </p:sp>
      <p:sp>
        <p:nvSpPr>
          <p:cNvPr id="8" name="灯片编号占位符 7"/>
          <p:cNvSpPr>
            <a:spLocks noGrp="1"/>
          </p:cNvSpPr>
          <p:nvPr>
            <p:ph type="sldNum" sz="quarter" idx="12"/>
          </p:nvPr>
        </p:nvSpPr>
        <p:spPr/>
        <p:txBody>
          <a:bodyPr/>
          <a:lstStyle/>
          <a:p>
            <a:fld id="{7AF016A1-9F15-429F-9EFD-84004B73C732}" type="slidenum">
              <a:rPr lang="en-US" altLang="zh-CN" smtClean="0"/>
              <a:pPr/>
              <a:t>36</a:t>
            </a:fld>
            <a:r>
              <a:rPr lang="en-US" altLang="zh-CN"/>
              <a:t>/158</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Text Box 2"/>
          <p:cNvSpPr txBox="1">
            <a:spLocks noChangeArrowheads="1"/>
          </p:cNvSpPr>
          <p:nvPr/>
        </p:nvSpPr>
        <p:spPr bwMode="auto">
          <a:xfrm>
            <a:off x="357159" y="1357298"/>
            <a:ext cx="1714511" cy="461665"/>
          </a:xfrm>
          <a:prstGeom prst="rect">
            <a:avLst/>
          </a:prstGeom>
          <a:blipFill>
            <a:blip r:embed="rId2" cstate="print"/>
            <a:tile tx="0" ty="0" sx="100000" sy="100000" flip="none" algn="tl"/>
          </a:blipFill>
          <a:ln>
            <a:headEnd/>
            <a:tailEnd/>
          </a:ln>
        </p:spPr>
        <p:style>
          <a:lnRef idx="2">
            <a:schemeClr val="accent6"/>
          </a:lnRef>
          <a:fillRef idx="1">
            <a:schemeClr val="lt1"/>
          </a:fillRef>
          <a:effectRef idx="0">
            <a:schemeClr val="accent6"/>
          </a:effectRef>
          <a:fontRef idx="minor">
            <a:schemeClr val="dk1"/>
          </a:fontRef>
        </p:style>
        <p:txBody>
          <a:bodyPr wrap="square">
            <a:spAutoFit/>
          </a:bodyPr>
          <a:lstStyle/>
          <a:p>
            <a:pPr>
              <a:lnSpc>
                <a:spcPct val="100000"/>
              </a:lnSpc>
            </a:pPr>
            <a:r>
              <a:rPr lang="zh-CN" altLang="en-US">
                <a:solidFill>
                  <a:srgbClr val="FF0000"/>
                </a:solidFill>
                <a:latin typeface="楷体" pitchFamily="49" charset="-122"/>
                <a:ea typeface="楷体" pitchFamily="49" charset="-122"/>
              </a:rPr>
              <a:t>具体步骤</a:t>
            </a:r>
          </a:p>
        </p:txBody>
      </p:sp>
      <p:sp>
        <p:nvSpPr>
          <p:cNvPr id="14340" name="Text Box 3"/>
          <p:cNvSpPr txBox="1">
            <a:spLocks noChangeArrowheads="1"/>
          </p:cNvSpPr>
          <p:nvPr/>
        </p:nvSpPr>
        <p:spPr bwMode="auto">
          <a:xfrm>
            <a:off x="323850" y="2078806"/>
            <a:ext cx="8569325" cy="1487688"/>
          </a:xfrm>
          <a:prstGeom prst="rect">
            <a:avLst/>
          </a:prstGeom>
          <a:ln>
            <a:solidFill>
              <a:schemeClr val="accent6">
                <a:lumMod val="40000"/>
                <a:lumOff val="60000"/>
              </a:schemeClr>
            </a:solidFill>
            <a:headEnd/>
            <a:tailEnd/>
          </a:ln>
        </p:spPr>
        <p:style>
          <a:lnRef idx="2">
            <a:schemeClr val="accent2"/>
          </a:lnRef>
          <a:fillRef idx="1">
            <a:schemeClr val="lt1"/>
          </a:fillRef>
          <a:effectRef idx="0">
            <a:schemeClr val="accent2"/>
          </a:effectRef>
          <a:fontRef idx="minor">
            <a:schemeClr val="dk1"/>
          </a:fontRef>
        </p:style>
        <p:txBody>
          <a:bodyPr lIns="108000" tIns="108000" rIns="108000" bIns="108000">
            <a:spAutoFit/>
          </a:bodyPr>
          <a:lstStyle/>
          <a:p>
            <a:pPr marL="342900" indent="-342900" algn="l">
              <a:lnSpc>
                <a:spcPts val="3300"/>
              </a:lnSpc>
              <a:spcBef>
                <a:spcPts val="0"/>
              </a:spcBef>
              <a:buFontTx/>
              <a:buAutoNum type="circleNumDbPlain"/>
            </a:pPr>
            <a:r>
              <a:rPr lang="zh-CN" altLang="en-US">
                <a:solidFill>
                  <a:srgbClr val="0000FF"/>
                </a:solidFill>
                <a:latin typeface="Consolas" pitchFamily="49" charset="0"/>
                <a:ea typeface="仿宋" pitchFamily="49" charset="-122"/>
                <a:cs typeface="Consolas" pitchFamily="49" charset="0"/>
              </a:rPr>
              <a:t>初始时，</a:t>
            </a:r>
            <a:r>
              <a:rPr lang="en-US" altLang="zh-CN">
                <a:solidFill>
                  <a:srgbClr val="0000FF"/>
                </a:solidFill>
                <a:latin typeface="Consolas" pitchFamily="49" charset="0"/>
                <a:ea typeface="仿宋" pitchFamily="49" charset="-122"/>
                <a:cs typeface="Consolas" pitchFamily="49" charset="0"/>
              </a:rPr>
              <a:t>S</a:t>
            </a:r>
            <a:r>
              <a:rPr lang="zh-CN" altLang="en-US">
                <a:solidFill>
                  <a:srgbClr val="0000FF"/>
                </a:solidFill>
                <a:latin typeface="Consolas" pitchFamily="49" charset="0"/>
                <a:ea typeface="仿宋" pitchFamily="49" charset="-122"/>
                <a:cs typeface="Consolas" pitchFamily="49" charset="0"/>
              </a:rPr>
              <a:t>只包含源点，即</a:t>
            </a:r>
            <a:r>
              <a:rPr lang="en-US" altLang="zh-CN">
                <a:solidFill>
                  <a:srgbClr val="0000FF"/>
                </a:solidFill>
                <a:latin typeface="Consolas" pitchFamily="49" charset="0"/>
                <a:ea typeface="仿宋" pitchFamily="49" charset="-122"/>
                <a:cs typeface="Consolas" pitchFamily="49" charset="0"/>
              </a:rPr>
              <a:t>S={s}</a:t>
            </a:r>
            <a:r>
              <a:rPr lang="zh-CN" altLang="en-US">
                <a:solidFill>
                  <a:srgbClr val="0000FF"/>
                </a:solidFill>
                <a:latin typeface="Consolas" pitchFamily="49" charset="0"/>
                <a:ea typeface="仿宋" pitchFamily="49" charset="-122"/>
                <a:cs typeface="Consolas" pitchFamily="49" charset="0"/>
              </a:rPr>
              <a:t>，顶点</a:t>
            </a:r>
            <a:r>
              <a:rPr lang="en-US" altLang="zh-CN">
                <a:solidFill>
                  <a:srgbClr val="0000FF"/>
                </a:solidFill>
                <a:latin typeface="Consolas" pitchFamily="49" charset="0"/>
                <a:ea typeface="仿宋" pitchFamily="49" charset="-122"/>
                <a:cs typeface="Consolas" pitchFamily="49" charset="0"/>
              </a:rPr>
              <a:t>s</a:t>
            </a:r>
            <a:r>
              <a:rPr lang="zh-CN" altLang="en-US">
                <a:solidFill>
                  <a:srgbClr val="0000FF"/>
                </a:solidFill>
                <a:latin typeface="Consolas" pitchFamily="49" charset="0"/>
                <a:ea typeface="仿宋" pitchFamily="49" charset="-122"/>
                <a:cs typeface="Consolas" pitchFamily="49" charset="0"/>
              </a:rPr>
              <a:t>到自已的距离为</a:t>
            </a:r>
            <a:r>
              <a:rPr lang="en-US" altLang="zh-CN">
                <a:solidFill>
                  <a:srgbClr val="0000FF"/>
                </a:solidFill>
                <a:latin typeface="Consolas" pitchFamily="49" charset="0"/>
                <a:ea typeface="仿宋" pitchFamily="49" charset="-122"/>
                <a:cs typeface="Consolas" pitchFamily="49" charset="0"/>
              </a:rPr>
              <a:t>0</a:t>
            </a:r>
            <a:r>
              <a:rPr lang="zh-CN" altLang="en-US">
                <a:solidFill>
                  <a:srgbClr val="0000FF"/>
                </a:solidFill>
                <a:latin typeface="Consolas" pitchFamily="49" charset="0"/>
                <a:ea typeface="仿宋" pitchFamily="49" charset="-122"/>
                <a:cs typeface="Consolas" pitchFamily="49" charset="0"/>
              </a:rPr>
              <a:t>。</a:t>
            </a:r>
            <a:r>
              <a:rPr lang="en-US" altLang="zh-CN">
                <a:solidFill>
                  <a:srgbClr val="0000FF"/>
                </a:solidFill>
                <a:latin typeface="Consolas" pitchFamily="49" charset="0"/>
                <a:ea typeface="仿宋" pitchFamily="49" charset="-122"/>
                <a:cs typeface="Consolas" pitchFamily="49" charset="0"/>
              </a:rPr>
              <a:t>U</a:t>
            </a:r>
            <a:r>
              <a:rPr lang="zh-CN" altLang="en-US">
                <a:solidFill>
                  <a:srgbClr val="0000FF"/>
                </a:solidFill>
                <a:latin typeface="Consolas" pitchFamily="49" charset="0"/>
                <a:ea typeface="仿宋" pitchFamily="49" charset="-122"/>
                <a:cs typeface="Consolas" pitchFamily="49" charset="0"/>
              </a:rPr>
              <a:t>包含除</a:t>
            </a:r>
            <a:r>
              <a:rPr lang="en-US" altLang="zh-CN">
                <a:solidFill>
                  <a:srgbClr val="0000FF"/>
                </a:solidFill>
                <a:latin typeface="Consolas" pitchFamily="49" charset="0"/>
                <a:ea typeface="仿宋" pitchFamily="49" charset="-122"/>
                <a:cs typeface="Consolas" pitchFamily="49" charset="0"/>
              </a:rPr>
              <a:t>s</a:t>
            </a:r>
            <a:r>
              <a:rPr lang="zh-CN" altLang="en-US">
                <a:solidFill>
                  <a:srgbClr val="0000FF"/>
                </a:solidFill>
                <a:latin typeface="Consolas" pitchFamily="49" charset="0"/>
                <a:ea typeface="仿宋" pitchFamily="49" charset="-122"/>
                <a:cs typeface="Consolas" pitchFamily="49" charset="0"/>
              </a:rPr>
              <a:t>外的其他顶点，</a:t>
            </a:r>
            <a:r>
              <a:rPr lang="en-US" altLang="zh-CN">
                <a:solidFill>
                  <a:srgbClr val="0000FF"/>
                </a:solidFill>
                <a:latin typeface="Consolas" pitchFamily="49" charset="0"/>
                <a:ea typeface="仿宋" pitchFamily="49" charset="-122"/>
                <a:cs typeface="Consolas" pitchFamily="49" charset="0"/>
              </a:rPr>
              <a:t>s</a:t>
            </a:r>
            <a:r>
              <a:rPr lang="zh-CN" altLang="en-US">
                <a:solidFill>
                  <a:srgbClr val="0000FF"/>
                </a:solidFill>
                <a:latin typeface="Consolas" pitchFamily="49" charset="0"/>
                <a:ea typeface="仿宋" pitchFamily="49" charset="-122"/>
                <a:cs typeface="Consolas" pitchFamily="49" charset="0"/>
              </a:rPr>
              <a:t>到</a:t>
            </a:r>
            <a:r>
              <a:rPr lang="en-US" altLang="zh-CN">
                <a:solidFill>
                  <a:srgbClr val="0000FF"/>
                </a:solidFill>
                <a:latin typeface="Consolas" pitchFamily="49" charset="0"/>
                <a:ea typeface="仿宋" pitchFamily="49" charset="-122"/>
                <a:cs typeface="Consolas" pitchFamily="49" charset="0"/>
              </a:rPr>
              <a:t>U</a:t>
            </a:r>
            <a:r>
              <a:rPr lang="zh-CN" altLang="en-US">
                <a:solidFill>
                  <a:srgbClr val="0000FF"/>
                </a:solidFill>
                <a:latin typeface="Consolas" pitchFamily="49" charset="0"/>
                <a:ea typeface="仿宋" pitchFamily="49" charset="-122"/>
                <a:cs typeface="Consolas" pitchFamily="49" charset="0"/>
              </a:rPr>
              <a:t>中顶点</a:t>
            </a:r>
            <a:r>
              <a:rPr lang="en-US" altLang="zh-CN" i="1">
                <a:solidFill>
                  <a:srgbClr val="0000FF"/>
                </a:solidFill>
                <a:latin typeface="Consolas" pitchFamily="49" charset="0"/>
                <a:ea typeface="仿宋" pitchFamily="49" charset="-122"/>
                <a:cs typeface="Consolas" pitchFamily="49" charset="0"/>
              </a:rPr>
              <a:t>i</a:t>
            </a:r>
            <a:r>
              <a:rPr lang="zh-CN" altLang="en-US">
                <a:solidFill>
                  <a:srgbClr val="0000FF"/>
                </a:solidFill>
                <a:latin typeface="Consolas" pitchFamily="49" charset="0"/>
                <a:ea typeface="仿宋" pitchFamily="49" charset="-122"/>
                <a:cs typeface="Consolas" pitchFamily="49" charset="0"/>
              </a:rPr>
              <a:t>的距离为边上的权（若</a:t>
            </a:r>
            <a:r>
              <a:rPr lang="en-US" altLang="zh-CN">
                <a:solidFill>
                  <a:srgbClr val="0000FF"/>
                </a:solidFill>
                <a:latin typeface="Consolas" pitchFamily="49" charset="0"/>
                <a:ea typeface="仿宋" pitchFamily="49" charset="-122"/>
                <a:cs typeface="Consolas" pitchFamily="49" charset="0"/>
              </a:rPr>
              <a:t>s</a:t>
            </a:r>
            <a:r>
              <a:rPr lang="zh-CN" altLang="en-US">
                <a:solidFill>
                  <a:srgbClr val="0000FF"/>
                </a:solidFill>
                <a:latin typeface="Consolas" pitchFamily="49" charset="0"/>
                <a:ea typeface="仿宋" pitchFamily="49" charset="-122"/>
                <a:cs typeface="Consolas" pitchFamily="49" charset="0"/>
              </a:rPr>
              <a:t>到</a:t>
            </a:r>
            <a:r>
              <a:rPr lang="en-US" altLang="zh-CN" i="1">
                <a:solidFill>
                  <a:srgbClr val="0000FF"/>
                </a:solidFill>
                <a:latin typeface="Consolas" pitchFamily="49" charset="0"/>
                <a:ea typeface="仿宋" pitchFamily="49" charset="-122"/>
                <a:cs typeface="Consolas" pitchFamily="49" charset="0"/>
              </a:rPr>
              <a:t>i</a:t>
            </a:r>
            <a:r>
              <a:rPr lang="zh-CN" altLang="en-US">
                <a:solidFill>
                  <a:srgbClr val="0000FF"/>
                </a:solidFill>
                <a:latin typeface="Consolas" pitchFamily="49" charset="0"/>
                <a:ea typeface="仿宋" pitchFamily="49" charset="-122"/>
                <a:cs typeface="Consolas" pitchFamily="49" charset="0"/>
              </a:rPr>
              <a:t>有边）或∞（若</a:t>
            </a:r>
            <a:r>
              <a:rPr lang="en-US" altLang="zh-CN">
                <a:solidFill>
                  <a:srgbClr val="0000FF"/>
                </a:solidFill>
                <a:latin typeface="Consolas" pitchFamily="49" charset="0"/>
                <a:ea typeface="仿宋" pitchFamily="49" charset="-122"/>
                <a:cs typeface="Consolas" pitchFamily="49" charset="0"/>
              </a:rPr>
              <a:t>s</a:t>
            </a:r>
            <a:r>
              <a:rPr lang="zh-CN" altLang="en-US">
                <a:solidFill>
                  <a:srgbClr val="0000FF"/>
                </a:solidFill>
                <a:latin typeface="Consolas" pitchFamily="49" charset="0"/>
                <a:ea typeface="仿宋" pitchFamily="49" charset="-122"/>
                <a:cs typeface="Consolas" pitchFamily="49" charset="0"/>
              </a:rPr>
              <a:t>到</a:t>
            </a:r>
            <a:r>
              <a:rPr lang="en-US" altLang="zh-CN" i="1">
                <a:solidFill>
                  <a:srgbClr val="0000FF"/>
                </a:solidFill>
                <a:latin typeface="Consolas" pitchFamily="49" charset="0"/>
                <a:ea typeface="仿宋" pitchFamily="49" charset="-122"/>
                <a:cs typeface="Consolas" pitchFamily="49" charset="0"/>
              </a:rPr>
              <a:t>i</a:t>
            </a:r>
            <a:r>
              <a:rPr lang="zh-CN" altLang="en-US">
                <a:solidFill>
                  <a:srgbClr val="0000FF"/>
                </a:solidFill>
                <a:latin typeface="Consolas" pitchFamily="49" charset="0"/>
                <a:ea typeface="仿宋" pitchFamily="49" charset="-122"/>
                <a:cs typeface="Consolas" pitchFamily="49" charset="0"/>
              </a:rPr>
              <a:t>没有边）。</a:t>
            </a: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37</a:t>
            </a:fld>
            <a:r>
              <a:rPr lang="en-US" altLang="zh-CN"/>
              <a:t>/158</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0" name="Text Box 3"/>
          <p:cNvSpPr txBox="1">
            <a:spLocks noChangeArrowheads="1"/>
          </p:cNvSpPr>
          <p:nvPr/>
        </p:nvSpPr>
        <p:spPr bwMode="auto">
          <a:xfrm>
            <a:off x="357158" y="285728"/>
            <a:ext cx="8569325" cy="2218657"/>
          </a:xfrm>
          <a:prstGeom prst="rect">
            <a:avLst/>
          </a:prstGeom>
          <a:ln>
            <a:solidFill>
              <a:schemeClr val="accent6">
                <a:lumMod val="40000"/>
                <a:lumOff val="60000"/>
              </a:schemeClr>
            </a:solidFill>
            <a:headEnd/>
            <a:tailEnd/>
          </a:ln>
        </p:spPr>
        <p:style>
          <a:lnRef idx="2">
            <a:schemeClr val="accent2"/>
          </a:lnRef>
          <a:fillRef idx="1">
            <a:schemeClr val="lt1"/>
          </a:fillRef>
          <a:effectRef idx="0">
            <a:schemeClr val="accent2"/>
          </a:effectRef>
          <a:fontRef idx="minor">
            <a:schemeClr val="dk1"/>
          </a:fontRef>
        </p:style>
        <p:txBody>
          <a:bodyPr lIns="108000" tIns="108000" rIns="108000" bIns="108000">
            <a:spAutoFit/>
          </a:bodyPr>
          <a:lstStyle/>
          <a:p>
            <a:pPr marL="457200" indent="-457200" algn="l">
              <a:lnSpc>
                <a:spcPts val="3000"/>
              </a:lnSpc>
              <a:spcBef>
                <a:spcPts val="600"/>
              </a:spcBef>
              <a:buFont typeface="+mj-ea"/>
              <a:buAutoNum type="circleNumDbPlain" startAt="2"/>
            </a:pPr>
            <a:r>
              <a:rPr lang="zh-CN" altLang="en-US">
                <a:solidFill>
                  <a:srgbClr val="0000FF"/>
                </a:solidFill>
                <a:latin typeface="Consolas" pitchFamily="49" charset="0"/>
                <a:ea typeface="仿宋" pitchFamily="49" charset="-122"/>
                <a:cs typeface="Consolas" pitchFamily="49" charset="0"/>
              </a:rPr>
              <a:t>从</a:t>
            </a:r>
            <a:r>
              <a:rPr lang="en-US" altLang="zh-CN">
                <a:solidFill>
                  <a:srgbClr val="0000FF"/>
                </a:solidFill>
                <a:latin typeface="Consolas" pitchFamily="49" charset="0"/>
                <a:ea typeface="仿宋" pitchFamily="49" charset="-122"/>
                <a:cs typeface="Consolas" pitchFamily="49" charset="0"/>
              </a:rPr>
              <a:t>U</a:t>
            </a:r>
            <a:r>
              <a:rPr lang="zh-CN" altLang="en-US">
                <a:solidFill>
                  <a:srgbClr val="0000FF"/>
                </a:solidFill>
                <a:latin typeface="Consolas" pitchFamily="49" charset="0"/>
                <a:ea typeface="仿宋" pitchFamily="49" charset="-122"/>
                <a:cs typeface="Consolas" pitchFamily="49" charset="0"/>
              </a:rPr>
              <a:t>中选取一个最小距离的</a:t>
            </a:r>
            <a:r>
              <a:rPr lang="zh-CN" altLang="en-US">
                <a:solidFill>
                  <a:srgbClr val="FF0000"/>
                </a:solidFill>
                <a:latin typeface="Consolas" pitchFamily="49" charset="0"/>
                <a:ea typeface="仿宋" pitchFamily="49" charset="-122"/>
                <a:cs typeface="Consolas" pitchFamily="49" charset="0"/>
              </a:rPr>
              <a:t>顶点</a:t>
            </a:r>
            <a:r>
              <a:rPr lang="en-US" altLang="zh-CN" i="1">
                <a:solidFill>
                  <a:srgbClr val="FF0000"/>
                </a:solidFill>
                <a:latin typeface="Consolas" pitchFamily="49" charset="0"/>
                <a:ea typeface="仿宋" pitchFamily="49" charset="-122"/>
                <a:cs typeface="Consolas" pitchFamily="49" charset="0"/>
              </a:rPr>
              <a:t>u</a:t>
            </a:r>
            <a:r>
              <a:rPr lang="zh-CN" altLang="en-US">
                <a:solidFill>
                  <a:srgbClr val="0000FF"/>
                </a:solidFill>
                <a:latin typeface="Consolas" pitchFamily="49" charset="0"/>
                <a:ea typeface="仿宋" pitchFamily="49" charset="-122"/>
                <a:cs typeface="Consolas" pitchFamily="49" charset="0"/>
              </a:rPr>
              <a:t>。</a:t>
            </a:r>
          </a:p>
          <a:p>
            <a:pPr marL="457200" indent="-457200" algn="l">
              <a:lnSpc>
                <a:spcPts val="3000"/>
              </a:lnSpc>
              <a:spcBef>
                <a:spcPts val="600"/>
              </a:spcBef>
              <a:buFont typeface="+mj-ea"/>
              <a:buAutoNum type="circleNumDbPlain" startAt="2"/>
            </a:pPr>
            <a:r>
              <a:rPr lang="zh-CN" altLang="en-US">
                <a:solidFill>
                  <a:srgbClr val="0000FF"/>
                </a:solidFill>
                <a:latin typeface="Consolas" pitchFamily="49" charset="0"/>
                <a:ea typeface="仿宋" pitchFamily="49" charset="-122"/>
                <a:cs typeface="Consolas" pitchFamily="49" charset="0"/>
              </a:rPr>
              <a:t>以顶点</a:t>
            </a:r>
            <a:r>
              <a:rPr lang="en-US" altLang="zh-CN" i="1">
                <a:solidFill>
                  <a:srgbClr val="0000FF"/>
                </a:solidFill>
                <a:latin typeface="Consolas" pitchFamily="49" charset="0"/>
                <a:ea typeface="仿宋" pitchFamily="49" charset="-122"/>
                <a:cs typeface="Consolas" pitchFamily="49" charset="0"/>
              </a:rPr>
              <a:t>u</a:t>
            </a:r>
            <a:r>
              <a:rPr lang="zh-CN" altLang="en-US">
                <a:solidFill>
                  <a:srgbClr val="0000FF"/>
                </a:solidFill>
                <a:latin typeface="Consolas" pitchFamily="49" charset="0"/>
                <a:ea typeface="仿宋" pitchFamily="49" charset="-122"/>
                <a:cs typeface="Consolas" pitchFamily="49" charset="0"/>
              </a:rPr>
              <a:t>为中间点，考虑顶点</a:t>
            </a:r>
            <a:r>
              <a:rPr lang="en-US" altLang="zh-CN">
                <a:solidFill>
                  <a:srgbClr val="0000FF"/>
                </a:solidFill>
                <a:latin typeface="Consolas" pitchFamily="49" charset="0"/>
                <a:ea typeface="仿宋" pitchFamily="49" charset="-122"/>
                <a:cs typeface="Consolas" pitchFamily="49" charset="0"/>
              </a:rPr>
              <a:t>u</a:t>
            </a:r>
            <a:r>
              <a:rPr lang="zh-CN" altLang="en-US">
                <a:solidFill>
                  <a:srgbClr val="0000FF"/>
                </a:solidFill>
                <a:latin typeface="Consolas" pitchFamily="49" charset="0"/>
                <a:ea typeface="仿宋" pitchFamily="49" charset="-122"/>
                <a:cs typeface="Consolas" pitchFamily="49" charset="0"/>
              </a:rPr>
              <a:t>的所有出边邻接点</a:t>
            </a:r>
            <a:r>
              <a:rPr lang="en-US" altLang="zh-CN" i="1">
                <a:solidFill>
                  <a:srgbClr val="0000FF"/>
                </a:solidFill>
                <a:latin typeface="Consolas" pitchFamily="49" charset="0"/>
                <a:ea typeface="仿宋" pitchFamily="49" charset="-122"/>
                <a:cs typeface="Consolas" pitchFamily="49" charset="0"/>
              </a:rPr>
              <a:t>j</a:t>
            </a:r>
            <a:r>
              <a:rPr lang="zh-CN" altLang="en-US">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j</a:t>
            </a:r>
            <a:r>
              <a:rPr lang="en-US" altLang="zh-CN">
                <a:solidFill>
                  <a:srgbClr val="0000FF"/>
                </a:solidFill>
                <a:latin typeface="Consolas" pitchFamily="49" charset="0"/>
                <a:ea typeface="仿宋" pitchFamily="49" charset="-122"/>
                <a:cs typeface="Consolas" pitchFamily="49" charset="0"/>
              </a:rPr>
              <a:t>∈U</a:t>
            </a:r>
            <a:r>
              <a:rPr lang="zh-CN" altLang="en-US">
                <a:solidFill>
                  <a:srgbClr val="0000FF"/>
                </a:solidFill>
                <a:latin typeface="Consolas" pitchFamily="49" charset="0"/>
                <a:ea typeface="仿宋" pitchFamily="49" charset="-122"/>
                <a:cs typeface="Consolas" pitchFamily="49" charset="0"/>
              </a:rPr>
              <a:t>）：</a:t>
            </a:r>
            <a:r>
              <a:rPr lang="zh-CN" altLang="en-US" sz="2200">
                <a:solidFill>
                  <a:srgbClr val="006600"/>
                </a:solidFill>
                <a:latin typeface="Consolas" pitchFamily="49" charset="0"/>
                <a:ea typeface="仿宋" pitchFamily="49" charset="-122"/>
                <a:cs typeface="Consolas" pitchFamily="49" charset="0"/>
              </a:rPr>
              <a:t>若从源点</a:t>
            </a:r>
            <a:r>
              <a:rPr lang="en-US" altLang="zh-CN" sz="2200">
                <a:solidFill>
                  <a:srgbClr val="006600"/>
                </a:solidFill>
                <a:latin typeface="Consolas" pitchFamily="49" charset="0"/>
                <a:ea typeface="仿宋" pitchFamily="49" charset="-122"/>
                <a:cs typeface="Consolas" pitchFamily="49" charset="0"/>
              </a:rPr>
              <a:t>s</a:t>
            </a:r>
            <a:r>
              <a:rPr lang="zh-CN" altLang="en-US" sz="2200">
                <a:solidFill>
                  <a:srgbClr val="006600"/>
                </a:solidFill>
                <a:latin typeface="Consolas" pitchFamily="49" charset="0"/>
                <a:ea typeface="仿宋" pitchFamily="49" charset="-122"/>
                <a:cs typeface="Consolas" pitchFamily="49" charset="0"/>
              </a:rPr>
              <a:t>到顶点</a:t>
            </a:r>
            <a:r>
              <a:rPr lang="en-US" altLang="zh-CN" sz="2200" i="1">
                <a:solidFill>
                  <a:srgbClr val="006600"/>
                </a:solidFill>
                <a:latin typeface="Consolas" pitchFamily="49" charset="0"/>
                <a:ea typeface="仿宋" pitchFamily="49" charset="-122"/>
                <a:cs typeface="Consolas" pitchFamily="49" charset="0"/>
              </a:rPr>
              <a:t>j</a:t>
            </a:r>
            <a:r>
              <a:rPr lang="zh-CN" altLang="en-US" sz="2200">
                <a:solidFill>
                  <a:srgbClr val="006600"/>
                </a:solidFill>
                <a:latin typeface="Consolas" pitchFamily="49" charset="0"/>
                <a:ea typeface="仿宋" pitchFamily="49" charset="-122"/>
                <a:cs typeface="Consolas" pitchFamily="49" charset="0"/>
              </a:rPr>
              <a:t>（</a:t>
            </a:r>
            <a:r>
              <a:rPr lang="en-US" altLang="zh-CN" sz="2200" i="1">
                <a:solidFill>
                  <a:srgbClr val="006600"/>
                </a:solidFill>
                <a:latin typeface="Consolas" pitchFamily="49" charset="0"/>
                <a:ea typeface="仿宋" pitchFamily="49" charset="-122"/>
                <a:cs typeface="Consolas" pitchFamily="49" charset="0"/>
              </a:rPr>
              <a:t>j</a:t>
            </a:r>
            <a:r>
              <a:rPr lang="en-US" altLang="zh-CN" sz="2200">
                <a:solidFill>
                  <a:srgbClr val="006600"/>
                </a:solidFill>
                <a:latin typeface="Consolas" pitchFamily="49" charset="0"/>
                <a:ea typeface="仿宋" pitchFamily="49" charset="-122"/>
                <a:cs typeface="Consolas" pitchFamily="49" charset="0"/>
              </a:rPr>
              <a:t>∈U</a:t>
            </a:r>
            <a:r>
              <a:rPr lang="zh-CN" altLang="en-US" sz="2200">
                <a:solidFill>
                  <a:srgbClr val="006600"/>
                </a:solidFill>
                <a:latin typeface="Consolas" pitchFamily="49" charset="0"/>
                <a:ea typeface="仿宋" pitchFamily="49" charset="-122"/>
                <a:cs typeface="Consolas" pitchFamily="49" charset="0"/>
              </a:rPr>
              <a:t>）经过顶点</a:t>
            </a:r>
            <a:r>
              <a:rPr lang="en-US" altLang="zh-CN" sz="2200" i="1">
                <a:solidFill>
                  <a:srgbClr val="006600"/>
                </a:solidFill>
                <a:latin typeface="Consolas" pitchFamily="49" charset="0"/>
                <a:ea typeface="仿宋" pitchFamily="49" charset="-122"/>
                <a:cs typeface="Consolas" pitchFamily="49" charset="0"/>
              </a:rPr>
              <a:t>u</a:t>
            </a:r>
            <a:r>
              <a:rPr lang="zh-CN" altLang="en-US" sz="2200">
                <a:solidFill>
                  <a:srgbClr val="006600"/>
                </a:solidFill>
                <a:latin typeface="Consolas" pitchFamily="49" charset="0"/>
                <a:ea typeface="仿宋" pitchFamily="49" charset="-122"/>
                <a:cs typeface="Consolas" pitchFamily="49" charset="0"/>
              </a:rPr>
              <a:t>的最短路径长度（图中为</a:t>
            </a:r>
            <a:r>
              <a:rPr lang="en-US" altLang="zh-CN" sz="2200" i="1">
                <a:solidFill>
                  <a:srgbClr val="006600"/>
                </a:solidFill>
                <a:latin typeface="Consolas" pitchFamily="49" charset="0"/>
                <a:ea typeface="仿宋" pitchFamily="49" charset="-122"/>
                <a:cs typeface="Consolas" pitchFamily="49" charset="0"/>
              </a:rPr>
              <a:t>c</a:t>
            </a:r>
            <a:r>
              <a:rPr lang="en-US" altLang="zh-CN" sz="2200" i="1" baseline="-25000">
                <a:solidFill>
                  <a:srgbClr val="006600"/>
                </a:solidFill>
                <a:latin typeface="Consolas" pitchFamily="49" charset="0"/>
                <a:ea typeface="仿宋" pitchFamily="49" charset="-122"/>
                <a:cs typeface="Consolas" pitchFamily="49" charset="0"/>
              </a:rPr>
              <a:t>su</a:t>
            </a:r>
            <a:r>
              <a:rPr lang="en-US" altLang="zh-CN" sz="2200">
                <a:solidFill>
                  <a:srgbClr val="006600"/>
                </a:solidFill>
                <a:latin typeface="Consolas" pitchFamily="49" charset="0"/>
                <a:ea typeface="仿宋" pitchFamily="49" charset="-122"/>
                <a:cs typeface="Consolas" pitchFamily="49" charset="0"/>
              </a:rPr>
              <a:t>+</a:t>
            </a:r>
            <a:r>
              <a:rPr lang="en-US" altLang="zh-CN" sz="2200" i="1">
                <a:solidFill>
                  <a:srgbClr val="006600"/>
                </a:solidFill>
                <a:latin typeface="Consolas" pitchFamily="49" charset="0"/>
                <a:ea typeface="仿宋" pitchFamily="49" charset="-122"/>
                <a:cs typeface="Consolas" pitchFamily="49" charset="0"/>
              </a:rPr>
              <a:t>w</a:t>
            </a:r>
            <a:r>
              <a:rPr lang="en-US" altLang="zh-CN" sz="2200" i="1" baseline="-25000">
                <a:solidFill>
                  <a:srgbClr val="006600"/>
                </a:solidFill>
                <a:latin typeface="Consolas" pitchFamily="49" charset="0"/>
                <a:ea typeface="仿宋" pitchFamily="49" charset="-122"/>
                <a:cs typeface="Consolas" pitchFamily="49" charset="0"/>
              </a:rPr>
              <a:t>uj</a:t>
            </a:r>
            <a:r>
              <a:rPr lang="zh-CN" altLang="en-US" sz="2200">
                <a:solidFill>
                  <a:srgbClr val="006600"/>
                </a:solidFill>
                <a:latin typeface="Consolas" pitchFamily="49" charset="0"/>
                <a:ea typeface="仿宋" pitchFamily="49" charset="-122"/>
                <a:cs typeface="Consolas" pitchFamily="49" charset="0"/>
              </a:rPr>
              <a:t>）比原来不经过顶点</a:t>
            </a:r>
            <a:r>
              <a:rPr lang="en-US" altLang="zh-CN" sz="2200" i="1">
                <a:solidFill>
                  <a:srgbClr val="006600"/>
                </a:solidFill>
                <a:latin typeface="Consolas" pitchFamily="49" charset="0"/>
                <a:ea typeface="仿宋" pitchFamily="49" charset="-122"/>
                <a:cs typeface="Consolas" pitchFamily="49" charset="0"/>
              </a:rPr>
              <a:t>u</a:t>
            </a:r>
            <a:r>
              <a:rPr lang="zh-CN" altLang="en-US" sz="2200">
                <a:solidFill>
                  <a:srgbClr val="006600"/>
                </a:solidFill>
                <a:latin typeface="Consolas" pitchFamily="49" charset="0"/>
                <a:ea typeface="仿宋" pitchFamily="49" charset="-122"/>
                <a:cs typeface="Consolas" pitchFamily="49" charset="0"/>
              </a:rPr>
              <a:t>的最短路径长度（图中为</a:t>
            </a:r>
            <a:r>
              <a:rPr lang="en-US" altLang="zh-CN" sz="2200" i="1">
                <a:solidFill>
                  <a:srgbClr val="006600"/>
                </a:solidFill>
                <a:latin typeface="Consolas" pitchFamily="49" charset="0"/>
                <a:ea typeface="仿宋" pitchFamily="49" charset="-122"/>
                <a:cs typeface="Consolas" pitchFamily="49" charset="0"/>
              </a:rPr>
              <a:t>c</a:t>
            </a:r>
            <a:r>
              <a:rPr lang="en-US" altLang="zh-CN" sz="2200" i="1" baseline="-25000">
                <a:solidFill>
                  <a:srgbClr val="006600"/>
                </a:solidFill>
                <a:latin typeface="Consolas" pitchFamily="49" charset="0"/>
                <a:ea typeface="仿宋" pitchFamily="49" charset="-122"/>
                <a:cs typeface="Consolas" pitchFamily="49" charset="0"/>
              </a:rPr>
              <a:t>sj</a:t>
            </a:r>
            <a:r>
              <a:rPr lang="zh-CN" altLang="en-US" sz="2200">
                <a:solidFill>
                  <a:srgbClr val="006600"/>
                </a:solidFill>
                <a:latin typeface="Consolas" pitchFamily="49" charset="0"/>
                <a:ea typeface="仿宋" pitchFamily="49" charset="-122"/>
                <a:cs typeface="Consolas" pitchFamily="49" charset="0"/>
              </a:rPr>
              <a:t>）短，则将顶点</a:t>
            </a:r>
            <a:r>
              <a:rPr lang="en-US" altLang="zh-CN" sz="2200">
                <a:solidFill>
                  <a:srgbClr val="006600"/>
                </a:solidFill>
                <a:latin typeface="Consolas" pitchFamily="49" charset="0"/>
                <a:ea typeface="仿宋" pitchFamily="49" charset="-122"/>
                <a:cs typeface="Consolas" pitchFamily="49" charset="0"/>
              </a:rPr>
              <a:t>s</a:t>
            </a:r>
            <a:r>
              <a:rPr lang="zh-CN" altLang="en-US" sz="2200">
                <a:solidFill>
                  <a:srgbClr val="006600"/>
                </a:solidFill>
                <a:latin typeface="Consolas" pitchFamily="49" charset="0"/>
                <a:ea typeface="仿宋" pitchFamily="49" charset="-122"/>
                <a:cs typeface="Consolas" pitchFamily="49" charset="0"/>
              </a:rPr>
              <a:t>到顶点</a:t>
            </a:r>
            <a:r>
              <a:rPr lang="en-US" altLang="zh-CN" sz="2200" i="1">
                <a:solidFill>
                  <a:srgbClr val="006600"/>
                </a:solidFill>
                <a:latin typeface="Consolas" pitchFamily="49" charset="0"/>
                <a:ea typeface="仿宋" pitchFamily="49" charset="-122"/>
                <a:cs typeface="Consolas" pitchFamily="49" charset="0"/>
              </a:rPr>
              <a:t>j</a:t>
            </a:r>
            <a:r>
              <a:rPr lang="zh-CN" altLang="en-US" sz="2200">
                <a:solidFill>
                  <a:srgbClr val="006600"/>
                </a:solidFill>
                <a:latin typeface="Consolas" pitchFamily="49" charset="0"/>
                <a:ea typeface="仿宋" pitchFamily="49" charset="-122"/>
                <a:cs typeface="Consolas" pitchFamily="49" charset="0"/>
              </a:rPr>
              <a:t>的最短路径长度修改为前者（</a:t>
            </a:r>
            <a:r>
              <a:rPr lang="en-US" altLang="zh-CN" sz="2200" i="1">
                <a:solidFill>
                  <a:srgbClr val="006600"/>
                </a:solidFill>
                <a:latin typeface="Consolas" pitchFamily="49" charset="0"/>
                <a:ea typeface="仿宋" pitchFamily="49" charset="-122"/>
                <a:cs typeface="Consolas" pitchFamily="49" charset="0"/>
              </a:rPr>
              <a:t>c</a:t>
            </a:r>
            <a:r>
              <a:rPr lang="en-US" altLang="zh-CN" sz="2200" i="1" baseline="-25000">
                <a:solidFill>
                  <a:srgbClr val="006600"/>
                </a:solidFill>
                <a:latin typeface="Consolas" pitchFamily="49" charset="0"/>
                <a:ea typeface="仿宋" pitchFamily="49" charset="-122"/>
                <a:cs typeface="Consolas" pitchFamily="49" charset="0"/>
              </a:rPr>
              <a:t>su</a:t>
            </a:r>
            <a:r>
              <a:rPr lang="en-US" altLang="zh-CN" sz="2200">
                <a:solidFill>
                  <a:srgbClr val="006600"/>
                </a:solidFill>
                <a:latin typeface="Consolas" pitchFamily="49" charset="0"/>
                <a:ea typeface="仿宋" pitchFamily="49" charset="-122"/>
                <a:cs typeface="Consolas" pitchFamily="49" charset="0"/>
              </a:rPr>
              <a:t>+</a:t>
            </a:r>
            <a:r>
              <a:rPr lang="en-US" altLang="zh-CN" sz="2200" i="1">
                <a:solidFill>
                  <a:srgbClr val="006600"/>
                </a:solidFill>
                <a:latin typeface="Consolas" pitchFamily="49" charset="0"/>
                <a:ea typeface="仿宋" pitchFamily="49" charset="-122"/>
                <a:cs typeface="Consolas" pitchFamily="49" charset="0"/>
              </a:rPr>
              <a:t>w</a:t>
            </a:r>
            <a:r>
              <a:rPr lang="en-US" altLang="zh-CN" sz="2200" i="1" baseline="-25000">
                <a:solidFill>
                  <a:srgbClr val="006600"/>
                </a:solidFill>
                <a:latin typeface="Consolas" pitchFamily="49" charset="0"/>
                <a:ea typeface="仿宋" pitchFamily="49" charset="-122"/>
                <a:cs typeface="Consolas" pitchFamily="49" charset="0"/>
              </a:rPr>
              <a:t>uj</a:t>
            </a:r>
            <a:r>
              <a:rPr lang="zh-CN" altLang="en-US" sz="2200">
                <a:solidFill>
                  <a:srgbClr val="006600"/>
                </a:solidFill>
                <a:latin typeface="Consolas" pitchFamily="49" charset="0"/>
                <a:ea typeface="仿宋" pitchFamily="49" charset="-122"/>
                <a:cs typeface="Consolas" pitchFamily="49" charset="0"/>
              </a:rPr>
              <a:t>）</a:t>
            </a:r>
            <a:r>
              <a:rPr lang="zh-CN" altLang="en-US">
                <a:solidFill>
                  <a:srgbClr val="0000FF"/>
                </a:solidFill>
                <a:latin typeface="Consolas" pitchFamily="49" charset="0"/>
                <a:ea typeface="仿宋" pitchFamily="49" charset="-122"/>
                <a:cs typeface="Consolas" pitchFamily="49" charset="0"/>
              </a:rPr>
              <a:t>。</a:t>
            </a:r>
          </a:p>
        </p:txBody>
      </p:sp>
      <p:grpSp>
        <p:nvGrpSpPr>
          <p:cNvPr id="22" name="组合 21"/>
          <p:cNvGrpSpPr/>
          <p:nvPr/>
        </p:nvGrpSpPr>
        <p:grpSpPr>
          <a:xfrm>
            <a:off x="1428728" y="3143248"/>
            <a:ext cx="6579881" cy="1626121"/>
            <a:chOff x="921077" y="3500438"/>
            <a:chExt cx="6579881" cy="1626121"/>
          </a:xfrm>
        </p:grpSpPr>
        <p:sp>
          <p:nvSpPr>
            <p:cNvPr id="5" name="椭圆 4"/>
            <p:cNvSpPr/>
            <p:nvPr/>
          </p:nvSpPr>
          <p:spPr>
            <a:xfrm>
              <a:off x="2714612" y="3500438"/>
              <a:ext cx="396000" cy="396000"/>
            </a:xfrm>
            <a:prstGeom prst="ellipse">
              <a:avLst/>
            </a:prstGeom>
            <a:solidFill>
              <a:srgbClr val="006600"/>
            </a:solidFill>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sz="2000" i="1">
                  <a:solidFill>
                    <a:schemeClr val="bg1"/>
                  </a:solidFill>
                  <a:latin typeface="Consolas" pitchFamily="49" charset="0"/>
                  <a:cs typeface="Consolas" pitchFamily="49" charset="0"/>
                </a:rPr>
                <a:t>u</a:t>
              </a:r>
              <a:endParaRPr lang="zh-CN" altLang="en-US" sz="2000" i="1">
                <a:solidFill>
                  <a:schemeClr val="bg1"/>
                </a:solidFill>
                <a:latin typeface="Consolas" pitchFamily="49" charset="0"/>
                <a:cs typeface="Consolas" pitchFamily="49" charset="0"/>
              </a:endParaRPr>
            </a:p>
          </p:txBody>
        </p:sp>
        <p:sp>
          <p:nvSpPr>
            <p:cNvPr id="6" name="椭圆 5"/>
            <p:cNvSpPr/>
            <p:nvPr/>
          </p:nvSpPr>
          <p:spPr>
            <a:xfrm>
              <a:off x="921077" y="4429132"/>
              <a:ext cx="396000" cy="39600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i="1">
                  <a:solidFill>
                    <a:srgbClr val="0000FF"/>
                  </a:solidFill>
                  <a:latin typeface="Consolas" pitchFamily="49" charset="0"/>
                  <a:cs typeface="Consolas" pitchFamily="49" charset="0"/>
                </a:rPr>
                <a:t>s</a:t>
              </a:r>
              <a:endParaRPr lang="zh-CN" altLang="en-US" sz="2000" i="1">
                <a:solidFill>
                  <a:srgbClr val="0000FF"/>
                </a:solidFill>
                <a:latin typeface="Consolas" pitchFamily="49" charset="0"/>
                <a:cs typeface="Consolas" pitchFamily="49" charset="0"/>
              </a:endParaRPr>
            </a:p>
          </p:txBody>
        </p:sp>
        <p:sp>
          <p:nvSpPr>
            <p:cNvPr id="7" name="椭圆 6"/>
            <p:cNvSpPr/>
            <p:nvPr/>
          </p:nvSpPr>
          <p:spPr>
            <a:xfrm>
              <a:off x="4214810" y="4429132"/>
              <a:ext cx="396000" cy="39600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i="1">
                  <a:solidFill>
                    <a:srgbClr val="0000FF"/>
                  </a:solidFill>
                  <a:latin typeface="Consolas" pitchFamily="49" charset="0"/>
                  <a:cs typeface="Consolas" pitchFamily="49" charset="0"/>
                </a:rPr>
                <a:t>j</a:t>
              </a:r>
              <a:endParaRPr lang="zh-CN" altLang="en-US" sz="2000" i="1">
                <a:solidFill>
                  <a:srgbClr val="0000FF"/>
                </a:solidFill>
                <a:latin typeface="Consolas" pitchFamily="49" charset="0"/>
                <a:cs typeface="Consolas" pitchFamily="49" charset="0"/>
              </a:endParaRPr>
            </a:p>
          </p:txBody>
        </p:sp>
        <p:cxnSp>
          <p:nvCxnSpPr>
            <p:cNvPr id="9" name="直接箭头连接符 8"/>
            <p:cNvCxnSpPr>
              <a:stCxn id="6" idx="6"/>
              <a:endCxn id="7" idx="2"/>
            </p:cNvCxnSpPr>
            <p:nvPr/>
          </p:nvCxnSpPr>
          <p:spPr>
            <a:xfrm>
              <a:off x="1317077" y="4627132"/>
              <a:ext cx="2897733" cy="1588"/>
            </a:xfrm>
            <a:prstGeom prst="straightConnector1">
              <a:avLst/>
            </a:prstGeom>
            <a:ln w="28575">
              <a:solidFill>
                <a:srgbClr val="9900FF"/>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a:stCxn id="5" idx="6"/>
              <a:endCxn id="7" idx="1"/>
            </p:cNvCxnSpPr>
            <p:nvPr/>
          </p:nvCxnSpPr>
          <p:spPr>
            <a:xfrm>
              <a:off x="3110612" y="3698438"/>
              <a:ext cx="1162191" cy="788687"/>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3" name="直接箭头连接符 12"/>
            <p:cNvCxnSpPr>
              <a:stCxn id="6" idx="7"/>
              <a:endCxn id="5" idx="2"/>
            </p:cNvCxnSpPr>
            <p:nvPr/>
          </p:nvCxnSpPr>
          <p:spPr>
            <a:xfrm rot="5400000" flipH="1" flipV="1">
              <a:off x="1592505" y="3365018"/>
              <a:ext cx="788687" cy="1455528"/>
            </a:xfrm>
            <a:prstGeom prst="straightConnector1">
              <a:avLst/>
            </a:prstGeom>
            <a:ln w="28575">
              <a:solidFill>
                <a:srgbClr val="9900FF"/>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1571604" y="3671832"/>
              <a:ext cx="571504" cy="342979"/>
            </a:xfrm>
            <a:prstGeom prst="rect">
              <a:avLst/>
            </a:prstGeom>
            <a:noFill/>
          </p:spPr>
          <p:txBody>
            <a:bodyPr wrap="square" rtlCol="0">
              <a:spAutoFit/>
            </a:bodyPr>
            <a:lstStyle/>
            <a:p>
              <a:r>
                <a:rPr lang="en-US" altLang="zh-CN" sz="2000" i="1">
                  <a:solidFill>
                    <a:srgbClr val="0000FF"/>
                  </a:solidFill>
                  <a:latin typeface="Consolas" pitchFamily="49" charset="0"/>
                  <a:cs typeface="Consolas" pitchFamily="49" charset="0"/>
                </a:rPr>
                <a:t>c</a:t>
              </a:r>
              <a:r>
                <a:rPr lang="en-US" altLang="zh-CN" sz="2000" i="1" baseline="-25000">
                  <a:solidFill>
                    <a:srgbClr val="0000FF"/>
                  </a:solidFill>
                  <a:latin typeface="Consolas" pitchFamily="49" charset="0"/>
                  <a:cs typeface="Consolas" pitchFamily="49" charset="0"/>
                </a:rPr>
                <a:t>su</a:t>
              </a:r>
              <a:endParaRPr lang="zh-CN" altLang="en-US" sz="2000" i="1" baseline="-25000">
                <a:solidFill>
                  <a:srgbClr val="0000FF"/>
                </a:solidFill>
                <a:latin typeface="Consolas" pitchFamily="49" charset="0"/>
                <a:cs typeface="Consolas" pitchFamily="49" charset="0"/>
              </a:endParaRPr>
            </a:p>
          </p:txBody>
        </p:sp>
        <p:sp>
          <p:nvSpPr>
            <p:cNvPr id="15" name="TextBox 14"/>
            <p:cNvSpPr txBox="1"/>
            <p:nvPr/>
          </p:nvSpPr>
          <p:spPr>
            <a:xfrm>
              <a:off x="2571736" y="4610409"/>
              <a:ext cx="571504" cy="342979"/>
            </a:xfrm>
            <a:prstGeom prst="rect">
              <a:avLst/>
            </a:prstGeom>
            <a:noFill/>
          </p:spPr>
          <p:txBody>
            <a:bodyPr wrap="square" rtlCol="0">
              <a:spAutoFit/>
            </a:bodyPr>
            <a:lstStyle/>
            <a:p>
              <a:r>
                <a:rPr lang="en-US" altLang="zh-CN" sz="2000" i="1">
                  <a:solidFill>
                    <a:srgbClr val="0000FF"/>
                  </a:solidFill>
                  <a:latin typeface="Consolas" pitchFamily="49" charset="0"/>
                  <a:cs typeface="Consolas" pitchFamily="49" charset="0"/>
                </a:rPr>
                <a:t>c</a:t>
              </a:r>
              <a:r>
                <a:rPr lang="en-US" altLang="zh-CN" sz="2000" i="1" baseline="-25000">
                  <a:solidFill>
                    <a:srgbClr val="0000FF"/>
                  </a:solidFill>
                  <a:latin typeface="Consolas" pitchFamily="49" charset="0"/>
                  <a:cs typeface="Consolas" pitchFamily="49" charset="0"/>
                </a:rPr>
                <a:t>sj</a:t>
              </a:r>
              <a:endParaRPr lang="zh-CN" altLang="en-US" sz="2000" i="1" baseline="-25000">
                <a:solidFill>
                  <a:srgbClr val="0000FF"/>
                </a:solidFill>
                <a:latin typeface="Consolas" pitchFamily="49" charset="0"/>
                <a:cs typeface="Consolas" pitchFamily="49" charset="0"/>
              </a:endParaRPr>
            </a:p>
          </p:txBody>
        </p:sp>
        <p:sp>
          <p:nvSpPr>
            <p:cNvPr id="16" name="TextBox 15"/>
            <p:cNvSpPr txBox="1"/>
            <p:nvPr/>
          </p:nvSpPr>
          <p:spPr>
            <a:xfrm>
              <a:off x="3643306" y="3743270"/>
              <a:ext cx="571504" cy="342979"/>
            </a:xfrm>
            <a:prstGeom prst="rect">
              <a:avLst/>
            </a:prstGeom>
            <a:noFill/>
          </p:spPr>
          <p:txBody>
            <a:bodyPr wrap="square" rtlCol="0">
              <a:spAutoFit/>
            </a:bodyPr>
            <a:lstStyle/>
            <a:p>
              <a:r>
                <a:rPr lang="en-US" altLang="zh-CN" sz="2000" i="1">
                  <a:solidFill>
                    <a:srgbClr val="0000FF"/>
                  </a:solidFill>
                  <a:latin typeface="Consolas" pitchFamily="49" charset="0"/>
                  <a:cs typeface="Consolas" pitchFamily="49" charset="0"/>
                </a:rPr>
                <a:t>w</a:t>
              </a:r>
              <a:r>
                <a:rPr lang="en-US" altLang="zh-CN" sz="2000" i="1" baseline="-25000">
                  <a:solidFill>
                    <a:srgbClr val="0000FF"/>
                  </a:solidFill>
                  <a:latin typeface="Consolas" pitchFamily="49" charset="0"/>
                  <a:cs typeface="Consolas" pitchFamily="49" charset="0"/>
                </a:rPr>
                <a:t>uj</a:t>
              </a:r>
              <a:endParaRPr lang="zh-CN" altLang="en-US" sz="2000" i="1" baseline="-25000">
                <a:solidFill>
                  <a:srgbClr val="0000FF"/>
                </a:solidFill>
                <a:latin typeface="Consolas" pitchFamily="49" charset="0"/>
                <a:cs typeface="Consolas" pitchFamily="49" charset="0"/>
              </a:endParaRPr>
            </a:p>
          </p:txBody>
        </p:sp>
        <p:sp>
          <p:nvSpPr>
            <p:cNvPr id="18" name="任意多边形 17"/>
            <p:cNvSpPr/>
            <p:nvPr/>
          </p:nvSpPr>
          <p:spPr>
            <a:xfrm>
              <a:off x="1313909" y="3920059"/>
              <a:ext cx="2732617" cy="662516"/>
            </a:xfrm>
            <a:custGeom>
              <a:avLst/>
              <a:gdLst>
                <a:gd name="connsiteX0" fmla="*/ 27517 w 2732617"/>
                <a:gd name="connsiteY0" fmla="*/ 651933 h 662516"/>
                <a:gd name="connsiteX1" fmla="*/ 78317 w 2732617"/>
                <a:gd name="connsiteY1" fmla="*/ 626533 h 662516"/>
                <a:gd name="connsiteX2" fmla="*/ 662517 w 2732617"/>
                <a:gd name="connsiteY2" fmla="*/ 372533 h 662516"/>
                <a:gd name="connsiteX3" fmla="*/ 1424517 w 2732617"/>
                <a:gd name="connsiteY3" fmla="*/ 55033 h 662516"/>
                <a:gd name="connsiteX4" fmla="*/ 1856317 w 2732617"/>
                <a:gd name="connsiteY4" fmla="*/ 93133 h 662516"/>
                <a:gd name="connsiteX5" fmla="*/ 2732617 w 2732617"/>
                <a:gd name="connsiteY5" fmla="*/ 613833 h 662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32617" h="662516">
                  <a:moveTo>
                    <a:pt x="27517" y="651933"/>
                  </a:moveTo>
                  <a:cubicBezTo>
                    <a:pt x="0" y="662516"/>
                    <a:pt x="78317" y="626533"/>
                    <a:pt x="78317" y="626533"/>
                  </a:cubicBezTo>
                  <a:lnTo>
                    <a:pt x="662517" y="372533"/>
                  </a:lnTo>
                  <a:cubicBezTo>
                    <a:pt x="886884" y="277283"/>
                    <a:pt x="1225550" y="101600"/>
                    <a:pt x="1424517" y="55033"/>
                  </a:cubicBezTo>
                  <a:cubicBezTo>
                    <a:pt x="1623484" y="8466"/>
                    <a:pt x="1638300" y="0"/>
                    <a:pt x="1856317" y="93133"/>
                  </a:cubicBezTo>
                  <a:cubicBezTo>
                    <a:pt x="2074334" y="186266"/>
                    <a:pt x="2403475" y="400049"/>
                    <a:pt x="2732617" y="613833"/>
                  </a:cubicBezTo>
                </a:path>
              </a:pathLst>
            </a:custGeom>
            <a:ln w="19050">
              <a:solidFill>
                <a:srgbClr val="FF00FF"/>
              </a:solidFill>
              <a:tailEnd type="arrow"/>
            </a:ln>
          </p:spPr>
          <p:style>
            <a:lnRef idx="3">
              <a:schemeClr val="accent2"/>
            </a:lnRef>
            <a:fillRef idx="0">
              <a:schemeClr val="accent2"/>
            </a:fillRef>
            <a:effectRef idx="2">
              <a:schemeClr val="accent2"/>
            </a:effectRef>
            <a:fontRef idx="minor">
              <a:schemeClr val="tx1"/>
            </a:fontRef>
          </p:style>
          <p:txBody>
            <a:bodyPr rtlCol="0" anchor="ctr"/>
            <a:lstStyle/>
            <a:p>
              <a:pPr algn="ctr"/>
              <a:endParaRPr lang="zh-CN" altLang="en-US">
                <a:latin typeface="Consolas" pitchFamily="49" charset="0"/>
                <a:cs typeface="Consolas" pitchFamily="49" charset="0"/>
              </a:endParaRPr>
            </a:p>
          </p:txBody>
        </p:sp>
        <p:sp>
          <p:nvSpPr>
            <p:cNvPr id="19" name="任意多边形 18"/>
            <p:cNvSpPr/>
            <p:nvPr/>
          </p:nvSpPr>
          <p:spPr>
            <a:xfrm>
              <a:off x="1328726" y="4787892"/>
              <a:ext cx="2870200" cy="338667"/>
            </a:xfrm>
            <a:custGeom>
              <a:avLst/>
              <a:gdLst>
                <a:gd name="connsiteX0" fmla="*/ 0 w 2870200"/>
                <a:gd name="connsiteY0" fmla="*/ 0 h 338667"/>
                <a:gd name="connsiteX1" fmla="*/ 596900 w 2870200"/>
                <a:gd name="connsiteY1" fmla="*/ 241300 h 338667"/>
                <a:gd name="connsiteX2" fmla="*/ 1663700 w 2870200"/>
                <a:gd name="connsiteY2" fmla="*/ 304800 h 338667"/>
                <a:gd name="connsiteX3" fmla="*/ 2870200 w 2870200"/>
                <a:gd name="connsiteY3" fmla="*/ 38100 h 338667"/>
              </a:gdLst>
              <a:ahLst/>
              <a:cxnLst>
                <a:cxn ang="0">
                  <a:pos x="connsiteX0" y="connsiteY0"/>
                </a:cxn>
                <a:cxn ang="0">
                  <a:pos x="connsiteX1" y="connsiteY1"/>
                </a:cxn>
                <a:cxn ang="0">
                  <a:pos x="connsiteX2" y="connsiteY2"/>
                </a:cxn>
                <a:cxn ang="0">
                  <a:pos x="connsiteX3" y="connsiteY3"/>
                </a:cxn>
              </a:cxnLst>
              <a:rect l="l" t="t" r="r" b="b"/>
              <a:pathLst>
                <a:path w="2870200" h="338667">
                  <a:moveTo>
                    <a:pt x="0" y="0"/>
                  </a:moveTo>
                  <a:cubicBezTo>
                    <a:pt x="159808" y="95250"/>
                    <a:pt x="319617" y="190500"/>
                    <a:pt x="596900" y="241300"/>
                  </a:cubicBezTo>
                  <a:cubicBezTo>
                    <a:pt x="874183" y="292100"/>
                    <a:pt x="1284817" y="338667"/>
                    <a:pt x="1663700" y="304800"/>
                  </a:cubicBezTo>
                  <a:cubicBezTo>
                    <a:pt x="2042583" y="270933"/>
                    <a:pt x="2456391" y="154516"/>
                    <a:pt x="2870200" y="38100"/>
                  </a:cubicBezTo>
                </a:path>
              </a:pathLst>
            </a:custGeom>
            <a:ln>
              <a:solidFill>
                <a:srgbClr val="FF00FF"/>
              </a:solidFill>
              <a:tailEnd type="arrow"/>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zh-CN" altLang="en-US">
                <a:latin typeface="Consolas" pitchFamily="49" charset="0"/>
                <a:cs typeface="Consolas" pitchFamily="49" charset="0"/>
              </a:endParaRPr>
            </a:p>
          </p:txBody>
        </p:sp>
        <p:sp>
          <p:nvSpPr>
            <p:cNvPr id="20" name="TextBox 19"/>
            <p:cNvSpPr txBox="1"/>
            <p:nvPr/>
          </p:nvSpPr>
          <p:spPr>
            <a:xfrm>
              <a:off x="4643438" y="4071942"/>
              <a:ext cx="2857520" cy="338554"/>
            </a:xfrm>
            <a:prstGeom prst="rect">
              <a:avLst/>
            </a:prstGeom>
            <a:noFill/>
          </p:spPr>
          <p:txBody>
            <a:bodyPr wrap="square" rtlCol="0">
              <a:spAutoFit/>
            </a:bodyPr>
            <a:lstStyle/>
            <a:p>
              <a:pPr algn="l"/>
              <a:r>
                <a:rPr lang="zh-CN" altLang="en-US" sz="2000">
                  <a:solidFill>
                    <a:srgbClr val="FF00FF"/>
                  </a:solidFill>
                  <a:latin typeface="楷体" pitchFamily="49" charset="-122"/>
                  <a:ea typeface="楷体" pitchFamily="49" charset="-122"/>
                  <a:cs typeface="Consolas" pitchFamily="49" charset="0"/>
                </a:rPr>
                <a:t>两条路径中取最短者</a:t>
              </a:r>
            </a:p>
          </p:txBody>
        </p:sp>
      </p:grpSp>
      <p:sp>
        <p:nvSpPr>
          <p:cNvPr id="21" name="Text Box 3"/>
          <p:cNvSpPr txBox="1">
            <a:spLocks noChangeArrowheads="1"/>
          </p:cNvSpPr>
          <p:nvPr/>
        </p:nvSpPr>
        <p:spPr bwMode="auto">
          <a:xfrm>
            <a:off x="428596" y="5500702"/>
            <a:ext cx="8358246" cy="454612"/>
          </a:xfrm>
          <a:prstGeom prst="rect">
            <a:avLst/>
          </a:prstGeom>
          <a:ln>
            <a:solidFill>
              <a:schemeClr val="accent6">
                <a:lumMod val="40000"/>
                <a:lumOff val="60000"/>
              </a:schemeClr>
            </a:solidFill>
            <a:headEnd/>
            <a:tailEnd/>
          </a:ln>
        </p:spPr>
        <p:style>
          <a:lnRef idx="2">
            <a:schemeClr val="accent6"/>
          </a:lnRef>
          <a:fillRef idx="1">
            <a:schemeClr val="lt1"/>
          </a:fillRef>
          <a:effectRef idx="0">
            <a:schemeClr val="accent6"/>
          </a:effectRef>
          <a:fontRef idx="minor">
            <a:schemeClr val="dk1"/>
          </a:fontRef>
        </p:style>
        <p:txBody>
          <a:bodyPr wrap="square">
            <a:spAutoFit/>
          </a:bodyPr>
          <a:lstStyle/>
          <a:p>
            <a:pPr marL="457200" indent="-457200" algn="l">
              <a:lnSpc>
                <a:spcPts val="3000"/>
              </a:lnSpc>
              <a:buFont typeface="+mj-ea"/>
              <a:buAutoNum type="circleNumDbPlain" startAt="4"/>
            </a:pPr>
            <a:r>
              <a:rPr lang="zh-CN" altLang="en-US">
                <a:solidFill>
                  <a:srgbClr val="0000FF"/>
                </a:solidFill>
                <a:latin typeface="Consolas" pitchFamily="49" charset="0"/>
                <a:ea typeface="仿宋" pitchFamily="49" charset="-122"/>
                <a:cs typeface="Consolas" pitchFamily="49" charset="0"/>
              </a:rPr>
              <a:t>重复步骤②和③直到</a:t>
            </a:r>
            <a:r>
              <a:rPr lang="en-US" altLang="zh-CN">
                <a:solidFill>
                  <a:srgbClr val="0000FF"/>
                </a:solidFill>
                <a:latin typeface="Consolas" pitchFamily="49" charset="0"/>
                <a:ea typeface="仿宋" pitchFamily="49" charset="-122"/>
                <a:cs typeface="Consolas" pitchFamily="49" charset="0"/>
              </a:rPr>
              <a:t>S</a:t>
            </a:r>
            <a:r>
              <a:rPr lang="zh-CN" altLang="en-US">
                <a:solidFill>
                  <a:srgbClr val="0000FF"/>
                </a:solidFill>
                <a:latin typeface="Consolas" pitchFamily="49" charset="0"/>
                <a:ea typeface="仿宋" pitchFamily="49" charset="-122"/>
                <a:cs typeface="Consolas" pitchFamily="49" charset="0"/>
              </a:rPr>
              <a:t>包含所有的顶点。</a:t>
            </a:r>
          </a:p>
        </p:txBody>
      </p:sp>
      <p:sp>
        <p:nvSpPr>
          <p:cNvPr id="23" name="灯片编号占位符 22"/>
          <p:cNvSpPr>
            <a:spLocks noGrp="1"/>
          </p:cNvSpPr>
          <p:nvPr>
            <p:ph type="sldNum" sz="quarter" idx="12"/>
          </p:nvPr>
        </p:nvSpPr>
        <p:spPr/>
        <p:txBody>
          <a:bodyPr/>
          <a:lstStyle/>
          <a:p>
            <a:fld id="{7AF016A1-9F15-429F-9EFD-84004B73C732}" type="slidenum">
              <a:rPr lang="en-US" altLang="zh-CN" smtClean="0"/>
              <a:pPr/>
              <a:t>38</a:t>
            </a:fld>
            <a:r>
              <a:rPr lang="en-US" altLang="zh-CN"/>
              <a:t>/158</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340">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Text Box 2"/>
          <p:cNvSpPr txBox="1">
            <a:spLocks noChangeArrowheads="1"/>
          </p:cNvSpPr>
          <p:nvPr/>
        </p:nvSpPr>
        <p:spPr bwMode="auto">
          <a:xfrm>
            <a:off x="357158" y="500042"/>
            <a:ext cx="3676646" cy="461665"/>
          </a:xfrm>
          <a:prstGeom prst="rect">
            <a:avLst/>
          </a:prstGeom>
          <a:solidFill>
            <a:srgbClr val="9900FF"/>
          </a:solidFill>
          <a:ln w="9525">
            <a:noFill/>
            <a:miter lim="800000"/>
            <a:headEnd/>
            <a:tailEnd/>
          </a:ln>
        </p:spPr>
        <p:txBody>
          <a:bodyPr wrap="square">
            <a:spAutoFit/>
          </a:bodyPr>
          <a:lstStyle/>
          <a:p>
            <a:pPr algn="ctr">
              <a:lnSpc>
                <a:spcPct val="100000"/>
              </a:lnSpc>
              <a:spcBef>
                <a:spcPct val="50000"/>
              </a:spcBef>
            </a:pPr>
            <a:r>
              <a:rPr lang="en-US" altLang="zh-CN">
                <a:solidFill>
                  <a:schemeClr val="bg1"/>
                </a:solidFill>
                <a:latin typeface="Consolas" pitchFamily="49" charset="0"/>
                <a:ea typeface="微软雅黑" pitchFamily="34" charset="-122"/>
                <a:cs typeface="Consolas" pitchFamily="49" charset="0"/>
              </a:rPr>
              <a:t>2</a:t>
            </a:r>
            <a:r>
              <a:rPr lang="zh-CN" altLang="en-US">
                <a:solidFill>
                  <a:schemeClr val="bg1"/>
                </a:solidFill>
                <a:latin typeface="Consolas" pitchFamily="49" charset="0"/>
                <a:ea typeface="微软雅黑" pitchFamily="34" charset="-122"/>
                <a:cs typeface="Consolas" pitchFamily="49" charset="0"/>
              </a:rPr>
              <a:t>、</a:t>
            </a:r>
            <a:r>
              <a:rPr lang="en-US" altLang="zh-CN">
                <a:solidFill>
                  <a:schemeClr val="bg1"/>
                </a:solidFill>
                <a:latin typeface="Consolas" pitchFamily="49" charset="0"/>
                <a:ea typeface="微软雅黑" pitchFamily="34" charset="-122"/>
                <a:cs typeface="Consolas" pitchFamily="49" charset="0"/>
              </a:rPr>
              <a:t>dijkstra</a:t>
            </a:r>
            <a:r>
              <a:rPr lang="zh-CN" altLang="en-US">
                <a:solidFill>
                  <a:schemeClr val="bg1"/>
                </a:solidFill>
                <a:latin typeface="Consolas" pitchFamily="49" charset="0"/>
                <a:ea typeface="微软雅黑" pitchFamily="34" charset="-122"/>
                <a:cs typeface="Consolas" pitchFamily="49" charset="0"/>
              </a:rPr>
              <a:t>算法设计</a:t>
            </a:r>
          </a:p>
        </p:txBody>
      </p:sp>
      <p:sp>
        <p:nvSpPr>
          <p:cNvPr id="76803" name="Text Box 3"/>
          <p:cNvSpPr txBox="1">
            <a:spLocks noChangeArrowheads="1"/>
          </p:cNvSpPr>
          <p:nvPr/>
        </p:nvSpPr>
        <p:spPr bwMode="auto">
          <a:xfrm>
            <a:off x="571472" y="1500174"/>
            <a:ext cx="8064500" cy="1323439"/>
          </a:xfrm>
          <a:prstGeom prst="rect">
            <a:avLst/>
          </a:prstGeom>
          <a:ln>
            <a:solidFill>
              <a:schemeClr val="accent6">
                <a:lumMod val="40000"/>
                <a:lumOff val="60000"/>
              </a:schemeClr>
            </a:solidFill>
            <a:headEnd/>
            <a:tailEnd/>
          </a:ln>
        </p:spPr>
        <p:style>
          <a:lnRef idx="2">
            <a:schemeClr val="accent6"/>
          </a:lnRef>
          <a:fillRef idx="1">
            <a:schemeClr val="lt1"/>
          </a:fillRef>
          <a:effectRef idx="0">
            <a:schemeClr val="accent6"/>
          </a:effectRef>
          <a:fontRef idx="minor">
            <a:schemeClr val="dk1"/>
          </a:fontRef>
        </p:style>
        <p:txBody>
          <a:bodyPr>
            <a:spAutoFit/>
          </a:bodyPr>
          <a:lstStyle/>
          <a:p>
            <a:pPr marL="457200" indent="-457200" algn="l">
              <a:lnSpc>
                <a:spcPts val="3200"/>
              </a:lnSpc>
              <a:spcBef>
                <a:spcPts val="0"/>
              </a:spcBef>
              <a:buBlip>
                <a:blip r:embed="rId2"/>
              </a:buBlip>
            </a:pPr>
            <a:r>
              <a:rPr lang="zh-CN" altLang="en-US">
                <a:solidFill>
                  <a:srgbClr val="0000FF"/>
                </a:solidFill>
                <a:latin typeface="Consolas" pitchFamily="49" charset="0"/>
                <a:ea typeface="仿宋" pitchFamily="49" charset="-122"/>
                <a:cs typeface="Consolas" pitchFamily="49" charset="0"/>
              </a:rPr>
              <a:t>设</a:t>
            </a:r>
            <a:r>
              <a:rPr lang="zh-CN" altLang="en-US" dirty="0">
                <a:solidFill>
                  <a:srgbClr val="0000FF"/>
                </a:solidFill>
                <a:latin typeface="Consolas" pitchFamily="49" charset="0"/>
                <a:ea typeface="仿宋" pitchFamily="49" charset="-122"/>
                <a:cs typeface="Consolas" pitchFamily="49" charset="0"/>
              </a:rPr>
              <a:t>置一个数组</a:t>
            </a:r>
            <a:r>
              <a:rPr lang="en-US" altLang="zh-CN" dirty="0">
                <a:solidFill>
                  <a:srgbClr val="0000FF"/>
                </a:solidFill>
                <a:latin typeface="Consolas" pitchFamily="49" charset="0"/>
                <a:ea typeface="仿宋" pitchFamily="49" charset="-122"/>
                <a:cs typeface="Consolas" pitchFamily="49" charset="0"/>
              </a:rPr>
              <a:t>dist[</a:t>
            </a:r>
            <a:r>
              <a:rPr lang="en-US" altLang="zh-CN" dirty="0" err="1">
                <a:solidFill>
                  <a:srgbClr val="0000FF"/>
                </a:solidFill>
                <a:latin typeface="Consolas" pitchFamily="49" charset="0"/>
                <a:ea typeface="仿宋" pitchFamily="49" charset="-122"/>
                <a:cs typeface="Consolas" pitchFamily="49" charset="0"/>
              </a:rPr>
              <a:t>0..</a:t>
            </a:r>
            <a:r>
              <a:rPr lang="en-US" altLang="zh-CN" i="1" err="1">
                <a:solidFill>
                  <a:srgbClr val="0000FF"/>
                </a:solidFill>
                <a:latin typeface="Consolas" pitchFamily="49" charset="0"/>
                <a:ea typeface="仿宋" pitchFamily="49" charset="-122"/>
                <a:cs typeface="Consolas" pitchFamily="49" charset="0"/>
              </a:rPr>
              <a:t>n</a:t>
            </a:r>
            <a:r>
              <a:rPr lang="en-US" altLang="zh-CN">
                <a:solidFill>
                  <a:srgbClr val="0000FF"/>
                </a:solidFill>
                <a:latin typeface="Consolas" pitchFamily="49" charset="0"/>
                <a:ea typeface="仿宋" pitchFamily="49" charset="-122"/>
                <a:cs typeface="Consolas" pitchFamily="49" charset="0"/>
              </a:rPr>
              <a:t>-1]</a:t>
            </a:r>
            <a:r>
              <a:rPr lang="zh-CN" altLang="en-US">
                <a:solidFill>
                  <a:srgbClr val="0000FF"/>
                </a:solidFill>
                <a:latin typeface="Consolas" pitchFamily="49" charset="0"/>
                <a:ea typeface="仿宋" pitchFamily="49" charset="-122"/>
                <a:cs typeface="Consolas" pitchFamily="49" charset="0"/>
              </a:rPr>
              <a:t>，</a:t>
            </a:r>
            <a:r>
              <a:rPr lang="en-US" altLang="zh-CN">
                <a:solidFill>
                  <a:srgbClr val="0000FF"/>
                </a:solidFill>
                <a:latin typeface="Consolas" pitchFamily="49" charset="0"/>
                <a:ea typeface="仿宋" pitchFamily="49" charset="-122"/>
                <a:cs typeface="Consolas" pitchFamily="49" charset="0"/>
              </a:rPr>
              <a:t>dist[</a:t>
            </a:r>
            <a:r>
              <a:rPr lang="en-US" altLang="zh-CN" i="1">
                <a:solidFill>
                  <a:srgbClr val="0000FF"/>
                </a:solidFill>
                <a:latin typeface="Consolas" pitchFamily="49" charset="0"/>
                <a:ea typeface="仿宋" pitchFamily="49" charset="-122"/>
                <a:cs typeface="Consolas" pitchFamily="49" charset="0"/>
              </a:rPr>
              <a:t>i</a:t>
            </a:r>
            <a:r>
              <a:rPr lang="en-US" altLang="zh-CN" dirty="0">
                <a:solidFill>
                  <a:srgbClr val="0000FF"/>
                </a:solidFill>
                <a:latin typeface="Consolas" pitchFamily="49" charset="0"/>
                <a:ea typeface="仿宋" pitchFamily="49" charset="-122"/>
                <a:cs typeface="Consolas" pitchFamily="49" charset="0"/>
              </a:rPr>
              <a:t>]</a:t>
            </a:r>
            <a:r>
              <a:rPr lang="zh-CN" altLang="en-US" dirty="0">
                <a:solidFill>
                  <a:srgbClr val="0000FF"/>
                </a:solidFill>
                <a:latin typeface="Consolas" pitchFamily="49" charset="0"/>
                <a:ea typeface="仿宋" pitchFamily="49" charset="-122"/>
                <a:cs typeface="Consolas" pitchFamily="49" charset="0"/>
              </a:rPr>
              <a:t>用来保存从</a:t>
            </a:r>
            <a:r>
              <a:rPr lang="zh-CN" altLang="en-US">
                <a:solidFill>
                  <a:srgbClr val="0000FF"/>
                </a:solidFill>
                <a:latin typeface="Consolas" pitchFamily="49" charset="0"/>
                <a:ea typeface="仿宋" pitchFamily="49" charset="-122"/>
                <a:cs typeface="Consolas" pitchFamily="49" charset="0"/>
              </a:rPr>
              <a:t>源点</a:t>
            </a:r>
            <a:r>
              <a:rPr lang="en-US" altLang="zh-CN" dirty="0">
                <a:solidFill>
                  <a:srgbClr val="0000FF"/>
                </a:solidFill>
                <a:latin typeface="Consolas" pitchFamily="49" charset="0"/>
                <a:ea typeface="仿宋" pitchFamily="49" charset="-122"/>
                <a:cs typeface="Consolas" pitchFamily="49" charset="0"/>
              </a:rPr>
              <a:t>s</a:t>
            </a:r>
            <a:r>
              <a:rPr lang="zh-CN" altLang="en-US">
                <a:solidFill>
                  <a:srgbClr val="0000FF"/>
                </a:solidFill>
                <a:latin typeface="Consolas" pitchFamily="49" charset="0"/>
                <a:ea typeface="仿宋" pitchFamily="49" charset="-122"/>
                <a:cs typeface="Consolas" pitchFamily="49" charset="0"/>
              </a:rPr>
              <a:t>到</a:t>
            </a:r>
            <a:r>
              <a:rPr lang="zh-CN" altLang="en-US" dirty="0">
                <a:solidFill>
                  <a:srgbClr val="0000FF"/>
                </a:solidFill>
                <a:latin typeface="Consolas" pitchFamily="49" charset="0"/>
                <a:ea typeface="仿宋" pitchFamily="49" charset="-122"/>
                <a:cs typeface="Consolas" pitchFamily="49" charset="0"/>
              </a:rPr>
              <a:t>顶点</a:t>
            </a:r>
            <a:r>
              <a:rPr lang="en-US" altLang="zh-CN" i="1" dirty="0" err="1">
                <a:solidFill>
                  <a:srgbClr val="0000FF"/>
                </a:solidFill>
                <a:latin typeface="Consolas" pitchFamily="49" charset="0"/>
                <a:ea typeface="仿宋" pitchFamily="49" charset="-122"/>
                <a:cs typeface="Consolas" pitchFamily="49" charset="0"/>
              </a:rPr>
              <a:t>i</a:t>
            </a:r>
            <a:r>
              <a:rPr lang="zh-CN" altLang="en-US" dirty="0">
                <a:solidFill>
                  <a:srgbClr val="0000FF"/>
                </a:solidFill>
                <a:latin typeface="Consolas" pitchFamily="49" charset="0"/>
                <a:ea typeface="仿宋" pitchFamily="49" charset="-122"/>
                <a:cs typeface="Consolas" pitchFamily="49" charset="0"/>
              </a:rPr>
              <a:t>的目前最短路径</a:t>
            </a:r>
            <a:r>
              <a:rPr lang="zh-CN" altLang="en-US">
                <a:solidFill>
                  <a:srgbClr val="0000FF"/>
                </a:solidFill>
                <a:latin typeface="Consolas" pitchFamily="49" charset="0"/>
                <a:ea typeface="仿宋" pitchFamily="49" charset="-122"/>
                <a:cs typeface="Consolas" pitchFamily="49" charset="0"/>
              </a:rPr>
              <a:t>长度，它</a:t>
            </a:r>
            <a:r>
              <a:rPr lang="zh-CN" altLang="en-US" dirty="0">
                <a:solidFill>
                  <a:srgbClr val="0000FF"/>
                </a:solidFill>
                <a:latin typeface="Consolas" pitchFamily="49" charset="0"/>
                <a:ea typeface="仿宋" pitchFamily="49" charset="-122"/>
                <a:cs typeface="Consolas" pitchFamily="49" charset="0"/>
              </a:rPr>
              <a:t>的初值</a:t>
            </a:r>
            <a:r>
              <a:rPr lang="zh-CN" altLang="en-US">
                <a:solidFill>
                  <a:srgbClr val="0000FF"/>
                </a:solidFill>
                <a:latin typeface="Consolas" pitchFamily="49" charset="0"/>
                <a:ea typeface="仿宋" pitchFamily="49" charset="-122"/>
                <a:cs typeface="Consolas" pitchFamily="49" charset="0"/>
              </a:rPr>
              <a:t>为</a:t>
            </a:r>
            <a:r>
              <a:rPr lang="en-US" altLang="zh-CN">
                <a:solidFill>
                  <a:srgbClr val="0000FF"/>
                </a:solidFill>
                <a:latin typeface="Consolas" pitchFamily="49" charset="0"/>
                <a:ea typeface="仿宋" pitchFamily="49" charset="-122"/>
                <a:cs typeface="Consolas" pitchFamily="49" charset="0"/>
              </a:rPr>
              <a:t>&lt;s</a:t>
            </a:r>
            <a:r>
              <a:rPr lang="zh-CN" altLang="en-US">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i</a:t>
            </a:r>
            <a:r>
              <a:rPr lang="en-US" altLang="zh-CN" dirty="0">
                <a:solidFill>
                  <a:srgbClr val="0000FF"/>
                </a:solidFill>
                <a:latin typeface="Consolas" pitchFamily="49" charset="0"/>
                <a:ea typeface="仿宋" pitchFamily="49" charset="-122"/>
                <a:cs typeface="Consolas" pitchFamily="49" charset="0"/>
              </a:rPr>
              <a:t>&gt;</a:t>
            </a:r>
            <a:r>
              <a:rPr lang="zh-CN" altLang="en-US" dirty="0">
                <a:solidFill>
                  <a:srgbClr val="0000FF"/>
                </a:solidFill>
                <a:latin typeface="Consolas" pitchFamily="49" charset="0"/>
                <a:ea typeface="仿宋" pitchFamily="49" charset="-122"/>
                <a:cs typeface="Consolas" pitchFamily="49" charset="0"/>
              </a:rPr>
              <a:t>边上的</a:t>
            </a:r>
            <a:r>
              <a:rPr lang="zh-CN" altLang="en-US">
                <a:solidFill>
                  <a:srgbClr val="0000FF"/>
                </a:solidFill>
                <a:latin typeface="Consolas" pitchFamily="49" charset="0"/>
                <a:ea typeface="仿宋" pitchFamily="49" charset="-122"/>
                <a:cs typeface="Consolas" pitchFamily="49" charset="0"/>
              </a:rPr>
              <a:t>权值，若顶点</a:t>
            </a:r>
            <a:r>
              <a:rPr lang="en-US" altLang="zh-CN">
                <a:solidFill>
                  <a:srgbClr val="0000FF"/>
                </a:solidFill>
                <a:latin typeface="Consolas" pitchFamily="49" charset="0"/>
                <a:ea typeface="仿宋" pitchFamily="49" charset="-122"/>
                <a:cs typeface="Consolas" pitchFamily="49" charset="0"/>
              </a:rPr>
              <a:t>s</a:t>
            </a:r>
            <a:r>
              <a:rPr lang="zh-CN" altLang="en-US">
                <a:solidFill>
                  <a:srgbClr val="0000FF"/>
                </a:solidFill>
                <a:latin typeface="Consolas" pitchFamily="49" charset="0"/>
                <a:ea typeface="仿宋" pitchFamily="49" charset="-122"/>
                <a:cs typeface="Consolas" pitchFamily="49" charset="0"/>
              </a:rPr>
              <a:t>到</a:t>
            </a:r>
            <a:r>
              <a:rPr lang="zh-CN" altLang="en-US" dirty="0">
                <a:solidFill>
                  <a:srgbClr val="0000FF"/>
                </a:solidFill>
                <a:latin typeface="Consolas" pitchFamily="49" charset="0"/>
                <a:ea typeface="仿宋" pitchFamily="49" charset="-122"/>
                <a:cs typeface="Consolas" pitchFamily="49" charset="0"/>
              </a:rPr>
              <a:t>顶点</a:t>
            </a:r>
            <a:r>
              <a:rPr lang="en-US" altLang="zh-CN" i="1" dirty="0" err="1">
                <a:solidFill>
                  <a:srgbClr val="0000FF"/>
                </a:solidFill>
                <a:latin typeface="Consolas" pitchFamily="49" charset="0"/>
                <a:ea typeface="仿宋" pitchFamily="49" charset="-122"/>
                <a:cs typeface="Consolas" pitchFamily="49" charset="0"/>
              </a:rPr>
              <a:t>i</a:t>
            </a:r>
            <a:r>
              <a:rPr lang="zh-CN" altLang="en-US" dirty="0">
                <a:solidFill>
                  <a:srgbClr val="0000FF"/>
                </a:solidFill>
                <a:latin typeface="Consolas" pitchFamily="49" charset="0"/>
                <a:ea typeface="仿宋" pitchFamily="49" charset="-122"/>
                <a:cs typeface="Consolas" pitchFamily="49" charset="0"/>
              </a:rPr>
              <a:t>没</a:t>
            </a:r>
            <a:r>
              <a:rPr lang="zh-CN" altLang="en-US">
                <a:solidFill>
                  <a:srgbClr val="0000FF"/>
                </a:solidFill>
                <a:latin typeface="Consolas" pitchFamily="49" charset="0"/>
                <a:ea typeface="仿宋" pitchFamily="49" charset="-122"/>
                <a:cs typeface="Consolas" pitchFamily="49" charset="0"/>
              </a:rPr>
              <a:t>有边，则初值为∞。</a:t>
            </a:r>
            <a:endParaRPr lang="zh-CN" altLang="en-US" dirty="0">
              <a:solidFill>
                <a:srgbClr val="0000FF"/>
              </a:solidFill>
              <a:latin typeface="Consolas" pitchFamily="49" charset="0"/>
              <a:ea typeface="仿宋" pitchFamily="49" charset="-122"/>
              <a:cs typeface="Consolas" pitchFamily="49" charset="0"/>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39</a:t>
            </a:fld>
            <a:r>
              <a:rPr lang="en-US" altLang="zh-CN"/>
              <a:t>/158</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Text Box 4"/>
          <p:cNvSpPr txBox="1">
            <a:spLocks noChangeArrowheads="1"/>
          </p:cNvSpPr>
          <p:nvPr/>
        </p:nvSpPr>
        <p:spPr bwMode="auto">
          <a:xfrm>
            <a:off x="428596" y="642918"/>
            <a:ext cx="8424862" cy="884216"/>
          </a:xfrm>
          <a:prstGeom prst="rect">
            <a:avLst/>
          </a:prstGeom>
          <a:ln>
            <a:solidFill>
              <a:schemeClr val="accent6">
                <a:lumMod val="40000"/>
                <a:lumOff val="60000"/>
              </a:schemeClr>
            </a:solidFill>
            <a:headEnd/>
            <a:tailEnd/>
          </a:ln>
        </p:spPr>
        <p:style>
          <a:lnRef idx="2">
            <a:schemeClr val="accent6"/>
          </a:lnRef>
          <a:fillRef idx="1">
            <a:schemeClr val="lt1"/>
          </a:fillRef>
          <a:effectRef idx="0">
            <a:schemeClr val="accent6"/>
          </a:effectRef>
          <a:fontRef idx="minor">
            <a:schemeClr val="dk1"/>
          </a:fontRef>
        </p:style>
        <p:txBody>
          <a:bodyPr>
            <a:spAutoFit/>
          </a:bodyPr>
          <a:lstStyle/>
          <a:p>
            <a:pPr marL="457200" indent="-457200" algn="l">
              <a:lnSpc>
                <a:spcPts val="3200"/>
              </a:lnSpc>
              <a:spcBef>
                <a:spcPts val="0"/>
              </a:spcBef>
              <a:buBlip>
                <a:blip r:embed="rId2"/>
              </a:buBlip>
            </a:pPr>
            <a:r>
              <a:rPr lang="zh-CN" altLang="en-US">
                <a:solidFill>
                  <a:srgbClr val="0000FF"/>
                </a:solidFill>
                <a:latin typeface="Consolas" pitchFamily="49" charset="0"/>
                <a:ea typeface="仿宋" pitchFamily="49" charset="-122"/>
                <a:cs typeface="Consolas" pitchFamily="49" charset="0"/>
              </a:rPr>
              <a:t>设置一个数组</a:t>
            </a:r>
            <a:r>
              <a:rPr lang="en-US" altLang="zh-CN">
                <a:solidFill>
                  <a:srgbClr val="0000FF"/>
                </a:solidFill>
                <a:latin typeface="Consolas" pitchFamily="49" charset="0"/>
                <a:ea typeface="仿宋" pitchFamily="49" charset="-122"/>
                <a:cs typeface="Consolas" pitchFamily="49" charset="0"/>
              </a:rPr>
              <a:t>path[0..</a:t>
            </a:r>
            <a:r>
              <a:rPr lang="en-US" altLang="zh-CN" i="1">
                <a:solidFill>
                  <a:srgbClr val="0000FF"/>
                </a:solidFill>
                <a:latin typeface="Consolas" pitchFamily="49" charset="0"/>
                <a:ea typeface="仿宋" pitchFamily="49" charset="-122"/>
                <a:cs typeface="Consolas" pitchFamily="49" charset="0"/>
              </a:rPr>
              <a:t>n</a:t>
            </a:r>
            <a:r>
              <a:rPr lang="en-US" altLang="zh-CN">
                <a:solidFill>
                  <a:srgbClr val="0000FF"/>
                </a:solidFill>
                <a:latin typeface="Consolas" pitchFamily="49" charset="0"/>
                <a:ea typeface="仿宋" pitchFamily="49" charset="-122"/>
                <a:cs typeface="Consolas" pitchFamily="49" charset="0"/>
              </a:rPr>
              <a:t>-1]</a:t>
            </a:r>
            <a:r>
              <a:rPr lang="zh-CN" altLang="en-US">
                <a:solidFill>
                  <a:srgbClr val="0000FF"/>
                </a:solidFill>
                <a:latin typeface="Consolas" pitchFamily="49" charset="0"/>
                <a:ea typeface="仿宋" pitchFamily="49" charset="-122"/>
                <a:cs typeface="Consolas" pitchFamily="49" charset="0"/>
              </a:rPr>
              <a:t>用于保存最短路径。</a:t>
            </a:r>
            <a:r>
              <a:rPr lang="en-US" altLang="zh-CN">
                <a:solidFill>
                  <a:srgbClr val="0000FF"/>
                </a:solidFill>
                <a:latin typeface="Consolas" pitchFamily="49" charset="0"/>
                <a:ea typeface="仿宋" pitchFamily="49" charset="-122"/>
                <a:cs typeface="Consolas" pitchFamily="49" charset="0"/>
              </a:rPr>
              <a:t>path[</a:t>
            </a:r>
            <a:r>
              <a:rPr lang="en-US" altLang="zh-CN" i="1">
                <a:solidFill>
                  <a:srgbClr val="0000FF"/>
                </a:solidFill>
                <a:latin typeface="Consolas" pitchFamily="49" charset="0"/>
                <a:ea typeface="仿宋" pitchFamily="49" charset="-122"/>
                <a:cs typeface="Consolas" pitchFamily="49" charset="0"/>
              </a:rPr>
              <a:t>j</a:t>
            </a:r>
            <a:r>
              <a:rPr lang="en-US" altLang="zh-CN">
                <a:solidFill>
                  <a:srgbClr val="0000FF"/>
                </a:solidFill>
                <a:latin typeface="Consolas" pitchFamily="49" charset="0"/>
                <a:ea typeface="仿宋" pitchFamily="49" charset="-122"/>
                <a:cs typeface="Consolas" pitchFamily="49" charset="0"/>
              </a:rPr>
              <a:t>]</a:t>
            </a:r>
            <a:r>
              <a:rPr lang="zh-CN" altLang="en-US">
                <a:solidFill>
                  <a:srgbClr val="0000FF"/>
                </a:solidFill>
                <a:latin typeface="Consolas" pitchFamily="49" charset="0"/>
                <a:ea typeface="仿宋" pitchFamily="49" charset="-122"/>
                <a:cs typeface="Consolas" pitchFamily="49" charset="0"/>
              </a:rPr>
              <a:t>保存当前最短路径中的前一个顶点的编号。</a:t>
            </a:r>
          </a:p>
        </p:txBody>
      </p:sp>
      <p:sp>
        <p:nvSpPr>
          <p:cNvPr id="15364" name="Rectangle 6"/>
          <p:cNvSpPr>
            <a:spLocks noChangeArrowheads="1"/>
          </p:cNvSpPr>
          <p:nvPr/>
        </p:nvSpPr>
        <p:spPr bwMode="auto">
          <a:xfrm>
            <a:off x="0" y="3290888"/>
            <a:ext cx="184731" cy="461665"/>
          </a:xfrm>
          <a:prstGeom prst="rect">
            <a:avLst/>
          </a:prstGeom>
          <a:noFill/>
          <a:ln w="9525">
            <a:noFill/>
            <a:miter lim="800000"/>
            <a:headEnd/>
            <a:tailEnd/>
          </a:ln>
        </p:spPr>
        <p:txBody>
          <a:bodyPr wrap="none" anchor="ctr">
            <a:spAutoFit/>
          </a:bodyPr>
          <a:lstStyle/>
          <a:p>
            <a:endParaRPr lang="zh-CN" altLang="en-US">
              <a:latin typeface="Consolas" pitchFamily="49" charset="0"/>
              <a:cs typeface="Consolas" pitchFamily="49" charset="0"/>
            </a:endParaRPr>
          </a:p>
        </p:txBody>
      </p:sp>
      <p:grpSp>
        <p:nvGrpSpPr>
          <p:cNvPr id="2" name="组合 12"/>
          <p:cNvGrpSpPr/>
          <p:nvPr/>
        </p:nvGrpSpPr>
        <p:grpSpPr>
          <a:xfrm>
            <a:off x="1785918" y="2213760"/>
            <a:ext cx="2967768" cy="429422"/>
            <a:chOff x="2786050" y="2786058"/>
            <a:chExt cx="2967768" cy="429422"/>
          </a:xfrm>
        </p:grpSpPr>
        <p:sp>
          <p:nvSpPr>
            <p:cNvPr id="5" name="椭圆 4"/>
            <p:cNvSpPr/>
            <p:nvPr/>
          </p:nvSpPr>
          <p:spPr>
            <a:xfrm>
              <a:off x="2786050" y="2786058"/>
              <a:ext cx="396000" cy="39600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i="1">
                  <a:solidFill>
                    <a:srgbClr val="0000FF"/>
                  </a:solidFill>
                  <a:latin typeface="Consolas" pitchFamily="49" charset="0"/>
                  <a:cs typeface="Consolas" pitchFamily="49" charset="0"/>
                </a:rPr>
                <a:t>s</a:t>
              </a:r>
              <a:endParaRPr lang="zh-CN" altLang="en-US" sz="2000" i="1">
                <a:solidFill>
                  <a:srgbClr val="0000FF"/>
                </a:solidFill>
                <a:latin typeface="Consolas" pitchFamily="49" charset="0"/>
                <a:cs typeface="Consolas" pitchFamily="49" charset="0"/>
              </a:endParaRPr>
            </a:p>
          </p:txBody>
        </p:sp>
        <p:sp>
          <p:nvSpPr>
            <p:cNvPr id="6" name="椭圆 5"/>
            <p:cNvSpPr/>
            <p:nvPr/>
          </p:nvSpPr>
          <p:spPr>
            <a:xfrm>
              <a:off x="4572000" y="2786058"/>
              <a:ext cx="396000" cy="396000"/>
            </a:xfrm>
            <a:prstGeom prst="ellipse">
              <a:avLst/>
            </a:prstGeom>
            <a:solidFill>
              <a:srgbClr val="FF0000"/>
            </a:solidFill>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i="1">
                  <a:solidFill>
                    <a:schemeClr val="bg1"/>
                  </a:solidFill>
                  <a:latin typeface="Consolas" pitchFamily="49" charset="0"/>
                  <a:cs typeface="Consolas" pitchFamily="49" charset="0"/>
                </a:rPr>
                <a:t>u</a:t>
              </a:r>
              <a:endParaRPr lang="zh-CN" altLang="en-US" sz="2000" i="1">
                <a:solidFill>
                  <a:schemeClr val="bg1"/>
                </a:solidFill>
                <a:latin typeface="Consolas" pitchFamily="49" charset="0"/>
                <a:cs typeface="Consolas" pitchFamily="49" charset="0"/>
              </a:endParaRPr>
            </a:p>
          </p:txBody>
        </p:sp>
        <p:sp>
          <p:nvSpPr>
            <p:cNvPr id="7" name="椭圆 6"/>
            <p:cNvSpPr/>
            <p:nvPr/>
          </p:nvSpPr>
          <p:spPr>
            <a:xfrm>
              <a:off x="5357818" y="2786058"/>
              <a:ext cx="396000" cy="39600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i="1">
                  <a:solidFill>
                    <a:srgbClr val="0000FF"/>
                  </a:solidFill>
                  <a:latin typeface="Consolas" pitchFamily="49" charset="0"/>
                  <a:cs typeface="Consolas" pitchFamily="49" charset="0"/>
                </a:rPr>
                <a:t>j</a:t>
              </a:r>
              <a:endParaRPr lang="zh-CN" altLang="en-US" sz="2000" i="1">
                <a:solidFill>
                  <a:srgbClr val="0000FF"/>
                </a:solidFill>
                <a:latin typeface="Consolas" pitchFamily="49" charset="0"/>
                <a:cs typeface="Consolas" pitchFamily="49" charset="0"/>
              </a:endParaRPr>
            </a:p>
          </p:txBody>
        </p:sp>
        <p:cxnSp>
          <p:nvCxnSpPr>
            <p:cNvPr id="9" name="直接箭头连接符 8"/>
            <p:cNvCxnSpPr/>
            <p:nvPr/>
          </p:nvCxnSpPr>
          <p:spPr>
            <a:xfrm>
              <a:off x="3182050" y="2972769"/>
              <a:ext cx="389818"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0" name="直接箭头连接符 9"/>
            <p:cNvCxnSpPr/>
            <p:nvPr/>
          </p:nvCxnSpPr>
          <p:spPr>
            <a:xfrm>
              <a:off x="4203521" y="2989965"/>
              <a:ext cx="357190"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1" name="直接箭头连接符 10"/>
            <p:cNvCxnSpPr/>
            <p:nvPr/>
          </p:nvCxnSpPr>
          <p:spPr>
            <a:xfrm>
              <a:off x="5000628" y="3002665"/>
              <a:ext cx="357190"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12" name="TextBox 11"/>
            <p:cNvSpPr txBox="1"/>
            <p:nvPr/>
          </p:nvSpPr>
          <p:spPr>
            <a:xfrm>
              <a:off x="3632017" y="2827682"/>
              <a:ext cx="571504" cy="387798"/>
            </a:xfrm>
            <a:prstGeom prst="rect">
              <a:avLst/>
            </a:prstGeom>
            <a:noFill/>
          </p:spPr>
          <p:txBody>
            <a:bodyPr wrap="square" rtlCol="0">
              <a:spAutoFit/>
            </a:bodyPr>
            <a:lstStyle/>
            <a:p>
              <a:r>
                <a:rPr lang="en-US" altLang="zh-CN">
                  <a:latin typeface="+mj-ea"/>
                  <a:ea typeface="+mj-ea"/>
                  <a:cs typeface="Consolas" pitchFamily="49" charset="0"/>
                </a:rPr>
                <a:t>…</a:t>
              </a:r>
              <a:endParaRPr lang="zh-CN" altLang="en-US">
                <a:latin typeface="+mj-ea"/>
                <a:ea typeface="+mj-ea"/>
                <a:cs typeface="Consolas" pitchFamily="49" charset="0"/>
              </a:endParaRPr>
            </a:p>
          </p:txBody>
        </p:sp>
      </p:grpSp>
      <p:grpSp>
        <p:nvGrpSpPr>
          <p:cNvPr id="3" name="组合 16"/>
          <p:cNvGrpSpPr/>
          <p:nvPr/>
        </p:nvGrpSpPr>
        <p:grpSpPr>
          <a:xfrm>
            <a:off x="3929058" y="2786058"/>
            <a:ext cx="1357322" cy="1011480"/>
            <a:chOff x="4929190" y="3358356"/>
            <a:chExt cx="1357322" cy="1011480"/>
          </a:xfrm>
        </p:grpSpPr>
        <p:sp>
          <p:nvSpPr>
            <p:cNvPr id="14" name="TextBox 13"/>
            <p:cNvSpPr txBox="1"/>
            <p:nvPr/>
          </p:nvSpPr>
          <p:spPr>
            <a:xfrm>
              <a:off x="4929190" y="4000504"/>
              <a:ext cx="1357322" cy="369332"/>
            </a:xfrm>
            <a:prstGeom prst="rect">
              <a:avLst/>
            </a:prstGeom>
            <a:noFill/>
          </p:spPr>
          <p:txBody>
            <a:bodyPr wrap="square" rtlCol="0">
              <a:spAutoFit/>
            </a:bodyPr>
            <a:lstStyle/>
            <a:p>
              <a:r>
                <a:rPr lang="en-US" altLang="zh-CN" sz="1800">
                  <a:solidFill>
                    <a:srgbClr val="0000FF"/>
                  </a:solidFill>
                  <a:latin typeface="Consolas" pitchFamily="49" charset="0"/>
                  <a:cs typeface="Consolas" pitchFamily="49" charset="0"/>
                </a:rPr>
                <a:t>path[</a:t>
              </a:r>
              <a:r>
                <a:rPr lang="en-US" altLang="zh-CN" sz="1800" i="1">
                  <a:solidFill>
                    <a:srgbClr val="0000FF"/>
                  </a:solidFill>
                  <a:latin typeface="Consolas" pitchFamily="49" charset="0"/>
                  <a:cs typeface="Consolas" pitchFamily="49" charset="0"/>
                </a:rPr>
                <a:t>j</a:t>
              </a:r>
              <a:r>
                <a:rPr lang="en-US" altLang="zh-CN" sz="1800">
                  <a:solidFill>
                    <a:srgbClr val="0000FF"/>
                  </a:solidFill>
                  <a:latin typeface="Consolas" pitchFamily="49" charset="0"/>
                  <a:cs typeface="Consolas" pitchFamily="49" charset="0"/>
                </a:rPr>
                <a:t>]=</a:t>
              </a:r>
              <a:r>
                <a:rPr lang="en-US" altLang="zh-CN" sz="1800" i="1">
                  <a:solidFill>
                    <a:srgbClr val="0000FF"/>
                  </a:solidFill>
                  <a:latin typeface="Consolas" pitchFamily="49" charset="0"/>
                  <a:cs typeface="Consolas" pitchFamily="49" charset="0"/>
                </a:rPr>
                <a:t>u</a:t>
              </a:r>
              <a:endParaRPr lang="zh-CN" altLang="en-US" sz="1800" i="1">
                <a:solidFill>
                  <a:srgbClr val="0000FF"/>
                </a:solidFill>
                <a:latin typeface="Consolas" pitchFamily="49" charset="0"/>
                <a:cs typeface="Consolas" pitchFamily="49" charset="0"/>
              </a:endParaRPr>
            </a:p>
          </p:txBody>
        </p:sp>
        <p:cxnSp>
          <p:nvCxnSpPr>
            <p:cNvPr id="16" name="直接箭头连接符 15"/>
            <p:cNvCxnSpPr/>
            <p:nvPr/>
          </p:nvCxnSpPr>
          <p:spPr>
            <a:xfrm rot="5400000" flipH="1" flipV="1">
              <a:off x="5271299" y="3679033"/>
              <a:ext cx="642942" cy="1588"/>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grpSp>
      <p:sp>
        <p:nvSpPr>
          <p:cNvPr id="17" name="灯片编号占位符 16"/>
          <p:cNvSpPr>
            <a:spLocks noGrp="1"/>
          </p:cNvSpPr>
          <p:nvPr>
            <p:ph type="sldNum" sz="quarter" idx="12"/>
          </p:nvPr>
        </p:nvSpPr>
        <p:spPr/>
        <p:txBody>
          <a:bodyPr/>
          <a:lstStyle/>
          <a:p>
            <a:fld id="{7AF016A1-9F15-429F-9EFD-84004B73C732}" type="slidenum">
              <a:rPr lang="en-US" altLang="zh-CN" smtClean="0"/>
              <a:pPr/>
              <a:t>40</a:t>
            </a:fld>
            <a:r>
              <a:rPr lang="en-US" altLang="zh-CN"/>
              <a:t>/158</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14282" y="427997"/>
            <a:ext cx="8715436" cy="5668319"/>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2500"/>
              </a:lnSpc>
              <a:spcBef>
                <a:spcPts val="0"/>
              </a:spcBef>
            </a:pPr>
            <a:r>
              <a:rPr lang="en-US" altLang="zh-CN" sz="2000">
                <a:solidFill>
                  <a:srgbClr val="0000FF"/>
                </a:solidFill>
                <a:latin typeface="Consolas" pitchFamily="49" charset="0"/>
                <a:ea typeface="仿宋" pitchFamily="49" charset="-122"/>
              </a:rPr>
              <a:t>void </a:t>
            </a:r>
            <a:r>
              <a:rPr lang="en-US" altLang="zh-CN" sz="2000">
                <a:solidFill>
                  <a:srgbClr val="FF0000"/>
                </a:solidFill>
                <a:latin typeface="Consolas" pitchFamily="49" charset="0"/>
                <a:ea typeface="仿宋" pitchFamily="49" charset="-122"/>
              </a:rPr>
              <a:t>Dijkstra</a:t>
            </a:r>
            <a:r>
              <a:rPr lang="en-US" altLang="zh-CN" sz="2000">
                <a:solidFill>
                  <a:srgbClr val="0000FF"/>
                </a:solidFill>
                <a:latin typeface="Consolas" pitchFamily="49" charset="0"/>
                <a:ea typeface="仿宋" pitchFamily="49" charset="-122"/>
              </a:rPr>
              <a:t>(vector&lt;vector&lt;int&gt;&gt;&amp;A,int s) { </a:t>
            </a:r>
            <a:r>
              <a:rPr lang="en-US" altLang="zh-CN" sz="2000">
                <a:solidFill>
                  <a:srgbClr val="00B050"/>
                </a:solidFill>
                <a:latin typeface="Consolas" pitchFamily="49" charset="0"/>
                <a:ea typeface="仿宋" pitchFamily="49" charset="-122"/>
              </a:rPr>
              <a:t>//Dijkstra</a:t>
            </a:r>
            <a:r>
              <a:rPr lang="zh-CN" altLang="zh-CN" sz="2000">
                <a:solidFill>
                  <a:srgbClr val="00B050"/>
                </a:solidFill>
                <a:latin typeface="Consolas" pitchFamily="49" charset="0"/>
                <a:ea typeface="仿宋" pitchFamily="49" charset="-122"/>
              </a:rPr>
              <a:t>算法</a:t>
            </a:r>
          </a:p>
          <a:p>
            <a:pPr algn="l" defTabSz="360000">
              <a:lnSpc>
                <a:spcPts val="2500"/>
              </a:lnSpc>
              <a:spcBef>
                <a:spcPts val="0"/>
              </a:spcBef>
            </a:pPr>
            <a:r>
              <a:rPr lang="en-US" altLang="zh-CN" sz="2000">
                <a:solidFill>
                  <a:srgbClr val="0000FF"/>
                </a:solidFill>
                <a:latin typeface="Consolas" pitchFamily="49" charset="0"/>
                <a:ea typeface="仿宋" pitchFamily="49" charset="-122"/>
              </a:rPr>
              <a:t>	int n=A.size();</a:t>
            </a:r>
            <a:endParaRPr lang="zh-CN" altLang="zh-CN" sz="2000">
              <a:solidFill>
                <a:srgbClr val="0000FF"/>
              </a:solidFill>
              <a:latin typeface="Consolas" pitchFamily="49" charset="0"/>
              <a:ea typeface="仿宋" pitchFamily="49" charset="-122"/>
            </a:endParaRPr>
          </a:p>
          <a:p>
            <a:pPr algn="l" defTabSz="360000">
              <a:lnSpc>
                <a:spcPts val="2500"/>
              </a:lnSpc>
              <a:spcBef>
                <a:spcPts val="0"/>
              </a:spcBef>
            </a:pPr>
            <a:r>
              <a:rPr lang="en-US" altLang="zh-CN" sz="2000">
                <a:solidFill>
                  <a:srgbClr val="0000FF"/>
                </a:solidFill>
                <a:latin typeface="Consolas" pitchFamily="49" charset="0"/>
                <a:ea typeface="仿宋" pitchFamily="49" charset="-122"/>
              </a:rPr>
              <a:t>	int dist[MAXN];</a:t>
            </a:r>
            <a:endParaRPr lang="zh-CN" altLang="zh-CN" sz="2000">
              <a:solidFill>
                <a:srgbClr val="0000FF"/>
              </a:solidFill>
              <a:latin typeface="Consolas" pitchFamily="49" charset="0"/>
              <a:ea typeface="仿宋" pitchFamily="49" charset="-122"/>
            </a:endParaRPr>
          </a:p>
          <a:p>
            <a:pPr algn="l" defTabSz="360000">
              <a:lnSpc>
                <a:spcPts val="2500"/>
              </a:lnSpc>
              <a:spcBef>
                <a:spcPts val="0"/>
              </a:spcBef>
            </a:pPr>
            <a:r>
              <a:rPr lang="en-US" altLang="zh-CN" sz="2000">
                <a:solidFill>
                  <a:srgbClr val="0000FF"/>
                </a:solidFill>
                <a:latin typeface="Consolas" pitchFamily="49" charset="0"/>
                <a:ea typeface="仿宋" pitchFamily="49" charset="-122"/>
              </a:rPr>
              <a:t>	int path[MAXN];</a:t>
            </a:r>
            <a:endParaRPr lang="zh-CN" altLang="zh-CN" sz="2000">
              <a:solidFill>
                <a:srgbClr val="0000FF"/>
              </a:solidFill>
              <a:latin typeface="Consolas" pitchFamily="49" charset="0"/>
              <a:ea typeface="仿宋" pitchFamily="49" charset="-122"/>
            </a:endParaRPr>
          </a:p>
          <a:p>
            <a:pPr algn="l" defTabSz="360000">
              <a:lnSpc>
                <a:spcPts val="2500"/>
              </a:lnSpc>
              <a:spcBef>
                <a:spcPts val="0"/>
              </a:spcBef>
            </a:pPr>
            <a:r>
              <a:rPr lang="en-US" altLang="zh-CN" sz="2000">
                <a:solidFill>
                  <a:srgbClr val="0000FF"/>
                </a:solidFill>
                <a:latin typeface="Consolas" pitchFamily="49" charset="0"/>
                <a:ea typeface="仿宋" pitchFamily="49" charset="-122"/>
              </a:rPr>
              <a:t>	int S[MAXN];</a:t>
            </a:r>
          </a:p>
          <a:p>
            <a:pPr algn="l" defTabSz="360000">
              <a:lnSpc>
                <a:spcPts val="2500"/>
              </a:lnSpc>
              <a:spcBef>
                <a:spcPts val="0"/>
              </a:spcBef>
            </a:pPr>
            <a:endParaRPr lang="zh-CN" altLang="zh-CN" sz="2000">
              <a:solidFill>
                <a:srgbClr val="0000FF"/>
              </a:solidFill>
              <a:latin typeface="Consolas" pitchFamily="49" charset="0"/>
              <a:ea typeface="仿宋" pitchFamily="49" charset="-122"/>
            </a:endParaRPr>
          </a:p>
          <a:p>
            <a:pPr algn="l" defTabSz="360000">
              <a:lnSpc>
                <a:spcPts val="2500"/>
              </a:lnSpc>
              <a:spcBef>
                <a:spcPts val="0"/>
              </a:spcBef>
            </a:pPr>
            <a:r>
              <a:rPr lang="en-US" altLang="zh-CN" sz="2000">
                <a:solidFill>
                  <a:srgbClr val="0000FF"/>
                </a:solidFill>
                <a:latin typeface="Consolas" pitchFamily="49" charset="0"/>
                <a:ea typeface="仿宋" pitchFamily="49" charset="-122"/>
              </a:rPr>
              <a:t>	for (int i=0;i&lt;n;i++) {</a:t>
            </a:r>
            <a:endParaRPr lang="zh-CN" altLang="zh-CN" sz="2000">
              <a:solidFill>
                <a:srgbClr val="0000FF"/>
              </a:solidFill>
              <a:latin typeface="Consolas" pitchFamily="49" charset="0"/>
              <a:ea typeface="仿宋" pitchFamily="49" charset="-122"/>
            </a:endParaRPr>
          </a:p>
          <a:p>
            <a:pPr algn="l" defTabSz="360000">
              <a:lnSpc>
                <a:spcPts val="2500"/>
              </a:lnSpc>
              <a:spcBef>
                <a:spcPts val="0"/>
              </a:spcBef>
            </a:pPr>
            <a:r>
              <a:rPr lang="en-US" altLang="zh-CN" sz="2000">
                <a:solidFill>
                  <a:srgbClr val="0000FF"/>
                </a:solidFill>
                <a:latin typeface="Consolas" pitchFamily="49" charset="0"/>
                <a:ea typeface="仿宋" pitchFamily="49" charset="-122"/>
              </a:rPr>
              <a:t>		dist[i]=A[s][i];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距离初始化</a:t>
            </a:r>
          </a:p>
          <a:p>
            <a:pPr algn="l" defTabSz="360000">
              <a:lnSpc>
                <a:spcPts val="2500"/>
              </a:lnSpc>
              <a:spcBef>
                <a:spcPts val="0"/>
              </a:spcBef>
            </a:pPr>
            <a:r>
              <a:rPr lang="en-US" altLang="zh-CN" sz="2000">
                <a:solidFill>
                  <a:srgbClr val="0000FF"/>
                </a:solidFill>
                <a:latin typeface="Consolas" pitchFamily="49" charset="0"/>
                <a:ea typeface="仿宋" pitchFamily="49" charset="-122"/>
              </a:rPr>
              <a:t>		S[i]=0;										</a:t>
            </a:r>
            <a:r>
              <a:rPr lang="en-US" altLang="zh-CN" sz="2000">
                <a:solidFill>
                  <a:srgbClr val="00B0F0"/>
                </a:solidFill>
                <a:latin typeface="Consolas" pitchFamily="49" charset="0"/>
                <a:ea typeface="仿宋" pitchFamily="49" charset="-122"/>
              </a:rPr>
              <a:t>//S[]</a:t>
            </a:r>
            <a:r>
              <a:rPr lang="zh-CN" altLang="zh-CN" sz="2000">
                <a:solidFill>
                  <a:srgbClr val="00B0F0"/>
                </a:solidFill>
                <a:latin typeface="Consolas" pitchFamily="49" charset="0"/>
                <a:ea typeface="仿宋" pitchFamily="49" charset="-122"/>
              </a:rPr>
              <a:t>置空</a:t>
            </a:r>
          </a:p>
          <a:p>
            <a:pPr algn="l" defTabSz="360000">
              <a:lnSpc>
                <a:spcPts val="2500"/>
              </a:lnSpc>
              <a:spcBef>
                <a:spcPts val="0"/>
              </a:spcBef>
            </a:pPr>
            <a:r>
              <a:rPr lang="en-US" altLang="zh-CN" sz="2000">
                <a:solidFill>
                  <a:srgbClr val="0000FF"/>
                </a:solidFill>
                <a:latin typeface="Consolas" pitchFamily="49" charset="0"/>
                <a:ea typeface="仿宋" pitchFamily="49" charset="-122"/>
              </a:rPr>
              <a:t>		if (</a:t>
            </a:r>
            <a:r>
              <a:rPr lang="en-US" altLang="zh-CN" sz="2000">
                <a:solidFill>
                  <a:srgbClr val="FF00FF"/>
                </a:solidFill>
                <a:latin typeface="Consolas" pitchFamily="49" charset="0"/>
                <a:ea typeface="仿宋" pitchFamily="49" charset="-122"/>
              </a:rPr>
              <a:t>A[s][i]!=0 &amp;&amp; A[s][i]&lt;INF</a:t>
            </a:r>
            <a:r>
              <a:rPr lang="en-US" altLang="zh-CN" sz="2000">
                <a:solidFill>
                  <a:srgbClr val="0000FF"/>
                </a:solidFill>
                <a:latin typeface="Consolas" pitchFamily="49" charset="0"/>
                <a:ea typeface="仿宋" pitchFamily="49" charset="-122"/>
              </a:rPr>
              <a:t>)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路径初始化</a:t>
            </a:r>
          </a:p>
          <a:p>
            <a:pPr algn="l" defTabSz="360000">
              <a:lnSpc>
                <a:spcPts val="2500"/>
              </a:lnSpc>
              <a:spcBef>
                <a:spcPts val="0"/>
              </a:spcBef>
            </a:pPr>
            <a:r>
              <a:rPr lang="en-US" altLang="zh-CN" sz="2000">
                <a:solidFill>
                  <a:srgbClr val="0000FF"/>
                </a:solidFill>
                <a:latin typeface="Consolas" pitchFamily="49" charset="0"/>
                <a:ea typeface="仿宋" pitchFamily="49" charset="-122"/>
              </a:rPr>
              <a:t>			path[i]=s;								</a:t>
            </a:r>
            <a:r>
              <a:rPr lang="en-US" altLang="zh-CN" sz="2000">
                <a:solidFill>
                  <a:srgbClr val="00B0F0"/>
                </a:solidFill>
                <a:latin typeface="Consolas" pitchFamily="49" charset="0"/>
                <a:ea typeface="仿宋" pitchFamily="49" charset="-122"/>
              </a:rPr>
              <a:t>//s</a:t>
            </a:r>
            <a:r>
              <a:rPr lang="zh-CN" altLang="zh-CN" sz="2000">
                <a:solidFill>
                  <a:srgbClr val="00B0F0"/>
                </a:solidFill>
                <a:latin typeface="Consolas" pitchFamily="49" charset="0"/>
                <a:ea typeface="仿宋" pitchFamily="49" charset="-122"/>
              </a:rPr>
              <a:t>到</a:t>
            </a:r>
            <a:r>
              <a:rPr lang="en-US" altLang="zh-CN" sz="2000">
                <a:solidFill>
                  <a:srgbClr val="00B0F0"/>
                </a:solidFill>
                <a:latin typeface="Consolas" pitchFamily="49" charset="0"/>
                <a:ea typeface="仿宋" pitchFamily="49" charset="-122"/>
              </a:rPr>
              <a:t>i</a:t>
            </a:r>
            <a:r>
              <a:rPr lang="zh-CN" altLang="zh-CN" sz="2000">
                <a:solidFill>
                  <a:srgbClr val="00B0F0"/>
                </a:solidFill>
                <a:latin typeface="Consolas" pitchFamily="49" charset="0"/>
                <a:ea typeface="仿宋" pitchFamily="49" charset="-122"/>
              </a:rPr>
              <a:t>有边置</a:t>
            </a:r>
            <a:r>
              <a:rPr lang="en-US" altLang="zh-CN" sz="2000">
                <a:solidFill>
                  <a:srgbClr val="00B0F0"/>
                </a:solidFill>
                <a:latin typeface="Consolas" pitchFamily="49" charset="0"/>
                <a:ea typeface="仿宋" pitchFamily="49" charset="-122"/>
              </a:rPr>
              <a:t>path[i]</a:t>
            </a:r>
            <a:r>
              <a:rPr lang="zh-CN" altLang="zh-CN" sz="2000">
                <a:solidFill>
                  <a:srgbClr val="00B0F0"/>
                </a:solidFill>
                <a:latin typeface="Consolas" pitchFamily="49" charset="0"/>
                <a:ea typeface="仿宋" pitchFamily="49" charset="-122"/>
              </a:rPr>
              <a:t>为</a:t>
            </a:r>
            <a:r>
              <a:rPr lang="en-US" altLang="zh-CN" sz="2000">
                <a:solidFill>
                  <a:srgbClr val="00B0F0"/>
                </a:solidFill>
                <a:latin typeface="Consolas" pitchFamily="49" charset="0"/>
                <a:ea typeface="仿宋" pitchFamily="49" charset="-122"/>
              </a:rPr>
              <a:t>s</a:t>
            </a:r>
            <a:endParaRPr lang="zh-CN" altLang="zh-CN" sz="2000">
              <a:solidFill>
                <a:srgbClr val="00B0F0"/>
              </a:solidFill>
              <a:latin typeface="Consolas" pitchFamily="49" charset="0"/>
              <a:ea typeface="仿宋" pitchFamily="49" charset="-122"/>
            </a:endParaRPr>
          </a:p>
          <a:p>
            <a:pPr algn="l" defTabSz="360000">
              <a:lnSpc>
                <a:spcPts val="2500"/>
              </a:lnSpc>
              <a:spcBef>
                <a:spcPts val="0"/>
              </a:spcBef>
            </a:pPr>
            <a:r>
              <a:rPr lang="en-US" altLang="zh-CN" sz="2000">
                <a:solidFill>
                  <a:srgbClr val="0000FF"/>
                </a:solidFill>
                <a:latin typeface="Consolas" pitchFamily="49" charset="0"/>
                <a:ea typeface="仿宋" pitchFamily="49" charset="-122"/>
              </a:rPr>
              <a:t>		else</a:t>
            </a:r>
            <a:endParaRPr lang="zh-CN" altLang="zh-CN" sz="2000">
              <a:solidFill>
                <a:srgbClr val="0000FF"/>
              </a:solidFill>
              <a:latin typeface="Consolas" pitchFamily="49" charset="0"/>
              <a:ea typeface="仿宋" pitchFamily="49" charset="-122"/>
            </a:endParaRPr>
          </a:p>
          <a:p>
            <a:pPr algn="l" defTabSz="360000">
              <a:lnSpc>
                <a:spcPts val="2500"/>
              </a:lnSpc>
              <a:spcBef>
                <a:spcPts val="0"/>
              </a:spcBef>
            </a:pPr>
            <a:r>
              <a:rPr lang="en-US" altLang="zh-CN" sz="2000">
                <a:solidFill>
                  <a:srgbClr val="0000FF"/>
                </a:solidFill>
                <a:latin typeface="Consolas" pitchFamily="49" charset="0"/>
                <a:ea typeface="仿宋" pitchFamily="49" charset="-122"/>
              </a:rPr>
              <a:t>			path[i]=-1;							</a:t>
            </a:r>
            <a:r>
              <a:rPr lang="en-US" altLang="zh-CN" sz="2000">
                <a:solidFill>
                  <a:srgbClr val="00B0F0"/>
                </a:solidFill>
                <a:latin typeface="Consolas" pitchFamily="49" charset="0"/>
                <a:ea typeface="仿宋" pitchFamily="49" charset="-122"/>
              </a:rPr>
              <a:t>//s</a:t>
            </a:r>
            <a:r>
              <a:rPr lang="zh-CN" altLang="zh-CN" sz="2000">
                <a:solidFill>
                  <a:srgbClr val="00B0F0"/>
                </a:solidFill>
                <a:latin typeface="Consolas" pitchFamily="49" charset="0"/>
                <a:ea typeface="仿宋" pitchFamily="49" charset="-122"/>
              </a:rPr>
              <a:t>到</a:t>
            </a:r>
            <a:r>
              <a:rPr lang="en-US" altLang="zh-CN" sz="2000">
                <a:solidFill>
                  <a:srgbClr val="00B0F0"/>
                </a:solidFill>
                <a:latin typeface="Consolas" pitchFamily="49" charset="0"/>
                <a:ea typeface="仿宋" pitchFamily="49" charset="-122"/>
              </a:rPr>
              <a:t>i</a:t>
            </a:r>
            <a:r>
              <a:rPr lang="zh-CN" altLang="zh-CN" sz="2000">
                <a:solidFill>
                  <a:srgbClr val="00B0F0"/>
                </a:solidFill>
                <a:latin typeface="Consolas" pitchFamily="49" charset="0"/>
                <a:ea typeface="仿宋" pitchFamily="49" charset="-122"/>
              </a:rPr>
              <a:t>没边置</a:t>
            </a:r>
            <a:r>
              <a:rPr lang="en-US" altLang="zh-CN" sz="2000">
                <a:solidFill>
                  <a:srgbClr val="00B0F0"/>
                </a:solidFill>
                <a:latin typeface="Consolas" pitchFamily="49" charset="0"/>
                <a:ea typeface="仿宋" pitchFamily="49" charset="-122"/>
              </a:rPr>
              <a:t>path[i]</a:t>
            </a:r>
            <a:r>
              <a:rPr lang="zh-CN" altLang="zh-CN" sz="2000">
                <a:solidFill>
                  <a:srgbClr val="00B0F0"/>
                </a:solidFill>
                <a:latin typeface="Consolas" pitchFamily="49" charset="0"/>
                <a:ea typeface="仿宋" pitchFamily="49" charset="-122"/>
              </a:rPr>
              <a:t>为</a:t>
            </a:r>
            <a:r>
              <a:rPr lang="en-US" altLang="zh-CN" sz="2000">
                <a:solidFill>
                  <a:srgbClr val="00B0F0"/>
                </a:solidFill>
                <a:latin typeface="Consolas" pitchFamily="49" charset="0"/>
                <a:ea typeface="仿宋" pitchFamily="49" charset="-122"/>
              </a:rPr>
              <a:t>-1</a:t>
            </a:r>
            <a:endParaRPr lang="zh-CN" altLang="zh-CN" sz="2000">
              <a:solidFill>
                <a:srgbClr val="00B0F0"/>
              </a:solidFill>
              <a:latin typeface="Consolas" pitchFamily="49" charset="0"/>
              <a:ea typeface="仿宋" pitchFamily="49" charset="-122"/>
            </a:endParaRPr>
          </a:p>
          <a:p>
            <a:pPr algn="l" defTabSz="360000">
              <a:lnSpc>
                <a:spcPts val="2500"/>
              </a:lnSpc>
              <a:spcBef>
                <a:spcPts val="0"/>
              </a:spcBef>
            </a:pPr>
            <a:r>
              <a:rPr lang="en-US" altLang="zh-CN" sz="2000">
                <a:solidFill>
                  <a:srgbClr val="0000FF"/>
                </a:solidFill>
                <a:latin typeface="Consolas" pitchFamily="49" charset="0"/>
                <a:ea typeface="仿宋" pitchFamily="49" charset="-122"/>
              </a:rPr>
              <a:t>	}</a:t>
            </a:r>
          </a:p>
          <a:p>
            <a:pPr algn="l" defTabSz="360000">
              <a:lnSpc>
                <a:spcPts val="2500"/>
              </a:lnSpc>
              <a:spcBef>
                <a:spcPts val="0"/>
              </a:spcBef>
            </a:pPr>
            <a:endParaRPr lang="zh-CN" altLang="zh-CN" sz="2000">
              <a:solidFill>
                <a:srgbClr val="0000FF"/>
              </a:solidFill>
              <a:latin typeface="Consolas" pitchFamily="49" charset="0"/>
              <a:ea typeface="仿宋" pitchFamily="49" charset="-122"/>
            </a:endParaRPr>
          </a:p>
          <a:p>
            <a:pPr algn="l" defTabSz="360000">
              <a:lnSpc>
                <a:spcPts val="2500"/>
              </a:lnSpc>
              <a:spcBef>
                <a:spcPts val="0"/>
              </a:spcBef>
            </a:pPr>
            <a:r>
              <a:rPr lang="en-US" altLang="zh-CN" sz="2000">
                <a:solidFill>
                  <a:srgbClr val="0000FF"/>
                </a:solidFill>
                <a:latin typeface="Consolas" pitchFamily="49" charset="0"/>
                <a:ea typeface="仿宋" pitchFamily="49" charset="-122"/>
              </a:rPr>
              <a:t>	S[s]=1;										</a:t>
            </a:r>
            <a:r>
              <a:rPr lang="en-US" altLang="zh-CN" sz="2000">
                <a:solidFill>
                  <a:srgbClr val="00B0F0"/>
                </a:solidFill>
                <a:latin typeface="Consolas" pitchFamily="49" charset="0"/>
                <a:ea typeface="仿宋" pitchFamily="49" charset="-122"/>
              </a:rPr>
              <a:t>	//</a:t>
            </a:r>
            <a:r>
              <a:rPr lang="zh-CN" altLang="zh-CN" sz="2000">
                <a:solidFill>
                  <a:srgbClr val="00B0F0"/>
                </a:solidFill>
                <a:latin typeface="Consolas" pitchFamily="49" charset="0"/>
                <a:ea typeface="仿宋" pitchFamily="49" charset="-122"/>
              </a:rPr>
              <a:t>源点编号</a:t>
            </a:r>
            <a:r>
              <a:rPr lang="en-US" altLang="zh-CN" sz="2000">
                <a:solidFill>
                  <a:srgbClr val="00B0F0"/>
                </a:solidFill>
                <a:latin typeface="Consolas" pitchFamily="49" charset="0"/>
                <a:ea typeface="仿宋" pitchFamily="49" charset="-122"/>
              </a:rPr>
              <a:t>s</a:t>
            </a:r>
            <a:r>
              <a:rPr lang="zh-CN" altLang="zh-CN" sz="2000">
                <a:solidFill>
                  <a:srgbClr val="00B0F0"/>
                </a:solidFill>
                <a:latin typeface="Consolas" pitchFamily="49" charset="0"/>
                <a:ea typeface="仿宋" pitchFamily="49" charset="-122"/>
              </a:rPr>
              <a:t>放入</a:t>
            </a:r>
            <a:r>
              <a:rPr lang="en-US" altLang="zh-CN" sz="2000">
                <a:solidFill>
                  <a:srgbClr val="00B0F0"/>
                </a:solidFill>
                <a:latin typeface="Consolas" pitchFamily="49" charset="0"/>
                <a:ea typeface="仿宋" pitchFamily="49" charset="-122"/>
              </a:rPr>
              <a:t>S</a:t>
            </a:r>
            <a:r>
              <a:rPr lang="zh-CN" altLang="zh-CN" sz="2000">
                <a:solidFill>
                  <a:srgbClr val="00B0F0"/>
                </a:solidFill>
                <a:latin typeface="Consolas" pitchFamily="49" charset="0"/>
                <a:ea typeface="仿宋" pitchFamily="49" charset="-122"/>
              </a:rPr>
              <a:t>中</a:t>
            </a:r>
          </a:p>
          <a:p>
            <a:pPr algn="l" defTabSz="360000">
              <a:lnSpc>
                <a:spcPts val="2500"/>
              </a:lnSpc>
              <a:spcBef>
                <a:spcPts val="0"/>
              </a:spcBef>
            </a:pPr>
            <a:r>
              <a:rPr lang="en-US" altLang="zh-CN" sz="2000">
                <a:solidFill>
                  <a:srgbClr val="0000FF"/>
                </a:solidFill>
                <a:latin typeface="Consolas" pitchFamily="49" charset="0"/>
                <a:ea typeface="仿宋" pitchFamily="49" charset="-122"/>
              </a:rPr>
              <a:t>	path[s]=-1;</a:t>
            </a:r>
            <a:endParaRPr lang="zh-CN" altLang="zh-CN" sz="2000">
              <a:solidFill>
                <a:srgbClr val="0000FF"/>
              </a:solidFill>
              <a:latin typeface="Consolas" pitchFamily="49" charset="0"/>
              <a:ea typeface="仿宋" pitchFamily="49" charset="-122"/>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41</a:t>
            </a:fld>
            <a:r>
              <a:rPr lang="en-US" altLang="zh-CN"/>
              <a:t>/158</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9" end="9"/>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10" end="1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11" end="1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2" end="1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15" end="1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285728"/>
            <a:ext cx="8572560" cy="2680322"/>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ct val="100000"/>
              </a:lnSpc>
              <a:spcBef>
                <a:spcPts val="0"/>
              </a:spcBef>
            </a:pPr>
            <a:r>
              <a:rPr lang="en-US" altLang="zh-CN" sz="2000">
                <a:solidFill>
                  <a:srgbClr val="0000FF"/>
                </a:solidFill>
                <a:latin typeface="Consolas" pitchFamily="49" charset="0"/>
                <a:ea typeface="仿宋" pitchFamily="49" charset="-122"/>
              </a:rPr>
              <a:t>	for (int i=1;i&lt;n;i++)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循环</a:t>
            </a:r>
            <a:r>
              <a:rPr lang="en-US" altLang="zh-CN" sz="2000">
                <a:solidFill>
                  <a:srgbClr val="00B0F0"/>
                </a:solidFill>
                <a:latin typeface="Consolas" pitchFamily="49" charset="0"/>
                <a:ea typeface="仿宋" pitchFamily="49" charset="-122"/>
              </a:rPr>
              <a:t>n-1</a:t>
            </a:r>
            <a:r>
              <a:rPr lang="zh-CN" altLang="zh-CN" sz="2000">
                <a:solidFill>
                  <a:srgbClr val="00B0F0"/>
                </a:solidFill>
                <a:latin typeface="Consolas" pitchFamily="49" charset="0"/>
                <a:ea typeface="仿宋" pitchFamily="49" charset="-122"/>
              </a:rPr>
              <a:t>次向</a:t>
            </a:r>
            <a:r>
              <a:rPr lang="en-US" altLang="zh-CN" sz="2000">
                <a:solidFill>
                  <a:srgbClr val="00B0F0"/>
                </a:solidFill>
                <a:latin typeface="Consolas" pitchFamily="49" charset="0"/>
                <a:ea typeface="仿宋" pitchFamily="49" charset="-122"/>
              </a:rPr>
              <a:t>S</a:t>
            </a:r>
            <a:r>
              <a:rPr lang="zh-CN" altLang="zh-CN" sz="2000">
                <a:solidFill>
                  <a:srgbClr val="00B0F0"/>
                </a:solidFill>
                <a:latin typeface="Consolas" pitchFamily="49" charset="0"/>
                <a:ea typeface="仿宋" pitchFamily="49" charset="-122"/>
              </a:rPr>
              <a:t>中添加</a:t>
            </a:r>
            <a:r>
              <a:rPr lang="en-US" altLang="zh-CN" sz="2000">
                <a:solidFill>
                  <a:srgbClr val="00B0F0"/>
                </a:solidFill>
                <a:latin typeface="Consolas" pitchFamily="49" charset="0"/>
                <a:ea typeface="仿宋" pitchFamily="49" charset="-122"/>
              </a:rPr>
              <a:t>n-1</a:t>
            </a:r>
            <a:r>
              <a:rPr lang="zh-CN" altLang="zh-CN" sz="2000">
                <a:solidFill>
                  <a:srgbClr val="00B0F0"/>
                </a:solidFill>
                <a:latin typeface="Consolas" pitchFamily="49" charset="0"/>
                <a:ea typeface="仿宋" pitchFamily="49" charset="-122"/>
              </a:rPr>
              <a:t>个顶点</a:t>
            </a:r>
          </a:p>
          <a:p>
            <a:pPr algn="l" defTabSz="360000">
              <a:lnSpc>
                <a:spcPct val="100000"/>
              </a:lnSpc>
              <a:spcBef>
                <a:spcPts val="0"/>
              </a:spcBef>
            </a:pPr>
            <a:r>
              <a:rPr lang="en-US" altLang="zh-CN" sz="2000">
                <a:solidFill>
                  <a:srgbClr val="0000FF"/>
                </a:solidFill>
                <a:latin typeface="Consolas" pitchFamily="49" charset="0"/>
                <a:ea typeface="仿宋" pitchFamily="49" charset="-122"/>
              </a:rPr>
              <a:t>		int mindis=INF,u=-1;			</a:t>
            </a:r>
            <a:r>
              <a:rPr lang="en-US" altLang="zh-CN" sz="2000">
                <a:solidFill>
                  <a:srgbClr val="00B0F0"/>
                </a:solidFill>
                <a:latin typeface="Consolas" pitchFamily="49" charset="0"/>
                <a:ea typeface="仿宋" pitchFamily="49" charset="-122"/>
              </a:rPr>
              <a:t>//mindis</a:t>
            </a:r>
            <a:r>
              <a:rPr lang="zh-CN" altLang="zh-CN" sz="2000">
                <a:solidFill>
                  <a:srgbClr val="00B0F0"/>
                </a:solidFill>
                <a:latin typeface="Consolas" pitchFamily="49" charset="0"/>
                <a:ea typeface="仿宋" pitchFamily="49" charset="-122"/>
              </a:rPr>
              <a:t>求最小路径长度</a:t>
            </a:r>
          </a:p>
          <a:p>
            <a:pPr algn="l" defTabSz="360000">
              <a:lnSpc>
                <a:spcPct val="100000"/>
              </a:lnSpc>
              <a:spcBef>
                <a:spcPts val="0"/>
              </a:spcBef>
            </a:pPr>
            <a:r>
              <a:rPr lang="en-US" altLang="zh-CN" sz="2000">
                <a:solidFill>
                  <a:srgbClr val="0000FF"/>
                </a:solidFill>
                <a:latin typeface="Consolas" pitchFamily="49" charset="0"/>
                <a:ea typeface="仿宋" pitchFamily="49" charset="-122"/>
              </a:rPr>
              <a:t>		for (int j=0;j&lt;n;j++)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选取不在</a:t>
            </a:r>
            <a:r>
              <a:rPr lang="en-US" altLang="zh-CN" sz="2000">
                <a:solidFill>
                  <a:srgbClr val="00B0F0"/>
                </a:solidFill>
                <a:latin typeface="Consolas" pitchFamily="49" charset="0"/>
                <a:ea typeface="仿宋" pitchFamily="49" charset="-122"/>
              </a:rPr>
              <a:t>S</a:t>
            </a:r>
            <a:r>
              <a:rPr lang="zh-CN" altLang="zh-CN" sz="2000">
                <a:solidFill>
                  <a:srgbClr val="00B0F0"/>
                </a:solidFill>
                <a:latin typeface="Consolas" pitchFamily="49" charset="0"/>
                <a:ea typeface="仿宋" pitchFamily="49" charset="-122"/>
              </a:rPr>
              <a:t>中</a:t>
            </a:r>
            <a:r>
              <a:rPr lang="zh-CN" altLang="en-US" sz="2000">
                <a:solidFill>
                  <a:srgbClr val="00B0F0"/>
                </a:solidFill>
                <a:latin typeface="Consolas" pitchFamily="49" charset="0"/>
                <a:ea typeface="仿宋" pitchFamily="49" charset="-122"/>
              </a:rPr>
              <a:t>的</a:t>
            </a:r>
            <a:r>
              <a:rPr lang="zh-CN" altLang="zh-CN" sz="2000">
                <a:solidFill>
                  <a:srgbClr val="00B0F0"/>
                </a:solidFill>
                <a:latin typeface="Consolas" pitchFamily="49" charset="0"/>
                <a:ea typeface="仿宋" pitchFamily="49" charset="-122"/>
              </a:rPr>
              <a:t>最小距离顶点</a:t>
            </a:r>
            <a:r>
              <a:rPr lang="en-US" altLang="zh-CN" sz="2000">
                <a:solidFill>
                  <a:srgbClr val="00B0F0"/>
                </a:solidFill>
                <a:latin typeface="Consolas" pitchFamily="49" charset="0"/>
                <a:ea typeface="仿宋" pitchFamily="49" charset="-122"/>
              </a:rPr>
              <a:t>u</a:t>
            </a:r>
            <a:endParaRPr lang="zh-CN" altLang="zh-CN" sz="2000">
              <a:solidFill>
                <a:srgbClr val="00B0F0"/>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if (</a:t>
            </a:r>
            <a:r>
              <a:rPr lang="en-US" altLang="zh-CN" sz="2000">
                <a:solidFill>
                  <a:srgbClr val="FF00FF"/>
                </a:solidFill>
                <a:latin typeface="Consolas" pitchFamily="49" charset="0"/>
                <a:ea typeface="仿宋" pitchFamily="49" charset="-122"/>
              </a:rPr>
              <a:t>S[j]==0 &amp;&amp; dist[j]&lt;mindis</a:t>
            </a: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u=j;</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mindis=dist[j];</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a:t>
            </a:r>
          </a:p>
        </p:txBody>
      </p:sp>
      <p:grpSp>
        <p:nvGrpSpPr>
          <p:cNvPr id="11" name="组合 10"/>
          <p:cNvGrpSpPr/>
          <p:nvPr/>
        </p:nvGrpSpPr>
        <p:grpSpPr>
          <a:xfrm>
            <a:off x="1142976" y="3357562"/>
            <a:ext cx="5500726" cy="1714512"/>
            <a:chOff x="1142976" y="3357562"/>
            <a:chExt cx="5500726" cy="1714512"/>
          </a:xfrm>
        </p:grpSpPr>
        <p:sp>
          <p:nvSpPr>
            <p:cNvPr id="4" name="椭圆 3"/>
            <p:cNvSpPr/>
            <p:nvPr/>
          </p:nvSpPr>
          <p:spPr>
            <a:xfrm>
              <a:off x="1142976" y="4214818"/>
              <a:ext cx="396000" cy="39600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sz="2000" i="1">
                  <a:solidFill>
                    <a:srgbClr val="0000FF"/>
                  </a:solidFill>
                  <a:latin typeface="Consolas" pitchFamily="49" charset="0"/>
                  <a:cs typeface="Consolas" pitchFamily="49" charset="0"/>
                </a:rPr>
                <a:t>s</a:t>
              </a:r>
              <a:endParaRPr lang="zh-CN" altLang="en-US" sz="2000" i="1">
                <a:solidFill>
                  <a:srgbClr val="0000FF"/>
                </a:solidFill>
                <a:latin typeface="Consolas" pitchFamily="49" charset="0"/>
                <a:cs typeface="Consolas" pitchFamily="49" charset="0"/>
              </a:endParaRPr>
            </a:p>
          </p:txBody>
        </p:sp>
        <p:sp>
          <p:nvSpPr>
            <p:cNvPr id="5" name="椭圆 4"/>
            <p:cNvSpPr/>
            <p:nvPr/>
          </p:nvSpPr>
          <p:spPr>
            <a:xfrm>
              <a:off x="2786050" y="4214818"/>
              <a:ext cx="396000" cy="39600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i="1">
                  <a:solidFill>
                    <a:srgbClr val="0000FF"/>
                  </a:solidFill>
                  <a:latin typeface="Consolas" pitchFamily="49" charset="0"/>
                  <a:cs typeface="Consolas" pitchFamily="49" charset="0"/>
                </a:rPr>
                <a:t>j</a:t>
              </a:r>
              <a:endParaRPr lang="zh-CN" altLang="en-US" sz="2000" i="1">
                <a:solidFill>
                  <a:srgbClr val="0000FF"/>
                </a:solidFill>
                <a:latin typeface="Consolas" pitchFamily="49" charset="0"/>
                <a:cs typeface="Consolas" pitchFamily="49" charset="0"/>
              </a:endParaRPr>
            </a:p>
          </p:txBody>
        </p:sp>
        <p:cxnSp>
          <p:nvCxnSpPr>
            <p:cNvPr id="7" name="直接箭头连接符 6"/>
            <p:cNvCxnSpPr>
              <a:stCxn id="4" idx="6"/>
              <a:endCxn id="5" idx="2"/>
            </p:cNvCxnSpPr>
            <p:nvPr/>
          </p:nvCxnSpPr>
          <p:spPr>
            <a:xfrm>
              <a:off x="1538976" y="4412818"/>
              <a:ext cx="1247074" cy="1588"/>
            </a:xfrm>
            <a:prstGeom prst="straightConnector1">
              <a:avLst/>
            </a:prstGeom>
            <a:ln w="19050">
              <a:prstDash val="dash"/>
              <a:tailEnd type="arrow"/>
            </a:ln>
          </p:spPr>
          <p:style>
            <a:lnRef idx="2">
              <a:schemeClr val="dk1"/>
            </a:lnRef>
            <a:fillRef idx="0">
              <a:schemeClr val="dk1"/>
            </a:fillRef>
            <a:effectRef idx="1">
              <a:schemeClr val="dk1"/>
            </a:effectRef>
            <a:fontRef idx="minor">
              <a:schemeClr val="tx1"/>
            </a:fontRef>
          </p:style>
        </p:cxnSp>
        <p:sp>
          <p:nvSpPr>
            <p:cNvPr id="8" name="TextBox 7"/>
            <p:cNvSpPr txBox="1"/>
            <p:nvPr/>
          </p:nvSpPr>
          <p:spPr>
            <a:xfrm>
              <a:off x="3643306" y="4143380"/>
              <a:ext cx="3000396" cy="400110"/>
            </a:xfrm>
            <a:prstGeom prst="rect">
              <a:avLst/>
            </a:prstGeom>
            <a:noFill/>
          </p:spPr>
          <p:txBody>
            <a:bodyPr wrap="square" rtlCol="0">
              <a:spAutoFit/>
            </a:bodyPr>
            <a:lstStyle/>
            <a:p>
              <a:pPr algn="l">
                <a:lnSpc>
                  <a:spcPct val="100000"/>
                </a:lnSpc>
                <a:spcBef>
                  <a:spcPts val="0"/>
                </a:spcBef>
              </a:pPr>
              <a:r>
                <a:rPr lang="en-US" altLang="zh-CN" sz="2000">
                  <a:solidFill>
                    <a:srgbClr val="0000FF"/>
                  </a:solidFill>
                  <a:latin typeface="Consolas" pitchFamily="49" charset="0"/>
                  <a:ea typeface="楷体" pitchFamily="49" charset="-122"/>
                  <a:cs typeface="Consolas" pitchFamily="49" charset="0"/>
                </a:rPr>
                <a:t>u={j|min(dist[j])}</a:t>
              </a:r>
              <a:endParaRPr lang="zh-CN" altLang="en-US" sz="2000">
                <a:solidFill>
                  <a:srgbClr val="0000FF"/>
                </a:solidFill>
                <a:latin typeface="Consolas" pitchFamily="49" charset="0"/>
                <a:ea typeface="楷体" pitchFamily="49" charset="-122"/>
                <a:cs typeface="Consolas" pitchFamily="49" charset="0"/>
              </a:endParaRPr>
            </a:p>
          </p:txBody>
        </p:sp>
        <p:sp>
          <p:nvSpPr>
            <p:cNvPr id="9" name="椭圆 8"/>
            <p:cNvSpPr/>
            <p:nvPr/>
          </p:nvSpPr>
          <p:spPr>
            <a:xfrm>
              <a:off x="2413867" y="3857628"/>
              <a:ext cx="1071570" cy="1214446"/>
            </a:xfrm>
            <a:prstGeom prst="ellipse">
              <a:avLst/>
            </a:prstGeom>
            <a:ln w="19050">
              <a:solidFill>
                <a:srgbClr val="FF00FF"/>
              </a:solidFill>
              <a:tailEnd type="none"/>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10" name="TextBox 9"/>
            <p:cNvSpPr txBox="1"/>
            <p:nvPr/>
          </p:nvSpPr>
          <p:spPr>
            <a:xfrm>
              <a:off x="2643174" y="3357562"/>
              <a:ext cx="571504" cy="400110"/>
            </a:xfrm>
            <a:prstGeom prst="rect">
              <a:avLst/>
            </a:prstGeom>
            <a:noFill/>
          </p:spPr>
          <p:txBody>
            <a:bodyPr wrap="square" rtlCol="0">
              <a:spAutoFit/>
            </a:bodyPr>
            <a:lstStyle/>
            <a:p>
              <a:pPr>
                <a:lnSpc>
                  <a:spcPct val="100000"/>
                </a:lnSpc>
                <a:spcBef>
                  <a:spcPts val="0"/>
                </a:spcBef>
              </a:pPr>
              <a:r>
                <a:rPr lang="en-US" altLang="zh-CN" sz="2000">
                  <a:solidFill>
                    <a:srgbClr val="0000FF"/>
                  </a:solidFill>
                  <a:latin typeface="Consolas" pitchFamily="49" charset="0"/>
                  <a:ea typeface="楷体" pitchFamily="49" charset="-122"/>
                  <a:cs typeface="Consolas" pitchFamily="49" charset="0"/>
                </a:rPr>
                <a:t>U</a:t>
              </a:r>
              <a:endParaRPr lang="zh-CN" altLang="en-US" sz="2000">
                <a:solidFill>
                  <a:srgbClr val="0000FF"/>
                </a:solidFill>
                <a:latin typeface="Consolas" pitchFamily="49" charset="0"/>
                <a:ea typeface="楷体" pitchFamily="49" charset="-122"/>
                <a:cs typeface="Consolas" pitchFamily="49" charset="0"/>
              </a:endParaRPr>
            </a:p>
          </p:txBody>
        </p:sp>
      </p:grpSp>
      <p:sp>
        <p:nvSpPr>
          <p:cNvPr id="13" name="灯片编号占位符 12"/>
          <p:cNvSpPr>
            <a:spLocks noGrp="1"/>
          </p:cNvSpPr>
          <p:nvPr>
            <p:ph type="sldNum" sz="quarter" idx="12"/>
          </p:nvPr>
        </p:nvSpPr>
        <p:spPr/>
        <p:txBody>
          <a:bodyPr/>
          <a:lstStyle/>
          <a:p>
            <a:fld id="{7AF016A1-9F15-429F-9EFD-84004B73C732}" type="slidenum">
              <a:rPr lang="en-US" altLang="zh-CN" smtClean="0"/>
              <a:pPr/>
              <a:t>42</a:t>
            </a:fld>
            <a:r>
              <a:rPr lang="en-US" altLang="zh-CN"/>
              <a:t>/158</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285728"/>
            <a:ext cx="8572560" cy="3603652"/>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ct val="100000"/>
              </a:lnSpc>
              <a:spcBef>
                <a:spcPts val="0"/>
              </a:spcBef>
            </a:pPr>
            <a:r>
              <a:rPr lang="en-US" altLang="zh-CN" sz="2000">
                <a:solidFill>
                  <a:srgbClr val="0000FF"/>
                </a:solidFill>
                <a:latin typeface="Consolas" pitchFamily="49" charset="0"/>
                <a:ea typeface="仿宋" pitchFamily="49" charset="-122"/>
              </a:rPr>
              <a:t>		S[u]=1;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顶点</a:t>
            </a:r>
            <a:r>
              <a:rPr lang="en-US" altLang="zh-CN" sz="2000">
                <a:solidFill>
                  <a:srgbClr val="00B0F0"/>
                </a:solidFill>
                <a:latin typeface="Consolas" pitchFamily="49" charset="0"/>
                <a:ea typeface="仿宋" pitchFamily="49" charset="-122"/>
              </a:rPr>
              <a:t>u</a:t>
            </a:r>
            <a:r>
              <a:rPr lang="zh-CN" altLang="zh-CN" sz="2000">
                <a:solidFill>
                  <a:srgbClr val="00B0F0"/>
                </a:solidFill>
                <a:latin typeface="Consolas" pitchFamily="49" charset="0"/>
                <a:ea typeface="仿宋" pitchFamily="49" charset="-122"/>
              </a:rPr>
              <a:t>加入</a:t>
            </a:r>
            <a:r>
              <a:rPr lang="en-US" altLang="zh-CN" sz="2000">
                <a:solidFill>
                  <a:srgbClr val="00B0F0"/>
                </a:solidFill>
                <a:latin typeface="Consolas" pitchFamily="49" charset="0"/>
                <a:ea typeface="仿宋" pitchFamily="49" charset="-122"/>
              </a:rPr>
              <a:t>S</a:t>
            </a:r>
            <a:r>
              <a:rPr lang="zh-CN" altLang="zh-CN" sz="2000">
                <a:solidFill>
                  <a:srgbClr val="00B0F0"/>
                </a:solidFill>
                <a:latin typeface="Consolas" pitchFamily="49" charset="0"/>
                <a:ea typeface="仿宋" pitchFamily="49" charset="-122"/>
              </a:rPr>
              <a:t>中</a:t>
            </a:r>
          </a:p>
          <a:p>
            <a:pPr algn="l" defTabSz="360000">
              <a:lnSpc>
                <a:spcPct val="100000"/>
              </a:lnSpc>
              <a:spcBef>
                <a:spcPts val="0"/>
              </a:spcBef>
            </a:pPr>
            <a:r>
              <a:rPr lang="en-US" altLang="zh-CN" sz="2000">
                <a:solidFill>
                  <a:srgbClr val="0000FF"/>
                </a:solidFill>
                <a:latin typeface="Consolas" pitchFamily="49" charset="0"/>
                <a:ea typeface="仿宋" pitchFamily="49" charset="-122"/>
              </a:rPr>
              <a:t>		for (int j=0;j&lt;n;j++)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修改不在</a:t>
            </a:r>
            <a:r>
              <a:rPr lang="en-US" altLang="zh-CN" sz="2000">
                <a:solidFill>
                  <a:srgbClr val="00B0F0"/>
                </a:solidFill>
                <a:latin typeface="Consolas" pitchFamily="49" charset="0"/>
                <a:ea typeface="仿宋" pitchFamily="49" charset="-122"/>
              </a:rPr>
              <a:t>S</a:t>
            </a:r>
            <a:r>
              <a:rPr lang="zh-CN" altLang="zh-CN" sz="2000">
                <a:solidFill>
                  <a:srgbClr val="00B0F0"/>
                </a:solidFill>
                <a:latin typeface="Consolas" pitchFamily="49" charset="0"/>
                <a:ea typeface="仿宋" pitchFamily="49" charset="-122"/>
              </a:rPr>
              <a:t>中的顶点的距离</a:t>
            </a:r>
          </a:p>
          <a:p>
            <a:pPr algn="l" defTabSz="360000">
              <a:lnSpc>
                <a:spcPct val="100000"/>
              </a:lnSpc>
              <a:spcBef>
                <a:spcPts val="0"/>
              </a:spcBef>
            </a:pPr>
            <a:r>
              <a:rPr lang="en-US" altLang="zh-CN" sz="2000">
                <a:solidFill>
                  <a:srgbClr val="0000FF"/>
                </a:solidFill>
                <a:latin typeface="Consolas" pitchFamily="49" charset="0"/>
                <a:ea typeface="仿宋" pitchFamily="49" charset="-122"/>
              </a:rPr>
              <a:t>			if (</a:t>
            </a:r>
            <a:r>
              <a:rPr lang="en-US" altLang="zh-CN" sz="2000">
                <a:solidFill>
                  <a:srgbClr val="FF00FF"/>
                </a:solidFill>
                <a:latin typeface="Consolas" pitchFamily="49" charset="0"/>
                <a:ea typeface="仿宋" pitchFamily="49" charset="-122"/>
              </a:rPr>
              <a:t>S[j]==0</a:t>
            </a: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if (A[u][j]&lt;INF &amp;&amp; </a:t>
            </a:r>
            <a:r>
              <a:rPr lang="en-US" altLang="zh-CN" sz="2000">
                <a:solidFill>
                  <a:srgbClr val="FF00FF"/>
                </a:solidFill>
                <a:latin typeface="Consolas" pitchFamily="49" charset="0"/>
                <a:ea typeface="仿宋" pitchFamily="49" charset="-122"/>
              </a:rPr>
              <a:t>dist[u]+A[u][j]&lt;dist[j]</a:t>
            </a: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dist[j]=dist[u]+A[u][j];	</a:t>
            </a:r>
            <a:r>
              <a:rPr lang="en-US" altLang="zh-CN" sz="2000">
                <a:solidFill>
                  <a:srgbClr val="006600"/>
                </a:solidFill>
                <a:latin typeface="Consolas" pitchFamily="49" charset="0"/>
                <a:ea typeface="仿宋" pitchFamily="49" charset="-122"/>
              </a:rPr>
              <a:t>//</a:t>
            </a:r>
            <a:r>
              <a:rPr lang="zh-CN" altLang="zh-CN" sz="2000">
                <a:solidFill>
                  <a:srgbClr val="006600"/>
                </a:solidFill>
                <a:latin typeface="Consolas" pitchFamily="49" charset="0"/>
                <a:ea typeface="仿宋" pitchFamily="49" charset="-122"/>
              </a:rPr>
              <a:t>边松弛</a:t>
            </a:r>
          </a:p>
          <a:p>
            <a:pPr algn="l" defTabSz="360000">
              <a:lnSpc>
                <a:spcPct val="100000"/>
              </a:lnSpc>
              <a:spcBef>
                <a:spcPts val="0"/>
              </a:spcBef>
            </a:pPr>
            <a:r>
              <a:rPr lang="en-US" altLang="zh-CN" sz="2000">
                <a:solidFill>
                  <a:srgbClr val="0000FF"/>
                </a:solidFill>
                <a:latin typeface="Consolas" pitchFamily="49" charset="0"/>
                <a:ea typeface="仿宋" pitchFamily="49" charset="-122"/>
              </a:rPr>
              <a:t>					path[j]=u;</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grpSp>
        <p:nvGrpSpPr>
          <p:cNvPr id="21" name="组合 20"/>
          <p:cNvGrpSpPr/>
          <p:nvPr/>
        </p:nvGrpSpPr>
        <p:grpSpPr>
          <a:xfrm>
            <a:off x="2247174" y="3929066"/>
            <a:ext cx="4143404" cy="2471812"/>
            <a:chOff x="2247174" y="4114942"/>
            <a:chExt cx="4143404" cy="2471812"/>
          </a:xfrm>
        </p:grpSpPr>
        <p:sp>
          <p:nvSpPr>
            <p:cNvPr id="6" name="椭圆 5"/>
            <p:cNvSpPr/>
            <p:nvPr/>
          </p:nvSpPr>
          <p:spPr>
            <a:xfrm>
              <a:off x="4352743" y="5019819"/>
              <a:ext cx="396000" cy="39600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i="1">
                  <a:solidFill>
                    <a:srgbClr val="0000FF"/>
                  </a:solidFill>
                  <a:latin typeface="Consolas" pitchFamily="49" charset="0"/>
                  <a:cs typeface="Consolas" pitchFamily="49" charset="0"/>
                </a:rPr>
                <a:t>j</a:t>
              </a:r>
              <a:endParaRPr lang="zh-CN" altLang="en-US" sz="2000" i="1">
                <a:solidFill>
                  <a:srgbClr val="0000FF"/>
                </a:solidFill>
                <a:latin typeface="Consolas" pitchFamily="49" charset="0"/>
                <a:cs typeface="Consolas" pitchFamily="49" charset="0"/>
              </a:endParaRPr>
            </a:p>
          </p:txBody>
        </p:sp>
        <p:cxnSp>
          <p:nvCxnSpPr>
            <p:cNvPr id="7" name="直接箭头连接符 6"/>
            <p:cNvCxnSpPr>
              <a:stCxn id="14" idx="6"/>
              <a:endCxn id="6" idx="2"/>
            </p:cNvCxnSpPr>
            <p:nvPr/>
          </p:nvCxnSpPr>
          <p:spPr>
            <a:xfrm>
              <a:off x="3071802" y="4988512"/>
              <a:ext cx="1280941" cy="229307"/>
            </a:xfrm>
            <a:prstGeom prst="straightConnector1">
              <a:avLst/>
            </a:prstGeom>
            <a:ln w="19050">
              <a:prstDash val="solid"/>
              <a:tailEnd type="arrow"/>
            </a:ln>
          </p:spPr>
          <p:style>
            <a:lnRef idx="2">
              <a:schemeClr val="dk1"/>
            </a:lnRef>
            <a:fillRef idx="0">
              <a:schemeClr val="dk1"/>
            </a:fillRef>
            <a:effectRef idx="1">
              <a:schemeClr val="dk1"/>
            </a:effectRef>
            <a:fontRef idx="minor">
              <a:schemeClr val="tx1"/>
            </a:fontRef>
          </p:style>
        </p:cxnSp>
        <p:sp>
          <p:nvSpPr>
            <p:cNvPr id="8" name="TextBox 7"/>
            <p:cNvSpPr txBox="1"/>
            <p:nvPr/>
          </p:nvSpPr>
          <p:spPr>
            <a:xfrm>
              <a:off x="5104694" y="4972198"/>
              <a:ext cx="1285884" cy="400110"/>
            </a:xfrm>
            <a:prstGeom prst="rect">
              <a:avLst/>
            </a:prstGeom>
            <a:noFill/>
          </p:spPr>
          <p:txBody>
            <a:bodyPr wrap="square" rtlCol="0">
              <a:spAutoFit/>
            </a:bodyPr>
            <a:lstStyle/>
            <a:p>
              <a:pPr algn="l">
                <a:lnSpc>
                  <a:spcPct val="100000"/>
                </a:lnSpc>
                <a:spcBef>
                  <a:spcPts val="0"/>
                </a:spcBef>
              </a:pPr>
              <a:r>
                <a:rPr lang="en-US" altLang="zh-CN" sz="2000">
                  <a:solidFill>
                    <a:srgbClr val="0000FF"/>
                  </a:solidFill>
                  <a:latin typeface="Consolas" pitchFamily="49" charset="0"/>
                  <a:ea typeface="楷体" pitchFamily="49" charset="-122"/>
                  <a:cs typeface="Consolas" pitchFamily="49" charset="0"/>
                </a:rPr>
                <a:t>dist[j]</a:t>
              </a:r>
              <a:endParaRPr lang="zh-CN" altLang="en-US" sz="2000">
                <a:solidFill>
                  <a:srgbClr val="0000FF"/>
                </a:solidFill>
                <a:latin typeface="Consolas" pitchFamily="49" charset="0"/>
                <a:ea typeface="楷体" pitchFamily="49" charset="-122"/>
                <a:cs typeface="Consolas" pitchFamily="49" charset="0"/>
              </a:endParaRPr>
            </a:p>
          </p:txBody>
        </p:sp>
        <p:sp>
          <p:nvSpPr>
            <p:cNvPr id="9" name="椭圆 8"/>
            <p:cNvSpPr/>
            <p:nvPr/>
          </p:nvSpPr>
          <p:spPr>
            <a:xfrm>
              <a:off x="3946693" y="4615008"/>
              <a:ext cx="1071570" cy="1214446"/>
            </a:xfrm>
            <a:prstGeom prst="ellipse">
              <a:avLst/>
            </a:prstGeom>
            <a:ln w="19050">
              <a:solidFill>
                <a:srgbClr val="FF00FF"/>
              </a:solidFill>
              <a:tailEnd type="none"/>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10" name="TextBox 9"/>
            <p:cNvSpPr txBox="1"/>
            <p:nvPr/>
          </p:nvSpPr>
          <p:spPr>
            <a:xfrm>
              <a:off x="4176000" y="4114942"/>
              <a:ext cx="571504" cy="400110"/>
            </a:xfrm>
            <a:prstGeom prst="rect">
              <a:avLst/>
            </a:prstGeom>
            <a:noFill/>
          </p:spPr>
          <p:txBody>
            <a:bodyPr wrap="square" rtlCol="0">
              <a:spAutoFit/>
            </a:bodyPr>
            <a:lstStyle/>
            <a:p>
              <a:pPr>
                <a:lnSpc>
                  <a:spcPct val="100000"/>
                </a:lnSpc>
                <a:spcBef>
                  <a:spcPts val="0"/>
                </a:spcBef>
              </a:pPr>
              <a:r>
                <a:rPr lang="en-US" altLang="zh-CN" sz="2000">
                  <a:solidFill>
                    <a:srgbClr val="0000FF"/>
                  </a:solidFill>
                  <a:latin typeface="Consolas" pitchFamily="49" charset="0"/>
                  <a:ea typeface="楷体" pitchFamily="49" charset="-122"/>
                  <a:cs typeface="Consolas" pitchFamily="49" charset="0"/>
                </a:rPr>
                <a:t>U</a:t>
              </a:r>
              <a:endParaRPr lang="zh-CN" altLang="en-US" sz="2000">
                <a:solidFill>
                  <a:srgbClr val="0000FF"/>
                </a:solidFill>
                <a:latin typeface="Consolas" pitchFamily="49" charset="0"/>
                <a:ea typeface="楷体" pitchFamily="49" charset="-122"/>
                <a:cs typeface="Consolas" pitchFamily="49" charset="0"/>
              </a:endParaRPr>
            </a:p>
          </p:txBody>
        </p:sp>
        <p:sp>
          <p:nvSpPr>
            <p:cNvPr id="11" name="椭圆 10"/>
            <p:cNvSpPr/>
            <p:nvPr/>
          </p:nvSpPr>
          <p:spPr>
            <a:xfrm>
              <a:off x="2675802" y="5576330"/>
              <a:ext cx="396000" cy="39600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i="1">
                  <a:solidFill>
                    <a:srgbClr val="0000FF"/>
                  </a:solidFill>
                  <a:latin typeface="Consolas" pitchFamily="49" charset="0"/>
                  <a:cs typeface="Consolas" pitchFamily="49" charset="0"/>
                </a:rPr>
                <a:t>u</a:t>
              </a:r>
              <a:endParaRPr lang="zh-CN" altLang="en-US" sz="2000" i="1">
                <a:solidFill>
                  <a:srgbClr val="0000FF"/>
                </a:solidFill>
                <a:latin typeface="Consolas" pitchFamily="49" charset="0"/>
                <a:cs typeface="Consolas" pitchFamily="49" charset="0"/>
              </a:endParaRPr>
            </a:p>
          </p:txBody>
        </p:sp>
        <p:sp>
          <p:nvSpPr>
            <p:cNvPr id="12" name="椭圆 11"/>
            <p:cNvSpPr/>
            <p:nvPr/>
          </p:nvSpPr>
          <p:spPr>
            <a:xfrm>
              <a:off x="2318612" y="4615008"/>
              <a:ext cx="1143008" cy="1500198"/>
            </a:xfrm>
            <a:prstGeom prst="ellipse">
              <a:avLst/>
            </a:prstGeom>
            <a:ln w="19050">
              <a:solidFill>
                <a:srgbClr val="FF00FF"/>
              </a:solidFill>
              <a:tailEnd type="none"/>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13" name="TextBox 12"/>
            <p:cNvSpPr txBox="1"/>
            <p:nvPr/>
          </p:nvSpPr>
          <p:spPr>
            <a:xfrm>
              <a:off x="2547919" y="4114942"/>
              <a:ext cx="571504" cy="400110"/>
            </a:xfrm>
            <a:prstGeom prst="rect">
              <a:avLst/>
            </a:prstGeom>
            <a:noFill/>
          </p:spPr>
          <p:txBody>
            <a:bodyPr wrap="square" rtlCol="0">
              <a:spAutoFit/>
            </a:bodyPr>
            <a:lstStyle/>
            <a:p>
              <a:pPr>
                <a:lnSpc>
                  <a:spcPct val="100000"/>
                </a:lnSpc>
                <a:spcBef>
                  <a:spcPts val="0"/>
                </a:spcBef>
              </a:pPr>
              <a:r>
                <a:rPr lang="en-US" altLang="zh-CN" sz="2000">
                  <a:solidFill>
                    <a:srgbClr val="0000FF"/>
                  </a:solidFill>
                  <a:latin typeface="Consolas" pitchFamily="49" charset="0"/>
                  <a:ea typeface="楷体" pitchFamily="49" charset="-122"/>
                  <a:cs typeface="Consolas" pitchFamily="49" charset="0"/>
                </a:rPr>
                <a:t>S</a:t>
              </a:r>
              <a:endParaRPr lang="zh-CN" altLang="en-US" sz="2000">
                <a:solidFill>
                  <a:srgbClr val="0000FF"/>
                </a:solidFill>
                <a:latin typeface="Consolas" pitchFamily="49" charset="0"/>
                <a:ea typeface="楷体" pitchFamily="49" charset="-122"/>
                <a:cs typeface="Consolas" pitchFamily="49" charset="0"/>
              </a:endParaRPr>
            </a:p>
          </p:txBody>
        </p:sp>
        <p:sp>
          <p:nvSpPr>
            <p:cNvPr id="14" name="椭圆 13"/>
            <p:cNvSpPr/>
            <p:nvPr/>
          </p:nvSpPr>
          <p:spPr>
            <a:xfrm>
              <a:off x="2675802" y="4790512"/>
              <a:ext cx="396000" cy="39600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sz="2000" i="1">
                  <a:solidFill>
                    <a:srgbClr val="0000FF"/>
                  </a:solidFill>
                  <a:latin typeface="Consolas" pitchFamily="49" charset="0"/>
                  <a:cs typeface="Consolas" pitchFamily="49" charset="0"/>
                </a:rPr>
                <a:t>s</a:t>
              </a:r>
              <a:endParaRPr lang="zh-CN" altLang="en-US" sz="2000" i="1">
                <a:solidFill>
                  <a:srgbClr val="0000FF"/>
                </a:solidFill>
                <a:latin typeface="Consolas" pitchFamily="49" charset="0"/>
                <a:cs typeface="Consolas" pitchFamily="49" charset="0"/>
              </a:endParaRPr>
            </a:p>
          </p:txBody>
        </p:sp>
        <p:cxnSp>
          <p:nvCxnSpPr>
            <p:cNvPr id="16" name="直接箭头连接符 15"/>
            <p:cNvCxnSpPr>
              <a:stCxn id="14" idx="4"/>
              <a:endCxn id="11" idx="0"/>
            </p:cNvCxnSpPr>
            <p:nvPr/>
          </p:nvCxnSpPr>
          <p:spPr>
            <a:xfrm rot="5400000">
              <a:off x="2678893" y="5381421"/>
              <a:ext cx="389818" cy="1588"/>
            </a:xfrm>
            <a:prstGeom prst="straightConnector1">
              <a:avLst/>
            </a:prstGeom>
            <a:ln w="19050">
              <a:prstDash val="dash"/>
              <a:tailEnd type="arrow"/>
            </a:ln>
          </p:spPr>
          <p:style>
            <a:lnRef idx="2">
              <a:schemeClr val="dk1"/>
            </a:lnRef>
            <a:fillRef idx="0">
              <a:schemeClr val="dk1"/>
            </a:fillRef>
            <a:effectRef idx="1">
              <a:schemeClr val="dk1"/>
            </a:effectRef>
            <a:fontRef idx="minor">
              <a:schemeClr val="tx1"/>
            </a:fontRef>
          </p:style>
        </p:cxnSp>
        <p:cxnSp>
          <p:nvCxnSpPr>
            <p:cNvPr id="19" name="直接箭头连接符 18"/>
            <p:cNvCxnSpPr>
              <a:stCxn id="11" idx="6"/>
              <a:endCxn id="6" idx="3"/>
            </p:cNvCxnSpPr>
            <p:nvPr/>
          </p:nvCxnSpPr>
          <p:spPr>
            <a:xfrm flipV="1">
              <a:off x="3071802" y="5357826"/>
              <a:ext cx="1338934" cy="416504"/>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20" name="TextBox 19"/>
            <p:cNvSpPr txBox="1"/>
            <p:nvPr/>
          </p:nvSpPr>
          <p:spPr>
            <a:xfrm>
              <a:off x="2247174" y="6186644"/>
              <a:ext cx="1285884" cy="400110"/>
            </a:xfrm>
            <a:prstGeom prst="rect">
              <a:avLst/>
            </a:prstGeom>
            <a:noFill/>
          </p:spPr>
          <p:txBody>
            <a:bodyPr wrap="square" rtlCol="0">
              <a:spAutoFit/>
            </a:bodyPr>
            <a:lstStyle/>
            <a:p>
              <a:pPr algn="l">
                <a:lnSpc>
                  <a:spcPct val="100000"/>
                </a:lnSpc>
                <a:spcBef>
                  <a:spcPts val="0"/>
                </a:spcBef>
              </a:pPr>
              <a:r>
                <a:rPr lang="en-US" altLang="zh-CN" sz="2000">
                  <a:solidFill>
                    <a:srgbClr val="0000FF"/>
                  </a:solidFill>
                  <a:latin typeface="Consolas" pitchFamily="49" charset="0"/>
                  <a:ea typeface="楷体" pitchFamily="49" charset="-122"/>
                  <a:cs typeface="Consolas" pitchFamily="49" charset="0"/>
                </a:rPr>
                <a:t>dist[u]</a:t>
              </a:r>
              <a:endParaRPr lang="zh-CN" altLang="en-US" sz="2000">
                <a:solidFill>
                  <a:srgbClr val="0000FF"/>
                </a:solidFill>
                <a:latin typeface="Consolas" pitchFamily="49" charset="0"/>
                <a:ea typeface="楷体" pitchFamily="49" charset="-122"/>
                <a:cs typeface="Consolas" pitchFamily="49" charset="0"/>
              </a:endParaRPr>
            </a:p>
          </p:txBody>
        </p:sp>
      </p:grpSp>
      <p:sp>
        <p:nvSpPr>
          <p:cNvPr id="18" name="灯片编号占位符 17"/>
          <p:cNvSpPr>
            <a:spLocks noGrp="1"/>
          </p:cNvSpPr>
          <p:nvPr>
            <p:ph type="sldNum" sz="quarter" idx="12"/>
          </p:nvPr>
        </p:nvSpPr>
        <p:spPr/>
        <p:txBody>
          <a:bodyPr/>
          <a:lstStyle/>
          <a:p>
            <a:fld id="{7AF016A1-9F15-429F-9EFD-84004B73C732}" type="slidenum">
              <a:rPr lang="en-US" altLang="zh-CN" smtClean="0"/>
              <a:pPr/>
              <a:t>43</a:t>
            </a:fld>
            <a:r>
              <a:rPr lang="en-US" altLang="zh-CN"/>
              <a:t>/158</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28596" y="1285860"/>
            <a:ext cx="8001056" cy="913070"/>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200"/>
              </a:lnSpc>
              <a:spcBef>
                <a:spcPts val="0"/>
              </a:spcBef>
            </a:pPr>
            <a:r>
              <a:rPr lang="en-US" altLang="zh-CN" sz="2200">
                <a:solidFill>
                  <a:srgbClr val="FF0000"/>
                </a:solidFill>
                <a:latin typeface="Consolas" pitchFamily="49" charset="0"/>
                <a:ea typeface="楷体" pitchFamily="49" charset="-122"/>
                <a:sym typeface="Wingdings"/>
              </a:rPr>
              <a:t></a:t>
            </a:r>
            <a:r>
              <a:rPr lang="en-US" altLang="zh-CN" sz="2200">
                <a:solidFill>
                  <a:srgbClr val="FF0000"/>
                </a:solidFill>
                <a:latin typeface="Consolas" pitchFamily="49" charset="0"/>
                <a:ea typeface="楷体" pitchFamily="49" charset="-122"/>
              </a:rPr>
              <a:t>Dijkstra</a:t>
            </a:r>
            <a:r>
              <a:rPr lang="zh-CN" altLang="zh-CN" sz="2200">
                <a:solidFill>
                  <a:srgbClr val="FF0000"/>
                </a:solidFill>
                <a:latin typeface="Consolas" pitchFamily="49" charset="0"/>
                <a:ea typeface="楷体" pitchFamily="49" charset="-122"/>
              </a:rPr>
              <a:t>算法分析</a:t>
            </a:r>
            <a:r>
              <a:rPr lang="zh-CN" altLang="zh-CN" sz="2200">
                <a:solidFill>
                  <a:srgbClr val="0000FF"/>
                </a:solidFill>
                <a:latin typeface="Consolas" pitchFamily="49" charset="0"/>
                <a:ea typeface="仿宋" pitchFamily="49" charset="-122"/>
              </a:rPr>
              <a:t>：该算法中包含两重循环，所以时间复杂度为</a:t>
            </a:r>
            <a:r>
              <a:rPr lang="en-US" altLang="zh-CN" sz="2200">
                <a:solidFill>
                  <a:srgbClr val="0000FF"/>
                </a:solidFill>
                <a:latin typeface="Consolas" pitchFamily="49" charset="0"/>
                <a:ea typeface="仿宋" pitchFamily="49" charset="-122"/>
              </a:rPr>
              <a:t>O(</a:t>
            </a:r>
            <a:r>
              <a:rPr lang="en-US" altLang="zh-CN" sz="2200" i="1">
                <a:solidFill>
                  <a:srgbClr val="0000FF"/>
                </a:solidFill>
                <a:latin typeface="Consolas" pitchFamily="49" charset="0"/>
                <a:ea typeface="仿宋" pitchFamily="49" charset="-122"/>
              </a:rPr>
              <a:t>n</a:t>
            </a:r>
            <a:r>
              <a:rPr lang="en-US" altLang="zh-CN" sz="2200" baseline="30000">
                <a:solidFill>
                  <a:srgbClr val="0000FF"/>
                </a:solidFill>
                <a:latin typeface="Consolas" pitchFamily="49" charset="0"/>
                <a:ea typeface="仿宋" pitchFamily="49" charset="-122"/>
              </a:rPr>
              <a:t>2</a:t>
            </a:r>
            <a:r>
              <a:rPr lang="en-US" altLang="zh-CN" sz="2200">
                <a:solidFill>
                  <a:srgbClr val="0000FF"/>
                </a:solidFill>
                <a:latin typeface="Consolas" pitchFamily="49" charset="0"/>
                <a:ea typeface="仿宋" pitchFamily="49" charset="-122"/>
              </a:rPr>
              <a:t>)</a:t>
            </a:r>
            <a:r>
              <a:rPr lang="zh-CN" altLang="zh-CN" sz="2200">
                <a:solidFill>
                  <a:srgbClr val="0000FF"/>
                </a:solidFill>
                <a:latin typeface="Consolas" pitchFamily="49" charset="0"/>
                <a:ea typeface="仿宋" pitchFamily="49" charset="-122"/>
              </a:rPr>
              <a:t>，其中</a:t>
            </a:r>
            <a:r>
              <a:rPr lang="en-US" altLang="zh-CN" sz="2200" i="1">
                <a:solidFill>
                  <a:srgbClr val="0000FF"/>
                </a:solidFill>
                <a:latin typeface="Consolas" pitchFamily="49" charset="0"/>
                <a:ea typeface="仿宋" pitchFamily="49" charset="-122"/>
              </a:rPr>
              <a:t>n</a:t>
            </a:r>
            <a:r>
              <a:rPr lang="zh-CN" altLang="zh-CN" sz="2200">
                <a:solidFill>
                  <a:srgbClr val="0000FF"/>
                </a:solidFill>
                <a:latin typeface="Consolas" pitchFamily="49" charset="0"/>
                <a:ea typeface="仿宋" pitchFamily="49" charset="-122"/>
              </a:rPr>
              <a:t>为图中顶点个数。</a:t>
            </a: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44</a:t>
            </a:fld>
            <a:r>
              <a:rPr lang="en-US" altLang="zh-CN"/>
              <a:t>/158</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ext Box 2"/>
          <p:cNvSpPr txBox="1">
            <a:spLocks noChangeArrowheads="1"/>
          </p:cNvSpPr>
          <p:nvPr/>
        </p:nvSpPr>
        <p:spPr bwMode="auto">
          <a:xfrm>
            <a:off x="323850" y="404813"/>
            <a:ext cx="4819654" cy="461665"/>
          </a:xfrm>
          <a:prstGeom prst="rect">
            <a:avLst/>
          </a:prstGeom>
          <a:solidFill>
            <a:srgbClr val="9900FF"/>
          </a:solidFill>
          <a:ln w="9525">
            <a:noFill/>
            <a:miter lim="800000"/>
            <a:headEnd/>
            <a:tailEnd/>
          </a:ln>
        </p:spPr>
        <p:txBody>
          <a:bodyPr wrap="square">
            <a:spAutoFit/>
          </a:bodyPr>
          <a:lstStyle/>
          <a:p>
            <a:pPr>
              <a:lnSpc>
                <a:spcPct val="100000"/>
              </a:lnSpc>
              <a:spcBef>
                <a:spcPct val="50000"/>
              </a:spcBef>
            </a:pPr>
            <a:r>
              <a:rPr lang="en-US" altLang="zh-CN">
                <a:solidFill>
                  <a:schemeClr val="bg1"/>
                </a:solidFill>
                <a:latin typeface="Consolas" pitchFamily="49" charset="0"/>
                <a:ea typeface="微软雅黑" pitchFamily="34" charset="-122"/>
                <a:cs typeface="Consolas" pitchFamily="49" charset="0"/>
              </a:rPr>
              <a:t>3</a:t>
            </a:r>
            <a:r>
              <a:rPr lang="zh-CN" altLang="en-US">
                <a:solidFill>
                  <a:schemeClr val="bg1"/>
                </a:solidFill>
                <a:latin typeface="Consolas" pitchFamily="49" charset="0"/>
                <a:ea typeface="微软雅黑" pitchFamily="34" charset="-122"/>
                <a:cs typeface="Consolas" pitchFamily="49" charset="0"/>
              </a:rPr>
              <a:t>、</a:t>
            </a:r>
            <a:r>
              <a:rPr lang="en-US" altLang="zh-CN">
                <a:solidFill>
                  <a:schemeClr val="bg1"/>
                </a:solidFill>
                <a:latin typeface="Consolas" pitchFamily="49" charset="0"/>
                <a:ea typeface="微软雅黑" pitchFamily="34" charset="-122"/>
                <a:cs typeface="Consolas" pitchFamily="49" charset="0"/>
              </a:rPr>
              <a:t>Dijkstra</a:t>
            </a:r>
            <a:r>
              <a:rPr lang="zh-CN" altLang="en-US">
                <a:solidFill>
                  <a:schemeClr val="bg1"/>
                </a:solidFill>
                <a:latin typeface="Consolas" pitchFamily="49" charset="0"/>
                <a:ea typeface="微软雅黑" pitchFamily="34" charset="-122"/>
                <a:cs typeface="Consolas" pitchFamily="49" charset="0"/>
              </a:rPr>
              <a:t>算法的正确性证明</a:t>
            </a:r>
          </a:p>
        </p:txBody>
      </p:sp>
      <p:sp>
        <p:nvSpPr>
          <p:cNvPr id="80899" name="Text Box 3"/>
          <p:cNvSpPr txBox="1">
            <a:spLocks noChangeArrowheads="1"/>
          </p:cNvSpPr>
          <p:nvPr/>
        </p:nvSpPr>
        <p:spPr bwMode="auto">
          <a:xfrm>
            <a:off x="468313" y="1268413"/>
            <a:ext cx="8351837" cy="913070"/>
          </a:xfrm>
          <a:prstGeom prst="rect">
            <a:avLst/>
          </a:prstGeom>
          <a:noFill/>
          <a:ln w="9525">
            <a:noFill/>
            <a:miter lim="800000"/>
            <a:headEnd/>
            <a:tailEnd/>
          </a:ln>
        </p:spPr>
        <p:txBody>
          <a:bodyPr>
            <a:spAutoFit/>
          </a:bodyPr>
          <a:lstStyle/>
          <a:p>
            <a:pPr algn="l">
              <a:lnSpc>
                <a:spcPts val="3200"/>
              </a:lnSpc>
              <a:spcBef>
                <a:spcPts val="0"/>
              </a:spcBef>
            </a:pPr>
            <a:r>
              <a:rPr lang="zh-CN" altLang="en-US">
                <a:solidFill>
                  <a:srgbClr val="0000FF"/>
                </a:solidFill>
                <a:latin typeface="Consolas" pitchFamily="49" charset="0"/>
                <a:ea typeface="仿宋" pitchFamily="49" charset="-122"/>
                <a:cs typeface="Consolas" pitchFamily="49" charset="0"/>
              </a:rPr>
              <a:t>　 </a:t>
            </a:r>
            <a:r>
              <a:rPr lang="en-US" altLang="zh-CN">
                <a:solidFill>
                  <a:srgbClr val="0000FF"/>
                </a:solidFill>
                <a:latin typeface="Consolas" pitchFamily="49" charset="0"/>
                <a:ea typeface="仿宋" pitchFamily="49" charset="-122"/>
                <a:cs typeface="Consolas" pitchFamily="49" charset="0"/>
              </a:rPr>
              <a:t>Dijkstra</a:t>
            </a:r>
            <a:r>
              <a:rPr lang="zh-CN" altLang="en-US">
                <a:solidFill>
                  <a:srgbClr val="0000FF"/>
                </a:solidFill>
                <a:latin typeface="Consolas" pitchFamily="49" charset="0"/>
                <a:ea typeface="仿宋" pitchFamily="49" charset="-122"/>
                <a:cs typeface="Consolas" pitchFamily="49" charset="0"/>
              </a:rPr>
              <a:t>算</a:t>
            </a:r>
            <a:r>
              <a:rPr lang="zh-CN" altLang="en-US" dirty="0">
                <a:solidFill>
                  <a:srgbClr val="0000FF"/>
                </a:solidFill>
                <a:latin typeface="Consolas" pitchFamily="49" charset="0"/>
                <a:ea typeface="仿宋" pitchFamily="49" charset="-122"/>
                <a:cs typeface="Consolas" pitchFamily="49" charset="0"/>
              </a:rPr>
              <a:t>法也是一种贪心算法。证明</a:t>
            </a:r>
            <a:r>
              <a:rPr lang="en-US" altLang="zh-CN" dirty="0" err="1">
                <a:solidFill>
                  <a:srgbClr val="0000FF"/>
                </a:solidFill>
                <a:latin typeface="Consolas" pitchFamily="49" charset="0"/>
                <a:ea typeface="仿宋" pitchFamily="49" charset="-122"/>
                <a:cs typeface="Consolas" pitchFamily="49" charset="0"/>
              </a:rPr>
              <a:t>Dijkstra</a:t>
            </a:r>
            <a:r>
              <a:rPr lang="zh-CN" altLang="en-US" dirty="0">
                <a:solidFill>
                  <a:srgbClr val="0000FF"/>
                </a:solidFill>
                <a:latin typeface="Consolas" pitchFamily="49" charset="0"/>
                <a:ea typeface="仿宋" pitchFamily="49" charset="-122"/>
                <a:cs typeface="Consolas" pitchFamily="49" charset="0"/>
              </a:rPr>
              <a:t>算法可以找到图中从源点</a:t>
            </a:r>
            <a:r>
              <a:rPr lang="en-US" altLang="zh-CN" i="1" dirty="0">
                <a:solidFill>
                  <a:srgbClr val="0000FF"/>
                </a:solidFill>
                <a:latin typeface="Consolas" pitchFamily="49" charset="0"/>
                <a:ea typeface="仿宋" pitchFamily="49" charset="-122"/>
                <a:cs typeface="Consolas" pitchFamily="49" charset="0"/>
              </a:rPr>
              <a:t>v</a:t>
            </a:r>
            <a:r>
              <a:rPr lang="zh-CN" altLang="en-US" dirty="0">
                <a:solidFill>
                  <a:srgbClr val="0000FF"/>
                </a:solidFill>
                <a:latin typeface="Consolas" pitchFamily="49" charset="0"/>
                <a:ea typeface="仿宋" pitchFamily="49" charset="-122"/>
                <a:cs typeface="Consolas" pitchFamily="49" charset="0"/>
              </a:rPr>
              <a:t>到其他所有顶点的最短路径</a:t>
            </a:r>
            <a:r>
              <a:rPr lang="zh-CN" altLang="en-US">
                <a:solidFill>
                  <a:srgbClr val="0000FF"/>
                </a:solidFill>
                <a:latin typeface="Consolas" pitchFamily="49" charset="0"/>
                <a:ea typeface="仿宋" pitchFamily="49" charset="-122"/>
                <a:cs typeface="Consolas" pitchFamily="49" charset="0"/>
              </a:rPr>
              <a:t>长度。</a:t>
            </a:r>
            <a:endParaRPr lang="zh-CN" altLang="en-US" dirty="0">
              <a:solidFill>
                <a:srgbClr val="0000FF"/>
              </a:solidFill>
              <a:latin typeface="Consolas" pitchFamily="49" charset="0"/>
              <a:ea typeface="仿宋" pitchFamily="49" charset="-122"/>
              <a:cs typeface="Consolas" pitchFamily="49" charset="0"/>
            </a:endParaRPr>
          </a:p>
        </p:txBody>
      </p:sp>
      <p:sp>
        <p:nvSpPr>
          <p:cNvPr id="4" name="TextBox 3"/>
          <p:cNvSpPr txBox="1"/>
          <p:nvPr/>
        </p:nvSpPr>
        <p:spPr>
          <a:xfrm>
            <a:off x="857224" y="2285992"/>
            <a:ext cx="2714644" cy="461665"/>
          </a:xfrm>
          <a:prstGeom prst="rect">
            <a:avLst/>
          </a:prstGeom>
          <a:noFill/>
        </p:spPr>
        <p:txBody>
          <a:bodyPr wrap="square" rtlCol="0">
            <a:spAutoFit/>
          </a:bodyPr>
          <a:lstStyle/>
          <a:p>
            <a:pPr algn="l">
              <a:lnSpc>
                <a:spcPct val="100000"/>
              </a:lnSpc>
            </a:pPr>
            <a:r>
              <a:rPr lang="zh-CN" altLang="en-US">
                <a:solidFill>
                  <a:srgbClr val="0000FF"/>
                </a:solidFill>
                <a:latin typeface="Consolas" pitchFamily="49" charset="0"/>
                <a:ea typeface="楷体" pitchFamily="49" charset="-122"/>
                <a:cs typeface="Consolas" pitchFamily="49" charset="0"/>
              </a:rPr>
              <a:t>用数学归纳法证明：</a:t>
            </a:r>
          </a:p>
        </p:txBody>
      </p:sp>
      <p:sp>
        <p:nvSpPr>
          <p:cNvPr id="5" name="TextBox 4"/>
          <p:cNvSpPr txBox="1"/>
          <p:nvPr/>
        </p:nvSpPr>
        <p:spPr>
          <a:xfrm>
            <a:off x="714348" y="3000372"/>
            <a:ext cx="8143932" cy="2310546"/>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lIns="72000" tIns="72000" rIns="72000" bIns="72000" rtlCol="0">
            <a:spAutoFit/>
          </a:bodyPr>
          <a:lstStyle/>
          <a:p>
            <a:pPr algn="l">
              <a:lnSpc>
                <a:spcPts val="3200"/>
              </a:lnSpc>
              <a:spcBef>
                <a:spcPts val="600"/>
              </a:spcBef>
            </a:pPr>
            <a:r>
              <a:rPr lang="zh-CN" altLang="en-US">
                <a:solidFill>
                  <a:srgbClr val="0000FF"/>
                </a:solidFill>
                <a:latin typeface="Consolas" pitchFamily="49" charset="0"/>
                <a:ea typeface="仿宋" pitchFamily="49" charset="-122"/>
                <a:cs typeface="Consolas" pitchFamily="49" charset="0"/>
              </a:rPr>
              <a:t>　（</a:t>
            </a:r>
            <a:r>
              <a:rPr lang="en-US" altLang="zh-CN">
                <a:solidFill>
                  <a:srgbClr val="0000FF"/>
                </a:solidFill>
                <a:latin typeface="Consolas" pitchFamily="49" charset="0"/>
                <a:ea typeface="仿宋" pitchFamily="49" charset="-122"/>
                <a:cs typeface="Consolas" pitchFamily="49" charset="0"/>
              </a:rPr>
              <a:t>1</a:t>
            </a:r>
            <a:r>
              <a:rPr lang="zh-CN" altLang="en-US">
                <a:solidFill>
                  <a:srgbClr val="0000FF"/>
                </a:solidFill>
                <a:latin typeface="Consolas" pitchFamily="49" charset="0"/>
                <a:ea typeface="仿宋" pitchFamily="49" charset="-122"/>
                <a:cs typeface="Consolas" pitchFamily="49" charset="0"/>
              </a:rPr>
              <a:t>）如果顶点</a:t>
            </a:r>
            <a:r>
              <a:rPr lang="en-US" altLang="zh-CN" i="1">
                <a:solidFill>
                  <a:srgbClr val="0000FF"/>
                </a:solidFill>
                <a:latin typeface="Consolas" pitchFamily="49" charset="0"/>
                <a:ea typeface="仿宋" pitchFamily="49" charset="-122"/>
                <a:cs typeface="Consolas" pitchFamily="49" charset="0"/>
              </a:rPr>
              <a:t>j</a:t>
            </a:r>
            <a:r>
              <a:rPr lang="zh-CN" altLang="en-US">
                <a:solidFill>
                  <a:srgbClr val="0000FF"/>
                </a:solidFill>
                <a:latin typeface="Consolas" pitchFamily="49" charset="0"/>
                <a:ea typeface="仿宋" pitchFamily="49" charset="-122"/>
                <a:cs typeface="Consolas" pitchFamily="49" charset="0"/>
              </a:rPr>
              <a:t>在</a:t>
            </a:r>
            <a:r>
              <a:rPr lang="en-US" altLang="zh-CN">
                <a:solidFill>
                  <a:srgbClr val="0000FF"/>
                </a:solidFill>
                <a:latin typeface="Consolas" pitchFamily="49" charset="0"/>
                <a:ea typeface="仿宋" pitchFamily="49" charset="-122"/>
                <a:cs typeface="Consolas" pitchFamily="49" charset="0"/>
              </a:rPr>
              <a:t>S</a:t>
            </a:r>
            <a:r>
              <a:rPr lang="zh-CN" altLang="en-US">
                <a:solidFill>
                  <a:srgbClr val="0000FF"/>
                </a:solidFill>
                <a:latin typeface="Consolas" pitchFamily="49" charset="0"/>
                <a:ea typeface="仿宋" pitchFamily="49" charset="-122"/>
                <a:cs typeface="Consolas" pitchFamily="49" charset="0"/>
              </a:rPr>
              <a:t>中，则</a:t>
            </a:r>
            <a:r>
              <a:rPr lang="en-US" altLang="zh-CN">
                <a:solidFill>
                  <a:srgbClr val="0000FF"/>
                </a:solidFill>
                <a:latin typeface="Consolas" pitchFamily="49" charset="0"/>
                <a:ea typeface="仿宋" pitchFamily="49" charset="-122"/>
                <a:cs typeface="Consolas" pitchFamily="49" charset="0"/>
              </a:rPr>
              <a:t>dist[</a:t>
            </a:r>
            <a:r>
              <a:rPr lang="en-US" altLang="zh-CN" i="1">
                <a:solidFill>
                  <a:srgbClr val="0000FF"/>
                </a:solidFill>
                <a:latin typeface="Consolas" pitchFamily="49" charset="0"/>
                <a:ea typeface="仿宋" pitchFamily="49" charset="-122"/>
                <a:cs typeface="Consolas" pitchFamily="49" charset="0"/>
              </a:rPr>
              <a:t>i</a:t>
            </a:r>
            <a:r>
              <a:rPr lang="en-US" altLang="zh-CN">
                <a:solidFill>
                  <a:srgbClr val="0000FF"/>
                </a:solidFill>
                <a:latin typeface="Consolas" pitchFamily="49" charset="0"/>
                <a:ea typeface="仿宋" pitchFamily="49" charset="-122"/>
                <a:cs typeface="Consolas" pitchFamily="49" charset="0"/>
              </a:rPr>
              <a:t>]</a:t>
            </a:r>
            <a:r>
              <a:rPr lang="zh-CN" altLang="en-US">
                <a:solidFill>
                  <a:srgbClr val="0000FF"/>
                </a:solidFill>
                <a:latin typeface="Consolas" pitchFamily="49" charset="0"/>
                <a:ea typeface="仿宋" pitchFamily="49" charset="-122"/>
                <a:cs typeface="Consolas" pitchFamily="49" charset="0"/>
              </a:rPr>
              <a:t>给出了从源点到顶点</a:t>
            </a:r>
            <a:r>
              <a:rPr lang="en-US" altLang="zh-CN" i="1">
                <a:solidFill>
                  <a:srgbClr val="0000FF"/>
                </a:solidFill>
                <a:latin typeface="Consolas" pitchFamily="49" charset="0"/>
                <a:ea typeface="仿宋" pitchFamily="49" charset="-122"/>
                <a:cs typeface="Consolas" pitchFamily="49" charset="0"/>
              </a:rPr>
              <a:t>i</a:t>
            </a:r>
            <a:r>
              <a:rPr lang="zh-CN" altLang="en-US">
                <a:solidFill>
                  <a:srgbClr val="0000FF"/>
                </a:solidFill>
                <a:latin typeface="Consolas" pitchFamily="49" charset="0"/>
                <a:ea typeface="仿宋" pitchFamily="49" charset="-122"/>
                <a:cs typeface="Consolas" pitchFamily="49" charset="0"/>
              </a:rPr>
              <a:t>的最短路径长度。</a:t>
            </a:r>
          </a:p>
          <a:p>
            <a:pPr algn="l">
              <a:lnSpc>
                <a:spcPts val="3200"/>
              </a:lnSpc>
              <a:spcBef>
                <a:spcPts val="600"/>
              </a:spcBef>
            </a:pPr>
            <a:r>
              <a:rPr lang="zh-CN" altLang="en-US">
                <a:solidFill>
                  <a:srgbClr val="0000FF"/>
                </a:solidFill>
                <a:latin typeface="Consolas" pitchFamily="49" charset="0"/>
                <a:ea typeface="仿宋" pitchFamily="49" charset="-122"/>
                <a:cs typeface="Consolas" pitchFamily="49" charset="0"/>
              </a:rPr>
              <a:t>　（</a:t>
            </a:r>
            <a:r>
              <a:rPr lang="en-US" altLang="zh-CN">
                <a:solidFill>
                  <a:srgbClr val="0000FF"/>
                </a:solidFill>
                <a:latin typeface="Consolas" pitchFamily="49" charset="0"/>
                <a:ea typeface="仿宋" pitchFamily="49" charset="-122"/>
                <a:cs typeface="Consolas" pitchFamily="49" charset="0"/>
              </a:rPr>
              <a:t>2</a:t>
            </a:r>
            <a:r>
              <a:rPr lang="zh-CN" altLang="en-US">
                <a:solidFill>
                  <a:srgbClr val="0000FF"/>
                </a:solidFill>
                <a:latin typeface="Consolas" pitchFamily="49" charset="0"/>
                <a:ea typeface="仿宋" pitchFamily="49" charset="-122"/>
                <a:cs typeface="Consolas" pitchFamily="49" charset="0"/>
              </a:rPr>
              <a:t>）如果顶点</a:t>
            </a:r>
            <a:r>
              <a:rPr lang="en-US" altLang="zh-CN" i="1">
                <a:solidFill>
                  <a:srgbClr val="0000FF"/>
                </a:solidFill>
                <a:latin typeface="Consolas" pitchFamily="49" charset="0"/>
                <a:ea typeface="仿宋" pitchFamily="49" charset="-122"/>
                <a:cs typeface="Consolas" pitchFamily="49" charset="0"/>
              </a:rPr>
              <a:t>j</a:t>
            </a:r>
            <a:r>
              <a:rPr lang="zh-CN" altLang="en-US">
                <a:solidFill>
                  <a:srgbClr val="0000FF"/>
                </a:solidFill>
                <a:latin typeface="Consolas" pitchFamily="49" charset="0"/>
                <a:ea typeface="仿宋" pitchFamily="49" charset="-122"/>
                <a:cs typeface="Consolas" pitchFamily="49" charset="0"/>
              </a:rPr>
              <a:t>不在</a:t>
            </a:r>
            <a:r>
              <a:rPr lang="en-US" altLang="zh-CN">
                <a:solidFill>
                  <a:srgbClr val="0000FF"/>
                </a:solidFill>
                <a:latin typeface="Consolas" pitchFamily="49" charset="0"/>
                <a:ea typeface="仿宋" pitchFamily="49" charset="-122"/>
                <a:cs typeface="Consolas" pitchFamily="49" charset="0"/>
              </a:rPr>
              <a:t>S</a:t>
            </a:r>
            <a:r>
              <a:rPr lang="zh-CN" altLang="en-US">
                <a:solidFill>
                  <a:srgbClr val="0000FF"/>
                </a:solidFill>
                <a:latin typeface="Consolas" pitchFamily="49" charset="0"/>
                <a:ea typeface="仿宋" pitchFamily="49" charset="-122"/>
                <a:cs typeface="Consolas" pitchFamily="49" charset="0"/>
              </a:rPr>
              <a:t>中，则</a:t>
            </a:r>
            <a:r>
              <a:rPr lang="en-US" altLang="zh-CN">
                <a:solidFill>
                  <a:srgbClr val="0000FF"/>
                </a:solidFill>
                <a:latin typeface="Consolas" pitchFamily="49" charset="0"/>
                <a:ea typeface="仿宋" pitchFamily="49" charset="-122"/>
                <a:cs typeface="Consolas" pitchFamily="49" charset="0"/>
              </a:rPr>
              <a:t>dist[</a:t>
            </a:r>
            <a:r>
              <a:rPr lang="en-US" altLang="zh-CN" i="1">
                <a:solidFill>
                  <a:srgbClr val="0000FF"/>
                </a:solidFill>
                <a:latin typeface="Consolas" pitchFamily="49" charset="0"/>
                <a:ea typeface="仿宋" pitchFamily="49" charset="-122"/>
                <a:cs typeface="Consolas" pitchFamily="49" charset="0"/>
              </a:rPr>
              <a:t>j</a:t>
            </a:r>
            <a:r>
              <a:rPr lang="en-US" altLang="zh-CN">
                <a:solidFill>
                  <a:srgbClr val="0000FF"/>
                </a:solidFill>
                <a:latin typeface="Consolas" pitchFamily="49" charset="0"/>
                <a:ea typeface="仿宋" pitchFamily="49" charset="-122"/>
                <a:cs typeface="Consolas" pitchFamily="49" charset="0"/>
              </a:rPr>
              <a:t>]</a:t>
            </a:r>
            <a:r>
              <a:rPr lang="zh-CN" altLang="en-US">
                <a:solidFill>
                  <a:srgbClr val="0000FF"/>
                </a:solidFill>
                <a:latin typeface="Consolas" pitchFamily="49" charset="0"/>
                <a:ea typeface="仿宋" pitchFamily="49" charset="-122"/>
                <a:cs typeface="Consolas" pitchFamily="49" charset="0"/>
              </a:rPr>
              <a:t>给出了从源点到顶点</a:t>
            </a:r>
            <a:r>
              <a:rPr lang="en-US" altLang="zh-CN" i="1">
                <a:solidFill>
                  <a:srgbClr val="0000FF"/>
                </a:solidFill>
                <a:latin typeface="Consolas" pitchFamily="49" charset="0"/>
                <a:ea typeface="仿宋" pitchFamily="49" charset="-122"/>
                <a:cs typeface="Consolas" pitchFamily="49" charset="0"/>
              </a:rPr>
              <a:t>j</a:t>
            </a:r>
            <a:r>
              <a:rPr lang="zh-CN" altLang="en-US">
                <a:solidFill>
                  <a:srgbClr val="0000FF"/>
                </a:solidFill>
                <a:latin typeface="Consolas" pitchFamily="49" charset="0"/>
                <a:ea typeface="仿宋" pitchFamily="49" charset="-122"/>
                <a:cs typeface="Consolas" pitchFamily="49" charset="0"/>
              </a:rPr>
              <a:t>的最短特殊路径长度，即该路径上的所有中间顶点都属于</a:t>
            </a:r>
            <a:r>
              <a:rPr lang="en-US" altLang="zh-CN">
                <a:solidFill>
                  <a:srgbClr val="0000FF"/>
                </a:solidFill>
                <a:latin typeface="Consolas" pitchFamily="49" charset="0"/>
                <a:ea typeface="仿宋" pitchFamily="49" charset="-122"/>
                <a:cs typeface="Consolas" pitchFamily="49" charset="0"/>
              </a:rPr>
              <a:t>S</a:t>
            </a:r>
            <a:r>
              <a:rPr lang="zh-CN" altLang="en-US">
                <a:solidFill>
                  <a:srgbClr val="0000FF"/>
                </a:solidFill>
                <a:latin typeface="Consolas" pitchFamily="49" charset="0"/>
                <a:ea typeface="仿宋" pitchFamily="49" charset="-122"/>
                <a:cs typeface="Consolas" pitchFamily="49" charset="0"/>
              </a:rPr>
              <a:t>。</a:t>
            </a:r>
            <a:endParaRPr lang="zh-CN" altLang="en-US">
              <a:solidFill>
                <a:srgbClr val="0000FF"/>
              </a:solidFill>
              <a:latin typeface="Consolas" pitchFamily="49" charset="0"/>
              <a:ea typeface="仿宋" pitchFamily="49" charset="-122"/>
            </a:endParaRPr>
          </a:p>
        </p:txBody>
      </p:sp>
      <p:sp>
        <p:nvSpPr>
          <p:cNvPr id="7" name="灯片编号占位符 6"/>
          <p:cNvSpPr>
            <a:spLocks noGrp="1"/>
          </p:cNvSpPr>
          <p:nvPr>
            <p:ph type="sldNum" sz="quarter" idx="12"/>
          </p:nvPr>
        </p:nvSpPr>
        <p:spPr/>
        <p:txBody>
          <a:bodyPr/>
          <a:lstStyle/>
          <a:p>
            <a:fld id="{7AF016A1-9F15-429F-9EFD-84004B73C732}" type="slidenum">
              <a:rPr lang="en-US" altLang="zh-CN" smtClean="0"/>
              <a:pPr/>
              <a:t>45</a:t>
            </a:fld>
            <a:r>
              <a:rPr lang="en-US" altLang="zh-CN"/>
              <a:t>/158</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ext Box 2"/>
          <p:cNvSpPr txBox="1">
            <a:spLocks noChangeArrowheads="1"/>
          </p:cNvSpPr>
          <p:nvPr/>
        </p:nvSpPr>
        <p:spPr bwMode="auto">
          <a:xfrm>
            <a:off x="500034" y="994517"/>
            <a:ext cx="1214446" cy="461665"/>
          </a:xfrm>
          <a:prstGeom prst="rect">
            <a:avLst/>
          </a:prstGeom>
          <a:noFill/>
          <a:ln w="9525">
            <a:noFill/>
            <a:miter lim="800000"/>
            <a:headEnd/>
            <a:tailEnd/>
          </a:ln>
        </p:spPr>
        <p:txBody>
          <a:bodyPr wrap="square">
            <a:spAutoFit/>
          </a:bodyPr>
          <a:lstStyle/>
          <a:p>
            <a:pPr algn="l">
              <a:lnSpc>
                <a:spcPct val="100000"/>
              </a:lnSpc>
              <a:spcBef>
                <a:spcPct val="50000"/>
              </a:spcBef>
            </a:pPr>
            <a:r>
              <a:rPr lang="zh-CN" altLang="en-US">
                <a:solidFill>
                  <a:srgbClr val="FF0000"/>
                </a:solidFill>
                <a:latin typeface="微软雅黑" pitchFamily="34" charset="-122"/>
                <a:ea typeface="微软雅黑" pitchFamily="34" charset="-122"/>
                <a:cs typeface="Consolas" pitchFamily="49" charset="0"/>
              </a:rPr>
              <a:t>证明：</a:t>
            </a:r>
          </a:p>
        </p:txBody>
      </p:sp>
      <p:sp>
        <p:nvSpPr>
          <p:cNvPr id="81923" name="Text Box 3"/>
          <p:cNvSpPr txBox="1">
            <a:spLocks noChangeArrowheads="1"/>
          </p:cNvSpPr>
          <p:nvPr/>
        </p:nvSpPr>
        <p:spPr bwMode="auto">
          <a:xfrm>
            <a:off x="250825" y="1689864"/>
            <a:ext cx="8497888" cy="1754326"/>
          </a:xfrm>
          <a:prstGeom prst="rect">
            <a:avLst/>
          </a:prstGeom>
          <a:ln>
            <a:solidFill>
              <a:schemeClr val="accent6">
                <a:lumMod val="40000"/>
                <a:lumOff val="60000"/>
              </a:schemeClr>
            </a:solidFill>
            <a:headEnd/>
            <a:tailEnd/>
          </a:ln>
        </p:spPr>
        <p:style>
          <a:lnRef idx="2">
            <a:schemeClr val="accent6"/>
          </a:lnRef>
          <a:fillRef idx="1">
            <a:schemeClr val="lt1"/>
          </a:fillRef>
          <a:effectRef idx="0">
            <a:schemeClr val="accent6"/>
          </a:effectRef>
          <a:fontRef idx="minor">
            <a:schemeClr val="dk1"/>
          </a:fontRef>
        </p:style>
        <p:txBody>
          <a:bodyPr>
            <a:spAutoFit/>
          </a:bodyPr>
          <a:lstStyle/>
          <a:p>
            <a:pPr algn="l">
              <a:lnSpc>
                <a:spcPts val="3200"/>
              </a:lnSpc>
              <a:spcBef>
                <a:spcPts val="0"/>
              </a:spcBef>
            </a:pPr>
            <a:r>
              <a:rPr lang="zh-CN" altLang="en-US" dirty="0">
                <a:solidFill>
                  <a:srgbClr val="0000FF"/>
                </a:solidFill>
                <a:latin typeface="Consolas" pitchFamily="49" charset="0"/>
                <a:ea typeface="仿宋" pitchFamily="49" charset="-122"/>
                <a:cs typeface="Consolas" pitchFamily="49" charset="0"/>
              </a:rPr>
              <a:t>　　初始时</a:t>
            </a:r>
            <a:r>
              <a:rPr lang="en-US" altLang="zh-CN" dirty="0">
                <a:solidFill>
                  <a:srgbClr val="0000FF"/>
                </a:solidFill>
                <a:latin typeface="Consolas" pitchFamily="49" charset="0"/>
                <a:ea typeface="仿宋" pitchFamily="49" charset="-122"/>
                <a:cs typeface="Consolas" pitchFamily="49" charset="0"/>
              </a:rPr>
              <a:t>S</a:t>
            </a:r>
            <a:r>
              <a:rPr lang="zh-CN" altLang="en-US" dirty="0">
                <a:solidFill>
                  <a:srgbClr val="0000FF"/>
                </a:solidFill>
                <a:latin typeface="Consolas" pitchFamily="49" charset="0"/>
                <a:ea typeface="仿宋" pitchFamily="49" charset="-122"/>
                <a:cs typeface="Consolas" pitchFamily="49" charset="0"/>
              </a:rPr>
              <a:t>中只有一个源</a:t>
            </a:r>
            <a:r>
              <a:rPr lang="zh-CN" altLang="en-US">
                <a:solidFill>
                  <a:srgbClr val="0000FF"/>
                </a:solidFill>
                <a:latin typeface="Consolas" pitchFamily="49" charset="0"/>
                <a:ea typeface="仿宋" pitchFamily="49" charset="-122"/>
                <a:cs typeface="Consolas" pitchFamily="49" charset="0"/>
              </a:rPr>
              <a:t>点</a:t>
            </a:r>
            <a:r>
              <a:rPr lang="en-US" altLang="zh-CN" i="1">
                <a:solidFill>
                  <a:srgbClr val="0000FF"/>
                </a:solidFill>
                <a:latin typeface="Consolas" pitchFamily="49" charset="0"/>
                <a:ea typeface="仿宋" pitchFamily="49" charset="-122"/>
                <a:cs typeface="Consolas" pitchFamily="49" charset="0"/>
              </a:rPr>
              <a:t>v</a:t>
            </a:r>
            <a:r>
              <a:rPr lang="zh-CN" altLang="en-US">
                <a:solidFill>
                  <a:srgbClr val="0000FF"/>
                </a:solidFill>
                <a:latin typeface="Consolas" pitchFamily="49" charset="0"/>
                <a:ea typeface="仿宋" pitchFamily="49" charset="-122"/>
                <a:cs typeface="Consolas" pitchFamily="49" charset="0"/>
              </a:rPr>
              <a:t>，到</a:t>
            </a:r>
            <a:r>
              <a:rPr lang="zh-CN" altLang="en-US" dirty="0">
                <a:solidFill>
                  <a:srgbClr val="0000FF"/>
                </a:solidFill>
                <a:latin typeface="Consolas" pitchFamily="49" charset="0"/>
                <a:ea typeface="仿宋" pitchFamily="49" charset="-122"/>
                <a:cs typeface="Consolas" pitchFamily="49" charset="0"/>
              </a:rPr>
              <a:t>其他顶点的路径就是从源点到相应顶点</a:t>
            </a:r>
            <a:r>
              <a:rPr lang="zh-CN" altLang="en-US">
                <a:solidFill>
                  <a:srgbClr val="0000FF"/>
                </a:solidFill>
                <a:latin typeface="Consolas" pitchFamily="49" charset="0"/>
                <a:ea typeface="仿宋" pitchFamily="49" charset="-122"/>
                <a:cs typeface="Consolas" pitchFamily="49" charset="0"/>
              </a:rPr>
              <a:t>的边，显然（</a:t>
            </a:r>
            <a:r>
              <a:rPr lang="en-US" altLang="zh-CN">
                <a:solidFill>
                  <a:srgbClr val="0000FF"/>
                </a:solidFill>
                <a:latin typeface="Consolas" pitchFamily="49" charset="0"/>
                <a:ea typeface="仿宋" pitchFamily="49" charset="-122"/>
                <a:cs typeface="Consolas" pitchFamily="49" charset="0"/>
              </a:rPr>
              <a:t>1</a:t>
            </a:r>
            <a:r>
              <a:rPr lang="zh-CN" altLang="en-US">
                <a:solidFill>
                  <a:srgbClr val="0000FF"/>
                </a:solidFill>
                <a:latin typeface="Consolas" pitchFamily="49" charset="0"/>
                <a:ea typeface="仿宋" pitchFamily="49" charset="-122"/>
                <a:cs typeface="Consolas" pitchFamily="49" charset="0"/>
              </a:rPr>
              <a:t>）、（</a:t>
            </a:r>
            <a:r>
              <a:rPr lang="en-US" altLang="zh-CN">
                <a:solidFill>
                  <a:srgbClr val="0000FF"/>
                </a:solidFill>
                <a:latin typeface="Consolas" pitchFamily="49" charset="0"/>
                <a:ea typeface="仿宋" pitchFamily="49" charset="-122"/>
                <a:cs typeface="Consolas" pitchFamily="49" charset="0"/>
              </a:rPr>
              <a:t>2</a:t>
            </a:r>
            <a:r>
              <a:rPr lang="zh-CN" altLang="en-US">
                <a:solidFill>
                  <a:srgbClr val="0000FF"/>
                </a:solidFill>
                <a:latin typeface="Consolas" pitchFamily="49" charset="0"/>
                <a:ea typeface="仿宋" pitchFamily="49" charset="-122"/>
                <a:cs typeface="Consolas" pitchFamily="49" charset="0"/>
              </a:rPr>
              <a:t>）</a:t>
            </a:r>
            <a:r>
              <a:rPr lang="zh-CN" altLang="en-US" dirty="0">
                <a:solidFill>
                  <a:srgbClr val="0000FF"/>
                </a:solidFill>
                <a:latin typeface="Consolas" pitchFamily="49" charset="0"/>
                <a:ea typeface="仿宋" pitchFamily="49" charset="-122"/>
                <a:cs typeface="Consolas" pitchFamily="49" charset="0"/>
              </a:rPr>
              <a:t>是成立的。</a:t>
            </a:r>
          </a:p>
          <a:p>
            <a:pPr algn="l">
              <a:lnSpc>
                <a:spcPts val="3200"/>
              </a:lnSpc>
              <a:spcBef>
                <a:spcPts val="0"/>
              </a:spcBef>
            </a:pPr>
            <a:r>
              <a:rPr lang="zh-CN" altLang="en-US" dirty="0">
                <a:solidFill>
                  <a:srgbClr val="0000FF"/>
                </a:solidFill>
                <a:latin typeface="Consolas" pitchFamily="49" charset="0"/>
                <a:ea typeface="仿宋" pitchFamily="49" charset="-122"/>
                <a:cs typeface="Consolas" pitchFamily="49" charset="0"/>
              </a:rPr>
              <a:t>　　假设向</a:t>
            </a:r>
            <a:r>
              <a:rPr lang="en-US" altLang="zh-CN" dirty="0">
                <a:solidFill>
                  <a:srgbClr val="0000FF"/>
                </a:solidFill>
                <a:latin typeface="Consolas" pitchFamily="49" charset="0"/>
                <a:ea typeface="仿宋" pitchFamily="49" charset="-122"/>
                <a:cs typeface="Consolas" pitchFamily="49" charset="0"/>
              </a:rPr>
              <a:t>S</a:t>
            </a:r>
            <a:r>
              <a:rPr lang="zh-CN" altLang="en-US" dirty="0">
                <a:solidFill>
                  <a:srgbClr val="0000FF"/>
                </a:solidFill>
                <a:latin typeface="Consolas" pitchFamily="49" charset="0"/>
                <a:ea typeface="仿宋" pitchFamily="49" charset="-122"/>
                <a:cs typeface="Consolas" pitchFamily="49" charset="0"/>
              </a:rPr>
              <a:t>中添加一个新顶点</a:t>
            </a:r>
            <a:r>
              <a:rPr lang="en-US" altLang="zh-CN" i="1" dirty="0">
                <a:solidFill>
                  <a:srgbClr val="0000FF"/>
                </a:solidFill>
                <a:latin typeface="Consolas" pitchFamily="49" charset="0"/>
                <a:ea typeface="仿宋" pitchFamily="49" charset="-122"/>
                <a:cs typeface="Consolas" pitchFamily="49" charset="0"/>
              </a:rPr>
              <a:t>u</a:t>
            </a:r>
            <a:r>
              <a:rPr lang="zh-CN" altLang="en-US">
                <a:solidFill>
                  <a:srgbClr val="0000FF"/>
                </a:solidFill>
                <a:latin typeface="Consolas" pitchFamily="49" charset="0"/>
                <a:ea typeface="仿宋" pitchFamily="49" charset="-122"/>
                <a:cs typeface="Consolas" pitchFamily="49" charset="0"/>
              </a:rPr>
              <a:t>之前，条件（</a:t>
            </a:r>
            <a:r>
              <a:rPr lang="en-US" altLang="zh-CN">
                <a:solidFill>
                  <a:srgbClr val="0000FF"/>
                </a:solidFill>
                <a:latin typeface="Consolas" pitchFamily="49" charset="0"/>
                <a:ea typeface="仿宋" pitchFamily="49" charset="-122"/>
                <a:cs typeface="Consolas" pitchFamily="49" charset="0"/>
              </a:rPr>
              <a:t>1</a:t>
            </a:r>
            <a:r>
              <a:rPr lang="zh-CN" altLang="en-US">
                <a:solidFill>
                  <a:srgbClr val="0000FF"/>
                </a:solidFill>
                <a:latin typeface="Consolas" pitchFamily="49" charset="0"/>
                <a:ea typeface="仿宋" pitchFamily="49" charset="-122"/>
                <a:cs typeface="Consolas" pitchFamily="49" charset="0"/>
              </a:rPr>
              <a:t>）、（</a:t>
            </a:r>
            <a:r>
              <a:rPr lang="en-US" altLang="zh-CN">
                <a:solidFill>
                  <a:srgbClr val="0000FF"/>
                </a:solidFill>
                <a:latin typeface="Consolas" pitchFamily="49" charset="0"/>
                <a:ea typeface="仿宋" pitchFamily="49" charset="-122"/>
                <a:cs typeface="Consolas" pitchFamily="49" charset="0"/>
              </a:rPr>
              <a:t>2</a:t>
            </a:r>
            <a:r>
              <a:rPr lang="zh-CN" altLang="en-US">
                <a:solidFill>
                  <a:srgbClr val="0000FF"/>
                </a:solidFill>
                <a:latin typeface="Consolas" pitchFamily="49" charset="0"/>
                <a:ea typeface="仿宋" pitchFamily="49" charset="-122"/>
                <a:cs typeface="Consolas" pitchFamily="49" charset="0"/>
              </a:rPr>
              <a:t>）</a:t>
            </a:r>
            <a:r>
              <a:rPr lang="zh-CN" altLang="en-US" dirty="0">
                <a:solidFill>
                  <a:srgbClr val="0000FF"/>
                </a:solidFill>
                <a:latin typeface="Consolas" pitchFamily="49" charset="0"/>
                <a:ea typeface="仿宋" pitchFamily="49" charset="-122"/>
                <a:cs typeface="Consolas" pitchFamily="49" charset="0"/>
              </a:rPr>
              <a:t>都成立。</a:t>
            </a:r>
          </a:p>
        </p:txBody>
      </p:sp>
      <p:sp>
        <p:nvSpPr>
          <p:cNvPr id="4" name="TextBox 3"/>
          <p:cNvSpPr txBox="1"/>
          <p:nvPr/>
        </p:nvSpPr>
        <p:spPr>
          <a:xfrm>
            <a:off x="571472" y="3637723"/>
            <a:ext cx="8001056" cy="1577227"/>
          </a:xfrm>
          <a:prstGeom prst="rect">
            <a:avLst/>
          </a:prstGeom>
          <a:solidFill>
            <a:schemeClr val="bg1">
              <a:lumMod val="95000"/>
            </a:schemeClr>
          </a:solidFill>
          <a:ln>
            <a:solidFill>
              <a:schemeClr val="accent6">
                <a:lumMod val="20000"/>
                <a:lumOff val="80000"/>
              </a:schemeClr>
            </a:solidFill>
          </a:ln>
        </p:spPr>
        <p:style>
          <a:lnRef idx="1">
            <a:schemeClr val="accent4"/>
          </a:lnRef>
          <a:fillRef idx="2">
            <a:schemeClr val="accent4"/>
          </a:fillRef>
          <a:effectRef idx="1">
            <a:schemeClr val="accent4"/>
          </a:effectRef>
          <a:fontRef idx="minor">
            <a:schemeClr val="dk1"/>
          </a:fontRef>
        </p:style>
        <p:txBody>
          <a:bodyPr wrap="square" rtlCol="0">
            <a:spAutoFit/>
          </a:bodyPr>
          <a:lstStyle/>
          <a:p>
            <a:pPr algn="l">
              <a:lnSpc>
                <a:spcPts val="2800"/>
              </a:lnSpc>
              <a:spcBef>
                <a:spcPts val="600"/>
              </a:spcBef>
            </a:pPr>
            <a:r>
              <a:rPr lang="zh-CN" altLang="en-US" sz="2000">
                <a:solidFill>
                  <a:schemeClr val="bg2">
                    <a:lumMod val="25000"/>
                  </a:schemeClr>
                </a:solidFill>
                <a:latin typeface="Consolas" pitchFamily="49" charset="0"/>
                <a:ea typeface="楷体" pitchFamily="49" charset="-122"/>
                <a:cs typeface="Consolas" pitchFamily="49" charset="0"/>
              </a:rPr>
              <a:t>　（</a:t>
            </a:r>
            <a:r>
              <a:rPr lang="en-US" altLang="zh-CN" sz="2000">
                <a:solidFill>
                  <a:schemeClr val="bg2">
                    <a:lumMod val="25000"/>
                  </a:schemeClr>
                </a:solidFill>
                <a:latin typeface="Consolas" pitchFamily="49" charset="0"/>
                <a:ea typeface="楷体" pitchFamily="49" charset="-122"/>
                <a:cs typeface="Consolas" pitchFamily="49" charset="0"/>
              </a:rPr>
              <a:t>1</a:t>
            </a:r>
            <a:r>
              <a:rPr lang="zh-CN" altLang="en-US" sz="2000">
                <a:solidFill>
                  <a:schemeClr val="bg2">
                    <a:lumMod val="25000"/>
                  </a:schemeClr>
                </a:solidFill>
                <a:latin typeface="Consolas" pitchFamily="49" charset="0"/>
                <a:ea typeface="楷体" pitchFamily="49" charset="-122"/>
                <a:cs typeface="Consolas" pitchFamily="49" charset="0"/>
              </a:rPr>
              <a:t>）如果顶点</a:t>
            </a:r>
            <a:r>
              <a:rPr lang="en-US" altLang="zh-CN" sz="2000" i="1">
                <a:solidFill>
                  <a:schemeClr val="bg2">
                    <a:lumMod val="25000"/>
                  </a:schemeClr>
                </a:solidFill>
                <a:latin typeface="Consolas" pitchFamily="49" charset="0"/>
                <a:ea typeface="楷体" pitchFamily="49" charset="-122"/>
                <a:cs typeface="Consolas" pitchFamily="49" charset="0"/>
              </a:rPr>
              <a:t>j</a:t>
            </a:r>
            <a:r>
              <a:rPr lang="zh-CN" altLang="en-US" sz="2000">
                <a:solidFill>
                  <a:schemeClr val="bg2">
                    <a:lumMod val="25000"/>
                  </a:schemeClr>
                </a:solidFill>
                <a:latin typeface="Consolas" pitchFamily="49" charset="0"/>
                <a:ea typeface="楷体" pitchFamily="49" charset="-122"/>
                <a:cs typeface="Consolas" pitchFamily="49" charset="0"/>
              </a:rPr>
              <a:t>在</a:t>
            </a:r>
            <a:r>
              <a:rPr lang="en-US" altLang="zh-CN" sz="2000">
                <a:solidFill>
                  <a:schemeClr val="bg2">
                    <a:lumMod val="25000"/>
                  </a:schemeClr>
                </a:solidFill>
                <a:latin typeface="Consolas" pitchFamily="49" charset="0"/>
                <a:ea typeface="楷体" pitchFamily="49" charset="-122"/>
                <a:cs typeface="Consolas" pitchFamily="49" charset="0"/>
              </a:rPr>
              <a:t>S</a:t>
            </a:r>
            <a:r>
              <a:rPr lang="zh-CN" altLang="en-US" sz="2000">
                <a:solidFill>
                  <a:schemeClr val="bg2">
                    <a:lumMod val="25000"/>
                  </a:schemeClr>
                </a:solidFill>
                <a:latin typeface="Consolas" pitchFamily="49" charset="0"/>
                <a:ea typeface="楷体" pitchFamily="49" charset="-122"/>
                <a:cs typeface="Consolas" pitchFamily="49" charset="0"/>
              </a:rPr>
              <a:t>中，则</a:t>
            </a:r>
            <a:r>
              <a:rPr lang="en-US" altLang="zh-CN" sz="2000">
                <a:solidFill>
                  <a:schemeClr val="bg2">
                    <a:lumMod val="25000"/>
                  </a:schemeClr>
                </a:solidFill>
                <a:latin typeface="Consolas" pitchFamily="49" charset="0"/>
                <a:ea typeface="楷体" pitchFamily="49" charset="-122"/>
                <a:cs typeface="Consolas" pitchFamily="49" charset="0"/>
              </a:rPr>
              <a:t>dist[</a:t>
            </a:r>
            <a:r>
              <a:rPr lang="en-US" altLang="zh-CN" sz="2000" i="1">
                <a:solidFill>
                  <a:schemeClr val="bg2">
                    <a:lumMod val="25000"/>
                  </a:schemeClr>
                </a:solidFill>
                <a:latin typeface="Consolas" pitchFamily="49" charset="0"/>
                <a:ea typeface="楷体" pitchFamily="49" charset="-122"/>
                <a:cs typeface="Consolas" pitchFamily="49" charset="0"/>
              </a:rPr>
              <a:t>i</a:t>
            </a:r>
            <a:r>
              <a:rPr lang="en-US" altLang="zh-CN" sz="2000">
                <a:solidFill>
                  <a:schemeClr val="bg2">
                    <a:lumMod val="25000"/>
                  </a:schemeClr>
                </a:solidFill>
                <a:latin typeface="Consolas" pitchFamily="49" charset="0"/>
                <a:ea typeface="楷体" pitchFamily="49" charset="-122"/>
                <a:cs typeface="Consolas" pitchFamily="49" charset="0"/>
              </a:rPr>
              <a:t>]</a:t>
            </a:r>
            <a:r>
              <a:rPr lang="zh-CN" altLang="en-US" sz="2000">
                <a:solidFill>
                  <a:schemeClr val="bg2">
                    <a:lumMod val="25000"/>
                  </a:schemeClr>
                </a:solidFill>
                <a:latin typeface="Consolas" pitchFamily="49" charset="0"/>
                <a:ea typeface="楷体" pitchFamily="49" charset="-122"/>
                <a:cs typeface="Consolas" pitchFamily="49" charset="0"/>
              </a:rPr>
              <a:t>给出了从源点到顶点</a:t>
            </a:r>
            <a:r>
              <a:rPr lang="en-US" altLang="zh-CN" sz="2000" i="1">
                <a:solidFill>
                  <a:schemeClr val="bg2">
                    <a:lumMod val="25000"/>
                  </a:schemeClr>
                </a:solidFill>
                <a:latin typeface="Consolas" pitchFamily="49" charset="0"/>
                <a:ea typeface="楷体" pitchFamily="49" charset="-122"/>
                <a:cs typeface="Consolas" pitchFamily="49" charset="0"/>
              </a:rPr>
              <a:t>i</a:t>
            </a:r>
            <a:r>
              <a:rPr lang="zh-CN" altLang="en-US" sz="2000">
                <a:solidFill>
                  <a:schemeClr val="bg2">
                    <a:lumMod val="25000"/>
                  </a:schemeClr>
                </a:solidFill>
                <a:latin typeface="Consolas" pitchFamily="49" charset="0"/>
                <a:ea typeface="楷体" pitchFamily="49" charset="-122"/>
                <a:cs typeface="Consolas" pitchFamily="49" charset="0"/>
              </a:rPr>
              <a:t>的最短路径长度。</a:t>
            </a:r>
          </a:p>
          <a:p>
            <a:pPr algn="l">
              <a:lnSpc>
                <a:spcPts val="2800"/>
              </a:lnSpc>
              <a:spcBef>
                <a:spcPts val="600"/>
              </a:spcBef>
            </a:pPr>
            <a:r>
              <a:rPr lang="zh-CN" altLang="en-US" sz="2000">
                <a:solidFill>
                  <a:schemeClr val="bg2">
                    <a:lumMod val="25000"/>
                  </a:schemeClr>
                </a:solidFill>
                <a:latin typeface="Consolas" pitchFamily="49" charset="0"/>
                <a:ea typeface="楷体" pitchFamily="49" charset="-122"/>
                <a:cs typeface="Consolas" pitchFamily="49" charset="0"/>
              </a:rPr>
              <a:t>　（</a:t>
            </a:r>
            <a:r>
              <a:rPr lang="en-US" altLang="zh-CN" sz="2000">
                <a:solidFill>
                  <a:schemeClr val="bg2">
                    <a:lumMod val="25000"/>
                  </a:schemeClr>
                </a:solidFill>
                <a:latin typeface="Consolas" pitchFamily="49" charset="0"/>
                <a:ea typeface="楷体" pitchFamily="49" charset="-122"/>
                <a:cs typeface="Consolas" pitchFamily="49" charset="0"/>
              </a:rPr>
              <a:t>2</a:t>
            </a:r>
            <a:r>
              <a:rPr lang="zh-CN" altLang="en-US" sz="2000">
                <a:solidFill>
                  <a:schemeClr val="bg2">
                    <a:lumMod val="25000"/>
                  </a:schemeClr>
                </a:solidFill>
                <a:latin typeface="Consolas" pitchFamily="49" charset="0"/>
                <a:ea typeface="楷体" pitchFamily="49" charset="-122"/>
                <a:cs typeface="Consolas" pitchFamily="49" charset="0"/>
              </a:rPr>
              <a:t>）如果顶点</a:t>
            </a:r>
            <a:r>
              <a:rPr lang="en-US" altLang="zh-CN" sz="2000" i="1">
                <a:solidFill>
                  <a:schemeClr val="bg2">
                    <a:lumMod val="25000"/>
                  </a:schemeClr>
                </a:solidFill>
                <a:latin typeface="Consolas" pitchFamily="49" charset="0"/>
                <a:ea typeface="楷体" pitchFamily="49" charset="-122"/>
                <a:cs typeface="Consolas" pitchFamily="49" charset="0"/>
              </a:rPr>
              <a:t>j</a:t>
            </a:r>
            <a:r>
              <a:rPr lang="zh-CN" altLang="en-US" sz="2000">
                <a:solidFill>
                  <a:schemeClr val="bg2">
                    <a:lumMod val="25000"/>
                  </a:schemeClr>
                </a:solidFill>
                <a:latin typeface="Consolas" pitchFamily="49" charset="0"/>
                <a:ea typeface="楷体" pitchFamily="49" charset="-122"/>
                <a:cs typeface="Consolas" pitchFamily="49" charset="0"/>
              </a:rPr>
              <a:t>不在</a:t>
            </a:r>
            <a:r>
              <a:rPr lang="en-US" altLang="zh-CN" sz="2000">
                <a:solidFill>
                  <a:schemeClr val="bg2">
                    <a:lumMod val="25000"/>
                  </a:schemeClr>
                </a:solidFill>
                <a:latin typeface="Consolas" pitchFamily="49" charset="0"/>
                <a:ea typeface="楷体" pitchFamily="49" charset="-122"/>
                <a:cs typeface="Consolas" pitchFamily="49" charset="0"/>
              </a:rPr>
              <a:t>S</a:t>
            </a:r>
            <a:r>
              <a:rPr lang="zh-CN" altLang="en-US" sz="2000">
                <a:solidFill>
                  <a:schemeClr val="bg2">
                    <a:lumMod val="25000"/>
                  </a:schemeClr>
                </a:solidFill>
                <a:latin typeface="Consolas" pitchFamily="49" charset="0"/>
                <a:ea typeface="楷体" pitchFamily="49" charset="-122"/>
                <a:cs typeface="Consolas" pitchFamily="49" charset="0"/>
              </a:rPr>
              <a:t>中，则</a:t>
            </a:r>
            <a:r>
              <a:rPr lang="en-US" altLang="zh-CN" sz="2000">
                <a:solidFill>
                  <a:schemeClr val="bg2">
                    <a:lumMod val="25000"/>
                  </a:schemeClr>
                </a:solidFill>
                <a:latin typeface="Consolas" pitchFamily="49" charset="0"/>
                <a:ea typeface="楷体" pitchFamily="49" charset="-122"/>
                <a:cs typeface="Consolas" pitchFamily="49" charset="0"/>
              </a:rPr>
              <a:t>dist[</a:t>
            </a:r>
            <a:r>
              <a:rPr lang="en-US" altLang="zh-CN" sz="2000" i="1">
                <a:solidFill>
                  <a:schemeClr val="bg2">
                    <a:lumMod val="25000"/>
                  </a:schemeClr>
                </a:solidFill>
                <a:latin typeface="Consolas" pitchFamily="49" charset="0"/>
                <a:ea typeface="楷体" pitchFamily="49" charset="-122"/>
                <a:cs typeface="Consolas" pitchFamily="49" charset="0"/>
              </a:rPr>
              <a:t>j</a:t>
            </a:r>
            <a:r>
              <a:rPr lang="en-US" altLang="zh-CN" sz="2000">
                <a:solidFill>
                  <a:schemeClr val="bg2">
                    <a:lumMod val="25000"/>
                  </a:schemeClr>
                </a:solidFill>
                <a:latin typeface="Consolas" pitchFamily="49" charset="0"/>
                <a:ea typeface="楷体" pitchFamily="49" charset="-122"/>
                <a:cs typeface="Consolas" pitchFamily="49" charset="0"/>
              </a:rPr>
              <a:t>]</a:t>
            </a:r>
            <a:r>
              <a:rPr lang="zh-CN" altLang="en-US" sz="2000">
                <a:solidFill>
                  <a:schemeClr val="bg2">
                    <a:lumMod val="25000"/>
                  </a:schemeClr>
                </a:solidFill>
                <a:latin typeface="Consolas" pitchFamily="49" charset="0"/>
                <a:ea typeface="楷体" pitchFamily="49" charset="-122"/>
                <a:cs typeface="Consolas" pitchFamily="49" charset="0"/>
              </a:rPr>
              <a:t>给出了从源点到顶点</a:t>
            </a:r>
            <a:r>
              <a:rPr lang="en-US" altLang="zh-CN" sz="2000" i="1">
                <a:solidFill>
                  <a:schemeClr val="bg2">
                    <a:lumMod val="25000"/>
                  </a:schemeClr>
                </a:solidFill>
                <a:latin typeface="Consolas" pitchFamily="49" charset="0"/>
                <a:ea typeface="楷体" pitchFamily="49" charset="-122"/>
                <a:cs typeface="Consolas" pitchFamily="49" charset="0"/>
              </a:rPr>
              <a:t>j</a:t>
            </a:r>
            <a:r>
              <a:rPr lang="zh-CN" altLang="en-US" sz="2000">
                <a:solidFill>
                  <a:schemeClr val="bg2">
                    <a:lumMod val="25000"/>
                  </a:schemeClr>
                </a:solidFill>
                <a:latin typeface="Consolas" pitchFamily="49" charset="0"/>
                <a:ea typeface="楷体" pitchFamily="49" charset="-122"/>
                <a:cs typeface="Consolas" pitchFamily="49" charset="0"/>
              </a:rPr>
              <a:t>的最短特殊路径长度，即该路径上的所有中间顶点都属于</a:t>
            </a:r>
            <a:r>
              <a:rPr lang="en-US" altLang="zh-CN" sz="2000">
                <a:solidFill>
                  <a:schemeClr val="bg2">
                    <a:lumMod val="25000"/>
                  </a:schemeClr>
                </a:solidFill>
                <a:latin typeface="Consolas" pitchFamily="49" charset="0"/>
                <a:ea typeface="楷体" pitchFamily="49" charset="-122"/>
                <a:cs typeface="Consolas" pitchFamily="49" charset="0"/>
              </a:rPr>
              <a:t>S</a:t>
            </a:r>
            <a:r>
              <a:rPr lang="zh-CN" altLang="en-US" sz="2000">
                <a:solidFill>
                  <a:schemeClr val="bg2">
                    <a:lumMod val="25000"/>
                  </a:schemeClr>
                </a:solidFill>
                <a:latin typeface="Consolas" pitchFamily="49" charset="0"/>
                <a:ea typeface="楷体" pitchFamily="49" charset="-122"/>
                <a:cs typeface="Consolas" pitchFamily="49" charset="0"/>
              </a:rPr>
              <a:t>。</a:t>
            </a:r>
          </a:p>
        </p:txBody>
      </p:sp>
      <p:sp>
        <p:nvSpPr>
          <p:cNvPr id="6" name="灯片编号占位符 5"/>
          <p:cNvSpPr>
            <a:spLocks noGrp="1"/>
          </p:cNvSpPr>
          <p:nvPr>
            <p:ph type="sldNum" sz="quarter" idx="12"/>
          </p:nvPr>
        </p:nvSpPr>
        <p:spPr/>
        <p:txBody>
          <a:bodyPr/>
          <a:lstStyle/>
          <a:p>
            <a:fld id="{7AF016A1-9F15-429F-9EFD-84004B73C732}" type="slidenum">
              <a:rPr lang="en-US" altLang="zh-CN" smtClean="0"/>
              <a:pPr/>
              <a:t>46</a:t>
            </a:fld>
            <a:r>
              <a:rPr lang="en-US" altLang="zh-CN"/>
              <a:t>/158</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Text Box 2"/>
          <p:cNvSpPr txBox="1">
            <a:spLocks noChangeArrowheads="1"/>
          </p:cNvSpPr>
          <p:nvPr/>
        </p:nvSpPr>
        <p:spPr bwMode="auto">
          <a:xfrm>
            <a:off x="323850" y="333375"/>
            <a:ext cx="8351838" cy="3400931"/>
          </a:xfrm>
          <a:prstGeom prst="rect">
            <a:avLst/>
          </a:prstGeom>
          <a:solidFill>
            <a:schemeClr val="bg1"/>
          </a:solidFill>
          <a:ln w="9525">
            <a:solidFill>
              <a:schemeClr val="accent6">
                <a:lumMod val="40000"/>
                <a:lumOff val="60000"/>
              </a:schemeClr>
            </a:solidFill>
            <a:miter lim="800000"/>
            <a:headEnd/>
            <a:tailEnd/>
          </a:ln>
        </p:spPr>
        <p:txBody>
          <a:bodyPr>
            <a:spAutoFit/>
          </a:bodyPr>
          <a:lstStyle/>
          <a:p>
            <a:pPr algn="l">
              <a:lnSpc>
                <a:spcPts val="3100"/>
              </a:lnSpc>
              <a:spcBef>
                <a:spcPts val="600"/>
              </a:spcBef>
            </a:pPr>
            <a:r>
              <a:rPr lang="zh-CN" altLang="en-US">
                <a:solidFill>
                  <a:srgbClr val="0000FF"/>
                </a:solidFill>
                <a:latin typeface="Consolas" pitchFamily="49" charset="0"/>
                <a:ea typeface="仿宋" pitchFamily="49" charset="-122"/>
                <a:cs typeface="Consolas" pitchFamily="49" charset="0"/>
              </a:rPr>
              <a:t>　 条件（</a:t>
            </a:r>
            <a:r>
              <a:rPr lang="en-US" altLang="zh-CN">
                <a:solidFill>
                  <a:srgbClr val="0000FF"/>
                </a:solidFill>
                <a:latin typeface="Consolas" pitchFamily="49" charset="0"/>
                <a:ea typeface="仿宋" pitchFamily="49" charset="-122"/>
                <a:cs typeface="Consolas" pitchFamily="49" charset="0"/>
              </a:rPr>
              <a:t>1</a:t>
            </a:r>
            <a:r>
              <a:rPr lang="zh-CN" altLang="en-US">
                <a:solidFill>
                  <a:srgbClr val="0000FF"/>
                </a:solidFill>
                <a:latin typeface="Consolas" pitchFamily="49" charset="0"/>
                <a:ea typeface="仿宋" pitchFamily="49" charset="-122"/>
                <a:cs typeface="Consolas" pitchFamily="49" charset="0"/>
              </a:rPr>
              <a:t>）的归纳步骤：对于每个在添加之前已经存在于</a:t>
            </a:r>
            <a:r>
              <a:rPr lang="en-US" altLang="zh-CN">
                <a:solidFill>
                  <a:srgbClr val="0000FF"/>
                </a:solidFill>
                <a:latin typeface="Consolas" pitchFamily="49" charset="0"/>
                <a:ea typeface="仿宋" pitchFamily="49" charset="-122"/>
                <a:cs typeface="Consolas" pitchFamily="49" charset="0"/>
              </a:rPr>
              <a:t>S</a:t>
            </a:r>
            <a:r>
              <a:rPr lang="zh-CN" altLang="en-US">
                <a:solidFill>
                  <a:srgbClr val="0000FF"/>
                </a:solidFill>
                <a:latin typeface="Consolas" pitchFamily="49" charset="0"/>
                <a:ea typeface="仿宋" pitchFamily="49" charset="-122"/>
                <a:cs typeface="Consolas" pitchFamily="49" charset="0"/>
              </a:rPr>
              <a:t>中的顶点</a:t>
            </a:r>
            <a:r>
              <a:rPr lang="en-US" altLang="zh-CN" i="1">
                <a:solidFill>
                  <a:srgbClr val="0000FF"/>
                </a:solidFill>
                <a:latin typeface="Consolas" pitchFamily="49" charset="0"/>
                <a:ea typeface="仿宋" pitchFamily="49" charset="-122"/>
                <a:cs typeface="Consolas" pitchFamily="49" charset="0"/>
              </a:rPr>
              <a:t>u</a:t>
            </a:r>
            <a:r>
              <a:rPr lang="zh-CN" altLang="en-US">
                <a:solidFill>
                  <a:srgbClr val="0000FF"/>
                </a:solidFill>
                <a:latin typeface="Consolas" pitchFamily="49" charset="0"/>
                <a:ea typeface="仿宋" pitchFamily="49" charset="-122"/>
                <a:cs typeface="Consolas" pitchFamily="49" charset="0"/>
              </a:rPr>
              <a:t>，不会有任何变化，条件（</a:t>
            </a:r>
            <a:r>
              <a:rPr lang="en-US" altLang="zh-CN">
                <a:solidFill>
                  <a:srgbClr val="0000FF"/>
                </a:solidFill>
                <a:latin typeface="Consolas" pitchFamily="49" charset="0"/>
                <a:ea typeface="仿宋" pitchFamily="49" charset="-122"/>
                <a:cs typeface="Consolas" pitchFamily="49" charset="0"/>
              </a:rPr>
              <a:t>1</a:t>
            </a:r>
            <a:r>
              <a:rPr lang="zh-CN" altLang="en-US">
                <a:solidFill>
                  <a:srgbClr val="0000FF"/>
                </a:solidFill>
                <a:latin typeface="Consolas" pitchFamily="49" charset="0"/>
                <a:ea typeface="仿宋" pitchFamily="49" charset="-122"/>
                <a:cs typeface="Consolas" pitchFamily="49" charset="0"/>
              </a:rPr>
              <a:t>）依然成立。</a:t>
            </a:r>
            <a:endParaRPr lang="en-US" altLang="zh-CN">
              <a:solidFill>
                <a:srgbClr val="0000FF"/>
              </a:solidFill>
              <a:latin typeface="Consolas" pitchFamily="49" charset="0"/>
              <a:ea typeface="仿宋" pitchFamily="49" charset="-122"/>
              <a:cs typeface="Consolas" pitchFamily="49" charset="0"/>
            </a:endParaRPr>
          </a:p>
          <a:p>
            <a:pPr algn="l">
              <a:lnSpc>
                <a:spcPts val="3100"/>
              </a:lnSpc>
              <a:spcBef>
                <a:spcPts val="600"/>
              </a:spcBef>
            </a:pPr>
            <a:r>
              <a:rPr lang="en-US" altLang="zh-CN">
                <a:solidFill>
                  <a:srgbClr val="0000FF"/>
                </a:solidFill>
                <a:latin typeface="Consolas" pitchFamily="49" charset="0"/>
                <a:ea typeface="仿宋" pitchFamily="49" charset="-122"/>
                <a:cs typeface="Consolas" pitchFamily="49" charset="0"/>
              </a:rPr>
              <a:t>   </a:t>
            </a:r>
            <a:r>
              <a:rPr lang="zh-CN" altLang="en-US">
                <a:solidFill>
                  <a:srgbClr val="0000FF"/>
                </a:solidFill>
                <a:latin typeface="Consolas" pitchFamily="49" charset="0"/>
                <a:ea typeface="仿宋" pitchFamily="49" charset="-122"/>
                <a:cs typeface="Consolas" pitchFamily="49" charset="0"/>
              </a:rPr>
              <a:t>在顶点</a:t>
            </a:r>
            <a:r>
              <a:rPr lang="en-US" altLang="zh-CN" i="1">
                <a:solidFill>
                  <a:srgbClr val="0000FF"/>
                </a:solidFill>
                <a:latin typeface="Consolas" pitchFamily="49" charset="0"/>
                <a:ea typeface="仿宋" pitchFamily="49" charset="-122"/>
                <a:cs typeface="Consolas" pitchFamily="49" charset="0"/>
              </a:rPr>
              <a:t>u</a:t>
            </a:r>
            <a:r>
              <a:rPr lang="zh-CN" altLang="en-US">
                <a:solidFill>
                  <a:srgbClr val="0000FF"/>
                </a:solidFill>
                <a:latin typeface="Consolas" pitchFamily="49" charset="0"/>
                <a:ea typeface="仿宋" pitchFamily="49" charset="-122"/>
                <a:cs typeface="Consolas" pitchFamily="49" charset="0"/>
              </a:rPr>
              <a:t>加入到</a:t>
            </a:r>
            <a:r>
              <a:rPr lang="en-US" altLang="zh-CN">
                <a:solidFill>
                  <a:srgbClr val="0000FF"/>
                </a:solidFill>
                <a:latin typeface="Consolas" pitchFamily="49" charset="0"/>
                <a:ea typeface="仿宋" pitchFamily="49" charset="-122"/>
                <a:cs typeface="Consolas" pitchFamily="49" charset="0"/>
              </a:rPr>
              <a:t>S</a:t>
            </a:r>
            <a:r>
              <a:rPr lang="zh-CN" altLang="en-US">
                <a:solidFill>
                  <a:srgbClr val="0000FF"/>
                </a:solidFill>
                <a:latin typeface="Consolas" pitchFamily="49" charset="0"/>
                <a:ea typeface="仿宋" pitchFamily="49" charset="-122"/>
                <a:cs typeface="Consolas" pitchFamily="49" charset="0"/>
              </a:rPr>
              <a:t>之前，由假设可知</a:t>
            </a:r>
            <a:r>
              <a:rPr lang="en-US" altLang="zh-CN">
                <a:solidFill>
                  <a:srgbClr val="0000FF"/>
                </a:solidFill>
                <a:latin typeface="Consolas" pitchFamily="49" charset="0"/>
                <a:ea typeface="仿宋" pitchFamily="49" charset="-122"/>
                <a:cs typeface="Consolas" pitchFamily="49" charset="0"/>
              </a:rPr>
              <a:t>dist[</a:t>
            </a:r>
            <a:r>
              <a:rPr lang="en-US" altLang="zh-CN" i="1">
                <a:solidFill>
                  <a:srgbClr val="0000FF"/>
                </a:solidFill>
                <a:latin typeface="Consolas" pitchFamily="49" charset="0"/>
                <a:ea typeface="仿宋" pitchFamily="49" charset="-122"/>
                <a:cs typeface="Consolas" pitchFamily="49" charset="0"/>
              </a:rPr>
              <a:t>u</a:t>
            </a:r>
            <a:r>
              <a:rPr lang="en-US" altLang="zh-CN">
                <a:solidFill>
                  <a:srgbClr val="0000FF"/>
                </a:solidFill>
                <a:latin typeface="Consolas" pitchFamily="49" charset="0"/>
                <a:ea typeface="仿宋" pitchFamily="49" charset="-122"/>
                <a:cs typeface="Consolas" pitchFamily="49" charset="0"/>
              </a:rPr>
              <a:t>]</a:t>
            </a:r>
            <a:r>
              <a:rPr lang="zh-CN" altLang="en-US">
                <a:solidFill>
                  <a:srgbClr val="0000FF"/>
                </a:solidFill>
                <a:latin typeface="Consolas" pitchFamily="49" charset="0"/>
                <a:ea typeface="仿宋" pitchFamily="49" charset="-122"/>
                <a:cs typeface="Consolas" pitchFamily="49" charset="0"/>
              </a:rPr>
              <a:t>是源点到</a:t>
            </a:r>
            <a:r>
              <a:rPr lang="en-US" altLang="zh-CN" i="1">
                <a:solidFill>
                  <a:srgbClr val="0000FF"/>
                </a:solidFill>
                <a:latin typeface="Consolas" pitchFamily="49" charset="0"/>
                <a:ea typeface="仿宋" pitchFamily="49" charset="-122"/>
                <a:cs typeface="Consolas" pitchFamily="49" charset="0"/>
              </a:rPr>
              <a:t>u</a:t>
            </a:r>
            <a:r>
              <a:rPr lang="zh-CN" altLang="en-US">
                <a:solidFill>
                  <a:srgbClr val="0000FF"/>
                </a:solidFill>
                <a:latin typeface="Consolas" pitchFamily="49" charset="0"/>
                <a:ea typeface="仿宋" pitchFamily="49" charset="-122"/>
                <a:cs typeface="Consolas" pitchFamily="49" charset="0"/>
              </a:rPr>
              <a:t>的最短路径长度，还要验证从源点</a:t>
            </a:r>
            <a:r>
              <a:rPr lang="en-US" altLang="zh-CN" i="1">
                <a:solidFill>
                  <a:srgbClr val="0000FF"/>
                </a:solidFill>
                <a:latin typeface="Consolas" pitchFamily="49" charset="0"/>
                <a:ea typeface="仿宋" pitchFamily="49" charset="-122"/>
                <a:cs typeface="Consolas" pitchFamily="49" charset="0"/>
              </a:rPr>
              <a:t>v</a:t>
            </a:r>
            <a:r>
              <a:rPr lang="zh-CN" altLang="en-US">
                <a:solidFill>
                  <a:srgbClr val="0000FF"/>
                </a:solidFill>
                <a:latin typeface="Consolas" pitchFamily="49" charset="0"/>
                <a:ea typeface="仿宋" pitchFamily="49" charset="-122"/>
                <a:cs typeface="Consolas" pitchFamily="49" charset="0"/>
              </a:rPr>
              <a:t>到顶点</a:t>
            </a:r>
            <a:r>
              <a:rPr lang="en-US" altLang="zh-CN" i="1">
                <a:solidFill>
                  <a:srgbClr val="0000FF"/>
                </a:solidFill>
                <a:latin typeface="Consolas" pitchFamily="49" charset="0"/>
                <a:ea typeface="仿宋" pitchFamily="49" charset="-122"/>
                <a:cs typeface="Consolas" pitchFamily="49" charset="0"/>
              </a:rPr>
              <a:t>u</a:t>
            </a:r>
            <a:r>
              <a:rPr lang="zh-CN" altLang="en-US">
                <a:solidFill>
                  <a:srgbClr val="0000FF"/>
                </a:solidFill>
                <a:latin typeface="Consolas" pitchFamily="49" charset="0"/>
                <a:ea typeface="仿宋" pitchFamily="49" charset="-122"/>
                <a:cs typeface="Consolas" pitchFamily="49" charset="0"/>
              </a:rPr>
              <a:t>的最短路径没有经过任何不在</a:t>
            </a:r>
            <a:r>
              <a:rPr lang="en-US" altLang="zh-CN">
                <a:solidFill>
                  <a:srgbClr val="0000FF"/>
                </a:solidFill>
                <a:latin typeface="Consolas" pitchFamily="49" charset="0"/>
                <a:ea typeface="仿宋" pitchFamily="49" charset="-122"/>
                <a:cs typeface="Consolas" pitchFamily="49" charset="0"/>
              </a:rPr>
              <a:t>S</a:t>
            </a:r>
            <a:r>
              <a:rPr lang="zh-CN" altLang="en-US">
                <a:solidFill>
                  <a:srgbClr val="0000FF"/>
                </a:solidFill>
                <a:latin typeface="Consolas" pitchFamily="49" charset="0"/>
                <a:ea typeface="仿宋" pitchFamily="49" charset="-122"/>
                <a:cs typeface="Consolas" pitchFamily="49" charset="0"/>
              </a:rPr>
              <a:t>中的顶点。</a:t>
            </a:r>
            <a:endParaRPr lang="en-US" altLang="zh-CN">
              <a:solidFill>
                <a:srgbClr val="0000FF"/>
              </a:solidFill>
              <a:latin typeface="Consolas" pitchFamily="49" charset="0"/>
              <a:ea typeface="仿宋" pitchFamily="49" charset="-122"/>
              <a:cs typeface="Consolas" pitchFamily="49" charset="0"/>
            </a:endParaRPr>
          </a:p>
          <a:p>
            <a:pPr algn="l">
              <a:lnSpc>
                <a:spcPts val="3100"/>
              </a:lnSpc>
              <a:spcBef>
                <a:spcPts val="600"/>
              </a:spcBef>
            </a:pPr>
            <a:r>
              <a:rPr lang="en-US" altLang="zh-CN">
                <a:solidFill>
                  <a:srgbClr val="0000FF"/>
                </a:solidFill>
                <a:latin typeface="Consolas" pitchFamily="49" charset="0"/>
                <a:ea typeface="仿宋" pitchFamily="49" charset="-122"/>
                <a:cs typeface="Consolas" pitchFamily="49" charset="0"/>
              </a:rPr>
              <a:t>   </a:t>
            </a:r>
            <a:r>
              <a:rPr lang="zh-CN" altLang="en-US">
                <a:solidFill>
                  <a:srgbClr val="0000FF"/>
                </a:solidFill>
                <a:latin typeface="Consolas" pitchFamily="49" charset="0"/>
                <a:ea typeface="仿宋" pitchFamily="49" charset="-122"/>
                <a:cs typeface="Consolas" pitchFamily="49" charset="0"/>
              </a:rPr>
              <a:t>假设存在这种情况，即沿着从源点</a:t>
            </a:r>
            <a:r>
              <a:rPr lang="en-US" altLang="zh-CN" i="1">
                <a:solidFill>
                  <a:srgbClr val="0000FF"/>
                </a:solidFill>
                <a:latin typeface="Consolas" pitchFamily="49" charset="0"/>
                <a:ea typeface="仿宋" pitchFamily="49" charset="-122"/>
                <a:cs typeface="Consolas" pitchFamily="49" charset="0"/>
              </a:rPr>
              <a:t>v</a:t>
            </a:r>
            <a:r>
              <a:rPr lang="zh-CN" altLang="en-US">
                <a:solidFill>
                  <a:srgbClr val="0000FF"/>
                </a:solidFill>
                <a:latin typeface="Consolas" pitchFamily="49" charset="0"/>
                <a:ea typeface="仿宋" pitchFamily="49" charset="-122"/>
                <a:cs typeface="Consolas" pitchFamily="49" charset="0"/>
              </a:rPr>
              <a:t>到顶点</a:t>
            </a:r>
            <a:r>
              <a:rPr lang="en-US" altLang="zh-CN" i="1">
                <a:solidFill>
                  <a:srgbClr val="0000FF"/>
                </a:solidFill>
                <a:latin typeface="Consolas" pitchFamily="49" charset="0"/>
                <a:ea typeface="仿宋" pitchFamily="49" charset="-122"/>
                <a:cs typeface="Consolas" pitchFamily="49" charset="0"/>
              </a:rPr>
              <a:t>u</a:t>
            </a:r>
            <a:r>
              <a:rPr lang="zh-CN" altLang="en-US">
                <a:solidFill>
                  <a:srgbClr val="0000FF"/>
                </a:solidFill>
                <a:latin typeface="Consolas" pitchFamily="49" charset="0"/>
                <a:ea typeface="仿宋" pitchFamily="49" charset="-122"/>
                <a:cs typeface="Consolas" pitchFamily="49" charset="0"/>
              </a:rPr>
              <a:t>的最短路径前进时，会遇到一个或多个不属于</a:t>
            </a:r>
            <a:r>
              <a:rPr lang="en-US" altLang="zh-CN">
                <a:solidFill>
                  <a:srgbClr val="0000FF"/>
                </a:solidFill>
                <a:latin typeface="Consolas" pitchFamily="49" charset="0"/>
                <a:ea typeface="仿宋" pitchFamily="49" charset="-122"/>
                <a:cs typeface="Consolas" pitchFamily="49" charset="0"/>
              </a:rPr>
              <a:t>S</a:t>
            </a:r>
            <a:r>
              <a:rPr lang="zh-CN" altLang="en-US">
                <a:solidFill>
                  <a:srgbClr val="0000FF"/>
                </a:solidFill>
                <a:latin typeface="Consolas" pitchFamily="49" charset="0"/>
                <a:ea typeface="仿宋" pitchFamily="49" charset="-122"/>
                <a:cs typeface="Consolas" pitchFamily="49" charset="0"/>
              </a:rPr>
              <a:t>的顶点（不含顶点</a:t>
            </a:r>
            <a:r>
              <a:rPr lang="en-US" altLang="zh-CN" i="1">
                <a:solidFill>
                  <a:srgbClr val="0000FF"/>
                </a:solidFill>
                <a:latin typeface="Consolas" pitchFamily="49" charset="0"/>
                <a:ea typeface="仿宋" pitchFamily="49" charset="-122"/>
                <a:cs typeface="Consolas" pitchFamily="49" charset="0"/>
              </a:rPr>
              <a:t>u</a:t>
            </a:r>
            <a:r>
              <a:rPr lang="zh-CN" altLang="en-US">
                <a:solidFill>
                  <a:srgbClr val="0000FF"/>
                </a:solidFill>
                <a:latin typeface="Consolas" pitchFamily="49" charset="0"/>
                <a:ea typeface="仿宋" pitchFamily="49" charset="-122"/>
                <a:cs typeface="Consolas" pitchFamily="49" charset="0"/>
              </a:rPr>
              <a:t>自已），设</a:t>
            </a:r>
            <a:r>
              <a:rPr lang="en-US" altLang="zh-CN" i="1">
                <a:solidFill>
                  <a:srgbClr val="0000FF"/>
                </a:solidFill>
                <a:latin typeface="Consolas" pitchFamily="49" charset="0"/>
                <a:ea typeface="仿宋" pitchFamily="49" charset="-122"/>
                <a:cs typeface="Consolas" pitchFamily="49" charset="0"/>
              </a:rPr>
              <a:t>x</a:t>
            </a:r>
            <a:r>
              <a:rPr lang="zh-CN" altLang="en-US">
                <a:solidFill>
                  <a:srgbClr val="0000FF"/>
                </a:solidFill>
                <a:latin typeface="Consolas" pitchFamily="49" charset="0"/>
                <a:ea typeface="仿宋" pitchFamily="49" charset="-122"/>
                <a:cs typeface="Consolas" pitchFamily="49" charset="0"/>
              </a:rPr>
              <a:t>是第一个这样的顶点，如图所示。</a:t>
            </a:r>
          </a:p>
        </p:txBody>
      </p:sp>
      <p:grpSp>
        <p:nvGrpSpPr>
          <p:cNvPr id="2" name="组合 15"/>
          <p:cNvGrpSpPr/>
          <p:nvPr/>
        </p:nvGrpSpPr>
        <p:grpSpPr>
          <a:xfrm>
            <a:off x="2714612" y="4149199"/>
            <a:ext cx="3286148" cy="2280197"/>
            <a:chOff x="2714612" y="3643314"/>
            <a:chExt cx="3286148" cy="2280197"/>
          </a:xfrm>
        </p:grpSpPr>
        <p:sp>
          <p:nvSpPr>
            <p:cNvPr id="5" name="椭圆 4"/>
            <p:cNvSpPr/>
            <p:nvPr/>
          </p:nvSpPr>
          <p:spPr>
            <a:xfrm>
              <a:off x="3214678" y="4494751"/>
              <a:ext cx="428628" cy="500066"/>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sz="2000" i="1">
                  <a:solidFill>
                    <a:srgbClr val="0000FF"/>
                  </a:solidFill>
                  <a:latin typeface="Consolas" pitchFamily="49" charset="0"/>
                  <a:cs typeface="Consolas" pitchFamily="49" charset="0"/>
                </a:rPr>
                <a:t>v</a:t>
              </a:r>
              <a:endParaRPr lang="zh-CN" altLang="en-US" sz="2000" i="1">
                <a:solidFill>
                  <a:srgbClr val="0000FF"/>
                </a:solidFill>
                <a:latin typeface="Consolas" pitchFamily="49" charset="0"/>
                <a:cs typeface="Consolas" pitchFamily="49" charset="0"/>
              </a:endParaRPr>
            </a:p>
          </p:txBody>
        </p:sp>
        <p:sp>
          <p:nvSpPr>
            <p:cNvPr id="6" name="椭圆 5"/>
            <p:cNvSpPr/>
            <p:nvPr/>
          </p:nvSpPr>
          <p:spPr>
            <a:xfrm>
              <a:off x="5572132" y="3708933"/>
              <a:ext cx="428628" cy="500066"/>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sz="2000" i="1">
                  <a:solidFill>
                    <a:srgbClr val="0000FF"/>
                  </a:solidFill>
                  <a:latin typeface="Consolas" pitchFamily="49" charset="0"/>
                  <a:cs typeface="Consolas" pitchFamily="49" charset="0"/>
                </a:rPr>
                <a:t>x</a:t>
              </a:r>
              <a:endParaRPr lang="zh-CN" altLang="en-US" sz="2000" i="1">
                <a:solidFill>
                  <a:srgbClr val="0000FF"/>
                </a:solidFill>
                <a:latin typeface="Consolas" pitchFamily="49" charset="0"/>
                <a:cs typeface="Consolas" pitchFamily="49" charset="0"/>
              </a:endParaRPr>
            </a:p>
          </p:txBody>
        </p:sp>
        <p:sp>
          <p:nvSpPr>
            <p:cNvPr id="7" name="椭圆 6"/>
            <p:cNvSpPr/>
            <p:nvPr/>
          </p:nvSpPr>
          <p:spPr>
            <a:xfrm>
              <a:off x="5143504" y="5209131"/>
              <a:ext cx="428628" cy="500066"/>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sz="2000" i="1">
                  <a:solidFill>
                    <a:srgbClr val="0000FF"/>
                  </a:solidFill>
                  <a:latin typeface="Consolas" pitchFamily="49" charset="0"/>
                  <a:cs typeface="Consolas" pitchFamily="49" charset="0"/>
                </a:rPr>
                <a:t>u</a:t>
              </a:r>
              <a:endParaRPr lang="zh-CN" altLang="en-US" sz="2000" i="1">
                <a:solidFill>
                  <a:srgbClr val="0000FF"/>
                </a:solidFill>
                <a:latin typeface="Consolas" pitchFamily="49" charset="0"/>
                <a:cs typeface="Consolas" pitchFamily="49" charset="0"/>
              </a:endParaRPr>
            </a:p>
          </p:txBody>
        </p:sp>
        <p:sp>
          <p:nvSpPr>
            <p:cNvPr id="8" name="椭圆 7"/>
            <p:cNvSpPr/>
            <p:nvPr/>
          </p:nvSpPr>
          <p:spPr>
            <a:xfrm>
              <a:off x="4143372" y="4566189"/>
              <a:ext cx="428628" cy="490542"/>
            </a:xfrm>
            <a:prstGeom prst="ellipse">
              <a:avLst/>
            </a:prstGeom>
            <a:solidFill>
              <a:schemeClr val="accent4">
                <a:lumMod val="40000"/>
                <a:lumOff val="60000"/>
              </a:schemeClr>
            </a:solidFill>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sz="2000" i="1">
                <a:solidFill>
                  <a:srgbClr val="0000FF"/>
                </a:solidFill>
                <a:latin typeface="Consolas" pitchFamily="49" charset="0"/>
                <a:cs typeface="Consolas" pitchFamily="49" charset="0"/>
              </a:endParaRPr>
            </a:p>
          </p:txBody>
        </p:sp>
        <p:sp>
          <p:nvSpPr>
            <p:cNvPr id="10" name="任意多边形 9"/>
            <p:cNvSpPr/>
            <p:nvPr/>
          </p:nvSpPr>
          <p:spPr>
            <a:xfrm>
              <a:off x="3568696" y="4972581"/>
              <a:ext cx="1600200" cy="789517"/>
            </a:xfrm>
            <a:custGeom>
              <a:avLst/>
              <a:gdLst>
                <a:gd name="connsiteX0" fmla="*/ 0 w 1600200"/>
                <a:gd name="connsiteY0" fmla="*/ 0 h 789517"/>
                <a:gd name="connsiteX1" fmla="*/ 241300 w 1600200"/>
                <a:gd name="connsiteY1" fmla="*/ 165100 h 789517"/>
                <a:gd name="connsiteX2" fmla="*/ 419100 w 1600200"/>
                <a:gd name="connsiteY2" fmla="*/ 558800 h 789517"/>
                <a:gd name="connsiteX3" fmla="*/ 850900 w 1600200"/>
                <a:gd name="connsiteY3" fmla="*/ 482600 h 789517"/>
                <a:gd name="connsiteX4" fmla="*/ 1117600 w 1600200"/>
                <a:gd name="connsiteY4" fmla="*/ 774700 h 789517"/>
                <a:gd name="connsiteX5" fmla="*/ 1600200 w 1600200"/>
                <a:gd name="connsiteY5" fmla="*/ 571500 h 789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00200" h="789517">
                  <a:moveTo>
                    <a:pt x="0" y="0"/>
                  </a:moveTo>
                  <a:cubicBezTo>
                    <a:pt x="85725" y="35983"/>
                    <a:pt x="171450" y="71967"/>
                    <a:pt x="241300" y="165100"/>
                  </a:cubicBezTo>
                  <a:cubicBezTo>
                    <a:pt x="311150" y="258233"/>
                    <a:pt x="317500" y="505883"/>
                    <a:pt x="419100" y="558800"/>
                  </a:cubicBezTo>
                  <a:cubicBezTo>
                    <a:pt x="520700" y="611717"/>
                    <a:pt x="734483" y="446617"/>
                    <a:pt x="850900" y="482600"/>
                  </a:cubicBezTo>
                  <a:cubicBezTo>
                    <a:pt x="967317" y="518583"/>
                    <a:pt x="992717" y="759883"/>
                    <a:pt x="1117600" y="774700"/>
                  </a:cubicBezTo>
                  <a:cubicBezTo>
                    <a:pt x="1242483" y="789517"/>
                    <a:pt x="1421341" y="680508"/>
                    <a:pt x="1600200" y="571500"/>
                  </a:cubicBezTo>
                </a:path>
              </a:pathLst>
            </a:custGeom>
            <a:ln>
              <a:tailEnd type="arrow"/>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latin typeface="Consolas" pitchFamily="49" charset="0"/>
                <a:cs typeface="Consolas" pitchFamily="49" charset="0"/>
              </a:endParaRPr>
            </a:p>
          </p:txBody>
        </p:sp>
        <p:sp>
          <p:nvSpPr>
            <p:cNvPr id="11" name="任意多边形 10"/>
            <p:cNvSpPr/>
            <p:nvPr/>
          </p:nvSpPr>
          <p:spPr>
            <a:xfrm>
              <a:off x="3530596" y="3643314"/>
              <a:ext cx="2044700" cy="897467"/>
            </a:xfrm>
            <a:custGeom>
              <a:avLst/>
              <a:gdLst>
                <a:gd name="connsiteX0" fmla="*/ 0 w 2044700"/>
                <a:gd name="connsiteY0" fmla="*/ 897467 h 897467"/>
                <a:gd name="connsiteX1" fmla="*/ 419100 w 2044700"/>
                <a:gd name="connsiteY1" fmla="*/ 668867 h 897467"/>
                <a:gd name="connsiteX2" fmla="*/ 698500 w 2044700"/>
                <a:gd name="connsiteY2" fmla="*/ 110067 h 897467"/>
                <a:gd name="connsiteX3" fmla="*/ 1041400 w 2044700"/>
                <a:gd name="connsiteY3" fmla="*/ 59267 h 897467"/>
                <a:gd name="connsiteX4" fmla="*/ 1549400 w 2044700"/>
                <a:gd name="connsiteY4" fmla="*/ 465667 h 897467"/>
                <a:gd name="connsiteX5" fmla="*/ 2044700 w 2044700"/>
                <a:gd name="connsiteY5" fmla="*/ 376767 h 897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44700" h="897467">
                  <a:moveTo>
                    <a:pt x="0" y="897467"/>
                  </a:moveTo>
                  <a:cubicBezTo>
                    <a:pt x="151341" y="848783"/>
                    <a:pt x="302683" y="800100"/>
                    <a:pt x="419100" y="668867"/>
                  </a:cubicBezTo>
                  <a:cubicBezTo>
                    <a:pt x="535517" y="537634"/>
                    <a:pt x="594783" y="211667"/>
                    <a:pt x="698500" y="110067"/>
                  </a:cubicBezTo>
                  <a:cubicBezTo>
                    <a:pt x="802217" y="8467"/>
                    <a:pt x="899583" y="0"/>
                    <a:pt x="1041400" y="59267"/>
                  </a:cubicBezTo>
                  <a:cubicBezTo>
                    <a:pt x="1183217" y="118534"/>
                    <a:pt x="1382183" y="412750"/>
                    <a:pt x="1549400" y="465667"/>
                  </a:cubicBezTo>
                  <a:cubicBezTo>
                    <a:pt x="1716617" y="518584"/>
                    <a:pt x="1880658" y="447675"/>
                    <a:pt x="2044700" y="376767"/>
                  </a:cubicBezTo>
                </a:path>
              </a:pathLst>
            </a:custGeom>
            <a:ln>
              <a:solidFill>
                <a:srgbClr val="FF0000"/>
              </a:solidFill>
              <a:tailEnd type="arrow"/>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latin typeface="Consolas" pitchFamily="49" charset="0"/>
                <a:cs typeface="Consolas" pitchFamily="49" charset="0"/>
              </a:endParaRPr>
            </a:p>
          </p:txBody>
        </p:sp>
        <p:sp>
          <p:nvSpPr>
            <p:cNvPr id="12" name="任意多边形 11"/>
            <p:cNvSpPr/>
            <p:nvPr/>
          </p:nvSpPr>
          <p:spPr>
            <a:xfrm>
              <a:off x="4584696" y="4210581"/>
              <a:ext cx="1104900" cy="533400"/>
            </a:xfrm>
            <a:custGeom>
              <a:avLst/>
              <a:gdLst>
                <a:gd name="connsiteX0" fmla="*/ 1104900 w 1104900"/>
                <a:gd name="connsiteY0" fmla="*/ 0 h 533400"/>
                <a:gd name="connsiteX1" fmla="*/ 685800 w 1104900"/>
                <a:gd name="connsiteY1" fmla="*/ 304800 h 533400"/>
                <a:gd name="connsiteX2" fmla="*/ 0 w 1104900"/>
                <a:gd name="connsiteY2" fmla="*/ 533400 h 533400"/>
              </a:gdLst>
              <a:ahLst/>
              <a:cxnLst>
                <a:cxn ang="0">
                  <a:pos x="connsiteX0" y="connsiteY0"/>
                </a:cxn>
                <a:cxn ang="0">
                  <a:pos x="connsiteX1" y="connsiteY1"/>
                </a:cxn>
                <a:cxn ang="0">
                  <a:pos x="connsiteX2" y="connsiteY2"/>
                </a:cxn>
              </a:cxnLst>
              <a:rect l="l" t="t" r="r" b="b"/>
              <a:pathLst>
                <a:path w="1104900" h="533400">
                  <a:moveTo>
                    <a:pt x="1104900" y="0"/>
                  </a:moveTo>
                  <a:cubicBezTo>
                    <a:pt x="987425" y="107950"/>
                    <a:pt x="869950" y="215900"/>
                    <a:pt x="685800" y="304800"/>
                  </a:cubicBezTo>
                  <a:cubicBezTo>
                    <a:pt x="501650" y="393700"/>
                    <a:pt x="250825" y="463550"/>
                    <a:pt x="0" y="533400"/>
                  </a:cubicBezTo>
                </a:path>
              </a:pathLst>
            </a:custGeom>
            <a:ln>
              <a:solidFill>
                <a:srgbClr val="FF0000"/>
              </a:solidFill>
              <a:tailEnd type="arrow"/>
            </a:ln>
          </p:spPr>
          <p:style>
            <a:lnRef idx="2">
              <a:schemeClr val="accent6"/>
            </a:lnRef>
            <a:fillRef idx="0">
              <a:schemeClr val="accent6"/>
            </a:fillRef>
            <a:effectRef idx="1">
              <a:schemeClr val="accent6"/>
            </a:effectRef>
            <a:fontRef idx="minor">
              <a:schemeClr val="tx1"/>
            </a:fontRef>
          </p:style>
          <p:txBody>
            <a:bodyPr rtlCol="0" anchor="ctr"/>
            <a:lstStyle/>
            <a:p>
              <a:pPr algn="ctr"/>
              <a:endParaRPr lang="zh-CN" altLang="en-US">
                <a:latin typeface="Consolas" pitchFamily="49" charset="0"/>
                <a:cs typeface="Consolas" pitchFamily="49" charset="0"/>
              </a:endParaRPr>
            </a:p>
          </p:txBody>
        </p:sp>
        <p:sp>
          <p:nvSpPr>
            <p:cNvPr id="13" name="任意多边形 12"/>
            <p:cNvSpPr/>
            <p:nvPr/>
          </p:nvSpPr>
          <p:spPr>
            <a:xfrm>
              <a:off x="4495796" y="5010681"/>
              <a:ext cx="723900" cy="279400"/>
            </a:xfrm>
            <a:custGeom>
              <a:avLst/>
              <a:gdLst>
                <a:gd name="connsiteX0" fmla="*/ 0 w 723900"/>
                <a:gd name="connsiteY0" fmla="*/ 0 h 279400"/>
                <a:gd name="connsiteX1" fmla="*/ 292100 w 723900"/>
                <a:gd name="connsiteY1" fmla="*/ 203200 h 279400"/>
                <a:gd name="connsiteX2" fmla="*/ 635000 w 723900"/>
                <a:gd name="connsiteY2" fmla="*/ 114300 h 279400"/>
                <a:gd name="connsiteX3" fmla="*/ 723900 w 723900"/>
                <a:gd name="connsiteY3" fmla="*/ 279400 h 279400"/>
              </a:gdLst>
              <a:ahLst/>
              <a:cxnLst>
                <a:cxn ang="0">
                  <a:pos x="connsiteX0" y="connsiteY0"/>
                </a:cxn>
                <a:cxn ang="0">
                  <a:pos x="connsiteX1" y="connsiteY1"/>
                </a:cxn>
                <a:cxn ang="0">
                  <a:pos x="connsiteX2" y="connsiteY2"/>
                </a:cxn>
                <a:cxn ang="0">
                  <a:pos x="connsiteX3" y="connsiteY3"/>
                </a:cxn>
              </a:cxnLst>
              <a:rect l="l" t="t" r="r" b="b"/>
              <a:pathLst>
                <a:path w="723900" h="279400">
                  <a:moveTo>
                    <a:pt x="0" y="0"/>
                  </a:moveTo>
                  <a:cubicBezTo>
                    <a:pt x="93133" y="92075"/>
                    <a:pt x="186267" y="184150"/>
                    <a:pt x="292100" y="203200"/>
                  </a:cubicBezTo>
                  <a:cubicBezTo>
                    <a:pt x="397933" y="222250"/>
                    <a:pt x="563033" y="101600"/>
                    <a:pt x="635000" y="114300"/>
                  </a:cubicBezTo>
                  <a:cubicBezTo>
                    <a:pt x="706967" y="127000"/>
                    <a:pt x="715433" y="203200"/>
                    <a:pt x="723900" y="279400"/>
                  </a:cubicBezTo>
                </a:path>
              </a:pathLst>
            </a:custGeom>
            <a:ln>
              <a:solidFill>
                <a:srgbClr val="FF0000"/>
              </a:solidFill>
              <a:tailEnd type="arrow"/>
            </a:ln>
          </p:spPr>
          <p:style>
            <a:lnRef idx="2">
              <a:schemeClr val="accent6"/>
            </a:lnRef>
            <a:fillRef idx="0">
              <a:schemeClr val="accent6"/>
            </a:fillRef>
            <a:effectRef idx="1">
              <a:schemeClr val="accent6"/>
            </a:effectRef>
            <a:fontRef idx="minor">
              <a:schemeClr val="tx1"/>
            </a:fontRef>
          </p:style>
          <p:txBody>
            <a:bodyPr rtlCol="0" anchor="ctr"/>
            <a:lstStyle/>
            <a:p>
              <a:pPr algn="ctr"/>
              <a:endParaRPr lang="zh-CN" altLang="en-US">
                <a:latin typeface="Consolas" pitchFamily="49" charset="0"/>
                <a:cs typeface="Consolas" pitchFamily="49" charset="0"/>
              </a:endParaRPr>
            </a:p>
          </p:txBody>
        </p:sp>
        <p:sp>
          <p:nvSpPr>
            <p:cNvPr id="14" name="椭圆 13"/>
            <p:cNvSpPr/>
            <p:nvPr/>
          </p:nvSpPr>
          <p:spPr>
            <a:xfrm>
              <a:off x="2714612" y="3994685"/>
              <a:ext cx="2214578" cy="1928826"/>
            </a:xfrm>
            <a:prstGeom prst="ellipse">
              <a:avLst/>
            </a:prstGeom>
            <a:solidFill>
              <a:schemeClr val="accent4">
                <a:lumMod val="20000"/>
                <a:lumOff val="80000"/>
                <a:alpha val="19000"/>
              </a:schemeClr>
            </a:solidFill>
            <a:ln>
              <a:tailEnd type="arrow"/>
            </a:ln>
          </p:spPr>
          <p:style>
            <a:lnRef idx="3">
              <a:schemeClr val="accent2"/>
            </a:lnRef>
            <a:fillRef idx="0">
              <a:schemeClr val="accent2"/>
            </a:fillRef>
            <a:effectRef idx="2">
              <a:schemeClr val="accent2"/>
            </a:effectRef>
            <a:fontRef idx="minor">
              <a:schemeClr val="tx1"/>
            </a:fontRef>
          </p:style>
          <p:txBody>
            <a:bodyPr rtlCol="0" anchor="ctr"/>
            <a:lstStyle/>
            <a:p>
              <a:pPr algn="ctr"/>
              <a:endParaRPr lang="zh-CN" altLang="en-US">
                <a:latin typeface="Consolas" pitchFamily="49" charset="0"/>
                <a:cs typeface="Consolas" pitchFamily="49" charset="0"/>
              </a:endParaRPr>
            </a:p>
          </p:txBody>
        </p:sp>
        <p:sp>
          <p:nvSpPr>
            <p:cNvPr id="15" name="TextBox 14"/>
            <p:cNvSpPr txBox="1"/>
            <p:nvPr/>
          </p:nvSpPr>
          <p:spPr>
            <a:xfrm>
              <a:off x="2786050" y="3708933"/>
              <a:ext cx="357190" cy="400110"/>
            </a:xfrm>
            <a:prstGeom prst="rect">
              <a:avLst/>
            </a:prstGeom>
            <a:noFill/>
          </p:spPr>
          <p:txBody>
            <a:bodyPr wrap="square" rtlCol="0">
              <a:spAutoFit/>
            </a:bodyPr>
            <a:lstStyle/>
            <a:p>
              <a:r>
                <a:rPr lang="en-US" altLang="zh-CN" sz="2000">
                  <a:solidFill>
                    <a:srgbClr val="0000FF"/>
                  </a:solidFill>
                  <a:latin typeface="Consolas" pitchFamily="49" charset="0"/>
                  <a:cs typeface="Consolas" pitchFamily="49" charset="0"/>
                </a:rPr>
                <a:t>S</a:t>
              </a:r>
              <a:endParaRPr lang="zh-CN" altLang="en-US" sz="2000">
                <a:solidFill>
                  <a:srgbClr val="0000FF"/>
                </a:solidFill>
                <a:latin typeface="Consolas" pitchFamily="49" charset="0"/>
                <a:cs typeface="Consolas" pitchFamily="49" charset="0"/>
              </a:endParaRPr>
            </a:p>
          </p:txBody>
        </p:sp>
      </p:grpSp>
      <p:sp>
        <p:nvSpPr>
          <p:cNvPr id="17" name="灯片编号占位符 16"/>
          <p:cNvSpPr>
            <a:spLocks noGrp="1"/>
          </p:cNvSpPr>
          <p:nvPr>
            <p:ph type="sldNum" sz="quarter" idx="12"/>
          </p:nvPr>
        </p:nvSpPr>
        <p:spPr/>
        <p:txBody>
          <a:bodyPr/>
          <a:lstStyle/>
          <a:p>
            <a:fld id="{7AF016A1-9F15-429F-9EFD-84004B73C732}" type="slidenum">
              <a:rPr lang="en-US" altLang="zh-CN" smtClean="0"/>
              <a:pPr/>
              <a:t>47</a:t>
            </a:fld>
            <a:r>
              <a:rPr lang="en-US" altLang="zh-CN"/>
              <a:t>/158</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387">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Text Box 2"/>
          <p:cNvSpPr txBox="1">
            <a:spLocks noChangeArrowheads="1"/>
          </p:cNvSpPr>
          <p:nvPr/>
        </p:nvSpPr>
        <p:spPr bwMode="auto">
          <a:xfrm>
            <a:off x="428596" y="2759231"/>
            <a:ext cx="8424862" cy="3532377"/>
          </a:xfrm>
          <a:prstGeom prst="rect">
            <a:avLst/>
          </a:prstGeom>
          <a:ln>
            <a:solidFill>
              <a:schemeClr val="accent6">
                <a:lumMod val="40000"/>
                <a:lumOff val="60000"/>
              </a:schemeClr>
            </a:solidFill>
            <a:headEnd/>
            <a:tailEnd/>
          </a:ln>
        </p:spPr>
        <p:style>
          <a:lnRef idx="2">
            <a:schemeClr val="accent6"/>
          </a:lnRef>
          <a:fillRef idx="1">
            <a:schemeClr val="lt1"/>
          </a:fillRef>
          <a:effectRef idx="0">
            <a:schemeClr val="accent6"/>
          </a:effectRef>
          <a:fontRef idx="minor">
            <a:schemeClr val="dk1"/>
          </a:fontRef>
        </p:style>
        <p:txBody>
          <a:bodyPr>
            <a:spAutoFit/>
          </a:bodyPr>
          <a:lstStyle/>
          <a:p>
            <a:pPr algn="l">
              <a:lnSpc>
                <a:spcPts val="3000"/>
              </a:lnSpc>
              <a:spcBef>
                <a:spcPts val="0"/>
              </a:spcBef>
            </a:pPr>
            <a:r>
              <a:rPr lang="zh-CN" altLang="en-US">
                <a:solidFill>
                  <a:srgbClr val="0000FF"/>
                </a:solidFill>
                <a:latin typeface="Consolas" pitchFamily="49" charset="0"/>
                <a:ea typeface="仿宋" pitchFamily="49" charset="-122"/>
                <a:cs typeface="Consolas" pitchFamily="49" charset="0"/>
              </a:rPr>
              <a:t>　 该路径的初始部分即从源点</a:t>
            </a:r>
            <a:r>
              <a:rPr lang="en-US" altLang="zh-CN" i="1">
                <a:solidFill>
                  <a:srgbClr val="0000FF"/>
                </a:solidFill>
                <a:latin typeface="Consolas" pitchFamily="49" charset="0"/>
                <a:ea typeface="仿宋" pitchFamily="49" charset="-122"/>
                <a:cs typeface="Consolas" pitchFamily="49" charset="0"/>
              </a:rPr>
              <a:t>v</a:t>
            </a:r>
            <a:r>
              <a:rPr lang="zh-CN" altLang="en-US">
                <a:solidFill>
                  <a:srgbClr val="0000FF"/>
                </a:solidFill>
                <a:latin typeface="Consolas" pitchFamily="49" charset="0"/>
                <a:ea typeface="仿宋" pitchFamily="49" charset="-122"/>
                <a:cs typeface="Consolas" pitchFamily="49" charset="0"/>
              </a:rPr>
              <a:t>到顶点</a:t>
            </a:r>
            <a:r>
              <a:rPr lang="en-US" altLang="zh-CN" i="1">
                <a:solidFill>
                  <a:srgbClr val="0000FF"/>
                </a:solidFill>
                <a:latin typeface="Consolas" pitchFamily="49" charset="0"/>
                <a:ea typeface="仿宋" pitchFamily="49" charset="-122"/>
                <a:cs typeface="Consolas" pitchFamily="49" charset="0"/>
              </a:rPr>
              <a:t>x</a:t>
            </a:r>
            <a:r>
              <a:rPr lang="zh-CN" altLang="en-US">
                <a:solidFill>
                  <a:srgbClr val="0000FF"/>
                </a:solidFill>
                <a:latin typeface="Consolas" pitchFamily="49" charset="0"/>
                <a:ea typeface="仿宋" pitchFamily="49" charset="-122"/>
                <a:cs typeface="Consolas" pitchFamily="49" charset="0"/>
              </a:rPr>
              <a:t>的部分是一条特殊路径，由假设的条件（</a:t>
            </a:r>
            <a:r>
              <a:rPr lang="en-US" altLang="zh-CN">
                <a:solidFill>
                  <a:srgbClr val="0000FF"/>
                </a:solidFill>
                <a:latin typeface="Consolas" pitchFamily="49" charset="0"/>
                <a:ea typeface="仿宋" pitchFamily="49" charset="-122"/>
                <a:cs typeface="Consolas" pitchFamily="49" charset="0"/>
              </a:rPr>
              <a:t>2</a:t>
            </a:r>
            <a:r>
              <a:rPr lang="zh-CN" altLang="en-US">
                <a:solidFill>
                  <a:srgbClr val="0000FF"/>
                </a:solidFill>
                <a:latin typeface="Consolas" pitchFamily="49" charset="0"/>
                <a:ea typeface="仿宋" pitchFamily="49" charset="-122"/>
                <a:cs typeface="Consolas" pitchFamily="49" charset="0"/>
              </a:rPr>
              <a:t>），</a:t>
            </a:r>
            <a:r>
              <a:rPr lang="en-US" altLang="zh-CN">
                <a:solidFill>
                  <a:srgbClr val="0000FF"/>
                </a:solidFill>
                <a:latin typeface="Consolas" pitchFamily="49" charset="0"/>
                <a:ea typeface="仿宋" pitchFamily="49" charset="-122"/>
                <a:cs typeface="Consolas" pitchFamily="49" charset="0"/>
              </a:rPr>
              <a:t>dist[</a:t>
            </a:r>
            <a:r>
              <a:rPr lang="en-US" altLang="zh-CN" i="1">
                <a:solidFill>
                  <a:srgbClr val="0000FF"/>
                </a:solidFill>
                <a:latin typeface="Consolas" pitchFamily="49" charset="0"/>
                <a:ea typeface="仿宋" pitchFamily="49" charset="-122"/>
                <a:cs typeface="Consolas" pitchFamily="49" charset="0"/>
              </a:rPr>
              <a:t>x</a:t>
            </a:r>
            <a:r>
              <a:rPr lang="en-US" altLang="zh-CN">
                <a:solidFill>
                  <a:srgbClr val="0000FF"/>
                </a:solidFill>
                <a:latin typeface="Consolas" pitchFamily="49" charset="0"/>
                <a:ea typeface="仿宋" pitchFamily="49" charset="-122"/>
                <a:cs typeface="Consolas" pitchFamily="49" charset="0"/>
              </a:rPr>
              <a:t>]</a:t>
            </a:r>
            <a:r>
              <a:rPr lang="zh-CN" altLang="en-US">
                <a:solidFill>
                  <a:srgbClr val="0000FF"/>
                </a:solidFill>
                <a:latin typeface="Consolas" pitchFamily="49" charset="0"/>
                <a:ea typeface="仿宋" pitchFamily="49" charset="-122"/>
                <a:cs typeface="Consolas" pitchFamily="49" charset="0"/>
              </a:rPr>
              <a:t>是源点</a:t>
            </a:r>
            <a:r>
              <a:rPr lang="en-US" altLang="zh-CN" i="1">
                <a:solidFill>
                  <a:srgbClr val="0000FF"/>
                </a:solidFill>
                <a:latin typeface="Consolas" pitchFamily="49" charset="0"/>
                <a:ea typeface="仿宋" pitchFamily="49" charset="-122"/>
                <a:cs typeface="Consolas" pitchFamily="49" charset="0"/>
              </a:rPr>
              <a:t>v</a:t>
            </a:r>
            <a:r>
              <a:rPr lang="zh-CN" altLang="en-US">
                <a:solidFill>
                  <a:srgbClr val="0000FF"/>
                </a:solidFill>
                <a:latin typeface="Consolas" pitchFamily="49" charset="0"/>
                <a:ea typeface="仿宋" pitchFamily="49" charset="-122"/>
                <a:cs typeface="Consolas" pitchFamily="49" charset="0"/>
              </a:rPr>
              <a:t>到顶点</a:t>
            </a:r>
            <a:r>
              <a:rPr lang="en-US" altLang="zh-CN" i="1">
                <a:solidFill>
                  <a:srgbClr val="0000FF"/>
                </a:solidFill>
                <a:latin typeface="Consolas" pitchFamily="49" charset="0"/>
                <a:ea typeface="仿宋" pitchFamily="49" charset="-122"/>
                <a:cs typeface="Consolas" pitchFamily="49" charset="0"/>
              </a:rPr>
              <a:t>x</a:t>
            </a:r>
            <a:r>
              <a:rPr lang="zh-CN" altLang="en-US">
                <a:solidFill>
                  <a:srgbClr val="0000FF"/>
                </a:solidFill>
                <a:latin typeface="Consolas" pitchFamily="49" charset="0"/>
                <a:ea typeface="仿宋" pitchFamily="49" charset="-122"/>
                <a:cs typeface="Consolas" pitchFamily="49" charset="0"/>
              </a:rPr>
              <a:t>的最短特殊路径长度，由于边非负，因此经过</a:t>
            </a:r>
            <a:r>
              <a:rPr lang="en-US" altLang="zh-CN" i="1">
                <a:solidFill>
                  <a:srgbClr val="0000FF"/>
                </a:solidFill>
                <a:latin typeface="Consolas" pitchFamily="49" charset="0"/>
                <a:ea typeface="仿宋" pitchFamily="49" charset="-122"/>
                <a:cs typeface="Consolas" pitchFamily="49" charset="0"/>
              </a:rPr>
              <a:t>x</a:t>
            </a:r>
            <a:r>
              <a:rPr lang="zh-CN" altLang="en-US">
                <a:solidFill>
                  <a:srgbClr val="0000FF"/>
                </a:solidFill>
                <a:latin typeface="Consolas" pitchFamily="49" charset="0"/>
                <a:ea typeface="仿宋" pitchFamily="49" charset="-122"/>
                <a:cs typeface="Consolas" pitchFamily="49" charset="0"/>
              </a:rPr>
              <a:t>到</a:t>
            </a:r>
            <a:r>
              <a:rPr lang="en-US" altLang="zh-CN" i="1">
                <a:solidFill>
                  <a:srgbClr val="0000FF"/>
                </a:solidFill>
                <a:latin typeface="Consolas" pitchFamily="49" charset="0"/>
                <a:ea typeface="仿宋" pitchFamily="49" charset="-122"/>
                <a:cs typeface="Consolas" pitchFamily="49" charset="0"/>
              </a:rPr>
              <a:t>u</a:t>
            </a:r>
            <a:r>
              <a:rPr lang="zh-CN" altLang="en-US">
                <a:solidFill>
                  <a:srgbClr val="0000FF"/>
                </a:solidFill>
                <a:latin typeface="Consolas" pitchFamily="49" charset="0"/>
                <a:ea typeface="仿宋" pitchFamily="49" charset="-122"/>
                <a:cs typeface="Consolas" pitchFamily="49" charset="0"/>
              </a:rPr>
              <a:t>的距离肯定不短于到</a:t>
            </a:r>
            <a:r>
              <a:rPr lang="en-US" altLang="zh-CN" i="1">
                <a:solidFill>
                  <a:srgbClr val="0000FF"/>
                </a:solidFill>
                <a:latin typeface="Consolas" pitchFamily="49" charset="0"/>
                <a:ea typeface="仿宋" pitchFamily="49" charset="-122"/>
                <a:cs typeface="Consolas" pitchFamily="49" charset="0"/>
              </a:rPr>
              <a:t>x</a:t>
            </a:r>
            <a:r>
              <a:rPr lang="zh-CN" altLang="en-US">
                <a:solidFill>
                  <a:srgbClr val="0000FF"/>
                </a:solidFill>
                <a:latin typeface="Consolas" pitchFamily="49" charset="0"/>
                <a:ea typeface="仿宋" pitchFamily="49" charset="-122"/>
                <a:cs typeface="Consolas" pitchFamily="49" charset="0"/>
              </a:rPr>
              <a:t>的距离。</a:t>
            </a:r>
            <a:endParaRPr lang="en-US" altLang="zh-CN">
              <a:solidFill>
                <a:srgbClr val="0000FF"/>
              </a:solidFill>
              <a:latin typeface="Consolas" pitchFamily="49" charset="0"/>
              <a:ea typeface="仿宋" pitchFamily="49" charset="-122"/>
              <a:cs typeface="Consolas" pitchFamily="49" charset="0"/>
            </a:endParaRPr>
          </a:p>
          <a:p>
            <a:pPr algn="l">
              <a:lnSpc>
                <a:spcPts val="3000"/>
              </a:lnSpc>
              <a:spcBef>
                <a:spcPts val="0"/>
              </a:spcBef>
            </a:pPr>
            <a:r>
              <a:rPr lang="en-US" altLang="zh-CN">
                <a:solidFill>
                  <a:srgbClr val="0000FF"/>
                </a:solidFill>
                <a:latin typeface="Consolas" pitchFamily="49" charset="0"/>
                <a:ea typeface="仿宋" pitchFamily="49" charset="-122"/>
                <a:cs typeface="Consolas" pitchFamily="49" charset="0"/>
              </a:rPr>
              <a:t>   </a:t>
            </a:r>
            <a:r>
              <a:rPr lang="zh-CN" altLang="en-US">
                <a:solidFill>
                  <a:srgbClr val="0000FF"/>
                </a:solidFill>
                <a:latin typeface="Consolas" pitchFamily="49" charset="0"/>
                <a:ea typeface="仿宋" pitchFamily="49" charset="-122"/>
                <a:cs typeface="Consolas" pitchFamily="49" charset="0"/>
              </a:rPr>
              <a:t>又因为算法在</a:t>
            </a:r>
            <a:r>
              <a:rPr lang="en-US" altLang="zh-CN" i="1">
                <a:solidFill>
                  <a:srgbClr val="0000FF"/>
                </a:solidFill>
                <a:latin typeface="Consolas" pitchFamily="49" charset="0"/>
                <a:ea typeface="仿宋" pitchFamily="49" charset="-122"/>
                <a:cs typeface="Consolas" pitchFamily="49" charset="0"/>
              </a:rPr>
              <a:t>x</a:t>
            </a:r>
            <a:r>
              <a:rPr lang="zh-CN" altLang="en-US">
                <a:solidFill>
                  <a:srgbClr val="0000FF"/>
                </a:solidFill>
                <a:latin typeface="Consolas" pitchFamily="49" charset="0"/>
                <a:ea typeface="仿宋" pitchFamily="49" charset="-122"/>
                <a:cs typeface="Consolas" pitchFamily="49" charset="0"/>
              </a:rPr>
              <a:t>之前选择顶点</a:t>
            </a:r>
            <a:r>
              <a:rPr lang="en-US" altLang="zh-CN" i="1">
                <a:solidFill>
                  <a:srgbClr val="0000FF"/>
                </a:solidFill>
                <a:latin typeface="Consolas" pitchFamily="49" charset="0"/>
                <a:ea typeface="仿宋" pitchFamily="49" charset="-122"/>
                <a:cs typeface="Consolas" pitchFamily="49" charset="0"/>
              </a:rPr>
              <a:t>u</a:t>
            </a:r>
            <a:r>
              <a:rPr lang="zh-CN" altLang="en-US">
                <a:solidFill>
                  <a:srgbClr val="0000FF"/>
                </a:solidFill>
                <a:latin typeface="Consolas" pitchFamily="49" charset="0"/>
                <a:ea typeface="仿宋" pitchFamily="49" charset="-122"/>
                <a:cs typeface="Consolas" pitchFamily="49" charset="0"/>
              </a:rPr>
              <a:t>，因此</a:t>
            </a:r>
            <a:r>
              <a:rPr lang="en-US" altLang="zh-CN">
                <a:solidFill>
                  <a:srgbClr val="0000FF"/>
                </a:solidFill>
                <a:latin typeface="Consolas" pitchFamily="49" charset="0"/>
                <a:ea typeface="仿宋" pitchFamily="49" charset="-122"/>
                <a:cs typeface="Consolas" pitchFamily="49" charset="0"/>
              </a:rPr>
              <a:t>dist[</a:t>
            </a:r>
            <a:r>
              <a:rPr lang="en-US" altLang="zh-CN" i="1">
                <a:solidFill>
                  <a:srgbClr val="0000FF"/>
                </a:solidFill>
                <a:latin typeface="Consolas" pitchFamily="49" charset="0"/>
                <a:ea typeface="仿宋" pitchFamily="49" charset="-122"/>
                <a:cs typeface="Consolas" pitchFamily="49" charset="0"/>
              </a:rPr>
              <a:t>x</a:t>
            </a:r>
            <a:r>
              <a:rPr lang="en-US" altLang="zh-CN">
                <a:solidFill>
                  <a:srgbClr val="0000FF"/>
                </a:solidFill>
                <a:latin typeface="Consolas" pitchFamily="49" charset="0"/>
                <a:ea typeface="仿宋" pitchFamily="49" charset="-122"/>
                <a:cs typeface="Consolas" pitchFamily="49" charset="0"/>
              </a:rPr>
              <a:t>]</a:t>
            </a:r>
            <a:r>
              <a:rPr lang="zh-CN" altLang="en-US">
                <a:solidFill>
                  <a:srgbClr val="0000FF"/>
                </a:solidFill>
                <a:latin typeface="Consolas" pitchFamily="49" charset="0"/>
                <a:ea typeface="仿宋" pitchFamily="49" charset="-122"/>
                <a:cs typeface="Consolas" pitchFamily="49" charset="0"/>
              </a:rPr>
              <a:t>不小于</a:t>
            </a:r>
            <a:r>
              <a:rPr lang="en-US" altLang="zh-CN">
                <a:solidFill>
                  <a:srgbClr val="0000FF"/>
                </a:solidFill>
                <a:latin typeface="Consolas" pitchFamily="49" charset="0"/>
                <a:ea typeface="仿宋" pitchFamily="49" charset="-122"/>
                <a:cs typeface="Consolas" pitchFamily="49" charset="0"/>
              </a:rPr>
              <a:t>dist[</a:t>
            </a:r>
            <a:r>
              <a:rPr lang="en-US" altLang="zh-CN" i="1">
                <a:solidFill>
                  <a:srgbClr val="0000FF"/>
                </a:solidFill>
                <a:latin typeface="Consolas" pitchFamily="49" charset="0"/>
                <a:ea typeface="仿宋" pitchFamily="49" charset="-122"/>
                <a:cs typeface="Consolas" pitchFamily="49" charset="0"/>
              </a:rPr>
              <a:t>u</a:t>
            </a:r>
            <a:r>
              <a:rPr lang="en-US" altLang="zh-CN">
                <a:solidFill>
                  <a:srgbClr val="0000FF"/>
                </a:solidFill>
                <a:latin typeface="Consolas" pitchFamily="49" charset="0"/>
                <a:ea typeface="仿宋" pitchFamily="49" charset="-122"/>
                <a:cs typeface="Consolas" pitchFamily="49" charset="0"/>
              </a:rPr>
              <a:t>]</a:t>
            </a:r>
            <a:r>
              <a:rPr lang="zh-CN" altLang="en-US">
                <a:solidFill>
                  <a:srgbClr val="0000FF"/>
                </a:solidFill>
                <a:latin typeface="Consolas" pitchFamily="49" charset="0"/>
                <a:ea typeface="仿宋" pitchFamily="49" charset="-122"/>
                <a:cs typeface="Consolas" pitchFamily="49" charset="0"/>
              </a:rPr>
              <a:t>，这样经过</a:t>
            </a:r>
            <a:r>
              <a:rPr lang="en-US" altLang="zh-CN" i="1">
                <a:solidFill>
                  <a:srgbClr val="0000FF"/>
                </a:solidFill>
                <a:latin typeface="Consolas" pitchFamily="49" charset="0"/>
                <a:ea typeface="仿宋" pitchFamily="49" charset="-122"/>
                <a:cs typeface="Consolas" pitchFamily="49" charset="0"/>
              </a:rPr>
              <a:t>x</a:t>
            </a:r>
            <a:r>
              <a:rPr lang="zh-CN" altLang="en-US">
                <a:solidFill>
                  <a:srgbClr val="0000FF"/>
                </a:solidFill>
                <a:latin typeface="Consolas" pitchFamily="49" charset="0"/>
                <a:ea typeface="仿宋" pitchFamily="49" charset="-122"/>
                <a:cs typeface="Consolas" pitchFamily="49" charset="0"/>
              </a:rPr>
              <a:t>到</a:t>
            </a:r>
            <a:r>
              <a:rPr lang="en-US" altLang="zh-CN" i="1">
                <a:solidFill>
                  <a:srgbClr val="0000FF"/>
                </a:solidFill>
                <a:latin typeface="Consolas" pitchFamily="49" charset="0"/>
                <a:ea typeface="仿宋" pitchFamily="49" charset="-122"/>
                <a:cs typeface="Consolas" pitchFamily="49" charset="0"/>
              </a:rPr>
              <a:t>u</a:t>
            </a:r>
            <a:r>
              <a:rPr lang="zh-CN" altLang="en-US">
                <a:solidFill>
                  <a:srgbClr val="0000FF"/>
                </a:solidFill>
                <a:latin typeface="Consolas" pitchFamily="49" charset="0"/>
                <a:ea typeface="仿宋" pitchFamily="49" charset="-122"/>
                <a:cs typeface="Consolas" pitchFamily="49" charset="0"/>
              </a:rPr>
              <a:t>的距离就至少是</a:t>
            </a:r>
            <a:r>
              <a:rPr lang="en-US" altLang="zh-CN">
                <a:solidFill>
                  <a:srgbClr val="0000FF"/>
                </a:solidFill>
                <a:latin typeface="Consolas" pitchFamily="49" charset="0"/>
                <a:ea typeface="仿宋" pitchFamily="49" charset="-122"/>
                <a:cs typeface="Consolas" pitchFamily="49" charset="0"/>
              </a:rPr>
              <a:t>dist[</a:t>
            </a:r>
            <a:r>
              <a:rPr lang="en-US" altLang="zh-CN" i="1">
                <a:solidFill>
                  <a:srgbClr val="0000FF"/>
                </a:solidFill>
                <a:latin typeface="Consolas" pitchFamily="49" charset="0"/>
                <a:ea typeface="仿宋" pitchFamily="49" charset="-122"/>
                <a:cs typeface="Consolas" pitchFamily="49" charset="0"/>
              </a:rPr>
              <a:t>u</a:t>
            </a:r>
            <a:r>
              <a:rPr lang="en-US" altLang="zh-CN">
                <a:solidFill>
                  <a:srgbClr val="0000FF"/>
                </a:solidFill>
                <a:latin typeface="Consolas" pitchFamily="49" charset="0"/>
                <a:ea typeface="仿宋" pitchFamily="49" charset="-122"/>
                <a:cs typeface="Consolas" pitchFamily="49" charset="0"/>
              </a:rPr>
              <a:t>]</a:t>
            </a:r>
            <a:r>
              <a:rPr lang="zh-CN" altLang="en-US">
                <a:solidFill>
                  <a:srgbClr val="0000FF"/>
                </a:solidFill>
                <a:latin typeface="Consolas" pitchFamily="49" charset="0"/>
                <a:ea typeface="仿宋" pitchFamily="49" charset="-122"/>
                <a:cs typeface="Consolas" pitchFamily="49" charset="0"/>
              </a:rPr>
              <a:t>，所以经过</a:t>
            </a:r>
            <a:r>
              <a:rPr lang="en-US" altLang="zh-CN" i="1">
                <a:solidFill>
                  <a:srgbClr val="0000FF"/>
                </a:solidFill>
                <a:latin typeface="Consolas" pitchFamily="49" charset="0"/>
                <a:ea typeface="仿宋" pitchFamily="49" charset="-122"/>
                <a:cs typeface="Consolas" pitchFamily="49" charset="0"/>
              </a:rPr>
              <a:t>x</a:t>
            </a:r>
            <a:r>
              <a:rPr lang="zh-CN" altLang="en-US">
                <a:solidFill>
                  <a:srgbClr val="0000FF"/>
                </a:solidFill>
                <a:latin typeface="Consolas" pitchFamily="49" charset="0"/>
                <a:ea typeface="仿宋" pitchFamily="49" charset="-122"/>
                <a:cs typeface="Consolas" pitchFamily="49" charset="0"/>
              </a:rPr>
              <a:t>到</a:t>
            </a:r>
            <a:r>
              <a:rPr lang="en-US" altLang="zh-CN" i="1">
                <a:solidFill>
                  <a:srgbClr val="0000FF"/>
                </a:solidFill>
                <a:latin typeface="Consolas" pitchFamily="49" charset="0"/>
                <a:ea typeface="仿宋" pitchFamily="49" charset="-122"/>
                <a:cs typeface="Consolas" pitchFamily="49" charset="0"/>
              </a:rPr>
              <a:t>u</a:t>
            </a:r>
            <a:r>
              <a:rPr lang="zh-CN" altLang="en-US">
                <a:solidFill>
                  <a:srgbClr val="0000FF"/>
                </a:solidFill>
                <a:latin typeface="Consolas" pitchFamily="49" charset="0"/>
                <a:ea typeface="仿宋" pitchFamily="49" charset="-122"/>
                <a:cs typeface="Consolas" pitchFamily="49" charset="0"/>
              </a:rPr>
              <a:t>的最短路径不短于到</a:t>
            </a:r>
            <a:r>
              <a:rPr lang="en-US" altLang="zh-CN" i="1">
                <a:solidFill>
                  <a:srgbClr val="0000FF"/>
                </a:solidFill>
                <a:latin typeface="Consolas" pitchFamily="49" charset="0"/>
                <a:ea typeface="仿宋" pitchFamily="49" charset="-122"/>
                <a:cs typeface="Consolas" pitchFamily="49" charset="0"/>
              </a:rPr>
              <a:t>u</a:t>
            </a:r>
            <a:r>
              <a:rPr lang="zh-CN" altLang="en-US">
                <a:solidFill>
                  <a:srgbClr val="0000FF"/>
                </a:solidFill>
                <a:latin typeface="Consolas" pitchFamily="49" charset="0"/>
                <a:ea typeface="仿宋" pitchFamily="49" charset="-122"/>
                <a:cs typeface="Consolas" pitchFamily="49" charset="0"/>
              </a:rPr>
              <a:t>的最短特殊路径。</a:t>
            </a:r>
            <a:endParaRPr lang="en-US" altLang="zh-CN">
              <a:solidFill>
                <a:srgbClr val="0000FF"/>
              </a:solidFill>
              <a:latin typeface="Consolas" pitchFamily="49" charset="0"/>
              <a:ea typeface="仿宋" pitchFamily="49" charset="-122"/>
              <a:cs typeface="Consolas" pitchFamily="49" charset="0"/>
            </a:endParaRPr>
          </a:p>
          <a:p>
            <a:pPr algn="l">
              <a:lnSpc>
                <a:spcPts val="3000"/>
              </a:lnSpc>
              <a:spcBef>
                <a:spcPts val="0"/>
              </a:spcBef>
            </a:pPr>
            <a:r>
              <a:rPr lang="en-US" altLang="zh-CN">
                <a:solidFill>
                  <a:srgbClr val="0000FF"/>
                </a:solidFill>
                <a:latin typeface="Consolas" pitchFamily="49" charset="0"/>
                <a:ea typeface="仿宋" pitchFamily="49" charset="-122"/>
                <a:cs typeface="Consolas" pitchFamily="49" charset="0"/>
              </a:rPr>
              <a:t>   </a:t>
            </a:r>
            <a:r>
              <a:rPr lang="zh-CN" altLang="en-US">
                <a:solidFill>
                  <a:srgbClr val="0000FF"/>
                </a:solidFill>
                <a:latin typeface="Consolas" pitchFamily="49" charset="0"/>
                <a:ea typeface="仿宋" pitchFamily="49" charset="-122"/>
                <a:cs typeface="Consolas" pitchFamily="49" charset="0"/>
              </a:rPr>
              <a:t>现在验证了当</a:t>
            </a:r>
            <a:r>
              <a:rPr lang="en-US" altLang="zh-CN" i="1">
                <a:solidFill>
                  <a:srgbClr val="0000FF"/>
                </a:solidFill>
                <a:latin typeface="Consolas" pitchFamily="49" charset="0"/>
                <a:ea typeface="仿宋" pitchFamily="49" charset="-122"/>
                <a:cs typeface="Consolas" pitchFamily="49" charset="0"/>
              </a:rPr>
              <a:t>u</a:t>
            </a:r>
            <a:r>
              <a:rPr lang="zh-CN" altLang="en-US">
                <a:solidFill>
                  <a:srgbClr val="0000FF"/>
                </a:solidFill>
                <a:latin typeface="Consolas" pitchFamily="49" charset="0"/>
                <a:ea typeface="仿宋" pitchFamily="49" charset="-122"/>
                <a:cs typeface="Consolas" pitchFamily="49" charset="0"/>
              </a:rPr>
              <a:t>加到</a:t>
            </a:r>
            <a:r>
              <a:rPr lang="en-US" altLang="zh-CN">
                <a:solidFill>
                  <a:srgbClr val="0000FF"/>
                </a:solidFill>
                <a:latin typeface="Consolas" pitchFamily="49" charset="0"/>
                <a:ea typeface="仿宋" pitchFamily="49" charset="-122"/>
                <a:cs typeface="Consolas" pitchFamily="49" charset="0"/>
              </a:rPr>
              <a:t>S</a:t>
            </a:r>
            <a:r>
              <a:rPr lang="zh-CN" altLang="en-US">
                <a:solidFill>
                  <a:srgbClr val="0000FF"/>
                </a:solidFill>
                <a:latin typeface="Consolas" pitchFamily="49" charset="0"/>
                <a:ea typeface="仿宋" pitchFamily="49" charset="-122"/>
                <a:cs typeface="Consolas" pitchFamily="49" charset="0"/>
              </a:rPr>
              <a:t>中时，</a:t>
            </a:r>
            <a:r>
              <a:rPr lang="en-US" altLang="zh-CN">
                <a:solidFill>
                  <a:srgbClr val="0000FF"/>
                </a:solidFill>
                <a:latin typeface="Consolas" pitchFamily="49" charset="0"/>
                <a:ea typeface="仿宋" pitchFamily="49" charset="-122"/>
                <a:cs typeface="Consolas" pitchFamily="49" charset="0"/>
              </a:rPr>
              <a:t>dist[</a:t>
            </a:r>
            <a:r>
              <a:rPr lang="en-US" altLang="zh-CN" i="1">
                <a:solidFill>
                  <a:srgbClr val="0000FF"/>
                </a:solidFill>
                <a:latin typeface="Consolas" pitchFamily="49" charset="0"/>
                <a:ea typeface="仿宋" pitchFamily="49" charset="-122"/>
                <a:cs typeface="Consolas" pitchFamily="49" charset="0"/>
              </a:rPr>
              <a:t>u</a:t>
            </a:r>
            <a:r>
              <a:rPr lang="en-US" altLang="zh-CN">
                <a:solidFill>
                  <a:srgbClr val="0000FF"/>
                </a:solidFill>
                <a:latin typeface="Consolas" pitchFamily="49" charset="0"/>
                <a:ea typeface="仿宋" pitchFamily="49" charset="-122"/>
                <a:cs typeface="Consolas" pitchFamily="49" charset="0"/>
              </a:rPr>
              <a:t>]</a:t>
            </a:r>
            <a:r>
              <a:rPr lang="zh-CN" altLang="en-US">
                <a:solidFill>
                  <a:srgbClr val="0000FF"/>
                </a:solidFill>
                <a:latin typeface="Consolas" pitchFamily="49" charset="0"/>
                <a:ea typeface="仿宋" pitchFamily="49" charset="-122"/>
                <a:cs typeface="Consolas" pitchFamily="49" charset="0"/>
              </a:rPr>
              <a:t>确定给出源点</a:t>
            </a:r>
            <a:r>
              <a:rPr lang="en-US" altLang="zh-CN" i="1">
                <a:solidFill>
                  <a:srgbClr val="0000FF"/>
                </a:solidFill>
                <a:latin typeface="Consolas" pitchFamily="49" charset="0"/>
                <a:ea typeface="仿宋" pitchFamily="49" charset="-122"/>
                <a:cs typeface="Consolas" pitchFamily="49" charset="0"/>
              </a:rPr>
              <a:t>v</a:t>
            </a:r>
            <a:r>
              <a:rPr lang="zh-CN" altLang="en-US">
                <a:solidFill>
                  <a:srgbClr val="0000FF"/>
                </a:solidFill>
                <a:latin typeface="Consolas" pitchFamily="49" charset="0"/>
                <a:ea typeface="仿宋" pitchFamily="49" charset="-122"/>
                <a:cs typeface="Consolas" pitchFamily="49" charset="0"/>
              </a:rPr>
              <a:t>到顶点</a:t>
            </a:r>
            <a:r>
              <a:rPr lang="en-US" altLang="zh-CN" i="1">
                <a:solidFill>
                  <a:srgbClr val="0000FF"/>
                </a:solidFill>
                <a:latin typeface="Consolas" pitchFamily="49" charset="0"/>
                <a:ea typeface="仿宋" pitchFamily="49" charset="-122"/>
                <a:cs typeface="Consolas" pitchFamily="49" charset="0"/>
              </a:rPr>
              <a:t>u</a:t>
            </a:r>
            <a:r>
              <a:rPr lang="zh-CN" altLang="en-US">
                <a:solidFill>
                  <a:srgbClr val="0000FF"/>
                </a:solidFill>
                <a:latin typeface="Consolas" pitchFamily="49" charset="0"/>
                <a:ea typeface="仿宋" pitchFamily="49" charset="-122"/>
                <a:cs typeface="Consolas" pitchFamily="49" charset="0"/>
              </a:rPr>
              <a:t>的最短路径长度，条件（</a:t>
            </a:r>
            <a:r>
              <a:rPr lang="en-US" altLang="zh-CN">
                <a:solidFill>
                  <a:srgbClr val="0000FF"/>
                </a:solidFill>
                <a:latin typeface="Consolas" pitchFamily="49" charset="0"/>
                <a:ea typeface="仿宋" pitchFamily="49" charset="-122"/>
                <a:cs typeface="Consolas" pitchFamily="49" charset="0"/>
              </a:rPr>
              <a:t>1</a:t>
            </a:r>
            <a:r>
              <a:rPr lang="zh-CN" altLang="en-US">
                <a:solidFill>
                  <a:srgbClr val="0000FF"/>
                </a:solidFill>
                <a:latin typeface="Consolas" pitchFamily="49" charset="0"/>
                <a:ea typeface="仿宋" pitchFamily="49" charset="-122"/>
                <a:cs typeface="Consolas" pitchFamily="49" charset="0"/>
              </a:rPr>
              <a:t>）是成立的。</a:t>
            </a:r>
          </a:p>
        </p:txBody>
      </p:sp>
      <p:grpSp>
        <p:nvGrpSpPr>
          <p:cNvPr id="2" name="组合 3"/>
          <p:cNvGrpSpPr/>
          <p:nvPr/>
        </p:nvGrpSpPr>
        <p:grpSpPr>
          <a:xfrm>
            <a:off x="142844" y="142852"/>
            <a:ext cx="3286148" cy="2280197"/>
            <a:chOff x="2714612" y="3643314"/>
            <a:chExt cx="3286148" cy="2280197"/>
          </a:xfrm>
        </p:grpSpPr>
        <p:sp>
          <p:nvSpPr>
            <p:cNvPr id="5" name="椭圆 4"/>
            <p:cNvSpPr/>
            <p:nvPr/>
          </p:nvSpPr>
          <p:spPr>
            <a:xfrm>
              <a:off x="3214678" y="4494751"/>
              <a:ext cx="428628" cy="500066"/>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sz="2000" i="1">
                  <a:solidFill>
                    <a:srgbClr val="0000FF"/>
                  </a:solidFill>
                  <a:latin typeface="Consolas" pitchFamily="49" charset="0"/>
                  <a:cs typeface="Consolas" pitchFamily="49" charset="0"/>
                </a:rPr>
                <a:t>v</a:t>
              </a:r>
              <a:endParaRPr lang="zh-CN" altLang="en-US" sz="2000" i="1">
                <a:solidFill>
                  <a:srgbClr val="0000FF"/>
                </a:solidFill>
                <a:latin typeface="Consolas" pitchFamily="49" charset="0"/>
                <a:cs typeface="Consolas" pitchFamily="49" charset="0"/>
              </a:endParaRPr>
            </a:p>
          </p:txBody>
        </p:sp>
        <p:sp>
          <p:nvSpPr>
            <p:cNvPr id="6" name="椭圆 5"/>
            <p:cNvSpPr/>
            <p:nvPr/>
          </p:nvSpPr>
          <p:spPr>
            <a:xfrm>
              <a:off x="5572132" y="3708933"/>
              <a:ext cx="428628" cy="500066"/>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sz="2000" i="1">
                  <a:solidFill>
                    <a:srgbClr val="0000FF"/>
                  </a:solidFill>
                  <a:latin typeface="Consolas" pitchFamily="49" charset="0"/>
                  <a:cs typeface="Consolas" pitchFamily="49" charset="0"/>
                </a:rPr>
                <a:t>x</a:t>
              </a:r>
              <a:endParaRPr lang="zh-CN" altLang="en-US" sz="2000" i="1">
                <a:solidFill>
                  <a:srgbClr val="0000FF"/>
                </a:solidFill>
                <a:latin typeface="Consolas" pitchFamily="49" charset="0"/>
                <a:cs typeface="Consolas" pitchFamily="49" charset="0"/>
              </a:endParaRPr>
            </a:p>
          </p:txBody>
        </p:sp>
        <p:sp>
          <p:nvSpPr>
            <p:cNvPr id="7" name="椭圆 6"/>
            <p:cNvSpPr/>
            <p:nvPr/>
          </p:nvSpPr>
          <p:spPr>
            <a:xfrm>
              <a:off x="5143504" y="5209131"/>
              <a:ext cx="428628" cy="500066"/>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sz="2000" i="1">
                  <a:solidFill>
                    <a:srgbClr val="0000FF"/>
                  </a:solidFill>
                  <a:latin typeface="Consolas" pitchFamily="49" charset="0"/>
                  <a:cs typeface="Consolas" pitchFamily="49" charset="0"/>
                </a:rPr>
                <a:t>u</a:t>
              </a:r>
              <a:endParaRPr lang="zh-CN" altLang="en-US" sz="2000" i="1">
                <a:solidFill>
                  <a:srgbClr val="0000FF"/>
                </a:solidFill>
                <a:latin typeface="Consolas" pitchFamily="49" charset="0"/>
                <a:cs typeface="Consolas" pitchFamily="49" charset="0"/>
              </a:endParaRPr>
            </a:p>
          </p:txBody>
        </p:sp>
        <p:sp>
          <p:nvSpPr>
            <p:cNvPr id="8" name="椭圆 7"/>
            <p:cNvSpPr/>
            <p:nvPr/>
          </p:nvSpPr>
          <p:spPr>
            <a:xfrm>
              <a:off x="4143372" y="4566189"/>
              <a:ext cx="428628" cy="490542"/>
            </a:xfrm>
            <a:prstGeom prst="ellipse">
              <a:avLst/>
            </a:prstGeom>
            <a:solidFill>
              <a:schemeClr val="accent4">
                <a:lumMod val="40000"/>
                <a:lumOff val="60000"/>
              </a:schemeClr>
            </a:solidFill>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sz="2000" i="1">
                <a:solidFill>
                  <a:srgbClr val="0000FF"/>
                </a:solidFill>
                <a:latin typeface="Consolas" pitchFamily="49" charset="0"/>
                <a:cs typeface="Consolas" pitchFamily="49" charset="0"/>
              </a:endParaRPr>
            </a:p>
          </p:txBody>
        </p:sp>
        <p:sp>
          <p:nvSpPr>
            <p:cNvPr id="9" name="任意多边形 8"/>
            <p:cNvSpPr/>
            <p:nvPr/>
          </p:nvSpPr>
          <p:spPr>
            <a:xfrm>
              <a:off x="3568696" y="4972581"/>
              <a:ext cx="1600200" cy="789517"/>
            </a:xfrm>
            <a:custGeom>
              <a:avLst/>
              <a:gdLst>
                <a:gd name="connsiteX0" fmla="*/ 0 w 1600200"/>
                <a:gd name="connsiteY0" fmla="*/ 0 h 789517"/>
                <a:gd name="connsiteX1" fmla="*/ 241300 w 1600200"/>
                <a:gd name="connsiteY1" fmla="*/ 165100 h 789517"/>
                <a:gd name="connsiteX2" fmla="*/ 419100 w 1600200"/>
                <a:gd name="connsiteY2" fmla="*/ 558800 h 789517"/>
                <a:gd name="connsiteX3" fmla="*/ 850900 w 1600200"/>
                <a:gd name="connsiteY3" fmla="*/ 482600 h 789517"/>
                <a:gd name="connsiteX4" fmla="*/ 1117600 w 1600200"/>
                <a:gd name="connsiteY4" fmla="*/ 774700 h 789517"/>
                <a:gd name="connsiteX5" fmla="*/ 1600200 w 1600200"/>
                <a:gd name="connsiteY5" fmla="*/ 571500 h 789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00200" h="789517">
                  <a:moveTo>
                    <a:pt x="0" y="0"/>
                  </a:moveTo>
                  <a:cubicBezTo>
                    <a:pt x="85725" y="35983"/>
                    <a:pt x="171450" y="71967"/>
                    <a:pt x="241300" y="165100"/>
                  </a:cubicBezTo>
                  <a:cubicBezTo>
                    <a:pt x="311150" y="258233"/>
                    <a:pt x="317500" y="505883"/>
                    <a:pt x="419100" y="558800"/>
                  </a:cubicBezTo>
                  <a:cubicBezTo>
                    <a:pt x="520700" y="611717"/>
                    <a:pt x="734483" y="446617"/>
                    <a:pt x="850900" y="482600"/>
                  </a:cubicBezTo>
                  <a:cubicBezTo>
                    <a:pt x="967317" y="518583"/>
                    <a:pt x="992717" y="759883"/>
                    <a:pt x="1117600" y="774700"/>
                  </a:cubicBezTo>
                  <a:cubicBezTo>
                    <a:pt x="1242483" y="789517"/>
                    <a:pt x="1421341" y="680508"/>
                    <a:pt x="1600200" y="571500"/>
                  </a:cubicBezTo>
                </a:path>
              </a:pathLst>
            </a:custGeom>
            <a:ln>
              <a:tailEnd type="arrow"/>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latin typeface="Consolas" pitchFamily="49" charset="0"/>
                <a:cs typeface="Consolas" pitchFamily="49" charset="0"/>
              </a:endParaRPr>
            </a:p>
          </p:txBody>
        </p:sp>
        <p:sp>
          <p:nvSpPr>
            <p:cNvPr id="10" name="任意多边形 9"/>
            <p:cNvSpPr/>
            <p:nvPr/>
          </p:nvSpPr>
          <p:spPr>
            <a:xfrm>
              <a:off x="3530596" y="3643314"/>
              <a:ext cx="2044700" cy="897467"/>
            </a:xfrm>
            <a:custGeom>
              <a:avLst/>
              <a:gdLst>
                <a:gd name="connsiteX0" fmla="*/ 0 w 2044700"/>
                <a:gd name="connsiteY0" fmla="*/ 897467 h 897467"/>
                <a:gd name="connsiteX1" fmla="*/ 419100 w 2044700"/>
                <a:gd name="connsiteY1" fmla="*/ 668867 h 897467"/>
                <a:gd name="connsiteX2" fmla="*/ 698500 w 2044700"/>
                <a:gd name="connsiteY2" fmla="*/ 110067 h 897467"/>
                <a:gd name="connsiteX3" fmla="*/ 1041400 w 2044700"/>
                <a:gd name="connsiteY3" fmla="*/ 59267 h 897467"/>
                <a:gd name="connsiteX4" fmla="*/ 1549400 w 2044700"/>
                <a:gd name="connsiteY4" fmla="*/ 465667 h 897467"/>
                <a:gd name="connsiteX5" fmla="*/ 2044700 w 2044700"/>
                <a:gd name="connsiteY5" fmla="*/ 376767 h 897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44700" h="897467">
                  <a:moveTo>
                    <a:pt x="0" y="897467"/>
                  </a:moveTo>
                  <a:cubicBezTo>
                    <a:pt x="151341" y="848783"/>
                    <a:pt x="302683" y="800100"/>
                    <a:pt x="419100" y="668867"/>
                  </a:cubicBezTo>
                  <a:cubicBezTo>
                    <a:pt x="535517" y="537634"/>
                    <a:pt x="594783" y="211667"/>
                    <a:pt x="698500" y="110067"/>
                  </a:cubicBezTo>
                  <a:cubicBezTo>
                    <a:pt x="802217" y="8467"/>
                    <a:pt x="899583" y="0"/>
                    <a:pt x="1041400" y="59267"/>
                  </a:cubicBezTo>
                  <a:cubicBezTo>
                    <a:pt x="1183217" y="118534"/>
                    <a:pt x="1382183" y="412750"/>
                    <a:pt x="1549400" y="465667"/>
                  </a:cubicBezTo>
                  <a:cubicBezTo>
                    <a:pt x="1716617" y="518584"/>
                    <a:pt x="1880658" y="447675"/>
                    <a:pt x="2044700" y="376767"/>
                  </a:cubicBezTo>
                </a:path>
              </a:pathLst>
            </a:custGeom>
            <a:ln>
              <a:solidFill>
                <a:srgbClr val="FF0000"/>
              </a:solidFill>
              <a:tailEnd type="arrow"/>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latin typeface="Consolas" pitchFamily="49" charset="0"/>
                <a:cs typeface="Consolas" pitchFamily="49" charset="0"/>
              </a:endParaRPr>
            </a:p>
          </p:txBody>
        </p:sp>
        <p:sp>
          <p:nvSpPr>
            <p:cNvPr id="11" name="任意多边形 10"/>
            <p:cNvSpPr/>
            <p:nvPr/>
          </p:nvSpPr>
          <p:spPr>
            <a:xfrm>
              <a:off x="4584696" y="4210581"/>
              <a:ext cx="1104900" cy="533400"/>
            </a:xfrm>
            <a:custGeom>
              <a:avLst/>
              <a:gdLst>
                <a:gd name="connsiteX0" fmla="*/ 1104900 w 1104900"/>
                <a:gd name="connsiteY0" fmla="*/ 0 h 533400"/>
                <a:gd name="connsiteX1" fmla="*/ 685800 w 1104900"/>
                <a:gd name="connsiteY1" fmla="*/ 304800 h 533400"/>
                <a:gd name="connsiteX2" fmla="*/ 0 w 1104900"/>
                <a:gd name="connsiteY2" fmla="*/ 533400 h 533400"/>
              </a:gdLst>
              <a:ahLst/>
              <a:cxnLst>
                <a:cxn ang="0">
                  <a:pos x="connsiteX0" y="connsiteY0"/>
                </a:cxn>
                <a:cxn ang="0">
                  <a:pos x="connsiteX1" y="connsiteY1"/>
                </a:cxn>
                <a:cxn ang="0">
                  <a:pos x="connsiteX2" y="connsiteY2"/>
                </a:cxn>
              </a:cxnLst>
              <a:rect l="l" t="t" r="r" b="b"/>
              <a:pathLst>
                <a:path w="1104900" h="533400">
                  <a:moveTo>
                    <a:pt x="1104900" y="0"/>
                  </a:moveTo>
                  <a:cubicBezTo>
                    <a:pt x="987425" y="107950"/>
                    <a:pt x="869950" y="215900"/>
                    <a:pt x="685800" y="304800"/>
                  </a:cubicBezTo>
                  <a:cubicBezTo>
                    <a:pt x="501650" y="393700"/>
                    <a:pt x="250825" y="463550"/>
                    <a:pt x="0" y="533400"/>
                  </a:cubicBezTo>
                </a:path>
              </a:pathLst>
            </a:custGeom>
            <a:ln>
              <a:solidFill>
                <a:srgbClr val="FF0000"/>
              </a:solidFill>
              <a:tailEnd type="arrow"/>
            </a:ln>
          </p:spPr>
          <p:style>
            <a:lnRef idx="2">
              <a:schemeClr val="accent6"/>
            </a:lnRef>
            <a:fillRef idx="0">
              <a:schemeClr val="accent6"/>
            </a:fillRef>
            <a:effectRef idx="1">
              <a:schemeClr val="accent6"/>
            </a:effectRef>
            <a:fontRef idx="minor">
              <a:schemeClr val="tx1"/>
            </a:fontRef>
          </p:style>
          <p:txBody>
            <a:bodyPr rtlCol="0" anchor="ctr"/>
            <a:lstStyle/>
            <a:p>
              <a:pPr algn="ctr"/>
              <a:endParaRPr lang="zh-CN" altLang="en-US">
                <a:latin typeface="Consolas" pitchFamily="49" charset="0"/>
                <a:cs typeface="Consolas" pitchFamily="49" charset="0"/>
              </a:endParaRPr>
            </a:p>
          </p:txBody>
        </p:sp>
        <p:sp>
          <p:nvSpPr>
            <p:cNvPr id="12" name="任意多边形 11"/>
            <p:cNvSpPr/>
            <p:nvPr/>
          </p:nvSpPr>
          <p:spPr>
            <a:xfrm>
              <a:off x="4495796" y="5010681"/>
              <a:ext cx="723900" cy="279400"/>
            </a:xfrm>
            <a:custGeom>
              <a:avLst/>
              <a:gdLst>
                <a:gd name="connsiteX0" fmla="*/ 0 w 723900"/>
                <a:gd name="connsiteY0" fmla="*/ 0 h 279400"/>
                <a:gd name="connsiteX1" fmla="*/ 292100 w 723900"/>
                <a:gd name="connsiteY1" fmla="*/ 203200 h 279400"/>
                <a:gd name="connsiteX2" fmla="*/ 635000 w 723900"/>
                <a:gd name="connsiteY2" fmla="*/ 114300 h 279400"/>
                <a:gd name="connsiteX3" fmla="*/ 723900 w 723900"/>
                <a:gd name="connsiteY3" fmla="*/ 279400 h 279400"/>
              </a:gdLst>
              <a:ahLst/>
              <a:cxnLst>
                <a:cxn ang="0">
                  <a:pos x="connsiteX0" y="connsiteY0"/>
                </a:cxn>
                <a:cxn ang="0">
                  <a:pos x="connsiteX1" y="connsiteY1"/>
                </a:cxn>
                <a:cxn ang="0">
                  <a:pos x="connsiteX2" y="connsiteY2"/>
                </a:cxn>
                <a:cxn ang="0">
                  <a:pos x="connsiteX3" y="connsiteY3"/>
                </a:cxn>
              </a:cxnLst>
              <a:rect l="l" t="t" r="r" b="b"/>
              <a:pathLst>
                <a:path w="723900" h="279400">
                  <a:moveTo>
                    <a:pt x="0" y="0"/>
                  </a:moveTo>
                  <a:cubicBezTo>
                    <a:pt x="93133" y="92075"/>
                    <a:pt x="186267" y="184150"/>
                    <a:pt x="292100" y="203200"/>
                  </a:cubicBezTo>
                  <a:cubicBezTo>
                    <a:pt x="397933" y="222250"/>
                    <a:pt x="563033" y="101600"/>
                    <a:pt x="635000" y="114300"/>
                  </a:cubicBezTo>
                  <a:cubicBezTo>
                    <a:pt x="706967" y="127000"/>
                    <a:pt x="715433" y="203200"/>
                    <a:pt x="723900" y="279400"/>
                  </a:cubicBezTo>
                </a:path>
              </a:pathLst>
            </a:custGeom>
            <a:ln>
              <a:solidFill>
                <a:srgbClr val="FF0000"/>
              </a:solidFill>
              <a:tailEnd type="arrow"/>
            </a:ln>
          </p:spPr>
          <p:style>
            <a:lnRef idx="2">
              <a:schemeClr val="accent6"/>
            </a:lnRef>
            <a:fillRef idx="0">
              <a:schemeClr val="accent6"/>
            </a:fillRef>
            <a:effectRef idx="1">
              <a:schemeClr val="accent6"/>
            </a:effectRef>
            <a:fontRef idx="minor">
              <a:schemeClr val="tx1"/>
            </a:fontRef>
          </p:style>
          <p:txBody>
            <a:bodyPr rtlCol="0" anchor="ctr"/>
            <a:lstStyle/>
            <a:p>
              <a:pPr algn="ctr"/>
              <a:endParaRPr lang="zh-CN" altLang="en-US">
                <a:latin typeface="Consolas" pitchFamily="49" charset="0"/>
                <a:cs typeface="Consolas" pitchFamily="49" charset="0"/>
              </a:endParaRPr>
            </a:p>
          </p:txBody>
        </p:sp>
        <p:sp>
          <p:nvSpPr>
            <p:cNvPr id="13" name="椭圆 12"/>
            <p:cNvSpPr/>
            <p:nvPr/>
          </p:nvSpPr>
          <p:spPr>
            <a:xfrm>
              <a:off x="2714612" y="3994685"/>
              <a:ext cx="2214578" cy="1928826"/>
            </a:xfrm>
            <a:prstGeom prst="ellipse">
              <a:avLst/>
            </a:prstGeom>
            <a:solidFill>
              <a:schemeClr val="accent4">
                <a:lumMod val="20000"/>
                <a:lumOff val="80000"/>
                <a:alpha val="19000"/>
              </a:schemeClr>
            </a:solidFill>
            <a:ln>
              <a:tailEnd type="arrow"/>
            </a:ln>
          </p:spPr>
          <p:style>
            <a:lnRef idx="3">
              <a:schemeClr val="accent2"/>
            </a:lnRef>
            <a:fillRef idx="0">
              <a:schemeClr val="accent2"/>
            </a:fillRef>
            <a:effectRef idx="2">
              <a:schemeClr val="accent2"/>
            </a:effectRef>
            <a:fontRef idx="minor">
              <a:schemeClr val="tx1"/>
            </a:fontRef>
          </p:style>
          <p:txBody>
            <a:bodyPr rtlCol="0" anchor="ctr"/>
            <a:lstStyle/>
            <a:p>
              <a:pPr algn="ctr"/>
              <a:endParaRPr lang="zh-CN" altLang="en-US">
                <a:latin typeface="Consolas" pitchFamily="49" charset="0"/>
                <a:cs typeface="Consolas" pitchFamily="49" charset="0"/>
              </a:endParaRPr>
            </a:p>
          </p:txBody>
        </p:sp>
        <p:sp>
          <p:nvSpPr>
            <p:cNvPr id="14" name="TextBox 13"/>
            <p:cNvSpPr txBox="1"/>
            <p:nvPr/>
          </p:nvSpPr>
          <p:spPr>
            <a:xfrm>
              <a:off x="2786050" y="3708933"/>
              <a:ext cx="357190" cy="400110"/>
            </a:xfrm>
            <a:prstGeom prst="rect">
              <a:avLst/>
            </a:prstGeom>
            <a:noFill/>
          </p:spPr>
          <p:txBody>
            <a:bodyPr wrap="square" rtlCol="0">
              <a:spAutoFit/>
            </a:bodyPr>
            <a:lstStyle/>
            <a:p>
              <a:r>
                <a:rPr lang="en-US" altLang="zh-CN" sz="2000">
                  <a:solidFill>
                    <a:srgbClr val="0000FF"/>
                  </a:solidFill>
                  <a:latin typeface="Consolas" pitchFamily="49" charset="0"/>
                  <a:cs typeface="Consolas" pitchFamily="49" charset="0"/>
                </a:rPr>
                <a:t>S</a:t>
              </a:r>
              <a:endParaRPr lang="zh-CN" altLang="en-US" sz="2000">
                <a:solidFill>
                  <a:srgbClr val="0000FF"/>
                </a:solidFill>
                <a:latin typeface="Consolas" pitchFamily="49" charset="0"/>
                <a:cs typeface="Consolas" pitchFamily="49" charset="0"/>
              </a:endParaRPr>
            </a:p>
          </p:txBody>
        </p:sp>
      </p:grpSp>
      <p:sp>
        <p:nvSpPr>
          <p:cNvPr id="15" name="TextBox 14"/>
          <p:cNvSpPr txBox="1"/>
          <p:nvPr/>
        </p:nvSpPr>
        <p:spPr>
          <a:xfrm>
            <a:off x="3571868" y="249914"/>
            <a:ext cx="5286412" cy="1964640"/>
          </a:xfrm>
          <a:prstGeom prst="rect">
            <a:avLst/>
          </a:prstGeom>
          <a:solidFill>
            <a:schemeClr val="bg1">
              <a:lumMod val="95000"/>
            </a:schemeClr>
          </a:solidFill>
          <a:ln>
            <a:solidFill>
              <a:schemeClr val="accent6">
                <a:lumMod val="20000"/>
                <a:lumOff val="80000"/>
              </a:schemeClr>
            </a:solidFill>
          </a:ln>
        </p:spPr>
        <p:style>
          <a:lnRef idx="1">
            <a:schemeClr val="accent4"/>
          </a:lnRef>
          <a:fillRef idx="2">
            <a:schemeClr val="accent4"/>
          </a:fillRef>
          <a:effectRef idx="1">
            <a:schemeClr val="accent4"/>
          </a:effectRef>
          <a:fontRef idx="minor">
            <a:schemeClr val="dk1"/>
          </a:fontRef>
        </p:style>
        <p:txBody>
          <a:bodyPr wrap="square" rtlCol="0">
            <a:spAutoFit/>
          </a:bodyPr>
          <a:lstStyle/>
          <a:p>
            <a:pPr algn="l">
              <a:lnSpc>
                <a:spcPts val="2800"/>
              </a:lnSpc>
              <a:spcBef>
                <a:spcPts val="600"/>
              </a:spcBef>
            </a:pPr>
            <a:r>
              <a:rPr lang="zh-CN" altLang="en-US" sz="2000">
                <a:solidFill>
                  <a:schemeClr val="bg2">
                    <a:lumMod val="25000"/>
                  </a:schemeClr>
                </a:solidFill>
                <a:latin typeface="Consolas" pitchFamily="49" charset="0"/>
                <a:ea typeface="楷体" pitchFamily="49" charset="-122"/>
                <a:cs typeface="Consolas" pitchFamily="49" charset="0"/>
              </a:rPr>
              <a:t>　（</a:t>
            </a:r>
            <a:r>
              <a:rPr lang="en-US" altLang="zh-CN" sz="2000">
                <a:solidFill>
                  <a:schemeClr val="bg2">
                    <a:lumMod val="25000"/>
                  </a:schemeClr>
                </a:solidFill>
                <a:latin typeface="Consolas" pitchFamily="49" charset="0"/>
                <a:ea typeface="楷体" pitchFamily="49" charset="-122"/>
                <a:cs typeface="Consolas" pitchFamily="49" charset="0"/>
              </a:rPr>
              <a:t>1</a:t>
            </a:r>
            <a:r>
              <a:rPr lang="zh-CN" altLang="en-US" sz="2000">
                <a:solidFill>
                  <a:schemeClr val="bg2">
                    <a:lumMod val="25000"/>
                  </a:schemeClr>
                </a:solidFill>
                <a:latin typeface="Consolas" pitchFamily="49" charset="0"/>
                <a:ea typeface="楷体" pitchFamily="49" charset="-122"/>
                <a:cs typeface="Consolas" pitchFamily="49" charset="0"/>
              </a:rPr>
              <a:t>）如果顶点</a:t>
            </a:r>
            <a:r>
              <a:rPr lang="en-US" altLang="zh-CN" sz="2000" i="1">
                <a:solidFill>
                  <a:schemeClr val="bg2">
                    <a:lumMod val="25000"/>
                  </a:schemeClr>
                </a:solidFill>
                <a:latin typeface="Consolas" pitchFamily="49" charset="0"/>
                <a:ea typeface="楷体" pitchFamily="49" charset="-122"/>
                <a:cs typeface="Consolas" pitchFamily="49" charset="0"/>
              </a:rPr>
              <a:t>j</a:t>
            </a:r>
            <a:r>
              <a:rPr lang="zh-CN" altLang="en-US" sz="2000">
                <a:solidFill>
                  <a:schemeClr val="bg2">
                    <a:lumMod val="25000"/>
                  </a:schemeClr>
                </a:solidFill>
                <a:latin typeface="Consolas" pitchFamily="49" charset="0"/>
                <a:ea typeface="楷体" pitchFamily="49" charset="-122"/>
                <a:cs typeface="Consolas" pitchFamily="49" charset="0"/>
              </a:rPr>
              <a:t>在</a:t>
            </a:r>
            <a:r>
              <a:rPr lang="en-US" altLang="zh-CN" sz="2000">
                <a:solidFill>
                  <a:schemeClr val="bg2">
                    <a:lumMod val="25000"/>
                  </a:schemeClr>
                </a:solidFill>
                <a:latin typeface="Consolas" pitchFamily="49" charset="0"/>
                <a:ea typeface="楷体" pitchFamily="49" charset="-122"/>
                <a:cs typeface="Consolas" pitchFamily="49" charset="0"/>
              </a:rPr>
              <a:t>S</a:t>
            </a:r>
            <a:r>
              <a:rPr lang="zh-CN" altLang="en-US" sz="2000">
                <a:solidFill>
                  <a:schemeClr val="bg2">
                    <a:lumMod val="25000"/>
                  </a:schemeClr>
                </a:solidFill>
                <a:latin typeface="Consolas" pitchFamily="49" charset="0"/>
                <a:ea typeface="楷体" pitchFamily="49" charset="-122"/>
                <a:cs typeface="Consolas" pitchFamily="49" charset="0"/>
              </a:rPr>
              <a:t>中，则</a:t>
            </a:r>
            <a:r>
              <a:rPr lang="en-US" altLang="zh-CN" sz="2000">
                <a:solidFill>
                  <a:schemeClr val="bg2">
                    <a:lumMod val="25000"/>
                  </a:schemeClr>
                </a:solidFill>
                <a:latin typeface="Consolas" pitchFamily="49" charset="0"/>
                <a:ea typeface="楷体" pitchFamily="49" charset="-122"/>
                <a:cs typeface="Consolas" pitchFamily="49" charset="0"/>
              </a:rPr>
              <a:t>dist[</a:t>
            </a:r>
            <a:r>
              <a:rPr lang="en-US" altLang="zh-CN" sz="2000" i="1">
                <a:solidFill>
                  <a:schemeClr val="bg2">
                    <a:lumMod val="25000"/>
                  </a:schemeClr>
                </a:solidFill>
                <a:latin typeface="Consolas" pitchFamily="49" charset="0"/>
                <a:ea typeface="楷体" pitchFamily="49" charset="-122"/>
                <a:cs typeface="Consolas" pitchFamily="49" charset="0"/>
              </a:rPr>
              <a:t>i</a:t>
            </a:r>
            <a:r>
              <a:rPr lang="en-US" altLang="zh-CN" sz="2000">
                <a:solidFill>
                  <a:schemeClr val="bg2">
                    <a:lumMod val="25000"/>
                  </a:schemeClr>
                </a:solidFill>
                <a:latin typeface="Consolas" pitchFamily="49" charset="0"/>
                <a:ea typeface="楷体" pitchFamily="49" charset="-122"/>
                <a:cs typeface="Consolas" pitchFamily="49" charset="0"/>
              </a:rPr>
              <a:t>]</a:t>
            </a:r>
            <a:r>
              <a:rPr lang="zh-CN" altLang="en-US" sz="2000">
                <a:solidFill>
                  <a:schemeClr val="bg2">
                    <a:lumMod val="25000"/>
                  </a:schemeClr>
                </a:solidFill>
                <a:latin typeface="Consolas" pitchFamily="49" charset="0"/>
                <a:ea typeface="楷体" pitchFamily="49" charset="-122"/>
                <a:cs typeface="Consolas" pitchFamily="49" charset="0"/>
              </a:rPr>
              <a:t>给出了从源点到顶点</a:t>
            </a:r>
            <a:r>
              <a:rPr lang="en-US" altLang="zh-CN" sz="2000" i="1">
                <a:solidFill>
                  <a:schemeClr val="bg2">
                    <a:lumMod val="25000"/>
                  </a:schemeClr>
                </a:solidFill>
                <a:latin typeface="Consolas" pitchFamily="49" charset="0"/>
                <a:ea typeface="楷体" pitchFamily="49" charset="-122"/>
                <a:cs typeface="Consolas" pitchFamily="49" charset="0"/>
              </a:rPr>
              <a:t>i</a:t>
            </a:r>
            <a:r>
              <a:rPr lang="zh-CN" altLang="en-US" sz="2000">
                <a:solidFill>
                  <a:schemeClr val="bg2">
                    <a:lumMod val="25000"/>
                  </a:schemeClr>
                </a:solidFill>
                <a:latin typeface="Consolas" pitchFamily="49" charset="0"/>
                <a:ea typeface="楷体" pitchFamily="49" charset="-122"/>
                <a:cs typeface="Consolas" pitchFamily="49" charset="0"/>
              </a:rPr>
              <a:t>的最短路径长度。</a:t>
            </a:r>
          </a:p>
          <a:p>
            <a:pPr algn="l">
              <a:lnSpc>
                <a:spcPts val="2800"/>
              </a:lnSpc>
              <a:spcBef>
                <a:spcPts val="600"/>
              </a:spcBef>
            </a:pPr>
            <a:r>
              <a:rPr lang="zh-CN" altLang="en-US" sz="2000">
                <a:solidFill>
                  <a:schemeClr val="bg2">
                    <a:lumMod val="25000"/>
                  </a:schemeClr>
                </a:solidFill>
                <a:latin typeface="Consolas" pitchFamily="49" charset="0"/>
                <a:ea typeface="楷体" pitchFamily="49" charset="-122"/>
                <a:cs typeface="Consolas" pitchFamily="49" charset="0"/>
              </a:rPr>
              <a:t>　（</a:t>
            </a:r>
            <a:r>
              <a:rPr lang="en-US" altLang="zh-CN" sz="2000">
                <a:solidFill>
                  <a:schemeClr val="bg2">
                    <a:lumMod val="25000"/>
                  </a:schemeClr>
                </a:solidFill>
                <a:latin typeface="Consolas" pitchFamily="49" charset="0"/>
                <a:ea typeface="楷体" pitchFamily="49" charset="-122"/>
                <a:cs typeface="Consolas" pitchFamily="49" charset="0"/>
              </a:rPr>
              <a:t>2</a:t>
            </a:r>
            <a:r>
              <a:rPr lang="zh-CN" altLang="en-US" sz="2000">
                <a:solidFill>
                  <a:schemeClr val="bg2">
                    <a:lumMod val="25000"/>
                  </a:schemeClr>
                </a:solidFill>
                <a:latin typeface="Consolas" pitchFamily="49" charset="0"/>
                <a:ea typeface="楷体" pitchFamily="49" charset="-122"/>
                <a:cs typeface="Consolas" pitchFamily="49" charset="0"/>
              </a:rPr>
              <a:t>）如果顶点</a:t>
            </a:r>
            <a:r>
              <a:rPr lang="en-US" altLang="zh-CN" sz="2000" i="1">
                <a:solidFill>
                  <a:schemeClr val="bg2">
                    <a:lumMod val="25000"/>
                  </a:schemeClr>
                </a:solidFill>
                <a:latin typeface="Consolas" pitchFamily="49" charset="0"/>
                <a:ea typeface="楷体" pitchFamily="49" charset="-122"/>
                <a:cs typeface="Consolas" pitchFamily="49" charset="0"/>
              </a:rPr>
              <a:t>j</a:t>
            </a:r>
            <a:r>
              <a:rPr lang="zh-CN" altLang="en-US" sz="2000">
                <a:solidFill>
                  <a:schemeClr val="bg2">
                    <a:lumMod val="25000"/>
                  </a:schemeClr>
                </a:solidFill>
                <a:latin typeface="Consolas" pitchFamily="49" charset="0"/>
                <a:ea typeface="楷体" pitchFamily="49" charset="-122"/>
                <a:cs typeface="Consolas" pitchFamily="49" charset="0"/>
              </a:rPr>
              <a:t>不在</a:t>
            </a:r>
            <a:r>
              <a:rPr lang="en-US" altLang="zh-CN" sz="2000">
                <a:solidFill>
                  <a:schemeClr val="bg2">
                    <a:lumMod val="25000"/>
                  </a:schemeClr>
                </a:solidFill>
                <a:latin typeface="Consolas" pitchFamily="49" charset="0"/>
                <a:ea typeface="楷体" pitchFamily="49" charset="-122"/>
                <a:cs typeface="Consolas" pitchFamily="49" charset="0"/>
              </a:rPr>
              <a:t>S</a:t>
            </a:r>
            <a:r>
              <a:rPr lang="zh-CN" altLang="en-US" sz="2000">
                <a:solidFill>
                  <a:schemeClr val="bg2">
                    <a:lumMod val="25000"/>
                  </a:schemeClr>
                </a:solidFill>
                <a:latin typeface="Consolas" pitchFamily="49" charset="0"/>
                <a:ea typeface="楷体" pitchFamily="49" charset="-122"/>
                <a:cs typeface="Consolas" pitchFamily="49" charset="0"/>
              </a:rPr>
              <a:t>中，则</a:t>
            </a:r>
            <a:r>
              <a:rPr lang="en-US" altLang="zh-CN" sz="2000">
                <a:solidFill>
                  <a:schemeClr val="bg2">
                    <a:lumMod val="25000"/>
                  </a:schemeClr>
                </a:solidFill>
                <a:latin typeface="Consolas" pitchFamily="49" charset="0"/>
                <a:ea typeface="楷体" pitchFamily="49" charset="-122"/>
                <a:cs typeface="Consolas" pitchFamily="49" charset="0"/>
              </a:rPr>
              <a:t>dist[</a:t>
            </a:r>
            <a:r>
              <a:rPr lang="en-US" altLang="zh-CN" sz="2000" i="1">
                <a:solidFill>
                  <a:schemeClr val="bg2">
                    <a:lumMod val="25000"/>
                  </a:schemeClr>
                </a:solidFill>
                <a:latin typeface="Consolas" pitchFamily="49" charset="0"/>
                <a:ea typeface="楷体" pitchFamily="49" charset="-122"/>
                <a:cs typeface="Consolas" pitchFamily="49" charset="0"/>
              </a:rPr>
              <a:t>j</a:t>
            </a:r>
            <a:r>
              <a:rPr lang="en-US" altLang="zh-CN" sz="2000">
                <a:solidFill>
                  <a:schemeClr val="bg2">
                    <a:lumMod val="25000"/>
                  </a:schemeClr>
                </a:solidFill>
                <a:latin typeface="Consolas" pitchFamily="49" charset="0"/>
                <a:ea typeface="楷体" pitchFamily="49" charset="-122"/>
                <a:cs typeface="Consolas" pitchFamily="49" charset="0"/>
              </a:rPr>
              <a:t>]</a:t>
            </a:r>
            <a:r>
              <a:rPr lang="zh-CN" altLang="en-US" sz="2000">
                <a:solidFill>
                  <a:schemeClr val="bg2">
                    <a:lumMod val="25000"/>
                  </a:schemeClr>
                </a:solidFill>
                <a:latin typeface="Consolas" pitchFamily="49" charset="0"/>
                <a:ea typeface="楷体" pitchFamily="49" charset="-122"/>
                <a:cs typeface="Consolas" pitchFamily="49" charset="0"/>
              </a:rPr>
              <a:t>给出了从源点到顶点</a:t>
            </a:r>
            <a:r>
              <a:rPr lang="en-US" altLang="zh-CN" sz="2000" i="1">
                <a:solidFill>
                  <a:schemeClr val="bg2">
                    <a:lumMod val="25000"/>
                  </a:schemeClr>
                </a:solidFill>
                <a:latin typeface="Consolas" pitchFamily="49" charset="0"/>
                <a:ea typeface="楷体" pitchFamily="49" charset="-122"/>
                <a:cs typeface="Consolas" pitchFamily="49" charset="0"/>
              </a:rPr>
              <a:t>j</a:t>
            </a:r>
            <a:r>
              <a:rPr lang="zh-CN" altLang="en-US" sz="2000">
                <a:solidFill>
                  <a:schemeClr val="bg2">
                    <a:lumMod val="25000"/>
                  </a:schemeClr>
                </a:solidFill>
                <a:latin typeface="Consolas" pitchFamily="49" charset="0"/>
                <a:ea typeface="楷体" pitchFamily="49" charset="-122"/>
                <a:cs typeface="Consolas" pitchFamily="49" charset="0"/>
              </a:rPr>
              <a:t>的最短特殊路径长度，即该路径上的所有中间顶点都属于</a:t>
            </a:r>
            <a:r>
              <a:rPr lang="en-US" altLang="zh-CN" sz="2000">
                <a:solidFill>
                  <a:schemeClr val="bg2">
                    <a:lumMod val="25000"/>
                  </a:schemeClr>
                </a:solidFill>
                <a:latin typeface="Consolas" pitchFamily="49" charset="0"/>
                <a:ea typeface="楷体" pitchFamily="49" charset="-122"/>
                <a:cs typeface="Consolas" pitchFamily="49" charset="0"/>
              </a:rPr>
              <a:t>S</a:t>
            </a:r>
            <a:r>
              <a:rPr lang="zh-CN" altLang="en-US" sz="2000">
                <a:solidFill>
                  <a:schemeClr val="bg2">
                    <a:lumMod val="25000"/>
                  </a:schemeClr>
                </a:solidFill>
                <a:latin typeface="Consolas" pitchFamily="49" charset="0"/>
                <a:ea typeface="楷体" pitchFamily="49" charset="-122"/>
                <a:cs typeface="Consolas" pitchFamily="49" charset="0"/>
              </a:rPr>
              <a:t>。</a:t>
            </a:r>
          </a:p>
        </p:txBody>
      </p:sp>
      <p:sp>
        <p:nvSpPr>
          <p:cNvPr id="17" name="灯片编号占位符 16"/>
          <p:cNvSpPr>
            <a:spLocks noGrp="1"/>
          </p:cNvSpPr>
          <p:nvPr>
            <p:ph type="sldNum" sz="quarter" idx="12"/>
          </p:nvPr>
        </p:nvSpPr>
        <p:spPr/>
        <p:txBody>
          <a:bodyPr/>
          <a:lstStyle/>
          <a:p>
            <a:fld id="{7AF016A1-9F15-429F-9EFD-84004B73C732}" type="slidenum">
              <a:rPr lang="en-US" altLang="zh-CN" smtClean="0"/>
              <a:pPr/>
              <a:t>48</a:t>
            </a:fld>
            <a:r>
              <a:rPr lang="en-US" altLang="zh-CN"/>
              <a:t>/158</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Text Box 2"/>
          <p:cNvSpPr txBox="1">
            <a:spLocks noChangeArrowheads="1"/>
          </p:cNvSpPr>
          <p:nvPr/>
        </p:nvSpPr>
        <p:spPr bwMode="auto">
          <a:xfrm>
            <a:off x="285720" y="785794"/>
            <a:ext cx="8424862" cy="1733808"/>
          </a:xfrm>
          <a:prstGeom prst="rect">
            <a:avLst/>
          </a:prstGeom>
          <a:ln>
            <a:solidFill>
              <a:schemeClr val="accent6">
                <a:lumMod val="40000"/>
                <a:lumOff val="60000"/>
              </a:schemeClr>
            </a:solidFill>
            <a:headEnd/>
            <a:tailEnd/>
          </a:ln>
        </p:spPr>
        <p:style>
          <a:lnRef idx="2">
            <a:schemeClr val="accent6"/>
          </a:lnRef>
          <a:fillRef idx="1">
            <a:schemeClr val="lt1"/>
          </a:fillRef>
          <a:effectRef idx="0">
            <a:schemeClr val="accent6"/>
          </a:effectRef>
          <a:fontRef idx="minor">
            <a:schemeClr val="dk1"/>
          </a:fontRef>
        </p:style>
        <p:txBody>
          <a:bodyPr>
            <a:spAutoFit/>
          </a:bodyPr>
          <a:lstStyle/>
          <a:p>
            <a:pPr marL="457200" indent="-457200" algn="l">
              <a:lnSpc>
                <a:spcPts val="3200"/>
              </a:lnSpc>
              <a:spcBef>
                <a:spcPts val="0"/>
              </a:spcBef>
              <a:buBlip>
                <a:blip r:embed="rId2"/>
              </a:buBlip>
            </a:pPr>
            <a:r>
              <a:rPr lang="zh-CN" altLang="zh-CN">
                <a:solidFill>
                  <a:srgbClr val="0000FF"/>
                </a:solidFill>
                <a:latin typeface="Consolas" pitchFamily="49" charset="0"/>
                <a:ea typeface="仿宋" pitchFamily="49" charset="-122"/>
                <a:cs typeface="Consolas" pitchFamily="49" charset="0"/>
              </a:rPr>
              <a:t>条件（</a:t>
            </a:r>
            <a:r>
              <a:rPr lang="en-US" altLang="zh-CN">
                <a:solidFill>
                  <a:srgbClr val="0000FF"/>
                </a:solidFill>
                <a:latin typeface="Consolas" pitchFamily="49" charset="0"/>
                <a:ea typeface="仿宋" pitchFamily="49" charset="-122"/>
                <a:cs typeface="Consolas" pitchFamily="49" charset="0"/>
              </a:rPr>
              <a:t>2</a:t>
            </a:r>
            <a:r>
              <a:rPr lang="zh-CN" altLang="zh-CN">
                <a:solidFill>
                  <a:srgbClr val="0000FF"/>
                </a:solidFill>
                <a:latin typeface="Consolas" pitchFamily="49" charset="0"/>
                <a:ea typeface="仿宋" pitchFamily="49" charset="-122"/>
                <a:cs typeface="Consolas" pitchFamily="49" charset="0"/>
              </a:rPr>
              <a:t>）的归纳步骤：考虑不属于</a:t>
            </a:r>
            <a:r>
              <a:rPr lang="en-US" altLang="zh-CN">
                <a:solidFill>
                  <a:srgbClr val="0000FF"/>
                </a:solidFill>
                <a:latin typeface="Consolas" pitchFamily="49" charset="0"/>
                <a:ea typeface="仿宋" pitchFamily="49" charset="-122"/>
                <a:cs typeface="Consolas" pitchFamily="49" charset="0"/>
              </a:rPr>
              <a:t>S</a:t>
            </a:r>
            <a:r>
              <a:rPr lang="zh-CN" altLang="zh-CN">
                <a:solidFill>
                  <a:srgbClr val="0000FF"/>
                </a:solidFill>
                <a:latin typeface="Consolas" pitchFamily="49" charset="0"/>
                <a:ea typeface="仿宋" pitchFamily="49" charset="-122"/>
                <a:cs typeface="Consolas" pitchFamily="49" charset="0"/>
              </a:rPr>
              <a:t>且不同于</a:t>
            </a:r>
            <a:r>
              <a:rPr lang="en-US" altLang="zh-CN" i="1">
                <a:solidFill>
                  <a:srgbClr val="0000FF"/>
                </a:solidFill>
                <a:latin typeface="Consolas" pitchFamily="49" charset="0"/>
                <a:ea typeface="仿宋" pitchFamily="49" charset="-122"/>
                <a:cs typeface="Consolas" pitchFamily="49" charset="0"/>
              </a:rPr>
              <a:t>u</a:t>
            </a:r>
            <a:r>
              <a:rPr lang="zh-CN" altLang="zh-CN">
                <a:solidFill>
                  <a:srgbClr val="0000FF"/>
                </a:solidFill>
                <a:latin typeface="Consolas" pitchFamily="49" charset="0"/>
                <a:ea typeface="仿宋" pitchFamily="49" charset="-122"/>
                <a:cs typeface="Consolas" pitchFamily="49" charset="0"/>
              </a:rPr>
              <a:t>的一个顶点</a:t>
            </a:r>
            <a:r>
              <a:rPr lang="en-US" altLang="zh-CN" i="1">
                <a:solidFill>
                  <a:srgbClr val="0000FF"/>
                </a:solidFill>
                <a:latin typeface="Consolas" pitchFamily="49" charset="0"/>
                <a:ea typeface="仿宋" pitchFamily="49" charset="-122"/>
                <a:cs typeface="Consolas" pitchFamily="49" charset="0"/>
              </a:rPr>
              <a:t>w</a:t>
            </a:r>
            <a:r>
              <a:rPr lang="zh-CN" altLang="zh-CN">
                <a:solidFill>
                  <a:srgbClr val="0000FF"/>
                </a:solidFill>
                <a:latin typeface="Consolas" pitchFamily="49" charset="0"/>
                <a:ea typeface="仿宋" pitchFamily="49" charset="-122"/>
                <a:cs typeface="Consolas" pitchFamily="49" charset="0"/>
              </a:rPr>
              <a:t>，当</a:t>
            </a:r>
            <a:r>
              <a:rPr lang="en-US" altLang="zh-CN" i="1">
                <a:solidFill>
                  <a:srgbClr val="0000FF"/>
                </a:solidFill>
                <a:latin typeface="Consolas" pitchFamily="49" charset="0"/>
                <a:ea typeface="仿宋" pitchFamily="49" charset="-122"/>
                <a:cs typeface="Consolas" pitchFamily="49" charset="0"/>
              </a:rPr>
              <a:t>u</a:t>
            </a:r>
            <a:r>
              <a:rPr lang="zh-CN" altLang="zh-CN">
                <a:solidFill>
                  <a:srgbClr val="0000FF"/>
                </a:solidFill>
                <a:latin typeface="Consolas" pitchFamily="49" charset="0"/>
                <a:ea typeface="仿宋" pitchFamily="49" charset="-122"/>
                <a:cs typeface="Consolas" pitchFamily="49" charset="0"/>
              </a:rPr>
              <a:t>加到</a:t>
            </a:r>
            <a:r>
              <a:rPr lang="en-US" altLang="zh-CN">
                <a:solidFill>
                  <a:srgbClr val="0000FF"/>
                </a:solidFill>
                <a:latin typeface="Consolas" pitchFamily="49" charset="0"/>
                <a:ea typeface="仿宋" pitchFamily="49" charset="-122"/>
                <a:cs typeface="Consolas" pitchFamily="49" charset="0"/>
              </a:rPr>
              <a:t>S</a:t>
            </a:r>
            <a:r>
              <a:rPr lang="zh-CN" altLang="zh-CN">
                <a:solidFill>
                  <a:srgbClr val="0000FF"/>
                </a:solidFill>
                <a:latin typeface="Consolas" pitchFamily="49" charset="0"/>
                <a:ea typeface="仿宋" pitchFamily="49" charset="-122"/>
                <a:cs typeface="Consolas" pitchFamily="49" charset="0"/>
              </a:rPr>
              <a:t>中时，从源点</a:t>
            </a:r>
            <a:r>
              <a:rPr lang="en-US" altLang="zh-CN" i="1">
                <a:solidFill>
                  <a:srgbClr val="0000FF"/>
                </a:solidFill>
                <a:latin typeface="Consolas" pitchFamily="49" charset="0"/>
                <a:ea typeface="仿宋" pitchFamily="49" charset="-122"/>
                <a:cs typeface="Consolas" pitchFamily="49" charset="0"/>
              </a:rPr>
              <a:t>v</a:t>
            </a:r>
            <a:r>
              <a:rPr lang="zh-CN" altLang="zh-CN">
                <a:solidFill>
                  <a:srgbClr val="0000FF"/>
                </a:solidFill>
                <a:latin typeface="Consolas" pitchFamily="49" charset="0"/>
                <a:ea typeface="仿宋" pitchFamily="49" charset="-122"/>
                <a:cs typeface="Consolas" pitchFamily="49" charset="0"/>
              </a:rPr>
              <a:t>到</a:t>
            </a:r>
            <a:r>
              <a:rPr lang="en-US" altLang="zh-CN" i="1">
                <a:solidFill>
                  <a:srgbClr val="0000FF"/>
                </a:solidFill>
                <a:latin typeface="Consolas" pitchFamily="49" charset="0"/>
                <a:ea typeface="仿宋" pitchFamily="49" charset="-122"/>
                <a:cs typeface="Consolas" pitchFamily="49" charset="0"/>
              </a:rPr>
              <a:t>w</a:t>
            </a:r>
            <a:r>
              <a:rPr lang="zh-CN" altLang="zh-CN">
                <a:solidFill>
                  <a:srgbClr val="0000FF"/>
                </a:solidFill>
                <a:latin typeface="Consolas" pitchFamily="49" charset="0"/>
                <a:ea typeface="仿宋" pitchFamily="49" charset="-122"/>
                <a:cs typeface="Consolas" pitchFamily="49" charset="0"/>
              </a:rPr>
              <a:t>的最短特殊路径有两种可能：或者不会变化，或者现在经过顶点</a:t>
            </a:r>
            <a:r>
              <a:rPr lang="en-US" altLang="zh-CN" i="1">
                <a:solidFill>
                  <a:srgbClr val="0000FF"/>
                </a:solidFill>
                <a:latin typeface="Consolas" pitchFamily="49" charset="0"/>
                <a:ea typeface="仿宋" pitchFamily="49" charset="-122"/>
                <a:cs typeface="Consolas" pitchFamily="49" charset="0"/>
              </a:rPr>
              <a:t>u</a:t>
            </a:r>
            <a:r>
              <a:rPr lang="zh-CN" altLang="zh-CN">
                <a:solidFill>
                  <a:srgbClr val="0000FF"/>
                </a:solidFill>
                <a:latin typeface="Consolas" pitchFamily="49" charset="0"/>
                <a:ea typeface="仿宋" pitchFamily="49" charset="-122"/>
                <a:cs typeface="Consolas" pitchFamily="49" charset="0"/>
              </a:rPr>
              <a:t>（也可能经过</a:t>
            </a:r>
            <a:r>
              <a:rPr lang="en-US" altLang="zh-CN">
                <a:solidFill>
                  <a:srgbClr val="0000FF"/>
                </a:solidFill>
                <a:latin typeface="Consolas" pitchFamily="49" charset="0"/>
                <a:ea typeface="仿宋" pitchFamily="49" charset="-122"/>
                <a:cs typeface="Consolas" pitchFamily="49" charset="0"/>
              </a:rPr>
              <a:t>S</a:t>
            </a:r>
            <a:r>
              <a:rPr lang="zh-CN" altLang="zh-CN">
                <a:solidFill>
                  <a:srgbClr val="0000FF"/>
                </a:solidFill>
                <a:latin typeface="Consolas" pitchFamily="49" charset="0"/>
                <a:ea typeface="仿宋" pitchFamily="49" charset="-122"/>
                <a:cs typeface="Consolas" pitchFamily="49" charset="0"/>
              </a:rPr>
              <a:t>中的其他顶点）。</a:t>
            </a:r>
            <a:r>
              <a:rPr lang="en-US" altLang="zh-CN">
                <a:solidFill>
                  <a:srgbClr val="0000FF"/>
                </a:solidFill>
                <a:latin typeface="Consolas" pitchFamily="49" charset="0"/>
                <a:ea typeface="仿宋" pitchFamily="49" charset="-122"/>
                <a:cs typeface="Consolas" pitchFamily="49" charset="0"/>
              </a:rPr>
              <a:t>     </a:t>
            </a:r>
            <a:endParaRPr lang="zh-CN" altLang="zh-CN">
              <a:solidFill>
                <a:srgbClr val="0000FF"/>
              </a:solidFill>
              <a:latin typeface="Consolas" pitchFamily="49" charset="0"/>
              <a:ea typeface="仿宋" pitchFamily="49" charset="-122"/>
              <a:cs typeface="Consolas" pitchFamily="49" charset="0"/>
            </a:endParaRPr>
          </a:p>
        </p:txBody>
      </p:sp>
      <p:sp>
        <p:nvSpPr>
          <p:cNvPr id="3" name="TextBox 2"/>
          <p:cNvSpPr txBox="1"/>
          <p:nvPr/>
        </p:nvSpPr>
        <p:spPr>
          <a:xfrm>
            <a:off x="571472" y="3637723"/>
            <a:ext cx="8001056" cy="1577227"/>
          </a:xfrm>
          <a:prstGeom prst="rect">
            <a:avLst/>
          </a:prstGeom>
          <a:solidFill>
            <a:schemeClr val="bg1">
              <a:lumMod val="95000"/>
            </a:schemeClr>
          </a:solidFill>
          <a:ln>
            <a:solidFill>
              <a:schemeClr val="accent6">
                <a:lumMod val="20000"/>
                <a:lumOff val="80000"/>
              </a:schemeClr>
            </a:solidFill>
          </a:ln>
        </p:spPr>
        <p:style>
          <a:lnRef idx="1">
            <a:schemeClr val="accent4"/>
          </a:lnRef>
          <a:fillRef idx="2">
            <a:schemeClr val="accent4"/>
          </a:fillRef>
          <a:effectRef idx="1">
            <a:schemeClr val="accent4"/>
          </a:effectRef>
          <a:fontRef idx="minor">
            <a:schemeClr val="dk1"/>
          </a:fontRef>
        </p:style>
        <p:txBody>
          <a:bodyPr wrap="square" rtlCol="0">
            <a:spAutoFit/>
          </a:bodyPr>
          <a:lstStyle/>
          <a:p>
            <a:pPr algn="l">
              <a:lnSpc>
                <a:spcPts val="2800"/>
              </a:lnSpc>
              <a:spcBef>
                <a:spcPts val="600"/>
              </a:spcBef>
            </a:pPr>
            <a:r>
              <a:rPr lang="zh-CN" altLang="en-US" sz="2000">
                <a:solidFill>
                  <a:schemeClr val="bg2">
                    <a:lumMod val="25000"/>
                  </a:schemeClr>
                </a:solidFill>
                <a:latin typeface="Consolas" pitchFamily="49" charset="0"/>
                <a:ea typeface="楷体" pitchFamily="49" charset="-122"/>
                <a:cs typeface="Consolas" pitchFamily="49" charset="0"/>
              </a:rPr>
              <a:t>　（</a:t>
            </a:r>
            <a:r>
              <a:rPr lang="en-US" altLang="zh-CN" sz="2000">
                <a:solidFill>
                  <a:schemeClr val="bg2">
                    <a:lumMod val="25000"/>
                  </a:schemeClr>
                </a:solidFill>
                <a:latin typeface="Consolas" pitchFamily="49" charset="0"/>
                <a:ea typeface="楷体" pitchFamily="49" charset="-122"/>
                <a:cs typeface="Consolas" pitchFamily="49" charset="0"/>
              </a:rPr>
              <a:t>1</a:t>
            </a:r>
            <a:r>
              <a:rPr lang="zh-CN" altLang="en-US" sz="2000">
                <a:solidFill>
                  <a:schemeClr val="bg2">
                    <a:lumMod val="25000"/>
                  </a:schemeClr>
                </a:solidFill>
                <a:latin typeface="Consolas" pitchFamily="49" charset="0"/>
                <a:ea typeface="楷体" pitchFamily="49" charset="-122"/>
                <a:cs typeface="Consolas" pitchFamily="49" charset="0"/>
              </a:rPr>
              <a:t>）如果顶点</a:t>
            </a:r>
            <a:r>
              <a:rPr lang="en-US" altLang="zh-CN" sz="2000" i="1">
                <a:solidFill>
                  <a:schemeClr val="bg2">
                    <a:lumMod val="25000"/>
                  </a:schemeClr>
                </a:solidFill>
                <a:latin typeface="Consolas" pitchFamily="49" charset="0"/>
                <a:ea typeface="楷体" pitchFamily="49" charset="-122"/>
                <a:cs typeface="Consolas" pitchFamily="49" charset="0"/>
              </a:rPr>
              <a:t>j</a:t>
            </a:r>
            <a:r>
              <a:rPr lang="zh-CN" altLang="en-US" sz="2000">
                <a:solidFill>
                  <a:schemeClr val="bg2">
                    <a:lumMod val="25000"/>
                  </a:schemeClr>
                </a:solidFill>
                <a:latin typeface="Consolas" pitchFamily="49" charset="0"/>
                <a:ea typeface="楷体" pitchFamily="49" charset="-122"/>
                <a:cs typeface="Consolas" pitchFamily="49" charset="0"/>
              </a:rPr>
              <a:t>在</a:t>
            </a:r>
            <a:r>
              <a:rPr lang="en-US" altLang="zh-CN" sz="2000">
                <a:solidFill>
                  <a:schemeClr val="bg2">
                    <a:lumMod val="25000"/>
                  </a:schemeClr>
                </a:solidFill>
                <a:latin typeface="Consolas" pitchFamily="49" charset="0"/>
                <a:ea typeface="楷体" pitchFamily="49" charset="-122"/>
                <a:cs typeface="Consolas" pitchFamily="49" charset="0"/>
              </a:rPr>
              <a:t>S</a:t>
            </a:r>
            <a:r>
              <a:rPr lang="zh-CN" altLang="en-US" sz="2000">
                <a:solidFill>
                  <a:schemeClr val="bg2">
                    <a:lumMod val="25000"/>
                  </a:schemeClr>
                </a:solidFill>
                <a:latin typeface="Consolas" pitchFamily="49" charset="0"/>
                <a:ea typeface="楷体" pitchFamily="49" charset="-122"/>
                <a:cs typeface="Consolas" pitchFamily="49" charset="0"/>
              </a:rPr>
              <a:t>中，则</a:t>
            </a:r>
            <a:r>
              <a:rPr lang="en-US" altLang="zh-CN" sz="2000">
                <a:solidFill>
                  <a:schemeClr val="bg2">
                    <a:lumMod val="25000"/>
                  </a:schemeClr>
                </a:solidFill>
                <a:latin typeface="Consolas" pitchFamily="49" charset="0"/>
                <a:ea typeface="楷体" pitchFamily="49" charset="-122"/>
                <a:cs typeface="Consolas" pitchFamily="49" charset="0"/>
              </a:rPr>
              <a:t>dist[</a:t>
            </a:r>
            <a:r>
              <a:rPr lang="en-US" altLang="zh-CN" sz="2000" i="1">
                <a:solidFill>
                  <a:schemeClr val="bg2">
                    <a:lumMod val="25000"/>
                  </a:schemeClr>
                </a:solidFill>
                <a:latin typeface="Consolas" pitchFamily="49" charset="0"/>
                <a:ea typeface="楷体" pitchFamily="49" charset="-122"/>
                <a:cs typeface="Consolas" pitchFamily="49" charset="0"/>
              </a:rPr>
              <a:t>i</a:t>
            </a:r>
            <a:r>
              <a:rPr lang="en-US" altLang="zh-CN" sz="2000">
                <a:solidFill>
                  <a:schemeClr val="bg2">
                    <a:lumMod val="25000"/>
                  </a:schemeClr>
                </a:solidFill>
                <a:latin typeface="Consolas" pitchFamily="49" charset="0"/>
                <a:ea typeface="楷体" pitchFamily="49" charset="-122"/>
                <a:cs typeface="Consolas" pitchFamily="49" charset="0"/>
              </a:rPr>
              <a:t>]</a:t>
            </a:r>
            <a:r>
              <a:rPr lang="zh-CN" altLang="en-US" sz="2000">
                <a:solidFill>
                  <a:schemeClr val="bg2">
                    <a:lumMod val="25000"/>
                  </a:schemeClr>
                </a:solidFill>
                <a:latin typeface="Consolas" pitchFamily="49" charset="0"/>
                <a:ea typeface="楷体" pitchFamily="49" charset="-122"/>
                <a:cs typeface="Consolas" pitchFamily="49" charset="0"/>
              </a:rPr>
              <a:t>给出了从源点到顶点</a:t>
            </a:r>
            <a:r>
              <a:rPr lang="en-US" altLang="zh-CN" sz="2000" i="1">
                <a:solidFill>
                  <a:schemeClr val="bg2">
                    <a:lumMod val="25000"/>
                  </a:schemeClr>
                </a:solidFill>
                <a:latin typeface="Consolas" pitchFamily="49" charset="0"/>
                <a:ea typeface="楷体" pitchFamily="49" charset="-122"/>
                <a:cs typeface="Consolas" pitchFamily="49" charset="0"/>
              </a:rPr>
              <a:t>i</a:t>
            </a:r>
            <a:r>
              <a:rPr lang="zh-CN" altLang="en-US" sz="2000">
                <a:solidFill>
                  <a:schemeClr val="bg2">
                    <a:lumMod val="25000"/>
                  </a:schemeClr>
                </a:solidFill>
                <a:latin typeface="Consolas" pitchFamily="49" charset="0"/>
                <a:ea typeface="楷体" pitchFamily="49" charset="-122"/>
                <a:cs typeface="Consolas" pitchFamily="49" charset="0"/>
              </a:rPr>
              <a:t>的最短路径长度。</a:t>
            </a:r>
          </a:p>
          <a:p>
            <a:pPr algn="l">
              <a:lnSpc>
                <a:spcPts val="2800"/>
              </a:lnSpc>
              <a:spcBef>
                <a:spcPts val="600"/>
              </a:spcBef>
            </a:pPr>
            <a:r>
              <a:rPr lang="zh-CN" altLang="en-US" sz="2000">
                <a:solidFill>
                  <a:schemeClr val="bg2">
                    <a:lumMod val="25000"/>
                  </a:schemeClr>
                </a:solidFill>
                <a:latin typeface="Consolas" pitchFamily="49" charset="0"/>
                <a:ea typeface="楷体" pitchFamily="49" charset="-122"/>
                <a:cs typeface="Consolas" pitchFamily="49" charset="0"/>
              </a:rPr>
              <a:t>　（</a:t>
            </a:r>
            <a:r>
              <a:rPr lang="en-US" altLang="zh-CN" sz="2000">
                <a:solidFill>
                  <a:schemeClr val="bg2">
                    <a:lumMod val="25000"/>
                  </a:schemeClr>
                </a:solidFill>
                <a:latin typeface="Consolas" pitchFamily="49" charset="0"/>
                <a:ea typeface="楷体" pitchFamily="49" charset="-122"/>
                <a:cs typeface="Consolas" pitchFamily="49" charset="0"/>
              </a:rPr>
              <a:t>2</a:t>
            </a:r>
            <a:r>
              <a:rPr lang="zh-CN" altLang="en-US" sz="2000">
                <a:solidFill>
                  <a:schemeClr val="bg2">
                    <a:lumMod val="25000"/>
                  </a:schemeClr>
                </a:solidFill>
                <a:latin typeface="Consolas" pitchFamily="49" charset="0"/>
                <a:ea typeface="楷体" pitchFamily="49" charset="-122"/>
                <a:cs typeface="Consolas" pitchFamily="49" charset="0"/>
              </a:rPr>
              <a:t>）如果顶点</a:t>
            </a:r>
            <a:r>
              <a:rPr lang="en-US" altLang="zh-CN" sz="2000" i="1">
                <a:solidFill>
                  <a:schemeClr val="bg2">
                    <a:lumMod val="25000"/>
                  </a:schemeClr>
                </a:solidFill>
                <a:latin typeface="Consolas" pitchFamily="49" charset="0"/>
                <a:ea typeface="楷体" pitchFamily="49" charset="-122"/>
                <a:cs typeface="Consolas" pitchFamily="49" charset="0"/>
              </a:rPr>
              <a:t>j</a:t>
            </a:r>
            <a:r>
              <a:rPr lang="zh-CN" altLang="en-US" sz="2000">
                <a:solidFill>
                  <a:schemeClr val="bg2">
                    <a:lumMod val="25000"/>
                  </a:schemeClr>
                </a:solidFill>
                <a:latin typeface="Consolas" pitchFamily="49" charset="0"/>
                <a:ea typeface="楷体" pitchFamily="49" charset="-122"/>
                <a:cs typeface="Consolas" pitchFamily="49" charset="0"/>
              </a:rPr>
              <a:t>不在</a:t>
            </a:r>
            <a:r>
              <a:rPr lang="en-US" altLang="zh-CN" sz="2000">
                <a:solidFill>
                  <a:schemeClr val="bg2">
                    <a:lumMod val="25000"/>
                  </a:schemeClr>
                </a:solidFill>
                <a:latin typeface="Consolas" pitchFamily="49" charset="0"/>
                <a:ea typeface="楷体" pitchFamily="49" charset="-122"/>
                <a:cs typeface="Consolas" pitchFamily="49" charset="0"/>
              </a:rPr>
              <a:t>S</a:t>
            </a:r>
            <a:r>
              <a:rPr lang="zh-CN" altLang="en-US" sz="2000">
                <a:solidFill>
                  <a:schemeClr val="bg2">
                    <a:lumMod val="25000"/>
                  </a:schemeClr>
                </a:solidFill>
                <a:latin typeface="Consolas" pitchFamily="49" charset="0"/>
                <a:ea typeface="楷体" pitchFamily="49" charset="-122"/>
                <a:cs typeface="Consolas" pitchFamily="49" charset="0"/>
              </a:rPr>
              <a:t>中，则</a:t>
            </a:r>
            <a:r>
              <a:rPr lang="en-US" altLang="zh-CN" sz="2000">
                <a:solidFill>
                  <a:schemeClr val="bg2">
                    <a:lumMod val="25000"/>
                  </a:schemeClr>
                </a:solidFill>
                <a:latin typeface="Consolas" pitchFamily="49" charset="0"/>
                <a:ea typeface="楷体" pitchFamily="49" charset="-122"/>
                <a:cs typeface="Consolas" pitchFamily="49" charset="0"/>
              </a:rPr>
              <a:t>dist[</a:t>
            </a:r>
            <a:r>
              <a:rPr lang="en-US" altLang="zh-CN" sz="2000" i="1">
                <a:solidFill>
                  <a:schemeClr val="bg2">
                    <a:lumMod val="25000"/>
                  </a:schemeClr>
                </a:solidFill>
                <a:latin typeface="Consolas" pitchFamily="49" charset="0"/>
                <a:ea typeface="楷体" pitchFamily="49" charset="-122"/>
                <a:cs typeface="Consolas" pitchFamily="49" charset="0"/>
              </a:rPr>
              <a:t>j</a:t>
            </a:r>
            <a:r>
              <a:rPr lang="en-US" altLang="zh-CN" sz="2000">
                <a:solidFill>
                  <a:schemeClr val="bg2">
                    <a:lumMod val="25000"/>
                  </a:schemeClr>
                </a:solidFill>
                <a:latin typeface="Consolas" pitchFamily="49" charset="0"/>
                <a:ea typeface="楷体" pitchFamily="49" charset="-122"/>
                <a:cs typeface="Consolas" pitchFamily="49" charset="0"/>
              </a:rPr>
              <a:t>]</a:t>
            </a:r>
            <a:r>
              <a:rPr lang="zh-CN" altLang="en-US" sz="2000">
                <a:solidFill>
                  <a:schemeClr val="bg2">
                    <a:lumMod val="25000"/>
                  </a:schemeClr>
                </a:solidFill>
                <a:latin typeface="Consolas" pitchFamily="49" charset="0"/>
                <a:ea typeface="楷体" pitchFamily="49" charset="-122"/>
                <a:cs typeface="Consolas" pitchFamily="49" charset="0"/>
              </a:rPr>
              <a:t>给出了从源点到顶点</a:t>
            </a:r>
            <a:r>
              <a:rPr lang="en-US" altLang="zh-CN" sz="2000" i="1">
                <a:solidFill>
                  <a:schemeClr val="bg2">
                    <a:lumMod val="25000"/>
                  </a:schemeClr>
                </a:solidFill>
                <a:latin typeface="Consolas" pitchFamily="49" charset="0"/>
                <a:ea typeface="楷体" pitchFamily="49" charset="-122"/>
                <a:cs typeface="Consolas" pitchFamily="49" charset="0"/>
              </a:rPr>
              <a:t>j</a:t>
            </a:r>
            <a:r>
              <a:rPr lang="zh-CN" altLang="en-US" sz="2000">
                <a:solidFill>
                  <a:schemeClr val="bg2">
                    <a:lumMod val="25000"/>
                  </a:schemeClr>
                </a:solidFill>
                <a:latin typeface="Consolas" pitchFamily="49" charset="0"/>
                <a:ea typeface="楷体" pitchFamily="49" charset="-122"/>
                <a:cs typeface="Consolas" pitchFamily="49" charset="0"/>
              </a:rPr>
              <a:t>的最短特殊路径长度，即该路径上的所有中间顶点都属于</a:t>
            </a:r>
            <a:r>
              <a:rPr lang="en-US" altLang="zh-CN" sz="2000">
                <a:solidFill>
                  <a:schemeClr val="bg2">
                    <a:lumMod val="25000"/>
                  </a:schemeClr>
                </a:solidFill>
                <a:latin typeface="Consolas" pitchFamily="49" charset="0"/>
                <a:ea typeface="楷体" pitchFamily="49" charset="-122"/>
                <a:cs typeface="Consolas" pitchFamily="49" charset="0"/>
              </a:rPr>
              <a:t>S</a:t>
            </a:r>
            <a:r>
              <a:rPr lang="zh-CN" altLang="en-US" sz="2000">
                <a:solidFill>
                  <a:schemeClr val="bg2">
                    <a:lumMod val="25000"/>
                  </a:schemeClr>
                </a:solidFill>
                <a:latin typeface="Consolas" pitchFamily="49" charset="0"/>
                <a:ea typeface="楷体" pitchFamily="49" charset="-122"/>
                <a:cs typeface="Consolas" pitchFamily="49" charset="0"/>
              </a:rPr>
              <a:t>。</a:t>
            </a: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49</a:t>
            </a:fld>
            <a:r>
              <a:rPr lang="en-US" altLang="zh-CN"/>
              <a:t>/158</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Text Box 2"/>
          <p:cNvSpPr txBox="1">
            <a:spLocks noChangeArrowheads="1"/>
          </p:cNvSpPr>
          <p:nvPr/>
        </p:nvSpPr>
        <p:spPr bwMode="auto">
          <a:xfrm>
            <a:off x="285720" y="571480"/>
            <a:ext cx="8424862" cy="3522759"/>
          </a:xfrm>
          <a:prstGeom prst="rect">
            <a:avLst/>
          </a:prstGeom>
          <a:ln>
            <a:solidFill>
              <a:schemeClr val="accent6">
                <a:lumMod val="40000"/>
                <a:lumOff val="60000"/>
              </a:schemeClr>
            </a:solidFill>
            <a:headEnd/>
            <a:tailEnd/>
          </a:ln>
        </p:spPr>
        <p:style>
          <a:lnRef idx="2">
            <a:schemeClr val="accent6"/>
          </a:lnRef>
          <a:fillRef idx="1">
            <a:schemeClr val="lt1"/>
          </a:fillRef>
          <a:effectRef idx="0">
            <a:schemeClr val="accent6"/>
          </a:effectRef>
          <a:fontRef idx="minor">
            <a:schemeClr val="dk1"/>
          </a:fontRef>
        </p:style>
        <p:txBody>
          <a:bodyPr>
            <a:spAutoFit/>
          </a:bodyPr>
          <a:lstStyle/>
          <a:p>
            <a:pPr marL="457200" indent="-457200" algn="l">
              <a:lnSpc>
                <a:spcPts val="3300"/>
              </a:lnSpc>
              <a:spcBef>
                <a:spcPts val="600"/>
              </a:spcBef>
              <a:buBlip>
                <a:blip r:embed="rId2"/>
              </a:buBlip>
            </a:pPr>
            <a:r>
              <a:rPr lang="zh-CN" altLang="zh-CN">
                <a:solidFill>
                  <a:srgbClr val="0000FF"/>
                </a:solidFill>
                <a:latin typeface="Consolas" pitchFamily="49" charset="0"/>
                <a:ea typeface="仿宋" pitchFamily="49" charset="-122"/>
                <a:cs typeface="Consolas" pitchFamily="49" charset="0"/>
              </a:rPr>
              <a:t>对于第</a:t>
            </a:r>
            <a:r>
              <a:rPr lang="en-US" altLang="zh-CN">
                <a:solidFill>
                  <a:srgbClr val="0000FF"/>
                </a:solidFill>
                <a:latin typeface="Consolas" pitchFamily="49" charset="0"/>
                <a:ea typeface="仿宋" pitchFamily="49" charset="-122"/>
                <a:cs typeface="Consolas" pitchFamily="49" charset="0"/>
              </a:rPr>
              <a:t>2</a:t>
            </a:r>
            <a:r>
              <a:rPr lang="zh-CN" altLang="zh-CN">
                <a:solidFill>
                  <a:srgbClr val="0000FF"/>
                </a:solidFill>
                <a:latin typeface="Consolas" pitchFamily="49" charset="0"/>
                <a:ea typeface="仿宋" pitchFamily="49" charset="-122"/>
                <a:cs typeface="Consolas" pitchFamily="49" charset="0"/>
              </a:rPr>
              <a:t>种情况，设</a:t>
            </a:r>
            <a:r>
              <a:rPr lang="en-US" altLang="zh-CN" i="1">
                <a:solidFill>
                  <a:srgbClr val="0000FF"/>
                </a:solidFill>
                <a:latin typeface="Consolas" pitchFamily="49" charset="0"/>
                <a:ea typeface="仿宋" pitchFamily="49" charset="-122"/>
                <a:cs typeface="Consolas" pitchFamily="49" charset="0"/>
              </a:rPr>
              <a:t>x</a:t>
            </a:r>
            <a:r>
              <a:rPr lang="zh-CN" altLang="zh-CN">
                <a:solidFill>
                  <a:srgbClr val="0000FF"/>
                </a:solidFill>
                <a:latin typeface="Consolas" pitchFamily="49" charset="0"/>
                <a:ea typeface="仿宋" pitchFamily="49" charset="-122"/>
                <a:cs typeface="Consolas" pitchFamily="49" charset="0"/>
              </a:rPr>
              <a:t>是到达</a:t>
            </a:r>
            <a:r>
              <a:rPr lang="en-US" altLang="zh-CN" i="1">
                <a:solidFill>
                  <a:srgbClr val="0000FF"/>
                </a:solidFill>
                <a:latin typeface="Consolas" pitchFamily="49" charset="0"/>
                <a:ea typeface="仿宋" pitchFamily="49" charset="-122"/>
                <a:cs typeface="Consolas" pitchFamily="49" charset="0"/>
              </a:rPr>
              <a:t>w</a:t>
            </a:r>
            <a:r>
              <a:rPr lang="zh-CN" altLang="zh-CN">
                <a:solidFill>
                  <a:srgbClr val="0000FF"/>
                </a:solidFill>
                <a:latin typeface="Consolas" pitchFamily="49" charset="0"/>
                <a:ea typeface="仿宋" pitchFamily="49" charset="-122"/>
                <a:cs typeface="Consolas" pitchFamily="49" charset="0"/>
              </a:rPr>
              <a:t>之前经过的</a:t>
            </a:r>
            <a:r>
              <a:rPr lang="en-US" altLang="zh-CN" i="1">
                <a:solidFill>
                  <a:srgbClr val="0000FF"/>
                </a:solidFill>
                <a:latin typeface="Consolas" pitchFamily="49" charset="0"/>
                <a:ea typeface="仿宋" pitchFamily="49" charset="-122"/>
                <a:cs typeface="Consolas" pitchFamily="49" charset="0"/>
              </a:rPr>
              <a:t>S</a:t>
            </a:r>
            <a:r>
              <a:rPr lang="zh-CN" altLang="zh-CN">
                <a:solidFill>
                  <a:srgbClr val="0000FF"/>
                </a:solidFill>
                <a:latin typeface="Consolas" pitchFamily="49" charset="0"/>
                <a:ea typeface="仿宋" pitchFamily="49" charset="-122"/>
                <a:cs typeface="Consolas" pitchFamily="49" charset="0"/>
              </a:rPr>
              <a:t>的最后一个顶点，因此这条路径的长度就是</a:t>
            </a:r>
            <a:r>
              <a:rPr lang="en-US" altLang="zh-CN">
                <a:solidFill>
                  <a:srgbClr val="0000FF"/>
                </a:solidFill>
                <a:latin typeface="Consolas" pitchFamily="49" charset="0"/>
                <a:ea typeface="仿宋" pitchFamily="49" charset="-122"/>
                <a:cs typeface="Consolas" pitchFamily="49" charset="0"/>
              </a:rPr>
              <a:t>dist[</a:t>
            </a:r>
            <a:r>
              <a:rPr lang="en-US" altLang="zh-CN" i="1">
                <a:solidFill>
                  <a:srgbClr val="0000FF"/>
                </a:solidFill>
                <a:latin typeface="Consolas" pitchFamily="49" charset="0"/>
                <a:ea typeface="仿宋" pitchFamily="49" charset="-122"/>
                <a:cs typeface="Consolas" pitchFamily="49" charset="0"/>
              </a:rPr>
              <a:t>x</a:t>
            </a:r>
            <a:r>
              <a:rPr lang="en-US" altLang="zh-CN">
                <a:solidFill>
                  <a:srgbClr val="0000FF"/>
                </a:solidFill>
                <a:latin typeface="Consolas" pitchFamily="49" charset="0"/>
                <a:ea typeface="仿宋" pitchFamily="49" charset="-122"/>
                <a:cs typeface="Consolas" pitchFamily="49" charset="0"/>
              </a:rPr>
              <a:t>]+L(</a:t>
            </a:r>
            <a:r>
              <a:rPr lang="en-US" altLang="zh-CN" i="1">
                <a:solidFill>
                  <a:srgbClr val="0000FF"/>
                </a:solidFill>
                <a:latin typeface="Consolas" pitchFamily="49" charset="0"/>
                <a:ea typeface="仿宋" pitchFamily="49" charset="-122"/>
                <a:cs typeface="Consolas" pitchFamily="49" charset="0"/>
              </a:rPr>
              <a:t>x</a:t>
            </a:r>
            <a:r>
              <a:rPr lang="zh-CN"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w</a:t>
            </a:r>
            <a:r>
              <a:rPr lang="en-US"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a:t>
            </a:r>
            <a:r>
              <a:rPr lang="en-US" altLang="zh-CN">
                <a:solidFill>
                  <a:srgbClr val="0000FF"/>
                </a:solidFill>
                <a:latin typeface="Consolas" pitchFamily="49" charset="0"/>
                <a:ea typeface="仿宋" pitchFamily="49" charset="-122"/>
                <a:cs typeface="Consolas" pitchFamily="49" charset="0"/>
              </a:rPr>
              <a:t>L(</a:t>
            </a:r>
            <a:r>
              <a:rPr lang="en-US" altLang="zh-CN" i="1">
                <a:solidFill>
                  <a:srgbClr val="0000FF"/>
                </a:solidFill>
                <a:latin typeface="Consolas" pitchFamily="49" charset="0"/>
                <a:ea typeface="仿宋" pitchFamily="49" charset="-122"/>
                <a:cs typeface="Consolas" pitchFamily="49" charset="0"/>
              </a:rPr>
              <a:t>x</a:t>
            </a:r>
            <a:r>
              <a:rPr lang="zh-CN"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w</a:t>
            </a:r>
            <a:r>
              <a:rPr lang="en-US"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为顶点</a:t>
            </a:r>
            <a:r>
              <a:rPr lang="en-US" altLang="zh-CN" i="1">
                <a:solidFill>
                  <a:srgbClr val="0000FF"/>
                </a:solidFill>
                <a:latin typeface="Consolas" pitchFamily="49" charset="0"/>
                <a:ea typeface="仿宋" pitchFamily="49" charset="-122"/>
                <a:cs typeface="Consolas" pitchFamily="49" charset="0"/>
              </a:rPr>
              <a:t>x</a:t>
            </a:r>
            <a:r>
              <a:rPr lang="zh-CN" altLang="zh-CN">
                <a:solidFill>
                  <a:srgbClr val="0000FF"/>
                </a:solidFill>
                <a:latin typeface="Consolas" pitchFamily="49" charset="0"/>
                <a:ea typeface="仿宋" pitchFamily="49" charset="-122"/>
                <a:cs typeface="Consolas" pitchFamily="49" charset="0"/>
              </a:rPr>
              <a:t>到顶点</a:t>
            </a:r>
            <a:r>
              <a:rPr lang="en-US" altLang="zh-CN" i="1">
                <a:solidFill>
                  <a:srgbClr val="0000FF"/>
                </a:solidFill>
                <a:latin typeface="Consolas" pitchFamily="49" charset="0"/>
                <a:ea typeface="仿宋" pitchFamily="49" charset="-122"/>
                <a:cs typeface="Consolas" pitchFamily="49" charset="0"/>
              </a:rPr>
              <a:t>w</a:t>
            </a:r>
            <a:r>
              <a:rPr lang="zh-CN" altLang="zh-CN">
                <a:solidFill>
                  <a:srgbClr val="0000FF"/>
                </a:solidFill>
                <a:latin typeface="Consolas" pitchFamily="49" charset="0"/>
                <a:ea typeface="仿宋" pitchFamily="49" charset="-122"/>
                <a:cs typeface="Consolas" pitchFamily="49" charset="0"/>
              </a:rPr>
              <a:t>的路径长度）。对于任意</a:t>
            </a:r>
            <a:r>
              <a:rPr lang="en-US" altLang="zh-CN" i="1">
                <a:solidFill>
                  <a:srgbClr val="0000FF"/>
                </a:solidFill>
                <a:latin typeface="Consolas" pitchFamily="49" charset="0"/>
                <a:ea typeface="仿宋" pitchFamily="49" charset="-122"/>
                <a:cs typeface="Consolas" pitchFamily="49" charset="0"/>
              </a:rPr>
              <a:t>S</a:t>
            </a:r>
            <a:r>
              <a:rPr lang="zh-CN" altLang="zh-CN">
                <a:solidFill>
                  <a:srgbClr val="0000FF"/>
                </a:solidFill>
                <a:latin typeface="Consolas" pitchFamily="49" charset="0"/>
                <a:ea typeface="仿宋" pitchFamily="49" charset="-122"/>
                <a:cs typeface="Consolas" pitchFamily="49" charset="0"/>
              </a:rPr>
              <a:t>中的顶点</a:t>
            </a:r>
            <a:r>
              <a:rPr lang="en-US" altLang="zh-CN" i="1">
                <a:solidFill>
                  <a:srgbClr val="0000FF"/>
                </a:solidFill>
                <a:latin typeface="Consolas" pitchFamily="49" charset="0"/>
                <a:ea typeface="仿宋" pitchFamily="49" charset="-122"/>
                <a:cs typeface="Consolas" pitchFamily="49" charset="0"/>
              </a:rPr>
              <a:t>x</a:t>
            </a:r>
            <a:r>
              <a:rPr lang="zh-CN" altLang="zh-CN">
                <a:solidFill>
                  <a:srgbClr val="0000FF"/>
                </a:solidFill>
                <a:latin typeface="Consolas" pitchFamily="49" charset="0"/>
                <a:ea typeface="仿宋" pitchFamily="49" charset="-122"/>
                <a:cs typeface="Consolas" pitchFamily="49" charset="0"/>
              </a:rPr>
              <a:t>（包括</a:t>
            </a:r>
            <a:r>
              <a:rPr lang="en-US" altLang="zh-CN" i="1">
                <a:solidFill>
                  <a:srgbClr val="0000FF"/>
                </a:solidFill>
                <a:latin typeface="Consolas" pitchFamily="49" charset="0"/>
                <a:ea typeface="仿宋" pitchFamily="49" charset="-122"/>
                <a:cs typeface="Consolas" pitchFamily="49" charset="0"/>
              </a:rPr>
              <a:t>u</a:t>
            </a:r>
            <a:r>
              <a:rPr lang="zh-CN" altLang="zh-CN">
                <a:solidFill>
                  <a:srgbClr val="0000FF"/>
                </a:solidFill>
                <a:latin typeface="Consolas" pitchFamily="49" charset="0"/>
                <a:ea typeface="仿宋" pitchFamily="49" charset="-122"/>
                <a:cs typeface="Consolas" pitchFamily="49" charset="0"/>
              </a:rPr>
              <a:t>），要计算</a:t>
            </a:r>
            <a:r>
              <a:rPr lang="en-US" altLang="zh-CN">
                <a:solidFill>
                  <a:srgbClr val="0000FF"/>
                </a:solidFill>
                <a:latin typeface="Consolas" pitchFamily="49" charset="0"/>
                <a:ea typeface="仿宋" pitchFamily="49" charset="-122"/>
                <a:cs typeface="Consolas" pitchFamily="49" charset="0"/>
              </a:rPr>
              <a:t>dist[</a:t>
            </a:r>
            <a:r>
              <a:rPr lang="en-US" altLang="zh-CN" i="1">
                <a:solidFill>
                  <a:srgbClr val="0000FF"/>
                </a:solidFill>
                <a:latin typeface="Consolas" pitchFamily="49" charset="0"/>
                <a:ea typeface="仿宋" pitchFamily="49" charset="-122"/>
                <a:cs typeface="Consolas" pitchFamily="49" charset="0"/>
              </a:rPr>
              <a:t>w</a:t>
            </a:r>
            <a:r>
              <a:rPr lang="en-US"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的值，就必须比较</a:t>
            </a:r>
            <a:r>
              <a:rPr lang="en-US" altLang="zh-CN">
                <a:solidFill>
                  <a:srgbClr val="0000FF"/>
                </a:solidFill>
                <a:latin typeface="Consolas" pitchFamily="49" charset="0"/>
                <a:ea typeface="仿宋" pitchFamily="49" charset="-122"/>
                <a:cs typeface="Consolas" pitchFamily="49" charset="0"/>
              </a:rPr>
              <a:t>dist[</a:t>
            </a:r>
            <a:r>
              <a:rPr lang="en-US" altLang="zh-CN" i="1">
                <a:solidFill>
                  <a:srgbClr val="0000FF"/>
                </a:solidFill>
                <a:latin typeface="Consolas" pitchFamily="49" charset="0"/>
                <a:ea typeface="仿宋" pitchFamily="49" charset="-122"/>
                <a:cs typeface="Consolas" pitchFamily="49" charset="0"/>
              </a:rPr>
              <a:t>w</a:t>
            </a:r>
            <a:r>
              <a:rPr lang="en-US"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原先的值和</a:t>
            </a:r>
            <a:r>
              <a:rPr lang="en-US" altLang="zh-CN">
                <a:solidFill>
                  <a:srgbClr val="0000FF"/>
                </a:solidFill>
                <a:latin typeface="Consolas" pitchFamily="49" charset="0"/>
                <a:ea typeface="仿宋" pitchFamily="49" charset="-122"/>
                <a:cs typeface="Consolas" pitchFamily="49" charset="0"/>
              </a:rPr>
              <a:t>dist[</a:t>
            </a:r>
            <a:r>
              <a:rPr lang="en-US" altLang="zh-CN" i="1">
                <a:solidFill>
                  <a:srgbClr val="0000FF"/>
                </a:solidFill>
                <a:latin typeface="Consolas" pitchFamily="49" charset="0"/>
                <a:ea typeface="仿宋" pitchFamily="49" charset="-122"/>
                <a:cs typeface="Consolas" pitchFamily="49" charset="0"/>
              </a:rPr>
              <a:t>x</a:t>
            </a:r>
            <a:r>
              <a:rPr lang="en-US" altLang="zh-CN">
                <a:solidFill>
                  <a:srgbClr val="0000FF"/>
                </a:solidFill>
                <a:latin typeface="Consolas" pitchFamily="49" charset="0"/>
                <a:ea typeface="仿宋" pitchFamily="49" charset="-122"/>
                <a:cs typeface="Consolas" pitchFamily="49" charset="0"/>
              </a:rPr>
              <a:t>]+L(</a:t>
            </a:r>
            <a:r>
              <a:rPr lang="en-US" altLang="zh-CN" i="1">
                <a:solidFill>
                  <a:srgbClr val="0000FF"/>
                </a:solidFill>
                <a:latin typeface="Consolas" pitchFamily="49" charset="0"/>
                <a:ea typeface="仿宋" pitchFamily="49" charset="-122"/>
                <a:cs typeface="Consolas" pitchFamily="49" charset="0"/>
              </a:rPr>
              <a:t>x</a:t>
            </a:r>
            <a:r>
              <a:rPr lang="zh-CN"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w</a:t>
            </a:r>
            <a:r>
              <a:rPr lang="en-US"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的大小。</a:t>
            </a:r>
            <a:endParaRPr lang="en-US" altLang="zh-CN">
              <a:solidFill>
                <a:srgbClr val="0000FF"/>
              </a:solidFill>
              <a:latin typeface="Consolas" pitchFamily="49" charset="0"/>
              <a:ea typeface="仿宋" pitchFamily="49" charset="-122"/>
              <a:cs typeface="Consolas" pitchFamily="49" charset="0"/>
            </a:endParaRPr>
          </a:p>
          <a:p>
            <a:pPr marL="457200" indent="-457200" algn="l">
              <a:lnSpc>
                <a:spcPts val="3300"/>
              </a:lnSpc>
              <a:spcBef>
                <a:spcPts val="600"/>
              </a:spcBef>
              <a:buBlip>
                <a:blip r:embed="rId2"/>
              </a:buBlip>
            </a:pPr>
            <a:r>
              <a:rPr lang="zh-CN" altLang="zh-CN">
                <a:solidFill>
                  <a:srgbClr val="0000FF"/>
                </a:solidFill>
                <a:latin typeface="Consolas" pitchFamily="49" charset="0"/>
                <a:ea typeface="仿宋" pitchFamily="49" charset="-122"/>
                <a:cs typeface="Consolas" pitchFamily="49" charset="0"/>
              </a:rPr>
              <a:t>因为算法明确地进行这种比较以计算新的</a:t>
            </a:r>
            <a:r>
              <a:rPr lang="en-US" altLang="zh-CN">
                <a:solidFill>
                  <a:srgbClr val="0000FF"/>
                </a:solidFill>
                <a:latin typeface="Consolas" pitchFamily="49" charset="0"/>
                <a:ea typeface="仿宋" pitchFamily="49" charset="-122"/>
                <a:cs typeface="Consolas" pitchFamily="49" charset="0"/>
              </a:rPr>
              <a:t>dist[</a:t>
            </a:r>
            <a:r>
              <a:rPr lang="en-US" altLang="zh-CN" i="1">
                <a:solidFill>
                  <a:srgbClr val="0000FF"/>
                </a:solidFill>
                <a:latin typeface="Consolas" pitchFamily="49" charset="0"/>
                <a:ea typeface="仿宋" pitchFamily="49" charset="-122"/>
                <a:cs typeface="Consolas" pitchFamily="49" charset="0"/>
              </a:rPr>
              <a:t>w</a:t>
            </a:r>
            <a:r>
              <a:rPr lang="en-US"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值，所以往</a:t>
            </a:r>
            <a:r>
              <a:rPr lang="en-US" altLang="zh-CN">
                <a:solidFill>
                  <a:srgbClr val="0000FF"/>
                </a:solidFill>
                <a:latin typeface="Consolas" pitchFamily="49" charset="0"/>
                <a:ea typeface="仿宋" pitchFamily="49" charset="-122"/>
                <a:cs typeface="Consolas" pitchFamily="49" charset="0"/>
              </a:rPr>
              <a:t>S</a:t>
            </a:r>
            <a:r>
              <a:rPr lang="zh-CN" altLang="zh-CN">
                <a:solidFill>
                  <a:srgbClr val="0000FF"/>
                </a:solidFill>
                <a:latin typeface="Consolas" pitchFamily="49" charset="0"/>
                <a:ea typeface="仿宋" pitchFamily="49" charset="-122"/>
                <a:cs typeface="Consolas" pitchFamily="49" charset="0"/>
              </a:rPr>
              <a:t>中加入新顶点</a:t>
            </a:r>
            <a:r>
              <a:rPr lang="en-US" altLang="zh-CN" i="1">
                <a:solidFill>
                  <a:srgbClr val="0000FF"/>
                </a:solidFill>
                <a:latin typeface="Consolas" pitchFamily="49" charset="0"/>
                <a:ea typeface="仿宋" pitchFamily="49" charset="-122"/>
                <a:cs typeface="Consolas" pitchFamily="49" charset="0"/>
              </a:rPr>
              <a:t>u</a:t>
            </a:r>
            <a:r>
              <a:rPr lang="zh-CN" altLang="zh-CN">
                <a:solidFill>
                  <a:srgbClr val="0000FF"/>
                </a:solidFill>
                <a:latin typeface="Consolas" pitchFamily="49" charset="0"/>
                <a:ea typeface="仿宋" pitchFamily="49" charset="-122"/>
                <a:cs typeface="Consolas" pitchFamily="49" charset="0"/>
              </a:rPr>
              <a:t>时，</a:t>
            </a:r>
            <a:r>
              <a:rPr lang="en-US" altLang="zh-CN">
                <a:solidFill>
                  <a:srgbClr val="0000FF"/>
                </a:solidFill>
                <a:latin typeface="Consolas" pitchFamily="49" charset="0"/>
                <a:ea typeface="仿宋" pitchFamily="49" charset="-122"/>
                <a:cs typeface="Consolas" pitchFamily="49" charset="0"/>
              </a:rPr>
              <a:t>dist[</a:t>
            </a:r>
            <a:r>
              <a:rPr lang="en-US" altLang="zh-CN" i="1">
                <a:solidFill>
                  <a:srgbClr val="0000FF"/>
                </a:solidFill>
                <a:latin typeface="Consolas" pitchFamily="49" charset="0"/>
                <a:ea typeface="仿宋" pitchFamily="49" charset="-122"/>
                <a:cs typeface="Consolas" pitchFamily="49" charset="0"/>
              </a:rPr>
              <a:t>w</a:t>
            </a:r>
            <a:r>
              <a:rPr lang="en-US"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仍然给出源点</a:t>
            </a:r>
            <a:r>
              <a:rPr lang="en-US" altLang="zh-CN" i="1">
                <a:solidFill>
                  <a:srgbClr val="0000FF"/>
                </a:solidFill>
                <a:latin typeface="Consolas" pitchFamily="49" charset="0"/>
                <a:ea typeface="仿宋" pitchFamily="49" charset="-122"/>
                <a:cs typeface="Consolas" pitchFamily="49" charset="0"/>
              </a:rPr>
              <a:t>v</a:t>
            </a:r>
            <a:r>
              <a:rPr lang="zh-CN" altLang="zh-CN">
                <a:solidFill>
                  <a:srgbClr val="0000FF"/>
                </a:solidFill>
                <a:latin typeface="Consolas" pitchFamily="49" charset="0"/>
                <a:ea typeface="仿宋" pitchFamily="49" charset="-122"/>
                <a:cs typeface="Consolas" pitchFamily="49" charset="0"/>
              </a:rPr>
              <a:t>到顶点</a:t>
            </a:r>
            <a:r>
              <a:rPr lang="en-US" altLang="zh-CN" i="1">
                <a:solidFill>
                  <a:srgbClr val="0000FF"/>
                </a:solidFill>
                <a:latin typeface="Consolas" pitchFamily="49" charset="0"/>
                <a:ea typeface="仿宋" pitchFamily="49" charset="-122"/>
                <a:cs typeface="Consolas" pitchFamily="49" charset="0"/>
              </a:rPr>
              <a:t>w</a:t>
            </a:r>
            <a:r>
              <a:rPr lang="zh-CN" altLang="zh-CN">
                <a:solidFill>
                  <a:srgbClr val="0000FF"/>
                </a:solidFill>
                <a:latin typeface="Consolas" pitchFamily="49" charset="0"/>
                <a:ea typeface="仿宋" pitchFamily="49" charset="-122"/>
                <a:cs typeface="Consolas" pitchFamily="49" charset="0"/>
              </a:rPr>
              <a:t>的最短特殊路径的长度，因此条件（</a:t>
            </a:r>
            <a:r>
              <a:rPr lang="en-US" altLang="zh-CN">
                <a:solidFill>
                  <a:srgbClr val="0000FF"/>
                </a:solidFill>
                <a:latin typeface="Consolas" pitchFamily="49" charset="0"/>
                <a:ea typeface="仿宋" pitchFamily="49" charset="-122"/>
                <a:cs typeface="Consolas" pitchFamily="49" charset="0"/>
              </a:rPr>
              <a:t>2</a:t>
            </a:r>
            <a:r>
              <a:rPr lang="zh-CN" altLang="zh-CN">
                <a:solidFill>
                  <a:srgbClr val="0000FF"/>
                </a:solidFill>
                <a:latin typeface="Consolas" pitchFamily="49" charset="0"/>
                <a:ea typeface="仿宋" pitchFamily="49" charset="-122"/>
                <a:cs typeface="Consolas" pitchFamily="49" charset="0"/>
              </a:rPr>
              <a:t>）也是成立的。</a:t>
            </a:r>
          </a:p>
        </p:txBody>
      </p:sp>
      <p:sp>
        <p:nvSpPr>
          <p:cNvPr id="4" name="灯片编号占位符 3"/>
          <p:cNvSpPr>
            <a:spLocks noGrp="1"/>
          </p:cNvSpPr>
          <p:nvPr>
            <p:ph type="sldNum" sz="quarter" idx="12"/>
          </p:nvPr>
        </p:nvSpPr>
        <p:spPr/>
        <p:txBody>
          <a:bodyPr/>
          <a:lstStyle/>
          <a:p>
            <a:fld id="{7AF016A1-9F15-429F-9EFD-84004B73C732}" type="slidenum">
              <a:rPr lang="en-US" altLang="zh-CN" smtClean="0"/>
              <a:pPr/>
              <a:t>50</a:t>
            </a:fld>
            <a:r>
              <a:rPr lang="en-US" altLang="zh-CN"/>
              <a:t>/158</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7158" y="1500174"/>
            <a:ext cx="8572560" cy="4349909"/>
          </a:xfrm>
          <a:prstGeom prst="rect">
            <a:avLst/>
          </a:prstGeom>
          <a:ln>
            <a:solidFill>
              <a:schemeClr val="accent6">
                <a:lumMod val="20000"/>
                <a:lumOff val="8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defTabSz="360000">
              <a:lnSpc>
                <a:spcPts val="3200"/>
              </a:lnSpc>
              <a:spcBef>
                <a:spcPts val="600"/>
              </a:spcBef>
            </a:pPr>
            <a:r>
              <a:rPr lang="zh-CN" altLang="zh-CN">
                <a:solidFill>
                  <a:srgbClr val="FF0000"/>
                </a:solidFill>
                <a:latin typeface="Consolas" pitchFamily="49" charset="0"/>
                <a:ea typeface="楷体" pitchFamily="49" charset="-122"/>
              </a:rPr>
              <a:t>【例</a:t>
            </a:r>
            <a:r>
              <a:rPr lang="en-US" altLang="zh-CN">
                <a:solidFill>
                  <a:srgbClr val="FF0000"/>
                </a:solidFill>
                <a:latin typeface="Consolas" pitchFamily="49" charset="0"/>
                <a:ea typeface="楷体" pitchFamily="49" charset="-122"/>
              </a:rPr>
              <a:t>9.2</a:t>
            </a:r>
            <a:r>
              <a:rPr lang="zh-CN" altLang="zh-CN">
                <a:solidFill>
                  <a:srgbClr val="FF0000"/>
                </a:solidFill>
                <a:latin typeface="Consolas" pitchFamily="49" charset="0"/>
                <a:ea typeface="楷体" pitchFamily="49" charset="-122"/>
              </a:rPr>
              <a:t>】</a:t>
            </a:r>
            <a:r>
              <a:rPr lang="zh-CN" altLang="zh-CN">
                <a:solidFill>
                  <a:srgbClr val="0000FF"/>
                </a:solidFill>
                <a:latin typeface="Consolas" pitchFamily="49" charset="0"/>
                <a:ea typeface="仿宋" pitchFamily="49" charset="-122"/>
              </a:rPr>
              <a:t>最短路径问题（</a:t>
            </a:r>
            <a:r>
              <a:rPr lang="en-US" altLang="zh-CN">
                <a:solidFill>
                  <a:srgbClr val="0000FF"/>
                </a:solidFill>
                <a:latin typeface="Consolas" pitchFamily="49" charset="0"/>
                <a:ea typeface="仿宋" pitchFamily="49" charset="-122"/>
              </a:rPr>
              <a:t>HDU3790</a:t>
            </a:r>
            <a:r>
              <a:rPr lang="zh-CN" altLang="zh-CN">
                <a:solidFill>
                  <a:srgbClr val="0000FF"/>
                </a:solidFill>
                <a:latin typeface="Consolas" pitchFamily="49" charset="0"/>
                <a:ea typeface="仿宋" pitchFamily="49" charset="-122"/>
              </a:rPr>
              <a:t>，时间限制：</a:t>
            </a:r>
            <a:r>
              <a:rPr lang="en-US" altLang="zh-CN">
                <a:solidFill>
                  <a:srgbClr val="0000FF"/>
                </a:solidFill>
                <a:latin typeface="Consolas" pitchFamily="49" charset="0"/>
                <a:ea typeface="仿宋" pitchFamily="49" charset="-122"/>
              </a:rPr>
              <a:t>1000ms</a:t>
            </a:r>
            <a:r>
              <a:rPr lang="zh-CN" altLang="zh-CN">
                <a:solidFill>
                  <a:srgbClr val="0000FF"/>
                </a:solidFill>
                <a:latin typeface="Consolas" pitchFamily="49" charset="0"/>
                <a:ea typeface="仿宋" pitchFamily="49" charset="-122"/>
              </a:rPr>
              <a:t>，内存限制：</a:t>
            </a:r>
            <a:r>
              <a:rPr lang="en-US" altLang="zh-CN">
                <a:solidFill>
                  <a:srgbClr val="0000FF"/>
                </a:solidFill>
                <a:latin typeface="Consolas" pitchFamily="49" charset="0"/>
                <a:ea typeface="仿宋" pitchFamily="49" charset="-122"/>
              </a:rPr>
              <a:t>32768KB</a:t>
            </a:r>
            <a:r>
              <a:rPr lang="zh-CN" altLang="zh-CN">
                <a:solidFill>
                  <a:srgbClr val="0000FF"/>
                </a:solidFill>
                <a:latin typeface="Consolas" pitchFamily="49" charset="0"/>
                <a:ea typeface="仿宋" pitchFamily="49" charset="-122"/>
              </a:rPr>
              <a:t>）。有</a:t>
            </a:r>
            <a:r>
              <a:rPr lang="en-US"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个点，</a:t>
            </a:r>
            <a:r>
              <a:rPr lang="en-US" altLang="zh-CN" i="1">
                <a:solidFill>
                  <a:srgbClr val="0000FF"/>
                </a:solidFill>
                <a:latin typeface="Consolas" pitchFamily="49" charset="0"/>
                <a:ea typeface="仿宋" pitchFamily="49" charset="-122"/>
              </a:rPr>
              <a:t>m</a:t>
            </a:r>
            <a:r>
              <a:rPr lang="zh-CN" altLang="zh-CN">
                <a:solidFill>
                  <a:srgbClr val="0000FF"/>
                </a:solidFill>
                <a:latin typeface="Consolas" pitchFamily="49" charset="0"/>
                <a:ea typeface="仿宋" pitchFamily="49" charset="-122"/>
              </a:rPr>
              <a:t>条无向边的图，每条边都有长度</a:t>
            </a:r>
            <a:r>
              <a:rPr lang="en-US" altLang="zh-CN" i="1">
                <a:solidFill>
                  <a:srgbClr val="0000FF"/>
                </a:solidFill>
                <a:latin typeface="Consolas" pitchFamily="49" charset="0"/>
                <a:ea typeface="仿宋" pitchFamily="49" charset="-122"/>
              </a:rPr>
              <a:t>d</a:t>
            </a:r>
            <a:r>
              <a:rPr lang="zh-CN" altLang="zh-CN">
                <a:solidFill>
                  <a:srgbClr val="0000FF"/>
                </a:solidFill>
                <a:latin typeface="Consolas" pitchFamily="49" charset="0"/>
                <a:ea typeface="仿宋" pitchFamily="49" charset="-122"/>
              </a:rPr>
              <a:t>和花费</a:t>
            </a:r>
            <a:r>
              <a:rPr lang="en-US" altLang="zh-CN" i="1">
                <a:solidFill>
                  <a:srgbClr val="0000FF"/>
                </a:solidFill>
                <a:latin typeface="Consolas" pitchFamily="49" charset="0"/>
                <a:ea typeface="仿宋" pitchFamily="49" charset="-122"/>
              </a:rPr>
              <a:t>p</a:t>
            </a:r>
            <a:r>
              <a:rPr lang="zh-CN" altLang="zh-CN">
                <a:solidFill>
                  <a:srgbClr val="0000FF"/>
                </a:solidFill>
                <a:latin typeface="Consolas" pitchFamily="49" charset="0"/>
                <a:ea typeface="仿宋" pitchFamily="49" charset="-122"/>
              </a:rPr>
              <a:t>，再给一个起点</a:t>
            </a:r>
            <a:r>
              <a:rPr lang="en-US" altLang="zh-CN" i="1">
                <a:solidFill>
                  <a:srgbClr val="0000FF"/>
                </a:solidFill>
                <a:latin typeface="Consolas" pitchFamily="49" charset="0"/>
                <a:ea typeface="仿宋" pitchFamily="49" charset="-122"/>
              </a:rPr>
              <a:t>s</a:t>
            </a:r>
            <a:r>
              <a:rPr lang="zh-CN" altLang="zh-CN">
                <a:solidFill>
                  <a:srgbClr val="0000FF"/>
                </a:solidFill>
                <a:latin typeface="Consolas" pitchFamily="49" charset="0"/>
                <a:ea typeface="仿宋" pitchFamily="49" charset="-122"/>
              </a:rPr>
              <a:t>和一个终点</a:t>
            </a:r>
            <a:r>
              <a:rPr lang="en-US" altLang="zh-CN" i="1">
                <a:solidFill>
                  <a:srgbClr val="0000FF"/>
                </a:solidFill>
                <a:latin typeface="Consolas" pitchFamily="49" charset="0"/>
                <a:ea typeface="仿宋" pitchFamily="49" charset="-122"/>
              </a:rPr>
              <a:t>t</a:t>
            </a:r>
            <a:r>
              <a:rPr lang="zh-CN" altLang="zh-CN">
                <a:solidFill>
                  <a:srgbClr val="0000FF"/>
                </a:solidFill>
                <a:latin typeface="Consolas" pitchFamily="49" charset="0"/>
                <a:ea typeface="仿宋" pitchFamily="49" charset="-122"/>
              </a:rPr>
              <a:t>，要求输出起点到终点的最短距离及其花费，如果最短距离有多条路线，则输出花费最少的。</a:t>
            </a:r>
          </a:p>
          <a:p>
            <a:pPr algn="l" defTabSz="360000">
              <a:lnSpc>
                <a:spcPts val="3200"/>
              </a:lnSpc>
              <a:spcBef>
                <a:spcPts val="600"/>
              </a:spcBef>
            </a:pPr>
            <a:r>
              <a:rPr lang="zh-CN" altLang="zh-CN">
                <a:solidFill>
                  <a:srgbClr val="FF0000"/>
                </a:solidFill>
                <a:latin typeface="Consolas" pitchFamily="49" charset="0"/>
                <a:ea typeface="仿宋" pitchFamily="49" charset="-122"/>
              </a:rPr>
              <a:t>输入格式</a:t>
            </a:r>
            <a:r>
              <a:rPr lang="zh-CN" altLang="zh-CN">
                <a:solidFill>
                  <a:srgbClr val="0000FF"/>
                </a:solidFill>
                <a:latin typeface="Consolas" pitchFamily="49" charset="0"/>
                <a:ea typeface="仿宋" pitchFamily="49" charset="-122"/>
              </a:rPr>
              <a:t>：输入</a:t>
            </a:r>
            <a:r>
              <a:rPr lang="en-US"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m</a:t>
            </a:r>
            <a:r>
              <a:rPr lang="zh-CN" altLang="zh-CN">
                <a:solidFill>
                  <a:srgbClr val="0000FF"/>
                </a:solidFill>
                <a:latin typeface="Consolas" pitchFamily="49" charset="0"/>
                <a:ea typeface="仿宋" pitchFamily="49" charset="-122"/>
              </a:rPr>
              <a:t>，顶点的编号是</a:t>
            </a:r>
            <a:r>
              <a:rPr lang="en-US" altLang="zh-CN">
                <a:solidFill>
                  <a:srgbClr val="0000FF"/>
                </a:solidFill>
                <a:latin typeface="Consolas" pitchFamily="49" charset="0"/>
                <a:ea typeface="仿宋" pitchFamily="49" charset="-122"/>
              </a:rPr>
              <a:t>1~</a:t>
            </a:r>
            <a:r>
              <a:rPr lang="en-US"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，然后是</a:t>
            </a:r>
            <a:r>
              <a:rPr lang="en-US" altLang="zh-CN" i="1">
                <a:solidFill>
                  <a:srgbClr val="0000FF"/>
                </a:solidFill>
                <a:latin typeface="Consolas" pitchFamily="49" charset="0"/>
                <a:ea typeface="仿宋" pitchFamily="49" charset="-122"/>
              </a:rPr>
              <a:t>m</a:t>
            </a:r>
            <a:r>
              <a:rPr lang="zh-CN" altLang="zh-CN">
                <a:solidFill>
                  <a:srgbClr val="0000FF"/>
                </a:solidFill>
                <a:latin typeface="Consolas" pitchFamily="49" charset="0"/>
                <a:ea typeface="仿宋" pitchFamily="49" charset="-122"/>
              </a:rPr>
              <a:t>行，每行</a:t>
            </a:r>
            <a:r>
              <a:rPr lang="en-US" altLang="zh-CN">
                <a:solidFill>
                  <a:srgbClr val="0000FF"/>
                </a:solidFill>
                <a:latin typeface="Consolas" pitchFamily="49" charset="0"/>
                <a:ea typeface="仿宋" pitchFamily="49" charset="-122"/>
              </a:rPr>
              <a:t>4</a:t>
            </a:r>
            <a:r>
              <a:rPr lang="zh-CN" altLang="zh-CN">
                <a:solidFill>
                  <a:srgbClr val="0000FF"/>
                </a:solidFill>
                <a:latin typeface="Consolas" pitchFamily="49" charset="0"/>
                <a:ea typeface="仿宋" pitchFamily="49" charset="-122"/>
              </a:rPr>
              <a:t>个数</a:t>
            </a:r>
            <a:r>
              <a:rPr lang="en-US" altLang="zh-CN" i="1">
                <a:solidFill>
                  <a:srgbClr val="0000FF"/>
                </a:solidFill>
                <a:latin typeface="Consolas" pitchFamily="49" charset="0"/>
                <a:ea typeface="仿宋" pitchFamily="49" charset="-122"/>
              </a:rPr>
              <a:t>a</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b</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d</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p</a:t>
            </a:r>
            <a:r>
              <a:rPr lang="zh-CN" altLang="zh-CN">
                <a:solidFill>
                  <a:srgbClr val="0000FF"/>
                </a:solidFill>
                <a:latin typeface="Consolas" pitchFamily="49" charset="0"/>
                <a:ea typeface="仿宋" pitchFamily="49" charset="-122"/>
              </a:rPr>
              <a:t>，表示顶点</a:t>
            </a:r>
            <a:r>
              <a:rPr lang="en-US" altLang="zh-CN" i="1">
                <a:solidFill>
                  <a:srgbClr val="0000FF"/>
                </a:solidFill>
                <a:latin typeface="Consolas" pitchFamily="49" charset="0"/>
                <a:ea typeface="仿宋" pitchFamily="49" charset="-122"/>
              </a:rPr>
              <a:t>a</a:t>
            </a:r>
            <a:r>
              <a:rPr lang="zh-CN" altLang="zh-CN">
                <a:solidFill>
                  <a:srgbClr val="0000FF"/>
                </a:solidFill>
                <a:latin typeface="Consolas" pitchFamily="49" charset="0"/>
                <a:ea typeface="仿宋" pitchFamily="49" charset="-122"/>
              </a:rPr>
              <a:t>和</a:t>
            </a:r>
            <a:r>
              <a:rPr lang="en-US" altLang="zh-CN" i="1">
                <a:solidFill>
                  <a:srgbClr val="0000FF"/>
                </a:solidFill>
                <a:latin typeface="Consolas" pitchFamily="49" charset="0"/>
                <a:ea typeface="仿宋" pitchFamily="49" charset="-122"/>
              </a:rPr>
              <a:t>b</a:t>
            </a:r>
            <a:r>
              <a:rPr lang="zh-CN" altLang="zh-CN">
                <a:solidFill>
                  <a:srgbClr val="0000FF"/>
                </a:solidFill>
                <a:latin typeface="Consolas" pitchFamily="49" charset="0"/>
                <a:ea typeface="仿宋" pitchFamily="49" charset="-122"/>
              </a:rPr>
              <a:t>之间有一条边，且其长度为</a:t>
            </a:r>
            <a:r>
              <a:rPr lang="en-US" altLang="zh-CN" i="1">
                <a:solidFill>
                  <a:srgbClr val="0000FF"/>
                </a:solidFill>
                <a:latin typeface="Consolas" pitchFamily="49" charset="0"/>
                <a:ea typeface="仿宋" pitchFamily="49" charset="-122"/>
              </a:rPr>
              <a:t>d</a:t>
            </a:r>
            <a:r>
              <a:rPr lang="zh-CN" altLang="zh-CN">
                <a:solidFill>
                  <a:srgbClr val="0000FF"/>
                </a:solidFill>
                <a:latin typeface="Consolas" pitchFamily="49" charset="0"/>
                <a:ea typeface="仿宋" pitchFamily="49" charset="-122"/>
              </a:rPr>
              <a:t>，花费为</a:t>
            </a:r>
            <a:r>
              <a:rPr lang="en-US" altLang="zh-CN" i="1">
                <a:solidFill>
                  <a:srgbClr val="0000FF"/>
                </a:solidFill>
                <a:latin typeface="Consolas" pitchFamily="49" charset="0"/>
                <a:ea typeface="仿宋" pitchFamily="49" charset="-122"/>
              </a:rPr>
              <a:t>p</a:t>
            </a:r>
            <a:r>
              <a:rPr lang="zh-CN" altLang="zh-CN">
                <a:solidFill>
                  <a:srgbClr val="0000FF"/>
                </a:solidFill>
                <a:latin typeface="Consolas" pitchFamily="49" charset="0"/>
                <a:ea typeface="仿宋" pitchFamily="49" charset="-122"/>
              </a:rPr>
              <a:t>。最后一行是两个数 </a:t>
            </a:r>
            <a:r>
              <a:rPr lang="en-US" altLang="zh-CN" i="1">
                <a:solidFill>
                  <a:srgbClr val="0000FF"/>
                </a:solidFill>
                <a:latin typeface="Consolas" pitchFamily="49" charset="0"/>
                <a:ea typeface="仿宋" pitchFamily="49" charset="-122"/>
              </a:rPr>
              <a:t>s</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t</a:t>
            </a:r>
            <a:r>
              <a:rPr lang="zh-CN" altLang="zh-CN">
                <a:solidFill>
                  <a:srgbClr val="0000FF"/>
                </a:solidFill>
                <a:latin typeface="Consolas" pitchFamily="49" charset="0"/>
                <a:ea typeface="仿宋" pitchFamily="49" charset="-122"/>
              </a:rPr>
              <a:t>，表示起点</a:t>
            </a:r>
            <a:r>
              <a:rPr lang="en-US" altLang="zh-CN" i="1">
                <a:solidFill>
                  <a:srgbClr val="0000FF"/>
                </a:solidFill>
                <a:latin typeface="Consolas" pitchFamily="49" charset="0"/>
                <a:ea typeface="仿宋" pitchFamily="49" charset="-122"/>
              </a:rPr>
              <a:t>s</a:t>
            </a:r>
            <a:r>
              <a:rPr lang="zh-CN" altLang="zh-CN">
                <a:solidFill>
                  <a:srgbClr val="0000FF"/>
                </a:solidFill>
                <a:latin typeface="Consolas" pitchFamily="49" charset="0"/>
                <a:ea typeface="仿宋" pitchFamily="49" charset="-122"/>
              </a:rPr>
              <a:t>和终点</a:t>
            </a:r>
            <a:r>
              <a:rPr lang="en-US" altLang="zh-CN" i="1">
                <a:solidFill>
                  <a:srgbClr val="0000FF"/>
                </a:solidFill>
                <a:latin typeface="Consolas" pitchFamily="49" charset="0"/>
                <a:ea typeface="仿宋" pitchFamily="49" charset="-122"/>
              </a:rPr>
              <a:t>t</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和</a:t>
            </a:r>
            <a:r>
              <a:rPr lang="en-US" altLang="zh-CN" i="1">
                <a:solidFill>
                  <a:srgbClr val="0000FF"/>
                </a:solidFill>
                <a:latin typeface="Consolas" pitchFamily="49" charset="0"/>
                <a:ea typeface="仿宋" pitchFamily="49" charset="-122"/>
              </a:rPr>
              <a:t>m</a:t>
            </a:r>
            <a:r>
              <a:rPr lang="zh-CN" altLang="zh-CN">
                <a:solidFill>
                  <a:srgbClr val="0000FF"/>
                </a:solidFill>
                <a:latin typeface="Consolas" pitchFamily="49" charset="0"/>
                <a:ea typeface="仿宋" pitchFamily="49" charset="-122"/>
              </a:rPr>
              <a:t>为</a:t>
            </a:r>
            <a:r>
              <a:rPr lang="en-US"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时输入结束（</a:t>
            </a:r>
            <a:r>
              <a:rPr lang="en-US" altLang="zh-CN">
                <a:solidFill>
                  <a:srgbClr val="0000FF"/>
                </a:solidFill>
                <a:latin typeface="Consolas" pitchFamily="49" charset="0"/>
                <a:ea typeface="仿宋" pitchFamily="49" charset="-122"/>
              </a:rPr>
              <a:t>1&lt;</a:t>
            </a:r>
            <a:r>
              <a:rPr lang="en-US" altLang="zh-CN" i="1">
                <a:solidFill>
                  <a:srgbClr val="0000FF"/>
                </a:solidFill>
                <a:latin typeface="Consolas" pitchFamily="49" charset="0"/>
                <a:ea typeface="仿宋" pitchFamily="49" charset="-122"/>
              </a:rPr>
              <a:t>n</a:t>
            </a:r>
            <a:r>
              <a:rPr lang="zh-CN" altLang="zh-CN">
                <a:solidFill>
                  <a:srgbClr val="0000FF"/>
                </a:solidFill>
                <a:latin typeface="+mn-ea"/>
              </a:rPr>
              <a:t>≤</a:t>
            </a:r>
            <a:r>
              <a:rPr lang="en-US" altLang="zh-CN">
                <a:solidFill>
                  <a:srgbClr val="0000FF"/>
                </a:solidFill>
                <a:latin typeface="Consolas" pitchFamily="49" charset="0"/>
                <a:ea typeface="仿宋" pitchFamily="49" charset="-122"/>
              </a:rPr>
              <a:t>1000</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0&lt;</a:t>
            </a:r>
            <a:r>
              <a:rPr lang="en-US" altLang="zh-CN" i="1">
                <a:solidFill>
                  <a:srgbClr val="0000FF"/>
                </a:solidFill>
                <a:latin typeface="Consolas" pitchFamily="49" charset="0"/>
                <a:ea typeface="仿宋" pitchFamily="49" charset="-122"/>
              </a:rPr>
              <a:t>m</a:t>
            </a:r>
            <a:r>
              <a:rPr lang="en-US" altLang="zh-CN">
                <a:solidFill>
                  <a:srgbClr val="0000FF"/>
                </a:solidFill>
                <a:latin typeface="Consolas" pitchFamily="49" charset="0"/>
                <a:ea typeface="仿宋" pitchFamily="49" charset="-122"/>
              </a:rPr>
              <a:t>&lt;100000</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s</a:t>
            </a:r>
            <a:r>
              <a:rPr lang="zh-CN" altLang="zh-CN">
                <a:solidFill>
                  <a:srgbClr val="0000FF"/>
                </a:solidFill>
                <a:latin typeface="+mj-ea"/>
                <a:ea typeface="+mj-ea"/>
              </a:rPr>
              <a:t>≠</a:t>
            </a:r>
            <a:r>
              <a:rPr lang="en-US" altLang="zh-CN" i="1">
                <a:solidFill>
                  <a:srgbClr val="0000FF"/>
                </a:solidFill>
                <a:latin typeface="Consolas" pitchFamily="49" charset="0"/>
                <a:ea typeface="仿宋" pitchFamily="49" charset="-122"/>
              </a:rPr>
              <a:t>t</a:t>
            </a:r>
            <a:r>
              <a:rPr lang="zh-CN" altLang="zh-CN">
                <a:solidFill>
                  <a:srgbClr val="0000FF"/>
                </a:solidFill>
                <a:latin typeface="Consolas" pitchFamily="49" charset="0"/>
                <a:ea typeface="仿宋" pitchFamily="49" charset="-122"/>
              </a:rPr>
              <a:t>）。</a:t>
            </a:r>
          </a:p>
          <a:p>
            <a:pPr algn="l" defTabSz="360000">
              <a:lnSpc>
                <a:spcPts val="3200"/>
              </a:lnSpc>
              <a:spcBef>
                <a:spcPts val="600"/>
              </a:spcBef>
            </a:pPr>
            <a:r>
              <a:rPr lang="zh-CN" altLang="zh-CN">
                <a:solidFill>
                  <a:srgbClr val="FF0000"/>
                </a:solidFill>
                <a:latin typeface="Consolas" pitchFamily="49" charset="0"/>
                <a:ea typeface="仿宋" pitchFamily="49" charset="-122"/>
              </a:rPr>
              <a:t>输出格式</a:t>
            </a:r>
            <a:r>
              <a:rPr lang="zh-CN" altLang="zh-CN">
                <a:solidFill>
                  <a:srgbClr val="0000FF"/>
                </a:solidFill>
                <a:latin typeface="Consolas" pitchFamily="49" charset="0"/>
                <a:ea typeface="仿宋" pitchFamily="49" charset="-122"/>
              </a:rPr>
              <a:t>：输出一行有两个数，分别表示最短距离及其花费。</a:t>
            </a:r>
            <a:endParaRPr lang="zh-CN" altLang="en-US">
              <a:solidFill>
                <a:srgbClr val="0000FF"/>
              </a:solidFill>
              <a:latin typeface="Consolas" pitchFamily="49" charset="0"/>
              <a:ea typeface="仿宋" pitchFamily="49" charset="-122"/>
              <a:cs typeface="Consolas" pitchFamily="49" charset="0"/>
            </a:endParaRPr>
          </a:p>
        </p:txBody>
      </p:sp>
      <p:grpSp>
        <p:nvGrpSpPr>
          <p:cNvPr id="5" name="组合 4"/>
          <p:cNvGrpSpPr/>
          <p:nvPr/>
        </p:nvGrpSpPr>
        <p:grpSpPr>
          <a:xfrm>
            <a:off x="857224" y="214290"/>
            <a:ext cx="1041400" cy="1044575"/>
            <a:chOff x="857224" y="1071546"/>
            <a:chExt cx="1041400" cy="1044575"/>
          </a:xfrm>
        </p:grpSpPr>
        <p:sp>
          <p:nvSpPr>
            <p:cNvPr id="6" name="Freeform 8"/>
            <p:cNvSpPr>
              <a:spLocks noEditPoints="1"/>
            </p:cNvSpPr>
            <p:nvPr/>
          </p:nvSpPr>
          <p:spPr bwMode="auto">
            <a:xfrm>
              <a:off x="857224" y="1071546"/>
              <a:ext cx="1041400" cy="1044575"/>
            </a:xfrm>
            <a:custGeom>
              <a:avLst/>
              <a:gdLst>
                <a:gd name="T0" fmla="*/ 964145 w 337"/>
                <a:gd name="T1" fmla="*/ 540830 h 338"/>
                <a:gd name="T2" fmla="*/ 964145 w 337"/>
                <a:gd name="T3" fmla="*/ 494473 h 338"/>
                <a:gd name="T4" fmla="*/ 1041400 w 337"/>
                <a:gd name="T5" fmla="*/ 441936 h 338"/>
                <a:gd name="T6" fmla="*/ 1007408 w 337"/>
                <a:gd name="T7" fmla="*/ 321408 h 338"/>
                <a:gd name="T8" fmla="*/ 914701 w 337"/>
                <a:gd name="T9" fmla="*/ 318317 h 338"/>
                <a:gd name="T10" fmla="*/ 889980 w 337"/>
                <a:gd name="T11" fmla="*/ 275051 h 338"/>
                <a:gd name="T12" fmla="*/ 930153 w 337"/>
                <a:gd name="T13" fmla="*/ 191608 h 338"/>
                <a:gd name="T14" fmla="*/ 843627 w 337"/>
                <a:gd name="T15" fmla="*/ 105076 h 338"/>
                <a:gd name="T16" fmla="*/ 760191 w 337"/>
                <a:gd name="T17" fmla="*/ 148342 h 338"/>
                <a:gd name="T18" fmla="*/ 716928 w 337"/>
                <a:gd name="T19" fmla="*/ 123618 h 338"/>
                <a:gd name="T20" fmla="*/ 710748 w 337"/>
                <a:gd name="T21" fmla="*/ 30905 h 338"/>
                <a:gd name="T22" fmla="*/ 652034 w 337"/>
                <a:gd name="T23" fmla="*/ 15452 h 338"/>
                <a:gd name="T24" fmla="*/ 590230 w 337"/>
                <a:gd name="T25" fmla="*/ 0 h 338"/>
                <a:gd name="T26" fmla="*/ 540786 w 337"/>
                <a:gd name="T27" fmla="*/ 77261 h 338"/>
                <a:gd name="T28" fmla="*/ 494433 w 337"/>
                <a:gd name="T29" fmla="*/ 77261 h 338"/>
                <a:gd name="T30" fmla="*/ 441900 w 337"/>
                <a:gd name="T31" fmla="*/ 3090 h 338"/>
                <a:gd name="T32" fmla="*/ 321382 w 337"/>
                <a:gd name="T33" fmla="*/ 33995 h 338"/>
                <a:gd name="T34" fmla="*/ 318291 w 337"/>
                <a:gd name="T35" fmla="*/ 126709 h 338"/>
                <a:gd name="T36" fmla="*/ 275028 w 337"/>
                <a:gd name="T37" fmla="*/ 151432 h 338"/>
                <a:gd name="T38" fmla="*/ 191593 w 337"/>
                <a:gd name="T39" fmla="*/ 111257 h 338"/>
                <a:gd name="T40" fmla="*/ 105067 w 337"/>
                <a:gd name="T41" fmla="*/ 200880 h 338"/>
                <a:gd name="T42" fmla="*/ 148330 w 337"/>
                <a:gd name="T43" fmla="*/ 281232 h 338"/>
                <a:gd name="T44" fmla="*/ 123608 w 337"/>
                <a:gd name="T45" fmla="*/ 324498 h 338"/>
                <a:gd name="T46" fmla="*/ 30902 w 337"/>
                <a:gd name="T47" fmla="*/ 330679 h 338"/>
                <a:gd name="T48" fmla="*/ 15451 w 337"/>
                <a:gd name="T49" fmla="*/ 392488 h 338"/>
                <a:gd name="T50" fmla="*/ 0 w 337"/>
                <a:gd name="T51" fmla="*/ 451207 h 338"/>
                <a:gd name="T52" fmla="*/ 77255 w 337"/>
                <a:gd name="T53" fmla="*/ 500654 h 338"/>
                <a:gd name="T54" fmla="*/ 77255 w 337"/>
                <a:gd name="T55" fmla="*/ 550102 h 338"/>
                <a:gd name="T56" fmla="*/ 0 w 337"/>
                <a:gd name="T57" fmla="*/ 602639 h 338"/>
                <a:gd name="T58" fmla="*/ 33992 w 337"/>
                <a:gd name="T59" fmla="*/ 723167 h 338"/>
                <a:gd name="T60" fmla="*/ 126699 w 337"/>
                <a:gd name="T61" fmla="*/ 726258 h 338"/>
                <a:gd name="T62" fmla="*/ 151420 w 337"/>
                <a:gd name="T63" fmla="*/ 766434 h 338"/>
                <a:gd name="T64" fmla="*/ 111247 w 337"/>
                <a:gd name="T65" fmla="*/ 849876 h 338"/>
                <a:gd name="T66" fmla="*/ 200864 w 337"/>
                <a:gd name="T67" fmla="*/ 939499 h 338"/>
                <a:gd name="T68" fmla="*/ 281209 w 337"/>
                <a:gd name="T69" fmla="*/ 896233 h 338"/>
                <a:gd name="T70" fmla="*/ 324472 w 337"/>
                <a:gd name="T71" fmla="*/ 920957 h 338"/>
                <a:gd name="T72" fmla="*/ 330652 w 337"/>
                <a:gd name="T73" fmla="*/ 1013670 h 338"/>
                <a:gd name="T74" fmla="*/ 389366 w 337"/>
                <a:gd name="T75" fmla="*/ 1029123 h 338"/>
                <a:gd name="T76" fmla="*/ 451170 w 337"/>
                <a:gd name="T77" fmla="*/ 1044575 h 338"/>
                <a:gd name="T78" fmla="*/ 500614 w 337"/>
                <a:gd name="T79" fmla="*/ 964223 h 338"/>
                <a:gd name="T80" fmla="*/ 550057 w 337"/>
                <a:gd name="T81" fmla="*/ 964223 h 338"/>
                <a:gd name="T82" fmla="*/ 602591 w 337"/>
                <a:gd name="T83" fmla="*/ 1041485 h 338"/>
                <a:gd name="T84" fmla="*/ 720018 w 337"/>
                <a:gd name="T85" fmla="*/ 1007489 h 338"/>
                <a:gd name="T86" fmla="*/ 726199 w 337"/>
                <a:gd name="T87" fmla="*/ 914776 h 338"/>
                <a:gd name="T88" fmla="*/ 766372 w 337"/>
                <a:gd name="T89" fmla="*/ 890052 h 338"/>
                <a:gd name="T90" fmla="*/ 849807 w 337"/>
                <a:gd name="T91" fmla="*/ 933318 h 338"/>
                <a:gd name="T92" fmla="*/ 936333 w 337"/>
                <a:gd name="T93" fmla="*/ 843695 h 338"/>
                <a:gd name="T94" fmla="*/ 896160 w 337"/>
                <a:gd name="T95" fmla="*/ 760253 h 338"/>
                <a:gd name="T96" fmla="*/ 917792 w 337"/>
                <a:gd name="T97" fmla="*/ 720077 h 338"/>
                <a:gd name="T98" fmla="*/ 1010498 w 337"/>
                <a:gd name="T99" fmla="*/ 713896 h 338"/>
                <a:gd name="T100" fmla="*/ 1025949 w 337"/>
                <a:gd name="T101" fmla="*/ 652087 h 338"/>
                <a:gd name="T102" fmla="*/ 1041400 w 337"/>
                <a:gd name="T103" fmla="*/ 593368 h 338"/>
                <a:gd name="T104" fmla="*/ 964145 w 337"/>
                <a:gd name="T105" fmla="*/ 540830 h 338"/>
                <a:gd name="T106" fmla="*/ 432629 w 337"/>
                <a:gd name="T107" fmla="*/ 868419 h 338"/>
                <a:gd name="T108" fmla="*/ 176142 w 337"/>
                <a:gd name="T109" fmla="*/ 432664 h 338"/>
                <a:gd name="T110" fmla="*/ 611861 w 337"/>
                <a:gd name="T111" fmla="*/ 176156 h 338"/>
                <a:gd name="T112" fmla="*/ 868348 w 337"/>
                <a:gd name="T113" fmla="*/ 611911 h 338"/>
                <a:gd name="T114" fmla="*/ 432629 w 337"/>
                <a:gd name="T115" fmla="*/ 868419 h 338"/>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337" h="338">
                  <a:moveTo>
                    <a:pt x="312" y="175"/>
                  </a:moveTo>
                  <a:cubicBezTo>
                    <a:pt x="312" y="170"/>
                    <a:pt x="312" y="165"/>
                    <a:pt x="312" y="160"/>
                  </a:cubicBezTo>
                  <a:cubicBezTo>
                    <a:pt x="337" y="143"/>
                    <a:pt x="337" y="143"/>
                    <a:pt x="337" y="143"/>
                  </a:cubicBezTo>
                  <a:cubicBezTo>
                    <a:pt x="326" y="104"/>
                    <a:pt x="326" y="104"/>
                    <a:pt x="326" y="104"/>
                  </a:cubicBezTo>
                  <a:cubicBezTo>
                    <a:pt x="296" y="103"/>
                    <a:pt x="296" y="103"/>
                    <a:pt x="296" y="103"/>
                  </a:cubicBezTo>
                  <a:cubicBezTo>
                    <a:pt x="294" y="98"/>
                    <a:pt x="291" y="94"/>
                    <a:pt x="288" y="89"/>
                  </a:cubicBezTo>
                  <a:cubicBezTo>
                    <a:pt x="301" y="62"/>
                    <a:pt x="301" y="62"/>
                    <a:pt x="301" y="62"/>
                  </a:cubicBezTo>
                  <a:cubicBezTo>
                    <a:pt x="273" y="34"/>
                    <a:pt x="273" y="34"/>
                    <a:pt x="273" y="34"/>
                  </a:cubicBezTo>
                  <a:cubicBezTo>
                    <a:pt x="246" y="48"/>
                    <a:pt x="246" y="48"/>
                    <a:pt x="246" y="48"/>
                  </a:cubicBezTo>
                  <a:cubicBezTo>
                    <a:pt x="242" y="45"/>
                    <a:pt x="237" y="42"/>
                    <a:pt x="232" y="40"/>
                  </a:cubicBezTo>
                  <a:cubicBezTo>
                    <a:pt x="230" y="10"/>
                    <a:pt x="230" y="10"/>
                    <a:pt x="230" y="10"/>
                  </a:cubicBezTo>
                  <a:cubicBezTo>
                    <a:pt x="211" y="5"/>
                    <a:pt x="211" y="5"/>
                    <a:pt x="211" y="5"/>
                  </a:cubicBezTo>
                  <a:cubicBezTo>
                    <a:pt x="191" y="0"/>
                    <a:pt x="191" y="0"/>
                    <a:pt x="191" y="0"/>
                  </a:cubicBezTo>
                  <a:cubicBezTo>
                    <a:pt x="175" y="25"/>
                    <a:pt x="175" y="25"/>
                    <a:pt x="175" y="25"/>
                  </a:cubicBezTo>
                  <a:cubicBezTo>
                    <a:pt x="170" y="25"/>
                    <a:pt x="165" y="25"/>
                    <a:pt x="160" y="25"/>
                  </a:cubicBezTo>
                  <a:cubicBezTo>
                    <a:pt x="143" y="1"/>
                    <a:pt x="143" y="1"/>
                    <a:pt x="143" y="1"/>
                  </a:cubicBezTo>
                  <a:cubicBezTo>
                    <a:pt x="104" y="11"/>
                    <a:pt x="104" y="11"/>
                    <a:pt x="104" y="11"/>
                  </a:cubicBezTo>
                  <a:cubicBezTo>
                    <a:pt x="103" y="41"/>
                    <a:pt x="103" y="41"/>
                    <a:pt x="103" y="41"/>
                  </a:cubicBezTo>
                  <a:cubicBezTo>
                    <a:pt x="98" y="44"/>
                    <a:pt x="93" y="46"/>
                    <a:pt x="89" y="49"/>
                  </a:cubicBezTo>
                  <a:cubicBezTo>
                    <a:pt x="62" y="36"/>
                    <a:pt x="62" y="36"/>
                    <a:pt x="62" y="36"/>
                  </a:cubicBezTo>
                  <a:cubicBezTo>
                    <a:pt x="34" y="65"/>
                    <a:pt x="34" y="65"/>
                    <a:pt x="34" y="65"/>
                  </a:cubicBezTo>
                  <a:cubicBezTo>
                    <a:pt x="48" y="91"/>
                    <a:pt x="48" y="91"/>
                    <a:pt x="48" y="91"/>
                  </a:cubicBezTo>
                  <a:cubicBezTo>
                    <a:pt x="45" y="96"/>
                    <a:pt x="42" y="100"/>
                    <a:pt x="40" y="105"/>
                  </a:cubicBezTo>
                  <a:cubicBezTo>
                    <a:pt x="10" y="107"/>
                    <a:pt x="10" y="107"/>
                    <a:pt x="10" y="107"/>
                  </a:cubicBezTo>
                  <a:cubicBezTo>
                    <a:pt x="5" y="127"/>
                    <a:pt x="5" y="127"/>
                    <a:pt x="5" y="127"/>
                  </a:cubicBezTo>
                  <a:cubicBezTo>
                    <a:pt x="0" y="146"/>
                    <a:pt x="0" y="146"/>
                    <a:pt x="0" y="146"/>
                  </a:cubicBezTo>
                  <a:cubicBezTo>
                    <a:pt x="25" y="162"/>
                    <a:pt x="25" y="162"/>
                    <a:pt x="25" y="162"/>
                  </a:cubicBezTo>
                  <a:cubicBezTo>
                    <a:pt x="25" y="168"/>
                    <a:pt x="25" y="173"/>
                    <a:pt x="25" y="178"/>
                  </a:cubicBezTo>
                  <a:cubicBezTo>
                    <a:pt x="0" y="195"/>
                    <a:pt x="0" y="195"/>
                    <a:pt x="0" y="195"/>
                  </a:cubicBezTo>
                  <a:cubicBezTo>
                    <a:pt x="11" y="234"/>
                    <a:pt x="11" y="234"/>
                    <a:pt x="11" y="234"/>
                  </a:cubicBezTo>
                  <a:cubicBezTo>
                    <a:pt x="41" y="235"/>
                    <a:pt x="41" y="235"/>
                    <a:pt x="41" y="235"/>
                  </a:cubicBezTo>
                  <a:cubicBezTo>
                    <a:pt x="44" y="240"/>
                    <a:pt x="46" y="244"/>
                    <a:pt x="49" y="248"/>
                  </a:cubicBezTo>
                  <a:cubicBezTo>
                    <a:pt x="36" y="275"/>
                    <a:pt x="36" y="275"/>
                    <a:pt x="36" y="275"/>
                  </a:cubicBezTo>
                  <a:cubicBezTo>
                    <a:pt x="65" y="304"/>
                    <a:pt x="65" y="304"/>
                    <a:pt x="65" y="304"/>
                  </a:cubicBezTo>
                  <a:cubicBezTo>
                    <a:pt x="91" y="290"/>
                    <a:pt x="91" y="290"/>
                    <a:pt x="91" y="290"/>
                  </a:cubicBezTo>
                  <a:cubicBezTo>
                    <a:pt x="96" y="293"/>
                    <a:pt x="100" y="295"/>
                    <a:pt x="105" y="298"/>
                  </a:cubicBezTo>
                  <a:cubicBezTo>
                    <a:pt x="107" y="328"/>
                    <a:pt x="107" y="328"/>
                    <a:pt x="107" y="328"/>
                  </a:cubicBezTo>
                  <a:cubicBezTo>
                    <a:pt x="126" y="333"/>
                    <a:pt x="126" y="333"/>
                    <a:pt x="126" y="333"/>
                  </a:cubicBezTo>
                  <a:cubicBezTo>
                    <a:pt x="146" y="338"/>
                    <a:pt x="146" y="338"/>
                    <a:pt x="146" y="338"/>
                  </a:cubicBezTo>
                  <a:cubicBezTo>
                    <a:pt x="162" y="312"/>
                    <a:pt x="162" y="312"/>
                    <a:pt x="162" y="312"/>
                  </a:cubicBezTo>
                  <a:cubicBezTo>
                    <a:pt x="167" y="313"/>
                    <a:pt x="173" y="313"/>
                    <a:pt x="178" y="312"/>
                  </a:cubicBezTo>
                  <a:cubicBezTo>
                    <a:pt x="195" y="337"/>
                    <a:pt x="195" y="337"/>
                    <a:pt x="195" y="337"/>
                  </a:cubicBezTo>
                  <a:cubicBezTo>
                    <a:pt x="233" y="326"/>
                    <a:pt x="233" y="326"/>
                    <a:pt x="233" y="326"/>
                  </a:cubicBezTo>
                  <a:cubicBezTo>
                    <a:pt x="235" y="296"/>
                    <a:pt x="235" y="296"/>
                    <a:pt x="235" y="296"/>
                  </a:cubicBezTo>
                  <a:cubicBezTo>
                    <a:pt x="239" y="294"/>
                    <a:pt x="244" y="291"/>
                    <a:pt x="248" y="288"/>
                  </a:cubicBezTo>
                  <a:cubicBezTo>
                    <a:pt x="275" y="302"/>
                    <a:pt x="275" y="302"/>
                    <a:pt x="275" y="302"/>
                  </a:cubicBezTo>
                  <a:cubicBezTo>
                    <a:pt x="303" y="273"/>
                    <a:pt x="303" y="273"/>
                    <a:pt x="303" y="273"/>
                  </a:cubicBezTo>
                  <a:cubicBezTo>
                    <a:pt x="290" y="246"/>
                    <a:pt x="290" y="246"/>
                    <a:pt x="290" y="246"/>
                  </a:cubicBezTo>
                  <a:cubicBezTo>
                    <a:pt x="293" y="242"/>
                    <a:pt x="295" y="237"/>
                    <a:pt x="297" y="233"/>
                  </a:cubicBezTo>
                  <a:cubicBezTo>
                    <a:pt x="327" y="231"/>
                    <a:pt x="327" y="231"/>
                    <a:pt x="327" y="231"/>
                  </a:cubicBezTo>
                  <a:cubicBezTo>
                    <a:pt x="332" y="211"/>
                    <a:pt x="332" y="211"/>
                    <a:pt x="332" y="211"/>
                  </a:cubicBezTo>
                  <a:cubicBezTo>
                    <a:pt x="337" y="192"/>
                    <a:pt x="337" y="192"/>
                    <a:pt x="337" y="192"/>
                  </a:cubicBezTo>
                  <a:lnTo>
                    <a:pt x="312" y="175"/>
                  </a:lnTo>
                  <a:close/>
                  <a:moveTo>
                    <a:pt x="140" y="281"/>
                  </a:moveTo>
                  <a:cubicBezTo>
                    <a:pt x="78" y="265"/>
                    <a:pt x="41" y="202"/>
                    <a:pt x="57" y="140"/>
                  </a:cubicBezTo>
                  <a:cubicBezTo>
                    <a:pt x="73" y="78"/>
                    <a:pt x="136" y="41"/>
                    <a:pt x="198" y="57"/>
                  </a:cubicBezTo>
                  <a:cubicBezTo>
                    <a:pt x="259" y="73"/>
                    <a:pt x="297" y="136"/>
                    <a:pt x="281" y="198"/>
                  </a:cubicBezTo>
                  <a:cubicBezTo>
                    <a:pt x="265" y="260"/>
                    <a:pt x="202" y="297"/>
                    <a:pt x="140" y="281"/>
                  </a:cubicBezTo>
                  <a:close/>
                </a:path>
              </a:pathLst>
            </a:custGeom>
            <a:solidFill>
              <a:srgbClr val="1848C0"/>
            </a:solidFill>
            <a:ln>
              <a:noFill/>
            </a:ln>
          </p:spPr>
          <p:txBody>
            <a:bodyPr/>
            <a:lstStyle/>
            <a:p>
              <a:endParaRPr lang="zh-CN" altLang="en-US"/>
            </a:p>
          </p:txBody>
        </p:sp>
        <p:sp>
          <p:nvSpPr>
            <p:cNvPr id="7" name="Rectangle 16"/>
            <p:cNvSpPr>
              <a:spLocks noChangeArrowheads="1"/>
            </p:cNvSpPr>
            <p:nvPr/>
          </p:nvSpPr>
          <p:spPr bwMode="auto">
            <a:xfrm>
              <a:off x="1066774" y="1399481"/>
              <a:ext cx="6635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lnSpc>
                  <a:spcPct val="120000"/>
                </a:lnSpc>
              </a:pPr>
              <a:r>
                <a:rPr lang="zh-CN" altLang="en-US" sz="2000"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华文中宋" pitchFamily="2" charset="-122"/>
                  <a:ea typeface="华文中宋" pitchFamily="2" charset="-122"/>
                </a:rPr>
                <a:t>实例</a:t>
              </a:r>
              <a:endParaRPr lang="zh-CN" altLang="zh-CN" sz="2000"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华文中宋" pitchFamily="2" charset="-122"/>
                <a:ea typeface="华文中宋" pitchFamily="2" charset="-122"/>
              </a:endParaRPr>
            </a:p>
          </p:txBody>
        </p:sp>
      </p:grpSp>
      <p:sp>
        <p:nvSpPr>
          <p:cNvPr id="8" name="灯片编号占位符 7"/>
          <p:cNvSpPr>
            <a:spLocks noGrp="1"/>
          </p:cNvSpPr>
          <p:nvPr>
            <p:ph type="sldNum" sz="quarter" idx="12"/>
          </p:nvPr>
        </p:nvSpPr>
        <p:spPr/>
        <p:txBody>
          <a:bodyPr/>
          <a:lstStyle/>
          <a:p>
            <a:fld id="{7AF016A1-9F15-429F-9EFD-84004B73C732}" type="slidenum">
              <a:rPr lang="en-US" altLang="zh-CN" smtClean="0"/>
              <a:pPr/>
              <a:t>51</a:t>
            </a:fld>
            <a:r>
              <a:rPr lang="en-US" altLang="zh-CN"/>
              <a:t>/158</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28596" y="642918"/>
            <a:ext cx="8072494" cy="3501059"/>
          </a:xfrm>
          <a:prstGeom prst="rect">
            <a:avLst/>
          </a:prstGeom>
          <a:ln>
            <a:solidFill>
              <a:schemeClr val="accent6">
                <a:lumMod val="20000"/>
                <a:lumOff val="8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lIns="216000" tIns="108000" bIns="108000" rtlCol="0">
            <a:spAutoFit/>
          </a:bodyPr>
          <a:lstStyle/>
          <a:p>
            <a:pPr algn="l" defTabSz="360000">
              <a:lnSpc>
                <a:spcPts val="3200"/>
              </a:lnSpc>
              <a:spcBef>
                <a:spcPts val="0"/>
              </a:spcBef>
            </a:pPr>
            <a:r>
              <a:rPr lang="zh-CN" altLang="zh-CN">
                <a:solidFill>
                  <a:srgbClr val="FF0000"/>
                </a:solidFill>
                <a:latin typeface="Consolas" pitchFamily="49" charset="0"/>
                <a:ea typeface="仿宋" pitchFamily="49" charset="-122"/>
              </a:rPr>
              <a:t>输入样例：</a:t>
            </a:r>
          </a:p>
          <a:p>
            <a:pPr algn="l" defTabSz="360000">
              <a:lnSpc>
                <a:spcPts val="3200"/>
              </a:lnSpc>
              <a:spcBef>
                <a:spcPts val="0"/>
              </a:spcBef>
            </a:pPr>
            <a:r>
              <a:rPr lang="en-US" altLang="zh-CN" sz="2000">
                <a:solidFill>
                  <a:srgbClr val="0000FF"/>
                </a:solidFill>
                <a:latin typeface="Consolas" pitchFamily="49" charset="0"/>
                <a:ea typeface="仿宋" pitchFamily="49" charset="-122"/>
              </a:rPr>
              <a:t>3 2</a:t>
            </a:r>
            <a:endParaRPr lang="zh-CN" altLang="zh-CN" sz="2000">
              <a:solidFill>
                <a:srgbClr val="0000FF"/>
              </a:solidFill>
              <a:latin typeface="Consolas" pitchFamily="49" charset="0"/>
              <a:ea typeface="仿宋" pitchFamily="49" charset="-122"/>
            </a:endParaRPr>
          </a:p>
          <a:p>
            <a:pPr algn="l" defTabSz="360000">
              <a:lnSpc>
                <a:spcPts val="3200"/>
              </a:lnSpc>
              <a:spcBef>
                <a:spcPts val="0"/>
              </a:spcBef>
            </a:pPr>
            <a:r>
              <a:rPr lang="en-US" altLang="zh-CN" sz="2000">
                <a:solidFill>
                  <a:srgbClr val="0000FF"/>
                </a:solidFill>
                <a:latin typeface="Consolas" pitchFamily="49" charset="0"/>
                <a:ea typeface="仿宋" pitchFamily="49" charset="-122"/>
              </a:rPr>
              <a:t>1 2 5 6</a:t>
            </a:r>
            <a:endParaRPr lang="zh-CN" altLang="zh-CN" sz="2000">
              <a:solidFill>
                <a:srgbClr val="0000FF"/>
              </a:solidFill>
              <a:latin typeface="Consolas" pitchFamily="49" charset="0"/>
              <a:ea typeface="仿宋" pitchFamily="49" charset="-122"/>
            </a:endParaRPr>
          </a:p>
          <a:p>
            <a:pPr algn="l" defTabSz="360000">
              <a:lnSpc>
                <a:spcPts val="3200"/>
              </a:lnSpc>
              <a:spcBef>
                <a:spcPts val="0"/>
              </a:spcBef>
            </a:pPr>
            <a:r>
              <a:rPr lang="en-US" altLang="zh-CN" sz="2000">
                <a:solidFill>
                  <a:srgbClr val="0000FF"/>
                </a:solidFill>
                <a:latin typeface="Consolas" pitchFamily="49" charset="0"/>
                <a:ea typeface="仿宋" pitchFamily="49" charset="-122"/>
              </a:rPr>
              <a:t>2 3 4 5</a:t>
            </a:r>
            <a:endParaRPr lang="zh-CN" altLang="zh-CN" sz="2000">
              <a:solidFill>
                <a:srgbClr val="0000FF"/>
              </a:solidFill>
              <a:latin typeface="Consolas" pitchFamily="49" charset="0"/>
              <a:ea typeface="仿宋" pitchFamily="49" charset="-122"/>
            </a:endParaRPr>
          </a:p>
          <a:p>
            <a:pPr algn="l" defTabSz="360000">
              <a:lnSpc>
                <a:spcPts val="3200"/>
              </a:lnSpc>
              <a:spcBef>
                <a:spcPts val="0"/>
              </a:spcBef>
            </a:pPr>
            <a:r>
              <a:rPr lang="en-US" altLang="zh-CN" sz="2000">
                <a:solidFill>
                  <a:srgbClr val="0000FF"/>
                </a:solidFill>
                <a:latin typeface="Consolas" pitchFamily="49" charset="0"/>
                <a:ea typeface="仿宋" pitchFamily="49" charset="-122"/>
              </a:rPr>
              <a:t>1 3</a:t>
            </a:r>
            <a:endParaRPr lang="zh-CN" altLang="zh-CN" sz="2000">
              <a:solidFill>
                <a:srgbClr val="0000FF"/>
              </a:solidFill>
              <a:latin typeface="Consolas" pitchFamily="49" charset="0"/>
              <a:ea typeface="仿宋" pitchFamily="49" charset="-122"/>
            </a:endParaRPr>
          </a:p>
          <a:p>
            <a:pPr algn="l" defTabSz="360000">
              <a:lnSpc>
                <a:spcPts val="3200"/>
              </a:lnSpc>
              <a:spcBef>
                <a:spcPts val="0"/>
              </a:spcBef>
            </a:pPr>
            <a:r>
              <a:rPr lang="en-US" altLang="zh-CN" sz="2000">
                <a:solidFill>
                  <a:srgbClr val="0000FF"/>
                </a:solidFill>
                <a:latin typeface="Consolas" pitchFamily="49" charset="0"/>
                <a:ea typeface="仿宋" pitchFamily="49" charset="-122"/>
              </a:rPr>
              <a:t>0 0</a:t>
            </a:r>
            <a:endParaRPr lang="zh-CN" altLang="zh-CN" sz="2000">
              <a:solidFill>
                <a:srgbClr val="0000FF"/>
              </a:solidFill>
              <a:latin typeface="Consolas" pitchFamily="49" charset="0"/>
              <a:ea typeface="仿宋" pitchFamily="49" charset="-122"/>
            </a:endParaRPr>
          </a:p>
          <a:p>
            <a:pPr algn="l" defTabSz="360000">
              <a:lnSpc>
                <a:spcPts val="3200"/>
              </a:lnSpc>
              <a:spcBef>
                <a:spcPts val="0"/>
              </a:spcBef>
            </a:pPr>
            <a:r>
              <a:rPr lang="zh-CN" altLang="zh-CN">
                <a:solidFill>
                  <a:srgbClr val="FF0000"/>
                </a:solidFill>
                <a:latin typeface="Consolas" pitchFamily="49" charset="0"/>
                <a:ea typeface="仿宋" pitchFamily="49" charset="-122"/>
              </a:rPr>
              <a:t>样例输出：</a:t>
            </a:r>
          </a:p>
          <a:p>
            <a:pPr algn="l" defTabSz="360000">
              <a:lnSpc>
                <a:spcPts val="3200"/>
              </a:lnSpc>
              <a:spcBef>
                <a:spcPts val="0"/>
              </a:spcBef>
            </a:pPr>
            <a:r>
              <a:rPr lang="en-US" altLang="zh-CN" sz="2000">
                <a:solidFill>
                  <a:srgbClr val="0000FF"/>
                </a:solidFill>
                <a:latin typeface="Consolas" pitchFamily="49" charset="0"/>
                <a:ea typeface="仿宋" pitchFamily="49" charset="-122"/>
              </a:rPr>
              <a:t>9 11</a:t>
            </a:r>
            <a:endParaRPr lang="zh-CN" altLang="zh-CN" sz="2000">
              <a:solidFill>
                <a:srgbClr val="0000FF"/>
              </a:solidFill>
              <a:latin typeface="Consolas" pitchFamily="49" charset="0"/>
              <a:ea typeface="仿宋" pitchFamily="49" charset="-122"/>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52</a:t>
            </a:fld>
            <a:r>
              <a:rPr lang="en-US" altLang="zh-CN"/>
              <a:t>/158</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28596" y="1428736"/>
            <a:ext cx="8072494" cy="3054682"/>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defTabSz="360000">
              <a:lnSpc>
                <a:spcPts val="3300"/>
              </a:lnSpc>
              <a:spcBef>
                <a:spcPts val="1200"/>
              </a:spcBef>
              <a:buBlip>
                <a:blip r:embed="rId2"/>
              </a:buBlip>
            </a:pPr>
            <a:r>
              <a:rPr lang="zh-CN" altLang="zh-CN">
                <a:solidFill>
                  <a:srgbClr val="0000FF"/>
                </a:solidFill>
                <a:latin typeface="Consolas" pitchFamily="49" charset="0"/>
                <a:ea typeface="仿宋" pitchFamily="49" charset="-122"/>
              </a:rPr>
              <a:t>利用</a:t>
            </a:r>
            <a:r>
              <a:rPr lang="en-US" altLang="zh-CN">
                <a:solidFill>
                  <a:srgbClr val="0000FF"/>
                </a:solidFill>
                <a:latin typeface="Consolas" pitchFamily="49" charset="0"/>
                <a:ea typeface="仿宋" pitchFamily="49" charset="-122"/>
              </a:rPr>
              <a:t>Dijkstra</a:t>
            </a:r>
            <a:r>
              <a:rPr lang="zh-CN" altLang="zh-CN">
                <a:solidFill>
                  <a:srgbClr val="0000FF"/>
                </a:solidFill>
                <a:latin typeface="Consolas" pitchFamily="49" charset="0"/>
                <a:ea typeface="仿宋" pitchFamily="49" charset="-122"/>
              </a:rPr>
              <a:t>求顶点</a:t>
            </a:r>
            <a:r>
              <a:rPr lang="en-US" altLang="zh-CN" i="1">
                <a:solidFill>
                  <a:srgbClr val="0000FF"/>
                </a:solidFill>
                <a:latin typeface="Consolas" pitchFamily="49" charset="0"/>
                <a:ea typeface="仿宋" pitchFamily="49" charset="-122"/>
              </a:rPr>
              <a:t>s</a:t>
            </a:r>
            <a:r>
              <a:rPr lang="zh-CN" altLang="zh-CN">
                <a:solidFill>
                  <a:srgbClr val="0000FF"/>
                </a:solidFill>
                <a:latin typeface="Consolas" pitchFamily="49" charset="0"/>
                <a:ea typeface="仿宋" pitchFamily="49" charset="-122"/>
              </a:rPr>
              <a:t>到顶点</a:t>
            </a:r>
            <a:r>
              <a:rPr lang="en-US" altLang="zh-CN" i="1">
                <a:solidFill>
                  <a:srgbClr val="0000FF"/>
                </a:solidFill>
                <a:latin typeface="Consolas" pitchFamily="49" charset="0"/>
                <a:ea typeface="仿宋" pitchFamily="49" charset="-122"/>
              </a:rPr>
              <a:t>t</a:t>
            </a:r>
            <a:r>
              <a:rPr lang="zh-CN" altLang="zh-CN">
                <a:solidFill>
                  <a:srgbClr val="0000FF"/>
                </a:solidFill>
                <a:latin typeface="Consolas" pitchFamily="49" charset="0"/>
                <a:ea typeface="仿宋" pitchFamily="49" charset="-122"/>
              </a:rPr>
              <a:t>的花费最小的最短路径，需要做两点修改：</a:t>
            </a:r>
            <a:r>
              <a:rPr lang="en-US" altLang="zh-CN">
                <a:solidFill>
                  <a:srgbClr val="0000FF"/>
                </a:solidFill>
                <a:latin typeface="Consolas" pitchFamily="49" charset="0"/>
                <a:ea typeface="仿宋" pitchFamily="49" charset="-122"/>
              </a:rPr>
              <a:t>														</a:t>
            </a:r>
            <a:r>
              <a:rPr lang="zh-CN" altLang="en-US">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1</a:t>
            </a:r>
            <a:r>
              <a:rPr lang="zh-CN" altLang="en-US">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增加记录路径最小花费的数组</a:t>
            </a:r>
            <a:r>
              <a:rPr lang="en-US" altLang="zh-CN">
                <a:solidFill>
                  <a:srgbClr val="0000FF"/>
                </a:solidFill>
                <a:latin typeface="Consolas" pitchFamily="49" charset="0"/>
                <a:ea typeface="仿宋" pitchFamily="49" charset="-122"/>
              </a:rPr>
              <a:t>cost</a:t>
            </a:r>
            <a:r>
              <a:rPr lang="zh-CN" altLang="zh-CN">
                <a:solidFill>
                  <a:srgbClr val="0000FF"/>
                </a:solidFill>
                <a:latin typeface="Consolas" pitchFamily="49" charset="0"/>
                <a:ea typeface="仿宋" pitchFamily="49" charset="-122"/>
              </a:rPr>
              <a:t>，</a:t>
            </a:r>
            <a:r>
              <a:rPr lang="en-US" altLang="zh-CN">
                <a:solidFill>
                  <a:srgbClr val="006600"/>
                </a:solidFill>
                <a:latin typeface="Consolas" pitchFamily="49" charset="0"/>
                <a:ea typeface="仿宋" pitchFamily="49" charset="-122"/>
              </a:rPr>
              <a:t>cost[</a:t>
            </a:r>
            <a:r>
              <a:rPr lang="en-US" altLang="zh-CN" i="1">
                <a:solidFill>
                  <a:srgbClr val="006600"/>
                </a:solidFill>
                <a:latin typeface="Consolas" pitchFamily="49" charset="0"/>
                <a:ea typeface="仿宋" pitchFamily="49" charset="-122"/>
              </a:rPr>
              <a:t>j</a:t>
            </a:r>
            <a:r>
              <a:rPr lang="en-US" altLang="zh-CN">
                <a:solidFill>
                  <a:srgbClr val="006600"/>
                </a:solidFill>
                <a:latin typeface="Consolas" pitchFamily="49" charset="0"/>
                <a:ea typeface="仿宋" pitchFamily="49" charset="-122"/>
              </a:rPr>
              <a:t>]</a:t>
            </a:r>
            <a:r>
              <a:rPr lang="zh-CN" altLang="zh-CN">
                <a:solidFill>
                  <a:srgbClr val="006600"/>
                </a:solidFill>
                <a:latin typeface="Consolas" pitchFamily="49" charset="0"/>
                <a:ea typeface="仿宋" pitchFamily="49" charset="-122"/>
              </a:rPr>
              <a:t>表示从顶点</a:t>
            </a:r>
            <a:r>
              <a:rPr lang="en-US" altLang="zh-CN" i="1">
                <a:solidFill>
                  <a:srgbClr val="006600"/>
                </a:solidFill>
                <a:latin typeface="Consolas" pitchFamily="49" charset="0"/>
                <a:ea typeface="仿宋" pitchFamily="49" charset="-122"/>
              </a:rPr>
              <a:t>s</a:t>
            </a:r>
            <a:r>
              <a:rPr lang="zh-CN" altLang="zh-CN">
                <a:solidFill>
                  <a:srgbClr val="006600"/>
                </a:solidFill>
                <a:latin typeface="Consolas" pitchFamily="49" charset="0"/>
                <a:ea typeface="仿宋" pitchFamily="49" charset="-122"/>
              </a:rPr>
              <a:t>到顶点</a:t>
            </a:r>
            <a:r>
              <a:rPr lang="en-US" altLang="zh-CN" i="1">
                <a:solidFill>
                  <a:srgbClr val="006600"/>
                </a:solidFill>
                <a:latin typeface="Consolas" pitchFamily="49" charset="0"/>
                <a:ea typeface="仿宋" pitchFamily="49" charset="-122"/>
              </a:rPr>
              <a:t>j</a:t>
            </a:r>
            <a:r>
              <a:rPr lang="zh-CN" altLang="zh-CN">
                <a:solidFill>
                  <a:srgbClr val="006600"/>
                </a:solidFill>
                <a:latin typeface="Consolas" pitchFamily="49" charset="0"/>
                <a:ea typeface="仿宋" pitchFamily="49" charset="-122"/>
              </a:rPr>
              <a:t>的最短路径的最小花费</a:t>
            </a:r>
            <a:r>
              <a:rPr lang="zh-CN" altLang="zh-CN">
                <a:solidFill>
                  <a:srgbClr val="0000FF"/>
                </a:solidFill>
                <a:latin typeface="Consolas" pitchFamily="49" charset="0"/>
                <a:ea typeface="仿宋" pitchFamily="49" charset="-122"/>
              </a:rPr>
              <a:t>，当存在多条最短路径时，需要比较路径花费求</a:t>
            </a:r>
            <a:r>
              <a:rPr lang="en-US" altLang="zh-CN">
                <a:solidFill>
                  <a:srgbClr val="0000FF"/>
                </a:solidFill>
                <a:latin typeface="Consolas" pitchFamily="49" charset="0"/>
                <a:ea typeface="仿宋" pitchFamily="49" charset="-122"/>
              </a:rPr>
              <a:t>cost[</a:t>
            </a:r>
            <a:r>
              <a:rPr lang="en-US" altLang="zh-CN" i="1">
                <a:solidFill>
                  <a:srgbClr val="0000FF"/>
                </a:solidFill>
                <a:latin typeface="Consolas" pitchFamily="49" charset="0"/>
                <a:ea typeface="仿宋" pitchFamily="49" charset="-122"/>
              </a:rPr>
              <a:t>j</a:t>
            </a:r>
            <a:r>
              <a:rPr lang="en-US" altLang="zh-CN">
                <a:solidFill>
                  <a:srgbClr val="0000FF"/>
                </a:solidFill>
                <a:latin typeface="Consolas" pitchFamily="49" charset="0"/>
                <a:ea typeface="仿宋" pitchFamily="49" charset="-122"/>
              </a:rPr>
              <a:t>]</a:t>
            </a:r>
            <a:r>
              <a:rPr lang="zh-CN" altLang="en-US">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			</a:t>
            </a:r>
            <a:r>
              <a:rPr lang="zh-CN" altLang="en-US">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2</a:t>
            </a:r>
            <a:r>
              <a:rPr lang="zh-CN" altLang="en-US">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一旦顶点</a:t>
            </a:r>
            <a:r>
              <a:rPr lang="en-US" altLang="zh-CN" i="1">
                <a:solidFill>
                  <a:srgbClr val="0000FF"/>
                </a:solidFill>
                <a:latin typeface="Consolas" pitchFamily="49" charset="0"/>
                <a:ea typeface="仿宋" pitchFamily="49" charset="-122"/>
              </a:rPr>
              <a:t>t</a:t>
            </a:r>
            <a:r>
              <a:rPr lang="zh-CN" altLang="zh-CN">
                <a:solidFill>
                  <a:srgbClr val="0000FF"/>
                </a:solidFill>
                <a:latin typeface="Consolas" pitchFamily="49" charset="0"/>
                <a:ea typeface="仿宋" pitchFamily="49" charset="-122"/>
              </a:rPr>
              <a:t>的最短路径已求出，就不需要考虑其他顶点，输出结果并退出</a:t>
            </a:r>
            <a:r>
              <a:rPr lang="en-US" altLang="zh-CN">
                <a:solidFill>
                  <a:srgbClr val="0000FF"/>
                </a:solidFill>
                <a:latin typeface="Consolas" pitchFamily="49" charset="0"/>
                <a:ea typeface="仿宋" pitchFamily="49" charset="-122"/>
              </a:rPr>
              <a:t>Dijkstra</a:t>
            </a:r>
            <a:r>
              <a:rPr lang="zh-CN" altLang="zh-CN">
                <a:solidFill>
                  <a:srgbClr val="0000FF"/>
                </a:solidFill>
                <a:latin typeface="Consolas" pitchFamily="49" charset="0"/>
                <a:ea typeface="仿宋" pitchFamily="49" charset="-122"/>
              </a:rPr>
              <a:t>算法。</a:t>
            </a:r>
          </a:p>
        </p:txBody>
      </p:sp>
      <p:sp>
        <p:nvSpPr>
          <p:cNvPr id="4" name="TextBox 3"/>
          <p:cNvSpPr txBox="1"/>
          <p:nvPr/>
        </p:nvSpPr>
        <p:spPr>
          <a:xfrm>
            <a:off x="285720" y="642918"/>
            <a:ext cx="785818" cy="461665"/>
          </a:xfrm>
          <a:prstGeom prst="rect">
            <a:avLst/>
          </a:prstGeom>
          <a:solidFill>
            <a:schemeClr val="accent5">
              <a:lumMod val="20000"/>
              <a:lumOff val="80000"/>
            </a:schemeClr>
          </a:solidFill>
          <a:ln/>
          <a:effectLst>
            <a:outerShdw blurRad="76200" dir="13500000" sy="23000" kx="1200000" algn="br" rotWithShape="0">
              <a:prstClr val="black">
                <a:alpha val="20000"/>
              </a:prstClr>
            </a:outerShdw>
          </a:effectLst>
        </p:spPr>
        <p:style>
          <a:lnRef idx="3">
            <a:schemeClr val="lt1"/>
          </a:lnRef>
          <a:fillRef idx="1">
            <a:schemeClr val="dk1"/>
          </a:fillRef>
          <a:effectRef idx="1">
            <a:schemeClr val="dk1"/>
          </a:effectRef>
          <a:fontRef idx="minor">
            <a:schemeClr val="lt1"/>
          </a:fontRef>
        </p:style>
        <p:txBody>
          <a:bodyPr wrap="square" rtlCol="0">
            <a:spAutoFit/>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pPr>
              <a:lnSpc>
                <a:spcPct val="100000"/>
              </a:lnSpc>
              <a:spcBef>
                <a:spcPts val="0"/>
              </a:spcBef>
            </a:pPr>
            <a:r>
              <a:rPr lang="zh-CN" altLang="en-US">
                <a:solidFill>
                  <a:srgbClr val="FF0000"/>
                </a:solidFill>
                <a:latin typeface="Consolas" pitchFamily="49" charset="0"/>
                <a:ea typeface="微软雅黑" pitchFamily="34" charset="-122"/>
                <a:cs typeface="Consolas" pitchFamily="49" charset="0"/>
              </a:rPr>
              <a:t>解</a:t>
            </a:r>
            <a:endParaRPr lang="zh-CN" altLang="en-US">
              <a:ln w="18415" cmpd="sng">
                <a:solidFill>
                  <a:srgbClr val="FFFFFF"/>
                </a:solidFill>
                <a:prstDash val="solid"/>
              </a:ln>
              <a:solidFill>
                <a:srgbClr val="FF0000"/>
              </a:solidFill>
              <a:effectLst>
                <a:outerShdw blurRad="63500" dir="3600000" algn="tl" rotWithShape="0">
                  <a:srgbClr val="000000">
                    <a:alpha val="70000"/>
                  </a:srgbClr>
                </a:outerShdw>
              </a:effectLst>
              <a:latin typeface="Consolas" pitchFamily="49" charset="0"/>
              <a:ea typeface="微软雅黑" pitchFamily="34" charset="-122"/>
              <a:cs typeface="Consolas" pitchFamily="49" charset="0"/>
            </a:endParaRPr>
          </a:p>
        </p:txBody>
      </p:sp>
      <p:sp>
        <p:nvSpPr>
          <p:cNvPr id="6" name="灯片编号占位符 5"/>
          <p:cNvSpPr>
            <a:spLocks noGrp="1"/>
          </p:cNvSpPr>
          <p:nvPr>
            <p:ph type="sldNum" sz="quarter" idx="12"/>
          </p:nvPr>
        </p:nvSpPr>
        <p:spPr/>
        <p:txBody>
          <a:bodyPr/>
          <a:lstStyle/>
          <a:p>
            <a:fld id="{7AF016A1-9F15-429F-9EFD-84004B73C732}" type="slidenum">
              <a:rPr lang="en-US" altLang="zh-CN" smtClean="0"/>
              <a:pPr/>
              <a:t>53</a:t>
            </a:fld>
            <a:r>
              <a:rPr lang="en-US" altLang="zh-CN"/>
              <a:t>/158</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85720" y="500042"/>
            <a:ext cx="8358246" cy="2911154"/>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3000"/>
              </a:lnSpc>
              <a:spcBef>
                <a:spcPts val="0"/>
              </a:spcBef>
            </a:pPr>
            <a:r>
              <a:rPr lang="en-US" altLang="zh-CN" sz="2000">
                <a:solidFill>
                  <a:srgbClr val="0000FF"/>
                </a:solidFill>
                <a:latin typeface="Consolas" pitchFamily="49" charset="0"/>
                <a:ea typeface="仿宋" pitchFamily="49" charset="-122"/>
              </a:rPr>
              <a:t>#include&lt;iostream&gt;</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using namespace std;</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const int INF=0xffffff;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定义∞</a:t>
            </a:r>
          </a:p>
          <a:p>
            <a:pPr algn="l" defTabSz="360000">
              <a:lnSpc>
                <a:spcPts val="3000"/>
              </a:lnSpc>
              <a:spcBef>
                <a:spcPts val="0"/>
              </a:spcBef>
            </a:pPr>
            <a:r>
              <a:rPr lang="en-US" altLang="zh-CN" sz="2000">
                <a:solidFill>
                  <a:srgbClr val="0000FF"/>
                </a:solidFill>
                <a:latin typeface="Consolas" pitchFamily="49" charset="0"/>
                <a:ea typeface="仿宋" pitchFamily="49" charset="-122"/>
              </a:rPr>
              <a:t>const int MAXN=1010;</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int n,m;</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int Dist[MAXN][MAXN],Cost[MAXN][MAXN];</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int s,t;</a:t>
            </a:r>
            <a:endParaRPr lang="zh-CN" altLang="zh-CN" sz="2000">
              <a:solidFill>
                <a:srgbClr val="0000FF"/>
              </a:solidFill>
              <a:latin typeface="Consolas" pitchFamily="49" charset="0"/>
              <a:ea typeface="仿宋" pitchFamily="49" charset="-122"/>
            </a:endParaRPr>
          </a:p>
        </p:txBody>
      </p:sp>
      <p:sp>
        <p:nvSpPr>
          <p:cNvPr id="4" name="灯片编号占位符 3"/>
          <p:cNvSpPr>
            <a:spLocks noGrp="1"/>
          </p:cNvSpPr>
          <p:nvPr>
            <p:ph type="sldNum" sz="quarter" idx="12"/>
          </p:nvPr>
        </p:nvSpPr>
        <p:spPr/>
        <p:txBody>
          <a:bodyPr/>
          <a:lstStyle/>
          <a:p>
            <a:fld id="{7AF016A1-9F15-429F-9EFD-84004B73C732}" type="slidenum">
              <a:rPr lang="en-US" altLang="zh-CN" smtClean="0"/>
              <a:pPr/>
              <a:t>54</a:t>
            </a:fld>
            <a:r>
              <a:rPr lang="en-US" altLang="zh-CN"/>
              <a:t>/158</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42844" y="413229"/>
            <a:ext cx="8858280" cy="437309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2700"/>
              </a:lnSpc>
              <a:spcBef>
                <a:spcPts val="0"/>
              </a:spcBef>
            </a:pPr>
            <a:r>
              <a:rPr lang="en-US" altLang="zh-CN" sz="2000">
                <a:solidFill>
                  <a:srgbClr val="0000FF"/>
                </a:solidFill>
                <a:latin typeface="Consolas" pitchFamily="49" charset="0"/>
                <a:ea typeface="仿宋" pitchFamily="49" charset="-122"/>
              </a:rPr>
              <a:t>void </a:t>
            </a:r>
            <a:r>
              <a:rPr lang="en-US" altLang="zh-CN" sz="2000">
                <a:solidFill>
                  <a:srgbClr val="FF0000"/>
                </a:solidFill>
                <a:latin typeface="Consolas" pitchFamily="49" charset="0"/>
                <a:ea typeface="仿宋" pitchFamily="49" charset="-122"/>
              </a:rPr>
              <a:t>Dijkstra</a:t>
            </a:r>
            <a:r>
              <a:rPr lang="en-US" altLang="zh-CN" sz="2000">
                <a:solidFill>
                  <a:srgbClr val="0000FF"/>
                </a:solidFill>
                <a:latin typeface="Consolas" pitchFamily="49" charset="0"/>
                <a:ea typeface="仿宋" pitchFamily="49" charset="-122"/>
              </a:rPr>
              <a:t>(int s) {						</a:t>
            </a:r>
            <a:r>
              <a:rPr lang="en-US" altLang="zh-CN" sz="2000">
                <a:solidFill>
                  <a:srgbClr val="00B050"/>
                </a:solidFill>
                <a:latin typeface="Consolas" pitchFamily="49" charset="0"/>
                <a:ea typeface="仿宋" pitchFamily="49" charset="-122"/>
              </a:rPr>
              <a:t>//Dijkstra</a:t>
            </a:r>
            <a:r>
              <a:rPr lang="zh-CN" altLang="zh-CN" sz="2000">
                <a:solidFill>
                  <a:srgbClr val="00B050"/>
                </a:solidFill>
                <a:latin typeface="Consolas" pitchFamily="49" charset="0"/>
                <a:ea typeface="仿宋" pitchFamily="49" charset="-122"/>
              </a:rPr>
              <a:t>算法</a:t>
            </a:r>
          </a:p>
          <a:p>
            <a:pPr algn="l" defTabSz="360000">
              <a:lnSpc>
                <a:spcPts val="2700"/>
              </a:lnSpc>
              <a:spcBef>
                <a:spcPts val="0"/>
              </a:spcBef>
            </a:pPr>
            <a:r>
              <a:rPr lang="en-US" altLang="zh-CN" sz="2000">
                <a:solidFill>
                  <a:srgbClr val="0000FF"/>
                </a:solidFill>
                <a:latin typeface="Consolas" pitchFamily="49" charset="0"/>
                <a:ea typeface="仿宋" pitchFamily="49" charset="-122"/>
              </a:rPr>
              <a:t>	int dist[MAXN];</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int cost[MAXN];</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int S[MAXN];</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int mindist,mincost,u;</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for(int i=1;i&lt;=n;i++)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初始化</a:t>
            </a:r>
            <a:r>
              <a:rPr lang="zh-CN" altLang="en-US"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顶点编号从</a:t>
            </a:r>
            <a:r>
              <a:rPr lang="en-US" altLang="zh-CN" sz="2000">
                <a:solidFill>
                  <a:srgbClr val="00B0F0"/>
                </a:solidFill>
                <a:latin typeface="Consolas" pitchFamily="49" charset="0"/>
                <a:ea typeface="仿宋" pitchFamily="49" charset="-122"/>
              </a:rPr>
              <a:t>1</a:t>
            </a:r>
            <a:r>
              <a:rPr lang="zh-CN" altLang="zh-CN" sz="2000">
                <a:solidFill>
                  <a:srgbClr val="00B0F0"/>
                </a:solidFill>
                <a:latin typeface="Consolas" pitchFamily="49" charset="0"/>
                <a:ea typeface="仿宋" pitchFamily="49" charset="-122"/>
              </a:rPr>
              <a:t>开始</a:t>
            </a:r>
          </a:p>
          <a:p>
            <a:pPr algn="l" defTabSz="360000">
              <a:lnSpc>
                <a:spcPts val="2700"/>
              </a:lnSpc>
              <a:spcBef>
                <a:spcPts val="0"/>
              </a:spcBef>
            </a:pPr>
            <a:r>
              <a:rPr lang="en-US" altLang="zh-CN" sz="2000">
                <a:solidFill>
                  <a:srgbClr val="0000FF"/>
                </a:solidFill>
                <a:latin typeface="Consolas" pitchFamily="49" charset="0"/>
                <a:ea typeface="仿宋" pitchFamily="49" charset="-122"/>
              </a:rPr>
              <a:t>  		dist[i]=Dist[s][i];</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cost[i]=Cost[s][i];</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S[i]=0;</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dist[s]=cost[s]=0;</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S[s]=1;</a:t>
            </a:r>
            <a:endParaRPr lang="zh-CN" altLang="zh-CN" sz="2000">
              <a:solidFill>
                <a:srgbClr val="0000FF"/>
              </a:solidFill>
              <a:latin typeface="Consolas" pitchFamily="49" charset="0"/>
              <a:ea typeface="仿宋" pitchFamily="49" charset="-122"/>
            </a:endParaRPr>
          </a:p>
        </p:txBody>
      </p:sp>
      <p:sp>
        <p:nvSpPr>
          <p:cNvPr id="4" name="灯片编号占位符 3"/>
          <p:cNvSpPr>
            <a:spLocks noGrp="1"/>
          </p:cNvSpPr>
          <p:nvPr>
            <p:ph type="sldNum" sz="quarter" idx="12"/>
          </p:nvPr>
        </p:nvSpPr>
        <p:spPr/>
        <p:txBody>
          <a:bodyPr/>
          <a:lstStyle/>
          <a:p>
            <a:fld id="{7AF016A1-9F15-429F-9EFD-84004B73C732}" type="slidenum">
              <a:rPr lang="en-US" altLang="zh-CN" smtClean="0"/>
              <a:pPr/>
              <a:t>55</a:t>
            </a:fld>
            <a:r>
              <a:rPr lang="en-US" altLang="zh-CN"/>
              <a:t>/158</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42844" y="142852"/>
            <a:ext cx="8858280" cy="555290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2600"/>
              </a:lnSpc>
              <a:spcBef>
                <a:spcPts val="0"/>
              </a:spcBef>
            </a:pPr>
            <a:r>
              <a:rPr lang="en-US" altLang="zh-CN" sz="2000">
                <a:solidFill>
                  <a:srgbClr val="0000FF"/>
                </a:solidFill>
                <a:latin typeface="Consolas" pitchFamily="49" charset="0"/>
                <a:ea typeface="仿宋" pitchFamily="49" charset="-122"/>
              </a:rPr>
              <a:t>for(int i=1;i&lt;n;i++)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int mindist=INF;</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for(int j=1;j&lt;=n;j++)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求</a:t>
            </a:r>
            <a:r>
              <a:rPr lang="en-US" altLang="zh-CN" sz="2000">
                <a:solidFill>
                  <a:srgbClr val="00B0F0"/>
                </a:solidFill>
                <a:latin typeface="Consolas" pitchFamily="49" charset="0"/>
                <a:ea typeface="仿宋" pitchFamily="49" charset="-122"/>
              </a:rPr>
              <a:t>V-S</a:t>
            </a:r>
            <a:r>
              <a:rPr lang="zh-CN" altLang="zh-CN" sz="2000">
                <a:solidFill>
                  <a:srgbClr val="00B0F0"/>
                </a:solidFill>
                <a:latin typeface="Consolas" pitchFamily="49" charset="0"/>
                <a:ea typeface="仿宋" pitchFamily="49" charset="-122"/>
              </a:rPr>
              <a:t>中的最小距离</a:t>
            </a:r>
            <a:r>
              <a:rPr lang="en-US" altLang="zh-CN" sz="2000">
                <a:solidFill>
                  <a:srgbClr val="00B0F0"/>
                </a:solidFill>
                <a:latin typeface="Consolas" pitchFamily="49" charset="0"/>
                <a:ea typeface="仿宋" pitchFamily="49" charset="-122"/>
              </a:rPr>
              <a:t>mindist</a:t>
            </a:r>
            <a:endParaRPr lang="zh-CN" altLang="zh-CN" sz="2000">
              <a:solidFill>
                <a:srgbClr val="00B0F0"/>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if (</a:t>
            </a:r>
            <a:r>
              <a:rPr lang="en-US" altLang="zh-CN" sz="2000">
                <a:solidFill>
                  <a:srgbClr val="FF00FF"/>
                </a:solidFill>
                <a:latin typeface="Consolas" pitchFamily="49" charset="0"/>
                <a:ea typeface="仿宋" pitchFamily="49" charset="-122"/>
              </a:rPr>
              <a:t>S[j]==0 &amp;&amp; mindist&gt;dist[j]</a:t>
            </a: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mindist=dist[j];</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p>
          <a:p>
            <a:pPr algn="l" defTabSz="360000">
              <a:lnSpc>
                <a:spcPts val="2600"/>
              </a:lnSpc>
              <a:spcBef>
                <a:spcPts val="0"/>
              </a:spcBef>
            </a:pP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if (mindist==INF) break;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找不到连通的顶点</a:t>
            </a:r>
          </a:p>
          <a:p>
            <a:pPr algn="l" defTabSz="360000">
              <a:lnSpc>
                <a:spcPts val="2600"/>
              </a:lnSpc>
              <a:spcBef>
                <a:spcPts val="0"/>
              </a:spcBef>
            </a:pPr>
            <a:r>
              <a:rPr lang="en-US" altLang="zh-CN" sz="2000">
                <a:solidFill>
                  <a:srgbClr val="0000FF"/>
                </a:solidFill>
                <a:latin typeface="Consolas" pitchFamily="49" charset="0"/>
                <a:ea typeface="仿宋" pitchFamily="49" charset="-122"/>
              </a:rPr>
              <a:t>  	mincost=INF; u=-1;</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for(int j=1;j&lt;=n;j++)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求距离最小的顶点</a:t>
            </a:r>
            <a:r>
              <a:rPr lang="en-US" altLang="zh-CN" sz="2000">
                <a:solidFill>
                  <a:srgbClr val="00B0F0"/>
                </a:solidFill>
                <a:latin typeface="Consolas" pitchFamily="49" charset="0"/>
                <a:ea typeface="仿宋" pitchFamily="49" charset="-122"/>
              </a:rPr>
              <a:t>u</a:t>
            </a:r>
            <a:endParaRPr lang="zh-CN" altLang="zh-CN" sz="2000">
              <a:solidFill>
                <a:srgbClr val="00B0F0"/>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if (</a:t>
            </a:r>
            <a:r>
              <a:rPr lang="en-US" altLang="zh-CN" sz="2000">
                <a:solidFill>
                  <a:srgbClr val="FF00FF"/>
                </a:solidFill>
                <a:latin typeface="Consolas" pitchFamily="49" charset="0"/>
                <a:ea typeface="仿宋" pitchFamily="49" charset="-122"/>
              </a:rPr>
              <a:t>S[j]==0 &amp;&amp; mindist==dist[j] &amp;&amp; mincost&gt;cost[j]</a:t>
            </a: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mincost=cost[j];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在最小顶点中找最小</a:t>
            </a:r>
            <a:r>
              <a:rPr lang="en-US" altLang="zh-CN" sz="2000">
                <a:solidFill>
                  <a:srgbClr val="00B0F0"/>
                </a:solidFill>
                <a:latin typeface="Consolas" pitchFamily="49" charset="0"/>
                <a:ea typeface="仿宋" pitchFamily="49" charset="-122"/>
              </a:rPr>
              <a:t>cost</a:t>
            </a:r>
            <a:r>
              <a:rPr lang="zh-CN" altLang="en-US" sz="2000">
                <a:solidFill>
                  <a:srgbClr val="00B0F0"/>
                </a:solidFill>
                <a:latin typeface="Consolas" pitchFamily="49" charset="0"/>
                <a:ea typeface="仿宋" pitchFamily="49" charset="-122"/>
              </a:rPr>
              <a:t>的</a:t>
            </a:r>
            <a:r>
              <a:rPr lang="zh-CN" altLang="zh-CN" sz="2000">
                <a:solidFill>
                  <a:srgbClr val="00B0F0"/>
                </a:solidFill>
                <a:latin typeface="Consolas" pitchFamily="49" charset="0"/>
                <a:ea typeface="仿宋" pitchFamily="49" charset="-122"/>
              </a:rPr>
              <a:t>顶点</a:t>
            </a:r>
            <a:r>
              <a:rPr lang="en-US" altLang="zh-CN" sz="2000">
                <a:solidFill>
                  <a:srgbClr val="00B0F0"/>
                </a:solidFill>
                <a:latin typeface="Consolas" pitchFamily="49" charset="0"/>
                <a:ea typeface="仿宋" pitchFamily="49" charset="-122"/>
              </a:rPr>
              <a:t>u</a:t>
            </a:r>
            <a:endParaRPr lang="zh-CN" altLang="zh-CN" sz="2000">
              <a:solidFill>
                <a:srgbClr val="00B0F0"/>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u=j;</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S[u]=1;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将顶点</a:t>
            </a:r>
            <a:r>
              <a:rPr lang="en-US" altLang="zh-CN" sz="2000">
                <a:solidFill>
                  <a:srgbClr val="00B0F0"/>
                </a:solidFill>
                <a:latin typeface="Consolas" pitchFamily="49" charset="0"/>
                <a:ea typeface="仿宋" pitchFamily="49" charset="-122"/>
              </a:rPr>
              <a:t>u</a:t>
            </a:r>
            <a:r>
              <a:rPr lang="zh-CN" altLang="zh-CN" sz="2000">
                <a:solidFill>
                  <a:srgbClr val="00B0F0"/>
                </a:solidFill>
                <a:latin typeface="Consolas" pitchFamily="49" charset="0"/>
                <a:ea typeface="仿宋" pitchFamily="49" charset="-122"/>
              </a:rPr>
              <a:t>加入</a:t>
            </a:r>
            <a:r>
              <a:rPr lang="en-US" altLang="zh-CN" sz="2000">
                <a:solidFill>
                  <a:srgbClr val="00B0F0"/>
                </a:solidFill>
                <a:latin typeface="Consolas" pitchFamily="49" charset="0"/>
                <a:ea typeface="仿宋" pitchFamily="49" charset="-122"/>
              </a:rPr>
              <a:t>S</a:t>
            </a:r>
            <a:r>
              <a:rPr lang="zh-CN" altLang="zh-CN" sz="2000">
                <a:solidFill>
                  <a:srgbClr val="00B0F0"/>
                </a:solidFill>
                <a:latin typeface="Consolas" pitchFamily="49" charset="0"/>
                <a:ea typeface="仿宋" pitchFamily="49" charset="-122"/>
              </a:rPr>
              <a:t>集合</a:t>
            </a:r>
          </a:p>
        </p:txBody>
      </p:sp>
      <p:grpSp>
        <p:nvGrpSpPr>
          <p:cNvPr id="9" name="组合 8"/>
          <p:cNvGrpSpPr/>
          <p:nvPr/>
        </p:nvGrpSpPr>
        <p:grpSpPr>
          <a:xfrm>
            <a:off x="1500166" y="5857916"/>
            <a:ext cx="3643338" cy="857232"/>
            <a:chOff x="1357290" y="6000768"/>
            <a:chExt cx="3643338" cy="857232"/>
          </a:xfrm>
        </p:grpSpPr>
        <p:sp>
          <p:nvSpPr>
            <p:cNvPr id="3" name="椭圆 2"/>
            <p:cNvSpPr/>
            <p:nvPr/>
          </p:nvSpPr>
          <p:spPr>
            <a:xfrm>
              <a:off x="1714480" y="6000768"/>
              <a:ext cx="396000" cy="396000"/>
            </a:xfrm>
            <a:prstGeom prst="ellipse">
              <a:avLst/>
            </a:prstGeom>
            <a:ln>
              <a:tailEnd type="none"/>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0">
                  <a:latin typeface="Consolas" pitchFamily="49" charset="0"/>
                </a:rPr>
                <a:t>s</a:t>
              </a:r>
              <a:endParaRPr lang="zh-CN" altLang="en-US" sz="2000" b="0">
                <a:latin typeface="Consolas" pitchFamily="49" charset="0"/>
              </a:endParaRPr>
            </a:p>
          </p:txBody>
        </p:sp>
        <p:sp>
          <p:nvSpPr>
            <p:cNvPr id="4" name="椭圆 3"/>
            <p:cNvSpPr/>
            <p:nvPr/>
          </p:nvSpPr>
          <p:spPr>
            <a:xfrm>
              <a:off x="4071934" y="6000768"/>
              <a:ext cx="396000" cy="396000"/>
            </a:xfrm>
            <a:prstGeom prst="ellipse">
              <a:avLst/>
            </a:prstGeom>
            <a:ln>
              <a:tailEnd type="none"/>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0">
                  <a:latin typeface="Consolas" pitchFamily="49" charset="0"/>
                </a:rPr>
                <a:t>u</a:t>
              </a:r>
              <a:endParaRPr lang="zh-CN" altLang="en-US" sz="2000" b="0">
                <a:latin typeface="Consolas" pitchFamily="49" charset="0"/>
              </a:endParaRPr>
            </a:p>
          </p:txBody>
        </p:sp>
        <p:cxnSp>
          <p:nvCxnSpPr>
            <p:cNvPr id="7" name="直接箭头连接符 6"/>
            <p:cNvCxnSpPr>
              <a:stCxn id="3" idx="6"/>
              <a:endCxn id="4" idx="2"/>
            </p:cNvCxnSpPr>
            <p:nvPr/>
          </p:nvCxnSpPr>
          <p:spPr>
            <a:xfrm>
              <a:off x="2110480" y="6198768"/>
              <a:ext cx="1961454" cy="1588"/>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8" name="TextBox 7"/>
            <p:cNvSpPr txBox="1"/>
            <p:nvPr/>
          </p:nvSpPr>
          <p:spPr>
            <a:xfrm>
              <a:off x="1357290" y="6457890"/>
              <a:ext cx="3643338" cy="400110"/>
            </a:xfrm>
            <a:prstGeom prst="rect">
              <a:avLst/>
            </a:prstGeom>
            <a:noFill/>
          </p:spPr>
          <p:txBody>
            <a:bodyPr wrap="square" rtlCol="0">
              <a:spAutoFit/>
            </a:bodyPr>
            <a:lstStyle/>
            <a:p>
              <a:pPr algn="l">
                <a:lnSpc>
                  <a:spcPct val="100000"/>
                </a:lnSpc>
                <a:spcBef>
                  <a:spcPts val="0"/>
                </a:spcBef>
              </a:pPr>
              <a:r>
                <a:rPr lang="en-US" altLang="zh-CN" sz="2000">
                  <a:solidFill>
                    <a:srgbClr val="0000FF"/>
                  </a:solidFill>
                  <a:latin typeface="Consolas" pitchFamily="49" charset="0"/>
                  <a:ea typeface="仿宋" pitchFamily="49" charset="-122"/>
                  <a:cs typeface="Consolas" pitchFamily="49" charset="0"/>
                </a:rPr>
                <a:t>dist[u]</a:t>
              </a:r>
              <a:r>
                <a:rPr lang="zh-CN" altLang="en-US" sz="2000">
                  <a:solidFill>
                    <a:srgbClr val="0000FF"/>
                  </a:solidFill>
                  <a:latin typeface="Consolas" pitchFamily="49" charset="0"/>
                  <a:ea typeface="仿宋" pitchFamily="49" charset="-122"/>
                  <a:cs typeface="Consolas" pitchFamily="49" charset="0"/>
                </a:rPr>
                <a:t>最小中</a:t>
              </a:r>
              <a:r>
                <a:rPr lang="en-US" altLang="zh-CN" sz="2000">
                  <a:solidFill>
                    <a:srgbClr val="0000FF"/>
                  </a:solidFill>
                  <a:latin typeface="Consolas" pitchFamily="49" charset="0"/>
                  <a:ea typeface="仿宋" pitchFamily="49" charset="-122"/>
                  <a:cs typeface="Consolas" pitchFamily="49" charset="0"/>
                </a:rPr>
                <a:t>cost[u]</a:t>
              </a:r>
              <a:r>
                <a:rPr lang="zh-CN" altLang="en-US" sz="2000">
                  <a:solidFill>
                    <a:srgbClr val="0000FF"/>
                  </a:solidFill>
                  <a:latin typeface="Consolas" pitchFamily="49" charset="0"/>
                  <a:ea typeface="仿宋" pitchFamily="49" charset="-122"/>
                  <a:cs typeface="Consolas" pitchFamily="49" charset="0"/>
                </a:rPr>
                <a:t>最小</a:t>
              </a:r>
            </a:p>
          </p:txBody>
        </p:sp>
      </p:grpSp>
      <p:sp>
        <p:nvSpPr>
          <p:cNvPr id="11" name="灯片编号占位符 10"/>
          <p:cNvSpPr>
            <a:spLocks noGrp="1"/>
          </p:cNvSpPr>
          <p:nvPr>
            <p:ph type="sldNum" sz="quarter" idx="12"/>
          </p:nvPr>
        </p:nvSpPr>
        <p:spPr/>
        <p:txBody>
          <a:bodyPr/>
          <a:lstStyle/>
          <a:p>
            <a:fld id="{7AF016A1-9F15-429F-9EFD-84004B73C732}" type="slidenum">
              <a:rPr lang="en-US" altLang="zh-CN" smtClean="0"/>
              <a:pPr/>
              <a:t>56</a:t>
            </a:fld>
            <a:r>
              <a:rPr lang="en-US" altLang="zh-CN"/>
              <a:t>/158</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8" end="8"/>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9" end="9"/>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10" end="1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11" end="1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12" end="1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13" end="1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14" end="1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xEl>
                                              <p:pRg st="15" end="1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42844" y="142852"/>
            <a:ext cx="8858280" cy="3424115"/>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2500"/>
              </a:lnSpc>
              <a:spcBef>
                <a:spcPts val="0"/>
              </a:spcBef>
            </a:pPr>
            <a:r>
              <a:rPr lang="en-US" altLang="zh-CN" sz="2000">
                <a:solidFill>
                  <a:srgbClr val="0000FF"/>
                </a:solidFill>
                <a:latin typeface="Consolas" pitchFamily="49" charset="0"/>
                <a:ea typeface="仿宋" pitchFamily="49" charset="-122"/>
              </a:rPr>
              <a:t>	for (int j=1;j&lt;=n;j++)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考虑顶点</a:t>
            </a:r>
            <a:r>
              <a:rPr lang="en-US" altLang="zh-CN" sz="2000">
                <a:solidFill>
                  <a:srgbClr val="00B0F0"/>
                </a:solidFill>
                <a:latin typeface="Consolas" pitchFamily="49" charset="0"/>
                <a:ea typeface="仿宋" pitchFamily="49" charset="-122"/>
              </a:rPr>
              <a:t>u</a:t>
            </a:r>
            <a:endParaRPr lang="zh-CN" altLang="zh-CN" sz="2000">
              <a:solidFill>
                <a:srgbClr val="00B0F0"/>
              </a:solidFill>
              <a:latin typeface="Consolas" pitchFamily="49" charset="0"/>
              <a:ea typeface="仿宋" pitchFamily="49" charset="-122"/>
            </a:endParaRPr>
          </a:p>
          <a:p>
            <a:pPr algn="l" defTabSz="360000">
              <a:lnSpc>
                <a:spcPts val="2500"/>
              </a:lnSpc>
              <a:spcBef>
                <a:spcPts val="0"/>
              </a:spcBef>
            </a:pPr>
            <a:r>
              <a:rPr lang="en-US" altLang="zh-CN" sz="2000">
                <a:solidFill>
                  <a:srgbClr val="0000FF"/>
                </a:solidFill>
                <a:latin typeface="Consolas" pitchFamily="49" charset="0"/>
                <a:ea typeface="仿宋" pitchFamily="49" charset="-122"/>
              </a:rPr>
              <a:t>   	int d=mindist+Dist[u][j];		</a:t>
            </a:r>
            <a:r>
              <a:rPr lang="en-US" altLang="zh-CN" sz="2000">
                <a:solidFill>
                  <a:srgbClr val="00B0F0"/>
                </a:solidFill>
                <a:latin typeface="Consolas" pitchFamily="49" charset="0"/>
                <a:ea typeface="仿宋" pitchFamily="49" charset="-122"/>
              </a:rPr>
              <a:t>//d</a:t>
            </a:r>
            <a:r>
              <a:rPr lang="zh-CN" altLang="zh-CN" sz="2000">
                <a:solidFill>
                  <a:srgbClr val="00B0F0"/>
                </a:solidFill>
                <a:latin typeface="Consolas" pitchFamily="49" charset="0"/>
                <a:ea typeface="仿宋" pitchFamily="49" charset="-122"/>
              </a:rPr>
              <a:t>记录经过顶点</a:t>
            </a:r>
            <a:r>
              <a:rPr lang="en-US" altLang="zh-CN" sz="2000">
                <a:solidFill>
                  <a:srgbClr val="00B0F0"/>
                </a:solidFill>
                <a:latin typeface="Consolas" pitchFamily="49" charset="0"/>
                <a:ea typeface="仿宋" pitchFamily="49" charset="-122"/>
              </a:rPr>
              <a:t>u</a:t>
            </a:r>
            <a:r>
              <a:rPr lang="zh-CN" altLang="zh-CN" sz="2000">
                <a:solidFill>
                  <a:srgbClr val="00B0F0"/>
                </a:solidFill>
                <a:latin typeface="Consolas" pitchFamily="49" charset="0"/>
                <a:ea typeface="仿宋" pitchFamily="49" charset="-122"/>
              </a:rPr>
              <a:t>的路径长度</a:t>
            </a:r>
          </a:p>
          <a:p>
            <a:pPr algn="l" defTabSz="360000">
              <a:lnSpc>
                <a:spcPts val="2500"/>
              </a:lnSpc>
              <a:spcBef>
                <a:spcPts val="0"/>
              </a:spcBef>
            </a:pPr>
            <a:r>
              <a:rPr lang="en-US" altLang="zh-CN" sz="2000">
                <a:solidFill>
                  <a:srgbClr val="0000FF"/>
                </a:solidFill>
                <a:latin typeface="Consolas" pitchFamily="49" charset="0"/>
                <a:ea typeface="仿宋" pitchFamily="49" charset="-122"/>
              </a:rPr>
              <a:t>	  	int c=cost[u]+Cost[u][j];		</a:t>
            </a:r>
            <a:r>
              <a:rPr lang="en-US" altLang="zh-CN" sz="2000">
                <a:solidFill>
                  <a:srgbClr val="00B0F0"/>
                </a:solidFill>
                <a:latin typeface="Consolas" pitchFamily="49" charset="0"/>
                <a:ea typeface="仿宋" pitchFamily="49" charset="-122"/>
              </a:rPr>
              <a:t>//c</a:t>
            </a:r>
            <a:r>
              <a:rPr lang="zh-CN" altLang="zh-CN" sz="2000">
                <a:solidFill>
                  <a:srgbClr val="00B0F0"/>
                </a:solidFill>
                <a:latin typeface="Consolas" pitchFamily="49" charset="0"/>
                <a:ea typeface="仿宋" pitchFamily="49" charset="-122"/>
              </a:rPr>
              <a:t>记录经过顶点</a:t>
            </a:r>
            <a:r>
              <a:rPr lang="en-US" altLang="zh-CN" sz="2000">
                <a:solidFill>
                  <a:srgbClr val="00B0F0"/>
                </a:solidFill>
                <a:latin typeface="Consolas" pitchFamily="49" charset="0"/>
                <a:ea typeface="仿宋" pitchFamily="49" charset="-122"/>
              </a:rPr>
              <a:t>u</a:t>
            </a:r>
            <a:r>
              <a:rPr lang="zh-CN" altLang="zh-CN" sz="2000">
                <a:solidFill>
                  <a:srgbClr val="00B0F0"/>
                </a:solidFill>
                <a:latin typeface="Consolas" pitchFamily="49" charset="0"/>
                <a:ea typeface="仿宋" pitchFamily="49" charset="-122"/>
              </a:rPr>
              <a:t>的花费</a:t>
            </a:r>
          </a:p>
          <a:p>
            <a:pPr algn="l" defTabSz="360000">
              <a:lnSpc>
                <a:spcPts val="2500"/>
              </a:lnSpc>
              <a:spcBef>
                <a:spcPts val="0"/>
              </a:spcBef>
            </a:pPr>
            <a:r>
              <a:rPr lang="en-US" altLang="zh-CN" sz="2000">
                <a:solidFill>
                  <a:srgbClr val="0000FF"/>
                </a:solidFill>
                <a:latin typeface="Consolas" pitchFamily="49" charset="0"/>
                <a:ea typeface="仿宋" pitchFamily="49" charset="-122"/>
              </a:rPr>
              <a:t>    	if(</a:t>
            </a:r>
            <a:r>
              <a:rPr lang="en-US" altLang="zh-CN" sz="2000">
                <a:solidFill>
                  <a:srgbClr val="FF00FF"/>
                </a:solidFill>
                <a:latin typeface="Consolas" pitchFamily="49" charset="0"/>
                <a:ea typeface="仿宋" pitchFamily="49" charset="-122"/>
              </a:rPr>
              <a:t>S[j]==0 &amp;&amp; d&lt;dist[j]</a:t>
            </a: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500"/>
              </a:lnSpc>
              <a:spcBef>
                <a:spcPts val="0"/>
              </a:spcBef>
            </a:pPr>
            <a:r>
              <a:rPr lang="en-US" altLang="zh-CN" sz="2000">
                <a:solidFill>
                  <a:srgbClr val="0000FF"/>
                </a:solidFill>
                <a:latin typeface="Consolas" pitchFamily="49" charset="0"/>
                <a:ea typeface="仿宋" pitchFamily="49" charset="-122"/>
              </a:rPr>
              <a:t>			dist[j]=d;</a:t>
            </a:r>
            <a:endParaRPr lang="zh-CN" altLang="zh-CN" sz="2000">
              <a:solidFill>
                <a:srgbClr val="0000FF"/>
              </a:solidFill>
              <a:latin typeface="Consolas" pitchFamily="49" charset="0"/>
              <a:ea typeface="仿宋" pitchFamily="49" charset="-122"/>
            </a:endParaRPr>
          </a:p>
          <a:p>
            <a:pPr algn="l" defTabSz="360000">
              <a:lnSpc>
                <a:spcPts val="2500"/>
              </a:lnSpc>
              <a:spcBef>
                <a:spcPts val="0"/>
              </a:spcBef>
            </a:pPr>
            <a:r>
              <a:rPr lang="en-US" altLang="zh-CN" sz="2000">
                <a:solidFill>
                  <a:srgbClr val="0000FF"/>
                </a:solidFill>
                <a:latin typeface="Consolas" pitchFamily="49" charset="0"/>
                <a:ea typeface="仿宋" pitchFamily="49" charset="-122"/>
              </a:rPr>
              <a:t>     		cost[j]=c;</a:t>
            </a:r>
            <a:endParaRPr lang="zh-CN" altLang="zh-CN" sz="2000">
              <a:solidFill>
                <a:srgbClr val="0000FF"/>
              </a:solidFill>
              <a:latin typeface="Consolas" pitchFamily="49" charset="0"/>
              <a:ea typeface="仿宋" pitchFamily="49" charset="-122"/>
            </a:endParaRPr>
          </a:p>
          <a:p>
            <a:pPr algn="l" defTabSz="360000">
              <a:lnSpc>
                <a:spcPts val="25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500"/>
              </a:lnSpc>
              <a:spcBef>
                <a:spcPts val="0"/>
              </a:spcBef>
            </a:pPr>
            <a:r>
              <a:rPr lang="en-US" altLang="zh-CN" sz="2000">
                <a:solidFill>
                  <a:srgbClr val="0000FF"/>
                </a:solidFill>
                <a:latin typeface="Consolas" pitchFamily="49" charset="0"/>
                <a:ea typeface="仿宋" pitchFamily="49" charset="-122"/>
              </a:rPr>
              <a:t>   	else if(</a:t>
            </a:r>
            <a:r>
              <a:rPr lang="en-US" altLang="zh-CN" sz="2000">
                <a:solidFill>
                  <a:srgbClr val="FF00FF"/>
                </a:solidFill>
                <a:latin typeface="Consolas" pitchFamily="49" charset="0"/>
                <a:ea typeface="仿宋" pitchFamily="49" charset="-122"/>
              </a:rPr>
              <a:t>S[j]==0 &amp;&amp; d==dist[j] &amp;&amp; c&lt;cost[j]</a:t>
            </a: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a:p>
            <a:pPr algn="l" defTabSz="360000">
              <a:lnSpc>
                <a:spcPts val="2500"/>
              </a:lnSpc>
              <a:spcBef>
                <a:spcPts val="0"/>
              </a:spcBef>
            </a:pPr>
            <a:r>
              <a:rPr lang="en-US" altLang="zh-CN" sz="2000">
                <a:solidFill>
                  <a:srgbClr val="0000FF"/>
                </a:solidFill>
                <a:latin typeface="Consolas" pitchFamily="49" charset="0"/>
                <a:ea typeface="仿宋" pitchFamily="49" charset="-122"/>
              </a:rPr>
              <a:t>   		cost[j]=c;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有多条长度相同的最短路径</a:t>
            </a:r>
          </a:p>
          <a:p>
            <a:pPr algn="l" defTabSz="360000">
              <a:lnSpc>
                <a:spcPts val="2500"/>
              </a:lnSpc>
              <a:spcBef>
                <a:spcPts val="0"/>
              </a:spcBef>
            </a:pPr>
            <a:r>
              <a:rPr lang="en-US" altLang="zh-CN" sz="2000">
                <a:solidFill>
                  <a:srgbClr val="0000FF"/>
                </a:solidFill>
                <a:latin typeface="Consolas" pitchFamily="49" charset="0"/>
                <a:ea typeface="仿宋" pitchFamily="49" charset="-122"/>
              </a:rPr>
              <a:t> 	}</a:t>
            </a:r>
          </a:p>
        </p:txBody>
      </p:sp>
      <p:grpSp>
        <p:nvGrpSpPr>
          <p:cNvPr id="19" name="组合 18"/>
          <p:cNvGrpSpPr/>
          <p:nvPr/>
        </p:nvGrpSpPr>
        <p:grpSpPr>
          <a:xfrm>
            <a:off x="1175604" y="4143380"/>
            <a:ext cx="4500594" cy="1652894"/>
            <a:chOff x="1175604" y="4143380"/>
            <a:chExt cx="4500594" cy="1652894"/>
          </a:xfrm>
        </p:grpSpPr>
        <p:sp>
          <p:nvSpPr>
            <p:cNvPr id="4" name="椭圆 3"/>
            <p:cNvSpPr/>
            <p:nvPr/>
          </p:nvSpPr>
          <p:spPr>
            <a:xfrm>
              <a:off x="4033124" y="5088388"/>
              <a:ext cx="396000" cy="396000"/>
            </a:xfrm>
            <a:prstGeom prst="ellipse">
              <a:avLst/>
            </a:prstGeom>
            <a:ln>
              <a:tailEnd type="none"/>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0">
                  <a:latin typeface="Consolas" pitchFamily="49" charset="0"/>
                </a:rPr>
                <a:t>j</a:t>
              </a:r>
              <a:endParaRPr lang="zh-CN" altLang="en-US" sz="2000" b="0">
                <a:latin typeface="Consolas" pitchFamily="49" charset="0"/>
              </a:endParaRPr>
            </a:p>
          </p:txBody>
        </p:sp>
        <p:sp>
          <p:nvSpPr>
            <p:cNvPr id="6" name="椭圆 5"/>
            <p:cNvSpPr/>
            <p:nvPr/>
          </p:nvSpPr>
          <p:spPr>
            <a:xfrm>
              <a:off x="2461488" y="5088388"/>
              <a:ext cx="396000" cy="396000"/>
            </a:xfrm>
            <a:prstGeom prst="ellipse">
              <a:avLst/>
            </a:prstGeom>
            <a:solidFill>
              <a:srgbClr val="FF0000"/>
            </a:solidFill>
            <a:ln>
              <a:tailEnd type="none"/>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0">
                  <a:solidFill>
                    <a:schemeClr val="bg1"/>
                  </a:solidFill>
                  <a:latin typeface="Consolas" pitchFamily="49" charset="0"/>
                </a:rPr>
                <a:t>u</a:t>
              </a:r>
              <a:endParaRPr lang="zh-CN" altLang="en-US" sz="2000" b="0">
                <a:solidFill>
                  <a:schemeClr val="bg1"/>
                </a:solidFill>
                <a:latin typeface="Consolas" pitchFamily="49" charset="0"/>
              </a:endParaRPr>
            </a:p>
          </p:txBody>
        </p:sp>
        <p:sp>
          <p:nvSpPr>
            <p:cNvPr id="8" name="TextBox 7"/>
            <p:cNvSpPr txBox="1"/>
            <p:nvPr/>
          </p:nvSpPr>
          <p:spPr>
            <a:xfrm>
              <a:off x="1175604" y="5088388"/>
              <a:ext cx="1214446" cy="400110"/>
            </a:xfrm>
            <a:prstGeom prst="rect">
              <a:avLst/>
            </a:prstGeom>
            <a:noFill/>
          </p:spPr>
          <p:txBody>
            <a:bodyPr wrap="square" rtlCol="0">
              <a:spAutoFit/>
            </a:bodyPr>
            <a:lstStyle/>
            <a:p>
              <a:pPr algn="l">
                <a:lnSpc>
                  <a:spcPct val="100000"/>
                </a:lnSpc>
                <a:spcBef>
                  <a:spcPts val="0"/>
                </a:spcBef>
              </a:pPr>
              <a:r>
                <a:rPr lang="en-US" altLang="zh-CN" sz="2000">
                  <a:solidFill>
                    <a:srgbClr val="0000FF"/>
                  </a:solidFill>
                  <a:latin typeface="Consolas" pitchFamily="49" charset="0"/>
                  <a:ea typeface="仿宋" pitchFamily="49" charset="-122"/>
                  <a:cs typeface="Consolas" pitchFamily="49" charset="0"/>
                </a:rPr>
                <a:t>dist[u]</a:t>
              </a:r>
              <a:endParaRPr lang="zh-CN" altLang="en-US" sz="2000">
                <a:solidFill>
                  <a:srgbClr val="0000FF"/>
                </a:solidFill>
                <a:latin typeface="Consolas" pitchFamily="49" charset="0"/>
                <a:ea typeface="仿宋" pitchFamily="49" charset="-122"/>
                <a:cs typeface="Consolas" pitchFamily="49" charset="0"/>
              </a:endParaRPr>
            </a:p>
          </p:txBody>
        </p:sp>
        <p:cxnSp>
          <p:nvCxnSpPr>
            <p:cNvPr id="11" name="直接箭头连接符 10"/>
            <p:cNvCxnSpPr>
              <a:stCxn id="6" idx="6"/>
              <a:endCxn id="4" idx="2"/>
            </p:cNvCxnSpPr>
            <p:nvPr/>
          </p:nvCxnSpPr>
          <p:spPr>
            <a:xfrm>
              <a:off x="2857488" y="5286388"/>
              <a:ext cx="1175636" cy="1588"/>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12" name="TextBox 11"/>
            <p:cNvSpPr txBox="1"/>
            <p:nvPr/>
          </p:nvSpPr>
          <p:spPr>
            <a:xfrm>
              <a:off x="4461752" y="5088388"/>
              <a:ext cx="1214446" cy="707886"/>
            </a:xfrm>
            <a:prstGeom prst="rect">
              <a:avLst/>
            </a:prstGeom>
            <a:noFill/>
          </p:spPr>
          <p:txBody>
            <a:bodyPr wrap="square" rtlCol="0">
              <a:spAutoFit/>
            </a:bodyPr>
            <a:lstStyle/>
            <a:p>
              <a:pPr algn="l">
                <a:lnSpc>
                  <a:spcPct val="100000"/>
                </a:lnSpc>
                <a:spcBef>
                  <a:spcPts val="0"/>
                </a:spcBef>
              </a:pPr>
              <a:r>
                <a:rPr lang="en-US" altLang="zh-CN" sz="2000">
                  <a:solidFill>
                    <a:srgbClr val="0000FF"/>
                  </a:solidFill>
                  <a:latin typeface="Consolas" pitchFamily="49" charset="0"/>
                  <a:ea typeface="仿宋" pitchFamily="49" charset="-122"/>
                  <a:cs typeface="Consolas" pitchFamily="49" charset="0"/>
                </a:rPr>
                <a:t>dist[j]</a:t>
              </a:r>
            </a:p>
            <a:p>
              <a:pPr algn="l">
                <a:lnSpc>
                  <a:spcPct val="100000"/>
                </a:lnSpc>
                <a:spcBef>
                  <a:spcPts val="0"/>
                </a:spcBef>
              </a:pPr>
              <a:r>
                <a:rPr lang="en-US" altLang="zh-CN" sz="2000">
                  <a:solidFill>
                    <a:srgbClr val="0000FF"/>
                  </a:solidFill>
                  <a:latin typeface="Consolas" pitchFamily="49" charset="0"/>
                  <a:ea typeface="仿宋" pitchFamily="49" charset="-122"/>
                  <a:cs typeface="Consolas" pitchFamily="49" charset="0"/>
                </a:rPr>
                <a:t>cost[j]</a:t>
              </a:r>
              <a:endParaRPr lang="zh-CN" altLang="en-US" sz="2000">
                <a:solidFill>
                  <a:srgbClr val="0000FF"/>
                </a:solidFill>
                <a:latin typeface="Consolas" pitchFamily="49" charset="0"/>
                <a:ea typeface="仿宋" pitchFamily="49" charset="-122"/>
                <a:cs typeface="Consolas" pitchFamily="49" charset="0"/>
              </a:endParaRPr>
            </a:p>
          </p:txBody>
        </p:sp>
        <p:sp>
          <p:nvSpPr>
            <p:cNvPr id="13" name="椭圆 12"/>
            <p:cNvSpPr/>
            <p:nvPr/>
          </p:nvSpPr>
          <p:spPr>
            <a:xfrm>
              <a:off x="1928794" y="4143380"/>
              <a:ext cx="396000" cy="396000"/>
            </a:xfrm>
            <a:prstGeom prst="ellipse">
              <a:avLst/>
            </a:prstGeom>
            <a:ln>
              <a:tailEnd type="none"/>
            </a:ln>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sz="2000" b="0">
                  <a:latin typeface="Consolas" pitchFamily="49" charset="0"/>
                </a:rPr>
                <a:t>s</a:t>
              </a:r>
              <a:endParaRPr lang="zh-CN" altLang="en-US" sz="2000" b="0">
                <a:latin typeface="Consolas" pitchFamily="49" charset="0"/>
              </a:endParaRPr>
            </a:p>
          </p:txBody>
        </p:sp>
        <p:cxnSp>
          <p:nvCxnSpPr>
            <p:cNvPr id="15" name="直接箭头连接符 14"/>
            <p:cNvCxnSpPr>
              <a:stCxn id="13" idx="5"/>
              <a:endCxn id="6" idx="0"/>
            </p:cNvCxnSpPr>
            <p:nvPr/>
          </p:nvCxnSpPr>
          <p:spPr>
            <a:xfrm rot="16200000" flipH="1">
              <a:off x="2159644" y="4588543"/>
              <a:ext cx="607001" cy="392687"/>
            </a:xfrm>
            <a:prstGeom prst="straightConnector1">
              <a:avLst/>
            </a:prstGeom>
            <a:ln w="19050">
              <a:prstDash val="dash"/>
              <a:tailEnd type="arrow"/>
            </a:ln>
          </p:spPr>
          <p:style>
            <a:lnRef idx="2">
              <a:schemeClr val="dk1"/>
            </a:lnRef>
            <a:fillRef idx="0">
              <a:schemeClr val="dk1"/>
            </a:fillRef>
            <a:effectRef idx="1">
              <a:schemeClr val="dk1"/>
            </a:effectRef>
            <a:fontRef idx="minor">
              <a:schemeClr val="tx1"/>
            </a:fontRef>
          </p:style>
        </p:cxnSp>
        <p:cxnSp>
          <p:nvCxnSpPr>
            <p:cNvPr id="17" name="直接箭头连接符 16"/>
            <p:cNvCxnSpPr>
              <a:stCxn id="13" idx="6"/>
              <a:endCxn id="4" idx="1"/>
            </p:cNvCxnSpPr>
            <p:nvPr/>
          </p:nvCxnSpPr>
          <p:spPr>
            <a:xfrm>
              <a:off x="2324794" y="4341380"/>
              <a:ext cx="1766323" cy="805001"/>
            </a:xfrm>
            <a:prstGeom prst="straightConnector1">
              <a:avLst/>
            </a:prstGeom>
            <a:ln w="19050">
              <a:prstDash val="dash"/>
              <a:tailEnd type="arrow"/>
            </a:ln>
          </p:spPr>
          <p:style>
            <a:lnRef idx="2">
              <a:schemeClr val="dk1"/>
            </a:lnRef>
            <a:fillRef idx="0">
              <a:schemeClr val="dk1"/>
            </a:fillRef>
            <a:effectRef idx="1">
              <a:schemeClr val="dk1"/>
            </a:effectRef>
            <a:fontRef idx="minor">
              <a:schemeClr val="tx1"/>
            </a:fontRef>
          </p:style>
        </p:cxnSp>
      </p:grpSp>
      <p:sp>
        <p:nvSpPr>
          <p:cNvPr id="16" name="灯片编号占位符 15"/>
          <p:cNvSpPr>
            <a:spLocks noGrp="1"/>
          </p:cNvSpPr>
          <p:nvPr>
            <p:ph type="sldNum" sz="quarter" idx="12"/>
          </p:nvPr>
        </p:nvSpPr>
        <p:spPr/>
        <p:txBody>
          <a:bodyPr/>
          <a:lstStyle/>
          <a:p>
            <a:fld id="{7AF016A1-9F15-429F-9EFD-84004B73C732}" type="slidenum">
              <a:rPr lang="en-US" altLang="zh-CN" smtClean="0"/>
              <a:pPr/>
              <a:t>57</a:t>
            </a:fld>
            <a:r>
              <a:rPr lang="en-US" altLang="zh-CN"/>
              <a:t>/158</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8" end="8"/>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9" end="9"/>
                                            </p:txEl>
                                          </p:spTgt>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nodeType="afterEffect">
                                  <p:stCondLst>
                                    <p:cond delay="0"/>
                                  </p:stCondLst>
                                  <p:childTnLst>
                                    <p:set>
                                      <p:cBhvr>
                                        <p:cTn id="13"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14282" y="1071546"/>
            <a:ext cx="8858280" cy="214171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2500"/>
              </a:lnSpc>
              <a:spcBef>
                <a:spcPts val="0"/>
              </a:spcBef>
            </a:pPr>
            <a:r>
              <a:rPr lang="en-US" altLang="zh-CN" sz="2000">
                <a:solidFill>
                  <a:srgbClr val="0000FF"/>
                </a:solidFill>
                <a:latin typeface="Consolas" pitchFamily="49" charset="0"/>
                <a:ea typeface="仿宋" pitchFamily="49" charset="-122"/>
              </a:rPr>
              <a:t>		if(</a:t>
            </a:r>
            <a:r>
              <a:rPr lang="en-US" altLang="zh-CN" sz="2000">
                <a:solidFill>
                  <a:srgbClr val="FF00FF"/>
                </a:solidFill>
                <a:latin typeface="Consolas" pitchFamily="49" charset="0"/>
                <a:ea typeface="仿宋" pitchFamily="49" charset="-122"/>
              </a:rPr>
              <a:t>S[t]==1</a:t>
            </a:r>
            <a:r>
              <a:rPr lang="en-US" altLang="zh-CN" sz="2000">
                <a:solidFill>
                  <a:srgbClr val="0000FF"/>
                </a:solidFill>
                <a:latin typeface="Consolas" pitchFamily="49" charset="0"/>
                <a:ea typeface="仿宋" pitchFamily="49" charset="-122"/>
              </a:rPr>
              <a:t>)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已经求出</a:t>
            </a:r>
            <a:r>
              <a:rPr lang="en-US" altLang="zh-CN" sz="2000">
                <a:solidFill>
                  <a:srgbClr val="00B0F0"/>
                </a:solidFill>
                <a:latin typeface="Consolas" pitchFamily="49" charset="0"/>
                <a:ea typeface="仿宋" pitchFamily="49" charset="-122"/>
              </a:rPr>
              <a:t>s</a:t>
            </a:r>
            <a:r>
              <a:rPr lang="zh-CN" altLang="zh-CN" sz="2000">
                <a:solidFill>
                  <a:srgbClr val="00B0F0"/>
                </a:solidFill>
                <a:latin typeface="Consolas" pitchFamily="49" charset="0"/>
                <a:ea typeface="仿宋" pitchFamily="49" charset="-122"/>
              </a:rPr>
              <a:t>到</a:t>
            </a:r>
            <a:r>
              <a:rPr lang="en-US" altLang="zh-CN" sz="2000">
                <a:solidFill>
                  <a:srgbClr val="00B0F0"/>
                </a:solidFill>
                <a:latin typeface="Consolas" pitchFamily="49" charset="0"/>
                <a:ea typeface="仿宋" pitchFamily="49" charset="-122"/>
              </a:rPr>
              <a:t>t</a:t>
            </a:r>
            <a:r>
              <a:rPr lang="zh-CN" altLang="zh-CN" sz="2000">
                <a:solidFill>
                  <a:srgbClr val="00B0F0"/>
                </a:solidFill>
                <a:latin typeface="Consolas" pitchFamily="49" charset="0"/>
                <a:ea typeface="仿宋" pitchFamily="49" charset="-122"/>
              </a:rPr>
              <a:t>的最短路径</a:t>
            </a:r>
          </a:p>
          <a:p>
            <a:pPr algn="l" defTabSz="360000">
              <a:lnSpc>
                <a:spcPts val="2500"/>
              </a:lnSpc>
              <a:spcBef>
                <a:spcPts val="0"/>
              </a:spcBef>
            </a:pPr>
            <a:r>
              <a:rPr lang="en-US" altLang="zh-CN" sz="2000">
                <a:solidFill>
                  <a:srgbClr val="0000FF"/>
                </a:solidFill>
                <a:latin typeface="Consolas" pitchFamily="49" charset="0"/>
                <a:ea typeface="仿宋" pitchFamily="49" charset="-122"/>
              </a:rPr>
              <a:t>     		printf("%d %d\n",dist[t],cost[t]);</a:t>
            </a:r>
            <a:endParaRPr lang="zh-CN" altLang="zh-CN" sz="2000">
              <a:solidFill>
                <a:srgbClr val="0000FF"/>
              </a:solidFill>
              <a:latin typeface="Consolas" pitchFamily="49" charset="0"/>
              <a:ea typeface="仿宋" pitchFamily="49" charset="-122"/>
            </a:endParaRPr>
          </a:p>
          <a:p>
            <a:pPr algn="l" defTabSz="360000">
              <a:lnSpc>
                <a:spcPts val="2500"/>
              </a:lnSpc>
              <a:spcBef>
                <a:spcPts val="0"/>
              </a:spcBef>
            </a:pPr>
            <a:r>
              <a:rPr lang="en-US" altLang="zh-CN" sz="2000">
                <a:solidFill>
                  <a:srgbClr val="0000FF"/>
                </a:solidFill>
                <a:latin typeface="Consolas" pitchFamily="49" charset="0"/>
                <a:ea typeface="仿宋" pitchFamily="49" charset="-122"/>
              </a:rPr>
              <a:t>      	return;</a:t>
            </a:r>
            <a:endParaRPr lang="zh-CN" altLang="zh-CN" sz="2000">
              <a:solidFill>
                <a:srgbClr val="0000FF"/>
              </a:solidFill>
              <a:latin typeface="Consolas" pitchFamily="49" charset="0"/>
              <a:ea typeface="仿宋" pitchFamily="49" charset="-122"/>
            </a:endParaRPr>
          </a:p>
          <a:p>
            <a:pPr algn="l" defTabSz="360000">
              <a:lnSpc>
                <a:spcPts val="25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5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5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4" name="灯片编号占位符 3"/>
          <p:cNvSpPr>
            <a:spLocks noGrp="1"/>
          </p:cNvSpPr>
          <p:nvPr>
            <p:ph type="sldNum" sz="quarter" idx="12"/>
          </p:nvPr>
        </p:nvSpPr>
        <p:spPr/>
        <p:txBody>
          <a:bodyPr/>
          <a:lstStyle/>
          <a:p>
            <a:fld id="{7AF016A1-9F15-429F-9EFD-84004B73C732}" type="slidenum">
              <a:rPr lang="en-US" altLang="zh-CN" smtClean="0"/>
              <a:pPr/>
              <a:t>58</a:t>
            </a:fld>
            <a:r>
              <a:rPr lang="en-US" altLang="zh-CN"/>
              <a:t>/158</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42844" y="142852"/>
            <a:ext cx="8858280" cy="4006262"/>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2700"/>
              </a:lnSpc>
              <a:spcBef>
                <a:spcPts val="0"/>
              </a:spcBef>
            </a:pPr>
            <a:r>
              <a:rPr lang="en-US" altLang="zh-CN" sz="2000">
                <a:solidFill>
                  <a:srgbClr val="0000FF"/>
                </a:solidFill>
                <a:latin typeface="Consolas" pitchFamily="49" charset="0"/>
                <a:ea typeface="仿宋" pitchFamily="49" charset="-122"/>
              </a:rPr>
              <a:t>int </a:t>
            </a:r>
            <a:r>
              <a:rPr lang="en-US" altLang="zh-CN" sz="2000">
                <a:solidFill>
                  <a:srgbClr val="FF0000"/>
                </a:solidFill>
                <a:latin typeface="Consolas" pitchFamily="49" charset="0"/>
                <a:ea typeface="仿宋" pitchFamily="49" charset="-122"/>
              </a:rPr>
              <a:t>main</a:t>
            </a: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int a,b,d,p;</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while(scanf("%d%d",&amp;n,&amp;m)!=EOF) {</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if(m==0 &amp;&amp; n==0)</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break;</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for(int i=1;i&lt;=n;i++) {</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for(int j=1;j&lt;=n;j++) {</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Dist[i][j]=INF;</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Cost[i][j]=INF;</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p:txBody>
      </p:sp>
      <p:sp>
        <p:nvSpPr>
          <p:cNvPr id="4" name="灯片编号占位符 3"/>
          <p:cNvSpPr>
            <a:spLocks noGrp="1"/>
          </p:cNvSpPr>
          <p:nvPr>
            <p:ph type="sldNum" sz="quarter" idx="12"/>
          </p:nvPr>
        </p:nvSpPr>
        <p:spPr/>
        <p:txBody>
          <a:bodyPr/>
          <a:lstStyle/>
          <a:p>
            <a:fld id="{7AF016A1-9F15-429F-9EFD-84004B73C732}" type="slidenum">
              <a:rPr lang="en-US" altLang="zh-CN" smtClean="0"/>
              <a:pPr/>
              <a:t>59</a:t>
            </a:fld>
            <a:r>
              <a:rPr lang="en-US" altLang="zh-CN"/>
              <a:t>/158</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42844" y="395567"/>
            <a:ext cx="8858280" cy="4352511"/>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2700"/>
              </a:lnSpc>
              <a:spcBef>
                <a:spcPts val="0"/>
              </a:spcBef>
            </a:pPr>
            <a:r>
              <a:rPr lang="en-US" altLang="zh-CN" sz="2000">
                <a:solidFill>
                  <a:srgbClr val="0000FF"/>
                </a:solidFill>
                <a:latin typeface="Consolas" pitchFamily="49" charset="0"/>
                <a:ea typeface="仿宋" pitchFamily="49" charset="-122"/>
              </a:rPr>
              <a:t>		for(int i=0;i&lt;m;i++) {</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scanf("%d%d%d%d\n",&amp;a,&amp;b,&amp;d,&amp;p);</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if(</a:t>
            </a:r>
            <a:r>
              <a:rPr lang="en-US" altLang="zh-CN" sz="2000">
                <a:solidFill>
                  <a:srgbClr val="FF00FF"/>
                </a:solidFill>
                <a:latin typeface="Consolas" pitchFamily="49" charset="0"/>
                <a:ea typeface="仿宋" pitchFamily="49" charset="-122"/>
              </a:rPr>
              <a:t>Dist[a][b]&gt;d</a:t>
            </a:r>
            <a:r>
              <a:rPr lang="en-US" altLang="zh-CN" sz="2000">
                <a:solidFill>
                  <a:srgbClr val="0000FF"/>
                </a:solidFill>
                <a:latin typeface="Consolas" pitchFamily="49" charset="0"/>
                <a:ea typeface="仿宋" pitchFamily="49" charset="-122"/>
              </a:rPr>
              <a:t>)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可能存在重复边，取长度较小者</a:t>
            </a:r>
            <a:r>
              <a:rPr lang="en-US" altLang="zh-CN" sz="2000">
                <a:solidFill>
                  <a:srgbClr val="00B0F0"/>
                </a:solidFill>
                <a:latin typeface="Consolas" pitchFamily="49" charset="0"/>
                <a:ea typeface="仿宋" pitchFamily="49" charset="-122"/>
              </a:rPr>
              <a:t>	</a:t>
            </a:r>
            <a:endParaRPr lang="zh-CN" altLang="zh-CN" sz="2000">
              <a:solidFill>
                <a:srgbClr val="00B0F0"/>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Dist[a][b]=Dist[b][a]=d;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无向图的边是对称的</a:t>
            </a:r>
          </a:p>
          <a:p>
            <a:pPr algn="l" defTabSz="360000">
              <a:lnSpc>
                <a:spcPts val="2700"/>
              </a:lnSpc>
              <a:spcBef>
                <a:spcPts val="0"/>
              </a:spcBef>
            </a:pPr>
            <a:r>
              <a:rPr lang="en-US" altLang="zh-CN" sz="2000">
                <a:solidFill>
                  <a:srgbClr val="0000FF"/>
                </a:solidFill>
                <a:latin typeface="Consolas" pitchFamily="49" charset="0"/>
                <a:ea typeface="仿宋" pitchFamily="49" charset="-122"/>
              </a:rPr>
              <a:t>       		Cost[a][b]=Cost[b][a]=p;</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scanf("%d%d",&amp;s,&amp;t);</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FF0000"/>
                </a:solidFill>
                <a:latin typeface="Consolas" pitchFamily="49" charset="0"/>
                <a:ea typeface="仿宋" pitchFamily="49" charset="-122"/>
              </a:rPr>
              <a:t>Dijkstra</a:t>
            </a:r>
            <a:r>
              <a:rPr lang="en-US" altLang="zh-CN" sz="2000">
                <a:solidFill>
                  <a:srgbClr val="0000FF"/>
                </a:solidFill>
                <a:latin typeface="Consolas" pitchFamily="49" charset="0"/>
                <a:ea typeface="仿宋" pitchFamily="49" charset="-122"/>
              </a:rPr>
              <a:t>(s);</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return 0;</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grpSp>
        <p:nvGrpSpPr>
          <p:cNvPr id="3" name="组合 9"/>
          <p:cNvGrpSpPr/>
          <p:nvPr/>
        </p:nvGrpSpPr>
        <p:grpSpPr>
          <a:xfrm>
            <a:off x="642910" y="5181913"/>
            <a:ext cx="6929486" cy="461665"/>
            <a:chOff x="1071538" y="6286520"/>
            <a:chExt cx="6159543" cy="461665"/>
          </a:xfrm>
        </p:grpSpPr>
        <p:sp>
          <p:nvSpPr>
            <p:cNvPr id="4" name="TextBox 3"/>
            <p:cNvSpPr txBox="1"/>
            <p:nvPr/>
          </p:nvSpPr>
          <p:spPr>
            <a:xfrm>
              <a:off x="1928794" y="6286520"/>
              <a:ext cx="5302287"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itchFamily="49" charset="0"/>
                  <a:ea typeface="仿宋" pitchFamily="49" charset="-122"/>
                </a:rPr>
                <a:t>执行用时为</a:t>
              </a:r>
              <a:r>
                <a:rPr lang="en-US" altLang="zh-CN">
                  <a:solidFill>
                    <a:srgbClr val="0000FF"/>
                  </a:solidFill>
                  <a:latin typeface="Consolas" pitchFamily="49" charset="0"/>
                  <a:ea typeface="仿宋" pitchFamily="49" charset="-122"/>
                </a:rPr>
                <a:t>218ms</a:t>
              </a:r>
              <a:r>
                <a:rPr lang="zh-CN" altLang="zh-CN">
                  <a:solidFill>
                    <a:srgbClr val="0000FF"/>
                  </a:solidFill>
                  <a:latin typeface="Consolas" pitchFamily="49" charset="0"/>
                  <a:ea typeface="仿宋" pitchFamily="49" charset="-122"/>
                </a:rPr>
                <a:t>，内存消耗为</a:t>
              </a:r>
              <a:r>
                <a:rPr lang="en-US" altLang="zh-CN">
                  <a:solidFill>
                    <a:srgbClr val="0000FF"/>
                  </a:solidFill>
                  <a:latin typeface="Consolas" pitchFamily="49" charset="0"/>
                  <a:ea typeface="仿宋" pitchFamily="49" charset="-122"/>
                </a:rPr>
                <a:t>9652KB</a:t>
              </a:r>
              <a:r>
                <a:rPr lang="zh-CN" altLang="zh-CN">
                  <a:solidFill>
                    <a:srgbClr val="0000FF"/>
                  </a:solidFill>
                  <a:latin typeface="Consolas" pitchFamily="49" charset="0"/>
                  <a:ea typeface="仿宋" pitchFamily="49" charset="-122"/>
                </a:rPr>
                <a:t>。</a:t>
              </a:r>
              <a:endParaRPr lang="zh-CN" altLang="en-US">
                <a:solidFill>
                  <a:srgbClr val="0000FF"/>
                </a:solidFill>
                <a:latin typeface="Consolas" pitchFamily="49" charset="0"/>
                <a:ea typeface="仿宋" pitchFamily="49" charset="-122"/>
                <a:cs typeface="Consolas" pitchFamily="49" charset="0"/>
              </a:endParaRPr>
            </a:p>
          </p:txBody>
        </p:sp>
        <p:sp>
          <p:nvSpPr>
            <p:cNvPr id="6" name="TextBox 5"/>
            <p:cNvSpPr txBox="1"/>
            <p:nvPr/>
          </p:nvSpPr>
          <p:spPr>
            <a:xfrm>
              <a:off x="1071538" y="6286520"/>
              <a:ext cx="785818" cy="441018"/>
            </a:xfrm>
            <a:prstGeom prst="rect">
              <a:avLst/>
            </a:prstGeom>
            <a:ln>
              <a:noFill/>
            </a:ln>
            <a:effectLst>
              <a:outerShdw blurRad="76200" dir="13500000" sy="23000" kx="1200000" algn="br" rotWithShape="0">
                <a:prstClr val="black">
                  <a:alpha val="20000"/>
                </a:prstClr>
              </a:outerShdw>
            </a:effectLst>
            <a:scene3d>
              <a:camera prst="orthographicFront"/>
              <a:lightRig rig="threePt" dir="t"/>
            </a:scene3d>
            <a:sp3d>
              <a:bevelT prst="convex"/>
            </a:sp3d>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ts val="3000"/>
                </a:lnSpc>
                <a:spcBef>
                  <a:spcPts val="0"/>
                </a:spcBef>
              </a:pPr>
              <a:r>
                <a:rPr lang="en-US" altLang="zh-CN" sz="2000">
                  <a:solidFill>
                    <a:srgbClr val="FF3300"/>
                  </a:solidFill>
                  <a:latin typeface="Eras Bold ITC" pitchFamily="34" charset="0"/>
                  <a:ea typeface="仿宋" pitchFamily="49" charset="-122"/>
                  <a:cs typeface="Courier New" pitchFamily="49" charset="0"/>
                </a:rPr>
                <a:t>EXE</a:t>
              </a:r>
              <a:endParaRPr lang="zh-CN" altLang="en-US" sz="2000">
                <a:solidFill>
                  <a:srgbClr val="FF3300"/>
                </a:solidFill>
                <a:latin typeface="Forte" pitchFamily="66" charset="0"/>
                <a:ea typeface="仿宋" pitchFamily="49" charset="-122"/>
                <a:cs typeface="Consolas" pitchFamily="49" charset="0"/>
              </a:endParaRPr>
            </a:p>
          </p:txBody>
        </p:sp>
      </p:grpSp>
      <p:sp>
        <p:nvSpPr>
          <p:cNvPr id="8" name="灯片编号占位符 7"/>
          <p:cNvSpPr>
            <a:spLocks noGrp="1"/>
          </p:cNvSpPr>
          <p:nvPr>
            <p:ph type="sldNum" sz="quarter" idx="12"/>
          </p:nvPr>
        </p:nvSpPr>
        <p:spPr/>
        <p:txBody>
          <a:bodyPr/>
          <a:lstStyle/>
          <a:p>
            <a:fld id="{7AF016A1-9F15-429F-9EFD-84004B73C732}" type="slidenum">
              <a:rPr lang="en-US" altLang="zh-CN" smtClean="0"/>
              <a:pPr/>
              <a:t>60</a:t>
            </a:fld>
            <a:r>
              <a:rPr lang="en-US" altLang="zh-CN"/>
              <a:t>/158</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1" name="Text Box 3"/>
          <p:cNvSpPr txBox="1">
            <a:spLocks noChangeArrowheads="1"/>
          </p:cNvSpPr>
          <p:nvPr/>
        </p:nvSpPr>
        <p:spPr bwMode="auto">
          <a:xfrm>
            <a:off x="428596" y="1071546"/>
            <a:ext cx="5286412" cy="461665"/>
          </a:xfrm>
          <a:prstGeom prst="rect">
            <a:avLst/>
          </a:prstGeom>
          <a:solidFill>
            <a:srgbClr val="9900FF"/>
          </a:solidFill>
          <a:ln w="9525">
            <a:noFill/>
            <a:miter lim="800000"/>
            <a:headEnd/>
            <a:tailEnd/>
          </a:ln>
        </p:spPr>
        <p:txBody>
          <a:bodyPr wrap="square">
            <a:spAutoFit/>
          </a:bodyPr>
          <a:lstStyle/>
          <a:p>
            <a:pPr>
              <a:lnSpc>
                <a:spcPct val="100000"/>
              </a:lnSpc>
              <a:spcBef>
                <a:spcPct val="50000"/>
              </a:spcBef>
            </a:pPr>
            <a:r>
              <a:rPr lang="en-US" altLang="zh-CN">
                <a:solidFill>
                  <a:schemeClr val="bg1"/>
                </a:solidFill>
                <a:latin typeface="Consolas" pitchFamily="49" charset="0"/>
                <a:ea typeface="微软雅黑" pitchFamily="34" charset="-122"/>
                <a:cs typeface="Consolas" pitchFamily="49" charset="0"/>
              </a:rPr>
              <a:t>1</a:t>
            </a:r>
            <a:r>
              <a:rPr lang="zh-CN" altLang="en-US">
                <a:solidFill>
                  <a:schemeClr val="bg1"/>
                </a:solidFill>
                <a:latin typeface="Consolas" pitchFamily="49" charset="0"/>
                <a:ea typeface="微软雅黑" pitchFamily="34" charset="-122"/>
                <a:cs typeface="Consolas" pitchFamily="49" charset="0"/>
              </a:rPr>
              <a:t>、</a:t>
            </a:r>
            <a:r>
              <a:rPr lang="en-US" altLang="zh-CN">
                <a:solidFill>
                  <a:schemeClr val="bg1"/>
                </a:solidFill>
                <a:latin typeface="Consolas" pitchFamily="49" charset="0"/>
                <a:ea typeface="微软雅黑" pitchFamily="34" charset="-122"/>
                <a:cs typeface="Consolas" pitchFamily="49" charset="0"/>
              </a:rPr>
              <a:t>Bellman-Ford</a:t>
            </a:r>
            <a:r>
              <a:rPr lang="zh-CN" altLang="en-US">
                <a:solidFill>
                  <a:schemeClr val="bg1"/>
                </a:solidFill>
                <a:latin typeface="Consolas" pitchFamily="49" charset="0"/>
                <a:ea typeface="微软雅黑" pitchFamily="34" charset="-122"/>
                <a:cs typeface="Consolas" pitchFamily="49" charset="0"/>
              </a:rPr>
              <a:t>算法的求解思路</a:t>
            </a:r>
          </a:p>
        </p:txBody>
      </p:sp>
      <p:sp>
        <p:nvSpPr>
          <p:cNvPr id="83972" name="Text Box 4"/>
          <p:cNvSpPr txBox="1">
            <a:spLocks noChangeArrowheads="1"/>
          </p:cNvSpPr>
          <p:nvPr/>
        </p:nvSpPr>
        <p:spPr bwMode="auto">
          <a:xfrm>
            <a:off x="357158" y="1626674"/>
            <a:ext cx="8278814" cy="938719"/>
          </a:xfrm>
          <a:prstGeom prst="rect">
            <a:avLst/>
          </a:prstGeom>
          <a:noFill/>
          <a:ln w="9525">
            <a:noFill/>
            <a:miter lim="800000"/>
            <a:headEnd/>
            <a:tailEnd/>
          </a:ln>
        </p:spPr>
        <p:txBody>
          <a:bodyPr wrap="square">
            <a:spAutoFit/>
          </a:bodyPr>
          <a:lstStyle/>
          <a:p>
            <a:pPr algn="l">
              <a:lnSpc>
                <a:spcPts val="3300"/>
              </a:lnSpc>
              <a:spcBef>
                <a:spcPts val="0"/>
              </a:spcBef>
            </a:pPr>
            <a:r>
              <a:rPr lang="zh-CN" altLang="en-US">
                <a:solidFill>
                  <a:srgbClr val="0000FF"/>
                </a:solidFill>
                <a:latin typeface="Consolas" pitchFamily="49" charset="0"/>
                <a:ea typeface="仿宋" pitchFamily="49" charset="-122"/>
                <a:cs typeface="Consolas" pitchFamily="49" charset="0"/>
              </a:rPr>
              <a:t>　设源点为</a:t>
            </a:r>
            <a:r>
              <a:rPr lang="en-US" altLang="zh-CN" i="1">
                <a:solidFill>
                  <a:srgbClr val="0000FF"/>
                </a:solidFill>
                <a:latin typeface="Consolas" pitchFamily="49" charset="0"/>
                <a:ea typeface="仿宋" pitchFamily="49" charset="-122"/>
                <a:cs typeface="Consolas" pitchFamily="49" charset="0"/>
              </a:rPr>
              <a:t>s</a:t>
            </a:r>
            <a:r>
              <a:rPr lang="zh-CN" altLang="en-US">
                <a:solidFill>
                  <a:srgbClr val="0000FF"/>
                </a:solidFill>
                <a:latin typeface="Consolas" pitchFamily="49" charset="0"/>
                <a:ea typeface="仿宋" pitchFamily="49" charset="-122"/>
                <a:cs typeface="Consolas" pitchFamily="49" charset="0"/>
              </a:rPr>
              <a:t>，贝</a:t>
            </a:r>
            <a:r>
              <a:rPr lang="zh-CN" altLang="en-US" dirty="0">
                <a:solidFill>
                  <a:srgbClr val="0000FF"/>
                </a:solidFill>
                <a:latin typeface="Consolas" pitchFamily="49" charset="0"/>
                <a:ea typeface="仿宋" pitchFamily="49" charset="-122"/>
                <a:cs typeface="Consolas" pitchFamily="49" charset="0"/>
              </a:rPr>
              <a:t>尔曼</a:t>
            </a:r>
            <a:r>
              <a:rPr lang="en-US" altLang="zh-CN" dirty="0">
                <a:solidFill>
                  <a:srgbClr val="0000FF"/>
                </a:solidFill>
                <a:latin typeface="Consolas" pitchFamily="49" charset="0"/>
                <a:ea typeface="仿宋" pitchFamily="49" charset="-122"/>
                <a:cs typeface="Consolas" pitchFamily="49" charset="0"/>
              </a:rPr>
              <a:t>-</a:t>
            </a:r>
            <a:r>
              <a:rPr lang="zh-CN" altLang="en-US" dirty="0">
                <a:solidFill>
                  <a:srgbClr val="0000FF"/>
                </a:solidFill>
                <a:latin typeface="Consolas" pitchFamily="49" charset="0"/>
                <a:ea typeface="仿宋" pitchFamily="49" charset="-122"/>
                <a:cs typeface="Consolas" pitchFamily="49" charset="0"/>
              </a:rPr>
              <a:t>福特算法构造一个最短路径长度数组序</a:t>
            </a:r>
            <a:r>
              <a:rPr lang="zh-CN" altLang="en-US">
                <a:solidFill>
                  <a:srgbClr val="0000FF"/>
                </a:solidFill>
                <a:latin typeface="Consolas" pitchFamily="49" charset="0"/>
                <a:ea typeface="仿宋" pitchFamily="49" charset="-122"/>
                <a:cs typeface="Consolas" pitchFamily="49" charset="0"/>
              </a:rPr>
              <a:t>列</a:t>
            </a:r>
            <a:r>
              <a:rPr lang="en-US" altLang="zh-CN">
                <a:solidFill>
                  <a:srgbClr val="0000FF"/>
                </a:solidFill>
                <a:latin typeface="Consolas" pitchFamily="49" charset="0"/>
                <a:ea typeface="仿宋" pitchFamily="49" charset="-122"/>
                <a:cs typeface="Consolas" pitchFamily="49" charset="0"/>
              </a:rPr>
              <a:t>dist</a:t>
            </a:r>
            <a:r>
              <a:rPr lang="en-US" altLang="zh-CN" baseline="30000">
                <a:solidFill>
                  <a:srgbClr val="0000FF"/>
                </a:solidFill>
                <a:latin typeface="Consolas" pitchFamily="49" charset="0"/>
                <a:ea typeface="仿宋" pitchFamily="49" charset="-122"/>
                <a:cs typeface="Consolas" pitchFamily="49" charset="0"/>
              </a:rPr>
              <a:t>1</a:t>
            </a:r>
            <a:r>
              <a:rPr lang="en-US" altLang="zh-CN">
                <a:solidFill>
                  <a:srgbClr val="0000FF"/>
                </a:solidFill>
                <a:latin typeface="Consolas" pitchFamily="49" charset="0"/>
                <a:ea typeface="仿宋" pitchFamily="49" charset="-122"/>
                <a:cs typeface="Consolas" pitchFamily="49" charset="0"/>
              </a:rPr>
              <a:t>[</a:t>
            </a:r>
            <a:r>
              <a:rPr lang="en-US" altLang="zh-CN" i="1" dirty="0">
                <a:solidFill>
                  <a:srgbClr val="0000FF"/>
                </a:solidFill>
                <a:latin typeface="Consolas" pitchFamily="49" charset="0"/>
                <a:ea typeface="仿宋" pitchFamily="49" charset="-122"/>
                <a:cs typeface="Consolas" pitchFamily="49" charset="0"/>
              </a:rPr>
              <a:t>y</a:t>
            </a:r>
            <a:r>
              <a:rPr lang="en-US" altLang="zh-CN">
                <a:solidFill>
                  <a:srgbClr val="0000FF"/>
                </a:solidFill>
                <a:latin typeface="Consolas" pitchFamily="49" charset="0"/>
                <a:ea typeface="仿宋" pitchFamily="49" charset="-122"/>
                <a:cs typeface="Consolas" pitchFamily="49" charset="0"/>
              </a:rPr>
              <a:t>]</a:t>
            </a:r>
            <a:r>
              <a:rPr lang="zh-CN" altLang="en-US">
                <a:solidFill>
                  <a:srgbClr val="0000FF"/>
                </a:solidFill>
                <a:latin typeface="Consolas" pitchFamily="49" charset="0"/>
                <a:ea typeface="仿宋" pitchFamily="49" charset="-122"/>
                <a:cs typeface="Consolas" pitchFamily="49" charset="0"/>
              </a:rPr>
              <a:t>、</a:t>
            </a:r>
            <a:r>
              <a:rPr lang="en-US" altLang="zh-CN">
                <a:solidFill>
                  <a:srgbClr val="0000FF"/>
                </a:solidFill>
                <a:latin typeface="Consolas" pitchFamily="49" charset="0"/>
                <a:ea typeface="仿宋" pitchFamily="49" charset="-122"/>
                <a:cs typeface="Consolas" pitchFamily="49" charset="0"/>
              </a:rPr>
              <a:t>dist</a:t>
            </a:r>
            <a:r>
              <a:rPr lang="en-US" altLang="zh-CN" baseline="30000">
                <a:solidFill>
                  <a:srgbClr val="0000FF"/>
                </a:solidFill>
                <a:latin typeface="Consolas" pitchFamily="49" charset="0"/>
                <a:ea typeface="仿宋" pitchFamily="49" charset="-122"/>
                <a:cs typeface="Consolas" pitchFamily="49" charset="0"/>
              </a:rPr>
              <a:t>2</a:t>
            </a:r>
            <a:r>
              <a:rPr lang="en-US" altLang="zh-CN">
                <a:solidFill>
                  <a:srgbClr val="0000FF"/>
                </a:solidFill>
                <a:latin typeface="Consolas" pitchFamily="49" charset="0"/>
                <a:ea typeface="仿宋" pitchFamily="49" charset="-122"/>
                <a:cs typeface="Consolas" pitchFamily="49" charset="0"/>
              </a:rPr>
              <a:t>[</a:t>
            </a:r>
            <a:r>
              <a:rPr lang="en-US" altLang="zh-CN" i="1" dirty="0">
                <a:solidFill>
                  <a:srgbClr val="0000FF"/>
                </a:solidFill>
                <a:latin typeface="Consolas" pitchFamily="49" charset="0"/>
                <a:ea typeface="仿宋" pitchFamily="49" charset="-122"/>
                <a:cs typeface="Consolas" pitchFamily="49" charset="0"/>
              </a:rPr>
              <a:t>y</a:t>
            </a:r>
            <a:r>
              <a:rPr lang="en-US" altLang="zh-CN">
                <a:solidFill>
                  <a:srgbClr val="0000FF"/>
                </a:solidFill>
                <a:latin typeface="Consolas" pitchFamily="49" charset="0"/>
                <a:ea typeface="仿宋" pitchFamily="49" charset="-122"/>
                <a:cs typeface="Consolas" pitchFamily="49" charset="0"/>
              </a:rPr>
              <a:t>]</a:t>
            </a:r>
            <a:r>
              <a:rPr lang="zh-CN" altLang="en-US" dirty="0">
                <a:solidFill>
                  <a:srgbClr val="0000FF"/>
                </a:solidFill>
                <a:latin typeface="Consolas" pitchFamily="49" charset="0"/>
                <a:ea typeface="仿宋" pitchFamily="49" charset="-122"/>
                <a:cs typeface="Consolas" pitchFamily="49" charset="0"/>
              </a:rPr>
              <a:t>、</a:t>
            </a:r>
            <a:r>
              <a:rPr lang="en-US" altLang="zh-CN" dirty="0">
                <a:solidFill>
                  <a:srgbClr val="0000FF"/>
                </a:solidFill>
                <a:latin typeface="+mj-ea"/>
                <a:ea typeface="+mj-ea"/>
                <a:cs typeface="Consolas" pitchFamily="49" charset="0"/>
              </a:rPr>
              <a:t>…</a:t>
            </a:r>
            <a:r>
              <a:rPr lang="zh-CN" altLang="en-US">
                <a:solidFill>
                  <a:srgbClr val="0000FF"/>
                </a:solidFill>
                <a:latin typeface="Consolas" pitchFamily="49" charset="0"/>
                <a:ea typeface="仿宋" pitchFamily="49" charset="-122"/>
                <a:cs typeface="Consolas" pitchFamily="49" charset="0"/>
              </a:rPr>
              <a:t>、</a:t>
            </a:r>
            <a:r>
              <a:rPr lang="en-US" altLang="zh-CN">
                <a:solidFill>
                  <a:srgbClr val="0000FF"/>
                </a:solidFill>
                <a:latin typeface="Consolas" pitchFamily="49" charset="0"/>
                <a:ea typeface="仿宋" pitchFamily="49" charset="-122"/>
                <a:cs typeface="Consolas" pitchFamily="49" charset="0"/>
              </a:rPr>
              <a:t>dist</a:t>
            </a:r>
            <a:r>
              <a:rPr lang="en-US" altLang="zh-CN" i="1" baseline="30000">
                <a:solidFill>
                  <a:srgbClr val="0000FF"/>
                </a:solidFill>
                <a:latin typeface="Consolas" pitchFamily="49" charset="0"/>
                <a:ea typeface="仿宋" pitchFamily="49" charset="-122"/>
                <a:cs typeface="Consolas" pitchFamily="49" charset="0"/>
              </a:rPr>
              <a:t>n</a:t>
            </a:r>
            <a:r>
              <a:rPr lang="en-US" altLang="zh-CN" baseline="30000">
                <a:solidFill>
                  <a:srgbClr val="0000FF"/>
                </a:solidFill>
                <a:latin typeface="Consolas" pitchFamily="49" charset="0"/>
                <a:ea typeface="仿宋" pitchFamily="49" charset="-122"/>
                <a:cs typeface="Consolas" pitchFamily="49" charset="0"/>
              </a:rPr>
              <a:t>-1</a:t>
            </a:r>
            <a:r>
              <a:rPr lang="en-US" altLang="zh-CN">
                <a:solidFill>
                  <a:srgbClr val="0000FF"/>
                </a:solidFill>
                <a:latin typeface="Consolas" pitchFamily="49" charset="0"/>
                <a:ea typeface="仿宋" pitchFamily="49" charset="-122"/>
                <a:cs typeface="Consolas" pitchFamily="49" charset="0"/>
              </a:rPr>
              <a:t>[</a:t>
            </a:r>
            <a:r>
              <a:rPr lang="en-US" altLang="zh-CN" i="1" dirty="0">
                <a:solidFill>
                  <a:srgbClr val="0000FF"/>
                </a:solidFill>
                <a:latin typeface="Consolas" pitchFamily="49" charset="0"/>
                <a:ea typeface="仿宋" pitchFamily="49" charset="-122"/>
                <a:cs typeface="Consolas" pitchFamily="49" charset="0"/>
              </a:rPr>
              <a:t>y</a:t>
            </a:r>
            <a:r>
              <a:rPr lang="en-US" altLang="zh-CN">
                <a:solidFill>
                  <a:srgbClr val="0000FF"/>
                </a:solidFill>
                <a:latin typeface="Consolas" pitchFamily="49" charset="0"/>
                <a:ea typeface="仿宋" pitchFamily="49" charset="-122"/>
                <a:cs typeface="Consolas" pitchFamily="49" charset="0"/>
              </a:rPr>
              <a:t>]</a:t>
            </a:r>
            <a:r>
              <a:rPr lang="zh-CN" altLang="en-US">
                <a:solidFill>
                  <a:srgbClr val="0000FF"/>
                </a:solidFill>
                <a:latin typeface="Consolas" pitchFamily="49" charset="0"/>
                <a:ea typeface="仿宋" pitchFamily="49" charset="-122"/>
                <a:cs typeface="Consolas" pitchFamily="49" charset="0"/>
              </a:rPr>
              <a:t>。</a:t>
            </a:r>
            <a:endParaRPr lang="zh-CN" altLang="en-US" dirty="0">
              <a:solidFill>
                <a:srgbClr val="0000FF"/>
              </a:solidFill>
              <a:latin typeface="Consolas" pitchFamily="49" charset="0"/>
              <a:ea typeface="仿宋" pitchFamily="49" charset="-122"/>
              <a:cs typeface="Consolas" pitchFamily="49" charset="0"/>
            </a:endParaRPr>
          </a:p>
        </p:txBody>
      </p:sp>
      <p:sp>
        <p:nvSpPr>
          <p:cNvPr id="5" name="TextBox 4"/>
          <p:cNvSpPr txBox="1"/>
          <p:nvPr/>
        </p:nvSpPr>
        <p:spPr>
          <a:xfrm>
            <a:off x="500034" y="2689539"/>
            <a:ext cx="8429684" cy="3454105"/>
          </a:xfrm>
          <a:prstGeom prst="rect">
            <a:avLst/>
          </a:prstGeom>
          <a:ln/>
        </p:spPr>
        <p:style>
          <a:lnRef idx="2">
            <a:schemeClr val="accent6"/>
          </a:lnRef>
          <a:fillRef idx="1">
            <a:schemeClr val="lt1"/>
          </a:fillRef>
          <a:effectRef idx="0">
            <a:schemeClr val="accent6"/>
          </a:effectRef>
          <a:fontRef idx="minor">
            <a:schemeClr val="dk1"/>
          </a:fontRef>
        </p:style>
        <p:txBody>
          <a:bodyPr wrap="square" lIns="180000" tIns="180000" bIns="180000" rtlCol="0">
            <a:spAutoFit/>
          </a:bodyPr>
          <a:lstStyle/>
          <a:p>
            <a:pPr marL="457200" indent="-457200" algn="l">
              <a:lnSpc>
                <a:spcPts val="3100"/>
              </a:lnSpc>
              <a:spcBef>
                <a:spcPts val="600"/>
              </a:spcBef>
              <a:buBlip>
                <a:blip r:embed="rId2"/>
              </a:buBlip>
            </a:pPr>
            <a:r>
              <a:rPr lang="en-US" altLang="zh-CN">
                <a:solidFill>
                  <a:srgbClr val="0000FF"/>
                </a:solidFill>
                <a:latin typeface="Consolas" pitchFamily="49" charset="0"/>
                <a:ea typeface="仿宋" pitchFamily="49" charset="-122"/>
                <a:cs typeface="Consolas" pitchFamily="49" charset="0"/>
              </a:rPr>
              <a:t>dist</a:t>
            </a:r>
            <a:r>
              <a:rPr lang="en-US" altLang="zh-CN" baseline="30000">
                <a:solidFill>
                  <a:srgbClr val="0000FF"/>
                </a:solidFill>
                <a:latin typeface="Consolas" pitchFamily="49" charset="0"/>
                <a:ea typeface="仿宋" pitchFamily="49" charset="-122"/>
                <a:cs typeface="Consolas" pitchFamily="49" charset="0"/>
              </a:rPr>
              <a:t>1</a:t>
            </a:r>
            <a:r>
              <a:rPr lang="en-US"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y</a:t>
            </a:r>
            <a:r>
              <a:rPr lang="en-US" altLang="zh-CN">
                <a:solidFill>
                  <a:srgbClr val="0000FF"/>
                </a:solidFill>
                <a:latin typeface="Consolas" pitchFamily="49" charset="0"/>
                <a:ea typeface="仿宋" pitchFamily="49" charset="-122"/>
                <a:cs typeface="Consolas" pitchFamily="49" charset="0"/>
              </a:rPr>
              <a:t>]</a:t>
            </a:r>
            <a:r>
              <a:rPr lang="zh-CN" altLang="en-US">
                <a:solidFill>
                  <a:srgbClr val="0000FF"/>
                </a:solidFill>
                <a:latin typeface="Consolas" pitchFamily="49" charset="0"/>
                <a:ea typeface="仿宋" pitchFamily="49" charset="-122"/>
                <a:cs typeface="Consolas" pitchFamily="49" charset="0"/>
              </a:rPr>
              <a:t>为</a:t>
            </a:r>
            <a:r>
              <a:rPr lang="en-US" altLang="zh-CN" i="1">
                <a:solidFill>
                  <a:srgbClr val="0000FF"/>
                </a:solidFill>
                <a:latin typeface="Consolas" pitchFamily="49" charset="0"/>
                <a:ea typeface="仿宋" pitchFamily="49" charset="-122"/>
                <a:cs typeface="Consolas" pitchFamily="49" charset="0"/>
              </a:rPr>
              <a:t>s</a:t>
            </a:r>
            <a:r>
              <a:rPr lang="zh-CN" altLang="en-US">
                <a:solidFill>
                  <a:srgbClr val="0000FF"/>
                </a:solidFill>
                <a:latin typeface="Consolas" pitchFamily="49" charset="0"/>
                <a:ea typeface="仿宋" pitchFamily="49" charset="-122"/>
                <a:cs typeface="Consolas" pitchFamily="49" charset="0"/>
              </a:rPr>
              <a:t>最多经过一条边到达顶点</a:t>
            </a:r>
            <a:r>
              <a:rPr lang="en-US" altLang="zh-CN" i="1">
                <a:solidFill>
                  <a:srgbClr val="0000FF"/>
                </a:solidFill>
                <a:latin typeface="Consolas" pitchFamily="49" charset="0"/>
                <a:ea typeface="仿宋" pitchFamily="49" charset="-122"/>
                <a:cs typeface="Consolas" pitchFamily="49" charset="0"/>
              </a:rPr>
              <a:t>y</a:t>
            </a:r>
            <a:r>
              <a:rPr lang="zh-CN" altLang="en-US">
                <a:solidFill>
                  <a:srgbClr val="0000FF"/>
                </a:solidFill>
                <a:latin typeface="Consolas" pitchFamily="49" charset="0"/>
                <a:ea typeface="仿宋" pitchFamily="49" charset="-122"/>
                <a:cs typeface="Consolas" pitchFamily="49" charset="0"/>
              </a:rPr>
              <a:t>的最短路径长度。</a:t>
            </a:r>
          </a:p>
          <a:p>
            <a:pPr marL="457200" indent="-457200" algn="l">
              <a:lnSpc>
                <a:spcPts val="3100"/>
              </a:lnSpc>
              <a:spcBef>
                <a:spcPts val="600"/>
              </a:spcBef>
              <a:buBlip>
                <a:blip r:embed="rId2"/>
              </a:buBlip>
            </a:pPr>
            <a:r>
              <a:rPr lang="en-US" altLang="zh-CN">
                <a:solidFill>
                  <a:srgbClr val="0000FF"/>
                </a:solidFill>
                <a:latin typeface="Consolas" pitchFamily="49" charset="0"/>
                <a:ea typeface="仿宋" pitchFamily="49" charset="-122"/>
                <a:cs typeface="Consolas" pitchFamily="49" charset="0"/>
              </a:rPr>
              <a:t>dist</a:t>
            </a:r>
            <a:r>
              <a:rPr lang="en-US" altLang="zh-CN" baseline="30000">
                <a:solidFill>
                  <a:srgbClr val="0000FF"/>
                </a:solidFill>
                <a:latin typeface="Consolas" pitchFamily="49" charset="0"/>
                <a:ea typeface="仿宋" pitchFamily="49" charset="-122"/>
                <a:cs typeface="Consolas" pitchFamily="49" charset="0"/>
              </a:rPr>
              <a:t>2</a:t>
            </a:r>
            <a:r>
              <a:rPr lang="en-US"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y</a:t>
            </a:r>
            <a:r>
              <a:rPr lang="en-US" altLang="zh-CN">
                <a:solidFill>
                  <a:srgbClr val="0000FF"/>
                </a:solidFill>
                <a:latin typeface="Consolas" pitchFamily="49" charset="0"/>
                <a:ea typeface="仿宋" pitchFamily="49" charset="-122"/>
                <a:cs typeface="Consolas" pitchFamily="49" charset="0"/>
              </a:rPr>
              <a:t>]</a:t>
            </a:r>
            <a:r>
              <a:rPr lang="zh-CN" altLang="en-US">
                <a:solidFill>
                  <a:srgbClr val="0000FF"/>
                </a:solidFill>
                <a:latin typeface="Consolas" pitchFamily="49" charset="0"/>
                <a:ea typeface="仿宋" pitchFamily="49" charset="-122"/>
                <a:cs typeface="Consolas" pitchFamily="49" charset="0"/>
              </a:rPr>
              <a:t>为</a:t>
            </a:r>
            <a:r>
              <a:rPr lang="en-US" altLang="zh-CN" i="1">
                <a:solidFill>
                  <a:srgbClr val="0000FF"/>
                </a:solidFill>
                <a:latin typeface="Consolas" pitchFamily="49" charset="0"/>
                <a:ea typeface="仿宋" pitchFamily="49" charset="-122"/>
                <a:cs typeface="Consolas" pitchFamily="49" charset="0"/>
              </a:rPr>
              <a:t>s</a:t>
            </a:r>
            <a:r>
              <a:rPr lang="zh-CN" altLang="en-US">
                <a:solidFill>
                  <a:srgbClr val="0000FF"/>
                </a:solidFill>
                <a:latin typeface="Consolas" pitchFamily="49" charset="0"/>
                <a:ea typeface="仿宋" pitchFamily="49" charset="-122"/>
                <a:cs typeface="Consolas" pitchFamily="49" charset="0"/>
              </a:rPr>
              <a:t>最多经过两条边到达顶点</a:t>
            </a:r>
            <a:r>
              <a:rPr lang="en-US" altLang="zh-CN" i="1">
                <a:solidFill>
                  <a:srgbClr val="0000FF"/>
                </a:solidFill>
                <a:latin typeface="Consolas" pitchFamily="49" charset="0"/>
                <a:ea typeface="仿宋" pitchFamily="49" charset="-122"/>
                <a:cs typeface="Consolas" pitchFamily="49" charset="0"/>
              </a:rPr>
              <a:t>y</a:t>
            </a:r>
            <a:r>
              <a:rPr lang="zh-CN" altLang="en-US">
                <a:solidFill>
                  <a:srgbClr val="0000FF"/>
                </a:solidFill>
                <a:latin typeface="Consolas" pitchFamily="49" charset="0"/>
                <a:ea typeface="仿宋" pitchFamily="49" charset="-122"/>
                <a:cs typeface="Consolas" pitchFamily="49" charset="0"/>
              </a:rPr>
              <a:t>的最短路径长度。</a:t>
            </a:r>
          </a:p>
          <a:p>
            <a:pPr marL="457200" indent="-457200" algn="l">
              <a:lnSpc>
                <a:spcPts val="3100"/>
              </a:lnSpc>
              <a:spcBef>
                <a:spcPts val="600"/>
              </a:spcBef>
              <a:buBlip>
                <a:blip r:embed="rId2"/>
              </a:buBlip>
            </a:pPr>
            <a:r>
              <a:rPr lang="en-US" altLang="zh-CN">
                <a:solidFill>
                  <a:srgbClr val="0000FF"/>
                </a:solidFill>
                <a:latin typeface="Consolas" pitchFamily="49" charset="0"/>
                <a:ea typeface="仿宋" pitchFamily="49" charset="-122"/>
                <a:cs typeface="Consolas" pitchFamily="49" charset="0"/>
              </a:rPr>
              <a:t>dist</a:t>
            </a:r>
            <a:r>
              <a:rPr lang="en-US" altLang="zh-CN" baseline="30000">
                <a:solidFill>
                  <a:srgbClr val="0000FF"/>
                </a:solidFill>
                <a:latin typeface="Consolas" pitchFamily="49" charset="0"/>
                <a:ea typeface="仿宋" pitchFamily="49" charset="-122"/>
                <a:cs typeface="Consolas" pitchFamily="49" charset="0"/>
              </a:rPr>
              <a:t>3</a:t>
            </a:r>
            <a:r>
              <a:rPr lang="en-US"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y</a:t>
            </a:r>
            <a:r>
              <a:rPr lang="en-US" altLang="zh-CN">
                <a:solidFill>
                  <a:srgbClr val="0000FF"/>
                </a:solidFill>
                <a:latin typeface="Consolas" pitchFamily="49" charset="0"/>
                <a:ea typeface="仿宋" pitchFamily="49" charset="-122"/>
                <a:cs typeface="Consolas" pitchFamily="49" charset="0"/>
              </a:rPr>
              <a:t>]</a:t>
            </a:r>
            <a:r>
              <a:rPr lang="zh-CN" altLang="en-US">
                <a:solidFill>
                  <a:srgbClr val="0000FF"/>
                </a:solidFill>
                <a:latin typeface="Consolas" pitchFamily="49" charset="0"/>
                <a:ea typeface="仿宋" pitchFamily="49" charset="-122"/>
                <a:cs typeface="Consolas" pitchFamily="49" charset="0"/>
              </a:rPr>
              <a:t>为</a:t>
            </a:r>
            <a:r>
              <a:rPr lang="en-US" altLang="zh-CN" i="1">
                <a:solidFill>
                  <a:srgbClr val="0000FF"/>
                </a:solidFill>
                <a:latin typeface="Consolas" pitchFamily="49" charset="0"/>
                <a:ea typeface="仿宋" pitchFamily="49" charset="-122"/>
                <a:cs typeface="Consolas" pitchFamily="49" charset="0"/>
              </a:rPr>
              <a:t>s</a:t>
            </a:r>
            <a:r>
              <a:rPr lang="zh-CN" altLang="en-US">
                <a:solidFill>
                  <a:srgbClr val="0000FF"/>
                </a:solidFill>
                <a:latin typeface="Consolas" pitchFamily="49" charset="0"/>
                <a:ea typeface="仿宋" pitchFamily="49" charset="-122"/>
                <a:cs typeface="Consolas" pitchFamily="49" charset="0"/>
              </a:rPr>
              <a:t>最多经过三条边到达顶点</a:t>
            </a:r>
            <a:r>
              <a:rPr lang="en-US" altLang="zh-CN" i="1">
                <a:solidFill>
                  <a:srgbClr val="0000FF"/>
                </a:solidFill>
                <a:latin typeface="Consolas" pitchFamily="49" charset="0"/>
                <a:ea typeface="仿宋" pitchFamily="49" charset="-122"/>
                <a:cs typeface="Consolas" pitchFamily="49" charset="0"/>
              </a:rPr>
              <a:t>y</a:t>
            </a:r>
            <a:r>
              <a:rPr lang="zh-CN" altLang="en-US">
                <a:solidFill>
                  <a:srgbClr val="0000FF"/>
                </a:solidFill>
                <a:latin typeface="Consolas" pitchFamily="49" charset="0"/>
                <a:ea typeface="仿宋" pitchFamily="49" charset="-122"/>
                <a:cs typeface="Consolas" pitchFamily="49" charset="0"/>
              </a:rPr>
              <a:t>的最短路径长度，</a:t>
            </a:r>
            <a:r>
              <a:rPr lang="en-US" altLang="zh-CN">
                <a:solidFill>
                  <a:srgbClr val="0000FF"/>
                </a:solidFill>
                <a:latin typeface="+mj-ea"/>
                <a:ea typeface="+mj-ea"/>
                <a:cs typeface="Consolas" pitchFamily="49" charset="0"/>
              </a:rPr>
              <a:t>…</a:t>
            </a:r>
            <a:r>
              <a:rPr lang="zh-CN" altLang="en-US">
                <a:solidFill>
                  <a:srgbClr val="0000FF"/>
                </a:solidFill>
                <a:latin typeface="Consolas" pitchFamily="49" charset="0"/>
                <a:ea typeface="仿宋" pitchFamily="49" charset="-122"/>
                <a:cs typeface="Consolas" pitchFamily="49" charset="0"/>
              </a:rPr>
              <a:t>。</a:t>
            </a:r>
          </a:p>
          <a:p>
            <a:pPr marL="457200" indent="-457200" algn="l">
              <a:lnSpc>
                <a:spcPts val="3100"/>
              </a:lnSpc>
              <a:spcBef>
                <a:spcPts val="600"/>
              </a:spcBef>
              <a:buBlip>
                <a:blip r:embed="rId2"/>
              </a:buBlip>
            </a:pPr>
            <a:r>
              <a:rPr lang="en-US" altLang="zh-CN">
                <a:solidFill>
                  <a:srgbClr val="0000FF"/>
                </a:solidFill>
                <a:latin typeface="Consolas" pitchFamily="49" charset="0"/>
                <a:ea typeface="仿宋" pitchFamily="49" charset="-122"/>
                <a:cs typeface="Consolas" pitchFamily="49" charset="0"/>
              </a:rPr>
              <a:t>dist</a:t>
            </a:r>
            <a:r>
              <a:rPr lang="en-US" altLang="zh-CN" i="1" baseline="30000">
                <a:solidFill>
                  <a:srgbClr val="0000FF"/>
                </a:solidFill>
                <a:latin typeface="Consolas" pitchFamily="49" charset="0"/>
                <a:ea typeface="仿宋" pitchFamily="49" charset="-122"/>
                <a:cs typeface="Consolas" pitchFamily="49" charset="0"/>
              </a:rPr>
              <a:t>n</a:t>
            </a:r>
            <a:r>
              <a:rPr lang="en-US" altLang="zh-CN" baseline="30000">
                <a:solidFill>
                  <a:srgbClr val="0000FF"/>
                </a:solidFill>
                <a:latin typeface="Consolas" pitchFamily="49" charset="0"/>
                <a:ea typeface="仿宋" pitchFamily="49" charset="-122"/>
                <a:cs typeface="Consolas" pitchFamily="49" charset="0"/>
              </a:rPr>
              <a:t>-1</a:t>
            </a:r>
            <a:r>
              <a:rPr lang="en-US"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y</a:t>
            </a:r>
            <a:r>
              <a:rPr lang="en-US" altLang="zh-CN">
                <a:solidFill>
                  <a:srgbClr val="0000FF"/>
                </a:solidFill>
                <a:latin typeface="Consolas" pitchFamily="49" charset="0"/>
                <a:ea typeface="仿宋" pitchFamily="49" charset="-122"/>
                <a:cs typeface="Consolas" pitchFamily="49" charset="0"/>
              </a:rPr>
              <a:t>]</a:t>
            </a:r>
            <a:r>
              <a:rPr lang="zh-CN" altLang="en-US">
                <a:solidFill>
                  <a:srgbClr val="0000FF"/>
                </a:solidFill>
                <a:latin typeface="Consolas" pitchFamily="49" charset="0"/>
                <a:ea typeface="仿宋" pitchFamily="49" charset="-122"/>
                <a:cs typeface="Consolas" pitchFamily="49" charset="0"/>
              </a:rPr>
              <a:t>为</a:t>
            </a:r>
            <a:r>
              <a:rPr lang="en-US" altLang="zh-CN" i="1">
                <a:solidFill>
                  <a:srgbClr val="0000FF"/>
                </a:solidFill>
                <a:latin typeface="Consolas" pitchFamily="49" charset="0"/>
                <a:ea typeface="仿宋" pitchFamily="49" charset="-122"/>
                <a:cs typeface="Consolas" pitchFamily="49" charset="0"/>
              </a:rPr>
              <a:t>s</a:t>
            </a:r>
            <a:r>
              <a:rPr lang="zh-CN" altLang="en-US">
                <a:solidFill>
                  <a:srgbClr val="0000FF"/>
                </a:solidFill>
                <a:latin typeface="Consolas" pitchFamily="49" charset="0"/>
                <a:ea typeface="仿宋" pitchFamily="49" charset="-122"/>
                <a:cs typeface="Consolas" pitchFamily="49" charset="0"/>
              </a:rPr>
              <a:t>最多经过</a:t>
            </a:r>
            <a:r>
              <a:rPr lang="en-US" altLang="zh-CN" i="1">
                <a:solidFill>
                  <a:srgbClr val="0000FF"/>
                </a:solidFill>
                <a:latin typeface="Consolas" pitchFamily="49" charset="0"/>
                <a:ea typeface="仿宋" pitchFamily="49" charset="-122"/>
                <a:cs typeface="Consolas" pitchFamily="49" charset="0"/>
              </a:rPr>
              <a:t>n</a:t>
            </a:r>
            <a:r>
              <a:rPr lang="en-US" altLang="zh-CN">
                <a:solidFill>
                  <a:srgbClr val="0000FF"/>
                </a:solidFill>
                <a:latin typeface="Consolas" pitchFamily="49" charset="0"/>
                <a:ea typeface="仿宋" pitchFamily="49" charset="-122"/>
                <a:cs typeface="Consolas" pitchFamily="49" charset="0"/>
              </a:rPr>
              <a:t>-1</a:t>
            </a:r>
            <a:r>
              <a:rPr lang="zh-CN" altLang="en-US">
                <a:solidFill>
                  <a:srgbClr val="0000FF"/>
                </a:solidFill>
                <a:latin typeface="Consolas" pitchFamily="49" charset="0"/>
                <a:ea typeface="仿宋" pitchFamily="49" charset="-122"/>
                <a:cs typeface="Consolas" pitchFamily="49" charset="0"/>
              </a:rPr>
              <a:t>条边到达顶点</a:t>
            </a:r>
            <a:r>
              <a:rPr lang="en-US" altLang="zh-CN" i="1">
                <a:solidFill>
                  <a:srgbClr val="0000FF"/>
                </a:solidFill>
                <a:latin typeface="Consolas" pitchFamily="49" charset="0"/>
                <a:ea typeface="仿宋" pitchFamily="49" charset="-122"/>
                <a:cs typeface="Consolas" pitchFamily="49" charset="0"/>
              </a:rPr>
              <a:t>y</a:t>
            </a:r>
            <a:r>
              <a:rPr lang="zh-CN" altLang="en-US">
                <a:solidFill>
                  <a:srgbClr val="0000FF"/>
                </a:solidFill>
                <a:latin typeface="Consolas" pitchFamily="49" charset="0"/>
                <a:ea typeface="仿宋" pitchFamily="49" charset="-122"/>
                <a:cs typeface="Consolas" pitchFamily="49" charset="0"/>
              </a:rPr>
              <a:t>的最短路径长度。</a:t>
            </a:r>
            <a:endParaRPr lang="en-US" altLang="zh-CN">
              <a:solidFill>
                <a:srgbClr val="0000FF"/>
              </a:solidFill>
              <a:latin typeface="Consolas" pitchFamily="49" charset="0"/>
              <a:ea typeface="仿宋" pitchFamily="49" charset="-122"/>
              <a:cs typeface="Consolas" pitchFamily="49" charset="0"/>
            </a:endParaRPr>
          </a:p>
          <a:p>
            <a:pPr marL="457200" indent="-457200" algn="l">
              <a:lnSpc>
                <a:spcPts val="3100"/>
              </a:lnSpc>
              <a:spcBef>
                <a:spcPts val="600"/>
              </a:spcBef>
              <a:buBlip>
                <a:blip r:embed="rId2"/>
              </a:buBlip>
            </a:pPr>
            <a:r>
              <a:rPr lang="zh-CN" altLang="en-US">
                <a:solidFill>
                  <a:srgbClr val="0000FF"/>
                </a:solidFill>
                <a:latin typeface="Consolas" pitchFamily="49" charset="0"/>
                <a:ea typeface="仿宋" pitchFamily="49" charset="-122"/>
                <a:cs typeface="Consolas" pitchFamily="49" charset="0"/>
              </a:rPr>
              <a:t>算法的最终目的是计算出</a:t>
            </a:r>
            <a:r>
              <a:rPr lang="en-US" altLang="zh-CN">
                <a:solidFill>
                  <a:srgbClr val="0000FF"/>
                </a:solidFill>
                <a:latin typeface="Consolas" pitchFamily="49" charset="0"/>
                <a:ea typeface="仿宋" pitchFamily="49" charset="-122"/>
                <a:cs typeface="Consolas" pitchFamily="49" charset="0"/>
              </a:rPr>
              <a:t>dist</a:t>
            </a:r>
            <a:r>
              <a:rPr lang="en-US" altLang="zh-CN" i="1" baseline="30000">
                <a:solidFill>
                  <a:srgbClr val="0000FF"/>
                </a:solidFill>
                <a:latin typeface="Consolas" pitchFamily="49" charset="0"/>
                <a:ea typeface="仿宋" pitchFamily="49" charset="-122"/>
                <a:cs typeface="Consolas" pitchFamily="49" charset="0"/>
              </a:rPr>
              <a:t>n</a:t>
            </a:r>
            <a:r>
              <a:rPr lang="en-US" altLang="zh-CN" baseline="30000">
                <a:solidFill>
                  <a:srgbClr val="0000FF"/>
                </a:solidFill>
                <a:latin typeface="Consolas" pitchFamily="49" charset="0"/>
                <a:ea typeface="仿宋" pitchFamily="49" charset="-122"/>
                <a:cs typeface="Consolas" pitchFamily="49" charset="0"/>
              </a:rPr>
              <a:t>-1</a:t>
            </a:r>
            <a:r>
              <a:rPr lang="en-US"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y</a:t>
            </a:r>
            <a:r>
              <a:rPr lang="en-US" altLang="zh-CN">
                <a:solidFill>
                  <a:srgbClr val="0000FF"/>
                </a:solidFill>
                <a:latin typeface="Consolas" pitchFamily="49" charset="0"/>
                <a:ea typeface="仿宋" pitchFamily="49" charset="-122"/>
                <a:cs typeface="Consolas" pitchFamily="49" charset="0"/>
              </a:rPr>
              <a:t>]</a:t>
            </a:r>
            <a:r>
              <a:rPr lang="zh-CN" altLang="en-US">
                <a:solidFill>
                  <a:srgbClr val="0000FF"/>
                </a:solidFill>
                <a:latin typeface="Consolas" pitchFamily="49" charset="0"/>
                <a:ea typeface="仿宋" pitchFamily="49" charset="-122"/>
                <a:cs typeface="Consolas" pitchFamily="49" charset="0"/>
              </a:rPr>
              <a:t>。</a:t>
            </a:r>
          </a:p>
        </p:txBody>
      </p:sp>
      <p:sp>
        <p:nvSpPr>
          <p:cNvPr id="6" name="TextBox 5"/>
          <p:cNvSpPr txBox="1"/>
          <p:nvPr/>
        </p:nvSpPr>
        <p:spPr>
          <a:xfrm>
            <a:off x="285720" y="262574"/>
            <a:ext cx="4929222" cy="523220"/>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rPr>
              <a:t>9.2.2 </a:t>
            </a:r>
            <a:r>
              <a:rPr lang="en-US" altLang="zh-CN" sz="2800">
                <a:latin typeface="Consolas" pitchFamily="49" charset="0"/>
                <a:ea typeface="微软雅黑" pitchFamily="34" charset="-122"/>
              </a:rPr>
              <a:t>Bellman-Ford</a:t>
            </a:r>
            <a:r>
              <a:rPr lang="zh-CN" altLang="en-US"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rPr>
              <a:t>算法</a:t>
            </a:r>
            <a:endParaRPr lang="zh-CN" altLang="zh-CN"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endParaRPr>
          </a:p>
        </p:txBody>
      </p:sp>
      <p:sp>
        <p:nvSpPr>
          <p:cNvPr id="8" name="灯片编号占位符 7"/>
          <p:cNvSpPr>
            <a:spLocks noGrp="1"/>
          </p:cNvSpPr>
          <p:nvPr>
            <p:ph type="sldNum" sz="quarter" idx="12"/>
          </p:nvPr>
        </p:nvSpPr>
        <p:spPr/>
        <p:txBody>
          <a:bodyPr/>
          <a:lstStyle/>
          <a:p>
            <a:fld id="{7AF016A1-9F15-429F-9EFD-84004B73C732}" type="slidenum">
              <a:rPr lang="en-US" altLang="zh-CN" smtClean="0"/>
              <a:pPr/>
              <a:t>61</a:t>
            </a:fld>
            <a:r>
              <a:rPr lang="en-US" altLang="zh-CN"/>
              <a:t>/158</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Text Box 2"/>
          <p:cNvSpPr txBox="1">
            <a:spLocks noChangeArrowheads="1"/>
          </p:cNvSpPr>
          <p:nvPr/>
        </p:nvSpPr>
        <p:spPr bwMode="auto">
          <a:xfrm>
            <a:off x="285720" y="962553"/>
            <a:ext cx="8501122" cy="1323439"/>
          </a:xfrm>
          <a:prstGeom prst="rect">
            <a:avLst/>
          </a:prstGeom>
          <a:ln>
            <a:solidFill>
              <a:schemeClr val="accent6">
                <a:lumMod val="40000"/>
                <a:lumOff val="60000"/>
              </a:schemeClr>
            </a:solidFill>
            <a:headEnd/>
            <a:tailEnd/>
          </a:ln>
        </p:spPr>
        <p:style>
          <a:lnRef idx="2">
            <a:schemeClr val="accent6"/>
          </a:lnRef>
          <a:fillRef idx="1">
            <a:schemeClr val="lt1"/>
          </a:fillRef>
          <a:effectRef idx="0">
            <a:schemeClr val="accent6"/>
          </a:effectRef>
          <a:fontRef idx="minor">
            <a:schemeClr val="dk1"/>
          </a:fontRef>
        </p:style>
        <p:txBody>
          <a:bodyPr wrap="square">
            <a:spAutoFit/>
          </a:bodyPr>
          <a:lstStyle/>
          <a:p>
            <a:pPr algn="l">
              <a:lnSpc>
                <a:spcPts val="3200"/>
              </a:lnSpc>
              <a:spcBef>
                <a:spcPts val="0"/>
              </a:spcBef>
            </a:pPr>
            <a:r>
              <a:rPr lang="zh-CN" altLang="en-US">
                <a:solidFill>
                  <a:srgbClr val="0000FF"/>
                </a:solidFill>
                <a:latin typeface="Consolas" pitchFamily="49" charset="0"/>
                <a:ea typeface="仿宋" pitchFamily="49" charset="-122"/>
                <a:cs typeface="Consolas" pitchFamily="49" charset="0"/>
              </a:rPr>
              <a:t>　设已经求出</a:t>
            </a:r>
            <a:r>
              <a:rPr lang="en-US" altLang="zh-CN">
                <a:solidFill>
                  <a:srgbClr val="0000FF"/>
                </a:solidFill>
                <a:latin typeface="Consolas" pitchFamily="49" charset="0"/>
                <a:ea typeface="仿宋" pitchFamily="49" charset="-122"/>
                <a:cs typeface="Consolas" pitchFamily="49" charset="0"/>
              </a:rPr>
              <a:t>dist</a:t>
            </a:r>
            <a:r>
              <a:rPr lang="en-US" altLang="zh-CN" i="1" baseline="30000">
                <a:solidFill>
                  <a:srgbClr val="0000FF"/>
                </a:solidFill>
                <a:latin typeface="Consolas" pitchFamily="49" charset="0"/>
                <a:ea typeface="仿宋" pitchFamily="49" charset="-122"/>
                <a:cs typeface="Consolas" pitchFamily="49" charset="0"/>
              </a:rPr>
              <a:t>k</a:t>
            </a:r>
            <a:r>
              <a:rPr lang="en-US" altLang="zh-CN" baseline="30000">
                <a:solidFill>
                  <a:srgbClr val="0000FF"/>
                </a:solidFill>
                <a:latin typeface="Consolas" pitchFamily="49" charset="0"/>
                <a:ea typeface="仿宋" pitchFamily="49" charset="-122"/>
                <a:cs typeface="Consolas" pitchFamily="49" charset="0"/>
              </a:rPr>
              <a:t>-1</a:t>
            </a:r>
            <a:r>
              <a:rPr lang="en-US"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y</a:t>
            </a:r>
            <a:r>
              <a:rPr lang="en-US" altLang="zh-CN">
                <a:solidFill>
                  <a:srgbClr val="0000FF"/>
                </a:solidFill>
                <a:latin typeface="Consolas" pitchFamily="49" charset="0"/>
                <a:ea typeface="仿宋" pitchFamily="49" charset="-122"/>
                <a:cs typeface="Consolas" pitchFamily="49" charset="0"/>
              </a:rPr>
              <a:t>]</a:t>
            </a:r>
            <a:r>
              <a:rPr lang="zh-CN" altLang="en-US">
                <a:solidFill>
                  <a:srgbClr val="0000FF"/>
                </a:solidFill>
                <a:latin typeface="Consolas" pitchFamily="49" charset="0"/>
                <a:ea typeface="仿宋" pitchFamily="49" charset="-122"/>
                <a:cs typeface="Consolas" pitchFamily="49" charset="0"/>
              </a:rPr>
              <a:t>（</a:t>
            </a:r>
            <a:r>
              <a:rPr lang="en-US" altLang="zh-CN">
                <a:solidFill>
                  <a:srgbClr val="0000FF"/>
                </a:solidFill>
                <a:latin typeface="Consolas" pitchFamily="49" charset="0"/>
                <a:ea typeface="仿宋" pitchFamily="49" charset="-122"/>
                <a:cs typeface="Consolas" pitchFamily="49" charset="0"/>
              </a:rPr>
              <a:t>0</a:t>
            </a:r>
            <a:r>
              <a:rPr lang="en-US" altLang="zh-CN">
                <a:solidFill>
                  <a:srgbClr val="0000FF"/>
                </a:solidFill>
                <a:latin typeface="+mj-ea"/>
                <a:ea typeface="+mj-ea"/>
                <a:cs typeface="Consolas" pitchFamily="49" charset="0"/>
              </a:rPr>
              <a:t>≤</a:t>
            </a:r>
            <a:r>
              <a:rPr lang="en-US" altLang="zh-CN" i="1">
                <a:solidFill>
                  <a:srgbClr val="0000FF"/>
                </a:solidFill>
                <a:latin typeface="Consolas" pitchFamily="49" charset="0"/>
                <a:ea typeface="仿宋" pitchFamily="49" charset="-122"/>
                <a:cs typeface="Consolas" pitchFamily="49" charset="0"/>
              </a:rPr>
              <a:t>k</a:t>
            </a:r>
            <a:r>
              <a:rPr lang="en-US" altLang="zh-CN">
                <a:solidFill>
                  <a:srgbClr val="0000FF"/>
                </a:solidFill>
                <a:latin typeface="Consolas" pitchFamily="49" charset="0"/>
                <a:ea typeface="仿宋" pitchFamily="49" charset="-122"/>
                <a:cs typeface="Consolas" pitchFamily="49" charset="0"/>
              </a:rPr>
              <a:t>&lt;</a:t>
            </a:r>
            <a:r>
              <a:rPr lang="en-US" altLang="zh-CN" i="1">
                <a:solidFill>
                  <a:srgbClr val="0000FF"/>
                </a:solidFill>
                <a:latin typeface="Consolas" pitchFamily="49" charset="0"/>
                <a:ea typeface="仿宋" pitchFamily="49" charset="-122"/>
                <a:cs typeface="Consolas" pitchFamily="49" charset="0"/>
              </a:rPr>
              <a:t>n</a:t>
            </a:r>
            <a:r>
              <a:rPr lang="en-US" altLang="zh-CN">
                <a:solidFill>
                  <a:srgbClr val="0000FF"/>
                </a:solidFill>
                <a:latin typeface="Consolas" pitchFamily="49" charset="0"/>
                <a:ea typeface="仿宋" pitchFamily="49" charset="-122"/>
                <a:cs typeface="Consolas" pitchFamily="49" charset="0"/>
              </a:rPr>
              <a:t>-1</a:t>
            </a:r>
            <a:r>
              <a:rPr lang="zh-CN" altLang="en-US">
                <a:solidFill>
                  <a:srgbClr val="0000FF"/>
                </a:solidFill>
                <a:latin typeface="Consolas" pitchFamily="49" charset="0"/>
                <a:ea typeface="仿宋" pitchFamily="49" charset="-122"/>
                <a:cs typeface="Consolas" pitchFamily="49" charset="0"/>
              </a:rPr>
              <a:t>），即从源点</a:t>
            </a:r>
            <a:r>
              <a:rPr lang="en-US" altLang="zh-CN" i="1">
                <a:solidFill>
                  <a:srgbClr val="0000FF"/>
                </a:solidFill>
                <a:latin typeface="Consolas" pitchFamily="49" charset="0"/>
                <a:ea typeface="仿宋" pitchFamily="49" charset="-122"/>
                <a:cs typeface="Consolas" pitchFamily="49" charset="0"/>
              </a:rPr>
              <a:t>s</a:t>
            </a:r>
            <a:r>
              <a:rPr lang="zh-CN" altLang="en-US">
                <a:solidFill>
                  <a:srgbClr val="0000FF"/>
                </a:solidFill>
                <a:latin typeface="Consolas" pitchFamily="49" charset="0"/>
                <a:ea typeface="仿宋" pitchFamily="49" charset="-122"/>
                <a:cs typeface="Consolas" pitchFamily="49" charset="0"/>
              </a:rPr>
              <a:t>最多经过</a:t>
            </a:r>
            <a:r>
              <a:rPr lang="en-US" altLang="zh-CN" i="1">
                <a:solidFill>
                  <a:srgbClr val="0000FF"/>
                </a:solidFill>
                <a:latin typeface="Consolas" pitchFamily="49" charset="0"/>
                <a:ea typeface="仿宋" pitchFamily="49" charset="-122"/>
                <a:cs typeface="Consolas" pitchFamily="49" charset="0"/>
              </a:rPr>
              <a:t>k</a:t>
            </a:r>
            <a:r>
              <a:rPr lang="en-US" altLang="zh-CN">
                <a:solidFill>
                  <a:srgbClr val="0000FF"/>
                </a:solidFill>
                <a:latin typeface="Consolas" pitchFamily="49" charset="0"/>
                <a:ea typeface="仿宋" pitchFamily="49" charset="-122"/>
                <a:cs typeface="Consolas" pitchFamily="49" charset="0"/>
              </a:rPr>
              <a:t>-1</a:t>
            </a:r>
            <a:r>
              <a:rPr lang="zh-CN" altLang="en-US">
                <a:solidFill>
                  <a:srgbClr val="0000FF"/>
                </a:solidFill>
                <a:latin typeface="Consolas" pitchFamily="49" charset="0"/>
                <a:ea typeface="仿宋" pitchFamily="49" charset="-122"/>
                <a:cs typeface="Consolas" pitchFamily="49" charset="0"/>
              </a:rPr>
              <a:t>条边到达顶点</a:t>
            </a:r>
            <a:r>
              <a:rPr lang="en-US" altLang="zh-CN" i="1">
                <a:solidFill>
                  <a:srgbClr val="0000FF"/>
                </a:solidFill>
                <a:latin typeface="Consolas" pitchFamily="49" charset="0"/>
                <a:ea typeface="仿宋" pitchFamily="49" charset="-122"/>
                <a:cs typeface="Consolas" pitchFamily="49" charset="0"/>
              </a:rPr>
              <a:t>y</a:t>
            </a:r>
            <a:r>
              <a:rPr lang="zh-CN" altLang="en-US">
                <a:solidFill>
                  <a:srgbClr val="0000FF"/>
                </a:solidFill>
                <a:latin typeface="Consolas" pitchFamily="49" charset="0"/>
                <a:ea typeface="仿宋" pitchFamily="49" charset="-122"/>
                <a:cs typeface="Consolas" pitchFamily="49" charset="0"/>
              </a:rPr>
              <a:t>的最短路径长度，设顶点</a:t>
            </a:r>
            <a:r>
              <a:rPr lang="en-US" altLang="zh-CN" i="1">
                <a:solidFill>
                  <a:srgbClr val="0000FF"/>
                </a:solidFill>
                <a:latin typeface="Consolas" pitchFamily="49" charset="0"/>
                <a:ea typeface="仿宋" pitchFamily="49" charset="-122"/>
                <a:cs typeface="Consolas" pitchFamily="49" charset="0"/>
              </a:rPr>
              <a:t>x</a:t>
            </a:r>
            <a:r>
              <a:rPr lang="zh-CN" altLang="en-US">
                <a:solidFill>
                  <a:srgbClr val="0000FF"/>
                </a:solidFill>
                <a:latin typeface="Consolas" pitchFamily="49" charset="0"/>
                <a:ea typeface="仿宋" pitchFamily="49" charset="-122"/>
                <a:cs typeface="Consolas" pitchFamily="49" charset="0"/>
              </a:rPr>
              <a:t>到达顶点</a:t>
            </a:r>
            <a:r>
              <a:rPr lang="en-US" altLang="zh-CN" i="1">
                <a:solidFill>
                  <a:srgbClr val="0000FF"/>
                </a:solidFill>
                <a:latin typeface="Consolas" pitchFamily="49" charset="0"/>
                <a:ea typeface="仿宋" pitchFamily="49" charset="-122"/>
                <a:cs typeface="Consolas" pitchFamily="49" charset="0"/>
              </a:rPr>
              <a:t>y</a:t>
            </a:r>
            <a:r>
              <a:rPr lang="zh-CN" altLang="en-US">
                <a:solidFill>
                  <a:srgbClr val="0000FF"/>
                </a:solidFill>
                <a:latin typeface="Consolas" pitchFamily="49" charset="0"/>
                <a:ea typeface="仿宋" pitchFamily="49" charset="-122"/>
                <a:cs typeface="Consolas" pitchFamily="49" charset="0"/>
              </a:rPr>
              <a:t>的距离为</a:t>
            </a:r>
            <a:r>
              <a:rPr lang="en-US" altLang="zh-CN">
                <a:solidFill>
                  <a:srgbClr val="0000FF"/>
                </a:solidFill>
                <a:latin typeface="Consolas" pitchFamily="49" charset="0"/>
                <a:ea typeface="仿宋" pitchFamily="49" charset="-122"/>
                <a:cs typeface="Consolas" pitchFamily="49" charset="0"/>
              </a:rPr>
              <a:t>w</a:t>
            </a:r>
            <a:r>
              <a:rPr lang="zh-CN" altLang="en-US">
                <a:solidFill>
                  <a:srgbClr val="0000FF"/>
                </a:solidFill>
                <a:latin typeface="Consolas" pitchFamily="49" charset="0"/>
                <a:ea typeface="仿宋" pitchFamily="49" charset="-122"/>
                <a:cs typeface="Consolas" pitchFamily="49" charset="0"/>
              </a:rPr>
              <a:t>。</a:t>
            </a:r>
            <a:endParaRPr lang="en-US" altLang="zh-CN">
              <a:solidFill>
                <a:srgbClr val="0000FF"/>
              </a:solidFill>
              <a:latin typeface="Consolas" pitchFamily="49" charset="0"/>
              <a:ea typeface="仿宋" pitchFamily="49" charset="-122"/>
              <a:cs typeface="Consolas" pitchFamily="49" charset="0"/>
            </a:endParaRPr>
          </a:p>
        </p:txBody>
      </p:sp>
      <p:cxnSp>
        <p:nvCxnSpPr>
          <p:cNvPr id="7" name="直接箭头连接符 6"/>
          <p:cNvCxnSpPr>
            <a:stCxn id="4" idx="6"/>
            <a:endCxn id="5" idx="2"/>
          </p:cNvCxnSpPr>
          <p:nvPr/>
        </p:nvCxnSpPr>
        <p:spPr>
          <a:xfrm>
            <a:off x="4357686" y="3988362"/>
            <a:ext cx="1643074" cy="1588"/>
          </a:xfrm>
          <a:prstGeom prst="straightConnector1">
            <a:avLst/>
          </a:prstGeom>
          <a:ln>
            <a:solidFill>
              <a:srgbClr val="FF0000"/>
            </a:solidFill>
            <a:tailEnd type="arrow"/>
          </a:ln>
        </p:spPr>
        <p:style>
          <a:lnRef idx="2">
            <a:schemeClr val="dk1"/>
          </a:lnRef>
          <a:fillRef idx="0">
            <a:schemeClr val="dk1"/>
          </a:fillRef>
          <a:effectRef idx="1">
            <a:schemeClr val="dk1"/>
          </a:effectRef>
          <a:fontRef idx="minor">
            <a:schemeClr val="tx1"/>
          </a:fontRef>
        </p:style>
      </p:cxnSp>
      <p:sp>
        <p:nvSpPr>
          <p:cNvPr id="8" name="TextBox 7"/>
          <p:cNvSpPr txBox="1"/>
          <p:nvPr/>
        </p:nvSpPr>
        <p:spPr>
          <a:xfrm>
            <a:off x="4714876" y="3615134"/>
            <a:ext cx="428628" cy="338554"/>
          </a:xfrm>
          <a:prstGeom prst="rect">
            <a:avLst/>
          </a:prstGeom>
          <a:noFill/>
        </p:spPr>
        <p:txBody>
          <a:bodyPr wrap="square" rtlCol="0">
            <a:spAutoFit/>
          </a:bodyPr>
          <a:lstStyle/>
          <a:p>
            <a:r>
              <a:rPr lang="en-US" altLang="zh-CN" sz="2000">
                <a:solidFill>
                  <a:srgbClr val="0000FF"/>
                </a:solidFill>
                <a:latin typeface="Consolas" pitchFamily="49" charset="0"/>
                <a:ea typeface="楷体" pitchFamily="49" charset="-122"/>
                <a:cs typeface="Consolas" pitchFamily="49" charset="0"/>
              </a:rPr>
              <a:t>w</a:t>
            </a:r>
            <a:endParaRPr lang="zh-CN" altLang="en-US" sz="2000"/>
          </a:p>
        </p:txBody>
      </p:sp>
      <p:grpSp>
        <p:nvGrpSpPr>
          <p:cNvPr id="3" name="组合 16"/>
          <p:cNvGrpSpPr/>
          <p:nvPr/>
        </p:nvGrpSpPr>
        <p:grpSpPr>
          <a:xfrm>
            <a:off x="2000232" y="2808047"/>
            <a:ext cx="4429156" cy="1565685"/>
            <a:chOff x="2000232" y="2248685"/>
            <a:chExt cx="4429156" cy="1565685"/>
          </a:xfrm>
        </p:grpSpPr>
        <p:sp>
          <p:nvSpPr>
            <p:cNvPr id="4" name="椭圆 3"/>
            <p:cNvSpPr/>
            <p:nvPr/>
          </p:nvSpPr>
          <p:spPr>
            <a:xfrm>
              <a:off x="4000496" y="3214686"/>
              <a:ext cx="357190" cy="428628"/>
            </a:xfrm>
            <a:prstGeom prst="ellipse">
              <a:avLst/>
            </a:prstGeom>
            <a:ln>
              <a:tailEnd type="arrow"/>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1800" b="0" i="1">
                  <a:solidFill>
                    <a:srgbClr val="0000FF"/>
                  </a:solidFill>
                  <a:latin typeface="Consolas" pitchFamily="49" charset="0"/>
                  <a:cs typeface="Consolas" pitchFamily="49" charset="0"/>
                </a:rPr>
                <a:t>x</a:t>
              </a:r>
              <a:endParaRPr lang="zh-CN" altLang="en-US" sz="1800" b="0" i="1">
                <a:solidFill>
                  <a:srgbClr val="0000FF"/>
                </a:solidFill>
                <a:latin typeface="Consolas" pitchFamily="49" charset="0"/>
                <a:cs typeface="Consolas" pitchFamily="49" charset="0"/>
              </a:endParaRPr>
            </a:p>
          </p:txBody>
        </p:sp>
        <p:sp>
          <p:nvSpPr>
            <p:cNvPr id="5" name="椭圆 4"/>
            <p:cNvSpPr/>
            <p:nvPr/>
          </p:nvSpPr>
          <p:spPr>
            <a:xfrm>
              <a:off x="6000760" y="3214686"/>
              <a:ext cx="357190" cy="428628"/>
            </a:xfrm>
            <a:prstGeom prst="ellipse">
              <a:avLst/>
            </a:prstGeom>
            <a:ln>
              <a:tailEnd type="arrow"/>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1800" b="0" i="1">
                  <a:solidFill>
                    <a:srgbClr val="0000FF"/>
                  </a:solidFill>
                  <a:latin typeface="Consolas" pitchFamily="49" charset="0"/>
                  <a:cs typeface="Consolas" pitchFamily="49" charset="0"/>
                </a:rPr>
                <a:t>y</a:t>
              </a:r>
              <a:endParaRPr lang="zh-CN" altLang="en-US" sz="1800" b="0" i="1">
                <a:solidFill>
                  <a:srgbClr val="0000FF"/>
                </a:solidFill>
                <a:latin typeface="Consolas" pitchFamily="49" charset="0"/>
                <a:cs typeface="Consolas" pitchFamily="49" charset="0"/>
              </a:endParaRPr>
            </a:p>
          </p:txBody>
        </p:sp>
        <p:sp>
          <p:nvSpPr>
            <p:cNvPr id="9" name="TextBox 8"/>
            <p:cNvSpPr txBox="1"/>
            <p:nvPr/>
          </p:nvSpPr>
          <p:spPr>
            <a:xfrm>
              <a:off x="2357422" y="3500438"/>
              <a:ext cx="1214446" cy="313932"/>
            </a:xfrm>
            <a:prstGeom prst="rect">
              <a:avLst/>
            </a:prstGeom>
            <a:noFill/>
          </p:spPr>
          <p:txBody>
            <a:bodyPr wrap="square" rtlCol="0">
              <a:spAutoFit/>
            </a:bodyPr>
            <a:lstStyle/>
            <a:p>
              <a:r>
                <a:rPr lang="en-US" altLang="zh-CN" sz="1800">
                  <a:solidFill>
                    <a:srgbClr val="0000FF"/>
                  </a:solidFill>
                  <a:latin typeface="Consolas" pitchFamily="49" charset="0"/>
                  <a:ea typeface="楷体" pitchFamily="49" charset="-122"/>
                  <a:cs typeface="Consolas" pitchFamily="49" charset="0"/>
                </a:rPr>
                <a:t>dist</a:t>
              </a:r>
              <a:r>
                <a:rPr lang="en-US" altLang="zh-CN" sz="1800" i="1" baseline="30000">
                  <a:solidFill>
                    <a:srgbClr val="0000FF"/>
                  </a:solidFill>
                  <a:latin typeface="Consolas" pitchFamily="49" charset="0"/>
                  <a:ea typeface="楷体" pitchFamily="49" charset="-122"/>
                  <a:cs typeface="Consolas" pitchFamily="49" charset="0"/>
                </a:rPr>
                <a:t>k</a:t>
              </a:r>
              <a:r>
                <a:rPr lang="en-US" altLang="zh-CN" sz="1800" baseline="30000">
                  <a:solidFill>
                    <a:srgbClr val="0000FF"/>
                  </a:solidFill>
                  <a:latin typeface="Consolas" pitchFamily="49" charset="0"/>
                  <a:ea typeface="楷体" pitchFamily="49" charset="-122"/>
                  <a:cs typeface="Consolas" pitchFamily="49" charset="0"/>
                </a:rPr>
                <a:t>-1</a:t>
              </a:r>
              <a:r>
                <a:rPr lang="en-US" altLang="zh-CN" sz="1800">
                  <a:solidFill>
                    <a:srgbClr val="0000FF"/>
                  </a:solidFill>
                  <a:latin typeface="Consolas" pitchFamily="49" charset="0"/>
                  <a:ea typeface="楷体" pitchFamily="49" charset="-122"/>
                  <a:cs typeface="Consolas" pitchFamily="49" charset="0"/>
                </a:rPr>
                <a:t>[</a:t>
              </a:r>
              <a:r>
                <a:rPr lang="en-US" altLang="zh-CN" sz="1800" i="1">
                  <a:solidFill>
                    <a:srgbClr val="0000FF"/>
                  </a:solidFill>
                  <a:latin typeface="Consolas" pitchFamily="49" charset="0"/>
                  <a:ea typeface="楷体" pitchFamily="49" charset="-122"/>
                  <a:cs typeface="Consolas" pitchFamily="49" charset="0"/>
                </a:rPr>
                <a:t>x</a:t>
              </a:r>
              <a:r>
                <a:rPr lang="en-US" altLang="zh-CN" sz="1800">
                  <a:solidFill>
                    <a:srgbClr val="0000FF"/>
                  </a:solidFill>
                  <a:latin typeface="Consolas" pitchFamily="49" charset="0"/>
                  <a:ea typeface="楷体" pitchFamily="49" charset="-122"/>
                  <a:cs typeface="Consolas" pitchFamily="49" charset="0"/>
                </a:rPr>
                <a:t>]</a:t>
              </a:r>
              <a:endParaRPr lang="zh-CN" altLang="en-US" sz="1800"/>
            </a:p>
          </p:txBody>
        </p:sp>
        <p:cxnSp>
          <p:nvCxnSpPr>
            <p:cNvPr id="11" name="直接箭头连接符 10"/>
            <p:cNvCxnSpPr>
              <a:stCxn id="13" idx="6"/>
              <a:endCxn id="4" idx="2"/>
            </p:cNvCxnSpPr>
            <p:nvPr/>
          </p:nvCxnSpPr>
          <p:spPr>
            <a:xfrm>
              <a:off x="2357422" y="3429000"/>
              <a:ext cx="1643074" cy="1588"/>
            </a:xfrm>
            <a:prstGeom prst="straightConnector1">
              <a:avLst/>
            </a:prstGeom>
            <a:ln>
              <a:prstDash val="dash"/>
              <a:tailEnd type="arrow"/>
            </a:ln>
          </p:spPr>
          <p:style>
            <a:lnRef idx="2">
              <a:schemeClr val="dk1"/>
            </a:lnRef>
            <a:fillRef idx="0">
              <a:schemeClr val="dk1"/>
            </a:fillRef>
            <a:effectRef idx="1">
              <a:schemeClr val="dk1"/>
            </a:effectRef>
            <a:fontRef idx="minor">
              <a:schemeClr val="tx1"/>
            </a:fontRef>
          </p:style>
        </p:cxnSp>
        <p:sp>
          <p:nvSpPr>
            <p:cNvPr id="12" name="任意多边形 11"/>
            <p:cNvSpPr/>
            <p:nvPr/>
          </p:nvSpPr>
          <p:spPr>
            <a:xfrm>
              <a:off x="2143108" y="2248685"/>
              <a:ext cx="3957663" cy="1004101"/>
            </a:xfrm>
            <a:custGeom>
              <a:avLst/>
              <a:gdLst>
                <a:gd name="connsiteX0" fmla="*/ 0 w 3171825"/>
                <a:gd name="connsiteY0" fmla="*/ 53975 h 1082675"/>
                <a:gd name="connsiteX1" fmla="*/ 390525 w 3171825"/>
                <a:gd name="connsiteY1" fmla="*/ 25400 h 1082675"/>
                <a:gd name="connsiteX2" fmla="*/ 1219200 w 3171825"/>
                <a:gd name="connsiteY2" fmla="*/ 206375 h 1082675"/>
                <a:gd name="connsiteX3" fmla="*/ 2190750 w 3171825"/>
                <a:gd name="connsiteY3" fmla="*/ 482600 h 1082675"/>
                <a:gd name="connsiteX4" fmla="*/ 3171825 w 3171825"/>
                <a:gd name="connsiteY4" fmla="*/ 1082675 h 1082675"/>
                <a:gd name="connsiteX0" fmla="*/ 0 w 3957663"/>
                <a:gd name="connsiteY0" fmla="*/ 1158875 h 1196975"/>
                <a:gd name="connsiteX1" fmla="*/ 1176363 w 3957663"/>
                <a:gd name="connsiteY1" fmla="*/ 139700 h 1196975"/>
                <a:gd name="connsiteX2" fmla="*/ 2005038 w 3957663"/>
                <a:gd name="connsiteY2" fmla="*/ 320675 h 1196975"/>
                <a:gd name="connsiteX3" fmla="*/ 2976588 w 3957663"/>
                <a:gd name="connsiteY3" fmla="*/ 596900 h 1196975"/>
                <a:gd name="connsiteX4" fmla="*/ 3957663 w 3957663"/>
                <a:gd name="connsiteY4" fmla="*/ 1196975 h 1196975"/>
                <a:gd name="connsiteX0" fmla="*/ 0 w 3957663"/>
                <a:gd name="connsiteY0" fmla="*/ 1173957 h 1212057"/>
                <a:gd name="connsiteX1" fmla="*/ 1176363 w 3957663"/>
                <a:gd name="connsiteY1" fmla="*/ 154782 h 1212057"/>
                <a:gd name="connsiteX2" fmla="*/ 2071702 w 3957663"/>
                <a:gd name="connsiteY2" fmla="*/ 245263 h 1212057"/>
                <a:gd name="connsiteX3" fmla="*/ 2976588 w 3957663"/>
                <a:gd name="connsiteY3" fmla="*/ 611982 h 1212057"/>
                <a:gd name="connsiteX4" fmla="*/ 3957663 w 3957663"/>
                <a:gd name="connsiteY4" fmla="*/ 1212057 h 1212057"/>
                <a:gd name="connsiteX0" fmla="*/ 0 w 3957663"/>
                <a:gd name="connsiteY0" fmla="*/ 966001 h 1004101"/>
                <a:gd name="connsiteX1" fmla="*/ 1143008 w 3957663"/>
                <a:gd name="connsiteY1" fmla="*/ 180183 h 1004101"/>
                <a:gd name="connsiteX2" fmla="*/ 2071702 w 3957663"/>
                <a:gd name="connsiteY2" fmla="*/ 37307 h 1004101"/>
                <a:gd name="connsiteX3" fmla="*/ 2976588 w 3957663"/>
                <a:gd name="connsiteY3" fmla="*/ 404026 h 1004101"/>
                <a:gd name="connsiteX4" fmla="*/ 3957663 w 3957663"/>
                <a:gd name="connsiteY4" fmla="*/ 1004101 h 10041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57663" h="1004101">
                  <a:moveTo>
                    <a:pt x="0" y="966001"/>
                  </a:moveTo>
                  <a:cubicBezTo>
                    <a:pt x="93662" y="939013"/>
                    <a:pt x="797724" y="334965"/>
                    <a:pt x="1143008" y="180183"/>
                  </a:cubicBezTo>
                  <a:cubicBezTo>
                    <a:pt x="1488292" y="25401"/>
                    <a:pt x="1766105" y="0"/>
                    <a:pt x="2071702" y="37307"/>
                  </a:cubicBezTo>
                  <a:cubicBezTo>
                    <a:pt x="2377299" y="74614"/>
                    <a:pt x="2662261" y="242894"/>
                    <a:pt x="2976588" y="404026"/>
                  </a:cubicBezTo>
                  <a:cubicBezTo>
                    <a:pt x="3290915" y="565158"/>
                    <a:pt x="3629844" y="777088"/>
                    <a:pt x="3957663" y="1004101"/>
                  </a:cubicBezTo>
                </a:path>
              </a:pathLst>
            </a:custGeom>
            <a:ln>
              <a:prstDash val="dash"/>
              <a:tailEnd type="arrow"/>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sz="1800"/>
            </a:p>
          </p:txBody>
        </p:sp>
        <p:sp>
          <p:nvSpPr>
            <p:cNvPr id="13" name="椭圆 12"/>
            <p:cNvSpPr/>
            <p:nvPr/>
          </p:nvSpPr>
          <p:spPr>
            <a:xfrm>
              <a:off x="2000232" y="3214686"/>
              <a:ext cx="357190" cy="428628"/>
            </a:xfrm>
            <a:prstGeom prst="ellipse">
              <a:avLst/>
            </a:prstGeom>
            <a:ln>
              <a:tailEnd type="arrow"/>
            </a:ln>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sz="1800" b="0" i="1">
                  <a:solidFill>
                    <a:srgbClr val="0000FF"/>
                  </a:solidFill>
                  <a:latin typeface="Consolas" pitchFamily="49" charset="0"/>
                  <a:cs typeface="Consolas" pitchFamily="49" charset="0"/>
                </a:rPr>
                <a:t>s</a:t>
              </a:r>
              <a:endParaRPr lang="zh-CN" altLang="en-US" sz="1800" b="0" i="1">
                <a:solidFill>
                  <a:srgbClr val="0000FF"/>
                </a:solidFill>
                <a:latin typeface="Consolas" pitchFamily="49" charset="0"/>
                <a:cs typeface="Consolas" pitchFamily="49" charset="0"/>
              </a:endParaRPr>
            </a:p>
          </p:txBody>
        </p:sp>
        <p:sp>
          <p:nvSpPr>
            <p:cNvPr id="15" name="TextBox 14"/>
            <p:cNvSpPr txBox="1"/>
            <p:nvPr/>
          </p:nvSpPr>
          <p:spPr>
            <a:xfrm>
              <a:off x="5214942" y="2376066"/>
              <a:ext cx="1214446" cy="313932"/>
            </a:xfrm>
            <a:prstGeom prst="rect">
              <a:avLst/>
            </a:prstGeom>
            <a:noFill/>
          </p:spPr>
          <p:txBody>
            <a:bodyPr wrap="square" rtlCol="0">
              <a:spAutoFit/>
            </a:bodyPr>
            <a:lstStyle/>
            <a:p>
              <a:r>
                <a:rPr lang="en-US" altLang="zh-CN" sz="1800">
                  <a:solidFill>
                    <a:srgbClr val="0000FF"/>
                  </a:solidFill>
                  <a:latin typeface="Consolas" pitchFamily="49" charset="0"/>
                  <a:ea typeface="楷体" pitchFamily="49" charset="-122"/>
                  <a:cs typeface="Consolas" pitchFamily="49" charset="0"/>
                </a:rPr>
                <a:t>dist</a:t>
              </a:r>
              <a:r>
                <a:rPr lang="en-US" altLang="zh-CN" sz="1800" i="1" baseline="30000">
                  <a:solidFill>
                    <a:srgbClr val="0000FF"/>
                  </a:solidFill>
                  <a:latin typeface="Consolas" pitchFamily="49" charset="0"/>
                  <a:ea typeface="楷体" pitchFamily="49" charset="-122"/>
                  <a:cs typeface="Consolas" pitchFamily="49" charset="0"/>
                </a:rPr>
                <a:t>k</a:t>
              </a:r>
              <a:r>
                <a:rPr lang="en-US" altLang="zh-CN" sz="1800" baseline="30000">
                  <a:solidFill>
                    <a:srgbClr val="0000FF"/>
                  </a:solidFill>
                  <a:latin typeface="Consolas" pitchFamily="49" charset="0"/>
                  <a:ea typeface="楷体" pitchFamily="49" charset="-122"/>
                  <a:cs typeface="Consolas" pitchFamily="49" charset="0"/>
                </a:rPr>
                <a:t>-1</a:t>
              </a:r>
              <a:r>
                <a:rPr lang="en-US" altLang="zh-CN" sz="1800">
                  <a:solidFill>
                    <a:srgbClr val="0000FF"/>
                  </a:solidFill>
                  <a:latin typeface="Consolas" pitchFamily="49" charset="0"/>
                  <a:ea typeface="楷体" pitchFamily="49" charset="-122"/>
                  <a:cs typeface="Consolas" pitchFamily="49" charset="0"/>
                </a:rPr>
                <a:t>[</a:t>
              </a:r>
              <a:r>
                <a:rPr lang="en-US" altLang="zh-CN" sz="1800" i="1">
                  <a:solidFill>
                    <a:srgbClr val="0000FF"/>
                  </a:solidFill>
                  <a:latin typeface="Consolas" pitchFamily="49" charset="0"/>
                  <a:ea typeface="楷体" pitchFamily="49" charset="-122"/>
                  <a:cs typeface="Consolas" pitchFamily="49" charset="0"/>
                </a:rPr>
                <a:t>y</a:t>
              </a:r>
              <a:r>
                <a:rPr lang="en-US" altLang="zh-CN" sz="1800">
                  <a:solidFill>
                    <a:srgbClr val="0000FF"/>
                  </a:solidFill>
                  <a:latin typeface="Consolas" pitchFamily="49" charset="0"/>
                  <a:ea typeface="楷体" pitchFamily="49" charset="-122"/>
                  <a:cs typeface="Consolas" pitchFamily="49" charset="0"/>
                </a:rPr>
                <a:t>]</a:t>
              </a:r>
              <a:endParaRPr lang="zh-CN" altLang="en-US" sz="1800"/>
            </a:p>
          </p:txBody>
        </p:sp>
      </p:grpSp>
      <p:sp>
        <p:nvSpPr>
          <p:cNvPr id="16" name="TextBox 15"/>
          <p:cNvSpPr txBox="1"/>
          <p:nvPr/>
        </p:nvSpPr>
        <p:spPr>
          <a:xfrm>
            <a:off x="1428728" y="4702742"/>
            <a:ext cx="6072230" cy="363176"/>
          </a:xfrm>
          <a:prstGeom prst="rect">
            <a:avLst/>
          </a:prstGeom>
          <a:noFill/>
        </p:spPr>
        <p:txBody>
          <a:bodyPr wrap="square" rtlCol="0">
            <a:spAutoFit/>
          </a:bodyPr>
          <a:lstStyle/>
          <a:p>
            <a:r>
              <a:rPr lang="en-US" altLang="zh-CN" sz="2200">
                <a:solidFill>
                  <a:srgbClr val="0000FF"/>
                </a:solidFill>
                <a:latin typeface="Consolas" pitchFamily="49" charset="0"/>
                <a:ea typeface="楷体" pitchFamily="49" charset="-122"/>
                <a:cs typeface="Consolas" pitchFamily="49" charset="0"/>
              </a:rPr>
              <a:t>dist</a:t>
            </a:r>
            <a:r>
              <a:rPr lang="en-US" altLang="zh-CN" sz="2200" i="1" baseline="30000">
                <a:solidFill>
                  <a:srgbClr val="0000FF"/>
                </a:solidFill>
                <a:latin typeface="Consolas" pitchFamily="49" charset="0"/>
                <a:ea typeface="楷体" pitchFamily="49" charset="-122"/>
                <a:cs typeface="Consolas" pitchFamily="49" charset="0"/>
              </a:rPr>
              <a:t>k</a:t>
            </a:r>
            <a:r>
              <a:rPr lang="en-US" altLang="zh-CN" sz="2200">
                <a:solidFill>
                  <a:srgbClr val="0000FF"/>
                </a:solidFill>
                <a:latin typeface="Consolas" pitchFamily="49" charset="0"/>
                <a:ea typeface="楷体" pitchFamily="49" charset="-122"/>
                <a:cs typeface="Consolas" pitchFamily="49" charset="0"/>
              </a:rPr>
              <a:t>[</a:t>
            </a:r>
            <a:r>
              <a:rPr lang="en-US" altLang="zh-CN" sz="2200" i="1">
                <a:solidFill>
                  <a:srgbClr val="0000FF"/>
                </a:solidFill>
                <a:latin typeface="Consolas" pitchFamily="49" charset="0"/>
                <a:ea typeface="楷体" pitchFamily="49" charset="-122"/>
                <a:cs typeface="Consolas" pitchFamily="49" charset="0"/>
              </a:rPr>
              <a:t>y</a:t>
            </a:r>
            <a:r>
              <a:rPr lang="en-US" altLang="zh-CN" sz="2200">
                <a:solidFill>
                  <a:srgbClr val="0000FF"/>
                </a:solidFill>
                <a:latin typeface="Consolas" pitchFamily="49" charset="0"/>
                <a:ea typeface="楷体" pitchFamily="49" charset="-122"/>
                <a:cs typeface="Consolas" pitchFamily="49" charset="0"/>
              </a:rPr>
              <a:t>]=MIN{dist</a:t>
            </a:r>
            <a:r>
              <a:rPr lang="en-US" altLang="zh-CN" sz="2200" i="1" baseline="30000">
                <a:solidFill>
                  <a:srgbClr val="0000FF"/>
                </a:solidFill>
                <a:latin typeface="Consolas" pitchFamily="49" charset="0"/>
                <a:ea typeface="楷体" pitchFamily="49" charset="-122"/>
                <a:cs typeface="Consolas" pitchFamily="49" charset="0"/>
              </a:rPr>
              <a:t>k</a:t>
            </a:r>
            <a:r>
              <a:rPr lang="en-US" altLang="zh-CN" sz="2200" baseline="30000">
                <a:solidFill>
                  <a:srgbClr val="0000FF"/>
                </a:solidFill>
                <a:latin typeface="Consolas" pitchFamily="49" charset="0"/>
                <a:ea typeface="楷体" pitchFamily="49" charset="-122"/>
                <a:cs typeface="Consolas" pitchFamily="49" charset="0"/>
              </a:rPr>
              <a:t>-1</a:t>
            </a:r>
            <a:r>
              <a:rPr lang="en-US" altLang="zh-CN" sz="2200">
                <a:solidFill>
                  <a:srgbClr val="0000FF"/>
                </a:solidFill>
                <a:latin typeface="Consolas" pitchFamily="49" charset="0"/>
                <a:ea typeface="楷体" pitchFamily="49" charset="-122"/>
                <a:cs typeface="Consolas" pitchFamily="49" charset="0"/>
              </a:rPr>
              <a:t>[</a:t>
            </a:r>
            <a:r>
              <a:rPr lang="en-US" altLang="zh-CN" sz="2200" i="1">
                <a:solidFill>
                  <a:srgbClr val="0000FF"/>
                </a:solidFill>
                <a:latin typeface="Consolas" pitchFamily="49" charset="0"/>
                <a:ea typeface="楷体" pitchFamily="49" charset="-122"/>
                <a:cs typeface="Consolas" pitchFamily="49" charset="0"/>
              </a:rPr>
              <a:t>y</a:t>
            </a:r>
            <a:r>
              <a:rPr lang="en-US" altLang="zh-CN" sz="2200">
                <a:solidFill>
                  <a:srgbClr val="0000FF"/>
                </a:solidFill>
                <a:latin typeface="Consolas" pitchFamily="49" charset="0"/>
                <a:ea typeface="楷体" pitchFamily="49" charset="-122"/>
                <a:cs typeface="Consolas" pitchFamily="49" charset="0"/>
              </a:rPr>
              <a:t>]</a:t>
            </a:r>
            <a:r>
              <a:rPr lang="zh-CN" altLang="en-US" sz="2200">
                <a:solidFill>
                  <a:srgbClr val="0000FF"/>
                </a:solidFill>
                <a:latin typeface="Consolas" pitchFamily="49" charset="0"/>
                <a:ea typeface="楷体" pitchFamily="49" charset="-122"/>
                <a:cs typeface="Consolas" pitchFamily="49" charset="0"/>
              </a:rPr>
              <a:t>，</a:t>
            </a:r>
            <a:r>
              <a:rPr lang="en-US" altLang="zh-CN" sz="2200">
                <a:solidFill>
                  <a:srgbClr val="0000FF"/>
                </a:solidFill>
                <a:latin typeface="Consolas" pitchFamily="49" charset="0"/>
                <a:ea typeface="楷体" pitchFamily="49" charset="-122"/>
                <a:cs typeface="Consolas" pitchFamily="49" charset="0"/>
              </a:rPr>
              <a:t>dist</a:t>
            </a:r>
            <a:r>
              <a:rPr lang="en-US" altLang="zh-CN" sz="2200" i="1" baseline="30000">
                <a:solidFill>
                  <a:srgbClr val="0000FF"/>
                </a:solidFill>
                <a:latin typeface="Consolas" pitchFamily="49" charset="0"/>
                <a:ea typeface="楷体" pitchFamily="49" charset="-122"/>
                <a:cs typeface="Consolas" pitchFamily="49" charset="0"/>
              </a:rPr>
              <a:t>k</a:t>
            </a:r>
            <a:r>
              <a:rPr lang="en-US" altLang="zh-CN" sz="2200" baseline="30000">
                <a:solidFill>
                  <a:srgbClr val="0000FF"/>
                </a:solidFill>
                <a:latin typeface="Consolas" pitchFamily="49" charset="0"/>
                <a:ea typeface="楷体" pitchFamily="49" charset="-122"/>
                <a:cs typeface="Consolas" pitchFamily="49" charset="0"/>
              </a:rPr>
              <a:t>-1</a:t>
            </a:r>
            <a:r>
              <a:rPr lang="en-US" altLang="zh-CN" sz="2200">
                <a:solidFill>
                  <a:srgbClr val="0000FF"/>
                </a:solidFill>
                <a:latin typeface="Consolas" pitchFamily="49" charset="0"/>
                <a:ea typeface="楷体" pitchFamily="49" charset="-122"/>
                <a:cs typeface="Consolas" pitchFamily="49" charset="0"/>
              </a:rPr>
              <a:t>[</a:t>
            </a:r>
            <a:r>
              <a:rPr lang="en-US" altLang="zh-CN" sz="2200" i="1">
                <a:solidFill>
                  <a:srgbClr val="0000FF"/>
                </a:solidFill>
                <a:latin typeface="Consolas" pitchFamily="49" charset="0"/>
                <a:ea typeface="楷体" pitchFamily="49" charset="-122"/>
                <a:cs typeface="Consolas" pitchFamily="49" charset="0"/>
              </a:rPr>
              <a:t>x</a:t>
            </a:r>
            <a:r>
              <a:rPr lang="en-US" altLang="zh-CN" sz="2200">
                <a:solidFill>
                  <a:srgbClr val="0000FF"/>
                </a:solidFill>
                <a:latin typeface="Consolas" pitchFamily="49" charset="0"/>
                <a:ea typeface="楷体" pitchFamily="49" charset="-122"/>
                <a:cs typeface="Consolas" pitchFamily="49" charset="0"/>
              </a:rPr>
              <a:t>]+w}</a:t>
            </a:r>
            <a:endParaRPr lang="zh-CN" altLang="en-US" sz="2200">
              <a:solidFill>
                <a:srgbClr val="0000FF"/>
              </a:solidFill>
              <a:latin typeface="Consolas" pitchFamily="49" charset="0"/>
              <a:ea typeface="楷体" pitchFamily="49" charset="-122"/>
              <a:cs typeface="Consolas" pitchFamily="49" charset="0"/>
            </a:endParaRPr>
          </a:p>
        </p:txBody>
      </p:sp>
      <p:sp>
        <p:nvSpPr>
          <p:cNvPr id="19" name="TextBox 18"/>
          <p:cNvSpPr txBox="1"/>
          <p:nvPr/>
        </p:nvSpPr>
        <p:spPr>
          <a:xfrm>
            <a:off x="4429124" y="4119096"/>
            <a:ext cx="1000132" cy="369332"/>
          </a:xfrm>
          <a:prstGeom prst="rect">
            <a:avLst/>
          </a:prstGeom>
          <a:noFill/>
        </p:spPr>
        <p:txBody>
          <a:bodyPr wrap="square" rtlCol="0">
            <a:spAutoFit/>
          </a:bodyPr>
          <a:lstStyle/>
          <a:p>
            <a:r>
              <a:rPr lang="zh-CN" altLang="en-US" sz="1800">
                <a:solidFill>
                  <a:srgbClr val="FF0000"/>
                </a:solidFill>
                <a:latin typeface="华文中宋" pitchFamily="2" charset="-122"/>
                <a:ea typeface="华文中宋" pitchFamily="2" charset="-122"/>
              </a:rPr>
              <a:t>边松驰</a:t>
            </a:r>
          </a:p>
        </p:txBody>
      </p:sp>
      <p:sp>
        <p:nvSpPr>
          <p:cNvPr id="18" name="灯片编号占位符 17"/>
          <p:cNvSpPr>
            <a:spLocks noGrp="1"/>
          </p:cNvSpPr>
          <p:nvPr>
            <p:ph type="sldNum" sz="quarter" idx="12"/>
          </p:nvPr>
        </p:nvSpPr>
        <p:spPr/>
        <p:txBody>
          <a:bodyPr/>
          <a:lstStyle/>
          <a:p>
            <a:fld id="{7AF016A1-9F15-429F-9EFD-84004B73C732}" type="slidenum">
              <a:rPr lang="en-US" altLang="zh-CN" smtClean="0"/>
              <a:pPr/>
              <a:t>62</a:t>
            </a:fld>
            <a:r>
              <a:rPr lang="en-US" altLang="zh-CN"/>
              <a:t>/158</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par>
                          <p:cTn id="15" fill="hold">
                            <p:stCondLst>
                              <p:cond delay="0"/>
                            </p:stCondLst>
                            <p:childTnLst>
                              <p:par>
                                <p:cTn id="16" presetID="26" presetClass="emph" presetSubtype="0" fill="hold" grpId="1" nodeType="afterEffect">
                                  <p:stCondLst>
                                    <p:cond delay="0"/>
                                  </p:stCondLst>
                                  <p:childTnLst>
                                    <p:animEffect transition="out" filter="fade">
                                      <p:cBhvr>
                                        <p:cTn id="17" dur="500" tmFilter="0, 0; .2, .5; .8, .5; 1, 0"/>
                                        <p:tgtEl>
                                          <p:spTgt spid="19"/>
                                        </p:tgtEl>
                                      </p:cBhvr>
                                    </p:animEffect>
                                    <p:animScale>
                                      <p:cBhvr>
                                        <p:cTn id="18" dur="250" autoRev="1" fill="hold"/>
                                        <p:tgtEl>
                                          <p:spTgt spid="19"/>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9" grpId="0"/>
      <p:bldP spid="19" grpId="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Text Box 2"/>
          <p:cNvSpPr txBox="1">
            <a:spLocks noChangeArrowheads="1"/>
          </p:cNvSpPr>
          <p:nvPr/>
        </p:nvSpPr>
        <p:spPr bwMode="auto">
          <a:xfrm>
            <a:off x="642910" y="1643050"/>
            <a:ext cx="2357454" cy="461665"/>
          </a:xfrm>
          <a:prstGeom prst="rect">
            <a:avLst/>
          </a:prstGeom>
          <a:solidFill>
            <a:schemeClr val="bg1"/>
          </a:solidFill>
          <a:ln w="9525">
            <a:noFill/>
            <a:miter lim="800000"/>
            <a:headEnd/>
            <a:tailEnd/>
          </a:ln>
        </p:spPr>
        <p:txBody>
          <a:bodyPr wrap="square">
            <a:spAutoFit/>
          </a:bodyPr>
          <a:lstStyle/>
          <a:p>
            <a:pPr algn="l">
              <a:lnSpc>
                <a:spcPct val="100000"/>
              </a:lnSpc>
              <a:spcBef>
                <a:spcPts val="0"/>
              </a:spcBef>
            </a:pPr>
            <a:r>
              <a:rPr lang="zh-CN" altLang="en-US">
                <a:solidFill>
                  <a:srgbClr val="0000FF"/>
                </a:solidFill>
                <a:latin typeface="Consolas" pitchFamily="49" charset="0"/>
                <a:ea typeface="楷体" pitchFamily="49" charset="-122"/>
                <a:cs typeface="Consolas" pitchFamily="49" charset="0"/>
              </a:rPr>
              <a:t>递推关系式：</a:t>
            </a:r>
          </a:p>
        </p:txBody>
      </p:sp>
      <p:sp>
        <p:nvSpPr>
          <p:cNvPr id="84995" name="Text Box 3"/>
          <p:cNvSpPr txBox="1">
            <a:spLocks noChangeArrowheads="1"/>
          </p:cNvSpPr>
          <p:nvPr/>
        </p:nvSpPr>
        <p:spPr bwMode="auto">
          <a:xfrm>
            <a:off x="571472" y="2428868"/>
            <a:ext cx="7675588" cy="1046198"/>
          </a:xfrm>
          <a:prstGeom prst="rect">
            <a:avLst/>
          </a:prstGeom>
          <a:ln>
            <a:solidFill>
              <a:schemeClr val="accent6">
                <a:lumMod val="20000"/>
                <a:lumOff val="80000"/>
              </a:schemeClr>
            </a:solidFill>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wrap="square" lIns="216000" tIns="216000" bIns="180000">
            <a:spAutoFit/>
          </a:bodyPr>
          <a:lstStyle/>
          <a:p>
            <a:pPr algn="l"/>
            <a:r>
              <a:rPr lang="en-US" altLang="zh-CN" sz="2000">
                <a:solidFill>
                  <a:srgbClr val="0000FF"/>
                </a:solidFill>
                <a:latin typeface="Consolas" pitchFamily="49" charset="0"/>
                <a:ea typeface="仿宋" pitchFamily="49" charset="-122"/>
              </a:rPr>
              <a:t>dist</a:t>
            </a:r>
            <a:r>
              <a:rPr lang="en-US" altLang="zh-CN" sz="2000" baseline="30000">
                <a:solidFill>
                  <a:srgbClr val="0000FF"/>
                </a:solidFill>
                <a:latin typeface="Consolas" pitchFamily="49" charset="0"/>
                <a:ea typeface="仿宋" pitchFamily="49" charset="-122"/>
              </a:rPr>
              <a:t>0</a:t>
            </a:r>
            <a:r>
              <a:rPr lang="en-US" altLang="zh-CN" sz="2000">
                <a:solidFill>
                  <a:srgbClr val="0000FF"/>
                </a:solidFill>
                <a:latin typeface="Consolas" pitchFamily="49" charset="0"/>
                <a:ea typeface="仿宋" pitchFamily="49" charset="-122"/>
              </a:rPr>
              <a:t>[</a:t>
            </a:r>
            <a:r>
              <a:rPr lang="en-US" altLang="zh-CN" sz="2000" i="1">
                <a:solidFill>
                  <a:srgbClr val="0000FF"/>
                </a:solidFill>
                <a:latin typeface="Consolas" pitchFamily="49" charset="0"/>
                <a:ea typeface="仿宋" pitchFamily="49" charset="-122"/>
              </a:rPr>
              <a:t>v</a:t>
            </a:r>
            <a:r>
              <a:rPr lang="en-US" altLang="zh-CN" sz="2000">
                <a:solidFill>
                  <a:srgbClr val="0000FF"/>
                </a:solidFill>
                <a:latin typeface="Consolas" pitchFamily="49" charset="0"/>
                <a:ea typeface="仿宋" pitchFamily="49" charset="-122"/>
              </a:rPr>
              <a:t>]=0</a:t>
            </a:r>
            <a:r>
              <a:rPr lang="zh-CN" altLang="zh-CN" sz="2000">
                <a:solidFill>
                  <a:srgbClr val="0000FF"/>
                </a:solidFill>
                <a:latin typeface="Consolas" pitchFamily="49" charset="0"/>
                <a:ea typeface="仿宋" pitchFamily="49" charset="-122"/>
              </a:rPr>
              <a:t>，</a:t>
            </a:r>
            <a:r>
              <a:rPr lang="en-US" altLang="zh-CN" sz="2000">
                <a:solidFill>
                  <a:srgbClr val="0000FF"/>
                </a:solidFill>
                <a:latin typeface="Consolas" pitchFamily="49" charset="0"/>
                <a:ea typeface="仿宋" pitchFamily="49" charset="-122"/>
              </a:rPr>
              <a:t>dist</a:t>
            </a:r>
            <a:r>
              <a:rPr lang="en-US" altLang="zh-CN" sz="2000" baseline="30000">
                <a:solidFill>
                  <a:srgbClr val="0000FF"/>
                </a:solidFill>
                <a:latin typeface="Consolas" pitchFamily="49" charset="0"/>
                <a:ea typeface="仿宋" pitchFamily="49" charset="-122"/>
              </a:rPr>
              <a:t>0</a:t>
            </a:r>
            <a:r>
              <a:rPr lang="en-US" altLang="zh-CN" sz="2000">
                <a:solidFill>
                  <a:srgbClr val="0000FF"/>
                </a:solidFill>
                <a:latin typeface="Consolas" pitchFamily="49" charset="0"/>
                <a:ea typeface="仿宋" pitchFamily="49" charset="-122"/>
              </a:rPr>
              <a:t>[</a:t>
            </a:r>
            <a:r>
              <a:rPr lang="en-US" altLang="zh-CN" sz="2000" i="1">
                <a:solidFill>
                  <a:srgbClr val="0000FF"/>
                </a:solidFill>
                <a:latin typeface="Consolas" pitchFamily="49" charset="0"/>
                <a:ea typeface="仿宋" pitchFamily="49" charset="-122"/>
              </a:rPr>
              <a:t>y</a:t>
            </a:r>
            <a:r>
              <a:rPr lang="en-US" altLang="zh-CN" sz="2000">
                <a:solidFill>
                  <a:srgbClr val="0000FF"/>
                </a:solidFill>
                <a:latin typeface="Consolas" pitchFamily="49" charset="0"/>
                <a:ea typeface="仿宋" pitchFamily="49" charset="-122"/>
              </a:rPr>
              <a:t>]=</a:t>
            </a:r>
            <a:r>
              <a:rPr lang="zh-CN" altLang="zh-CN" sz="2000">
                <a:solidFill>
                  <a:srgbClr val="0000FF"/>
                </a:solidFill>
                <a:latin typeface="Consolas" pitchFamily="49" charset="0"/>
                <a:ea typeface="仿宋" pitchFamily="49" charset="-122"/>
              </a:rPr>
              <a:t>∞（</a:t>
            </a:r>
            <a:r>
              <a:rPr lang="en-US" altLang="zh-CN" sz="2000" i="1">
                <a:solidFill>
                  <a:srgbClr val="0000FF"/>
                </a:solidFill>
                <a:latin typeface="Consolas" pitchFamily="49" charset="0"/>
                <a:ea typeface="仿宋" pitchFamily="49" charset="-122"/>
              </a:rPr>
              <a:t>y</a:t>
            </a:r>
            <a:r>
              <a:rPr lang="zh-CN" altLang="zh-CN" sz="2000">
                <a:solidFill>
                  <a:srgbClr val="0000FF"/>
                </a:solidFill>
                <a:latin typeface="Consolas" pitchFamily="49" charset="0"/>
                <a:ea typeface="仿宋" pitchFamily="49" charset="-122"/>
              </a:rPr>
              <a:t>≠</a:t>
            </a:r>
            <a:r>
              <a:rPr lang="en-US" altLang="zh-CN" sz="2000" i="1">
                <a:solidFill>
                  <a:srgbClr val="0000FF"/>
                </a:solidFill>
                <a:latin typeface="Consolas" pitchFamily="49" charset="0"/>
                <a:ea typeface="仿宋" pitchFamily="49" charset="-122"/>
              </a:rPr>
              <a:t>v</a:t>
            </a:r>
            <a:r>
              <a:rPr lang="zh-CN" altLang="zh-CN" sz="2000">
                <a:solidFill>
                  <a:srgbClr val="0000FF"/>
                </a:solidFill>
                <a:latin typeface="Consolas" pitchFamily="49" charset="0"/>
                <a:ea typeface="仿宋" pitchFamily="49" charset="-122"/>
              </a:rPr>
              <a:t>）</a:t>
            </a:r>
          </a:p>
          <a:p>
            <a:pPr algn="l"/>
            <a:r>
              <a:rPr lang="en-US" altLang="zh-CN" sz="2000">
                <a:solidFill>
                  <a:srgbClr val="0000FF"/>
                </a:solidFill>
                <a:latin typeface="Consolas" pitchFamily="49" charset="0"/>
                <a:ea typeface="仿宋" pitchFamily="49" charset="-122"/>
              </a:rPr>
              <a:t>dist</a:t>
            </a:r>
            <a:r>
              <a:rPr lang="en-US" altLang="zh-CN" sz="2000" i="1" baseline="30000">
                <a:solidFill>
                  <a:srgbClr val="0000FF"/>
                </a:solidFill>
                <a:latin typeface="Consolas" pitchFamily="49" charset="0"/>
                <a:ea typeface="仿宋" pitchFamily="49" charset="-122"/>
              </a:rPr>
              <a:t>k</a:t>
            </a:r>
            <a:r>
              <a:rPr lang="en-US" altLang="zh-CN" sz="2000">
                <a:solidFill>
                  <a:srgbClr val="0000FF"/>
                </a:solidFill>
                <a:latin typeface="Consolas" pitchFamily="49" charset="0"/>
                <a:ea typeface="仿宋" pitchFamily="49" charset="-122"/>
              </a:rPr>
              <a:t>[</a:t>
            </a:r>
            <a:r>
              <a:rPr lang="en-US" altLang="zh-CN" sz="2000" i="1">
                <a:solidFill>
                  <a:srgbClr val="0000FF"/>
                </a:solidFill>
                <a:latin typeface="Consolas" pitchFamily="49" charset="0"/>
                <a:ea typeface="仿宋" pitchFamily="49" charset="-122"/>
              </a:rPr>
              <a:t>y</a:t>
            </a:r>
            <a:r>
              <a:rPr lang="en-US" altLang="zh-CN" sz="2000">
                <a:solidFill>
                  <a:srgbClr val="0000FF"/>
                </a:solidFill>
                <a:latin typeface="Consolas" pitchFamily="49" charset="0"/>
                <a:ea typeface="仿宋" pitchFamily="49" charset="-122"/>
              </a:rPr>
              <a:t>]=min</a:t>
            </a:r>
            <a:r>
              <a:rPr lang="zh-CN" altLang="zh-CN" baseline="-25000">
                <a:solidFill>
                  <a:srgbClr val="0000FF"/>
                </a:solidFill>
                <a:latin typeface="Consolas" pitchFamily="49" charset="0"/>
                <a:ea typeface="仿宋" pitchFamily="49" charset="-122"/>
              </a:rPr>
              <a:t>存在权为</a:t>
            </a:r>
            <a:r>
              <a:rPr lang="en-US" altLang="zh-CN" i="1" baseline="-25000">
                <a:solidFill>
                  <a:srgbClr val="0000FF"/>
                </a:solidFill>
                <a:latin typeface="Consolas" pitchFamily="49" charset="0"/>
                <a:ea typeface="仿宋" pitchFamily="49" charset="-122"/>
              </a:rPr>
              <a:t>w</a:t>
            </a:r>
            <a:r>
              <a:rPr lang="zh-CN" altLang="zh-CN" baseline="-25000">
                <a:solidFill>
                  <a:srgbClr val="0000FF"/>
                </a:solidFill>
                <a:latin typeface="Consolas" pitchFamily="49" charset="0"/>
                <a:ea typeface="仿宋" pitchFamily="49" charset="-122"/>
              </a:rPr>
              <a:t>的边</a:t>
            </a:r>
            <a:r>
              <a:rPr lang="en-US" altLang="zh-CN" baseline="-25000">
                <a:solidFill>
                  <a:srgbClr val="0000FF"/>
                </a:solidFill>
                <a:latin typeface="Consolas" pitchFamily="49" charset="0"/>
                <a:ea typeface="仿宋" pitchFamily="49" charset="-122"/>
              </a:rPr>
              <a:t>&lt;</a:t>
            </a:r>
            <a:r>
              <a:rPr lang="en-US" altLang="zh-CN" i="1" baseline="-25000">
                <a:solidFill>
                  <a:srgbClr val="0000FF"/>
                </a:solidFill>
                <a:latin typeface="Consolas" pitchFamily="49" charset="0"/>
                <a:ea typeface="仿宋" pitchFamily="49" charset="-122"/>
              </a:rPr>
              <a:t>x</a:t>
            </a:r>
            <a:r>
              <a:rPr lang="en-US" altLang="zh-CN" baseline="-25000">
                <a:solidFill>
                  <a:srgbClr val="0000FF"/>
                </a:solidFill>
                <a:latin typeface="Consolas" pitchFamily="49" charset="0"/>
                <a:ea typeface="仿宋" pitchFamily="49" charset="-122"/>
              </a:rPr>
              <a:t>,</a:t>
            </a:r>
            <a:r>
              <a:rPr lang="en-US" altLang="zh-CN" i="1" baseline="-25000">
                <a:solidFill>
                  <a:srgbClr val="0000FF"/>
                </a:solidFill>
                <a:latin typeface="Consolas" pitchFamily="49" charset="0"/>
                <a:ea typeface="仿宋" pitchFamily="49" charset="-122"/>
              </a:rPr>
              <a:t>y</a:t>
            </a:r>
            <a:r>
              <a:rPr lang="en-US" altLang="zh-CN" baseline="-25000">
                <a:solidFill>
                  <a:srgbClr val="0000FF"/>
                </a:solidFill>
                <a:latin typeface="Consolas" pitchFamily="49" charset="0"/>
                <a:ea typeface="仿宋" pitchFamily="49" charset="-122"/>
              </a:rPr>
              <a:t>&gt;</a:t>
            </a:r>
            <a:r>
              <a:rPr lang="en-US" altLang="zh-CN" sz="2000">
                <a:solidFill>
                  <a:srgbClr val="0000FF"/>
                </a:solidFill>
                <a:latin typeface="Consolas" pitchFamily="49" charset="0"/>
                <a:ea typeface="仿宋" pitchFamily="49" charset="-122"/>
              </a:rPr>
              <a:t>{dist</a:t>
            </a:r>
            <a:r>
              <a:rPr lang="en-US" altLang="zh-CN" sz="2000" i="1" baseline="30000">
                <a:solidFill>
                  <a:srgbClr val="0000FF"/>
                </a:solidFill>
                <a:latin typeface="Consolas" pitchFamily="49" charset="0"/>
                <a:ea typeface="仿宋" pitchFamily="49" charset="-122"/>
              </a:rPr>
              <a:t>k</a:t>
            </a:r>
            <a:r>
              <a:rPr lang="en-US" altLang="zh-CN" sz="2000">
                <a:solidFill>
                  <a:srgbClr val="0000FF"/>
                </a:solidFill>
                <a:latin typeface="Consolas" pitchFamily="49" charset="0"/>
                <a:ea typeface="仿宋" pitchFamily="49" charset="-122"/>
              </a:rPr>
              <a:t>[</a:t>
            </a:r>
            <a:r>
              <a:rPr lang="en-US" altLang="zh-CN" sz="2000" i="1">
                <a:solidFill>
                  <a:srgbClr val="0000FF"/>
                </a:solidFill>
                <a:latin typeface="Consolas" pitchFamily="49" charset="0"/>
                <a:ea typeface="仿宋" pitchFamily="49" charset="-122"/>
              </a:rPr>
              <a:t>y</a:t>
            </a:r>
            <a:r>
              <a:rPr lang="en-US" altLang="zh-CN" sz="2000">
                <a:solidFill>
                  <a:srgbClr val="0000FF"/>
                </a:solidFill>
                <a:latin typeface="Consolas" pitchFamily="49" charset="0"/>
                <a:ea typeface="仿宋" pitchFamily="49" charset="-122"/>
              </a:rPr>
              <a:t>]</a:t>
            </a:r>
            <a:r>
              <a:rPr lang="zh-CN" altLang="zh-CN" sz="2000">
                <a:solidFill>
                  <a:srgbClr val="0000FF"/>
                </a:solidFill>
                <a:latin typeface="Consolas" pitchFamily="49" charset="0"/>
                <a:ea typeface="仿宋" pitchFamily="49" charset="-122"/>
              </a:rPr>
              <a:t>，</a:t>
            </a:r>
            <a:r>
              <a:rPr lang="en-US" altLang="zh-CN" sz="2000">
                <a:solidFill>
                  <a:srgbClr val="0000FF"/>
                </a:solidFill>
                <a:latin typeface="Consolas" pitchFamily="49" charset="0"/>
                <a:ea typeface="仿宋" pitchFamily="49" charset="-122"/>
              </a:rPr>
              <a:t>dist</a:t>
            </a:r>
            <a:r>
              <a:rPr lang="en-US" altLang="zh-CN" sz="2000" i="1" baseline="30000">
                <a:solidFill>
                  <a:srgbClr val="0000FF"/>
                </a:solidFill>
                <a:latin typeface="Consolas" pitchFamily="49" charset="0"/>
                <a:ea typeface="仿宋" pitchFamily="49" charset="-122"/>
              </a:rPr>
              <a:t>k</a:t>
            </a:r>
            <a:r>
              <a:rPr lang="en-US" altLang="zh-CN" sz="2000" baseline="30000">
                <a:solidFill>
                  <a:srgbClr val="0000FF"/>
                </a:solidFill>
                <a:latin typeface="Consolas" pitchFamily="49" charset="0"/>
                <a:ea typeface="仿宋" pitchFamily="49" charset="-122"/>
              </a:rPr>
              <a:t>-1</a:t>
            </a:r>
            <a:r>
              <a:rPr lang="en-US" altLang="zh-CN" sz="2000">
                <a:solidFill>
                  <a:srgbClr val="0000FF"/>
                </a:solidFill>
                <a:latin typeface="Consolas" pitchFamily="49" charset="0"/>
                <a:ea typeface="仿宋" pitchFamily="49" charset="-122"/>
              </a:rPr>
              <a:t>[</a:t>
            </a:r>
            <a:r>
              <a:rPr lang="en-US" altLang="zh-CN" sz="2000" i="1">
                <a:solidFill>
                  <a:srgbClr val="0000FF"/>
                </a:solidFill>
                <a:latin typeface="Consolas" pitchFamily="49" charset="0"/>
                <a:ea typeface="仿宋" pitchFamily="49" charset="-122"/>
              </a:rPr>
              <a:t>x</a:t>
            </a:r>
            <a:r>
              <a:rPr lang="en-US" altLang="zh-CN" sz="2000">
                <a:solidFill>
                  <a:srgbClr val="0000FF"/>
                </a:solidFill>
                <a:latin typeface="Consolas" pitchFamily="49" charset="0"/>
                <a:ea typeface="仿宋" pitchFamily="49" charset="-122"/>
              </a:rPr>
              <a:t>]+</a:t>
            </a:r>
            <a:r>
              <a:rPr lang="en-US" altLang="zh-CN" sz="2000" i="1">
                <a:solidFill>
                  <a:srgbClr val="0000FF"/>
                </a:solidFill>
                <a:latin typeface="Consolas" pitchFamily="49" charset="0"/>
                <a:ea typeface="仿宋" pitchFamily="49" charset="-122"/>
              </a:rPr>
              <a:t>w</a:t>
            </a: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63</a:t>
            </a:fld>
            <a:r>
              <a:rPr lang="en-US" altLang="zh-CN"/>
              <a:t>/158</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ChangeArrowheads="1"/>
          </p:cNvSpPr>
          <p:nvPr/>
        </p:nvSpPr>
        <p:spPr bwMode="auto">
          <a:xfrm>
            <a:off x="0" y="2895600"/>
            <a:ext cx="184731" cy="461665"/>
          </a:xfrm>
          <a:prstGeom prst="rect">
            <a:avLst/>
          </a:prstGeom>
          <a:noFill/>
          <a:ln w="9525">
            <a:noFill/>
            <a:miter lim="800000"/>
            <a:headEnd/>
            <a:tailEnd/>
          </a:ln>
        </p:spPr>
        <p:txBody>
          <a:bodyPr wrap="none" anchor="ctr">
            <a:spAutoFit/>
          </a:bodyPr>
          <a:lstStyle/>
          <a:p>
            <a:endParaRPr lang="zh-CN" altLang="en-US">
              <a:latin typeface="Consolas" pitchFamily="49" charset="0"/>
              <a:cs typeface="Consolas" pitchFamily="49" charset="0"/>
            </a:endParaRPr>
          </a:p>
        </p:txBody>
      </p:sp>
      <p:sp>
        <p:nvSpPr>
          <p:cNvPr id="18436" name="Text Box 4"/>
          <p:cNvSpPr txBox="1">
            <a:spLocks noChangeArrowheads="1"/>
          </p:cNvSpPr>
          <p:nvPr/>
        </p:nvSpPr>
        <p:spPr bwMode="auto">
          <a:xfrm>
            <a:off x="428596" y="2571744"/>
            <a:ext cx="3240088" cy="400110"/>
          </a:xfrm>
          <a:prstGeom prst="rect">
            <a:avLst/>
          </a:prstGeom>
          <a:noFill/>
          <a:ln w="9525">
            <a:noFill/>
            <a:miter lim="800000"/>
            <a:headEnd/>
            <a:tailEnd/>
          </a:ln>
        </p:spPr>
        <p:txBody>
          <a:bodyPr>
            <a:spAutoFit/>
          </a:bodyPr>
          <a:lstStyle/>
          <a:p>
            <a:pPr algn="l">
              <a:lnSpc>
                <a:spcPct val="100000"/>
              </a:lnSpc>
              <a:spcBef>
                <a:spcPct val="50000"/>
              </a:spcBef>
            </a:pPr>
            <a:r>
              <a:rPr lang="en-US" altLang="zh-CN" sz="2000">
                <a:solidFill>
                  <a:srgbClr val="0000FF"/>
                </a:solidFill>
                <a:latin typeface="Consolas" pitchFamily="49" charset="0"/>
                <a:ea typeface="楷体" pitchFamily="49" charset="-122"/>
                <a:cs typeface="Consolas" pitchFamily="49" charset="0"/>
              </a:rPr>
              <a:t>dist</a:t>
            </a:r>
            <a:r>
              <a:rPr lang="zh-CN" altLang="en-US" sz="2000">
                <a:solidFill>
                  <a:srgbClr val="0000FF"/>
                </a:solidFill>
                <a:latin typeface="Consolas" pitchFamily="49" charset="0"/>
                <a:ea typeface="楷体" pitchFamily="49" charset="-122"/>
                <a:cs typeface="Consolas" pitchFamily="49" charset="0"/>
              </a:rPr>
              <a:t>数组的变化过程 </a:t>
            </a:r>
          </a:p>
        </p:txBody>
      </p:sp>
      <p:sp>
        <p:nvSpPr>
          <p:cNvPr id="18437" name="Text Box 5"/>
          <p:cNvSpPr txBox="1">
            <a:spLocks noChangeArrowheads="1"/>
          </p:cNvSpPr>
          <p:nvPr/>
        </p:nvSpPr>
        <p:spPr bwMode="auto">
          <a:xfrm>
            <a:off x="4143372" y="1214422"/>
            <a:ext cx="4357718" cy="387798"/>
          </a:xfrm>
          <a:prstGeom prst="rect">
            <a:avLst/>
          </a:prstGeom>
          <a:noFill/>
          <a:ln w="9525">
            <a:noFill/>
            <a:miter lim="800000"/>
            <a:headEnd/>
            <a:tailEnd/>
          </a:ln>
        </p:spPr>
        <p:txBody>
          <a:bodyPr wrap="square">
            <a:spAutoFit/>
          </a:bodyPr>
          <a:lstStyle/>
          <a:p>
            <a:pPr algn="l">
              <a:spcBef>
                <a:spcPct val="50000"/>
              </a:spcBef>
            </a:pPr>
            <a:r>
              <a:rPr lang="zh-CN" altLang="en-US">
                <a:solidFill>
                  <a:srgbClr val="0000FF"/>
                </a:solidFill>
                <a:latin typeface="Consolas" pitchFamily="49" charset="0"/>
                <a:ea typeface="仿宋" pitchFamily="49" charset="-122"/>
                <a:cs typeface="Consolas" pitchFamily="49" charset="0"/>
              </a:rPr>
              <a:t>求顶点</a:t>
            </a:r>
            <a:r>
              <a:rPr lang="en-US" altLang="zh-CN">
                <a:solidFill>
                  <a:srgbClr val="0000FF"/>
                </a:solidFill>
                <a:latin typeface="Consolas" pitchFamily="49" charset="0"/>
                <a:ea typeface="仿宋" pitchFamily="49" charset="-122"/>
                <a:cs typeface="Consolas" pitchFamily="49" charset="0"/>
              </a:rPr>
              <a:t>0</a:t>
            </a:r>
            <a:r>
              <a:rPr lang="zh-CN" altLang="en-US">
                <a:solidFill>
                  <a:srgbClr val="0000FF"/>
                </a:solidFill>
                <a:latin typeface="Consolas" pitchFamily="49" charset="0"/>
                <a:ea typeface="仿宋" pitchFamily="49" charset="-122"/>
                <a:cs typeface="Consolas" pitchFamily="49" charset="0"/>
              </a:rPr>
              <a:t>到其他顶点的最短路径 </a:t>
            </a:r>
          </a:p>
        </p:txBody>
      </p:sp>
      <p:sp>
        <p:nvSpPr>
          <p:cNvPr id="18466" name="Rectangle 3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8464" name="Text Box 32"/>
          <p:cNvSpPr txBox="1">
            <a:spLocks noChangeArrowheads="1"/>
          </p:cNvSpPr>
          <p:nvPr/>
        </p:nvSpPr>
        <p:spPr bwMode="auto">
          <a:xfrm>
            <a:off x="1432328" y="1209616"/>
            <a:ext cx="286081" cy="26088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2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8463" name="Freeform 31"/>
          <p:cNvSpPr>
            <a:spLocks/>
          </p:cNvSpPr>
          <p:nvPr/>
        </p:nvSpPr>
        <p:spPr bwMode="auto">
          <a:xfrm>
            <a:off x="3074432" y="1578058"/>
            <a:ext cx="506935" cy="557239"/>
          </a:xfrm>
          <a:custGeom>
            <a:avLst/>
            <a:gdLst/>
            <a:ahLst/>
            <a:cxnLst>
              <a:cxn ang="0">
                <a:pos x="0" y="488"/>
              </a:cxn>
              <a:cxn ang="0">
                <a:pos x="443" y="0"/>
              </a:cxn>
            </a:cxnLst>
            <a:rect l="0" t="0" r="r" b="b"/>
            <a:pathLst>
              <a:path w="443" h="488">
                <a:moveTo>
                  <a:pt x="0" y="488"/>
                </a:moveTo>
                <a:lnTo>
                  <a:pt x="443" y="0"/>
                </a:lnTo>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pPr>
              <a:lnSpc>
                <a:spcPts val="2200"/>
              </a:lnSpc>
            </a:pPr>
            <a:endParaRPr lang="zh-CN" altLang="en-US" sz="2000">
              <a:solidFill>
                <a:srgbClr val="0000FF"/>
              </a:solidFill>
              <a:latin typeface="Consolas" pitchFamily="49" charset="0"/>
            </a:endParaRPr>
          </a:p>
        </p:txBody>
      </p:sp>
      <p:sp>
        <p:nvSpPr>
          <p:cNvPr id="18462" name="Line 30"/>
          <p:cNvSpPr>
            <a:spLocks noChangeShapeType="1"/>
          </p:cNvSpPr>
          <p:nvPr/>
        </p:nvSpPr>
        <p:spPr bwMode="auto">
          <a:xfrm flipV="1">
            <a:off x="1048980" y="701579"/>
            <a:ext cx="492059" cy="580124"/>
          </a:xfrm>
          <a:prstGeom prst="line">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pPr>
              <a:lnSpc>
                <a:spcPts val="2200"/>
              </a:lnSpc>
            </a:pPr>
            <a:endParaRPr lang="zh-CN" altLang="en-US" sz="2000">
              <a:solidFill>
                <a:srgbClr val="0000FF"/>
              </a:solidFill>
              <a:latin typeface="Consolas" pitchFamily="49" charset="0"/>
            </a:endParaRPr>
          </a:p>
        </p:txBody>
      </p:sp>
      <p:sp>
        <p:nvSpPr>
          <p:cNvPr id="18461" name="Freeform 29"/>
          <p:cNvSpPr>
            <a:spLocks/>
          </p:cNvSpPr>
          <p:nvPr/>
        </p:nvSpPr>
        <p:spPr bwMode="auto">
          <a:xfrm>
            <a:off x="2355797" y="1570048"/>
            <a:ext cx="439420" cy="512614"/>
          </a:xfrm>
          <a:custGeom>
            <a:avLst/>
            <a:gdLst/>
            <a:ahLst/>
            <a:cxnLst>
              <a:cxn ang="0">
                <a:pos x="0" y="0"/>
              </a:cxn>
              <a:cxn ang="0">
                <a:pos x="383" y="449"/>
              </a:cxn>
            </a:cxnLst>
            <a:rect l="0" t="0" r="r" b="b"/>
            <a:pathLst>
              <a:path w="383" h="449">
                <a:moveTo>
                  <a:pt x="0" y="0"/>
                </a:moveTo>
                <a:lnTo>
                  <a:pt x="383" y="449"/>
                </a:lnTo>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pPr>
              <a:lnSpc>
                <a:spcPts val="2200"/>
              </a:lnSpc>
            </a:pPr>
            <a:endParaRPr lang="zh-CN" altLang="en-US" sz="2000">
              <a:solidFill>
                <a:srgbClr val="0000FF"/>
              </a:solidFill>
              <a:latin typeface="Consolas" pitchFamily="49" charset="0"/>
            </a:endParaRPr>
          </a:p>
        </p:txBody>
      </p:sp>
      <p:sp>
        <p:nvSpPr>
          <p:cNvPr id="18460" name="Line 28"/>
          <p:cNvSpPr>
            <a:spLocks noChangeShapeType="1"/>
          </p:cNvSpPr>
          <p:nvPr/>
        </p:nvSpPr>
        <p:spPr bwMode="auto">
          <a:xfrm flipV="1">
            <a:off x="1673781" y="2205095"/>
            <a:ext cx="1068798" cy="0"/>
          </a:xfrm>
          <a:prstGeom prst="line">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pPr>
              <a:lnSpc>
                <a:spcPts val="2200"/>
              </a:lnSpc>
            </a:pPr>
            <a:endParaRPr lang="zh-CN" altLang="en-US" sz="2000">
              <a:solidFill>
                <a:srgbClr val="0000FF"/>
              </a:solidFill>
              <a:latin typeface="Consolas" pitchFamily="49" charset="0"/>
            </a:endParaRPr>
          </a:p>
        </p:txBody>
      </p:sp>
      <p:sp>
        <p:nvSpPr>
          <p:cNvPr id="18459" name="Freeform 27"/>
          <p:cNvSpPr>
            <a:spLocks/>
          </p:cNvSpPr>
          <p:nvPr/>
        </p:nvSpPr>
        <p:spPr bwMode="auto">
          <a:xfrm>
            <a:off x="2957711" y="727896"/>
            <a:ext cx="2289" cy="1361632"/>
          </a:xfrm>
          <a:custGeom>
            <a:avLst/>
            <a:gdLst/>
            <a:ahLst/>
            <a:cxnLst>
              <a:cxn ang="0">
                <a:pos x="0" y="0"/>
              </a:cxn>
              <a:cxn ang="0">
                <a:pos x="2" y="1190"/>
              </a:cxn>
            </a:cxnLst>
            <a:rect l="0" t="0" r="r" b="b"/>
            <a:pathLst>
              <a:path w="2" h="1190">
                <a:moveTo>
                  <a:pt x="0" y="0"/>
                </a:moveTo>
                <a:lnTo>
                  <a:pt x="2" y="1190"/>
                </a:lnTo>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pPr>
              <a:lnSpc>
                <a:spcPts val="2200"/>
              </a:lnSpc>
            </a:pPr>
            <a:endParaRPr lang="zh-CN" altLang="en-US" sz="2000">
              <a:solidFill>
                <a:srgbClr val="0000FF"/>
              </a:solidFill>
              <a:latin typeface="Consolas" pitchFamily="49" charset="0"/>
            </a:endParaRPr>
          </a:p>
        </p:txBody>
      </p:sp>
      <p:sp>
        <p:nvSpPr>
          <p:cNvPr id="18458" name="Oval 26"/>
          <p:cNvSpPr>
            <a:spLocks noChangeArrowheads="1"/>
          </p:cNvSpPr>
          <p:nvPr/>
        </p:nvSpPr>
        <p:spPr bwMode="auto">
          <a:xfrm>
            <a:off x="1475813" y="396070"/>
            <a:ext cx="357029" cy="35699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2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8457" name="Oval 25"/>
          <p:cNvSpPr>
            <a:spLocks noChangeArrowheads="1"/>
          </p:cNvSpPr>
          <p:nvPr/>
        </p:nvSpPr>
        <p:spPr bwMode="auto">
          <a:xfrm>
            <a:off x="2740289" y="390349"/>
            <a:ext cx="357029" cy="355855"/>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2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8456" name="Oval 24"/>
          <p:cNvSpPr>
            <a:spLocks noChangeArrowheads="1"/>
          </p:cNvSpPr>
          <p:nvPr/>
        </p:nvSpPr>
        <p:spPr bwMode="auto">
          <a:xfrm>
            <a:off x="794941" y="1281703"/>
            <a:ext cx="357029" cy="356999"/>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2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0</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8455" name="Oval 23"/>
          <p:cNvSpPr>
            <a:spLocks noChangeArrowheads="1"/>
          </p:cNvSpPr>
          <p:nvPr/>
        </p:nvSpPr>
        <p:spPr bwMode="auto">
          <a:xfrm>
            <a:off x="2059417" y="1257674"/>
            <a:ext cx="357029" cy="35699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2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8454" name="Oval 22"/>
          <p:cNvSpPr>
            <a:spLocks noChangeArrowheads="1"/>
          </p:cNvSpPr>
          <p:nvPr/>
        </p:nvSpPr>
        <p:spPr bwMode="auto">
          <a:xfrm>
            <a:off x="3524151" y="1247376"/>
            <a:ext cx="357029" cy="358144"/>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2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6</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8453" name="Oval 21"/>
          <p:cNvSpPr>
            <a:spLocks noChangeArrowheads="1"/>
          </p:cNvSpPr>
          <p:nvPr/>
        </p:nvSpPr>
        <p:spPr bwMode="auto">
          <a:xfrm>
            <a:off x="1327051" y="2012865"/>
            <a:ext cx="358173" cy="35699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2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8452" name="Oval 20"/>
          <p:cNvSpPr>
            <a:spLocks noChangeArrowheads="1"/>
          </p:cNvSpPr>
          <p:nvPr/>
        </p:nvSpPr>
        <p:spPr bwMode="auto">
          <a:xfrm>
            <a:off x="2740289" y="2036893"/>
            <a:ext cx="357029" cy="35699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2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5</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8451" name="Line 19"/>
          <p:cNvSpPr>
            <a:spLocks noChangeShapeType="1"/>
          </p:cNvSpPr>
          <p:nvPr/>
        </p:nvSpPr>
        <p:spPr bwMode="auto">
          <a:xfrm flipV="1">
            <a:off x="1848862" y="567704"/>
            <a:ext cx="886850" cy="3433"/>
          </a:xfrm>
          <a:prstGeom prst="line">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pPr>
              <a:lnSpc>
                <a:spcPts val="2200"/>
              </a:lnSpc>
            </a:pPr>
            <a:endParaRPr lang="zh-CN" altLang="en-US" sz="2000">
              <a:solidFill>
                <a:srgbClr val="0000FF"/>
              </a:solidFill>
              <a:latin typeface="Consolas" pitchFamily="49" charset="0"/>
            </a:endParaRPr>
          </a:p>
        </p:txBody>
      </p:sp>
      <p:sp>
        <p:nvSpPr>
          <p:cNvPr id="18450" name="Freeform 18"/>
          <p:cNvSpPr>
            <a:spLocks/>
          </p:cNvSpPr>
          <p:nvPr/>
        </p:nvSpPr>
        <p:spPr bwMode="auto">
          <a:xfrm>
            <a:off x="3087019" y="642079"/>
            <a:ext cx="530966" cy="617883"/>
          </a:xfrm>
          <a:custGeom>
            <a:avLst/>
            <a:gdLst/>
            <a:ahLst/>
            <a:cxnLst>
              <a:cxn ang="0">
                <a:pos x="0" y="0"/>
              </a:cxn>
              <a:cxn ang="0">
                <a:pos x="465" y="540"/>
              </a:cxn>
            </a:cxnLst>
            <a:rect l="0" t="0" r="r" b="b"/>
            <a:pathLst>
              <a:path w="465" h="540">
                <a:moveTo>
                  <a:pt x="0" y="0"/>
                </a:moveTo>
                <a:lnTo>
                  <a:pt x="465" y="540"/>
                </a:lnTo>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pPr>
              <a:lnSpc>
                <a:spcPts val="2200"/>
              </a:lnSpc>
            </a:pPr>
            <a:endParaRPr lang="zh-CN" altLang="en-US" sz="2000">
              <a:solidFill>
                <a:srgbClr val="0000FF"/>
              </a:solidFill>
              <a:latin typeface="Consolas" pitchFamily="49" charset="0"/>
            </a:endParaRPr>
          </a:p>
        </p:txBody>
      </p:sp>
      <p:sp>
        <p:nvSpPr>
          <p:cNvPr id="18449" name="Freeform 17"/>
          <p:cNvSpPr>
            <a:spLocks/>
          </p:cNvSpPr>
          <p:nvPr/>
        </p:nvSpPr>
        <p:spPr bwMode="auto">
          <a:xfrm>
            <a:off x="1048980" y="1638702"/>
            <a:ext cx="338720" cy="410778"/>
          </a:xfrm>
          <a:custGeom>
            <a:avLst/>
            <a:gdLst/>
            <a:ahLst/>
            <a:cxnLst>
              <a:cxn ang="0">
                <a:pos x="0" y="0"/>
              </a:cxn>
              <a:cxn ang="0">
                <a:pos x="296" y="359"/>
              </a:cxn>
            </a:cxnLst>
            <a:rect l="0" t="0" r="r" b="b"/>
            <a:pathLst>
              <a:path w="296" h="359">
                <a:moveTo>
                  <a:pt x="0" y="0"/>
                </a:moveTo>
                <a:lnTo>
                  <a:pt x="296" y="359"/>
                </a:lnTo>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pPr>
              <a:lnSpc>
                <a:spcPts val="2200"/>
              </a:lnSpc>
            </a:pPr>
            <a:endParaRPr lang="zh-CN" altLang="en-US" sz="2000">
              <a:solidFill>
                <a:srgbClr val="0000FF"/>
              </a:solidFill>
              <a:latin typeface="Consolas" pitchFamily="49" charset="0"/>
            </a:endParaRPr>
          </a:p>
        </p:txBody>
      </p:sp>
      <p:sp>
        <p:nvSpPr>
          <p:cNvPr id="18448" name="Freeform 16"/>
          <p:cNvSpPr>
            <a:spLocks/>
          </p:cNvSpPr>
          <p:nvPr/>
        </p:nvSpPr>
        <p:spPr bwMode="auto">
          <a:xfrm>
            <a:off x="1147392" y="1461347"/>
            <a:ext cx="917747" cy="4577"/>
          </a:xfrm>
          <a:custGeom>
            <a:avLst/>
            <a:gdLst/>
            <a:ahLst/>
            <a:cxnLst>
              <a:cxn ang="0">
                <a:pos x="0" y="4"/>
              </a:cxn>
              <a:cxn ang="0">
                <a:pos x="802" y="0"/>
              </a:cxn>
            </a:cxnLst>
            <a:rect l="0" t="0" r="r" b="b"/>
            <a:pathLst>
              <a:path w="802" h="4">
                <a:moveTo>
                  <a:pt x="0" y="4"/>
                </a:moveTo>
                <a:lnTo>
                  <a:pt x="802" y="0"/>
                </a:lnTo>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pPr>
              <a:lnSpc>
                <a:spcPts val="2200"/>
              </a:lnSpc>
            </a:pPr>
            <a:endParaRPr lang="zh-CN" altLang="en-US" sz="2000">
              <a:solidFill>
                <a:srgbClr val="0000FF"/>
              </a:solidFill>
              <a:latin typeface="Consolas" pitchFamily="49" charset="0"/>
            </a:endParaRPr>
          </a:p>
        </p:txBody>
      </p:sp>
      <p:sp>
        <p:nvSpPr>
          <p:cNvPr id="18447" name="Freeform 15"/>
          <p:cNvSpPr>
            <a:spLocks/>
          </p:cNvSpPr>
          <p:nvPr/>
        </p:nvSpPr>
        <p:spPr bwMode="auto">
          <a:xfrm>
            <a:off x="1628008" y="1578058"/>
            <a:ext cx="516090" cy="471422"/>
          </a:xfrm>
          <a:custGeom>
            <a:avLst/>
            <a:gdLst/>
            <a:ahLst/>
            <a:cxnLst>
              <a:cxn ang="0">
                <a:pos x="0" y="413"/>
              </a:cxn>
              <a:cxn ang="0">
                <a:pos x="452" y="0"/>
              </a:cxn>
            </a:cxnLst>
            <a:rect l="0" t="0" r="r" b="b"/>
            <a:pathLst>
              <a:path w="452" h="413">
                <a:moveTo>
                  <a:pt x="0" y="413"/>
                </a:moveTo>
                <a:lnTo>
                  <a:pt x="452" y="0"/>
                </a:lnTo>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pPr>
              <a:lnSpc>
                <a:spcPts val="2200"/>
              </a:lnSpc>
            </a:pPr>
            <a:endParaRPr lang="zh-CN" altLang="en-US" sz="2000">
              <a:solidFill>
                <a:srgbClr val="0000FF"/>
              </a:solidFill>
              <a:latin typeface="Consolas" pitchFamily="49" charset="0"/>
            </a:endParaRPr>
          </a:p>
        </p:txBody>
      </p:sp>
      <p:sp>
        <p:nvSpPr>
          <p:cNvPr id="18446" name="Freeform 14"/>
          <p:cNvSpPr>
            <a:spLocks/>
          </p:cNvSpPr>
          <p:nvPr/>
        </p:nvSpPr>
        <p:spPr bwMode="auto">
          <a:xfrm>
            <a:off x="1782491" y="722175"/>
            <a:ext cx="393647" cy="549230"/>
          </a:xfrm>
          <a:custGeom>
            <a:avLst/>
            <a:gdLst/>
            <a:ahLst/>
            <a:cxnLst>
              <a:cxn ang="0">
                <a:pos x="0" y="0"/>
              </a:cxn>
              <a:cxn ang="0">
                <a:pos x="344" y="480"/>
              </a:cxn>
            </a:cxnLst>
            <a:rect l="0" t="0" r="r" b="b"/>
            <a:pathLst>
              <a:path w="344" h="480">
                <a:moveTo>
                  <a:pt x="0" y="0"/>
                </a:moveTo>
                <a:lnTo>
                  <a:pt x="344" y="480"/>
                </a:lnTo>
              </a:path>
            </a:pathLst>
          </a:custGeom>
          <a:noFill/>
          <a:ln w="9525">
            <a:solidFill>
              <a:srgbClr val="000000"/>
            </a:solidFill>
            <a:round/>
            <a:headEnd/>
            <a:tailEnd type="stealth" w="sm" len="sm"/>
          </a:ln>
        </p:spPr>
        <p:txBody>
          <a:bodyPr vert="horz" wrap="square" lIns="91440" tIns="45720" rIns="91440" bIns="45720" numCol="1" anchor="t" anchorCtr="0" compatLnSpc="1">
            <a:prstTxWarp prst="textNoShape">
              <a:avLst/>
            </a:prstTxWarp>
          </a:bodyPr>
          <a:lstStyle/>
          <a:p>
            <a:pPr>
              <a:lnSpc>
                <a:spcPts val="2200"/>
              </a:lnSpc>
            </a:pPr>
            <a:endParaRPr lang="zh-CN" altLang="en-US" sz="2000">
              <a:solidFill>
                <a:srgbClr val="0000FF"/>
              </a:solidFill>
              <a:latin typeface="Consolas" pitchFamily="49" charset="0"/>
            </a:endParaRPr>
          </a:p>
        </p:txBody>
      </p:sp>
      <p:sp>
        <p:nvSpPr>
          <p:cNvPr id="18445" name="Freeform 13"/>
          <p:cNvSpPr>
            <a:spLocks/>
          </p:cNvSpPr>
          <p:nvPr/>
        </p:nvSpPr>
        <p:spPr bwMode="auto">
          <a:xfrm>
            <a:off x="2355797" y="701579"/>
            <a:ext cx="476038" cy="592710"/>
          </a:xfrm>
          <a:custGeom>
            <a:avLst/>
            <a:gdLst/>
            <a:ahLst/>
            <a:cxnLst>
              <a:cxn ang="0">
                <a:pos x="0" y="518"/>
              </a:cxn>
              <a:cxn ang="0">
                <a:pos x="415" y="0"/>
              </a:cxn>
            </a:cxnLst>
            <a:rect l="0" t="0" r="r" b="b"/>
            <a:pathLst>
              <a:path w="415" h="518">
                <a:moveTo>
                  <a:pt x="0" y="518"/>
                </a:moveTo>
                <a:lnTo>
                  <a:pt x="415" y="0"/>
                </a:lnTo>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pPr>
              <a:lnSpc>
                <a:spcPts val="2200"/>
              </a:lnSpc>
            </a:pPr>
            <a:endParaRPr lang="zh-CN" altLang="en-US" sz="2000">
              <a:solidFill>
                <a:srgbClr val="0000FF"/>
              </a:solidFill>
              <a:latin typeface="Consolas" pitchFamily="49" charset="0"/>
            </a:endParaRPr>
          </a:p>
        </p:txBody>
      </p:sp>
      <p:sp>
        <p:nvSpPr>
          <p:cNvPr id="18444" name="Text Box 12"/>
          <p:cNvSpPr txBox="1">
            <a:spLocks noChangeArrowheads="1"/>
          </p:cNvSpPr>
          <p:nvPr/>
        </p:nvSpPr>
        <p:spPr bwMode="auto">
          <a:xfrm>
            <a:off x="3311307" y="1861826"/>
            <a:ext cx="286081" cy="26088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2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8443" name="Text Box 11"/>
          <p:cNvSpPr txBox="1">
            <a:spLocks noChangeArrowheads="1"/>
          </p:cNvSpPr>
          <p:nvPr/>
        </p:nvSpPr>
        <p:spPr bwMode="auto">
          <a:xfrm>
            <a:off x="2956567" y="1192453"/>
            <a:ext cx="286081" cy="26088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2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8442" name="Text Box 10"/>
          <p:cNvSpPr txBox="1">
            <a:spLocks noChangeArrowheads="1"/>
          </p:cNvSpPr>
          <p:nvPr/>
        </p:nvSpPr>
        <p:spPr bwMode="auto">
          <a:xfrm>
            <a:off x="3350214" y="837742"/>
            <a:ext cx="286081" cy="25974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2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6</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8441" name="Text Box 9"/>
          <p:cNvSpPr txBox="1">
            <a:spLocks noChangeArrowheads="1"/>
          </p:cNvSpPr>
          <p:nvPr/>
        </p:nvSpPr>
        <p:spPr bwMode="auto">
          <a:xfrm>
            <a:off x="2337488" y="832021"/>
            <a:ext cx="287225" cy="25974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2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8440" name="Text Box 8"/>
          <p:cNvSpPr txBox="1">
            <a:spLocks noChangeArrowheads="1"/>
          </p:cNvSpPr>
          <p:nvPr/>
        </p:nvSpPr>
        <p:spPr bwMode="auto">
          <a:xfrm>
            <a:off x="2307735" y="1745115"/>
            <a:ext cx="286081" cy="26088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2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8439" name="Text Box 7"/>
          <p:cNvSpPr txBox="1">
            <a:spLocks noChangeArrowheads="1"/>
          </p:cNvSpPr>
          <p:nvPr/>
        </p:nvSpPr>
        <p:spPr bwMode="auto">
          <a:xfrm>
            <a:off x="1844285" y="1793173"/>
            <a:ext cx="286081" cy="26088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2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8438" name="Text Box 6"/>
          <p:cNvSpPr txBox="1">
            <a:spLocks noChangeArrowheads="1"/>
          </p:cNvSpPr>
          <p:nvPr/>
        </p:nvSpPr>
        <p:spPr bwMode="auto">
          <a:xfrm>
            <a:off x="2101757" y="2239422"/>
            <a:ext cx="286081" cy="26088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2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5</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 name="Text Box 5"/>
          <p:cNvSpPr txBox="1">
            <a:spLocks noChangeArrowheads="1"/>
          </p:cNvSpPr>
          <p:nvPr/>
        </p:nvSpPr>
        <p:spPr bwMode="auto">
          <a:xfrm>
            <a:off x="975744" y="1780586"/>
            <a:ext cx="283792" cy="25974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2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6</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4" name="Text Box 4"/>
          <p:cNvSpPr txBox="1">
            <a:spLocks noChangeArrowheads="1"/>
          </p:cNvSpPr>
          <p:nvPr/>
        </p:nvSpPr>
        <p:spPr bwMode="auto">
          <a:xfrm>
            <a:off x="1918666" y="758790"/>
            <a:ext cx="286081" cy="25974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2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 name="Text Box 3"/>
          <p:cNvSpPr txBox="1">
            <a:spLocks noChangeArrowheads="1"/>
          </p:cNvSpPr>
          <p:nvPr/>
        </p:nvSpPr>
        <p:spPr bwMode="auto">
          <a:xfrm>
            <a:off x="1003207" y="832021"/>
            <a:ext cx="286081" cy="26088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2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8434" name="Text Box 2"/>
          <p:cNvSpPr txBox="1">
            <a:spLocks noChangeArrowheads="1"/>
          </p:cNvSpPr>
          <p:nvPr/>
        </p:nvSpPr>
        <p:spPr bwMode="auto">
          <a:xfrm>
            <a:off x="2084592" y="357166"/>
            <a:ext cx="286081" cy="26088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2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7</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graphicFrame>
        <p:nvGraphicFramePr>
          <p:cNvPr id="73" name="表格 72"/>
          <p:cNvGraphicFramePr>
            <a:graphicFrameLocks noGrp="1"/>
          </p:cNvGraphicFramePr>
          <p:nvPr/>
        </p:nvGraphicFramePr>
        <p:xfrm>
          <a:off x="357155" y="3214684"/>
          <a:ext cx="8644002" cy="3214712"/>
        </p:xfrm>
        <a:graphic>
          <a:graphicData uri="http://schemas.openxmlformats.org/drawingml/2006/table">
            <a:tbl>
              <a:tblPr>
                <a:tableStyleId>{35758FB7-9AC5-4552-8A53-C91805E547FA}</a:tableStyleId>
              </a:tblPr>
              <a:tblGrid>
                <a:gridCol w="571507">
                  <a:extLst>
                    <a:ext uri="{9D8B030D-6E8A-4147-A177-3AD203B41FA5}">
                      <a16:colId xmlns:a16="http://schemas.microsoft.com/office/drawing/2014/main" val="20000"/>
                    </a:ext>
                  </a:extLst>
                </a:gridCol>
                <a:gridCol w="1143008">
                  <a:extLst>
                    <a:ext uri="{9D8B030D-6E8A-4147-A177-3AD203B41FA5}">
                      <a16:colId xmlns:a16="http://schemas.microsoft.com/office/drawing/2014/main" val="20001"/>
                    </a:ext>
                  </a:extLst>
                </a:gridCol>
                <a:gridCol w="1143008">
                  <a:extLst>
                    <a:ext uri="{9D8B030D-6E8A-4147-A177-3AD203B41FA5}">
                      <a16:colId xmlns:a16="http://schemas.microsoft.com/office/drawing/2014/main" val="20002"/>
                    </a:ext>
                  </a:extLst>
                </a:gridCol>
                <a:gridCol w="1143008">
                  <a:extLst>
                    <a:ext uri="{9D8B030D-6E8A-4147-A177-3AD203B41FA5}">
                      <a16:colId xmlns:a16="http://schemas.microsoft.com/office/drawing/2014/main" val="20003"/>
                    </a:ext>
                  </a:extLst>
                </a:gridCol>
                <a:gridCol w="1143008">
                  <a:extLst>
                    <a:ext uri="{9D8B030D-6E8A-4147-A177-3AD203B41FA5}">
                      <a16:colId xmlns:a16="http://schemas.microsoft.com/office/drawing/2014/main" val="20004"/>
                    </a:ext>
                  </a:extLst>
                </a:gridCol>
                <a:gridCol w="1143008">
                  <a:extLst>
                    <a:ext uri="{9D8B030D-6E8A-4147-A177-3AD203B41FA5}">
                      <a16:colId xmlns:a16="http://schemas.microsoft.com/office/drawing/2014/main" val="20005"/>
                    </a:ext>
                  </a:extLst>
                </a:gridCol>
                <a:gridCol w="1143008">
                  <a:extLst>
                    <a:ext uri="{9D8B030D-6E8A-4147-A177-3AD203B41FA5}">
                      <a16:colId xmlns:a16="http://schemas.microsoft.com/office/drawing/2014/main" val="20006"/>
                    </a:ext>
                  </a:extLst>
                </a:gridCol>
                <a:gridCol w="1214447">
                  <a:extLst>
                    <a:ext uri="{9D8B030D-6E8A-4147-A177-3AD203B41FA5}">
                      <a16:colId xmlns:a16="http://schemas.microsoft.com/office/drawing/2014/main" val="20007"/>
                    </a:ext>
                  </a:extLst>
                </a:gridCol>
              </a:tblGrid>
              <a:tr h="401839">
                <a:tc>
                  <a:txBody>
                    <a:bodyPr/>
                    <a:lstStyle/>
                    <a:p>
                      <a:pPr indent="0" algn="ctr">
                        <a:lnSpc>
                          <a:spcPts val="3000"/>
                        </a:lnSpc>
                        <a:spcAft>
                          <a:spcPts val="0"/>
                        </a:spcAft>
                      </a:pPr>
                      <a:r>
                        <a:rPr lang="en-US" sz="1800" kern="100">
                          <a:solidFill>
                            <a:srgbClr val="FF0000"/>
                          </a:solidFill>
                          <a:latin typeface="Consolas" pitchFamily="49" charset="0"/>
                        </a:rPr>
                        <a:t>k</a:t>
                      </a:r>
                      <a:endParaRPr lang="zh-CN" sz="1800" kern="100">
                        <a:solidFill>
                          <a:srgbClr val="FF0000"/>
                        </a:solidFill>
                        <a:latin typeface="Consolas" pitchFamily="49" charset="0"/>
                        <a:ea typeface="仿宋" pitchFamily="49" charset="-122"/>
                        <a:cs typeface="Times New Roman"/>
                      </a:endParaRPr>
                    </a:p>
                  </a:txBody>
                  <a:tcPr marL="68580" marR="68580" marT="0" marB="0">
                    <a:solidFill>
                      <a:schemeClr val="bg1"/>
                    </a:solidFill>
                  </a:tcPr>
                </a:tc>
                <a:tc>
                  <a:txBody>
                    <a:bodyPr/>
                    <a:lstStyle/>
                    <a:p>
                      <a:pPr indent="0" algn="ctr">
                        <a:lnSpc>
                          <a:spcPts val="3000"/>
                        </a:lnSpc>
                        <a:spcAft>
                          <a:spcPts val="0"/>
                        </a:spcAft>
                      </a:pPr>
                      <a:r>
                        <a:rPr lang="en-US" sz="1800" kern="100">
                          <a:solidFill>
                            <a:srgbClr val="FF0000"/>
                          </a:solidFill>
                          <a:latin typeface="Consolas" pitchFamily="49" charset="0"/>
                        </a:rPr>
                        <a:t>dist</a:t>
                      </a:r>
                      <a:r>
                        <a:rPr lang="en-US" sz="1800" kern="100" baseline="30000">
                          <a:solidFill>
                            <a:srgbClr val="FF0000"/>
                          </a:solidFill>
                          <a:latin typeface="Consolas" pitchFamily="49" charset="0"/>
                        </a:rPr>
                        <a:t>k</a:t>
                      </a:r>
                      <a:r>
                        <a:rPr lang="en-US" sz="1800" kern="100">
                          <a:solidFill>
                            <a:srgbClr val="FF0000"/>
                          </a:solidFill>
                          <a:latin typeface="Consolas" pitchFamily="49" charset="0"/>
                        </a:rPr>
                        <a:t>[0]</a:t>
                      </a:r>
                      <a:endParaRPr lang="zh-CN" sz="1800" kern="100">
                        <a:solidFill>
                          <a:srgbClr val="FF0000"/>
                        </a:solidFill>
                        <a:latin typeface="Consolas" pitchFamily="49" charset="0"/>
                        <a:ea typeface="仿宋" pitchFamily="49" charset="-122"/>
                        <a:cs typeface="Times New Roman"/>
                      </a:endParaRPr>
                    </a:p>
                  </a:txBody>
                  <a:tcPr marL="68580" marR="68580" marT="0" marB="0">
                    <a:solidFill>
                      <a:schemeClr val="bg1"/>
                    </a:solidFill>
                  </a:tcPr>
                </a:tc>
                <a:tc>
                  <a:txBody>
                    <a:bodyPr/>
                    <a:lstStyle/>
                    <a:p>
                      <a:pPr indent="0" algn="ctr">
                        <a:lnSpc>
                          <a:spcPts val="3000"/>
                        </a:lnSpc>
                        <a:spcAft>
                          <a:spcPts val="0"/>
                        </a:spcAft>
                      </a:pPr>
                      <a:r>
                        <a:rPr lang="en-US" sz="1800" kern="100">
                          <a:solidFill>
                            <a:srgbClr val="FF0000"/>
                          </a:solidFill>
                          <a:latin typeface="Consolas" pitchFamily="49" charset="0"/>
                        </a:rPr>
                        <a:t>dist</a:t>
                      </a:r>
                      <a:r>
                        <a:rPr lang="en-US" sz="1800" kern="100" baseline="30000">
                          <a:solidFill>
                            <a:srgbClr val="FF0000"/>
                          </a:solidFill>
                          <a:latin typeface="Consolas" pitchFamily="49" charset="0"/>
                        </a:rPr>
                        <a:t>k</a:t>
                      </a:r>
                      <a:r>
                        <a:rPr lang="en-US" sz="1800" kern="100">
                          <a:solidFill>
                            <a:srgbClr val="FF0000"/>
                          </a:solidFill>
                          <a:latin typeface="Consolas" pitchFamily="49" charset="0"/>
                        </a:rPr>
                        <a:t>[1]</a:t>
                      </a:r>
                      <a:endParaRPr lang="zh-CN" sz="1800" kern="100">
                        <a:solidFill>
                          <a:srgbClr val="FF0000"/>
                        </a:solidFill>
                        <a:latin typeface="Consolas" pitchFamily="49" charset="0"/>
                        <a:ea typeface="仿宋" pitchFamily="49" charset="-122"/>
                        <a:cs typeface="Times New Roman"/>
                      </a:endParaRPr>
                    </a:p>
                  </a:txBody>
                  <a:tcPr marL="68580" marR="68580" marT="0" marB="0">
                    <a:solidFill>
                      <a:schemeClr val="bg1"/>
                    </a:solidFill>
                  </a:tcPr>
                </a:tc>
                <a:tc>
                  <a:txBody>
                    <a:bodyPr/>
                    <a:lstStyle/>
                    <a:p>
                      <a:pPr indent="0" algn="ctr">
                        <a:lnSpc>
                          <a:spcPts val="3000"/>
                        </a:lnSpc>
                        <a:spcAft>
                          <a:spcPts val="0"/>
                        </a:spcAft>
                      </a:pPr>
                      <a:r>
                        <a:rPr lang="en-US" sz="1800" kern="100">
                          <a:solidFill>
                            <a:srgbClr val="FF0000"/>
                          </a:solidFill>
                          <a:latin typeface="Consolas" pitchFamily="49" charset="0"/>
                        </a:rPr>
                        <a:t>dist</a:t>
                      </a:r>
                      <a:r>
                        <a:rPr lang="en-US" sz="1800" kern="100" baseline="30000">
                          <a:solidFill>
                            <a:srgbClr val="FF0000"/>
                          </a:solidFill>
                          <a:latin typeface="Consolas" pitchFamily="49" charset="0"/>
                        </a:rPr>
                        <a:t>k</a:t>
                      </a:r>
                      <a:r>
                        <a:rPr lang="en-US" sz="1800" kern="100">
                          <a:solidFill>
                            <a:srgbClr val="FF0000"/>
                          </a:solidFill>
                          <a:latin typeface="Consolas" pitchFamily="49" charset="0"/>
                        </a:rPr>
                        <a:t>[2]</a:t>
                      </a:r>
                      <a:endParaRPr lang="zh-CN" sz="1800" kern="100">
                        <a:solidFill>
                          <a:srgbClr val="FF0000"/>
                        </a:solidFill>
                        <a:latin typeface="Consolas" pitchFamily="49" charset="0"/>
                        <a:ea typeface="仿宋" pitchFamily="49" charset="-122"/>
                        <a:cs typeface="Times New Roman"/>
                      </a:endParaRPr>
                    </a:p>
                  </a:txBody>
                  <a:tcPr marL="68580" marR="68580" marT="0" marB="0">
                    <a:solidFill>
                      <a:schemeClr val="bg1"/>
                    </a:solidFill>
                  </a:tcPr>
                </a:tc>
                <a:tc>
                  <a:txBody>
                    <a:bodyPr/>
                    <a:lstStyle/>
                    <a:p>
                      <a:pPr indent="0" algn="ctr">
                        <a:lnSpc>
                          <a:spcPts val="3000"/>
                        </a:lnSpc>
                        <a:spcAft>
                          <a:spcPts val="0"/>
                        </a:spcAft>
                      </a:pPr>
                      <a:r>
                        <a:rPr lang="en-US" sz="1800" kern="100">
                          <a:solidFill>
                            <a:srgbClr val="FF0000"/>
                          </a:solidFill>
                          <a:latin typeface="Consolas" pitchFamily="49" charset="0"/>
                        </a:rPr>
                        <a:t>dist</a:t>
                      </a:r>
                      <a:r>
                        <a:rPr lang="en-US" sz="1800" kern="100" baseline="30000">
                          <a:solidFill>
                            <a:srgbClr val="FF0000"/>
                          </a:solidFill>
                          <a:latin typeface="Consolas" pitchFamily="49" charset="0"/>
                        </a:rPr>
                        <a:t>k</a:t>
                      </a:r>
                      <a:r>
                        <a:rPr lang="en-US" sz="1800" kern="100">
                          <a:solidFill>
                            <a:srgbClr val="FF0000"/>
                          </a:solidFill>
                          <a:latin typeface="Consolas" pitchFamily="49" charset="0"/>
                        </a:rPr>
                        <a:t>[3]</a:t>
                      </a:r>
                      <a:endParaRPr lang="zh-CN" sz="1800" kern="100">
                        <a:solidFill>
                          <a:srgbClr val="FF0000"/>
                        </a:solidFill>
                        <a:latin typeface="Consolas" pitchFamily="49" charset="0"/>
                        <a:ea typeface="仿宋" pitchFamily="49" charset="-122"/>
                        <a:cs typeface="Times New Roman"/>
                      </a:endParaRPr>
                    </a:p>
                  </a:txBody>
                  <a:tcPr marL="68580" marR="68580" marT="0" marB="0">
                    <a:solidFill>
                      <a:schemeClr val="bg1"/>
                    </a:solidFill>
                  </a:tcPr>
                </a:tc>
                <a:tc>
                  <a:txBody>
                    <a:bodyPr/>
                    <a:lstStyle/>
                    <a:p>
                      <a:pPr indent="0" algn="ctr">
                        <a:lnSpc>
                          <a:spcPts val="3000"/>
                        </a:lnSpc>
                        <a:spcAft>
                          <a:spcPts val="0"/>
                        </a:spcAft>
                      </a:pPr>
                      <a:r>
                        <a:rPr lang="en-US" sz="1800" kern="100">
                          <a:solidFill>
                            <a:srgbClr val="FF0000"/>
                          </a:solidFill>
                          <a:latin typeface="Consolas" pitchFamily="49" charset="0"/>
                        </a:rPr>
                        <a:t>dist</a:t>
                      </a:r>
                      <a:r>
                        <a:rPr lang="en-US" sz="1800" kern="100" baseline="30000">
                          <a:solidFill>
                            <a:srgbClr val="FF0000"/>
                          </a:solidFill>
                          <a:latin typeface="Consolas" pitchFamily="49" charset="0"/>
                        </a:rPr>
                        <a:t>k</a:t>
                      </a:r>
                      <a:r>
                        <a:rPr lang="en-US" sz="1800" kern="100">
                          <a:solidFill>
                            <a:srgbClr val="FF0000"/>
                          </a:solidFill>
                          <a:latin typeface="Consolas" pitchFamily="49" charset="0"/>
                        </a:rPr>
                        <a:t>[4]</a:t>
                      </a:r>
                      <a:endParaRPr lang="zh-CN" sz="1800" kern="100">
                        <a:solidFill>
                          <a:srgbClr val="FF0000"/>
                        </a:solidFill>
                        <a:latin typeface="Consolas" pitchFamily="49" charset="0"/>
                        <a:ea typeface="仿宋" pitchFamily="49" charset="-122"/>
                        <a:cs typeface="Times New Roman"/>
                      </a:endParaRPr>
                    </a:p>
                  </a:txBody>
                  <a:tcPr marL="68580" marR="68580" marT="0" marB="0">
                    <a:solidFill>
                      <a:schemeClr val="bg1"/>
                    </a:solidFill>
                  </a:tcPr>
                </a:tc>
                <a:tc>
                  <a:txBody>
                    <a:bodyPr/>
                    <a:lstStyle/>
                    <a:p>
                      <a:pPr indent="0" algn="ctr">
                        <a:lnSpc>
                          <a:spcPts val="3000"/>
                        </a:lnSpc>
                        <a:spcAft>
                          <a:spcPts val="0"/>
                        </a:spcAft>
                      </a:pPr>
                      <a:r>
                        <a:rPr lang="en-US" sz="1800" kern="100">
                          <a:solidFill>
                            <a:srgbClr val="FF0000"/>
                          </a:solidFill>
                          <a:latin typeface="Consolas" pitchFamily="49" charset="0"/>
                        </a:rPr>
                        <a:t>dist</a:t>
                      </a:r>
                      <a:r>
                        <a:rPr lang="en-US" sz="1800" kern="100" baseline="30000">
                          <a:solidFill>
                            <a:srgbClr val="FF0000"/>
                          </a:solidFill>
                          <a:latin typeface="Consolas" pitchFamily="49" charset="0"/>
                        </a:rPr>
                        <a:t>k</a:t>
                      </a:r>
                      <a:r>
                        <a:rPr lang="en-US" sz="1800" kern="100">
                          <a:solidFill>
                            <a:srgbClr val="FF0000"/>
                          </a:solidFill>
                          <a:latin typeface="Consolas" pitchFamily="49" charset="0"/>
                        </a:rPr>
                        <a:t>[5]</a:t>
                      </a:r>
                      <a:endParaRPr lang="zh-CN" sz="1800" kern="100">
                        <a:solidFill>
                          <a:srgbClr val="FF0000"/>
                        </a:solidFill>
                        <a:latin typeface="Consolas" pitchFamily="49" charset="0"/>
                        <a:ea typeface="仿宋" pitchFamily="49" charset="-122"/>
                        <a:cs typeface="Times New Roman"/>
                      </a:endParaRPr>
                    </a:p>
                  </a:txBody>
                  <a:tcPr marL="68580" marR="68580" marT="0" marB="0">
                    <a:solidFill>
                      <a:schemeClr val="bg1"/>
                    </a:solidFill>
                  </a:tcPr>
                </a:tc>
                <a:tc>
                  <a:txBody>
                    <a:bodyPr/>
                    <a:lstStyle/>
                    <a:p>
                      <a:pPr indent="0" algn="ctr">
                        <a:lnSpc>
                          <a:spcPts val="3000"/>
                        </a:lnSpc>
                        <a:spcAft>
                          <a:spcPts val="0"/>
                        </a:spcAft>
                      </a:pPr>
                      <a:r>
                        <a:rPr lang="en-US" sz="1800" kern="100">
                          <a:solidFill>
                            <a:srgbClr val="FF0000"/>
                          </a:solidFill>
                          <a:latin typeface="Consolas" pitchFamily="49" charset="0"/>
                        </a:rPr>
                        <a:t>dist</a:t>
                      </a:r>
                      <a:r>
                        <a:rPr lang="en-US" sz="1800" kern="100" baseline="30000">
                          <a:solidFill>
                            <a:srgbClr val="FF0000"/>
                          </a:solidFill>
                          <a:latin typeface="Consolas" pitchFamily="49" charset="0"/>
                        </a:rPr>
                        <a:t>k</a:t>
                      </a:r>
                      <a:r>
                        <a:rPr lang="en-US" sz="1800" kern="100">
                          <a:solidFill>
                            <a:srgbClr val="FF0000"/>
                          </a:solidFill>
                          <a:latin typeface="Consolas" pitchFamily="49" charset="0"/>
                        </a:rPr>
                        <a:t>[6]</a:t>
                      </a:r>
                      <a:endParaRPr lang="zh-CN" sz="1800" kern="100">
                        <a:solidFill>
                          <a:srgbClr val="FF0000"/>
                        </a:solidFill>
                        <a:latin typeface="Consolas" pitchFamily="49" charset="0"/>
                        <a:ea typeface="仿宋" pitchFamily="49" charset="-122"/>
                        <a:cs typeface="Times New Roman"/>
                      </a:endParaRPr>
                    </a:p>
                  </a:txBody>
                  <a:tcPr marL="68580" marR="68580" marT="0" marB="0">
                    <a:solidFill>
                      <a:schemeClr val="bg1"/>
                    </a:solidFill>
                  </a:tcPr>
                </a:tc>
                <a:extLst>
                  <a:ext uri="{0D108BD9-81ED-4DB2-BD59-A6C34878D82A}">
                    <a16:rowId xmlns:a16="http://schemas.microsoft.com/office/drawing/2014/main" val="10000"/>
                  </a:ext>
                </a:extLst>
              </a:tr>
              <a:tr h="401839">
                <a:tc>
                  <a:txBody>
                    <a:bodyPr/>
                    <a:lstStyle/>
                    <a:p>
                      <a:pPr indent="0" algn="ctr">
                        <a:lnSpc>
                          <a:spcPts val="3000"/>
                        </a:lnSpc>
                        <a:spcAft>
                          <a:spcPts val="0"/>
                        </a:spcAft>
                      </a:pPr>
                      <a:r>
                        <a:rPr lang="en-US" sz="1800" b="0" kern="100">
                          <a:solidFill>
                            <a:schemeClr val="tx1"/>
                          </a:solidFill>
                          <a:latin typeface="Consolas" pitchFamily="49" charset="0"/>
                        </a:rPr>
                        <a:t>0</a:t>
                      </a:r>
                      <a:endParaRPr lang="zh-CN" sz="1800" b="0" kern="100">
                        <a:solidFill>
                          <a:schemeClr val="tx1"/>
                        </a:solidFill>
                        <a:latin typeface="Consolas" pitchFamily="49" charset="0"/>
                        <a:ea typeface="仿宋" pitchFamily="49" charset="-122"/>
                        <a:cs typeface="Times New Roman"/>
                      </a:endParaRPr>
                    </a:p>
                  </a:txBody>
                  <a:tcPr marL="68580" marR="68580" marT="0" marB="0">
                    <a:solidFill>
                      <a:schemeClr val="bg1"/>
                    </a:solidFill>
                  </a:tcPr>
                </a:tc>
                <a:tc>
                  <a:txBody>
                    <a:bodyPr/>
                    <a:lstStyle/>
                    <a:p>
                      <a:pPr indent="0" algn="ctr">
                        <a:lnSpc>
                          <a:spcPts val="3000"/>
                        </a:lnSpc>
                        <a:spcAft>
                          <a:spcPts val="0"/>
                        </a:spcAft>
                      </a:pPr>
                      <a:r>
                        <a:rPr lang="en-US" sz="2000" kern="100">
                          <a:solidFill>
                            <a:srgbClr val="0000FF"/>
                          </a:solidFill>
                          <a:latin typeface="Consolas" pitchFamily="49" charset="0"/>
                        </a:rPr>
                        <a:t>0</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solidFill>
                  </a:tcPr>
                </a:tc>
                <a:tc>
                  <a:txBody>
                    <a:bodyPr/>
                    <a:lstStyle/>
                    <a:p>
                      <a:pPr indent="0" algn="ctr">
                        <a:lnSpc>
                          <a:spcPts val="3000"/>
                        </a:lnSpc>
                        <a:spcAft>
                          <a:spcPts val="0"/>
                        </a:spcAft>
                      </a:pPr>
                      <a:r>
                        <a:rPr lang="zh-CN" sz="2000" kern="100">
                          <a:solidFill>
                            <a:srgbClr val="0000FF"/>
                          </a:solidFill>
                          <a:latin typeface="Consolas" pitchFamily="49" charset="0"/>
                        </a:rPr>
                        <a:t>∞</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solidFill>
                  </a:tcPr>
                </a:tc>
                <a:tc>
                  <a:txBody>
                    <a:bodyPr/>
                    <a:lstStyle/>
                    <a:p>
                      <a:pPr indent="0" algn="ctr">
                        <a:lnSpc>
                          <a:spcPts val="3000"/>
                        </a:lnSpc>
                        <a:spcAft>
                          <a:spcPts val="0"/>
                        </a:spcAft>
                      </a:pPr>
                      <a:r>
                        <a:rPr lang="zh-CN" sz="2000" kern="100">
                          <a:solidFill>
                            <a:srgbClr val="0000FF"/>
                          </a:solidFill>
                          <a:latin typeface="Consolas" pitchFamily="49" charset="0"/>
                        </a:rPr>
                        <a:t>∞</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solidFill>
                  </a:tcPr>
                </a:tc>
                <a:tc>
                  <a:txBody>
                    <a:bodyPr/>
                    <a:lstStyle/>
                    <a:p>
                      <a:pPr indent="0" algn="ctr">
                        <a:lnSpc>
                          <a:spcPts val="3000"/>
                        </a:lnSpc>
                        <a:spcAft>
                          <a:spcPts val="0"/>
                        </a:spcAft>
                      </a:pPr>
                      <a:r>
                        <a:rPr lang="zh-CN" sz="2000" kern="100">
                          <a:solidFill>
                            <a:srgbClr val="0000FF"/>
                          </a:solidFill>
                          <a:latin typeface="Consolas" pitchFamily="49" charset="0"/>
                        </a:rPr>
                        <a:t>∞</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solidFill>
                  </a:tcPr>
                </a:tc>
                <a:tc>
                  <a:txBody>
                    <a:bodyPr/>
                    <a:lstStyle/>
                    <a:p>
                      <a:pPr indent="0" algn="ctr">
                        <a:lnSpc>
                          <a:spcPts val="3000"/>
                        </a:lnSpc>
                        <a:spcAft>
                          <a:spcPts val="0"/>
                        </a:spcAft>
                      </a:pPr>
                      <a:r>
                        <a:rPr lang="zh-CN" sz="2000" kern="100">
                          <a:solidFill>
                            <a:srgbClr val="0000FF"/>
                          </a:solidFill>
                          <a:latin typeface="Consolas" pitchFamily="49" charset="0"/>
                        </a:rPr>
                        <a:t>∞</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solidFill>
                  </a:tcPr>
                </a:tc>
                <a:tc>
                  <a:txBody>
                    <a:bodyPr/>
                    <a:lstStyle/>
                    <a:p>
                      <a:pPr indent="0" algn="ctr">
                        <a:lnSpc>
                          <a:spcPts val="3000"/>
                        </a:lnSpc>
                        <a:spcAft>
                          <a:spcPts val="0"/>
                        </a:spcAft>
                      </a:pPr>
                      <a:r>
                        <a:rPr lang="zh-CN" sz="2000" kern="100">
                          <a:solidFill>
                            <a:srgbClr val="0000FF"/>
                          </a:solidFill>
                          <a:latin typeface="Consolas" pitchFamily="49" charset="0"/>
                        </a:rPr>
                        <a:t>∞</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solidFill>
                  </a:tcPr>
                </a:tc>
                <a:tc>
                  <a:txBody>
                    <a:bodyPr/>
                    <a:lstStyle/>
                    <a:p>
                      <a:pPr indent="0" algn="ctr">
                        <a:lnSpc>
                          <a:spcPts val="3000"/>
                        </a:lnSpc>
                        <a:spcAft>
                          <a:spcPts val="0"/>
                        </a:spcAft>
                      </a:pPr>
                      <a:r>
                        <a:rPr lang="zh-CN" sz="2000" kern="100">
                          <a:solidFill>
                            <a:srgbClr val="0000FF"/>
                          </a:solidFill>
                          <a:latin typeface="Consolas" pitchFamily="49" charset="0"/>
                        </a:rPr>
                        <a:t>∞</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solidFill>
                  </a:tcPr>
                </a:tc>
                <a:extLst>
                  <a:ext uri="{0D108BD9-81ED-4DB2-BD59-A6C34878D82A}">
                    <a16:rowId xmlns:a16="http://schemas.microsoft.com/office/drawing/2014/main" val="10001"/>
                  </a:ext>
                </a:extLst>
              </a:tr>
              <a:tr h="401839">
                <a:tc>
                  <a:txBody>
                    <a:bodyPr/>
                    <a:lstStyle/>
                    <a:p>
                      <a:pPr indent="0" algn="ctr">
                        <a:lnSpc>
                          <a:spcPts val="3000"/>
                        </a:lnSpc>
                        <a:spcAft>
                          <a:spcPts val="0"/>
                        </a:spcAft>
                      </a:pPr>
                      <a:r>
                        <a:rPr lang="en-US" sz="1800" b="0" kern="100">
                          <a:solidFill>
                            <a:schemeClr val="tx1"/>
                          </a:solidFill>
                          <a:latin typeface="Consolas" pitchFamily="49" charset="0"/>
                        </a:rPr>
                        <a:t>1</a:t>
                      </a:r>
                      <a:endParaRPr lang="zh-CN" sz="1800" b="0" kern="100">
                        <a:solidFill>
                          <a:schemeClr val="tx1"/>
                        </a:solidFill>
                        <a:latin typeface="Consolas" pitchFamily="49" charset="0"/>
                        <a:ea typeface="仿宋" pitchFamily="49" charset="-122"/>
                        <a:cs typeface="Times New Roman"/>
                      </a:endParaRPr>
                    </a:p>
                  </a:txBody>
                  <a:tcPr marL="68580" marR="68580" marT="0" marB="0">
                    <a:solidFill>
                      <a:schemeClr val="bg1"/>
                    </a:solidFill>
                  </a:tcPr>
                </a:tc>
                <a:tc>
                  <a:txBody>
                    <a:bodyPr/>
                    <a:lstStyle/>
                    <a:p>
                      <a:pPr indent="0" algn="ctr">
                        <a:lnSpc>
                          <a:spcPts val="3000"/>
                        </a:lnSpc>
                        <a:spcAft>
                          <a:spcPts val="0"/>
                        </a:spcAft>
                      </a:pPr>
                      <a:r>
                        <a:rPr lang="en-US" sz="2000" kern="100">
                          <a:solidFill>
                            <a:srgbClr val="0000FF"/>
                          </a:solidFill>
                          <a:latin typeface="Consolas" pitchFamily="49" charset="0"/>
                        </a:rPr>
                        <a:t>0</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solidFill>
                  </a:tcPr>
                </a:tc>
                <a:tc>
                  <a:txBody>
                    <a:bodyPr/>
                    <a:lstStyle/>
                    <a:p>
                      <a:pPr indent="0" algn="ctr">
                        <a:lnSpc>
                          <a:spcPts val="3000"/>
                        </a:lnSpc>
                        <a:spcAft>
                          <a:spcPts val="0"/>
                        </a:spcAft>
                      </a:pPr>
                      <a:r>
                        <a:rPr lang="en-US" sz="2000" kern="100">
                          <a:solidFill>
                            <a:srgbClr val="0000FF"/>
                          </a:solidFill>
                          <a:latin typeface="Consolas" pitchFamily="49" charset="0"/>
                        </a:rPr>
                        <a:t>1</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solidFill>
                  </a:tcPr>
                </a:tc>
                <a:tc>
                  <a:txBody>
                    <a:bodyPr/>
                    <a:lstStyle/>
                    <a:p>
                      <a:pPr indent="0" algn="ctr">
                        <a:lnSpc>
                          <a:spcPts val="3000"/>
                        </a:lnSpc>
                        <a:spcAft>
                          <a:spcPts val="0"/>
                        </a:spcAft>
                      </a:pPr>
                      <a:r>
                        <a:rPr lang="en-US" sz="2000" kern="100">
                          <a:solidFill>
                            <a:srgbClr val="0000FF"/>
                          </a:solidFill>
                          <a:latin typeface="Consolas" pitchFamily="49" charset="0"/>
                        </a:rPr>
                        <a:t>2</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solidFill>
                  </a:tcPr>
                </a:tc>
                <a:tc>
                  <a:txBody>
                    <a:bodyPr/>
                    <a:lstStyle/>
                    <a:p>
                      <a:pPr indent="0" algn="ctr">
                        <a:lnSpc>
                          <a:spcPts val="3000"/>
                        </a:lnSpc>
                        <a:spcAft>
                          <a:spcPts val="0"/>
                        </a:spcAft>
                      </a:pPr>
                      <a:r>
                        <a:rPr lang="en-US" sz="2000" kern="100">
                          <a:solidFill>
                            <a:srgbClr val="0000FF"/>
                          </a:solidFill>
                          <a:latin typeface="Consolas" pitchFamily="49" charset="0"/>
                        </a:rPr>
                        <a:t>6</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solidFill>
                  </a:tcPr>
                </a:tc>
                <a:tc>
                  <a:txBody>
                    <a:bodyPr/>
                    <a:lstStyle/>
                    <a:p>
                      <a:pPr indent="0" algn="ctr">
                        <a:lnSpc>
                          <a:spcPts val="3000"/>
                        </a:lnSpc>
                        <a:spcAft>
                          <a:spcPts val="0"/>
                        </a:spcAft>
                      </a:pPr>
                      <a:r>
                        <a:rPr lang="en-US" sz="2000" kern="100">
                          <a:solidFill>
                            <a:srgbClr val="0000FF"/>
                          </a:solidFill>
                          <a:latin typeface="Consolas" pitchFamily="49" charset="0"/>
                        </a:rPr>
                        <a:t>5</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solidFill>
                  </a:tcPr>
                </a:tc>
                <a:tc>
                  <a:txBody>
                    <a:bodyPr/>
                    <a:lstStyle/>
                    <a:p>
                      <a:pPr indent="0" algn="ctr">
                        <a:lnSpc>
                          <a:spcPts val="3000"/>
                        </a:lnSpc>
                        <a:spcAft>
                          <a:spcPts val="0"/>
                        </a:spcAft>
                      </a:pPr>
                      <a:r>
                        <a:rPr lang="en-US" sz="2000" kern="100">
                          <a:solidFill>
                            <a:srgbClr val="0000FF"/>
                          </a:solidFill>
                          <a:latin typeface="Consolas" pitchFamily="49" charset="0"/>
                        </a:rPr>
                        <a:t>6</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solidFill>
                  </a:tcPr>
                </a:tc>
                <a:tc>
                  <a:txBody>
                    <a:bodyPr/>
                    <a:lstStyle/>
                    <a:p>
                      <a:pPr indent="0" algn="ctr">
                        <a:lnSpc>
                          <a:spcPts val="3000"/>
                        </a:lnSpc>
                        <a:spcAft>
                          <a:spcPts val="0"/>
                        </a:spcAft>
                      </a:pPr>
                      <a:r>
                        <a:rPr lang="en-US" sz="2000" kern="100">
                          <a:solidFill>
                            <a:srgbClr val="0000FF"/>
                          </a:solidFill>
                          <a:latin typeface="Consolas" pitchFamily="49" charset="0"/>
                        </a:rPr>
                        <a:t>3</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solidFill>
                  </a:tcPr>
                </a:tc>
                <a:extLst>
                  <a:ext uri="{0D108BD9-81ED-4DB2-BD59-A6C34878D82A}">
                    <a16:rowId xmlns:a16="http://schemas.microsoft.com/office/drawing/2014/main" val="10002"/>
                  </a:ext>
                </a:extLst>
              </a:tr>
              <a:tr h="401839">
                <a:tc>
                  <a:txBody>
                    <a:bodyPr/>
                    <a:lstStyle/>
                    <a:p>
                      <a:pPr indent="0" algn="ctr">
                        <a:lnSpc>
                          <a:spcPts val="3000"/>
                        </a:lnSpc>
                        <a:spcAft>
                          <a:spcPts val="0"/>
                        </a:spcAft>
                      </a:pPr>
                      <a:r>
                        <a:rPr lang="en-US" sz="1800" b="0" kern="100">
                          <a:solidFill>
                            <a:schemeClr val="tx1"/>
                          </a:solidFill>
                          <a:latin typeface="Consolas" pitchFamily="49" charset="0"/>
                        </a:rPr>
                        <a:t>2</a:t>
                      </a:r>
                      <a:endParaRPr lang="zh-CN" sz="1800" b="0" kern="100">
                        <a:solidFill>
                          <a:schemeClr val="tx1"/>
                        </a:solidFill>
                        <a:latin typeface="Consolas" pitchFamily="49" charset="0"/>
                        <a:ea typeface="仿宋" pitchFamily="49" charset="-122"/>
                        <a:cs typeface="Times New Roman"/>
                      </a:endParaRPr>
                    </a:p>
                  </a:txBody>
                  <a:tcPr marL="68580" marR="68580" marT="0" marB="0">
                    <a:solidFill>
                      <a:schemeClr val="bg1"/>
                    </a:solidFill>
                  </a:tcPr>
                </a:tc>
                <a:tc>
                  <a:txBody>
                    <a:bodyPr/>
                    <a:lstStyle/>
                    <a:p>
                      <a:pPr indent="0" algn="ctr">
                        <a:lnSpc>
                          <a:spcPts val="3000"/>
                        </a:lnSpc>
                        <a:spcAft>
                          <a:spcPts val="0"/>
                        </a:spcAft>
                      </a:pPr>
                      <a:r>
                        <a:rPr lang="en-US" sz="2000" kern="100">
                          <a:solidFill>
                            <a:srgbClr val="0000FF"/>
                          </a:solidFill>
                          <a:latin typeface="Consolas" pitchFamily="49" charset="0"/>
                        </a:rPr>
                        <a:t>0</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solidFill>
                  </a:tcPr>
                </a:tc>
                <a:tc>
                  <a:txBody>
                    <a:bodyPr/>
                    <a:lstStyle/>
                    <a:p>
                      <a:pPr indent="0" algn="ctr">
                        <a:lnSpc>
                          <a:spcPts val="3000"/>
                        </a:lnSpc>
                        <a:spcAft>
                          <a:spcPts val="0"/>
                        </a:spcAft>
                      </a:pPr>
                      <a:r>
                        <a:rPr lang="en-US" sz="2000" kern="100">
                          <a:solidFill>
                            <a:srgbClr val="0000FF"/>
                          </a:solidFill>
                          <a:latin typeface="Consolas" pitchFamily="49" charset="0"/>
                        </a:rPr>
                        <a:t>1</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solidFill>
                  </a:tcPr>
                </a:tc>
                <a:tc>
                  <a:txBody>
                    <a:bodyPr/>
                    <a:lstStyle/>
                    <a:p>
                      <a:pPr indent="0" algn="ctr">
                        <a:lnSpc>
                          <a:spcPts val="3000"/>
                        </a:lnSpc>
                        <a:spcAft>
                          <a:spcPts val="0"/>
                        </a:spcAft>
                      </a:pPr>
                      <a:r>
                        <a:rPr lang="en-US" sz="2000" kern="100">
                          <a:solidFill>
                            <a:srgbClr val="0000FF"/>
                          </a:solidFill>
                          <a:latin typeface="Consolas" pitchFamily="49" charset="0"/>
                        </a:rPr>
                        <a:t>2</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solidFill>
                  </a:tcPr>
                </a:tc>
                <a:tc>
                  <a:txBody>
                    <a:bodyPr/>
                    <a:lstStyle/>
                    <a:p>
                      <a:pPr indent="0" algn="ctr">
                        <a:lnSpc>
                          <a:spcPts val="3000"/>
                        </a:lnSpc>
                        <a:spcAft>
                          <a:spcPts val="0"/>
                        </a:spcAft>
                      </a:pPr>
                      <a:r>
                        <a:rPr lang="en-US" sz="2000" kern="100">
                          <a:solidFill>
                            <a:srgbClr val="0000FF"/>
                          </a:solidFill>
                          <a:latin typeface="Consolas" pitchFamily="49" charset="0"/>
                        </a:rPr>
                        <a:t>6</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solidFill>
                  </a:tcPr>
                </a:tc>
                <a:tc>
                  <a:txBody>
                    <a:bodyPr/>
                    <a:lstStyle/>
                    <a:p>
                      <a:pPr indent="0" algn="ctr">
                        <a:lnSpc>
                          <a:spcPts val="3000"/>
                        </a:lnSpc>
                        <a:spcAft>
                          <a:spcPts val="0"/>
                        </a:spcAft>
                      </a:pPr>
                      <a:r>
                        <a:rPr lang="en-US" sz="2000" kern="100">
                          <a:solidFill>
                            <a:srgbClr val="0000FF"/>
                          </a:solidFill>
                          <a:latin typeface="Consolas" pitchFamily="49" charset="0"/>
                        </a:rPr>
                        <a:t>5</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solidFill>
                  </a:tcPr>
                </a:tc>
                <a:tc>
                  <a:txBody>
                    <a:bodyPr/>
                    <a:lstStyle/>
                    <a:p>
                      <a:pPr indent="0" algn="ctr">
                        <a:lnSpc>
                          <a:spcPts val="3000"/>
                        </a:lnSpc>
                        <a:spcAft>
                          <a:spcPts val="0"/>
                        </a:spcAft>
                      </a:pPr>
                      <a:r>
                        <a:rPr lang="en-US" sz="2000" kern="100">
                          <a:solidFill>
                            <a:srgbClr val="0000FF"/>
                          </a:solidFill>
                          <a:latin typeface="Consolas" pitchFamily="49" charset="0"/>
                        </a:rPr>
                        <a:t>6</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solidFill>
                  </a:tcPr>
                </a:tc>
                <a:tc>
                  <a:txBody>
                    <a:bodyPr/>
                    <a:lstStyle/>
                    <a:p>
                      <a:pPr indent="0" algn="ctr">
                        <a:lnSpc>
                          <a:spcPts val="3000"/>
                        </a:lnSpc>
                        <a:spcAft>
                          <a:spcPts val="0"/>
                        </a:spcAft>
                      </a:pPr>
                      <a:r>
                        <a:rPr lang="en-US" sz="2000" kern="100">
                          <a:solidFill>
                            <a:srgbClr val="0000FF"/>
                          </a:solidFill>
                          <a:latin typeface="Consolas" pitchFamily="49" charset="0"/>
                        </a:rPr>
                        <a:t>3</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solidFill>
                  </a:tcPr>
                </a:tc>
                <a:extLst>
                  <a:ext uri="{0D108BD9-81ED-4DB2-BD59-A6C34878D82A}">
                    <a16:rowId xmlns:a16="http://schemas.microsoft.com/office/drawing/2014/main" val="10003"/>
                  </a:ext>
                </a:extLst>
              </a:tr>
              <a:tr h="401839">
                <a:tc>
                  <a:txBody>
                    <a:bodyPr/>
                    <a:lstStyle/>
                    <a:p>
                      <a:pPr indent="0" algn="ctr">
                        <a:lnSpc>
                          <a:spcPts val="3000"/>
                        </a:lnSpc>
                        <a:spcAft>
                          <a:spcPts val="0"/>
                        </a:spcAft>
                      </a:pPr>
                      <a:r>
                        <a:rPr lang="en-US" sz="1800" b="0" kern="100">
                          <a:solidFill>
                            <a:schemeClr val="tx1"/>
                          </a:solidFill>
                          <a:latin typeface="Consolas" pitchFamily="49" charset="0"/>
                        </a:rPr>
                        <a:t>3</a:t>
                      </a:r>
                      <a:endParaRPr lang="zh-CN" sz="1800" b="0" kern="100">
                        <a:solidFill>
                          <a:schemeClr val="tx1"/>
                        </a:solidFill>
                        <a:latin typeface="Consolas" pitchFamily="49" charset="0"/>
                        <a:ea typeface="仿宋" pitchFamily="49" charset="-122"/>
                        <a:cs typeface="Times New Roman"/>
                      </a:endParaRPr>
                    </a:p>
                  </a:txBody>
                  <a:tcPr marL="68580" marR="68580" marT="0" marB="0">
                    <a:solidFill>
                      <a:schemeClr val="bg1"/>
                    </a:solidFill>
                  </a:tcPr>
                </a:tc>
                <a:tc>
                  <a:txBody>
                    <a:bodyPr/>
                    <a:lstStyle/>
                    <a:p>
                      <a:pPr indent="0" algn="ctr">
                        <a:lnSpc>
                          <a:spcPts val="3000"/>
                        </a:lnSpc>
                        <a:spcAft>
                          <a:spcPts val="0"/>
                        </a:spcAft>
                      </a:pPr>
                      <a:r>
                        <a:rPr lang="en-US" sz="2000" kern="100">
                          <a:solidFill>
                            <a:srgbClr val="0000FF"/>
                          </a:solidFill>
                          <a:latin typeface="Consolas" pitchFamily="49" charset="0"/>
                        </a:rPr>
                        <a:t>0</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solidFill>
                  </a:tcPr>
                </a:tc>
                <a:tc>
                  <a:txBody>
                    <a:bodyPr/>
                    <a:lstStyle/>
                    <a:p>
                      <a:pPr indent="0" algn="ctr">
                        <a:lnSpc>
                          <a:spcPts val="3000"/>
                        </a:lnSpc>
                        <a:spcAft>
                          <a:spcPts val="0"/>
                        </a:spcAft>
                      </a:pPr>
                      <a:r>
                        <a:rPr lang="en-US" sz="2000" kern="100">
                          <a:solidFill>
                            <a:srgbClr val="0000FF"/>
                          </a:solidFill>
                          <a:latin typeface="Consolas" pitchFamily="49" charset="0"/>
                        </a:rPr>
                        <a:t>1</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solidFill>
                  </a:tcPr>
                </a:tc>
                <a:tc>
                  <a:txBody>
                    <a:bodyPr/>
                    <a:lstStyle/>
                    <a:p>
                      <a:pPr indent="0" algn="ctr">
                        <a:lnSpc>
                          <a:spcPts val="3000"/>
                        </a:lnSpc>
                        <a:spcAft>
                          <a:spcPts val="0"/>
                        </a:spcAft>
                      </a:pPr>
                      <a:r>
                        <a:rPr lang="en-US" sz="2000" kern="100">
                          <a:solidFill>
                            <a:srgbClr val="0000FF"/>
                          </a:solidFill>
                          <a:latin typeface="Consolas" pitchFamily="49" charset="0"/>
                        </a:rPr>
                        <a:t>2</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solidFill>
                  </a:tcPr>
                </a:tc>
                <a:tc>
                  <a:txBody>
                    <a:bodyPr/>
                    <a:lstStyle/>
                    <a:p>
                      <a:pPr indent="0" algn="ctr">
                        <a:lnSpc>
                          <a:spcPts val="3000"/>
                        </a:lnSpc>
                        <a:spcAft>
                          <a:spcPts val="0"/>
                        </a:spcAft>
                      </a:pPr>
                      <a:r>
                        <a:rPr lang="en-US" sz="2000" kern="100">
                          <a:solidFill>
                            <a:srgbClr val="0000FF"/>
                          </a:solidFill>
                          <a:latin typeface="Consolas" pitchFamily="49" charset="0"/>
                        </a:rPr>
                        <a:t>6</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solidFill>
                  </a:tcPr>
                </a:tc>
                <a:tc>
                  <a:txBody>
                    <a:bodyPr/>
                    <a:lstStyle/>
                    <a:p>
                      <a:pPr indent="0" algn="ctr">
                        <a:lnSpc>
                          <a:spcPts val="3000"/>
                        </a:lnSpc>
                        <a:spcAft>
                          <a:spcPts val="0"/>
                        </a:spcAft>
                      </a:pPr>
                      <a:r>
                        <a:rPr lang="en-US" sz="2000" kern="100">
                          <a:solidFill>
                            <a:srgbClr val="0000FF"/>
                          </a:solidFill>
                          <a:latin typeface="Consolas" pitchFamily="49" charset="0"/>
                        </a:rPr>
                        <a:t>5</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solidFill>
                  </a:tcPr>
                </a:tc>
                <a:tc>
                  <a:txBody>
                    <a:bodyPr/>
                    <a:lstStyle/>
                    <a:p>
                      <a:pPr indent="0" algn="ctr">
                        <a:lnSpc>
                          <a:spcPts val="3000"/>
                        </a:lnSpc>
                        <a:spcAft>
                          <a:spcPts val="0"/>
                        </a:spcAft>
                      </a:pPr>
                      <a:r>
                        <a:rPr lang="en-US" sz="2000" kern="100">
                          <a:solidFill>
                            <a:srgbClr val="0000FF"/>
                          </a:solidFill>
                          <a:latin typeface="Consolas" pitchFamily="49" charset="0"/>
                        </a:rPr>
                        <a:t>6</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solidFill>
                  </a:tcPr>
                </a:tc>
                <a:tc>
                  <a:txBody>
                    <a:bodyPr/>
                    <a:lstStyle/>
                    <a:p>
                      <a:pPr indent="0" algn="ctr">
                        <a:lnSpc>
                          <a:spcPts val="3000"/>
                        </a:lnSpc>
                        <a:spcAft>
                          <a:spcPts val="0"/>
                        </a:spcAft>
                      </a:pPr>
                      <a:r>
                        <a:rPr lang="en-US" sz="2000" kern="100">
                          <a:solidFill>
                            <a:srgbClr val="0000FF"/>
                          </a:solidFill>
                          <a:latin typeface="Consolas" pitchFamily="49" charset="0"/>
                        </a:rPr>
                        <a:t>3</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solidFill>
                  </a:tcPr>
                </a:tc>
                <a:extLst>
                  <a:ext uri="{0D108BD9-81ED-4DB2-BD59-A6C34878D82A}">
                    <a16:rowId xmlns:a16="http://schemas.microsoft.com/office/drawing/2014/main" val="10004"/>
                  </a:ext>
                </a:extLst>
              </a:tr>
              <a:tr h="401839">
                <a:tc>
                  <a:txBody>
                    <a:bodyPr/>
                    <a:lstStyle/>
                    <a:p>
                      <a:pPr indent="0" algn="ctr">
                        <a:lnSpc>
                          <a:spcPts val="3000"/>
                        </a:lnSpc>
                        <a:spcAft>
                          <a:spcPts val="0"/>
                        </a:spcAft>
                      </a:pPr>
                      <a:r>
                        <a:rPr lang="en-US" sz="1800" b="0" kern="100">
                          <a:solidFill>
                            <a:schemeClr val="tx1"/>
                          </a:solidFill>
                          <a:latin typeface="Consolas" pitchFamily="49" charset="0"/>
                        </a:rPr>
                        <a:t>4</a:t>
                      </a:r>
                      <a:endParaRPr lang="zh-CN" sz="1800" b="0" kern="100">
                        <a:solidFill>
                          <a:schemeClr val="tx1"/>
                        </a:solidFill>
                        <a:latin typeface="Consolas" pitchFamily="49" charset="0"/>
                        <a:ea typeface="仿宋" pitchFamily="49" charset="-122"/>
                        <a:cs typeface="Times New Roman"/>
                      </a:endParaRPr>
                    </a:p>
                  </a:txBody>
                  <a:tcPr marL="68580" marR="68580" marT="0" marB="0">
                    <a:solidFill>
                      <a:schemeClr val="bg1"/>
                    </a:solidFill>
                  </a:tcPr>
                </a:tc>
                <a:tc>
                  <a:txBody>
                    <a:bodyPr/>
                    <a:lstStyle/>
                    <a:p>
                      <a:pPr indent="0" algn="ctr">
                        <a:lnSpc>
                          <a:spcPts val="3000"/>
                        </a:lnSpc>
                        <a:spcAft>
                          <a:spcPts val="0"/>
                        </a:spcAft>
                      </a:pPr>
                      <a:r>
                        <a:rPr lang="en-US" sz="2000" kern="100">
                          <a:solidFill>
                            <a:srgbClr val="0000FF"/>
                          </a:solidFill>
                          <a:latin typeface="Consolas" pitchFamily="49" charset="0"/>
                        </a:rPr>
                        <a:t>0</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solidFill>
                  </a:tcPr>
                </a:tc>
                <a:tc>
                  <a:txBody>
                    <a:bodyPr/>
                    <a:lstStyle/>
                    <a:p>
                      <a:pPr indent="0" algn="ctr">
                        <a:lnSpc>
                          <a:spcPts val="3000"/>
                        </a:lnSpc>
                        <a:spcAft>
                          <a:spcPts val="0"/>
                        </a:spcAft>
                      </a:pPr>
                      <a:r>
                        <a:rPr lang="en-US" sz="2000" kern="100">
                          <a:solidFill>
                            <a:srgbClr val="0000FF"/>
                          </a:solidFill>
                          <a:latin typeface="Consolas" pitchFamily="49" charset="0"/>
                        </a:rPr>
                        <a:t>1</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solidFill>
                  </a:tcPr>
                </a:tc>
                <a:tc>
                  <a:txBody>
                    <a:bodyPr/>
                    <a:lstStyle/>
                    <a:p>
                      <a:pPr indent="0" algn="ctr">
                        <a:lnSpc>
                          <a:spcPts val="3000"/>
                        </a:lnSpc>
                        <a:spcAft>
                          <a:spcPts val="0"/>
                        </a:spcAft>
                      </a:pPr>
                      <a:r>
                        <a:rPr lang="en-US" sz="2000" kern="100">
                          <a:solidFill>
                            <a:srgbClr val="0000FF"/>
                          </a:solidFill>
                          <a:latin typeface="Consolas" pitchFamily="49" charset="0"/>
                        </a:rPr>
                        <a:t>2</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solidFill>
                  </a:tcPr>
                </a:tc>
                <a:tc>
                  <a:txBody>
                    <a:bodyPr/>
                    <a:lstStyle/>
                    <a:p>
                      <a:pPr indent="0" algn="ctr">
                        <a:lnSpc>
                          <a:spcPts val="3000"/>
                        </a:lnSpc>
                        <a:spcAft>
                          <a:spcPts val="0"/>
                        </a:spcAft>
                      </a:pPr>
                      <a:r>
                        <a:rPr lang="en-US" sz="2000" kern="100">
                          <a:solidFill>
                            <a:srgbClr val="0000FF"/>
                          </a:solidFill>
                          <a:latin typeface="Consolas" pitchFamily="49" charset="0"/>
                        </a:rPr>
                        <a:t>6</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solidFill>
                  </a:tcPr>
                </a:tc>
                <a:tc>
                  <a:txBody>
                    <a:bodyPr/>
                    <a:lstStyle/>
                    <a:p>
                      <a:pPr indent="0" algn="ctr">
                        <a:lnSpc>
                          <a:spcPts val="3000"/>
                        </a:lnSpc>
                        <a:spcAft>
                          <a:spcPts val="0"/>
                        </a:spcAft>
                      </a:pPr>
                      <a:r>
                        <a:rPr lang="en-US" sz="2000" kern="100">
                          <a:solidFill>
                            <a:srgbClr val="0000FF"/>
                          </a:solidFill>
                          <a:latin typeface="Consolas" pitchFamily="49" charset="0"/>
                        </a:rPr>
                        <a:t>5</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solidFill>
                  </a:tcPr>
                </a:tc>
                <a:tc>
                  <a:txBody>
                    <a:bodyPr/>
                    <a:lstStyle/>
                    <a:p>
                      <a:pPr indent="0" algn="ctr">
                        <a:lnSpc>
                          <a:spcPts val="3000"/>
                        </a:lnSpc>
                        <a:spcAft>
                          <a:spcPts val="0"/>
                        </a:spcAft>
                      </a:pPr>
                      <a:r>
                        <a:rPr lang="en-US" sz="2000" kern="100">
                          <a:solidFill>
                            <a:srgbClr val="0000FF"/>
                          </a:solidFill>
                          <a:latin typeface="Consolas" pitchFamily="49" charset="0"/>
                        </a:rPr>
                        <a:t>6</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solidFill>
                  </a:tcPr>
                </a:tc>
                <a:tc>
                  <a:txBody>
                    <a:bodyPr/>
                    <a:lstStyle/>
                    <a:p>
                      <a:pPr indent="0" algn="ctr">
                        <a:lnSpc>
                          <a:spcPts val="3000"/>
                        </a:lnSpc>
                        <a:spcAft>
                          <a:spcPts val="0"/>
                        </a:spcAft>
                      </a:pPr>
                      <a:r>
                        <a:rPr lang="en-US" sz="2000" kern="100">
                          <a:solidFill>
                            <a:srgbClr val="0000FF"/>
                          </a:solidFill>
                          <a:latin typeface="Consolas" pitchFamily="49" charset="0"/>
                        </a:rPr>
                        <a:t>3</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solidFill>
                  </a:tcPr>
                </a:tc>
                <a:extLst>
                  <a:ext uri="{0D108BD9-81ED-4DB2-BD59-A6C34878D82A}">
                    <a16:rowId xmlns:a16="http://schemas.microsoft.com/office/drawing/2014/main" val="10005"/>
                  </a:ext>
                </a:extLst>
              </a:tr>
              <a:tr h="401839">
                <a:tc>
                  <a:txBody>
                    <a:bodyPr/>
                    <a:lstStyle/>
                    <a:p>
                      <a:pPr indent="0" algn="ctr">
                        <a:lnSpc>
                          <a:spcPts val="3000"/>
                        </a:lnSpc>
                        <a:spcAft>
                          <a:spcPts val="0"/>
                        </a:spcAft>
                      </a:pPr>
                      <a:r>
                        <a:rPr lang="en-US" sz="1800" b="0" kern="100">
                          <a:solidFill>
                            <a:schemeClr val="tx1"/>
                          </a:solidFill>
                          <a:latin typeface="Consolas" pitchFamily="49" charset="0"/>
                        </a:rPr>
                        <a:t>5</a:t>
                      </a:r>
                      <a:endParaRPr lang="zh-CN" sz="1800" b="0" kern="100">
                        <a:solidFill>
                          <a:schemeClr val="tx1"/>
                        </a:solidFill>
                        <a:latin typeface="Consolas" pitchFamily="49" charset="0"/>
                        <a:ea typeface="仿宋" pitchFamily="49" charset="-122"/>
                        <a:cs typeface="Times New Roman"/>
                      </a:endParaRPr>
                    </a:p>
                  </a:txBody>
                  <a:tcPr marL="68580" marR="68580" marT="0" marB="0">
                    <a:solidFill>
                      <a:schemeClr val="bg1"/>
                    </a:solidFill>
                  </a:tcPr>
                </a:tc>
                <a:tc>
                  <a:txBody>
                    <a:bodyPr/>
                    <a:lstStyle/>
                    <a:p>
                      <a:pPr indent="0" algn="ctr">
                        <a:lnSpc>
                          <a:spcPts val="3000"/>
                        </a:lnSpc>
                        <a:spcAft>
                          <a:spcPts val="0"/>
                        </a:spcAft>
                      </a:pPr>
                      <a:r>
                        <a:rPr lang="en-US" sz="2000" kern="100">
                          <a:solidFill>
                            <a:srgbClr val="0000FF"/>
                          </a:solidFill>
                          <a:latin typeface="Consolas" pitchFamily="49" charset="0"/>
                        </a:rPr>
                        <a:t>0</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solidFill>
                  </a:tcPr>
                </a:tc>
                <a:tc>
                  <a:txBody>
                    <a:bodyPr/>
                    <a:lstStyle/>
                    <a:p>
                      <a:pPr indent="0" algn="ctr">
                        <a:lnSpc>
                          <a:spcPts val="3000"/>
                        </a:lnSpc>
                        <a:spcAft>
                          <a:spcPts val="0"/>
                        </a:spcAft>
                      </a:pPr>
                      <a:r>
                        <a:rPr lang="en-US" sz="2000" kern="100">
                          <a:solidFill>
                            <a:srgbClr val="0000FF"/>
                          </a:solidFill>
                          <a:latin typeface="Consolas" pitchFamily="49" charset="0"/>
                        </a:rPr>
                        <a:t>1</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solidFill>
                  </a:tcPr>
                </a:tc>
                <a:tc>
                  <a:txBody>
                    <a:bodyPr/>
                    <a:lstStyle/>
                    <a:p>
                      <a:pPr indent="0" algn="ctr">
                        <a:lnSpc>
                          <a:spcPts val="3000"/>
                        </a:lnSpc>
                        <a:spcAft>
                          <a:spcPts val="0"/>
                        </a:spcAft>
                      </a:pPr>
                      <a:r>
                        <a:rPr lang="en-US" sz="2000" kern="100">
                          <a:solidFill>
                            <a:srgbClr val="0000FF"/>
                          </a:solidFill>
                          <a:latin typeface="Consolas" pitchFamily="49" charset="0"/>
                        </a:rPr>
                        <a:t>2</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solidFill>
                  </a:tcPr>
                </a:tc>
                <a:tc>
                  <a:txBody>
                    <a:bodyPr/>
                    <a:lstStyle/>
                    <a:p>
                      <a:pPr indent="0" algn="ctr">
                        <a:lnSpc>
                          <a:spcPts val="3000"/>
                        </a:lnSpc>
                        <a:spcAft>
                          <a:spcPts val="0"/>
                        </a:spcAft>
                      </a:pPr>
                      <a:r>
                        <a:rPr lang="en-US" sz="2000" kern="100">
                          <a:solidFill>
                            <a:srgbClr val="0000FF"/>
                          </a:solidFill>
                          <a:latin typeface="Consolas" pitchFamily="49" charset="0"/>
                        </a:rPr>
                        <a:t>6</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solidFill>
                  </a:tcPr>
                </a:tc>
                <a:tc>
                  <a:txBody>
                    <a:bodyPr/>
                    <a:lstStyle/>
                    <a:p>
                      <a:pPr indent="0" algn="ctr">
                        <a:lnSpc>
                          <a:spcPts val="3000"/>
                        </a:lnSpc>
                        <a:spcAft>
                          <a:spcPts val="0"/>
                        </a:spcAft>
                      </a:pPr>
                      <a:r>
                        <a:rPr lang="en-US" sz="2000" kern="100">
                          <a:solidFill>
                            <a:srgbClr val="0000FF"/>
                          </a:solidFill>
                          <a:latin typeface="Consolas" pitchFamily="49" charset="0"/>
                        </a:rPr>
                        <a:t>5</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solidFill>
                  </a:tcPr>
                </a:tc>
                <a:tc>
                  <a:txBody>
                    <a:bodyPr/>
                    <a:lstStyle/>
                    <a:p>
                      <a:pPr indent="0" algn="ctr">
                        <a:lnSpc>
                          <a:spcPts val="3000"/>
                        </a:lnSpc>
                        <a:spcAft>
                          <a:spcPts val="0"/>
                        </a:spcAft>
                      </a:pPr>
                      <a:r>
                        <a:rPr lang="en-US" sz="2000" kern="100">
                          <a:solidFill>
                            <a:srgbClr val="0000FF"/>
                          </a:solidFill>
                          <a:latin typeface="Consolas" pitchFamily="49" charset="0"/>
                        </a:rPr>
                        <a:t>6</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solidFill>
                  </a:tcPr>
                </a:tc>
                <a:tc>
                  <a:txBody>
                    <a:bodyPr/>
                    <a:lstStyle/>
                    <a:p>
                      <a:pPr indent="0" algn="ctr">
                        <a:lnSpc>
                          <a:spcPts val="3000"/>
                        </a:lnSpc>
                        <a:spcAft>
                          <a:spcPts val="0"/>
                        </a:spcAft>
                      </a:pPr>
                      <a:r>
                        <a:rPr lang="en-US" sz="2000" kern="100">
                          <a:solidFill>
                            <a:srgbClr val="0000FF"/>
                          </a:solidFill>
                          <a:latin typeface="Consolas" pitchFamily="49" charset="0"/>
                        </a:rPr>
                        <a:t>3</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solidFill>
                  </a:tcPr>
                </a:tc>
                <a:extLst>
                  <a:ext uri="{0D108BD9-81ED-4DB2-BD59-A6C34878D82A}">
                    <a16:rowId xmlns:a16="http://schemas.microsoft.com/office/drawing/2014/main" val="10006"/>
                  </a:ext>
                </a:extLst>
              </a:tr>
              <a:tr h="401839">
                <a:tc>
                  <a:txBody>
                    <a:bodyPr/>
                    <a:lstStyle/>
                    <a:p>
                      <a:pPr indent="0" algn="ctr">
                        <a:lnSpc>
                          <a:spcPts val="3000"/>
                        </a:lnSpc>
                        <a:spcAft>
                          <a:spcPts val="0"/>
                        </a:spcAft>
                      </a:pPr>
                      <a:r>
                        <a:rPr lang="en-US" sz="1800" b="0" kern="100">
                          <a:solidFill>
                            <a:schemeClr val="tx1"/>
                          </a:solidFill>
                          <a:latin typeface="Consolas" pitchFamily="49" charset="0"/>
                        </a:rPr>
                        <a:t>6</a:t>
                      </a:r>
                      <a:endParaRPr lang="zh-CN" sz="1800" b="0" kern="100">
                        <a:solidFill>
                          <a:schemeClr val="tx1"/>
                        </a:solidFill>
                        <a:latin typeface="Consolas" pitchFamily="49" charset="0"/>
                        <a:ea typeface="宋体"/>
                        <a:cs typeface="Times New Roman"/>
                      </a:endParaRPr>
                    </a:p>
                  </a:txBody>
                  <a:tcPr marL="68580" marR="68580" marT="0" marB="0">
                    <a:solidFill>
                      <a:schemeClr val="bg1"/>
                    </a:solidFill>
                  </a:tcPr>
                </a:tc>
                <a:tc>
                  <a:txBody>
                    <a:bodyPr/>
                    <a:lstStyle/>
                    <a:p>
                      <a:pPr indent="0" algn="ctr">
                        <a:lnSpc>
                          <a:spcPts val="3000"/>
                        </a:lnSpc>
                        <a:spcAft>
                          <a:spcPts val="0"/>
                        </a:spcAft>
                      </a:pPr>
                      <a:r>
                        <a:rPr lang="en-US" sz="2000" kern="100">
                          <a:solidFill>
                            <a:srgbClr val="0000FF"/>
                          </a:solidFill>
                          <a:latin typeface="Consolas" pitchFamily="49" charset="0"/>
                        </a:rPr>
                        <a:t>0</a:t>
                      </a:r>
                      <a:endParaRPr lang="zh-CN" sz="2000" kern="100">
                        <a:solidFill>
                          <a:srgbClr val="0000FF"/>
                        </a:solidFill>
                        <a:latin typeface="Consolas" pitchFamily="49" charset="0"/>
                        <a:ea typeface="宋体"/>
                        <a:cs typeface="Times New Roman"/>
                      </a:endParaRPr>
                    </a:p>
                  </a:txBody>
                  <a:tcPr marL="68580" marR="68580" marT="0" marB="0">
                    <a:solidFill>
                      <a:schemeClr val="bg1"/>
                    </a:solidFill>
                  </a:tcPr>
                </a:tc>
                <a:tc>
                  <a:txBody>
                    <a:bodyPr/>
                    <a:lstStyle/>
                    <a:p>
                      <a:pPr indent="0" algn="ctr">
                        <a:lnSpc>
                          <a:spcPts val="3000"/>
                        </a:lnSpc>
                        <a:spcAft>
                          <a:spcPts val="0"/>
                        </a:spcAft>
                      </a:pPr>
                      <a:r>
                        <a:rPr lang="en-US" sz="2000" kern="100">
                          <a:solidFill>
                            <a:srgbClr val="0000FF"/>
                          </a:solidFill>
                          <a:latin typeface="Consolas" pitchFamily="49" charset="0"/>
                        </a:rPr>
                        <a:t>1</a:t>
                      </a:r>
                      <a:endParaRPr lang="zh-CN" sz="2000" kern="100">
                        <a:solidFill>
                          <a:srgbClr val="0000FF"/>
                        </a:solidFill>
                        <a:latin typeface="Consolas" pitchFamily="49" charset="0"/>
                        <a:ea typeface="宋体"/>
                        <a:cs typeface="Times New Roman"/>
                      </a:endParaRPr>
                    </a:p>
                  </a:txBody>
                  <a:tcPr marL="68580" marR="68580" marT="0" marB="0">
                    <a:solidFill>
                      <a:schemeClr val="bg1"/>
                    </a:solidFill>
                  </a:tcPr>
                </a:tc>
                <a:tc>
                  <a:txBody>
                    <a:bodyPr/>
                    <a:lstStyle/>
                    <a:p>
                      <a:pPr indent="0" algn="ctr">
                        <a:lnSpc>
                          <a:spcPts val="3000"/>
                        </a:lnSpc>
                        <a:spcAft>
                          <a:spcPts val="0"/>
                        </a:spcAft>
                      </a:pPr>
                      <a:r>
                        <a:rPr lang="en-US" sz="2000" kern="100">
                          <a:solidFill>
                            <a:srgbClr val="0000FF"/>
                          </a:solidFill>
                          <a:latin typeface="Consolas" pitchFamily="49" charset="0"/>
                        </a:rPr>
                        <a:t>2</a:t>
                      </a:r>
                      <a:endParaRPr lang="zh-CN" sz="2000" kern="100">
                        <a:solidFill>
                          <a:srgbClr val="0000FF"/>
                        </a:solidFill>
                        <a:latin typeface="Consolas" pitchFamily="49" charset="0"/>
                        <a:ea typeface="宋体"/>
                        <a:cs typeface="Times New Roman"/>
                      </a:endParaRPr>
                    </a:p>
                  </a:txBody>
                  <a:tcPr marL="68580" marR="68580" marT="0" marB="0">
                    <a:solidFill>
                      <a:schemeClr val="bg1"/>
                    </a:solidFill>
                  </a:tcPr>
                </a:tc>
                <a:tc>
                  <a:txBody>
                    <a:bodyPr/>
                    <a:lstStyle/>
                    <a:p>
                      <a:pPr indent="0" algn="ctr">
                        <a:lnSpc>
                          <a:spcPts val="3000"/>
                        </a:lnSpc>
                        <a:spcAft>
                          <a:spcPts val="0"/>
                        </a:spcAft>
                      </a:pPr>
                      <a:r>
                        <a:rPr lang="en-US" sz="2000" kern="100">
                          <a:solidFill>
                            <a:srgbClr val="0000FF"/>
                          </a:solidFill>
                          <a:latin typeface="Consolas" pitchFamily="49" charset="0"/>
                        </a:rPr>
                        <a:t>6</a:t>
                      </a:r>
                      <a:endParaRPr lang="zh-CN" sz="2000" kern="100">
                        <a:solidFill>
                          <a:srgbClr val="0000FF"/>
                        </a:solidFill>
                        <a:latin typeface="Consolas" pitchFamily="49" charset="0"/>
                        <a:ea typeface="宋体"/>
                        <a:cs typeface="Times New Roman"/>
                      </a:endParaRPr>
                    </a:p>
                  </a:txBody>
                  <a:tcPr marL="68580" marR="68580" marT="0" marB="0">
                    <a:solidFill>
                      <a:schemeClr val="bg1"/>
                    </a:solidFill>
                  </a:tcPr>
                </a:tc>
                <a:tc>
                  <a:txBody>
                    <a:bodyPr/>
                    <a:lstStyle/>
                    <a:p>
                      <a:pPr indent="0" algn="ctr">
                        <a:lnSpc>
                          <a:spcPts val="3000"/>
                        </a:lnSpc>
                        <a:spcAft>
                          <a:spcPts val="0"/>
                        </a:spcAft>
                      </a:pPr>
                      <a:r>
                        <a:rPr lang="en-US" sz="2000" kern="100">
                          <a:solidFill>
                            <a:srgbClr val="0000FF"/>
                          </a:solidFill>
                          <a:latin typeface="Consolas" pitchFamily="49" charset="0"/>
                        </a:rPr>
                        <a:t>5</a:t>
                      </a:r>
                      <a:endParaRPr lang="zh-CN" sz="2000" kern="100">
                        <a:solidFill>
                          <a:srgbClr val="0000FF"/>
                        </a:solidFill>
                        <a:latin typeface="Consolas" pitchFamily="49" charset="0"/>
                        <a:ea typeface="宋体"/>
                        <a:cs typeface="Times New Roman"/>
                      </a:endParaRPr>
                    </a:p>
                  </a:txBody>
                  <a:tcPr marL="68580" marR="68580" marT="0" marB="0">
                    <a:solidFill>
                      <a:schemeClr val="bg1"/>
                    </a:solidFill>
                  </a:tcPr>
                </a:tc>
                <a:tc>
                  <a:txBody>
                    <a:bodyPr/>
                    <a:lstStyle/>
                    <a:p>
                      <a:pPr indent="0" algn="ctr">
                        <a:lnSpc>
                          <a:spcPts val="3000"/>
                        </a:lnSpc>
                        <a:spcAft>
                          <a:spcPts val="0"/>
                        </a:spcAft>
                      </a:pPr>
                      <a:r>
                        <a:rPr lang="en-US" sz="2000" kern="100">
                          <a:solidFill>
                            <a:srgbClr val="0000FF"/>
                          </a:solidFill>
                          <a:latin typeface="Consolas" pitchFamily="49" charset="0"/>
                        </a:rPr>
                        <a:t>6</a:t>
                      </a:r>
                      <a:endParaRPr lang="zh-CN" sz="2000" kern="100">
                        <a:solidFill>
                          <a:srgbClr val="0000FF"/>
                        </a:solidFill>
                        <a:latin typeface="Consolas" pitchFamily="49" charset="0"/>
                        <a:ea typeface="宋体"/>
                        <a:cs typeface="Times New Roman"/>
                      </a:endParaRPr>
                    </a:p>
                  </a:txBody>
                  <a:tcPr marL="68580" marR="68580" marT="0" marB="0">
                    <a:solidFill>
                      <a:schemeClr val="bg1"/>
                    </a:solidFill>
                  </a:tcPr>
                </a:tc>
                <a:tc>
                  <a:txBody>
                    <a:bodyPr/>
                    <a:lstStyle/>
                    <a:p>
                      <a:pPr indent="0" algn="ctr">
                        <a:lnSpc>
                          <a:spcPts val="3000"/>
                        </a:lnSpc>
                        <a:spcAft>
                          <a:spcPts val="0"/>
                        </a:spcAft>
                      </a:pPr>
                      <a:r>
                        <a:rPr lang="en-US" sz="2000" kern="100">
                          <a:solidFill>
                            <a:srgbClr val="0000FF"/>
                          </a:solidFill>
                          <a:latin typeface="Consolas" pitchFamily="49" charset="0"/>
                        </a:rPr>
                        <a:t>3</a:t>
                      </a:r>
                      <a:endParaRPr lang="zh-CN" sz="2000" kern="100">
                        <a:solidFill>
                          <a:srgbClr val="0000FF"/>
                        </a:solidFill>
                        <a:latin typeface="Consolas" pitchFamily="49" charset="0"/>
                        <a:ea typeface="宋体"/>
                        <a:cs typeface="Times New Roman"/>
                      </a:endParaRPr>
                    </a:p>
                  </a:txBody>
                  <a:tcPr marL="68580" marR="68580" marT="0" marB="0">
                    <a:solidFill>
                      <a:schemeClr val="bg1"/>
                    </a:solidFill>
                  </a:tcPr>
                </a:tc>
                <a:extLst>
                  <a:ext uri="{0D108BD9-81ED-4DB2-BD59-A6C34878D82A}">
                    <a16:rowId xmlns:a16="http://schemas.microsoft.com/office/drawing/2014/main" val="10007"/>
                  </a:ext>
                </a:extLst>
              </a:tr>
            </a:tbl>
          </a:graphicData>
        </a:graphic>
      </p:graphicFrame>
      <p:sp>
        <p:nvSpPr>
          <p:cNvPr id="39" name="灯片编号占位符 38"/>
          <p:cNvSpPr>
            <a:spLocks noGrp="1"/>
          </p:cNvSpPr>
          <p:nvPr>
            <p:ph type="sldNum" sz="quarter" idx="12"/>
          </p:nvPr>
        </p:nvSpPr>
        <p:spPr/>
        <p:txBody>
          <a:bodyPr/>
          <a:lstStyle/>
          <a:p>
            <a:fld id="{7AF016A1-9F15-429F-9EFD-84004B73C732}" type="slidenum">
              <a:rPr lang="en-US" altLang="zh-CN" smtClean="0"/>
              <a:pPr/>
              <a:t>64</a:t>
            </a:fld>
            <a:r>
              <a:rPr lang="en-US" altLang="zh-CN"/>
              <a:t>/158</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ChangeArrowheads="1"/>
          </p:cNvSpPr>
          <p:nvPr/>
        </p:nvSpPr>
        <p:spPr bwMode="auto">
          <a:xfrm>
            <a:off x="0" y="2895600"/>
            <a:ext cx="184731" cy="461665"/>
          </a:xfrm>
          <a:prstGeom prst="rect">
            <a:avLst/>
          </a:prstGeom>
          <a:noFill/>
          <a:ln w="9525">
            <a:noFill/>
            <a:miter lim="800000"/>
            <a:headEnd/>
            <a:tailEnd/>
          </a:ln>
        </p:spPr>
        <p:txBody>
          <a:bodyPr wrap="none" anchor="ctr">
            <a:spAutoFit/>
          </a:bodyPr>
          <a:lstStyle/>
          <a:p>
            <a:endParaRPr lang="zh-CN" altLang="en-US">
              <a:latin typeface="Consolas" pitchFamily="49" charset="0"/>
              <a:cs typeface="Consolas" pitchFamily="49" charset="0"/>
            </a:endParaRPr>
          </a:p>
        </p:txBody>
      </p:sp>
      <p:sp>
        <p:nvSpPr>
          <p:cNvPr id="18436" name="Text Box 4"/>
          <p:cNvSpPr txBox="1">
            <a:spLocks noChangeArrowheads="1"/>
          </p:cNvSpPr>
          <p:nvPr/>
        </p:nvSpPr>
        <p:spPr bwMode="auto">
          <a:xfrm>
            <a:off x="428596" y="2571744"/>
            <a:ext cx="3240088" cy="400110"/>
          </a:xfrm>
          <a:prstGeom prst="rect">
            <a:avLst/>
          </a:prstGeom>
          <a:noFill/>
          <a:ln w="9525">
            <a:noFill/>
            <a:miter lim="800000"/>
            <a:headEnd/>
            <a:tailEnd/>
          </a:ln>
        </p:spPr>
        <p:txBody>
          <a:bodyPr>
            <a:spAutoFit/>
          </a:bodyPr>
          <a:lstStyle/>
          <a:p>
            <a:pPr algn="l">
              <a:lnSpc>
                <a:spcPct val="100000"/>
              </a:lnSpc>
              <a:spcBef>
                <a:spcPct val="50000"/>
              </a:spcBef>
            </a:pPr>
            <a:r>
              <a:rPr lang="en-US" altLang="zh-CN" sz="2000">
                <a:solidFill>
                  <a:srgbClr val="0000FF"/>
                </a:solidFill>
                <a:latin typeface="Consolas" pitchFamily="49" charset="0"/>
                <a:ea typeface="楷体" pitchFamily="49" charset="-122"/>
                <a:cs typeface="Consolas" pitchFamily="49" charset="0"/>
              </a:rPr>
              <a:t>path</a:t>
            </a:r>
            <a:r>
              <a:rPr lang="zh-CN" altLang="en-US" sz="2000">
                <a:solidFill>
                  <a:srgbClr val="0000FF"/>
                </a:solidFill>
                <a:latin typeface="Consolas" pitchFamily="49" charset="0"/>
                <a:ea typeface="楷体" pitchFamily="49" charset="-122"/>
                <a:cs typeface="Consolas" pitchFamily="49" charset="0"/>
              </a:rPr>
              <a:t>数组的变化过程 </a:t>
            </a:r>
          </a:p>
        </p:txBody>
      </p:sp>
      <p:sp>
        <p:nvSpPr>
          <p:cNvPr id="18437" name="Text Box 5"/>
          <p:cNvSpPr txBox="1">
            <a:spLocks noChangeArrowheads="1"/>
          </p:cNvSpPr>
          <p:nvPr/>
        </p:nvSpPr>
        <p:spPr bwMode="auto">
          <a:xfrm>
            <a:off x="4143372" y="1214422"/>
            <a:ext cx="4357718" cy="387798"/>
          </a:xfrm>
          <a:prstGeom prst="rect">
            <a:avLst/>
          </a:prstGeom>
          <a:noFill/>
          <a:ln w="9525">
            <a:noFill/>
            <a:miter lim="800000"/>
            <a:headEnd/>
            <a:tailEnd/>
          </a:ln>
        </p:spPr>
        <p:txBody>
          <a:bodyPr wrap="square">
            <a:spAutoFit/>
          </a:bodyPr>
          <a:lstStyle/>
          <a:p>
            <a:pPr algn="l">
              <a:spcBef>
                <a:spcPct val="50000"/>
              </a:spcBef>
            </a:pPr>
            <a:r>
              <a:rPr lang="zh-CN" altLang="en-US">
                <a:solidFill>
                  <a:srgbClr val="0000FF"/>
                </a:solidFill>
                <a:latin typeface="Consolas" pitchFamily="49" charset="0"/>
                <a:ea typeface="仿宋" pitchFamily="49" charset="-122"/>
                <a:cs typeface="Consolas" pitchFamily="49" charset="0"/>
              </a:rPr>
              <a:t>求顶点</a:t>
            </a:r>
            <a:r>
              <a:rPr lang="en-US" altLang="zh-CN">
                <a:solidFill>
                  <a:srgbClr val="0000FF"/>
                </a:solidFill>
                <a:latin typeface="Consolas" pitchFamily="49" charset="0"/>
                <a:ea typeface="仿宋" pitchFamily="49" charset="-122"/>
                <a:cs typeface="Consolas" pitchFamily="49" charset="0"/>
              </a:rPr>
              <a:t>0</a:t>
            </a:r>
            <a:r>
              <a:rPr lang="zh-CN" altLang="en-US">
                <a:solidFill>
                  <a:srgbClr val="0000FF"/>
                </a:solidFill>
                <a:latin typeface="Consolas" pitchFamily="49" charset="0"/>
                <a:ea typeface="仿宋" pitchFamily="49" charset="-122"/>
                <a:cs typeface="Consolas" pitchFamily="49" charset="0"/>
              </a:rPr>
              <a:t>到其他顶点的最短路径 </a:t>
            </a:r>
          </a:p>
        </p:txBody>
      </p:sp>
      <p:sp>
        <p:nvSpPr>
          <p:cNvPr id="18466" name="Rectangle 3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38" name="组合 37"/>
          <p:cNvGrpSpPr/>
          <p:nvPr/>
        </p:nvGrpSpPr>
        <p:grpSpPr>
          <a:xfrm>
            <a:off x="794941" y="357166"/>
            <a:ext cx="3086239" cy="2143140"/>
            <a:chOff x="794941" y="357166"/>
            <a:chExt cx="3086239" cy="2143140"/>
          </a:xfrm>
        </p:grpSpPr>
        <p:sp>
          <p:nvSpPr>
            <p:cNvPr id="18464" name="Text Box 32"/>
            <p:cNvSpPr txBox="1">
              <a:spLocks noChangeArrowheads="1"/>
            </p:cNvSpPr>
            <p:nvPr/>
          </p:nvSpPr>
          <p:spPr bwMode="auto">
            <a:xfrm>
              <a:off x="1432328" y="1209616"/>
              <a:ext cx="286081" cy="26088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2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8463" name="Freeform 31"/>
            <p:cNvSpPr>
              <a:spLocks/>
            </p:cNvSpPr>
            <p:nvPr/>
          </p:nvSpPr>
          <p:spPr bwMode="auto">
            <a:xfrm>
              <a:off x="3074432" y="1578058"/>
              <a:ext cx="506935" cy="557239"/>
            </a:xfrm>
            <a:custGeom>
              <a:avLst/>
              <a:gdLst/>
              <a:ahLst/>
              <a:cxnLst>
                <a:cxn ang="0">
                  <a:pos x="0" y="488"/>
                </a:cxn>
                <a:cxn ang="0">
                  <a:pos x="443" y="0"/>
                </a:cxn>
              </a:cxnLst>
              <a:rect l="0" t="0" r="r" b="b"/>
              <a:pathLst>
                <a:path w="443" h="488">
                  <a:moveTo>
                    <a:pt x="0" y="488"/>
                  </a:moveTo>
                  <a:lnTo>
                    <a:pt x="443" y="0"/>
                  </a:lnTo>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pPr>
                <a:lnSpc>
                  <a:spcPts val="2200"/>
                </a:lnSpc>
              </a:pPr>
              <a:endParaRPr lang="zh-CN" altLang="en-US" sz="2000">
                <a:solidFill>
                  <a:srgbClr val="0000FF"/>
                </a:solidFill>
                <a:latin typeface="Consolas" pitchFamily="49" charset="0"/>
              </a:endParaRPr>
            </a:p>
          </p:txBody>
        </p:sp>
        <p:sp>
          <p:nvSpPr>
            <p:cNvPr id="18462" name="Line 30"/>
            <p:cNvSpPr>
              <a:spLocks noChangeShapeType="1"/>
            </p:cNvSpPr>
            <p:nvPr/>
          </p:nvSpPr>
          <p:spPr bwMode="auto">
            <a:xfrm flipV="1">
              <a:off x="1048980" y="701579"/>
              <a:ext cx="492059" cy="580124"/>
            </a:xfrm>
            <a:prstGeom prst="line">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pPr>
                <a:lnSpc>
                  <a:spcPts val="2200"/>
                </a:lnSpc>
              </a:pPr>
              <a:endParaRPr lang="zh-CN" altLang="en-US" sz="2000">
                <a:solidFill>
                  <a:srgbClr val="0000FF"/>
                </a:solidFill>
                <a:latin typeface="Consolas" pitchFamily="49" charset="0"/>
              </a:endParaRPr>
            </a:p>
          </p:txBody>
        </p:sp>
        <p:sp>
          <p:nvSpPr>
            <p:cNvPr id="18461" name="Freeform 29"/>
            <p:cNvSpPr>
              <a:spLocks/>
            </p:cNvSpPr>
            <p:nvPr/>
          </p:nvSpPr>
          <p:spPr bwMode="auto">
            <a:xfrm>
              <a:off x="2355797" y="1570048"/>
              <a:ext cx="439420" cy="512614"/>
            </a:xfrm>
            <a:custGeom>
              <a:avLst/>
              <a:gdLst/>
              <a:ahLst/>
              <a:cxnLst>
                <a:cxn ang="0">
                  <a:pos x="0" y="0"/>
                </a:cxn>
                <a:cxn ang="0">
                  <a:pos x="383" y="449"/>
                </a:cxn>
              </a:cxnLst>
              <a:rect l="0" t="0" r="r" b="b"/>
              <a:pathLst>
                <a:path w="383" h="449">
                  <a:moveTo>
                    <a:pt x="0" y="0"/>
                  </a:moveTo>
                  <a:lnTo>
                    <a:pt x="383" y="449"/>
                  </a:lnTo>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pPr>
                <a:lnSpc>
                  <a:spcPts val="2200"/>
                </a:lnSpc>
              </a:pPr>
              <a:endParaRPr lang="zh-CN" altLang="en-US" sz="2000">
                <a:solidFill>
                  <a:srgbClr val="0000FF"/>
                </a:solidFill>
                <a:latin typeface="Consolas" pitchFamily="49" charset="0"/>
              </a:endParaRPr>
            </a:p>
          </p:txBody>
        </p:sp>
        <p:sp>
          <p:nvSpPr>
            <p:cNvPr id="18460" name="Line 28"/>
            <p:cNvSpPr>
              <a:spLocks noChangeShapeType="1"/>
            </p:cNvSpPr>
            <p:nvPr/>
          </p:nvSpPr>
          <p:spPr bwMode="auto">
            <a:xfrm flipV="1">
              <a:off x="1673781" y="2205095"/>
              <a:ext cx="1068798" cy="0"/>
            </a:xfrm>
            <a:prstGeom prst="line">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pPr>
                <a:lnSpc>
                  <a:spcPts val="2200"/>
                </a:lnSpc>
              </a:pPr>
              <a:endParaRPr lang="zh-CN" altLang="en-US" sz="2000">
                <a:solidFill>
                  <a:srgbClr val="0000FF"/>
                </a:solidFill>
                <a:latin typeface="Consolas" pitchFamily="49" charset="0"/>
              </a:endParaRPr>
            </a:p>
          </p:txBody>
        </p:sp>
        <p:sp>
          <p:nvSpPr>
            <p:cNvPr id="18459" name="Freeform 27"/>
            <p:cNvSpPr>
              <a:spLocks/>
            </p:cNvSpPr>
            <p:nvPr/>
          </p:nvSpPr>
          <p:spPr bwMode="auto">
            <a:xfrm>
              <a:off x="2957711" y="727896"/>
              <a:ext cx="2289" cy="1361632"/>
            </a:xfrm>
            <a:custGeom>
              <a:avLst/>
              <a:gdLst/>
              <a:ahLst/>
              <a:cxnLst>
                <a:cxn ang="0">
                  <a:pos x="0" y="0"/>
                </a:cxn>
                <a:cxn ang="0">
                  <a:pos x="2" y="1190"/>
                </a:cxn>
              </a:cxnLst>
              <a:rect l="0" t="0" r="r" b="b"/>
              <a:pathLst>
                <a:path w="2" h="1190">
                  <a:moveTo>
                    <a:pt x="0" y="0"/>
                  </a:moveTo>
                  <a:lnTo>
                    <a:pt x="2" y="1190"/>
                  </a:lnTo>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pPr>
                <a:lnSpc>
                  <a:spcPts val="2200"/>
                </a:lnSpc>
              </a:pPr>
              <a:endParaRPr lang="zh-CN" altLang="en-US" sz="2000">
                <a:solidFill>
                  <a:srgbClr val="0000FF"/>
                </a:solidFill>
                <a:latin typeface="Consolas" pitchFamily="49" charset="0"/>
              </a:endParaRPr>
            </a:p>
          </p:txBody>
        </p:sp>
        <p:sp>
          <p:nvSpPr>
            <p:cNvPr id="18458" name="Oval 26"/>
            <p:cNvSpPr>
              <a:spLocks noChangeArrowheads="1"/>
            </p:cNvSpPr>
            <p:nvPr/>
          </p:nvSpPr>
          <p:spPr bwMode="auto">
            <a:xfrm>
              <a:off x="1475813" y="396070"/>
              <a:ext cx="357029" cy="35699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2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8457" name="Oval 25"/>
            <p:cNvSpPr>
              <a:spLocks noChangeArrowheads="1"/>
            </p:cNvSpPr>
            <p:nvPr/>
          </p:nvSpPr>
          <p:spPr bwMode="auto">
            <a:xfrm>
              <a:off x="2740289" y="390349"/>
              <a:ext cx="357029" cy="355855"/>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2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8456" name="Oval 24"/>
            <p:cNvSpPr>
              <a:spLocks noChangeArrowheads="1"/>
            </p:cNvSpPr>
            <p:nvPr/>
          </p:nvSpPr>
          <p:spPr bwMode="auto">
            <a:xfrm>
              <a:off x="794941" y="1281703"/>
              <a:ext cx="357029" cy="356999"/>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2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0</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8455" name="Oval 23"/>
            <p:cNvSpPr>
              <a:spLocks noChangeArrowheads="1"/>
            </p:cNvSpPr>
            <p:nvPr/>
          </p:nvSpPr>
          <p:spPr bwMode="auto">
            <a:xfrm>
              <a:off x="2059417" y="1257674"/>
              <a:ext cx="357029" cy="35699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2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8454" name="Oval 22"/>
            <p:cNvSpPr>
              <a:spLocks noChangeArrowheads="1"/>
            </p:cNvSpPr>
            <p:nvPr/>
          </p:nvSpPr>
          <p:spPr bwMode="auto">
            <a:xfrm>
              <a:off x="3524151" y="1247376"/>
              <a:ext cx="357029" cy="358144"/>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2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6</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8453" name="Oval 21"/>
            <p:cNvSpPr>
              <a:spLocks noChangeArrowheads="1"/>
            </p:cNvSpPr>
            <p:nvPr/>
          </p:nvSpPr>
          <p:spPr bwMode="auto">
            <a:xfrm>
              <a:off x="1327051" y="2012865"/>
              <a:ext cx="358173" cy="35699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2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8452" name="Oval 20"/>
            <p:cNvSpPr>
              <a:spLocks noChangeArrowheads="1"/>
            </p:cNvSpPr>
            <p:nvPr/>
          </p:nvSpPr>
          <p:spPr bwMode="auto">
            <a:xfrm>
              <a:off x="2740289" y="2036893"/>
              <a:ext cx="357029" cy="35699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2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5</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8451" name="Line 19"/>
            <p:cNvSpPr>
              <a:spLocks noChangeShapeType="1"/>
            </p:cNvSpPr>
            <p:nvPr/>
          </p:nvSpPr>
          <p:spPr bwMode="auto">
            <a:xfrm flipV="1">
              <a:off x="1848862" y="567704"/>
              <a:ext cx="886850" cy="3433"/>
            </a:xfrm>
            <a:prstGeom prst="line">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pPr>
                <a:lnSpc>
                  <a:spcPts val="2200"/>
                </a:lnSpc>
              </a:pPr>
              <a:endParaRPr lang="zh-CN" altLang="en-US" sz="2000">
                <a:solidFill>
                  <a:srgbClr val="0000FF"/>
                </a:solidFill>
                <a:latin typeface="Consolas" pitchFamily="49" charset="0"/>
              </a:endParaRPr>
            </a:p>
          </p:txBody>
        </p:sp>
        <p:sp>
          <p:nvSpPr>
            <p:cNvPr id="18450" name="Freeform 18"/>
            <p:cNvSpPr>
              <a:spLocks/>
            </p:cNvSpPr>
            <p:nvPr/>
          </p:nvSpPr>
          <p:spPr bwMode="auto">
            <a:xfrm>
              <a:off x="3087019" y="642079"/>
              <a:ext cx="530966" cy="617883"/>
            </a:xfrm>
            <a:custGeom>
              <a:avLst/>
              <a:gdLst/>
              <a:ahLst/>
              <a:cxnLst>
                <a:cxn ang="0">
                  <a:pos x="0" y="0"/>
                </a:cxn>
                <a:cxn ang="0">
                  <a:pos x="465" y="540"/>
                </a:cxn>
              </a:cxnLst>
              <a:rect l="0" t="0" r="r" b="b"/>
              <a:pathLst>
                <a:path w="465" h="540">
                  <a:moveTo>
                    <a:pt x="0" y="0"/>
                  </a:moveTo>
                  <a:lnTo>
                    <a:pt x="465" y="540"/>
                  </a:lnTo>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pPr>
                <a:lnSpc>
                  <a:spcPts val="2200"/>
                </a:lnSpc>
              </a:pPr>
              <a:endParaRPr lang="zh-CN" altLang="en-US" sz="2000">
                <a:solidFill>
                  <a:srgbClr val="0000FF"/>
                </a:solidFill>
                <a:latin typeface="Consolas" pitchFamily="49" charset="0"/>
              </a:endParaRPr>
            </a:p>
          </p:txBody>
        </p:sp>
        <p:sp>
          <p:nvSpPr>
            <p:cNvPr id="18449" name="Freeform 17"/>
            <p:cNvSpPr>
              <a:spLocks/>
            </p:cNvSpPr>
            <p:nvPr/>
          </p:nvSpPr>
          <p:spPr bwMode="auto">
            <a:xfrm>
              <a:off x="1048980" y="1638702"/>
              <a:ext cx="338720" cy="410778"/>
            </a:xfrm>
            <a:custGeom>
              <a:avLst/>
              <a:gdLst/>
              <a:ahLst/>
              <a:cxnLst>
                <a:cxn ang="0">
                  <a:pos x="0" y="0"/>
                </a:cxn>
                <a:cxn ang="0">
                  <a:pos x="296" y="359"/>
                </a:cxn>
              </a:cxnLst>
              <a:rect l="0" t="0" r="r" b="b"/>
              <a:pathLst>
                <a:path w="296" h="359">
                  <a:moveTo>
                    <a:pt x="0" y="0"/>
                  </a:moveTo>
                  <a:lnTo>
                    <a:pt x="296" y="359"/>
                  </a:lnTo>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pPr>
                <a:lnSpc>
                  <a:spcPts val="2200"/>
                </a:lnSpc>
              </a:pPr>
              <a:endParaRPr lang="zh-CN" altLang="en-US" sz="2000">
                <a:solidFill>
                  <a:srgbClr val="0000FF"/>
                </a:solidFill>
                <a:latin typeface="Consolas" pitchFamily="49" charset="0"/>
              </a:endParaRPr>
            </a:p>
          </p:txBody>
        </p:sp>
        <p:sp>
          <p:nvSpPr>
            <p:cNvPr id="18448" name="Freeform 16"/>
            <p:cNvSpPr>
              <a:spLocks/>
            </p:cNvSpPr>
            <p:nvPr/>
          </p:nvSpPr>
          <p:spPr bwMode="auto">
            <a:xfrm>
              <a:off x="1147392" y="1461347"/>
              <a:ext cx="917747" cy="4577"/>
            </a:xfrm>
            <a:custGeom>
              <a:avLst/>
              <a:gdLst/>
              <a:ahLst/>
              <a:cxnLst>
                <a:cxn ang="0">
                  <a:pos x="0" y="4"/>
                </a:cxn>
                <a:cxn ang="0">
                  <a:pos x="802" y="0"/>
                </a:cxn>
              </a:cxnLst>
              <a:rect l="0" t="0" r="r" b="b"/>
              <a:pathLst>
                <a:path w="802" h="4">
                  <a:moveTo>
                    <a:pt x="0" y="4"/>
                  </a:moveTo>
                  <a:lnTo>
                    <a:pt x="802" y="0"/>
                  </a:lnTo>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pPr>
                <a:lnSpc>
                  <a:spcPts val="2200"/>
                </a:lnSpc>
              </a:pPr>
              <a:endParaRPr lang="zh-CN" altLang="en-US" sz="2000">
                <a:solidFill>
                  <a:srgbClr val="0000FF"/>
                </a:solidFill>
                <a:latin typeface="Consolas" pitchFamily="49" charset="0"/>
              </a:endParaRPr>
            </a:p>
          </p:txBody>
        </p:sp>
        <p:sp>
          <p:nvSpPr>
            <p:cNvPr id="18447" name="Freeform 15"/>
            <p:cNvSpPr>
              <a:spLocks/>
            </p:cNvSpPr>
            <p:nvPr/>
          </p:nvSpPr>
          <p:spPr bwMode="auto">
            <a:xfrm>
              <a:off x="1628008" y="1578058"/>
              <a:ext cx="516090" cy="471422"/>
            </a:xfrm>
            <a:custGeom>
              <a:avLst/>
              <a:gdLst/>
              <a:ahLst/>
              <a:cxnLst>
                <a:cxn ang="0">
                  <a:pos x="0" y="413"/>
                </a:cxn>
                <a:cxn ang="0">
                  <a:pos x="452" y="0"/>
                </a:cxn>
              </a:cxnLst>
              <a:rect l="0" t="0" r="r" b="b"/>
              <a:pathLst>
                <a:path w="452" h="413">
                  <a:moveTo>
                    <a:pt x="0" y="413"/>
                  </a:moveTo>
                  <a:lnTo>
                    <a:pt x="452" y="0"/>
                  </a:lnTo>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pPr>
                <a:lnSpc>
                  <a:spcPts val="2200"/>
                </a:lnSpc>
              </a:pPr>
              <a:endParaRPr lang="zh-CN" altLang="en-US" sz="2000">
                <a:solidFill>
                  <a:srgbClr val="0000FF"/>
                </a:solidFill>
                <a:latin typeface="Consolas" pitchFamily="49" charset="0"/>
              </a:endParaRPr>
            </a:p>
          </p:txBody>
        </p:sp>
        <p:sp>
          <p:nvSpPr>
            <p:cNvPr id="18446" name="Freeform 14"/>
            <p:cNvSpPr>
              <a:spLocks/>
            </p:cNvSpPr>
            <p:nvPr/>
          </p:nvSpPr>
          <p:spPr bwMode="auto">
            <a:xfrm>
              <a:off x="1782491" y="722175"/>
              <a:ext cx="393647" cy="549230"/>
            </a:xfrm>
            <a:custGeom>
              <a:avLst/>
              <a:gdLst/>
              <a:ahLst/>
              <a:cxnLst>
                <a:cxn ang="0">
                  <a:pos x="0" y="0"/>
                </a:cxn>
                <a:cxn ang="0">
                  <a:pos x="344" y="480"/>
                </a:cxn>
              </a:cxnLst>
              <a:rect l="0" t="0" r="r" b="b"/>
              <a:pathLst>
                <a:path w="344" h="480">
                  <a:moveTo>
                    <a:pt x="0" y="0"/>
                  </a:moveTo>
                  <a:lnTo>
                    <a:pt x="344" y="480"/>
                  </a:lnTo>
                </a:path>
              </a:pathLst>
            </a:custGeom>
            <a:noFill/>
            <a:ln w="9525">
              <a:solidFill>
                <a:srgbClr val="000000"/>
              </a:solidFill>
              <a:round/>
              <a:headEnd/>
              <a:tailEnd type="stealth" w="sm" len="sm"/>
            </a:ln>
          </p:spPr>
          <p:txBody>
            <a:bodyPr vert="horz" wrap="square" lIns="91440" tIns="45720" rIns="91440" bIns="45720" numCol="1" anchor="t" anchorCtr="0" compatLnSpc="1">
              <a:prstTxWarp prst="textNoShape">
                <a:avLst/>
              </a:prstTxWarp>
            </a:bodyPr>
            <a:lstStyle/>
            <a:p>
              <a:pPr>
                <a:lnSpc>
                  <a:spcPts val="2200"/>
                </a:lnSpc>
              </a:pPr>
              <a:endParaRPr lang="zh-CN" altLang="en-US" sz="2000">
                <a:solidFill>
                  <a:srgbClr val="0000FF"/>
                </a:solidFill>
                <a:latin typeface="Consolas" pitchFamily="49" charset="0"/>
              </a:endParaRPr>
            </a:p>
          </p:txBody>
        </p:sp>
        <p:sp>
          <p:nvSpPr>
            <p:cNvPr id="18445" name="Freeform 13"/>
            <p:cNvSpPr>
              <a:spLocks/>
            </p:cNvSpPr>
            <p:nvPr/>
          </p:nvSpPr>
          <p:spPr bwMode="auto">
            <a:xfrm>
              <a:off x="2355797" y="701579"/>
              <a:ext cx="476038" cy="592710"/>
            </a:xfrm>
            <a:custGeom>
              <a:avLst/>
              <a:gdLst/>
              <a:ahLst/>
              <a:cxnLst>
                <a:cxn ang="0">
                  <a:pos x="0" y="518"/>
                </a:cxn>
                <a:cxn ang="0">
                  <a:pos x="415" y="0"/>
                </a:cxn>
              </a:cxnLst>
              <a:rect l="0" t="0" r="r" b="b"/>
              <a:pathLst>
                <a:path w="415" h="518">
                  <a:moveTo>
                    <a:pt x="0" y="518"/>
                  </a:moveTo>
                  <a:lnTo>
                    <a:pt x="415" y="0"/>
                  </a:lnTo>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pPr>
                <a:lnSpc>
                  <a:spcPts val="2200"/>
                </a:lnSpc>
              </a:pPr>
              <a:endParaRPr lang="zh-CN" altLang="en-US" sz="2000">
                <a:solidFill>
                  <a:srgbClr val="0000FF"/>
                </a:solidFill>
                <a:latin typeface="Consolas" pitchFamily="49" charset="0"/>
              </a:endParaRPr>
            </a:p>
          </p:txBody>
        </p:sp>
        <p:sp>
          <p:nvSpPr>
            <p:cNvPr id="18444" name="Text Box 12"/>
            <p:cNvSpPr txBox="1">
              <a:spLocks noChangeArrowheads="1"/>
            </p:cNvSpPr>
            <p:nvPr/>
          </p:nvSpPr>
          <p:spPr bwMode="auto">
            <a:xfrm>
              <a:off x="3311307" y="1861826"/>
              <a:ext cx="286081" cy="26088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2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8443" name="Text Box 11"/>
            <p:cNvSpPr txBox="1">
              <a:spLocks noChangeArrowheads="1"/>
            </p:cNvSpPr>
            <p:nvPr/>
          </p:nvSpPr>
          <p:spPr bwMode="auto">
            <a:xfrm>
              <a:off x="2956567" y="1192453"/>
              <a:ext cx="286081" cy="26088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2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8442" name="Text Box 10"/>
            <p:cNvSpPr txBox="1">
              <a:spLocks noChangeArrowheads="1"/>
            </p:cNvSpPr>
            <p:nvPr/>
          </p:nvSpPr>
          <p:spPr bwMode="auto">
            <a:xfrm>
              <a:off x="3350214" y="837742"/>
              <a:ext cx="286081" cy="25974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2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6</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8441" name="Text Box 9"/>
            <p:cNvSpPr txBox="1">
              <a:spLocks noChangeArrowheads="1"/>
            </p:cNvSpPr>
            <p:nvPr/>
          </p:nvSpPr>
          <p:spPr bwMode="auto">
            <a:xfrm>
              <a:off x="2337488" y="832021"/>
              <a:ext cx="287225" cy="25974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2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8440" name="Text Box 8"/>
            <p:cNvSpPr txBox="1">
              <a:spLocks noChangeArrowheads="1"/>
            </p:cNvSpPr>
            <p:nvPr/>
          </p:nvSpPr>
          <p:spPr bwMode="auto">
            <a:xfrm>
              <a:off x="2307735" y="1745115"/>
              <a:ext cx="286081" cy="26088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2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8439" name="Text Box 7"/>
            <p:cNvSpPr txBox="1">
              <a:spLocks noChangeArrowheads="1"/>
            </p:cNvSpPr>
            <p:nvPr/>
          </p:nvSpPr>
          <p:spPr bwMode="auto">
            <a:xfrm>
              <a:off x="1844285" y="1793173"/>
              <a:ext cx="286081" cy="26088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2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8438" name="Text Box 6"/>
            <p:cNvSpPr txBox="1">
              <a:spLocks noChangeArrowheads="1"/>
            </p:cNvSpPr>
            <p:nvPr/>
          </p:nvSpPr>
          <p:spPr bwMode="auto">
            <a:xfrm>
              <a:off x="2101757" y="2239422"/>
              <a:ext cx="286081" cy="26088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2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5</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 name="Text Box 5"/>
            <p:cNvSpPr txBox="1">
              <a:spLocks noChangeArrowheads="1"/>
            </p:cNvSpPr>
            <p:nvPr/>
          </p:nvSpPr>
          <p:spPr bwMode="auto">
            <a:xfrm>
              <a:off x="975744" y="1780586"/>
              <a:ext cx="283792" cy="25974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2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6</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4" name="Text Box 4"/>
            <p:cNvSpPr txBox="1">
              <a:spLocks noChangeArrowheads="1"/>
            </p:cNvSpPr>
            <p:nvPr/>
          </p:nvSpPr>
          <p:spPr bwMode="auto">
            <a:xfrm>
              <a:off x="1918666" y="758790"/>
              <a:ext cx="286081" cy="25974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2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 name="Text Box 3"/>
            <p:cNvSpPr txBox="1">
              <a:spLocks noChangeArrowheads="1"/>
            </p:cNvSpPr>
            <p:nvPr/>
          </p:nvSpPr>
          <p:spPr bwMode="auto">
            <a:xfrm>
              <a:off x="1003207" y="832021"/>
              <a:ext cx="286081" cy="26088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2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8434" name="Text Box 2"/>
            <p:cNvSpPr txBox="1">
              <a:spLocks noChangeArrowheads="1"/>
            </p:cNvSpPr>
            <p:nvPr/>
          </p:nvSpPr>
          <p:spPr bwMode="auto">
            <a:xfrm>
              <a:off x="2084592" y="357166"/>
              <a:ext cx="286081" cy="26088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2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7</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grpSp>
      <p:graphicFrame>
        <p:nvGraphicFramePr>
          <p:cNvPr id="73" name="表格 72"/>
          <p:cNvGraphicFramePr>
            <a:graphicFrameLocks noGrp="1"/>
          </p:cNvGraphicFramePr>
          <p:nvPr/>
        </p:nvGraphicFramePr>
        <p:xfrm>
          <a:off x="357155" y="3214684"/>
          <a:ext cx="8644002" cy="3214712"/>
        </p:xfrm>
        <a:graphic>
          <a:graphicData uri="http://schemas.openxmlformats.org/drawingml/2006/table">
            <a:tbl>
              <a:tblPr>
                <a:tableStyleId>{35758FB7-9AC5-4552-8A53-C91805E547FA}</a:tableStyleId>
              </a:tblPr>
              <a:tblGrid>
                <a:gridCol w="571507">
                  <a:extLst>
                    <a:ext uri="{9D8B030D-6E8A-4147-A177-3AD203B41FA5}">
                      <a16:colId xmlns:a16="http://schemas.microsoft.com/office/drawing/2014/main" val="20000"/>
                    </a:ext>
                  </a:extLst>
                </a:gridCol>
                <a:gridCol w="1143008">
                  <a:extLst>
                    <a:ext uri="{9D8B030D-6E8A-4147-A177-3AD203B41FA5}">
                      <a16:colId xmlns:a16="http://schemas.microsoft.com/office/drawing/2014/main" val="20001"/>
                    </a:ext>
                  </a:extLst>
                </a:gridCol>
                <a:gridCol w="1143008">
                  <a:extLst>
                    <a:ext uri="{9D8B030D-6E8A-4147-A177-3AD203B41FA5}">
                      <a16:colId xmlns:a16="http://schemas.microsoft.com/office/drawing/2014/main" val="20002"/>
                    </a:ext>
                  </a:extLst>
                </a:gridCol>
                <a:gridCol w="1143008">
                  <a:extLst>
                    <a:ext uri="{9D8B030D-6E8A-4147-A177-3AD203B41FA5}">
                      <a16:colId xmlns:a16="http://schemas.microsoft.com/office/drawing/2014/main" val="20003"/>
                    </a:ext>
                  </a:extLst>
                </a:gridCol>
                <a:gridCol w="1143008">
                  <a:extLst>
                    <a:ext uri="{9D8B030D-6E8A-4147-A177-3AD203B41FA5}">
                      <a16:colId xmlns:a16="http://schemas.microsoft.com/office/drawing/2014/main" val="20004"/>
                    </a:ext>
                  </a:extLst>
                </a:gridCol>
                <a:gridCol w="1143008">
                  <a:extLst>
                    <a:ext uri="{9D8B030D-6E8A-4147-A177-3AD203B41FA5}">
                      <a16:colId xmlns:a16="http://schemas.microsoft.com/office/drawing/2014/main" val="20005"/>
                    </a:ext>
                  </a:extLst>
                </a:gridCol>
                <a:gridCol w="1143008">
                  <a:extLst>
                    <a:ext uri="{9D8B030D-6E8A-4147-A177-3AD203B41FA5}">
                      <a16:colId xmlns:a16="http://schemas.microsoft.com/office/drawing/2014/main" val="20006"/>
                    </a:ext>
                  </a:extLst>
                </a:gridCol>
                <a:gridCol w="1214447">
                  <a:extLst>
                    <a:ext uri="{9D8B030D-6E8A-4147-A177-3AD203B41FA5}">
                      <a16:colId xmlns:a16="http://schemas.microsoft.com/office/drawing/2014/main" val="20007"/>
                    </a:ext>
                  </a:extLst>
                </a:gridCol>
              </a:tblGrid>
              <a:tr h="401839">
                <a:tc>
                  <a:txBody>
                    <a:bodyPr/>
                    <a:lstStyle/>
                    <a:p>
                      <a:pPr indent="0" algn="ctr">
                        <a:lnSpc>
                          <a:spcPts val="3000"/>
                        </a:lnSpc>
                        <a:spcAft>
                          <a:spcPts val="0"/>
                        </a:spcAft>
                      </a:pPr>
                      <a:r>
                        <a:rPr lang="en-US" sz="1800" kern="100">
                          <a:solidFill>
                            <a:srgbClr val="FF0000"/>
                          </a:solidFill>
                          <a:latin typeface="Consolas" pitchFamily="49" charset="0"/>
                        </a:rPr>
                        <a:t>k</a:t>
                      </a:r>
                      <a:endParaRPr lang="zh-CN" sz="1800" kern="100">
                        <a:solidFill>
                          <a:srgbClr val="FF0000"/>
                        </a:solidFill>
                        <a:latin typeface="Consolas" pitchFamily="49" charset="0"/>
                        <a:ea typeface="仿宋" pitchFamily="49" charset="-122"/>
                        <a:cs typeface="Times New Roman"/>
                      </a:endParaRPr>
                    </a:p>
                  </a:txBody>
                  <a:tcPr marL="68580" marR="68580" marT="0" marB="0">
                    <a:solidFill>
                      <a:schemeClr val="bg1"/>
                    </a:solidFill>
                  </a:tcPr>
                </a:tc>
                <a:tc>
                  <a:txBody>
                    <a:bodyPr/>
                    <a:lstStyle/>
                    <a:p>
                      <a:pPr indent="0" algn="ctr">
                        <a:lnSpc>
                          <a:spcPts val="3000"/>
                        </a:lnSpc>
                        <a:spcAft>
                          <a:spcPts val="0"/>
                        </a:spcAft>
                      </a:pPr>
                      <a:r>
                        <a:rPr lang="en-US" sz="1800" kern="100">
                          <a:solidFill>
                            <a:srgbClr val="FF0000"/>
                          </a:solidFill>
                          <a:latin typeface="Consolas" pitchFamily="49" charset="0"/>
                        </a:rPr>
                        <a:t>path</a:t>
                      </a:r>
                      <a:r>
                        <a:rPr lang="en-US" sz="1800" kern="100" baseline="30000">
                          <a:solidFill>
                            <a:srgbClr val="FF0000"/>
                          </a:solidFill>
                          <a:latin typeface="Consolas" pitchFamily="49" charset="0"/>
                        </a:rPr>
                        <a:t>k</a:t>
                      </a:r>
                      <a:r>
                        <a:rPr lang="en-US" sz="1800" kern="100">
                          <a:solidFill>
                            <a:srgbClr val="FF0000"/>
                          </a:solidFill>
                          <a:latin typeface="Consolas" pitchFamily="49" charset="0"/>
                        </a:rPr>
                        <a:t>[0]</a:t>
                      </a:r>
                      <a:endParaRPr lang="zh-CN" sz="1800" kern="100">
                        <a:solidFill>
                          <a:srgbClr val="FF0000"/>
                        </a:solidFill>
                        <a:latin typeface="Consolas" pitchFamily="49" charset="0"/>
                        <a:ea typeface="仿宋" pitchFamily="49" charset="-122"/>
                        <a:cs typeface="Times New Roman"/>
                      </a:endParaRPr>
                    </a:p>
                  </a:txBody>
                  <a:tcPr marL="68580" marR="68580" marT="0" marB="0">
                    <a:solidFill>
                      <a:schemeClr val="bg1"/>
                    </a:solidFill>
                  </a:tcPr>
                </a:tc>
                <a:tc>
                  <a:txBody>
                    <a:bodyPr/>
                    <a:lstStyle/>
                    <a:p>
                      <a:pPr indent="0" algn="ctr">
                        <a:lnSpc>
                          <a:spcPts val="3000"/>
                        </a:lnSpc>
                        <a:spcAft>
                          <a:spcPts val="0"/>
                        </a:spcAft>
                      </a:pPr>
                      <a:r>
                        <a:rPr lang="en-US" sz="1800" kern="100">
                          <a:solidFill>
                            <a:srgbClr val="FF0000"/>
                          </a:solidFill>
                          <a:latin typeface="Consolas" pitchFamily="49" charset="0"/>
                        </a:rPr>
                        <a:t>path</a:t>
                      </a:r>
                      <a:r>
                        <a:rPr lang="en-US" sz="1800" kern="100" baseline="30000">
                          <a:solidFill>
                            <a:srgbClr val="FF0000"/>
                          </a:solidFill>
                          <a:latin typeface="Consolas" pitchFamily="49" charset="0"/>
                        </a:rPr>
                        <a:t>k</a:t>
                      </a:r>
                      <a:r>
                        <a:rPr lang="en-US" sz="1800" kern="100">
                          <a:solidFill>
                            <a:srgbClr val="FF0000"/>
                          </a:solidFill>
                          <a:latin typeface="Consolas" pitchFamily="49" charset="0"/>
                        </a:rPr>
                        <a:t>[1]</a:t>
                      </a:r>
                      <a:endParaRPr lang="zh-CN" sz="1800" kern="100">
                        <a:solidFill>
                          <a:srgbClr val="FF0000"/>
                        </a:solidFill>
                        <a:latin typeface="Consolas" pitchFamily="49" charset="0"/>
                        <a:ea typeface="仿宋" pitchFamily="49" charset="-122"/>
                        <a:cs typeface="Times New Roman"/>
                      </a:endParaRPr>
                    </a:p>
                  </a:txBody>
                  <a:tcPr marL="68580" marR="68580" marT="0" marB="0">
                    <a:solidFill>
                      <a:schemeClr val="bg1"/>
                    </a:solidFill>
                  </a:tcPr>
                </a:tc>
                <a:tc>
                  <a:txBody>
                    <a:bodyPr/>
                    <a:lstStyle/>
                    <a:p>
                      <a:pPr indent="0" algn="ctr">
                        <a:lnSpc>
                          <a:spcPts val="3000"/>
                        </a:lnSpc>
                        <a:spcAft>
                          <a:spcPts val="0"/>
                        </a:spcAft>
                      </a:pPr>
                      <a:r>
                        <a:rPr lang="en-US" sz="1800" kern="100">
                          <a:solidFill>
                            <a:srgbClr val="FF0000"/>
                          </a:solidFill>
                          <a:latin typeface="Consolas" pitchFamily="49" charset="0"/>
                        </a:rPr>
                        <a:t>path</a:t>
                      </a:r>
                      <a:r>
                        <a:rPr lang="en-US" sz="1800" kern="100" baseline="30000">
                          <a:solidFill>
                            <a:srgbClr val="FF0000"/>
                          </a:solidFill>
                          <a:latin typeface="Consolas" pitchFamily="49" charset="0"/>
                        </a:rPr>
                        <a:t>k</a:t>
                      </a:r>
                      <a:r>
                        <a:rPr lang="en-US" sz="1800" kern="100">
                          <a:solidFill>
                            <a:srgbClr val="FF0000"/>
                          </a:solidFill>
                          <a:latin typeface="Consolas" pitchFamily="49" charset="0"/>
                        </a:rPr>
                        <a:t>[2]</a:t>
                      </a:r>
                      <a:endParaRPr lang="zh-CN" sz="1800" kern="100">
                        <a:solidFill>
                          <a:srgbClr val="FF0000"/>
                        </a:solidFill>
                        <a:latin typeface="Consolas" pitchFamily="49" charset="0"/>
                        <a:ea typeface="仿宋" pitchFamily="49" charset="-122"/>
                        <a:cs typeface="Times New Roman"/>
                      </a:endParaRPr>
                    </a:p>
                  </a:txBody>
                  <a:tcPr marL="68580" marR="68580" marT="0" marB="0">
                    <a:solidFill>
                      <a:schemeClr val="bg1"/>
                    </a:solidFill>
                  </a:tcPr>
                </a:tc>
                <a:tc>
                  <a:txBody>
                    <a:bodyPr/>
                    <a:lstStyle/>
                    <a:p>
                      <a:pPr indent="0" algn="ctr">
                        <a:lnSpc>
                          <a:spcPts val="3000"/>
                        </a:lnSpc>
                        <a:spcAft>
                          <a:spcPts val="0"/>
                        </a:spcAft>
                      </a:pPr>
                      <a:r>
                        <a:rPr lang="en-US" sz="1800" kern="100">
                          <a:solidFill>
                            <a:srgbClr val="FF0000"/>
                          </a:solidFill>
                          <a:latin typeface="Consolas" pitchFamily="49" charset="0"/>
                        </a:rPr>
                        <a:t>path</a:t>
                      </a:r>
                      <a:r>
                        <a:rPr lang="en-US" sz="1800" kern="100" baseline="30000">
                          <a:solidFill>
                            <a:srgbClr val="FF0000"/>
                          </a:solidFill>
                          <a:latin typeface="Consolas" pitchFamily="49" charset="0"/>
                        </a:rPr>
                        <a:t>k</a:t>
                      </a:r>
                      <a:r>
                        <a:rPr lang="en-US" sz="1800" kern="100">
                          <a:solidFill>
                            <a:srgbClr val="FF0000"/>
                          </a:solidFill>
                          <a:latin typeface="Consolas" pitchFamily="49" charset="0"/>
                        </a:rPr>
                        <a:t>[3]</a:t>
                      </a:r>
                      <a:endParaRPr lang="zh-CN" sz="1800" kern="100">
                        <a:solidFill>
                          <a:srgbClr val="FF0000"/>
                        </a:solidFill>
                        <a:latin typeface="Consolas" pitchFamily="49" charset="0"/>
                        <a:ea typeface="仿宋" pitchFamily="49" charset="-122"/>
                        <a:cs typeface="Times New Roman"/>
                      </a:endParaRPr>
                    </a:p>
                  </a:txBody>
                  <a:tcPr marL="68580" marR="68580" marT="0" marB="0">
                    <a:solidFill>
                      <a:schemeClr val="bg1"/>
                    </a:solidFill>
                  </a:tcPr>
                </a:tc>
                <a:tc>
                  <a:txBody>
                    <a:bodyPr/>
                    <a:lstStyle/>
                    <a:p>
                      <a:pPr indent="0" algn="ctr">
                        <a:lnSpc>
                          <a:spcPts val="3000"/>
                        </a:lnSpc>
                        <a:spcAft>
                          <a:spcPts val="0"/>
                        </a:spcAft>
                      </a:pPr>
                      <a:r>
                        <a:rPr lang="en-US" sz="1800" kern="100">
                          <a:solidFill>
                            <a:srgbClr val="FF0000"/>
                          </a:solidFill>
                          <a:latin typeface="Consolas" pitchFamily="49" charset="0"/>
                        </a:rPr>
                        <a:t>path</a:t>
                      </a:r>
                      <a:r>
                        <a:rPr lang="en-US" sz="1800" kern="100" baseline="30000">
                          <a:solidFill>
                            <a:srgbClr val="FF0000"/>
                          </a:solidFill>
                          <a:latin typeface="Consolas" pitchFamily="49" charset="0"/>
                        </a:rPr>
                        <a:t>k</a:t>
                      </a:r>
                      <a:r>
                        <a:rPr lang="en-US" sz="1800" kern="100">
                          <a:solidFill>
                            <a:srgbClr val="FF0000"/>
                          </a:solidFill>
                          <a:latin typeface="Consolas" pitchFamily="49" charset="0"/>
                        </a:rPr>
                        <a:t>[4]</a:t>
                      </a:r>
                      <a:endParaRPr lang="zh-CN" sz="1800" kern="100">
                        <a:solidFill>
                          <a:srgbClr val="FF0000"/>
                        </a:solidFill>
                        <a:latin typeface="Consolas" pitchFamily="49" charset="0"/>
                        <a:ea typeface="仿宋" pitchFamily="49" charset="-122"/>
                        <a:cs typeface="Times New Roman"/>
                      </a:endParaRPr>
                    </a:p>
                  </a:txBody>
                  <a:tcPr marL="68580" marR="68580" marT="0" marB="0">
                    <a:solidFill>
                      <a:schemeClr val="bg1"/>
                    </a:solidFill>
                  </a:tcPr>
                </a:tc>
                <a:tc>
                  <a:txBody>
                    <a:bodyPr/>
                    <a:lstStyle/>
                    <a:p>
                      <a:pPr indent="0" algn="ctr">
                        <a:lnSpc>
                          <a:spcPts val="3000"/>
                        </a:lnSpc>
                        <a:spcAft>
                          <a:spcPts val="0"/>
                        </a:spcAft>
                      </a:pPr>
                      <a:r>
                        <a:rPr lang="en-US" sz="1800" kern="100">
                          <a:solidFill>
                            <a:srgbClr val="FF0000"/>
                          </a:solidFill>
                          <a:latin typeface="Consolas" pitchFamily="49" charset="0"/>
                        </a:rPr>
                        <a:t>path</a:t>
                      </a:r>
                      <a:r>
                        <a:rPr lang="en-US" sz="1800" kern="100" baseline="30000">
                          <a:solidFill>
                            <a:srgbClr val="FF0000"/>
                          </a:solidFill>
                          <a:latin typeface="Consolas" pitchFamily="49" charset="0"/>
                        </a:rPr>
                        <a:t>k</a:t>
                      </a:r>
                      <a:r>
                        <a:rPr lang="en-US" sz="1800" kern="100">
                          <a:solidFill>
                            <a:srgbClr val="FF0000"/>
                          </a:solidFill>
                          <a:latin typeface="Consolas" pitchFamily="49" charset="0"/>
                        </a:rPr>
                        <a:t>[5]</a:t>
                      </a:r>
                      <a:endParaRPr lang="zh-CN" sz="1800" kern="100">
                        <a:solidFill>
                          <a:srgbClr val="FF0000"/>
                        </a:solidFill>
                        <a:latin typeface="Consolas" pitchFamily="49" charset="0"/>
                        <a:ea typeface="仿宋" pitchFamily="49" charset="-122"/>
                        <a:cs typeface="Times New Roman"/>
                      </a:endParaRPr>
                    </a:p>
                  </a:txBody>
                  <a:tcPr marL="68580" marR="68580" marT="0" marB="0">
                    <a:solidFill>
                      <a:schemeClr val="bg1"/>
                    </a:solidFill>
                  </a:tcPr>
                </a:tc>
                <a:tc>
                  <a:txBody>
                    <a:bodyPr/>
                    <a:lstStyle/>
                    <a:p>
                      <a:pPr indent="0" algn="ctr">
                        <a:lnSpc>
                          <a:spcPts val="3000"/>
                        </a:lnSpc>
                        <a:spcAft>
                          <a:spcPts val="0"/>
                        </a:spcAft>
                      </a:pPr>
                      <a:r>
                        <a:rPr lang="en-US" sz="1800" kern="100">
                          <a:solidFill>
                            <a:srgbClr val="FF0000"/>
                          </a:solidFill>
                          <a:latin typeface="Consolas" pitchFamily="49" charset="0"/>
                        </a:rPr>
                        <a:t>path</a:t>
                      </a:r>
                      <a:r>
                        <a:rPr lang="en-US" sz="1800" kern="100" baseline="30000">
                          <a:solidFill>
                            <a:srgbClr val="FF0000"/>
                          </a:solidFill>
                          <a:latin typeface="Consolas" pitchFamily="49" charset="0"/>
                        </a:rPr>
                        <a:t>k</a:t>
                      </a:r>
                      <a:r>
                        <a:rPr lang="en-US" sz="1800" kern="100">
                          <a:solidFill>
                            <a:srgbClr val="FF0000"/>
                          </a:solidFill>
                          <a:latin typeface="Consolas" pitchFamily="49" charset="0"/>
                        </a:rPr>
                        <a:t>[6]</a:t>
                      </a:r>
                      <a:endParaRPr lang="zh-CN" sz="1800" kern="100">
                        <a:solidFill>
                          <a:srgbClr val="FF0000"/>
                        </a:solidFill>
                        <a:latin typeface="Consolas" pitchFamily="49" charset="0"/>
                        <a:ea typeface="仿宋" pitchFamily="49" charset="-122"/>
                        <a:cs typeface="Times New Roman"/>
                      </a:endParaRPr>
                    </a:p>
                  </a:txBody>
                  <a:tcPr marL="68580" marR="68580" marT="0" marB="0">
                    <a:solidFill>
                      <a:schemeClr val="bg1"/>
                    </a:solidFill>
                  </a:tcPr>
                </a:tc>
                <a:extLst>
                  <a:ext uri="{0D108BD9-81ED-4DB2-BD59-A6C34878D82A}">
                    <a16:rowId xmlns:a16="http://schemas.microsoft.com/office/drawing/2014/main" val="10000"/>
                  </a:ext>
                </a:extLst>
              </a:tr>
              <a:tr h="401839">
                <a:tc>
                  <a:txBody>
                    <a:bodyPr/>
                    <a:lstStyle/>
                    <a:p>
                      <a:pPr indent="0" algn="ctr">
                        <a:lnSpc>
                          <a:spcPts val="3000"/>
                        </a:lnSpc>
                        <a:spcAft>
                          <a:spcPts val="0"/>
                        </a:spcAft>
                      </a:pPr>
                      <a:r>
                        <a:rPr lang="en-US" sz="1800" b="0" kern="100">
                          <a:solidFill>
                            <a:schemeClr val="tx1"/>
                          </a:solidFill>
                          <a:latin typeface="Consolas" pitchFamily="49" charset="0"/>
                        </a:rPr>
                        <a:t>0</a:t>
                      </a:r>
                      <a:endParaRPr lang="zh-CN" sz="1800" b="0" kern="100">
                        <a:solidFill>
                          <a:schemeClr val="tx1"/>
                        </a:solidFill>
                        <a:latin typeface="Consolas" pitchFamily="49" charset="0"/>
                        <a:ea typeface="仿宋" pitchFamily="49" charset="-122"/>
                        <a:cs typeface="Times New Roman"/>
                      </a:endParaRPr>
                    </a:p>
                  </a:txBody>
                  <a:tcPr marL="68580" marR="68580" marT="0" marB="0">
                    <a:solidFill>
                      <a:schemeClr val="bg1"/>
                    </a:solidFill>
                  </a:tcPr>
                </a:tc>
                <a:tc>
                  <a:txBody>
                    <a:bodyPr/>
                    <a:lstStyle/>
                    <a:p>
                      <a:pPr indent="127000" algn="ctr" defTabSz="360000">
                        <a:lnSpc>
                          <a:spcPts val="3000"/>
                        </a:lnSpc>
                        <a:spcAft>
                          <a:spcPts val="0"/>
                        </a:spcAft>
                      </a:pPr>
                      <a:r>
                        <a:rPr lang="en-US" sz="1800" kern="100">
                          <a:solidFill>
                            <a:srgbClr val="0000FF"/>
                          </a:solidFill>
                          <a:latin typeface="Consolas" pitchFamily="49" charset="0"/>
                        </a:rPr>
                        <a:t>-1</a:t>
                      </a:r>
                      <a:endParaRPr lang="zh-CN" sz="1800" kern="100">
                        <a:solidFill>
                          <a:srgbClr val="0000FF"/>
                        </a:solidFill>
                        <a:latin typeface="Consolas" pitchFamily="49" charset="0"/>
                        <a:ea typeface="仿宋" pitchFamily="49" charset="-122"/>
                        <a:cs typeface="Times New Roman"/>
                      </a:endParaRPr>
                    </a:p>
                  </a:txBody>
                  <a:tcPr marL="68580" marR="68580" marT="0" marB="0">
                    <a:solidFill>
                      <a:schemeClr val="bg1"/>
                    </a:solidFill>
                  </a:tcPr>
                </a:tc>
                <a:tc>
                  <a:txBody>
                    <a:bodyPr/>
                    <a:lstStyle/>
                    <a:p>
                      <a:pPr indent="127000" algn="ctr" defTabSz="360000">
                        <a:lnSpc>
                          <a:spcPts val="3000"/>
                        </a:lnSpc>
                        <a:spcAft>
                          <a:spcPts val="0"/>
                        </a:spcAft>
                      </a:pPr>
                      <a:r>
                        <a:rPr lang="en-US" sz="1800" kern="100">
                          <a:solidFill>
                            <a:srgbClr val="0000FF"/>
                          </a:solidFill>
                          <a:latin typeface="Consolas" pitchFamily="49" charset="0"/>
                        </a:rPr>
                        <a:t>-1</a:t>
                      </a:r>
                      <a:endParaRPr lang="zh-CN" sz="1800" kern="100">
                        <a:solidFill>
                          <a:srgbClr val="0000FF"/>
                        </a:solidFill>
                        <a:latin typeface="Consolas" pitchFamily="49" charset="0"/>
                        <a:ea typeface="仿宋" pitchFamily="49" charset="-122"/>
                        <a:cs typeface="Times New Roman"/>
                      </a:endParaRPr>
                    </a:p>
                  </a:txBody>
                  <a:tcPr marL="68580" marR="68580" marT="0" marB="0">
                    <a:solidFill>
                      <a:schemeClr val="bg1"/>
                    </a:solidFill>
                  </a:tcPr>
                </a:tc>
                <a:tc>
                  <a:txBody>
                    <a:bodyPr/>
                    <a:lstStyle/>
                    <a:p>
                      <a:pPr indent="127000" algn="ctr" defTabSz="360000">
                        <a:lnSpc>
                          <a:spcPts val="3000"/>
                        </a:lnSpc>
                        <a:spcAft>
                          <a:spcPts val="0"/>
                        </a:spcAft>
                      </a:pPr>
                      <a:r>
                        <a:rPr lang="en-US" sz="1800" kern="100">
                          <a:solidFill>
                            <a:srgbClr val="0000FF"/>
                          </a:solidFill>
                          <a:latin typeface="Consolas" pitchFamily="49" charset="0"/>
                        </a:rPr>
                        <a:t>-1</a:t>
                      </a:r>
                      <a:endParaRPr lang="zh-CN" sz="1800" kern="100">
                        <a:solidFill>
                          <a:srgbClr val="0000FF"/>
                        </a:solidFill>
                        <a:latin typeface="Consolas" pitchFamily="49" charset="0"/>
                        <a:ea typeface="仿宋" pitchFamily="49" charset="-122"/>
                        <a:cs typeface="Times New Roman"/>
                      </a:endParaRPr>
                    </a:p>
                  </a:txBody>
                  <a:tcPr marL="68580" marR="68580" marT="0" marB="0">
                    <a:solidFill>
                      <a:schemeClr val="bg1"/>
                    </a:solidFill>
                  </a:tcPr>
                </a:tc>
                <a:tc>
                  <a:txBody>
                    <a:bodyPr/>
                    <a:lstStyle/>
                    <a:p>
                      <a:pPr indent="127000" algn="ctr" defTabSz="360000">
                        <a:lnSpc>
                          <a:spcPts val="3000"/>
                        </a:lnSpc>
                        <a:spcAft>
                          <a:spcPts val="0"/>
                        </a:spcAft>
                      </a:pPr>
                      <a:r>
                        <a:rPr lang="en-US" sz="1800" kern="100">
                          <a:solidFill>
                            <a:srgbClr val="0000FF"/>
                          </a:solidFill>
                          <a:latin typeface="Consolas" pitchFamily="49" charset="0"/>
                        </a:rPr>
                        <a:t>-1</a:t>
                      </a:r>
                      <a:endParaRPr lang="zh-CN" sz="1800" kern="100">
                        <a:solidFill>
                          <a:srgbClr val="0000FF"/>
                        </a:solidFill>
                        <a:latin typeface="Consolas" pitchFamily="49" charset="0"/>
                        <a:ea typeface="仿宋" pitchFamily="49" charset="-122"/>
                        <a:cs typeface="Times New Roman"/>
                      </a:endParaRPr>
                    </a:p>
                  </a:txBody>
                  <a:tcPr marL="68580" marR="68580" marT="0" marB="0">
                    <a:solidFill>
                      <a:schemeClr val="bg1"/>
                    </a:solidFill>
                  </a:tcPr>
                </a:tc>
                <a:tc>
                  <a:txBody>
                    <a:bodyPr/>
                    <a:lstStyle/>
                    <a:p>
                      <a:pPr indent="127000" algn="ctr" defTabSz="360000">
                        <a:lnSpc>
                          <a:spcPts val="3000"/>
                        </a:lnSpc>
                        <a:spcAft>
                          <a:spcPts val="0"/>
                        </a:spcAft>
                      </a:pPr>
                      <a:r>
                        <a:rPr lang="en-US" sz="1800" kern="100">
                          <a:solidFill>
                            <a:srgbClr val="0000FF"/>
                          </a:solidFill>
                          <a:latin typeface="Consolas" pitchFamily="49" charset="0"/>
                        </a:rPr>
                        <a:t>-1</a:t>
                      </a:r>
                      <a:endParaRPr lang="zh-CN" sz="1800" kern="100">
                        <a:solidFill>
                          <a:srgbClr val="0000FF"/>
                        </a:solidFill>
                        <a:latin typeface="Consolas" pitchFamily="49" charset="0"/>
                        <a:ea typeface="仿宋" pitchFamily="49" charset="-122"/>
                        <a:cs typeface="Times New Roman"/>
                      </a:endParaRPr>
                    </a:p>
                  </a:txBody>
                  <a:tcPr marL="68580" marR="68580" marT="0" marB="0">
                    <a:solidFill>
                      <a:schemeClr val="bg1"/>
                    </a:solidFill>
                  </a:tcPr>
                </a:tc>
                <a:tc>
                  <a:txBody>
                    <a:bodyPr/>
                    <a:lstStyle/>
                    <a:p>
                      <a:pPr indent="127000" algn="ctr" defTabSz="360000">
                        <a:lnSpc>
                          <a:spcPts val="3000"/>
                        </a:lnSpc>
                        <a:spcAft>
                          <a:spcPts val="0"/>
                        </a:spcAft>
                      </a:pPr>
                      <a:r>
                        <a:rPr lang="en-US" sz="1800" kern="100">
                          <a:solidFill>
                            <a:srgbClr val="0000FF"/>
                          </a:solidFill>
                          <a:latin typeface="Consolas" pitchFamily="49" charset="0"/>
                        </a:rPr>
                        <a:t>-1</a:t>
                      </a:r>
                      <a:endParaRPr lang="zh-CN" sz="1800" kern="100">
                        <a:solidFill>
                          <a:srgbClr val="0000FF"/>
                        </a:solidFill>
                        <a:latin typeface="Consolas" pitchFamily="49" charset="0"/>
                        <a:ea typeface="仿宋" pitchFamily="49" charset="-122"/>
                        <a:cs typeface="Times New Roman"/>
                      </a:endParaRPr>
                    </a:p>
                  </a:txBody>
                  <a:tcPr marL="68580" marR="68580" marT="0" marB="0">
                    <a:solidFill>
                      <a:schemeClr val="bg1"/>
                    </a:solidFill>
                  </a:tcPr>
                </a:tc>
                <a:tc>
                  <a:txBody>
                    <a:bodyPr/>
                    <a:lstStyle/>
                    <a:p>
                      <a:pPr indent="127000" algn="ctr" defTabSz="360000">
                        <a:lnSpc>
                          <a:spcPts val="3000"/>
                        </a:lnSpc>
                        <a:spcAft>
                          <a:spcPts val="0"/>
                        </a:spcAft>
                      </a:pPr>
                      <a:r>
                        <a:rPr lang="en-US" sz="1800" kern="100">
                          <a:solidFill>
                            <a:srgbClr val="0000FF"/>
                          </a:solidFill>
                          <a:latin typeface="Consolas" pitchFamily="49" charset="0"/>
                        </a:rPr>
                        <a:t>-1</a:t>
                      </a:r>
                      <a:endParaRPr lang="zh-CN" sz="1800" kern="100">
                        <a:solidFill>
                          <a:srgbClr val="0000FF"/>
                        </a:solidFill>
                        <a:latin typeface="Consolas" pitchFamily="49" charset="0"/>
                        <a:ea typeface="仿宋" pitchFamily="49" charset="-122"/>
                        <a:cs typeface="Times New Roman"/>
                      </a:endParaRPr>
                    </a:p>
                  </a:txBody>
                  <a:tcPr marL="68580" marR="68580" marT="0" marB="0">
                    <a:solidFill>
                      <a:schemeClr val="bg1"/>
                    </a:solidFill>
                  </a:tcPr>
                </a:tc>
                <a:extLst>
                  <a:ext uri="{0D108BD9-81ED-4DB2-BD59-A6C34878D82A}">
                    <a16:rowId xmlns:a16="http://schemas.microsoft.com/office/drawing/2014/main" val="10001"/>
                  </a:ext>
                </a:extLst>
              </a:tr>
              <a:tr h="401839">
                <a:tc>
                  <a:txBody>
                    <a:bodyPr/>
                    <a:lstStyle/>
                    <a:p>
                      <a:pPr indent="0" algn="ctr">
                        <a:lnSpc>
                          <a:spcPts val="3000"/>
                        </a:lnSpc>
                        <a:spcAft>
                          <a:spcPts val="0"/>
                        </a:spcAft>
                      </a:pPr>
                      <a:r>
                        <a:rPr lang="en-US" sz="1800" b="0" kern="100">
                          <a:solidFill>
                            <a:schemeClr val="tx1"/>
                          </a:solidFill>
                          <a:latin typeface="Consolas" pitchFamily="49" charset="0"/>
                        </a:rPr>
                        <a:t>1</a:t>
                      </a:r>
                      <a:endParaRPr lang="zh-CN" sz="1800" b="0" kern="100">
                        <a:solidFill>
                          <a:schemeClr val="tx1"/>
                        </a:solidFill>
                        <a:latin typeface="Consolas" pitchFamily="49" charset="0"/>
                        <a:ea typeface="仿宋" pitchFamily="49" charset="-122"/>
                        <a:cs typeface="Times New Roman"/>
                      </a:endParaRPr>
                    </a:p>
                  </a:txBody>
                  <a:tcPr marL="68580" marR="68580" marT="0" marB="0">
                    <a:solidFill>
                      <a:schemeClr val="bg1"/>
                    </a:solidFill>
                  </a:tcPr>
                </a:tc>
                <a:tc>
                  <a:txBody>
                    <a:bodyPr/>
                    <a:lstStyle/>
                    <a:p>
                      <a:pPr indent="127000" algn="ctr" defTabSz="360000">
                        <a:lnSpc>
                          <a:spcPts val="3000"/>
                        </a:lnSpc>
                        <a:spcAft>
                          <a:spcPts val="0"/>
                        </a:spcAft>
                      </a:pPr>
                      <a:r>
                        <a:rPr lang="en-US" sz="1800" kern="100">
                          <a:solidFill>
                            <a:srgbClr val="0000FF"/>
                          </a:solidFill>
                          <a:latin typeface="Consolas" pitchFamily="49" charset="0"/>
                        </a:rPr>
                        <a:t>-1</a:t>
                      </a:r>
                      <a:endParaRPr lang="zh-CN" sz="1800" kern="100">
                        <a:solidFill>
                          <a:srgbClr val="0000FF"/>
                        </a:solidFill>
                        <a:latin typeface="Consolas" pitchFamily="49" charset="0"/>
                        <a:ea typeface="仿宋" pitchFamily="49" charset="-122"/>
                        <a:cs typeface="Times New Roman"/>
                      </a:endParaRPr>
                    </a:p>
                  </a:txBody>
                  <a:tcPr marL="68580" marR="68580" marT="0" marB="0">
                    <a:solidFill>
                      <a:schemeClr val="bg1"/>
                    </a:solidFill>
                  </a:tcPr>
                </a:tc>
                <a:tc>
                  <a:txBody>
                    <a:bodyPr/>
                    <a:lstStyle/>
                    <a:p>
                      <a:pPr indent="127000" algn="ctr" defTabSz="360000">
                        <a:lnSpc>
                          <a:spcPts val="3000"/>
                        </a:lnSpc>
                        <a:spcAft>
                          <a:spcPts val="0"/>
                        </a:spcAft>
                      </a:pPr>
                      <a:r>
                        <a:rPr lang="en-US" sz="1800" kern="100">
                          <a:solidFill>
                            <a:srgbClr val="0000FF"/>
                          </a:solidFill>
                          <a:latin typeface="Consolas" pitchFamily="49" charset="0"/>
                        </a:rPr>
                        <a:t>0</a:t>
                      </a:r>
                      <a:endParaRPr lang="zh-CN" sz="1800" kern="100">
                        <a:solidFill>
                          <a:srgbClr val="0000FF"/>
                        </a:solidFill>
                        <a:latin typeface="Consolas" pitchFamily="49" charset="0"/>
                        <a:ea typeface="仿宋" pitchFamily="49" charset="-122"/>
                        <a:cs typeface="Times New Roman"/>
                      </a:endParaRPr>
                    </a:p>
                  </a:txBody>
                  <a:tcPr marL="68580" marR="68580" marT="0" marB="0">
                    <a:solidFill>
                      <a:schemeClr val="bg1"/>
                    </a:solidFill>
                  </a:tcPr>
                </a:tc>
                <a:tc>
                  <a:txBody>
                    <a:bodyPr/>
                    <a:lstStyle/>
                    <a:p>
                      <a:pPr indent="127000" algn="ctr" defTabSz="360000">
                        <a:lnSpc>
                          <a:spcPts val="3000"/>
                        </a:lnSpc>
                        <a:spcAft>
                          <a:spcPts val="0"/>
                        </a:spcAft>
                      </a:pPr>
                      <a:r>
                        <a:rPr lang="en-US" sz="1800" kern="100">
                          <a:solidFill>
                            <a:srgbClr val="0000FF"/>
                          </a:solidFill>
                          <a:latin typeface="Consolas" pitchFamily="49" charset="0"/>
                        </a:rPr>
                        <a:t>1</a:t>
                      </a:r>
                      <a:endParaRPr lang="zh-CN" sz="1800" kern="100">
                        <a:solidFill>
                          <a:srgbClr val="0000FF"/>
                        </a:solidFill>
                        <a:latin typeface="Consolas" pitchFamily="49" charset="0"/>
                        <a:ea typeface="仿宋" pitchFamily="49" charset="-122"/>
                        <a:cs typeface="Times New Roman"/>
                      </a:endParaRPr>
                    </a:p>
                  </a:txBody>
                  <a:tcPr marL="68580" marR="68580" marT="0" marB="0">
                    <a:solidFill>
                      <a:schemeClr val="bg1"/>
                    </a:solidFill>
                  </a:tcPr>
                </a:tc>
                <a:tc>
                  <a:txBody>
                    <a:bodyPr/>
                    <a:lstStyle/>
                    <a:p>
                      <a:pPr indent="127000" algn="ctr" defTabSz="360000">
                        <a:lnSpc>
                          <a:spcPts val="3000"/>
                        </a:lnSpc>
                        <a:spcAft>
                          <a:spcPts val="0"/>
                        </a:spcAft>
                      </a:pPr>
                      <a:r>
                        <a:rPr lang="en-US" sz="1800" kern="100">
                          <a:solidFill>
                            <a:srgbClr val="0000FF"/>
                          </a:solidFill>
                          <a:latin typeface="Consolas" pitchFamily="49" charset="0"/>
                        </a:rPr>
                        <a:t>0</a:t>
                      </a:r>
                      <a:endParaRPr lang="zh-CN" sz="1800" kern="100">
                        <a:solidFill>
                          <a:srgbClr val="0000FF"/>
                        </a:solidFill>
                        <a:latin typeface="Consolas" pitchFamily="49" charset="0"/>
                        <a:ea typeface="仿宋" pitchFamily="49" charset="-122"/>
                        <a:cs typeface="Times New Roman"/>
                      </a:endParaRPr>
                    </a:p>
                  </a:txBody>
                  <a:tcPr marL="68580" marR="68580" marT="0" marB="0">
                    <a:solidFill>
                      <a:schemeClr val="bg1"/>
                    </a:solidFill>
                  </a:tcPr>
                </a:tc>
                <a:tc>
                  <a:txBody>
                    <a:bodyPr/>
                    <a:lstStyle/>
                    <a:p>
                      <a:pPr indent="127000" algn="ctr" defTabSz="360000">
                        <a:lnSpc>
                          <a:spcPts val="3000"/>
                        </a:lnSpc>
                        <a:spcAft>
                          <a:spcPts val="0"/>
                        </a:spcAft>
                      </a:pPr>
                      <a:r>
                        <a:rPr lang="en-US" sz="1800" kern="100">
                          <a:solidFill>
                            <a:srgbClr val="0000FF"/>
                          </a:solidFill>
                          <a:latin typeface="Consolas" pitchFamily="49" charset="0"/>
                        </a:rPr>
                        <a:t>2</a:t>
                      </a:r>
                      <a:endParaRPr lang="zh-CN" sz="1800" kern="100">
                        <a:solidFill>
                          <a:srgbClr val="0000FF"/>
                        </a:solidFill>
                        <a:latin typeface="Consolas" pitchFamily="49" charset="0"/>
                        <a:ea typeface="仿宋" pitchFamily="49" charset="-122"/>
                        <a:cs typeface="Times New Roman"/>
                      </a:endParaRPr>
                    </a:p>
                  </a:txBody>
                  <a:tcPr marL="68580" marR="68580" marT="0" marB="0">
                    <a:solidFill>
                      <a:schemeClr val="bg1"/>
                    </a:solidFill>
                  </a:tcPr>
                </a:tc>
                <a:tc>
                  <a:txBody>
                    <a:bodyPr/>
                    <a:lstStyle/>
                    <a:p>
                      <a:pPr indent="127000" algn="ctr" defTabSz="360000">
                        <a:lnSpc>
                          <a:spcPts val="3000"/>
                        </a:lnSpc>
                        <a:spcAft>
                          <a:spcPts val="0"/>
                        </a:spcAft>
                      </a:pPr>
                      <a:r>
                        <a:rPr lang="en-US" sz="1800" kern="100">
                          <a:solidFill>
                            <a:srgbClr val="0000FF"/>
                          </a:solidFill>
                          <a:latin typeface="Consolas" pitchFamily="49" charset="0"/>
                        </a:rPr>
                        <a:t>2</a:t>
                      </a:r>
                      <a:endParaRPr lang="zh-CN" sz="1800" kern="100">
                        <a:solidFill>
                          <a:srgbClr val="0000FF"/>
                        </a:solidFill>
                        <a:latin typeface="Consolas" pitchFamily="49" charset="0"/>
                        <a:ea typeface="仿宋" pitchFamily="49" charset="-122"/>
                        <a:cs typeface="Times New Roman"/>
                      </a:endParaRPr>
                    </a:p>
                  </a:txBody>
                  <a:tcPr marL="68580" marR="68580" marT="0" marB="0">
                    <a:solidFill>
                      <a:schemeClr val="bg1"/>
                    </a:solidFill>
                  </a:tcPr>
                </a:tc>
                <a:tc>
                  <a:txBody>
                    <a:bodyPr/>
                    <a:lstStyle/>
                    <a:p>
                      <a:pPr indent="127000" algn="ctr" defTabSz="360000">
                        <a:lnSpc>
                          <a:spcPts val="3000"/>
                        </a:lnSpc>
                        <a:spcAft>
                          <a:spcPts val="0"/>
                        </a:spcAft>
                      </a:pPr>
                      <a:r>
                        <a:rPr lang="en-US" sz="1800" kern="100">
                          <a:solidFill>
                            <a:srgbClr val="0000FF"/>
                          </a:solidFill>
                          <a:latin typeface="Consolas" pitchFamily="49" charset="0"/>
                        </a:rPr>
                        <a:t>5</a:t>
                      </a:r>
                      <a:endParaRPr lang="zh-CN" sz="1800" kern="100">
                        <a:solidFill>
                          <a:srgbClr val="0000FF"/>
                        </a:solidFill>
                        <a:latin typeface="Consolas" pitchFamily="49" charset="0"/>
                        <a:ea typeface="仿宋" pitchFamily="49" charset="-122"/>
                        <a:cs typeface="Times New Roman"/>
                      </a:endParaRPr>
                    </a:p>
                  </a:txBody>
                  <a:tcPr marL="68580" marR="68580" marT="0" marB="0">
                    <a:solidFill>
                      <a:schemeClr val="bg1"/>
                    </a:solidFill>
                  </a:tcPr>
                </a:tc>
                <a:extLst>
                  <a:ext uri="{0D108BD9-81ED-4DB2-BD59-A6C34878D82A}">
                    <a16:rowId xmlns:a16="http://schemas.microsoft.com/office/drawing/2014/main" val="10002"/>
                  </a:ext>
                </a:extLst>
              </a:tr>
              <a:tr h="401839">
                <a:tc>
                  <a:txBody>
                    <a:bodyPr/>
                    <a:lstStyle/>
                    <a:p>
                      <a:pPr indent="0" algn="ctr">
                        <a:lnSpc>
                          <a:spcPts val="3000"/>
                        </a:lnSpc>
                        <a:spcAft>
                          <a:spcPts val="0"/>
                        </a:spcAft>
                      </a:pPr>
                      <a:r>
                        <a:rPr lang="en-US" sz="1800" b="0" kern="100">
                          <a:solidFill>
                            <a:schemeClr val="tx1"/>
                          </a:solidFill>
                          <a:latin typeface="Consolas" pitchFamily="49" charset="0"/>
                        </a:rPr>
                        <a:t>2</a:t>
                      </a:r>
                      <a:endParaRPr lang="zh-CN" sz="1800" b="0" kern="100">
                        <a:solidFill>
                          <a:schemeClr val="tx1"/>
                        </a:solidFill>
                        <a:latin typeface="Consolas" pitchFamily="49" charset="0"/>
                        <a:ea typeface="仿宋" pitchFamily="49" charset="-122"/>
                        <a:cs typeface="Times New Roman"/>
                      </a:endParaRPr>
                    </a:p>
                  </a:txBody>
                  <a:tcPr marL="68580" marR="68580" marT="0" marB="0">
                    <a:solidFill>
                      <a:schemeClr val="bg1"/>
                    </a:solidFill>
                  </a:tcPr>
                </a:tc>
                <a:tc>
                  <a:txBody>
                    <a:bodyPr/>
                    <a:lstStyle/>
                    <a:p>
                      <a:pPr indent="127000" algn="ctr" defTabSz="360000">
                        <a:lnSpc>
                          <a:spcPts val="3000"/>
                        </a:lnSpc>
                        <a:spcAft>
                          <a:spcPts val="0"/>
                        </a:spcAft>
                      </a:pPr>
                      <a:r>
                        <a:rPr lang="en-US" sz="1800" kern="100">
                          <a:solidFill>
                            <a:srgbClr val="0000FF"/>
                          </a:solidFill>
                          <a:latin typeface="Consolas" pitchFamily="49" charset="0"/>
                        </a:rPr>
                        <a:t>-1</a:t>
                      </a:r>
                      <a:endParaRPr lang="zh-CN" sz="1800" kern="100">
                        <a:solidFill>
                          <a:srgbClr val="0000FF"/>
                        </a:solidFill>
                        <a:latin typeface="Consolas" pitchFamily="49" charset="0"/>
                        <a:ea typeface="仿宋" pitchFamily="49" charset="-122"/>
                        <a:cs typeface="Times New Roman"/>
                      </a:endParaRPr>
                    </a:p>
                  </a:txBody>
                  <a:tcPr marL="68580" marR="68580" marT="0" marB="0">
                    <a:solidFill>
                      <a:schemeClr val="bg1"/>
                    </a:solidFill>
                  </a:tcPr>
                </a:tc>
                <a:tc>
                  <a:txBody>
                    <a:bodyPr/>
                    <a:lstStyle/>
                    <a:p>
                      <a:pPr indent="127000" algn="ctr" defTabSz="360000">
                        <a:lnSpc>
                          <a:spcPts val="3000"/>
                        </a:lnSpc>
                        <a:spcAft>
                          <a:spcPts val="0"/>
                        </a:spcAft>
                      </a:pPr>
                      <a:r>
                        <a:rPr lang="en-US" sz="1800" kern="100">
                          <a:solidFill>
                            <a:srgbClr val="0000FF"/>
                          </a:solidFill>
                          <a:latin typeface="Consolas" pitchFamily="49" charset="0"/>
                        </a:rPr>
                        <a:t>0</a:t>
                      </a:r>
                      <a:endParaRPr lang="zh-CN" sz="1800" kern="100">
                        <a:solidFill>
                          <a:srgbClr val="0000FF"/>
                        </a:solidFill>
                        <a:latin typeface="Consolas" pitchFamily="49" charset="0"/>
                        <a:ea typeface="仿宋" pitchFamily="49" charset="-122"/>
                        <a:cs typeface="Times New Roman"/>
                      </a:endParaRPr>
                    </a:p>
                  </a:txBody>
                  <a:tcPr marL="68580" marR="68580" marT="0" marB="0">
                    <a:solidFill>
                      <a:schemeClr val="bg1"/>
                    </a:solidFill>
                  </a:tcPr>
                </a:tc>
                <a:tc>
                  <a:txBody>
                    <a:bodyPr/>
                    <a:lstStyle/>
                    <a:p>
                      <a:pPr indent="127000" algn="ctr" defTabSz="360000">
                        <a:lnSpc>
                          <a:spcPts val="3000"/>
                        </a:lnSpc>
                        <a:spcAft>
                          <a:spcPts val="0"/>
                        </a:spcAft>
                      </a:pPr>
                      <a:r>
                        <a:rPr lang="en-US" sz="1800" kern="100">
                          <a:solidFill>
                            <a:srgbClr val="0000FF"/>
                          </a:solidFill>
                          <a:latin typeface="Consolas" pitchFamily="49" charset="0"/>
                        </a:rPr>
                        <a:t>1</a:t>
                      </a:r>
                      <a:endParaRPr lang="zh-CN" sz="1800" kern="100">
                        <a:solidFill>
                          <a:srgbClr val="0000FF"/>
                        </a:solidFill>
                        <a:latin typeface="Consolas" pitchFamily="49" charset="0"/>
                        <a:ea typeface="仿宋" pitchFamily="49" charset="-122"/>
                        <a:cs typeface="Times New Roman"/>
                      </a:endParaRPr>
                    </a:p>
                  </a:txBody>
                  <a:tcPr marL="68580" marR="68580" marT="0" marB="0">
                    <a:solidFill>
                      <a:schemeClr val="bg1"/>
                    </a:solidFill>
                  </a:tcPr>
                </a:tc>
                <a:tc>
                  <a:txBody>
                    <a:bodyPr/>
                    <a:lstStyle/>
                    <a:p>
                      <a:pPr indent="127000" algn="ctr" defTabSz="360000">
                        <a:lnSpc>
                          <a:spcPts val="3000"/>
                        </a:lnSpc>
                        <a:spcAft>
                          <a:spcPts val="0"/>
                        </a:spcAft>
                      </a:pPr>
                      <a:r>
                        <a:rPr lang="en-US" sz="1800" kern="100">
                          <a:solidFill>
                            <a:srgbClr val="0000FF"/>
                          </a:solidFill>
                          <a:latin typeface="Consolas" pitchFamily="49" charset="0"/>
                        </a:rPr>
                        <a:t>0</a:t>
                      </a:r>
                      <a:endParaRPr lang="zh-CN" sz="1800" kern="100">
                        <a:solidFill>
                          <a:srgbClr val="0000FF"/>
                        </a:solidFill>
                        <a:latin typeface="Consolas" pitchFamily="49" charset="0"/>
                        <a:ea typeface="仿宋" pitchFamily="49" charset="-122"/>
                        <a:cs typeface="Times New Roman"/>
                      </a:endParaRPr>
                    </a:p>
                  </a:txBody>
                  <a:tcPr marL="68580" marR="68580" marT="0" marB="0">
                    <a:solidFill>
                      <a:schemeClr val="bg1"/>
                    </a:solidFill>
                  </a:tcPr>
                </a:tc>
                <a:tc>
                  <a:txBody>
                    <a:bodyPr/>
                    <a:lstStyle/>
                    <a:p>
                      <a:pPr indent="127000" algn="ctr" defTabSz="360000">
                        <a:lnSpc>
                          <a:spcPts val="3000"/>
                        </a:lnSpc>
                        <a:spcAft>
                          <a:spcPts val="0"/>
                        </a:spcAft>
                      </a:pPr>
                      <a:r>
                        <a:rPr lang="en-US" sz="1800" kern="100">
                          <a:solidFill>
                            <a:srgbClr val="0000FF"/>
                          </a:solidFill>
                          <a:latin typeface="Consolas" pitchFamily="49" charset="0"/>
                        </a:rPr>
                        <a:t>2</a:t>
                      </a:r>
                      <a:endParaRPr lang="zh-CN" sz="1800" kern="100">
                        <a:solidFill>
                          <a:srgbClr val="0000FF"/>
                        </a:solidFill>
                        <a:latin typeface="Consolas" pitchFamily="49" charset="0"/>
                        <a:ea typeface="仿宋" pitchFamily="49" charset="-122"/>
                        <a:cs typeface="Times New Roman"/>
                      </a:endParaRPr>
                    </a:p>
                  </a:txBody>
                  <a:tcPr marL="68580" marR="68580" marT="0" marB="0">
                    <a:solidFill>
                      <a:schemeClr val="bg1"/>
                    </a:solidFill>
                  </a:tcPr>
                </a:tc>
                <a:tc>
                  <a:txBody>
                    <a:bodyPr/>
                    <a:lstStyle/>
                    <a:p>
                      <a:pPr indent="127000" algn="ctr" defTabSz="360000">
                        <a:lnSpc>
                          <a:spcPts val="3000"/>
                        </a:lnSpc>
                        <a:spcAft>
                          <a:spcPts val="0"/>
                        </a:spcAft>
                      </a:pPr>
                      <a:r>
                        <a:rPr lang="en-US" sz="1800" kern="100">
                          <a:solidFill>
                            <a:srgbClr val="0000FF"/>
                          </a:solidFill>
                          <a:latin typeface="Consolas" pitchFamily="49" charset="0"/>
                        </a:rPr>
                        <a:t>2</a:t>
                      </a:r>
                      <a:endParaRPr lang="zh-CN" sz="1800" kern="100">
                        <a:solidFill>
                          <a:srgbClr val="0000FF"/>
                        </a:solidFill>
                        <a:latin typeface="Consolas" pitchFamily="49" charset="0"/>
                        <a:ea typeface="仿宋" pitchFamily="49" charset="-122"/>
                        <a:cs typeface="Times New Roman"/>
                      </a:endParaRPr>
                    </a:p>
                  </a:txBody>
                  <a:tcPr marL="68580" marR="68580" marT="0" marB="0">
                    <a:solidFill>
                      <a:schemeClr val="bg1"/>
                    </a:solidFill>
                  </a:tcPr>
                </a:tc>
                <a:tc>
                  <a:txBody>
                    <a:bodyPr/>
                    <a:lstStyle/>
                    <a:p>
                      <a:pPr indent="127000" algn="ctr" defTabSz="360000">
                        <a:lnSpc>
                          <a:spcPts val="3000"/>
                        </a:lnSpc>
                        <a:spcAft>
                          <a:spcPts val="0"/>
                        </a:spcAft>
                      </a:pPr>
                      <a:r>
                        <a:rPr lang="en-US" sz="1800" kern="100">
                          <a:solidFill>
                            <a:srgbClr val="0000FF"/>
                          </a:solidFill>
                          <a:latin typeface="Consolas" pitchFamily="49" charset="0"/>
                        </a:rPr>
                        <a:t>5</a:t>
                      </a:r>
                      <a:endParaRPr lang="zh-CN" sz="1800" kern="100">
                        <a:solidFill>
                          <a:srgbClr val="0000FF"/>
                        </a:solidFill>
                        <a:latin typeface="Consolas" pitchFamily="49" charset="0"/>
                        <a:ea typeface="仿宋" pitchFamily="49" charset="-122"/>
                        <a:cs typeface="Times New Roman"/>
                      </a:endParaRPr>
                    </a:p>
                  </a:txBody>
                  <a:tcPr marL="68580" marR="68580" marT="0" marB="0">
                    <a:solidFill>
                      <a:schemeClr val="bg1"/>
                    </a:solidFill>
                  </a:tcPr>
                </a:tc>
                <a:extLst>
                  <a:ext uri="{0D108BD9-81ED-4DB2-BD59-A6C34878D82A}">
                    <a16:rowId xmlns:a16="http://schemas.microsoft.com/office/drawing/2014/main" val="10003"/>
                  </a:ext>
                </a:extLst>
              </a:tr>
              <a:tr h="401839">
                <a:tc>
                  <a:txBody>
                    <a:bodyPr/>
                    <a:lstStyle/>
                    <a:p>
                      <a:pPr indent="0" algn="ctr">
                        <a:lnSpc>
                          <a:spcPts val="3000"/>
                        </a:lnSpc>
                        <a:spcAft>
                          <a:spcPts val="0"/>
                        </a:spcAft>
                      </a:pPr>
                      <a:r>
                        <a:rPr lang="en-US" sz="1800" b="0" kern="100">
                          <a:solidFill>
                            <a:schemeClr val="tx1"/>
                          </a:solidFill>
                          <a:latin typeface="Consolas" pitchFamily="49" charset="0"/>
                        </a:rPr>
                        <a:t>3</a:t>
                      </a:r>
                      <a:endParaRPr lang="zh-CN" sz="1800" b="0" kern="100">
                        <a:solidFill>
                          <a:schemeClr val="tx1"/>
                        </a:solidFill>
                        <a:latin typeface="Consolas" pitchFamily="49" charset="0"/>
                        <a:ea typeface="仿宋" pitchFamily="49" charset="-122"/>
                        <a:cs typeface="Times New Roman"/>
                      </a:endParaRPr>
                    </a:p>
                  </a:txBody>
                  <a:tcPr marL="68580" marR="68580" marT="0" marB="0">
                    <a:solidFill>
                      <a:schemeClr val="bg1"/>
                    </a:solidFill>
                  </a:tcPr>
                </a:tc>
                <a:tc>
                  <a:txBody>
                    <a:bodyPr/>
                    <a:lstStyle/>
                    <a:p>
                      <a:pPr indent="127000" algn="ctr" defTabSz="360000">
                        <a:lnSpc>
                          <a:spcPts val="3000"/>
                        </a:lnSpc>
                        <a:spcAft>
                          <a:spcPts val="0"/>
                        </a:spcAft>
                      </a:pPr>
                      <a:r>
                        <a:rPr lang="en-US" sz="1800" kern="100">
                          <a:solidFill>
                            <a:srgbClr val="0000FF"/>
                          </a:solidFill>
                          <a:latin typeface="Consolas" pitchFamily="49" charset="0"/>
                        </a:rPr>
                        <a:t>-1</a:t>
                      </a:r>
                      <a:endParaRPr lang="zh-CN" sz="1800" kern="100">
                        <a:solidFill>
                          <a:srgbClr val="0000FF"/>
                        </a:solidFill>
                        <a:latin typeface="Consolas" pitchFamily="49" charset="0"/>
                        <a:ea typeface="仿宋" pitchFamily="49" charset="-122"/>
                        <a:cs typeface="Times New Roman"/>
                      </a:endParaRPr>
                    </a:p>
                  </a:txBody>
                  <a:tcPr marL="68580" marR="68580" marT="0" marB="0">
                    <a:solidFill>
                      <a:schemeClr val="bg1"/>
                    </a:solidFill>
                  </a:tcPr>
                </a:tc>
                <a:tc>
                  <a:txBody>
                    <a:bodyPr/>
                    <a:lstStyle/>
                    <a:p>
                      <a:pPr indent="127000" algn="ctr" defTabSz="360000">
                        <a:lnSpc>
                          <a:spcPts val="3000"/>
                        </a:lnSpc>
                        <a:spcAft>
                          <a:spcPts val="0"/>
                        </a:spcAft>
                      </a:pPr>
                      <a:r>
                        <a:rPr lang="en-US" sz="1800" kern="100">
                          <a:solidFill>
                            <a:srgbClr val="0000FF"/>
                          </a:solidFill>
                          <a:latin typeface="Consolas" pitchFamily="49" charset="0"/>
                        </a:rPr>
                        <a:t>0</a:t>
                      </a:r>
                      <a:endParaRPr lang="zh-CN" sz="1800" kern="100">
                        <a:solidFill>
                          <a:srgbClr val="0000FF"/>
                        </a:solidFill>
                        <a:latin typeface="Consolas" pitchFamily="49" charset="0"/>
                        <a:ea typeface="仿宋" pitchFamily="49" charset="-122"/>
                        <a:cs typeface="Times New Roman"/>
                      </a:endParaRPr>
                    </a:p>
                  </a:txBody>
                  <a:tcPr marL="68580" marR="68580" marT="0" marB="0">
                    <a:solidFill>
                      <a:schemeClr val="bg1"/>
                    </a:solidFill>
                  </a:tcPr>
                </a:tc>
                <a:tc>
                  <a:txBody>
                    <a:bodyPr/>
                    <a:lstStyle/>
                    <a:p>
                      <a:pPr indent="127000" algn="ctr" defTabSz="360000">
                        <a:lnSpc>
                          <a:spcPts val="3000"/>
                        </a:lnSpc>
                        <a:spcAft>
                          <a:spcPts val="0"/>
                        </a:spcAft>
                      </a:pPr>
                      <a:r>
                        <a:rPr lang="en-US" sz="1800" kern="100">
                          <a:solidFill>
                            <a:srgbClr val="0000FF"/>
                          </a:solidFill>
                          <a:latin typeface="Consolas" pitchFamily="49" charset="0"/>
                        </a:rPr>
                        <a:t>1</a:t>
                      </a:r>
                      <a:endParaRPr lang="zh-CN" sz="1800" kern="100">
                        <a:solidFill>
                          <a:srgbClr val="0000FF"/>
                        </a:solidFill>
                        <a:latin typeface="Consolas" pitchFamily="49" charset="0"/>
                        <a:ea typeface="仿宋" pitchFamily="49" charset="-122"/>
                        <a:cs typeface="Times New Roman"/>
                      </a:endParaRPr>
                    </a:p>
                  </a:txBody>
                  <a:tcPr marL="68580" marR="68580" marT="0" marB="0">
                    <a:solidFill>
                      <a:schemeClr val="bg1"/>
                    </a:solidFill>
                  </a:tcPr>
                </a:tc>
                <a:tc>
                  <a:txBody>
                    <a:bodyPr/>
                    <a:lstStyle/>
                    <a:p>
                      <a:pPr indent="127000" algn="ctr" defTabSz="360000">
                        <a:lnSpc>
                          <a:spcPts val="3000"/>
                        </a:lnSpc>
                        <a:spcAft>
                          <a:spcPts val="0"/>
                        </a:spcAft>
                      </a:pPr>
                      <a:r>
                        <a:rPr lang="en-US" sz="1800" kern="100">
                          <a:solidFill>
                            <a:srgbClr val="0000FF"/>
                          </a:solidFill>
                          <a:latin typeface="Consolas" pitchFamily="49" charset="0"/>
                        </a:rPr>
                        <a:t>0</a:t>
                      </a:r>
                      <a:endParaRPr lang="zh-CN" sz="1800" kern="100">
                        <a:solidFill>
                          <a:srgbClr val="0000FF"/>
                        </a:solidFill>
                        <a:latin typeface="Consolas" pitchFamily="49" charset="0"/>
                        <a:ea typeface="仿宋" pitchFamily="49" charset="-122"/>
                        <a:cs typeface="Times New Roman"/>
                      </a:endParaRPr>
                    </a:p>
                  </a:txBody>
                  <a:tcPr marL="68580" marR="68580" marT="0" marB="0">
                    <a:solidFill>
                      <a:schemeClr val="bg1"/>
                    </a:solidFill>
                  </a:tcPr>
                </a:tc>
                <a:tc>
                  <a:txBody>
                    <a:bodyPr/>
                    <a:lstStyle/>
                    <a:p>
                      <a:pPr indent="127000" algn="ctr" defTabSz="360000">
                        <a:lnSpc>
                          <a:spcPts val="3000"/>
                        </a:lnSpc>
                        <a:spcAft>
                          <a:spcPts val="0"/>
                        </a:spcAft>
                      </a:pPr>
                      <a:r>
                        <a:rPr lang="en-US" sz="1800" kern="100">
                          <a:solidFill>
                            <a:srgbClr val="0000FF"/>
                          </a:solidFill>
                          <a:latin typeface="Consolas" pitchFamily="49" charset="0"/>
                        </a:rPr>
                        <a:t>2</a:t>
                      </a:r>
                      <a:endParaRPr lang="zh-CN" sz="1800" kern="100">
                        <a:solidFill>
                          <a:srgbClr val="0000FF"/>
                        </a:solidFill>
                        <a:latin typeface="Consolas" pitchFamily="49" charset="0"/>
                        <a:ea typeface="仿宋" pitchFamily="49" charset="-122"/>
                        <a:cs typeface="Times New Roman"/>
                      </a:endParaRPr>
                    </a:p>
                  </a:txBody>
                  <a:tcPr marL="68580" marR="68580" marT="0" marB="0">
                    <a:solidFill>
                      <a:schemeClr val="bg1"/>
                    </a:solidFill>
                  </a:tcPr>
                </a:tc>
                <a:tc>
                  <a:txBody>
                    <a:bodyPr/>
                    <a:lstStyle/>
                    <a:p>
                      <a:pPr indent="127000" algn="ctr" defTabSz="360000">
                        <a:lnSpc>
                          <a:spcPts val="3000"/>
                        </a:lnSpc>
                        <a:spcAft>
                          <a:spcPts val="0"/>
                        </a:spcAft>
                      </a:pPr>
                      <a:r>
                        <a:rPr lang="en-US" sz="1800" kern="100">
                          <a:solidFill>
                            <a:srgbClr val="0000FF"/>
                          </a:solidFill>
                          <a:latin typeface="Consolas" pitchFamily="49" charset="0"/>
                        </a:rPr>
                        <a:t>2</a:t>
                      </a:r>
                      <a:endParaRPr lang="zh-CN" sz="1800" kern="100">
                        <a:solidFill>
                          <a:srgbClr val="0000FF"/>
                        </a:solidFill>
                        <a:latin typeface="Consolas" pitchFamily="49" charset="0"/>
                        <a:ea typeface="仿宋" pitchFamily="49" charset="-122"/>
                        <a:cs typeface="Times New Roman"/>
                      </a:endParaRPr>
                    </a:p>
                  </a:txBody>
                  <a:tcPr marL="68580" marR="68580" marT="0" marB="0">
                    <a:solidFill>
                      <a:schemeClr val="bg1"/>
                    </a:solidFill>
                  </a:tcPr>
                </a:tc>
                <a:tc>
                  <a:txBody>
                    <a:bodyPr/>
                    <a:lstStyle/>
                    <a:p>
                      <a:pPr indent="127000" algn="ctr" defTabSz="360000">
                        <a:lnSpc>
                          <a:spcPts val="3000"/>
                        </a:lnSpc>
                        <a:spcAft>
                          <a:spcPts val="0"/>
                        </a:spcAft>
                      </a:pPr>
                      <a:r>
                        <a:rPr lang="en-US" sz="1800" kern="100">
                          <a:solidFill>
                            <a:srgbClr val="0000FF"/>
                          </a:solidFill>
                          <a:latin typeface="Consolas" pitchFamily="49" charset="0"/>
                        </a:rPr>
                        <a:t>5</a:t>
                      </a:r>
                      <a:endParaRPr lang="zh-CN" sz="1800" kern="100">
                        <a:solidFill>
                          <a:srgbClr val="0000FF"/>
                        </a:solidFill>
                        <a:latin typeface="Consolas" pitchFamily="49" charset="0"/>
                        <a:ea typeface="仿宋" pitchFamily="49" charset="-122"/>
                        <a:cs typeface="Times New Roman"/>
                      </a:endParaRPr>
                    </a:p>
                  </a:txBody>
                  <a:tcPr marL="68580" marR="68580" marT="0" marB="0">
                    <a:solidFill>
                      <a:schemeClr val="bg1"/>
                    </a:solidFill>
                  </a:tcPr>
                </a:tc>
                <a:extLst>
                  <a:ext uri="{0D108BD9-81ED-4DB2-BD59-A6C34878D82A}">
                    <a16:rowId xmlns:a16="http://schemas.microsoft.com/office/drawing/2014/main" val="10004"/>
                  </a:ext>
                </a:extLst>
              </a:tr>
              <a:tr h="401839">
                <a:tc>
                  <a:txBody>
                    <a:bodyPr/>
                    <a:lstStyle/>
                    <a:p>
                      <a:pPr indent="0" algn="ctr">
                        <a:lnSpc>
                          <a:spcPts val="3000"/>
                        </a:lnSpc>
                        <a:spcAft>
                          <a:spcPts val="0"/>
                        </a:spcAft>
                      </a:pPr>
                      <a:r>
                        <a:rPr lang="en-US" sz="1800" b="0" kern="100">
                          <a:solidFill>
                            <a:schemeClr val="tx1"/>
                          </a:solidFill>
                          <a:latin typeface="Consolas" pitchFamily="49" charset="0"/>
                        </a:rPr>
                        <a:t>4</a:t>
                      </a:r>
                      <a:endParaRPr lang="zh-CN" sz="1800" b="0" kern="100">
                        <a:solidFill>
                          <a:schemeClr val="tx1"/>
                        </a:solidFill>
                        <a:latin typeface="Consolas" pitchFamily="49" charset="0"/>
                        <a:ea typeface="仿宋" pitchFamily="49" charset="-122"/>
                        <a:cs typeface="Times New Roman"/>
                      </a:endParaRPr>
                    </a:p>
                  </a:txBody>
                  <a:tcPr marL="68580" marR="68580" marT="0" marB="0">
                    <a:solidFill>
                      <a:schemeClr val="bg1"/>
                    </a:solidFill>
                  </a:tcPr>
                </a:tc>
                <a:tc>
                  <a:txBody>
                    <a:bodyPr/>
                    <a:lstStyle/>
                    <a:p>
                      <a:pPr indent="127000" algn="ctr" defTabSz="360000">
                        <a:lnSpc>
                          <a:spcPts val="3000"/>
                        </a:lnSpc>
                        <a:spcAft>
                          <a:spcPts val="0"/>
                        </a:spcAft>
                      </a:pPr>
                      <a:r>
                        <a:rPr lang="en-US" sz="1800" kern="100">
                          <a:solidFill>
                            <a:srgbClr val="0000FF"/>
                          </a:solidFill>
                          <a:latin typeface="Consolas" pitchFamily="49" charset="0"/>
                        </a:rPr>
                        <a:t>-1</a:t>
                      </a:r>
                      <a:endParaRPr lang="zh-CN" sz="1800" kern="100">
                        <a:solidFill>
                          <a:srgbClr val="0000FF"/>
                        </a:solidFill>
                        <a:latin typeface="Consolas" pitchFamily="49" charset="0"/>
                        <a:ea typeface="仿宋" pitchFamily="49" charset="-122"/>
                        <a:cs typeface="Times New Roman"/>
                      </a:endParaRPr>
                    </a:p>
                  </a:txBody>
                  <a:tcPr marL="68580" marR="68580" marT="0" marB="0">
                    <a:solidFill>
                      <a:schemeClr val="bg1"/>
                    </a:solidFill>
                  </a:tcPr>
                </a:tc>
                <a:tc>
                  <a:txBody>
                    <a:bodyPr/>
                    <a:lstStyle/>
                    <a:p>
                      <a:pPr indent="127000" algn="ctr" defTabSz="360000">
                        <a:lnSpc>
                          <a:spcPts val="3000"/>
                        </a:lnSpc>
                        <a:spcAft>
                          <a:spcPts val="0"/>
                        </a:spcAft>
                      </a:pPr>
                      <a:r>
                        <a:rPr lang="en-US" sz="1800" kern="100">
                          <a:solidFill>
                            <a:srgbClr val="0000FF"/>
                          </a:solidFill>
                          <a:latin typeface="Consolas" pitchFamily="49" charset="0"/>
                        </a:rPr>
                        <a:t>0</a:t>
                      </a:r>
                      <a:endParaRPr lang="zh-CN" sz="1800" kern="100">
                        <a:solidFill>
                          <a:srgbClr val="0000FF"/>
                        </a:solidFill>
                        <a:latin typeface="Consolas" pitchFamily="49" charset="0"/>
                        <a:ea typeface="仿宋" pitchFamily="49" charset="-122"/>
                        <a:cs typeface="Times New Roman"/>
                      </a:endParaRPr>
                    </a:p>
                  </a:txBody>
                  <a:tcPr marL="68580" marR="68580" marT="0" marB="0">
                    <a:solidFill>
                      <a:schemeClr val="bg1"/>
                    </a:solidFill>
                  </a:tcPr>
                </a:tc>
                <a:tc>
                  <a:txBody>
                    <a:bodyPr/>
                    <a:lstStyle/>
                    <a:p>
                      <a:pPr indent="127000" algn="ctr" defTabSz="360000">
                        <a:lnSpc>
                          <a:spcPts val="3000"/>
                        </a:lnSpc>
                        <a:spcAft>
                          <a:spcPts val="0"/>
                        </a:spcAft>
                      </a:pPr>
                      <a:r>
                        <a:rPr lang="en-US" sz="1800" kern="100">
                          <a:solidFill>
                            <a:srgbClr val="0000FF"/>
                          </a:solidFill>
                          <a:latin typeface="Consolas" pitchFamily="49" charset="0"/>
                        </a:rPr>
                        <a:t>1</a:t>
                      </a:r>
                      <a:endParaRPr lang="zh-CN" sz="1800" kern="100">
                        <a:solidFill>
                          <a:srgbClr val="0000FF"/>
                        </a:solidFill>
                        <a:latin typeface="Consolas" pitchFamily="49" charset="0"/>
                        <a:ea typeface="仿宋" pitchFamily="49" charset="-122"/>
                        <a:cs typeface="Times New Roman"/>
                      </a:endParaRPr>
                    </a:p>
                  </a:txBody>
                  <a:tcPr marL="68580" marR="68580" marT="0" marB="0">
                    <a:solidFill>
                      <a:schemeClr val="bg1"/>
                    </a:solidFill>
                  </a:tcPr>
                </a:tc>
                <a:tc>
                  <a:txBody>
                    <a:bodyPr/>
                    <a:lstStyle/>
                    <a:p>
                      <a:pPr indent="127000" algn="ctr" defTabSz="360000">
                        <a:lnSpc>
                          <a:spcPts val="3000"/>
                        </a:lnSpc>
                        <a:spcAft>
                          <a:spcPts val="0"/>
                        </a:spcAft>
                      </a:pPr>
                      <a:r>
                        <a:rPr lang="en-US" sz="1800" kern="100">
                          <a:solidFill>
                            <a:srgbClr val="0000FF"/>
                          </a:solidFill>
                          <a:latin typeface="Consolas" pitchFamily="49" charset="0"/>
                        </a:rPr>
                        <a:t>0</a:t>
                      </a:r>
                      <a:endParaRPr lang="zh-CN" sz="1800" kern="100">
                        <a:solidFill>
                          <a:srgbClr val="0000FF"/>
                        </a:solidFill>
                        <a:latin typeface="Consolas" pitchFamily="49" charset="0"/>
                        <a:ea typeface="仿宋" pitchFamily="49" charset="-122"/>
                        <a:cs typeface="Times New Roman"/>
                      </a:endParaRPr>
                    </a:p>
                  </a:txBody>
                  <a:tcPr marL="68580" marR="68580" marT="0" marB="0">
                    <a:solidFill>
                      <a:schemeClr val="bg1"/>
                    </a:solidFill>
                  </a:tcPr>
                </a:tc>
                <a:tc>
                  <a:txBody>
                    <a:bodyPr/>
                    <a:lstStyle/>
                    <a:p>
                      <a:pPr indent="127000" algn="ctr" defTabSz="360000">
                        <a:lnSpc>
                          <a:spcPts val="3000"/>
                        </a:lnSpc>
                        <a:spcAft>
                          <a:spcPts val="0"/>
                        </a:spcAft>
                      </a:pPr>
                      <a:r>
                        <a:rPr lang="en-US" sz="1800" kern="100">
                          <a:solidFill>
                            <a:srgbClr val="0000FF"/>
                          </a:solidFill>
                          <a:latin typeface="Consolas" pitchFamily="49" charset="0"/>
                        </a:rPr>
                        <a:t>2</a:t>
                      </a:r>
                      <a:endParaRPr lang="zh-CN" sz="1800" kern="100">
                        <a:solidFill>
                          <a:srgbClr val="0000FF"/>
                        </a:solidFill>
                        <a:latin typeface="Consolas" pitchFamily="49" charset="0"/>
                        <a:ea typeface="仿宋" pitchFamily="49" charset="-122"/>
                        <a:cs typeface="Times New Roman"/>
                      </a:endParaRPr>
                    </a:p>
                  </a:txBody>
                  <a:tcPr marL="68580" marR="68580" marT="0" marB="0">
                    <a:solidFill>
                      <a:schemeClr val="bg1"/>
                    </a:solidFill>
                  </a:tcPr>
                </a:tc>
                <a:tc>
                  <a:txBody>
                    <a:bodyPr/>
                    <a:lstStyle/>
                    <a:p>
                      <a:pPr indent="127000" algn="ctr" defTabSz="360000">
                        <a:lnSpc>
                          <a:spcPts val="3000"/>
                        </a:lnSpc>
                        <a:spcAft>
                          <a:spcPts val="0"/>
                        </a:spcAft>
                      </a:pPr>
                      <a:r>
                        <a:rPr lang="en-US" sz="1800" kern="100">
                          <a:solidFill>
                            <a:srgbClr val="0000FF"/>
                          </a:solidFill>
                          <a:latin typeface="Consolas" pitchFamily="49" charset="0"/>
                        </a:rPr>
                        <a:t>2</a:t>
                      </a:r>
                      <a:endParaRPr lang="zh-CN" sz="1800" kern="100">
                        <a:solidFill>
                          <a:srgbClr val="0000FF"/>
                        </a:solidFill>
                        <a:latin typeface="Consolas" pitchFamily="49" charset="0"/>
                        <a:ea typeface="仿宋" pitchFamily="49" charset="-122"/>
                        <a:cs typeface="Times New Roman"/>
                      </a:endParaRPr>
                    </a:p>
                  </a:txBody>
                  <a:tcPr marL="68580" marR="68580" marT="0" marB="0">
                    <a:solidFill>
                      <a:schemeClr val="bg1"/>
                    </a:solidFill>
                  </a:tcPr>
                </a:tc>
                <a:tc>
                  <a:txBody>
                    <a:bodyPr/>
                    <a:lstStyle/>
                    <a:p>
                      <a:pPr indent="127000" algn="ctr" defTabSz="360000">
                        <a:lnSpc>
                          <a:spcPts val="3000"/>
                        </a:lnSpc>
                        <a:spcAft>
                          <a:spcPts val="0"/>
                        </a:spcAft>
                      </a:pPr>
                      <a:r>
                        <a:rPr lang="en-US" sz="1800" kern="100">
                          <a:solidFill>
                            <a:srgbClr val="0000FF"/>
                          </a:solidFill>
                          <a:latin typeface="Consolas" pitchFamily="49" charset="0"/>
                        </a:rPr>
                        <a:t>5</a:t>
                      </a:r>
                      <a:endParaRPr lang="zh-CN" sz="1800" kern="100">
                        <a:solidFill>
                          <a:srgbClr val="0000FF"/>
                        </a:solidFill>
                        <a:latin typeface="Consolas" pitchFamily="49" charset="0"/>
                        <a:ea typeface="仿宋" pitchFamily="49" charset="-122"/>
                        <a:cs typeface="Times New Roman"/>
                      </a:endParaRPr>
                    </a:p>
                  </a:txBody>
                  <a:tcPr marL="68580" marR="68580" marT="0" marB="0">
                    <a:solidFill>
                      <a:schemeClr val="bg1"/>
                    </a:solidFill>
                  </a:tcPr>
                </a:tc>
                <a:extLst>
                  <a:ext uri="{0D108BD9-81ED-4DB2-BD59-A6C34878D82A}">
                    <a16:rowId xmlns:a16="http://schemas.microsoft.com/office/drawing/2014/main" val="10005"/>
                  </a:ext>
                </a:extLst>
              </a:tr>
              <a:tr h="401839">
                <a:tc>
                  <a:txBody>
                    <a:bodyPr/>
                    <a:lstStyle/>
                    <a:p>
                      <a:pPr indent="0" algn="ctr">
                        <a:lnSpc>
                          <a:spcPts val="3000"/>
                        </a:lnSpc>
                        <a:spcAft>
                          <a:spcPts val="0"/>
                        </a:spcAft>
                      </a:pPr>
                      <a:r>
                        <a:rPr lang="en-US" sz="1800" b="0" kern="100">
                          <a:solidFill>
                            <a:schemeClr val="tx1"/>
                          </a:solidFill>
                          <a:latin typeface="Consolas" pitchFamily="49" charset="0"/>
                        </a:rPr>
                        <a:t>5</a:t>
                      </a:r>
                      <a:endParaRPr lang="zh-CN" sz="1800" b="0" kern="100">
                        <a:solidFill>
                          <a:schemeClr val="tx1"/>
                        </a:solidFill>
                        <a:latin typeface="Consolas" pitchFamily="49" charset="0"/>
                        <a:ea typeface="仿宋" pitchFamily="49" charset="-122"/>
                        <a:cs typeface="Times New Roman"/>
                      </a:endParaRPr>
                    </a:p>
                  </a:txBody>
                  <a:tcPr marL="68580" marR="68580" marT="0" marB="0">
                    <a:solidFill>
                      <a:schemeClr val="bg1"/>
                    </a:solidFill>
                  </a:tcPr>
                </a:tc>
                <a:tc>
                  <a:txBody>
                    <a:bodyPr/>
                    <a:lstStyle/>
                    <a:p>
                      <a:pPr indent="127000" algn="ctr" defTabSz="360000">
                        <a:lnSpc>
                          <a:spcPts val="3000"/>
                        </a:lnSpc>
                        <a:spcAft>
                          <a:spcPts val="0"/>
                        </a:spcAft>
                      </a:pPr>
                      <a:r>
                        <a:rPr lang="en-US" sz="1800" kern="100">
                          <a:solidFill>
                            <a:srgbClr val="0000FF"/>
                          </a:solidFill>
                          <a:latin typeface="Consolas" pitchFamily="49" charset="0"/>
                        </a:rPr>
                        <a:t>-1</a:t>
                      </a:r>
                      <a:endParaRPr lang="zh-CN" sz="1800" kern="100">
                        <a:solidFill>
                          <a:srgbClr val="0000FF"/>
                        </a:solidFill>
                        <a:latin typeface="Consolas" pitchFamily="49" charset="0"/>
                        <a:ea typeface="仿宋" pitchFamily="49" charset="-122"/>
                        <a:cs typeface="Times New Roman"/>
                      </a:endParaRPr>
                    </a:p>
                  </a:txBody>
                  <a:tcPr marL="68580" marR="68580" marT="0" marB="0">
                    <a:solidFill>
                      <a:schemeClr val="bg1"/>
                    </a:solidFill>
                  </a:tcPr>
                </a:tc>
                <a:tc>
                  <a:txBody>
                    <a:bodyPr/>
                    <a:lstStyle/>
                    <a:p>
                      <a:pPr indent="127000" algn="ctr" defTabSz="360000">
                        <a:lnSpc>
                          <a:spcPts val="3000"/>
                        </a:lnSpc>
                        <a:spcAft>
                          <a:spcPts val="0"/>
                        </a:spcAft>
                      </a:pPr>
                      <a:r>
                        <a:rPr lang="en-US" sz="1800" kern="100">
                          <a:solidFill>
                            <a:srgbClr val="0000FF"/>
                          </a:solidFill>
                          <a:latin typeface="Consolas" pitchFamily="49" charset="0"/>
                        </a:rPr>
                        <a:t>0</a:t>
                      </a:r>
                      <a:endParaRPr lang="zh-CN" sz="1800" kern="100">
                        <a:solidFill>
                          <a:srgbClr val="0000FF"/>
                        </a:solidFill>
                        <a:latin typeface="Consolas" pitchFamily="49" charset="0"/>
                        <a:ea typeface="仿宋" pitchFamily="49" charset="-122"/>
                        <a:cs typeface="Times New Roman"/>
                      </a:endParaRPr>
                    </a:p>
                  </a:txBody>
                  <a:tcPr marL="68580" marR="68580" marT="0" marB="0">
                    <a:solidFill>
                      <a:schemeClr val="bg1"/>
                    </a:solidFill>
                  </a:tcPr>
                </a:tc>
                <a:tc>
                  <a:txBody>
                    <a:bodyPr/>
                    <a:lstStyle/>
                    <a:p>
                      <a:pPr indent="127000" algn="ctr" defTabSz="360000">
                        <a:lnSpc>
                          <a:spcPts val="3000"/>
                        </a:lnSpc>
                        <a:spcAft>
                          <a:spcPts val="0"/>
                        </a:spcAft>
                      </a:pPr>
                      <a:r>
                        <a:rPr lang="en-US" sz="1800" kern="100">
                          <a:solidFill>
                            <a:srgbClr val="0000FF"/>
                          </a:solidFill>
                          <a:latin typeface="Consolas" pitchFamily="49" charset="0"/>
                        </a:rPr>
                        <a:t>1</a:t>
                      </a:r>
                      <a:endParaRPr lang="zh-CN" sz="1800" kern="100">
                        <a:solidFill>
                          <a:srgbClr val="0000FF"/>
                        </a:solidFill>
                        <a:latin typeface="Consolas" pitchFamily="49" charset="0"/>
                        <a:ea typeface="仿宋" pitchFamily="49" charset="-122"/>
                        <a:cs typeface="Times New Roman"/>
                      </a:endParaRPr>
                    </a:p>
                  </a:txBody>
                  <a:tcPr marL="68580" marR="68580" marT="0" marB="0">
                    <a:solidFill>
                      <a:schemeClr val="bg1"/>
                    </a:solidFill>
                  </a:tcPr>
                </a:tc>
                <a:tc>
                  <a:txBody>
                    <a:bodyPr/>
                    <a:lstStyle/>
                    <a:p>
                      <a:pPr indent="127000" algn="ctr" defTabSz="360000">
                        <a:lnSpc>
                          <a:spcPts val="3000"/>
                        </a:lnSpc>
                        <a:spcAft>
                          <a:spcPts val="0"/>
                        </a:spcAft>
                      </a:pPr>
                      <a:r>
                        <a:rPr lang="en-US" sz="1800" kern="100">
                          <a:solidFill>
                            <a:srgbClr val="0000FF"/>
                          </a:solidFill>
                          <a:latin typeface="Consolas" pitchFamily="49" charset="0"/>
                        </a:rPr>
                        <a:t>0</a:t>
                      </a:r>
                      <a:endParaRPr lang="zh-CN" sz="1800" kern="100">
                        <a:solidFill>
                          <a:srgbClr val="0000FF"/>
                        </a:solidFill>
                        <a:latin typeface="Consolas" pitchFamily="49" charset="0"/>
                        <a:ea typeface="仿宋" pitchFamily="49" charset="-122"/>
                        <a:cs typeface="Times New Roman"/>
                      </a:endParaRPr>
                    </a:p>
                  </a:txBody>
                  <a:tcPr marL="68580" marR="68580" marT="0" marB="0">
                    <a:solidFill>
                      <a:schemeClr val="bg1"/>
                    </a:solidFill>
                  </a:tcPr>
                </a:tc>
                <a:tc>
                  <a:txBody>
                    <a:bodyPr/>
                    <a:lstStyle/>
                    <a:p>
                      <a:pPr indent="127000" algn="ctr" defTabSz="360000">
                        <a:lnSpc>
                          <a:spcPts val="3000"/>
                        </a:lnSpc>
                        <a:spcAft>
                          <a:spcPts val="0"/>
                        </a:spcAft>
                      </a:pPr>
                      <a:r>
                        <a:rPr lang="en-US" sz="1800" kern="100">
                          <a:solidFill>
                            <a:srgbClr val="0000FF"/>
                          </a:solidFill>
                          <a:latin typeface="Consolas" pitchFamily="49" charset="0"/>
                        </a:rPr>
                        <a:t>2</a:t>
                      </a:r>
                      <a:endParaRPr lang="zh-CN" sz="1800" kern="100">
                        <a:solidFill>
                          <a:srgbClr val="0000FF"/>
                        </a:solidFill>
                        <a:latin typeface="Consolas" pitchFamily="49" charset="0"/>
                        <a:ea typeface="仿宋" pitchFamily="49" charset="-122"/>
                        <a:cs typeface="Times New Roman"/>
                      </a:endParaRPr>
                    </a:p>
                  </a:txBody>
                  <a:tcPr marL="68580" marR="68580" marT="0" marB="0">
                    <a:solidFill>
                      <a:schemeClr val="bg1"/>
                    </a:solidFill>
                  </a:tcPr>
                </a:tc>
                <a:tc>
                  <a:txBody>
                    <a:bodyPr/>
                    <a:lstStyle/>
                    <a:p>
                      <a:pPr indent="127000" algn="ctr" defTabSz="360000">
                        <a:lnSpc>
                          <a:spcPts val="3000"/>
                        </a:lnSpc>
                        <a:spcAft>
                          <a:spcPts val="0"/>
                        </a:spcAft>
                      </a:pPr>
                      <a:r>
                        <a:rPr lang="en-US" sz="1800" kern="100">
                          <a:solidFill>
                            <a:srgbClr val="0000FF"/>
                          </a:solidFill>
                          <a:latin typeface="Consolas" pitchFamily="49" charset="0"/>
                        </a:rPr>
                        <a:t>2</a:t>
                      </a:r>
                      <a:endParaRPr lang="zh-CN" sz="1800" kern="100">
                        <a:solidFill>
                          <a:srgbClr val="0000FF"/>
                        </a:solidFill>
                        <a:latin typeface="Consolas" pitchFamily="49" charset="0"/>
                        <a:ea typeface="仿宋" pitchFamily="49" charset="-122"/>
                        <a:cs typeface="Times New Roman"/>
                      </a:endParaRPr>
                    </a:p>
                  </a:txBody>
                  <a:tcPr marL="68580" marR="68580" marT="0" marB="0">
                    <a:solidFill>
                      <a:schemeClr val="bg1"/>
                    </a:solidFill>
                  </a:tcPr>
                </a:tc>
                <a:tc>
                  <a:txBody>
                    <a:bodyPr/>
                    <a:lstStyle/>
                    <a:p>
                      <a:pPr indent="127000" algn="ctr" defTabSz="360000">
                        <a:lnSpc>
                          <a:spcPts val="3000"/>
                        </a:lnSpc>
                        <a:spcAft>
                          <a:spcPts val="0"/>
                        </a:spcAft>
                      </a:pPr>
                      <a:r>
                        <a:rPr lang="en-US" sz="1800" kern="100">
                          <a:solidFill>
                            <a:srgbClr val="0000FF"/>
                          </a:solidFill>
                          <a:latin typeface="Consolas" pitchFamily="49" charset="0"/>
                        </a:rPr>
                        <a:t>5</a:t>
                      </a:r>
                      <a:endParaRPr lang="zh-CN" sz="1800" kern="100">
                        <a:solidFill>
                          <a:srgbClr val="0000FF"/>
                        </a:solidFill>
                        <a:latin typeface="Consolas" pitchFamily="49" charset="0"/>
                        <a:ea typeface="仿宋" pitchFamily="49" charset="-122"/>
                        <a:cs typeface="Times New Roman"/>
                      </a:endParaRPr>
                    </a:p>
                  </a:txBody>
                  <a:tcPr marL="68580" marR="68580" marT="0" marB="0">
                    <a:solidFill>
                      <a:schemeClr val="bg1"/>
                    </a:solidFill>
                  </a:tcPr>
                </a:tc>
                <a:extLst>
                  <a:ext uri="{0D108BD9-81ED-4DB2-BD59-A6C34878D82A}">
                    <a16:rowId xmlns:a16="http://schemas.microsoft.com/office/drawing/2014/main" val="10006"/>
                  </a:ext>
                </a:extLst>
              </a:tr>
              <a:tr h="401839">
                <a:tc>
                  <a:txBody>
                    <a:bodyPr/>
                    <a:lstStyle/>
                    <a:p>
                      <a:pPr indent="0" algn="ctr">
                        <a:lnSpc>
                          <a:spcPts val="3000"/>
                        </a:lnSpc>
                        <a:spcAft>
                          <a:spcPts val="0"/>
                        </a:spcAft>
                      </a:pPr>
                      <a:r>
                        <a:rPr lang="en-US" sz="1800" b="0" kern="100">
                          <a:solidFill>
                            <a:schemeClr val="tx1"/>
                          </a:solidFill>
                          <a:latin typeface="Consolas" pitchFamily="49" charset="0"/>
                        </a:rPr>
                        <a:t>6</a:t>
                      </a:r>
                      <a:endParaRPr lang="zh-CN" sz="1800" b="0" kern="100">
                        <a:solidFill>
                          <a:schemeClr val="tx1"/>
                        </a:solidFill>
                        <a:latin typeface="Consolas" pitchFamily="49" charset="0"/>
                        <a:ea typeface="宋体"/>
                        <a:cs typeface="Times New Roman"/>
                      </a:endParaRPr>
                    </a:p>
                  </a:txBody>
                  <a:tcPr marL="68580" marR="68580" marT="0" marB="0">
                    <a:solidFill>
                      <a:schemeClr val="bg1"/>
                    </a:solidFill>
                  </a:tcPr>
                </a:tc>
                <a:tc>
                  <a:txBody>
                    <a:bodyPr/>
                    <a:lstStyle/>
                    <a:p>
                      <a:pPr indent="127000" algn="ctr" defTabSz="360000">
                        <a:lnSpc>
                          <a:spcPts val="3000"/>
                        </a:lnSpc>
                        <a:spcAft>
                          <a:spcPts val="0"/>
                        </a:spcAft>
                      </a:pPr>
                      <a:r>
                        <a:rPr lang="en-US" sz="1800" kern="100">
                          <a:solidFill>
                            <a:srgbClr val="0000FF"/>
                          </a:solidFill>
                          <a:latin typeface="Consolas" pitchFamily="49" charset="0"/>
                        </a:rPr>
                        <a:t>-1</a:t>
                      </a:r>
                      <a:endParaRPr lang="zh-CN" sz="1800" kern="100">
                        <a:solidFill>
                          <a:srgbClr val="0000FF"/>
                        </a:solidFill>
                        <a:latin typeface="Consolas" pitchFamily="49" charset="0"/>
                        <a:ea typeface="仿宋" pitchFamily="49" charset="-122"/>
                        <a:cs typeface="Times New Roman"/>
                      </a:endParaRPr>
                    </a:p>
                  </a:txBody>
                  <a:tcPr marL="68580" marR="68580" marT="0" marB="0">
                    <a:solidFill>
                      <a:schemeClr val="bg1"/>
                    </a:solidFill>
                  </a:tcPr>
                </a:tc>
                <a:tc>
                  <a:txBody>
                    <a:bodyPr/>
                    <a:lstStyle/>
                    <a:p>
                      <a:pPr indent="127000" algn="ctr" defTabSz="360000">
                        <a:lnSpc>
                          <a:spcPts val="3000"/>
                        </a:lnSpc>
                        <a:spcAft>
                          <a:spcPts val="0"/>
                        </a:spcAft>
                      </a:pPr>
                      <a:r>
                        <a:rPr lang="en-US" sz="1800" kern="100">
                          <a:solidFill>
                            <a:srgbClr val="0000FF"/>
                          </a:solidFill>
                          <a:latin typeface="Consolas" pitchFamily="49" charset="0"/>
                        </a:rPr>
                        <a:t>0</a:t>
                      </a:r>
                      <a:endParaRPr lang="zh-CN" sz="1800" kern="100">
                        <a:solidFill>
                          <a:srgbClr val="0000FF"/>
                        </a:solidFill>
                        <a:latin typeface="Consolas" pitchFamily="49" charset="0"/>
                        <a:ea typeface="仿宋" pitchFamily="49" charset="-122"/>
                        <a:cs typeface="Times New Roman"/>
                      </a:endParaRPr>
                    </a:p>
                  </a:txBody>
                  <a:tcPr marL="68580" marR="68580" marT="0" marB="0">
                    <a:solidFill>
                      <a:schemeClr val="bg1"/>
                    </a:solidFill>
                  </a:tcPr>
                </a:tc>
                <a:tc>
                  <a:txBody>
                    <a:bodyPr/>
                    <a:lstStyle/>
                    <a:p>
                      <a:pPr indent="127000" algn="ctr" defTabSz="360000">
                        <a:lnSpc>
                          <a:spcPts val="3000"/>
                        </a:lnSpc>
                        <a:spcAft>
                          <a:spcPts val="0"/>
                        </a:spcAft>
                      </a:pPr>
                      <a:r>
                        <a:rPr lang="en-US" sz="1800" kern="100">
                          <a:solidFill>
                            <a:srgbClr val="0000FF"/>
                          </a:solidFill>
                          <a:latin typeface="Consolas" pitchFamily="49" charset="0"/>
                        </a:rPr>
                        <a:t>1</a:t>
                      </a:r>
                      <a:endParaRPr lang="zh-CN" sz="1800" kern="100">
                        <a:solidFill>
                          <a:srgbClr val="0000FF"/>
                        </a:solidFill>
                        <a:latin typeface="Consolas" pitchFamily="49" charset="0"/>
                        <a:ea typeface="仿宋" pitchFamily="49" charset="-122"/>
                        <a:cs typeface="Times New Roman"/>
                      </a:endParaRPr>
                    </a:p>
                  </a:txBody>
                  <a:tcPr marL="68580" marR="68580" marT="0" marB="0">
                    <a:solidFill>
                      <a:schemeClr val="bg1"/>
                    </a:solidFill>
                  </a:tcPr>
                </a:tc>
                <a:tc>
                  <a:txBody>
                    <a:bodyPr/>
                    <a:lstStyle/>
                    <a:p>
                      <a:pPr indent="127000" algn="ctr" defTabSz="360000">
                        <a:lnSpc>
                          <a:spcPts val="3000"/>
                        </a:lnSpc>
                        <a:spcAft>
                          <a:spcPts val="0"/>
                        </a:spcAft>
                      </a:pPr>
                      <a:r>
                        <a:rPr lang="en-US" sz="1800" kern="100">
                          <a:solidFill>
                            <a:srgbClr val="0000FF"/>
                          </a:solidFill>
                          <a:latin typeface="Consolas" pitchFamily="49" charset="0"/>
                        </a:rPr>
                        <a:t>0</a:t>
                      </a:r>
                      <a:endParaRPr lang="zh-CN" sz="1800" kern="100">
                        <a:solidFill>
                          <a:srgbClr val="0000FF"/>
                        </a:solidFill>
                        <a:latin typeface="Consolas" pitchFamily="49" charset="0"/>
                        <a:ea typeface="仿宋" pitchFamily="49" charset="-122"/>
                        <a:cs typeface="Times New Roman"/>
                      </a:endParaRPr>
                    </a:p>
                  </a:txBody>
                  <a:tcPr marL="68580" marR="68580" marT="0" marB="0">
                    <a:solidFill>
                      <a:schemeClr val="bg1"/>
                    </a:solidFill>
                  </a:tcPr>
                </a:tc>
                <a:tc>
                  <a:txBody>
                    <a:bodyPr/>
                    <a:lstStyle/>
                    <a:p>
                      <a:pPr indent="127000" algn="ctr" defTabSz="360000">
                        <a:lnSpc>
                          <a:spcPts val="3000"/>
                        </a:lnSpc>
                        <a:spcAft>
                          <a:spcPts val="0"/>
                        </a:spcAft>
                      </a:pPr>
                      <a:r>
                        <a:rPr lang="en-US" sz="1800" kern="100">
                          <a:solidFill>
                            <a:srgbClr val="0000FF"/>
                          </a:solidFill>
                          <a:latin typeface="Consolas" pitchFamily="49" charset="0"/>
                        </a:rPr>
                        <a:t>2</a:t>
                      </a:r>
                      <a:endParaRPr lang="zh-CN" sz="1800" kern="100">
                        <a:solidFill>
                          <a:srgbClr val="0000FF"/>
                        </a:solidFill>
                        <a:latin typeface="Consolas" pitchFamily="49" charset="0"/>
                        <a:ea typeface="仿宋" pitchFamily="49" charset="-122"/>
                        <a:cs typeface="Times New Roman"/>
                      </a:endParaRPr>
                    </a:p>
                  </a:txBody>
                  <a:tcPr marL="68580" marR="68580" marT="0" marB="0">
                    <a:solidFill>
                      <a:schemeClr val="bg1"/>
                    </a:solidFill>
                  </a:tcPr>
                </a:tc>
                <a:tc>
                  <a:txBody>
                    <a:bodyPr/>
                    <a:lstStyle/>
                    <a:p>
                      <a:pPr indent="127000" algn="ctr" defTabSz="360000">
                        <a:lnSpc>
                          <a:spcPts val="3000"/>
                        </a:lnSpc>
                        <a:spcAft>
                          <a:spcPts val="0"/>
                        </a:spcAft>
                      </a:pPr>
                      <a:r>
                        <a:rPr lang="en-US" sz="1800" kern="100">
                          <a:solidFill>
                            <a:srgbClr val="0000FF"/>
                          </a:solidFill>
                          <a:latin typeface="Consolas" pitchFamily="49" charset="0"/>
                        </a:rPr>
                        <a:t>2</a:t>
                      </a:r>
                      <a:endParaRPr lang="zh-CN" sz="1800" kern="100">
                        <a:solidFill>
                          <a:srgbClr val="0000FF"/>
                        </a:solidFill>
                        <a:latin typeface="Consolas" pitchFamily="49" charset="0"/>
                        <a:ea typeface="仿宋" pitchFamily="49" charset="-122"/>
                        <a:cs typeface="Times New Roman"/>
                      </a:endParaRPr>
                    </a:p>
                  </a:txBody>
                  <a:tcPr marL="68580" marR="68580" marT="0" marB="0">
                    <a:solidFill>
                      <a:schemeClr val="bg1"/>
                    </a:solidFill>
                  </a:tcPr>
                </a:tc>
                <a:tc>
                  <a:txBody>
                    <a:bodyPr/>
                    <a:lstStyle/>
                    <a:p>
                      <a:pPr indent="127000" algn="ctr" defTabSz="360000">
                        <a:lnSpc>
                          <a:spcPts val="3000"/>
                        </a:lnSpc>
                        <a:spcAft>
                          <a:spcPts val="0"/>
                        </a:spcAft>
                      </a:pPr>
                      <a:r>
                        <a:rPr lang="en-US" sz="1800" kern="100">
                          <a:solidFill>
                            <a:srgbClr val="0000FF"/>
                          </a:solidFill>
                          <a:latin typeface="Consolas" pitchFamily="49" charset="0"/>
                        </a:rPr>
                        <a:t>5</a:t>
                      </a:r>
                      <a:endParaRPr lang="zh-CN" sz="1800" kern="100">
                        <a:solidFill>
                          <a:srgbClr val="0000FF"/>
                        </a:solidFill>
                        <a:latin typeface="Consolas" pitchFamily="49" charset="0"/>
                        <a:ea typeface="仿宋" pitchFamily="49" charset="-122"/>
                        <a:cs typeface="Times New Roman"/>
                      </a:endParaRPr>
                    </a:p>
                  </a:txBody>
                  <a:tcPr marL="68580" marR="68580" marT="0" marB="0">
                    <a:solidFill>
                      <a:schemeClr val="bg1"/>
                    </a:solidFill>
                  </a:tcPr>
                </a:tc>
                <a:extLst>
                  <a:ext uri="{0D108BD9-81ED-4DB2-BD59-A6C34878D82A}">
                    <a16:rowId xmlns:a16="http://schemas.microsoft.com/office/drawing/2014/main" val="10007"/>
                  </a:ext>
                </a:extLst>
              </a:tr>
            </a:tbl>
          </a:graphicData>
        </a:graphic>
      </p:graphicFrame>
      <p:sp>
        <p:nvSpPr>
          <p:cNvPr id="40" name="灯片编号占位符 39"/>
          <p:cNvSpPr>
            <a:spLocks noGrp="1"/>
          </p:cNvSpPr>
          <p:nvPr>
            <p:ph type="sldNum" sz="quarter" idx="12"/>
          </p:nvPr>
        </p:nvSpPr>
        <p:spPr/>
        <p:txBody>
          <a:bodyPr/>
          <a:lstStyle/>
          <a:p>
            <a:fld id="{7AF016A1-9F15-429F-9EFD-84004B73C732}" type="slidenum">
              <a:rPr lang="en-US" altLang="zh-CN" smtClean="0"/>
              <a:pPr/>
              <a:t>65</a:t>
            </a:fld>
            <a:r>
              <a:rPr lang="en-US" altLang="zh-CN"/>
              <a:t>/158</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ext Box 2"/>
          <p:cNvSpPr txBox="1">
            <a:spLocks noChangeArrowheads="1"/>
          </p:cNvSpPr>
          <p:nvPr/>
        </p:nvSpPr>
        <p:spPr bwMode="auto">
          <a:xfrm>
            <a:off x="214282" y="2643182"/>
            <a:ext cx="8429684" cy="473848"/>
          </a:xfrm>
          <a:prstGeom prst="rect">
            <a:avLst/>
          </a:prstGeom>
          <a:noFill/>
          <a:ln w="9525">
            <a:noFill/>
            <a:miter lim="800000"/>
            <a:headEnd/>
            <a:tailEnd/>
          </a:ln>
        </p:spPr>
        <p:txBody>
          <a:bodyPr wrap="square">
            <a:spAutoFit/>
          </a:bodyPr>
          <a:lstStyle/>
          <a:p>
            <a:pPr algn="l">
              <a:lnSpc>
                <a:spcPts val="3200"/>
              </a:lnSpc>
            </a:pPr>
            <a:r>
              <a:rPr lang="zh-CN" altLang="en-US">
                <a:solidFill>
                  <a:srgbClr val="0000FF"/>
                </a:solidFill>
                <a:latin typeface="Consolas" pitchFamily="49" charset="0"/>
                <a:ea typeface="楷体" pitchFamily="49" charset="-122"/>
                <a:cs typeface="Consolas" pitchFamily="49" charset="0"/>
              </a:rPr>
              <a:t>最后求得的从顶点</a:t>
            </a:r>
            <a:r>
              <a:rPr lang="en-US" altLang="zh-CN">
                <a:solidFill>
                  <a:srgbClr val="0000FF"/>
                </a:solidFill>
                <a:latin typeface="Consolas" pitchFamily="49" charset="0"/>
                <a:ea typeface="楷体" pitchFamily="49" charset="-122"/>
                <a:cs typeface="Consolas" pitchFamily="49" charset="0"/>
              </a:rPr>
              <a:t>0</a:t>
            </a:r>
            <a:r>
              <a:rPr lang="zh-CN" altLang="en-US">
                <a:solidFill>
                  <a:srgbClr val="0000FF"/>
                </a:solidFill>
                <a:latin typeface="Consolas" pitchFamily="49" charset="0"/>
                <a:ea typeface="楷体" pitchFamily="49" charset="-122"/>
                <a:cs typeface="Consolas" pitchFamily="49" charset="0"/>
              </a:rPr>
              <a:t>到其他的顶点的最短路径长度和路径如下：</a:t>
            </a:r>
          </a:p>
        </p:txBody>
      </p:sp>
      <p:sp>
        <p:nvSpPr>
          <p:cNvPr id="3" name="TextBox 2"/>
          <p:cNvSpPr txBox="1"/>
          <p:nvPr/>
        </p:nvSpPr>
        <p:spPr>
          <a:xfrm>
            <a:off x="714348" y="3357562"/>
            <a:ext cx="6643734" cy="2834210"/>
          </a:xfrm>
          <a:prstGeom prst="rect">
            <a:avLst/>
          </a:prstGeom>
          <a:solidFill>
            <a:schemeClr val="bg1">
              <a:lumMod val="95000"/>
            </a:schemeClr>
          </a:solidFill>
        </p:spPr>
        <p:style>
          <a:lnRef idx="1">
            <a:schemeClr val="accent5"/>
          </a:lnRef>
          <a:fillRef idx="2">
            <a:schemeClr val="accent5"/>
          </a:fillRef>
          <a:effectRef idx="1">
            <a:schemeClr val="accent5"/>
          </a:effectRef>
          <a:fontRef idx="minor">
            <a:schemeClr val="dk1"/>
          </a:fontRef>
        </p:style>
        <p:txBody>
          <a:bodyPr wrap="square" lIns="180000" tIns="108000" bIns="108000" rtlCol="0">
            <a:spAutoFit/>
          </a:bodyPr>
          <a:lstStyle/>
          <a:p>
            <a:pPr algn="l">
              <a:lnSpc>
                <a:spcPct val="100000"/>
              </a:lnSpc>
            </a:pPr>
            <a:r>
              <a:rPr lang="zh-CN" altLang="zh-CN" sz="2000">
                <a:solidFill>
                  <a:srgbClr val="0000FF"/>
                </a:solidFill>
                <a:latin typeface="Consolas" pitchFamily="49" charset="0"/>
                <a:ea typeface="仿宋" pitchFamily="49" charset="-122"/>
              </a:rPr>
              <a:t>从顶点</a:t>
            </a:r>
            <a:r>
              <a:rPr lang="en-US" altLang="zh-CN" sz="2000">
                <a:solidFill>
                  <a:srgbClr val="0000FF"/>
                </a:solidFill>
                <a:latin typeface="Consolas" pitchFamily="49" charset="0"/>
                <a:ea typeface="仿宋" pitchFamily="49" charset="-122"/>
              </a:rPr>
              <a:t>0</a:t>
            </a:r>
            <a:r>
              <a:rPr lang="zh-CN" altLang="zh-CN" sz="2000">
                <a:solidFill>
                  <a:srgbClr val="0000FF"/>
                </a:solidFill>
                <a:latin typeface="Consolas" pitchFamily="49" charset="0"/>
                <a:ea typeface="仿宋" pitchFamily="49" charset="-122"/>
              </a:rPr>
              <a:t>到顶点</a:t>
            </a:r>
            <a:r>
              <a:rPr lang="en-US" altLang="zh-CN" sz="2000">
                <a:solidFill>
                  <a:srgbClr val="0000FF"/>
                </a:solidFill>
                <a:latin typeface="Consolas" pitchFamily="49" charset="0"/>
                <a:ea typeface="仿宋" pitchFamily="49" charset="-122"/>
              </a:rPr>
              <a:t>1</a:t>
            </a:r>
            <a:r>
              <a:rPr lang="zh-CN" altLang="zh-CN" sz="2000">
                <a:solidFill>
                  <a:srgbClr val="0000FF"/>
                </a:solidFill>
                <a:latin typeface="Consolas" pitchFamily="49" charset="0"/>
                <a:ea typeface="仿宋" pitchFamily="49" charset="-122"/>
              </a:rPr>
              <a:t>的路径长度为</a:t>
            </a:r>
            <a:r>
              <a:rPr lang="en-US" altLang="zh-CN" sz="2000">
                <a:solidFill>
                  <a:srgbClr val="0000FF"/>
                </a:solidFill>
                <a:latin typeface="Consolas" pitchFamily="49" charset="0"/>
                <a:ea typeface="仿宋" pitchFamily="49" charset="-122"/>
              </a:rPr>
              <a:t>:1	</a:t>
            </a:r>
            <a:r>
              <a:rPr lang="zh-CN" altLang="zh-CN" sz="2000">
                <a:solidFill>
                  <a:srgbClr val="0000FF"/>
                </a:solidFill>
                <a:latin typeface="Consolas" pitchFamily="49" charset="0"/>
                <a:ea typeface="仿宋" pitchFamily="49" charset="-122"/>
              </a:rPr>
              <a:t>路径为</a:t>
            </a:r>
            <a:r>
              <a:rPr lang="en-US" altLang="zh-CN" sz="2000">
                <a:solidFill>
                  <a:srgbClr val="0000FF"/>
                </a:solidFill>
                <a:latin typeface="Consolas" pitchFamily="49" charset="0"/>
                <a:ea typeface="仿宋" pitchFamily="49" charset="-122"/>
              </a:rPr>
              <a:t>: 0 1</a:t>
            </a:r>
            <a:endParaRPr lang="zh-CN" altLang="zh-CN" sz="2000">
              <a:solidFill>
                <a:srgbClr val="0000FF"/>
              </a:solidFill>
              <a:latin typeface="Consolas" pitchFamily="49" charset="0"/>
              <a:ea typeface="仿宋" pitchFamily="49" charset="-122"/>
            </a:endParaRPr>
          </a:p>
          <a:p>
            <a:pPr algn="l">
              <a:lnSpc>
                <a:spcPct val="100000"/>
              </a:lnSpc>
            </a:pPr>
            <a:r>
              <a:rPr lang="zh-CN" altLang="zh-CN" sz="2000">
                <a:solidFill>
                  <a:srgbClr val="0000FF"/>
                </a:solidFill>
                <a:latin typeface="Consolas" pitchFamily="49" charset="0"/>
                <a:ea typeface="仿宋" pitchFamily="49" charset="-122"/>
              </a:rPr>
              <a:t>从顶点</a:t>
            </a:r>
            <a:r>
              <a:rPr lang="en-US" altLang="zh-CN" sz="2000">
                <a:solidFill>
                  <a:srgbClr val="0000FF"/>
                </a:solidFill>
                <a:latin typeface="Consolas" pitchFamily="49" charset="0"/>
                <a:ea typeface="仿宋" pitchFamily="49" charset="-122"/>
              </a:rPr>
              <a:t>0</a:t>
            </a:r>
            <a:r>
              <a:rPr lang="zh-CN" altLang="zh-CN" sz="2000">
                <a:solidFill>
                  <a:srgbClr val="0000FF"/>
                </a:solidFill>
                <a:latin typeface="Consolas" pitchFamily="49" charset="0"/>
                <a:ea typeface="仿宋" pitchFamily="49" charset="-122"/>
              </a:rPr>
              <a:t>到顶点</a:t>
            </a:r>
            <a:r>
              <a:rPr lang="en-US" altLang="zh-CN" sz="2000">
                <a:solidFill>
                  <a:srgbClr val="0000FF"/>
                </a:solidFill>
                <a:latin typeface="Consolas" pitchFamily="49" charset="0"/>
                <a:ea typeface="仿宋" pitchFamily="49" charset="-122"/>
              </a:rPr>
              <a:t>2</a:t>
            </a:r>
            <a:r>
              <a:rPr lang="zh-CN" altLang="zh-CN" sz="2000">
                <a:solidFill>
                  <a:srgbClr val="0000FF"/>
                </a:solidFill>
                <a:latin typeface="Consolas" pitchFamily="49" charset="0"/>
                <a:ea typeface="仿宋" pitchFamily="49" charset="-122"/>
              </a:rPr>
              <a:t>的路径长度为</a:t>
            </a:r>
            <a:r>
              <a:rPr lang="en-US" altLang="zh-CN" sz="2000">
                <a:solidFill>
                  <a:srgbClr val="0000FF"/>
                </a:solidFill>
                <a:latin typeface="Consolas" pitchFamily="49" charset="0"/>
                <a:ea typeface="仿宋" pitchFamily="49" charset="-122"/>
              </a:rPr>
              <a:t>:2	</a:t>
            </a:r>
            <a:r>
              <a:rPr lang="zh-CN" altLang="zh-CN" sz="2000">
                <a:solidFill>
                  <a:srgbClr val="0000FF"/>
                </a:solidFill>
                <a:latin typeface="Consolas" pitchFamily="49" charset="0"/>
                <a:ea typeface="仿宋" pitchFamily="49" charset="-122"/>
              </a:rPr>
              <a:t>路径为</a:t>
            </a:r>
            <a:r>
              <a:rPr lang="en-US" altLang="zh-CN" sz="2000">
                <a:solidFill>
                  <a:srgbClr val="0000FF"/>
                </a:solidFill>
                <a:latin typeface="Consolas" pitchFamily="49" charset="0"/>
                <a:ea typeface="仿宋" pitchFamily="49" charset="-122"/>
              </a:rPr>
              <a:t>: 0 1 2</a:t>
            </a:r>
            <a:endParaRPr lang="zh-CN" altLang="zh-CN" sz="2000">
              <a:solidFill>
                <a:srgbClr val="0000FF"/>
              </a:solidFill>
              <a:latin typeface="Consolas" pitchFamily="49" charset="0"/>
              <a:ea typeface="仿宋" pitchFamily="49" charset="-122"/>
            </a:endParaRPr>
          </a:p>
          <a:p>
            <a:pPr algn="l">
              <a:lnSpc>
                <a:spcPct val="100000"/>
              </a:lnSpc>
            </a:pPr>
            <a:r>
              <a:rPr lang="zh-CN" altLang="zh-CN" sz="2000">
                <a:solidFill>
                  <a:srgbClr val="0000FF"/>
                </a:solidFill>
                <a:latin typeface="Consolas" pitchFamily="49" charset="0"/>
                <a:ea typeface="仿宋" pitchFamily="49" charset="-122"/>
              </a:rPr>
              <a:t>从顶点</a:t>
            </a:r>
            <a:r>
              <a:rPr lang="en-US" altLang="zh-CN" sz="2000">
                <a:solidFill>
                  <a:srgbClr val="0000FF"/>
                </a:solidFill>
                <a:latin typeface="Consolas" pitchFamily="49" charset="0"/>
                <a:ea typeface="仿宋" pitchFamily="49" charset="-122"/>
              </a:rPr>
              <a:t>0</a:t>
            </a:r>
            <a:r>
              <a:rPr lang="zh-CN" altLang="zh-CN" sz="2000">
                <a:solidFill>
                  <a:srgbClr val="0000FF"/>
                </a:solidFill>
                <a:latin typeface="Consolas" pitchFamily="49" charset="0"/>
                <a:ea typeface="仿宋" pitchFamily="49" charset="-122"/>
              </a:rPr>
              <a:t>到顶点</a:t>
            </a:r>
            <a:r>
              <a:rPr lang="en-US" altLang="zh-CN" sz="2000">
                <a:solidFill>
                  <a:srgbClr val="0000FF"/>
                </a:solidFill>
                <a:latin typeface="Consolas" pitchFamily="49" charset="0"/>
                <a:ea typeface="仿宋" pitchFamily="49" charset="-122"/>
              </a:rPr>
              <a:t>3</a:t>
            </a:r>
            <a:r>
              <a:rPr lang="zh-CN" altLang="zh-CN" sz="2000">
                <a:solidFill>
                  <a:srgbClr val="0000FF"/>
                </a:solidFill>
                <a:latin typeface="Consolas" pitchFamily="49" charset="0"/>
                <a:ea typeface="仿宋" pitchFamily="49" charset="-122"/>
              </a:rPr>
              <a:t>的路径长度为</a:t>
            </a:r>
            <a:r>
              <a:rPr lang="en-US" altLang="zh-CN" sz="2000">
                <a:solidFill>
                  <a:srgbClr val="0000FF"/>
                </a:solidFill>
                <a:latin typeface="Consolas" pitchFamily="49" charset="0"/>
                <a:ea typeface="仿宋" pitchFamily="49" charset="-122"/>
              </a:rPr>
              <a:t>:6	</a:t>
            </a:r>
            <a:r>
              <a:rPr lang="zh-CN" altLang="zh-CN" sz="2000">
                <a:solidFill>
                  <a:srgbClr val="0000FF"/>
                </a:solidFill>
                <a:latin typeface="Consolas" pitchFamily="49" charset="0"/>
                <a:ea typeface="仿宋" pitchFamily="49" charset="-122"/>
              </a:rPr>
              <a:t>路径为</a:t>
            </a:r>
            <a:r>
              <a:rPr lang="en-US" altLang="zh-CN" sz="2000">
                <a:solidFill>
                  <a:srgbClr val="0000FF"/>
                </a:solidFill>
                <a:latin typeface="Consolas" pitchFamily="49" charset="0"/>
                <a:ea typeface="仿宋" pitchFamily="49" charset="-122"/>
              </a:rPr>
              <a:t>: 0 3</a:t>
            </a:r>
            <a:endParaRPr lang="zh-CN" altLang="zh-CN" sz="2000">
              <a:solidFill>
                <a:srgbClr val="0000FF"/>
              </a:solidFill>
              <a:latin typeface="Consolas" pitchFamily="49" charset="0"/>
              <a:ea typeface="仿宋" pitchFamily="49" charset="-122"/>
            </a:endParaRPr>
          </a:p>
          <a:p>
            <a:pPr algn="l">
              <a:lnSpc>
                <a:spcPct val="100000"/>
              </a:lnSpc>
            </a:pPr>
            <a:r>
              <a:rPr lang="zh-CN" altLang="zh-CN" sz="2000">
                <a:solidFill>
                  <a:srgbClr val="0000FF"/>
                </a:solidFill>
                <a:latin typeface="Consolas" pitchFamily="49" charset="0"/>
                <a:ea typeface="仿宋" pitchFamily="49" charset="-122"/>
              </a:rPr>
              <a:t>从顶点</a:t>
            </a:r>
            <a:r>
              <a:rPr lang="en-US" altLang="zh-CN" sz="2000">
                <a:solidFill>
                  <a:srgbClr val="0000FF"/>
                </a:solidFill>
                <a:latin typeface="Consolas" pitchFamily="49" charset="0"/>
                <a:ea typeface="仿宋" pitchFamily="49" charset="-122"/>
              </a:rPr>
              <a:t>0</a:t>
            </a:r>
            <a:r>
              <a:rPr lang="zh-CN" altLang="zh-CN" sz="2000">
                <a:solidFill>
                  <a:srgbClr val="0000FF"/>
                </a:solidFill>
                <a:latin typeface="Consolas" pitchFamily="49" charset="0"/>
                <a:ea typeface="仿宋" pitchFamily="49" charset="-122"/>
              </a:rPr>
              <a:t>到顶点</a:t>
            </a:r>
            <a:r>
              <a:rPr lang="en-US" altLang="zh-CN" sz="2000">
                <a:solidFill>
                  <a:srgbClr val="0000FF"/>
                </a:solidFill>
                <a:latin typeface="Consolas" pitchFamily="49" charset="0"/>
                <a:ea typeface="仿宋" pitchFamily="49" charset="-122"/>
              </a:rPr>
              <a:t>4</a:t>
            </a:r>
            <a:r>
              <a:rPr lang="zh-CN" altLang="zh-CN" sz="2000">
                <a:solidFill>
                  <a:srgbClr val="0000FF"/>
                </a:solidFill>
                <a:latin typeface="Consolas" pitchFamily="49" charset="0"/>
                <a:ea typeface="仿宋" pitchFamily="49" charset="-122"/>
              </a:rPr>
              <a:t>的路径长度为</a:t>
            </a:r>
            <a:r>
              <a:rPr lang="en-US" altLang="zh-CN" sz="2000">
                <a:solidFill>
                  <a:srgbClr val="0000FF"/>
                </a:solidFill>
                <a:latin typeface="Consolas" pitchFamily="49" charset="0"/>
                <a:ea typeface="仿宋" pitchFamily="49" charset="-122"/>
              </a:rPr>
              <a:t>:5	</a:t>
            </a:r>
            <a:r>
              <a:rPr lang="zh-CN" altLang="zh-CN" sz="2000">
                <a:solidFill>
                  <a:srgbClr val="0000FF"/>
                </a:solidFill>
                <a:latin typeface="Consolas" pitchFamily="49" charset="0"/>
                <a:ea typeface="仿宋" pitchFamily="49" charset="-122"/>
              </a:rPr>
              <a:t>路径为</a:t>
            </a:r>
            <a:r>
              <a:rPr lang="en-US" altLang="zh-CN" sz="2000">
                <a:solidFill>
                  <a:srgbClr val="0000FF"/>
                </a:solidFill>
                <a:latin typeface="Consolas" pitchFamily="49" charset="0"/>
                <a:ea typeface="仿宋" pitchFamily="49" charset="-122"/>
              </a:rPr>
              <a:t>: 0 1 2 4</a:t>
            </a:r>
            <a:endParaRPr lang="zh-CN" altLang="zh-CN" sz="2000">
              <a:solidFill>
                <a:srgbClr val="0000FF"/>
              </a:solidFill>
              <a:latin typeface="Consolas" pitchFamily="49" charset="0"/>
              <a:ea typeface="仿宋" pitchFamily="49" charset="-122"/>
            </a:endParaRPr>
          </a:p>
          <a:p>
            <a:pPr algn="l">
              <a:lnSpc>
                <a:spcPct val="100000"/>
              </a:lnSpc>
            </a:pPr>
            <a:r>
              <a:rPr lang="zh-CN" altLang="zh-CN" sz="2000">
                <a:solidFill>
                  <a:srgbClr val="0000FF"/>
                </a:solidFill>
                <a:latin typeface="Consolas" pitchFamily="49" charset="0"/>
                <a:ea typeface="仿宋" pitchFamily="49" charset="-122"/>
              </a:rPr>
              <a:t>从顶点</a:t>
            </a:r>
            <a:r>
              <a:rPr lang="en-US" altLang="zh-CN" sz="2000">
                <a:solidFill>
                  <a:srgbClr val="0000FF"/>
                </a:solidFill>
                <a:latin typeface="Consolas" pitchFamily="49" charset="0"/>
                <a:ea typeface="仿宋" pitchFamily="49" charset="-122"/>
              </a:rPr>
              <a:t>0</a:t>
            </a:r>
            <a:r>
              <a:rPr lang="zh-CN" altLang="zh-CN" sz="2000">
                <a:solidFill>
                  <a:srgbClr val="0000FF"/>
                </a:solidFill>
                <a:latin typeface="Consolas" pitchFamily="49" charset="0"/>
                <a:ea typeface="仿宋" pitchFamily="49" charset="-122"/>
              </a:rPr>
              <a:t>到顶点</a:t>
            </a:r>
            <a:r>
              <a:rPr lang="en-US" altLang="zh-CN" sz="2000">
                <a:solidFill>
                  <a:srgbClr val="0000FF"/>
                </a:solidFill>
                <a:latin typeface="Consolas" pitchFamily="49" charset="0"/>
                <a:ea typeface="仿宋" pitchFamily="49" charset="-122"/>
              </a:rPr>
              <a:t>5</a:t>
            </a:r>
            <a:r>
              <a:rPr lang="zh-CN" altLang="zh-CN" sz="2000">
                <a:solidFill>
                  <a:srgbClr val="0000FF"/>
                </a:solidFill>
                <a:latin typeface="Consolas" pitchFamily="49" charset="0"/>
                <a:ea typeface="仿宋" pitchFamily="49" charset="-122"/>
              </a:rPr>
              <a:t>的路径长度为</a:t>
            </a:r>
            <a:r>
              <a:rPr lang="en-US" altLang="zh-CN" sz="2000">
                <a:solidFill>
                  <a:srgbClr val="0000FF"/>
                </a:solidFill>
                <a:latin typeface="Consolas" pitchFamily="49" charset="0"/>
                <a:ea typeface="仿宋" pitchFamily="49" charset="-122"/>
              </a:rPr>
              <a:t>:6	</a:t>
            </a:r>
            <a:r>
              <a:rPr lang="zh-CN" altLang="zh-CN" sz="2000">
                <a:solidFill>
                  <a:srgbClr val="0000FF"/>
                </a:solidFill>
                <a:latin typeface="Consolas" pitchFamily="49" charset="0"/>
                <a:ea typeface="仿宋" pitchFamily="49" charset="-122"/>
              </a:rPr>
              <a:t>路径为</a:t>
            </a:r>
            <a:r>
              <a:rPr lang="en-US" altLang="zh-CN" sz="2000">
                <a:solidFill>
                  <a:srgbClr val="0000FF"/>
                </a:solidFill>
                <a:latin typeface="Consolas" pitchFamily="49" charset="0"/>
                <a:ea typeface="仿宋" pitchFamily="49" charset="-122"/>
              </a:rPr>
              <a:t>: 0 1 2 5</a:t>
            </a:r>
            <a:endParaRPr lang="zh-CN" altLang="zh-CN" sz="2000">
              <a:solidFill>
                <a:srgbClr val="0000FF"/>
              </a:solidFill>
              <a:latin typeface="Consolas" pitchFamily="49" charset="0"/>
              <a:ea typeface="仿宋" pitchFamily="49" charset="-122"/>
            </a:endParaRPr>
          </a:p>
          <a:p>
            <a:pPr algn="l">
              <a:lnSpc>
                <a:spcPct val="100000"/>
              </a:lnSpc>
            </a:pPr>
            <a:r>
              <a:rPr lang="zh-CN" altLang="zh-CN" sz="2000">
                <a:solidFill>
                  <a:srgbClr val="0000FF"/>
                </a:solidFill>
                <a:latin typeface="Consolas" pitchFamily="49" charset="0"/>
                <a:ea typeface="仿宋" pitchFamily="49" charset="-122"/>
              </a:rPr>
              <a:t>从顶点</a:t>
            </a:r>
            <a:r>
              <a:rPr lang="en-US" altLang="zh-CN" sz="2000">
                <a:solidFill>
                  <a:srgbClr val="0000FF"/>
                </a:solidFill>
                <a:latin typeface="Consolas" pitchFamily="49" charset="0"/>
                <a:ea typeface="仿宋" pitchFamily="49" charset="-122"/>
              </a:rPr>
              <a:t>0</a:t>
            </a:r>
            <a:r>
              <a:rPr lang="zh-CN" altLang="zh-CN" sz="2000">
                <a:solidFill>
                  <a:srgbClr val="0000FF"/>
                </a:solidFill>
                <a:latin typeface="Consolas" pitchFamily="49" charset="0"/>
                <a:ea typeface="仿宋" pitchFamily="49" charset="-122"/>
              </a:rPr>
              <a:t>到顶点</a:t>
            </a:r>
            <a:r>
              <a:rPr lang="en-US" altLang="zh-CN" sz="2000">
                <a:solidFill>
                  <a:srgbClr val="0000FF"/>
                </a:solidFill>
                <a:latin typeface="Consolas" pitchFamily="49" charset="0"/>
                <a:ea typeface="仿宋" pitchFamily="49" charset="-122"/>
              </a:rPr>
              <a:t>6</a:t>
            </a:r>
            <a:r>
              <a:rPr lang="zh-CN" altLang="zh-CN" sz="2000">
                <a:solidFill>
                  <a:srgbClr val="0000FF"/>
                </a:solidFill>
                <a:latin typeface="Consolas" pitchFamily="49" charset="0"/>
                <a:ea typeface="仿宋" pitchFamily="49" charset="-122"/>
              </a:rPr>
              <a:t>的路径长度为</a:t>
            </a:r>
            <a:r>
              <a:rPr lang="en-US" altLang="zh-CN" sz="2000">
                <a:solidFill>
                  <a:srgbClr val="0000FF"/>
                </a:solidFill>
                <a:latin typeface="Consolas" pitchFamily="49" charset="0"/>
                <a:ea typeface="仿宋" pitchFamily="49" charset="-122"/>
              </a:rPr>
              <a:t>:3	</a:t>
            </a:r>
            <a:r>
              <a:rPr lang="zh-CN" altLang="zh-CN" sz="2000">
                <a:solidFill>
                  <a:srgbClr val="0000FF"/>
                </a:solidFill>
                <a:latin typeface="Consolas" pitchFamily="49" charset="0"/>
                <a:ea typeface="仿宋" pitchFamily="49" charset="-122"/>
              </a:rPr>
              <a:t>路径为</a:t>
            </a:r>
            <a:r>
              <a:rPr lang="en-US" altLang="zh-CN" sz="2000">
                <a:solidFill>
                  <a:srgbClr val="0000FF"/>
                </a:solidFill>
                <a:latin typeface="Consolas" pitchFamily="49" charset="0"/>
                <a:ea typeface="仿宋" pitchFamily="49" charset="-122"/>
              </a:rPr>
              <a:t>: 0 1 2 5 6</a:t>
            </a:r>
            <a:endParaRPr lang="zh-CN" altLang="zh-CN" sz="2000">
              <a:solidFill>
                <a:srgbClr val="0000FF"/>
              </a:solidFill>
              <a:latin typeface="Consolas" pitchFamily="49" charset="0"/>
              <a:ea typeface="仿宋" pitchFamily="49" charset="-122"/>
            </a:endParaRPr>
          </a:p>
        </p:txBody>
      </p:sp>
      <p:sp>
        <p:nvSpPr>
          <p:cNvPr id="37" name="右弧形箭头 36"/>
          <p:cNvSpPr/>
          <p:nvPr/>
        </p:nvSpPr>
        <p:spPr>
          <a:xfrm>
            <a:off x="8286776" y="2500306"/>
            <a:ext cx="642942" cy="1928826"/>
          </a:xfrm>
          <a:prstGeom prst="curvedLeft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solidFill>
                <a:schemeClr val="tx1"/>
              </a:solidFill>
              <a:latin typeface="Consolas" pitchFamily="49" charset="0"/>
              <a:cs typeface="Consolas" pitchFamily="49" charset="0"/>
            </a:endParaRPr>
          </a:p>
        </p:txBody>
      </p:sp>
      <p:grpSp>
        <p:nvGrpSpPr>
          <p:cNvPr id="38" name="组合 37"/>
          <p:cNvGrpSpPr/>
          <p:nvPr/>
        </p:nvGrpSpPr>
        <p:grpSpPr>
          <a:xfrm>
            <a:off x="794941" y="357166"/>
            <a:ext cx="3086239" cy="2143140"/>
            <a:chOff x="794941" y="357166"/>
            <a:chExt cx="3086239" cy="2143140"/>
          </a:xfrm>
        </p:grpSpPr>
        <p:sp>
          <p:nvSpPr>
            <p:cNvPr id="39" name="Text Box 32"/>
            <p:cNvSpPr txBox="1">
              <a:spLocks noChangeArrowheads="1"/>
            </p:cNvSpPr>
            <p:nvPr/>
          </p:nvSpPr>
          <p:spPr bwMode="auto">
            <a:xfrm>
              <a:off x="1432328" y="1209616"/>
              <a:ext cx="286081" cy="26088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2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40" name="Freeform 31"/>
            <p:cNvSpPr>
              <a:spLocks/>
            </p:cNvSpPr>
            <p:nvPr/>
          </p:nvSpPr>
          <p:spPr bwMode="auto">
            <a:xfrm>
              <a:off x="3074432" y="1578058"/>
              <a:ext cx="506935" cy="557239"/>
            </a:xfrm>
            <a:custGeom>
              <a:avLst/>
              <a:gdLst/>
              <a:ahLst/>
              <a:cxnLst>
                <a:cxn ang="0">
                  <a:pos x="0" y="488"/>
                </a:cxn>
                <a:cxn ang="0">
                  <a:pos x="443" y="0"/>
                </a:cxn>
              </a:cxnLst>
              <a:rect l="0" t="0" r="r" b="b"/>
              <a:pathLst>
                <a:path w="443" h="488">
                  <a:moveTo>
                    <a:pt x="0" y="488"/>
                  </a:moveTo>
                  <a:lnTo>
                    <a:pt x="443" y="0"/>
                  </a:lnTo>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pPr>
                <a:lnSpc>
                  <a:spcPts val="2200"/>
                </a:lnSpc>
              </a:pPr>
              <a:endParaRPr lang="zh-CN" altLang="en-US" sz="2000">
                <a:solidFill>
                  <a:srgbClr val="0000FF"/>
                </a:solidFill>
                <a:latin typeface="Consolas" pitchFamily="49" charset="0"/>
              </a:endParaRPr>
            </a:p>
          </p:txBody>
        </p:sp>
        <p:sp>
          <p:nvSpPr>
            <p:cNvPr id="41" name="Line 30"/>
            <p:cNvSpPr>
              <a:spLocks noChangeShapeType="1"/>
            </p:cNvSpPr>
            <p:nvPr/>
          </p:nvSpPr>
          <p:spPr bwMode="auto">
            <a:xfrm flipV="1">
              <a:off x="1048980" y="701579"/>
              <a:ext cx="492059" cy="580124"/>
            </a:xfrm>
            <a:prstGeom prst="line">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pPr>
                <a:lnSpc>
                  <a:spcPts val="2200"/>
                </a:lnSpc>
              </a:pPr>
              <a:endParaRPr lang="zh-CN" altLang="en-US" sz="2000">
                <a:solidFill>
                  <a:srgbClr val="0000FF"/>
                </a:solidFill>
                <a:latin typeface="Consolas" pitchFamily="49" charset="0"/>
              </a:endParaRPr>
            </a:p>
          </p:txBody>
        </p:sp>
        <p:sp>
          <p:nvSpPr>
            <p:cNvPr id="42" name="Freeform 29"/>
            <p:cNvSpPr>
              <a:spLocks/>
            </p:cNvSpPr>
            <p:nvPr/>
          </p:nvSpPr>
          <p:spPr bwMode="auto">
            <a:xfrm>
              <a:off x="2355797" y="1570048"/>
              <a:ext cx="439420" cy="512614"/>
            </a:xfrm>
            <a:custGeom>
              <a:avLst/>
              <a:gdLst/>
              <a:ahLst/>
              <a:cxnLst>
                <a:cxn ang="0">
                  <a:pos x="0" y="0"/>
                </a:cxn>
                <a:cxn ang="0">
                  <a:pos x="383" y="449"/>
                </a:cxn>
              </a:cxnLst>
              <a:rect l="0" t="0" r="r" b="b"/>
              <a:pathLst>
                <a:path w="383" h="449">
                  <a:moveTo>
                    <a:pt x="0" y="0"/>
                  </a:moveTo>
                  <a:lnTo>
                    <a:pt x="383" y="449"/>
                  </a:lnTo>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pPr>
                <a:lnSpc>
                  <a:spcPts val="2200"/>
                </a:lnSpc>
              </a:pPr>
              <a:endParaRPr lang="zh-CN" altLang="en-US" sz="2000">
                <a:solidFill>
                  <a:srgbClr val="0000FF"/>
                </a:solidFill>
                <a:latin typeface="Consolas" pitchFamily="49" charset="0"/>
              </a:endParaRPr>
            </a:p>
          </p:txBody>
        </p:sp>
        <p:sp>
          <p:nvSpPr>
            <p:cNvPr id="43" name="Line 28"/>
            <p:cNvSpPr>
              <a:spLocks noChangeShapeType="1"/>
            </p:cNvSpPr>
            <p:nvPr/>
          </p:nvSpPr>
          <p:spPr bwMode="auto">
            <a:xfrm flipV="1">
              <a:off x="1673781" y="2205095"/>
              <a:ext cx="1068798" cy="0"/>
            </a:xfrm>
            <a:prstGeom prst="line">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pPr>
                <a:lnSpc>
                  <a:spcPts val="2200"/>
                </a:lnSpc>
              </a:pPr>
              <a:endParaRPr lang="zh-CN" altLang="en-US" sz="2000">
                <a:solidFill>
                  <a:srgbClr val="0000FF"/>
                </a:solidFill>
                <a:latin typeface="Consolas" pitchFamily="49" charset="0"/>
              </a:endParaRPr>
            </a:p>
          </p:txBody>
        </p:sp>
        <p:sp>
          <p:nvSpPr>
            <p:cNvPr id="44" name="Freeform 27"/>
            <p:cNvSpPr>
              <a:spLocks/>
            </p:cNvSpPr>
            <p:nvPr/>
          </p:nvSpPr>
          <p:spPr bwMode="auto">
            <a:xfrm>
              <a:off x="2957711" y="727896"/>
              <a:ext cx="2289" cy="1361632"/>
            </a:xfrm>
            <a:custGeom>
              <a:avLst/>
              <a:gdLst/>
              <a:ahLst/>
              <a:cxnLst>
                <a:cxn ang="0">
                  <a:pos x="0" y="0"/>
                </a:cxn>
                <a:cxn ang="0">
                  <a:pos x="2" y="1190"/>
                </a:cxn>
              </a:cxnLst>
              <a:rect l="0" t="0" r="r" b="b"/>
              <a:pathLst>
                <a:path w="2" h="1190">
                  <a:moveTo>
                    <a:pt x="0" y="0"/>
                  </a:moveTo>
                  <a:lnTo>
                    <a:pt x="2" y="1190"/>
                  </a:lnTo>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pPr>
                <a:lnSpc>
                  <a:spcPts val="2200"/>
                </a:lnSpc>
              </a:pPr>
              <a:endParaRPr lang="zh-CN" altLang="en-US" sz="2000">
                <a:solidFill>
                  <a:srgbClr val="0000FF"/>
                </a:solidFill>
                <a:latin typeface="Consolas" pitchFamily="49" charset="0"/>
              </a:endParaRPr>
            </a:p>
          </p:txBody>
        </p:sp>
        <p:sp>
          <p:nvSpPr>
            <p:cNvPr id="45" name="Oval 26"/>
            <p:cNvSpPr>
              <a:spLocks noChangeArrowheads="1"/>
            </p:cNvSpPr>
            <p:nvPr/>
          </p:nvSpPr>
          <p:spPr bwMode="auto">
            <a:xfrm>
              <a:off x="1475813" y="396070"/>
              <a:ext cx="357029" cy="35699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2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46" name="Oval 25"/>
            <p:cNvSpPr>
              <a:spLocks noChangeArrowheads="1"/>
            </p:cNvSpPr>
            <p:nvPr/>
          </p:nvSpPr>
          <p:spPr bwMode="auto">
            <a:xfrm>
              <a:off x="2740289" y="390349"/>
              <a:ext cx="357029" cy="355855"/>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2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47" name="Oval 24"/>
            <p:cNvSpPr>
              <a:spLocks noChangeArrowheads="1"/>
            </p:cNvSpPr>
            <p:nvPr/>
          </p:nvSpPr>
          <p:spPr bwMode="auto">
            <a:xfrm>
              <a:off x="794941" y="1281703"/>
              <a:ext cx="357029" cy="356999"/>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2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0</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48" name="Oval 23"/>
            <p:cNvSpPr>
              <a:spLocks noChangeArrowheads="1"/>
            </p:cNvSpPr>
            <p:nvPr/>
          </p:nvSpPr>
          <p:spPr bwMode="auto">
            <a:xfrm>
              <a:off x="2059417" y="1257674"/>
              <a:ext cx="357029" cy="35699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2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49" name="Oval 22"/>
            <p:cNvSpPr>
              <a:spLocks noChangeArrowheads="1"/>
            </p:cNvSpPr>
            <p:nvPr/>
          </p:nvSpPr>
          <p:spPr bwMode="auto">
            <a:xfrm>
              <a:off x="3524151" y="1247376"/>
              <a:ext cx="357029" cy="358144"/>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2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6</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0" name="Oval 21"/>
            <p:cNvSpPr>
              <a:spLocks noChangeArrowheads="1"/>
            </p:cNvSpPr>
            <p:nvPr/>
          </p:nvSpPr>
          <p:spPr bwMode="auto">
            <a:xfrm>
              <a:off x="1327051" y="2012865"/>
              <a:ext cx="358173" cy="35699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2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1" name="Oval 20"/>
            <p:cNvSpPr>
              <a:spLocks noChangeArrowheads="1"/>
            </p:cNvSpPr>
            <p:nvPr/>
          </p:nvSpPr>
          <p:spPr bwMode="auto">
            <a:xfrm>
              <a:off x="2740289" y="2036893"/>
              <a:ext cx="357029" cy="35699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2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5</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2" name="Line 19"/>
            <p:cNvSpPr>
              <a:spLocks noChangeShapeType="1"/>
            </p:cNvSpPr>
            <p:nvPr/>
          </p:nvSpPr>
          <p:spPr bwMode="auto">
            <a:xfrm flipV="1">
              <a:off x="1848862" y="567704"/>
              <a:ext cx="886850" cy="3433"/>
            </a:xfrm>
            <a:prstGeom prst="line">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pPr>
                <a:lnSpc>
                  <a:spcPts val="2200"/>
                </a:lnSpc>
              </a:pPr>
              <a:endParaRPr lang="zh-CN" altLang="en-US" sz="2000">
                <a:solidFill>
                  <a:srgbClr val="0000FF"/>
                </a:solidFill>
                <a:latin typeface="Consolas" pitchFamily="49" charset="0"/>
              </a:endParaRPr>
            </a:p>
          </p:txBody>
        </p:sp>
        <p:sp>
          <p:nvSpPr>
            <p:cNvPr id="53" name="Freeform 18"/>
            <p:cNvSpPr>
              <a:spLocks/>
            </p:cNvSpPr>
            <p:nvPr/>
          </p:nvSpPr>
          <p:spPr bwMode="auto">
            <a:xfrm>
              <a:off x="3087019" y="642079"/>
              <a:ext cx="530966" cy="617883"/>
            </a:xfrm>
            <a:custGeom>
              <a:avLst/>
              <a:gdLst/>
              <a:ahLst/>
              <a:cxnLst>
                <a:cxn ang="0">
                  <a:pos x="0" y="0"/>
                </a:cxn>
                <a:cxn ang="0">
                  <a:pos x="465" y="540"/>
                </a:cxn>
              </a:cxnLst>
              <a:rect l="0" t="0" r="r" b="b"/>
              <a:pathLst>
                <a:path w="465" h="540">
                  <a:moveTo>
                    <a:pt x="0" y="0"/>
                  </a:moveTo>
                  <a:lnTo>
                    <a:pt x="465" y="540"/>
                  </a:lnTo>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pPr>
                <a:lnSpc>
                  <a:spcPts val="2200"/>
                </a:lnSpc>
              </a:pPr>
              <a:endParaRPr lang="zh-CN" altLang="en-US" sz="2000">
                <a:solidFill>
                  <a:srgbClr val="0000FF"/>
                </a:solidFill>
                <a:latin typeface="Consolas" pitchFamily="49" charset="0"/>
              </a:endParaRPr>
            </a:p>
          </p:txBody>
        </p:sp>
        <p:sp>
          <p:nvSpPr>
            <p:cNvPr id="54" name="Freeform 17"/>
            <p:cNvSpPr>
              <a:spLocks/>
            </p:cNvSpPr>
            <p:nvPr/>
          </p:nvSpPr>
          <p:spPr bwMode="auto">
            <a:xfrm>
              <a:off x="1048980" y="1638702"/>
              <a:ext cx="338720" cy="410778"/>
            </a:xfrm>
            <a:custGeom>
              <a:avLst/>
              <a:gdLst/>
              <a:ahLst/>
              <a:cxnLst>
                <a:cxn ang="0">
                  <a:pos x="0" y="0"/>
                </a:cxn>
                <a:cxn ang="0">
                  <a:pos x="296" y="359"/>
                </a:cxn>
              </a:cxnLst>
              <a:rect l="0" t="0" r="r" b="b"/>
              <a:pathLst>
                <a:path w="296" h="359">
                  <a:moveTo>
                    <a:pt x="0" y="0"/>
                  </a:moveTo>
                  <a:lnTo>
                    <a:pt x="296" y="359"/>
                  </a:lnTo>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pPr>
                <a:lnSpc>
                  <a:spcPts val="2200"/>
                </a:lnSpc>
              </a:pPr>
              <a:endParaRPr lang="zh-CN" altLang="en-US" sz="2000">
                <a:solidFill>
                  <a:srgbClr val="0000FF"/>
                </a:solidFill>
                <a:latin typeface="Consolas" pitchFamily="49" charset="0"/>
              </a:endParaRPr>
            </a:p>
          </p:txBody>
        </p:sp>
        <p:sp>
          <p:nvSpPr>
            <p:cNvPr id="55" name="Freeform 16"/>
            <p:cNvSpPr>
              <a:spLocks/>
            </p:cNvSpPr>
            <p:nvPr/>
          </p:nvSpPr>
          <p:spPr bwMode="auto">
            <a:xfrm>
              <a:off x="1147392" y="1461347"/>
              <a:ext cx="917747" cy="4577"/>
            </a:xfrm>
            <a:custGeom>
              <a:avLst/>
              <a:gdLst/>
              <a:ahLst/>
              <a:cxnLst>
                <a:cxn ang="0">
                  <a:pos x="0" y="4"/>
                </a:cxn>
                <a:cxn ang="0">
                  <a:pos x="802" y="0"/>
                </a:cxn>
              </a:cxnLst>
              <a:rect l="0" t="0" r="r" b="b"/>
              <a:pathLst>
                <a:path w="802" h="4">
                  <a:moveTo>
                    <a:pt x="0" y="4"/>
                  </a:moveTo>
                  <a:lnTo>
                    <a:pt x="802" y="0"/>
                  </a:lnTo>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pPr>
                <a:lnSpc>
                  <a:spcPts val="2200"/>
                </a:lnSpc>
              </a:pPr>
              <a:endParaRPr lang="zh-CN" altLang="en-US" sz="2000">
                <a:solidFill>
                  <a:srgbClr val="0000FF"/>
                </a:solidFill>
                <a:latin typeface="Consolas" pitchFamily="49" charset="0"/>
              </a:endParaRPr>
            </a:p>
          </p:txBody>
        </p:sp>
        <p:sp>
          <p:nvSpPr>
            <p:cNvPr id="56" name="Freeform 15"/>
            <p:cNvSpPr>
              <a:spLocks/>
            </p:cNvSpPr>
            <p:nvPr/>
          </p:nvSpPr>
          <p:spPr bwMode="auto">
            <a:xfrm>
              <a:off x="1628008" y="1578058"/>
              <a:ext cx="516090" cy="471422"/>
            </a:xfrm>
            <a:custGeom>
              <a:avLst/>
              <a:gdLst/>
              <a:ahLst/>
              <a:cxnLst>
                <a:cxn ang="0">
                  <a:pos x="0" y="413"/>
                </a:cxn>
                <a:cxn ang="0">
                  <a:pos x="452" y="0"/>
                </a:cxn>
              </a:cxnLst>
              <a:rect l="0" t="0" r="r" b="b"/>
              <a:pathLst>
                <a:path w="452" h="413">
                  <a:moveTo>
                    <a:pt x="0" y="413"/>
                  </a:moveTo>
                  <a:lnTo>
                    <a:pt x="452" y="0"/>
                  </a:lnTo>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pPr>
                <a:lnSpc>
                  <a:spcPts val="2200"/>
                </a:lnSpc>
              </a:pPr>
              <a:endParaRPr lang="zh-CN" altLang="en-US" sz="2000">
                <a:solidFill>
                  <a:srgbClr val="0000FF"/>
                </a:solidFill>
                <a:latin typeface="Consolas" pitchFamily="49" charset="0"/>
              </a:endParaRPr>
            </a:p>
          </p:txBody>
        </p:sp>
        <p:sp>
          <p:nvSpPr>
            <p:cNvPr id="57" name="Freeform 14"/>
            <p:cNvSpPr>
              <a:spLocks/>
            </p:cNvSpPr>
            <p:nvPr/>
          </p:nvSpPr>
          <p:spPr bwMode="auto">
            <a:xfrm>
              <a:off x="1782491" y="722175"/>
              <a:ext cx="393647" cy="549230"/>
            </a:xfrm>
            <a:custGeom>
              <a:avLst/>
              <a:gdLst/>
              <a:ahLst/>
              <a:cxnLst>
                <a:cxn ang="0">
                  <a:pos x="0" y="0"/>
                </a:cxn>
                <a:cxn ang="0">
                  <a:pos x="344" y="480"/>
                </a:cxn>
              </a:cxnLst>
              <a:rect l="0" t="0" r="r" b="b"/>
              <a:pathLst>
                <a:path w="344" h="480">
                  <a:moveTo>
                    <a:pt x="0" y="0"/>
                  </a:moveTo>
                  <a:lnTo>
                    <a:pt x="344" y="480"/>
                  </a:lnTo>
                </a:path>
              </a:pathLst>
            </a:custGeom>
            <a:noFill/>
            <a:ln w="9525">
              <a:solidFill>
                <a:srgbClr val="000000"/>
              </a:solidFill>
              <a:round/>
              <a:headEnd/>
              <a:tailEnd type="stealth" w="sm" len="sm"/>
            </a:ln>
          </p:spPr>
          <p:txBody>
            <a:bodyPr vert="horz" wrap="square" lIns="91440" tIns="45720" rIns="91440" bIns="45720" numCol="1" anchor="t" anchorCtr="0" compatLnSpc="1">
              <a:prstTxWarp prst="textNoShape">
                <a:avLst/>
              </a:prstTxWarp>
            </a:bodyPr>
            <a:lstStyle/>
            <a:p>
              <a:pPr>
                <a:lnSpc>
                  <a:spcPts val="2200"/>
                </a:lnSpc>
              </a:pPr>
              <a:endParaRPr lang="zh-CN" altLang="en-US" sz="2000">
                <a:solidFill>
                  <a:srgbClr val="0000FF"/>
                </a:solidFill>
                <a:latin typeface="Consolas" pitchFamily="49" charset="0"/>
              </a:endParaRPr>
            </a:p>
          </p:txBody>
        </p:sp>
        <p:sp>
          <p:nvSpPr>
            <p:cNvPr id="58" name="Freeform 13"/>
            <p:cNvSpPr>
              <a:spLocks/>
            </p:cNvSpPr>
            <p:nvPr/>
          </p:nvSpPr>
          <p:spPr bwMode="auto">
            <a:xfrm>
              <a:off x="2355797" y="701579"/>
              <a:ext cx="476038" cy="592710"/>
            </a:xfrm>
            <a:custGeom>
              <a:avLst/>
              <a:gdLst/>
              <a:ahLst/>
              <a:cxnLst>
                <a:cxn ang="0">
                  <a:pos x="0" y="518"/>
                </a:cxn>
                <a:cxn ang="0">
                  <a:pos x="415" y="0"/>
                </a:cxn>
              </a:cxnLst>
              <a:rect l="0" t="0" r="r" b="b"/>
              <a:pathLst>
                <a:path w="415" h="518">
                  <a:moveTo>
                    <a:pt x="0" y="518"/>
                  </a:moveTo>
                  <a:lnTo>
                    <a:pt x="415" y="0"/>
                  </a:lnTo>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pPr>
                <a:lnSpc>
                  <a:spcPts val="2200"/>
                </a:lnSpc>
              </a:pPr>
              <a:endParaRPr lang="zh-CN" altLang="en-US" sz="2000">
                <a:solidFill>
                  <a:srgbClr val="0000FF"/>
                </a:solidFill>
                <a:latin typeface="Consolas" pitchFamily="49" charset="0"/>
              </a:endParaRPr>
            </a:p>
          </p:txBody>
        </p:sp>
        <p:sp>
          <p:nvSpPr>
            <p:cNvPr id="59" name="Text Box 12"/>
            <p:cNvSpPr txBox="1">
              <a:spLocks noChangeArrowheads="1"/>
            </p:cNvSpPr>
            <p:nvPr/>
          </p:nvSpPr>
          <p:spPr bwMode="auto">
            <a:xfrm>
              <a:off x="3311307" y="1861826"/>
              <a:ext cx="286081" cy="26088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2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60" name="Text Box 11"/>
            <p:cNvSpPr txBox="1">
              <a:spLocks noChangeArrowheads="1"/>
            </p:cNvSpPr>
            <p:nvPr/>
          </p:nvSpPr>
          <p:spPr bwMode="auto">
            <a:xfrm>
              <a:off x="2956567" y="1192453"/>
              <a:ext cx="286081" cy="26088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2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61" name="Text Box 10"/>
            <p:cNvSpPr txBox="1">
              <a:spLocks noChangeArrowheads="1"/>
            </p:cNvSpPr>
            <p:nvPr/>
          </p:nvSpPr>
          <p:spPr bwMode="auto">
            <a:xfrm>
              <a:off x="3350214" y="837742"/>
              <a:ext cx="286081" cy="25974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2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6</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62" name="Text Box 9"/>
            <p:cNvSpPr txBox="1">
              <a:spLocks noChangeArrowheads="1"/>
            </p:cNvSpPr>
            <p:nvPr/>
          </p:nvSpPr>
          <p:spPr bwMode="auto">
            <a:xfrm>
              <a:off x="2337488" y="832021"/>
              <a:ext cx="287225" cy="25974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2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63" name="Text Box 8"/>
            <p:cNvSpPr txBox="1">
              <a:spLocks noChangeArrowheads="1"/>
            </p:cNvSpPr>
            <p:nvPr/>
          </p:nvSpPr>
          <p:spPr bwMode="auto">
            <a:xfrm>
              <a:off x="2307735" y="1745115"/>
              <a:ext cx="286081" cy="26088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2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64" name="Text Box 7"/>
            <p:cNvSpPr txBox="1">
              <a:spLocks noChangeArrowheads="1"/>
            </p:cNvSpPr>
            <p:nvPr/>
          </p:nvSpPr>
          <p:spPr bwMode="auto">
            <a:xfrm>
              <a:off x="1844285" y="1793173"/>
              <a:ext cx="286081" cy="26088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2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65" name="Text Box 6"/>
            <p:cNvSpPr txBox="1">
              <a:spLocks noChangeArrowheads="1"/>
            </p:cNvSpPr>
            <p:nvPr/>
          </p:nvSpPr>
          <p:spPr bwMode="auto">
            <a:xfrm>
              <a:off x="2101757" y="2239422"/>
              <a:ext cx="286081" cy="26088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2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5</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66" name="Text Box 5"/>
            <p:cNvSpPr txBox="1">
              <a:spLocks noChangeArrowheads="1"/>
            </p:cNvSpPr>
            <p:nvPr/>
          </p:nvSpPr>
          <p:spPr bwMode="auto">
            <a:xfrm>
              <a:off x="975744" y="1780586"/>
              <a:ext cx="283792" cy="25974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2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6</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67" name="Text Box 4"/>
            <p:cNvSpPr txBox="1">
              <a:spLocks noChangeArrowheads="1"/>
            </p:cNvSpPr>
            <p:nvPr/>
          </p:nvSpPr>
          <p:spPr bwMode="auto">
            <a:xfrm>
              <a:off x="1918666" y="758790"/>
              <a:ext cx="286081" cy="25974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2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68" name="Text Box 3"/>
            <p:cNvSpPr txBox="1">
              <a:spLocks noChangeArrowheads="1"/>
            </p:cNvSpPr>
            <p:nvPr/>
          </p:nvSpPr>
          <p:spPr bwMode="auto">
            <a:xfrm>
              <a:off x="1003207" y="832021"/>
              <a:ext cx="286081" cy="26088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2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69" name="Text Box 2"/>
            <p:cNvSpPr txBox="1">
              <a:spLocks noChangeArrowheads="1"/>
            </p:cNvSpPr>
            <p:nvPr/>
          </p:nvSpPr>
          <p:spPr bwMode="auto">
            <a:xfrm>
              <a:off x="2084592" y="357166"/>
              <a:ext cx="286081" cy="26088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2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7</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grpSp>
      <p:sp>
        <p:nvSpPr>
          <p:cNvPr id="71" name="灯片编号占位符 70"/>
          <p:cNvSpPr>
            <a:spLocks noGrp="1"/>
          </p:cNvSpPr>
          <p:nvPr>
            <p:ph type="sldNum" sz="quarter" idx="12"/>
          </p:nvPr>
        </p:nvSpPr>
        <p:spPr/>
        <p:txBody>
          <a:bodyPr/>
          <a:lstStyle/>
          <a:p>
            <a:fld id="{7AF016A1-9F15-429F-9EFD-84004B73C732}" type="slidenum">
              <a:rPr lang="en-US" altLang="zh-CN" smtClean="0"/>
              <a:pPr/>
              <a:t>66</a:t>
            </a:fld>
            <a:r>
              <a:rPr lang="en-US" altLang="zh-CN"/>
              <a:t>/158</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Text Box 2"/>
          <p:cNvSpPr txBox="1">
            <a:spLocks noChangeArrowheads="1"/>
          </p:cNvSpPr>
          <p:nvPr/>
        </p:nvSpPr>
        <p:spPr bwMode="auto">
          <a:xfrm>
            <a:off x="395288" y="404813"/>
            <a:ext cx="4533902" cy="461665"/>
          </a:xfrm>
          <a:prstGeom prst="rect">
            <a:avLst/>
          </a:prstGeom>
          <a:solidFill>
            <a:srgbClr val="9900FF"/>
          </a:solidFill>
          <a:ln w="9525">
            <a:noFill/>
            <a:miter lim="800000"/>
            <a:headEnd/>
            <a:tailEnd/>
          </a:ln>
        </p:spPr>
        <p:txBody>
          <a:bodyPr wrap="square">
            <a:spAutoFit/>
          </a:bodyPr>
          <a:lstStyle/>
          <a:p>
            <a:pPr>
              <a:lnSpc>
                <a:spcPct val="100000"/>
              </a:lnSpc>
              <a:spcBef>
                <a:spcPct val="50000"/>
              </a:spcBef>
            </a:pPr>
            <a:r>
              <a:rPr lang="en-US" altLang="zh-CN">
                <a:solidFill>
                  <a:schemeClr val="bg1"/>
                </a:solidFill>
                <a:latin typeface="Consolas" pitchFamily="49" charset="0"/>
                <a:ea typeface="微软雅黑" pitchFamily="34" charset="-122"/>
                <a:cs typeface="Consolas" pitchFamily="49" charset="0"/>
              </a:rPr>
              <a:t>2</a:t>
            </a:r>
            <a:r>
              <a:rPr lang="zh-CN" altLang="en-US">
                <a:solidFill>
                  <a:schemeClr val="bg1"/>
                </a:solidFill>
                <a:latin typeface="Consolas" pitchFamily="49" charset="0"/>
                <a:ea typeface="微软雅黑" pitchFamily="34" charset="-122"/>
                <a:cs typeface="Consolas" pitchFamily="49" charset="0"/>
              </a:rPr>
              <a:t>、</a:t>
            </a:r>
            <a:r>
              <a:rPr lang="en-US" altLang="zh-CN">
                <a:solidFill>
                  <a:schemeClr val="bg1"/>
                </a:solidFill>
                <a:latin typeface="Consolas" pitchFamily="49" charset="0"/>
                <a:ea typeface="微软雅黑" pitchFamily="34" charset="-122"/>
                <a:cs typeface="Consolas" pitchFamily="49" charset="0"/>
              </a:rPr>
              <a:t>Bellman-Ford</a:t>
            </a:r>
            <a:r>
              <a:rPr lang="zh-CN" altLang="en-US">
                <a:solidFill>
                  <a:schemeClr val="bg1"/>
                </a:solidFill>
                <a:latin typeface="Consolas" pitchFamily="49" charset="0"/>
                <a:ea typeface="微软雅黑" pitchFamily="34" charset="-122"/>
                <a:cs typeface="Consolas" pitchFamily="49" charset="0"/>
              </a:rPr>
              <a:t>算法设计</a:t>
            </a:r>
          </a:p>
        </p:txBody>
      </p:sp>
      <p:sp>
        <p:nvSpPr>
          <p:cNvPr id="4" name="TextBox 3"/>
          <p:cNvSpPr txBox="1"/>
          <p:nvPr/>
        </p:nvSpPr>
        <p:spPr>
          <a:xfrm>
            <a:off x="285720" y="1142984"/>
            <a:ext cx="8572560" cy="2911154"/>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3000"/>
              </a:lnSpc>
              <a:spcBef>
                <a:spcPts val="0"/>
              </a:spcBef>
            </a:pPr>
            <a:r>
              <a:rPr lang="en-US" altLang="zh-CN" sz="2000">
                <a:solidFill>
                  <a:srgbClr val="0000FF"/>
                </a:solidFill>
                <a:latin typeface="Consolas" pitchFamily="49" charset="0"/>
                <a:ea typeface="仿宋" pitchFamily="49" charset="-122"/>
              </a:rPr>
              <a:t>struct </a:t>
            </a:r>
            <a:r>
              <a:rPr lang="en-US" altLang="zh-CN" sz="2000">
                <a:solidFill>
                  <a:srgbClr val="FF0000"/>
                </a:solidFill>
                <a:latin typeface="Consolas" pitchFamily="49" charset="0"/>
                <a:ea typeface="仿宋" pitchFamily="49" charset="-122"/>
              </a:rPr>
              <a:t>Edge</a:t>
            </a:r>
            <a:r>
              <a:rPr lang="en-US" altLang="zh-CN" sz="2000">
                <a:solidFill>
                  <a:srgbClr val="0000FF"/>
                </a:solidFill>
                <a:latin typeface="Consolas" pitchFamily="49" charset="0"/>
                <a:ea typeface="仿宋" pitchFamily="49" charset="-122"/>
              </a:rPr>
              <a:t>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边的类型</a:t>
            </a:r>
          </a:p>
          <a:p>
            <a:pPr algn="l" defTabSz="360000">
              <a:lnSpc>
                <a:spcPts val="3000"/>
              </a:lnSpc>
              <a:spcBef>
                <a:spcPts val="0"/>
              </a:spcBef>
            </a:pPr>
            <a:r>
              <a:rPr lang="en-US" altLang="zh-CN" sz="2000">
                <a:solidFill>
                  <a:srgbClr val="0000FF"/>
                </a:solidFill>
                <a:latin typeface="Consolas" pitchFamily="49" charset="0"/>
                <a:ea typeface="仿宋" pitchFamily="49" charset="-122"/>
              </a:rPr>
              <a:t>	int u;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边的起点</a:t>
            </a:r>
          </a:p>
          <a:p>
            <a:pPr algn="l" defTabSz="360000">
              <a:lnSpc>
                <a:spcPts val="3000"/>
              </a:lnSpc>
              <a:spcBef>
                <a:spcPts val="0"/>
              </a:spcBef>
            </a:pPr>
            <a:r>
              <a:rPr lang="en-US" altLang="zh-CN" sz="2000">
                <a:solidFill>
                  <a:srgbClr val="0000FF"/>
                </a:solidFill>
                <a:latin typeface="Consolas" pitchFamily="49" charset="0"/>
                <a:ea typeface="仿宋" pitchFamily="49" charset="-122"/>
              </a:rPr>
              <a:t>	int v;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边的终点</a:t>
            </a:r>
          </a:p>
          <a:p>
            <a:pPr algn="l" defTabSz="360000">
              <a:lnSpc>
                <a:spcPts val="3000"/>
              </a:lnSpc>
              <a:spcBef>
                <a:spcPts val="0"/>
              </a:spcBef>
            </a:pPr>
            <a:r>
              <a:rPr lang="en-US" altLang="zh-CN" sz="2000">
                <a:solidFill>
                  <a:srgbClr val="0000FF"/>
                </a:solidFill>
                <a:latin typeface="Consolas" pitchFamily="49" charset="0"/>
                <a:ea typeface="仿宋" pitchFamily="49" charset="-122"/>
              </a:rPr>
              <a:t>	int w;														</a:t>
            </a:r>
            <a:r>
              <a:rPr lang="en-US" altLang="zh-CN" sz="2000">
                <a:solidFill>
                  <a:srgbClr val="00B0F0"/>
                </a:solidFill>
                <a:latin typeface="Consolas" pitchFamily="49" charset="0"/>
                <a:ea typeface="仿宋" pitchFamily="49" charset="-122"/>
              </a:rPr>
              <a:t>	//</a:t>
            </a:r>
            <a:r>
              <a:rPr lang="zh-CN" altLang="zh-CN" sz="2000">
                <a:solidFill>
                  <a:srgbClr val="00B0F0"/>
                </a:solidFill>
                <a:latin typeface="Consolas" pitchFamily="49" charset="0"/>
                <a:ea typeface="仿宋" pitchFamily="49" charset="-122"/>
              </a:rPr>
              <a:t>边的权值</a:t>
            </a:r>
            <a:endParaRPr lang="en-US" altLang="zh-CN" sz="2000">
              <a:solidFill>
                <a:srgbClr val="00B0F0"/>
              </a:solidFill>
              <a:latin typeface="Consolas" pitchFamily="49" charset="0"/>
              <a:ea typeface="仿宋" pitchFamily="49" charset="-122"/>
            </a:endParaRPr>
          </a:p>
          <a:p>
            <a:pPr algn="l" defTabSz="360000">
              <a:lnSpc>
                <a:spcPts val="3000"/>
              </a:lnSpc>
              <a:spcBef>
                <a:spcPts val="0"/>
              </a:spcBef>
            </a:pPr>
            <a:endParaRPr lang="zh-CN" altLang="zh-CN" sz="2000">
              <a:solidFill>
                <a:srgbClr val="00B0F0"/>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Edge(int u,int v,int w):u(u),v(v),w(w)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构造函数</a:t>
            </a:r>
          </a:p>
          <a:p>
            <a:pPr algn="l" defTabSz="360000">
              <a:lnSpc>
                <a:spcPts val="30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6" name="灯片编号占位符 5"/>
          <p:cNvSpPr>
            <a:spLocks noGrp="1"/>
          </p:cNvSpPr>
          <p:nvPr>
            <p:ph type="sldNum" sz="quarter" idx="12"/>
          </p:nvPr>
        </p:nvSpPr>
        <p:spPr/>
        <p:txBody>
          <a:bodyPr/>
          <a:lstStyle/>
          <a:p>
            <a:fld id="{7AF016A1-9F15-429F-9EFD-84004B73C732}" type="slidenum">
              <a:rPr lang="en-US" altLang="zh-CN" smtClean="0"/>
              <a:pPr/>
              <a:t>67</a:t>
            </a:fld>
            <a:r>
              <a:rPr lang="en-US" altLang="zh-CN"/>
              <a:t>/158</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85720" y="428604"/>
            <a:ext cx="8572560" cy="5868952"/>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2600"/>
              </a:lnSpc>
              <a:spcBef>
                <a:spcPts val="0"/>
              </a:spcBef>
            </a:pPr>
            <a:r>
              <a:rPr lang="en-US" altLang="zh-CN" sz="2000">
                <a:solidFill>
                  <a:srgbClr val="0000FF"/>
                </a:solidFill>
                <a:latin typeface="Consolas" pitchFamily="49" charset="0"/>
                <a:ea typeface="仿宋" pitchFamily="49" charset="-122"/>
              </a:rPr>
              <a:t>void </a:t>
            </a:r>
            <a:r>
              <a:rPr lang="en-US" altLang="zh-CN" sz="2000">
                <a:solidFill>
                  <a:srgbClr val="FF0000"/>
                </a:solidFill>
                <a:latin typeface="Consolas" pitchFamily="49" charset="0"/>
                <a:ea typeface="仿宋" pitchFamily="49" charset="-122"/>
              </a:rPr>
              <a:t>BellmanFord</a:t>
            </a:r>
            <a:r>
              <a:rPr lang="en-US" altLang="zh-CN" sz="2000">
                <a:solidFill>
                  <a:srgbClr val="0000FF"/>
                </a:solidFill>
                <a:latin typeface="Consolas" pitchFamily="49" charset="0"/>
                <a:ea typeface="仿宋" pitchFamily="49" charset="-122"/>
              </a:rPr>
              <a:t>(vector&lt;Edge&gt;&amp;E,int n,int s)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int dist[MAXN],path[MAXN];</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memset(dist,0x3f,sizeof(dist));</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memset(path,-1,sizeof(path));</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dist[s]=0;</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for (int k=1;k&lt;n;k++)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循环</a:t>
            </a:r>
            <a:r>
              <a:rPr lang="en-US" altLang="zh-CN" sz="2000">
                <a:solidFill>
                  <a:srgbClr val="00B0F0"/>
                </a:solidFill>
                <a:latin typeface="Consolas" pitchFamily="49" charset="0"/>
                <a:ea typeface="仿宋" pitchFamily="49" charset="-122"/>
              </a:rPr>
              <a:t>n-1</a:t>
            </a:r>
            <a:r>
              <a:rPr lang="zh-CN" altLang="zh-CN" sz="2000">
                <a:solidFill>
                  <a:srgbClr val="00B0F0"/>
                </a:solidFill>
                <a:latin typeface="Consolas" pitchFamily="49" charset="0"/>
                <a:ea typeface="仿宋" pitchFamily="49" charset="-122"/>
              </a:rPr>
              <a:t>次</a:t>
            </a:r>
          </a:p>
          <a:p>
            <a:pPr algn="l" defTabSz="360000">
              <a:lnSpc>
                <a:spcPts val="2600"/>
              </a:lnSpc>
              <a:spcBef>
                <a:spcPts val="0"/>
              </a:spcBef>
            </a:pPr>
            <a:r>
              <a:rPr lang="en-US" altLang="zh-CN" sz="2000">
                <a:solidFill>
                  <a:srgbClr val="0000FF"/>
                </a:solidFill>
                <a:latin typeface="Consolas" pitchFamily="49" charset="0"/>
                <a:ea typeface="仿宋" pitchFamily="49" charset="-122"/>
              </a:rPr>
              <a:t>		for (int i=0;i&lt;E.size();i++)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遍历所有边</a:t>
            </a:r>
          </a:p>
          <a:p>
            <a:pPr algn="l" defTabSz="360000">
              <a:lnSpc>
                <a:spcPts val="2600"/>
              </a:lnSpc>
              <a:spcBef>
                <a:spcPts val="0"/>
              </a:spcBef>
            </a:pPr>
            <a:r>
              <a:rPr lang="en-US" altLang="zh-CN" sz="2000">
                <a:solidFill>
                  <a:srgbClr val="0000FF"/>
                </a:solidFill>
                <a:latin typeface="Consolas" pitchFamily="49" charset="0"/>
                <a:ea typeface="仿宋" pitchFamily="49" charset="-122"/>
              </a:rPr>
              <a:t>			int x=E[i].u;</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int y=E[i].v;</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int w=E[i].w;</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if (</a:t>
            </a:r>
            <a:r>
              <a:rPr lang="en-US" altLang="zh-CN" sz="2000">
                <a:solidFill>
                  <a:srgbClr val="FF00FF"/>
                </a:solidFill>
                <a:latin typeface="Consolas" pitchFamily="49" charset="0"/>
                <a:ea typeface="仿宋" pitchFamily="49" charset="-122"/>
              </a:rPr>
              <a:t>dist[x]+w&lt;dist[y]</a:t>
            </a: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dist[y]=dist[x]+w;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边松弛</a:t>
            </a:r>
          </a:p>
          <a:p>
            <a:pPr algn="l" defTabSz="360000">
              <a:lnSpc>
                <a:spcPts val="2600"/>
              </a:lnSpc>
              <a:spcBef>
                <a:spcPts val="0"/>
              </a:spcBef>
            </a:pPr>
            <a:r>
              <a:rPr lang="en-US" altLang="zh-CN" sz="2000">
                <a:solidFill>
                  <a:srgbClr val="0000FF"/>
                </a:solidFill>
                <a:latin typeface="Consolas" pitchFamily="49" charset="0"/>
                <a:ea typeface="仿宋" pitchFamily="49" charset="-122"/>
              </a:rPr>
              <a:t>				path[y]=x;</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68</a:t>
            </a:fld>
            <a:r>
              <a:rPr lang="en-US" altLang="zh-CN"/>
              <a:t>/158</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10" end="1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11" end="1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xEl>
                                              <p:pRg st="12" end="12"/>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
                                            <p:txEl>
                                              <p:pRg st="13" end="13"/>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xEl>
                                              <p:pRg st="14" end="14"/>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
                                            <p:txEl>
                                              <p:pRg st="15" end="15"/>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57158" y="1071546"/>
            <a:ext cx="8286808" cy="2362185"/>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300"/>
              </a:lnSpc>
              <a:spcBef>
                <a:spcPts val="1200"/>
              </a:spcBef>
              <a:buBlip>
                <a:blip r:embed="rId2"/>
              </a:buBlip>
            </a:pPr>
            <a:r>
              <a:rPr lang="en-US" altLang="zh-CN">
                <a:solidFill>
                  <a:srgbClr val="FF0000"/>
                </a:solidFill>
                <a:latin typeface="Consolas" pitchFamily="49" charset="0"/>
                <a:ea typeface="楷体" pitchFamily="49" charset="-122"/>
                <a:sym typeface="Wingdings"/>
              </a:rPr>
              <a:t></a:t>
            </a:r>
            <a:r>
              <a:rPr lang="en-US" altLang="zh-CN">
                <a:solidFill>
                  <a:srgbClr val="FF0000"/>
                </a:solidFill>
                <a:latin typeface="Consolas" pitchFamily="49" charset="0"/>
                <a:ea typeface="楷体" pitchFamily="49" charset="-122"/>
              </a:rPr>
              <a:t>BellmanFord</a:t>
            </a:r>
            <a:r>
              <a:rPr lang="zh-CN" altLang="zh-CN">
                <a:solidFill>
                  <a:srgbClr val="FF0000"/>
                </a:solidFill>
                <a:latin typeface="Consolas" pitchFamily="49" charset="0"/>
                <a:ea typeface="楷体" pitchFamily="49" charset="-122"/>
              </a:rPr>
              <a:t>算法分析</a:t>
            </a:r>
            <a:r>
              <a:rPr lang="zh-CN" altLang="zh-CN">
                <a:solidFill>
                  <a:srgbClr val="0000FF"/>
                </a:solidFill>
                <a:latin typeface="Consolas" pitchFamily="49" charset="0"/>
                <a:ea typeface="仿宋" pitchFamily="49" charset="-122"/>
              </a:rPr>
              <a:t>：对于含有</a:t>
            </a:r>
            <a:r>
              <a:rPr lang="en-US"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个顶点</a:t>
            </a:r>
            <a:r>
              <a:rPr lang="en-US" altLang="zh-CN" i="1">
                <a:solidFill>
                  <a:srgbClr val="0000FF"/>
                </a:solidFill>
                <a:latin typeface="Consolas" pitchFamily="49" charset="0"/>
                <a:ea typeface="仿宋" pitchFamily="49" charset="-122"/>
              </a:rPr>
              <a:t>e</a:t>
            </a:r>
            <a:r>
              <a:rPr lang="zh-CN" altLang="zh-CN">
                <a:solidFill>
                  <a:srgbClr val="0000FF"/>
                </a:solidFill>
                <a:latin typeface="Consolas" pitchFamily="49" charset="0"/>
                <a:ea typeface="仿宋" pitchFamily="49" charset="-122"/>
              </a:rPr>
              <a:t>条边的带权有向图，该算法的时间复杂度为</a:t>
            </a:r>
            <a:r>
              <a:rPr lang="en-US" altLang="zh-CN">
                <a:solidFill>
                  <a:srgbClr val="0000FF"/>
                </a:solidFill>
                <a:latin typeface="Consolas" pitchFamily="49" charset="0"/>
                <a:ea typeface="仿宋" pitchFamily="49" charset="-122"/>
              </a:rPr>
              <a:t>O(</a:t>
            </a:r>
            <a:r>
              <a:rPr lang="en-US" altLang="zh-CN" i="1">
                <a:solidFill>
                  <a:srgbClr val="0000FF"/>
                </a:solidFill>
                <a:latin typeface="Consolas" pitchFamily="49" charset="0"/>
                <a:ea typeface="仿宋" pitchFamily="49" charset="-122"/>
              </a:rPr>
              <a:t>ne</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，尽管从时间复杂度看，</a:t>
            </a:r>
            <a:r>
              <a:rPr lang="en-US" altLang="zh-CN">
                <a:solidFill>
                  <a:srgbClr val="0000FF"/>
                </a:solidFill>
                <a:latin typeface="Consolas" pitchFamily="49" charset="0"/>
                <a:ea typeface="仿宋" pitchFamily="49" charset="-122"/>
              </a:rPr>
              <a:t>Bellman-Ford</a:t>
            </a:r>
            <a:r>
              <a:rPr lang="zh-CN" altLang="zh-CN">
                <a:solidFill>
                  <a:srgbClr val="0000FF"/>
                </a:solidFill>
                <a:latin typeface="Consolas" pitchFamily="49" charset="0"/>
                <a:ea typeface="仿宋" pitchFamily="49" charset="-122"/>
              </a:rPr>
              <a:t>算法的时间性能低于</a:t>
            </a:r>
            <a:r>
              <a:rPr lang="en-US" altLang="zh-CN">
                <a:solidFill>
                  <a:srgbClr val="0000FF"/>
                </a:solidFill>
                <a:latin typeface="Consolas" pitchFamily="49" charset="0"/>
                <a:ea typeface="仿宋" pitchFamily="49" charset="-122"/>
              </a:rPr>
              <a:t>Dijkstra</a:t>
            </a:r>
            <a:r>
              <a:rPr lang="zh-CN" altLang="zh-CN">
                <a:solidFill>
                  <a:srgbClr val="0000FF"/>
                </a:solidFill>
                <a:latin typeface="Consolas" pitchFamily="49" charset="0"/>
                <a:ea typeface="仿宋" pitchFamily="49" charset="-122"/>
              </a:rPr>
              <a:t>算法，但在实际应用中，两种算法的执行时间差别不大。</a:t>
            </a:r>
            <a:endParaRPr lang="en-US" altLang="zh-CN">
              <a:solidFill>
                <a:srgbClr val="0000FF"/>
              </a:solidFill>
              <a:latin typeface="Consolas" pitchFamily="49" charset="0"/>
              <a:ea typeface="仿宋" pitchFamily="49" charset="-122"/>
            </a:endParaRPr>
          </a:p>
          <a:p>
            <a:pPr marL="457200" indent="-457200" algn="l">
              <a:lnSpc>
                <a:spcPts val="3300"/>
              </a:lnSpc>
              <a:spcBef>
                <a:spcPts val="1200"/>
              </a:spcBef>
              <a:buBlip>
                <a:blip r:embed="rId2"/>
              </a:buBlip>
            </a:pPr>
            <a:r>
              <a:rPr lang="zh-CN" altLang="zh-CN">
                <a:solidFill>
                  <a:srgbClr val="0000FF"/>
                </a:solidFill>
                <a:latin typeface="Consolas" pitchFamily="49" charset="0"/>
                <a:ea typeface="仿宋" pitchFamily="49" charset="-122"/>
              </a:rPr>
              <a:t>其正确性证明不再讨论。</a:t>
            </a: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69</a:t>
            </a:fld>
            <a:r>
              <a:rPr lang="en-US" altLang="zh-CN"/>
              <a:t>/158</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1071546"/>
            <a:ext cx="8501122" cy="1704954"/>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1200"/>
              </a:spcBef>
              <a:buBlip>
                <a:blip r:embed="rId2"/>
              </a:buBlip>
            </a:pPr>
            <a:r>
              <a:rPr lang="en-US" altLang="zh-CN">
                <a:solidFill>
                  <a:srgbClr val="FF0000"/>
                </a:solidFill>
                <a:latin typeface="Consolas" pitchFamily="49" charset="0"/>
                <a:ea typeface="仿宋" pitchFamily="49" charset="-122"/>
                <a:cs typeface="Consolas" pitchFamily="49" charset="0"/>
              </a:rPr>
              <a:t>SPFA</a:t>
            </a:r>
            <a:r>
              <a:rPr lang="zh-CN" altLang="zh-CN">
                <a:solidFill>
                  <a:srgbClr val="FF0000"/>
                </a:solidFill>
                <a:latin typeface="Consolas" pitchFamily="49" charset="0"/>
                <a:ea typeface="仿宋" pitchFamily="49" charset="-122"/>
                <a:cs typeface="Consolas" pitchFamily="49" charset="0"/>
              </a:rPr>
              <a:t>算法</a:t>
            </a:r>
            <a:r>
              <a:rPr lang="zh-CN" altLang="zh-CN">
                <a:solidFill>
                  <a:srgbClr val="0000FF"/>
                </a:solidFill>
                <a:latin typeface="Consolas" pitchFamily="49" charset="0"/>
                <a:ea typeface="仿宋" pitchFamily="49" charset="-122"/>
                <a:cs typeface="Consolas" pitchFamily="49" charset="0"/>
              </a:rPr>
              <a:t>也是一个求单源最短路径的算法，全称是</a:t>
            </a:r>
            <a:r>
              <a:rPr lang="en-US" altLang="zh-CN">
                <a:solidFill>
                  <a:srgbClr val="0000FF"/>
                </a:solidFill>
                <a:latin typeface="Consolas" pitchFamily="49" charset="0"/>
                <a:ea typeface="仿宋" pitchFamily="49" charset="-122"/>
                <a:cs typeface="Consolas" pitchFamily="49" charset="0"/>
              </a:rPr>
              <a:t>Shortest Path Faster Algorithm</a:t>
            </a:r>
            <a:r>
              <a:rPr lang="zh-CN" altLang="zh-CN">
                <a:solidFill>
                  <a:srgbClr val="0000FF"/>
                </a:solidFill>
                <a:latin typeface="Consolas" pitchFamily="49" charset="0"/>
                <a:ea typeface="仿宋" pitchFamily="49" charset="-122"/>
                <a:cs typeface="Consolas" pitchFamily="49" charset="0"/>
              </a:rPr>
              <a:t>（</a:t>
            </a:r>
            <a:r>
              <a:rPr lang="en-US" altLang="zh-CN">
                <a:solidFill>
                  <a:srgbClr val="0000FF"/>
                </a:solidFill>
                <a:latin typeface="Consolas" pitchFamily="49" charset="0"/>
                <a:ea typeface="仿宋" pitchFamily="49" charset="-122"/>
                <a:cs typeface="Consolas" pitchFamily="49" charset="0"/>
              </a:rPr>
              <a:t>SPFA</a:t>
            </a:r>
            <a:r>
              <a:rPr lang="zh-CN" altLang="zh-CN">
                <a:solidFill>
                  <a:srgbClr val="0000FF"/>
                </a:solidFill>
                <a:latin typeface="Consolas" pitchFamily="49" charset="0"/>
                <a:ea typeface="仿宋" pitchFamily="49" charset="-122"/>
                <a:cs typeface="Consolas" pitchFamily="49" charset="0"/>
              </a:rPr>
              <a:t>），是由西南交通大学</a:t>
            </a:r>
            <a:r>
              <a:rPr lang="zh-CN" altLang="zh-CN">
                <a:solidFill>
                  <a:srgbClr val="FF0000"/>
                </a:solidFill>
                <a:latin typeface="Consolas" pitchFamily="49" charset="0"/>
                <a:ea typeface="仿宋" pitchFamily="49" charset="-122"/>
                <a:cs typeface="Consolas" pitchFamily="49" charset="0"/>
              </a:rPr>
              <a:t>段凡丁</a:t>
            </a:r>
            <a:r>
              <a:rPr lang="zh-CN" altLang="zh-CN">
                <a:solidFill>
                  <a:srgbClr val="0000FF"/>
                </a:solidFill>
                <a:latin typeface="Consolas" pitchFamily="49" charset="0"/>
                <a:ea typeface="仿宋" pitchFamily="49" charset="-122"/>
                <a:cs typeface="Consolas" pitchFamily="49" charset="0"/>
              </a:rPr>
              <a:t>老师</a:t>
            </a:r>
            <a:r>
              <a:rPr lang="en-US" altLang="zh-CN">
                <a:solidFill>
                  <a:srgbClr val="0000FF"/>
                </a:solidFill>
                <a:latin typeface="Consolas" pitchFamily="49" charset="0"/>
                <a:ea typeface="仿宋" pitchFamily="49" charset="-122"/>
                <a:cs typeface="Consolas" pitchFamily="49" charset="0"/>
              </a:rPr>
              <a:t>1994</a:t>
            </a:r>
            <a:r>
              <a:rPr lang="zh-CN" altLang="zh-CN">
                <a:solidFill>
                  <a:srgbClr val="0000FF"/>
                </a:solidFill>
                <a:latin typeface="Consolas" pitchFamily="49" charset="0"/>
                <a:ea typeface="仿宋" pitchFamily="49" charset="-122"/>
                <a:cs typeface="Consolas" pitchFamily="49" charset="0"/>
              </a:rPr>
              <a:t>年发明的（见《西南交通大学学报》，</a:t>
            </a:r>
            <a:r>
              <a:rPr lang="en-US" altLang="zh-CN">
                <a:solidFill>
                  <a:srgbClr val="0000FF"/>
                </a:solidFill>
                <a:latin typeface="Consolas" pitchFamily="49" charset="0"/>
                <a:ea typeface="仿宋" pitchFamily="49" charset="-122"/>
                <a:cs typeface="Consolas" pitchFamily="49" charset="0"/>
              </a:rPr>
              <a:t>1994</a:t>
            </a:r>
            <a:r>
              <a:rPr lang="zh-CN" altLang="zh-CN">
                <a:solidFill>
                  <a:srgbClr val="0000FF"/>
                </a:solidFill>
                <a:latin typeface="Consolas" pitchFamily="49" charset="0"/>
                <a:ea typeface="仿宋" pitchFamily="49" charset="-122"/>
                <a:cs typeface="Consolas" pitchFamily="49" charset="0"/>
              </a:rPr>
              <a:t>，</a:t>
            </a:r>
            <a:r>
              <a:rPr lang="en-US" altLang="zh-CN">
                <a:solidFill>
                  <a:srgbClr val="0000FF"/>
                </a:solidFill>
                <a:latin typeface="Consolas" pitchFamily="49" charset="0"/>
                <a:ea typeface="仿宋" pitchFamily="49" charset="-122"/>
                <a:cs typeface="Consolas" pitchFamily="49" charset="0"/>
              </a:rPr>
              <a:t>29</a:t>
            </a:r>
            <a:r>
              <a:rPr lang="zh-CN" altLang="zh-CN">
                <a:solidFill>
                  <a:srgbClr val="0000FF"/>
                </a:solidFill>
                <a:latin typeface="Consolas" pitchFamily="49" charset="0"/>
                <a:ea typeface="仿宋" pitchFamily="49" charset="-122"/>
                <a:cs typeface="Consolas" pitchFamily="49" charset="0"/>
              </a:rPr>
              <a:t>（</a:t>
            </a:r>
            <a:r>
              <a:rPr lang="en-US" altLang="zh-CN">
                <a:solidFill>
                  <a:srgbClr val="0000FF"/>
                </a:solidFill>
                <a:latin typeface="Consolas" pitchFamily="49" charset="0"/>
                <a:ea typeface="仿宋" pitchFamily="49" charset="-122"/>
                <a:cs typeface="Consolas" pitchFamily="49" charset="0"/>
              </a:rPr>
              <a:t>2</a:t>
            </a:r>
            <a:r>
              <a:rPr lang="zh-CN" altLang="zh-CN">
                <a:solidFill>
                  <a:srgbClr val="0000FF"/>
                </a:solidFill>
                <a:latin typeface="Consolas" pitchFamily="49" charset="0"/>
                <a:ea typeface="仿宋" pitchFamily="49" charset="-122"/>
                <a:cs typeface="Consolas" pitchFamily="49" charset="0"/>
              </a:rPr>
              <a:t>），</a:t>
            </a:r>
            <a:r>
              <a:rPr lang="en-US" altLang="zh-CN">
                <a:solidFill>
                  <a:srgbClr val="0000FF"/>
                </a:solidFill>
                <a:latin typeface="Consolas" pitchFamily="49" charset="0"/>
                <a:ea typeface="仿宋" pitchFamily="49" charset="-122"/>
                <a:cs typeface="Consolas" pitchFamily="49" charset="0"/>
              </a:rPr>
              <a:t>p207</a:t>
            </a:r>
            <a:r>
              <a:rPr lang="zh-CN" altLang="zh-CN">
                <a:solidFill>
                  <a:srgbClr val="0000FF"/>
                </a:solidFill>
                <a:latin typeface="Consolas" pitchFamily="49" charset="0"/>
                <a:ea typeface="仿宋" pitchFamily="49" charset="-122"/>
                <a:cs typeface="Consolas" pitchFamily="49" charset="0"/>
              </a:rPr>
              <a:t>～</a:t>
            </a:r>
            <a:r>
              <a:rPr lang="en-US" altLang="zh-CN">
                <a:solidFill>
                  <a:srgbClr val="0000FF"/>
                </a:solidFill>
                <a:latin typeface="Consolas" pitchFamily="49" charset="0"/>
                <a:ea typeface="仿宋" pitchFamily="49" charset="-122"/>
                <a:cs typeface="Consolas" pitchFamily="49" charset="0"/>
              </a:rPr>
              <a:t>212</a:t>
            </a:r>
            <a:r>
              <a:rPr lang="zh-CN" altLang="zh-CN">
                <a:solidFill>
                  <a:srgbClr val="0000FF"/>
                </a:solidFill>
                <a:latin typeface="Consolas" pitchFamily="49" charset="0"/>
                <a:ea typeface="仿宋" pitchFamily="49" charset="-122"/>
                <a:cs typeface="Consolas" pitchFamily="49" charset="0"/>
              </a:rPr>
              <a:t>）。</a:t>
            </a:r>
          </a:p>
        </p:txBody>
      </p:sp>
      <p:sp>
        <p:nvSpPr>
          <p:cNvPr id="4" name="TextBox 3"/>
          <p:cNvSpPr txBox="1"/>
          <p:nvPr/>
        </p:nvSpPr>
        <p:spPr>
          <a:xfrm>
            <a:off x="357158" y="357166"/>
            <a:ext cx="3643338" cy="523220"/>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rPr>
              <a:t>9.2.3 SPFA</a:t>
            </a:r>
            <a:r>
              <a:rPr lang="zh-CN" altLang="en-US"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rPr>
              <a:t>算法</a:t>
            </a:r>
            <a:endParaRPr lang="zh-CN" altLang="zh-CN"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endParaRPr>
          </a:p>
        </p:txBody>
      </p:sp>
      <p:pic>
        <p:nvPicPr>
          <p:cNvPr id="5" name="Picture 2"/>
          <p:cNvPicPr>
            <a:picLocks noChangeAspect="1" noChangeArrowheads="1"/>
          </p:cNvPicPr>
          <p:nvPr/>
        </p:nvPicPr>
        <p:blipFill>
          <a:blip r:embed="rId3" cstate="print"/>
          <a:srcRect/>
          <a:stretch>
            <a:fillRect/>
          </a:stretch>
        </p:blipFill>
        <p:spPr bwMode="auto">
          <a:xfrm>
            <a:off x="1000100" y="2988439"/>
            <a:ext cx="6215106" cy="348732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7" name="灯片编号占位符 6"/>
          <p:cNvSpPr>
            <a:spLocks noGrp="1"/>
          </p:cNvSpPr>
          <p:nvPr>
            <p:ph type="sldNum" sz="quarter" idx="12"/>
          </p:nvPr>
        </p:nvSpPr>
        <p:spPr/>
        <p:txBody>
          <a:bodyPr/>
          <a:lstStyle/>
          <a:p>
            <a:fld id="{7AF016A1-9F15-429F-9EFD-84004B73C732}" type="slidenum">
              <a:rPr lang="en-US" altLang="zh-CN" smtClean="0"/>
              <a:pPr/>
              <a:t>70</a:t>
            </a:fld>
            <a:r>
              <a:rPr lang="en-US" altLang="zh-CN"/>
              <a:t>/158</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66626" name="Rectangle 6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41325" name="Rectangle 1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TextBox 7"/>
          <p:cNvSpPr txBox="1"/>
          <p:nvPr/>
        </p:nvSpPr>
        <p:spPr>
          <a:xfrm>
            <a:off x="142844" y="571480"/>
            <a:ext cx="8786874" cy="2906913"/>
          </a:xfrm>
          <a:prstGeom prst="rect">
            <a:avLst/>
          </a:prstGeom>
          <a:ln>
            <a:solidFill>
              <a:schemeClr val="accent6">
                <a:lumMod val="40000"/>
                <a:lumOff val="6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marL="457200" indent="-457200" algn="l">
              <a:lnSpc>
                <a:spcPts val="3200"/>
              </a:lnSpc>
              <a:spcBef>
                <a:spcPts val="1200"/>
              </a:spcBef>
              <a:buBlip>
                <a:blip r:embed="rId3"/>
              </a:buBlip>
            </a:pPr>
            <a:r>
              <a:rPr lang="en-US" altLang="zh-CN">
                <a:solidFill>
                  <a:srgbClr val="0000FF"/>
                </a:solidFill>
                <a:latin typeface="Consolas" pitchFamily="49" charset="0"/>
                <a:ea typeface="仿宋" pitchFamily="49" charset="-122"/>
                <a:cs typeface="Consolas" pitchFamily="49" charset="0"/>
              </a:rPr>
              <a:t>SPFA</a:t>
            </a:r>
            <a:r>
              <a:rPr lang="zh-CN" altLang="zh-CN">
                <a:solidFill>
                  <a:srgbClr val="0000FF"/>
                </a:solidFill>
                <a:latin typeface="Consolas" pitchFamily="49" charset="0"/>
                <a:ea typeface="仿宋" pitchFamily="49" charset="-122"/>
                <a:cs typeface="Consolas" pitchFamily="49" charset="0"/>
              </a:rPr>
              <a:t>是</a:t>
            </a:r>
            <a:r>
              <a:rPr lang="zh-CN" altLang="en-US">
                <a:solidFill>
                  <a:srgbClr val="0000FF"/>
                </a:solidFill>
                <a:latin typeface="Consolas" pitchFamily="49" charset="0"/>
                <a:ea typeface="仿宋" pitchFamily="49" charset="-122"/>
                <a:cs typeface="Consolas" pitchFamily="49" charset="0"/>
              </a:rPr>
              <a:t>队列式分支限界法</a:t>
            </a:r>
            <a:r>
              <a:rPr lang="zh-CN" altLang="zh-CN">
                <a:solidFill>
                  <a:srgbClr val="0000FF"/>
                </a:solidFill>
                <a:latin typeface="Consolas" pitchFamily="49" charset="0"/>
                <a:ea typeface="仿宋" pitchFamily="49" charset="-122"/>
                <a:cs typeface="Consolas" pitchFamily="49" charset="0"/>
              </a:rPr>
              <a:t>求单源最短路径算法的改进</a:t>
            </a:r>
            <a:r>
              <a:rPr lang="zh-CN" altLang="en-US">
                <a:solidFill>
                  <a:srgbClr val="0000FF"/>
                </a:solidFill>
                <a:latin typeface="Consolas" pitchFamily="49" charset="0"/>
                <a:ea typeface="仿宋" pitchFamily="49" charset="-122"/>
                <a:cs typeface="Consolas" pitchFamily="49" charset="0"/>
              </a:rPr>
              <a:t>。</a:t>
            </a:r>
            <a:endParaRPr lang="en-US" altLang="zh-CN">
              <a:solidFill>
                <a:srgbClr val="0000FF"/>
              </a:solidFill>
              <a:latin typeface="Consolas" pitchFamily="49" charset="0"/>
              <a:ea typeface="仿宋" pitchFamily="49" charset="-122"/>
              <a:cs typeface="Consolas" pitchFamily="49" charset="0"/>
            </a:endParaRPr>
          </a:p>
          <a:p>
            <a:pPr marL="457200" indent="-457200" algn="l">
              <a:lnSpc>
                <a:spcPts val="3200"/>
              </a:lnSpc>
              <a:spcBef>
                <a:spcPts val="1200"/>
              </a:spcBef>
              <a:buBlip>
                <a:blip r:embed="rId3"/>
              </a:buBlip>
            </a:pPr>
            <a:r>
              <a:rPr lang="zh-CN" altLang="en-US">
                <a:solidFill>
                  <a:srgbClr val="FF0000"/>
                </a:solidFill>
                <a:latin typeface="楷体" pitchFamily="49" charset="-122"/>
                <a:ea typeface="楷体" pitchFamily="49" charset="-122"/>
                <a:cs typeface="Consolas" pitchFamily="49" charset="0"/>
              </a:rPr>
              <a:t>改进点</a:t>
            </a:r>
            <a:r>
              <a:rPr lang="zh-CN" altLang="en-US">
                <a:solidFill>
                  <a:srgbClr val="0000FF"/>
                </a:solidFill>
                <a:latin typeface="Consolas" pitchFamily="49" charset="0"/>
                <a:ea typeface="仿宋" pitchFamily="49" charset="-122"/>
                <a:cs typeface="Consolas" pitchFamily="49" charset="0"/>
              </a:rPr>
              <a:t>：在队列式分支限界法中，</a:t>
            </a:r>
            <a:r>
              <a:rPr lang="zh-CN" altLang="zh-CN">
                <a:solidFill>
                  <a:srgbClr val="0000FF"/>
                </a:solidFill>
                <a:latin typeface="Consolas" pitchFamily="49" charset="0"/>
                <a:ea typeface="仿宋" pitchFamily="49" charset="-122"/>
                <a:cs typeface="Consolas" pitchFamily="49" charset="0"/>
              </a:rPr>
              <a:t>当出队结点（</a:t>
            </a:r>
            <a:r>
              <a:rPr lang="en-US" altLang="zh-CN" i="1">
                <a:solidFill>
                  <a:srgbClr val="0000FF"/>
                </a:solidFill>
                <a:latin typeface="Consolas" pitchFamily="49" charset="0"/>
                <a:ea typeface="仿宋" pitchFamily="49" charset="-122"/>
                <a:cs typeface="Consolas" pitchFamily="49" charset="0"/>
              </a:rPr>
              <a:t>u</a:t>
            </a:r>
            <a:r>
              <a:rPr lang="zh-CN" altLang="zh-CN">
                <a:solidFill>
                  <a:srgbClr val="0000FF"/>
                </a:solidFill>
                <a:latin typeface="Consolas" pitchFamily="49" charset="0"/>
                <a:ea typeface="仿宋" pitchFamily="49" charset="-122"/>
                <a:cs typeface="Consolas" pitchFamily="49" charset="0"/>
              </a:rPr>
              <a:t>）时，考虑某个相邻点</a:t>
            </a:r>
            <a:r>
              <a:rPr lang="en-US" altLang="zh-CN" i="1">
                <a:solidFill>
                  <a:srgbClr val="0000FF"/>
                </a:solidFill>
                <a:latin typeface="Consolas" pitchFamily="49" charset="0"/>
                <a:ea typeface="仿宋" pitchFamily="49" charset="-122"/>
                <a:cs typeface="Consolas" pitchFamily="49" charset="0"/>
              </a:rPr>
              <a:t>v</a:t>
            </a:r>
            <a:r>
              <a:rPr lang="zh-CN" altLang="zh-CN">
                <a:solidFill>
                  <a:srgbClr val="0000FF"/>
                </a:solidFill>
                <a:latin typeface="Consolas" pitchFamily="49" charset="0"/>
                <a:ea typeface="仿宋" pitchFamily="49" charset="-122"/>
                <a:cs typeface="Consolas" pitchFamily="49" charset="0"/>
              </a:rPr>
              <a:t>，若满足条件</a:t>
            </a:r>
            <a:r>
              <a:rPr lang="en-US" altLang="zh-CN">
                <a:solidFill>
                  <a:srgbClr val="FF00FF"/>
                </a:solidFill>
                <a:latin typeface="Consolas" pitchFamily="49" charset="0"/>
                <a:ea typeface="仿宋" pitchFamily="49" charset="-122"/>
                <a:cs typeface="Consolas" pitchFamily="49" charset="0"/>
              </a:rPr>
              <a:t>dist[u]+w&lt;dist[v]</a:t>
            </a:r>
            <a:r>
              <a:rPr lang="zh-CN" altLang="zh-CN">
                <a:solidFill>
                  <a:srgbClr val="0000FF"/>
                </a:solidFill>
                <a:latin typeface="Consolas" pitchFamily="49" charset="0"/>
                <a:ea typeface="仿宋" pitchFamily="49" charset="-122"/>
                <a:cs typeface="Consolas" pitchFamily="49" charset="0"/>
              </a:rPr>
              <a:t>，修改</a:t>
            </a:r>
            <a:r>
              <a:rPr lang="en-US" altLang="zh-CN">
                <a:solidFill>
                  <a:srgbClr val="0000FF"/>
                </a:solidFill>
                <a:latin typeface="Consolas" pitchFamily="49" charset="0"/>
                <a:ea typeface="仿宋" pitchFamily="49" charset="-122"/>
                <a:cs typeface="Consolas" pitchFamily="49" charset="0"/>
              </a:rPr>
              <a:t>dist[v]=dist[u]+w</a:t>
            </a:r>
            <a:r>
              <a:rPr lang="zh-CN" altLang="zh-CN">
                <a:solidFill>
                  <a:srgbClr val="0000FF"/>
                </a:solidFill>
                <a:latin typeface="Consolas" pitchFamily="49" charset="0"/>
                <a:ea typeface="仿宋" pitchFamily="49" charset="-122"/>
                <a:cs typeface="Consolas" pitchFamily="49" charset="0"/>
              </a:rPr>
              <a:t>（边松驰），</a:t>
            </a:r>
            <a:r>
              <a:rPr lang="zh-CN" altLang="zh-CN">
                <a:solidFill>
                  <a:srgbClr val="C00000"/>
                </a:solidFill>
                <a:latin typeface="Consolas" pitchFamily="49" charset="0"/>
                <a:ea typeface="仿宋" pitchFamily="49" charset="-122"/>
                <a:cs typeface="Consolas" pitchFamily="49" charset="0"/>
              </a:rPr>
              <a:t>如果顶点</a:t>
            </a:r>
            <a:r>
              <a:rPr lang="en-US" altLang="zh-CN" i="1">
                <a:solidFill>
                  <a:srgbClr val="C00000"/>
                </a:solidFill>
                <a:latin typeface="Consolas" pitchFamily="49" charset="0"/>
                <a:ea typeface="仿宋" pitchFamily="49" charset="-122"/>
                <a:cs typeface="Consolas" pitchFamily="49" charset="0"/>
              </a:rPr>
              <a:t>v</a:t>
            </a:r>
            <a:r>
              <a:rPr lang="zh-CN" altLang="zh-CN">
                <a:solidFill>
                  <a:srgbClr val="C00000"/>
                </a:solidFill>
                <a:latin typeface="Consolas" pitchFamily="49" charset="0"/>
                <a:ea typeface="仿宋" pitchFamily="49" charset="-122"/>
                <a:cs typeface="Consolas" pitchFamily="49" charset="0"/>
              </a:rPr>
              <a:t>已经在队列中</a:t>
            </a:r>
            <a:r>
              <a:rPr lang="zh-CN" altLang="zh-CN">
                <a:solidFill>
                  <a:srgbClr val="0000FF"/>
                </a:solidFill>
                <a:latin typeface="Consolas" pitchFamily="49" charset="0"/>
                <a:ea typeface="仿宋" pitchFamily="49" charset="-122"/>
                <a:cs typeface="Consolas" pitchFamily="49" charset="0"/>
              </a:rPr>
              <a:t>，后面会出队</a:t>
            </a:r>
            <a:r>
              <a:rPr lang="en-US" altLang="zh-CN" i="1">
                <a:solidFill>
                  <a:srgbClr val="0000FF"/>
                </a:solidFill>
                <a:latin typeface="Consolas" pitchFamily="49" charset="0"/>
                <a:ea typeface="仿宋" pitchFamily="49" charset="-122"/>
                <a:cs typeface="Consolas" pitchFamily="49" charset="0"/>
              </a:rPr>
              <a:t>v</a:t>
            </a:r>
            <a:r>
              <a:rPr lang="zh-CN" altLang="zh-CN">
                <a:solidFill>
                  <a:srgbClr val="0000FF"/>
                </a:solidFill>
                <a:latin typeface="Consolas" pitchFamily="49" charset="0"/>
                <a:ea typeface="仿宋" pitchFamily="49" charset="-122"/>
                <a:cs typeface="Consolas" pitchFamily="49" charset="0"/>
              </a:rPr>
              <a:t>并对其所有出边松驰的，此时再将（</a:t>
            </a:r>
            <a:r>
              <a:rPr lang="en-US" altLang="zh-CN" i="1">
                <a:solidFill>
                  <a:srgbClr val="0000FF"/>
                </a:solidFill>
                <a:latin typeface="Consolas" pitchFamily="49" charset="0"/>
                <a:ea typeface="仿宋" pitchFamily="49" charset="-122"/>
                <a:cs typeface="Consolas" pitchFamily="49" charset="0"/>
              </a:rPr>
              <a:t>v</a:t>
            </a:r>
            <a:r>
              <a:rPr lang="zh-CN" altLang="zh-CN">
                <a:solidFill>
                  <a:srgbClr val="0000FF"/>
                </a:solidFill>
                <a:latin typeface="Consolas" pitchFamily="49" charset="0"/>
                <a:ea typeface="仿宋" pitchFamily="49" charset="-122"/>
                <a:cs typeface="Consolas" pitchFamily="49" charset="0"/>
              </a:rPr>
              <a:t>）进队就重复了，所以改为仅将不在队列中的（</a:t>
            </a:r>
            <a:r>
              <a:rPr lang="en-US" altLang="zh-CN" i="1">
                <a:solidFill>
                  <a:srgbClr val="0000FF"/>
                </a:solidFill>
                <a:latin typeface="Consolas" pitchFamily="49" charset="0"/>
                <a:ea typeface="仿宋" pitchFamily="49" charset="-122"/>
                <a:cs typeface="Consolas" pitchFamily="49" charset="0"/>
              </a:rPr>
              <a:t>v</a:t>
            </a:r>
            <a:r>
              <a:rPr lang="zh-CN" altLang="zh-CN">
                <a:solidFill>
                  <a:srgbClr val="0000FF"/>
                </a:solidFill>
                <a:latin typeface="Consolas" pitchFamily="49" charset="0"/>
                <a:ea typeface="仿宋" pitchFamily="49" charset="-122"/>
                <a:cs typeface="Consolas" pitchFamily="49" charset="0"/>
              </a:rPr>
              <a:t>）进队。</a:t>
            </a:r>
          </a:p>
        </p:txBody>
      </p:sp>
      <p:grpSp>
        <p:nvGrpSpPr>
          <p:cNvPr id="2" name="组合 22"/>
          <p:cNvGrpSpPr/>
          <p:nvPr/>
        </p:nvGrpSpPr>
        <p:grpSpPr>
          <a:xfrm>
            <a:off x="2500298" y="3752860"/>
            <a:ext cx="3643338" cy="1704922"/>
            <a:chOff x="857224" y="4714884"/>
            <a:chExt cx="3286148" cy="1704922"/>
          </a:xfrm>
        </p:grpSpPr>
        <p:sp>
          <p:nvSpPr>
            <p:cNvPr id="10" name="Rectangle 11"/>
            <p:cNvSpPr>
              <a:spLocks noChangeArrowheads="1"/>
            </p:cNvSpPr>
            <p:nvPr/>
          </p:nvSpPr>
          <p:spPr bwMode="auto">
            <a:xfrm>
              <a:off x="2500298" y="5938920"/>
              <a:ext cx="428628" cy="276162"/>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w</a:t>
              </a:r>
            </a:p>
          </p:txBody>
        </p:sp>
        <p:sp>
          <p:nvSpPr>
            <p:cNvPr id="11" name="Rectangle 10"/>
            <p:cNvSpPr>
              <a:spLocks noChangeArrowheads="1"/>
            </p:cNvSpPr>
            <p:nvPr/>
          </p:nvSpPr>
          <p:spPr bwMode="auto">
            <a:xfrm>
              <a:off x="3430232" y="6143644"/>
              <a:ext cx="713140" cy="276162"/>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dist[v]</a:t>
              </a:r>
            </a:p>
          </p:txBody>
        </p:sp>
        <p:sp>
          <p:nvSpPr>
            <p:cNvPr id="13" name="Oval 9"/>
            <p:cNvSpPr>
              <a:spLocks noChangeArrowheads="1"/>
            </p:cNvSpPr>
            <p:nvPr/>
          </p:nvSpPr>
          <p:spPr bwMode="auto">
            <a:xfrm>
              <a:off x="1760800" y="5695118"/>
              <a:ext cx="344925" cy="377088"/>
            </a:xfrm>
            <a:prstGeom prst="ellipse">
              <a:avLst/>
            </a:prstGeom>
            <a:ln>
              <a:headEnd/>
              <a:tailEnd type="none" w="sm" len="me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1" u="none" strike="noStrike" cap="none" normalizeH="0" baseline="0">
                  <a:ln>
                    <a:noFill/>
                  </a:ln>
                  <a:solidFill>
                    <a:srgbClr val="0000FF"/>
                  </a:solidFill>
                  <a:effectLst/>
                  <a:latin typeface="Consolas" pitchFamily="49" charset="0"/>
                  <a:ea typeface="仿宋" pitchFamily="49" charset="-122"/>
                  <a:cs typeface="Times New Roman" pitchFamily="18" charset="0"/>
                </a:rPr>
                <a:t>u</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endParaRPr>
            </a:p>
          </p:txBody>
        </p:sp>
        <p:sp>
          <p:nvSpPr>
            <p:cNvPr id="14" name="Oval 8"/>
            <p:cNvSpPr>
              <a:spLocks noChangeArrowheads="1"/>
            </p:cNvSpPr>
            <p:nvPr/>
          </p:nvSpPr>
          <p:spPr bwMode="auto">
            <a:xfrm>
              <a:off x="3632933" y="5695118"/>
              <a:ext cx="344925" cy="377088"/>
            </a:xfrm>
            <a:prstGeom prst="ellipse">
              <a:avLst/>
            </a:prstGeom>
            <a:ln>
              <a:headEnd/>
              <a:tailEnd type="none" w="sm" len="me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1" u="none" strike="noStrike" cap="none" normalizeH="0" baseline="0">
                  <a:ln>
                    <a:noFill/>
                  </a:ln>
                  <a:solidFill>
                    <a:srgbClr val="0000FF"/>
                  </a:solidFill>
                  <a:effectLst/>
                  <a:latin typeface="Consolas" pitchFamily="49" charset="0"/>
                  <a:ea typeface="仿宋" pitchFamily="49" charset="-122"/>
                  <a:cs typeface="Times New Roman" pitchFamily="18" charset="0"/>
                </a:rPr>
                <a:t>v</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endParaRPr>
            </a:p>
          </p:txBody>
        </p:sp>
        <p:sp>
          <p:nvSpPr>
            <p:cNvPr id="15" name="AutoShape 7"/>
            <p:cNvSpPr>
              <a:spLocks noChangeShapeType="1"/>
            </p:cNvSpPr>
            <p:nvPr/>
          </p:nvSpPr>
          <p:spPr bwMode="auto">
            <a:xfrm>
              <a:off x="2105725" y="5929330"/>
              <a:ext cx="1527208" cy="1109"/>
            </a:xfrm>
            <a:prstGeom prst="straightConnector1">
              <a:avLst/>
            </a:prstGeom>
            <a:noFill/>
            <a:ln w="38100">
              <a:solidFill>
                <a:srgbClr val="FF00FF"/>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cs typeface="Times New Roman" pitchFamily="18" charset="0"/>
              </a:endParaRPr>
            </a:p>
          </p:txBody>
        </p:sp>
        <p:sp>
          <p:nvSpPr>
            <p:cNvPr id="16" name="Oval 6"/>
            <p:cNvSpPr>
              <a:spLocks noChangeArrowheads="1"/>
            </p:cNvSpPr>
            <p:nvPr/>
          </p:nvSpPr>
          <p:spPr bwMode="auto">
            <a:xfrm>
              <a:off x="1385930" y="4875506"/>
              <a:ext cx="344925" cy="377088"/>
            </a:xfrm>
            <a:prstGeom prst="ellipse">
              <a:avLst/>
            </a:prstGeom>
            <a:ln>
              <a:headEnd/>
              <a:tailEnd type="none" w="sm" len="me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1" u="none" strike="noStrike" cap="none" normalizeH="0" baseline="0">
                  <a:ln>
                    <a:noFill/>
                  </a:ln>
                  <a:solidFill>
                    <a:srgbClr val="0000FF"/>
                  </a:solidFill>
                  <a:effectLst/>
                  <a:latin typeface="Consolas" pitchFamily="49" charset="0"/>
                  <a:ea typeface="仿宋" pitchFamily="49" charset="-122"/>
                  <a:cs typeface="Times New Roman" pitchFamily="18" charset="0"/>
                </a:rPr>
                <a:t>s</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endParaRPr>
            </a:p>
          </p:txBody>
        </p:sp>
        <p:sp>
          <p:nvSpPr>
            <p:cNvPr id="17" name="Rectangle 5"/>
            <p:cNvSpPr>
              <a:spLocks noChangeArrowheads="1"/>
            </p:cNvSpPr>
            <p:nvPr/>
          </p:nvSpPr>
          <p:spPr bwMode="auto">
            <a:xfrm>
              <a:off x="857224" y="4714884"/>
              <a:ext cx="540124" cy="276162"/>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源点</a:t>
              </a:r>
            </a:p>
          </p:txBody>
        </p:sp>
        <p:sp>
          <p:nvSpPr>
            <p:cNvPr id="18" name="Rectangle 4"/>
            <p:cNvSpPr>
              <a:spLocks noChangeArrowheads="1"/>
            </p:cNvSpPr>
            <p:nvPr/>
          </p:nvSpPr>
          <p:spPr bwMode="auto">
            <a:xfrm>
              <a:off x="1500166" y="6143644"/>
              <a:ext cx="713140" cy="276162"/>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dist[u]</a:t>
              </a:r>
            </a:p>
          </p:txBody>
        </p:sp>
        <p:sp>
          <p:nvSpPr>
            <p:cNvPr id="19" name="AutoShape 3"/>
            <p:cNvSpPr>
              <a:spLocks noChangeShapeType="1"/>
            </p:cNvSpPr>
            <p:nvPr/>
          </p:nvSpPr>
          <p:spPr bwMode="auto">
            <a:xfrm>
              <a:off x="1558947" y="5252594"/>
              <a:ext cx="252871" cy="497978"/>
            </a:xfrm>
            <a:prstGeom prst="straightConnector1">
              <a:avLst/>
            </a:prstGeom>
            <a:noFill/>
            <a:ln w="19050">
              <a:solidFill>
                <a:srgbClr val="000000"/>
              </a:solidFill>
              <a:prstDash val="dash"/>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cs typeface="Times New Roman" pitchFamily="18" charset="0"/>
              </a:endParaRPr>
            </a:p>
          </p:txBody>
        </p:sp>
        <p:sp>
          <p:nvSpPr>
            <p:cNvPr id="20" name="AutoShape 2"/>
            <p:cNvSpPr>
              <a:spLocks noChangeShapeType="1"/>
            </p:cNvSpPr>
            <p:nvPr/>
          </p:nvSpPr>
          <p:spPr bwMode="auto">
            <a:xfrm>
              <a:off x="1730855" y="5064050"/>
              <a:ext cx="1953095" cy="686522"/>
            </a:xfrm>
            <a:prstGeom prst="straightConnector1">
              <a:avLst/>
            </a:prstGeom>
            <a:noFill/>
            <a:ln w="19050">
              <a:solidFill>
                <a:srgbClr val="000000"/>
              </a:solidFill>
              <a:prstDash val="dash"/>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cs typeface="Times New Roman" pitchFamily="18" charset="0"/>
              </a:endParaRPr>
            </a:p>
          </p:txBody>
        </p:sp>
      </p:grpSp>
      <p:sp>
        <p:nvSpPr>
          <p:cNvPr id="22" name="TextBox 21"/>
          <p:cNvSpPr txBox="1"/>
          <p:nvPr/>
        </p:nvSpPr>
        <p:spPr>
          <a:xfrm>
            <a:off x="2214546" y="5672096"/>
            <a:ext cx="4429156" cy="400110"/>
          </a:xfrm>
          <a:prstGeom prst="rect">
            <a:avLst/>
          </a:prstGeom>
          <a:noFill/>
        </p:spPr>
        <p:txBody>
          <a:bodyPr wrap="square" rtlCol="0">
            <a:spAutoFit/>
          </a:bodyPr>
          <a:lstStyle/>
          <a:p>
            <a:pPr algn="l">
              <a:lnSpc>
                <a:spcPct val="100000"/>
              </a:lnSpc>
              <a:spcBef>
                <a:spcPts val="0"/>
              </a:spcBef>
            </a:pPr>
            <a:r>
              <a:rPr lang="en-US" altLang="zh-CN" sz="2000">
                <a:solidFill>
                  <a:srgbClr val="0000FF"/>
                </a:solidFill>
                <a:latin typeface="Consolas" pitchFamily="49" charset="0"/>
                <a:cs typeface="Consolas" pitchFamily="49" charset="0"/>
              </a:rPr>
              <a:t>dist[v]=</a:t>
            </a:r>
            <a:r>
              <a:rPr lang="en-US" altLang="zh-CN" sz="2000">
                <a:solidFill>
                  <a:srgbClr val="FF0000"/>
                </a:solidFill>
                <a:latin typeface="Consolas" pitchFamily="49" charset="0"/>
                <a:cs typeface="Consolas" pitchFamily="49" charset="0"/>
              </a:rPr>
              <a:t>min</a:t>
            </a:r>
            <a:r>
              <a:rPr lang="en-US" altLang="zh-CN" sz="2000">
                <a:solidFill>
                  <a:srgbClr val="0000FF"/>
                </a:solidFill>
                <a:latin typeface="Consolas" pitchFamily="49" charset="0"/>
                <a:cs typeface="Consolas" pitchFamily="49" charset="0"/>
              </a:rPr>
              <a:t>{dist[v]</a:t>
            </a:r>
            <a:r>
              <a:rPr lang="zh-CN" altLang="en-US" sz="2000">
                <a:solidFill>
                  <a:srgbClr val="0000FF"/>
                </a:solidFill>
                <a:latin typeface="Consolas" pitchFamily="49" charset="0"/>
                <a:cs typeface="Consolas" pitchFamily="49" charset="0"/>
              </a:rPr>
              <a:t>，</a:t>
            </a:r>
            <a:r>
              <a:rPr lang="en-US" altLang="zh-CN" sz="2000">
                <a:solidFill>
                  <a:srgbClr val="0000FF"/>
                </a:solidFill>
                <a:latin typeface="Consolas" pitchFamily="49" charset="0"/>
                <a:cs typeface="Consolas" pitchFamily="49" charset="0"/>
              </a:rPr>
              <a:t>dist[u]+w}</a:t>
            </a:r>
            <a:endParaRPr lang="zh-CN" altLang="en-US" sz="2000">
              <a:solidFill>
                <a:srgbClr val="0000FF"/>
              </a:solidFill>
              <a:latin typeface="Consolas" pitchFamily="49" charset="0"/>
              <a:ea typeface="楷体" pitchFamily="49" charset="-122"/>
              <a:cs typeface="Consolas" pitchFamily="49" charset="0"/>
            </a:endParaRPr>
          </a:p>
        </p:txBody>
      </p:sp>
      <p:sp>
        <p:nvSpPr>
          <p:cNvPr id="23" name="灯片编号占位符 22"/>
          <p:cNvSpPr>
            <a:spLocks noGrp="1"/>
          </p:cNvSpPr>
          <p:nvPr>
            <p:ph type="sldNum" sz="quarter" idx="12"/>
          </p:nvPr>
        </p:nvSpPr>
        <p:spPr/>
        <p:txBody>
          <a:bodyPr/>
          <a:lstStyle/>
          <a:p>
            <a:fld id="{7AF016A1-9F15-429F-9EFD-84004B73C732}" type="slidenum">
              <a:rPr lang="en-US" altLang="zh-CN" smtClean="0"/>
              <a:pPr/>
              <a:t>71</a:t>
            </a:fld>
            <a:r>
              <a:rPr lang="en-US" altLang="zh-CN"/>
              <a:t>/158</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86062" name="Rectangle 4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86057" name="Rectangle 41"/>
          <p:cNvSpPr>
            <a:spLocks noChangeArrowheads="1"/>
          </p:cNvSpPr>
          <p:nvPr/>
        </p:nvSpPr>
        <p:spPr bwMode="auto">
          <a:xfrm>
            <a:off x="673810" y="5977334"/>
            <a:ext cx="359175" cy="327479"/>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zh-CN" altLang="zh-CN" sz="1600" i="0" u="none" strike="noStrike" cap="none" normalizeH="0" baseline="0">
                <a:ln>
                  <a:noFill/>
                </a:ln>
                <a:solidFill>
                  <a:srgbClr val="FF0000"/>
                </a:solidFill>
                <a:effectLst/>
                <a:latin typeface="Consolas" pitchFamily="49" charset="0"/>
                <a:ea typeface="仿宋" pitchFamily="49" charset="-122"/>
                <a:cs typeface="Consolas" pitchFamily="49" charset="0"/>
              </a:rPr>
              <a:t>⑥</a:t>
            </a:r>
          </a:p>
          <a:p>
            <a:pPr marL="0" marR="0" lvl="0" algn="l" defTabSz="914400" rtl="0" eaLnBrk="0" fontAlgn="base" latinLnBrk="0" hangingPunct="0">
              <a:lnSpc>
                <a:spcPct val="100000"/>
              </a:lnSpc>
              <a:spcBef>
                <a:spcPct val="0"/>
              </a:spcBef>
              <a:spcAft>
                <a:spcPct val="0"/>
              </a:spcAft>
              <a:buClrTx/>
              <a:buSzTx/>
              <a:buFontTx/>
              <a:buNone/>
              <a:tabLst/>
            </a:pPr>
            <a:endParaRPr kumimoji="0" lang="zh-CN" altLang="zh-CN" sz="1600" i="0" u="none" strike="noStrike" cap="none" normalizeH="0" baseline="0">
              <a:ln>
                <a:noFill/>
              </a:ln>
              <a:solidFill>
                <a:srgbClr val="FF0000"/>
              </a:solidFill>
              <a:effectLst/>
              <a:latin typeface="Consolas" pitchFamily="49" charset="0"/>
              <a:ea typeface="仿宋" pitchFamily="49" charset="-122"/>
              <a:cs typeface="Consolas" pitchFamily="49" charset="0"/>
            </a:endParaRPr>
          </a:p>
        </p:txBody>
      </p:sp>
      <p:sp>
        <p:nvSpPr>
          <p:cNvPr id="86054" name="Rectangle 38"/>
          <p:cNvSpPr>
            <a:spLocks noChangeArrowheads="1"/>
          </p:cNvSpPr>
          <p:nvPr/>
        </p:nvSpPr>
        <p:spPr bwMode="auto">
          <a:xfrm>
            <a:off x="6551338" y="3085261"/>
            <a:ext cx="288991" cy="327479"/>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zh-CN" altLang="zh-CN" sz="1600" i="0" u="none" strike="noStrike" cap="none" normalizeH="0" baseline="0">
                <a:ln>
                  <a:noFill/>
                </a:ln>
                <a:solidFill>
                  <a:srgbClr val="FF0000"/>
                </a:solidFill>
                <a:effectLst/>
                <a:latin typeface="Consolas" pitchFamily="49" charset="0"/>
                <a:ea typeface="仿宋" pitchFamily="49" charset="-122"/>
                <a:cs typeface="Consolas" pitchFamily="49" charset="0"/>
              </a:rPr>
              <a:t>④</a:t>
            </a:r>
          </a:p>
        </p:txBody>
      </p:sp>
      <p:grpSp>
        <p:nvGrpSpPr>
          <p:cNvPr id="2" name="组合 77"/>
          <p:cNvGrpSpPr/>
          <p:nvPr/>
        </p:nvGrpSpPr>
        <p:grpSpPr>
          <a:xfrm>
            <a:off x="288489" y="3070794"/>
            <a:ext cx="2512846" cy="2277886"/>
            <a:chOff x="288489" y="3070794"/>
            <a:chExt cx="2512846" cy="2277886"/>
          </a:xfrm>
        </p:grpSpPr>
        <p:sp>
          <p:nvSpPr>
            <p:cNvPr id="86055" name="Rectangle 39"/>
            <p:cNvSpPr>
              <a:spLocks noChangeArrowheads="1"/>
            </p:cNvSpPr>
            <p:nvPr/>
          </p:nvSpPr>
          <p:spPr bwMode="auto">
            <a:xfrm>
              <a:off x="2566014" y="3070794"/>
              <a:ext cx="235321" cy="327479"/>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zh-CN" altLang="zh-CN" sz="1600" i="0" u="none" strike="noStrike" cap="none" normalizeH="0" baseline="0">
                  <a:ln>
                    <a:noFill/>
                  </a:ln>
                  <a:solidFill>
                    <a:srgbClr val="FF0000"/>
                  </a:solidFill>
                  <a:effectLst/>
                  <a:latin typeface="Consolas" pitchFamily="49" charset="0"/>
                  <a:ea typeface="仿宋" pitchFamily="49" charset="-122"/>
                  <a:cs typeface="Consolas" pitchFamily="49" charset="0"/>
                </a:rPr>
                <a:t>②</a:t>
              </a:r>
            </a:p>
          </p:txBody>
        </p:sp>
        <p:sp>
          <p:nvSpPr>
            <p:cNvPr id="86047" name="Rectangle 31"/>
            <p:cNvSpPr>
              <a:spLocks noChangeArrowheads="1"/>
            </p:cNvSpPr>
            <p:nvPr/>
          </p:nvSpPr>
          <p:spPr bwMode="auto">
            <a:xfrm>
              <a:off x="1831151" y="4012460"/>
              <a:ext cx="288991" cy="327479"/>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FF00FF"/>
                  </a:solidFill>
                  <a:effectLst/>
                  <a:latin typeface="Consolas" pitchFamily="49" charset="0"/>
                  <a:ea typeface="仿宋" pitchFamily="49" charset="-122"/>
                  <a:cs typeface="Consolas" pitchFamily="49" charset="0"/>
                </a:rPr>
                <a:t>50</a:t>
              </a:r>
            </a:p>
          </p:txBody>
        </p:sp>
        <p:sp>
          <p:nvSpPr>
            <p:cNvPr id="86035" name="Oval 19"/>
            <p:cNvSpPr>
              <a:spLocks noChangeArrowheads="1"/>
            </p:cNvSpPr>
            <p:nvPr/>
          </p:nvSpPr>
          <p:spPr bwMode="auto">
            <a:xfrm>
              <a:off x="1551793" y="4768687"/>
              <a:ext cx="467890" cy="447160"/>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3</a:t>
              </a:r>
            </a:p>
          </p:txBody>
        </p:sp>
        <p:sp>
          <p:nvSpPr>
            <p:cNvPr id="86034" name="AutoShape 18"/>
            <p:cNvSpPr>
              <a:spLocks noChangeShapeType="1"/>
            </p:cNvSpPr>
            <p:nvPr/>
          </p:nvSpPr>
          <p:spPr bwMode="auto">
            <a:xfrm flipH="1">
              <a:off x="1785738" y="3782304"/>
              <a:ext cx="630276" cy="986382"/>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pPr algn="l"/>
              <a:endParaRPr lang="zh-CN" altLang="en-US" sz="1600" b="0">
                <a:solidFill>
                  <a:srgbClr val="0000FF"/>
                </a:solidFill>
                <a:latin typeface="Consolas" pitchFamily="49" charset="0"/>
                <a:ea typeface="仿宋" pitchFamily="49" charset="-122"/>
                <a:cs typeface="Consolas" pitchFamily="49" charset="0"/>
              </a:endParaRPr>
            </a:p>
          </p:txBody>
        </p:sp>
        <p:sp>
          <p:nvSpPr>
            <p:cNvPr id="86033" name="Rectangle 17"/>
            <p:cNvSpPr>
              <a:spLocks noChangeArrowheads="1"/>
            </p:cNvSpPr>
            <p:nvPr/>
          </p:nvSpPr>
          <p:spPr bwMode="auto">
            <a:xfrm>
              <a:off x="288489" y="4449099"/>
              <a:ext cx="1208258" cy="89958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10+50&lt;∞:</a:t>
              </a:r>
            </a:p>
            <a:p>
              <a:pPr marL="0" marR="0" lvl="0" algn="l"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pre[3]=2</a:t>
              </a:r>
            </a:p>
            <a:p>
              <a:pPr marL="0" marR="0" lvl="0" algn="l"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dist[3]=60</a:t>
              </a:r>
            </a:p>
          </p:txBody>
        </p:sp>
      </p:grpSp>
      <p:grpSp>
        <p:nvGrpSpPr>
          <p:cNvPr id="3" name="组合 81"/>
          <p:cNvGrpSpPr/>
          <p:nvPr/>
        </p:nvGrpSpPr>
        <p:grpSpPr>
          <a:xfrm>
            <a:off x="958673" y="4706873"/>
            <a:ext cx="1749083" cy="2008275"/>
            <a:chOff x="958673" y="4706873"/>
            <a:chExt cx="1749083" cy="2008275"/>
          </a:xfrm>
        </p:grpSpPr>
        <p:sp>
          <p:nvSpPr>
            <p:cNvPr id="86058" name="Rectangle 42"/>
            <p:cNvSpPr>
              <a:spLocks noChangeArrowheads="1"/>
            </p:cNvSpPr>
            <p:nvPr/>
          </p:nvSpPr>
          <p:spPr bwMode="auto">
            <a:xfrm>
              <a:off x="2037573" y="4706873"/>
              <a:ext cx="247707" cy="327479"/>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zh-CN" altLang="zh-CN" sz="1600" i="0" u="none" strike="noStrike" cap="none" normalizeH="0" baseline="0">
                  <a:ln>
                    <a:noFill/>
                  </a:ln>
                  <a:solidFill>
                    <a:srgbClr val="FF0000"/>
                  </a:solidFill>
                  <a:effectLst/>
                  <a:latin typeface="Consolas" pitchFamily="49" charset="0"/>
                  <a:ea typeface="仿宋" pitchFamily="49" charset="-122"/>
                  <a:cs typeface="Consolas" pitchFamily="49" charset="0"/>
                </a:rPr>
                <a:t>⑤</a:t>
              </a:r>
            </a:p>
          </p:txBody>
        </p:sp>
        <p:sp>
          <p:nvSpPr>
            <p:cNvPr id="86050" name="Rectangle 34"/>
            <p:cNvSpPr>
              <a:spLocks noChangeArrowheads="1"/>
            </p:cNvSpPr>
            <p:nvPr/>
          </p:nvSpPr>
          <p:spPr bwMode="auto">
            <a:xfrm>
              <a:off x="1114178" y="5423645"/>
              <a:ext cx="288991" cy="327479"/>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FF00FF"/>
                  </a:solidFill>
                  <a:effectLst/>
                  <a:latin typeface="Consolas" pitchFamily="49" charset="0"/>
                  <a:ea typeface="仿宋" pitchFamily="49" charset="-122"/>
                  <a:cs typeface="Consolas" pitchFamily="49" charset="0"/>
                </a:rPr>
                <a:t>10</a:t>
              </a:r>
            </a:p>
          </p:txBody>
        </p:sp>
        <p:sp>
          <p:nvSpPr>
            <p:cNvPr id="86027" name="Oval 11"/>
            <p:cNvSpPr>
              <a:spLocks noChangeArrowheads="1"/>
            </p:cNvSpPr>
            <p:nvPr/>
          </p:nvSpPr>
          <p:spPr bwMode="auto">
            <a:xfrm>
              <a:off x="958673" y="6057560"/>
              <a:ext cx="467890" cy="447160"/>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5</a:t>
              </a:r>
            </a:p>
          </p:txBody>
        </p:sp>
        <p:sp>
          <p:nvSpPr>
            <p:cNvPr id="86026" name="Rectangle 10"/>
            <p:cNvSpPr>
              <a:spLocks noChangeArrowheads="1"/>
            </p:cNvSpPr>
            <p:nvPr/>
          </p:nvSpPr>
          <p:spPr bwMode="auto">
            <a:xfrm>
              <a:off x="1492618" y="5847131"/>
              <a:ext cx="1215138" cy="868017"/>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50+10&lt;90:</a:t>
              </a:r>
            </a:p>
            <a:p>
              <a:pPr marL="0" marR="0" lvl="0" algn="l"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pre[5]=3</a:t>
              </a:r>
            </a:p>
            <a:p>
              <a:pPr marL="0" marR="0" lvl="0" algn="l"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dist[5]=60</a:t>
              </a:r>
            </a:p>
          </p:txBody>
        </p:sp>
        <p:sp>
          <p:nvSpPr>
            <p:cNvPr id="86025" name="AutoShape 9"/>
            <p:cNvSpPr>
              <a:spLocks noChangeShapeType="1"/>
            </p:cNvSpPr>
            <p:nvPr/>
          </p:nvSpPr>
          <p:spPr bwMode="auto">
            <a:xfrm flipH="1">
              <a:off x="1192618" y="5150088"/>
              <a:ext cx="427982" cy="907472"/>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pPr algn="l"/>
              <a:endParaRPr lang="zh-CN" altLang="en-US" sz="1600" b="0">
                <a:solidFill>
                  <a:srgbClr val="0000FF"/>
                </a:solidFill>
                <a:latin typeface="Consolas" pitchFamily="49" charset="0"/>
                <a:ea typeface="仿宋" pitchFamily="49" charset="-122"/>
                <a:cs typeface="Consolas" pitchFamily="49" charset="0"/>
              </a:endParaRPr>
            </a:p>
          </p:txBody>
        </p:sp>
      </p:grpSp>
      <p:grpSp>
        <p:nvGrpSpPr>
          <p:cNvPr id="4" name="组合 74"/>
          <p:cNvGrpSpPr/>
          <p:nvPr/>
        </p:nvGrpSpPr>
        <p:grpSpPr>
          <a:xfrm>
            <a:off x="4513263" y="2000240"/>
            <a:ext cx="4081162" cy="679946"/>
            <a:chOff x="4513263" y="2000240"/>
            <a:chExt cx="4081162" cy="679946"/>
          </a:xfrm>
        </p:grpSpPr>
        <p:sp>
          <p:nvSpPr>
            <p:cNvPr id="86045" name="Oval 29"/>
            <p:cNvSpPr>
              <a:spLocks noChangeArrowheads="1"/>
            </p:cNvSpPr>
            <p:nvPr/>
          </p:nvSpPr>
          <p:spPr bwMode="auto">
            <a:xfrm>
              <a:off x="4513263" y="2233026"/>
              <a:ext cx="467890" cy="447160"/>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0</a:t>
              </a:r>
            </a:p>
          </p:txBody>
        </p:sp>
        <p:sp>
          <p:nvSpPr>
            <p:cNvPr id="86043" name="Rectangle 27"/>
            <p:cNvSpPr>
              <a:spLocks noChangeArrowheads="1"/>
            </p:cNvSpPr>
            <p:nvPr/>
          </p:nvSpPr>
          <p:spPr bwMode="auto">
            <a:xfrm>
              <a:off x="5000628" y="2000240"/>
              <a:ext cx="2185323" cy="318273"/>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dist[0]=0,</a:t>
              </a:r>
              <a:r>
                <a:rPr kumimoji="0" lang="zh-CN" altLang="en-US" sz="1600" b="0" i="0" u="none" strike="noStrike" cap="none" normalizeH="0" baseline="0">
                  <a:ln>
                    <a:noFill/>
                  </a:ln>
                  <a:solidFill>
                    <a:srgbClr val="0000FF"/>
                  </a:solidFill>
                  <a:effectLst/>
                  <a:latin typeface="Consolas" pitchFamily="49" charset="0"/>
                  <a:ea typeface="仿宋" pitchFamily="49" charset="-122"/>
                  <a:cs typeface="Consolas" pitchFamily="49" charset="0"/>
                </a:rPr>
                <a:t>其他为∞</a:t>
              </a:r>
            </a:p>
          </p:txBody>
        </p:sp>
        <p:sp>
          <p:nvSpPr>
            <p:cNvPr id="86024" name="Rectangle 8"/>
            <p:cNvSpPr>
              <a:spLocks noChangeArrowheads="1"/>
            </p:cNvSpPr>
            <p:nvPr/>
          </p:nvSpPr>
          <p:spPr bwMode="auto">
            <a:xfrm>
              <a:off x="8158186" y="2209353"/>
              <a:ext cx="436239" cy="34326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600" b="0" i="1" u="none" strike="noStrike" cap="none" normalizeH="0" baseline="0">
                  <a:ln>
                    <a:noFill/>
                  </a:ln>
                  <a:solidFill>
                    <a:srgbClr val="006600"/>
                  </a:solidFill>
                  <a:effectLst/>
                  <a:latin typeface="Consolas" pitchFamily="49" charset="0"/>
                  <a:ea typeface="仿宋" pitchFamily="49" charset="-122"/>
                  <a:cs typeface="Consolas" pitchFamily="49" charset="0"/>
                </a:rPr>
                <a:t>i</a:t>
              </a:r>
              <a:r>
                <a:rPr kumimoji="0" lang="en-US" altLang="zh-CN" sz="1600" b="0" i="0" u="none" strike="noStrike" cap="none" normalizeH="0" baseline="0">
                  <a:ln>
                    <a:noFill/>
                  </a:ln>
                  <a:solidFill>
                    <a:srgbClr val="006600"/>
                  </a:solidFill>
                  <a:effectLst/>
                  <a:latin typeface="Consolas" pitchFamily="49" charset="0"/>
                  <a:ea typeface="仿宋" pitchFamily="49" charset="-122"/>
                  <a:cs typeface="Consolas" pitchFamily="49" charset="0"/>
                </a:rPr>
                <a:t>=0</a:t>
              </a:r>
            </a:p>
          </p:txBody>
        </p:sp>
      </p:grpSp>
      <p:grpSp>
        <p:nvGrpSpPr>
          <p:cNvPr id="5" name="组合 82"/>
          <p:cNvGrpSpPr/>
          <p:nvPr/>
        </p:nvGrpSpPr>
        <p:grpSpPr>
          <a:xfrm>
            <a:off x="8207727" y="3460086"/>
            <a:ext cx="436239" cy="2884182"/>
            <a:chOff x="8207727" y="3460086"/>
            <a:chExt cx="436239" cy="2884182"/>
          </a:xfrm>
        </p:grpSpPr>
        <p:sp>
          <p:nvSpPr>
            <p:cNvPr id="86023" name="Rectangle 7"/>
            <p:cNvSpPr>
              <a:spLocks noChangeArrowheads="1"/>
            </p:cNvSpPr>
            <p:nvPr/>
          </p:nvSpPr>
          <p:spPr bwMode="auto">
            <a:xfrm>
              <a:off x="8207727" y="3460086"/>
              <a:ext cx="436239" cy="34326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600" b="0" i="1" u="none" strike="noStrike" cap="none" normalizeH="0" baseline="0">
                  <a:ln>
                    <a:noFill/>
                  </a:ln>
                  <a:solidFill>
                    <a:srgbClr val="006600"/>
                  </a:solidFill>
                  <a:effectLst/>
                  <a:latin typeface="Consolas" pitchFamily="49" charset="0"/>
                  <a:ea typeface="仿宋" pitchFamily="49" charset="-122"/>
                  <a:cs typeface="Consolas" pitchFamily="49" charset="0"/>
                </a:rPr>
                <a:t>i</a:t>
              </a:r>
              <a:r>
                <a:rPr kumimoji="0" lang="en-US" altLang="zh-CN" sz="1600" b="0" i="0" u="none" strike="noStrike" cap="none" normalizeH="0" baseline="0">
                  <a:ln>
                    <a:noFill/>
                  </a:ln>
                  <a:solidFill>
                    <a:srgbClr val="006600"/>
                  </a:solidFill>
                  <a:effectLst/>
                  <a:latin typeface="Consolas" pitchFamily="49" charset="0"/>
                  <a:ea typeface="仿宋" pitchFamily="49" charset="-122"/>
                  <a:cs typeface="Consolas" pitchFamily="49" charset="0"/>
                </a:rPr>
                <a:t>=1</a:t>
              </a:r>
            </a:p>
          </p:txBody>
        </p:sp>
        <p:sp>
          <p:nvSpPr>
            <p:cNvPr id="86022" name="Rectangle 6"/>
            <p:cNvSpPr>
              <a:spLocks noChangeArrowheads="1"/>
            </p:cNvSpPr>
            <p:nvPr/>
          </p:nvSpPr>
          <p:spPr bwMode="auto">
            <a:xfrm>
              <a:off x="8207727" y="4797621"/>
              <a:ext cx="436239" cy="34326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600" b="0" i="1" u="none" strike="noStrike" cap="none" normalizeH="0" baseline="0">
                  <a:ln>
                    <a:noFill/>
                  </a:ln>
                  <a:solidFill>
                    <a:srgbClr val="006600"/>
                  </a:solidFill>
                  <a:effectLst/>
                  <a:latin typeface="Consolas" pitchFamily="49" charset="0"/>
                  <a:ea typeface="仿宋" pitchFamily="49" charset="-122"/>
                  <a:cs typeface="Consolas" pitchFamily="49" charset="0"/>
                </a:rPr>
                <a:t>i</a:t>
              </a:r>
              <a:r>
                <a:rPr kumimoji="0" lang="en-US" altLang="zh-CN" sz="1600" b="0" i="0" u="none" strike="noStrike" cap="none" normalizeH="0" baseline="0">
                  <a:ln>
                    <a:noFill/>
                  </a:ln>
                  <a:solidFill>
                    <a:srgbClr val="006600"/>
                  </a:solidFill>
                  <a:effectLst/>
                  <a:latin typeface="Consolas" pitchFamily="49" charset="0"/>
                  <a:ea typeface="仿宋" pitchFamily="49" charset="-122"/>
                  <a:cs typeface="Consolas" pitchFamily="49" charset="0"/>
                </a:rPr>
                <a:t>=2</a:t>
              </a:r>
            </a:p>
          </p:txBody>
        </p:sp>
        <p:sp>
          <p:nvSpPr>
            <p:cNvPr id="86021" name="Rectangle 5"/>
            <p:cNvSpPr>
              <a:spLocks noChangeArrowheads="1"/>
            </p:cNvSpPr>
            <p:nvPr/>
          </p:nvSpPr>
          <p:spPr bwMode="auto">
            <a:xfrm>
              <a:off x="8207727" y="6001007"/>
              <a:ext cx="436239" cy="34326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600" b="0" i="1" u="none" strike="noStrike" cap="none" normalizeH="0" baseline="0">
                  <a:ln>
                    <a:noFill/>
                  </a:ln>
                  <a:solidFill>
                    <a:srgbClr val="006600"/>
                  </a:solidFill>
                  <a:effectLst/>
                  <a:latin typeface="Consolas" pitchFamily="49" charset="0"/>
                  <a:ea typeface="仿宋" pitchFamily="49" charset="-122"/>
                  <a:cs typeface="Consolas" pitchFamily="49" charset="0"/>
                </a:rPr>
                <a:t>i</a:t>
              </a:r>
              <a:r>
                <a:rPr kumimoji="0" lang="en-US" altLang="zh-CN" sz="1600" b="0" i="0" u="none" strike="noStrike" cap="none" normalizeH="0" baseline="0">
                  <a:ln>
                    <a:noFill/>
                  </a:ln>
                  <a:solidFill>
                    <a:srgbClr val="006600"/>
                  </a:solidFill>
                  <a:effectLst/>
                  <a:latin typeface="Consolas" pitchFamily="49" charset="0"/>
                  <a:ea typeface="仿宋" pitchFamily="49" charset="-122"/>
                  <a:cs typeface="Consolas" pitchFamily="49" charset="0"/>
                </a:rPr>
                <a:t>=3</a:t>
              </a:r>
            </a:p>
          </p:txBody>
        </p:sp>
      </p:grpSp>
      <p:grpSp>
        <p:nvGrpSpPr>
          <p:cNvPr id="6" name="组合 80"/>
          <p:cNvGrpSpPr/>
          <p:nvPr/>
        </p:nvGrpSpPr>
        <p:grpSpPr>
          <a:xfrm>
            <a:off x="4088033" y="5150088"/>
            <a:ext cx="1432570" cy="977176"/>
            <a:chOff x="4088033" y="5150088"/>
            <a:chExt cx="1432570" cy="977176"/>
          </a:xfrm>
        </p:grpSpPr>
        <p:sp>
          <p:nvSpPr>
            <p:cNvPr id="86020" name="Rectangle 4"/>
            <p:cNvSpPr>
              <a:spLocks noChangeArrowheads="1"/>
            </p:cNvSpPr>
            <p:nvPr/>
          </p:nvSpPr>
          <p:spPr bwMode="auto">
            <a:xfrm>
              <a:off x="4088033" y="5603824"/>
              <a:ext cx="1432570" cy="52344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(3)</a:t>
              </a:r>
              <a:r>
                <a:rPr kumimoji="0" lang="zh-CN" altLang="en-US" sz="1600" b="0" i="0" u="none" strike="noStrike" cap="none" normalizeH="0" baseline="0">
                  <a:ln>
                    <a:noFill/>
                  </a:ln>
                  <a:solidFill>
                    <a:srgbClr val="0000FF"/>
                  </a:solidFill>
                  <a:effectLst/>
                  <a:latin typeface="Consolas" pitchFamily="49" charset="0"/>
                  <a:ea typeface="仿宋" pitchFamily="49" charset="-122"/>
                  <a:cs typeface="Consolas" pitchFamily="49" charset="0"/>
                </a:rPr>
                <a:t>和</a:t>
              </a: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(5)</a:t>
              </a:r>
              <a:r>
                <a:rPr kumimoji="0" lang="zh-CN" altLang="en-US" sz="1600" b="0" i="0" u="none" strike="noStrike" cap="none" normalizeH="0" baseline="0">
                  <a:ln>
                    <a:noFill/>
                  </a:ln>
                  <a:solidFill>
                    <a:srgbClr val="0000FF"/>
                  </a:solidFill>
                  <a:effectLst/>
                  <a:latin typeface="Consolas" pitchFamily="49" charset="0"/>
                  <a:ea typeface="仿宋" pitchFamily="49" charset="-122"/>
                  <a:cs typeface="Consolas" pitchFamily="49" charset="0"/>
                </a:rPr>
                <a:t>在队中，均不进队</a:t>
              </a:r>
            </a:p>
          </p:txBody>
        </p:sp>
        <p:sp>
          <p:nvSpPr>
            <p:cNvPr id="86019" name="AutoShape 3"/>
            <p:cNvSpPr>
              <a:spLocks noChangeShapeType="1"/>
            </p:cNvSpPr>
            <p:nvPr/>
          </p:nvSpPr>
          <p:spPr bwMode="auto">
            <a:xfrm>
              <a:off x="4356382" y="5150088"/>
              <a:ext cx="448624" cy="453736"/>
            </a:xfrm>
            <a:prstGeom prst="straightConnector1">
              <a:avLst/>
            </a:prstGeom>
            <a:noFill/>
            <a:ln w="9525">
              <a:solidFill>
                <a:srgbClr val="000000"/>
              </a:solidFill>
              <a:round/>
              <a:headEnd/>
              <a:tailEnd type="none" w="sm" len="med"/>
            </a:ln>
          </p:spPr>
          <p:txBody>
            <a:bodyPr vert="horz" wrap="square" lIns="91440" tIns="45720" rIns="91440" bIns="45720" numCol="1" anchor="t" anchorCtr="0" compatLnSpc="1">
              <a:prstTxWarp prst="textNoShape">
                <a:avLst/>
              </a:prstTxWarp>
            </a:bodyPr>
            <a:lstStyle/>
            <a:p>
              <a:pPr algn="l"/>
              <a:endParaRPr lang="zh-CN" altLang="en-US" sz="1600" b="0">
                <a:solidFill>
                  <a:srgbClr val="0000FF"/>
                </a:solidFill>
                <a:latin typeface="Consolas" pitchFamily="49" charset="0"/>
                <a:ea typeface="仿宋" pitchFamily="49" charset="-122"/>
                <a:cs typeface="Consolas" pitchFamily="49" charset="0"/>
              </a:endParaRPr>
            </a:p>
          </p:txBody>
        </p:sp>
        <p:sp>
          <p:nvSpPr>
            <p:cNvPr id="86018" name="AutoShape 2"/>
            <p:cNvSpPr>
              <a:spLocks noChangeShapeType="1"/>
            </p:cNvSpPr>
            <p:nvPr/>
          </p:nvSpPr>
          <p:spPr bwMode="auto">
            <a:xfrm flipH="1">
              <a:off x="4805006" y="5163240"/>
              <a:ext cx="316514" cy="440584"/>
            </a:xfrm>
            <a:prstGeom prst="straightConnector1">
              <a:avLst/>
            </a:prstGeom>
            <a:noFill/>
            <a:ln w="9525">
              <a:solidFill>
                <a:srgbClr val="000000"/>
              </a:solidFill>
              <a:round/>
              <a:headEnd/>
              <a:tailEnd type="none" w="sm" len="med"/>
            </a:ln>
          </p:spPr>
          <p:txBody>
            <a:bodyPr vert="horz" wrap="square" lIns="91440" tIns="45720" rIns="91440" bIns="45720" numCol="1" anchor="t" anchorCtr="0" compatLnSpc="1">
              <a:prstTxWarp prst="textNoShape">
                <a:avLst/>
              </a:prstTxWarp>
            </a:bodyPr>
            <a:lstStyle/>
            <a:p>
              <a:pPr algn="l"/>
              <a:endParaRPr lang="zh-CN" altLang="en-US" sz="1600" b="0">
                <a:solidFill>
                  <a:srgbClr val="0000FF"/>
                </a:solidFill>
                <a:latin typeface="Consolas" pitchFamily="49" charset="0"/>
                <a:ea typeface="仿宋" pitchFamily="49" charset="-122"/>
                <a:cs typeface="Consolas" pitchFamily="49" charset="0"/>
              </a:endParaRPr>
            </a:p>
          </p:txBody>
        </p:sp>
      </p:grpSp>
      <p:grpSp>
        <p:nvGrpSpPr>
          <p:cNvPr id="7" name="组合 6"/>
          <p:cNvGrpSpPr/>
          <p:nvPr/>
        </p:nvGrpSpPr>
        <p:grpSpPr>
          <a:xfrm>
            <a:off x="142844" y="214290"/>
            <a:ext cx="2696379" cy="2017570"/>
            <a:chOff x="1937927" y="3357562"/>
            <a:chExt cx="2696379" cy="2017570"/>
          </a:xfrm>
        </p:grpSpPr>
        <p:sp>
          <p:nvSpPr>
            <p:cNvPr id="53" name="Rectangle 23"/>
            <p:cNvSpPr>
              <a:spLocks noChangeArrowheads="1"/>
            </p:cNvSpPr>
            <p:nvPr/>
          </p:nvSpPr>
          <p:spPr bwMode="auto">
            <a:xfrm>
              <a:off x="3843200" y="3357562"/>
              <a:ext cx="239729" cy="28431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ts val="2400"/>
                </a:lnSpc>
                <a:spcBef>
                  <a:spcPct val="0"/>
                </a:spcBef>
                <a:spcAft>
                  <a:spcPct val="0"/>
                </a:spcAft>
                <a:buClrTx/>
                <a:buSzTx/>
                <a:buFontTx/>
                <a:buNone/>
                <a:tabLst/>
              </a:pPr>
              <a:r>
                <a:rPr kumimoji="0" lang="en-US" altLang="zh-CN" sz="1600" b="0" i="0" u="none" strike="noStrike" cap="none" normalizeH="0" baseline="0">
                  <a:ln>
                    <a:noFill/>
                  </a:ln>
                  <a:solidFill>
                    <a:srgbClr val="FF00FF"/>
                  </a:solidFill>
                  <a:effectLst/>
                  <a:latin typeface="Consolas" pitchFamily="49" charset="0"/>
                  <a:ea typeface="宋体" pitchFamily="2" charset="-122"/>
                  <a:cs typeface="Times New Roman" pitchFamily="18" charset="0"/>
                </a:rPr>
                <a:t>4</a:t>
              </a:r>
              <a:endParaRPr kumimoji="0" lang="en-US" altLang="zh-CN" sz="1600" b="0" i="0" u="none" strike="noStrike" cap="none" normalizeH="0" baseline="0">
                <a:ln>
                  <a:noFill/>
                </a:ln>
                <a:solidFill>
                  <a:srgbClr val="FF00FF"/>
                </a:solidFill>
                <a:effectLst/>
                <a:latin typeface="Consolas" pitchFamily="49" charset="0"/>
                <a:ea typeface="宋体" pitchFamily="2" charset="-122"/>
                <a:cs typeface="宋体" pitchFamily="2" charset="-122"/>
              </a:endParaRPr>
            </a:p>
          </p:txBody>
        </p:sp>
        <p:sp>
          <p:nvSpPr>
            <p:cNvPr id="54" name="Rectangle 22"/>
            <p:cNvSpPr>
              <a:spLocks noChangeArrowheads="1"/>
            </p:cNvSpPr>
            <p:nvPr/>
          </p:nvSpPr>
          <p:spPr bwMode="auto">
            <a:xfrm>
              <a:off x="3958498" y="4787764"/>
              <a:ext cx="239729" cy="28431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ts val="2400"/>
                </a:lnSpc>
                <a:spcBef>
                  <a:spcPct val="0"/>
                </a:spcBef>
                <a:spcAft>
                  <a:spcPct val="0"/>
                </a:spcAft>
                <a:buClrTx/>
                <a:buSzTx/>
                <a:buFontTx/>
                <a:buNone/>
                <a:tabLst/>
              </a:pPr>
              <a:r>
                <a:rPr kumimoji="0" lang="en-US" altLang="zh-CN" sz="1600" b="0" i="0" u="none" strike="noStrike" cap="none" normalizeH="0" baseline="0">
                  <a:ln>
                    <a:noFill/>
                  </a:ln>
                  <a:solidFill>
                    <a:srgbClr val="FF00FF"/>
                  </a:solidFill>
                  <a:effectLst/>
                  <a:latin typeface="Consolas" pitchFamily="49" charset="0"/>
                  <a:ea typeface="宋体" pitchFamily="2" charset="-122"/>
                  <a:cs typeface="Times New Roman" pitchFamily="18" charset="0"/>
                </a:rPr>
                <a:t>10</a:t>
              </a:r>
              <a:endParaRPr kumimoji="0" lang="en-US" altLang="zh-CN" sz="1600" b="0" i="0" u="none" strike="noStrike" cap="none" normalizeH="0" baseline="0">
                <a:ln>
                  <a:noFill/>
                </a:ln>
                <a:solidFill>
                  <a:srgbClr val="FF00FF"/>
                </a:solidFill>
                <a:effectLst/>
                <a:latin typeface="Consolas" pitchFamily="49" charset="0"/>
                <a:ea typeface="宋体" pitchFamily="2" charset="-122"/>
                <a:cs typeface="宋体" pitchFamily="2" charset="-122"/>
              </a:endParaRPr>
            </a:p>
          </p:txBody>
        </p:sp>
        <p:sp>
          <p:nvSpPr>
            <p:cNvPr id="55" name="Rectangle 21"/>
            <p:cNvSpPr>
              <a:spLocks noChangeArrowheads="1"/>
            </p:cNvSpPr>
            <p:nvPr/>
          </p:nvSpPr>
          <p:spPr bwMode="auto">
            <a:xfrm>
              <a:off x="3936809" y="3773179"/>
              <a:ext cx="239729" cy="28431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ts val="2400"/>
                </a:lnSpc>
                <a:spcBef>
                  <a:spcPct val="0"/>
                </a:spcBef>
                <a:spcAft>
                  <a:spcPct val="0"/>
                </a:spcAft>
                <a:buClrTx/>
                <a:buSzTx/>
                <a:buFontTx/>
                <a:buNone/>
                <a:tabLst/>
              </a:pPr>
              <a:r>
                <a:rPr kumimoji="0" lang="en-US" altLang="zh-CN" sz="1600" b="0" i="0" u="none" strike="noStrike" cap="none" normalizeH="0" baseline="0">
                  <a:ln>
                    <a:noFill/>
                  </a:ln>
                  <a:solidFill>
                    <a:srgbClr val="FF00FF"/>
                  </a:solidFill>
                  <a:effectLst/>
                  <a:latin typeface="Consolas" pitchFamily="49" charset="0"/>
                  <a:ea typeface="宋体" pitchFamily="2" charset="-122"/>
                  <a:cs typeface="Times New Roman" pitchFamily="18" charset="0"/>
                </a:rPr>
                <a:t>50</a:t>
              </a:r>
              <a:endParaRPr kumimoji="0" lang="en-US" altLang="zh-CN" sz="1600" b="0" i="0" u="none" strike="noStrike" cap="none" normalizeH="0" baseline="0">
                <a:ln>
                  <a:noFill/>
                </a:ln>
                <a:solidFill>
                  <a:srgbClr val="FF00FF"/>
                </a:solidFill>
                <a:effectLst/>
                <a:latin typeface="Consolas" pitchFamily="49" charset="0"/>
                <a:ea typeface="宋体" pitchFamily="2" charset="-122"/>
                <a:cs typeface="宋体" pitchFamily="2" charset="-122"/>
              </a:endParaRPr>
            </a:p>
          </p:txBody>
        </p:sp>
        <p:sp>
          <p:nvSpPr>
            <p:cNvPr id="56" name="Rectangle 20"/>
            <p:cNvSpPr>
              <a:spLocks noChangeArrowheads="1"/>
            </p:cNvSpPr>
            <p:nvPr/>
          </p:nvSpPr>
          <p:spPr bwMode="auto">
            <a:xfrm>
              <a:off x="3707354" y="4067765"/>
              <a:ext cx="239729" cy="28431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ts val="2400"/>
                </a:lnSpc>
                <a:spcBef>
                  <a:spcPct val="0"/>
                </a:spcBef>
                <a:spcAft>
                  <a:spcPct val="0"/>
                </a:spcAft>
                <a:buClrTx/>
                <a:buSzTx/>
                <a:buFontTx/>
                <a:buNone/>
                <a:tabLst/>
              </a:pPr>
              <a:r>
                <a:rPr kumimoji="0" lang="en-US" altLang="zh-CN" sz="1600" b="0" i="0" u="none" strike="noStrike" cap="none" normalizeH="0" baseline="0">
                  <a:ln>
                    <a:noFill/>
                  </a:ln>
                  <a:solidFill>
                    <a:srgbClr val="FF00FF"/>
                  </a:solidFill>
                  <a:effectLst/>
                  <a:latin typeface="Consolas" pitchFamily="49" charset="0"/>
                  <a:ea typeface="宋体" pitchFamily="2" charset="-122"/>
                  <a:cs typeface="Times New Roman" pitchFamily="18" charset="0"/>
                </a:rPr>
                <a:t>20</a:t>
              </a:r>
              <a:endParaRPr kumimoji="0" lang="en-US" altLang="zh-CN" sz="1600" b="0" i="0" u="none" strike="noStrike" cap="none" normalizeH="0" baseline="0">
                <a:ln>
                  <a:noFill/>
                </a:ln>
                <a:solidFill>
                  <a:srgbClr val="FF00FF"/>
                </a:solidFill>
                <a:effectLst/>
                <a:latin typeface="Consolas" pitchFamily="49" charset="0"/>
                <a:ea typeface="宋体" pitchFamily="2" charset="-122"/>
                <a:cs typeface="宋体" pitchFamily="2" charset="-122"/>
              </a:endParaRPr>
            </a:p>
          </p:txBody>
        </p:sp>
        <p:sp>
          <p:nvSpPr>
            <p:cNvPr id="57" name="Rectangle 19"/>
            <p:cNvSpPr>
              <a:spLocks noChangeArrowheads="1"/>
            </p:cNvSpPr>
            <p:nvPr/>
          </p:nvSpPr>
          <p:spPr bwMode="auto">
            <a:xfrm>
              <a:off x="2383137" y="3679551"/>
              <a:ext cx="239729" cy="28431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ts val="2400"/>
                </a:lnSpc>
                <a:spcBef>
                  <a:spcPct val="0"/>
                </a:spcBef>
                <a:spcAft>
                  <a:spcPct val="0"/>
                </a:spcAft>
                <a:buClrTx/>
                <a:buSzTx/>
                <a:buFontTx/>
                <a:buNone/>
                <a:tabLst/>
              </a:pPr>
              <a:r>
                <a:rPr kumimoji="0" lang="en-US" altLang="zh-CN" sz="1600" b="0" i="0" u="none" strike="noStrike" cap="none" normalizeH="0" baseline="0">
                  <a:ln>
                    <a:noFill/>
                  </a:ln>
                  <a:solidFill>
                    <a:srgbClr val="FF00FF"/>
                  </a:solidFill>
                  <a:effectLst/>
                  <a:latin typeface="Consolas" pitchFamily="49" charset="0"/>
                  <a:ea typeface="宋体" pitchFamily="2" charset="-122"/>
                  <a:cs typeface="Times New Roman" pitchFamily="18" charset="0"/>
                </a:rPr>
                <a:t>10</a:t>
              </a:r>
              <a:endParaRPr kumimoji="0" lang="en-US" altLang="zh-CN" sz="1600" b="0" i="0" u="none" strike="noStrike" cap="none" normalizeH="0" baseline="0">
                <a:ln>
                  <a:noFill/>
                </a:ln>
                <a:solidFill>
                  <a:srgbClr val="FF00FF"/>
                </a:solidFill>
                <a:effectLst/>
                <a:latin typeface="Consolas" pitchFamily="49" charset="0"/>
                <a:ea typeface="宋体" pitchFamily="2" charset="-122"/>
                <a:cs typeface="宋体" pitchFamily="2" charset="-122"/>
              </a:endParaRPr>
            </a:p>
          </p:txBody>
        </p:sp>
        <p:sp>
          <p:nvSpPr>
            <p:cNvPr id="58" name="Rectangle 18"/>
            <p:cNvSpPr>
              <a:spLocks noChangeArrowheads="1"/>
            </p:cNvSpPr>
            <p:nvPr/>
          </p:nvSpPr>
          <p:spPr bwMode="auto">
            <a:xfrm>
              <a:off x="2622866" y="4067765"/>
              <a:ext cx="239729" cy="28431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ts val="2400"/>
                </a:lnSpc>
                <a:spcBef>
                  <a:spcPct val="0"/>
                </a:spcBef>
                <a:spcAft>
                  <a:spcPct val="0"/>
                </a:spcAft>
                <a:buClrTx/>
                <a:buSzTx/>
                <a:buFontTx/>
                <a:buNone/>
                <a:tabLst/>
              </a:pPr>
              <a:r>
                <a:rPr kumimoji="0" lang="en-US" altLang="zh-CN" sz="1600" b="0" i="0" u="none" strike="noStrike" cap="none" normalizeH="0" baseline="0">
                  <a:ln>
                    <a:noFill/>
                  </a:ln>
                  <a:solidFill>
                    <a:srgbClr val="FF00FF"/>
                  </a:solidFill>
                  <a:effectLst/>
                  <a:latin typeface="Consolas" pitchFamily="49" charset="0"/>
                  <a:ea typeface="宋体" pitchFamily="2" charset="-122"/>
                  <a:cs typeface="Times New Roman" pitchFamily="18" charset="0"/>
                </a:rPr>
                <a:t>30</a:t>
              </a:r>
              <a:endParaRPr kumimoji="0" lang="en-US" altLang="zh-CN" sz="1600" b="0" i="0" u="none" strike="noStrike" cap="none" normalizeH="0" baseline="0">
                <a:ln>
                  <a:noFill/>
                </a:ln>
                <a:solidFill>
                  <a:srgbClr val="FF00FF"/>
                </a:solidFill>
                <a:effectLst/>
                <a:latin typeface="Consolas" pitchFamily="49" charset="0"/>
                <a:ea typeface="宋体" pitchFamily="2" charset="-122"/>
                <a:cs typeface="宋体" pitchFamily="2" charset="-122"/>
              </a:endParaRPr>
            </a:p>
          </p:txBody>
        </p:sp>
        <p:sp>
          <p:nvSpPr>
            <p:cNvPr id="59" name="Rectangle 17"/>
            <p:cNvSpPr>
              <a:spLocks noChangeArrowheads="1"/>
            </p:cNvSpPr>
            <p:nvPr/>
          </p:nvSpPr>
          <p:spPr bwMode="auto">
            <a:xfrm>
              <a:off x="2298661" y="4779110"/>
              <a:ext cx="433795" cy="28431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ts val="2400"/>
                </a:lnSpc>
                <a:spcBef>
                  <a:spcPct val="0"/>
                </a:spcBef>
                <a:spcAft>
                  <a:spcPct val="0"/>
                </a:spcAft>
                <a:buClrTx/>
                <a:buSzTx/>
                <a:buFontTx/>
                <a:buNone/>
                <a:tabLst/>
              </a:pPr>
              <a:r>
                <a:rPr kumimoji="0" lang="en-US" altLang="zh-CN" sz="1600" b="0" i="0" u="none" strike="noStrike" cap="none" normalizeH="0" baseline="0">
                  <a:ln>
                    <a:noFill/>
                  </a:ln>
                  <a:solidFill>
                    <a:srgbClr val="FF00FF"/>
                  </a:solidFill>
                  <a:effectLst/>
                  <a:latin typeface="Consolas" pitchFamily="49" charset="0"/>
                  <a:ea typeface="宋体" pitchFamily="2" charset="-122"/>
                  <a:cs typeface="Times New Roman" pitchFamily="18" charset="0"/>
                </a:rPr>
                <a:t>100</a:t>
              </a:r>
              <a:endParaRPr kumimoji="0" lang="en-US" altLang="zh-CN" sz="1600" b="0" i="0" u="none" strike="noStrike" cap="none" normalizeH="0" baseline="0">
                <a:ln>
                  <a:noFill/>
                </a:ln>
                <a:solidFill>
                  <a:srgbClr val="FF00FF"/>
                </a:solidFill>
                <a:effectLst/>
                <a:latin typeface="Consolas" pitchFamily="49" charset="0"/>
                <a:ea typeface="宋体" pitchFamily="2" charset="-122"/>
                <a:cs typeface="宋体" pitchFamily="2" charset="-122"/>
              </a:endParaRPr>
            </a:p>
          </p:txBody>
        </p:sp>
        <p:sp>
          <p:nvSpPr>
            <p:cNvPr id="60" name="Oval 16"/>
            <p:cNvSpPr>
              <a:spLocks noChangeArrowheads="1"/>
            </p:cNvSpPr>
            <p:nvPr/>
          </p:nvSpPr>
          <p:spPr bwMode="auto">
            <a:xfrm>
              <a:off x="1937927" y="4143124"/>
              <a:ext cx="365301" cy="411050"/>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prstTxWarp prst="textNoShape">
                <a:avLst/>
              </a:prstTxWarp>
            </a:bodyPr>
            <a:lstStyle/>
            <a:p>
              <a:pPr marL="0" marR="0" lvl="0" algn="ctr" defTabSz="914400" rtl="0" eaLnBrk="1" fontAlgn="base" latinLnBrk="0" hangingPunct="1">
                <a:lnSpc>
                  <a:spcPts val="24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0</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61" name="Oval 15"/>
            <p:cNvSpPr>
              <a:spLocks noChangeArrowheads="1"/>
            </p:cNvSpPr>
            <p:nvPr/>
          </p:nvSpPr>
          <p:spPr bwMode="auto">
            <a:xfrm>
              <a:off x="3173101" y="3431779"/>
              <a:ext cx="364160" cy="411050"/>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algn="ctr" defTabSz="914400" rtl="0" eaLnBrk="1" fontAlgn="base" latinLnBrk="0" hangingPunct="1">
                <a:lnSpc>
                  <a:spcPts val="24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62" name="Oval 14"/>
            <p:cNvSpPr>
              <a:spLocks noChangeArrowheads="1"/>
            </p:cNvSpPr>
            <p:nvPr/>
          </p:nvSpPr>
          <p:spPr bwMode="auto">
            <a:xfrm>
              <a:off x="3183375" y="4143124"/>
              <a:ext cx="365301" cy="409908"/>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algn="ctr" defTabSz="914400" rtl="0" eaLnBrk="1" fontAlgn="base" latinLnBrk="0" hangingPunct="1">
                <a:lnSpc>
                  <a:spcPts val="24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63" name="Oval 13"/>
            <p:cNvSpPr>
              <a:spLocks noChangeArrowheads="1"/>
            </p:cNvSpPr>
            <p:nvPr/>
          </p:nvSpPr>
          <p:spPr bwMode="auto">
            <a:xfrm>
              <a:off x="3183375" y="4965224"/>
              <a:ext cx="364160" cy="409908"/>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algn="ctr" defTabSz="914400" rtl="0" eaLnBrk="1" fontAlgn="base" latinLnBrk="0" hangingPunct="1">
                <a:lnSpc>
                  <a:spcPts val="24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5</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64" name="Oval 12"/>
            <p:cNvSpPr>
              <a:spLocks noChangeArrowheads="1"/>
            </p:cNvSpPr>
            <p:nvPr/>
          </p:nvSpPr>
          <p:spPr bwMode="auto">
            <a:xfrm>
              <a:off x="4267863" y="4143124"/>
              <a:ext cx="366443" cy="411050"/>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algn="ctr" defTabSz="914400" rtl="0" eaLnBrk="1" fontAlgn="base" latinLnBrk="0" hangingPunct="1">
                <a:lnSpc>
                  <a:spcPts val="24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65" name="Oval 11"/>
            <p:cNvSpPr>
              <a:spLocks noChangeArrowheads="1"/>
            </p:cNvSpPr>
            <p:nvPr/>
          </p:nvSpPr>
          <p:spPr bwMode="auto">
            <a:xfrm>
              <a:off x="4267863" y="3430638"/>
              <a:ext cx="365301" cy="41219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algn="ctr" defTabSz="914400" rtl="0" eaLnBrk="1" fontAlgn="base" latinLnBrk="0" hangingPunct="1">
                <a:lnSpc>
                  <a:spcPts val="24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66" name="AutoShape 10"/>
            <p:cNvSpPr>
              <a:spLocks noChangeShapeType="1"/>
            </p:cNvSpPr>
            <p:nvPr/>
          </p:nvSpPr>
          <p:spPr bwMode="auto">
            <a:xfrm flipV="1">
              <a:off x="2249574" y="3637304"/>
              <a:ext cx="923527" cy="566336"/>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pPr>
                <a:lnSpc>
                  <a:spcPts val="2400"/>
                </a:lnSpc>
              </a:pPr>
              <a:endParaRPr lang="zh-CN" altLang="en-US" sz="1800">
                <a:solidFill>
                  <a:srgbClr val="0000FF"/>
                </a:solidFill>
                <a:latin typeface="Consolas" pitchFamily="49" charset="0"/>
              </a:endParaRPr>
            </a:p>
          </p:txBody>
        </p:sp>
        <p:sp>
          <p:nvSpPr>
            <p:cNvPr id="67" name="AutoShape 9"/>
            <p:cNvSpPr>
              <a:spLocks noChangeShapeType="1"/>
            </p:cNvSpPr>
            <p:nvPr/>
          </p:nvSpPr>
          <p:spPr bwMode="auto">
            <a:xfrm>
              <a:off x="2249574" y="4493659"/>
              <a:ext cx="933801" cy="677091"/>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pPr>
                <a:lnSpc>
                  <a:spcPts val="2400"/>
                </a:lnSpc>
              </a:pPr>
              <a:endParaRPr lang="zh-CN" altLang="en-US" sz="1800">
                <a:solidFill>
                  <a:srgbClr val="0000FF"/>
                </a:solidFill>
                <a:latin typeface="Consolas" pitchFamily="49" charset="0"/>
              </a:endParaRPr>
            </a:p>
          </p:txBody>
        </p:sp>
        <p:sp>
          <p:nvSpPr>
            <p:cNvPr id="68" name="AutoShape 8"/>
            <p:cNvSpPr>
              <a:spLocks noChangeShapeType="1"/>
            </p:cNvSpPr>
            <p:nvPr/>
          </p:nvSpPr>
          <p:spPr bwMode="auto">
            <a:xfrm>
              <a:off x="2303228" y="4348649"/>
              <a:ext cx="880147" cy="1142"/>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pPr>
                <a:lnSpc>
                  <a:spcPts val="2400"/>
                </a:lnSpc>
              </a:pPr>
              <a:endParaRPr lang="zh-CN" altLang="en-US" sz="1800">
                <a:solidFill>
                  <a:srgbClr val="0000FF"/>
                </a:solidFill>
                <a:latin typeface="Consolas" pitchFamily="49" charset="0"/>
              </a:endParaRPr>
            </a:p>
          </p:txBody>
        </p:sp>
        <p:sp>
          <p:nvSpPr>
            <p:cNvPr id="69" name="AutoShape 7"/>
            <p:cNvSpPr>
              <a:spLocks noChangeShapeType="1"/>
            </p:cNvSpPr>
            <p:nvPr/>
          </p:nvSpPr>
          <p:spPr bwMode="auto">
            <a:xfrm>
              <a:off x="3366026" y="4553032"/>
              <a:ext cx="1142" cy="412192"/>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pPr>
                <a:lnSpc>
                  <a:spcPts val="2400"/>
                </a:lnSpc>
              </a:pPr>
              <a:endParaRPr lang="zh-CN" altLang="en-US" sz="1800">
                <a:solidFill>
                  <a:srgbClr val="0000FF"/>
                </a:solidFill>
                <a:latin typeface="Consolas" pitchFamily="49" charset="0"/>
              </a:endParaRPr>
            </a:p>
          </p:txBody>
        </p:sp>
        <p:sp>
          <p:nvSpPr>
            <p:cNvPr id="70" name="AutoShape 6"/>
            <p:cNvSpPr>
              <a:spLocks noChangeShapeType="1"/>
            </p:cNvSpPr>
            <p:nvPr/>
          </p:nvSpPr>
          <p:spPr bwMode="auto">
            <a:xfrm flipV="1">
              <a:off x="3547535" y="4493659"/>
              <a:ext cx="773982" cy="677091"/>
            </a:xfrm>
            <a:prstGeom prst="straightConnector1">
              <a:avLst/>
            </a:prstGeom>
            <a:noFill/>
            <a:ln w="19050">
              <a:solidFill>
                <a:srgbClr val="000000"/>
              </a:solidFill>
              <a:round/>
              <a:headEnd type="arrow" w="med" len="med"/>
              <a:tailEnd type="none" w="med" len="med"/>
            </a:ln>
          </p:spPr>
          <p:txBody>
            <a:bodyPr vert="horz" wrap="square" lIns="91440" tIns="45720" rIns="91440" bIns="45720" numCol="1" anchor="t" anchorCtr="0" compatLnSpc="1">
              <a:prstTxWarp prst="textNoShape">
                <a:avLst/>
              </a:prstTxWarp>
            </a:bodyPr>
            <a:lstStyle/>
            <a:p>
              <a:pPr>
                <a:lnSpc>
                  <a:spcPts val="2400"/>
                </a:lnSpc>
              </a:pPr>
              <a:endParaRPr lang="zh-CN" altLang="en-US" sz="1800">
                <a:solidFill>
                  <a:srgbClr val="0000FF"/>
                </a:solidFill>
                <a:latin typeface="Consolas" pitchFamily="49" charset="0"/>
              </a:endParaRPr>
            </a:p>
          </p:txBody>
        </p:sp>
        <p:sp>
          <p:nvSpPr>
            <p:cNvPr id="71" name="AutoShape 5"/>
            <p:cNvSpPr>
              <a:spLocks noChangeShapeType="1"/>
            </p:cNvSpPr>
            <p:nvPr/>
          </p:nvSpPr>
          <p:spPr bwMode="auto">
            <a:xfrm>
              <a:off x="3548676" y="4348649"/>
              <a:ext cx="719187" cy="1142"/>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pPr>
                <a:lnSpc>
                  <a:spcPts val="2400"/>
                </a:lnSpc>
              </a:pPr>
              <a:endParaRPr lang="zh-CN" altLang="en-US" sz="1800">
                <a:solidFill>
                  <a:srgbClr val="0000FF"/>
                </a:solidFill>
                <a:latin typeface="Consolas" pitchFamily="49" charset="0"/>
              </a:endParaRPr>
            </a:p>
          </p:txBody>
        </p:sp>
        <p:sp>
          <p:nvSpPr>
            <p:cNvPr id="72" name="AutoShape 4"/>
            <p:cNvSpPr>
              <a:spLocks noChangeShapeType="1"/>
            </p:cNvSpPr>
            <p:nvPr/>
          </p:nvSpPr>
          <p:spPr bwMode="auto">
            <a:xfrm>
              <a:off x="3483607" y="3782314"/>
              <a:ext cx="837909" cy="421326"/>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pPr>
                <a:lnSpc>
                  <a:spcPts val="2400"/>
                </a:lnSpc>
              </a:pPr>
              <a:endParaRPr lang="zh-CN" altLang="en-US" sz="1800">
                <a:solidFill>
                  <a:srgbClr val="0000FF"/>
                </a:solidFill>
                <a:latin typeface="Consolas" pitchFamily="49" charset="0"/>
              </a:endParaRPr>
            </a:p>
          </p:txBody>
        </p:sp>
        <p:sp>
          <p:nvSpPr>
            <p:cNvPr id="73" name="AutoShape 3"/>
            <p:cNvSpPr>
              <a:spLocks noChangeShapeType="1"/>
            </p:cNvSpPr>
            <p:nvPr/>
          </p:nvSpPr>
          <p:spPr bwMode="auto">
            <a:xfrm flipH="1">
              <a:off x="3537261" y="3637304"/>
              <a:ext cx="730602" cy="1142"/>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pPr>
                <a:lnSpc>
                  <a:spcPts val="2400"/>
                </a:lnSpc>
              </a:pPr>
              <a:endParaRPr lang="zh-CN" altLang="en-US" sz="1800">
                <a:solidFill>
                  <a:srgbClr val="0000FF"/>
                </a:solidFill>
                <a:latin typeface="Consolas" pitchFamily="49" charset="0"/>
              </a:endParaRPr>
            </a:p>
          </p:txBody>
        </p:sp>
        <p:sp>
          <p:nvSpPr>
            <p:cNvPr id="74" name="Rectangle 2"/>
            <p:cNvSpPr>
              <a:spLocks noChangeArrowheads="1"/>
            </p:cNvSpPr>
            <p:nvPr/>
          </p:nvSpPr>
          <p:spPr bwMode="auto">
            <a:xfrm>
              <a:off x="3439086" y="4650086"/>
              <a:ext cx="239729" cy="28431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ts val="2400"/>
                </a:lnSpc>
                <a:spcBef>
                  <a:spcPct val="0"/>
                </a:spcBef>
                <a:spcAft>
                  <a:spcPct val="0"/>
                </a:spcAft>
                <a:buClrTx/>
                <a:buSzTx/>
                <a:buFontTx/>
                <a:buNone/>
                <a:tabLst/>
              </a:pPr>
              <a:r>
                <a:rPr kumimoji="0" lang="en-US" altLang="zh-CN" sz="1600" b="0" i="0" u="none" strike="noStrike" cap="none" normalizeH="0" baseline="0">
                  <a:ln>
                    <a:noFill/>
                  </a:ln>
                  <a:solidFill>
                    <a:srgbClr val="FF00FF"/>
                  </a:solidFill>
                  <a:effectLst/>
                  <a:latin typeface="Consolas" pitchFamily="49" charset="0"/>
                  <a:ea typeface="宋体" pitchFamily="2" charset="-122"/>
                  <a:cs typeface="Times New Roman" pitchFamily="18" charset="0"/>
                </a:rPr>
                <a:t>60</a:t>
              </a:r>
              <a:endParaRPr kumimoji="0" lang="en-US" altLang="zh-CN" sz="1600" b="0" i="0" u="none" strike="noStrike" cap="none" normalizeH="0" baseline="0">
                <a:ln>
                  <a:noFill/>
                </a:ln>
                <a:solidFill>
                  <a:srgbClr val="FF00FF"/>
                </a:solidFill>
                <a:effectLst/>
                <a:latin typeface="Consolas" pitchFamily="49" charset="0"/>
                <a:ea typeface="宋体" pitchFamily="2" charset="-122"/>
                <a:cs typeface="宋体" pitchFamily="2" charset="-122"/>
              </a:endParaRPr>
            </a:p>
          </p:txBody>
        </p:sp>
      </p:grpSp>
      <p:grpSp>
        <p:nvGrpSpPr>
          <p:cNvPr id="8" name="组合 78"/>
          <p:cNvGrpSpPr/>
          <p:nvPr/>
        </p:nvGrpSpPr>
        <p:grpSpPr>
          <a:xfrm>
            <a:off x="1071538" y="2119921"/>
            <a:ext cx="6998986" cy="1892539"/>
            <a:chOff x="1071538" y="2119921"/>
            <a:chExt cx="6998986" cy="1892539"/>
          </a:xfrm>
        </p:grpSpPr>
        <p:grpSp>
          <p:nvGrpSpPr>
            <p:cNvPr id="9" name="组合 76"/>
            <p:cNvGrpSpPr/>
            <p:nvPr/>
          </p:nvGrpSpPr>
          <p:grpSpPr>
            <a:xfrm>
              <a:off x="1071538" y="2119921"/>
              <a:ext cx="6998986" cy="1892539"/>
              <a:chOff x="1071538" y="2119921"/>
              <a:chExt cx="6998986" cy="1892539"/>
            </a:xfrm>
          </p:grpSpPr>
          <p:sp>
            <p:nvSpPr>
              <p:cNvPr id="86060" name="Rectangle 44"/>
              <p:cNvSpPr>
                <a:spLocks noChangeArrowheads="1"/>
              </p:cNvSpPr>
              <p:nvPr/>
            </p:nvSpPr>
            <p:spPr bwMode="auto">
              <a:xfrm>
                <a:off x="1071538" y="3001089"/>
                <a:ext cx="1243085" cy="846974"/>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lvl="0" algn="l">
                  <a:lnSpc>
                    <a:spcPct val="100000"/>
                  </a:lnSpc>
                  <a:spcBef>
                    <a:spcPct val="0"/>
                  </a:spcBef>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0+10&lt;</a:t>
                </a:r>
                <a:r>
                  <a:rPr kumimoji="0" lang="en-US" altLang="zh-CN" sz="1600" b="0">
                    <a:solidFill>
                      <a:srgbClr val="0000FF"/>
                    </a:solidFill>
                    <a:latin typeface="Consolas" pitchFamily="49" charset="0"/>
                    <a:ea typeface="仿宋" pitchFamily="49" charset="-122"/>
                    <a:cs typeface="Consolas" pitchFamily="49" charset="0"/>
                  </a:rPr>
                  <a:t>∞</a:t>
                </a: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a:t>
                </a:r>
              </a:p>
              <a:p>
                <a:pPr marL="0" marR="0" lvl="0" algn="l"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pre[2]=0</a:t>
                </a:r>
              </a:p>
              <a:p>
                <a:pPr marL="0" marR="0" lvl="0" algn="l"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dist[2]=10</a:t>
                </a:r>
              </a:p>
            </p:txBody>
          </p:sp>
          <p:sp>
            <p:nvSpPr>
              <p:cNvPr id="86056" name="Rectangle 40"/>
              <p:cNvSpPr>
                <a:spLocks noChangeArrowheads="1"/>
              </p:cNvSpPr>
              <p:nvPr/>
            </p:nvSpPr>
            <p:spPr bwMode="auto">
              <a:xfrm>
                <a:off x="4202253" y="2119921"/>
                <a:ext cx="279358" cy="327479"/>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zh-CN" altLang="zh-CN" sz="1600" i="0" u="none" strike="noStrike" cap="none" normalizeH="0" baseline="0">
                    <a:ln>
                      <a:noFill/>
                    </a:ln>
                    <a:solidFill>
                      <a:srgbClr val="FF0000"/>
                    </a:solidFill>
                    <a:effectLst/>
                    <a:latin typeface="Consolas" pitchFamily="49" charset="0"/>
                    <a:ea typeface="仿宋" pitchFamily="49" charset="-122"/>
                    <a:cs typeface="Consolas" pitchFamily="49" charset="0"/>
                  </a:rPr>
                  <a:t>①</a:t>
                </a:r>
              </a:p>
            </p:txBody>
          </p:sp>
          <p:sp>
            <p:nvSpPr>
              <p:cNvPr id="86052" name="Rectangle 36"/>
              <p:cNvSpPr>
                <a:spLocks noChangeArrowheads="1"/>
              </p:cNvSpPr>
              <p:nvPr/>
            </p:nvSpPr>
            <p:spPr bwMode="auto">
              <a:xfrm>
                <a:off x="5715008" y="2648622"/>
                <a:ext cx="569725" cy="327479"/>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FF00FF"/>
                    </a:solidFill>
                    <a:effectLst/>
                    <a:latin typeface="Consolas" pitchFamily="49" charset="0"/>
                    <a:ea typeface="仿宋" pitchFamily="49" charset="-122"/>
                    <a:cs typeface="Consolas" pitchFamily="49" charset="0"/>
                  </a:rPr>
                  <a:t>100</a:t>
                </a:r>
              </a:p>
            </p:txBody>
          </p:sp>
          <p:sp>
            <p:nvSpPr>
              <p:cNvPr id="86051" name="Rectangle 35"/>
              <p:cNvSpPr>
                <a:spLocks noChangeArrowheads="1"/>
              </p:cNvSpPr>
              <p:nvPr/>
            </p:nvSpPr>
            <p:spPr bwMode="auto">
              <a:xfrm>
                <a:off x="3316014" y="3160226"/>
                <a:ext cx="1285322" cy="852234"/>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0+30&lt;∞:</a:t>
                </a:r>
              </a:p>
              <a:p>
                <a:pPr marL="0" marR="0" lvl="0" algn="l"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pre[4]=0</a:t>
                </a:r>
              </a:p>
              <a:p>
                <a:pPr marL="0" marR="0" lvl="0" algn="l"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dist[4]=30</a:t>
                </a:r>
              </a:p>
            </p:txBody>
          </p:sp>
          <p:sp>
            <p:nvSpPr>
              <p:cNvPr id="86046" name="Rectangle 30"/>
              <p:cNvSpPr>
                <a:spLocks noChangeArrowheads="1"/>
              </p:cNvSpPr>
              <p:nvPr/>
            </p:nvSpPr>
            <p:spPr bwMode="auto">
              <a:xfrm>
                <a:off x="3288491" y="2648622"/>
                <a:ext cx="288991" cy="327479"/>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FF00FF"/>
                    </a:solidFill>
                    <a:effectLst/>
                    <a:latin typeface="Consolas" pitchFamily="49" charset="0"/>
                    <a:ea typeface="仿宋" pitchFamily="49" charset="-122"/>
                    <a:cs typeface="Consolas" pitchFamily="49" charset="0"/>
                  </a:rPr>
                  <a:t>10</a:t>
                </a:r>
              </a:p>
            </p:txBody>
          </p:sp>
          <p:sp>
            <p:nvSpPr>
              <p:cNvPr id="86044" name="Oval 28"/>
              <p:cNvSpPr>
                <a:spLocks noChangeArrowheads="1"/>
              </p:cNvSpPr>
              <p:nvPr/>
            </p:nvSpPr>
            <p:spPr bwMode="auto">
              <a:xfrm>
                <a:off x="2347206" y="3400903"/>
                <a:ext cx="467890" cy="447160"/>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2</a:t>
                </a:r>
              </a:p>
            </p:txBody>
          </p:sp>
          <p:sp>
            <p:nvSpPr>
              <p:cNvPr id="86042" name="AutoShape 26"/>
              <p:cNvSpPr>
                <a:spLocks noChangeShapeType="1"/>
              </p:cNvSpPr>
              <p:nvPr/>
            </p:nvSpPr>
            <p:spPr bwMode="auto">
              <a:xfrm flipH="1">
                <a:off x="2746289" y="2456606"/>
                <a:ext cx="1766974" cy="1010056"/>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pPr algn="l"/>
                <a:endParaRPr lang="zh-CN" altLang="en-US" sz="1600" b="0">
                  <a:solidFill>
                    <a:srgbClr val="0000FF"/>
                  </a:solidFill>
                  <a:latin typeface="Consolas" pitchFamily="49" charset="0"/>
                  <a:ea typeface="仿宋" pitchFamily="49" charset="-122"/>
                  <a:cs typeface="Consolas" pitchFamily="49" charset="0"/>
                </a:endParaRPr>
              </a:p>
            </p:txBody>
          </p:sp>
          <p:sp>
            <p:nvSpPr>
              <p:cNvPr id="86040" name="Oval 24"/>
              <p:cNvSpPr>
                <a:spLocks noChangeArrowheads="1"/>
              </p:cNvSpPr>
              <p:nvPr/>
            </p:nvSpPr>
            <p:spPr bwMode="auto">
              <a:xfrm>
                <a:off x="6335282" y="3400903"/>
                <a:ext cx="467890" cy="447160"/>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5</a:t>
                </a:r>
              </a:p>
            </p:txBody>
          </p:sp>
          <p:sp>
            <p:nvSpPr>
              <p:cNvPr id="86039" name="Rectangle 23"/>
              <p:cNvSpPr>
                <a:spLocks noChangeArrowheads="1"/>
              </p:cNvSpPr>
              <p:nvPr/>
            </p:nvSpPr>
            <p:spPr bwMode="auto">
              <a:xfrm>
                <a:off x="6786578" y="3160226"/>
                <a:ext cx="1283946" cy="852234"/>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0+100&lt;∞:</a:t>
                </a:r>
              </a:p>
              <a:p>
                <a:pPr marL="0" marR="0" lvl="0" algn="l"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pre[5]=0</a:t>
                </a:r>
              </a:p>
              <a:p>
                <a:pPr marL="0" marR="0" lvl="0" algn="l"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dist[5]=100</a:t>
                </a:r>
              </a:p>
            </p:txBody>
          </p:sp>
          <p:sp>
            <p:nvSpPr>
              <p:cNvPr id="86038" name="AutoShape 22"/>
              <p:cNvSpPr>
                <a:spLocks noChangeShapeType="1"/>
              </p:cNvSpPr>
              <p:nvPr/>
            </p:nvSpPr>
            <p:spPr bwMode="auto">
              <a:xfrm flipH="1">
                <a:off x="4741703" y="2680186"/>
                <a:ext cx="5505" cy="720717"/>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pPr algn="l"/>
                <a:endParaRPr lang="zh-CN" altLang="en-US" sz="1600" b="0">
                  <a:solidFill>
                    <a:srgbClr val="0000FF"/>
                  </a:solidFill>
                  <a:latin typeface="Consolas" pitchFamily="49" charset="0"/>
                  <a:ea typeface="仿宋" pitchFamily="49" charset="-122"/>
                  <a:cs typeface="Consolas" pitchFamily="49" charset="0"/>
                </a:endParaRPr>
              </a:p>
            </p:txBody>
          </p:sp>
          <p:sp>
            <p:nvSpPr>
              <p:cNvPr id="86037" name="AutoShape 21"/>
              <p:cNvSpPr>
                <a:spLocks noChangeShapeType="1"/>
              </p:cNvSpPr>
              <p:nvPr/>
            </p:nvSpPr>
            <p:spPr bwMode="auto">
              <a:xfrm>
                <a:off x="4981153" y="2456606"/>
                <a:ext cx="1422937" cy="1010056"/>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pPr algn="l"/>
                <a:endParaRPr lang="zh-CN" altLang="en-US" sz="1600" b="0">
                  <a:solidFill>
                    <a:srgbClr val="0000FF"/>
                  </a:solidFill>
                  <a:latin typeface="Consolas" pitchFamily="49" charset="0"/>
                  <a:ea typeface="仿宋" pitchFamily="49" charset="-122"/>
                  <a:cs typeface="Consolas" pitchFamily="49" charset="0"/>
                </a:endParaRPr>
              </a:p>
            </p:txBody>
          </p:sp>
          <p:sp>
            <p:nvSpPr>
              <p:cNvPr id="86036" name="Rectangle 20"/>
              <p:cNvSpPr>
                <a:spLocks noChangeArrowheads="1"/>
              </p:cNvSpPr>
              <p:nvPr/>
            </p:nvSpPr>
            <p:spPr bwMode="auto">
              <a:xfrm>
                <a:off x="4418309" y="2793291"/>
                <a:ext cx="288991" cy="327479"/>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30</a:t>
                </a:r>
              </a:p>
            </p:txBody>
          </p:sp>
        </p:grpSp>
        <p:sp>
          <p:nvSpPr>
            <p:cNvPr id="86041" name="Oval 25"/>
            <p:cNvSpPr>
              <a:spLocks noChangeArrowheads="1"/>
            </p:cNvSpPr>
            <p:nvPr/>
          </p:nvSpPr>
          <p:spPr bwMode="auto">
            <a:xfrm>
              <a:off x="4507758" y="3400903"/>
              <a:ext cx="467890" cy="447160"/>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4</a:t>
              </a:r>
            </a:p>
          </p:txBody>
        </p:sp>
      </p:grpSp>
      <p:grpSp>
        <p:nvGrpSpPr>
          <p:cNvPr id="10" name="组合 79"/>
          <p:cNvGrpSpPr/>
          <p:nvPr/>
        </p:nvGrpSpPr>
        <p:grpSpPr>
          <a:xfrm>
            <a:off x="2788950" y="3262810"/>
            <a:ext cx="4190369" cy="2254212"/>
            <a:chOff x="2788950" y="3262810"/>
            <a:chExt cx="4190369" cy="2254212"/>
          </a:xfrm>
        </p:grpSpPr>
        <p:sp>
          <p:nvSpPr>
            <p:cNvPr id="86059" name="Rectangle 43"/>
            <p:cNvSpPr>
              <a:spLocks noChangeArrowheads="1"/>
            </p:cNvSpPr>
            <p:nvPr/>
          </p:nvSpPr>
          <p:spPr bwMode="auto">
            <a:xfrm>
              <a:off x="2788950" y="4635854"/>
              <a:ext cx="1215138" cy="881168"/>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30+20&lt;60:</a:t>
              </a:r>
            </a:p>
            <a:p>
              <a:pPr marL="0" marR="0" lvl="0" algn="l"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pre[3]=4</a:t>
              </a:r>
            </a:p>
            <a:p>
              <a:pPr marL="0" marR="0" lvl="0" algn="l"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dist[3]=50</a:t>
              </a:r>
            </a:p>
          </p:txBody>
        </p:sp>
        <p:sp>
          <p:nvSpPr>
            <p:cNvPr id="86053" name="Rectangle 37"/>
            <p:cNvSpPr>
              <a:spLocks noChangeArrowheads="1"/>
            </p:cNvSpPr>
            <p:nvPr/>
          </p:nvSpPr>
          <p:spPr bwMode="auto">
            <a:xfrm>
              <a:off x="5040327" y="3262810"/>
              <a:ext cx="246330" cy="327479"/>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zh-CN" altLang="zh-CN" sz="1600" i="0" u="none" strike="noStrike" cap="none" normalizeH="0" baseline="0">
                  <a:ln>
                    <a:noFill/>
                  </a:ln>
                  <a:solidFill>
                    <a:srgbClr val="FF0000"/>
                  </a:solidFill>
                  <a:effectLst/>
                  <a:latin typeface="Consolas" pitchFamily="49" charset="0"/>
                  <a:ea typeface="仿宋" pitchFamily="49" charset="-122"/>
                  <a:cs typeface="Consolas" pitchFamily="49" charset="0"/>
                </a:rPr>
                <a:t>③</a:t>
              </a:r>
            </a:p>
          </p:txBody>
        </p:sp>
        <p:sp>
          <p:nvSpPr>
            <p:cNvPr id="86049" name="Rectangle 33"/>
            <p:cNvSpPr>
              <a:spLocks noChangeArrowheads="1"/>
            </p:cNvSpPr>
            <p:nvPr/>
          </p:nvSpPr>
          <p:spPr bwMode="auto">
            <a:xfrm>
              <a:off x="5204089" y="4121620"/>
              <a:ext cx="288991" cy="327479"/>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FF00FF"/>
                  </a:solidFill>
                  <a:effectLst/>
                  <a:latin typeface="Consolas" pitchFamily="49" charset="0"/>
                  <a:ea typeface="仿宋" pitchFamily="49" charset="-122"/>
                  <a:cs typeface="Consolas" pitchFamily="49" charset="0"/>
                </a:rPr>
                <a:t>60</a:t>
              </a:r>
            </a:p>
          </p:txBody>
        </p:sp>
        <p:sp>
          <p:nvSpPr>
            <p:cNvPr id="86048" name="Rectangle 32"/>
            <p:cNvSpPr>
              <a:spLocks noChangeArrowheads="1"/>
            </p:cNvSpPr>
            <p:nvPr/>
          </p:nvSpPr>
          <p:spPr bwMode="auto">
            <a:xfrm>
              <a:off x="4017849" y="4147923"/>
              <a:ext cx="288991" cy="327479"/>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FF00FF"/>
                  </a:solidFill>
                  <a:effectLst/>
                  <a:latin typeface="Consolas" pitchFamily="49" charset="0"/>
                  <a:ea typeface="仿宋" pitchFamily="49" charset="-122"/>
                  <a:cs typeface="Consolas" pitchFamily="49" charset="0"/>
                </a:rPr>
                <a:t>20</a:t>
              </a:r>
            </a:p>
          </p:txBody>
        </p:sp>
        <p:sp>
          <p:nvSpPr>
            <p:cNvPr id="86032" name="Oval 16"/>
            <p:cNvSpPr>
              <a:spLocks noChangeArrowheads="1"/>
            </p:cNvSpPr>
            <p:nvPr/>
          </p:nvSpPr>
          <p:spPr bwMode="auto">
            <a:xfrm>
              <a:off x="3957299" y="4768687"/>
              <a:ext cx="467890" cy="447160"/>
            </a:xfrm>
            <a:prstGeom prst="ellipse">
              <a:avLst/>
            </a:prstGeom>
            <a:ln>
              <a:headEnd/>
              <a:tailEnd/>
            </a:ln>
          </p:spPr>
          <p:style>
            <a:lnRef idx="1">
              <a:schemeClr val="dk1"/>
            </a:lnRef>
            <a:fillRef idx="2">
              <a:schemeClr val="dk1"/>
            </a:fillRef>
            <a:effectRef idx="1">
              <a:schemeClr val="dk1"/>
            </a:effectRef>
            <a:fontRef idx="minor">
              <a:schemeClr val="dk1"/>
            </a:fontRef>
          </p:style>
          <p:txBody>
            <a:bodyPr vert="horz" wrap="square" lIns="0" tIns="0" rIns="0" bIns="0" numCol="1" anchor="t" anchorCtr="0" compatLnSpc="1">
              <a:prstTxWarp prst="textNoShape">
                <a:avLst/>
              </a:prstTxWarp>
            </a:bodyPr>
            <a:lstStyle/>
            <a:p>
              <a:pPr marL="0" marR="0" lvl="0"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3</a:t>
              </a:r>
            </a:p>
          </p:txBody>
        </p:sp>
        <p:sp>
          <p:nvSpPr>
            <p:cNvPr id="86031" name="Oval 15"/>
            <p:cNvSpPr>
              <a:spLocks noChangeArrowheads="1"/>
            </p:cNvSpPr>
            <p:nvPr/>
          </p:nvSpPr>
          <p:spPr bwMode="auto">
            <a:xfrm>
              <a:off x="5052713" y="4781838"/>
              <a:ext cx="467890" cy="447160"/>
            </a:xfrm>
            <a:prstGeom prst="ellipse">
              <a:avLst/>
            </a:prstGeom>
            <a:ln>
              <a:headEnd/>
              <a:tailEnd/>
            </a:ln>
          </p:spPr>
          <p:style>
            <a:lnRef idx="1">
              <a:schemeClr val="dk1"/>
            </a:lnRef>
            <a:fillRef idx="2">
              <a:schemeClr val="dk1"/>
            </a:fillRef>
            <a:effectRef idx="1">
              <a:schemeClr val="dk1"/>
            </a:effectRef>
            <a:fontRef idx="minor">
              <a:schemeClr val="dk1"/>
            </a:fontRef>
          </p:style>
          <p:txBody>
            <a:bodyPr vert="horz" wrap="square" lIns="0" tIns="0" rIns="0" bIns="0" numCol="1" anchor="t" anchorCtr="0" compatLnSpc="1">
              <a:prstTxWarp prst="textNoShape">
                <a:avLst/>
              </a:prstTxWarp>
            </a:bodyPr>
            <a:lstStyle/>
            <a:p>
              <a:pPr marL="0" marR="0" lvl="0"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5</a:t>
              </a:r>
            </a:p>
          </p:txBody>
        </p:sp>
        <p:sp>
          <p:nvSpPr>
            <p:cNvPr id="86030" name="Rectangle 14"/>
            <p:cNvSpPr>
              <a:spLocks noChangeArrowheads="1"/>
            </p:cNvSpPr>
            <p:nvPr/>
          </p:nvSpPr>
          <p:spPr bwMode="auto">
            <a:xfrm>
              <a:off x="5589410" y="4558258"/>
              <a:ext cx="1389909" cy="82593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30+60&lt;100:</a:t>
              </a:r>
            </a:p>
            <a:p>
              <a:pPr marL="0" marR="0" lvl="0" algn="l"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pre[5]=4</a:t>
              </a:r>
            </a:p>
            <a:p>
              <a:pPr marL="0" marR="0" lvl="0" algn="l"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dist[5]=90</a:t>
              </a:r>
            </a:p>
          </p:txBody>
        </p:sp>
        <p:sp>
          <p:nvSpPr>
            <p:cNvPr id="86028" name="AutoShape 12"/>
            <p:cNvSpPr>
              <a:spLocks noChangeShapeType="1"/>
            </p:cNvSpPr>
            <p:nvPr/>
          </p:nvSpPr>
          <p:spPr bwMode="auto">
            <a:xfrm>
              <a:off x="4857752" y="3857628"/>
              <a:ext cx="428906" cy="924210"/>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pPr algn="l"/>
              <a:endParaRPr lang="zh-CN" altLang="en-US" sz="1600" b="0">
                <a:solidFill>
                  <a:srgbClr val="0000FF"/>
                </a:solidFill>
                <a:latin typeface="Consolas" pitchFamily="49" charset="0"/>
                <a:ea typeface="仿宋" pitchFamily="49" charset="-122"/>
                <a:cs typeface="Consolas" pitchFamily="49" charset="0"/>
              </a:endParaRPr>
            </a:p>
          </p:txBody>
        </p:sp>
        <p:sp>
          <p:nvSpPr>
            <p:cNvPr id="86029" name="AutoShape 13"/>
            <p:cNvSpPr>
              <a:spLocks noChangeShapeType="1"/>
            </p:cNvSpPr>
            <p:nvPr/>
          </p:nvSpPr>
          <p:spPr bwMode="auto">
            <a:xfrm flipH="1">
              <a:off x="4191243" y="3857628"/>
              <a:ext cx="452194" cy="911058"/>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pPr algn="l"/>
              <a:endParaRPr lang="zh-CN" altLang="en-US" sz="1600" b="0">
                <a:solidFill>
                  <a:srgbClr val="0000FF"/>
                </a:solidFill>
                <a:latin typeface="Consolas" pitchFamily="49" charset="0"/>
                <a:ea typeface="仿宋" pitchFamily="49" charset="-122"/>
                <a:cs typeface="Consolas" pitchFamily="49" charset="0"/>
              </a:endParaRPr>
            </a:p>
          </p:txBody>
        </p:sp>
      </p:grpSp>
      <p:sp>
        <p:nvSpPr>
          <p:cNvPr id="80" name="灯片编号占位符 79"/>
          <p:cNvSpPr>
            <a:spLocks noGrp="1"/>
          </p:cNvSpPr>
          <p:nvPr>
            <p:ph type="sldNum" sz="quarter" idx="12"/>
          </p:nvPr>
        </p:nvSpPr>
        <p:spPr/>
        <p:txBody>
          <a:bodyPr/>
          <a:lstStyle/>
          <a:p>
            <a:fld id="{7AF016A1-9F15-429F-9EFD-84004B73C732}" type="slidenum">
              <a:rPr lang="en-US" altLang="zh-CN" smtClean="0"/>
              <a:pPr/>
              <a:t>72</a:t>
            </a:fld>
            <a:r>
              <a:rPr lang="en-US" altLang="zh-CN"/>
              <a:t>/158</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par>
                          <p:cTn id="23" fill="hold">
                            <p:stCondLst>
                              <p:cond delay="0"/>
                            </p:stCondLst>
                            <p:childTnLst>
                              <p:par>
                                <p:cTn id="24" presetID="26" presetClass="emph" presetSubtype="0" fill="hold" nodeType="afterEffect">
                                  <p:stCondLst>
                                    <p:cond delay="0"/>
                                  </p:stCondLst>
                                  <p:childTnLst>
                                    <p:animEffect transition="out" filter="fade">
                                      <p:cBhvr>
                                        <p:cTn id="25" dur="500" tmFilter="0, 0; .2, .5; .8, .5; 1, 0"/>
                                        <p:tgtEl>
                                          <p:spTgt spid="6"/>
                                        </p:tgtEl>
                                      </p:cBhvr>
                                    </p:animEffect>
                                    <p:animScale>
                                      <p:cBhvr>
                                        <p:cTn id="26" dur="250" autoRev="1" fill="hold"/>
                                        <p:tgtEl>
                                          <p:spTgt spid="6"/>
                                        </p:tgtEl>
                                      </p:cBhvr>
                                      <p:by x="105000" y="105000"/>
                                    </p:animScale>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605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6057"/>
                                        </p:tgtEl>
                                        <p:attrNameLst>
                                          <p:attrName>style.visibility</p:attrName>
                                        </p:attrNameLst>
                                      </p:cBhvr>
                                      <p:to>
                                        <p:strVal val="visible"/>
                                      </p:to>
                                    </p:set>
                                  </p:childTnLst>
                                </p:cTn>
                              </p:par>
                            </p:childTnLst>
                          </p:cTn>
                        </p:par>
                        <p:par>
                          <p:cTn id="39" fill="hold">
                            <p:stCondLst>
                              <p:cond delay="0"/>
                            </p:stCondLst>
                            <p:childTnLst>
                              <p:par>
                                <p:cTn id="40" presetID="1" presetClass="entr" presetSubtype="0" fill="hold" nodeType="afterEffect">
                                  <p:stCondLst>
                                    <p:cond delay="0"/>
                                  </p:stCondLst>
                                  <p:childTnLst>
                                    <p:set>
                                      <p:cBhvr>
                                        <p:cTn id="4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57" grpId="0" animBg="1"/>
      <p:bldP spid="86054"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1" name="TextBox 10"/>
          <p:cNvSpPr txBox="1"/>
          <p:nvPr/>
        </p:nvSpPr>
        <p:spPr>
          <a:xfrm>
            <a:off x="214282" y="402061"/>
            <a:ext cx="8786874" cy="1169551"/>
          </a:xfrm>
          <a:prstGeom prst="rect">
            <a:avLst/>
          </a:prstGeom>
          <a:noFill/>
        </p:spPr>
        <p:txBody>
          <a:bodyPr wrap="square" rtlCol="0">
            <a:spAutoFit/>
          </a:bodyPr>
          <a:lstStyle/>
          <a:p>
            <a:pPr algn="l">
              <a:lnSpc>
                <a:spcPts val="2800"/>
              </a:lnSpc>
              <a:spcBef>
                <a:spcPts val="0"/>
              </a:spcBef>
            </a:pPr>
            <a:r>
              <a:rPr lang="zh-CN" altLang="zh-CN">
                <a:solidFill>
                  <a:srgbClr val="0000FF"/>
                </a:solidFill>
                <a:latin typeface="Consolas" pitchFamily="49" charset="0"/>
                <a:ea typeface="仿宋" pitchFamily="49" charset="-122"/>
                <a:cs typeface="Consolas" pitchFamily="49" charset="0"/>
              </a:rPr>
              <a:t>布尔数组</a:t>
            </a:r>
            <a:r>
              <a:rPr lang="en-US" altLang="zh-CN">
                <a:solidFill>
                  <a:srgbClr val="0000FF"/>
                </a:solidFill>
                <a:latin typeface="Consolas" pitchFamily="49" charset="0"/>
                <a:ea typeface="仿宋" pitchFamily="49" charset="-122"/>
                <a:cs typeface="Consolas" pitchFamily="49" charset="0"/>
              </a:rPr>
              <a:t>visited</a:t>
            </a:r>
            <a:r>
              <a:rPr lang="zh-CN" altLang="zh-CN">
                <a:solidFill>
                  <a:srgbClr val="0000FF"/>
                </a:solidFill>
                <a:latin typeface="Consolas" pitchFamily="49" charset="0"/>
                <a:ea typeface="仿宋" pitchFamily="49" charset="-122"/>
                <a:cs typeface="Consolas" pitchFamily="49" charset="0"/>
              </a:rPr>
              <a:t>标记一个顶点是否在队列中（初始时所有元素为</a:t>
            </a:r>
            <a:r>
              <a:rPr lang="en-US" altLang="zh-CN">
                <a:solidFill>
                  <a:srgbClr val="0000FF"/>
                </a:solidFill>
                <a:latin typeface="Consolas" pitchFamily="49" charset="0"/>
                <a:ea typeface="仿宋" pitchFamily="49" charset="-122"/>
                <a:cs typeface="Consolas" pitchFamily="49" charset="0"/>
              </a:rPr>
              <a:t>false</a:t>
            </a:r>
            <a:r>
              <a:rPr lang="zh-CN" altLang="zh-CN">
                <a:solidFill>
                  <a:srgbClr val="0000FF"/>
                </a:solidFill>
                <a:latin typeface="Consolas" pitchFamily="49" charset="0"/>
                <a:ea typeface="仿宋" pitchFamily="49" charset="-122"/>
                <a:cs typeface="Consolas" pitchFamily="49" charset="0"/>
              </a:rPr>
              <a:t>），顶点</a:t>
            </a:r>
            <a:r>
              <a:rPr lang="en-US" altLang="zh-CN" i="1">
                <a:solidFill>
                  <a:srgbClr val="0000FF"/>
                </a:solidFill>
                <a:latin typeface="Consolas" pitchFamily="49" charset="0"/>
                <a:ea typeface="仿宋" pitchFamily="49" charset="-122"/>
                <a:cs typeface="Consolas" pitchFamily="49" charset="0"/>
              </a:rPr>
              <a:t>u</a:t>
            </a:r>
            <a:r>
              <a:rPr lang="zh-CN" altLang="zh-CN">
                <a:solidFill>
                  <a:srgbClr val="0000FF"/>
                </a:solidFill>
                <a:latin typeface="Consolas" pitchFamily="49" charset="0"/>
                <a:ea typeface="仿宋" pitchFamily="49" charset="-122"/>
                <a:cs typeface="Consolas" pitchFamily="49" charset="0"/>
              </a:rPr>
              <a:t>进队时置</a:t>
            </a:r>
            <a:r>
              <a:rPr lang="en-US" altLang="zh-CN">
                <a:solidFill>
                  <a:srgbClr val="0000FF"/>
                </a:solidFill>
                <a:latin typeface="Consolas" pitchFamily="49" charset="0"/>
                <a:ea typeface="仿宋" pitchFamily="49" charset="-122"/>
                <a:cs typeface="Consolas" pitchFamily="49" charset="0"/>
              </a:rPr>
              <a:t>visited[</a:t>
            </a:r>
            <a:r>
              <a:rPr lang="en-US" altLang="zh-CN" i="1">
                <a:solidFill>
                  <a:srgbClr val="0000FF"/>
                </a:solidFill>
                <a:latin typeface="Consolas" pitchFamily="49" charset="0"/>
                <a:ea typeface="仿宋" pitchFamily="49" charset="-122"/>
                <a:cs typeface="Consolas" pitchFamily="49" charset="0"/>
              </a:rPr>
              <a:t>u</a:t>
            </a:r>
            <a:r>
              <a:rPr lang="en-US"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为</a:t>
            </a:r>
            <a:r>
              <a:rPr lang="en-US" altLang="zh-CN">
                <a:solidFill>
                  <a:srgbClr val="0000FF"/>
                </a:solidFill>
                <a:latin typeface="Consolas" pitchFamily="49" charset="0"/>
                <a:ea typeface="仿宋" pitchFamily="49" charset="-122"/>
                <a:cs typeface="Consolas" pitchFamily="49" charset="0"/>
              </a:rPr>
              <a:t>true</a:t>
            </a:r>
            <a:r>
              <a:rPr lang="zh-CN" altLang="zh-CN">
                <a:solidFill>
                  <a:srgbClr val="0000FF"/>
                </a:solidFill>
                <a:latin typeface="Consolas" pitchFamily="49" charset="0"/>
                <a:ea typeface="仿宋" pitchFamily="49" charset="-122"/>
                <a:cs typeface="Consolas" pitchFamily="49" charset="0"/>
              </a:rPr>
              <a:t>，出队时恢复</a:t>
            </a:r>
            <a:r>
              <a:rPr lang="en-US" altLang="zh-CN">
                <a:solidFill>
                  <a:srgbClr val="0000FF"/>
                </a:solidFill>
                <a:latin typeface="Consolas" pitchFamily="49" charset="0"/>
                <a:ea typeface="仿宋" pitchFamily="49" charset="-122"/>
                <a:cs typeface="Consolas" pitchFamily="49" charset="0"/>
              </a:rPr>
              <a:t>visited[</a:t>
            </a:r>
            <a:r>
              <a:rPr lang="en-US" altLang="zh-CN" i="1">
                <a:solidFill>
                  <a:srgbClr val="0000FF"/>
                </a:solidFill>
                <a:latin typeface="Consolas" pitchFamily="49" charset="0"/>
                <a:ea typeface="仿宋" pitchFamily="49" charset="-122"/>
                <a:cs typeface="Consolas" pitchFamily="49" charset="0"/>
              </a:rPr>
              <a:t>u</a:t>
            </a:r>
            <a:r>
              <a:rPr lang="en-US"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为</a:t>
            </a:r>
            <a:r>
              <a:rPr lang="en-US" altLang="zh-CN">
                <a:solidFill>
                  <a:srgbClr val="0000FF"/>
                </a:solidFill>
                <a:latin typeface="Consolas" pitchFamily="49" charset="0"/>
                <a:ea typeface="仿宋" pitchFamily="49" charset="-122"/>
                <a:cs typeface="Consolas" pitchFamily="49" charset="0"/>
              </a:rPr>
              <a:t>false</a:t>
            </a:r>
            <a:r>
              <a:rPr lang="zh-CN" altLang="zh-CN">
                <a:solidFill>
                  <a:srgbClr val="0000FF"/>
                </a:solidFill>
                <a:latin typeface="Consolas" pitchFamily="49" charset="0"/>
                <a:ea typeface="仿宋" pitchFamily="49" charset="-122"/>
                <a:cs typeface="Consolas" pitchFamily="49" charset="0"/>
              </a:rPr>
              <a:t>。</a:t>
            </a:r>
          </a:p>
        </p:txBody>
      </p:sp>
      <p:sp>
        <p:nvSpPr>
          <p:cNvPr id="12" name="TextBox 11"/>
          <p:cNvSpPr txBox="1"/>
          <p:nvPr/>
        </p:nvSpPr>
        <p:spPr>
          <a:xfrm>
            <a:off x="285720" y="2071678"/>
            <a:ext cx="8715436" cy="1940770"/>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00">
              <a:lnSpc>
                <a:spcPts val="2800"/>
              </a:lnSpc>
              <a:spcBef>
                <a:spcPts val="0"/>
              </a:spcBef>
            </a:pPr>
            <a:r>
              <a:rPr lang="en-US" altLang="zh-CN" sz="2000">
                <a:solidFill>
                  <a:srgbClr val="0000FF"/>
                </a:solidFill>
                <a:latin typeface="Consolas" pitchFamily="49" charset="0"/>
                <a:ea typeface="仿宋" pitchFamily="49" charset="-122"/>
              </a:rPr>
              <a:t>struct </a:t>
            </a:r>
            <a:r>
              <a:rPr lang="en-US" altLang="zh-CN" sz="2000">
                <a:solidFill>
                  <a:srgbClr val="FF0000"/>
                </a:solidFill>
                <a:latin typeface="Consolas" pitchFamily="49" charset="0"/>
                <a:ea typeface="仿宋" pitchFamily="49" charset="-122"/>
              </a:rPr>
              <a:t>Edge</a:t>
            </a:r>
            <a:r>
              <a:rPr lang="en-US" altLang="zh-CN" sz="2000">
                <a:solidFill>
                  <a:srgbClr val="0000FF"/>
                </a:solidFill>
                <a:latin typeface="Consolas" pitchFamily="49" charset="0"/>
                <a:ea typeface="仿宋" pitchFamily="49" charset="-122"/>
              </a:rPr>
              <a:t> {                         </a:t>
            </a:r>
            <a:r>
              <a:rPr lang="en-US" altLang="zh-CN" sz="2000">
                <a:solidFill>
                  <a:srgbClr val="00B0F0"/>
                </a:solidFill>
                <a:latin typeface="Consolas" pitchFamily="49" charset="0"/>
                <a:ea typeface="仿宋" pitchFamily="49" charset="-122"/>
              </a:rPr>
              <a:t>	</a:t>
            </a:r>
            <a:r>
              <a:rPr lang="en-US" altLang="zh-CN" sz="2000">
                <a:solidFill>
                  <a:srgbClr val="339933"/>
                </a:solidFill>
                <a:latin typeface="Consolas" pitchFamily="49" charset="0"/>
                <a:ea typeface="仿宋" pitchFamily="49" charset="-122"/>
              </a:rPr>
              <a:t>//</a:t>
            </a:r>
            <a:r>
              <a:rPr lang="zh-CN" altLang="zh-CN" sz="2000">
                <a:solidFill>
                  <a:srgbClr val="339933"/>
                </a:solidFill>
                <a:latin typeface="Consolas" pitchFamily="49" charset="0"/>
                <a:ea typeface="仿宋" pitchFamily="49" charset="-122"/>
              </a:rPr>
              <a:t>邻接表出边结点的类型</a:t>
            </a:r>
          </a:p>
          <a:p>
            <a:pPr algn="l" defTabSz="360000">
              <a:lnSpc>
                <a:spcPts val="2800"/>
              </a:lnSpc>
              <a:spcBef>
                <a:spcPts val="0"/>
              </a:spcBef>
            </a:pPr>
            <a:r>
              <a:rPr lang="en-US" altLang="zh-CN" sz="2000">
                <a:solidFill>
                  <a:srgbClr val="0000FF"/>
                </a:solidFill>
                <a:latin typeface="Consolas" pitchFamily="49" charset="0"/>
                <a:ea typeface="仿宋" pitchFamily="49" charset="-122"/>
              </a:rPr>
              <a:t>	int vno;                            </a:t>
            </a:r>
            <a:r>
              <a:rPr lang="en-US" altLang="zh-CN" sz="2000">
                <a:solidFill>
                  <a:srgbClr val="00B0F0"/>
                </a:solidFill>
                <a:latin typeface="Consolas" pitchFamily="49" charset="0"/>
                <a:ea typeface="仿宋" pitchFamily="49" charset="-122"/>
              </a:rPr>
              <a:t>	//</a:t>
            </a:r>
            <a:r>
              <a:rPr lang="zh-CN" altLang="zh-CN" sz="2000">
                <a:solidFill>
                  <a:srgbClr val="00B0F0"/>
                </a:solidFill>
                <a:latin typeface="Consolas" pitchFamily="49" charset="0"/>
                <a:ea typeface="仿宋" pitchFamily="49" charset="-122"/>
              </a:rPr>
              <a:t>邻接点</a:t>
            </a:r>
          </a:p>
          <a:p>
            <a:pPr algn="l" defTabSz="360000">
              <a:lnSpc>
                <a:spcPts val="2800"/>
              </a:lnSpc>
              <a:spcBef>
                <a:spcPts val="0"/>
              </a:spcBef>
            </a:pPr>
            <a:r>
              <a:rPr lang="en-US" altLang="zh-CN" sz="2000">
                <a:solidFill>
                  <a:srgbClr val="0000FF"/>
                </a:solidFill>
                <a:latin typeface="Consolas" pitchFamily="49" charset="0"/>
                <a:ea typeface="仿宋" pitchFamily="49" charset="-122"/>
              </a:rPr>
              <a:t>  	int wt;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边的权</a:t>
            </a:r>
          </a:p>
          <a:p>
            <a:pPr algn="l" defTabSz="360000">
              <a:lnSpc>
                <a:spcPts val="2800"/>
              </a:lnSpc>
              <a:spcBef>
                <a:spcPts val="0"/>
              </a:spcBef>
            </a:pPr>
            <a:r>
              <a:rPr lang="en-US" altLang="zh-CN" sz="2000">
                <a:solidFill>
                  <a:srgbClr val="0000FF"/>
                </a:solidFill>
                <a:latin typeface="Consolas" pitchFamily="49" charset="0"/>
                <a:ea typeface="仿宋" pitchFamily="49" charset="-122"/>
              </a:rPr>
              <a:t>  	Edge(int v,int w):vno(v),wt(w)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7" name="灯片编号占位符 6"/>
          <p:cNvSpPr>
            <a:spLocks noGrp="1"/>
          </p:cNvSpPr>
          <p:nvPr>
            <p:ph type="sldNum" sz="quarter" idx="12"/>
          </p:nvPr>
        </p:nvSpPr>
        <p:spPr/>
        <p:txBody>
          <a:bodyPr/>
          <a:lstStyle/>
          <a:p>
            <a:fld id="{7AF016A1-9F15-429F-9EFD-84004B73C732}" type="slidenum">
              <a:rPr lang="en-US" altLang="zh-CN" smtClean="0"/>
              <a:pPr/>
              <a:t>73</a:t>
            </a:fld>
            <a:r>
              <a:rPr lang="en-US" altLang="zh-CN"/>
              <a:t>/158</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2" name="TextBox 11"/>
          <p:cNvSpPr txBox="1"/>
          <p:nvPr/>
        </p:nvSpPr>
        <p:spPr>
          <a:xfrm>
            <a:off x="142844" y="416210"/>
            <a:ext cx="8858312" cy="4727302"/>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00">
              <a:lnSpc>
                <a:spcPts val="3000"/>
              </a:lnSpc>
              <a:spcBef>
                <a:spcPts val="0"/>
              </a:spcBef>
            </a:pPr>
            <a:r>
              <a:rPr lang="en-US" altLang="zh-CN" sz="2000">
                <a:solidFill>
                  <a:srgbClr val="0000FF"/>
                </a:solidFill>
                <a:latin typeface="Consolas" pitchFamily="49" charset="0"/>
                <a:ea typeface="仿宋" pitchFamily="49" charset="-122"/>
              </a:rPr>
              <a:t>void </a:t>
            </a:r>
            <a:r>
              <a:rPr lang="en-US" altLang="zh-CN" sz="2000">
                <a:solidFill>
                  <a:srgbClr val="FF0000"/>
                </a:solidFill>
                <a:latin typeface="Consolas" pitchFamily="49" charset="0"/>
                <a:ea typeface="仿宋" pitchFamily="49" charset="-122"/>
              </a:rPr>
              <a:t>SPFA</a:t>
            </a:r>
            <a:r>
              <a:rPr lang="en-US" altLang="zh-CN" sz="2000">
                <a:solidFill>
                  <a:srgbClr val="0000FF"/>
                </a:solidFill>
                <a:latin typeface="Consolas" pitchFamily="49" charset="0"/>
                <a:ea typeface="仿宋" pitchFamily="49" charset="-122"/>
              </a:rPr>
              <a:t>(vector&lt;vector&lt;Edge&gt;&gt;&amp;G,int s) {		</a:t>
            </a:r>
            <a:r>
              <a:rPr lang="en-US" altLang="zh-CN" sz="2000">
                <a:solidFill>
                  <a:srgbClr val="00B050"/>
                </a:solidFill>
                <a:latin typeface="Consolas" pitchFamily="49" charset="0"/>
                <a:ea typeface="仿宋" pitchFamily="49" charset="-122"/>
              </a:rPr>
              <a:t>//SPFA</a:t>
            </a:r>
            <a:r>
              <a:rPr lang="zh-CN" altLang="zh-CN" sz="2000">
                <a:solidFill>
                  <a:srgbClr val="00B050"/>
                </a:solidFill>
                <a:latin typeface="Consolas" pitchFamily="49" charset="0"/>
                <a:ea typeface="仿宋" pitchFamily="49" charset="-122"/>
              </a:rPr>
              <a:t>算法</a:t>
            </a:r>
          </a:p>
          <a:p>
            <a:pPr algn="l" defTabSz="360000">
              <a:lnSpc>
                <a:spcPts val="3000"/>
              </a:lnSpc>
              <a:spcBef>
                <a:spcPts val="0"/>
              </a:spcBef>
            </a:pPr>
            <a:r>
              <a:rPr lang="en-US" altLang="zh-CN" sz="2000">
                <a:solidFill>
                  <a:srgbClr val="0000FF"/>
                </a:solidFill>
                <a:latin typeface="Consolas" pitchFamily="49" charset="0"/>
                <a:ea typeface="仿宋" pitchFamily="49" charset="-122"/>
              </a:rPr>
              <a:t>	int n=G.size();</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int dist[MAXN];</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int path[MAXN];</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int visited[MAXN];</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memset(dist,0x3f,sizeof(dist));</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memset(path,-1,sizeof(path));</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memset(visited,0,sizeof(visited));</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queue&lt;int&gt; qu;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定义一个队列</a:t>
            </a:r>
            <a:r>
              <a:rPr lang="en-US" altLang="zh-CN" sz="2000">
                <a:solidFill>
                  <a:srgbClr val="00B0F0"/>
                </a:solidFill>
                <a:latin typeface="Consolas" pitchFamily="49" charset="0"/>
                <a:ea typeface="仿宋" pitchFamily="49" charset="-122"/>
              </a:rPr>
              <a:t>qu</a:t>
            </a:r>
            <a:endParaRPr lang="zh-CN" altLang="zh-CN" sz="2000">
              <a:solidFill>
                <a:srgbClr val="00B0F0"/>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dist[s]=0;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将源点的</a:t>
            </a:r>
            <a:r>
              <a:rPr lang="en-US" altLang="zh-CN" sz="2000">
                <a:solidFill>
                  <a:srgbClr val="00B0F0"/>
                </a:solidFill>
                <a:latin typeface="Consolas" pitchFamily="49" charset="0"/>
                <a:ea typeface="仿宋" pitchFamily="49" charset="-122"/>
              </a:rPr>
              <a:t>dist</a:t>
            </a:r>
            <a:r>
              <a:rPr lang="zh-CN" altLang="zh-CN" sz="2000">
                <a:solidFill>
                  <a:srgbClr val="00B0F0"/>
                </a:solidFill>
                <a:latin typeface="Consolas" pitchFamily="49" charset="0"/>
                <a:ea typeface="仿宋" pitchFamily="49" charset="-122"/>
              </a:rPr>
              <a:t>设为</a:t>
            </a:r>
            <a:r>
              <a:rPr lang="en-US" altLang="zh-CN" sz="2000">
                <a:solidFill>
                  <a:srgbClr val="00B0F0"/>
                </a:solidFill>
                <a:latin typeface="Consolas" pitchFamily="49" charset="0"/>
                <a:ea typeface="仿宋" pitchFamily="49" charset="-122"/>
              </a:rPr>
              <a:t>0</a:t>
            </a:r>
            <a:endParaRPr lang="zh-CN" altLang="zh-CN" sz="2000">
              <a:solidFill>
                <a:srgbClr val="00B0F0"/>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qu.push(s);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源点</a:t>
            </a:r>
            <a:r>
              <a:rPr lang="en-US" altLang="zh-CN" sz="2000">
                <a:solidFill>
                  <a:srgbClr val="00B0F0"/>
                </a:solidFill>
                <a:latin typeface="Consolas" pitchFamily="49" charset="0"/>
                <a:ea typeface="仿宋" pitchFamily="49" charset="-122"/>
              </a:rPr>
              <a:t>s</a:t>
            </a:r>
            <a:r>
              <a:rPr lang="zh-CN" altLang="zh-CN" sz="2000">
                <a:solidFill>
                  <a:srgbClr val="00B0F0"/>
                </a:solidFill>
                <a:latin typeface="Consolas" pitchFamily="49" charset="0"/>
                <a:ea typeface="仿宋" pitchFamily="49" charset="-122"/>
              </a:rPr>
              <a:t>进队</a:t>
            </a:r>
          </a:p>
          <a:p>
            <a:pPr algn="l" defTabSz="360000">
              <a:lnSpc>
                <a:spcPts val="3000"/>
              </a:lnSpc>
              <a:spcBef>
                <a:spcPts val="0"/>
              </a:spcBef>
            </a:pPr>
            <a:r>
              <a:rPr lang="en-US" altLang="zh-CN" sz="2000">
                <a:solidFill>
                  <a:srgbClr val="0000FF"/>
                </a:solidFill>
                <a:latin typeface="Consolas" pitchFamily="49" charset="0"/>
                <a:ea typeface="仿宋" pitchFamily="49" charset="-122"/>
              </a:rPr>
              <a:t>  	visited[s]=1;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表示源点</a:t>
            </a:r>
            <a:r>
              <a:rPr lang="en-US" altLang="zh-CN" sz="2000">
                <a:solidFill>
                  <a:srgbClr val="00B0F0"/>
                </a:solidFill>
                <a:latin typeface="Consolas" pitchFamily="49" charset="0"/>
                <a:ea typeface="仿宋" pitchFamily="49" charset="-122"/>
              </a:rPr>
              <a:t>s</a:t>
            </a:r>
            <a:r>
              <a:rPr lang="zh-CN" altLang="zh-CN" sz="2000">
                <a:solidFill>
                  <a:srgbClr val="00B0F0"/>
                </a:solidFill>
                <a:latin typeface="Consolas" pitchFamily="49" charset="0"/>
                <a:ea typeface="仿宋" pitchFamily="49" charset="-122"/>
              </a:rPr>
              <a:t>在队列中</a:t>
            </a: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74</a:t>
            </a:fld>
            <a:r>
              <a:rPr lang="en-US" altLang="zh-CN"/>
              <a:t>/158</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2" name="TextBox 11"/>
          <p:cNvSpPr txBox="1"/>
          <p:nvPr/>
        </p:nvSpPr>
        <p:spPr>
          <a:xfrm>
            <a:off x="142844" y="214290"/>
            <a:ext cx="8858312" cy="622585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00">
              <a:lnSpc>
                <a:spcPts val="2800"/>
              </a:lnSpc>
              <a:spcBef>
                <a:spcPts val="0"/>
              </a:spcBef>
            </a:pPr>
            <a:r>
              <a:rPr lang="en-US" altLang="zh-CN" sz="2000">
                <a:solidFill>
                  <a:srgbClr val="0000FF"/>
                </a:solidFill>
                <a:latin typeface="Consolas" pitchFamily="49" charset="0"/>
                <a:ea typeface="仿宋" pitchFamily="49" charset="-122"/>
              </a:rPr>
              <a:t> 	while (</a:t>
            </a:r>
            <a:r>
              <a:rPr lang="en-US" altLang="zh-CN" sz="2000">
                <a:solidFill>
                  <a:srgbClr val="FF00FF"/>
                </a:solidFill>
                <a:latin typeface="Consolas" pitchFamily="49" charset="0"/>
                <a:ea typeface="仿宋" pitchFamily="49" charset="-122"/>
              </a:rPr>
              <a:t>!qu.empty()</a:t>
            </a:r>
            <a:r>
              <a:rPr lang="en-US" altLang="zh-CN" sz="2000">
                <a:solidFill>
                  <a:srgbClr val="0000FF"/>
                </a:solidFill>
                <a:latin typeface="Consolas" pitchFamily="49" charset="0"/>
                <a:ea typeface="仿宋" pitchFamily="49" charset="-122"/>
              </a:rPr>
              <a:t>)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队不空循环</a:t>
            </a:r>
          </a:p>
          <a:p>
            <a:pPr algn="l" defTabSz="360000">
              <a:lnSpc>
                <a:spcPts val="2800"/>
              </a:lnSpc>
              <a:spcBef>
                <a:spcPts val="0"/>
              </a:spcBef>
            </a:pPr>
            <a:r>
              <a:rPr lang="en-US" altLang="zh-CN" sz="2000">
                <a:solidFill>
                  <a:srgbClr val="0000FF"/>
                </a:solidFill>
                <a:latin typeface="Consolas" pitchFamily="49" charset="0"/>
                <a:ea typeface="仿宋" pitchFamily="49" charset="-122"/>
              </a:rPr>
              <a:t>		int x=qu.front(); qu.pop();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出队顶点</a:t>
            </a:r>
            <a:r>
              <a:rPr lang="en-US" altLang="zh-CN" sz="2000">
                <a:solidFill>
                  <a:srgbClr val="00B0F0"/>
                </a:solidFill>
                <a:latin typeface="Consolas" pitchFamily="49" charset="0"/>
                <a:ea typeface="仿宋" pitchFamily="49" charset="-122"/>
              </a:rPr>
              <a:t>x</a:t>
            </a:r>
            <a:endParaRPr lang="zh-CN" altLang="zh-CN" sz="2000">
              <a:solidFill>
                <a:srgbClr val="00B0F0"/>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visited[x]=0;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表示顶点</a:t>
            </a:r>
            <a:r>
              <a:rPr lang="en-US" altLang="zh-CN" sz="2000">
                <a:solidFill>
                  <a:srgbClr val="00B0F0"/>
                </a:solidFill>
                <a:latin typeface="Consolas" pitchFamily="49" charset="0"/>
                <a:ea typeface="仿宋" pitchFamily="49" charset="-122"/>
              </a:rPr>
              <a:t>x</a:t>
            </a:r>
            <a:r>
              <a:rPr lang="zh-CN" altLang="zh-CN" sz="2000">
                <a:solidFill>
                  <a:srgbClr val="00B0F0"/>
                </a:solidFill>
                <a:latin typeface="Consolas" pitchFamily="49" charset="0"/>
                <a:ea typeface="仿宋" pitchFamily="49" charset="-122"/>
              </a:rPr>
              <a:t>不在队列中</a:t>
            </a:r>
          </a:p>
          <a:p>
            <a:pPr algn="l" defTabSz="360000">
              <a:lnSpc>
                <a:spcPts val="2800"/>
              </a:lnSpc>
              <a:spcBef>
                <a:spcPts val="0"/>
              </a:spcBef>
            </a:pPr>
            <a:r>
              <a:rPr lang="en-US" altLang="zh-CN" sz="2000">
                <a:solidFill>
                  <a:srgbClr val="0000FF"/>
                </a:solidFill>
                <a:latin typeface="Consolas" pitchFamily="49" charset="0"/>
                <a:ea typeface="仿宋" pitchFamily="49" charset="-122"/>
              </a:rPr>
              <a:t>		for(int i=0;i&lt;G[x].size();i++)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int y=G[x][i].vno;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存在权为</a:t>
            </a:r>
            <a:r>
              <a:rPr lang="en-US" altLang="zh-CN" sz="2000">
                <a:solidFill>
                  <a:srgbClr val="00B0F0"/>
                </a:solidFill>
                <a:latin typeface="Consolas" pitchFamily="49" charset="0"/>
                <a:ea typeface="仿宋" pitchFamily="49" charset="-122"/>
              </a:rPr>
              <a:t>w</a:t>
            </a:r>
            <a:r>
              <a:rPr lang="zh-CN" altLang="zh-CN" sz="2000">
                <a:solidFill>
                  <a:srgbClr val="00B0F0"/>
                </a:solidFill>
                <a:latin typeface="Consolas" pitchFamily="49" charset="0"/>
                <a:ea typeface="仿宋" pitchFamily="49" charset="-122"/>
              </a:rPr>
              <a:t>的边</a:t>
            </a:r>
            <a:r>
              <a:rPr lang="en-US" altLang="zh-CN" sz="2000">
                <a:solidFill>
                  <a:srgbClr val="00B0F0"/>
                </a:solidFill>
                <a:latin typeface="Consolas" pitchFamily="49" charset="0"/>
                <a:ea typeface="仿宋" pitchFamily="49" charset="-122"/>
              </a:rPr>
              <a:t>&lt;x,y&gt;</a:t>
            </a:r>
            <a:endParaRPr lang="zh-CN" altLang="zh-CN" sz="2000">
              <a:solidFill>
                <a:srgbClr val="00B0F0"/>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int w=G[x][i].wt;</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if (</a:t>
            </a:r>
            <a:r>
              <a:rPr lang="en-US" altLang="zh-CN" sz="2000">
                <a:solidFill>
                  <a:srgbClr val="FF00FF"/>
                </a:solidFill>
                <a:latin typeface="Consolas" pitchFamily="49" charset="0"/>
                <a:ea typeface="仿宋" pitchFamily="49" charset="-122"/>
              </a:rPr>
              <a:t>dist[x]+w&lt;dist[y]</a:t>
            </a:r>
            <a:r>
              <a:rPr lang="en-US" altLang="zh-CN" sz="2000">
                <a:solidFill>
                  <a:srgbClr val="0000FF"/>
                </a:solidFill>
                <a:latin typeface="Consolas" pitchFamily="49" charset="0"/>
                <a:ea typeface="仿宋" pitchFamily="49" charset="-122"/>
              </a:rPr>
              <a:t>)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边松弛</a:t>
            </a:r>
          </a:p>
          <a:p>
            <a:pPr algn="l" defTabSz="360000">
              <a:lnSpc>
                <a:spcPts val="2800"/>
              </a:lnSpc>
              <a:spcBef>
                <a:spcPts val="0"/>
              </a:spcBef>
            </a:pPr>
            <a:r>
              <a:rPr lang="en-US" altLang="zh-CN" sz="2000">
                <a:solidFill>
                  <a:srgbClr val="0000FF"/>
                </a:solidFill>
                <a:latin typeface="Consolas" pitchFamily="49" charset="0"/>
                <a:ea typeface="仿宋" pitchFamily="49" charset="-122"/>
              </a:rPr>
              <a:t>				dist[y]=dist[x]+w;</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path[y]=x;</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if (</a:t>
            </a:r>
            <a:r>
              <a:rPr lang="en-US" altLang="zh-CN" sz="2000">
                <a:solidFill>
                  <a:srgbClr val="FF00FF"/>
                </a:solidFill>
                <a:latin typeface="Consolas" pitchFamily="49" charset="0"/>
                <a:ea typeface="仿宋" pitchFamily="49" charset="-122"/>
              </a:rPr>
              <a:t>visited[y]==0</a:t>
            </a:r>
            <a:r>
              <a:rPr lang="en-US" altLang="zh-CN" sz="2000">
                <a:solidFill>
                  <a:srgbClr val="0000FF"/>
                </a:solidFill>
                <a:latin typeface="Consolas" pitchFamily="49" charset="0"/>
                <a:ea typeface="仿宋" pitchFamily="49" charset="-122"/>
              </a:rPr>
              <a:t>)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顶点</a:t>
            </a:r>
            <a:r>
              <a:rPr lang="en-US" altLang="zh-CN" sz="2000">
                <a:solidFill>
                  <a:srgbClr val="00B0F0"/>
                </a:solidFill>
                <a:latin typeface="Consolas" pitchFamily="49" charset="0"/>
                <a:ea typeface="仿宋" pitchFamily="49" charset="-122"/>
              </a:rPr>
              <a:t>y</a:t>
            </a:r>
            <a:r>
              <a:rPr lang="zh-CN" altLang="zh-CN" sz="2000">
                <a:solidFill>
                  <a:srgbClr val="00B0F0"/>
                </a:solidFill>
                <a:latin typeface="Consolas" pitchFamily="49" charset="0"/>
                <a:ea typeface="仿宋" pitchFamily="49" charset="-122"/>
              </a:rPr>
              <a:t>不在队列中</a:t>
            </a:r>
          </a:p>
          <a:p>
            <a:pPr algn="l" defTabSz="360000">
              <a:lnSpc>
                <a:spcPts val="2800"/>
              </a:lnSpc>
              <a:spcBef>
                <a:spcPts val="0"/>
              </a:spcBef>
            </a:pPr>
            <a:r>
              <a:rPr lang="en-US" altLang="zh-CN" sz="2000">
                <a:solidFill>
                  <a:srgbClr val="0000FF"/>
                </a:solidFill>
                <a:latin typeface="Consolas" pitchFamily="49" charset="0"/>
                <a:ea typeface="仿宋" pitchFamily="49" charset="-122"/>
              </a:rPr>
              <a:t>					qu.push(y);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将顶点</a:t>
            </a:r>
            <a:r>
              <a:rPr lang="en-US" altLang="zh-CN" sz="2000">
                <a:solidFill>
                  <a:srgbClr val="00B0F0"/>
                </a:solidFill>
                <a:latin typeface="Consolas" pitchFamily="49" charset="0"/>
                <a:ea typeface="仿宋" pitchFamily="49" charset="-122"/>
              </a:rPr>
              <a:t>y</a:t>
            </a:r>
            <a:r>
              <a:rPr lang="zh-CN" altLang="zh-CN" sz="2000">
                <a:solidFill>
                  <a:srgbClr val="00B0F0"/>
                </a:solidFill>
                <a:latin typeface="Consolas" pitchFamily="49" charset="0"/>
                <a:ea typeface="仿宋" pitchFamily="49" charset="-122"/>
              </a:rPr>
              <a:t>进队</a:t>
            </a:r>
          </a:p>
          <a:p>
            <a:pPr algn="l" defTabSz="360000">
              <a:lnSpc>
                <a:spcPts val="2800"/>
              </a:lnSpc>
              <a:spcBef>
                <a:spcPts val="0"/>
              </a:spcBef>
            </a:pPr>
            <a:r>
              <a:rPr lang="en-US" altLang="zh-CN" sz="2000">
                <a:solidFill>
                  <a:srgbClr val="0000FF"/>
                </a:solidFill>
                <a:latin typeface="Consolas" pitchFamily="49" charset="0"/>
                <a:ea typeface="仿宋" pitchFamily="49" charset="-122"/>
              </a:rPr>
              <a:t>					visited[y]=1;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表示顶点</a:t>
            </a:r>
            <a:r>
              <a:rPr lang="en-US" altLang="zh-CN" sz="2000">
                <a:solidFill>
                  <a:srgbClr val="00B0F0"/>
                </a:solidFill>
                <a:latin typeface="Consolas" pitchFamily="49" charset="0"/>
                <a:ea typeface="仿宋" pitchFamily="49" charset="-122"/>
              </a:rPr>
              <a:t>y</a:t>
            </a:r>
            <a:r>
              <a:rPr lang="zh-CN" altLang="zh-CN" sz="2000">
                <a:solidFill>
                  <a:srgbClr val="00B0F0"/>
                </a:solidFill>
                <a:latin typeface="Consolas" pitchFamily="49" charset="0"/>
                <a:ea typeface="仿宋" pitchFamily="49" charset="-122"/>
              </a:rPr>
              <a:t>在队列中</a:t>
            </a: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75</a:t>
            </a:fld>
            <a:r>
              <a:rPr lang="en-US" altLang="zh-CN"/>
              <a:t>/158</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xEl>
                                              <p:pRg st="10" end="1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
                                            <p:txEl>
                                              <p:pRg st="11" end="1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2">
                                            <p:txEl>
                                              <p:pRg st="12" end="12"/>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2">
                                            <p:txEl>
                                              <p:pRg st="13" end="13"/>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
                                            <p:txEl>
                                              <p:pRg st="14" end="14"/>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
                                            <p:txEl>
                                              <p:pRg st="15" end="15"/>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TextBox 5"/>
          <p:cNvSpPr txBox="1"/>
          <p:nvPr/>
        </p:nvSpPr>
        <p:spPr>
          <a:xfrm>
            <a:off x="500034" y="2000240"/>
            <a:ext cx="8143932" cy="1449216"/>
          </a:xfrm>
          <a:prstGeom prst="rect">
            <a:avLst/>
          </a:prstGeom>
          <a:ln>
            <a:solidFill>
              <a:schemeClr val="accent6">
                <a:lumMod val="40000"/>
                <a:lumOff val="6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lIns="180000" tIns="108000" rIns="180000" bIns="108000" rtlCol="0">
            <a:spAutoFit/>
          </a:bodyPr>
          <a:lstStyle/>
          <a:p>
            <a:pPr marL="457200" indent="-457200" algn="l">
              <a:lnSpc>
                <a:spcPts val="3000"/>
              </a:lnSpc>
              <a:spcBef>
                <a:spcPts val="600"/>
              </a:spcBef>
              <a:buBlip>
                <a:blip r:embed="rId2"/>
              </a:buBlip>
            </a:pPr>
            <a:r>
              <a:rPr lang="en-US" altLang="zh-CN" sz="2200">
                <a:solidFill>
                  <a:srgbClr val="0000FF"/>
                </a:solidFill>
                <a:latin typeface="Consolas" pitchFamily="49" charset="0"/>
                <a:ea typeface="仿宋" pitchFamily="49" charset="-122"/>
                <a:cs typeface="Consolas" pitchFamily="49" charset="0"/>
              </a:rPr>
              <a:t>SPFA</a:t>
            </a:r>
            <a:r>
              <a:rPr lang="zh-CN" altLang="zh-CN" sz="2200">
                <a:solidFill>
                  <a:srgbClr val="0000FF"/>
                </a:solidFill>
                <a:latin typeface="Consolas" pitchFamily="49" charset="0"/>
                <a:ea typeface="仿宋" pitchFamily="49" charset="-122"/>
                <a:cs typeface="Consolas" pitchFamily="49" charset="0"/>
              </a:rPr>
              <a:t>的时间复杂度是</a:t>
            </a:r>
            <a:r>
              <a:rPr lang="en-US" altLang="zh-CN" sz="2200">
                <a:solidFill>
                  <a:srgbClr val="0000FF"/>
                </a:solidFill>
                <a:latin typeface="Consolas" pitchFamily="49" charset="0"/>
                <a:ea typeface="仿宋" pitchFamily="49" charset="-122"/>
                <a:cs typeface="Consolas" pitchFamily="49" charset="0"/>
              </a:rPr>
              <a:t>O(</a:t>
            </a:r>
            <a:r>
              <a:rPr lang="en-US" altLang="zh-CN" sz="2200" i="1">
                <a:solidFill>
                  <a:srgbClr val="0000FF"/>
                </a:solidFill>
                <a:latin typeface="Consolas" pitchFamily="49" charset="0"/>
                <a:ea typeface="仿宋" pitchFamily="49" charset="-122"/>
                <a:cs typeface="Consolas" pitchFamily="49" charset="0"/>
              </a:rPr>
              <a:t>e</a:t>
            </a:r>
            <a:r>
              <a:rPr lang="en-US" altLang="zh-CN" sz="2200">
                <a:solidFill>
                  <a:srgbClr val="0000FF"/>
                </a:solidFill>
                <a:latin typeface="Consolas" pitchFamily="49" charset="0"/>
                <a:ea typeface="仿宋" pitchFamily="49" charset="-122"/>
                <a:cs typeface="Consolas" pitchFamily="49" charset="0"/>
              </a:rPr>
              <a:t>)</a:t>
            </a:r>
            <a:r>
              <a:rPr lang="zh-CN" altLang="zh-CN" sz="2200">
                <a:solidFill>
                  <a:srgbClr val="0000FF"/>
                </a:solidFill>
                <a:latin typeface="Consolas" pitchFamily="49" charset="0"/>
                <a:ea typeface="仿宋" pitchFamily="49" charset="-122"/>
                <a:cs typeface="Consolas" pitchFamily="49" charset="0"/>
              </a:rPr>
              <a:t> 。</a:t>
            </a:r>
            <a:endParaRPr lang="en-US" altLang="zh-CN" sz="2200">
              <a:solidFill>
                <a:srgbClr val="0000FF"/>
              </a:solidFill>
              <a:latin typeface="Consolas" pitchFamily="49" charset="0"/>
              <a:ea typeface="仿宋" pitchFamily="49" charset="-122"/>
              <a:cs typeface="Consolas" pitchFamily="49" charset="0"/>
            </a:endParaRPr>
          </a:p>
          <a:p>
            <a:pPr marL="457200" indent="-457200" algn="l">
              <a:lnSpc>
                <a:spcPts val="3000"/>
              </a:lnSpc>
              <a:spcBef>
                <a:spcPts val="600"/>
              </a:spcBef>
              <a:buBlip>
                <a:blip r:embed="rId2"/>
              </a:buBlip>
            </a:pPr>
            <a:r>
              <a:rPr lang="zh-CN" altLang="en-US" sz="2200">
                <a:solidFill>
                  <a:srgbClr val="0000FF"/>
                </a:solidFill>
                <a:latin typeface="Consolas" pitchFamily="49" charset="0"/>
                <a:ea typeface="仿宋" pitchFamily="49" charset="-122"/>
                <a:cs typeface="Consolas" pitchFamily="49" charset="0"/>
              </a:rPr>
              <a:t>不仅仅适合权为正数的图，也适合含负权的图，但不适合含负权回路的图。</a:t>
            </a:r>
            <a:endParaRPr lang="en-US" altLang="zh-CN" sz="2200">
              <a:solidFill>
                <a:srgbClr val="0000FF"/>
              </a:solidFill>
              <a:latin typeface="Consolas" pitchFamily="49" charset="0"/>
              <a:ea typeface="仿宋" pitchFamily="49" charset="-122"/>
              <a:cs typeface="Consolas" pitchFamily="49" charset="0"/>
            </a:endParaRPr>
          </a:p>
        </p:txBody>
      </p:sp>
      <p:sp>
        <p:nvSpPr>
          <p:cNvPr id="7" name="TextBox 6"/>
          <p:cNvSpPr txBox="1"/>
          <p:nvPr/>
        </p:nvSpPr>
        <p:spPr>
          <a:xfrm>
            <a:off x="3071802" y="1000108"/>
            <a:ext cx="1857388" cy="483960"/>
          </a:xfrm>
          <a:prstGeom prst="rect">
            <a:avLst/>
          </a:prstGeom>
        </p:spPr>
        <p:style>
          <a:lnRef idx="3">
            <a:schemeClr val="lt1"/>
          </a:lnRef>
          <a:fillRef idx="1">
            <a:schemeClr val="dk1"/>
          </a:fillRef>
          <a:effectRef idx="1">
            <a:schemeClr val="dk1"/>
          </a:effectRef>
          <a:fontRef idx="minor">
            <a:schemeClr val="lt1"/>
          </a:fontRef>
        </p:style>
        <p:txBody>
          <a:bodyPr wrap="square" tIns="72000" bIns="72000" rtlCol="0">
            <a:spAutoFit/>
          </a:bodyPr>
          <a:lstStyle/>
          <a:p>
            <a:pPr>
              <a:lnSpc>
                <a:spcPct val="100000"/>
              </a:lnSpc>
              <a:spcBef>
                <a:spcPts val="0"/>
              </a:spcBef>
            </a:pPr>
            <a:r>
              <a:rPr lang="zh-CN" altLang="en-US" sz="2200">
                <a:solidFill>
                  <a:schemeClr val="bg1"/>
                </a:solidFill>
                <a:latin typeface="微软雅黑" pitchFamily="34" charset="-122"/>
                <a:ea typeface="微软雅黑" pitchFamily="34" charset="-122"/>
                <a:cs typeface="Consolas" pitchFamily="49" charset="0"/>
              </a:rPr>
              <a:t>算法分析</a:t>
            </a:r>
          </a:p>
        </p:txBody>
      </p:sp>
      <p:sp>
        <p:nvSpPr>
          <p:cNvPr id="9" name="灯片编号占位符 8"/>
          <p:cNvSpPr>
            <a:spLocks noGrp="1"/>
          </p:cNvSpPr>
          <p:nvPr>
            <p:ph type="sldNum" sz="quarter" idx="12"/>
          </p:nvPr>
        </p:nvSpPr>
        <p:spPr/>
        <p:txBody>
          <a:bodyPr/>
          <a:lstStyle/>
          <a:p>
            <a:fld id="{7AF016A1-9F15-429F-9EFD-84004B73C732}" type="slidenum">
              <a:rPr lang="en-US" altLang="zh-CN" smtClean="0"/>
              <a:pPr/>
              <a:t>76</a:t>
            </a:fld>
            <a:r>
              <a:rPr lang="en-US" altLang="zh-CN"/>
              <a:t>/158</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57158" y="357166"/>
            <a:ext cx="3643338" cy="523220"/>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rPr>
              <a:t>9.2.4 Floyd</a:t>
            </a:r>
            <a:r>
              <a:rPr lang="zh-CN" altLang="en-US"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rPr>
              <a:t>算法</a:t>
            </a:r>
            <a:endParaRPr lang="zh-CN" altLang="zh-CN"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endParaRPr>
          </a:p>
        </p:txBody>
      </p:sp>
      <p:sp>
        <p:nvSpPr>
          <p:cNvPr id="6" name="TextBox 5"/>
          <p:cNvSpPr txBox="1"/>
          <p:nvPr/>
        </p:nvSpPr>
        <p:spPr>
          <a:xfrm>
            <a:off x="642910" y="2699946"/>
            <a:ext cx="7786742" cy="2657880"/>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lIns="144000" tIns="108000" bIns="108000" rtlCol="0">
            <a:spAutoFit/>
          </a:bodyPr>
          <a:lstStyle/>
          <a:p>
            <a:pPr marL="457200" indent="-457200" algn="l">
              <a:lnSpc>
                <a:spcPts val="3000"/>
              </a:lnSpc>
              <a:spcBef>
                <a:spcPts val="1200"/>
              </a:spcBef>
              <a:buBlip>
                <a:blip r:embed="rId2"/>
              </a:buBlip>
            </a:pPr>
            <a:r>
              <a:rPr lang="zh-CN" altLang="zh-CN">
                <a:solidFill>
                  <a:srgbClr val="0000FF"/>
                </a:solidFill>
                <a:latin typeface="Consolas" pitchFamily="49" charset="0"/>
                <a:ea typeface="仿宋" pitchFamily="49" charset="-122"/>
                <a:cs typeface="Consolas" pitchFamily="49" charset="0"/>
              </a:rPr>
              <a:t>设计二维数组</a:t>
            </a:r>
            <a:r>
              <a:rPr lang="en-US" altLang="zh-CN">
                <a:solidFill>
                  <a:srgbClr val="0000FF"/>
                </a:solidFill>
                <a:latin typeface="Consolas" pitchFamily="49" charset="0"/>
                <a:ea typeface="仿宋" pitchFamily="49" charset="-122"/>
                <a:cs typeface="Consolas" pitchFamily="49" charset="0"/>
              </a:rPr>
              <a:t>B</a:t>
            </a:r>
            <a:r>
              <a:rPr lang="zh-CN" altLang="zh-CN">
                <a:solidFill>
                  <a:srgbClr val="0000FF"/>
                </a:solidFill>
                <a:latin typeface="Consolas" pitchFamily="49" charset="0"/>
                <a:ea typeface="仿宋" pitchFamily="49" charset="-122"/>
                <a:cs typeface="Consolas" pitchFamily="49" charset="0"/>
              </a:rPr>
              <a:t>存放当前顶点之间的最短路径长度，其中</a:t>
            </a:r>
            <a:r>
              <a:rPr lang="en-US" altLang="zh-CN">
                <a:solidFill>
                  <a:srgbClr val="FF0000"/>
                </a:solidFill>
                <a:latin typeface="Consolas" pitchFamily="49" charset="0"/>
                <a:ea typeface="仿宋" pitchFamily="49" charset="-122"/>
                <a:cs typeface="Consolas" pitchFamily="49" charset="0"/>
              </a:rPr>
              <a:t>B[</a:t>
            </a:r>
            <a:r>
              <a:rPr lang="en-US" altLang="zh-CN" i="1">
                <a:solidFill>
                  <a:srgbClr val="FF0000"/>
                </a:solidFill>
                <a:latin typeface="Consolas" pitchFamily="49" charset="0"/>
                <a:ea typeface="仿宋" pitchFamily="49" charset="-122"/>
                <a:cs typeface="Consolas" pitchFamily="49" charset="0"/>
              </a:rPr>
              <a:t>i</a:t>
            </a:r>
            <a:r>
              <a:rPr lang="en-US" altLang="zh-CN">
                <a:solidFill>
                  <a:srgbClr val="FF0000"/>
                </a:solidFill>
                <a:latin typeface="Consolas" pitchFamily="49" charset="0"/>
                <a:ea typeface="仿宋" pitchFamily="49" charset="-122"/>
                <a:cs typeface="Consolas" pitchFamily="49" charset="0"/>
              </a:rPr>
              <a:t>][</a:t>
            </a:r>
            <a:r>
              <a:rPr lang="en-US" altLang="zh-CN" i="1">
                <a:solidFill>
                  <a:srgbClr val="FF0000"/>
                </a:solidFill>
                <a:latin typeface="Consolas" pitchFamily="49" charset="0"/>
                <a:ea typeface="仿宋" pitchFamily="49" charset="-122"/>
                <a:cs typeface="Consolas" pitchFamily="49" charset="0"/>
              </a:rPr>
              <a:t>j</a:t>
            </a:r>
            <a:r>
              <a:rPr lang="en-US" altLang="zh-CN">
                <a:solidFill>
                  <a:srgbClr val="FF0000"/>
                </a:solidFill>
                <a:latin typeface="Consolas" pitchFamily="49" charset="0"/>
                <a:ea typeface="仿宋" pitchFamily="49" charset="-122"/>
                <a:cs typeface="Consolas" pitchFamily="49" charset="0"/>
              </a:rPr>
              <a:t>]</a:t>
            </a:r>
            <a:r>
              <a:rPr lang="zh-CN" altLang="zh-CN">
                <a:solidFill>
                  <a:srgbClr val="FF0000"/>
                </a:solidFill>
                <a:latin typeface="Consolas" pitchFamily="49" charset="0"/>
                <a:ea typeface="仿宋" pitchFamily="49" charset="-122"/>
                <a:cs typeface="Consolas" pitchFamily="49" charset="0"/>
              </a:rPr>
              <a:t>表示当前顶点</a:t>
            </a:r>
            <a:r>
              <a:rPr lang="en-US" altLang="zh-CN" i="1">
                <a:solidFill>
                  <a:srgbClr val="FF0000"/>
                </a:solidFill>
                <a:latin typeface="Consolas" pitchFamily="49" charset="0"/>
                <a:ea typeface="仿宋" pitchFamily="49" charset="-122"/>
                <a:cs typeface="Consolas" pitchFamily="49" charset="0"/>
              </a:rPr>
              <a:t>i</a:t>
            </a:r>
            <a:r>
              <a:rPr lang="zh-CN" altLang="zh-CN">
                <a:solidFill>
                  <a:srgbClr val="FF0000"/>
                </a:solidFill>
                <a:latin typeface="Consolas" pitchFamily="49" charset="0"/>
                <a:ea typeface="仿宋" pitchFamily="49" charset="-122"/>
                <a:cs typeface="Consolas" pitchFamily="49" charset="0"/>
              </a:rPr>
              <a:t>到</a:t>
            </a:r>
            <a:r>
              <a:rPr lang="en-US" altLang="zh-CN" i="1">
                <a:solidFill>
                  <a:srgbClr val="FF0000"/>
                </a:solidFill>
                <a:latin typeface="Consolas" pitchFamily="49" charset="0"/>
                <a:ea typeface="仿宋" pitchFamily="49" charset="-122"/>
                <a:cs typeface="Consolas" pitchFamily="49" charset="0"/>
              </a:rPr>
              <a:t>j</a:t>
            </a:r>
            <a:r>
              <a:rPr lang="zh-CN" altLang="zh-CN">
                <a:solidFill>
                  <a:srgbClr val="FF0000"/>
                </a:solidFill>
                <a:latin typeface="Consolas" pitchFamily="49" charset="0"/>
                <a:ea typeface="仿宋" pitchFamily="49" charset="-122"/>
                <a:cs typeface="Consolas" pitchFamily="49" charset="0"/>
              </a:rPr>
              <a:t>的最短路径长度</a:t>
            </a:r>
            <a:r>
              <a:rPr lang="zh-CN" altLang="en-US">
                <a:solidFill>
                  <a:srgbClr val="0000FF"/>
                </a:solidFill>
                <a:latin typeface="Consolas" pitchFamily="49" charset="0"/>
                <a:ea typeface="仿宋" pitchFamily="49" charset="-122"/>
                <a:cs typeface="Consolas" pitchFamily="49" charset="0"/>
              </a:rPr>
              <a:t>。</a:t>
            </a:r>
            <a:endParaRPr lang="en-US" altLang="zh-CN">
              <a:solidFill>
                <a:srgbClr val="0000FF"/>
              </a:solidFill>
              <a:latin typeface="Consolas" pitchFamily="49" charset="0"/>
              <a:ea typeface="仿宋" pitchFamily="49" charset="-122"/>
              <a:cs typeface="Consolas" pitchFamily="49" charset="0"/>
            </a:endParaRPr>
          </a:p>
          <a:p>
            <a:pPr marL="457200" indent="-457200" algn="l">
              <a:lnSpc>
                <a:spcPts val="3000"/>
              </a:lnSpc>
              <a:spcBef>
                <a:spcPts val="1200"/>
              </a:spcBef>
              <a:buBlip>
                <a:blip r:embed="rId2"/>
              </a:buBlip>
            </a:pPr>
            <a:r>
              <a:rPr lang="zh-CN" altLang="zh-CN">
                <a:solidFill>
                  <a:srgbClr val="0000FF"/>
                </a:solidFill>
                <a:latin typeface="Consolas" pitchFamily="49" charset="0"/>
                <a:ea typeface="仿宋" pitchFamily="49" charset="-122"/>
                <a:cs typeface="Consolas" pitchFamily="49" charset="0"/>
              </a:rPr>
              <a:t>依顶点编号顺序处理每个顶点，每个顶点的处理看作一个阶段，阶段</a:t>
            </a:r>
            <a:r>
              <a:rPr lang="en-US" altLang="zh-CN" i="1">
                <a:solidFill>
                  <a:srgbClr val="0000FF"/>
                </a:solidFill>
                <a:latin typeface="Consolas" pitchFamily="49" charset="0"/>
                <a:ea typeface="仿宋" pitchFamily="49" charset="-122"/>
                <a:cs typeface="Consolas" pitchFamily="49" charset="0"/>
              </a:rPr>
              <a:t>k</a:t>
            </a:r>
            <a:r>
              <a:rPr lang="zh-CN" altLang="zh-CN">
                <a:solidFill>
                  <a:srgbClr val="0000FF"/>
                </a:solidFill>
                <a:latin typeface="Consolas" pitchFamily="49" charset="0"/>
                <a:ea typeface="仿宋" pitchFamily="49" charset="-122"/>
                <a:cs typeface="Consolas" pitchFamily="49" charset="0"/>
              </a:rPr>
              <a:t>（</a:t>
            </a:r>
            <a:r>
              <a:rPr lang="en-US" altLang="zh-CN">
                <a:solidFill>
                  <a:srgbClr val="0000FF"/>
                </a:solidFill>
                <a:latin typeface="Consolas" pitchFamily="49" charset="0"/>
                <a:ea typeface="仿宋" pitchFamily="49" charset="-122"/>
                <a:cs typeface="Consolas" pitchFamily="49" charset="0"/>
              </a:rPr>
              <a:t>0</a:t>
            </a:r>
            <a:r>
              <a:rPr lang="zh-CN" altLang="zh-CN">
                <a:solidFill>
                  <a:srgbClr val="0000FF"/>
                </a:solidFill>
                <a:latin typeface="+mn-ea"/>
                <a:cs typeface="Consolas" pitchFamily="49" charset="0"/>
              </a:rPr>
              <a:t>≤</a:t>
            </a:r>
            <a:r>
              <a:rPr lang="en-US" altLang="zh-CN" i="1">
                <a:solidFill>
                  <a:srgbClr val="0000FF"/>
                </a:solidFill>
                <a:latin typeface="Consolas" pitchFamily="49" charset="0"/>
                <a:ea typeface="仿宋" pitchFamily="49" charset="-122"/>
                <a:cs typeface="Consolas" pitchFamily="49" charset="0"/>
              </a:rPr>
              <a:t>k</a:t>
            </a:r>
            <a:r>
              <a:rPr lang="zh-CN" altLang="zh-CN">
                <a:solidFill>
                  <a:srgbClr val="0000FF"/>
                </a:solidFill>
                <a:latin typeface="+mj-ea"/>
                <a:ea typeface="+mj-ea"/>
                <a:cs typeface="Consolas" pitchFamily="49" charset="0"/>
              </a:rPr>
              <a:t>≤</a:t>
            </a:r>
            <a:r>
              <a:rPr lang="en-US" altLang="zh-CN" i="1">
                <a:solidFill>
                  <a:srgbClr val="0000FF"/>
                </a:solidFill>
                <a:latin typeface="Consolas" pitchFamily="49" charset="0"/>
                <a:ea typeface="仿宋" pitchFamily="49" charset="-122"/>
                <a:cs typeface="Consolas" pitchFamily="49" charset="0"/>
              </a:rPr>
              <a:t>n</a:t>
            </a:r>
            <a:r>
              <a:rPr lang="en-US" altLang="zh-CN">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）的结果存放在</a:t>
            </a:r>
            <a:r>
              <a:rPr lang="en-US" altLang="zh-CN">
                <a:solidFill>
                  <a:srgbClr val="0000FF"/>
                </a:solidFill>
                <a:latin typeface="Consolas" pitchFamily="49" charset="0"/>
                <a:ea typeface="仿宋" pitchFamily="49" charset="-122"/>
                <a:cs typeface="Consolas" pitchFamily="49" charset="0"/>
              </a:rPr>
              <a:t>B</a:t>
            </a:r>
            <a:r>
              <a:rPr lang="en-US" altLang="zh-CN" i="1" baseline="-25000">
                <a:solidFill>
                  <a:srgbClr val="0000FF"/>
                </a:solidFill>
                <a:latin typeface="Consolas" pitchFamily="49" charset="0"/>
                <a:ea typeface="仿宋" pitchFamily="49" charset="-122"/>
                <a:cs typeface="Consolas" pitchFamily="49" charset="0"/>
              </a:rPr>
              <a:t>k</a:t>
            </a:r>
            <a:r>
              <a:rPr lang="zh-CN" altLang="zh-CN">
                <a:solidFill>
                  <a:srgbClr val="0000FF"/>
                </a:solidFill>
                <a:latin typeface="Consolas" pitchFamily="49" charset="0"/>
                <a:ea typeface="仿宋" pitchFamily="49" charset="-122"/>
                <a:cs typeface="Consolas" pitchFamily="49" charset="0"/>
              </a:rPr>
              <a:t>中，</a:t>
            </a:r>
            <a:r>
              <a:rPr lang="en-US" altLang="zh-CN">
                <a:solidFill>
                  <a:srgbClr val="0000FF"/>
                </a:solidFill>
                <a:latin typeface="Consolas" pitchFamily="49" charset="0"/>
                <a:ea typeface="仿宋" pitchFamily="49" charset="-122"/>
                <a:cs typeface="Consolas" pitchFamily="49" charset="0"/>
              </a:rPr>
              <a:t>B</a:t>
            </a:r>
            <a:r>
              <a:rPr lang="en-US" altLang="zh-CN" i="1" baseline="-25000">
                <a:solidFill>
                  <a:srgbClr val="0000FF"/>
                </a:solidFill>
                <a:latin typeface="Consolas" pitchFamily="49" charset="0"/>
                <a:ea typeface="仿宋" pitchFamily="49" charset="-122"/>
                <a:cs typeface="Consolas" pitchFamily="49" charset="0"/>
              </a:rPr>
              <a:t>k</a:t>
            </a:r>
            <a:r>
              <a:rPr lang="en-US"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i</a:t>
            </a:r>
            <a:r>
              <a:rPr lang="en-US"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j</a:t>
            </a:r>
            <a:r>
              <a:rPr lang="en-US"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表示处理完</a:t>
            </a:r>
            <a:r>
              <a:rPr lang="en-US" altLang="zh-CN">
                <a:solidFill>
                  <a:srgbClr val="0000FF"/>
                </a:solidFill>
                <a:latin typeface="Consolas" pitchFamily="49" charset="0"/>
                <a:ea typeface="仿宋" pitchFamily="49" charset="-122"/>
                <a:cs typeface="Consolas" pitchFamily="49" charset="0"/>
              </a:rPr>
              <a:t>0</a:t>
            </a:r>
            <a:r>
              <a:rPr lang="zh-CN"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k</a:t>
            </a:r>
            <a:r>
              <a:rPr lang="zh-CN" altLang="zh-CN">
                <a:solidFill>
                  <a:srgbClr val="0000FF"/>
                </a:solidFill>
                <a:latin typeface="Consolas" pitchFamily="49" charset="0"/>
                <a:ea typeface="仿宋" pitchFamily="49" charset="-122"/>
                <a:cs typeface="Consolas" pitchFamily="49" charset="0"/>
              </a:rPr>
              <a:t>的顶点后得到的顶点</a:t>
            </a:r>
            <a:r>
              <a:rPr lang="en-US" altLang="zh-CN" i="1">
                <a:solidFill>
                  <a:srgbClr val="0000FF"/>
                </a:solidFill>
                <a:latin typeface="Consolas" pitchFamily="49" charset="0"/>
                <a:ea typeface="仿宋" pitchFamily="49" charset="-122"/>
                <a:cs typeface="Consolas" pitchFamily="49" charset="0"/>
              </a:rPr>
              <a:t>i</a:t>
            </a:r>
            <a:r>
              <a:rPr lang="zh-CN" altLang="zh-CN">
                <a:solidFill>
                  <a:srgbClr val="0000FF"/>
                </a:solidFill>
                <a:latin typeface="Consolas" pitchFamily="49" charset="0"/>
                <a:ea typeface="仿宋" pitchFamily="49" charset="-122"/>
                <a:cs typeface="Consolas" pitchFamily="49" charset="0"/>
              </a:rPr>
              <a:t>到</a:t>
            </a:r>
            <a:r>
              <a:rPr lang="en-US" altLang="zh-CN" i="1">
                <a:solidFill>
                  <a:srgbClr val="0000FF"/>
                </a:solidFill>
                <a:latin typeface="Consolas" pitchFamily="49" charset="0"/>
                <a:ea typeface="仿宋" pitchFamily="49" charset="-122"/>
                <a:cs typeface="Consolas" pitchFamily="49" charset="0"/>
              </a:rPr>
              <a:t>j</a:t>
            </a:r>
            <a:r>
              <a:rPr lang="zh-CN" altLang="zh-CN">
                <a:solidFill>
                  <a:srgbClr val="0000FF"/>
                </a:solidFill>
                <a:latin typeface="Consolas" pitchFamily="49" charset="0"/>
                <a:ea typeface="仿宋" pitchFamily="49" charset="-122"/>
                <a:cs typeface="Consolas" pitchFamily="49" charset="0"/>
              </a:rPr>
              <a:t>的最短路径长度。</a:t>
            </a:r>
          </a:p>
        </p:txBody>
      </p:sp>
      <p:sp>
        <p:nvSpPr>
          <p:cNvPr id="7" name="TextBox 6"/>
          <p:cNvSpPr txBox="1"/>
          <p:nvPr/>
        </p:nvSpPr>
        <p:spPr>
          <a:xfrm>
            <a:off x="857224" y="1414062"/>
            <a:ext cx="7429552" cy="461665"/>
          </a:xfrm>
          <a:prstGeom prst="rect">
            <a:avLst/>
          </a:prstGeom>
          <a:noFill/>
        </p:spPr>
        <p:txBody>
          <a:bodyPr wrap="square" rtlCol="0">
            <a:spAutoFit/>
          </a:bodyPr>
          <a:lstStyle/>
          <a:p>
            <a:pPr algn="l">
              <a:lnSpc>
                <a:spcPct val="100000"/>
              </a:lnSpc>
              <a:spcBef>
                <a:spcPts val="0"/>
              </a:spcBef>
            </a:pPr>
            <a:r>
              <a:rPr lang="zh-CN" altLang="en-US">
                <a:solidFill>
                  <a:srgbClr val="0000FF"/>
                </a:solidFill>
                <a:latin typeface="Consolas" pitchFamily="49" charset="0"/>
                <a:ea typeface="仿宋" pitchFamily="49" charset="-122"/>
                <a:cs typeface="Consolas" pitchFamily="49" charset="0"/>
              </a:rPr>
              <a:t>求一个带权图中任意两个顶点之间的最短路径长度。</a:t>
            </a:r>
          </a:p>
        </p:txBody>
      </p:sp>
      <p:sp>
        <p:nvSpPr>
          <p:cNvPr id="8" name="下箭头 7"/>
          <p:cNvSpPr/>
          <p:nvPr/>
        </p:nvSpPr>
        <p:spPr>
          <a:xfrm>
            <a:off x="3929058" y="2057004"/>
            <a:ext cx="285752" cy="428628"/>
          </a:xfrm>
          <a:prstGeom prst="down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latin typeface="Consolas" pitchFamily="49" charset="0"/>
              <a:ea typeface="仿宋" pitchFamily="49" charset="-122"/>
            </a:endParaRPr>
          </a:p>
        </p:txBody>
      </p:sp>
      <p:sp>
        <p:nvSpPr>
          <p:cNvPr id="10" name="灯片编号占位符 9"/>
          <p:cNvSpPr>
            <a:spLocks noGrp="1"/>
          </p:cNvSpPr>
          <p:nvPr>
            <p:ph type="sldNum" sz="quarter" idx="12"/>
          </p:nvPr>
        </p:nvSpPr>
        <p:spPr/>
        <p:txBody>
          <a:bodyPr/>
          <a:lstStyle/>
          <a:p>
            <a:fld id="{7AF016A1-9F15-429F-9EFD-84004B73C732}" type="slidenum">
              <a:rPr lang="en-US" altLang="zh-CN" smtClean="0"/>
              <a:pPr/>
              <a:t>77</a:t>
            </a:fld>
            <a:r>
              <a:rPr lang="en-US" altLang="zh-CN"/>
              <a:t>/158</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173" name="Rectangle 9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8241" name="Rectangle 4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45" name="TextBox 144"/>
          <p:cNvSpPr txBox="1"/>
          <p:nvPr/>
        </p:nvSpPr>
        <p:spPr>
          <a:xfrm>
            <a:off x="857224" y="500042"/>
            <a:ext cx="3286148"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itchFamily="49" charset="0"/>
                <a:ea typeface="仿宋" pitchFamily="49" charset="-122"/>
                <a:cs typeface="Times New Roman" pitchFamily="18" charset="0"/>
              </a:rPr>
              <a:t>阶段</a:t>
            </a:r>
            <a:r>
              <a:rPr lang="en-US" altLang="zh-CN" i="1">
                <a:solidFill>
                  <a:srgbClr val="0000FF"/>
                </a:solidFill>
                <a:latin typeface="Consolas" pitchFamily="49" charset="0"/>
                <a:ea typeface="仿宋" pitchFamily="49" charset="-122"/>
                <a:cs typeface="Times New Roman" pitchFamily="18" charset="0"/>
              </a:rPr>
              <a:t>k</a:t>
            </a:r>
            <a:r>
              <a:rPr lang="zh-CN" altLang="zh-CN">
                <a:solidFill>
                  <a:srgbClr val="0000FF"/>
                </a:solidFill>
                <a:latin typeface="Consolas" pitchFamily="49" charset="0"/>
                <a:ea typeface="仿宋" pitchFamily="49" charset="-122"/>
                <a:cs typeface="Times New Roman" pitchFamily="18" charset="0"/>
              </a:rPr>
              <a:t>的处理过程</a:t>
            </a:r>
            <a:r>
              <a:rPr lang="zh-CN" altLang="en-US">
                <a:solidFill>
                  <a:srgbClr val="0000FF"/>
                </a:solidFill>
                <a:latin typeface="Consolas" pitchFamily="49" charset="0"/>
                <a:ea typeface="仿宋" pitchFamily="49" charset="-122"/>
                <a:cs typeface="Times New Roman" pitchFamily="18" charset="0"/>
              </a:rPr>
              <a:t>：</a:t>
            </a:r>
            <a:endParaRPr lang="en-US" altLang="zh-CN">
              <a:solidFill>
                <a:srgbClr val="0000FF"/>
              </a:solidFill>
              <a:latin typeface="Consolas" pitchFamily="49" charset="0"/>
              <a:ea typeface="仿宋" pitchFamily="49" charset="-122"/>
              <a:cs typeface="Times New Roman" pitchFamily="18" charset="0"/>
            </a:endParaRPr>
          </a:p>
        </p:txBody>
      </p:sp>
      <p:sp>
        <p:nvSpPr>
          <p:cNvPr id="49167" name="Rectangle 1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2" name="组合 145"/>
          <p:cNvGrpSpPr/>
          <p:nvPr/>
        </p:nvGrpSpPr>
        <p:grpSpPr>
          <a:xfrm>
            <a:off x="1214414" y="1142984"/>
            <a:ext cx="4214842" cy="2714644"/>
            <a:chOff x="1723370" y="2294887"/>
            <a:chExt cx="3205820" cy="2236121"/>
          </a:xfrm>
        </p:grpSpPr>
        <p:sp>
          <p:nvSpPr>
            <p:cNvPr id="49165" name="Text Box 13"/>
            <p:cNvSpPr txBox="1">
              <a:spLocks noChangeArrowheads="1"/>
            </p:cNvSpPr>
            <p:nvPr/>
          </p:nvSpPr>
          <p:spPr bwMode="auto">
            <a:xfrm>
              <a:off x="1723370" y="3014315"/>
              <a:ext cx="906742" cy="346927"/>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B</a:t>
              </a:r>
              <a:r>
                <a:rPr kumimoji="0" lang="en-US" altLang="zh-CN" sz="1800" b="0" i="1" u="none" strike="noStrike" cap="none" normalizeH="0" baseline="-30000">
                  <a:ln>
                    <a:noFill/>
                  </a:ln>
                  <a:solidFill>
                    <a:srgbClr val="0000FF"/>
                  </a:solidFill>
                  <a:effectLst/>
                  <a:latin typeface="Consolas" pitchFamily="49" charset="0"/>
                  <a:ea typeface="仿宋" pitchFamily="49" charset="-122"/>
                  <a:cs typeface="Times New Roman" pitchFamily="18" charset="0"/>
                </a:rPr>
                <a:t>k</a:t>
              </a:r>
              <a:r>
                <a:rPr kumimoji="0" lang="en-US" altLang="zh-CN" sz="18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-1</a:t>
              </a: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en-US" altLang="zh-CN" sz="1800" b="0" i="1" u="none" strike="noStrike" cap="none" normalizeH="0" baseline="0">
                  <a:ln>
                    <a:noFill/>
                  </a:ln>
                  <a:solidFill>
                    <a:srgbClr val="0000FF"/>
                  </a:solidFill>
                  <a:effectLst/>
                  <a:latin typeface="Consolas" pitchFamily="49" charset="0"/>
                  <a:ea typeface="仿宋" pitchFamily="49" charset="-122"/>
                  <a:cs typeface="Times New Roman" pitchFamily="18" charset="0"/>
                </a:rPr>
                <a:t>i</a:t>
              </a: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en-US" altLang="zh-CN" sz="1800" b="0" i="1" u="none" strike="noStrike" cap="none" normalizeH="0" baseline="0">
                  <a:ln>
                    <a:noFill/>
                  </a:ln>
                  <a:solidFill>
                    <a:srgbClr val="0000FF"/>
                  </a:solidFill>
                  <a:effectLst/>
                  <a:latin typeface="Consolas" pitchFamily="49" charset="0"/>
                  <a:ea typeface="仿宋" pitchFamily="49" charset="-122"/>
                  <a:cs typeface="Times New Roman" pitchFamily="18" charset="0"/>
                </a:rPr>
                <a:t>k</a:t>
              </a: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9164" name="Text Box 12"/>
            <p:cNvSpPr txBox="1">
              <a:spLocks noChangeArrowheads="1"/>
            </p:cNvSpPr>
            <p:nvPr/>
          </p:nvSpPr>
          <p:spPr bwMode="auto">
            <a:xfrm>
              <a:off x="4022448" y="3065464"/>
              <a:ext cx="906742" cy="346927"/>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B</a:t>
              </a:r>
              <a:r>
                <a:rPr kumimoji="0" lang="en-US" altLang="zh-CN" sz="1800" b="0" i="1" u="none" strike="noStrike" cap="none" normalizeH="0" baseline="-30000">
                  <a:ln>
                    <a:noFill/>
                  </a:ln>
                  <a:solidFill>
                    <a:srgbClr val="0000FF"/>
                  </a:solidFill>
                  <a:effectLst/>
                  <a:latin typeface="Consolas" pitchFamily="49" charset="0"/>
                  <a:ea typeface="仿宋" pitchFamily="49" charset="-122"/>
                  <a:cs typeface="Times New Roman" pitchFamily="18" charset="0"/>
                </a:rPr>
                <a:t>k</a:t>
              </a:r>
              <a:r>
                <a:rPr kumimoji="0" lang="en-US" altLang="zh-CN" sz="18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-1</a:t>
              </a: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en-US" altLang="zh-CN" sz="1800" b="0" i="1" u="none" strike="noStrike" cap="none" normalizeH="0" baseline="0">
                  <a:ln>
                    <a:noFill/>
                  </a:ln>
                  <a:solidFill>
                    <a:srgbClr val="0000FF"/>
                  </a:solidFill>
                  <a:effectLst/>
                  <a:latin typeface="Consolas" pitchFamily="49" charset="0"/>
                  <a:ea typeface="仿宋" pitchFamily="49" charset="-122"/>
                  <a:cs typeface="Times New Roman" pitchFamily="18" charset="0"/>
                </a:rPr>
                <a:t>k</a:t>
              </a: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en-US" altLang="zh-CN" sz="1800" b="0" i="1" u="none" strike="noStrike" cap="none" normalizeH="0" baseline="0">
                  <a:ln>
                    <a:noFill/>
                  </a:ln>
                  <a:solidFill>
                    <a:srgbClr val="0000FF"/>
                  </a:solidFill>
                  <a:effectLst/>
                  <a:latin typeface="Consolas" pitchFamily="49" charset="0"/>
                  <a:ea typeface="仿宋" pitchFamily="49" charset="-122"/>
                  <a:cs typeface="Times New Roman" pitchFamily="18" charset="0"/>
                </a:rPr>
                <a:t>j</a:t>
              </a: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9163" name="Oval 11"/>
            <p:cNvSpPr>
              <a:spLocks noChangeArrowheads="1"/>
            </p:cNvSpPr>
            <p:nvPr/>
          </p:nvSpPr>
          <p:spPr bwMode="auto">
            <a:xfrm>
              <a:off x="1723370" y="3939453"/>
              <a:ext cx="346695" cy="378061"/>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1" u="none" strike="noStrike" cap="none" normalizeH="0" baseline="0">
                  <a:ln>
                    <a:noFill/>
                  </a:ln>
                  <a:solidFill>
                    <a:srgbClr val="0000FF"/>
                  </a:solidFill>
                  <a:effectLst/>
                  <a:latin typeface="Consolas" pitchFamily="49" charset="0"/>
                  <a:ea typeface="仿宋" pitchFamily="49" charset="-122"/>
                  <a:cs typeface="Times New Roman" pitchFamily="18" charset="0"/>
                </a:rPr>
                <a:t>i</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9162" name="Oval 10"/>
            <p:cNvSpPr>
              <a:spLocks noChangeArrowheads="1"/>
            </p:cNvSpPr>
            <p:nvPr/>
          </p:nvSpPr>
          <p:spPr bwMode="auto">
            <a:xfrm>
              <a:off x="4470263" y="3956132"/>
              <a:ext cx="346695" cy="378061"/>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1" u="none" strike="noStrike" cap="none" normalizeH="0" baseline="0">
                  <a:ln>
                    <a:noFill/>
                  </a:ln>
                  <a:solidFill>
                    <a:srgbClr val="0000FF"/>
                  </a:solidFill>
                  <a:effectLst/>
                  <a:latin typeface="Consolas" pitchFamily="49" charset="0"/>
                  <a:ea typeface="仿宋" pitchFamily="49" charset="-122"/>
                  <a:cs typeface="Times New Roman" pitchFamily="18" charset="0"/>
                </a:rPr>
                <a:t>j</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9161" name="Oval 9"/>
            <p:cNvSpPr>
              <a:spLocks noChangeArrowheads="1"/>
            </p:cNvSpPr>
            <p:nvPr/>
          </p:nvSpPr>
          <p:spPr bwMode="auto">
            <a:xfrm>
              <a:off x="3100150" y="2294887"/>
              <a:ext cx="346695" cy="378061"/>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1" u="none" strike="noStrike" cap="none" normalizeH="0" baseline="0">
                  <a:ln>
                    <a:noFill/>
                  </a:ln>
                  <a:solidFill>
                    <a:srgbClr val="0000FF"/>
                  </a:solidFill>
                  <a:effectLst/>
                  <a:latin typeface="Consolas" pitchFamily="49" charset="0"/>
                  <a:ea typeface="仿宋" pitchFamily="49" charset="-122"/>
                  <a:cs typeface="Times New Roman" pitchFamily="18" charset="0"/>
                </a:rPr>
                <a:t>k</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9160" name="Text Box 8"/>
            <p:cNvSpPr txBox="1">
              <a:spLocks noChangeArrowheads="1"/>
            </p:cNvSpPr>
            <p:nvPr/>
          </p:nvSpPr>
          <p:spPr bwMode="auto">
            <a:xfrm>
              <a:off x="2881243" y="4247462"/>
              <a:ext cx="814512" cy="283546"/>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B</a:t>
              </a:r>
              <a:r>
                <a:rPr kumimoji="0" lang="en-US" altLang="zh-CN" sz="1800" b="0" i="1" u="none" strike="noStrike" cap="none" normalizeH="0" baseline="-30000">
                  <a:ln>
                    <a:noFill/>
                  </a:ln>
                  <a:solidFill>
                    <a:srgbClr val="0000FF"/>
                  </a:solidFill>
                  <a:effectLst/>
                  <a:latin typeface="Consolas" pitchFamily="49" charset="0"/>
                  <a:ea typeface="仿宋" pitchFamily="49" charset="-122"/>
                  <a:cs typeface="Times New Roman" pitchFamily="18" charset="0"/>
                </a:rPr>
                <a:t>k</a:t>
              </a:r>
              <a:r>
                <a:rPr kumimoji="0" lang="en-US" altLang="zh-CN" sz="18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-1</a:t>
              </a: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en-US" altLang="zh-CN" sz="1800" b="0" i="1" u="none" strike="noStrike" cap="none" normalizeH="0" baseline="0">
                  <a:ln>
                    <a:noFill/>
                  </a:ln>
                  <a:solidFill>
                    <a:srgbClr val="0000FF"/>
                  </a:solidFill>
                  <a:effectLst/>
                  <a:latin typeface="Consolas" pitchFamily="49" charset="0"/>
                  <a:ea typeface="仿宋" pitchFamily="49" charset="-122"/>
                  <a:cs typeface="Times New Roman" pitchFamily="18" charset="0"/>
                </a:rPr>
                <a:t>i</a:t>
              </a: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en-US" altLang="zh-CN" sz="1800" b="0" i="1" u="none" strike="noStrike" cap="none" normalizeH="0" baseline="0">
                  <a:ln>
                    <a:noFill/>
                  </a:ln>
                  <a:solidFill>
                    <a:srgbClr val="0000FF"/>
                  </a:solidFill>
                  <a:effectLst/>
                  <a:latin typeface="Consolas" pitchFamily="49" charset="0"/>
                  <a:ea typeface="仿宋" pitchFamily="49" charset="-122"/>
                  <a:cs typeface="Times New Roman" pitchFamily="18" charset="0"/>
                </a:rPr>
                <a:t>j</a:t>
              </a: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9159" name="AutoShape 7"/>
            <p:cNvSpPr>
              <a:spLocks noChangeShapeType="1"/>
            </p:cNvSpPr>
            <p:nvPr/>
          </p:nvSpPr>
          <p:spPr bwMode="auto">
            <a:xfrm flipV="1">
              <a:off x="2018950" y="2617351"/>
              <a:ext cx="1132316" cy="1377700"/>
            </a:xfrm>
            <a:prstGeom prst="straightConnector1">
              <a:avLst/>
            </a:prstGeom>
            <a:noFill/>
            <a:ln w="19050">
              <a:solidFill>
                <a:srgbClr val="000000"/>
              </a:solidFill>
              <a:prstDash val="dash"/>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49158" name="AutoShape 6"/>
            <p:cNvSpPr>
              <a:spLocks noChangeShapeType="1"/>
            </p:cNvSpPr>
            <p:nvPr/>
          </p:nvSpPr>
          <p:spPr bwMode="auto">
            <a:xfrm>
              <a:off x="2070065" y="4128484"/>
              <a:ext cx="2400198" cy="16679"/>
            </a:xfrm>
            <a:prstGeom prst="straightConnector1">
              <a:avLst/>
            </a:prstGeom>
            <a:noFill/>
            <a:ln w="19050">
              <a:solidFill>
                <a:srgbClr val="000000"/>
              </a:solidFill>
              <a:prstDash val="dash"/>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49157" name="AutoShape 5"/>
            <p:cNvSpPr>
              <a:spLocks noChangeShapeType="1"/>
            </p:cNvSpPr>
            <p:nvPr/>
          </p:nvSpPr>
          <p:spPr bwMode="auto">
            <a:xfrm>
              <a:off x="3395730" y="2617351"/>
              <a:ext cx="1125649" cy="1394379"/>
            </a:xfrm>
            <a:prstGeom prst="straightConnector1">
              <a:avLst/>
            </a:prstGeom>
            <a:noFill/>
            <a:ln w="19050">
              <a:solidFill>
                <a:srgbClr val="000000"/>
              </a:solidFill>
              <a:prstDash val="dash"/>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49156" name="Text Box 4"/>
            <p:cNvSpPr txBox="1">
              <a:spLocks noChangeArrowheads="1"/>
            </p:cNvSpPr>
            <p:nvPr/>
          </p:nvSpPr>
          <p:spPr bwMode="auto">
            <a:xfrm>
              <a:off x="2917913" y="3787117"/>
              <a:ext cx="814512" cy="283546"/>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路径①</a:t>
              </a:r>
              <a:endParaRPr kumimoji="0" 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9155" name="Text Box 3"/>
            <p:cNvSpPr txBox="1">
              <a:spLocks noChangeArrowheads="1"/>
            </p:cNvSpPr>
            <p:nvPr/>
          </p:nvSpPr>
          <p:spPr bwMode="auto">
            <a:xfrm>
              <a:off x="2881243" y="3014315"/>
              <a:ext cx="814512" cy="283546"/>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路径②</a:t>
              </a:r>
              <a:endParaRPr kumimoji="0" 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9154" name="Freeform 2"/>
            <p:cNvSpPr>
              <a:spLocks/>
            </p:cNvSpPr>
            <p:nvPr/>
          </p:nvSpPr>
          <p:spPr bwMode="auto">
            <a:xfrm>
              <a:off x="2651224" y="2798598"/>
              <a:ext cx="1216767" cy="577099"/>
            </a:xfrm>
            <a:custGeom>
              <a:avLst/>
              <a:gdLst/>
              <a:ahLst/>
              <a:cxnLst>
                <a:cxn ang="0">
                  <a:pos x="0" y="519"/>
                </a:cxn>
                <a:cxn ang="0">
                  <a:pos x="312" y="130"/>
                </a:cxn>
                <a:cxn ang="0">
                  <a:pos x="627" y="15"/>
                </a:cxn>
                <a:cxn ang="0">
                  <a:pos x="874" y="218"/>
                </a:cxn>
                <a:cxn ang="0">
                  <a:pos x="1095" y="519"/>
                </a:cxn>
              </a:cxnLst>
              <a:rect l="0" t="0" r="r" b="b"/>
              <a:pathLst>
                <a:path w="1095" h="519">
                  <a:moveTo>
                    <a:pt x="0" y="519"/>
                  </a:moveTo>
                  <a:cubicBezTo>
                    <a:pt x="51" y="454"/>
                    <a:pt x="208" y="214"/>
                    <a:pt x="312" y="130"/>
                  </a:cubicBezTo>
                  <a:cubicBezTo>
                    <a:pt x="416" y="46"/>
                    <a:pt x="533" y="0"/>
                    <a:pt x="627" y="15"/>
                  </a:cubicBezTo>
                  <a:cubicBezTo>
                    <a:pt x="721" y="30"/>
                    <a:pt x="796" y="134"/>
                    <a:pt x="874" y="218"/>
                  </a:cubicBezTo>
                  <a:cubicBezTo>
                    <a:pt x="952" y="302"/>
                    <a:pt x="1049" y="456"/>
                    <a:pt x="1095" y="519"/>
                  </a:cubicBezTo>
                </a:path>
              </a:pathLst>
            </a:custGeom>
            <a:noFill/>
            <a:ln w="19050">
              <a:solidFill>
                <a:srgbClr val="FF00FF"/>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grpSp>
      <p:sp>
        <p:nvSpPr>
          <p:cNvPr id="147" name="TextBox 146"/>
          <p:cNvSpPr txBox="1"/>
          <p:nvPr/>
        </p:nvSpPr>
        <p:spPr>
          <a:xfrm>
            <a:off x="642910" y="4572008"/>
            <a:ext cx="7215238" cy="987551"/>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216000" tIns="108000" bIns="108000" rtlCol="0">
            <a:spAutoFit/>
          </a:bodyPr>
          <a:lstStyle/>
          <a:p>
            <a:pPr algn="l">
              <a:lnSpc>
                <a:spcPct val="100000"/>
              </a:lnSpc>
            </a:pPr>
            <a:r>
              <a:rPr lang="en-US" altLang="zh-CN" sz="2000">
                <a:solidFill>
                  <a:srgbClr val="0000FF"/>
                </a:solidFill>
                <a:latin typeface="Consolas" pitchFamily="49" charset="0"/>
                <a:ea typeface="仿宋" pitchFamily="49" charset="-122"/>
                <a:cs typeface="Consolas" pitchFamily="49" charset="0"/>
              </a:rPr>
              <a:t>B</a:t>
            </a:r>
            <a:r>
              <a:rPr lang="en-US" altLang="zh-CN" sz="2000" baseline="-25000">
                <a:solidFill>
                  <a:srgbClr val="0000FF"/>
                </a:solidFill>
                <a:latin typeface="Consolas" pitchFamily="49" charset="0"/>
                <a:ea typeface="仿宋" pitchFamily="49" charset="-122"/>
                <a:cs typeface="Consolas" pitchFamily="49" charset="0"/>
              </a:rPr>
              <a:t>-1</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i</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j</a:t>
            </a:r>
            <a:r>
              <a:rPr lang="en-US" altLang="zh-CN" sz="2000">
                <a:solidFill>
                  <a:srgbClr val="0000FF"/>
                </a:solidFill>
                <a:latin typeface="Consolas" pitchFamily="49" charset="0"/>
                <a:ea typeface="仿宋" pitchFamily="49" charset="-122"/>
                <a:cs typeface="Consolas" pitchFamily="49" charset="0"/>
              </a:rPr>
              <a:t>]=A[</a:t>
            </a:r>
            <a:r>
              <a:rPr lang="en-US" altLang="zh-CN" sz="2000" i="1">
                <a:solidFill>
                  <a:srgbClr val="0000FF"/>
                </a:solidFill>
                <a:latin typeface="Consolas" pitchFamily="49" charset="0"/>
                <a:ea typeface="仿宋" pitchFamily="49" charset="-122"/>
                <a:cs typeface="Consolas" pitchFamily="49" charset="0"/>
              </a:rPr>
              <a:t>i</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j</a:t>
            </a:r>
            <a:r>
              <a:rPr lang="en-US" altLang="zh-CN" sz="2000">
                <a:solidFill>
                  <a:srgbClr val="0000FF"/>
                </a:solidFill>
                <a:latin typeface="Consolas" pitchFamily="49" charset="0"/>
                <a:ea typeface="仿宋" pitchFamily="49" charset="-122"/>
                <a:cs typeface="Consolas" pitchFamily="49" charset="0"/>
              </a:rPr>
              <a:t>]</a:t>
            </a:r>
            <a:endParaRPr lang="zh-CN" altLang="zh-CN" sz="2000">
              <a:solidFill>
                <a:srgbClr val="0000FF"/>
              </a:solidFill>
              <a:latin typeface="Consolas" pitchFamily="49" charset="0"/>
              <a:ea typeface="仿宋" pitchFamily="49" charset="-122"/>
              <a:cs typeface="Consolas" pitchFamily="49" charset="0"/>
            </a:endParaRPr>
          </a:p>
          <a:p>
            <a:pPr algn="l">
              <a:lnSpc>
                <a:spcPct val="100000"/>
              </a:lnSpc>
            </a:pPr>
            <a:r>
              <a:rPr lang="en-US" altLang="zh-CN" sz="2000">
                <a:solidFill>
                  <a:srgbClr val="0000FF"/>
                </a:solidFill>
                <a:latin typeface="Consolas" pitchFamily="49" charset="0"/>
                <a:ea typeface="仿宋" pitchFamily="49" charset="-122"/>
                <a:cs typeface="Consolas" pitchFamily="49" charset="0"/>
              </a:rPr>
              <a:t>B</a:t>
            </a:r>
            <a:r>
              <a:rPr lang="en-US" altLang="zh-CN" sz="2000" i="1" baseline="-25000">
                <a:solidFill>
                  <a:srgbClr val="0000FF"/>
                </a:solidFill>
                <a:latin typeface="Consolas" pitchFamily="49" charset="0"/>
                <a:ea typeface="仿宋" pitchFamily="49" charset="-122"/>
                <a:cs typeface="Consolas" pitchFamily="49" charset="0"/>
              </a:rPr>
              <a:t>k</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i</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j</a:t>
            </a:r>
            <a:r>
              <a:rPr lang="en-US" altLang="zh-CN" sz="2000">
                <a:solidFill>
                  <a:srgbClr val="0000FF"/>
                </a:solidFill>
                <a:latin typeface="Consolas" pitchFamily="49" charset="0"/>
                <a:ea typeface="仿宋" pitchFamily="49" charset="-122"/>
                <a:cs typeface="Consolas" pitchFamily="49" charset="0"/>
              </a:rPr>
              <a:t>]=</a:t>
            </a:r>
            <a:r>
              <a:rPr lang="en-US" altLang="zh-CN" sz="2000">
                <a:solidFill>
                  <a:srgbClr val="FF0000"/>
                </a:solidFill>
                <a:latin typeface="Consolas" pitchFamily="49" charset="0"/>
                <a:ea typeface="仿宋" pitchFamily="49" charset="-122"/>
                <a:cs typeface="Consolas" pitchFamily="49" charset="0"/>
              </a:rPr>
              <a:t>min</a:t>
            </a:r>
            <a:r>
              <a:rPr lang="en-US" altLang="zh-CN" sz="2000" baseline="-25000">
                <a:solidFill>
                  <a:srgbClr val="0000FF"/>
                </a:solidFill>
                <a:latin typeface="Consolas" pitchFamily="49" charset="0"/>
                <a:ea typeface="仿宋" pitchFamily="49" charset="-122"/>
                <a:cs typeface="Consolas" pitchFamily="49" charset="0"/>
              </a:rPr>
              <a:t>0</a:t>
            </a:r>
            <a:r>
              <a:rPr lang="zh-CN" altLang="zh-CN" sz="2000" baseline="-25000">
                <a:solidFill>
                  <a:srgbClr val="0000FF"/>
                </a:solidFill>
                <a:latin typeface="+mn-ea"/>
                <a:cs typeface="Consolas" pitchFamily="49" charset="0"/>
              </a:rPr>
              <a:t>≤</a:t>
            </a:r>
            <a:r>
              <a:rPr lang="en-US" altLang="zh-CN" sz="2000" i="1" baseline="-25000">
                <a:solidFill>
                  <a:srgbClr val="0000FF"/>
                </a:solidFill>
                <a:latin typeface="Consolas" pitchFamily="49" charset="0"/>
                <a:ea typeface="仿宋" pitchFamily="49" charset="-122"/>
                <a:cs typeface="Consolas" pitchFamily="49" charset="0"/>
              </a:rPr>
              <a:t>k</a:t>
            </a:r>
            <a:r>
              <a:rPr lang="zh-CN" altLang="zh-CN" sz="2000" baseline="-25000">
                <a:solidFill>
                  <a:srgbClr val="0000FF"/>
                </a:solidFill>
                <a:latin typeface="+mj-ea"/>
                <a:ea typeface="+mj-ea"/>
                <a:cs typeface="Consolas" pitchFamily="49" charset="0"/>
              </a:rPr>
              <a:t>≤</a:t>
            </a:r>
            <a:r>
              <a:rPr lang="en-US" altLang="zh-CN" sz="2000" i="1" baseline="-25000">
                <a:solidFill>
                  <a:srgbClr val="0000FF"/>
                </a:solidFill>
                <a:latin typeface="Consolas" pitchFamily="49" charset="0"/>
                <a:ea typeface="仿宋" pitchFamily="49" charset="-122"/>
                <a:cs typeface="Consolas" pitchFamily="49" charset="0"/>
              </a:rPr>
              <a:t>n</a:t>
            </a:r>
            <a:r>
              <a:rPr lang="en-US" altLang="zh-CN" sz="2000" baseline="-25000">
                <a:solidFill>
                  <a:srgbClr val="0000FF"/>
                </a:solidFill>
                <a:latin typeface="Consolas" pitchFamily="49" charset="0"/>
                <a:ea typeface="仿宋" pitchFamily="49" charset="-122"/>
                <a:cs typeface="Consolas" pitchFamily="49" charset="0"/>
              </a:rPr>
              <a:t>-1</a:t>
            </a:r>
            <a:r>
              <a:rPr lang="en-US" altLang="zh-CN" sz="2000">
                <a:solidFill>
                  <a:srgbClr val="0000FF"/>
                </a:solidFill>
                <a:latin typeface="Consolas" pitchFamily="49" charset="0"/>
                <a:ea typeface="仿宋" pitchFamily="49" charset="-122"/>
                <a:cs typeface="Consolas" pitchFamily="49" charset="0"/>
              </a:rPr>
              <a:t>{B</a:t>
            </a:r>
            <a:r>
              <a:rPr lang="en-US" altLang="zh-CN" sz="2000" i="1" baseline="-25000">
                <a:solidFill>
                  <a:srgbClr val="0000FF"/>
                </a:solidFill>
                <a:latin typeface="Consolas" pitchFamily="49" charset="0"/>
                <a:ea typeface="仿宋" pitchFamily="49" charset="-122"/>
                <a:cs typeface="Consolas" pitchFamily="49" charset="0"/>
              </a:rPr>
              <a:t>k</a:t>
            </a:r>
            <a:r>
              <a:rPr lang="en-US" altLang="zh-CN" sz="2000" baseline="-25000">
                <a:solidFill>
                  <a:srgbClr val="0000FF"/>
                </a:solidFill>
                <a:latin typeface="Consolas" pitchFamily="49" charset="0"/>
                <a:ea typeface="仿宋" pitchFamily="49" charset="-122"/>
                <a:cs typeface="Consolas" pitchFamily="49" charset="0"/>
              </a:rPr>
              <a:t>-1</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i</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j</a:t>
            </a:r>
            <a:r>
              <a:rPr lang="en-US" altLang="zh-CN" sz="2000">
                <a:solidFill>
                  <a:srgbClr val="0000FF"/>
                </a:solidFill>
                <a:latin typeface="Consolas" pitchFamily="49" charset="0"/>
                <a:ea typeface="仿宋" pitchFamily="49" charset="-122"/>
                <a:cs typeface="Consolas" pitchFamily="49" charset="0"/>
              </a:rPr>
              <a:t>]</a:t>
            </a:r>
            <a:r>
              <a:rPr lang="zh-CN" altLang="zh-CN" sz="2000">
                <a:solidFill>
                  <a:srgbClr val="0000FF"/>
                </a:solidFill>
                <a:latin typeface="Consolas" pitchFamily="49" charset="0"/>
                <a:ea typeface="仿宋" pitchFamily="49" charset="-122"/>
                <a:cs typeface="Consolas" pitchFamily="49" charset="0"/>
              </a:rPr>
              <a:t>，</a:t>
            </a:r>
            <a:r>
              <a:rPr lang="en-US" altLang="zh-CN" sz="2000">
                <a:solidFill>
                  <a:srgbClr val="0000FF"/>
                </a:solidFill>
                <a:latin typeface="Consolas" pitchFamily="49" charset="0"/>
                <a:ea typeface="仿宋" pitchFamily="49" charset="-122"/>
                <a:cs typeface="Consolas" pitchFamily="49" charset="0"/>
              </a:rPr>
              <a:t>B</a:t>
            </a:r>
            <a:r>
              <a:rPr lang="en-US" altLang="zh-CN" sz="2000" i="1" baseline="-25000">
                <a:solidFill>
                  <a:srgbClr val="0000FF"/>
                </a:solidFill>
                <a:latin typeface="Consolas" pitchFamily="49" charset="0"/>
                <a:ea typeface="仿宋" pitchFamily="49" charset="-122"/>
                <a:cs typeface="Consolas" pitchFamily="49" charset="0"/>
              </a:rPr>
              <a:t>k</a:t>
            </a:r>
            <a:r>
              <a:rPr lang="en-US" altLang="zh-CN" sz="2000" baseline="-25000">
                <a:solidFill>
                  <a:srgbClr val="0000FF"/>
                </a:solidFill>
                <a:latin typeface="Consolas" pitchFamily="49" charset="0"/>
                <a:ea typeface="仿宋" pitchFamily="49" charset="-122"/>
                <a:cs typeface="Consolas" pitchFamily="49" charset="0"/>
              </a:rPr>
              <a:t>-1</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i</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k</a:t>
            </a:r>
            <a:r>
              <a:rPr lang="en-US" altLang="zh-CN" sz="2000">
                <a:solidFill>
                  <a:srgbClr val="0000FF"/>
                </a:solidFill>
                <a:latin typeface="Consolas" pitchFamily="49" charset="0"/>
                <a:ea typeface="仿宋" pitchFamily="49" charset="-122"/>
                <a:cs typeface="Consolas" pitchFamily="49" charset="0"/>
              </a:rPr>
              <a:t>]+B</a:t>
            </a:r>
            <a:r>
              <a:rPr lang="en-US" altLang="zh-CN" sz="2000" i="1" baseline="-25000">
                <a:solidFill>
                  <a:srgbClr val="0000FF"/>
                </a:solidFill>
                <a:latin typeface="Consolas" pitchFamily="49" charset="0"/>
                <a:ea typeface="仿宋" pitchFamily="49" charset="-122"/>
                <a:cs typeface="Consolas" pitchFamily="49" charset="0"/>
              </a:rPr>
              <a:t>k</a:t>
            </a:r>
            <a:r>
              <a:rPr lang="en-US" altLang="zh-CN" sz="2000" baseline="-25000">
                <a:solidFill>
                  <a:srgbClr val="0000FF"/>
                </a:solidFill>
                <a:latin typeface="Consolas" pitchFamily="49" charset="0"/>
                <a:ea typeface="仿宋" pitchFamily="49" charset="-122"/>
                <a:cs typeface="Consolas" pitchFamily="49" charset="0"/>
              </a:rPr>
              <a:t>-1</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k</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j</a:t>
            </a:r>
            <a:r>
              <a:rPr lang="en-US" altLang="zh-CN" sz="2000">
                <a:solidFill>
                  <a:srgbClr val="0000FF"/>
                </a:solidFill>
                <a:latin typeface="Consolas" pitchFamily="49" charset="0"/>
                <a:ea typeface="仿宋" pitchFamily="49" charset="-122"/>
                <a:cs typeface="Consolas" pitchFamily="49" charset="0"/>
              </a:rPr>
              <a:t>]}</a:t>
            </a:r>
            <a:endParaRPr lang="zh-CN" altLang="zh-CN" sz="2000">
              <a:solidFill>
                <a:srgbClr val="0000FF"/>
              </a:solidFill>
              <a:latin typeface="Consolas" pitchFamily="49" charset="0"/>
              <a:ea typeface="仿宋" pitchFamily="49" charset="-122"/>
              <a:cs typeface="Consolas" pitchFamily="49" charset="0"/>
            </a:endParaRPr>
          </a:p>
        </p:txBody>
      </p:sp>
      <p:sp>
        <p:nvSpPr>
          <p:cNvPr id="148" name="下箭头 147"/>
          <p:cNvSpPr/>
          <p:nvPr/>
        </p:nvSpPr>
        <p:spPr>
          <a:xfrm>
            <a:off x="3071802" y="3929066"/>
            <a:ext cx="357190" cy="571504"/>
          </a:xfrm>
          <a:prstGeom prst="down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22" name="TextBox 21"/>
          <p:cNvSpPr txBox="1"/>
          <p:nvPr/>
        </p:nvSpPr>
        <p:spPr>
          <a:xfrm>
            <a:off x="3428992" y="4000504"/>
            <a:ext cx="1928826" cy="400110"/>
          </a:xfrm>
          <a:prstGeom prst="rect">
            <a:avLst/>
          </a:prstGeom>
          <a:noFill/>
        </p:spPr>
        <p:txBody>
          <a:bodyPr wrap="square" rtlCol="0">
            <a:spAutoFit/>
          </a:bodyPr>
          <a:lstStyle/>
          <a:p>
            <a:pPr algn="l">
              <a:lnSpc>
                <a:spcPct val="100000"/>
              </a:lnSpc>
              <a:spcBef>
                <a:spcPts val="0"/>
              </a:spcBef>
            </a:pPr>
            <a:r>
              <a:rPr lang="zh-CN" altLang="en-US" sz="2000">
                <a:solidFill>
                  <a:srgbClr val="0000FF"/>
                </a:solidFill>
                <a:latin typeface="Consolas" pitchFamily="49" charset="0"/>
                <a:ea typeface="楷体" pitchFamily="49" charset="-122"/>
                <a:cs typeface="Consolas" pitchFamily="49" charset="0"/>
              </a:rPr>
              <a:t>动态规划方程</a:t>
            </a:r>
          </a:p>
        </p:txBody>
      </p:sp>
      <p:sp>
        <p:nvSpPr>
          <p:cNvPr id="23" name="灯片编号占位符 22"/>
          <p:cNvSpPr>
            <a:spLocks noGrp="1"/>
          </p:cNvSpPr>
          <p:nvPr>
            <p:ph type="sldNum" sz="quarter" idx="12"/>
          </p:nvPr>
        </p:nvSpPr>
        <p:spPr/>
        <p:txBody>
          <a:bodyPr/>
          <a:lstStyle/>
          <a:p>
            <a:fld id="{7AF016A1-9F15-429F-9EFD-84004B73C732}" type="slidenum">
              <a:rPr lang="en-US" altLang="zh-CN" smtClean="0"/>
              <a:pPr/>
              <a:t>78</a:t>
            </a:fld>
            <a:r>
              <a:rPr lang="en-US" altLang="zh-CN"/>
              <a:t>/158</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173" name="Rectangle 9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8241" name="Rectangle 4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09" name="TextBox 108"/>
          <p:cNvSpPr txBox="1"/>
          <p:nvPr/>
        </p:nvSpPr>
        <p:spPr>
          <a:xfrm>
            <a:off x="285720" y="1643050"/>
            <a:ext cx="8643998" cy="4744486"/>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00">
              <a:lnSpc>
                <a:spcPts val="2400"/>
              </a:lnSpc>
              <a:spcBef>
                <a:spcPts val="0"/>
              </a:spcBef>
            </a:pPr>
            <a:r>
              <a:rPr lang="en-US" altLang="zh-CN" sz="2000" b="0">
                <a:solidFill>
                  <a:srgbClr val="0000FF"/>
                </a:solidFill>
                <a:latin typeface="Consolas" pitchFamily="49" charset="0"/>
                <a:ea typeface="仿宋" pitchFamily="49" charset="-122"/>
                <a:cs typeface="Consolas" pitchFamily="49" charset="0"/>
              </a:rPr>
              <a:t>void </a:t>
            </a:r>
            <a:r>
              <a:rPr lang="en-US" altLang="zh-CN" sz="2000">
                <a:solidFill>
                  <a:srgbClr val="FF0000"/>
                </a:solidFill>
                <a:latin typeface="Consolas" pitchFamily="49" charset="0"/>
                <a:ea typeface="仿宋" pitchFamily="49" charset="-122"/>
                <a:cs typeface="Consolas" pitchFamily="49" charset="0"/>
              </a:rPr>
              <a:t>Floyd1</a:t>
            </a:r>
            <a:r>
              <a:rPr lang="en-US" altLang="zh-CN" sz="2000" b="0">
                <a:solidFill>
                  <a:srgbClr val="0000FF"/>
                </a:solidFill>
                <a:latin typeface="Consolas" pitchFamily="49" charset="0"/>
                <a:ea typeface="仿宋" pitchFamily="49" charset="-122"/>
                <a:cs typeface="Consolas" pitchFamily="49" charset="0"/>
              </a:rPr>
              <a:t>(int A[][])	{						</a:t>
            </a:r>
            <a:r>
              <a:rPr lang="en-US" altLang="zh-CN" sz="2000" b="0">
                <a:solidFill>
                  <a:srgbClr val="C00000"/>
                </a:solidFill>
                <a:latin typeface="Consolas" pitchFamily="49" charset="0"/>
                <a:ea typeface="仿宋" pitchFamily="49" charset="-122"/>
                <a:cs typeface="Consolas" pitchFamily="49" charset="0"/>
              </a:rPr>
              <a:t>//Floyd</a:t>
            </a:r>
            <a:r>
              <a:rPr lang="zh-CN" altLang="zh-CN" sz="2000" b="0">
                <a:solidFill>
                  <a:srgbClr val="C00000"/>
                </a:solidFill>
                <a:latin typeface="Consolas" pitchFamily="49" charset="0"/>
                <a:ea typeface="仿宋" pitchFamily="49" charset="-122"/>
                <a:cs typeface="Consolas" pitchFamily="49" charset="0"/>
              </a:rPr>
              <a:t>算法</a:t>
            </a:r>
          </a:p>
          <a:p>
            <a:pPr algn="l" defTabSz="360000">
              <a:lnSpc>
                <a:spcPts val="2400"/>
              </a:lnSpc>
              <a:spcBef>
                <a:spcPts val="0"/>
              </a:spcBef>
            </a:pPr>
            <a:r>
              <a:rPr lang="en-US" altLang="zh-CN" sz="2000" b="0">
                <a:solidFill>
                  <a:srgbClr val="0000FF"/>
                </a:solidFill>
                <a:latin typeface="Consolas" pitchFamily="49" charset="0"/>
                <a:ea typeface="仿宋" pitchFamily="49" charset="-122"/>
                <a:cs typeface="Consolas" pitchFamily="49" charset="0"/>
              </a:rPr>
              <a:t>	int n=A.length;</a:t>
            </a:r>
            <a:endParaRPr lang="zh-CN" altLang="zh-CN" sz="2000" b="0">
              <a:solidFill>
                <a:srgbClr val="0000FF"/>
              </a:solidFill>
              <a:latin typeface="Consolas" pitchFamily="49" charset="0"/>
              <a:ea typeface="仿宋" pitchFamily="49" charset="-122"/>
              <a:cs typeface="Consolas" pitchFamily="49" charset="0"/>
            </a:endParaRPr>
          </a:p>
          <a:p>
            <a:pPr algn="l" defTabSz="360000">
              <a:lnSpc>
                <a:spcPts val="2400"/>
              </a:lnSpc>
              <a:spcBef>
                <a:spcPts val="0"/>
              </a:spcBef>
            </a:pPr>
            <a:r>
              <a:rPr lang="en-US" altLang="zh-CN" sz="2000" b="0">
                <a:solidFill>
                  <a:srgbClr val="0000FF"/>
                </a:solidFill>
                <a:latin typeface="Consolas" pitchFamily="49" charset="0"/>
                <a:ea typeface="仿宋" pitchFamily="49" charset="-122"/>
                <a:cs typeface="Consolas" pitchFamily="49" charset="0"/>
              </a:rPr>
              <a:t>  	int dp[][][]=new int[n][n][n];			</a:t>
            </a:r>
            <a:r>
              <a:rPr lang="en-US" altLang="zh-CN" sz="2000" b="0">
                <a:solidFill>
                  <a:srgbClr val="00B0F0"/>
                </a:solidFill>
                <a:latin typeface="Consolas" pitchFamily="49" charset="0"/>
                <a:ea typeface="仿宋" pitchFamily="49" charset="-122"/>
                <a:cs typeface="Consolas" pitchFamily="49" charset="0"/>
              </a:rPr>
              <a:t>//</a:t>
            </a:r>
            <a:r>
              <a:rPr lang="zh-CN" altLang="zh-CN" sz="2000" b="0">
                <a:solidFill>
                  <a:srgbClr val="00B0F0"/>
                </a:solidFill>
                <a:latin typeface="Consolas" pitchFamily="49" charset="0"/>
                <a:ea typeface="仿宋" pitchFamily="49" charset="-122"/>
                <a:cs typeface="Consolas" pitchFamily="49" charset="0"/>
              </a:rPr>
              <a:t>三维动态规划数组</a:t>
            </a:r>
          </a:p>
          <a:p>
            <a:pPr algn="l" defTabSz="360000">
              <a:lnSpc>
                <a:spcPts val="2400"/>
              </a:lnSpc>
              <a:spcBef>
                <a:spcPts val="0"/>
              </a:spcBef>
            </a:pPr>
            <a:r>
              <a:rPr lang="en-US" altLang="zh-CN" sz="2000" b="0">
                <a:solidFill>
                  <a:srgbClr val="0000FF"/>
                </a:solidFill>
                <a:latin typeface="Consolas" pitchFamily="49" charset="0"/>
                <a:ea typeface="仿宋" pitchFamily="49" charset="-122"/>
                <a:cs typeface="Consolas" pitchFamily="49" charset="0"/>
              </a:rPr>
              <a:t>  	for(int i=0;i&lt;n;i++) {						</a:t>
            </a:r>
            <a:r>
              <a:rPr lang="en-US" altLang="zh-CN" sz="2000" b="0">
                <a:solidFill>
                  <a:srgbClr val="00B0F0"/>
                </a:solidFill>
                <a:latin typeface="Consolas" pitchFamily="49" charset="0"/>
                <a:ea typeface="仿宋" pitchFamily="49" charset="-122"/>
                <a:cs typeface="Consolas" pitchFamily="49" charset="0"/>
              </a:rPr>
              <a:t>//</a:t>
            </a:r>
            <a:r>
              <a:rPr lang="zh-CN" altLang="zh-CN" sz="2000" b="0">
                <a:solidFill>
                  <a:srgbClr val="00B0F0"/>
                </a:solidFill>
                <a:latin typeface="Consolas" pitchFamily="49" charset="0"/>
                <a:ea typeface="仿宋" pitchFamily="49" charset="-122"/>
                <a:cs typeface="Consolas" pitchFamily="49" charset="0"/>
              </a:rPr>
              <a:t>求</a:t>
            </a:r>
            <a:r>
              <a:rPr lang="en-US" altLang="zh-CN" sz="2000" b="0">
                <a:solidFill>
                  <a:srgbClr val="00B0F0"/>
                </a:solidFill>
                <a:latin typeface="Consolas" pitchFamily="49" charset="0"/>
                <a:ea typeface="仿宋" pitchFamily="49" charset="-122"/>
                <a:cs typeface="Consolas" pitchFamily="49" charset="0"/>
              </a:rPr>
              <a:t>B(-1)</a:t>
            </a:r>
            <a:endParaRPr lang="zh-CN" altLang="zh-CN" sz="2000" b="0">
              <a:solidFill>
                <a:srgbClr val="00B0F0"/>
              </a:solidFill>
              <a:latin typeface="Consolas" pitchFamily="49" charset="0"/>
              <a:ea typeface="仿宋" pitchFamily="49" charset="-122"/>
              <a:cs typeface="Consolas" pitchFamily="49" charset="0"/>
            </a:endParaRPr>
          </a:p>
          <a:p>
            <a:pPr algn="l" defTabSz="360000">
              <a:lnSpc>
                <a:spcPts val="2400"/>
              </a:lnSpc>
              <a:spcBef>
                <a:spcPts val="0"/>
              </a:spcBef>
            </a:pPr>
            <a:r>
              <a:rPr lang="en-US" altLang="zh-CN" sz="2000" b="0">
                <a:solidFill>
                  <a:srgbClr val="0000FF"/>
                </a:solidFill>
                <a:latin typeface="Consolas" pitchFamily="49" charset="0"/>
                <a:ea typeface="仿宋" pitchFamily="49" charset="-122"/>
                <a:cs typeface="Consolas" pitchFamily="49" charset="0"/>
              </a:rPr>
              <a:t>   	for(int j=0;j&lt;n;j++) </a:t>
            </a:r>
            <a:endParaRPr lang="zh-CN" altLang="zh-CN" sz="2000" b="0">
              <a:solidFill>
                <a:srgbClr val="0000FF"/>
              </a:solidFill>
              <a:latin typeface="Consolas" pitchFamily="49" charset="0"/>
              <a:ea typeface="仿宋" pitchFamily="49" charset="-122"/>
              <a:cs typeface="Consolas" pitchFamily="49" charset="0"/>
            </a:endParaRPr>
          </a:p>
          <a:p>
            <a:pPr algn="l" defTabSz="360000">
              <a:lnSpc>
                <a:spcPts val="2400"/>
              </a:lnSpc>
              <a:spcBef>
                <a:spcPts val="0"/>
              </a:spcBef>
            </a:pPr>
            <a:r>
              <a:rPr lang="en-US" altLang="zh-CN" sz="2000" b="0">
                <a:solidFill>
                  <a:srgbClr val="0000FF"/>
                </a:solidFill>
                <a:latin typeface="Consolas" pitchFamily="49" charset="0"/>
                <a:ea typeface="仿宋" pitchFamily="49" charset="-122"/>
                <a:cs typeface="Consolas" pitchFamily="49" charset="0"/>
              </a:rPr>
              <a:t>      	dp[0][i][j]=A[i][j];</a:t>
            </a:r>
            <a:endParaRPr lang="zh-CN" altLang="zh-CN" sz="2000" b="0">
              <a:solidFill>
                <a:srgbClr val="0000FF"/>
              </a:solidFill>
              <a:latin typeface="Consolas" pitchFamily="49" charset="0"/>
              <a:ea typeface="仿宋" pitchFamily="49" charset="-122"/>
              <a:cs typeface="Consolas" pitchFamily="49" charset="0"/>
            </a:endParaRPr>
          </a:p>
          <a:p>
            <a:pPr algn="l" defTabSz="360000">
              <a:lnSpc>
                <a:spcPts val="2400"/>
              </a:lnSpc>
              <a:spcBef>
                <a:spcPts val="0"/>
              </a:spcBef>
            </a:pPr>
            <a:r>
              <a:rPr lang="en-US" altLang="zh-CN" sz="2000" b="0">
                <a:solidFill>
                  <a:srgbClr val="0000FF"/>
                </a:solidFill>
                <a:latin typeface="Consolas" pitchFamily="49" charset="0"/>
                <a:ea typeface="仿宋" pitchFamily="49" charset="-122"/>
                <a:cs typeface="Consolas" pitchFamily="49" charset="0"/>
              </a:rPr>
              <a:t>  	}</a:t>
            </a:r>
            <a:endParaRPr lang="zh-CN" altLang="zh-CN" sz="2000" b="0">
              <a:solidFill>
                <a:srgbClr val="0000FF"/>
              </a:solidFill>
              <a:latin typeface="Consolas" pitchFamily="49" charset="0"/>
              <a:ea typeface="仿宋" pitchFamily="49" charset="-122"/>
              <a:cs typeface="Consolas" pitchFamily="49" charset="0"/>
            </a:endParaRPr>
          </a:p>
          <a:p>
            <a:pPr algn="l" defTabSz="360000">
              <a:lnSpc>
                <a:spcPts val="2400"/>
              </a:lnSpc>
              <a:spcBef>
                <a:spcPts val="0"/>
              </a:spcBef>
            </a:pPr>
            <a:r>
              <a:rPr lang="en-US" altLang="zh-CN" sz="2000" b="0">
                <a:solidFill>
                  <a:srgbClr val="0000FF"/>
                </a:solidFill>
                <a:latin typeface="Consolas" pitchFamily="49" charset="0"/>
                <a:ea typeface="仿宋" pitchFamily="49" charset="-122"/>
                <a:cs typeface="Consolas" pitchFamily="49" charset="0"/>
              </a:rPr>
              <a:t>  	for (int k=1;k&lt;=n;k++) {					</a:t>
            </a:r>
            <a:r>
              <a:rPr lang="en-US" altLang="zh-CN" sz="2000" b="0">
                <a:solidFill>
                  <a:srgbClr val="00B0F0"/>
                </a:solidFill>
                <a:latin typeface="Consolas" pitchFamily="49" charset="0"/>
                <a:ea typeface="仿宋" pitchFamily="49" charset="-122"/>
                <a:cs typeface="Consolas" pitchFamily="49" charset="0"/>
              </a:rPr>
              <a:t>//</a:t>
            </a:r>
            <a:r>
              <a:rPr lang="zh-CN" altLang="zh-CN" sz="2000" b="0">
                <a:solidFill>
                  <a:srgbClr val="00B0F0"/>
                </a:solidFill>
                <a:latin typeface="Consolas" pitchFamily="49" charset="0"/>
                <a:ea typeface="仿宋" pitchFamily="49" charset="-122"/>
                <a:cs typeface="Consolas" pitchFamily="49" charset="0"/>
              </a:rPr>
              <a:t>依次求</a:t>
            </a:r>
            <a:r>
              <a:rPr lang="en-US" altLang="zh-CN" sz="2000" b="0">
                <a:solidFill>
                  <a:srgbClr val="00B0F0"/>
                </a:solidFill>
                <a:latin typeface="Consolas" pitchFamily="49" charset="0"/>
                <a:ea typeface="仿宋" pitchFamily="49" charset="-122"/>
                <a:cs typeface="Consolas" pitchFamily="49" charset="0"/>
              </a:rPr>
              <a:t>B(0)</a:t>
            </a:r>
            <a:r>
              <a:rPr lang="zh-CN" altLang="zh-CN" sz="2000" b="0">
                <a:solidFill>
                  <a:srgbClr val="00B0F0"/>
                </a:solidFill>
                <a:latin typeface="Consolas" pitchFamily="49" charset="0"/>
                <a:ea typeface="仿宋" pitchFamily="49" charset="-122"/>
                <a:cs typeface="Consolas" pitchFamily="49" charset="0"/>
              </a:rPr>
              <a:t>到</a:t>
            </a:r>
            <a:r>
              <a:rPr lang="en-US" altLang="zh-CN" sz="2000" b="0">
                <a:solidFill>
                  <a:srgbClr val="00B0F0"/>
                </a:solidFill>
                <a:latin typeface="Consolas" pitchFamily="49" charset="0"/>
                <a:ea typeface="仿宋" pitchFamily="49" charset="-122"/>
                <a:cs typeface="Consolas" pitchFamily="49" charset="0"/>
              </a:rPr>
              <a:t>B(n-1)</a:t>
            </a:r>
            <a:endParaRPr lang="zh-CN" altLang="zh-CN" sz="2000" b="0">
              <a:solidFill>
                <a:srgbClr val="00B0F0"/>
              </a:solidFill>
              <a:latin typeface="Consolas" pitchFamily="49" charset="0"/>
              <a:ea typeface="仿宋" pitchFamily="49" charset="-122"/>
              <a:cs typeface="Consolas" pitchFamily="49" charset="0"/>
            </a:endParaRPr>
          </a:p>
          <a:p>
            <a:pPr algn="l" defTabSz="360000">
              <a:lnSpc>
                <a:spcPts val="2400"/>
              </a:lnSpc>
              <a:spcBef>
                <a:spcPts val="0"/>
              </a:spcBef>
            </a:pPr>
            <a:r>
              <a:rPr lang="en-US" altLang="zh-CN" sz="2000" b="0">
                <a:solidFill>
                  <a:srgbClr val="0000FF"/>
                </a:solidFill>
                <a:latin typeface="Consolas" pitchFamily="49" charset="0"/>
                <a:ea typeface="仿宋" pitchFamily="49" charset="-122"/>
                <a:cs typeface="Consolas" pitchFamily="49" charset="0"/>
              </a:rPr>
              <a:t>  		for (int i=0;i&lt;n;i++) {</a:t>
            </a:r>
            <a:endParaRPr lang="zh-CN" altLang="zh-CN" sz="2000" b="0">
              <a:solidFill>
                <a:srgbClr val="0000FF"/>
              </a:solidFill>
              <a:latin typeface="Consolas" pitchFamily="49" charset="0"/>
              <a:ea typeface="仿宋" pitchFamily="49" charset="-122"/>
              <a:cs typeface="Consolas" pitchFamily="49" charset="0"/>
            </a:endParaRPr>
          </a:p>
          <a:p>
            <a:pPr algn="l" defTabSz="360000">
              <a:lnSpc>
                <a:spcPts val="2400"/>
              </a:lnSpc>
              <a:spcBef>
                <a:spcPts val="0"/>
              </a:spcBef>
            </a:pPr>
            <a:r>
              <a:rPr lang="en-US" altLang="zh-CN" sz="2000" b="0">
                <a:solidFill>
                  <a:srgbClr val="0000FF"/>
                </a:solidFill>
                <a:latin typeface="Consolas" pitchFamily="49" charset="0"/>
                <a:ea typeface="仿宋" pitchFamily="49" charset="-122"/>
                <a:cs typeface="Consolas" pitchFamily="49" charset="0"/>
              </a:rPr>
              <a:t>     	  for (int j=0;j&lt;n;j++)</a:t>
            </a:r>
            <a:endParaRPr lang="zh-CN" altLang="zh-CN" sz="2000" b="0">
              <a:solidFill>
                <a:srgbClr val="0000FF"/>
              </a:solidFill>
              <a:latin typeface="Consolas" pitchFamily="49" charset="0"/>
              <a:ea typeface="仿宋" pitchFamily="49" charset="-122"/>
              <a:cs typeface="Consolas" pitchFamily="49" charset="0"/>
            </a:endParaRPr>
          </a:p>
          <a:p>
            <a:pPr algn="l" defTabSz="360000">
              <a:lnSpc>
                <a:spcPts val="2400"/>
              </a:lnSpc>
              <a:spcBef>
                <a:spcPts val="0"/>
              </a:spcBef>
            </a:pPr>
            <a:r>
              <a:rPr lang="en-US" altLang="zh-CN" sz="2000" b="0">
                <a:solidFill>
                  <a:srgbClr val="0000FF"/>
                </a:solidFill>
                <a:latin typeface="Consolas" pitchFamily="49" charset="0"/>
                <a:ea typeface="仿宋" pitchFamily="49" charset="-122"/>
                <a:cs typeface="Consolas" pitchFamily="49" charset="0"/>
              </a:rPr>
              <a:t>       	  dp[k][i][j]=Math.min(dp[k-1][i][j],dp[k-1][i][k-1]</a:t>
            </a:r>
          </a:p>
          <a:p>
            <a:pPr algn="l" defTabSz="360000">
              <a:lnSpc>
                <a:spcPts val="2400"/>
              </a:lnSpc>
              <a:spcBef>
                <a:spcPts val="0"/>
              </a:spcBef>
            </a:pPr>
            <a:r>
              <a:rPr lang="en-US" altLang="zh-CN" sz="2000" b="0">
                <a:solidFill>
                  <a:srgbClr val="0000FF"/>
                </a:solidFill>
                <a:latin typeface="Consolas" pitchFamily="49" charset="0"/>
                <a:ea typeface="仿宋" pitchFamily="49" charset="-122"/>
                <a:cs typeface="Consolas" pitchFamily="49" charset="0"/>
              </a:rPr>
              <a:t>										+dp[k-1][k-1][j]);</a:t>
            </a:r>
            <a:endParaRPr lang="zh-CN" altLang="zh-CN" sz="2000" b="0">
              <a:solidFill>
                <a:srgbClr val="0000FF"/>
              </a:solidFill>
              <a:latin typeface="Consolas" pitchFamily="49" charset="0"/>
              <a:ea typeface="仿宋" pitchFamily="49" charset="-122"/>
              <a:cs typeface="Consolas" pitchFamily="49" charset="0"/>
            </a:endParaRPr>
          </a:p>
          <a:p>
            <a:pPr algn="l" defTabSz="360000">
              <a:lnSpc>
                <a:spcPts val="2400"/>
              </a:lnSpc>
              <a:spcBef>
                <a:spcPts val="0"/>
              </a:spcBef>
            </a:pPr>
            <a:r>
              <a:rPr lang="en-US" altLang="zh-CN" sz="2000" b="0">
                <a:solidFill>
                  <a:srgbClr val="0000FF"/>
                </a:solidFill>
                <a:latin typeface="Consolas" pitchFamily="49" charset="0"/>
                <a:ea typeface="仿宋" pitchFamily="49" charset="-122"/>
                <a:cs typeface="Consolas" pitchFamily="49" charset="0"/>
              </a:rPr>
              <a:t>     }</a:t>
            </a:r>
            <a:endParaRPr lang="zh-CN" altLang="zh-CN" sz="2000" b="0">
              <a:solidFill>
                <a:srgbClr val="0000FF"/>
              </a:solidFill>
              <a:latin typeface="Consolas" pitchFamily="49" charset="0"/>
              <a:ea typeface="仿宋" pitchFamily="49" charset="-122"/>
              <a:cs typeface="Consolas" pitchFamily="49" charset="0"/>
            </a:endParaRPr>
          </a:p>
          <a:p>
            <a:pPr algn="l" defTabSz="360000">
              <a:lnSpc>
                <a:spcPts val="2400"/>
              </a:lnSpc>
              <a:spcBef>
                <a:spcPts val="0"/>
              </a:spcBef>
            </a:pPr>
            <a:r>
              <a:rPr lang="en-US" altLang="zh-CN" sz="2000" b="0">
                <a:solidFill>
                  <a:srgbClr val="0000FF"/>
                </a:solidFill>
                <a:latin typeface="Consolas" pitchFamily="49" charset="0"/>
                <a:ea typeface="仿宋" pitchFamily="49" charset="-122"/>
                <a:cs typeface="Consolas" pitchFamily="49" charset="0"/>
              </a:rPr>
              <a:t> 	}</a:t>
            </a:r>
            <a:endParaRPr lang="zh-CN" altLang="zh-CN" sz="2000" b="0">
              <a:solidFill>
                <a:srgbClr val="0000FF"/>
              </a:solidFill>
              <a:latin typeface="Consolas" pitchFamily="49" charset="0"/>
              <a:ea typeface="仿宋" pitchFamily="49" charset="-122"/>
              <a:cs typeface="Consolas" pitchFamily="49" charset="0"/>
            </a:endParaRPr>
          </a:p>
          <a:p>
            <a:pPr algn="l" defTabSz="360000">
              <a:lnSpc>
                <a:spcPts val="2400"/>
              </a:lnSpc>
              <a:spcBef>
                <a:spcPts val="0"/>
              </a:spcBef>
            </a:pPr>
            <a:r>
              <a:rPr lang="en-US" altLang="zh-CN" sz="2000" b="0">
                <a:solidFill>
                  <a:srgbClr val="0000FF"/>
                </a:solidFill>
                <a:latin typeface="Consolas" pitchFamily="49" charset="0"/>
                <a:ea typeface="仿宋" pitchFamily="49" charset="-122"/>
                <a:cs typeface="Consolas" pitchFamily="49" charset="0"/>
              </a:rPr>
              <a:t>}</a:t>
            </a:r>
            <a:endParaRPr lang="zh-CN" altLang="zh-CN" sz="2000" b="0">
              <a:solidFill>
                <a:srgbClr val="0000FF"/>
              </a:solidFill>
              <a:latin typeface="Consolas" pitchFamily="49" charset="0"/>
              <a:ea typeface="仿宋" pitchFamily="49" charset="-122"/>
              <a:cs typeface="Consolas" pitchFamily="49" charset="0"/>
            </a:endParaRPr>
          </a:p>
        </p:txBody>
      </p:sp>
      <p:sp>
        <p:nvSpPr>
          <p:cNvPr id="8" name="TextBox 7"/>
          <p:cNvSpPr txBox="1"/>
          <p:nvPr/>
        </p:nvSpPr>
        <p:spPr>
          <a:xfrm>
            <a:off x="428596" y="428604"/>
            <a:ext cx="6572296" cy="910607"/>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216000" tIns="108000" bIns="108000" rtlCol="0">
            <a:spAutoFit/>
          </a:bodyPr>
          <a:lstStyle/>
          <a:p>
            <a:pPr algn="l">
              <a:lnSpc>
                <a:spcPct val="100000"/>
              </a:lnSpc>
            </a:pPr>
            <a:r>
              <a:rPr lang="en-US" altLang="zh-CN" sz="1800">
                <a:solidFill>
                  <a:srgbClr val="0000FF"/>
                </a:solidFill>
                <a:latin typeface="Consolas" pitchFamily="49" charset="0"/>
                <a:ea typeface="仿宋" pitchFamily="49" charset="-122"/>
                <a:cs typeface="Consolas" pitchFamily="49" charset="0"/>
              </a:rPr>
              <a:t>B</a:t>
            </a:r>
            <a:r>
              <a:rPr lang="en-US" altLang="zh-CN" sz="1800" baseline="-25000">
                <a:solidFill>
                  <a:srgbClr val="0000FF"/>
                </a:solidFill>
                <a:latin typeface="Consolas" pitchFamily="49" charset="0"/>
                <a:ea typeface="仿宋" pitchFamily="49" charset="-122"/>
                <a:cs typeface="Consolas" pitchFamily="49" charset="0"/>
              </a:rPr>
              <a:t>-1</a:t>
            </a:r>
            <a:r>
              <a:rPr lang="en-US" altLang="zh-CN" sz="1800">
                <a:solidFill>
                  <a:srgbClr val="0000FF"/>
                </a:solidFill>
                <a:latin typeface="Consolas" pitchFamily="49" charset="0"/>
                <a:ea typeface="仿宋" pitchFamily="49" charset="-122"/>
                <a:cs typeface="Consolas" pitchFamily="49" charset="0"/>
              </a:rPr>
              <a:t>[</a:t>
            </a:r>
            <a:r>
              <a:rPr lang="en-US" altLang="zh-CN" sz="1800" i="1">
                <a:solidFill>
                  <a:srgbClr val="0000FF"/>
                </a:solidFill>
                <a:latin typeface="Consolas" pitchFamily="49" charset="0"/>
                <a:ea typeface="仿宋" pitchFamily="49" charset="-122"/>
                <a:cs typeface="Consolas" pitchFamily="49" charset="0"/>
              </a:rPr>
              <a:t>i</a:t>
            </a:r>
            <a:r>
              <a:rPr lang="en-US" altLang="zh-CN" sz="1800">
                <a:solidFill>
                  <a:srgbClr val="0000FF"/>
                </a:solidFill>
                <a:latin typeface="Consolas" pitchFamily="49" charset="0"/>
                <a:ea typeface="仿宋" pitchFamily="49" charset="-122"/>
                <a:cs typeface="Consolas" pitchFamily="49" charset="0"/>
              </a:rPr>
              <a:t>][</a:t>
            </a:r>
            <a:r>
              <a:rPr lang="en-US" altLang="zh-CN" sz="1800" i="1">
                <a:solidFill>
                  <a:srgbClr val="0000FF"/>
                </a:solidFill>
                <a:latin typeface="Consolas" pitchFamily="49" charset="0"/>
                <a:ea typeface="仿宋" pitchFamily="49" charset="-122"/>
                <a:cs typeface="Consolas" pitchFamily="49" charset="0"/>
              </a:rPr>
              <a:t>j</a:t>
            </a:r>
            <a:r>
              <a:rPr lang="en-US" altLang="zh-CN" sz="1800">
                <a:solidFill>
                  <a:srgbClr val="0000FF"/>
                </a:solidFill>
                <a:latin typeface="Consolas" pitchFamily="49" charset="0"/>
                <a:ea typeface="仿宋" pitchFamily="49" charset="-122"/>
                <a:cs typeface="Consolas" pitchFamily="49" charset="0"/>
              </a:rPr>
              <a:t>]=A[</a:t>
            </a:r>
            <a:r>
              <a:rPr lang="en-US" altLang="zh-CN" sz="1800" i="1">
                <a:solidFill>
                  <a:srgbClr val="0000FF"/>
                </a:solidFill>
                <a:latin typeface="Consolas" pitchFamily="49" charset="0"/>
                <a:ea typeface="仿宋" pitchFamily="49" charset="-122"/>
                <a:cs typeface="Consolas" pitchFamily="49" charset="0"/>
              </a:rPr>
              <a:t>i</a:t>
            </a:r>
            <a:r>
              <a:rPr lang="en-US" altLang="zh-CN" sz="1800">
                <a:solidFill>
                  <a:srgbClr val="0000FF"/>
                </a:solidFill>
                <a:latin typeface="Consolas" pitchFamily="49" charset="0"/>
                <a:ea typeface="仿宋" pitchFamily="49" charset="-122"/>
                <a:cs typeface="Consolas" pitchFamily="49" charset="0"/>
              </a:rPr>
              <a:t>][</a:t>
            </a:r>
            <a:r>
              <a:rPr lang="en-US" altLang="zh-CN" sz="1800" i="1">
                <a:solidFill>
                  <a:srgbClr val="0000FF"/>
                </a:solidFill>
                <a:latin typeface="Consolas" pitchFamily="49" charset="0"/>
                <a:ea typeface="仿宋" pitchFamily="49" charset="-122"/>
                <a:cs typeface="Consolas" pitchFamily="49" charset="0"/>
              </a:rPr>
              <a:t>j</a:t>
            </a:r>
            <a:r>
              <a:rPr lang="en-US" altLang="zh-CN" sz="1800">
                <a:solidFill>
                  <a:srgbClr val="0000FF"/>
                </a:solidFill>
                <a:latin typeface="Consolas" pitchFamily="49" charset="0"/>
                <a:ea typeface="仿宋" pitchFamily="49" charset="-122"/>
                <a:cs typeface="Consolas" pitchFamily="49" charset="0"/>
              </a:rPr>
              <a:t>]</a:t>
            </a:r>
            <a:endParaRPr lang="zh-CN" altLang="zh-CN" sz="1800">
              <a:solidFill>
                <a:srgbClr val="0000FF"/>
              </a:solidFill>
              <a:latin typeface="Consolas" pitchFamily="49" charset="0"/>
              <a:ea typeface="仿宋" pitchFamily="49" charset="-122"/>
              <a:cs typeface="Consolas" pitchFamily="49" charset="0"/>
            </a:endParaRPr>
          </a:p>
          <a:p>
            <a:pPr algn="l">
              <a:lnSpc>
                <a:spcPct val="100000"/>
              </a:lnSpc>
            </a:pPr>
            <a:r>
              <a:rPr lang="en-US" altLang="zh-CN" sz="1800">
                <a:solidFill>
                  <a:srgbClr val="0000FF"/>
                </a:solidFill>
                <a:latin typeface="Consolas" pitchFamily="49" charset="0"/>
                <a:ea typeface="仿宋" pitchFamily="49" charset="-122"/>
                <a:cs typeface="Consolas" pitchFamily="49" charset="0"/>
              </a:rPr>
              <a:t>B</a:t>
            </a:r>
            <a:r>
              <a:rPr lang="en-US" altLang="zh-CN" sz="1800" i="1" baseline="-25000">
                <a:solidFill>
                  <a:srgbClr val="0000FF"/>
                </a:solidFill>
                <a:latin typeface="Consolas" pitchFamily="49" charset="0"/>
                <a:ea typeface="仿宋" pitchFamily="49" charset="-122"/>
                <a:cs typeface="Consolas" pitchFamily="49" charset="0"/>
              </a:rPr>
              <a:t>k</a:t>
            </a:r>
            <a:r>
              <a:rPr lang="en-US" altLang="zh-CN" sz="1800">
                <a:solidFill>
                  <a:srgbClr val="0000FF"/>
                </a:solidFill>
                <a:latin typeface="Consolas" pitchFamily="49" charset="0"/>
                <a:ea typeface="仿宋" pitchFamily="49" charset="-122"/>
                <a:cs typeface="Consolas" pitchFamily="49" charset="0"/>
              </a:rPr>
              <a:t>[</a:t>
            </a:r>
            <a:r>
              <a:rPr lang="en-US" altLang="zh-CN" sz="1800" i="1">
                <a:solidFill>
                  <a:srgbClr val="0000FF"/>
                </a:solidFill>
                <a:latin typeface="Consolas" pitchFamily="49" charset="0"/>
                <a:ea typeface="仿宋" pitchFamily="49" charset="-122"/>
                <a:cs typeface="Consolas" pitchFamily="49" charset="0"/>
              </a:rPr>
              <a:t>i</a:t>
            </a:r>
            <a:r>
              <a:rPr lang="en-US" altLang="zh-CN" sz="1800">
                <a:solidFill>
                  <a:srgbClr val="0000FF"/>
                </a:solidFill>
                <a:latin typeface="Consolas" pitchFamily="49" charset="0"/>
                <a:ea typeface="仿宋" pitchFamily="49" charset="-122"/>
                <a:cs typeface="Consolas" pitchFamily="49" charset="0"/>
              </a:rPr>
              <a:t>][</a:t>
            </a:r>
            <a:r>
              <a:rPr lang="en-US" altLang="zh-CN" sz="1800" i="1">
                <a:solidFill>
                  <a:srgbClr val="0000FF"/>
                </a:solidFill>
                <a:latin typeface="Consolas" pitchFamily="49" charset="0"/>
                <a:ea typeface="仿宋" pitchFamily="49" charset="-122"/>
                <a:cs typeface="Consolas" pitchFamily="49" charset="0"/>
              </a:rPr>
              <a:t>j</a:t>
            </a:r>
            <a:r>
              <a:rPr lang="en-US" altLang="zh-CN" sz="1800">
                <a:solidFill>
                  <a:srgbClr val="0000FF"/>
                </a:solidFill>
                <a:latin typeface="Consolas" pitchFamily="49" charset="0"/>
                <a:ea typeface="仿宋" pitchFamily="49" charset="-122"/>
                <a:cs typeface="Consolas" pitchFamily="49" charset="0"/>
              </a:rPr>
              <a:t>]=</a:t>
            </a:r>
            <a:r>
              <a:rPr lang="en-US" altLang="zh-CN" sz="1800">
                <a:solidFill>
                  <a:srgbClr val="FF0000"/>
                </a:solidFill>
                <a:latin typeface="Consolas" pitchFamily="49" charset="0"/>
                <a:ea typeface="仿宋" pitchFamily="49" charset="-122"/>
                <a:cs typeface="Consolas" pitchFamily="49" charset="0"/>
              </a:rPr>
              <a:t>min</a:t>
            </a:r>
            <a:r>
              <a:rPr lang="en-US" altLang="zh-CN" sz="1800" baseline="-25000">
                <a:solidFill>
                  <a:srgbClr val="0000FF"/>
                </a:solidFill>
                <a:latin typeface="Consolas" pitchFamily="49" charset="0"/>
                <a:ea typeface="仿宋" pitchFamily="49" charset="-122"/>
                <a:cs typeface="Consolas" pitchFamily="49" charset="0"/>
              </a:rPr>
              <a:t>0</a:t>
            </a:r>
            <a:r>
              <a:rPr lang="zh-CN" altLang="zh-CN" sz="1800" baseline="-25000">
                <a:solidFill>
                  <a:srgbClr val="0000FF"/>
                </a:solidFill>
                <a:latin typeface="Consolas" pitchFamily="49" charset="0"/>
                <a:ea typeface="+mj-ea"/>
                <a:cs typeface="Consolas" pitchFamily="49" charset="0"/>
              </a:rPr>
              <a:t>≤</a:t>
            </a:r>
            <a:r>
              <a:rPr lang="en-US" altLang="zh-CN" sz="1800" i="1" baseline="-25000">
                <a:solidFill>
                  <a:srgbClr val="0000FF"/>
                </a:solidFill>
                <a:latin typeface="Consolas" pitchFamily="49" charset="0"/>
                <a:ea typeface="仿宋" pitchFamily="49" charset="-122"/>
                <a:cs typeface="Consolas" pitchFamily="49" charset="0"/>
              </a:rPr>
              <a:t>k</a:t>
            </a:r>
            <a:r>
              <a:rPr lang="zh-CN" altLang="zh-CN" sz="1800" baseline="-25000">
                <a:solidFill>
                  <a:srgbClr val="0000FF"/>
                </a:solidFill>
                <a:latin typeface="Consolas" pitchFamily="49" charset="0"/>
                <a:ea typeface="+mj-ea"/>
                <a:cs typeface="Consolas" pitchFamily="49" charset="0"/>
              </a:rPr>
              <a:t>≤</a:t>
            </a:r>
            <a:r>
              <a:rPr lang="en-US" altLang="zh-CN" sz="1800" i="1" baseline="-25000">
                <a:solidFill>
                  <a:srgbClr val="0000FF"/>
                </a:solidFill>
                <a:latin typeface="Consolas" pitchFamily="49" charset="0"/>
                <a:ea typeface="仿宋" pitchFamily="49" charset="-122"/>
                <a:cs typeface="Consolas" pitchFamily="49" charset="0"/>
              </a:rPr>
              <a:t>n</a:t>
            </a:r>
            <a:r>
              <a:rPr lang="en-US" altLang="zh-CN" sz="1800" baseline="-25000">
                <a:solidFill>
                  <a:srgbClr val="0000FF"/>
                </a:solidFill>
                <a:latin typeface="Consolas" pitchFamily="49" charset="0"/>
                <a:ea typeface="仿宋" pitchFamily="49" charset="-122"/>
                <a:cs typeface="Consolas" pitchFamily="49" charset="0"/>
              </a:rPr>
              <a:t>-1</a:t>
            </a:r>
            <a:r>
              <a:rPr lang="en-US" altLang="zh-CN" sz="1800">
                <a:solidFill>
                  <a:srgbClr val="0000FF"/>
                </a:solidFill>
                <a:latin typeface="Consolas" pitchFamily="49" charset="0"/>
                <a:ea typeface="仿宋" pitchFamily="49" charset="-122"/>
                <a:cs typeface="Consolas" pitchFamily="49" charset="0"/>
              </a:rPr>
              <a:t>{B</a:t>
            </a:r>
            <a:r>
              <a:rPr lang="en-US" altLang="zh-CN" sz="1800" i="1" baseline="-25000">
                <a:solidFill>
                  <a:srgbClr val="0000FF"/>
                </a:solidFill>
                <a:latin typeface="Consolas" pitchFamily="49" charset="0"/>
                <a:ea typeface="仿宋" pitchFamily="49" charset="-122"/>
                <a:cs typeface="Consolas" pitchFamily="49" charset="0"/>
              </a:rPr>
              <a:t>k</a:t>
            </a:r>
            <a:r>
              <a:rPr lang="en-US" altLang="zh-CN" sz="1800" baseline="-25000">
                <a:solidFill>
                  <a:srgbClr val="0000FF"/>
                </a:solidFill>
                <a:latin typeface="Consolas" pitchFamily="49" charset="0"/>
                <a:ea typeface="仿宋" pitchFamily="49" charset="-122"/>
                <a:cs typeface="Consolas" pitchFamily="49" charset="0"/>
              </a:rPr>
              <a:t>-1</a:t>
            </a:r>
            <a:r>
              <a:rPr lang="en-US" altLang="zh-CN" sz="1800">
                <a:solidFill>
                  <a:srgbClr val="0000FF"/>
                </a:solidFill>
                <a:latin typeface="Consolas" pitchFamily="49" charset="0"/>
                <a:ea typeface="仿宋" pitchFamily="49" charset="-122"/>
                <a:cs typeface="Consolas" pitchFamily="49" charset="0"/>
              </a:rPr>
              <a:t>[</a:t>
            </a:r>
            <a:r>
              <a:rPr lang="en-US" altLang="zh-CN" sz="1800" i="1">
                <a:solidFill>
                  <a:srgbClr val="0000FF"/>
                </a:solidFill>
                <a:latin typeface="Consolas" pitchFamily="49" charset="0"/>
                <a:ea typeface="仿宋" pitchFamily="49" charset="-122"/>
                <a:cs typeface="Consolas" pitchFamily="49" charset="0"/>
              </a:rPr>
              <a:t>i</a:t>
            </a:r>
            <a:r>
              <a:rPr lang="en-US" altLang="zh-CN" sz="1800">
                <a:solidFill>
                  <a:srgbClr val="0000FF"/>
                </a:solidFill>
                <a:latin typeface="Consolas" pitchFamily="49" charset="0"/>
                <a:ea typeface="仿宋" pitchFamily="49" charset="-122"/>
                <a:cs typeface="Consolas" pitchFamily="49" charset="0"/>
              </a:rPr>
              <a:t>][</a:t>
            </a:r>
            <a:r>
              <a:rPr lang="en-US" altLang="zh-CN" sz="1800" i="1">
                <a:solidFill>
                  <a:srgbClr val="0000FF"/>
                </a:solidFill>
                <a:latin typeface="Consolas" pitchFamily="49" charset="0"/>
                <a:ea typeface="仿宋" pitchFamily="49" charset="-122"/>
                <a:cs typeface="Consolas" pitchFamily="49" charset="0"/>
              </a:rPr>
              <a:t>j</a:t>
            </a:r>
            <a:r>
              <a:rPr lang="en-US" altLang="zh-CN" sz="1800">
                <a:solidFill>
                  <a:srgbClr val="0000FF"/>
                </a:solidFill>
                <a:latin typeface="Consolas" pitchFamily="49" charset="0"/>
                <a:ea typeface="仿宋" pitchFamily="49" charset="-122"/>
                <a:cs typeface="Consolas" pitchFamily="49" charset="0"/>
              </a:rPr>
              <a:t>]</a:t>
            </a:r>
            <a:r>
              <a:rPr lang="zh-CN" altLang="zh-CN" sz="1800">
                <a:solidFill>
                  <a:srgbClr val="0000FF"/>
                </a:solidFill>
                <a:latin typeface="Consolas" pitchFamily="49" charset="0"/>
                <a:ea typeface="仿宋" pitchFamily="49" charset="-122"/>
                <a:cs typeface="Consolas" pitchFamily="49" charset="0"/>
              </a:rPr>
              <a:t>，</a:t>
            </a:r>
            <a:r>
              <a:rPr lang="en-US" altLang="zh-CN" sz="1800">
                <a:solidFill>
                  <a:srgbClr val="0000FF"/>
                </a:solidFill>
                <a:latin typeface="Consolas" pitchFamily="49" charset="0"/>
                <a:ea typeface="仿宋" pitchFamily="49" charset="-122"/>
                <a:cs typeface="Consolas" pitchFamily="49" charset="0"/>
              </a:rPr>
              <a:t>B</a:t>
            </a:r>
            <a:r>
              <a:rPr lang="en-US" altLang="zh-CN" sz="1800" i="1" baseline="-25000">
                <a:solidFill>
                  <a:srgbClr val="0000FF"/>
                </a:solidFill>
                <a:latin typeface="Consolas" pitchFamily="49" charset="0"/>
                <a:ea typeface="仿宋" pitchFamily="49" charset="-122"/>
                <a:cs typeface="Consolas" pitchFamily="49" charset="0"/>
              </a:rPr>
              <a:t>k</a:t>
            </a:r>
            <a:r>
              <a:rPr lang="en-US" altLang="zh-CN" sz="1800" baseline="-25000">
                <a:solidFill>
                  <a:srgbClr val="0000FF"/>
                </a:solidFill>
                <a:latin typeface="Consolas" pitchFamily="49" charset="0"/>
                <a:ea typeface="仿宋" pitchFamily="49" charset="-122"/>
                <a:cs typeface="Consolas" pitchFamily="49" charset="0"/>
              </a:rPr>
              <a:t>-1</a:t>
            </a:r>
            <a:r>
              <a:rPr lang="en-US" altLang="zh-CN" sz="1800">
                <a:solidFill>
                  <a:srgbClr val="0000FF"/>
                </a:solidFill>
                <a:latin typeface="Consolas" pitchFamily="49" charset="0"/>
                <a:ea typeface="仿宋" pitchFamily="49" charset="-122"/>
                <a:cs typeface="Consolas" pitchFamily="49" charset="0"/>
              </a:rPr>
              <a:t>[</a:t>
            </a:r>
            <a:r>
              <a:rPr lang="en-US" altLang="zh-CN" sz="1800" i="1">
                <a:solidFill>
                  <a:srgbClr val="0000FF"/>
                </a:solidFill>
                <a:latin typeface="Consolas" pitchFamily="49" charset="0"/>
                <a:ea typeface="仿宋" pitchFamily="49" charset="-122"/>
                <a:cs typeface="Consolas" pitchFamily="49" charset="0"/>
              </a:rPr>
              <a:t>i</a:t>
            </a:r>
            <a:r>
              <a:rPr lang="en-US" altLang="zh-CN" sz="1800">
                <a:solidFill>
                  <a:srgbClr val="0000FF"/>
                </a:solidFill>
                <a:latin typeface="Consolas" pitchFamily="49" charset="0"/>
                <a:ea typeface="仿宋" pitchFamily="49" charset="-122"/>
                <a:cs typeface="Consolas" pitchFamily="49" charset="0"/>
              </a:rPr>
              <a:t>][</a:t>
            </a:r>
            <a:r>
              <a:rPr lang="en-US" altLang="zh-CN" sz="1800" i="1">
                <a:solidFill>
                  <a:srgbClr val="0000FF"/>
                </a:solidFill>
                <a:latin typeface="Consolas" pitchFamily="49" charset="0"/>
                <a:ea typeface="仿宋" pitchFamily="49" charset="-122"/>
                <a:cs typeface="Consolas" pitchFamily="49" charset="0"/>
              </a:rPr>
              <a:t>k</a:t>
            </a:r>
            <a:r>
              <a:rPr lang="en-US" altLang="zh-CN" sz="1800">
                <a:solidFill>
                  <a:srgbClr val="0000FF"/>
                </a:solidFill>
                <a:latin typeface="Consolas" pitchFamily="49" charset="0"/>
                <a:ea typeface="仿宋" pitchFamily="49" charset="-122"/>
                <a:cs typeface="Consolas" pitchFamily="49" charset="0"/>
              </a:rPr>
              <a:t>]+B</a:t>
            </a:r>
            <a:r>
              <a:rPr lang="en-US" altLang="zh-CN" sz="1800" i="1" baseline="-25000">
                <a:solidFill>
                  <a:srgbClr val="0000FF"/>
                </a:solidFill>
                <a:latin typeface="Consolas" pitchFamily="49" charset="0"/>
                <a:ea typeface="仿宋" pitchFamily="49" charset="-122"/>
                <a:cs typeface="Consolas" pitchFamily="49" charset="0"/>
              </a:rPr>
              <a:t>k</a:t>
            </a:r>
            <a:r>
              <a:rPr lang="en-US" altLang="zh-CN" sz="1800" baseline="-25000">
                <a:solidFill>
                  <a:srgbClr val="0000FF"/>
                </a:solidFill>
                <a:latin typeface="Consolas" pitchFamily="49" charset="0"/>
                <a:ea typeface="仿宋" pitchFamily="49" charset="-122"/>
                <a:cs typeface="Consolas" pitchFamily="49" charset="0"/>
              </a:rPr>
              <a:t>-1</a:t>
            </a:r>
            <a:r>
              <a:rPr lang="en-US" altLang="zh-CN" sz="1800">
                <a:solidFill>
                  <a:srgbClr val="0000FF"/>
                </a:solidFill>
                <a:latin typeface="Consolas" pitchFamily="49" charset="0"/>
                <a:ea typeface="仿宋" pitchFamily="49" charset="-122"/>
                <a:cs typeface="Consolas" pitchFamily="49" charset="0"/>
              </a:rPr>
              <a:t>[</a:t>
            </a:r>
            <a:r>
              <a:rPr lang="en-US" altLang="zh-CN" sz="1800" i="1">
                <a:solidFill>
                  <a:srgbClr val="0000FF"/>
                </a:solidFill>
                <a:latin typeface="Consolas" pitchFamily="49" charset="0"/>
                <a:ea typeface="仿宋" pitchFamily="49" charset="-122"/>
                <a:cs typeface="Consolas" pitchFamily="49" charset="0"/>
              </a:rPr>
              <a:t>k</a:t>
            </a:r>
            <a:r>
              <a:rPr lang="en-US" altLang="zh-CN" sz="1800">
                <a:solidFill>
                  <a:srgbClr val="0000FF"/>
                </a:solidFill>
                <a:latin typeface="Consolas" pitchFamily="49" charset="0"/>
                <a:ea typeface="仿宋" pitchFamily="49" charset="-122"/>
                <a:cs typeface="Consolas" pitchFamily="49" charset="0"/>
              </a:rPr>
              <a:t>][</a:t>
            </a:r>
            <a:r>
              <a:rPr lang="en-US" altLang="zh-CN" sz="1800" i="1">
                <a:solidFill>
                  <a:srgbClr val="0000FF"/>
                </a:solidFill>
                <a:latin typeface="Consolas" pitchFamily="49" charset="0"/>
                <a:ea typeface="仿宋" pitchFamily="49" charset="-122"/>
                <a:cs typeface="Consolas" pitchFamily="49" charset="0"/>
              </a:rPr>
              <a:t>j</a:t>
            </a:r>
            <a:r>
              <a:rPr lang="en-US" altLang="zh-CN" sz="1800">
                <a:solidFill>
                  <a:srgbClr val="0000FF"/>
                </a:solidFill>
                <a:latin typeface="Consolas" pitchFamily="49" charset="0"/>
                <a:ea typeface="仿宋" pitchFamily="49" charset="-122"/>
                <a:cs typeface="Consolas" pitchFamily="49" charset="0"/>
              </a:rPr>
              <a:t>]}</a:t>
            </a:r>
            <a:endParaRPr lang="zh-CN" altLang="zh-CN" sz="1800">
              <a:solidFill>
                <a:srgbClr val="0000FF"/>
              </a:solidFill>
              <a:latin typeface="Consolas" pitchFamily="49" charset="0"/>
              <a:ea typeface="仿宋" pitchFamily="49" charset="-122"/>
              <a:cs typeface="Consolas" pitchFamily="49" charset="0"/>
            </a:endParaRPr>
          </a:p>
        </p:txBody>
      </p:sp>
      <p:sp>
        <p:nvSpPr>
          <p:cNvPr id="9" name="灯片编号占位符 8"/>
          <p:cNvSpPr>
            <a:spLocks noGrp="1"/>
          </p:cNvSpPr>
          <p:nvPr>
            <p:ph type="sldNum" sz="quarter" idx="12"/>
          </p:nvPr>
        </p:nvSpPr>
        <p:spPr/>
        <p:txBody>
          <a:bodyPr/>
          <a:lstStyle/>
          <a:p>
            <a:fld id="{7AF016A1-9F15-429F-9EFD-84004B73C732}" type="slidenum">
              <a:rPr lang="en-US" altLang="zh-CN" smtClean="0"/>
              <a:pPr/>
              <a:t>79</a:t>
            </a:fld>
            <a:r>
              <a:rPr lang="en-US" altLang="zh-CN"/>
              <a:t>/158</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9">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9">
                                            <p:txEl>
                                              <p:pRg st="8" end="8"/>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9">
                                            <p:txEl>
                                              <p:pRg st="9" end="9"/>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9">
                                            <p:txEl>
                                              <p:pRg st="10" end="1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9">
                                            <p:txEl>
                                              <p:pRg st="11" end="1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9">
                                            <p:txEl>
                                              <p:pRg st="12" end="1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9">
                                            <p:txEl>
                                              <p:pRg st="13" end="1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9">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173" name="Rectangle 9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8241" name="Rectangle 4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1215" name="Rectangle 1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9" name="TextBox 18"/>
          <p:cNvSpPr txBox="1"/>
          <p:nvPr/>
        </p:nvSpPr>
        <p:spPr>
          <a:xfrm>
            <a:off x="142844" y="1755618"/>
            <a:ext cx="8786874" cy="1477328"/>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1200"/>
              </a:spcBef>
              <a:buBlip>
                <a:blip r:embed="rId2"/>
              </a:buBlip>
            </a:pPr>
            <a:r>
              <a:rPr lang="zh-CN" altLang="zh-CN">
                <a:solidFill>
                  <a:srgbClr val="0000FF"/>
                </a:solidFill>
                <a:latin typeface="Consolas" pitchFamily="49" charset="0"/>
                <a:ea typeface="仿宋" pitchFamily="49" charset="-122"/>
                <a:cs typeface="Consolas" pitchFamily="49" charset="0"/>
              </a:rPr>
              <a:t>阶段</a:t>
            </a:r>
            <a:r>
              <a:rPr lang="en-US" altLang="zh-CN" i="1">
                <a:solidFill>
                  <a:srgbClr val="0000FF"/>
                </a:solidFill>
                <a:latin typeface="Consolas" pitchFamily="49" charset="0"/>
                <a:ea typeface="仿宋" pitchFamily="49" charset="-122"/>
                <a:cs typeface="Consolas" pitchFamily="49" charset="0"/>
              </a:rPr>
              <a:t>k</a:t>
            </a:r>
            <a:r>
              <a:rPr lang="zh-CN" altLang="zh-CN">
                <a:solidFill>
                  <a:srgbClr val="0000FF"/>
                </a:solidFill>
                <a:latin typeface="Consolas" pitchFamily="49" charset="0"/>
                <a:ea typeface="仿宋" pitchFamily="49" charset="-122"/>
                <a:cs typeface="Consolas" pitchFamily="49" charset="0"/>
              </a:rPr>
              <a:t>仅仅与阶段</a:t>
            </a:r>
            <a:r>
              <a:rPr lang="en-US" altLang="zh-CN" i="1">
                <a:solidFill>
                  <a:srgbClr val="0000FF"/>
                </a:solidFill>
                <a:latin typeface="Consolas" pitchFamily="49" charset="0"/>
                <a:ea typeface="仿宋" pitchFamily="49" charset="-122"/>
                <a:cs typeface="Consolas" pitchFamily="49" charset="0"/>
              </a:rPr>
              <a:t>k</a:t>
            </a:r>
            <a:r>
              <a:rPr lang="en-US" altLang="zh-CN">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相关</a:t>
            </a:r>
            <a:r>
              <a:rPr lang="zh-CN" altLang="en-US">
                <a:solidFill>
                  <a:srgbClr val="FF0000"/>
                </a:solidFill>
                <a:latin typeface="Consolas" pitchFamily="49" charset="0"/>
                <a:ea typeface="仿宋" pitchFamily="49" charset="-122"/>
                <a:cs typeface="Consolas" pitchFamily="49" charset="0"/>
                <a:sym typeface="Wingdings"/>
              </a:rPr>
              <a:t></a:t>
            </a:r>
            <a:r>
              <a:rPr lang="zh-CN" altLang="zh-CN">
                <a:solidFill>
                  <a:srgbClr val="0000FF"/>
                </a:solidFill>
                <a:latin typeface="Consolas" pitchFamily="49" charset="0"/>
                <a:ea typeface="仿宋" pitchFamily="49" charset="-122"/>
                <a:cs typeface="Consolas" pitchFamily="49" charset="0"/>
              </a:rPr>
              <a:t>将</a:t>
            </a:r>
            <a:r>
              <a:rPr lang="en-US" altLang="zh-CN">
                <a:solidFill>
                  <a:srgbClr val="0000FF"/>
                </a:solidFill>
                <a:latin typeface="Consolas" pitchFamily="49" charset="0"/>
                <a:ea typeface="仿宋" pitchFamily="49" charset="-122"/>
                <a:cs typeface="Consolas" pitchFamily="49" charset="0"/>
              </a:rPr>
              <a:t>dp</a:t>
            </a:r>
            <a:r>
              <a:rPr lang="zh-CN" altLang="zh-CN">
                <a:solidFill>
                  <a:srgbClr val="0000FF"/>
                </a:solidFill>
                <a:latin typeface="Consolas" pitchFamily="49" charset="0"/>
                <a:ea typeface="仿宋" pitchFamily="49" charset="-122"/>
                <a:cs typeface="Consolas" pitchFamily="49" charset="0"/>
              </a:rPr>
              <a:t>滚动为</a:t>
            </a:r>
            <a:r>
              <a:rPr lang="en-US" altLang="zh-CN">
                <a:solidFill>
                  <a:srgbClr val="0000FF"/>
                </a:solidFill>
                <a:latin typeface="Consolas" pitchFamily="49" charset="0"/>
                <a:ea typeface="仿宋" pitchFamily="49" charset="-122"/>
                <a:cs typeface="Consolas" pitchFamily="49" charset="0"/>
              </a:rPr>
              <a:t>dp[2][MAXN][MAXN]</a:t>
            </a:r>
            <a:r>
              <a:rPr lang="zh-CN" altLang="en-US">
                <a:solidFill>
                  <a:srgbClr val="0000FF"/>
                </a:solidFill>
                <a:latin typeface="Consolas" pitchFamily="49" charset="0"/>
                <a:ea typeface="仿宋" pitchFamily="49" charset="-122"/>
                <a:cs typeface="Consolas" pitchFamily="49" charset="0"/>
              </a:rPr>
              <a:t>。</a:t>
            </a:r>
            <a:endParaRPr lang="en-US" altLang="zh-CN">
              <a:solidFill>
                <a:srgbClr val="0000FF"/>
              </a:solidFill>
              <a:latin typeface="Consolas" pitchFamily="49" charset="0"/>
              <a:ea typeface="仿宋" pitchFamily="49" charset="-122"/>
              <a:cs typeface="Consolas" pitchFamily="49" charset="0"/>
            </a:endParaRPr>
          </a:p>
          <a:p>
            <a:pPr marL="457200" indent="-457200" algn="l">
              <a:lnSpc>
                <a:spcPts val="3200"/>
              </a:lnSpc>
              <a:spcBef>
                <a:spcPts val="1200"/>
              </a:spcBef>
              <a:buBlip>
                <a:blip r:embed="rId2"/>
              </a:buBlip>
            </a:pPr>
            <a:r>
              <a:rPr lang="zh-CN" altLang="zh-CN">
                <a:solidFill>
                  <a:srgbClr val="0000FF"/>
                </a:solidFill>
                <a:latin typeface="Consolas" pitchFamily="49" charset="0"/>
                <a:ea typeface="仿宋" pitchFamily="49" charset="-122"/>
                <a:cs typeface="Consolas" pitchFamily="49" charset="0"/>
              </a:rPr>
              <a:t>阶段</a:t>
            </a:r>
            <a:r>
              <a:rPr lang="en-US" altLang="zh-CN" i="1">
                <a:solidFill>
                  <a:srgbClr val="0000FF"/>
                </a:solidFill>
                <a:latin typeface="Consolas" pitchFamily="49" charset="0"/>
                <a:ea typeface="仿宋" pitchFamily="49" charset="-122"/>
                <a:cs typeface="Consolas" pitchFamily="49" charset="0"/>
              </a:rPr>
              <a:t>k</a:t>
            </a:r>
            <a:r>
              <a:rPr lang="zh-CN" altLang="zh-CN">
                <a:solidFill>
                  <a:srgbClr val="0000FF"/>
                </a:solidFill>
                <a:latin typeface="Consolas" pitchFamily="49" charset="0"/>
                <a:ea typeface="仿宋" pitchFamily="49" charset="-122"/>
                <a:cs typeface="Consolas" pitchFamily="49" charset="0"/>
              </a:rPr>
              <a:t>中求</a:t>
            </a:r>
            <a:r>
              <a:rPr lang="en-US" altLang="zh-CN">
                <a:solidFill>
                  <a:srgbClr val="0000FF"/>
                </a:solidFill>
                <a:latin typeface="Consolas" pitchFamily="49" charset="0"/>
                <a:ea typeface="仿宋" pitchFamily="49" charset="-122"/>
                <a:cs typeface="Consolas" pitchFamily="49" charset="0"/>
              </a:rPr>
              <a:t>dp[</a:t>
            </a:r>
            <a:r>
              <a:rPr lang="en-US" altLang="zh-CN" i="1">
                <a:solidFill>
                  <a:srgbClr val="0000FF"/>
                </a:solidFill>
                <a:latin typeface="Consolas" pitchFamily="49" charset="0"/>
                <a:ea typeface="仿宋" pitchFamily="49" charset="-122"/>
                <a:cs typeface="Consolas" pitchFamily="49" charset="0"/>
              </a:rPr>
              <a:t>k</a:t>
            </a:r>
            <a:r>
              <a:rPr lang="en-US"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i</a:t>
            </a:r>
            <a:r>
              <a:rPr lang="en-US"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j</a:t>
            </a:r>
            <a:r>
              <a:rPr lang="en-US"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时</a:t>
            </a:r>
            <a:r>
              <a:rPr lang="en-US" altLang="zh-CN" i="1">
                <a:solidFill>
                  <a:srgbClr val="0000FF"/>
                </a:solidFill>
                <a:latin typeface="Consolas" pitchFamily="49" charset="0"/>
                <a:ea typeface="仿宋" pitchFamily="49" charset="-122"/>
                <a:cs typeface="Consolas" pitchFamily="49" charset="0"/>
              </a:rPr>
              <a:t>i</a:t>
            </a:r>
            <a:r>
              <a:rPr lang="zh-CN" altLang="zh-CN">
                <a:solidFill>
                  <a:srgbClr val="0000FF"/>
                </a:solidFill>
                <a:latin typeface="Consolas" pitchFamily="49" charset="0"/>
                <a:ea typeface="仿宋" pitchFamily="49" charset="-122"/>
                <a:cs typeface="Consolas" pitchFamily="49" charset="0"/>
              </a:rPr>
              <a:t>和</a:t>
            </a:r>
            <a:r>
              <a:rPr lang="en-US" altLang="zh-CN" i="1">
                <a:solidFill>
                  <a:srgbClr val="0000FF"/>
                </a:solidFill>
                <a:latin typeface="Consolas" pitchFamily="49" charset="0"/>
                <a:ea typeface="仿宋" pitchFamily="49" charset="-122"/>
                <a:cs typeface="Consolas" pitchFamily="49" charset="0"/>
              </a:rPr>
              <a:t>j</a:t>
            </a:r>
            <a:r>
              <a:rPr lang="zh-CN" altLang="zh-CN">
                <a:solidFill>
                  <a:srgbClr val="0000FF"/>
                </a:solidFill>
                <a:latin typeface="Consolas" pitchFamily="49" charset="0"/>
                <a:ea typeface="仿宋" pitchFamily="49" charset="-122"/>
                <a:cs typeface="Consolas" pitchFamily="49" charset="0"/>
              </a:rPr>
              <a:t>的任意顺序不影响最后结果</a:t>
            </a:r>
            <a:r>
              <a:rPr lang="zh-CN" altLang="en-US">
                <a:solidFill>
                  <a:srgbClr val="FF0000"/>
                </a:solidFill>
                <a:latin typeface="Consolas" pitchFamily="49" charset="0"/>
                <a:ea typeface="仿宋" pitchFamily="49" charset="-122"/>
                <a:cs typeface="Consolas" pitchFamily="49" charset="0"/>
                <a:sym typeface="Wingdings"/>
              </a:rPr>
              <a:t></a:t>
            </a:r>
            <a:r>
              <a:rPr lang="en-US" altLang="zh-CN">
                <a:solidFill>
                  <a:srgbClr val="0000FF"/>
                </a:solidFill>
                <a:latin typeface="Consolas" pitchFamily="49" charset="0"/>
                <a:ea typeface="仿宋" pitchFamily="49" charset="-122"/>
                <a:cs typeface="Consolas" pitchFamily="49" charset="0"/>
              </a:rPr>
              <a:t>dp[2][MAXN][MAXN]</a:t>
            </a:r>
            <a:r>
              <a:rPr lang="zh-CN" altLang="zh-CN">
                <a:solidFill>
                  <a:srgbClr val="0000FF"/>
                </a:solidFill>
                <a:latin typeface="Consolas" pitchFamily="49" charset="0"/>
                <a:ea typeface="仿宋" pitchFamily="49" charset="-122"/>
                <a:cs typeface="Consolas" pitchFamily="49" charset="0"/>
              </a:rPr>
              <a:t>滚动为二维数组</a:t>
            </a:r>
            <a:r>
              <a:rPr lang="en-US" altLang="zh-CN">
                <a:solidFill>
                  <a:srgbClr val="0000FF"/>
                </a:solidFill>
                <a:latin typeface="Consolas" pitchFamily="49" charset="0"/>
                <a:ea typeface="仿宋" pitchFamily="49" charset="-122"/>
                <a:cs typeface="Consolas" pitchFamily="49" charset="0"/>
              </a:rPr>
              <a:t>dp[MAXN][MAXN]</a:t>
            </a:r>
            <a:r>
              <a:rPr lang="zh-CN" altLang="en-US">
                <a:solidFill>
                  <a:srgbClr val="0000FF"/>
                </a:solidFill>
                <a:latin typeface="Consolas" pitchFamily="49" charset="0"/>
                <a:ea typeface="仿宋" pitchFamily="49" charset="-122"/>
                <a:cs typeface="Consolas" pitchFamily="49" charset="0"/>
              </a:rPr>
              <a:t>。</a:t>
            </a:r>
          </a:p>
        </p:txBody>
      </p:sp>
      <p:sp>
        <p:nvSpPr>
          <p:cNvPr id="10" name="TextBox 9"/>
          <p:cNvSpPr txBox="1"/>
          <p:nvPr/>
        </p:nvSpPr>
        <p:spPr>
          <a:xfrm>
            <a:off x="3286116" y="857232"/>
            <a:ext cx="1785950" cy="587441"/>
          </a:xfrm>
          <a:prstGeom prst="rect">
            <a:avLst/>
          </a:prstGeom>
        </p:spPr>
        <p:style>
          <a:lnRef idx="3">
            <a:schemeClr val="lt1"/>
          </a:lnRef>
          <a:fillRef idx="1">
            <a:schemeClr val="dk1"/>
          </a:fillRef>
          <a:effectRef idx="1">
            <a:schemeClr val="dk1"/>
          </a:effectRef>
          <a:fontRef idx="minor">
            <a:schemeClr val="lt1"/>
          </a:fontRef>
        </p:style>
        <p:txBody>
          <a:bodyPr wrap="square" tIns="108000" bIns="108000" rtlCol="0">
            <a:spAutoFit/>
          </a:bodyPr>
          <a:lstStyle/>
          <a:p>
            <a:pPr>
              <a:lnSpc>
                <a:spcPct val="100000"/>
              </a:lnSpc>
              <a:spcBef>
                <a:spcPts val="0"/>
              </a:spcBef>
            </a:pPr>
            <a:r>
              <a:rPr lang="zh-CN" altLang="en-US">
                <a:solidFill>
                  <a:schemeClr val="bg1"/>
                </a:solidFill>
                <a:latin typeface="微软雅黑" pitchFamily="34" charset="-122"/>
                <a:ea typeface="微软雅黑" pitchFamily="34" charset="-122"/>
                <a:cs typeface="Consolas" pitchFamily="49" charset="0"/>
              </a:rPr>
              <a:t>空间优化</a:t>
            </a:r>
          </a:p>
        </p:txBody>
      </p:sp>
      <p:sp>
        <p:nvSpPr>
          <p:cNvPr id="9" name="灯片编号占位符 8"/>
          <p:cNvSpPr>
            <a:spLocks noGrp="1"/>
          </p:cNvSpPr>
          <p:nvPr>
            <p:ph type="sldNum" sz="quarter" idx="12"/>
          </p:nvPr>
        </p:nvSpPr>
        <p:spPr/>
        <p:txBody>
          <a:bodyPr/>
          <a:lstStyle/>
          <a:p>
            <a:fld id="{7AF016A1-9F15-429F-9EFD-84004B73C732}" type="slidenum">
              <a:rPr lang="en-US" altLang="zh-CN" smtClean="0"/>
              <a:pPr/>
              <a:t>80</a:t>
            </a:fld>
            <a:r>
              <a:rPr lang="en-US" altLang="zh-CN"/>
              <a:t>/158</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173" name="Rectangle 9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8241" name="Rectangle 4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1215" name="Rectangle 1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TextBox 7"/>
          <p:cNvSpPr txBox="1"/>
          <p:nvPr/>
        </p:nvSpPr>
        <p:spPr>
          <a:xfrm>
            <a:off x="285720" y="2143116"/>
            <a:ext cx="8715436" cy="3677930"/>
          </a:xfrm>
          <a:prstGeom prst="rect">
            <a:avLst/>
          </a:prstGeom>
          <a:noFill/>
        </p:spPr>
        <p:txBody>
          <a:bodyPr wrap="square" rtlCol="0">
            <a:spAutoFit/>
          </a:bodyPr>
          <a:lstStyle/>
          <a:p>
            <a:pPr algn="l">
              <a:lnSpc>
                <a:spcPct val="100000"/>
              </a:lnSpc>
            </a:pPr>
            <a:r>
              <a:rPr lang="zh-CN" altLang="zh-CN" sz="2200">
                <a:solidFill>
                  <a:srgbClr val="0000FF"/>
                </a:solidFill>
                <a:latin typeface="Consolas" pitchFamily="49" charset="0"/>
                <a:ea typeface="仿宋" pitchFamily="49" charset="-122"/>
              </a:rPr>
              <a:t>从</a:t>
            </a:r>
            <a:r>
              <a:rPr lang="zh-CN" altLang="en-US" sz="2200">
                <a:solidFill>
                  <a:srgbClr val="0000FF"/>
                </a:solidFill>
                <a:latin typeface="Consolas" pitchFamily="49" charset="0"/>
                <a:ea typeface="仿宋" pitchFamily="49" charset="-122"/>
              </a:rPr>
              <a:t>状态转移</a:t>
            </a:r>
            <a:r>
              <a:rPr lang="zh-CN" altLang="zh-CN" sz="2200">
                <a:solidFill>
                  <a:srgbClr val="0000FF"/>
                </a:solidFill>
                <a:latin typeface="Consolas" pitchFamily="49" charset="0"/>
                <a:ea typeface="仿宋" pitchFamily="49" charset="-122"/>
              </a:rPr>
              <a:t>方程可以推出如下关系（其中</a:t>
            </a:r>
            <a:r>
              <a:rPr lang="en-US" altLang="zh-CN" sz="2200">
                <a:solidFill>
                  <a:srgbClr val="0000FF"/>
                </a:solidFill>
                <a:latin typeface="Consolas" pitchFamily="49" charset="0"/>
                <a:ea typeface="仿宋" pitchFamily="49" charset="-122"/>
              </a:rPr>
              <a:t>dp[*][</a:t>
            </a:r>
            <a:r>
              <a:rPr lang="en-US" altLang="zh-CN" sz="2200" i="1">
                <a:solidFill>
                  <a:srgbClr val="0000FF"/>
                </a:solidFill>
                <a:latin typeface="Consolas" pitchFamily="49" charset="0"/>
                <a:ea typeface="仿宋" pitchFamily="49" charset="-122"/>
              </a:rPr>
              <a:t>k</a:t>
            </a:r>
            <a:r>
              <a:rPr lang="en-US" altLang="zh-CN" sz="2200">
                <a:solidFill>
                  <a:srgbClr val="0000FF"/>
                </a:solidFill>
                <a:latin typeface="Consolas" pitchFamily="49" charset="0"/>
                <a:ea typeface="仿宋" pitchFamily="49" charset="-122"/>
              </a:rPr>
              <a:t>][</a:t>
            </a:r>
            <a:r>
              <a:rPr lang="en-US" altLang="zh-CN" sz="2200" i="1">
                <a:solidFill>
                  <a:srgbClr val="0000FF"/>
                </a:solidFill>
                <a:latin typeface="Consolas" pitchFamily="49" charset="0"/>
                <a:ea typeface="仿宋" pitchFamily="49" charset="-122"/>
              </a:rPr>
              <a:t>k</a:t>
            </a:r>
            <a:r>
              <a:rPr lang="en-US" altLang="zh-CN" sz="2200">
                <a:solidFill>
                  <a:srgbClr val="0000FF"/>
                </a:solidFill>
                <a:latin typeface="Consolas" pitchFamily="49" charset="0"/>
                <a:ea typeface="仿宋" pitchFamily="49" charset="-122"/>
              </a:rPr>
              <a:t>]=0</a:t>
            </a:r>
            <a:r>
              <a:rPr lang="zh-CN" altLang="zh-CN" sz="2200">
                <a:solidFill>
                  <a:srgbClr val="0000FF"/>
                </a:solidFill>
                <a:latin typeface="Consolas" pitchFamily="49" charset="0"/>
                <a:ea typeface="仿宋" pitchFamily="49" charset="-122"/>
              </a:rPr>
              <a:t>）：</a:t>
            </a:r>
          </a:p>
          <a:p>
            <a:pPr algn="l">
              <a:lnSpc>
                <a:spcPct val="100000"/>
              </a:lnSpc>
            </a:pPr>
            <a:r>
              <a:rPr lang="en-US" altLang="zh-CN" sz="2000">
                <a:solidFill>
                  <a:srgbClr val="0000FF"/>
                </a:solidFill>
                <a:latin typeface="Consolas" pitchFamily="49" charset="0"/>
                <a:ea typeface="仿宋" pitchFamily="49" charset="-122"/>
              </a:rPr>
              <a:t>dp[</a:t>
            </a:r>
            <a:r>
              <a:rPr lang="en-US" altLang="zh-CN" sz="2000" i="1">
                <a:solidFill>
                  <a:srgbClr val="0000FF"/>
                </a:solidFill>
                <a:latin typeface="Consolas" pitchFamily="49" charset="0"/>
                <a:ea typeface="仿宋" pitchFamily="49" charset="-122"/>
              </a:rPr>
              <a:t>k</a:t>
            </a:r>
            <a:r>
              <a:rPr lang="en-US" altLang="zh-CN" sz="2000">
                <a:solidFill>
                  <a:srgbClr val="0000FF"/>
                </a:solidFill>
                <a:latin typeface="Consolas" pitchFamily="49" charset="0"/>
                <a:ea typeface="仿宋" pitchFamily="49" charset="-122"/>
              </a:rPr>
              <a:t>][</a:t>
            </a:r>
            <a:r>
              <a:rPr lang="en-US" altLang="zh-CN" sz="2000" i="1">
                <a:solidFill>
                  <a:srgbClr val="0000FF"/>
                </a:solidFill>
                <a:latin typeface="Consolas" pitchFamily="49" charset="0"/>
                <a:ea typeface="仿宋" pitchFamily="49" charset="-122"/>
              </a:rPr>
              <a:t>i</a:t>
            </a:r>
            <a:r>
              <a:rPr lang="en-US" altLang="zh-CN" sz="2000">
                <a:solidFill>
                  <a:srgbClr val="0000FF"/>
                </a:solidFill>
                <a:latin typeface="Consolas" pitchFamily="49" charset="0"/>
                <a:ea typeface="仿宋" pitchFamily="49" charset="-122"/>
              </a:rPr>
              <a:t>][</a:t>
            </a:r>
            <a:r>
              <a:rPr lang="en-US" altLang="zh-CN" sz="2000" i="1">
                <a:solidFill>
                  <a:srgbClr val="0000FF"/>
                </a:solidFill>
                <a:latin typeface="Consolas" pitchFamily="49" charset="0"/>
                <a:ea typeface="仿宋" pitchFamily="49" charset="-122"/>
              </a:rPr>
              <a:t>k</a:t>
            </a:r>
            <a:r>
              <a:rPr lang="en-US" altLang="zh-CN" sz="2000">
                <a:solidFill>
                  <a:srgbClr val="0000FF"/>
                </a:solidFill>
                <a:latin typeface="Consolas" pitchFamily="49" charset="0"/>
                <a:ea typeface="仿宋" pitchFamily="49" charset="-122"/>
              </a:rPr>
              <a:t>]=min{dp[</a:t>
            </a:r>
            <a:r>
              <a:rPr lang="en-US" altLang="zh-CN" sz="2000" i="1">
                <a:solidFill>
                  <a:srgbClr val="0000FF"/>
                </a:solidFill>
                <a:latin typeface="Consolas" pitchFamily="49" charset="0"/>
                <a:ea typeface="仿宋" pitchFamily="49" charset="-122"/>
              </a:rPr>
              <a:t>k</a:t>
            </a:r>
            <a:r>
              <a:rPr lang="en-US" altLang="zh-CN" sz="2000">
                <a:solidFill>
                  <a:srgbClr val="0000FF"/>
                </a:solidFill>
                <a:latin typeface="Consolas" pitchFamily="49" charset="0"/>
                <a:ea typeface="仿宋" pitchFamily="49" charset="-122"/>
              </a:rPr>
              <a:t>-1][</a:t>
            </a:r>
            <a:r>
              <a:rPr lang="en-US" altLang="zh-CN" sz="2000" i="1">
                <a:solidFill>
                  <a:srgbClr val="0000FF"/>
                </a:solidFill>
                <a:latin typeface="Consolas" pitchFamily="49" charset="0"/>
                <a:ea typeface="仿宋" pitchFamily="49" charset="-122"/>
              </a:rPr>
              <a:t>i</a:t>
            </a:r>
            <a:r>
              <a:rPr lang="en-US" altLang="zh-CN" sz="2000">
                <a:solidFill>
                  <a:srgbClr val="0000FF"/>
                </a:solidFill>
                <a:latin typeface="Consolas" pitchFamily="49" charset="0"/>
                <a:ea typeface="仿宋" pitchFamily="49" charset="-122"/>
              </a:rPr>
              <a:t>][</a:t>
            </a:r>
            <a:r>
              <a:rPr lang="en-US" altLang="zh-CN" sz="2000" i="1">
                <a:solidFill>
                  <a:srgbClr val="0000FF"/>
                </a:solidFill>
                <a:latin typeface="Consolas" pitchFamily="49" charset="0"/>
                <a:ea typeface="仿宋" pitchFamily="49" charset="-122"/>
              </a:rPr>
              <a:t>k</a:t>
            </a:r>
            <a:r>
              <a:rPr lang="en-US" altLang="zh-CN" sz="2000">
                <a:solidFill>
                  <a:srgbClr val="0000FF"/>
                </a:solidFill>
                <a:latin typeface="Consolas" pitchFamily="49" charset="0"/>
                <a:ea typeface="仿宋" pitchFamily="49" charset="-122"/>
              </a:rPr>
              <a:t>]</a:t>
            </a:r>
            <a:r>
              <a:rPr lang="zh-CN" altLang="zh-CN" sz="2000">
                <a:solidFill>
                  <a:srgbClr val="0000FF"/>
                </a:solidFill>
                <a:latin typeface="Consolas" pitchFamily="49" charset="0"/>
                <a:ea typeface="仿宋" pitchFamily="49" charset="-122"/>
              </a:rPr>
              <a:t>，</a:t>
            </a:r>
            <a:r>
              <a:rPr lang="en-US" altLang="zh-CN" sz="2000">
                <a:solidFill>
                  <a:srgbClr val="0000FF"/>
                </a:solidFill>
                <a:latin typeface="Consolas" pitchFamily="49" charset="0"/>
                <a:ea typeface="仿宋" pitchFamily="49" charset="-122"/>
              </a:rPr>
              <a:t>dp[</a:t>
            </a:r>
            <a:r>
              <a:rPr lang="en-US" altLang="zh-CN" sz="2000" i="1">
                <a:solidFill>
                  <a:srgbClr val="0000FF"/>
                </a:solidFill>
                <a:latin typeface="Consolas" pitchFamily="49" charset="0"/>
                <a:ea typeface="仿宋" pitchFamily="49" charset="-122"/>
              </a:rPr>
              <a:t>k</a:t>
            </a:r>
            <a:r>
              <a:rPr lang="en-US" altLang="zh-CN" sz="2000">
                <a:solidFill>
                  <a:srgbClr val="0000FF"/>
                </a:solidFill>
                <a:latin typeface="Consolas" pitchFamily="49" charset="0"/>
                <a:ea typeface="仿宋" pitchFamily="49" charset="-122"/>
              </a:rPr>
              <a:t>-1][</a:t>
            </a:r>
            <a:r>
              <a:rPr lang="en-US" altLang="zh-CN" sz="2000" i="1">
                <a:solidFill>
                  <a:srgbClr val="0000FF"/>
                </a:solidFill>
                <a:latin typeface="Consolas" pitchFamily="49" charset="0"/>
                <a:ea typeface="仿宋" pitchFamily="49" charset="-122"/>
              </a:rPr>
              <a:t>i</a:t>
            </a:r>
            <a:r>
              <a:rPr lang="en-US" altLang="zh-CN" sz="2000">
                <a:solidFill>
                  <a:srgbClr val="0000FF"/>
                </a:solidFill>
                <a:latin typeface="Consolas" pitchFamily="49" charset="0"/>
                <a:ea typeface="仿宋" pitchFamily="49" charset="-122"/>
              </a:rPr>
              <a:t>][</a:t>
            </a:r>
            <a:r>
              <a:rPr lang="en-US" altLang="zh-CN" sz="2000" i="1">
                <a:solidFill>
                  <a:srgbClr val="0000FF"/>
                </a:solidFill>
                <a:latin typeface="Consolas" pitchFamily="49" charset="0"/>
                <a:ea typeface="仿宋" pitchFamily="49" charset="-122"/>
              </a:rPr>
              <a:t>k</a:t>
            </a:r>
            <a:r>
              <a:rPr lang="en-US" altLang="zh-CN" sz="2000">
                <a:solidFill>
                  <a:srgbClr val="0000FF"/>
                </a:solidFill>
                <a:latin typeface="Consolas" pitchFamily="49" charset="0"/>
                <a:ea typeface="仿宋" pitchFamily="49" charset="-122"/>
              </a:rPr>
              <a:t>]+dp[</a:t>
            </a:r>
            <a:r>
              <a:rPr lang="en-US" altLang="zh-CN" sz="2000" i="1">
                <a:solidFill>
                  <a:srgbClr val="0000FF"/>
                </a:solidFill>
                <a:latin typeface="Consolas" pitchFamily="49" charset="0"/>
                <a:ea typeface="仿宋" pitchFamily="49" charset="-122"/>
              </a:rPr>
              <a:t>k</a:t>
            </a:r>
            <a:r>
              <a:rPr lang="en-US" altLang="zh-CN" sz="2000">
                <a:solidFill>
                  <a:srgbClr val="0000FF"/>
                </a:solidFill>
                <a:latin typeface="Consolas" pitchFamily="49" charset="0"/>
                <a:ea typeface="仿宋" pitchFamily="49" charset="-122"/>
              </a:rPr>
              <a:t>-1][</a:t>
            </a:r>
            <a:r>
              <a:rPr lang="en-US" altLang="zh-CN" sz="2000" i="1">
                <a:solidFill>
                  <a:srgbClr val="0000FF"/>
                </a:solidFill>
                <a:latin typeface="Consolas" pitchFamily="49" charset="0"/>
                <a:ea typeface="仿宋" pitchFamily="49" charset="-122"/>
              </a:rPr>
              <a:t>k</a:t>
            </a:r>
            <a:r>
              <a:rPr lang="en-US" altLang="zh-CN" sz="2000">
                <a:solidFill>
                  <a:srgbClr val="0000FF"/>
                </a:solidFill>
                <a:latin typeface="Consolas" pitchFamily="49" charset="0"/>
                <a:ea typeface="仿宋" pitchFamily="49" charset="-122"/>
              </a:rPr>
              <a:t>][</a:t>
            </a:r>
            <a:r>
              <a:rPr lang="en-US" altLang="zh-CN" sz="2000" i="1">
                <a:solidFill>
                  <a:srgbClr val="0000FF"/>
                </a:solidFill>
                <a:latin typeface="Consolas" pitchFamily="49" charset="0"/>
                <a:ea typeface="仿宋" pitchFamily="49" charset="-122"/>
              </a:rPr>
              <a:t>k</a:t>
            </a:r>
            <a:r>
              <a:rPr lang="en-US" altLang="zh-CN" sz="2000">
                <a:solidFill>
                  <a:srgbClr val="0000FF"/>
                </a:solidFill>
                <a:latin typeface="Consolas" pitchFamily="49" charset="0"/>
                <a:ea typeface="仿宋" pitchFamily="49" charset="-122"/>
              </a:rPr>
              <a:t>]}</a:t>
            </a:r>
          </a:p>
          <a:p>
            <a:pPr algn="l">
              <a:lnSpc>
                <a:spcPct val="100000"/>
              </a:lnSpc>
            </a:pPr>
            <a:r>
              <a:rPr lang="en-US" altLang="zh-CN" sz="2000">
                <a:solidFill>
                  <a:srgbClr val="0000FF"/>
                </a:solidFill>
                <a:latin typeface="Consolas" pitchFamily="49" charset="0"/>
                <a:ea typeface="仿宋" pitchFamily="49" charset="-122"/>
              </a:rPr>
              <a:t>	    =dp[</a:t>
            </a:r>
            <a:r>
              <a:rPr lang="en-US" altLang="zh-CN" sz="2000" i="1">
                <a:solidFill>
                  <a:srgbClr val="0000FF"/>
                </a:solidFill>
                <a:latin typeface="Consolas" pitchFamily="49" charset="0"/>
                <a:ea typeface="仿宋" pitchFamily="49" charset="-122"/>
              </a:rPr>
              <a:t>k</a:t>
            </a:r>
            <a:r>
              <a:rPr lang="en-US" altLang="zh-CN" sz="2000">
                <a:solidFill>
                  <a:srgbClr val="0000FF"/>
                </a:solidFill>
                <a:latin typeface="Consolas" pitchFamily="49" charset="0"/>
                <a:ea typeface="仿宋" pitchFamily="49" charset="-122"/>
              </a:rPr>
              <a:t>-1][</a:t>
            </a:r>
            <a:r>
              <a:rPr lang="en-US" altLang="zh-CN" sz="2000" i="1">
                <a:solidFill>
                  <a:srgbClr val="0000FF"/>
                </a:solidFill>
                <a:latin typeface="Consolas" pitchFamily="49" charset="0"/>
                <a:ea typeface="仿宋" pitchFamily="49" charset="-122"/>
              </a:rPr>
              <a:t>i</a:t>
            </a:r>
            <a:r>
              <a:rPr lang="en-US" altLang="zh-CN" sz="2000">
                <a:solidFill>
                  <a:srgbClr val="0000FF"/>
                </a:solidFill>
                <a:latin typeface="Consolas" pitchFamily="49" charset="0"/>
                <a:ea typeface="仿宋" pitchFamily="49" charset="-122"/>
              </a:rPr>
              <a:t>][</a:t>
            </a:r>
            <a:r>
              <a:rPr lang="en-US" altLang="zh-CN" sz="2000" i="1">
                <a:solidFill>
                  <a:srgbClr val="0000FF"/>
                </a:solidFill>
                <a:latin typeface="Consolas" pitchFamily="49" charset="0"/>
                <a:ea typeface="仿宋" pitchFamily="49" charset="-122"/>
              </a:rPr>
              <a:t>k</a:t>
            </a: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a:p>
            <a:pPr algn="l">
              <a:lnSpc>
                <a:spcPct val="100000"/>
              </a:lnSpc>
            </a:pPr>
            <a:r>
              <a:rPr lang="en-US" altLang="zh-CN" sz="2000">
                <a:solidFill>
                  <a:srgbClr val="0000FF"/>
                </a:solidFill>
                <a:latin typeface="Consolas" pitchFamily="49" charset="0"/>
                <a:ea typeface="仿宋" pitchFamily="49" charset="-122"/>
              </a:rPr>
              <a:t>dp[</a:t>
            </a:r>
            <a:r>
              <a:rPr lang="en-US" altLang="zh-CN" sz="2000" i="1">
                <a:solidFill>
                  <a:srgbClr val="0000FF"/>
                </a:solidFill>
                <a:latin typeface="Consolas" pitchFamily="49" charset="0"/>
                <a:ea typeface="仿宋" pitchFamily="49" charset="-122"/>
              </a:rPr>
              <a:t>k</a:t>
            </a:r>
            <a:r>
              <a:rPr lang="en-US" altLang="zh-CN" sz="2000">
                <a:solidFill>
                  <a:srgbClr val="0000FF"/>
                </a:solidFill>
                <a:latin typeface="Consolas" pitchFamily="49" charset="0"/>
                <a:ea typeface="仿宋" pitchFamily="49" charset="-122"/>
              </a:rPr>
              <a:t>][</a:t>
            </a:r>
            <a:r>
              <a:rPr lang="en-US" altLang="zh-CN" sz="2000" i="1">
                <a:solidFill>
                  <a:srgbClr val="0000FF"/>
                </a:solidFill>
                <a:latin typeface="Consolas" pitchFamily="49" charset="0"/>
                <a:ea typeface="仿宋" pitchFamily="49" charset="-122"/>
              </a:rPr>
              <a:t>k</a:t>
            </a:r>
            <a:r>
              <a:rPr lang="en-US" altLang="zh-CN" sz="2000">
                <a:solidFill>
                  <a:srgbClr val="0000FF"/>
                </a:solidFill>
                <a:latin typeface="Consolas" pitchFamily="49" charset="0"/>
                <a:ea typeface="仿宋" pitchFamily="49" charset="-122"/>
              </a:rPr>
              <a:t>][</a:t>
            </a:r>
            <a:r>
              <a:rPr lang="en-US" altLang="zh-CN" sz="2000" i="1">
                <a:solidFill>
                  <a:srgbClr val="0000FF"/>
                </a:solidFill>
                <a:latin typeface="Consolas" pitchFamily="49" charset="0"/>
                <a:ea typeface="仿宋" pitchFamily="49" charset="-122"/>
              </a:rPr>
              <a:t>j</a:t>
            </a:r>
            <a:r>
              <a:rPr lang="en-US" altLang="zh-CN" sz="2000">
                <a:solidFill>
                  <a:srgbClr val="0000FF"/>
                </a:solidFill>
                <a:latin typeface="Consolas" pitchFamily="49" charset="0"/>
                <a:ea typeface="仿宋" pitchFamily="49" charset="-122"/>
              </a:rPr>
              <a:t>]=min{dp[</a:t>
            </a:r>
            <a:r>
              <a:rPr lang="en-US" altLang="zh-CN" sz="2000" i="1">
                <a:solidFill>
                  <a:srgbClr val="0000FF"/>
                </a:solidFill>
                <a:latin typeface="Consolas" pitchFamily="49" charset="0"/>
                <a:ea typeface="仿宋" pitchFamily="49" charset="-122"/>
              </a:rPr>
              <a:t>k</a:t>
            </a:r>
            <a:r>
              <a:rPr lang="en-US" altLang="zh-CN" sz="2000">
                <a:solidFill>
                  <a:srgbClr val="0000FF"/>
                </a:solidFill>
                <a:latin typeface="Consolas" pitchFamily="49" charset="0"/>
                <a:ea typeface="仿宋" pitchFamily="49" charset="-122"/>
              </a:rPr>
              <a:t>-1][</a:t>
            </a:r>
            <a:r>
              <a:rPr lang="en-US" altLang="zh-CN" sz="2000" i="1">
                <a:solidFill>
                  <a:srgbClr val="0000FF"/>
                </a:solidFill>
                <a:latin typeface="Consolas" pitchFamily="49" charset="0"/>
                <a:ea typeface="仿宋" pitchFamily="49" charset="-122"/>
              </a:rPr>
              <a:t>k</a:t>
            </a:r>
            <a:r>
              <a:rPr lang="en-US" altLang="zh-CN" sz="2000">
                <a:solidFill>
                  <a:srgbClr val="0000FF"/>
                </a:solidFill>
                <a:latin typeface="Consolas" pitchFamily="49" charset="0"/>
                <a:ea typeface="仿宋" pitchFamily="49" charset="-122"/>
              </a:rPr>
              <a:t>][</a:t>
            </a:r>
            <a:r>
              <a:rPr lang="en-US" altLang="zh-CN" sz="2000" i="1">
                <a:solidFill>
                  <a:srgbClr val="0000FF"/>
                </a:solidFill>
                <a:latin typeface="Consolas" pitchFamily="49" charset="0"/>
                <a:ea typeface="仿宋" pitchFamily="49" charset="-122"/>
              </a:rPr>
              <a:t>j</a:t>
            </a:r>
            <a:r>
              <a:rPr lang="en-US" altLang="zh-CN" sz="2000">
                <a:solidFill>
                  <a:srgbClr val="0000FF"/>
                </a:solidFill>
                <a:latin typeface="Consolas" pitchFamily="49" charset="0"/>
                <a:ea typeface="仿宋" pitchFamily="49" charset="-122"/>
              </a:rPr>
              <a:t>]</a:t>
            </a:r>
            <a:r>
              <a:rPr lang="zh-CN" altLang="zh-CN" sz="2000">
                <a:solidFill>
                  <a:srgbClr val="0000FF"/>
                </a:solidFill>
                <a:latin typeface="Consolas" pitchFamily="49" charset="0"/>
                <a:ea typeface="仿宋" pitchFamily="49" charset="-122"/>
              </a:rPr>
              <a:t>，</a:t>
            </a:r>
            <a:r>
              <a:rPr lang="en-US" altLang="zh-CN" sz="2000">
                <a:solidFill>
                  <a:srgbClr val="0000FF"/>
                </a:solidFill>
                <a:latin typeface="Consolas" pitchFamily="49" charset="0"/>
                <a:ea typeface="仿宋" pitchFamily="49" charset="-122"/>
              </a:rPr>
              <a:t>dp[</a:t>
            </a:r>
            <a:r>
              <a:rPr lang="en-US" altLang="zh-CN" sz="2000" i="1">
                <a:solidFill>
                  <a:srgbClr val="0000FF"/>
                </a:solidFill>
                <a:latin typeface="Consolas" pitchFamily="49" charset="0"/>
                <a:ea typeface="仿宋" pitchFamily="49" charset="-122"/>
              </a:rPr>
              <a:t>k</a:t>
            </a:r>
            <a:r>
              <a:rPr lang="en-US" altLang="zh-CN" sz="2000">
                <a:solidFill>
                  <a:srgbClr val="0000FF"/>
                </a:solidFill>
                <a:latin typeface="Consolas" pitchFamily="49" charset="0"/>
                <a:ea typeface="仿宋" pitchFamily="49" charset="-122"/>
              </a:rPr>
              <a:t>-1][</a:t>
            </a:r>
            <a:r>
              <a:rPr lang="en-US" altLang="zh-CN" sz="2000" i="1">
                <a:solidFill>
                  <a:srgbClr val="0000FF"/>
                </a:solidFill>
                <a:latin typeface="Consolas" pitchFamily="49" charset="0"/>
                <a:ea typeface="仿宋" pitchFamily="49" charset="-122"/>
              </a:rPr>
              <a:t>k</a:t>
            </a:r>
            <a:r>
              <a:rPr lang="en-US" altLang="zh-CN" sz="2000">
                <a:solidFill>
                  <a:srgbClr val="0000FF"/>
                </a:solidFill>
                <a:latin typeface="Consolas" pitchFamily="49" charset="0"/>
                <a:ea typeface="仿宋" pitchFamily="49" charset="-122"/>
              </a:rPr>
              <a:t>][</a:t>
            </a:r>
            <a:r>
              <a:rPr lang="en-US" altLang="zh-CN" sz="2000" i="1">
                <a:solidFill>
                  <a:srgbClr val="0000FF"/>
                </a:solidFill>
                <a:latin typeface="Consolas" pitchFamily="49" charset="0"/>
                <a:ea typeface="仿宋" pitchFamily="49" charset="-122"/>
              </a:rPr>
              <a:t>k</a:t>
            </a:r>
            <a:r>
              <a:rPr lang="en-US" altLang="zh-CN" sz="2000">
                <a:solidFill>
                  <a:srgbClr val="0000FF"/>
                </a:solidFill>
                <a:latin typeface="Consolas" pitchFamily="49" charset="0"/>
                <a:ea typeface="仿宋" pitchFamily="49" charset="-122"/>
              </a:rPr>
              <a:t>]+dp[</a:t>
            </a:r>
            <a:r>
              <a:rPr lang="en-US" altLang="zh-CN" sz="2000" i="1">
                <a:solidFill>
                  <a:srgbClr val="0000FF"/>
                </a:solidFill>
                <a:latin typeface="Consolas" pitchFamily="49" charset="0"/>
                <a:ea typeface="仿宋" pitchFamily="49" charset="-122"/>
              </a:rPr>
              <a:t>k</a:t>
            </a:r>
            <a:r>
              <a:rPr lang="en-US" altLang="zh-CN" sz="2000">
                <a:solidFill>
                  <a:srgbClr val="0000FF"/>
                </a:solidFill>
                <a:latin typeface="Consolas" pitchFamily="49" charset="0"/>
                <a:ea typeface="仿宋" pitchFamily="49" charset="-122"/>
              </a:rPr>
              <a:t>-1][</a:t>
            </a:r>
            <a:r>
              <a:rPr lang="en-US" altLang="zh-CN" sz="2000" i="1">
                <a:solidFill>
                  <a:srgbClr val="0000FF"/>
                </a:solidFill>
                <a:latin typeface="Consolas" pitchFamily="49" charset="0"/>
                <a:ea typeface="仿宋" pitchFamily="49" charset="-122"/>
              </a:rPr>
              <a:t>k</a:t>
            </a:r>
            <a:r>
              <a:rPr lang="en-US" altLang="zh-CN" sz="2000">
                <a:solidFill>
                  <a:srgbClr val="0000FF"/>
                </a:solidFill>
                <a:latin typeface="Consolas" pitchFamily="49" charset="0"/>
                <a:ea typeface="仿宋" pitchFamily="49" charset="-122"/>
              </a:rPr>
              <a:t>][</a:t>
            </a:r>
            <a:r>
              <a:rPr lang="en-US" altLang="zh-CN" sz="2000" i="1">
                <a:solidFill>
                  <a:srgbClr val="0000FF"/>
                </a:solidFill>
                <a:latin typeface="Consolas" pitchFamily="49" charset="0"/>
                <a:ea typeface="仿宋" pitchFamily="49" charset="-122"/>
              </a:rPr>
              <a:t>j</a:t>
            </a:r>
            <a:r>
              <a:rPr lang="en-US" altLang="zh-CN" sz="2000">
                <a:solidFill>
                  <a:srgbClr val="0000FF"/>
                </a:solidFill>
                <a:latin typeface="Consolas" pitchFamily="49" charset="0"/>
                <a:ea typeface="仿宋" pitchFamily="49" charset="-122"/>
              </a:rPr>
              <a:t>]}</a:t>
            </a:r>
          </a:p>
          <a:p>
            <a:pPr algn="l">
              <a:lnSpc>
                <a:spcPct val="100000"/>
              </a:lnSpc>
            </a:pPr>
            <a:r>
              <a:rPr lang="en-US" altLang="zh-CN" sz="2000">
                <a:solidFill>
                  <a:srgbClr val="0000FF"/>
                </a:solidFill>
                <a:latin typeface="Consolas" pitchFamily="49" charset="0"/>
                <a:ea typeface="仿宋" pitchFamily="49" charset="-122"/>
              </a:rPr>
              <a:t>           =dp[</a:t>
            </a:r>
            <a:r>
              <a:rPr lang="en-US" altLang="zh-CN" sz="2000" i="1">
                <a:solidFill>
                  <a:srgbClr val="0000FF"/>
                </a:solidFill>
                <a:latin typeface="Consolas" pitchFamily="49" charset="0"/>
                <a:ea typeface="仿宋" pitchFamily="49" charset="-122"/>
              </a:rPr>
              <a:t>k</a:t>
            </a:r>
            <a:r>
              <a:rPr lang="en-US" altLang="zh-CN" sz="2000">
                <a:solidFill>
                  <a:srgbClr val="0000FF"/>
                </a:solidFill>
                <a:latin typeface="Consolas" pitchFamily="49" charset="0"/>
                <a:ea typeface="仿宋" pitchFamily="49" charset="-122"/>
              </a:rPr>
              <a:t>-1][</a:t>
            </a:r>
            <a:r>
              <a:rPr lang="en-US" altLang="zh-CN" sz="2000" i="1">
                <a:solidFill>
                  <a:srgbClr val="0000FF"/>
                </a:solidFill>
                <a:latin typeface="Consolas" pitchFamily="49" charset="0"/>
                <a:ea typeface="仿宋" pitchFamily="49" charset="-122"/>
              </a:rPr>
              <a:t>k</a:t>
            </a:r>
            <a:r>
              <a:rPr lang="en-US" altLang="zh-CN" sz="2000">
                <a:solidFill>
                  <a:srgbClr val="0000FF"/>
                </a:solidFill>
                <a:latin typeface="Consolas" pitchFamily="49" charset="0"/>
                <a:ea typeface="仿宋" pitchFamily="49" charset="-122"/>
              </a:rPr>
              <a:t>][</a:t>
            </a:r>
            <a:r>
              <a:rPr lang="en-US" altLang="zh-CN" sz="2000" i="1">
                <a:solidFill>
                  <a:srgbClr val="0000FF"/>
                </a:solidFill>
                <a:latin typeface="Consolas" pitchFamily="49" charset="0"/>
                <a:ea typeface="仿宋" pitchFamily="49" charset="-122"/>
              </a:rPr>
              <a:t>j</a:t>
            </a: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a:p>
            <a:pPr algn="l">
              <a:lnSpc>
                <a:spcPts val="3200"/>
              </a:lnSpc>
            </a:pPr>
            <a:r>
              <a:rPr lang="zh-CN" altLang="en-US" sz="2200">
                <a:solidFill>
                  <a:srgbClr val="0000FF"/>
                </a:solidFill>
                <a:latin typeface="Consolas" pitchFamily="49" charset="0"/>
                <a:ea typeface="仿宋" pitchFamily="49" charset="-122"/>
              </a:rPr>
              <a:t>即</a:t>
            </a:r>
            <a:r>
              <a:rPr lang="zh-CN" altLang="zh-CN" sz="2200">
                <a:solidFill>
                  <a:srgbClr val="0000FF"/>
                </a:solidFill>
                <a:latin typeface="Consolas" pitchFamily="49" charset="0"/>
                <a:ea typeface="仿宋" pitchFamily="49" charset="-122"/>
              </a:rPr>
              <a:t>在迭代为</a:t>
            </a:r>
            <a:r>
              <a:rPr lang="en-US" altLang="zh-CN" sz="2200" i="1">
                <a:solidFill>
                  <a:srgbClr val="0000FF"/>
                </a:solidFill>
                <a:latin typeface="Consolas" pitchFamily="49" charset="0"/>
                <a:ea typeface="仿宋" pitchFamily="49" charset="-122"/>
              </a:rPr>
              <a:t>k</a:t>
            </a:r>
            <a:r>
              <a:rPr lang="zh-CN" altLang="zh-CN" sz="2200">
                <a:solidFill>
                  <a:srgbClr val="0000FF"/>
                </a:solidFill>
                <a:latin typeface="Consolas" pitchFamily="49" charset="0"/>
                <a:ea typeface="仿宋" pitchFamily="49" charset="-122"/>
              </a:rPr>
              <a:t>时</a:t>
            </a:r>
            <a:r>
              <a:rPr lang="en-US" altLang="zh-CN" sz="2200">
                <a:solidFill>
                  <a:srgbClr val="FF00FF"/>
                </a:solidFill>
                <a:latin typeface="Consolas" pitchFamily="49" charset="0"/>
                <a:ea typeface="仿宋" pitchFamily="49" charset="-122"/>
              </a:rPr>
              <a:t>dp[</a:t>
            </a:r>
            <a:r>
              <a:rPr lang="en-US" altLang="zh-CN" sz="2200" i="1">
                <a:solidFill>
                  <a:srgbClr val="FF00FF"/>
                </a:solidFill>
                <a:latin typeface="Consolas" pitchFamily="49" charset="0"/>
                <a:ea typeface="仿宋" pitchFamily="49" charset="-122"/>
              </a:rPr>
              <a:t>k</a:t>
            </a:r>
            <a:r>
              <a:rPr lang="en-US" altLang="zh-CN" sz="2200">
                <a:solidFill>
                  <a:srgbClr val="FF00FF"/>
                </a:solidFill>
                <a:latin typeface="Consolas" pitchFamily="49" charset="0"/>
                <a:ea typeface="仿宋" pitchFamily="49" charset="-122"/>
              </a:rPr>
              <a:t>][</a:t>
            </a:r>
            <a:r>
              <a:rPr lang="en-US" altLang="zh-CN" sz="2200" i="1">
                <a:solidFill>
                  <a:srgbClr val="FF00FF"/>
                </a:solidFill>
                <a:latin typeface="Consolas" pitchFamily="49" charset="0"/>
                <a:ea typeface="仿宋" pitchFamily="49" charset="-122"/>
              </a:rPr>
              <a:t>i</a:t>
            </a:r>
            <a:r>
              <a:rPr lang="en-US" altLang="zh-CN" sz="2200">
                <a:solidFill>
                  <a:srgbClr val="FF00FF"/>
                </a:solidFill>
                <a:latin typeface="Consolas" pitchFamily="49" charset="0"/>
                <a:ea typeface="仿宋" pitchFamily="49" charset="-122"/>
              </a:rPr>
              <a:t>][</a:t>
            </a:r>
            <a:r>
              <a:rPr lang="en-US" altLang="zh-CN" sz="2200" i="1">
                <a:solidFill>
                  <a:srgbClr val="FF00FF"/>
                </a:solidFill>
                <a:latin typeface="Consolas" pitchFamily="49" charset="0"/>
                <a:ea typeface="仿宋" pitchFamily="49" charset="-122"/>
              </a:rPr>
              <a:t>j</a:t>
            </a:r>
            <a:r>
              <a:rPr lang="en-US" altLang="zh-CN" sz="2200">
                <a:solidFill>
                  <a:srgbClr val="FF00FF"/>
                </a:solidFill>
                <a:latin typeface="Consolas" pitchFamily="49" charset="0"/>
                <a:ea typeface="仿宋" pitchFamily="49" charset="-122"/>
              </a:rPr>
              <a:t>]</a:t>
            </a:r>
            <a:r>
              <a:rPr lang="zh-CN" altLang="zh-CN" sz="2200">
                <a:solidFill>
                  <a:srgbClr val="FF00FF"/>
                </a:solidFill>
                <a:latin typeface="Consolas" pitchFamily="49" charset="0"/>
                <a:ea typeface="仿宋" pitchFamily="49" charset="-122"/>
              </a:rPr>
              <a:t>仅仅根据自己的值以及</a:t>
            </a:r>
            <a:r>
              <a:rPr lang="en-US" altLang="zh-CN" sz="2200">
                <a:solidFill>
                  <a:srgbClr val="FF00FF"/>
                </a:solidFill>
                <a:latin typeface="Consolas" pitchFamily="49" charset="0"/>
                <a:ea typeface="仿宋" pitchFamily="49" charset="-122"/>
              </a:rPr>
              <a:t>dp[</a:t>
            </a:r>
            <a:r>
              <a:rPr lang="en-US" altLang="zh-CN" sz="2200" i="1">
                <a:solidFill>
                  <a:srgbClr val="FF00FF"/>
                </a:solidFill>
                <a:latin typeface="Consolas" pitchFamily="49" charset="0"/>
                <a:ea typeface="仿宋" pitchFamily="49" charset="-122"/>
              </a:rPr>
              <a:t>k</a:t>
            </a:r>
            <a:r>
              <a:rPr lang="en-US" altLang="zh-CN" sz="2200">
                <a:solidFill>
                  <a:srgbClr val="FF00FF"/>
                </a:solidFill>
                <a:latin typeface="Consolas" pitchFamily="49" charset="0"/>
                <a:ea typeface="仿宋" pitchFamily="49" charset="-122"/>
              </a:rPr>
              <a:t>-1][</a:t>
            </a:r>
            <a:r>
              <a:rPr lang="en-US" altLang="zh-CN" sz="2200" i="1">
                <a:solidFill>
                  <a:srgbClr val="FF00FF"/>
                </a:solidFill>
                <a:latin typeface="Consolas" pitchFamily="49" charset="0"/>
                <a:ea typeface="仿宋" pitchFamily="49" charset="-122"/>
              </a:rPr>
              <a:t>i</a:t>
            </a:r>
            <a:r>
              <a:rPr lang="en-US" altLang="zh-CN" sz="2200">
                <a:solidFill>
                  <a:srgbClr val="FF00FF"/>
                </a:solidFill>
                <a:latin typeface="Consolas" pitchFamily="49" charset="0"/>
                <a:ea typeface="仿宋" pitchFamily="49" charset="-122"/>
              </a:rPr>
              <a:t>][</a:t>
            </a:r>
            <a:r>
              <a:rPr lang="en-US" altLang="zh-CN" sz="2200" i="1">
                <a:solidFill>
                  <a:srgbClr val="FF00FF"/>
                </a:solidFill>
                <a:latin typeface="Consolas" pitchFamily="49" charset="0"/>
                <a:ea typeface="仿宋" pitchFamily="49" charset="-122"/>
              </a:rPr>
              <a:t>k</a:t>
            </a:r>
            <a:r>
              <a:rPr lang="en-US" altLang="zh-CN" sz="2200">
                <a:solidFill>
                  <a:srgbClr val="FF00FF"/>
                </a:solidFill>
                <a:latin typeface="Consolas" pitchFamily="49" charset="0"/>
                <a:ea typeface="仿宋" pitchFamily="49" charset="-122"/>
              </a:rPr>
              <a:t>]</a:t>
            </a:r>
            <a:r>
              <a:rPr lang="zh-CN" altLang="zh-CN" sz="2200">
                <a:solidFill>
                  <a:srgbClr val="FF00FF"/>
                </a:solidFill>
                <a:latin typeface="Consolas" pitchFamily="49" charset="0"/>
                <a:ea typeface="仿宋" pitchFamily="49" charset="-122"/>
              </a:rPr>
              <a:t>和</a:t>
            </a:r>
            <a:r>
              <a:rPr lang="en-US" altLang="zh-CN" sz="2200">
                <a:solidFill>
                  <a:srgbClr val="FF00FF"/>
                </a:solidFill>
                <a:latin typeface="Consolas" pitchFamily="49" charset="0"/>
                <a:ea typeface="仿宋" pitchFamily="49" charset="-122"/>
              </a:rPr>
              <a:t>dp[</a:t>
            </a:r>
            <a:r>
              <a:rPr lang="en-US" altLang="zh-CN" sz="2200" i="1">
                <a:solidFill>
                  <a:srgbClr val="FF00FF"/>
                </a:solidFill>
                <a:latin typeface="Consolas" pitchFamily="49" charset="0"/>
                <a:ea typeface="仿宋" pitchFamily="49" charset="-122"/>
              </a:rPr>
              <a:t>k</a:t>
            </a:r>
            <a:r>
              <a:rPr lang="en-US" altLang="zh-CN" sz="2200">
                <a:solidFill>
                  <a:srgbClr val="FF00FF"/>
                </a:solidFill>
                <a:latin typeface="Consolas" pitchFamily="49" charset="0"/>
                <a:ea typeface="仿宋" pitchFamily="49" charset="-122"/>
              </a:rPr>
              <a:t>-1][</a:t>
            </a:r>
            <a:r>
              <a:rPr lang="en-US" altLang="zh-CN" sz="2200" i="1">
                <a:solidFill>
                  <a:srgbClr val="FF00FF"/>
                </a:solidFill>
                <a:latin typeface="Consolas" pitchFamily="49" charset="0"/>
                <a:ea typeface="仿宋" pitchFamily="49" charset="-122"/>
              </a:rPr>
              <a:t>k</a:t>
            </a:r>
            <a:r>
              <a:rPr lang="en-US" altLang="zh-CN" sz="2200">
                <a:solidFill>
                  <a:srgbClr val="FF00FF"/>
                </a:solidFill>
                <a:latin typeface="Consolas" pitchFamily="49" charset="0"/>
                <a:ea typeface="仿宋" pitchFamily="49" charset="-122"/>
              </a:rPr>
              <a:t>][</a:t>
            </a:r>
            <a:r>
              <a:rPr lang="en-US" altLang="zh-CN" sz="2200" i="1">
                <a:solidFill>
                  <a:srgbClr val="FF00FF"/>
                </a:solidFill>
                <a:latin typeface="Consolas" pitchFamily="49" charset="0"/>
                <a:ea typeface="仿宋" pitchFamily="49" charset="-122"/>
              </a:rPr>
              <a:t>j</a:t>
            </a:r>
            <a:r>
              <a:rPr lang="en-US" altLang="zh-CN" sz="2200">
                <a:solidFill>
                  <a:srgbClr val="FF00FF"/>
                </a:solidFill>
                <a:latin typeface="Consolas" pitchFamily="49" charset="0"/>
                <a:ea typeface="仿宋" pitchFamily="49" charset="-122"/>
              </a:rPr>
              <a:t>]</a:t>
            </a:r>
            <a:r>
              <a:rPr lang="zh-CN" altLang="zh-CN" sz="2200">
                <a:solidFill>
                  <a:srgbClr val="FF00FF"/>
                </a:solidFill>
                <a:latin typeface="Consolas" pitchFamily="49" charset="0"/>
                <a:ea typeface="仿宋" pitchFamily="49" charset="-122"/>
              </a:rPr>
              <a:t>的值计算得出</a:t>
            </a:r>
            <a:r>
              <a:rPr lang="zh-CN" altLang="zh-CN" sz="2200">
                <a:solidFill>
                  <a:srgbClr val="0000FF"/>
                </a:solidFill>
                <a:latin typeface="Consolas" pitchFamily="49" charset="0"/>
                <a:ea typeface="仿宋" pitchFamily="49" charset="-122"/>
              </a:rPr>
              <a:t>，因为这些值已经保持了来自迭代为</a:t>
            </a:r>
            <a:r>
              <a:rPr lang="en-US" altLang="zh-CN" sz="2200" i="1">
                <a:solidFill>
                  <a:srgbClr val="0000FF"/>
                </a:solidFill>
                <a:latin typeface="Consolas" pitchFamily="49" charset="0"/>
                <a:ea typeface="仿宋" pitchFamily="49" charset="-122"/>
              </a:rPr>
              <a:t>k</a:t>
            </a:r>
            <a:r>
              <a:rPr lang="en-US" altLang="zh-CN" sz="2200">
                <a:solidFill>
                  <a:srgbClr val="0000FF"/>
                </a:solidFill>
                <a:latin typeface="Consolas" pitchFamily="49" charset="0"/>
                <a:ea typeface="仿宋" pitchFamily="49" charset="-122"/>
              </a:rPr>
              <a:t>-1</a:t>
            </a:r>
            <a:r>
              <a:rPr lang="zh-CN" altLang="zh-CN" sz="2200">
                <a:solidFill>
                  <a:srgbClr val="0000FF"/>
                </a:solidFill>
                <a:latin typeface="Consolas" pitchFamily="49" charset="0"/>
                <a:ea typeface="仿宋" pitchFamily="49" charset="-122"/>
              </a:rPr>
              <a:t>的结果，所以可以将</a:t>
            </a:r>
            <a:r>
              <a:rPr lang="en-US" altLang="zh-CN" sz="2200">
                <a:solidFill>
                  <a:srgbClr val="0000FF"/>
                </a:solidFill>
                <a:latin typeface="Consolas" pitchFamily="49" charset="0"/>
                <a:ea typeface="仿宋" pitchFamily="49" charset="-122"/>
              </a:rPr>
              <a:t>dp</a:t>
            </a:r>
            <a:r>
              <a:rPr lang="zh-CN" altLang="zh-CN" sz="2200">
                <a:solidFill>
                  <a:srgbClr val="0000FF"/>
                </a:solidFill>
                <a:latin typeface="Consolas" pitchFamily="49" charset="0"/>
                <a:ea typeface="仿宋" pitchFamily="49" charset="-122"/>
              </a:rPr>
              <a:t>数组由三维降为二维。</a:t>
            </a:r>
            <a:endParaRPr lang="zh-CN" altLang="en-US" sz="2200">
              <a:solidFill>
                <a:srgbClr val="0000FF"/>
              </a:solidFill>
              <a:latin typeface="Consolas" pitchFamily="49" charset="0"/>
              <a:ea typeface="仿宋" pitchFamily="49" charset="-122"/>
              <a:cs typeface="Consolas" pitchFamily="49" charset="0"/>
            </a:endParaRPr>
          </a:p>
        </p:txBody>
      </p:sp>
      <p:sp>
        <p:nvSpPr>
          <p:cNvPr id="10" name="TextBox 9"/>
          <p:cNvSpPr txBox="1"/>
          <p:nvPr/>
        </p:nvSpPr>
        <p:spPr>
          <a:xfrm>
            <a:off x="428596" y="357166"/>
            <a:ext cx="2571768" cy="430887"/>
          </a:xfrm>
          <a:prstGeom prst="rect">
            <a:avLst/>
          </a:prstGeom>
          <a:noFill/>
        </p:spPr>
        <p:txBody>
          <a:bodyPr wrap="square" rtlCol="0">
            <a:spAutoFit/>
          </a:bodyPr>
          <a:lstStyle/>
          <a:p>
            <a:pPr algn="l">
              <a:lnSpc>
                <a:spcPct val="100000"/>
              </a:lnSpc>
              <a:spcBef>
                <a:spcPts val="0"/>
              </a:spcBef>
            </a:pPr>
            <a:r>
              <a:rPr lang="zh-CN" altLang="en-US" sz="2200">
                <a:solidFill>
                  <a:srgbClr val="FF0000"/>
                </a:solidFill>
                <a:latin typeface="Consolas" pitchFamily="49" charset="0"/>
                <a:ea typeface="楷体" pitchFamily="49" charset="-122"/>
                <a:cs typeface="Consolas" pitchFamily="49" charset="0"/>
              </a:rPr>
              <a:t>原因解释：</a:t>
            </a:r>
          </a:p>
        </p:txBody>
      </p:sp>
      <p:sp>
        <p:nvSpPr>
          <p:cNvPr id="12" name="TextBox 11"/>
          <p:cNvSpPr txBox="1"/>
          <p:nvPr/>
        </p:nvSpPr>
        <p:spPr>
          <a:xfrm>
            <a:off x="97688" y="928670"/>
            <a:ext cx="9001156" cy="510497"/>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216000" tIns="108000" bIns="108000" rtlCol="0">
            <a:spAutoFit/>
          </a:bodyPr>
          <a:lstStyle/>
          <a:p>
            <a:pPr algn="l">
              <a:lnSpc>
                <a:spcPct val="100000"/>
              </a:lnSpc>
            </a:pPr>
            <a:r>
              <a:rPr lang="en-US" altLang="zh-CN" sz="1900" b="0">
                <a:solidFill>
                  <a:srgbClr val="0000FF"/>
                </a:solidFill>
                <a:latin typeface="Consolas" pitchFamily="49" charset="0"/>
                <a:ea typeface="仿宋" pitchFamily="49" charset="-122"/>
                <a:cs typeface="Consolas" pitchFamily="49" charset="0"/>
              </a:rPr>
              <a:t>dp[</a:t>
            </a:r>
            <a:r>
              <a:rPr lang="en-US" altLang="zh-CN" sz="1900" b="0" i="1">
                <a:solidFill>
                  <a:srgbClr val="0000FF"/>
                </a:solidFill>
                <a:latin typeface="Consolas" pitchFamily="49" charset="0"/>
                <a:ea typeface="仿宋" pitchFamily="49" charset="-122"/>
                <a:cs typeface="Consolas" pitchFamily="49" charset="0"/>
              </a:rPr>
              <a:t>k</a:t>
            </a:r>
            <a:r>
              <a:rPr lang="en-US" altLang="zh-CN" sz="1900" b="0">
                <a:solidFill>
                  <a:srgbClr val="0000FF"/>
                </a:solidFill>
                <a:latin typeface="Consolas" pitchFamily="49" charset="0"/>
                <a:ea typeface="仿宋" pitchFamily="49" charset="-122"/>
                <a:cs typeface="Consolas" pitchFamily="49" charset="0"/>
              </a:rPr>
              <a:t>][</a:t>
            </a:r>
            <a:r>
              <a:rPr lang="en-US" altLang="zh-CN" sz="1900" b="0" i="1">
                <a:solidFill>
                  <a:srgbClr val="0000FF"/>
                </a:solidFill>
                <a:latin typeface="Consolas" pitchFamily="49" charset="0"/>
                <a:ea typeface="仿宋" pitchFamily="49" charset="-122"/>
                <a:cs typeface="Consolas" pitchFamily="49" charset="0"/>
              </a:rPr>
              <a:t>i</a:t>
            </a:r>
            <a:r>
              <a:rPr lang="en-US" altLang="zh-CN" sz="1900" b="0">
                <a:solidFill>
                  <a:srgbClr val="0000FF"/>
                </a:solidFill>
                <a:latin typeface="Consolas" pitchFamily="49" charset="0"/>
                <a:ea typeface="仿宋" pitchFamily="49" charset="-122"/>
                <a:cs typeface="Consolas" pitchFamily="49" charset="0"/>
              </a:rPr>
              <a:t>][</a:t>
            </a:r>
            <a:r>
              <a:rPr lang="en-US" altLang="zh-CN" sz="1900" b="0" i="1">
                <a:solidFill>
                  <a:srgbClr val="0000FF"/>
                </a:solidFill>
                <a:latin typeface="Consolas" pitchFamily="49" charset="0"/>
                <a:ea typeface="仿宋" pitchFamily="49" charset="-122"/>
                <a:cs typeface="Consolas" pitchFamily="49" charset="0"/>
              </a:rPr>
              <a:t>j</a:t>
            </a:r>
            <a:r>
              <a:rPr lang="en-US" altLang="zh-CN" sz="1900" b="0">
                <a:solidFill>
                  <a:srgbClr val="0000FF"/>
                </a:solidFill>
                <a:latin typeface="Consolas" pitchFamily="49" charset="0"/>
                <a:ea typeface="仿宋" pitchFamily="49" charset="-122"/>
                <a:cs typeface="Consolas" pitchFamily="49" charset="0"/>
              </a:rPr>
              <a:t>]=</a:t>
            </a:r>
            <a:r>
              <a:rPr lang="en-US" altLang="zh-CN" sz="1900" b="0">
                <a:solidFill>
                  <a:srgbClr val="FF0000"/>
                </a:solidFill>
                <a:latin typeface="Consolas" pitchFamily="49" charset="0"/>
                <a:ea typeface="仿宋" pitchFamily="49" charset="-122"/>
                <a:cs typeface="Consolas" pitchFamily="49" charset="0"/>
              </a:rPr>
              <a:t>min</a:t>
            </a:r>
            <a:r>
              <a:rPr lang="en-US" altLang="zh-CN" sz="1900" b="0" baseline="-25000">
                <a:solidFill>
                  <a:srgbClr val="0000FF"/>
                </a:solidFill>
                <a:latin typeface="Consolas" pitchFamily="49" charset="0"/>
                <a:ea typeface="仿宋" pitchFamily="49" charset="-122"/>
                <a:cs typeface="Consolas" pitchFamily="49" charset="0"/>
              </a:rPr>
              <a:t>0</a:t>
            </a:r>
            <a:r>
              <a:rPr lang="zh-CN" altLang="zh-CN" sz="1900" b="0" baseline="-25000">
                <a:solidFill>
                  <a:srgbClr val="0000FF"/>
                </a:solidFill>
                <a:latin typeface="+mj-ea"/>
                <a:ea typeface="+mj-ea"/>
                <a:cs typeface="Consolas" pitchFamily="49" charset="0"/>
              </a:rPr>
              <a:t>≤</a:t>
            </a:r>
            <a:r>
              <a:rPr lang="en-US" altLang="zh-CN" sz="1900" b="0" i="1" baseline="-25000">
                <a:solidFill>
                  <a:srgbClr val="0000FF"/>
                </a:solidFill>
                <a:latin typeface="Consolas" pitchFamily="49" charset="0"/>
                <a:ea typeface="仿宋" pitchFamily="49" charset="-122"/>
                <a:cs typeface="Consolas" pitchFamily="49" charset="0"/>
              </a:rPr>
              <a:t>k</a:t>
            </a:r>
            <a:r>
              <a:rPr lang="zh-CN" altLang="zh-CN" sz="1900" b="0" baseline="-25000">
                <a:solidFill>
                  <a:srgbClr val="0000FF"/>
                </a:solidFill>
                <a:latin typeface="+mj-ea"/>
                <a:ea typeface="+mj-ea"/>
                <a:cs typeface="Consolas" pitchFamily="49" charset="0"/>
              </a:rPr>
              <a:t>≤</a:t>
            </a:r>
            <a:r>
              <a:rPr lang="en-US" altLang="zh-CN" sz="1900" b="0" i="1" baseline="-25000">
                <a:solidFill>
                  <a:srgbClr val="0000FF"/>
                </a:solidFill>
                <a:latin typeface="Consolas" pitchFamily="49" charset="0"/>
                <a:ea typeface="仿宋" pitchFamily="49" charset="-122"/>
                <a:cs typeface="Consolas" pitchFamily="49" charset="0"/>
              </a:rPr>
              <a:t>n</a:t>
            </a:r>
            <a:r>
              <a:rPr lang="en-US" altLang="zh-CN" sz="1900" b="0" baseline="-25000">
                <a:solidFill>
                  <a:srgbClr val="0000FF"/>
                </a:solidFill>
                <a:latin typeface="Consolas" pitchFamily="49" charset="0"/>
                <a:ea typeface="仿宋" pitchFamily="49" charset="-122"/>
                <a:cs typeface="Consolas" pitchFamily="49" charset="0"/>
              </a:rPr>
              <a:t>-1</a:t>
            </a:r>
            <a:r>
              <a:rPr lang="en-US" altLang="zh-CN" sz="1900" b="0">
                <a:solidFill>
                  <a:srgbClr val="0000FF"/>
                </a:solidFill>
                <a:latin typeface="Consolas" pitchFamily="49" charset="0"/>
                <a:ea typeface="仿宋" pitchFamily="49" charset="-122"/>
                <a:cs typeface="Consolas" pitchFamily="49" charset="0"/>
              </a:rPr>
              <a:t>{dp[</a:t>
            </a:r>
            <a:r>
              <a:rPr lang="en-US" altLang="zh-CN" sz="1900" b="0" i="1">
                <a:solidFill>
                  <a:srgbClr val="0000FF"/>
                </a:solidFill>
                <a:latin typeface="Consolas" pitchFamily="49" charset="0"/>
                <a:ea typeface="仿宋" pitchFamily="49" charset="-122"/>
                <a:cs typeface="Consolas" pitchFamily="49" charset="0"/>
              </a:rPr>
              <a:t>k</a:t>
            </a:r>
            <a:r>
              <a:rPr lang="en-US" altLang="zh-CN" sz="1900" b="0">
                <a:solidFill>
                  <a:srgbClr val="0000FF"/>
                </a:solidFill>
                <a:latin typeface="Consolas" pitchFamily="49" charset="0"/>
                <a:ea typeface="仿宋" pitchFamily="49" charset="-122"/>
                <a:cs typeface="Consolas" pitchFamily="49" charset="0"/>
              </a:rPr>
              <a:t>-1][</a:t>
            </a:r>
            <a:r>
              <a:rPr lang="en-US" altLang="zh-CN" sz="1900" b="0" i="1">
                <a:solidFill>
                  <a:srgbClr val="0000FF"/>
                </a:solidFill>
                <a:latin typeface="Consolas" pitchFamily="49" charset="0"/>
                <a:ea typeface="仿宋" pitchFamily="49" charset="-122"/>
                <a:cs typeface="Consolas" pitchFamily="49" charset="0"/>
              </a:rPr>
              <a:t>i</a:t>
            </a:r>
            <a:r>
              <a:rPr lang="en-US" altLang="zh-CN" sz="1900" b="0">
                <a:solidFill>
                  <a:srgbClr val="0000FF"/>
                </a:solidFill>
                <a:latin typeface="Consolas" pitchFamily="49" charset="0"/>
                <a:ea typeface="仿宋" pitchFamily="49" charset="-122"/>
                <a:cs typeface="Consolas" pitchFamily="49" charset="0"/>
              </a:rPr>
              <a:t>][</a:t>
            </a:r>
            <a:r>
              <a:rPr lang="en-US" altLang="zh-CN" sz="1900" b="0" i="1">
                <a:solidFill>
                  <a:srgbClr val="0000FF"/>
                </a:solidFill>
                <a:latin typeface="Consolas" pitchFamily="49" charset="0"/>
                <a:ea typeface="仿宋" pitchFamily="49" charset="-122"/>
                <a:cs typeface="Consolas" pitchFamily="49" charset="0"/>
              </a:rPr>
              <a:t>j</a:t>
            </a:r>
            <a:r>
              <a:rPr lang="en-US" altLang="zh-CN" sz="1900" b="0">
                <a:solidFill>
                  <a:srgbClr val="0000FF"/>
                </a:solidFill>
                <a:latin typeface="Consolas" pitchFamily="49" charset="0"/>
                <a:ea typeface="仿宋" pitchFamily="49" charset="-122"/>
                <a:cs typeface="Consolas" pitchFamily="49" charset="0"/>
              </a:rPr>
              <a:t>]</a:t>
            </a:r>
            <a:r>
              <a:rPr lang="zh-CN" altLang="zh-CN" sz="1900" b="0">
                <a:solidFill>
                  <a:srgbClr val="0000FF"/>
                </a:solidFill>
                <a:latin typeface="Consolas" pitchFamily="49" charset="0"/>
                <a:ea typeface="仿宋" pitchFamily="49" charset="-122"/>
                <a:cs typeface="Consolas" pitchFamily="49" charset="0"/>
              </a:rPr>
              <a:t>，</a:t>
            </a:r>
            <a:r>
              <a:rPr lang="en-US" altLang="zh-CN" sz="1900" b="0">
                <a:solidFill>
                  <a:srgbClr val="0000FF"/>
                </a:solidFill>
                <a:latin typeface="Consolas" pitchFamily="49" charset="0"/>
                <a:ea typeface="仿宋" pitchFamily="49" charset="-122"/>
                <a:cs typeface="Consolas" pitchFamily="49" charset="0"/>
              </a:rPr>
              <a:t>dp[</a:t>
            </a:r>
            <a:r>
              <a:rPr lang="en-US" altLang="zh-CN" sz="1900" b="0" i="1">
                <a:solidFill>
                  <a:srgbClr val="0000FF"/>
                </a:solidFill>
                <a:latin typeface="Consolas" pitchFamily="49" charset="0"/>
                <a:ea typeface="仿宋" pitchFamily="49" charset="-122"/>
                <a:cs typeface="Consolas" pitchFamily="49" charset="0"/>
              </a:rPr>
              <a:t>k</a:t>
            </a:r>
            <a:r>
              <a:rPr lang="en-US" altLang="zh-CN" sz="1900" b="0">
                <a:solidFill>
                  <a:srgbClr val="0000FF"/>
                </a:solidFill>
                <a:latin typeface="Consolas" pitchFamily="49" charset="0"/>
                <a:ea typeface="仿宋" pitchFamily="49" charset="-122"/>
                <a:cs typeface="Consolas" pitchFamily="49" charset="0"/>
              </a:rPr>
              <a:t>-1][</a:t>
            </a:r>
            <a:r>
              <a:rPr lang="en-US" altLang="zh-CN" sz="1900" b="0" i="1">
                <a:solidFill>
                  <a:srgbClr val="0000FF"/>
                </a:solidFill>
                <a:latin typeface="Consolas" pitchFamily="49" charset="0"/>
                <a:ea typeface="仿宋" pitchFamily="49" charset="-122"/>
                <a:cs typeface="Consolas" pitchFamily="49" charset="0"/>
              </a:rPr>
              <a:t>i</a:t>
            </a:r>
            <a:r>
              <a:rPr lang="en-US" altLang="zh-CN" sz="1900" b="0">
                <a:solidFill>
                  <a:srgbClr val="0000FF"/>
                </a:solidFill>
                <a:latin typeface="Consolas" pitchFamily="49" charset="0"/>
                <a:ea typeface="仿宋" pitchFamily="49" charset="-122"/>
                <a:cs typeface="Consolas" pitchFamily="49" charset="0"/>
              </a:rPr>
              <a:t>][</a:t>
            </a:r>
            <a:r>
              <a:rPr lang="en-US" altLang="zh-CN" sz="1900" b="0" i="1">
                <a:solidFill>
                  <a:srgbClr val="0000FF"/>
                </a:solidFill>
                <a:latin typeface="Consolas" pitchFamily="49" charset="0"/>
                <a:ea typeface="仿宋" pitchFamily="49" charset="-122"/>
                <a:cs typeface="Consolas" pitchFamily="49" charset="0"/>
              </a:rPr>
              <a:t>k</a:t>
            </a:r>
            <a:r>
              <a:rPr lang="en-US" altLang="zh-CN" sz="1900" b="0">
                <a:solidFill>
                  <a:srgbClr val="0000FF"/>
                </a:solidFill>
                <a:latin typeface="Consolas" pitchFamily="49" charset="0"/>
                <a:ea typeface="仿宋" pitchFamily="49" charset="-122"/>
                <a:cs typeface="Consolas" pitchFamily="49" charset="0"/>
              </a:rPr>
              <a:t>]+dp[</a:t>
            </a:r>
            <a:r>
              <a:rPr lang="en-US" altLang="zh-CN" sz="1900" b="0" i="1">
                <a:solidFill>
                  <a:srgbClr val="0000FF"/>
                </a:solidFill>
                <a:latin typeface="Consolas" pitchFamily="49" charset="0"/>
                <a:ea typeface="仿宋" pitchFamily="49" charset="-122"/>
                <a:cs typeface="Consolas" pitchFamily="49" charset="0"/>
              </a:rPr>
              <a:t>k</a:t>
            </a:r>
            <a:r>
              <a:rPr lang="en-US" altLang="zh-CN" sz="1900" b="0">
                <a:solidFill>
                  <a:srgbClr val="0000FF"/>
                </a:solidFill>
                <a:latin typeface="Consolas" pitchFamily="49" charset="0"/>
                <a:ea typeface="仿宋" pitchFamily="49" charset="-122"/>
                <a:cs typeface="Consolas" pitchFamily="49" charset="0"/>
              </a:rPr>
              <a:t>-1][</a:t>
            </a:r>
            <a:r>
              <a:rPr lang="en-US" altLang="zh-CN" sz="1900" b="0" i="1">
                <a:solidFill>
                  <a:srgbClr val="0000FF"/>
                </a:solidFill>
                <a:latin typeface="Consolas" pitchFamily="49" charset="0"/>
                <a:ea typeface="仿宋" pitchFamily="49" charset="-122"/>
                <a:cs typeface="Consolas" pitchFamily="49" charset="0"/>
              </a:rPr>
              <a:t>k</a:t>
            </a:r>
            <a:r>
              <a:rPr lang="en-US" altLang="zh-CN" sz="1900" b="0">
                <a:solidFill>
                  <a:srgbClr val="0000FF"/>
                </a:solidFill>
                <a:latin typeface="Consolas" pitchFamily="49" charset="0"/>
                <a:ea typeface="仿宋" pitchFamily="49" charset="-122"/>
                <a:cs typeface="Consolas" pitchFamily="49" charset="0"/>
              </a:rPr>
              <a:t>][</a:t>
            </a:r>
            <a:r>
              <a:rPr lang="en-US" altLang="zh-CN" sz="1900" b="0" i="1">
                <a:solidFill>
                  <a:srgbClr val="0000FF"/>
                </a:solidFill>
                <a:latin typeface="Consolas" pitchFamily="49" charset="0"/>
                <a:ea typeface="仿宋" pitchFamily="49" charset="-122"/>
                <a:cs typeface="Consolas" pitchFamily="49" charset="0"/>
              </a:rPr>
              <a:t>j</a:t>
            </a:r>
            <a:r>
              <a:rPr lang="en-US" altLang="zh-CN" sz="1900" b="0">
                <a:solidFill>
                  <a:srgbClr val="0000FF"/>
                </a:solidFill>
                <a:latin typeface="Consolas" pitchFamily="49" charset="0"/>
                <a:ea typeface="仿宋" pitchFamily="49" charset="-122"/>
                <a:cs typeface="Consolas" pitchFamily="49" charset="0"/>
              </a:rPr>
              <a:t>]}</a:t>
            </a:r>
            <a:endParaRPr lang="zh-CN" altLang="zh-CN" sz="1900" b="0">
              <a:solidFill>
                <a:srgbClr val="0000FF"/>
              </a:solidFill>
              <a:latin typeface="Consolas" pitchFamily="49" charset="0"/>
              <a:ea typeface="仿宋" pitchFamily="49" charset="-122"/>
              <a:cs typeface="Consolas" pitchFamily="49" charset="0"/>
            </a:endParaRPr>
          </a:p>
        </p:txBody>
      </p:sp>
      <p:sp>
        <p:nvSpPr>
          <p:cNvPr id="13" name="下箭头 12"/>
          <p:cNvSpPr/>
          <p:nvPr/>
        </p:nvSpPr>
        <p:spPr>
          <a:xfrm>
            <a:off x="4000496" y="1643050"/>
            <a:ext cx="285752" cy="357190"/>
          </a:xfrm>
          <a:prstGeom prst="down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14" name="灯片编号占位符 13"/>
          <p:cNvSpPr>
            <a:spLocks noGrp="1"/>
          </p:cNvSpPr>
          <p:nvPr>
            <p:ph type="sldNum" sz="quarter" idx="12"/>
          </p:nvPr>
        </p:nvSpPr>
        <p:spPr/>
        <p:txBody>
          <a:bodyPr/>
          <a:lstStyle/>
          <a:p>
            <a:fld id="{7AF016A1-9F15-429F-9EFD-84004B73C732}" type="slidenum">
              <a:rPr lang="en-US" altLang="zh-CN" smtClean="0"/>
              <a:pPr/>
              <a:t>81</a:t>
            </a:fld>
            <a:r>
              <a:rPr lang="en-US" altLang="zh-CN"/>
              <a:t>/158</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28596" y="1571612"/>
            <a:ext cx="8286808" cy="1477328"/>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1200"/>
              </a:spcBef>
              <a:buBlip>
                <a:blip r:embed="rId2"/>
              </a:buBlip>
            </a:pPr>
            <a:r>
              <a:rPr lang="zh-CN" altLang="zh-CN">
                <a:solidFill>
                  <a:srgbClr val="0000FF"/>
                </a:solidFill>
                <a:latin typeface="Consolas" pitchFamily="49" charset="0"/>
                <a:ea typeface="仿宋" pitchFamily="49" charset="-122"/>
              </a:rPr>
              <a:t>用二维数组</a:t>
            </a:r>
            <a:r>
              <a:rPr lang="en-US" altLang="zh-CN">
                <a:solidFill>
                  <a:srgbClr val="0000FF"/>
                </a:solidFill>
                <a:latin typeface="Consolas" pitchFamily="49" charset="0"/>
                <a:ea typeface="仿宋" pitchFamily="49" charset="-122"/>
              </a:rPr>
              <a:t>A</a:t>
            </a:r>
            <a:r>
              <a:rPr lang="zh-CN" altLang="zh-CN">
                <a:solidFill>
                  <a:srgbClr val="0000FF"/>
                </a:solidFill>
                <a:latin typeface="Consolas" pitchFamily="49" charset="0"/>
                <a:ea typeface="仿宋" pitchFamily="49" charset="-122"/>
              </a:rPr>
              <a:t>存放最短路径长度</a:t>
            </a:r>
            <a:r>
              <a:rPr lang="zh-CN" altLang="en-US">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marL="457200" indent="-457200" algn="l">
              <a:lnSpc>
                <a:spcPts val="3200"/>
              </a:lnSpc>
              <a:spcBef>
                <a:spcPts val="1200"/>
              </a:spcBef>
              <a:buBlip>
                <a:blip r:embed="rId2"/>
              </a:buBlip>
            </a:pPr>
            <a:r>
              <a:rPr lang="zh-CN" altLang="zh-CN">
                <a:solidFill>
                  <a:srgbClr val="0000FF"/>
                </a:solidFill>
                <a:latin typeface="Consolas" pitchFamily="49" charset="0"/>
                <a:ea typeface="仿宋" pitchFamily="49" charset="-122"/>
              </a:rPr>
              <a:t>相应地设计二维路径数组</a:t>
            </a:r>
            <a:r>
              <a:rPr lang="en-US" altLang="zh-CN">
                <a:solidFill>
                  <a:srgbClr val="0000FF"/>
                </a:solidFill>
                <a:latin typeface="Consolas" pitchFamily="49" charset="0"/>
                <a:ea typeface="仿宋" pitchFamily="49" charset="-122"/>
              </a:rPr>
              <a:t>path</a:t>
            </a:r>
            <a:r>
              <a:rPr lang="zh-CN" altLang="zh-CN">
                <a:solidFill>
                  <a:srgbClr val="0000FF"/>
                </a:solidFill>
                <a:latin typeface="Consolas" pitchFamily="49" charset="0"/>
                <a:ea typeface="仿宋" pitchFamily="49" charset="-122"/>
              </a:rPr>
              <a:t>，其中</a:t>
            </a:r>
            <a:r>
              <a:rPr lang="en-US" altLang="zh-CN">
                <a:solidFill>
                  <a:srgbClr val="0000FF"/>
                </a:solidFill>
                <a:latin typeface="Consolas" pitchFamily="49" charset="0"/>
                <a:ea typeface="仿宋" pitchFamily="49" charset="-122"/>
              </a:rPr>
              <a:t>path[</a:t>
            </a:r>
            <a:r>
              <a:rPr lang="en-US" altLang="zh-CN" i="1">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j</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表示顶点</a:t>
            </a:r>
            <a:r>
              <a:rPr lang="en-US" altLang="zh-CN" i="1">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到</a:t>
            </a:r>
            <a:r>
              <a:rPr lang="en-US" altLang="zh-CN" i="1">
                <a:solidFill>
                  <a:srgbClr val="0000FF"/>
                </a:solidFill>
                <a:latin typeface="Consolas" pitchFamily="49" charset="0"/>
                <a:ea typeface="仿宋" pitchFamily="49" charset="-122"/>
              </a:rPr>
              <a:t>j</a:t>
            </a:r>
            <a:r>
              <a:rPr lang="zh-CN" altLang="zh-CN">
                <a:solidFill>
                  <a:srgbClr val="0000FF"/>
                </a:solidFill>
                <a:latin typeface="Consolas" pitchFamily="49" charset="0"/>
                <a:ea typeface="仿宋" pitchFamily="49" charset="-122"/>
              </a:rPr>
              <a:t>的最短路径中顶点</a:t>
            </a:r>
            <a:r>
              <a:rPr lang="en-US" altLang="zh-CN" i="1">
                <a:solidFill>
                  <a:srgbClr val="0000FF"/>
                </a:solidFill>
                <a:latin typeface="Consolas" pitchFamily="49" charset="0"/>
                <a:ea typeface="仿宋" pitchFamily="49" charset="-122"/>
              </a:rPr>
              <a:t>j</a:t>
            </a:r>
            <a:r>
              <a:rPr lang="zh-CN" altLang="zh-CN">
                <a:solidFill>
                  <a:srgbClr val="0000FF"/>
                </a:solidFill>
                <a:latin typeface="Consolas" pitchFamily="49" charset="0"/>
                <a:ea typeface="仿宋" pitchFamily="49" charset="-122"/>
              </a:rPr>
              <a:t>的前驱顶点。</a:t>
            </a:r>
            <a:endParaRPr lang="zh-CN" altLang="en-US">
              <a:solidFill>
                <a:srgbClr val="0000FF"/>
              </a:solidFill>
              <a:latin typeface="Consolas" pitchFamily="49" charset="0"/>
              <a:ea typeface="仿宋" pitchFamily="49" charset="-122"/>
              <a:cs typeface="Consolas" pitchFamily="49" charset="0"/>
            </a:endParaRPr>
          </a:p>
        </p:txBody>
      </p:sp>
      <p:sp>
        <p:nvSpPr>
          <p:cNvPr id="5" name="TextBox 4"/>
          <p:cNvSpPr txBox="1"/>
          <p:nvPr/>
        </p:nvSpPr>
        <p:spPr>
          <a:xfrm>
            <a:off x="642910" y="571480"/>
            <a:ext cx="1785950" cy="514738"/>
          </a:xfrm>
          <a:prstGeom prst="rect">
            <a:avLst/>
          </a:prstGeom>
        </p:spPr>
        <p:style>
          <a:lnRef idx="3">
            <a:schemeClr val="lt1"/>
          </a:lnRef>
          <a:fillRef idx="1">
            <a:schemeClr val="dk1"/>
          </a:fillRef>
          <a:effectRef idx="1">
            <a:schemeClr val="dk1"/>
          </a:effectRef>
          <a:fontRef idx="minor">
            <a:schemeClr val="lt1"/>
          </a:fontRef>
        </p:style>
        <p:txBody>
          <a:bodyPr wrap="square" tIns="72000" bIns="72000" rtlCol="0">
            <a:spAutoFit/>
          </a:bodyPr>
          <a:lstStyle/>
          <a:p>
            <a:pPr>
              <a:lnSpc>
                <a:spcPct val="100000"/>
              </a:lnSpc>
              <a:spcBef>
                <a:spcPts val="0"/>
              </a:spcBef>
            </a:pPr>
            <a:r>
              <a:rPr lang="zh-CN" altLang="en-US">
                <a:solidFill>
                  <a:schemeClr val="bg1"/>
                </a:solidFill>
                <a:latin typeface="微软雅黑" pitchFamily="34" charset="-122"/>
                <a:ea typeface="微软雅黑" pitchFamily="34" charset="-122"/>
                <a:cs typeface="Consolas" pitchFamily="49" charset="0"/>
              </a:rPr>
              <a:t>算法设计</a:t>
            </a:r>
          </a:p>
        </p:txBody>
      </p:sp>
      <p:grpSp>
        <p:nvGrpSpPr>
          <p:cNvPr id="17" name="组合 16"/>
          <p:cNvGrpSpPr/>
          <p:nvPr/>
        </p:nvGrpSpPr>
        <p:grpSpPr>
          <a:xfrm>
            <a:off x="1500166" y="3857628"/>
            <a:ext cx="4857784" cy="971614"/>
            <a:chOff x="1500166" y="3857628"/>
            <a:chExt cx="4857784" cy="971614"/>
          </a:xfrm>
        </p:grpSpPr>
        <p:sp>
          <p:nvSpPr>
            <p:cNvPr id="6" name="椭圆 5"/>
            <p:cNvSpPr/>
            <p:nvPr/>
          </p:nvSpPr>
          <p:spPr>
            <a:xfrm>
              <a:off x="1500166" y="3857628"/>
              <a:ext cx="396000" cy="428628"/>
            </a:xfrm>
            <a:prstGeom prst="ellipse">
              <a:avLst/>
            </a:prstGeom>
            <a:ln>
              <a:tailEnd type="arrow"/>
            </a:ln>
          </p:spPr>
          <p:style>
            <a:lnRef idx="1">
              <a:schemeClr val="accent5"/>
            </a:lnRef>
            <a:fillRef idx="2">
              <a:schemeClr val="accent5"/>
            </a:fillRef>
            <a:effectRef idx="1">
              <a:schemeClr val="accent5"/>
            </a:effectRef>
            <a:fontRef idx="minor">
              <a:schemeClr val="dk1"/>
            </a:fontRef>
          </p:style>
          <p:txBody>
            <a:bodyPr rtlCol="0" anchor="ctr"/>
            <a:lstStyle/>
            <a:p>
              <a:pPr algn="ctr">
                <a:lnSpc>
                  <a:spcPts val="2200"/>
                </a:lnSpc>
                <a:spcBef>
                  <a:spcPts val="0"/>
                </a:spcBef>
              </a:pPr>
              <a:r>
                <a:rPr lang="en-US" altLang="zh-CN" sz="2000" i="1">
                  <a:solidFill>
                    <a:srgbClr val="0000FF"/>
                  </a:solidFill>
                  <a:latin typeface="Consolas" pitchFamily="49" charset="0"/>
                  <a:cs typeface="Consolas" pitchFamily="49" charset="0"/>
                </a:rPr>
                <a:t>i</a:t>
              </a:r>
              <a:endParaRPr lang="zh-CN" altLang="en-US" sz="2000" i="1">
                <a:solidFill>
                  <a:srgbClr val="0000FF"/>
                </a:solidFill>
                <a:latin typeface="Consolas" pitchFamily="49" charset="0"/>
                <a:cs typeface="Consolas" pitchFamily="49" charset="0"/>
              </a:endParaRPr>
            </a:p>
          </p:txBody>
        </p:sp>
        <p:sp>
          <p:nvSpPr>
            <p:cNvPr id="7" name="椭圆 6"/>
            <p:cNvSpPr/>
            <p:nvPr/>
          </p:nvSpPr>
          <p:spPr>
            <a:xfrm>
              <a:off x="3857620" y="3857628"/>
              <a:ext cx="396000" cy="428628"/>
            </a:xfrm>
            <a:prstGeom prst="ellipse">
              <a:avLst/>
            </a:prstGeom>
            <a:ln>
              <a:tailEnd type="arrow"/>
            </a:ln>
          </p:spPr>
          <p:style>
            <a:lnRef idx="1">
              <a:schemeClr val="accent5"/>
            </a:lnRef>
            <a:fillRef idx="2">
              <a:schemeClr val="accent5"/>
            </a:fillRef>
            <a:effectRef idx="1">
              <a:schemeClr val="accent5"/>
            </a:effectRef>
            <a:fontRef idx="minor">
              <a:schemeClr val="dk1"/>
            </a:fontRef>
          </p:style>
          <p:txBody>
            <a:bodyPr rtlCol="0" anchor="ctr"/>
            <a:lstStyle/>
            <a:p>
              <a:pPr algn="ctr">
                <a:lnSpc>
                  <a:spcPts val="2200"/>
                </a:lnSpc>
                <a:spcBef>
                  <a:spcPts val="0"/>
                </a:spcBef>
              </a:pPr>
              <a:r>
                <a:rPr lang="en-US" altLang="zh-CN" sz="2000" i="1">
                  <a:solidFill>
                    <a:srgbClr val="0000FF"/>
                  </a:solidFill>
                  <a:latin typeface="Consolas" pitchFamily="49" charset="0"/>
                  <a:cs typeface="Consolas" pitchFamily="49" charset="0"/>
                </a:rPr>
                <a:t>b</a:t>
              </a:r>
              <a:endParaRPr lang="zh-CN" altLang="en-US" sz="2000" i="1">
                <a:solidFill>
                  <a:srgbClr val="0000FF"/>
                </a:solidFill>
                <a:latin typeface="Consolas" pitchFamily="49" charset="0"/>
                <a:cs typeface="Consolas" pitchFamily="49" charset="0"/>
              </a:endParaRPr>
            </a:p>
          </p:txBody>
        </p:sp>
        <p:sp>
          <p:nvSpPr>
            <p:cNvPr id="8" name="椭圆 7"/>
            <p:cNvSpPr/>
            <p:nvPr/>
          </p:nvSpPr>
          <p:spPr>
            <a:xfrm>
              <a:off x="5072066" y="3857628"/>
              <a:ext cx="396000" cy="428628"/>
            </a:xfrm>
            <a:prstGeom prst="ellipse">
              <a:avLst/>
            </a:prstGeom>
            <a:ln>
              <a:tailEnd type="arrow"/>
            </a:ln>
          </p:spPr>
          <p:style>
            <a:lnRef idx="1">
              <a:schemeClr val="accent5"/>
            </a:lnRef>
            <a:fillRef idx="2">
              <a:schemeClr val="accent5"/>
            </a:fillRef>
            <a:effectRef idx="1">
              <a:schemeClr val="accent5"/>
            </a:effectRef>
            <a:fontRef idx="minor">
              <a:schemeClr val="dk1"/>
            </a:fontRef>
          </p:style>
          <p:txBody>
            <a:bodyPr rtlCol="0" anchor="ctr"/>
            <a:lstStyle/>
            <a:p>
              <a:pPr algn="ctr">
                <a:lnSpc>
                  <a:spcPts val="2200"/>
                </a:lnSpc>
                <a:spcBef>
                  <a:spcPts val="0"/>
                </a:spcBef>
              </a:pPr>
              <a:r>
                <a:rPr lang="en-US" altLang="zh-CN" sz="2000" i="1">
                  <a:solidFill>
                    <a:srgbClr val="0000FF"/>
                  </a:solidFill>
                  <a:latin typeface="Consolas" pitchFamily="49" charset="0"/>
                  <a:cs typeface="Consolas" pitchFamily="49" charset="0"/>
                </a:rPr>
                <a:t>j</a:t>
              </a:r>
              <a:endParaRPr lang="zh-CN" altLang="en-US" sz="2000" i="1">
                <a:solidFill>
                  <a:srgbClr val="0000FF"/>
                </a:solidFill>
                <a:latin typeface="Consolas" pitchFamily="49" charset="0"/>
                <a:cs typeface="Consolas" pitchFamily="49" charset="0"/>
              </a:endParaRPr>
            </a:p>
          </p:txBody>
        </p:sp>
        <p:cxnSp>
          <p:nvCxnSpPr>
            <p:cNvPr id="10" name="直接箭头连接符 9"/>
            <p:cNvCxnSpPr>
              <a:stCxn id="6" idx="6"/>
              <a:endCxn id="7" idx="2"/>
            </p:cNvCxnSpPr>
            <p:nvPr/>
          </p:nvCxnSpPr>
          <p:spPr>
            <a:xfrm>
              <a:off x="1896166" y="4071942"/>
              <a:ext cx="1961454" cy="1588"/>
            </a:xfrm>
            <a:prstGeom prst="straightConnector1">
              <a:avLst/>
            </a:prstGeom>
            <a:ln w="19050">
              <a:prstDash val="dash"/>
              <a:tailEnd type="arrow"/>
            </a:ln>
          </p:spPr>
          <p:style>
            <a:lnRef idx="2">
              <a:schemeClr val="dk1"/>
            </a:lnRef>
            <a:fillRef idx="0">
              <a:schemeClr val="dk1"/>
            </a:fillRef>
            <a:effectRef idx="1">
              <a:schemeClr val="dk1"/>
            </a:effectRef>
            <a:fontRef idx="minor">
              <a:schemeClr val="tx1"/>
            </a:fontRef>
          </p:style>
        </p:cxnSp>
        <p:cxnSp>
          <p:nvCxnSpPr>
            <p:cNvPr id="12" name="直接箭头连接符 11"/>
            <p:cNvCxnSpPr>
              <a:stCxn id="7" idx="6"/>
              <a:endCxn id="8" idx="2"/>
            </p:cNvCxnSpPr>
            <p:nvPr/>
          </p:nvCxnSpPr>
          <p:spPr>
            <a:xfrm>
              <a:off x="4253620" y="4071942"/>
              <a:ext cx="818446" cy="1588"/>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13" name="TextBox 12"/>
            <p:cNvSpPr txBox="1"/>
            <p:nvPr/>
          </p:nvSpPr>
          <p:spPr>
            <a:xfrm>
              <a:off x="4429124" y="4429132"/>
              <a:ext cx="1928826" cy="400110"/>
            </a:xfrm>
            <a:prstGeom prst="rect">
              <a:avLst/>
            </a:prstGeom>
            <a:noFill/>
          </p:spPr>
          <p:txBody>
            <a:bodyPr wrap="square" rtlCol="0">
              <a:spAutoFit/>
            </a:bodyPr>
            <a:lstStyle/>
            <a:p>
              <a:pPr algn="l">
                <a:lnSpc>
                  <a:spcPct val="100000"/>
                </a:lnSpc>
                <a:spcBef>
                  <a:spcPts val="0"/>
                </a:spcBef>
              </a:pPr>
              <a:r>
                <a:rPr lang="en-US" altLang="zh-CN" sz="2000">
                  <a:solidFill>
                    <a:srgbClr val="0000FF"/>
                  </a:solidFill>
                  <a:latin typeface="Consolas" pitchFamily="49" charset="0"/>
                  <a:ea typeface="楷体" pitchFamily="49" charset="-122"/>
                  <a:cs typeface="Consolas" pitchFamily="49" charset="0"/>
                </a:rPr>
                <a:t>path[</a:t>
              </a:r>
              <a:r>
                <a:rPr lang="en-US" altLang="zh-CN" sz="2000" i="1">
                  <a:solidFill>
                    <a:srgbClr val="0000FF"/>
                  </a:solidFill>
                  <a:latin typeface="Consolas" pitchFamily="49" charset="0"/>
                  <a:ea typeface="楷体" pitchFamily="49" charset="-122"/>
                  <a:cs typeface="Consolas" pitchFamily="49" charset="0"/>
                </a:rPr>
                <a:t>i</a:t>
              </a:r>
              <a:r>
                <a:rPr lang="en-US" altLang="zh-CN" sz="2000">
                  <a:solidFill>
                    <a:srgbClr val="0000FF"/>
                  </a:solidFill>
                  <a:latin typeface="Consolas" pitchFamily="49" charset="0"/>
                  <a:ea typeface="楷体" pitchFamily="49" charset="-122"/>
                  <a:cs typeface="Consolas" pitchFamily="49" charset="0"/>
                </a:rPr>
                <a:t>][</a:t>
              </a:r>
              <a:r>
                <a:rPr lang="en-US" altLang="zh-CN" sz="2000" i="1">
                  <a:solidFill>
                    <a:srgbClr val="0000FF"/>
                  </a:solidFill>
                  <a:latin typeface="Consolas" pitchFamily="49" charset="0"/>
                  <a:ea typeface="楷体" pitchFamily="49" charset="-122"/>
                  <a:cs typeface="Consolas" pitchFamily="49" charset="0"/>
                </a:rPr>
                <a:t>j</a:t>
              </a:r>
              <a:r>
                <a:rPr lang="en-US" altLang="zh-CN" sz="2000">
                  <a:solidFill>
                    <a:srgbClr val="0000FF"/>
                  </a:solidFill>
                  <a:latin typeface="Consolas" pitchFamily="49" charset="0"/>
                  <a:ea typeface="楷体" pitchFamily="49" charset="-122"/>
                  <a:cs typeface="Consolas" pitchFamily="49" charset="0"/>
                </a:rPr>
                <a:t>]=</a:t>
              </a:r>
              <a:r>
                <a:rPr lang="en-US" altLang="zh-CN" sz="2000" i="1">
                  <a:solidFill>
                    <a:srgbClr val="0000FF"/>
                  </a:solidFill>
                  <a:latin typeface="Consolas" pitchFamily="49" charset="0"/>
                  <a:ea typeface="楷体" pitchFamily="49" charset="-122"/>
                  <a:cs typeface="Consolas" pitchFamily="49" charset="0"/>
                </a:rPr>
                <a:t>b</a:t>
              </a:r>
              <a:endParaRPr lang="zh-CN" altLang="en-US" sz="2000" i="1">
                <a:solidFill>
                  <a:srgbClr val="0000FF"/>
                </a:solidFill>
                <a:latin typeface="Consolas" pitchFamily="49" charset="0"/>
                <a:ea typeface="楷体" pitchFamily="49" charset="-122"/>
                <a:cs typeface="Consolas" pitchFamily="49" charset="0"/>
              </a:endParaRPr>
            </a:p>
          </p:txBody>
        </p:sp>
        <p:sp>
          <p:nvSpPr>
            <p:cNvPr id="14" name="TextBox 13"/>
            <p:cNvSpPr txBox="1"/>
            <p:nvPr/>
          </p:nvSpPr>
          <p:spPr>
            <a:xfrm>
              <a:off x="2357422" y="4429132"/>
              <a:ext cx="1928826" cy="400110"/>
            </a:xfrm>
            <a:prstGeom prst="rect">
              <a:avLst/>
            </a:prstGeom>
            <a:noFill/>
          </p:spPr>
          <p:txBody>
            <a:bodyPr wrap="square" rtlCol="0">
              <a:spAutoFit/>
            </a:bodyPr>
            <a:lstStyle/>
            <a:p>
              <a:pPr algn="l">
                <a:lnSpc>
                  <a:spcPct val="100000"/>
                </a:lnSpc>
                <a:spcBef>
                  <a:spcPts val="0"/>
                </a:spcBef>
              </a:pPr>
              <a:r>
                <a:rPr lang="en-US" altLang="zh-CN" sz="2000">
                  <a:solidFill>
                    <a:srgbClr val="0000FF"/>
                  </a:solidFill>
                  <a:latin typeface="Consolas" pitchFamily="49" charset="0"/>
                  <a:ea typeface="楷体" pitchFamily="49" charset="-122"/>
                  <a:cs typeface="Consolas" pitchFamily="49" charset="0"/>
                </a:rPr>
                <a:t>path[</a:t>
              </a:r>
              <a:r>
                <a:rPr lang="en-US" altLang="zh-CN" sz="2000" i="1">
                  <a:solidFill>
                    <a:srgbClr val="0000FF"/>
                  </a:solidFill>
                  <a:latin typeface="Consolas" pitchFamily="49" charset="0"/>
                  <a:ea typeface="楷体" pitchFamily="49" charset="-122"/>
                  <a:cs typeface="Consolas" pitchFamily="49" charset="0"/>
                </a:rPr>
                <a:t>i</a:t>
              </a:r>
              <a:r>
                <a:rPr lang="en-US" altLang="zh-CN" sz="2000">
                  <a:solidFill>
                    <a:srgbClr val="0000FF"/>
                  </a:solidFill>
                  <a:latin typeface="Consolas" pitchFamily="49" charset="0"/>
                  <a:ea typeface="楷体" pitchFamily="49" charset="-122"/>
                  <a:cs typeface="Consolas" pitchFamily="49" charset="0"/>
                </a:rPr>
                <a:t>][</a:t>
              </a:r>
              <a:r>
                <a:rPr lang="en-US" altLang="zh-CN" sz="2000" i="1">
                  <a:solidFill>
                    <a:srgbClr val="0000FF"/>
                  </a:solidFill>
                  <a:latin typeface="Consolas" pitchFamily="49" charset="0"/>
                  <a:ea typeface="楷体" pitchFamily="49" charset="-122"/>
                  <a:cs typeface="Consolas" pitchFamily="49" charset="0"/>
                </a:rPr>
                <a:t>b</a:t>
              </a:r>
              <a:r>
                <a:rPr lang="en-US" altLang="zh-CN" sz="2000">
                  <a:solidFill>
                    <a:srgbClr val="0000FF"/>
                  </a:solidFill>
                  <a:latin typeface="Consolas" pitchFamily="49" charset="0"/>
                  <a:ea typeface="楷体" pitchFamily="49" charset="-122"/>
                  <a:cs typeface="Consolas" pitchFamily="49" charset="0"/>
                </a:rPr>
                <a:t>]=?</a:t>
              </a:r>
              <a:endParaRPr lang="zh-CN" altLang="en-US" sz="2000">
                <a:solidFill>
                  <a:srgbClr val="0000FF"/>
                </a:solidFill>
                <a:latin typeface="Consolas" pitchFamily="49" charset="0"/>
                <a:ea typeface="楷体" pitchFamily="49" charset="-122"/>
                <a:cs typeface="Consolas" pitchFamily="49" charset="0"/>
              </a:endParaRPr>
            </a:p>
          </p:txBody>
        </p:sp>
        <p:cxnSp>
          <p:nvCxnSpPr>
            <p:cNvPr id="16" name="直接箭头连接符 15"/>
            <p:cNvCxnSpPr/>
            <p:nvPr/>
          </p:nvCxnSpPr>
          <p:spPr>
            <a:xfrm rot="16200000" flipV="1">
              <a:off x="3679025" y="4250537"/>
              <a:ext cx="285752" cy="214314"/>
            </a:xfrm>
            <a:prstGeom prst="straightConnector1">
              <a:avLst/>
            </a:prstGeom>
            <a:ln w="19050">
              <a:solidFill>
                <a:srgbClr val="FF00FF"/>
              </a:solidFill>
              <a:tailEnd type="arrow"/>
            </a:ln>
          </p:spPr>
          <p:style>
            <a:lnRef idx="2">
              <a:schemeClr val="dk1"/>
            </a:lnRef>
            <a:fillRef idx="0">
              <a:schemeClr val="dk1"/>
            </a:fillRef>
            <a:effectRef idx="1">
              <a:schemeClr val="dk1"/>
            </a:effectRef>
            <a:fontRef idx="minor">
              <a:schemeClr val="tx1"/>
            </a:fontRef>
          </p:style>
        </p:cxnSp>
      </p:grpSp>
      <p:sp>
        <p:nvSpPr>
          <p:cNvPr id="18" name="灯片编号占位符 17"/>
          <p:cNvSpPr>
            <a:spLocks noGrp="1"/>
          </p:cNvSpPr>
          <p:nvPr>
            <p:ph type="sldNum" sz="quarter" idx="12"/>
          </p:nvPr>
        </p:nvSpPr>
        <p:spPr/>
        <p:txBody>
          <a:bodyPr/>
          <a:lstStyle/>
          <a:p>
            <a:fld id="{7AF016A1-9F15-429F-9EFD-84004B73C732}" type="slidenum">
              <a:rPr lang="en-US" altLang="zh-CN" smtClean="0"/>
              <a:pPr/>
              <a:t>82</a:t>
            </a:fld>
            <a:r>
              <a:rPr lang="en-US" altLang="zh-CN"/>
              <a:t>/158</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椭圆 2"/>
          <p:cNvSpPr/>
          <p:nvPr/>
        </p:nvSpPr>
        <p:spPr>
          <a:xfrm>
            <a:off x="500034" y="2886014"/>
            <a:ext cx="396000" cy="428628"/>
          </a:xfrm>
          <a:prstGeom prst="ellipse">
            <a:avLst/>
          </a:prstGeom>
          <a:ln>
            <a:tailEnd type="arrow"/>
          </a:ln>
        </p:spPr>
        <p:style>
          <a:lnRef idx="1">
            <a:schemeClr val="accent4"/>
          </a:lnRef>
          <a:fillRef idx="2">
            <a:schemeClr val="accent4"/>
          </a:fillRef>
          <a:effectRef idx="1">
            <a:schemeClr val="accent4"/>
          </a:effectRef>
          <a:fontRef idx="minor">
            <a:schemeClr val="dk1"/>
          </a:fontRef>
        </p:style>
        <p:txBody>
          <a:bodyPr rtlCol="0" anchor="ctr"/>
          <a:lstStyle/>
          <a:p>
            <a:pPr algn="ctr">
              <a:lnSpc>
                <a:spcPts val="2200"/>
              </a:lnSpc>
              <a:spcBef>
                <a:spcPts val="0"/>
              </a:spcBef>
            </a:pPr>
            <a:r>
              <a:rPr lang="en-US" altLang="zh-CN" sz="2000" i="1">
                <a:solidFill>
                  <a:srgbClr val="0000FF"/>
                </a:solidFill>
                <a:latin typeface="Consolas" pitchFamily="49" charset="0"/>
                <a:cs typeface="Consolas" pitchFamily="49" charset="0"/>
              </a:rPr>
              <a:t>i</a:t>
            </a:r>
            <a:endParaRPr lang="zh-CN" altLang="en-US" sz="2000" i="1">
              <a:solidFill>
                <a:srgbClr val="0000FF"/>
              </a:solidFill>
              <a:latin typeface="Consolas" pitchFamily="49" charset="0"/>
              <a:cs typeface="Consolas" pitchFamily="49" charset="0"/>
            </a:endParaRPr>
          </a:p>
        </p:txBody>
      </p:sp>
      <p:sp>
        <p:nvSpPr>
          <p:cNvPr id="4" name="椭圆 3"/>
          <p:cNvSpPr/>
          <p:nvPr/>
        </p:nvSpPr>
        <p:spPr>
          <a:xfrm>
            <a:off x="2857488" y="2886014"/>
            <a:ext cx="396000" cy="428628"/>
          </a:xfrm>
          <a:prstGeom prst="ellipse">
            <a:avLst/>
          </a:prstGeom>
          <a:ln>
            <a:tailEnd type="arrow"/>
          </a:ln>
        </p:spPr>
        <p:style>
          <a:lnRef idx="1">
            <a:schemeClr val="accent4"/>
          </a:lnRef>
          <a:fillRef idx="2">
            <a:schemeClr val="accent4"/>
          </a:fillRef>
          <a:effectRef idx="1">
            <a:schemeClr val="accent4"/>
          </a:effectRef>
          <a:fontRef idx="minor">
            <a:schemeClr val="dk1"/>
          </a:fontRef>
        </p:style>
        <p:txBody>
          <a:bodyPr rtlCol="0" anchor="ctr"/>
          <a:lstStyle/>
          <a:p>
            <a:pPr algn="ctr">
              <a:lnSpc>
                <a:spcPts val="2200"/>
              </a:lnSpc>
              <a:spcBef>
                <a:spcPts val="0"/>
              </a:spcBef>
            </a:pPr>
            <a:r>
              <a:rPr lang="en-US" altLang="zh-CN" sz="2000" i="1">
                <a:solidFill>
                  <a:srgbClr val="0000FF"/>
                </a:solidFill>
                <a:latin typeface="Consolas" pitchFamily="49" charset="0"/>
                <a:cs typeface="Consolas" pitchFamily="49" charset="0"/>
              </a:rPr>
              <a:t>b</a:t>
            </a:r>
            <a:endParaRPr lang="zh-CN" altLang="en-US" sz="2000" i="1">
              <a:solidFill>
                <a:srgbClr val="0000FF"/>
              </a:solidFill>
              <a:latin typeface="Consolas" pitchFamily="49" charset="0"/>
              <a:cs typeface="Consolas" pitchFamily="49" charset="0"/>
            </a:endParaRPr>
          </a:p>
        </p:txBody>
      </p:sp>
      <p:sp>
        <p:nvSpPr>
          <p:cNvPr id="5" name="椭圆 4"/>
          <p:cNvSpPr/>
          <p:nvPr/>
        </p:nvSpPr>
        <p:spPr>
          <a:xfrm>
            <a:off x="4071934" y="2886014"/>
            <a:ext cx="396000" cy="428628"/>
          </a:xfrm>
          <a:prstGeom prst="ellipse">
            <a:avLst/>
          </a:prstGeom>
          <a:ln>
            <a:tailEnd type="arrow"/>
          </a:ln>
        </p:spPr>
        <p:style>
          <a:lnRef idx="1">
            <a:schemeClr val="accent4"/>
          </a:lnRef>
          <a:fillRef idx="2">
            <a:schemeClr val="accent4"/>
          </a:fillRef>
          <a:effectRef idx="1">
            <a:schemeClr val="accent4"/>
          </a:effectRef>
          <a:fontRef idx="minor">
            <a:schemeClr val="dk1"/>
          </a:fontRef>
        </p:style>
        <p:txBody>
          <a:bodyPr rtlCol="0" anchor="ctr"/>
          <a:lstStyle/>
          <a:p>
            <a:pPr algn="ctr">
              <a:lnSpc>
                <a:spcPts val="2200"/>
              </a:lnSpc>
              <a:spcBef>
                <a:spcPts val="0"/>
              </a:spcBef>
            </a:pPr>
            <a:r>
              <a:rPr lang="en-US" altLang="zh-CN" sz="2000" i="1">
                <a:solidFill>
                  <a:srgbClr val="0000FF"/>
                </a:solidFill>
                <a:latin typeface="Consolas" pitchFamily="49" charset="0"/>
                <a:cs typeface="Consolas" pitchFamily="49" charset="0"/>
              </a:rPr>
              <a:t>j</a:t>
            </a:r>
            <a:endParaRPr lang="zh-CN" altLang="en-US" sz="2000" i="1">
              <a:solidFill>
                <a:srgbClr val="0000FF"/>
              </a:solidFill>
              <a:latin typeface="Consolas" pitchFamily="49" charset="0"/>
              <a:cs typeface="Consolas" pitchFamily="49" charset="0"/>
            </a:endParaRPr>
          </a:p>
        </p:txBody>
      </p:sp>
      <p:sp>
        <p:nvSpPr>
          <p:cNvPr id="6" name="椭圆 5"/>
          <p:cNvSpPr/>
          <p:nvPr/>
        </p:nvSpPr>
        <p:spPr>
          <a:xfrm>
            <a:off x="2214546" y="1171502"/>
            <a:ext cx="396000" cy="428628"/>
          </a:xfrm>
          <a:prstGeom prst="ellipse">
            <a:avLst/>
          </a:prstGeom>
          <a:ln>
            <a:tailEnd type="arrow"/>
          </a:ln>
        </p:spPr>
        <p:style>
          <a:lnRef idx="1">
            <a:schemeClr val="accent4"/>
          </a:lnRef>
          <a:fillRef idx="2">
            <a:schemeClr val="accent4"/>
          </a:fillRef>
          <a:effectRef idx="1">
            <a:schemeClr val="accent4"/>
          </a:effectRef>
          <a:fontRef idx="minor">
            <a:schemeClr val="dk1"/>
          </a:fontRef>
        </p:style>
        <p:txBody>
          <a:bodyPr rtlCol="0" anchor="ctr"/>
          <a:lstStyle/>
          <a:p>
            <a:pPr algn="ctr">
              <a:lnSpc>
                <a:spcPts val="2200"/>
              </a:lnSpc>
              <a:spcBef>
                <a:spcPts val="0"/>
              </a:spcBef>
            </a:pPr>
            <a:r>
              <a:rPr lang="en-US" altLang="zh-CN" sz="2000" i="1">
                <a:solidFill>
                  <a:srgbClr val="0000FF"/>
                </a:solidFill>
                <a:latin typeface="Consolas" pitchFamily="49" charset="0"/>
                <a:cs typeface="Consolas" pitchFamily="49" charset="0"/>
              </a:rPr>
              <a:t>k</a:t>
            </a:r>
            <a:endParaRPr lang="zh-CN" altLang="en-US" sz="2000" i="1">
              <a:solidFill>
                <a:srgbClr val="0000FF"/>
              </a:solidFill>
              <a:latin typeface="Consolas" pitchFamily="49" charset="0"/>
              <a:cs typeface="Consolas" pitchFamily="49" charset="0"/>
            </a:endParaRPr>
          </a:p>
        </p:txBody>
      </p:sp>
      <p:sp>
        <p:nvSpPr>
          <p:cNvPr id="7" name="椭圆 6"/>
          <p:cNvSpPr/>
          <p:nvPr/>
        </p:nvSpPr>
        <p:spPr>
          <a:xfrm>
            <a:off x="3428992" y="2171634"/>
            <a:ext cx="396000" cy="428628"/>
          </a:xfrm>
          <a:prstGeom prst="ellipse">
            <a:avLst/>
          </a:prstGeom>
          <a:ln>
            <a:tailEnd type="arrow"/>
          </a:ln>
        </p:spPr>
        <p:style>
          <a:lnRef idx="1">
            <a:schemeClr val="accent4"/>
          </a:lnRef>
          <a:fillRef idx="2">
            <a:schemeClr val="accent4"/>
          </a:fillRef>
          <a:effectRef idx="1">
            <a:schemeClr val="accent4"/>
          </a:effectRef>
          <a:fontRef idx="minor">
            <a:schemeClr val="dk1"/>
          </a:fontRef>
        </p:style>
        <p:txBody>
          <a:bodyPr rtlCol="0" anchor="ctr"/>
          <a:lstStyle/>
          <a:p>
            <a:pPr algn="ctr">
              <a:lnSpc>
                <a:spcPts val="2200"/>
              </a:lnSpc>
              <a:spcBef>
                <a:spcPts val="0"/>
              </a:spcBef>
            </a:pPr>
            <a:r>
              <a:rPr lang="en-US" altLang="zh-CN" sz="2000" i="1">
                <a:solidFill>
                  <a:srgbClr val="FF0000"/>
                </a:solidFill>
                <a:latin typeface="Consolas" pitchFamily="49" charset="0"/>
                <a:cs typeface="Consolas" pitchFamily="49" charset="0"/>
              </a:rPr>
              <a:t>a</a:t>
            </a:r>
            <a:endParaRPr lang="zh-CN" altLang="en-US" sz="2000" i="1">
              <a:solidFill>
                <a:srgbClr val="FF0000"/>
              </a:solidFill>
              <a:latin typeface="Consolas" pitchFamily="49" charset="0"/>
              <a:cs typeface="Consolas" pitchFamily="49" charset="0"/>
            </a:endParaRPr>
          </a:p>
        </p:txBody>
      </p:sp>
      <p:cxnSp>
        <p:nvCxnSpPr>
          <p:cNvPr id="9" name="直接箭头连接符 8"/>
          <p:cNvCxnSpPr>
            <a:stCxn id="3" idx="7"/>
            <a:endCxn id="6" idx="3"/>
          </p:cNvCxnSpPr>
          <p:nvPr/>
        </p:nvCxnSpPr>
        <p:spPr>
          <a:xfrm rot="5400000" flipH="1" flipV="1">
            <a:off x="849577" y="1525823"/>
            <a:ext cx="1411426" cy="1434498"/>
          </a:xfrm>
          <a:prstGeom prst="straightConnector1">
            <a:avLst/>
          </a:prstGeom>
          <a:ln w="28575">
            <a:prstDash val="dash"/>
            <a:tailEnd type="arrow"/>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a:stCxn id="3" idx="6"/>
            <a:endCxn id="4" idx="2"/>
          </p:cNvCxnSpPr>
          <p:nvPr/>
        </p:nvCxnSpPr>
        <p:spPr>
          <a:xfrm>
            <a:off x="896034" y="3100328"/>
            <a:ext cx="1961454" cy="1588"/>
          </a:xfrm>
          <a:prstGeom prst="straightConnector1">
            <a:avLst/>
          </a:prstGeom>
          <a:ln w="28575">
            <a:prstDash val="dash"/>
            <a:tailEnd type="arrow"/>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a:stCxn id="4" idx="6"/>
            <a:endCxn id="5" idx="2"/>
          </p:cNvCxnSpPr>
          <p:nvPr/>
        </p:nvCxnSpPr>
        <p:spPr>
          <a:xfrm>
            <a:off x="3253488" y="3100328"/>
            <a:ext cx="818446" cy="158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5" name="直接箭头连接符 14"/>
          <p:cNvCxnSpPr>
            <a:stCxn id="6" idx="5"/>
            <a:endCxn id="7" idx="1"/>
          </p:cNvCxnSpPr>
          <p:nvPr/>
        </p:nvCxnSpPr>
        <p:spPr>
          <a:xfrm rot="16200000" flipH="1">
            <a:off x="2671246" y="1418666"/>
            <a:ext cx="697046" cy="934432"/>
          </a:xfrm>
          <a:prstGeom prst="straightConnector1">
            <a:avLst/>
          </a:prstGeom>
          <a:ln w="28575">
            <a:prstDash val="dash"/>
            <a:tailEnd type="arrow"/>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a:stCxn id="7" idx="5"/>
            <a:endCxn id="5" idx="1"/>
          </p:cNvCxnSpPr>
          <p:nvPr/>
        </p:nvCxnSpPr>
        <p:spPr>
          <a:xfrm rot="16200000" flipH="1">
            <a:off x="3742816" y="2561674"/>
            <a:ext cx="411294" cy="36292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18" name="TextBox 17"/>
          <p:cNvSpPr txBox="1"/>
          <p:nvPr/>
        </p:nvSpPr>
        <p:spPr>
          <a:xfrm>
            <a:off x="4500562" y="1857364"/>
            <a:ext cx="4500562" cy="2092881"/>
          </a:xfrm>
          <a:prstGeom prst="rect">
            <a:avLst/>
          </a:prstGeom>
          <a:noFill/>
        </p:spPr>
        <p:txBody>
          <a:bodyPr wrap="square" rtlCol="0">
            <a:spAutoFit/>
          </a:bodyPr>
          <a:lstStyle/>
          <a:p>
            <a:pPr algn="l">
              <a:lnSpc>
                <a:spcPct val="150000"/>
              </a:lnSpc>
            </a:pPr>
            <a:r>
              <a:rPr lang="nb-NO" altLang="zh-CN" sz="2000">
                <a:solidFill>
                  <a:srgbClr val="0000FF"/>
                </a:solidFill>
                <a:latin typeface="Consolas" pitchFamily="49" charset="0"/>
                <a:ea typeface="仿宋" pitchFamily="49" charset="-122"/>
                <a:cs typeface="Consolas" pitchFamily="49" charset="0"/>
              </a:rPr>
              <a:t>path</a:t>
            </a:r>
            <a:r>
              <a:rPr lang="nb-NO" altLang="zh-CN" sz="2000" i="1" baseline="-25000">
                <a:solidFill>
                  <a:srgbClr val="0000FF"/>
                </a:solidFill>
                <a:latin typeface="Consolas" pitchFamily="49" charset="0"/>
                <a:ea typeface="仿宋" pitchFamily="49" charset="-122"/>
                <a:cs typeface="Consolas" pitchFamily="49" charset="0"/>
              </a:rPr>
              <a:t>k</a:t>
            </a:r>
            <a:r>
              <a:rPr lang="nb-NO" altLang="zh-CN" sz="2000" baseline="-25000">
                <a:solidFill>
                  <a:srgbClr val="0000FF"/>
                </a:solidFill>
                <a:latin typeface="Consolas" pitchFamily="49" charset="0"/>
                <a:ea typeface="仿宋" pitchFamily="49" charset="-122"/>
                <a:cs typeface="Consolas" pitchFamily="49" charset="0"/>
              </a:rPr>
              <a:t>-1</a:t>
            </a:r>
            <a:r>
              <a:rPr lang="nb-NO" altLang="zh-CN" sz="2000">
                <a:solidFill>
                  <a:srgbClr val="0000FF"/>
                </a:solidFill>
                <a:latin typeface="Consolas" pitchFamily="49" charset="0"/>
                <a:ea typeface="仿宋" pitchFamily="49" charset="-122"/>
                <a:cs typeface="Consolas" pitchFamily="49" charset="0"/>
              </a:rPr>
              <a:t>[</a:t>
            </a:r>
            <a:r>
              <a:rPr lang="nb-NO" altLang="zh-CN" sz="2000" i="1">
                <a:solidFill>
                  <a:srgbClr val="0000FF"/>
                </a:solidFill>
                <a:latin typeface="Consolas" pitchFamily="49" charset="0"/>
                <a:ea typeface="仿宋" pitchFamily="49" charset="-122"/>
                <a:cs typeface="Consolas" pitchFamily="49" charset="0"/>
              </a:rPr>
              <a:t>i</a:t>
            </a:r>
            <a:r>
              <a:rPr lang="nb-NO" altLang="zh-CN" sz="2000">
                <a:solidFill>
                  <a:srgbClr val="0000FF"/>
                </a:solidFill>
                <a:latin typeface="Consolas" pitchFamily="49" charset="0"/>
                <a:ea typeface="仿宋" pitchFamily="49" charset="-122"/>
                <a:cs typeface="Consolas" pitchFamily="49" charset="0"/>
              </a:rPr>
              <a:t>][</a:t>
            </a:r>
            <a:r>
              <a:rPr lang="nb-NO" altLang="zh-CN" sz="2000" i="1">
                <a:solidFill>
                  <a:srgbClr val="0000FF"/>
                </a:solidFill>
                <a:latin typeface="Consolas" pitchFamily="49" charset="0"/>
                <a:ea typeface="仿宋" pitchFamily="49" charset="-122"/>
                <a:cs typeface="Consolas" pitchFamily="49" charset="0"/>
              </a:rPr>
              <a:t>j</a:t>
            </a:r>
            <a:r>
              <a:rPr lang="nb-NO" altLang="zh-CN" sz="2000">
                <a:solidFill>
                  <a:srgbClr val="0000FF"/>
                </a:solidFill>
                <a:latin typeface="Consolas" pitchFamily="49" charset="0"/>
                <a:ea typeface="仿宋" pitchFamily="49" charset="-122"/>
                <a:cs typeface="Consolas" pitchFamily="49" charset="0"/>
              </a:rPr>
              <a:t>]=</a:t>
            </a:r>
            <a:r>
              <a:rPr lang="nb-NO" altLang="zh-CN" sz="2000" i="1">
                <a:solidFill>
                  <a:srgbClr val="0000FF"/>
                </a:solidFill>
                <a:latin typeface="Consolas" pitchFamily="49" charset="0"/>
                <a:ea typeface="仿宋" pitchFamily="49" charset="-122"/>
                <a:cs typeface="Consolas" pitchFamily="49" charset="0"/>
              </a:rPr>
              <a:t>b</a:t>
            </a:r>
            <a:r>
              <a:rPr lang="en-US" altLang="zh-CN" sz="2000">
                <a:solidFill>
                  <a:srgbClr val="0000FF"/>
                </a:solidFill>
                <a:latin typeface="Consolas" pitchFamily="49" charset="0"/>
                <a:ea typeface="仿宋" pitchFamily="49" charset="-122"/>
                <a:cs typeface="Consolas" pitchFamily="49" charset="0"/>
              </a:rPr>
              <a:t>,</a:t>
            </a:r>
            <a:r>
              <a:rPr lang="nb-NO" altLang="zh-CN" sz="2000">
                <a:solidFill>
                  <a:srgbClr val="0000FF"/>
                </a:solidFill>
                <a:latin typeface="Consolas" pitchFamily="49" charset="0"/>
                <a:ea typeface="仿宋" pitchFamily="49" charset="-122"/>
                <a:cs typeface="Consolas" pitchFamily="49" charset="0"/>
              </a:rPr>
              <a:t>path</a:t>
            </a:r>
            <a:r>
              <a:rPr lang="nb-NO" altLang="zh-CN" sz="2000" i="1" baseline="-25000">
                <a:solidFill>
                  <a:srgbClr val="0000FF"/>
                </a:solidFill>
                <a:latin typeface="Consolas" pitchFamily="49" charset="0"/>
                <a:ea typeface="仿宋" pitchFamily="49" charset="-122"/>
                <a:cs typeface="Consolas" pitchFamily="49" charset="0"/>
              </a:rPr>
              <a:t>k</a:t>
            </a:r>
            <a:r>
              <a:rPr lang="nb-NO" altLang="zh-CN" sz="2000" baseline="-25000">
                <a:solidFill>
                  <a:srgbClr val="0000FF"/>
                </a:solidFill>
                <a:latin typeface="Consolas" pitchFamily="49" charset="0"/>
                <a:ea typeface="仿宋" pitchFamily="49" charset="-122"/>
                <a:cs typeface="Consolas" pitchFamily="49" charset="0"/>
              </a:rPr>
              <a:t>-1</a:t>
            </a:r>
            <a:r>
              <a:rPr lang="nb-NO" altLang="zh-CN" sz="2000">
                <a:solidFill>
                  <a:srgbClr val="0000FF"/>
                </a:solidFill>
                <a:latin typeface="Consolas" pitchFamily="49" charset="0"/>
                <a:ea typeface="仿宋" pitchFamily="49" charset="-122"/>
                <a:cs typeface="Consolas" pitchFamily="49" charset="0"/>
              </a:rPr>
              <a:t>[</a:t>
            </a:r>
            <a:r>
              <a:rPr lang="nb-NO" altLang="zh-CN" sz="2000" i="1">
                <a:solidFill>
                  <a:srgbClr val="0000FF"/>
                </a:solidFill>
                <a:latin typeface="Consolas" pitchFamily="49" charset="0"/>
                <a:ea typeface="仿宋" pitchFamily="49" charset="-122"/>
                <a:cs typeface="Consolas" pitchFamily="49" charset="0"/>
              </a:rPr>
              <a:t>k</a:t>
            </a:r>
            <a:r>
              <a:rPr lang="nb-NO" altLang="zh-CN" sz="2000">
                <a:solidFill>
                  <a:srgbClr val="0000FF"/>
                </a:solidFill>
                <a:latin typeface="Consolas" pitchFamily="49" charset="0"/>
                <a:ea typeface="仿宋" pitchFamily="49" charset="-122"/>
                <a:cs typeface="Consolas" pitchFamily="49" charset="0"/>
              </a:rPr>
              <a:t>][</a:t>
            </a:r>
            <a:r>
              <a:rPr lang="nb-NO" altLang="zh-CN" sz="2000" i="1">
                <a:solidFill>
                  <a:srgbClr val="0000FF"/>
                </a:solidFill>
                <a:latin typeface="Consolas" pitchFamily="49" charset="0"/>
                <a:ea typeface="仿宋" pitchFamily="49" charset="-122"/>
                <a:cs typeface="Consolas" pitchFamily="49" charset="0"/>
              </a:rPr>
              <a:t>j</a:t>
            </a:r>
            <a:r>
              <a:rPr lang="nb-NO" altLang="zh-CN" sz="2000">
                <a:solidFill>
                  <a:srgbClr val="0000FF"/>
                </a:solidFill>
                <a:latin typeface="Consolas" pitchFamily="49" charset="0"/>
                <a:ea typeface="仿宋" pitchFamily="49" charset="-122"/>
                <a:cs typeface="Consolas" pitchFamily="49" charset="0"/>
              </a:rPr>
              <a:t>]=</a:t>
            </a:r>
            <a:r>
              <a:rPr lang="nb-NO" altLang="zh-CN" sz="2000" i="1">
                <a:solidFill>
                  <a:srgbClr val="FF0000"/>
                </a:solidFill>
                <a:latin typeface="Consolas" pitchFamily="49" charset="0"/>
                <a:ea typeface="仿宋" pitchFamily="49" charset="-122"/>
                <a:cs typeface="Consolas" pitchFamily="49" charset="0"/>
              </a:rPr>
              <a:t>a</a:t>
            </a:r>
            <a:r>
              <a:rPr lang="zh-CN" altLang="zh-CN" sz="2000">
                <a:solidFill>
                  <a:srgbClr val="0000FF"/>
                </a:solidFill>
                <a:latin typeface="Consolas" pitchFamily="49" charset="0"/>
                <a:ea typeface="仿宋" pitchFamily="49" charset="-122"/>
                <a:cs typeface="Consolas" pitchFamily="49" charset="0"/>
              </a:rPr>
              <a:t>，</a:t>
            </a:r>
          </a:p>
          <a:p>
            <a:pPr algn="l">
              <a:lnSpc>
                <a:spcPct val="150000"/>
              </a:lnSpc>
            </a:pPr>
            <a:r>
              <a:rPr lang="zh-CN" altLang="zh-CN" sz="2000">
                <a:solidFill>
                  <a:srgbClr val="0000FF"/>
                </a:solidFill>
                <a:latin typeface="Consolas" pitchFamily="49" charset="0"/>
                <a:ea typeface="仿宋" pitchFamily="49" charset="-122"/>
                <a:cs typeface="Consolas" pitchFamily="49" charset="0"/>
              </a:rPr>
              <a:t>若</a:t>
            </a:r>
            <a:r>
              <a:rPr lang="nb-NO" altLang="zh-CN" sz="2000" i="1">
                <a:solidFill>
                  <a:srgbClr val="0000FF"/>
                </a:solidFill>
                <a:latin typeface="Consolas" pitchFamily="49" charset="0"/>
                <a:ea typeface="仿宋" pitchFamily="49" charset="-122"/>
                <a:cs typeface="Consolas" pitchFamily="49" charset="0"/>
              </a:rPr>
              <a:t>A</a:t>
            </a:r>
            <a:r>
              <a:rPr lang="nb-NO" altLang="zh-CN" sz="2000" i="1" baseline="-25000">
                <a:solidFill>
                  <a:srgbClr val="0000FF"/>
                </a:solidFill>
                <a:latin typeface="Consolas" pitchFamily="49" charset="0"/>
                <a:ea typeface="仿宋" pitchFamily="49" charset="-122"/>
                <a:cs typeface="Consolas" pitchFamily="49" charset="0"/>
              </a:rPr>
              <a:t>k</a:t>
            </a:r>
            <a:r>
              <a:rPr lang="nb-NO" altLang="zh-CN" sz="2000" baseline="-25000">
                <a:solidFill>
                  <a:srgbClr val="0000FF"/>
                </a:solidFill>
                <a:latin typeface="Consolas" pitchFamily="49" charset="0"/>
                <a:ea typeface="仿宋" pitchFamily="49" charset="-122"/>
                <a:cs typeface="Consolas" pitchFamily="49" charset="0"/>
              </a:rPr>
              <a:t>-1</a:t>
            </a:r>
            <a:r>
              <a:rPr lang="nb-NO" altLang="zh-CN" sz="2000">
                <a:solidFill>
                  <a:srgbClr val="0000FF"/>
                </a:solidFill>
                <a:latin typeface="Consolas" pitchFamily="49" charset="0"/>
                <a:ea typeface="仿宋" pitchFamily="49" charset="-122"/>
                <a:cs typeface="Consolas" pitchFamily="49" charset="0"/>
              </a:rPr>
              <a:t>[</a:t>
            </a:r>
            <a:r>
              <a:rPr lang="nb-NO" altLang="zh-CN" sz="2000" i="1">
                <a:solidFill>
                  <a:srgbClr val="0000FF"/>
                </a:solidFill>
                <a:latin typeface="Consolas" pitchFamily="49" charset="0"/>
                <a:ea typeface="仿宋" pitchFamily="49" charset="-122"/>
                <a:cs typeface="Consolas" pitchFamily="49" charset="0"/>
              </a:rPr>
              <a:t>i</a:t>
            </a:r>
            <a:r>
              <a:rPr lang="nb-NO" altLang="zh-CN" sz="2000">
                <a:solidFill>
                  <a:srgbClr val="0000FF"/>
                </a:solidFill>
                <a:latin typeface="Consolas" pitchFamily="49" charset="0"/>
                <a:ea typeface="仿宋" pitchFamily="49" charset="-122"/>
                <a:cs typeface="Consolas" pitchFamily="49" charset="0"/>
              </a:rPr>
              <a:t>][</a:t>
            </a:r>
            <a:r>
              <a:rPr lang="nb-NO" altLang="zh-CN" sz="2000" i="1">
                <a:solidFill>
                  <a:srgbClr val="0000FF"/>
                </a:solidFill>
                <a:latin typeface="Consolas" pitchFamily="49" charset="0"/>
                <a:ea typeface="仿宋" pitchFamily="49" charset="-122"/>
                <a:cs typeface="Consolas" pitchFamily="49" charset="0"/>
              </a:rPr>
              <a:t>j</a:t>
            </a:r>
            <a:r>
              <a:rPr lang="nb-NO" altLang="zh-CN" sz="2000">
                <a:solidFill>
                  <a:srgbClr val="0000FF"/>
                </a:solidFill>
                <a:latin typeface="Consolas" pitchFamily="49" charset="0"/>
                <a:ea typeface="仿宋" pitchFamily="49" charset="-122"/>
                <a:cs typeface="Consolas" pitchFamily="49" charset="0"/>
              </a:rPr>
              <a:t>]&gt;</a:t>
            </a:r>
            <a:r>
              <a:rPr lang="nb-NO" altLang="zh-CN" sz="2000" i="1">
                <a:solidFill>
                  <a:srgbClr val="0000FF"/>
                </a:solidFill>
                <a:latin typeface="Consolas" pitchFamily="49" charset="0"/>
                <a:ea typeface="仿宋" pitchFamily="49" charset="-122"/>
                <a:cs typeface="Consolas" pitchFamily="49" charset="0"/>
              </a:rPr>
              <a:t>A</a:t>
            </a:r>
            <a:r>
              <a:rPr lang="nb-NO" altLang="zh-CN" sz="2000" i="1" baseline="-25000">
                <a:solidFill>
                  <a:srgbClr val="0000FF"/>
                </a:solidFill>
                <a:latin typeface="Consolas" pitchFamily="49" charset="0"/>
                <a:ea typeface="仿宋" pitchFamily="49" charset="-122"/>
                <a:cs typeface="Consolas" pitchFamily="49" charset="0"/>
              </a:rPr>
              <a:t>k</a:t>
            </a:r>
            <a:r>
              <a:rPr lang="nb-NO" altLang="zh-CN" sz="2000" baseline="-25000">
                <a:solidFill>
                  <a:srgbClr val="0000FF"/>
                </a:solidFill>
                <a:latin typeface="Consolas" pitchFamily="49" charset="0"/>
                <a:ea typeface="仿宋" pitchFamily="49" charset="-122"/>
                <a:cs typeface="Consolas" pitchFamily="49" charset="0"/>
              </a:rPr>
              <a:t>-1</a:t>
            </a:r>
            <a:r>
              <a:rPr lang="nb-NO" altLang="zh-CN" sz="2000">
                <a:solidFill>
                  <a:srgbClr val="0000FF"/>
                </a:solidFill>
                <a:latin typeface="Consolas" pitchFamily="49" charset="0"/>
                <a:ea typeface="仿宋" pitchFamily="49" charset="-122"/>
                <a:cs typeface="Consolas" pitchFamily="49" charset="0"/>
              </a:rPr>
              <a:t>[</a:t>
            </a:r>
            <a:r>
              <a:rPr lang="nb-NO" altLang="zh-CN" sz="2000" i="1">
                <a:solidFill>
                  <a:srgbClr val="0000FF"/>
                </a:solidFill>
                <a:latin typeface="Consolas" pitchFamily="49" charset="0"/>
                <a:ea typeface="仿宋" pitchFamily="49" charset="-122"/>
                <a:cs typeface="Consolas" pitchFamily="49" charset="0"/>
              </a:rPr>
              <a:t>i</a:t>
            </a:r>
            <a:r>
              <a:rPr lang="nb-NO" altLang="zh-CN" sz="2000">
                <a:solidFill>
                  <a:srgbClr val="0000FF"/>
                </a:solidFill>
                <a:latin typeface="Consolas" pitchFamily="49" charset="0"/>
                <a:ea typeface="仿宋" pitchFamily="49" charset="-122"/>
                <a:cs typeface="Consolas" pitchFamily="49" charset="0"/>
              </a:rPr>
              <a:t>][</a:t>
            </a:r>
            <a:r>
              <a:rPr lang="nb-NO" altLang="zh-CN" sz="2000" i="1">
                <a:solidFill>
                  <a:srgbClr val="0000FF"/>
                </a:solidFill>
                <a:latin typeface="Consolas" pitchFamily="49" charset="0"/>
                <a:ea typeface="仿宋" pitchFamily="49" charset="-122"/>
                <a:cs typeface="Consolas" pitchFamily="49" charset="0"/>
              </a:rPr>
              <a:t>k</a:t>
            </a:r>
            <a:r>
              <a:rPr lang="nb-NO" altLang="zh-CN" sz="2000">
                <a:solidFill>
                  <a:srgbClr val="0000FF"/>
                </a:solidFill>
                <a:latin typeface="Consolas" pitchFamily="49" charset="0"/>
                <a:ea typeface="仿宋" pitchFamily="49" charset="-122"/>
                <a:cs typeface="Consolas" pitchFamily="49" charset="0"/>
              </a:rPr>
              <a:t>]+</a:t>
            </a:r>
            <a:r>
              <a:rPr lang="nb-NO" altLang="zh-CN" sz="2000" i="1">
                <a:solidFill>
                  <a:srgbClr val="0000FF"/>
                </a:solidFill>
                <a:latin typeface="Consolas" pitchFamily="49" charset="0"/>
                <a:ea typeface="仿宋" pitchFamily="49" charset="-122"/>
                <a:cs typeface="Consolas" pitchFamily="49" charset="0"/>
              </a:rPr>
              <a:t>A</a:t>
            </a:r>
            <a:r>
              <a:rPr lang="nb-NO" altLang="zh-CN" sz="2000" i="1" baseline="-25000">
                <a:solidFill>
                  <a:srgbClr val="0000FF"/>
                </a:solidFill>
                <a:latin typeface="Consolas" pitchFamily="49" charset="0"/>
                <a:ea typeface="仿宋" pitchFamily="49" charset="-122"/>
                <a:cs typeface="Consolas" pitchFamily="49" charset="0"/>
              </a:rPr>
              <a:t>k</a:t>
            </a:r>
            <a:r>
              <a:rPr lang="nb-NO" altLang="zh-CN" sz="2000" baseline="-25000">
                <a:solidFill>
                  <a:srgbClr val="0000FF"/>
                </a:solidFill>
                <a:latin typeface="Consolas" pitchFamily="49" charset="0"/>
                <a:ea typeface="仿宋" pitchFamily="49" charset="-122"/>
                <a:cs typeface="Consolas" pitchFamily="49" charset="0"/>
              </a:rPr>
              <a:t>-1</a:t>
            </a:r>
            <a:r>
              <a:rPr lang="nb-NO" altLang="zh-CN" sz="2000">
                <a:solidFill>
                  <a:srgbClr val="0000FF"/>
                </a:solidFill>
                <a:latin typeface="Consolas" pitchFamily="49" charset="0"/>
                <a:ea typeface="仿宋" pitchFamily="49" charset="-122"/>
                <a:cs typeface="Consolas" pitchFamily="49" charset="0"/>
              </a:rPr>
              <a:t>[</a:t>
            </a:r>
            <a:r>
              <a:rPr lang="nb-NO" altLang="zh-CN" sz="2000" i="1">
                <a:solidFill>
                  <a:srgbClr val="0000FF"/>
                </a:solidFill>
                <a:latin typeface="Consolas" pitchFamily="49" charset="0"/>
                <a:ea typeface="仿宋" pitchFamily="49" charset="-122"/>
                <a:cs typeface="Consolas" pitchFamily="49" charset="0"/>
              </a:rPr>
              <a:t>k</a:t>
            </a:r>
            <a:r>
              <a:rPr lang="nb-NO" altLang="zh-CN" sz="2000">
                <a:solidFill>
                  <a:srgbClr val="0000FF"/>
                </a:solidFill>
                <a:latin typeface="Consolas" pitchFamily="49" charset="0"/>
                <a:ea typeface="仿宋" pitchFamily="49" charset="-122"/>
                <a:cs typeface="Consolas" pitchFamily="49" charset="0"/>
              </a:rPr>
              <a:t>][</a:t>
            </a:r>
            <a:r>
              <a:rPr lang="nb-NO" altLang="zh-CN" sz="2000" i="1">
                <a:solidFill>
                  <a:srgbClr val="0000FF"/>
                </a:solidFill>
                <a:latin typeface="Consolas" pitchFamily="49" charset="0"/>
                <a:ea typeface="仿宋" pitchFamily="49" charset="-122"/>
                <a:cs typeface="Consolas" pitchFamily="49" charset="0"/>
              </a:rPr>
              <a:t>j</a:t>
            </a:r>
            <a:r>
              <a:rPr lang="nb-NO" altLang="zh-CN" sz="2000">
                <a:solidFill>
                  <a:srgbClr val="0000FF"/>
                </a:solidFill>
                <a:latin typeface="Consolas" pitchFamily="49" charset="0"/>
                <a:ea typeface="仿宋" pitchFamily="49" charset="-122"/>
                <a:cs typeface="Consolas" pitchFamily="49" charset="0"/>
              </a:rPr>
              <a:t>]</a:t>
            </a:r>
            <a:r>
              <a:rPr lang="zh-CN" altLang="zh-CN" sz="2000">
                <a:solidFill>
                  <a:srgbClr val="0000FF"/>
                </a:solidFill>
                <a:latin typeface="Consolas" pitchFamily="49" charset="0"/>
                <a:ea typeface="仿宋" pitchFamily="49" charset="-122"/>
                <a:cs typeface="Consolas" pitchFamily="49" charset="0"/>
              </a:rPr>
              <a:t>，选择经过顶点</a:t>
            </a:r>
            <a:r>
              <a:rPr lang="nb-NO" altLang="zh-CN" sz="2000" i="1">
                <a:solidFill>
                  <a:srgbClr val="0000FF"/>
                </a:solidFill>
                <a:latin typeface="Consolas" pitchFamily="49" charset="0"/>
                <a:ea typeface="仿宋" pitchFamily="49" charset="-122"/>
                <a:cs typeface="Consolas" pitchFamily="49" charset="0"/>
              </a:rPr>
              <a:t>k</a:t>
            </a:r>
            <a:r>
              <a:rPr lang="zh-CN" altLang="zh-CN" sz="2000">
                <a:solidFill>
                  <a:srgbClr val="0000FF"/>
                </a:solidFill>
                <a:latin typeface="Consolas" pitchFamily="49" charset="0"/>
                <a:ea typeface="仿宋" pitchFamily="49" charset="-122"/>
                <a:cs typeface="Consolas" pitchFamily="49" charset="0"/>
              </a:rPr>
              <a:t>的路径，即</a:t>
            </a:r>
            <a:r>
              <a:rPr lang="nb-NO" altLang="zh-CN" sz="2000">
                <a:solidFill>
                  <a:srgbClr val="0000FF"/>
                </a:solidFill>
                <a:latin typeface="Consolas" pitchFamily="49" charset="0"/>
                <a:ea typeface="仿宋" pitchFamily="49" charset="-122"/>
                <a:cs typeface="Consolas" pitchFamily="49" charset="0"/>
              </a:rPr>
              <a:t>path</a:t>
            </a:r>
            <a:r>
              <a:rPr lang="nb-NO" altLang="zh-CN" sz="2000" i="1" baseline="-25000">
                <a:solidFill>
                  <a:srgbClr val="0000FF"/>
                </a:solidFill>
                <a:latin typeface="Consolas" pitchFamily="49" charset="0"/>
                <a:ea typeface="仿宋" pitchFamily="49" charset="-122"/>
                <a:cs typeface="Consolas" pitchFamily="49" charset="0"/>
              </a:rPr>
              <a:t>k</a:t>
            </a:r>
            <a:r>
              <a:rPr lang="nb-NO" altLang="zh-CN" sz="2000">
                <a:solidFill>
                  <a:srgbClr val="0000FF"/>
                </a:solidFill>
                <a:latin typeface="Consolas" pitchFamily="49" charset="0"/>
                <a:ea typeface="仿宋" pitchFamily="49" charset="-122"/>
                <a:cs typeface="Consolas" pitchFamily="49" charset="0"/>
              </a:rPr>
              <a:t>[</a:t>
            </a:r>
            <a:r>
              <a:rPr lang="nb-NO" altLang="zh-CN" sz="2000" i="1">
                <a:solidFill>
                  <a:srgbClr val="0000FF"/>
                </a:solidFill>
                <a:latin typeface="Consolas" pitchFamily="49" charset="0"/>
                <a:ea typeface="仿宋" pitchFamily="49" charset="-122"/>
                <a:cs typeface="Consolas" pitchFamily="49" charset="0"/>
              </a:rPr>
              <a:t>i</a:t>
            </a:r>
            <a:r>
              <a:rPr lang="nb-NO" altLang="zh-CN" sz="2000">
                <a:solidFill>
                  <a:srgbClr val="0000FF"/>
                </a:solidFill>
                <a:latin typeface="Consolas" pitchFamily="49" charset="0"/>
                <a:ea typeface="仿宋" pitchFamily="49" charset="-122"/>
                <a:cs typeface="Consolas" pitchFamily="49" charset="0"/>
              </a:rPr>
              <a:t>][</a:t>
            </a:r>
            <a:r>
              <a:rPr lang="nb-NO" altLang="zh-CN" sz="2000" i="1">
                <a:solidFill>
                  <a:srgbClr val="0000FF"/>
                </a:solidFill>
                <a:latin typeface="Consolas" pitchFamily="49" charset="0"/>
                <a:ea typeface="仿宋" pitchFamily="49" charset="-122"/>
                <a:cs typeface="Consolas" pitchFamily="49" charset="0"/>
              </a:rPr>
              <a:t>j</a:t>
            </a:r>
            <a:r>
              <a:rPr lang="nb-NO" altLang="zh-CN" sz="2000">
                <a:solidFill>
                  <a:srgbClr val="0000FF"/>
                </a:solidFill>
                <a:latin typeface="Consolas" pitchFamily="49" charset="0"/>
                <a:ea typeface="仿宋" pitchFamily="49" charset="-122"/>
                <a:cs typeface="Consolas" pitchFamily="49" charset="0"/>
              </a:rPr>
              <a:t>]=</a:t>
            </a:r>
            <a:r>
              <a:rPr lang="nb-NO" altLang="zh-CN" sz="2000" i="1">
                <a:solidFill>
                  <a:srgbClr val="FF0000"/>
                </a:solidFill>
                <a:latin typeface="Consolas" pitchFamily="49" charset="0"/>
                <a:ea typeface="仿宋" pitchFamily="49" charset="-122"/>
                <a:cs typeface="Consolas" pitchFamily="49" charset="0"/>
              </a:rPr>
              <a:t>a</a:t>
            </a:r>
            <a:r>
              <a:rPr lang="nb-NO" altLang="zh-CN" sz="2000">
                <a:solidFill>
                  <a:srgbClr val="0000FF"/>
                </a:solidFill>
                <a:latin typeface="Consolas" pitchFamily="49" charset="0"/>
                <a:ea typeface="仿宋" pitchFamily="49" charset="-122"/>
                <a:cs typeface="Consolas" pitchFamily="49" charset="0"/>
              </a:rPr>
              <a:t>=path</a:t>
            </a:r>
            <a:r>
              <a:rPr lang="nb-NO" altLang="zh-CN" sz="2000" i="1" baseline="-25000">
                <a:solidFill>
                  <a:srgbClr val="0000FF"/>
                </a:solidFill>
                <a:latin typeface="Consolas" pitchFamily="49" charset="0"/>
                <a:ea typeface="仿宋" pitchFamily="49" charset="-122"/>
                <a:cs typeface="Consolas" pitchFamily="49" charset="0"/>
              </a:rPr>
              <a:t>k</a:t>
            </a:r>
            <a:r>
              <a:rPr lang="nb-NO" altLang="zh-CN" sz="2000" baseline="-25000">
                <a:solidFill>
                  <a:srgbClr val="0000FF"/>
                </a:solidFill>
                <a:latin typeface="Consolas" pitchFamily="49" charset="0"/>
                <a:ea typeface="仿宋" pitchFamily="49" charset="-122"/>
                <a:cs typeface="Consolas" pitchFamily="49" charset="0"/>
              </a:rPr>
              <a:t>-1</a:t>
            </a:r>
            <a:r>
              <a:rPr lang="nb-NO" altLang="zh-CN" sz="2000">
                <a:solidFill>
                  <a:srgbClr val="0000FF"/>
                </a:solidFill>
                <a:latin typeface="Consolas" pitchFamily="49" charset="0"/>
                <a:ea typeface="仿宋" pitchFamily="49" charset="-122"/>
                <a:cs typeface="Consolas" pitchFamily="49" charset="0"/>
              </a:rPr>
              <a:t>[</a:t>
            </a:r>
            <a:r>
              <a:rPr lang="nb-NO" altLang="zh-CN" sz="2000" i="1">
                <a:solidFill>
                  <a:srgbClr val="0000FF"/>
                </a:solidFill>
                <a:latin typeface="Consolas" pitchFamily="49" charset="0"/>
                <a:ea typeface="仿宋" pitchFamily="49" charset="-122"/>
                <a:cs typeface="Consolas" pitchFamily="49" charset="0"/>
              </a:rPr>
              <a:t>k</a:t>
            </a:r>
            <a:r>
              <a:rPr lang="nb-NO" altLang="zh-CN" sz="2000">
                <a:solidFill>
                  <a:srgbClr val="0000FF"/>
                </a:solidFill>
                <a:latin typeface="Consolas" pitchFamily="49" charset="0"/>
                <a:ea typeface="仿宋" pitchFamily="49" charset="-122"/>
                <a:cs typeface="Consolas" pitchFamily="49" charset="0"/>
              </a:rPr>
              <a:t>][</a:t>
            </a:r>
            <a:r>
              <a:rPr lang="nb-NO" altLang="zh-CN" sz="2000" i="1">
                <a:solidFill>
                  <a:srgbClr val="0000FF"/>
                </a:solidFill>
                <a:latin typeface="Consolas" pitchFamily="49" charset="0"/>
                <a:ea typeface="仿宋" pitchFamily="49" charset="-122"/>
                <a:cs typeface="Consolas" pitchFamily="49" charset="0"/>
              </a:rPr>
              <a:t>j</a:t>
            </a:r>
            <a:r>
              <a:rPr lang="nb-NO" altLang="zh-CN" sz="2000">
                <a:solidFill>
                  <a:srgbClr val="0000FF"/>
                </a:solidFill>
                <a:latin typeface="Consolas" pitchFamily="49" charset="0"/>
                <a:ea typeface="仿宋" pitchFamily="49" charset="-122"/>
                <a:cs typeface="Consolas" pitchFamily="49" charset="0"/>
              </a:rPr>
              <a:t>]</a:t>
            </a:r>
            <a:r>
              <a:rPr lang="zh-CN" altLang="zh-CN" sz="2000">
                <a:solidFill>
                  <a:srgbClr val="0000FF"/>
                </a:solidFill>
                <a:latin typeface="Consolas" pitchFamily="49" charset="0"/>
                <a:ea typeface="仿宋" pitchFamily="49" charset="-122"/>
                <a:cs typeface="Consolas" pitchFamily="49" charset="0"/>
              </a:rPr>
              <a:t>。</a:t>
            </a:r>
          </a:p>
        </p:txBody>
      </p:sp>
      <p:sp>
        <p:nvSpPr>
          <p:cNvPr id="19" name="TextBox 18"/>
          <p:cNvSpPr txBox="1"/>
          <p:nvPr/>
        </p:nvSpPr>
        <p:spPr>
          <a:xfrm>
            <a:off x="571472" y="4786322"/>
            <a:ext cx="6786610" cy="400110"/>
          </a:xfrm>
          <a:prstGeom prst="rect">
            <a:avLst/>
          </a:prstGeom>
          <a:noFill/>
        </p:spPr>
        <p:txBody>
          <a:bodyPr wrap="square" rtlCol="0">
            <a:spAutoFit/>
          </a:bodyPr>
          <a:lstStyle/>
          <a:p>
            <a:pPr algn="l">
              <a:lnSpc>
                <a:spcPct val="100000"/>
              </a:lnSpc>
            </a:pPr>
            <a:r>
              <a:rPr lang="nb-NO" altLang="zh-CN" sz="2000" i="1">
                <a:solidFill>
                  <a:srgbClr val="FF0000"/>
                </a:solidFill>
                <a:latin typeface="Consolas" pitchFamily="49" charset="0"/>
                <a:cs typeface="Consolas" pitchFamily="49" charset="0"/>
              </a:rPr>
              <a:t>A</a:t>
            </a:r>
            <a:r>
              <a:rPr lang="nb-NO" altLang="zh-CN" sz="2000" i="1" baseline="-25000">
                <a:solidFill>
                  <a:srgbClr val="FF0000"/>
                </a:solidFill>
                <a:latin typeface="Consolas" pitchFamily="49" charset="0"/>
                <a:cs typeface="Consolas" pitchFamily="49" charset="0"/>
              </a:rPr>
              <a:t>k</a:t>
            </a:r>
            <a:r>
              <a:rPr lang="nb-NO" altLang="zh-CN" sz="2000">
                <a:solidFill>
                  <a:srgbClr val="FF0000"/>
                </a:solidFill>
                <a:latin typeface="Consolas" pitchFamily="49" charset="0"/>
                <a:cs typeface="Consolas" pitchFamily="49" charset="0"/>
              </a:rPr>
              <a:t>[</a:t>
            </a:r>
            <a:r>
              <a:rPr lang="nb-NO" altLang="zh-CN" sz="2000" i="1">
                <a:solidFill>
                  <a:srgbClr val="FF0000"/>
                </a:solidFill>
                <a:latin typeface="Consolas" pitchFamily="49" charset="0"/>
                <a:cs typeface="Consolas" pitchFamily="49" charset="0"/>
              </a:rPr>
              <a:t>i</a:t>
            </a:r>
            <a:r>
              <a:rPr lang="nb-NO" altLang="zh-CN" sz="2000">
                <a:solidFill>
                  <a:srgbClr val="FF0000"/>
                </a:solidFill>
                <a:latin typeface="Consolas" pitchFamily="49" charset="0"/>
                <a:cs typeface="Consolas" pitchFamily="49" charset="0"/>
              </a:rPr>
              <a:t>][</a:t>
            </a:r>
            <a:r>
              <a:rPr lang="nb-NO" altLang="zh-CN" sz="2000" i="1">
                <a:solidFill>
                  <a:srgbClr val="FF0000"/>
                </a:solidFill>
                <a:latin typeface="Consolas" pitchFamily="49" charset="0"/>
                <a:cs typeface="Consolas" pitchFamily="49" charset="0"/>
              </a:rPr>
              <a:t>j</a:t>
            </a:r>
            <a:r>
              <a:rPr lang="nb-NO" altLang="zh-CN" sz="2000">
                <a:solidFill>
                  <a:srgbClr val="FF0000"/>
                </a:solidFill>
                <a:latin typeface="Consolas" pitchFamily="49" charset="0"/>
                <a:cs typeface="Consolas" pitchFamily="49" charset="0"/>
              </a:rPr>
              <a:t>]=min{</a:t>
            </a:r>
            <a:r>
              <a:rPr lang="nb-NO" altLang="zh-CN" sz="2000" i="1">
                <a:solidFill>
                  <a:srgbClr val="FF0000"/>
                </a:solidFill>
                <a:latin typeface="Consolas" pitchFamily="49" charset="0"/>
                <a:cs typeface="Consolas" pitchFamily="49" charset="0"/>
              </a:rPr>
              <a:t>A</a:t>
            </a:r>
            <a:r>
              <a:rPr lang="nb-NO" altLang="zh-CN" sz="2000" i="1" baseline="-25000">
                <a:solidFill>
                  <a:srgbClr val="FF0000"/>
                </a:solidFill>
                <a:latin typeface="Consolas" pitchFamily="49" charset="0"/>
                <a:cs typeface="Consolas" pitchFamily="49" charset="0"/>
              </a:rPr>
              <a:t>k</a:t>
            </a:r>
            <a:r>
              <a:rPr lang="nb-NO" altLang="zh-CN" sz="2000" baseline="-25000">
                <a:solidFill>
                  <a:srgbClr val="FF0000"/>
                </a:solidFill>
                <a:latin typeface="Consolas" pitchFamily="49" charset="0"/>
                <a:cs typeface="Consolas" pitchFamily="49" charset="0"/>
              </a:rPr>
              <a:t>-1</a:t>
            </a:r>
            <a:r>
              <a:rPr lang="nb-NO" altLang="zh-CN" sz="2000">
                <a:solidFill>
                  <a:srgbClr val="FF0000"/>
                </a:solidFill>
                <a:latin typeface="Consolas" pitchFamily="49" charset="0"/>
                <a:cs typeface="Consolas" pitchFamily="49" charset="0"/>
              </a:rPr>
              <a:t>[</a:t>
            </a:r>
            <a:r>
              <a:rPr lang="nb-NO" altLang="zh-CN" sz="2000" i="1">
                <a:solidFill>
                  <a:srgbClr val="FF0000"/>
                </a:solidFill>
                <a:latin typeface="Consolas" pitchFamily="49" charset="0"/>
                <a:cs typeface="Consolas" pitchFamily="49" charset="0"/>
              </a:rPr>
              <a:t>i</a:t>
            </a:r>
            <a:r>
              <a:rPr lang="nb-NO" altLang="zh-CN" sz="2000">
                <a:solidFill>
                  <a:srgbClr val="FF0000"/>
                </a:solidFill>
                <a:latin typeface="Consolas" pitchFamily="49" charset="0"/>
                <a:cs typeface="Consolas" pitchFamily="49" charset="0"/>
              </a:rPr>
              <a:t>][</a:t>
            </a:r>
            <a:r>
              <a:rPr lang="nb-NO" altLang="zh-CN" sz="2000" i="1">
                <a:solidFill>
                  <a:srgbClr val="FF0000"/>
                </a:solidFill>
                <a:latin typeface="Consolas" pitchFamily="49" charset="0"/>
                <a:cs typeface="Consolas" pitchFamily="49" charset="0"/>
              </a:rPr>
              <a:t>j</a:t>
            </a:r>
            <a:r>
              <a:rPr lang="nb-NO" altLang="zh-CN" sz="2000">
                <a:solidFill>
                  <a:srgbClr val="FF0000"/>
                </a:solidFill>
                <a:latin typeface="Consolas" pitchFamily="49" charset="0"/>
                <a:cs typeface="Consolas" pitchFamily="49" charset="0"/>
              </a:rPr>
              <a:t>],</a:t>
            </a:r>
            <a:r>
              <a:rPr lang="nb-NO" altLang="zh-CN" sz="2000" i="1">
                <a:solidFill>
                  <a:srgbClr val="FF0000"/>
                </a:solidFill>
                <a:latin typeface="Consolas" pitchFamily="49" charset="0"/>
                <a:cs typeface="Consolas" pitchFamily="49" charset="0"/>
              </a:rPr>
              <a:t>A</a:t>
            </a:r>
            <a:r>
              <a:rPr lang="nb-NO" altLang="zh-CN" sz="2000" i="1" baseline="-25000">
                <a:solidFill>
                  <a:srgbClr val="FF0000"/>
                </a:solidFill>
                <a:latin typeface="Consolas" pitchFamily="49" charset="0"/>
                <a:cs typeface="Consolas" pitchFamily="49" charset="0"/>
              </a:rPr>
              <a:t>k</a:t>
            </a:r>
            <a:r>
              <a:rPr lang="nb-NO" altLang="zh-CN" sz="2000" baseline="-25000">
                <a:solidFill>
                  <a:srgbClr val="FF0000"/>
                </a:solidFill>
                <a:latin typeface="Consolas" pitchFamily="49" charset="0"/>
                <a:cs typeface="Consolas" pitchFamily="49" charset="0"/>
              </a:rPr>
              <a:t>-1</a:t>
            </a:r>
            <a:r>
              <a:rPr lang="nb-NO" altLang="zh-CN" sz="2000">
                <a:solidFill>
                  <a:srgbClr val="FF0000"/>
                </a:solidFill>
                <a:latin typeface="Consolas" pitchFamily="49" charset="0"/>
                <a:cs typeface="Consolas" pitchFamily="49" charset="0"/>
              </a:rPr>
              <a:t>[</a:t>
            </a:r>
            <a:r>
              <a:rPr lang="nb-NO" altLang="zh-CN" sz="2000" i="1">
                <a:solidFill>
                  <a:srgbClr val="FF0000"/>
                </a:solidFill>
                <a:latin typeface="Consolas" pitchFamily="49" charset="0"/>
                <a:cs typeface="Consolas" pitchFamily="49" charset="0"/>
              </a:rPr>
              <a:t>i</a:t>
            </a:r>
            <a:r>
              <a:rPr lang="nb-NO" altLang="zh-CN" sz="2000">
                <a:solidFill>
                  <a:srgbClr val="FF0000"/>
                </a:solidFill>
                <a:latin typeface="Consolas" pitchFamily="49" charset="0"/>
                <a:cs typeface="Consolas" pitchFamily="49" charset="0"/>
              </a:rPr>
              <a:t>][</a:t>
            </a:r>
            <a:r>
              <a:rPr lang="nb-NO" altLang="zh-CN" sz="2000" i="1">
                <a:solidFill>
                  <a:srgbClr val="FF0000"/>
                </a:solidFill>
                <a:latin typeface="Consolas" pitchFamily="49" charset="0"/>
                <a:cs typeface="Consolas" pitchFamily="49" charset="0"/>
              </a:rPr>
              <a:t>k</a:t>
            </a:r>
            <a:r>
              <a:rPr lang="nb-NO" altLang="zh-CN" sz="2000">
                <a:solidFill>
                  <a:srgbClr val="FF0000"/>
                </a:solidFill>
                <a:latin typeface="Consolas" pitchFamily="49" charset="0"/>
                <a:cs typeface="Consolas" pitchFamily="49" charset="0"/>
              </a:rPr>
              <a:t>]+</a:t>
            </a:r>
            <a:r>
              <a:rPr lang="nb-NO" altLang="zh-CN" sz="2000" i="1">
                <a:solidFill>
                  <a:srgbClr val="FF0000"/>
                </a:solidFill>
                <a:latin typeface="Consolas" pitchFamily="49" charset="0"/>
                <a:cs typeface="Consolas" pitchFamily="49" charset="0"/>
              </a:rPr>
              <a:t>A</a:t>
            </a:r>
            <a:r>
              <a:rPr lang="nb-NO" altLang="zh-CN" sz="2000" i="1" baseline="-25000">
                <a:solidFill>
                  <a:srgbClr val="FF0000"/>
                </a:solidFill>
                <a:latin typeface="Consolas" pitchFamily="49" charset="0"/>
                <a:cs typeface="Consolas" pitchFamily="49" charset="0"/>
              </a:rPr>
              <a:t>k</a:t>
            </a:r>
            <a:r>
              <a:rPr lang="nb-NO" altLang="zh-CN" sz="2000" baseline="-25000">
                <a:solidFill>
                  <a:srgbClr val="FF0000"/>
                </a:solidFill>
                <a:latin typeface="Consolas" pitchFamily="49" charset="0"/>
                <a:cs typeface="Consolas" pitchFamily="49" charset="0"/>
              </a:rPr>
              <a:t>-1</a:t>
            </a:r>
            <a:r>
              <a:rPr lang="nb-NO" altLang="zh-CN" sz="2000">
                <a:solidFill>
                  <a:srgbClr val="FF0000"/>
                </a:solidFill>
                <a:latin typeface="Consolas" pitchFamily="49" charset="0"/>
                <a:cs typeface="Consolas" pitchFamily="49" charset="0"/>
              </a:rPr>
              <a:t>[</a:t>
            </a:r>
            <a:r>
              <a:rPr lang="nb-NO" altLang="zh-CN" sz="2000" i="1">
                <a:solidFill>
                  <a:srgbClr val="FF0000"/>
                </a:solidFill>
                <a:latin typeface="Consolas" pitchFamily="49" charset="0"/>
                <a:cs typeface="Consolas" pitchFamily="49" charset="0"/>
              </a:rPr>
              <a:t>k</a:t>
            </a:r>
            <a:r>
              <a:rPr lang="nb-NO" altLang="zh-CN" sz="2000">
                <a:solidFill>
                  <a:srgbClr val="FF0000"/>
                </a:solidFill>
                <a:latin typeface="Consolas" pitchFamily="49" charset="0"/>
                <a:cs typeface="Consolas" pitchFamily="49" charset="0"/>
              </a:rPr>
              <a:t>][</a:t>
            </a:r>
            <a:r>
              <a:rPr lang="nb-NO" altLang="zh-CN" sz="2000" i="1">
                <a:solidFill>
                  <a:srgbClr val="FF0000"/>
                </a:solidFill>
                <a:latin typeface="Consolas" pitchFamily="49" charset="0"/>
                <a:cs typeface="Consolas" pitchFamily="49" charset="0"/>
              </a:rPr>
              <a:t>j</a:t>
            </a:r>
            <a:r>
              <a:rPr lang="nb-NO" altLang="zh-CN" sz="2000">
                <a:solidFill>
                  <a:srgbClr val="FF0000"/>
                </a:solidFill>
                <a:latin typeface="Consolas" pitchFamily="49" charset="0"/>
                <a:cs typeface="Consolas" pitchFamily="49" charset="0"/>
              </a:rPr>
              <a:t>]}</a:t>
            </a:r>
            <a:endParaRPr lang="zh-CN" altLang="zh-CN" sz="2000">
              <a:solidFill>
                <a:srgbClr val="FF0000"/>
              </a:solidFill>
              <a:latin typeface="Consolas" pitchFamily="49" charset="0"/>
              <a:cs typeface="Consolas" pitchFamily="49" charset="0"/>
            </a:endParaRPr>
          </a:p>
        </p:txBody>
      </p:sp>
      <p:sp>
        <p:nvSpPr>
          <p:cNvPr id="20" name="TextBox 19"/>
          <p:cNvSpPr txBox="1"/>
          <p:nvPr/>
        </p:nvSpPr>
        <p:spPr>
          <a:xfrm>
            <a:off x="2071670" y="3929066"/>
            <a:ext cx="1285884" cy="369332"/>
          </a:xfrm>
          <a:prstGeom prst="rect">
            <a:avLst/>
          </a:prstGeom>
          <a:noFill/>
        </p:spPr>
        <p:txBody>
          <a:bodyPr wrap="square" rtlCol="0">
            <a:spAutoFit/>
          </a:bodyPr>
          <a:lstStyle/>
          <a:p>
            <a:r>
              <a:rPr lang="nb-NO" altLang="zh-CN" sz="1800" i="1">
                <a:solidFill>
                  <a:srgbClr val="0000FF"/>
                </a:solidFill>
                <a:latin typeface="Consolas" pitchFamily="49" charset="0"/>
                <a:cs typeface="Consolas" pitchFamily="49" charset="0"/>
              </a:rPr>
              <a:t>A</a:t>
            </a:r>
            <a:r>
              <a:rPr lang="nb-NO" altLang="zh-CN" sz="1800" i="1" baseline="-25000">
                <a:solidFill>
                  <a:srgbClr val="0000FF"/>
                </a:solidFill>
                <a:latin typeface="Consolas" pitchFamily="49" charset="0"/>
                <a:cs typeface="Consolas" pitchFamily="49" charset="0"/>
              </a:rPr>
              <a:t>k</a:t>
            </a:r>
            <a:r>
              <a:rPr lang="nb-NO" altLang="zh-CN" sz="1800" baseline="-25000">
                <a:solidFill>
                  <a:srgbClr val="0000FF"/>
                </a:solidFill>
                <a:latin typeface="Consolas" pitchFamily="49" charset="0"/>
                <a:cs typeface="Consolas" pitchFamily="49" charset="0"/>
              </a:rPr>
              <a:t>-1</a:t>
            </a:r>
            <a:r>
              <a:rPr lang="nb-NO" altLang="zh-CN" sz="1800">
                <a:solidFill>
                  <a:srgbClr val="0000FF"/>
                </a:solidFill>
                <a:latin typeface="Consolas" pitchFamily="49" charset="0"/>
                <a:cs typeface="Consolas" pitchFamily="49" charset="0"/>
              </a:rPr>
              <a:t>[</a:t>
            </a:r>
            <a:r>
              <a:rPr lang="nb-NO" altLang="zh-CN" sz="1800" i="1">
                <a:solidFill>
                  <a:srgbClr val="0000FF"/>
                </a:solidFill>
                <a:latin typeface="Consolas" pitchFamily="49" charset="0"/>
                <a:cs typeface="Consolas" pitchFamily="49" charset="0"/>
              </a:rPr>
              <a:t>i</a:t>
            </a:r>
            <a:r>
              <a:rPr lang="nb-NO" altLang="zh-CN" sz="1800">
                <a:solidFill>
                  <a:srgbClr val="0000FF"/>
                </a:solidFill>
                <a:latin typeface="Consolas" pitchFamily="49" charset="0"/>
                <a:cs typeface="Consolas" pitchFamily="49" charset="0"/>
              </a:rPr>
              <a:t>][</a:t>
            </a:r>
            <a:r>
              <a:rPr lang="nb-NO" altLang="zh-CN" sz="1800" i="1">
                <a:solidFill>
                  <a:srgbClr val="0000FF"/>
                </a:solidFill>
                <a:latin typeface="Consolas" pitchFamily="49" charset="0"/>
                <a:cs typeface="Consolas" pitchFamily="49" charset="0"/>
              </a:rPr>
              <a:t>j</a:t>
            </a:r>
            <a:r>
              <a:rPr lang="nb-NO" altLang="zh-CN" sz="1800">
                <a:solidFill>
                  <a:srgbClr val="0000FF"/>
                </a:solidFill>
                <a:latin typeface="Consolas" pitchFamily="49" charset="0"/>
                <a:cs typeface="Consolas" pitchFamily="49" charset="0"/>
              </a:rPr>
              <a:t>]</a:t>
            </a:r>
            <a:endParaRPr lang="zh-CN" altLang="en-US" sz="1800">
              <a:solidFill>
                <a:srgbClr val="0000FF"/>
              </a:solidFill>
              <a:latin typeface="Consolas" pitchFamily="49" charset="0"/>
              <a:cs typeface="Consolas" pitchFamily="49" charset="0"/>
            </a:endParaRPr>
          </a:p>
        </p:txBody>
      </p:sp>
      <p:sp>
        <p:nvSpPr>
          <p:cNvPr id="21" name="TextBox 20"/>
          <p:cNvSpPr txBox="1"/>
          <p:nvPr/>
        </p:nvSpPr>
        <p:spPr>
          <a:xfrm>
            <a:off x="285720" y="1285860"/>
            <a:ext cx="1285884" cy="369332"/>
          </a:xfrm>
          <a:prstGeom prst="rect">
            <a:avLst/>
          </a:prstGeom>
          <a:noFill/>
        </p:spPr>
        <p:txBody>
          <a:bodyPr wrap="square" rtlCol="0">
            <a:spAutoFit/>
          </a:bodyPr>
          <a:lstStyle/>
          <a:p>
            <a:r>
              <a:rPr lang="nb-NO" altLang="zh-CN" sz="1800" i="1">
                <a:solidFill>
                  <a:srgbClr val="0000FF"/>
                </a:solidFill>
                <a:latin typeface="Consolas" pitchFamily="49" charset="0"/>
                <a:cs typeface="Consolas" pitchFamily="49" charset="0"/>
              </a:rPr>
              <a:t>A</a:t>
            </a:r>
            <a:r>
              <a:rPr lang="nb-NO" altLang="zh-CN" sz="1800" i="1" baseline="-25000">
                <a:solidFill>
                  <a:srgbClr val="0000FF"/>
                </a:solidFill>
                <a:latin typeface="Consolas" pitchFamily="49" charset="0"/>
                <a:cs typeface="Consolas" pitchFamily="49" charset="0"/>
              </a:rPr>
              <a:t>k</a:t>
            </a:r>
            <a:r>
              <a:rPr lang="nb-NO" altLang="zh-CN" sz="1800" baseline="-25000">
                <a:solidFill>
                  <a:srgbClr val="0000FF"/>
                </a:solidFill>
                <a:latin typeface="Consolas" pitchFamily="49" charset="0"/>
                <a:cs typeface="Consolas" pitchFamily="49" charset="0"/>
              </a:rPr>
              <a:t>-1</a:t>
            </a:r>
            <a:r>
              <a:rPr lang="nb-NO" altLang="zh-CN" sz="1800">
                <a:solidFill>
                  <a:srgbClr val="0000FF"/>
                </a:solidFill>
                <a:latin typeface="Consolas" pitchFamily="49" charset="0"/>
                <a:cs typeface="Consolas" pitchFamily="49" charset="0"/>
              </a:rPr>
              <a:t>[</a:t>
            </a:r>
            <a:r>
              <a:rPr lang="nb-NO" altLang="zh-CN" sz="1800" i="1">
                <a:solidFill>
                  <a:srgbClr val="0000FF"/>
                </a:solidFill>
                <a:latin typeface="Consolas" pitchFamily="49" charset="0"/>
                <a:cs typeface="Consolas" pitchFamily="49" charset="0"/>
              </a:rPr>
              <a:t>i</a:t>
            </a:r>
            <a:r>
              <a:rPr lang="nb-NO" altLang="zh-CN" sz="1800">
                <a:solidFill>
                  <a:srgbClr val="0000FF"/>
                </a:solidFill>
                <a:latin typeface="Consolas" pitchFamily="49" charset="0"/>
                <a:cs typeface="Consolas" pitchFamily="49" charset="0"/>
              </a:rPr>
              <a:t>][</a:t>
            </a:r>
            <a:r>
              <a:rPr lang="nb-NO" altLang="zh-CN" sz="1800" i="1">
                <a:solidFill>
                  <a:srgbClr val="0000FF"/>
                </a:solidFill>
                <a:latin typeface="Consolas" pitchFamily="49" charset="0"/>
                <a:cs typeface="Consolas" pitchFamily="49" charset="0"/>
              </a:rPr>
              <a:t>k</a:t>
            </a:r>
            <a:r>
              <a:rPr lang="nb-NO" altLang="zh-CN" sz="1800">
                <a:solidFill>
                  <a:srgbClr val="0000FF"/>
                </a:solidFill>
                <a:latin typeface="Consolas" pitchFamily="49" charset="0"/>
                <a:cs typeface="Consolas" pitchFamily="49" charset="0"/>
              </a:rPr>
              <a:t>]</a:t>
            </a:r>
            <a:endParaRPr lang="zh-CN" altLang="en-US" sz="1800">
              <a:solidFill>
                <a:srgbClr val="0000FF"/>
              </a:solidFill>
              <a:latin typeface="Consolas" pitchFamily="49" charset="0"/>
              <a:cs typeface="Consolas" pitchFamily="49" charset="0"/>
            </a:endParaRPr>
          </a:p>
        </p:txBody>
      </p:sp>
      <p:sp>
        <p:nvSpPr>
          <p:cNvPr id="22" name="TextBox 21"/>
          <p:cNvSpPr txBox="1"/>
          <p:nvPr/>
        </p:nvSpPr>
        <p:spPr>
          <a:xfrm>
            <a:off x="3500430" y="1242940"/>
            <a:ext cx="1285884" cy="369332"/>
          </a:xfrm>
          <a:prstGeom prst="rect">
            <a:avLst/>
          </a:prstGeom>
          <a:noFill/>
        </p:spPr>
        <p:txBody>
          <a:bodyPr wrap="square" rtlCol="0">
            <a:spAutoFit/>
          </a:bodyPr>
          <a:lstStyle/>
          <a:p>
            <a:r>
              <a:rPr lang="nb-NO" altLang="zh-CN" sz="1800" i="1">
                <a:solidFill>
                  <a:srgbClr val="0000FF"/>
                </a:solidFill>
                <a:latin typeface="Consolas" pitchFamily="49" charset="0"/>
                <a:cs typeface="Consolas" pitchFamily="49" charset="0"/>
              </a:rPr>
              <a:t>A</a:t>
            </a:r>
            <a:r>
              <a:rPr lang="nb-NO" altLang="zh-CN" sz="1800" i="1" baseline="-25000">
                <a:solidFill>
                  <a:srgbClr val="0000FF"/>
                </a:solidFill>
                <a:latin typeface="Consolas" pitchFamily="49" charset="0"/>
                <a:cs typeface="Consolas" pitchFamily="49" charset="0"/>
              </a:rPr>
              <a:t>k</a:t>
            </a:r>
            <a:r>
              <a:rPr lang="nb-NO" altLang="zh-CN" sz="1800" baseline="-25000">
                <a:solidFill>
                  <a:srgbClr val="0000FF"/>
                </a:solidFill>
                <a:latin typeface="Consolas" pitchFamily="49" charset="0"/>
                <a:cs typeface="Consolas" pitchFamily="49" charset="0"/>
              </a:rPr>
              <a:t>-1</a:t>
            </a:r>
            <a:r>
              <a:rPr lang="nb-NO" altLang="zh-CN" sz="1800">
                <a:solidFill>
                  <a:srgbClr val="0000FF"/>
                </a:solidFill>
                <a:latin typeface="Consolas" pitchFamily="49" charset="0"/>
                <a:cs typeface="Consolas" pitchFamily="49" charset="0"/>
              </a:rPr>
              <a:t>[</a:t>
            </a:r>
            <a:r>
              <a:rPr lang="nb-NO" altLang="zh-CN" sz="1800" i="1">
                <a:solidFill>
                  <a:srgbClr val="0000FF"/>
                </a:solidFill>
                <a:latin typeface="Consolas" pitchFamily="49" charset="0"/>
                <a:cs typeface="Consolas" pitchFamily="49" charset="0"/>
              </a:rPr>
              <a:t>k</a:t>
            </a:r>
            <a:r>
              <a:rPr lang="nb-NO" altLang="zh-CN" sz="1800">
                <a:solidFill>
                  <a:srgbClr val="0000FF"/>
                </a:solidFill>
                <a:latin typeface="Consolas" pitchFamily="49" charset="0"/>
                <a:cs typeface="Consolas" pitchFamily="49" charset="0"/>
              </a:rPr>
              <a:t>][</a:t>
            </a:r>
            <a:r>
              <a:rPr lang="nb-NO" altLang="zh-CN" sz="1800" i="1">
                <a:solidFill>
                  <a:srgbClr val="0000FF"/>
                </a:solidFill>
                <a:latin typeface="Consolas" pitchFamily="49" charset="0"/>
                <a:cs typeface="Consolas" pitchFamily="49" charset="0"/>
              </a:rPr>
              <a:t>j</a:t>
            </a:r>
            <a:r>
              <a:rPr lang="nb-NO" altLang="zh-CN" sz="1800">
                <a:solidFill>
                  <a:srgbClr val="0000FF"/>
                </a:solidFill>
                <a:latin typeface="Consolas" pitchFamily="49" charset="0"/>
                <a:cs typeface="Consolas" pitchFamily="49" charset="0"/>
              </a:rPr>
              <a:t>]</a:t>
            </a:r>
            <a:endParaRPr lang="zh-CN" altLang="en-US" sz="1800">
              <a:solidFill>
                <a:srgbClr val="0000FF"/>
              </a:solidFill>
              <a:latin typeface="Consolas" pitchFamily="49" charset="0"/>
              <a:cs typeface="Consolas" pitchFamily="49" charset="0"/>
            </a:endParaRPr>
          </a:p>
        </p:txBody>
      </p:sp>
      <p:sp>
        <p:nvSpPr>
          <p:cNvPr id="23" name="左大括号 22"/>
          <p:cNvSpPr/>
          <p:nvPr/>
        </p:nvSpPr>
        <p:spPr>
          <a:xfrm rot="8104133">
            <a:off x="3463132" y="694175"/>
            <a:ext cx="327470" cy="2397815"/>
          </a:xfrm>
          <a:prstGeom prst="leftBrace">
            <a:avLst>
              <a:gd name="adj1" fmla="val 0"/>
              <a:gd name="adj2" fmla="val 50000"/>
            </a:avLst>
          </a:prstGeom>
        </p:spPr>
        <p:style>
          <a:lnRef idx="2">
            <a:schemeClr val="accent2"/>
          </a:lnRef>
          <a:fillRef idx="0">
            <a:schemeClr val="accent2"/>
          </a:fillRef>
          <a:effectRef idx="1">
            <a:schemeClr val="accent2"/>
          </a:effectRef>
          <a:fontRef idx="minor">
            <a:schemeClr val="tx1"/>
          </a:fontRef>
        </p:style>
        <p:txBody>
          <a:bodyPr rtlCol="0" anchor="ctr"/>
          <a:lstStyle/>
          <a:p>
            <a:pPr algn="ctr"/>
            <a:endParaRPr lang="zh-CN" altLang="en-US">
              <a:latin typeface="Consolas" pitchFamily="49" charset="0"/>
              <a:cs typeface="Consolas" pitchFamily="49" charset="0"/>
            </a:endParaRPr>
          </a:p>
        </p:txBody>
      </p:sp>
      <p:sp>
        <p:nvSpPr>
          <p:cNvPr id="24" name="左大括号 23"/>
          <p:cNvSpPr/>
          <p:nvPr/>
        </p:nvSpPr>
        <p:spPr>
          <a:xfrm rot="2720758">
            <a:off x="1171885" y="967189"/>
            <a:ext cx="357190" cy="2038127"/>
          </a:xfrm>
          <a:prstGeom prst="leftBrace">
            <a:avLst/>
          </a:prstGeom>
        </p:spPr>
        <p:style>
          <a:lnRef idx="2">
            <a:schemeClr val="accent2"/>
          </a:lnRef>
          <a:fillRef idx="0">
            <a:schemeClr val="accent2"/>
          </a:fillRef>
          <a:effectRef idx="1">
            <a:schemeClr val="accent2"/>
          </a:effectRef>
          <a:fontRef idx="minor">
            <a:schemeClr val="tx1"/>
          </a:fontRef>
        </p:style>
        <p:txBody>
          <a:bodyPr rtlCol="0" anchor="ctr"/>
          <a:lstStyle/>
          <a:p>
            <a:pPr algn="ctr"/>
            <a:endParaRPr lang="zh-CN" altLang="en-US">
              <a:latin typeface="Consolas" pitchFamily="49" charset="0"/>
              <a:cs typeface="Consolas" pitchFamily="49" charset="0"/>
            </a:endParaRPr>
          </a:p>
        </p:txBody>
      </p:sp>
      <p:sp>
        <p:nvSpPr>
          <p:cNvPr id="25" name="左大括号 24"/>
          <p:cNvSpPr/>
          <p:nvPr/>
        </p:nvSpPr>
        <p:spPr>
          <a:xfrm rot="16200000">
            <a:off x="2393143" y="1893083"/>
            <a:ext cx="357190" cy="3429025"/>
          </a:xfrm>
          <a:prstGeom prst="leftBrace">
            <a:avLst/>
          </a:prstGeom>
        </p:spPr>
        <p:style>
          <a:lnRef idx="2">
            <a:schemeClr val="accent2"/>
          </a:lnRef>
          <a:fillRef idx="0">
            <a:schemeClr val="accent2"/>
          </a:fillRef>
          <a:effectRef idx="1">
            <a:schemeClr val="accent2"/>
          </a:effectRef>
          <a:fontRef idx="minor">
            <a:schemeClr val="tx1"/>
          </a:fontRef>
        </p:style>
        <p:txBody>
          <a:bodyPr rtlCol="0" anchor="ctr"/>
          <a:lstStyle/>
          <a:p>
            <a:pPr algn="ctr"/>
            <a:endParaRPr lang="zh-CN" altLang="en-US">
              <a:latin typeface="Consolas" pitchFamily="49" charset="0"/>
              <a:cs typeface="Consolas" pitchFamily="49" charset="0"/>
            </a:endParaRPr>
          </a:p>
        </p:txBody>
      </p:sp>
      <p:sp>
        <p:nvSpPr>
          <p:cNvPr id="26" name="左弧形箭头 25"/>
          <p:cNvSpPr/>
          <p:nvPr/>
        </p:nvSpPr>
        <p:spPr>
          <a:xfrm>
            <a:off x="214282" y="3500438"/>
            <a:ext cx="357190" cy="1143008"/>
          </a:xfrm>
          <a:prstGeom prst="curvedRight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solidFill>
                <a:schemeClr val="tx1"/>
              </a:solidFill>
              <a:latin typeface="Consolas" pitchFamily="49" charset="0"/>
              <a:cs typeface="Consolas" pitchFamily="49" charset="0"/>
            </a:endParaRPr>
          </a:p>
        </p:txBody>
      </p:sp>
      <p:sp>
        <p:nvSpPr>
          <p:cNvPr id="27" name="TextBox 26"/>
          <p:cNvSpPr txBox="1"/>
          <p:nvPr/>
        </p:nvSpPr>
        <p:spPr>
          <a:xfrm>
            <a:off x="285720" y="357166"/>
            <a:ext cx="1571636" cy="461665"/>
          </a:xfrm>
          <a:prstGeom prst="rect">
            <a:avLst/>
          </a:prstGeom>
          <a:noFill/>
        </p:spPr>
        <p:txBody>
          <a:bodyPr wrap="square" rtlCol="0">
            <a:spAutoFit/>
          </a:bodyPr>
          <a:lstStyle/>
          <a:p>
            <a:pPr algn="l">
              <a:lnSpc>
                <a:spcPct val="100000"/>
              </a:lnSpc>
            </a:pPr>
            <a:r>
              <a:rPr lang="zh-CN" altLang="en-US">
                <a:solidFill>
                  <a:srgbClr val="FF0000"/>
                </a:solidFill>
                <a:latin typeface="Consolas" pitchFamily="49" charset="0"/>
                <a:ea typeface="微软雅黑" pitchFamily="34" charset="-122"/>
                <a:cs typeface="Consolas" pitchFamily="49" charset="0"/>
              </a:rPr>
              <a:t>调整方式</a:t>
            </a:r>
          </a:p>
        </p:txBody>
      </p:sp>
      <p:sp>
        <p:nvSpPr>
          <p:cNvPr id="29" name="灯片编号占位符 28"/>
          <p:cNvSpPr>
            <a:spLocks noGrp="1"/>
          </p:cNvSpPr>
          <p:nvPr>
            <p:ph type="sldNum" sz="quarter" idx="12"/>
          </p:nvPr>
        </p:nvSpPr>
        <p:spPr/>
        <p:txBody>
          <a:bodyPr/>
          <a:lstStyle/>
          <a:p>
            <a:fld id="{7AF016A1-9F15-429F-9EFD-84004B73C732}" type="slidenum">
              <a:rPr lang="en-US" altLang="zh-CN" smtClean="0"/>
              <a:pPr/>
              <a:t>83</a:t>
            </a:fld>
            <a:r>
              <a:rPr lang="en-US" altLang="zh-CN"/>
              <a:t>/158</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173" name="Rectangle 9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8241" name="Rectangle 4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1215" name="Rectangle 1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20" name="TextBox 19"/>
          <p:cNvSpPr txBox="1"/>
          <p:nvPr/>
        </p:nvSpPr>
        <p:spPr>
          <a:xfrm>
            <a:off x="214282" y="291476"/>
            <a:ext cx="8643998" cy="6352234"/>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00">
              <a:lnSpc>
                <a:spcPts val="2200"/>
              </a:lnSpc>
              <a:spcBef>
                <a:spcPts val="0"/>
              </a:spcBef>
            </a:pPr>
            <a:r>
              <a:rPr lang="en-US" altLang="zh-CN" sz="2000">
                <a:solidFill>
                  <a:srgbClr val="0000FF"/>
                </a:solidFill>
                <a:latin typeface="Consolas" pitchFamily="49" charset="0"/>
                <a:ea typeface="仿宋" pitchFamily="49" charset="-122"/>
              </a:rPr>
              <a:t>void </a:t>
            </a:r>
            <a:r>
              <a:rPr lang="en-US" altLang="zh-CN" sz="2000">
                <a:solidFill>
                  <a:srgbClr val="FF0000"/>
                </a:solidFill>
                <a:latin typeface="Consolas" pitchFamily="49" charset="0"/>
                <a:ea typeface="仿宋" pitchFamily="49" charset="-122"/>
              </a:rPr>
              <a:t>Floyd</a:t>
            </a:r>
            <a:r>
              <a:rPr lang="en-US" altLang="zh-CN" sz="2000">
                <a:solidFill>
                  <a:srgbClr val="0000FF"/>
                </a:solidFill>
                <a:latin typeface="Consolas" pitchFamily="49" charset="0"/>
                <a:ea typeface="仿宋" pitchFamily="49" charset="-122"/>
              </a:rPr>
              <a:t>(vector&lt;vector&lt;int&gt;&gt;&amp;A) {</a:t>
            </a:r>
            <a:endParaRPr lang="zh-CN" altLang="zh-CN" sz="2000">
              <a:solidFill>
                <a:srgbClr val="0000FF"/>
              </a:solidFill>
              <a:latin typeface="Consolas" pitchFamily="49" charset="0"/>
              <a:ea typeface="仿宋" pitchFamily="49" charset="-122"/>
            </a:endParaRPr>
          </a:p>
          <a:p>
            <a:pPr algn="l" defTabSz="360000">
              <a:lnSpc>
                <a:spcPts val="2200"/>
              </a:lnSpc>
              <a:spcBef>
                <a:spcPts val="0"/>
              </a:spcBef>
            </a:pPr>
            <a:r>
              <a:rPr lang="en-US" altLang="zh-CN" sz="2000">
                <a:solidFill>
                  <a:srgbClr val="0000FF"/>
                </a:solidFill>
                <a:latin typeface="Consolas" pitchFamily="49" charset="0"/>
                <a:ea typeface="仿宋" pitchFamily="49" charset="-122"/>
              </a:rPr>
              <a:t>	int path[MAXN][MAXN];</a:t>
            </a:r>
            <a:endParaRPr lang="zh-CN" altLang="zh-CN" sz="2000">
              <a:solidFill>
                <a:srgbClr val="0000FF"/>
              </a:solidFill>
              <a:latin typeface="Consolas" pitchFamily="49" charset="0"/>
              <a:ea typeface="仿宋" pitchFamily="49" charset="-122"/>
            </a:endParaRPr>
          </a:p>
          <a:p>
            <a:pPr algn="l" defTabSz="360000">
              <a:lnSpc>
                <a:spcPts val="2200"/>
              </a:lnSpc>
              <a:spcBef>
                <a:spcPts val="0"/>
              </a:spcBef>
            </a:pPr>
            <a:r>
              <a:rPr lang="en-US" altLang="zh-CN" sz="2000">
                <a:solidFill>
                  <a:srgbClr val="0000FF"/>
                </a:solidFill>
                <a:latin typeface="Consolas" pitchFamily="49" charset="0"/>
                <a:ea typeface="仿宋" pitchFamily="49" charset="-122"/>
              </a:rPr>
              <a:t>	int n=A.size();</a:t>
            </a:r>
            <a:endParaRPr lang="zh-CN" altLang="zh-CN" sz="2000">
              <a:solidFill>
                <a:srgbClr val="0000FF"/>
              </a:solidFill>
              <a:latin typeface="Consolas" pitchFamily="49" charset="0"/>
              <a:ea typeface="仿宋" pitchFamily="49" charset="-122"/>
            </a:endParaRPr>
          </a:p>
          <a:p>
            <a:pPr algn="l" defTabSz="360000">
              <a:lnSpc>
                <a:spcPts val="2200"/>
              </a:lnSpc>
              <a:spcBef>
                <a:spcPts val="0"/>
              </a:spcBef>
            </a:pPr>
            <a:r>
              <a:rPr lang="en-US" altLang="zh-CN" sz="2000">
                <a:solidFill>
                  <a:srgbClr val="0000FF"/>
                </a:solidFill>
                <a:latin typeface="Consolas" pitchFamily="49" charset="0"/>
                <a:ea typeface="仿宋" pitchFamily="49" charset="-122"/>
              </a:rPr>
              <a:t>	for (int i=0;i&lt;n;i++) {</a:t>
            </a:r>
            <a:endParaRPr lang="zh-CN" altLang="zh-CN" sz="2000">
              <a:solidFill>
                <a:srgbClr val="0000FF"/>
              </a:solidFill>
              <a:latin typeface="Consolas" pitchFamily="49" charset="0"/>
              <a:ea typeface="仿宋" pitchFamily="49" charset="-122"/>
            </a:endParaRPr>
          </a:p>
          <a:p>
            <a:pPr algn="l" defTabSz="360000">
              <a:lnSpc>
                <a:spcPts val="2200"/>
              </a:lnSpc>
              <a:spcBef>
                <a:spcPts val="0"/>
              </a:spcBef>
            </a:pPr>
            <a:r>
              <a:rPr lang="en-US" altLang="zh-CN" sz="2000">
                <a:solidFill>
                  <a:srgbClr val="0000FF"/>
                </a:solidFill>
                <a:latin typeface="Consolas" pitchFamily="49" charset="0"/>
                <a:ea typeface="仿宋" pitchFamily="49" charset="-122"/>
              </a:rPr>
              <a:t>		for (int j=0;j&lt;n;j++) {</a:t>
            </a:r>
            <a:endParaRPr lang="zh-CN" altLang="zh-CN" sz="2000">
              <a:solidFill>
                <a:srgbClr val="0000FF"/>
              </a:solidFill>
              <a:latin typeface="Consolas" pitchFamily="49" charset="0"/>
              <a:ea typeface="仿宋" pitchFamily="49" charset="-122"/>
            </a:endParaRPr>
          </a:p>
          <a:p>
            <a:pPr algn="l" defTabSz="360000">
              <a:lnSpc>
                <a:spcPts val="2200"/>
              </a:lnSpc>
              <a:spcBef>
                <a:spcPts val="0"/>
              </a:spcBef>
            </a:pPr>
            <a:r>
              <a:rPr lang="en-US" altLang="zh-CN" sz="2000">
                <a:solidFill>
                  <a:srgbClr val="0000FF"/>
                </a:solidFill>
                <a:latin typeface="Consolas" pitchFamily="49" charset="0"/>
                <a:ea typeface="仿宋" pitchFamily="49" charset="-122"/>
              </a:rPr>
              <a:t>			if (i!=j &amp;&amp; A[i][j]&lt;INF)</a:t>
            </a:r>
            <a:endParaRPr lang="zh-CN" altLang="zh-CN" sz="2000">
              <a:solidFill>
                <a:srgbClr val="0000FF"/>
              </a:solidFill>
              <a:latin typeface="Consolas" pitchFamily="49" charset="0"/>
              <a:ea typeface="仿宋" pitchFamily="49" charset="-122"/>
            </a:endParaRPr>
          </a:p>
          <a:p>
            <a:pPr algn="l" defTabSz="360000">
              <a:lnSpc>
                <a:spcPts val="2200"/>
              </a:lnSpc>
              <a:spcBef>
                <a:spcPts val="0"/>
              </a:spcBef>
            </a:pPr>
            <a:r>
              <a:rPr lang="en-US" altLang="zh-CN" sz="2000">
                <a:solidFill>
                  <a:srgbClr val="0000FF"/>
                </a:solidFill>
                <a:latin typeface="Consolas" pitchFamily="49" charset="0"/>
                <a:ea typeface="仿宋" pitchFamily="49" charset="-122"/>
              </a:rPr>
              <a:t>				path[i][j]=i;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顶点</a:t>
            </a:r>
            <a:r>
              <a:rPr lang="en-US" altLang="zh-CN" sz="2000">
                <a:solidFill>
                  <a:srgbClr val="00B0F0"/>
                </a:solidFill>
                <a:latin typeface="Consolas" pitchFamily="49" charset="0"/>
                <a:ea typeface="仿宋" pitchFamily="49" charset="-122"/>
              </a:rPr>
              <a:t>i</a:t>
            </a:r>
            <a:r>
              <a:rPr lang="zh-CN" altLang="zh-CN" sz="2000">
                <a:solidFill>
                  <a:srgbClr val="00B0F0"/>
                </a:solidFill>
                <a:latin typeface="Consolas" pitchFamily="49" charset="0"/>
                <a:ea typeface="仿宋" pitchFamily="49" charset="-122"/>
              </a:rPr>
              <a:t>到</a:t>
            </a:r>
            <a:r>
              <a:rPr lang="en-US" altLang="zh-CN" sz="2000">
                <a:solidFill>
                  <a:srgbClr val="00B0F0"/>
                </a:solidFill>
                <a:latin typeface="Consolas" pitchFamily="49" charset="0"/>
                <a:ea typeface="仿宋" pitchFamily="49" charset="-122"/>
              </a:rPr>
              <a:t>j</a:t>
            </a:r>
            <a:r>
              <a:rPr lang="zh-CN" altLang="zh-CN" sz="2000">
                <a:solidFill>
                  <a:srgbClr val="00B0F0"/>
                </a:solidFill>
                <a:latin typeface="Consolas" pitchFamily="49" charset="0"/>
                <a:ea typeface="仿宋" pitchFamily="49" charset="-122"/>
              </a:rPr>
              <a:t>有边时</a:t>
            </a:r>
          </a:p>
          <a:p>
            <a:pPr algn="l" defTabSz="360000">
              <a:lnSpc>
                <a:spcPts val="2200"/>
              </a:lnSpc>
              <a:spcBef>
                <a:spcPts val="0"/>
              </a:spcBef>
            </a:pPr>
            <a:r>
              <a:rPr lang="en-US" altLang="zh-CN" sz="2000">
                <a:solidFill>
                  <a:srgbClr val="0000FF"/>
                </a:solidFill>
                <a:latin typeface="Consolas" pitchFamily="49" charset="0"/>
                <a:ea typeface="仿宋" pitchFamily="49" charset="-122"/>
              </a:rPr>
              <a:t>			else</a:t>
            </a:r>
            <a:endParaRPr lang="zh-CN" altLang="zh-CN" sz="2000">
              <a:solidFill>
                <a:srgbClr val="0000FF"/>
              </a:solidFill>
              <a:latin typeface="Consolas" pitchFamily="49" charset="0"/>
              <a:ea typeface="仿宋" pitchFamily="49" charset="-122"/>
            </a:endParaRPr>
          </a:p>
          <a:p>
            <a:pPr algn="l" defTabSz="360000">
              <a:lnSpc>
                <a:spcPts val="2200"/>
              </a:lnSpc>
              <a:spcBef>
                <a:spcPts val="0"/>
              </a:spcBef>
            </a:pPr>
            <a:r>
              <a:rPr lang="en-US" altLang="zh-CN" sz="2000">
                <a:solidFill>
                  <a:srgbClr val="0000FF"/>
                </a:solidFill>
                <a:latin typeface="Consolas" pitchFamily="49" charset="0"/>
                <a:ea typeface="仿宋" pitchFamily="49" charset="-122"/>
              </a:rPr>
              <a:t>				path[i][j]=-1;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顶点</a:t>
            </a:r>
            <a:r>
              <a:rPr lang="en-US" altLang="zh-CN" sz="2000">
                <a:solidFill>
                  <a:srgbClr val="00B0F0"/>
                </a:solidFill>
                <a:latin typeface="Consolas" pitchFamily="49" charset="0"/>
                <a:ea typeface="仿宋" pitchFamily="49" charset="-122"/>
              </a:rPr>
              <a:t>i</a:t>
            </a:r>
            <a:r>
              <a:rPr lang="zh-CN" altLang="zh-CN" sz="2000">
                <a:solidFill>
                  <a:srgbClr val="00B0F0"/>
                </a:solidFill>
                <a:latin typeface="Consolas" pitchFamily="49" charset="0"/>
                <a:ea typeface="仿宋" pitchFamily="49" charset="-122"/>
              </a:rPr>
              <a:t>到</a:t>
            </a:r>
            <a:r>
              <a:rPr lang="en-US" altLang="zh-CN" sz="2000">
                <a:solidFill>
                  <a:srgbClr val="00B0F0"/>
                </a:solidFill>
                <a:latin typeface="Consolas" pitchFamily="49" charset="0"/>
                <a:ea typeface="仿宋" pitchFamily="49" charset="-122"/>
              </a:rPr>
              <a:t>j</a:t>
            </a:r>
            <a:r>
              <a:rPr lang="zh-CN" altLang="zh-CN" sz="2000">
                <a:solidFill>
                  <a:srgbClr val="00B0F0"/>
                </a:solidFill>
                <a:latin typeface="Consolas" pitchFamily="49" charset="0"/>
                <a:ea typeface="仿宋" pitchFamily="49" charset="-122"/>
              </a:rPr>
              <a:t>没有边时</a:t>
            </a:r>
          </a:p>
          <a:p>
            <a:pPr algn="l" defTabSz="360000">
              <a:lnSpc>
                <a:spcPts val="22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2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200"/>
              </a:lnSpc>
              <a:spcBef>
                <a:spcPts val="0"/>
              </a:spcBef>
            </a:pPr>
            <a:r>
              <a:rPr lang="en-US" altLang="zh-CN" sz="2000">
                <a:solidFill>
                  <a:srgbClr val="0000FF"/>
                </a:solidFill>
                <a:latin typeface="Consolas" pitchFamily="49" charset="0"/>
                <a:ea typeface="仿宋" pitchFamily="49" charset="-122"/>
              </a:rPr>
              <a:t>	for (int k=0;k&lt;n;k++) {</a:t>
            </a:r>
            <a:endParaRPr lang="zh-CN" altLang="zh-CN" sz="2000">
              <a:solidFill>
                <a:srgbClr val="0000FF"/>
              </a:solidFill>
              <a:latin typeface="Consolas" pitchFamily="49" charset="0"/>
              <a:ea typeface="仿宋" pitchFamily="49" charset="-122"/>
            </a:endParaRPr>
          </a:p>
          <a:p>
            <a:pPr algn="l" defTabSz="360000">
              <a:lnSpc>
                <a:spcPts val="2200"/>
              </a:lnSpc>
              <a:spcBef>
                <a:spcPts val="0"/>
              </a:spcBef>
            </a:pPr>
            <a:r>
              <a:rPr lang="en-US" altLang="zh-CN" sz="2000">
                <a:solidFill>
                  <a:srgbClr val="0000FF"/>
                </a:solidFill>
                <a:latin typeface="Consolas" pitchFamily="49" charset="0"/>
                <a:ea typeface="仿宋" pitchFamily="49" charset="-122"/>
              </a:rPr>
              <a:t>		for (int i=0;i&lt;n;i++) {</a:t>
            </a:r>
            <a:endParaRPr lang="zh-CN" altLang="zh-CN" sz="2000">
              <a:solidFill>
                <a:srgbClr val="0000FF"/>
              </a:solidFill>
              <a:latin typeface="Consolas" pitchFamily="49" charset="0"/>
              <a:ea typeface="仿宋" pitchFamily="49" charset="-122"/>
            </a:endParaRPr>
          </a:p>
          <a:p>
            <a:pPr algn="l" defTabSz="360000">
              <a:lnSpc>
                <a:spcPts val="2200"/>
              </a:lnSpc>
              <a:spcBef>
                <a:spcPts val="0"/>
              </a:spcBef>
            </a:pPr>
            <a:r>
              <a:rPr lang="en-US" altLang="zh-CN" sz="2000">
                <a:solidFill>
                  <a:srgbClr val="0000FF"/>
                </a:solidFill>
                <a:latin typeface="Consolas" pitchFamily="49" charset="0"/>
                <a:ea typeface="仿宋" pitchFamily="49" charset="-122"/>
              </a:rPr>
              <a:t>			for (int j=0;j&lt;n;j++) {</a:t>
            </a:r>
            <a:endParaRPr lang="zh-CN" altLang="zh-CN" sz="2000">
              <a:solidFill>
                <a:srgbClr val="0000FF"/>
              </a:solidFill>
              <a:latin typeface="Consolas" pitchFamily="49" charset="0"/>
              <a:ea typeface="仿宋" pitchFamily="49" charset="-122"/>
            </a:endParaRPr>
          </a:p>
          <a:p>
            <a:pPr algn="l" defTabSz="360000">
              <a:lnSpc>
                <a:spcPts val="2200"/>
              </a:lnSpc>
              <a:spcBef>
                <a:spcPts val="0"/>
              </a:spcBef>
            </a:pPr>
            <a:r>
              <a:rPr lang="en-US" altLang="zh-CN" sz="2000">
                <a:solidFill>
                  <a:srgbClr val="0000FF"/>
                </a:solidFill>
                <a:latin typeface="Consolas" pitchFamily="49" charset="0"/>
                <a:ea typeface="仿宋" pitchFamily="49" charset="-122"/>
              </a:rPr>
              <a:t>				if (</a:t>
            </a:r>
            <a:r>
              <a:rPr lang="en-US" altLang="zh-CN" sz="2000">
                <a:solidFill>
                  <a:srgbClr val="FF00FF"/>
                </a:solidFill>
                <a:latin typeface="Consolas" pitchFamily="49" charset="0"/>
                <a:ea typeface="仿宋" pitchFamily="49" charset="-122"/>
              </a:rPr>
              <a:t>A[i][j]&gt;A[i][k]+A[k][j]</a:t>
            </a: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200"/>
              </a:lnSpc>
              <a:spcBef>
                <a:spcPts val="0"/>
              </a:spcBef>
            </a:pPr>
            <a:r>
              <a:rPr lang="en-US" altLang="zh-CN" sz="2000">
                <a:solidFill>
                  <a:srgbClr val="0000FF"/>
                </a:solidFill>
                <a:latin typeface="Consolas" pitchFamily="49" charset="0"/>
                <a:ea typeface="仿宋" pitchFamily="49" charset="-122"/>
              </a:rPr>
              <a:t>					A[i][j]=A[i][k]+A[k][j];</a:t>
            </a:r>
            <a:endParaRPr lang="zh-CN" altLang="zh-CN" sz="2000">
              <a:solidFill>
                <a:srgbClr val="0000FF"/>
              </a:solidFill>
              <a:latin typeface="Consolas" pitchFamily="49" charset="0"/>
              <a:ea typeface="仿宋" pitchFamily="49" charset="-122"/>
            </a:endParaRPr>
          </a:p>
          <a:p>
            <a:pPr algn="l" defTabSz="360000">
              <a:lnSpc>
                <a:spcPts val="2200"/>
              </a:lnSpc>
              <a:spcBef>
                <a:spcPts val="0"/>
              </a:spcBef>
            </a:pPr>
            <a:r>
              <a:rPr lang="en-US" altLang="zh-CN" sz="2000">
                <a:solidFill>
                  <a:srgbClr val="0000FF"/>
                </a:solidFill>
                <a:latin typeface="Consolas" pitchFamily="49" charset="0"/>
                <a:ea typeface="仿宋" pitchFamily="49" charset="-122"/>
              </a:rPr>
              <a:t>					path[i][j]=path[k][j];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修改最短路径</a:t>
            </a:r>
          </a:p>
          <a:p>
            <a:pPr algn="l" defTabSz="360000">
              <a:lnSpc>
                <a:spcPts val="22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2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2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2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2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7" name="灯片编号占位符 6"/>
          <p:cNvSpPr>
            <a:spLocks noGrp="1"/>
          </p:cNvSpPr>
          <p:nvPr>
            <p:ph type="sldNum" sz="quarter" idx="12"/>
          </p:nvPr>
        </p:nvSpPr>
        <p:spPr/>
        <p:txBody>
          <a:bodyPr/>
          <a:lstStyle/>
          <a:p>
            <a:fld id="{7AF016A1-9F15-429F-9EFD-84004B73C732}" type="slidenum">
              <a:rPr lang="en-US" altLang="zh-CN" smtClean="0"/>
              <a:pPr/>
              <a:t>84</a:t>
            </a:fld>
            <a:r>
              <a:rPr lang="en-US" altLang="zh-CN"/>
              <a:t>/158</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xEl>
                                              <p:pRg st="11" end="1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
                                            <p:txEl>
                                              <p:pRg st="12" end="1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
                                            <p:txEl>
                                              <p:pRg st="13" end="1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0">
                                            <p:txEl>
                                              <p:pRg st="14" end="1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0">
                                            <p:txEl>
                                              <p:pRg st="15" end="1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0">
                                            <p:txEl>
                                              <p:pRg st="16" end="1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0">
                                            <p:txEl>
                                              <p:pRg st="17" end="1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0">
                                            <p:txEl>
                                              <p:pRg st="18" end="1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0">
                                            <p:txEl>
                                              <p:pRg st="19" end="1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0">
                                            <p:txEl>
                                              <p:pRg st="20" end="2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0">
                                            <p:txEl>
                                              <p:pRg st="21" end="2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a:graphicFrameLocks noGrp="1"/>
          </p:cNvGraphicFramePr>
          <p:nvPr/>
        </p:nvGraphicFramePr>
        <p:xfrm>
          <a:off x="428595" y="1397000"/>
          <a:ext cx="8286812" cy="2743200"/>
        </p:xfrm>
        <a:graphic>
          <a:graphicData uri="http://schemas.openxmlformats.org/drawingml/2006/table">
            <a:tbl>
              <a:tblPr firstRow="1" bandRow="1">
                <a:tableStyleId>{93296810-A885-4BE3-A3E7-6D5BEEA58F35}</a:tableStyleId>
              </a:tblPr>
              <a:tblGrid>
                <a:gridCol w="2071703">
                  <a:extLst>
                    <a:ext uri="{9D8B030D-6E8A-4147-A177-3AD203B41FA5}">
                      <a16:colId xmlns:a16="http://schemas.microsoft.com/office/drawing/2014/main" val="20000"/>
                    </a:ext>
                  </a:extLst>
                </a:gridCol>
                <a:gridCol w="2071703">
                  <a:extLst>
                    <a:ext uri="{9D8B030D-6E8A-4147-A177-3AD203B41FA5}">
                      <a16:colId xmlns:a16="http://schemas.microsoft.com/office/drawing/2014/main" val="20001"/>
                    </a:ext>
                  </a:extLst>
                </a:gridCol>
                <a:gridCol w="1785949">
                  <a:extLst>
                    <a:ext uri="{9D8B030D-6E8A-4147-A177-3AD203B41FA5}">
                      <a16:colId xmlns:a16="http://schemas.microsoft.com/office/drawing/2014/main" val="20002"/>
                    </a:ext>
                  </a:extLst>
                </a:gridCol>
                <a:gridCol w="2357457">
                  <a:extLst>
                    <a:ext uri="{9D8B030D-6E8A-4147-A177-3AD203B41FA5}">
                      <a16:colId xmlns:a16="http://schemas.microsoft.com/office/drawing/2014/main" val="20003"/>
                    </a:ext>
                  </a:extLst>
                </a:gridCol>
              </a:tblGrid>
              <a:tr h="370840">
                <a:tc>
                  <a:txBody>
                    <a:bodyPr/>
                    <a:lstStyle/>
                    <a:p>
                      <a:pPr>
                        <a:lnSpc>
                          <a:spcPct val="150000"/>
                        </a:lnSpc>
                      </a:pPr>
                      <a:r>
                        <a:rPr lang="zh-CN" altLang="en-US" sz="2000" b="1">
                          <a:solidFill>
                            <a:srgbClr val="FF0000"/>
                          </a:solidFill>
                          <a:latin typeface="Consolas" pitchFamily="49" charset="0"/>
                          <a:ea typeface="楷体" pitchFamily="49" charset="-122"/>
                          <a:cs typeface="Consolas" pitchFamily="49" charset="0"/>
                        </a:rPr>
                        <a:t>算法</a:t>
                      </a:r>
                    </a:p>
                  </a:txBody>
                  <a:tcPr>
                    <a:solidFill>
                      <a:schemeClr val="bg2">
                        <a:lumMod val="90000"/>
                      </a:schemeClr>
                    </a:solidFill>
                  </a:tcPr>
                </a:tc>
                <a:tc>
                  <a:txBody>
                    <a:bodyPr/>
                    <a:lstStyle/>
                    <a:p>
                      <a:pPr>
                        <a:lnSpc>
                          <a:spcPct val="150000"/>
                        </a:lnSpc>
                      </a:pPr>
                      <a:r>
                        <a:rPr lang="zh-CN" altLang="en-US" sz="2000" b="1">
                          <a:solidFill>
                            <a:srgbClr val="FF0000"/>
                          </a:solidFill>
                          <a:latin typeface="Consolas" pitchFamily="49" charset="0"/>
                          <a:ea typeface="楷体" pitchFamily="49" charset="-122"/>
                          <a:cs typeface="Consolas" pitchFamily="49" charset="0"/>
                        </a:rPr>
                        <a:t>用途</a:t>
                      </a:r>
                    </a:p>
                  </a:txBody>
                  <a:tcPr>
                    <a:solidFill>
                      <a:schemeClr val="bg2">
                        <a:lumMod val="90000"/>
                      </a:schemeClr>
                    </a:solidFill>
                  </a:tcPr>
                </a:tc>
                <a:tc>
                  <a:txBody>
                    <a:bodyPr/>
                    <a:lstStyle/>
                    <a:p>
                      <a:pPr>
                        <a:lnSpc>
                          <a:spcPct val="150000"/>
                        </a:lnSpc>
                      </a:pPr>
                      <a:r>
                        <a:rPr lang="zh-CN" altLang="en-US" sz="2000" b="1">
                          <a:solidFill>
                            <a:srgbClr val="FF0000"/>
                          </a:solidFill>
                          <a:latin typeface="Consolas" pitchFamily="49" charset="0"/>
                          <a:ea typeface="楷体" pitchFamily="49" charset="-122"/>
                          <a:cs typeface="Consolas" pitchFamily="49" charset="0"/>
                        </a:rPr>
                        <a:t>时间复杂度</a:t>
                      </a:r>
                    </a:p>
                  </a:txBody>
                  <a:tcPr>
                    <a:solidFill>
                      <a:schemeClr val="bg2">
                        <a:lumMod val="90000"/>
                      </a:schemeClr>
                    </a:solidFill>
                  </a:tcPr>
                </a:tc>
                <a:tc>
                  <a:txBody>
                    <a:bodyPr/>
                    <a:lstStyle/>
                    <a:p>
                      <a:pPr>
                        <a:lnSpc>
                          <a:spcPct val="150000"/>
                        </a:lnSpc>
                      </a:pPr>
                      <a:r>
                        <a:rPr lang="zh-CN" altLang="en-US" sz="2000" b="1">
                          <a:solidFill>
                            <a:srgbClr val="FF0000"/>
                          </a:solidFill>
                          <a:latin typeface="Consolas" pitchFamily="49" charset="0"/>
                          <a:ea typeface="楷体" pitchFamily="49" charset="-122"/>
                          <a:cs typeface="Consolas" pitchFamily="49" charset="0"/>
                        </a:rPr>
                        <a:t>特点</a:t>
                      </a:r>
                    </a:p>
                  </a:txBody>
                  <a:tcPr>
                    <a:solidFill>
                      <a:schemeClr val="bg2">
                        <a:lumMod val="90000"/>
                      </a:schemeClr>
                    </a:solidFill>
                  </a:tcPr>
                </a:tc>
                <a:extLst>
                  <a:ext uri="{0D108BD9-81ED-4DB2-BD59-A6C34878D82A}">
                    <a16:rowId xmlns:a16="http://schemas.microsoft.com/office/drawing/2014/main" val="10000"/>
                  </a:ext>
                </a:extLst>
              </a:tr>
              <a:tr h="370840">
                <a:tc>
                  <a:txBody>
                    <a:bodyPr/>
                    <a:lstStyle/>
                    <a:p>
                      <a:pPr>
                        <a:lnSpc>
                          <a:spcPct val="150000"/>
                        </a:lnSpc>
                      </a:pPr>
                      <a:r>
                        <a:rPr lang="en-US" altLang="zh-CN" sz="2000" b="1">
                          <a:solidFill>
                            <a:srgbClr val="1000E4"/>
                          </a:solidFill>
                          <a:latin typeface="Consolas" pitchFamily="49" charset="0"/>
                          <a:ea typeface="楷体" pitchFamily="49" charset="-122"/>
                          <a:cs typeface="Consolas" pitchFamily="49" charset="0"/>
                        </a:rPr>
                        <a:t>Dijkstra</a:t>
                      </a:r>
                      <a:endParaRPr lang="zh-CN" altLang="en-US" sz="2000" b="1">
                        <a:solidFill>
                          <a:srgbClr val="1000E4"/>
                        </a:solidFill>
                        <a:latin typeface="Consolas" pitchFamily="49" charset="0"/>
                        <a:ea typeface="楷体" pitchFamily="49" charset="-122"/>
                        <a:cs typeface="Consolas" pitchFamily="49" charset="0"/>
                      </a:endParaRPr>
                    </a:p>
                  </a:txBody>
                  <a:tcPr/>
                </a:tc>
                <a:tc>
                  <a:txBody>
                    <a:bodyPr/>
                    <a:lstStyle/>
                    <a:p>
                      <a:pPr>
                        <a:lnSpc>
                          <a:spcPct val="150000"/>
                        </a:lnSpc>
                      </a:pPr>
                      <a:r>
                        <a:rPr lang="zh-CN" altLang="en-US" sz="2000" b="1">
                          <a:solidFill>
                            <a:srgbClr val="1000E4"/>
                          </a:solidFill>
                          <a:latin typeface="Consolas" pitchFamily="49" charset="0"/>
                          <a:ea typeface="楷体" pitchFamily="49" charset="-122"/>
                          <a:cs typeface="Consolas" pitchFamily="49" charset="0"/>
                        </a:rPr>
                        <a:t>单源最短路径</a:t>
                      </a:r>
                    </a:p>
                  </a:txBody>
                  <a:tcPr/>
                </a:tc>
                <a:tc>
                  <a:txBody>
                    <a:bodyPr/>
                    <a:lstStyle/>
                    <a:p>
                      <a:pPr>
                        <a:lnSpc>
                          <a:spcPct val="150000"/>
                        </a:lnSpc>
                      </a:pPr>
                      <a:r>
                        <a:rPr lang="en-US" altLang="zh-CN" sz="2000" b="1">
                          <a:solidFill>
                            <a:srgbClr val="1000E4"/>
                          </a:solidFill>
                          <a:latin typeface="Consolas" pitchFamily="49" charset="0"/>
                          <a:ea typeface="楷体" pitchFamily="49" charset="-122"/>
                          <a:cs typeface="Consolas" pitchFamily="49" charset="0"/>
                        </a:rPr>
                        <a:t>O(</a:t>
                      </a:r>
                      <a:r>
                        <a:rPr lang="en-US" altLang="zh-CN" sz="2000" b="1" i="1">
                          <a:solidFill>
                            <a:srgbClr val="1000E4"/>
                          </a:solidFill>
                          <a:latin typeface="Consolas" pitchFamily="49" charset="0"/>
                          <a:ea typeface="楷体" pitchFamily="49" charset="-122"/>
                          <a:cs typeface="Consolas" pitchFamily="49" charset="0"/>
                        </a:rPr>
                        <a:t>n</a:t>
                      </a:r>
                      <a:r>
                        <a:rPr lang="en-US" altLang="zh-CN" sz="2000" b="1" baseline="30000">
                          <a:solidFill>
                            <a:srgbClr val="1000E4"/>
                          </a:solidFill>
                          <a:latin typeface="Consolas" pitchFamily="49" charset="0"/>
                          <a:ea typeface="楷体" pitchFamily="49" charset="-122"/>
                          <a:cs typeface="Consolas" pitchFamily="49" charset="0"/>
                        </a:rPr>
                        <a:t>2</a:t>
                      </a:r>
                      <a:r>
                        <a:rPr lang="en-US" altLang="zh-CN" sz="2000" b="1">
                          <a:solidFill>
                            <a:srgbClr val="1000E4"/>
                          </a:solidFill>
                          <a:latin typeface="Consolas" pitchFamily="49" charset="0"/>
                          <a:ea typeface="楷体" pitchFamily="49" charset="-122"/>
                          <a:cs typeface="Consolas" pitchFamily="49" charset="0"/>
                        </a:rPr>
                        <a:t>)</a:t>
                      </a:r>
                      <a:endParaRPr lang="zh-CN" altLang="en-US" sz="2000" b="1">
                        <a:solidFill>
                          <a:srgbClr val="1000E4"/>
                        </a:solidFill>
                        <a:latin typeface="Consolas" pitchFamily="49" charset="0"/>
                        <a:ea typeface="楷体" pitchFamily="49" charset="-122"/>
                        <a:cs typeface="Consolas" pitchFamily="49" charset="0"/>
                      </a:endParaRPr>
                    </a:p>
                  </a:txBody>
                  <a:tcPr/>
                </a:tc>
                <a:tc>
                  <a:txBody>
                    <a:bodyPr/>
                    <a:lstStyle/>
                    <a:p>
                      <a:pPr>
                        <a:lnSpc>
                          <a:spcPct val="150000"/>
                        </a:lnSpc>
                      </a:pPr>
                      <a:r>
                        <a:rPr lang="zh-CN" altLang="en-US" sz="2000" b="1">
                          <a:solidFill>
                            <a:srgbClr val="1000E4"/>
                          </a:solidFill>
                          <a:latin typeface="Consolas" pitchFamily="49" charset="0"/>
                          <a:ea typeface="楷体" pitchFamily="49" charset="-122"/>
                          <a:cs typeface="Consolas" pitchFamily="49" charset="0"/>
                        </a:rPr>
                        <a:t>不适合负权</a:t>
                      </a:r>
                    </a:p>
                  </a:txBody>
                  <a:tcPr/>
                </a:tc>
                <a:extLst>
                  <a:ext uri="{0D108BD9-81ED-4DB2-BD59-A6C34878D82A}">
                    <a16:rowId xmlns:a16="http://schemas.microsoft.com/office/drawing/2014/main" val="10001"/>
                  </a:ext>
                </a:extLst>
              </a:tr>
              <a:tr h="370840">
                <a:tc>
                  <a:txBody>
                    <a:bodyPr/>
                    <a:lstStyle/>
                    <a:p>
                      <a:pPr>
                        <a:lnSpc>
                          <a:spcPct val="150000"/>
                        </a:lnSpc>
                      </a:pPr>
                      <a:r>
                        <a:rPr lang="en-US" altLang="zh-CN" sz="2000" b="1">
                          <a:solidFill>
                            <a:srgbClr val="1000E4"/>
                          </a:solidFill>
                          <a:latin typeface="Consolas" pitchFamily="49" charset="0"/>
                          <a:ea typeface="楷体" pitchFamily="49" charset="-122"/>
                          <a:cs typeface="Consolas" pitchFamily="49" charset="0"/>
                        </a:rPr>
                        <a:t>SPFA</a:t>
                      </a:r>
                      <a:endParaRPr lang="zh-CN" altLang="en-US" sz="2000" b="1">
                        <a:solidFill>
                          <a:srgbClr val="1000E4"/>
                        </a:solidFill>
                        <a:latin typeface="Consolas" pitchFamily="49" charset="0"/>
                        <a:ea typeface="楷体" pitchFamily="49" charset="-122"/>
                        <a:cs typeface="Consolas" pitchFamily="49" charset="0"/>
                      </a:endParaRPr>
                    </a:p>
                  </a:txBody>
                  <a:tcPr/>
                </a:tc>
                <a:tc>
                  <a:txBody>
                    <a:bodyPr/>
                    <a:lstStyle/>
                    <a:p>
                      <a:pPr>
                        <a:lnSpc>
                          <a:spcPct val="150000"/>
                        </a:lnSpc>
                      </a:pPr>
                      <a:r>
                        <a:rPr lang="zh-CN" altLang="en-US" sz="2000" b="1">
                          <a:solidFill>
                            <a:srgbClr val="1000E4"/>
                          </a:solidFill>
                          <a:latin typeface="Consolas" pitchFamily="49" charset="0"/>
                          <a:ea typeface="楷体" pitchFamily="49" charset="-122"/>
                          <a:cs typeface="Consolas" pitchFamily="49" charset="0"/>
                        </a:rPr>
                        <a:t>单源最短路径</a:t>
                      </a:r>
                    </a:p>
                  </a:txBody>
                  <a:tcPr/>
                </a:tc>
                <a:tc>
                  <a:txBody>
                    <a:bodyPr/>
                    <a:lstStyle/>
                    <a:p>
                      <a:pPr>
                        <a:lnSpc>
                          <a:spcPct val="150000"/>
                        </a:lnSpc>
                      </a:pPr>
                      <a:r>
                        <a:rPr lang="en-US" altLang="zh-CN" sz="2000" b="1">
                          <a:solidFill>
                            <a:srgbClr val="1000E4"/>
                          </a:solidFill>
                          <a:latin typeface="Consolas" pitchFamily="49" charset="0"/>
                          <a:ea typeface="楷体" pitchFamily="49" charset="-122"/>
                          <a:cs typeface="Consolas" pitchFamily="49" charset="0"/>
                        </a:rPr>
                        <a:t>O(</a:t>
                      </a:r>
                      <a:r>
                        <a:rPr lang="en-US" altLang="zh-CN" sz="2000" b="1" i="1">
                          <a:solidFill>
                            <a:srgbClr val="1000E4"/>
                          </a:solidFill>
                          <a:latin typeface="Consolas" pitchFamily="49" charset="0"/>
                          <a:ea typeface="楷体" pitchFamily="49" charset="-122"/>
                          <a:cs typeface="Consolas" pitchFamily="49" charset="0"/>
                        </a:rPr>
                        <a:t>e</a:t>
                      </a:r>
                      <a:r>
                        <a:rPr lang="en-US" altLang="zh-CN" sz="2000" b="1">
                          <a:solidFill>
                            <a:srgbClr val="1000E4"/>
                          </a:solidFill>
                          <a:latin typeface="Consolas" pitchFamily="49" charset="0"/>
                          <a:ea typeface="楷体" pitchFamily="49" charset="-122"/>
                          <a:cs typeface="Consolas" pitchFamily="49" charset="0"/>
                        </a:rPr>
                        <a:t>)</a:t>
                      </a:r>
                      <a:endParaRPr lang="zh-CN" altLang="en-US" sz="2000" b="1">
                        <a:solidFill>
                          <a:srgbClr val="1000E4"/>
                        </a:solidFill>
                        <a:latin typeface="Consolas" pitchFamily="49" charset="0"/>
                        <a:ea typeface="楷体" pitchFamily="49" charset="-122"/>
                        <a:cs typeface="Consolas" pitchFamily="49" charset="0"/>
                      </a:endParaRPr>
                    </a:p>
                  </a:txBody>
                  <a:tcPr/>
                </a:tc>
                <a:tc>
                  <a:txBody>
                    <a:bodyPr/>
                    <a:lstStyle/>
                    <a:p>
                      <a:pPr>
                        <a:lnSpc>
                          <a:spcPct val="150000"/>
                        </a:lnSpc>
                      </a:pPr>
                      <a:r>
                        <a:rPr lang="zh-CN" altLang="en-US" sz="2000" b="1">
                          <a:solidFill>
                            <a:srgbClr val="1000E4"/>
                          </a:solidFill>
                          <a:latin typeface="Consolas" pitchFamily="49" charset="0"/>
                          <a:ea typeface="楷体" pitchFamily="49" charset="-122"/>
                          <a:cs typeface="Consolas" pitchFamily="49" charset="0"/>
                        </a:rPr>
                        <a:t>不适合负权回路</a:t>
                      </a:r>
                    </a:p>
                  </a:txBody>
                  <a:tcPr/>
                </a:tc>
                <a:extLst>
                  <a:ext uri="{0D108BD9-81ED-4DB2-BD59-A6C34878D82A}">
                    <a16:rowId xmlns:a16="http://schemas.microsoft.com/office/drawing/2014/main" val="10002"/>
                  </a:ext>
                </a:extLst>
              </a:tr>
              <a:tr h="370840">
                <a:tc>
                  <a:txBody>
                    <a:bodyPr/>
                    <a:lstStyle/>
                    <a:p>
                      <a:pPr>
                        <a:lnSpc>
                          <a:spcPct val="150000"/>
                        </a:lnSpc>
                      </a:pPr>
                      <a:r>
                        <a:rPr lang="en-US" sz="2000" b="1" kern="1200">
                          <a:solidFill>
                            <a:srgbClr val="1000E4"/>
                          </a:solidFill>
                          <a:latin typeface="Consolas" pitchFamily="49" charset="0"/>
                          <a:ea typeface="楷体" pitchFamily="49" charset="-122"/>
                          <a:cs typeface="Consolas" pitchFamily="49" charset="0"/>
                        </a:rPr>
                        <a:t>Bellman-Ford</a:t>
                      </a:r>
                      <a:endParaRPr lang="zh-CN" altLang="en-US" sz="2000" b="1">
                        <a:solidFill>
                          <a:srgbClr val="1000E4"/>
                        </a:solidFill>
                        <a:latin typeface="Consolas" pitchFamily="49" charset="0"/>
                        <a:ea typeface="楷体" pitchFamily="49" charset="-122"/>
                        <a:cs typeface="Consolas" pitchFamily="49" charset="0"/>
                      </a:endParaRPr>
                    </a:p>
                  </a:txBody>
                  <a:tcPr/>
                </a:tc>
                <a:tc>
                  <a:txBody>
                    <a:bodyPr/>
                    <a:lstStyle/>
                    <a:p>
                      <a:pPr>
                        <a:lnSpc>
                          <a:spcPct val="150000"/>
                        </a:lnSpc>
                      </a:pPr>
                      <a:r>
                        <a:rPr lang="zh-CN" altLang="en-US" sz="2000" b="1">
                          <a:solidFill>
                            <a:srgbClr val="1000E4"/>
                          </a:solidFill>
                          <a:latin typeface="Consolas" pitchFamily="49" charset="0"/>
                          <a:ea typeface="楷体" pitchFamily="49" charset="-122"/>
                          <a:cs typeface="Consolas" pitchFamily="49" charset="0"/>
                        </a:rPr>
                        <a:t>单源最短路径</a:t>
                      </a:r>
                    </a:p>
                  </a:txBody>
                  <a:tcPr/>
                </a:tc>
                <a:tc>
                  <a:txBody>
                    <a:bodyPr/>
                    <a:lstStyle/>
                    <a:p>
                      <a:pPr>
                        <a:lnSpc>
                          <a:spcPct val="150000"/>
                        </a:lnSpc>
                      </a:pPr>
                      <a:r>
                        <a:rPr lang="en-US" altLang="zh-CN" sz="2000" b="1">
                          <a:solidFill>
                            <a:srgbClr val="1000E4"/>
                          </a:solidFill>
                          <a:latin typeface="Consolas" pitchFamily="49" charset="0"/>
                          <a:ea typeface="楷体" pitchFamily="49" charset="-122"/>
                          <a:cs typeface="Consolas" pitchFamily="49" charset="0"/>
                        </a:rPr>
                        <a:t>O(</a:t>
                      </a:r>
                      <a:r>
                        <a:rPr lang="en-US" altLang="zh-CN" sz="2000" b="1" i="1">
                          <a:solidFill>
                            <a:srgbClr val="1000E4"/>
                          </a:solidFill>
                          <a:latin typeface="Consolas" pitchFamily="49" charset="0"/>
                          <a:ea typeface="楷体" pitchFamily="49" charset="-122"/>
                          <a:cs typeface="Consolas" pitchFamily="49" charset="0"/>
                        </a:rPr>
                        <a:t>ne</a:t>
                      </a:r>
                      <a:r>
                        <a:rPr lang="en-US" altLang="zh-CN" sz="2000" b="1">
                          <a:solidFill>
                            <a:srgbClr val="1000E4"/>
                          </a:solidFill>
                          <a:latin typeface="Consolas" pitchFamily="49" charset="0"/>
                          <a:ea typeface="楷体" pitchFamily="49" charset="-122"/>
                          <a:cs typeface="Consolas" pitchFamily="49" charset="0"/>
                        </a:rPr>
                        <a:t>)</a:t>
                      </a:r>
                      <a:endParaRPr lang="zh-CN" altLang="en-US" sz="2000" b="1">
                        <a:solidFill>
                          <a:srgbClr val="1000E4"/>
                        </a:solidFill>
                        <a:latin typeface="Consolas" pitchFamily="49" charset="0"/>
                        <a:ea typeface="楷体" pitchFamily="49" charset="-122"/>
                        <a:cs typeface="Consolas" pitchFamily="49" charset="0"/>
                      </a:endParaRPr>
                    </a:p>
                  </a:txBody>
                  <a:tcPr/>
                </a:tc>
                <a:tc>
                  <a:txBody>
                    <a:bodyPr/>
                    <a:lstStyle/>
                    <a:p>
                      <a:pPr>
                        <a:lnSpc>
                          <a:spcPct val="150000"/>
                        </a:lnSpc>
                      </a:pPr>
                      <a:r>
                        <a:rPr lang="zh-CN" altLang="en-US" sz="2000" b="1">
                          <a:solidFill>
                            <a:srgbClr val="1000E4"/>
                          </a:solidFill>
                          <a:latin typeface="Consolas" pitchFamily="49" charset="0"/>
                          <a:ea typeface="楷体" pitchFamily="49" charset="-122"/>
                          <a:cs typeface="Consolas" pitchFamily="49" charset="0"/>
                        </a:rPr>
                        <a:t>不适合负权回路</a:t>
                      </a:r>
                    </a:p>
                  </a:txBody>
                  <a:tcPr/>
                </a:tc>
                <a:extLst>
                  <a:ext uri="{0D108BD9-81ED-4DB2-BD59-A6C34878D82A}">
                    <a16:rowId xmlns:a16="http://schemas.microsoft.com/office/drawing/2014/main" val="10003"/>
                  </a:ext>
                </a:extLst>
              </a:tr>
              <a:tr h="370840">
                <a:tc>
                  <a:txBody>
                    <a:bodyPr/>
                    <a:lstStyle/>
                    <a:p>
                      <a:pPr>
                        <a:lnSpc>
                          <a:spcPct val="150000"/>
                        </a:lnSpc>
                      </a:pPr>
                      <a:r>
                        <a:rPr kumimoji="1" lang="en-US" altLang="zh-CN" sz="2000" b="1">
                          <a:solidFill>
                            <a:srgbClr val="1000E4"/>
                          </a:solidFill>
                          <a:latin typeface="Consolas" pitchFamily="49" charset="0"/>
                          <a:ea typeface="楷体" pitchFamily="49" charset="-122"/>
                          <a:cs typeface="Consolas" pitchFamily="49" charset="0"/>
                        </a:rPr>
                        <a:t>Floyd</a:t>
                      </a:r>
                      <a:endParaRPr lang="zh-CN" altLang="en-US" sz="2000" b="1">
                        <a:solidFill>
                          <a:srgbClr val="1000E4"/>
                        </a:solidFill>
                        <a:latin typeface="Consolas" pitchFamily="49" charset="0"/>
                        <a:ea typeface="楷体" pitchFamily="49" charset="-122"/>
                        <a:cs typeface="Consolas" pitchFamily="49" charset="0"/>
                      </a:endParaRPr>
                    </a:p>
                  </a:txBody>
                  <a:tcPr/>
                </a:tc>
                <a:tc>
                  <a:txBody>
                    <a:bodyPr/>
                    <a:lstStyle/>
                    <a:p>
                      <a:pPr>
                        <a:lnSpc>
                          <a:spcPct val="150000"/>
                        </a:lnSpc>
                      </a:pPr>
                      <a:r>
                        <a:rPr lang="zh-CN" altLang="en-US" sz="2000" b="1">
                          <a:solidFill>
                            <a:srgbClr val="1000E4"/>
                          </a:solidFill>
                          <a:latin typeface="Consolas" pitchFamily="49" charset="0"/>
                          <a:ea typeface="楷体" pitchFamily="49" charset="-122"/>
                          <a:cs typeface="Consolas" pitchFamily="49" charset="0"/>
                        </a:rPr>
                        <a:t>多源最短路径</a:t>
                      </a:r>
                    </a:p>
                  </a:txBody>
                  <a:tcPr/>
                </a:tc>
                <a:tc>
                  <a:txBody>
                    <a:bodyPr/>
                    <a:lstStyle/>
                    <a:p>
                      <a:pPr>
                        <a:lnSpc>
                          <a:spcPct val="150000"/>
                        </a:lnSpc>
                      </a:pPr>
                      <a:r>
                        <a:rPr lang="en-US" altLang="zh-CN" sz="2000" b="1">
                          <a:solidFill>
                            <a:srgbClr val="1000E4"/>
                          </a:solidFill>
                          <a:latin typeface="Consolas" pitchFamily="49" charset="0"/>
                          <a:ea typeface="楷体" pitchFamily="49" charset="-122"/>
                          <a:cs typeface="Consolas" pitchFamily="49" charset="0"/>
                        </a:rPr>
                        <a:t>O(</a:t>
                      </a:r>
                      <a:r>
                        <a:rPr lang="en-US" altLang="zh-CN" sz="2000" b="1" i="1">
                          <a:solidFill>
                            <a:srgbClr val="1000E4"/>
                          </a:solidFill>
                          <a:latin typeface="Consolas" pitchFamily="49" charset="0"/>
                          <a:ea typeface="楷体" pitchFamily="49" charset="-122"/>
                          <a:cs typeface="Consolas" pitchFamily="49" charset="0"/>
                        </a:rPr>
                        <a:t>n</a:t>
                      </a:r>
                      <a:r>
                        <a:rPr lang="en-US" altLang="zh-CN" sz="2000" b="1" baseline="30000">
                          <a:solidFill>
                            <a:srgbClr val="1000E4"/>
                          </a:solidFill>
                          <a:latin typeface="Consolas" pitchFamily="49" charset="0"/>
                          <a:ea typeface="楷体" pitchFamily="49" charset="-122"/>
                          <a:cs typeface="Consolas" pitchFamily="49" charset="0"/>
                        </a:rPr>
                        <a:t>3</a:t>
                      </a:r>
                      <a:r>
                        <a:rPr lang="en-US" altLang="zh-CN" sz="2000" b="1">
                          <a:solidFill>
                            <a:srgbClr val="1000E4"/>
                          </a:solidFill>
                          <a:latin typeface="Consolas" pitchFamily="49" charset="0"/>
                          <a:ea typeface="楷体" pitchFamily="49" charset="-122"/>
                          <a:cs typeface="Consolas" pitchFamily="49" charset="0"/>
                        </a:rPr>
                        <a:t>)</a:t>
                      </a:r>
                      <a:endParaRPr lang="zh-CN" altLang="en-US" sz="2000" b="1">
                        <a:solidFill>
                          <a:srgbClr val="1000E4"/>
                        </a:solidFill>
                        <a:latin typeface="Consolas" pitchFamily="49" charset="0"/>
                        <a:ea typeface="楷体" pitchFamily="49" charset="-122"/>
                        <a:cs typeface="Consolas" pitchFamily="49" charset="0"/>
                      </a:endParaRPr>
                    </a:p>
                  </a:txBody>
                  <a:tcPr/>
                </a:tc>
                <a:tc>
                  <a:txBody>
                    <a:bodyPr/>
                    <a:lstStyle/>
                    <a:p>
                      <a:pPr>
                        <a:lnSpc>
                          <a:spcPct val="150000"/>
                        </a:lnSpc>
                      </a:pPr>
                      <a:r>
                        <a:rPr lang="zh-CN" altLang="en-US" sz="2000" b="1">
                          <a:solidFill>
                            <a:srgbClr val="1000E4"/>
                          </a:solidFill>
                          <a:latin typeface="Consolas" pitchFamily="49" charset="0"/>
                          <a:ea typeface="楷体" pitchFamily="49" charset="-122"/>
                          <a:cs typeface="Consolas" pitchFamily="49" charset="0"/>
                        </a:rPr>
                        <a:t>不适合负权回路</a:t>
                      </a:r>
                    </a:p>
                  </a:txBody>
                  <a:tcPr/>
                </a:tc>
                <a:extLst>
                  <a:ext uri="{0D108BD9-81ED-4DB2-BD59-A6C34878D82A}">
                    <a16:rowId xmlns:a16="http://schemas.microsoft.com/office/drawing/2014/main" val="10004"/>
                  </a:ext>
                </a:extLst>
              </a:tr>
            </a:tbl>
          </a:graphicData>
        </a:graphic>
      </p:graphicFrame>
      <p:sp>
        <p:nvSpPr>
          <p:cNvPr id="3" name="TextBox 2"/>
          <p:cNvSpPr txBox="1"/>
          <p:nvPr/>
        </p:nvSpPr>
        <p:spPr>
          <a:xfrm>
            <a:off x="2928926" y="571480"/>
            <a:ext cx="1928826" cy="461665"/>
          </a:xfrm>
          <a:prstGeom prst="rect">
            <a:avLst/>
          </a:prstGeom>
          <a:noFill/>
        </p:spPr>
        <p:txBody>
          <a:bodyPr wrap="square" rtlCol="0">
            <a:spAutoFit/>
          </a:bodyPr>
          <a:lstStyle/>
          <a:p>
            <a:pPr>
              <a:lnSpc>
                <a:spcPct val="100000"/>
              </a:lnSpc>
            </a:pPr>
            <a:r>
              <a:rPr lang="zh-CN" altLang="en-US">
                <a:solidFill>
                  <a:srgbClr val="FF0000"/>
                </a:solidFill>
                <a:latin typeface="微软雅黑" pitchFamily="34" charset="-122"/>
                <a:ea typeface="微软雅黑" pitchFamily="34" charset="-122"/>
              </a:rPr>
              <a:t>算 法 比 较</a:t>
            </a: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85</a:t>
            </a:fld>
            <a:r>
              <a:rPr lang="en-US" altLang="zh-CN"/>
              <a:t>/158</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hlinkClick r:id="" action="ppaction://noaction"/>
          </p:cNvPr>
          <p:cNvSpPr txBox="1"/>
          <p:nvPr/>
        </p:nvSpPr>
        <p:spPr>
          <a:xfrm>
            <a:off x="2643174" y="285728"/>
            <a:ext cx="3396926" cy="5847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9.3 </a:t>
            </a:r>
            <a:r>
              <a:rPr lang="zh-CN" altLang="en-US"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网络流</a:t>
            </a:r>
          </a:p>
        </p:txBody>
      </p:sp>
      <p:sp>
        <p:nvSpPr>
          <p:cNvPr id="4" name="TextBox 3"/>
          <p:cNvSpPr txBox="1"/>
          <p:nvPr/>
        </p:nvSpPr>
        <p:spPr>
          <a:xfrm>
            <a:off x="285720" y="1144960"/>
            <a:ext cx="3143272" cy="523220"/>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rPr>
              <a:t>9.3.1 </a:t>
            </a:r>
            <a:r>
              <a:rPr lang="zh-CN" altLang="en-US"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rPr>
              <a:t>问题引入</a:t>
            </a:r>
            <a:endParaRPr lang="zh-CN" altLang="zh-CN"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endParaRPr>
          </a:p>
        </p:txBody>
      </p:sp>
      <p:sp>
        <p:nvSpPr>
          <p:cNvPr id="5" name="TextBox 4"/>
          <p:cNvSpPr txBox="1"/>
          <p:nvPr/>
        </p:nvSpPr>
        <p:spPr>
          <a:xfrm>
            <a:off x="285720" y="1859340"/>
            <a:ext cx="8501122" cy="1569660"/>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ct val="100000"/>
              </a:lnSpc>
              <a:spcBef>
                <a:spcPts val="0"/>
              </a:spcBef>
              <a:buBlip>
                <a:blip r:embed="rId3"/>
              </a:buBlip>
            </a:pPr>
            <a:r>
              <a:rPr lang="zh-CN" altLang="zh-CN">
                <a:solidFill>
                  <a:srgbClr val="0000FF"/>
                </a:solidFill>
                <a:latin typeface="Consolas" pitchFamily="49" charset="0"/>
                <a:ea typeface="仿宋" pitchFamily="49" charset="-122"/>
              </a:rPr>
              <a:t>用带权有向图</a:t>
            </a:r>
            <a:r>
              <a:rPr lang="en-US" altLang="zh-CN" i="1">
                <a:solidFill>
                  <a:srgbClr val="0000FF"/>
                </a:solidFill>
                <a:latin typeface="Consolas" pitchFamily="49" charset="0"/>
                <a:ea typeface="仿宋" pitchFamily="49" charset="-122"/>
              </a:rPr>
              <a:t>G</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V</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E</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表示一个</a:t>
            </a:r>
            <a:r>
              <a:rPr lang="zh-CN" altLang="zh-CN">
                <a:solidFill>
                  <a:srgbClr val="FF0000"/>
                </a:solidFill>
                <a:latin typeface="楷体" pitchFamily="49" charset="-122"/>
                <a:ea typeface="楷体" pitchFamily="49" charset="-122"/>
              </a:rPr>
              <a:t>网络</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network</a:t>
            </a:r>
            <a:r>
              <a:rPr lang="zh-CN" altLang="zh-CN">
                <a:solidFill>
                  <a:srgbClr val="0000FF"/>
                </a:solidFill>
                <a:latin typeface="Consolas" pitchFamily="49" charset="0"/>
                <a:ea typeface="仿宋" pitchFamily="49" charset="-122"/>
              </a:rPr>
              <a:t>），其中包含一个源点</a:t>
            </a:r>
            <a:r>
              <a:rPr lang="en-US" altLang="zh-CN">
                <a:solidFill>
                  <a:srgbClr val="0000FF"/>
                </a:solidFill>
                <a:latin typeface="Consolas" pitchFamily="49" charset="0"/>
                <a:ea typeface="仿宋" pitchFamily="49" charset="-122"/>
              </a:rPr>
              <a:t>S</a:t>
            </a:r>
            <a:r>
              <a:rPr lang="zh-CN" altLang="zh-CN">
                <a:solidFill>
                  <a:srgbClr val="0000FF"/>
                </a:solidFill>
                <a:latin typeface="Consolas" pitchFamily="49" charset="0"/>
                <a:ea typeface="仿宋" pitchFamily="49" charset="-122"/>
              </a:rPr>
              <a:t>和一个汇点</a:t>
            </a:r>
            <a:r>
              <a:rPr lang="en-US" altLang="zh-CN">
                <a:solidFill>
                  <a:srgbClr val="0000FF"/>
                </a:solidFill>
                <a:latin typeface="Consolas" pitchFamily="49" charset="0"/>
                <a:ea typeface="仿宋" pitchFamily="49" charset="-122"/>
              </a:rPr>
              <a:t>T</a:t>
            </a:r>
            <a:r>
              <a:rPr lang="zh-CN" altLang="zh-CN">
                <a:solidFill>
                  <a:srgbClr val="0000FF"/>
                </a:solidFill>
                <a:latin typeface="Consolas" pitchFamily="49" charset="0"/>
                <a:ea typeface="仿宋" pitchFamily="49" charset="-122"/>
              </a:rPr>
              <a:t>，</a:t>
            </a:r>
            <a:r>
              <a:rPr lang="zh-CN" altLang="zh-CN">
                <a:solidFill>
                  <a:srgbClr val="FF0000"/>
                </a:solidFill>
                <a:latin typeface="Consolas" pitchFamily="49" charset="0"/>
                <a:ea typeface="仿宋" pitchFamily="49" charset="-122"/>
              </a:rPr>
              <a:t>源点</a:t>
            </a:r>
            <a:r>
              <a:rPr lang="zh-CN" altLang="zh-CN">
                <a:solidFill>
                  <a:srgbClr val="0000FF"/>
                </a:solidFill>
                <a:latin typeface="Consolas" pitchFamily="49" charset="0"/>
                <a:ea typeface="仿宋" pitchFamily="49" charset="-122"/>
              </a:rPr>
              <a:t>的入度为零，</a:t>
            </a:r>
            <a:r>
              <a:rPr lang="zh-CN" altLang="zh-CN">
                <a:solidFill>
                  <a:srgbClr val="FF0000"/>
                </a:solidFill>
                <a:latin typeface="Consolas" pitchFamily="49" charset="0"/>
                <a:ea typeface="仿宋" pitchFamily="49" charset="-122"/>
              </a:rPr>
              <a:t>汇点</a:t>
            </a:r>
            <a:r>
              <a:rPr lang="zh-CN" altLang="zh-CN">
                <a:solidFill>
                  <a:srgbClr val="0000FF"/>
                </a:solidFill>
                <a:latin typeface="Consolas" pitchFamily="49" charset="0"/>
                <a:ea typeface="仿宋" pitchFamily="49" charset="-122"/>
              </a:rPr>
              <a:t>的出度为零，其余顶点称为中间点，有向边</a:t>
            </a:r>
            <a:r>
              <a:rPr lang="en-US" altLang="zh-CN">
                <a:solidFill>
                  <a:srgbClr val="0000FF"/>
                </a:solidFill>
                <a:latin typeface="Consolas" pitchFamily="49" charset="0"/>
                <a:ea typeface="仿宋" pitchFamily="49" charset="-122"/>
              </a:rPr>
              <a:t>&lt;</a:t>
            </a:r>
            <a:r>
              <a:rPr lang="en-US" altLang="zh-CN" i="1">
                <a:solidFill>
                  <a:srgbClr val="0000FF"/>
                </a:solidFill>
                <a:latin typeface="Consolas" pitchFamily="49" charset="0"/>
                <a:ea typeface="仿宋" pitchFamily="49" charset="-122"/>
              </a:rPr>
              <a:t>u</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v</a:t>
            </a:r>
            <a:r>
              <a:rPr lang="en-US" altLang="zh-CN">
                <a:solidFill>
                  <a:srgbClr val="0000FF"/>
                </a:solidFill>
                <a:latin typeface="Consolas" pitchFamily="49" charset="0"/>
                <a:ea typeface="仿宋" pitchFamily="49" charset="-122"/>
              </a:rPr>
              <a:t>&gt;</a:t>
            </a:r>
            <a:r>
              <a:rPr lang="zh-CN" altLang="zh-CN">
                <a:solidFill>
                  <a:srgbClr val="0000FF"/>
                </a:solidFill>
                <a:latin typeface="Consolas" pitchFamily="49" charset="0"/>
                <a:ea typeface="仿宋" pitchFamily="49" charset="-122"/>
              </a:rPr>
              <a:t>上的权值</a:t>
            </a:r>
            <a:r>
              <a:rPr lang="en-US" altLang="zh-CN" i="1">
                <a:solidFill>
                  <a:srgbClr val="0000FF"/>
                </a:solidFill>
                <a:latin typeface="Consolas" pitchFamily="49" charset="0"/>
                <a:ea typeface="仿宋" pitchFamily="49" charset="-122"/>
              </a:rPr>
              <a:t>c</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u</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v</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表示从顶点</a:t>
            </a:r>
            <a:r>
              <a:rPr lang="en-US" altLang="zh-CN" i="1">
                <a:solidFill>
                  <a:srgbClr val="0000FF"/>
                </a:solidFill>
                <a:latin typeface="Consolas" pitchFamily="49" charset="0"/>
                <a:ea typeface="仿宋" pitchFamily="49" charset="-122"/>
              </a:rPr>
              <a:t>u</a:t>
            </a:r>
            <a:r>
              <a:rPr lang="zh-CN" altLang="zh-CN">
                <a:solidFill>
                  <a:srgbClr val="0000FF"/>
                </a:solidFill>
                <a:latin typeface="Consolas" pitchFamily="49" charset="0"/>
                <a:ea typeface="仿宋" pitchFamily="49" charset="-122"/>
              </a:rPr>
              <a:t>到</a:t>
            </a:r>
            <a:r>
              <a:rPr lang="en-US" altLang="zh-CN" i="1">
                <a:solidFill>
                  <a:srgbClr val="0000FF"/>
                </a:solidFill>
                <a:latin typeface="Consolas" pitchFamily="49" charset="0"/>
                <a:ea typeface="仿宋" pitchFamily="49" charset="-122"/>
              </a:rPr>
              <a:t>v</a:t>
            </a:r>
            <a:r>
              <a:rPr lang="zh-CN" altLang="zh-CN">
                <a:solidFill>
                  <a:srgbClr val="0000FF"/>
                </a:solidFill>
                <a:latin typeface="Consolas" pitchFamily="49" charset="0"/>
                <a:ea typeface="仿宋" pitchFamily="49" charset="-122"/>
              </a:rPr>
              <a:t>的容量，没有反向平行边。</a:t>
            </a:r>
          </a:p>
        </p:txBody>
      </p:sp>
      <p:sp>
        <p:nvSpPr>
          <p:cNvPr id="118809" name="Rectangle 2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32" name="组合 31"/>
          <p:cNvGrpSpPr/>
          <p:nvPr/>
        </p:nvGrpSpPr>
        <p:grpSpPr>
          <a:xfrm>
            <a:off x="3367692" y="3582009"/>
            <a:ext cx="1908550" cy="3112096"/>
            <a:chOff x="3367692" y="3582009"/>
            <a:chExt cx="1908550" cy="3112096"/>
          </a:xfrm>
        </p:grpSpPr>
        <p:sp>
          <p:nvSpPr>
            <p:cNvPr id="118807" name="Text Box 23"/>
            <p:cNvSpPr txBox="1">
              <a:spLocks noChangeArrowheads="1"/>
            </p:cNvSpPr>
            <p:nvPr/>
          </p:nvSpPr>
          <p:spPr bwMode="auto">
            <a:xfrm>
              <a:off x="3787168" y="3963263"/>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18806" name="Text Box 22"/>
            <p:cNvSpPr txBox="1">
              <a:spLocks noChangeArrowheads="1"/>
            </p:cNvSpPr>
            <p:nvPr/>
          </p:nvSpPr>
          <p:spPr bwMode="auto">
            <a:xfrm>
              <a:off x="4798471" y="4005062"/>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18805" name="Text Box 21"/>
            <p:cNvSpPr txBox="1">
              <a:spLocks noChangeArrowheads="1"/>
            </p:cNvSpPr>
            <p:nvPr/>
          </p:nvSpPr>
          <p:spPr bwMode="auto">
            <a:xfrm>
              <a:off x="4262404" y="4381249"/>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18804" name="Text Box 20"/>
            <p:cNvSpPr txBox="1">
              <a:spLocks noChangeArrowheads="1"/>
            </p:cNvSpPr>
            <p:nvPr/>
          </p:nvSpPr>
          <p:spPr bwMode="auto">
            <a:xfrm>
              <a:off x="4365055" y="5053826"/>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18803" name="Text Box 19"/>
            <p:cNvSpPr txBox="1">
              <a:spLocks noChangeArrowheads="1"/>
            </p:cNvSpPr>
            <p:nvPr/>
          </p:nvSpPr>
          <p:spPr bwMode="auto">
            <a:xfrm>
              <a:off x="5114028" y="5061426"/>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18802" name="Text Box 18"/>
            <p:cNvSpPr txBox="1">
              <a:spLocks noChangeArrowheads="1"/>
            </p:cNvSpPr>
            <p:nvPr/>
          </p:nvSpPr>
          <p:spPr bwMode="auto">
            <a:xfrm>
              <a:off x="4714829" y="6041793"/>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18801" name="Text Box 17"/>
            <p:cNvSpPr txBox="1">
              <a:spLocks noChangeArrowheads="1"/>
            </p:cNvSpPr>
            <p:nvPr/>
          </p:nvSpPr>
          <p:spPr bwMode="auto">
            <a:xfrm>
              <a:off x="3409513" y="5061426"/>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18800" name="Text Box 16"/>
            <p:cNvSpPr txBox="1">
              <a:spLocks noChangeArrowheads="1"/>
            </p:cNvSpPr>
            <p:nvPr/>
          </p:nvSpPr>
          <p:spPr bwMode="auto">
            <a:xfrm>
              <a:off x="3704793" y="6037994"/>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18799" name="Oval 15"/>
            <p:cNvSpPr>
              <a:spLocks noChangeArrowheads="1"/>
            </p:cNvSpPr>
            <p:nvPr/>
          </p:nvSpPr>
          <p:spPr bwMode="auto">
            <a:xfrm>
              <a:off x="4125536" y="3582009"/>
              <a:ext cx="395397" cy="430652"/>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0</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18798" name="Oval 14"/>
            <p:cNvSpPr>
              <a:spLocks noChangeArrowheads="1"/>
            </p:cNvSpPr>
            <p:nvPr/>
          </p:nvSpPr>
          <p:spPr bwMode="auto">
            <a:xfrm>
              <a:off x="3367692" y="4469913"/>
              <a:ext cx="395397" cy="43065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18797" name="Oval 13"/>
            <p:cNvSpPr>
              <a:spLocks noChangeArrowheads="1"/>
            </p:cNvSpPr>
            <p:nvPr/>
          </p:nvSpPr>
          <p:spPr bwMode="auto">
            <a:xfrm>
              <a:off x="4880845" y="4469913"/>
              <a:ext cx="395397" cy="43065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18796" name="Oval 12"/>
            <p:cNvSpPr>
              <a:spLocks noChangeArrowheads="1"/>
            </p:cNvSpPr>
            <p:nvPr/>
          </p:nvSpPr>
          <p:spPr bwMode="auto">
            <a:xfrm>
              <a:off x="3367692" y="5489545"/>
              <a:ext cx="395397" cy="43191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18795" name="Oval 11"/>
            <p:cNvSpPr>
              <a:spLocks noChangeArrowheads="1"/>
            </p:cNvSpPr>
            <p:nvPr/>
          </p:nvSpPr>
          <p:spPr bwMode="auto">
            <a:xfrm>
              <a:off x="4880845" y="5489545"/>
              <a:ext cx="395397" cy="43191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18794" name="Oval 10"/>
            <p:cNvSpPr>
              <a:spLocks noChangeArrowheads="1"/>
            </p:cNvSpPr>
            <p:nvPr/>
          </p:nvSpPr>
          <p:spPr bwMode="auto">
            <a:xfrm>
              <a:off x="4125536" y="6263453"/>
              <a:ext cx="395397" cy="430652"/>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5</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18793" name="AutoShape 9"/>
            <p:cNvSpPr>
              <a:spLocks noChangeShapeType="1"/>
            </p:cNvSpPr>
            <p:nvPr/>
          </p:nvSpPr>
          <p:spPr bwMode="auto">
            <a:xfrm flipH="1">
              <a:off x="3704793" y="3949330"/>
              <a:ext cx="479038" cy="58391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118792" name="AutoShape 8"/>
            <p:cNvSpPr>
              <a:spLocks noChangeShapeType="1"/>
            </p:cNvSpPr>
            <p:nvPr/>
          </p:nvSpPr>
          <p:spPr bwMode="auto">
            <a:xfrm>
              <a:off x="4462637" y="3949330"/>
              <a:ext cx="476504" cy="58391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118791" name="AutoShape 7"/>
            <p:cNvSpPr>
              <a:spLocks noChangeShapeType="1"/>
            </p:cNvSpPr>
            <p:nvPr/>
          </p:nvSpPr>
          <p:spPr bwMode="auto">
            <a:xfrm>
              <a:off x="3763089" y="4685239"/>
              <a:ext cx="1117756" cy="1267"/>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118790" name="AutoShape 6"/>
            <p:cNvSpPr>
              <a:spLocks noChangeShapeType="1"/>
            </p:cNvSpPr>
            <p:nvPr/>
          </p:nvSpPr>
          <p:spPr bwMode="auto">
            <a:xfrm>
              <a:off x="3704793" y="4837234"/>
              <a:ext cx="1176052" cy="86890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118789" name="AutoShape 5"/>
            <p:cNvSpPr>
              <a:spLocks noChangeShapeType="1"/>
            </p:cNvSpPr>
            <p:nvPr/>
          </p:nvSpPr>
          <p:spPr bwMode="auto">
            <a:xfrm>
              <a:off x="5078543" y="4900565"/>
              <a:ext cx="1267" cy="588980"/>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118788" name="AutoShape 4"/>
            <p:cNvSpPr>
              <a:spLocks noChangeShapeType="1"/>
            </p:cNvSpPr>
            <p:nvPr/>
          </p:nvSpPr>
          <p:spPr bwMode="auto">
            <a:xfrm>
              <a:off x="3565391" y="4900565"/>
              <a:ext cx="1267" cy="588980"/>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118787" name="AutoShape 3"/>
            <p:cNvSpPr>
              <a:spLocks noChangeShapeType="1"/>
            </p:cNvSpPr>
            <p:nvPr/>
          </p:nvSpPr>
          <p:spPr bwMode="auto">
            <a:xfrm>
              <a:off x="3704793" y="5858133"/>
              <a:ext cx="479038" cy="468651"/>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118786" name="AutoShape 2"/>
            <p:cNvSpPr>
              <a:spLocks noChangeShapeType="1"/>
            </p:cNvSpPr>
            <p:nvPr/>
          </p:nvSpPr>
          <p:spPr bwMode="auto">
            <a:xfrm flipH="1">
              <a:off x="4462637" y="5858133"/>
              <a:ext cx="476504" cy="468651"/>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grpSp>
      <p:sp>
        <p:nvSpPr>
          <p:cNvPr id="31" name="TextBox 30"/>
          <p:cNvSpPr txBox="1"/>
          <p:nvPr/>
        </p:nvSpPr>
        <p:spPr>
          <a:xfrm>
            <a:off x="5572132" y="4857760"/>
            <a:ext cx="1428760" cy="400110"/>
          </a:xfrm>
          <a:prstGeom prst="rect">
            <a:avLst/>
          </a:prstGeom>
          <a:noFill/>
        </p:spPr>
        <p:txBody>
          <a:bodyPr wrap="square" rtlCol="0">
            <a:spAutoFit/>
          </a:bodyPr>
          <a:lstStyle/>
          <a:p>
            <a:pPr algn="l">
              <a:lnSpc>
                <a:spcPct val="100000"/>
              </a:lnSpc>
              <a:spcBef>
                <a:spcPts val="0"/>
              </a:spcBef>
            </a:pPr>
            <a:r>
              <a:rPr lang="zh-CN" altLang="zh-CN" sz="2000">
                <a:solidFill>
                  <a:srgbClr val="0000FF"/>
                </a:solidFill>
                <a:latin typeface="Consolas" pitchFamily="49" charset="0"/>
                <a:ea typeface="仿宋" pitchFamily="49" charset="-122"/>
              </a:rPr>
              <a:t>一个网络</a:t>
            </a:r>
            <a:endParaRPr lang="zh-CN" altLang="en-US" sz="2000">
              <a:solidFill>
                <a:srgbClr val="0000FF"/>
              </a:solidFill>
              <a:latin typeface="Consolas" pitchFamily="49" charset="0"/>
              <a:ea typeface="仿宋" pitchFamily="49" charset="-122"/>
              <a:cs typeface="Consolas" pitchFamily="49" charset="0"/>
            </a:endParaRPr>
          </a:p>
        </p:txBody>
      </p:sp>
      <p:sp>
        <p:nvSpPr>
          <p:cNvPr id="34" name="灯片编号占位符 33"/>
          <p:cNvSpPr>
            <a:spLocks noGrp="1"/>
          </p:cNvSpPr>
          <p:nvPr>
            <p:ph type="sldNum" sz="quarter" idx="12"/>
          </p:nvPr>
        </p:nvSpPr>
        <p:spPr/>
        <p:txBody>
          <a:bodyPr/>
          <a:lstStyle/>
          <a:p>
            <a:fld id="{7AF016A1-9F15-429F-9EFD-84004B73C732}" type="slidenum">
              <a:rPr lang="en-US" altLang="zh-CN" smtClean="0"/>
              <a:pPr/>
              <a:t>86</a:t>
            </a:fld>
            <a:r>
              <a:rPr lang="en-US" altLang="zh-CN"/>
              <a:t>/158</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367560" y="316904"/>
            <a:ext cx="1908550" cy="3112096"/>
            <a:chOff x="3367692" y="3582009"/>
            <a:chExt cx="1908550" cy="3112096"/>
          </a:xfrm>
        </p:grpSpPr>
        <p:sp>
          <p:nvSpPr>
            <p:cNvPr id="4" name="Text Box 23"/>
            <p:cNvSpPr txBox="1">
              <a:spLocks noChangeArrowheads="1"/>
            </p:cNvSpPr>
            <p:nvPr/>
          </p:nvSpPr>
          <p:spPr bwMode="auto">
            <a:xfrm>
              <a:off x="3787168" y="3963263"/>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 name="Text Box 22"/>
            <p:cNvSpPr txBox="1">
              <a:spLocks noChangeArrowheads="1"/>
            </p:cNvSpPr>
            <p:nvPr/>
          </p:nvSpPr>
          <p:spPr bwMode="auto">
            <a:xfrm>
              <a:off x="4798471" y="4005062"/>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6" name="Text Box 21"/>
            <p:cNvSpPr txBox="1">
              <a:spLocks noChangeArrowheads="1"/>
            </p:cNvSpPr>
            <p:nvPr/>
          </p:nvSpPr>
          <p:spPr bwMode="auto">
            <a:xfrm>
              <a:off x="4262404" y="4381249"/>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7" name="Text Box 20"/>
            <p:cNvSpPr txBox="1">
              <a:spLocks noChangeArrowheads="1"/>
            </p:cNvSpPr>
            <p:nvPr/>
          </p:nvSpPr>
          <p:spPr bwMode="auto">
            <a:xfrm>
              <a:off x="4365055" y="5053826"/>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8" name="Text Box 19"/>
            <p:cNvSpPr txBox="1">
              <a:spLocks noChangeArrowheads="1"/>
            </p:cNvSpPr>
            <p:nvPr/>
          </p:nvSpPr>
          <p:spPr bwMode="auto">
            <a:xfrm>
              <a:off x="5114028" y="5061426"/>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9" name="Text Box 18"/>
            <p:cNvSpPr txBox="1">
              <a:spLocks noChangeArrowheads="1"/>
            </p:cNvSpPr>
            <p:nvPr/>
          </p:nvSpPr>
          <p:spPr bwMode="auto">
            <a:xfrm>
              <a:off x="4714829" y="6041793"/>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0" name="Text Box 17"/>
            <p:cNvSpPr txBox="1">
              <a:spLocks noChangeArrowheads="1"/>
            </p:cNvSpPr>
            <p:nvPr/>
          </p:nvSpPr>
          <p:spPr bwMode="auto">
            <a:xfrm>
              <a:off x="3409513" y="5061426"/>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1" name="Text Box 16"/>
            <p:cNvSpPr txBox="1">
              <a:spLocks noChangeArrowheads="1"/>
            </p:cNvSpPr>
            <p:nvPr/>
          </p:nvSpPr>
          <p:spPr bwMode="auto">
            <a:xfrm>
              <a:off x="3704793" y="6037994"/>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2" name="Oval 15"/>
            <p:cNvSpPr>
              <a:spLocks noChangeArrowheads="1"/>
            </p:cNvSpPr>
            <p:nvPr/>
          </p:nvSpPr>
          <p:spPr bwMode="auto">
            <a:xfrm>
              <a:off x="4125536" y="3582009"/>
              <a:ext cx="395397" cy="430652"/>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0</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3" name="Oval 14"/>
            <p:cNvSpPr>
              <a:spLocks noChangeArrowheads="1"/>
            </p:cNvSpPr>
            <p:nvPr/>
          </p:nvSpPr>
          <p:spPr bwMode="auto">
            <a:xfrm>
              <a:off x="3367692" y="4469913"/>
              <a:ext cx="395397" cy="43065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4" name="Oval 13"/>
            <p:cNvSpPr>
              <a:spLocks noChangeArrowheads="1"/>
            </p:cNvSpPr>
            <p:nvPr/>
          </p:nvSpPr>
          <p:spPr bwMode="auto">
            <a:xfrm>
              <a:off x="4880845" y="4469913"/>
              <a:ext cx="395397" cy="43065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5" name="Oval 12"/>
            <p:cNvSpPr>
              <a:spLocks noChangeArrowheads="1"/>
            </p:cNvSpPr>
            <p:nvPr/>
          </p:nvSpPr>
          <p:spPr bwMode="auto">
            <a:xfrm>
              <a:off x="3367692" y="5489545"/>
              <a:ext cx="395397" cy="43191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6" name="Oval 11"/>
            <p:cNvSpPr>
              <a:spLocks noChangeArrowheads="1"/>
            </p:cNvSpPr>
            <p:nvPr/>
          </p:nvSpPr>
          <p:spPr bwMode="auto">
            <a:xfrm>
              <a:off x="4880845" y="5489545"/>
              <a:ext cx="395397" cy="43191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8" name="Oval 10"/>
            <p:cNvSpPr>
              <a:spLocks noChangeArrowheads="1"/>
            </p:cNvSpPr>
            <p:nvPr/>
          </p:nvSpPr>
          <p:spPr bwMode="auto">
            <a:xfrm>
              <a:off x="4125536" y="6263453"/>
              <a:ext cx="395397" cy="430652"/>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5</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9" name="AutoShape 9"/>
            <p:cNvSpPr>
              <a:spLocks noChangeShapeType="1"/>
            </p:cNvSpPr>
            <p:nvPr/>
          </p:nvSpPr>
          <p:spPr bwMode="auto">
            <a:xfrm flipH="1">
              <a:off x="3704793" y="3949330"/>
              <a:ext cx="479038" cy="58391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20" name="AutoShape 8"/>
            <p:cNvSpPr>
              <a:spLocks noChangeShapeType="1"/>
            </p:cNvSpPr>
            <p:nvPr/>
          </p:nvSpPr>
          <p:spPr bwMode="auto">
            <a:xfrm>
              <a:off x="4462637" y="3949330"/>
              <a:ext cx="476504" cy="58391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21" name="AutoShape 7"/>
            <p:cNvSpPr>
              <a:spLocks noChangeShapeType="1"/>
            </p:cNvSpPr>
            <p:nvPr/>
          </p:nvSpPr>
          <p:spPr bwMode="auto">
            <a:xfrm>
              <a:off x="3763089" y="4685239"/>
              <a:ext cx="1117756" cy="1267"/>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22" name="AutoShape 6"/>
            <p:cNvSpPr>
              <a:spLocks noChangeShapeType="1"/>
            </p:cNvSpPr>
            <p:nvPr/>
          </p:nvSpPr>
          <p:spPr bwMode="auto">
            <a:xfrm>
              <a:off x="3704793" y="4837234"/>
              <a:ext cx="1176052" cy="86890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23" name="AutoShape 5"/>
            <p:cNvSpPr>
              <a:spLocks noChangeShapeType="1"/>
            </p:cNvSpPr>
            <p:nvPr/>
          </p:nvSpPr>
          <p:spPr bwMode="auto">
            <a:xfrm>
              <a:off x="5078543" y="4900565"/>
              <a:ext cx="1267" cy="588980"/>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24" name="AutoShape 4"/>
            <p:cNvSpPr>
              <a:spLocks noChangeShapeType="1"/>
            </p:cNvSpPr>
            <p:nvPr/>
          </p:nvSpPr>
          <p:spPr bwMode="auto">
            <a:xfrm>
              <a:off x="3565391" y="4900565"/>
              <a:ext cx="1267" cy="588980"/>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25" name="AutoShape 3"/>
            <p:cNvSpPr>
              <a:spLocks noChangeShapeType="1"/>
            </p:cNvSpPr>
            <p:nvPr/>
          </p:nvSpPr>
          <p:spPr bwMode="auto">
            <a:xfrm>
              <a:off x="3704793" y="5858133"/>
              <a:ext cx="479038" cy="468651"/>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26" name="AutoShape 2"/>
            <p:cNvSpPr>
              <a:spLocks noChangeShapeType="1"/>
            </p:cNvSpPr>
            <p:nvPr/>
          </p:nvSpPr>
          <p:spPr bwMode="auto">
            <a:xfrm flipH="1">
              <a:off x="4462637" y="5858133"/>
              <a:ext cx="476504" cy="468651"/>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grpSp>
      <p:sp>
        <p:nvSpPr>
          <p:cNvPr id="27" name="TextBox 26"/>
          <p:cNvSpPr txBox="1"/>
          <p:nvPr/>
        </p:nvSpPr>
        <p:spPr>
          <a:xfrm>
            <a:off x="1857356" y="3644231"/>
            <a:ext cx="6715172" cy="1284967"/>
          </a:xfrm>
          <a:prstGeom prst="rect">
            <a:avLst/>
          </a:prstGeom>
          <a:ln>
            <a:solidFill>
              <a:schemeClr val="accent6">
                <a:lumMod val="20000"/>
                <a:lumOff val="8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100"/>
              </a:lnSpc>
              <a:spcBef>
                <a:spcPts val="0"/>
              </a:spcBef>
            </a:pPr>
            <a:r>
              <a:rPr lang="zh-CN" altLang="zh-CN">
                <a:solidFill>
                  <a:srgbClr val="0000FF"/>
                </a:solidFill>
                <a:latin typeface="Consolas" pitchFamily="49" charset="0"/>
                <a:ea typeface="仿宋" pitchFamily="49" charset="-122"/>
              </a:rPr>
              <a:t>水从源点</a:t>
            </a:r>
            <a:r>
              <a:rPr lang="en-US"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流向汇点</a:t>
            </a:r>
            <a:r>
              <a:rPr lang="en-US" altLang="zh-CN">
                <a:solidFill>
                  <a:srgbClr val="0000FF"/>
                </a:solidFill>
                <a:latin typeface="Consolas" pitchFamily="49" charset="0"/>
                <a:ea typeface="仿宋" pitchFamily="49" charset="-122"/>
              </a:rPr>
              <a:t>5</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S=0</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T=5</a:t>
            </a:r>
            <a:r>
              <a:rPr lang="zh-CN" altLang="zh-CN">
                <a:solidFill>
                  <a:srgbClr val="0000FF"/>
                </a:solidFill>
                <a:latin typeface="Consolas" pitchFamily="49" charset="0"/>
                <a:ea typeface="仿宋" pitchFamily="49" charset="-122"/>
              </a:rPr>
              <a:t>），容量表示水管单位时间的最大流水量。那么从源点</a:t>
            </a:r>
            <a:r>
              <a:rPr lang="en-US"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流向汇点</a:t>
            </a:r>
            <a:r>
              <a:rPr lang="en-US" altLang="zh-CN">
                <a:solidFill>
                  <a:srgbClr val="0000FF"/>
                </a:solidFill>
                <a:latin typeface="Consolas" pitchFamily="49" charset="0"/>
                <a:ea typeface="仿宋" pitchFamily="49" charset="-122"/>
              </a:rPr>
              <a:t>5</a:t>
            </a:r>
            <a:r>
              <a:rPr lang="zh-CN" altLang="zh-CN">
                <a:solidFill>
                  <a:srgbClr val="0000FF"/>
                </a:solidFill>
                <a:latin typeface="Consolas" pitchFamily="49" charset="0"/>
                <a:ea typeface="仿宋" pitchFamily="49" charset="-122"/>
              </a:rPr>
              <a:t>的</a:t>
            </a:r>
            <a:r>
              <a:rPr lang="zh-CN" altLang="zh-CN">
                <a:solidFill>
                  <a:srgbClr val="FF0000"/>
                </a:solidFill>
                <a:latin typeface="Consolas" pitchFamily="49" charset="0"/>
                <a:ea typeface="仿宋" pitchFamily="49" charset="-122"/>
              </a:rPr>
              <a:t>最大流量</a:t>
            </a:r>
            <a:r>
              <a:rPr lang="zh-CN" altLang="zh-CN">
                <a:solidFill>
                  <a:srgbClr val="0000FF"/>
                </a:solidFill>
                <a:latin typeface="Consolas" pitchFamily="49" charset="0"/>
                <a:ea typeface="仿宋" pitchFamily="49" charset="-122"/>
              </a:rPr>
              <a:t>是多少呢？</a:t>
            </a:r>
            <a:endParaRPr lang="zh-CN" altLang="en-US">
              <a:solidFill>
                <a:srgbClr val="0000FF"/>
              </a:solidFill>
              <a:latin typeface="Consolas" pitchFamily="49" charset="0"/>
              <a:ea typeface="仿宋" pitchFamily="49" charset="-122"/>
              <a:cs typeface="Consolas" pitchFamily="49" charset="0"/>
            </a:endParaRPr>
          </a:p>
        </p:txBody>
      </p:sp>
      <p:sp>
        <p:nvSpPr>
          <p:cNvPr id="28" name="TextBox 27"/>
          <p:cNvSpPr txBox="1"/>
          <p:nvPr/>
        </p:nvSpPr>
        <p:spPr>
          <a:xfrm>
            <a:off x="4643438" y="1521217"/>
            <a:ext cx="1500198" cy="400110"/>
          </a:xfrm>
          <a:prstGeom prst="rect">
            <a:avLst/>
          </a:prstGeom>
          <a:noFill/>
        </p:spPr>
        <p:txBody>
          <a:bodyPr wrap="square" rtlCol="0">
            <a:spAutoFit/>
          </a:bodyPr>
          <a:lstStyle/>
          <a:p>
            <a:pPr algn="l">
              <a:lnSpc>
                <a:spcPct val="100000"/>
              </a:lnSpc>
              <a:spcBef>
                <a:spcPts val="0"/>
              </a:spcBef>
            </a:pPr>
            <a:r>
              <a:rPr lang="zh-CN" altLang="zh-CN" sz="2000">
                <a:solidFill>
                  <a:srgbClr val="0000FF"/>
                </a:solidFill>
                <a:latin typeface="仿宋" pitchFamily="49" charset="-122"/>
                <a:ea typeface="仿宋" pitchFamily="49" charset="-122"/>
              </a:rPr>
              <a:t>一个水网</a:t>
            </a:r>
            <a:endParaRPr lang="zh-CN" altLang="en-US" sz="2000">
              <a:solidFill>
                <a:srgbClr val="0000FF"/>
              </a:solidFill>
              <a:latin typeface="仿宋" pitchFamily="49" charset="-122"/>
              <a:ea typeface="仿宋" pitchFamily="49" charset="-122"/>
              <a:cs typeface="Consolas" pitchFamily="49" charset="0"/>
            </a:endParaRPr>
          </a:p>
        </p:txBody>
      </p:sp>
      <p:pic>
        <p:nvPicPr>
          <p:cNvPr id="114689" name="Picture 1"/>
          <p:cNvPicPr>
            <a:picLocks noChangeAspect="1" noChangeArrowheads="1"/>
          </p:cNvPicPr>
          <p:nvPr/>
        </p:nvPicPr>
        <p:blipFill>
          <a:blip r:embed="rId3" cstate="print"/>
          <a:srcRect/>
          <a:stretch>
            <a:fillRect/>
          </a:stretch>
        </p:blipFill>
        <p:spPr bwMode="auto">
          <a:xfrm>
            <a:off x="141715" y="3419482"/>
            <a:ext cx="1644203" cy="165259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30" name="灯片编号占位符 29"/>
          <p:cNvSpPr>
            <a:spLocks noGrp="1"/>
          </p:cNvSpPr>
          <p:nvPr>
            <p:ph type="sldNum" sz="quarter" idx="12"/>
          </p:nvPr>
        </p:nvSpPr>
        <p:spPr/>
        <p:txBody>
          <a:bodyPr/>
          <a:lstStyle/>
          <a:p>
            <a:fld id="{7AF016A1-9F15-429F-9EFD-84004B73C732}" type="slidenum">
              <a:rPr lang="en-US" altLang="zh-CN" smtClean="0"/>
              <a:pPr/>
              <a:t>87</a:t>
            </a:fld>
            <a:r>
              <a:rPr lang="en-US" altLang="zh-CN"/>
              <a:t>/158</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7158" y="285728"/>
            <a:ext cx="4214842" cy="461665"/>
          </a:xfrm>
          <a:prstGeom prst="rect">
            <a:avLst/>
          </a:prstGeom>
          <a:noFill/>
        </p:spPr>
        <p:txBody>
          <a:bodyPr wrap="square" rtlCol="0">
            <a:spAutoFit/>
          </a:bodyPr>
          <a:lstStyle/>
          <a:p>
            <a:pPr algn="l">
              <a:lnSpc>
                <a:spcPct val="100000"/>
              </a:lnSpc>
              <a:spcBef>
                <a:spcPts val="0"/>
              </a:spcBef>
            </a:pPr>
            <a:r>
              <a:rPr lang="zh-CN" altLang="zh-CN">
                <a:solidFill>
                  <a:srgbClr val="FF0000"/>
                </a:solidFill>
                <a:latin typeface="微软雅黑" pitchFamily="34" charset="-122"/>
                <a:ea typeface="微软雅黑" pitchFamily="34" charset="-122"/>
              </a:rPr>
              <a:t>可以这样求最大流</a:t>
            </a:r>
            <a:r>
              <a:rPr lang="zh-CN" altLang="en-US">
                <a:solidFill>
                  <a:srgbClr val="FF0000"/>
                </a:solidFill>
                <a:latin typeface="微软雅黑" pitchFamily="34" charset="-122"/>
                <a:ea typeface="微软雅黑" pitchFamily="34" charset="-122"/>
              </a:rPr>
              <a:t>：</a:t>
            </a:r>
            <a:endParaRPr lang="zh-CN" altLang="en-US">
              <a:solidFill>
                <a:srgbClr val="FF0000"/>
              </a:solidFill>
              <a:latin typeface="微软雅黑" pitchFamily="34" charset="-122"/>
              <a:ea typeface="微软雅黑" pitchFamily="34" charset="-122"/>
              <a:cs typeface="Consolas" pitchFamily="49" charset="0"/>
            </a:endParaRPr>
          </a:p>
        </p:txBody>
      </p:sp>
      <p:grpSp>
        <p:nvGrpSpPr>
          <p:cNvPr id="4" name="组合 3"/>
          <p:cNvGrpSpPr/>
          <p:nvPr/>
        </p:nvGrpSpPr>
        <p:grpSpPr>
          <a:xfrm>
            <a:off x="448872" y="2031416"/>
            <a:ext cx="1908550" cy="3112096"/>
            <a:chOff x="3367692" y="3582009"/>
            <a:chExt cx="1908550" cy="3112096"/>
          </a:xfrm>
        </p:grpSpPr>
        <p:sp>
          <p:nvSpPr>
            <p:cNvPr id="5" name="Text Box 23"/>
            <p:cNvSpPr txBox="1">
              <a:spLocks noChangeArrowheads="1"/>
            </p:cNvSpPr>
            <p:nvPr/>
          </p:nvSpPr>
          <p:spPr bwMode="auto">
            <a:xfrm>
              <a:off x="3787168" y="3963263"/>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6" name="Text Box 22"/>
            <p:cNvSpPr txBox="1">
              <a:spLocks noChangeArrowheads="1"/>
            </p:cNvSpPr>
            <p:nvPr/>
          </p:nvSpPr>
          <p:spPr bwMode="auto">
            <a:xfrm>
              <a:off x="4798471" y="4005062"/>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7" name="Text Box 21"/>
            <p:cNvSpPr txBox="1">
              <a:spLocks noChangeArrowheads="1"/>
            </p:cNvSpPr>
            <p:nvPr/>
          </p:nvSpPr>
          <p:spPr bwMode="auto">
            <a:xfrm>
              <a:off x="4262404" y="4381249"/>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8" name="Text Box 20"/>
            <p:cNvSpPr txBox="1">
              <a:spLocks noChangeArrowheads="1"/>
            </p:cNvSpPr>
            <p:nvPr/>
          </p:nvSpPr>
          <p:spPr bwMode="auto">
            <a:xfrm>
              <a:off x="4365055" y="5053826"/>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9" name="Text Box 19"/>
            <p:cNvSpPr txBox="1">
              <a:spLocks noChangeArrowheads="1"/>
            </p:cNvSpPr>
            <p:nvPr/>
          </p:nvSpPr>
          <p:spPr bwMode="auto">
            <a:xfrm>
              <a:off x="5114028" y="5061426"/>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0" name="Text Box 18"/>
            <p:cNvSpPr txBox="1">
              <a:spLocks noChangeArrowheads="1"/>
            </p:cNvSpPr>
            <p:nvPr/>
          </p:nvSpPr>
          <p:spPr bwMode="auto">
            <a:xfrm>
              <a:off x="4714829" y="6041793"/>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1" name="Text Box 17"/>
            <p:cNvSpPr txBox="1">
              <a:spLocks noChangeArrowheads="1"/>
            </p:cNvSpPr>
            <p:nvPr/>
          </p:nvSpPr>
          <p:spPr bwMode="auto">
            <a:xfrm>
              <a:off x="3409513" y="5061426"/>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2" name="Text Box 16"/>
            <p:cNvSpPr txBox="1">
              <a:spLocks noChangeArrowheads="1"/>
            </p:cNvSpPr>
            <p:nvPr/>
          </p:nvSpPr>
          <p:spPr bwMode="auto">
            <a:xfrm>
              <a:off x="3704793" y="6037994"/>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3" name="Oval 15"/>
            <p:cNvSpPr>
              <a:spLocks noChangeArrowheads="1"/>
            </p:cNvSpPr>
            <p:nvPr/>
          </p:nvSpPr>
          <p:spPr bwMode="auto">
            <a:xfrm>
              <a:off x="4125536" y="3582009"/>
              <a:ext cx="395397" cy="430652"/>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0</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4" name="Oval 14"/>
            <p:cNvSpPr>
              <a:spLocks noChangeArrowheads="1"/>
            </p:cNvSpPr>
            <p:nvPr/>
          </p:nvSpPr>
          <p:spPr bwMode="auto">
            <a:xfrm>
              <a:off x="3367692" y="4469913"/>
              <a:ext cx="395397" cy="43065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5" name="Oval 13"/>
            <p:cNvSpPr>
              <a:spLocks noChangeArrowheads="1"/>
            </p:cNvSpPr>
            <p:nvPr/>
          </p:nvSpPr>
          <p:spPr bwMode="auto">
            <a:xfrm>
              <a:off x="4880845" y="4469913"/>
              <a:ext cx="395397" cy="43065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6" name="Oval 12"/>
            <p:cNvSpPr>
              <a:spLocks noChangeArrowheads="1"/>
            </p:cNvSpPr>
            <p:nvPr/>
          </p:nvSpPr>
          <p:spPr bwMode="auto">
            <a:xfrm>
              <a:off x="3367692" y="5489545"/>
              <a:ext cx="395397" cy="43191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8" name="Oval 11"/>
            <p:cNvSpPr>
              <a:spLocks noChangeArrowheads="1"/>
            </p:cNvSpPr>
            <p:nvPr/>
          </p:nvSpPr>
          <p:spPr bwMode="auto">
            <a:xfrm>
              <a:off x="4880845" y="5489545"/>
              <a:ext cx="395397" cy="43191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9" name="Oval 10"/>
            <p:cNvSpPr>
              <a:spLocks noChangeArrowheads="1"/>
            </p:cNvSpPr>
            <p:nvPr/>
          </p:nvSpPr>
          <p:spPr bwMode="auto">
            <a:xfrm>
              <a:off x="4125536" y="6263453"/>
              <a:ext cx="395397" cy="430652"/>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5</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0" name="AutoShape 9"/>
            <p:cNvSpPr>
              <a:spLocks noChangeShapeType="1"/>
            </p:cNvSpPr>
            <p:nvPr/>
          </p:nvSpPr>
          <p:spPr bwMode="auto">
            <a:xfrm flipH="1">
              <a:off x="3704793" y="3949330"/>
              <a:ext cx="479038" cy="58391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21" name="AutoShape 8"/>
            <p:cNvSpPr>
              <a:spLocks noChangeShapeType="1"/>
            </p:cNvSpPr>
            <p:nvPr/>
          </p:nvSpPr>
          <p:spPr bwMode="auto">
            <a:xfrm>
              <a:off x="4462637" y="3949330"/>
              <a:ext cx="476504" cy="58391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22" name="AutoShape 7"/>
            <p:cNvSpPr>
              <a:spLocks noChangeShapeType="1"/>
            </p:cNvSpPr>
            <p:nvPr/>
          </p:nvSpPr>
          <p:spPr bwMode="auto">
            <a:xfrm>
              <a:off x="3763089" y="4685239"/>
              <a:ext cx="1117756" cy="1267"/>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23" name="AutoShape 6"/>
            <p:cNvSpPr>
              <a:spLocks noChangeShapeType="1"/>
            </p:cNvSpPr>
            <p:nvPr/>
          </p:nvSpPr>
          <p:spPr bwMode="auto">
            <a:xfrm>
              <a:off x="3704793" y="4837234"/>
              <a:ext cx="1176052" cy="86890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24" name="AutoShape 5"/>
            <p:cNvSpPr>
              <a:spLocks noChangeShapeType="1"/>
            </p:cNvSpPr>
            <p:nvPr/>
          </p:nvSpPr>
          <p:spPr bwMode="auto">
            <a:xfrm>
              <a:off x="5078543" y="4900565"/>
              <a:ext cx="1267" cy="588980"/>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25" name="AutoShape 4"/>
            <p:cNvSpPr>
              <a:spLocks noChangeShapeType="1"/>
            </p:cNvSpPr>
            <p:nvPr/>
          </p:nvSpPr>
          <p:spPr bwMode="auto">
            <a:xfrm>
              <a:off x="3565391" y="4900565"/>
              <a:ext cx="1267" cy="588980"/>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26" name="AutoShape 3"/>
            <p:cNvSpPr>
              <a:spLocks noChangeShapeType="1"/>
            </p:cNvSpPr>
            <p:nvPr/>
          </p:nvSpPr>
          <p:spPr bwMode="auto">
            <a:xfrm>
              <a:off x="3704793" y="5858133"/>
              <a:ext cx="479038" cy="468651"/>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27" name="AutoShape 2"/>
            <p:cNvSpPr>
              <a:spLocks noChangeShapeType="1"/>
            </p:cNvSpPr>
            <p:nvPr/>
          </p:nvSpPr>
          <p:spPr bwMode="auto">
            <a:xfrm flipH="1">
              <a:off x="4462637" y="5858133"/>
              <a:ext cx="476504" cy="468651"/>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grpSp>
      <p:sp>
        <p:nvSpPr>
          <p:cNvPr id="28" name="TextBox 27"/>
          <p:cNvSpPr txBox="1"/>
          <p:nvPr/>
        </p:nvSpPr>
        <p:spPr>
          <a:xfrm>
            <a:off x="2592012" y="2888672"/>
            <a:ext cx="3714776" cy="707886"/>
          </a:xfrm>
          <a:prstGeom prst="rect">
            <a:avLst/>
          </a:prstGeom>
          <a:noFill/>
        </p:spPr>
        <p:txBody>
          <a:bodyPr wrap="square" rtlCol="0">
            <a:spAutoFit/>
          </a:bodyPr>
          <a:lstStyle/>
          <a:p>
            <a:pPr algn="l">
              <a:lnSpc>
                <a:spcPct val="100000"/>
              </a:lnSpc>
              <a:spcBef>
                <a:spcPts val="0"/>
              </a:spcBef>
            </a:pPr>
            <a:r>
              <a:rPr lang="zh-CN" altLang="zh-CN" sz="2000">
                <a:solidFill>
                  <a:srgbClr val="0000FF"/>
                </a:solidFill>
                <a:latin typeface="Consolas" pitchFamily="49" charset="0"/>
                <a:ea typeface="仿宋" pitchFamily="49" charset="-122"/>
              </a:rPr>
              <a:t>找到的一条从源点</a:t>
            </a:r>
            <a:r>
              <a:rPr lang="en-US" altLang="zh-CN" sz="2000">
                <a:solidFill>
                  <a:srgbClr val="0000FF"/>
                </a:solidFill>
                <a:latin typeface="Consolas" pitchFamily="49" charset="0"/>
                <a:ea typeface="仿宋" pitchFamily="49" charset="-122"/>
              </a:rPr>
              <a:t>0</a:t>
            </a:r>
            <a:r>
              <a:rPr lang="zh-CN" altLang="zh-CN" sz="2000">
                <a:solidFill>
                  <a:srgbClr val="0000FF"/>
                </a:solidFill>
                <a:latin typeface="Consolas" pitchFamily="49" charset="0"/>
                <a:ea typeface="仿宋" pitchFamily="49" charset="-122"/>
              </a:rPr>
              <a:t>到汇点</a:t>
            </a:r>
            <a:r>
              <a:rPr lang="en-US" altLang="zh-CN" sz="2000">
                <a:solidFill>
                  <a:srgbClr val="0000FF"/>
                </a:solidFill>
                <a:latin typeface="Consolas" pitchFamily="49" charset="0"/>
                <a:ea typeface="仿宋" pitchFamily="49" charset="-122"/>
              </a:rPr>
              <a:t>5</a:t>
            </a:r>
            <a:r>
              <a:rPr lang="zh-CN" altLang="zh-CN" sz="2000">
                <a:solidFill>
                  <a:srgbClr val="0000FF"/>
                </a:solidFill>
                <a:latin typeface="Consolas" pitchFamily="49" charset="0"/>
                <a:ea typeface="仿宋" pitchFamily="49" charset="-122"/>
              </a:rPr>
              <a:t>的一条增广路径是</a:t>
            </a:r>
            <a:r>
              <a:rPr lang="en-US" altLang="zh-CN" sz="2000">
                <a:solidFill>
                  <a:srgbClr val="0000FF"/>
                </a:solidFill>
                <a:latin typeface="Consolas" pitchFamily="49" charset="0"/>
                <a:ea typeface="仿宋" pitchFamily="49" charset="-122"/>
              </a:rPr>
              <a:t>0</a:t>
            </a:r>
            <a:r>
              <a:rPr lang="zh-CN" altLang="zh-CN" sz="2000">
                <a:solidFill>
                  <a:srgbClr val="0000FF"/>
                </a:solidFill>
                <a:latin typeface="Consolas" pitchFamily="49" charset="0"/>
                <a:ea typeface="仿宋" pitchFamily="49" charset="-122"/>
              </a:rPr>
              <a:t>→</a:t>
            </a:r>
            <a:r>
              <a:rPr lang="en-US" altLang="zh-CN" sz="2000">
                <a:solidFill>
                  <a:srgbClr val="0000FF"/>
                </a:solidFill>
                <a:latin typeface="Consolas" pitchFamily="49" charset="0"/>
                <a:ea typeface="仿宋" pitchFamily="49" charset="-122"/>
              </a:rPr>
              <a:t>2</a:t>
            </a:r>
            <a:r>
              <a:rPr lang="zh-CN" altLang="zh-CN" sz="2000">
                <a:solidFill>
                  <a:srgbClr val="0000FF"/>
                </a:solidFill>
                <a:latin typeface="Consolas" pitchFamily="49" charset="0"/>
                <a:ea typeface="仿宋" pitchFamily="49" charset="-122"/>
              </a:rPr>
              <a:t>→</a:t>
            </a:r>
            <a:r>
              <a:rPr lang="en-US" altLang="zh-CN" sz="2000">
                <a:solidFill>
                  <a:srgbClr val="0000FF"/>
                </a:solidFill>
                <a:latin typeface="Consolas" pitchFamily="49" charset="0"/>
                <a:ea typeface="仿宋" pitchFamily="49" charset="-122"/>
              </a:rPr>
              <a:t>4</a:t>
            </a:r>
            <a:r>
              <a:rPr lang="zh-CN" altLang="zh-CN" sz="2000">
                <a:solidFill>
                  <a:srgbClr val="0000FF"/>
                </a:solidFill>
                <a:latin typeface="Consolas" pitchFamily="49" charset="0"/>
                <a:ea typeface="仿宋" pitchFamily="49" charset="-122"/>
              </a:rPr>
              <a:t>→</a:t>
            </a:r>
            <a:r>
              <a:rPr lang="en-US" altLang="zh-CN" sz="2000">
                <a:solidFill>
                  <a:srgbClr val="0000FF"/>
                </a:solidFill>
                <a:latin typeface="Consolas" pitchFamily="49" charset="0"/>
                <a:ea typeface="仿宋" pitchFamily="49" charset="-122"/>
              </a:rPr>
              <a:t>5</a:t>
            </a:r>
            <a:endParaRPr lang="zh-CN" altLang="en-US" sz="2000">
              <a:solidFill>
                <a:srgbClr val="0000FF"/>
              </a:solidFill>
              <a:latin typeface="Consolas" pitchFamily="49" charset="0"/>
              <a:ea typeface="仿宋" pitchFamily="49" charset="-122"/>
              <a:cs typeface="Consolas" pitchFamily="49" charset="0"/>
            </a:endParaRPr>
          </a:p>
        </p:txBody>
      </p:sp>
      <p:grpSp>
        <p:nvGrpSpPr>
          <p:cNvPr id="29" name="组合 28"/>
          <p:cNvGrpSpPr/>
          <p:nvPr/>
        </p:nvGrpSpPr>
        <p:grpSpPr>
          <a:xfrm>
            <a:off x="6163912" y="2031416"/>
            <a:ext cx="1908550" cy="3112096"/>
            <a:chOff x="3367692" y="3582009"/>
            <a:chExt cx="1908550" cy="3112096"/>
          </a:xfrm>
        </p:grpSpPr>
        <p:sp>
          <p:nvSpPr>
            <p:cNvPr id="30" name="Text Box 23"/>
            <p:cNvSpPr txBox="1">
              <a:spLocks noChangeArrowheads="1"/>
            </p:cNvSpPr>
            <p:nvPr/>
          </p:nvSpPr>
          <p:spPr bwMode="auto">
            <a:xfrm>
              <a:off x="3787168" y="3963263"/>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1" name="Text Box 22"/>
            <p:cNvSpPr txBox="1">
              <a:spLocks noChangeArrowheads="1"/>
            </p:cNvSpPr>
            <p:nvPr/>
          </p:nvSpPr>
          <p:spPr bwMode="auto">
            <a:xfrm>
              <a:off x="4798471" y="4005062"/>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2" name="Text Box 21"/>
            <p:cNvSpPr txBox="1">
              <a:spLocks noChangeArrowheads="1"/>
            </p:cNvSpPr>
            <p:nvPr/>
          </p:nvSpPr>
          <p:spPr bwMode="auto">
            <a:xfrm>
              <a:off x="4262404" y="4381249"/>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3" name="Text Box 20"/>
            <p:cNvSpPr txBox="1">
              <a:spLocks noChangeArrowheads="1"/>
            </p:cNvSpPr>
            <p:nvPr/>
          </p:nvSpPr>
          <p:spPr bwMode="auto">
            <a:xfrm>
              <a:off x="4365055" y="5053826"/>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4" name="Text Box 19"/>
            <p:cNvSpPr txBox="1">
              <a:spLocks noChangeArrowheads="1"/>
            </p:cNvSpPr>
            <p:nvPr/>
          </p:nvSpPr>
          <p:spPr bwMode="auto">
            <a:xfrm>
              <a:off x="5114028" y="5061426"/>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5" name="Text Box 18"/>
            <p:cNvSpPr txBox="1">
              <a:spLocks noChangeArrowheads="1"/>
            </p:cNvSpPr>
            <p:nvPr/>
          </p:nvSpPr>
          <p:spPr bwMode="auto">
            <a:xfrm>
              <a:off x="4714829" y="6041793"/>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6" name="Text Box 17"/>
            <p:cNvSpPr txBox="1">
              <a:spLocks noChangeArrowheads="1"/>
            </p:cNvSpPr>
            <p:nvPr/>
          </p:nvSpPr>
          <p:spPr bwMode="auto">
            <a:xfrm>
              <a:off x="3409513" y="5061426"/>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7" name="Text Box 16"/>
            <p:cNvSpPr txBox="1">
              <a:spLocks noChangeArrowheads="1"/>
            </p:cNvSpPr>
            <p:nvPr/>
          </p:nvSpPr>
          <p:spPr bwMode="auto">
            <a:xfrm>
              <a:off x="3704793" y="6037994"/>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8" name="Oval 15"/>
            <p:cNvSpPr>
              <a:spLocks noChangeArrowheads="1"/>
            </p:cNvSpPr>
            <p:nvPr/>
          </p:nvSpPr>
          <p:spPr bwMode="auto">
            <a:xfrm>
              <a:off x="4125536" y="3582009"/>
              <a:ext cx="395397" cy="430652"/>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0</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9" name="Oval 14"/>
            <p:cNvSpPr>
              <a:spLocks noChangeArrowheads="1"/>
            </p:cNvSpPr>
            <p:nvPr/>
          </p:nvSpPr>
          <p:spPr bwMode="auto">
            <a:xfrm>
              <a:off x="3367692" y="4469913"/>
              <a:ext cx="395397" cy="43065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40" name="Oval 13"/>
            <p:cNvSpPr>
              <a:spLocks noChangeArrowheads="1"/>
            </p:cNvSpPr>
            <p:nvPr/>
          </p:nvSpPr>
          <p:spPr bwMode="auto">
            <a:xfrm>
              <a:off x="4880845" y="4469913"/>
              <a:ext cx="395397" cy="43065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41" name="Oval 12"/>
            <p:cNvSpPr>
              <a:spLocks noChangeArrowheads="1"/>
            </p:cNvSpPr>
            <p:nvPr/>
          </p:nvSpPr>
          <p:spPr bwMode="auto">
            <a:xfrm>
              <a:off x="3367692" y="5489545"/>
              <a:ext cx="395397" cy="43191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42" name="Oval 11"/>
            <p:cNvSpPr>
              <a:spLocks noChangeArrowheads="1"/>
            </p:cNvSpPr>
            <p:nvPr/>
          </p:nvSpPr>
          <p:spPr bwMode="auto">
            <a:xfrm>
              <a:off x="4880845" y="5489545"/>
              <a:ext cx="395397" cy="43191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43" name="Oval 10"/>
            <p:cNvSpPr>
              <a:spLocks noChangeArrowheads="1"/>
            </p:cNvSpPr>
            <p:nvPr/>
          </p:nvSpPr>
          <p:spPr bwMode="auto">
            <a:xfrm>
              <a:off x="4125536" y="6263453"/>
              <a:ext cx="395397" cy="430652"/>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5</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44" name="AutoShape 9"/>
            <p:cNvSpPr>
              <a:spLocks noChangeShapeType="1"/>
            </p:cNvSpPr>
            <p:nvPr/>
          </p:nvSpPr>
          <p:spPr bwMode="auto">
            <a:xfrm flipH="1">
              <a:off x="3704793" y="3949330"/>
              <a:ext cx="479038" cy="58391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45" name="AutoShape 8"/>
            <p:cNvSpPr>
              <a:spLocks noChangeShapeType="1"/>
            </p:cNvSpPr>
            <p:nvPr/>
          </p:nvSpPr>
          <p:spPr bwMode="auto">
            <a:xfrm>
              <a:off x="4462637" y="3949330"/>
              <a:ext cx="476504" cy="583914"/>
            </a:xfrm>
            <a:prstGeom prst="straightConnector1">
              <a:avLst/>
            </a:prstGeom>
            <a:noFill/>
            <a:ln w="19050">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46" name="AutoShape 7"/>
            <p:cNvSpPr>
              <a:spLocks noChangeShapeType="1"/>
            </p:cNvSpPr>
            <p:nvPr/>
          </p:nvSpPr>
          <p:spPr bwMode="auto">
            <a:xfrm>
              <a:off x="3763089" y="4685239"/>
              <a:ext cx="1117756" cy="1267"/>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47" name="AutoShape 6"/>
            <p:cNvSpPr>
              <a:spLocks noChangeShapeType="1"/>
            </p:cNvSpPr>
            <p:nvPr/>
          </p:nvSpPr>
          <p:spPr bwMode="auto">
            <a:xfrm>
              <a:off x="3704793" y="4837234"/>
              <a:ext cx="1176052" cy="86890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48" name="AutoShape 5"/>
            <p:cNvSpPr>
              <a:spLocks noChangeShapeType="1"/>
            </p:cNvSpPr>
            <p:nvPr/>
          </p:nvSpPr>
          <p:spPr bwMode="auto">
            <a:xfrm>
              <a:off x="5078543" y="4900565"/>
              <a:ext cx="1267" cy="588980"/>
            </a:xfrm>
            <a:prstGeom prst="straightConnector1">
              <a:avLst/>
            </a:prstGeom>
            <a:noFill/>
            <a:ln w="19050">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49" name="AutoShape 4"/>
            <p:cNvSpPr>
              <a:spLocks noChangeShapeType="1"/>
            </p:cNvSpPr>
            <p:nvPr/>
          </p:nvSpPr>
          <p:spPr bwMode="auto">
            <a:xfrm>
              <a:off x="3565391" y="4900565"/>
              <a:ext cx="1267" cy="588980"/>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50" name="AutoShape 3"/>
            <p:cNvSpPr>
              <a:spLocks noChangeShapeType="1"/>
            </p:cNvSpPr>
            <p:nvPr/>
          </p:nvSpPr>
          <p:spPr bwMode="auto">
            <a:xfrm>
              <a:off x="3704793" y="5858133"/>
              <a:ext cx="479038" cy="468651"/>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51" name="AutoShape 2"/>
            <p:cNvSpPr>
              <a:spLocks noChangeShapeType="1"/>
            </p:cNvSpPr>
            <p:nvPr/>
          </p:nvSpPr>
          <p:spPr bwMode="auto">
            <a:xfrm flipH="1">
              <a:off x="4462637" y="5858133"/>
              <a:ext cx="476504" cy="468651"/>
            </a:xfrm>
            <a:prstGeom prst="straightConnector1">
              <a:avLst/>
            </a:prstGeom>
            <a:noFill/>
            <a:ln w="19050">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grpSp>
      <p:sp>
        <p:nvSpPr>
          <p:cNvPr id="52" name="右箭头 51"/>
          <p:cNvSpPr/>
          <p:nvPr/>
        </p:nvSpPr>
        <p:spPr>
          <a:xfrm>
            <a:off x="2663450" y="3674490"/>
            <a:ext cx="3286148" cy="214314"/>
          </a:xfrm>
          <a:prstGeom prst="right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53" name="TextBox 52"/>
          <p:cNvSpPr txBox="1"/>
          <p:nvPr/>
        </p:nvSpPr>
        <p:spPr>
          <a:xfrm>
            <a:off x="571472" y="1071546"/>
            <a:ext cx="1714512" cy="430887"/>
          </a:xfrm>
          <a:prstGeom prst="rect">
            <a:avLst/>
          </a:prstGeom>
          <a:noFill/>
        </p:spPr>
        <p:txBody>
          <a:bodyPr wrap="square" rtlCol="0">
            <a:spAutoFit/>
          </a:bodyPr>
          <a:lstStyle/>
          <a:p>
            <a:pPr algn="l">
              <a:lnSpc>
                <a:spcPct val="100000"/>
              </a:lnSpc>
              <a:spcBef>
                <a:spcPts val="0"/>
              </a:spcBef>
            </a:pPr>
            <a:r>
              <a:rPr lang="zh-CN" altLang="zh-CN" sz="2200">
                <a:solidFill>
                  <a:srgbClr val="0000FF"/>
                </a:solidFill>
                <a:latin typeface="楷体" pitchFamily="49" charset="-122"/>
                <a:ea typeface="楷体" pitchFamily="49" charset="-122"/>
              </a:rPr>
              <a:t>第一轮循环</a:t>
            </a:r>
            <a:endParaRPr lang="zh-CN" altLang="en-US" sz="2200">
              <a:solidFill>
                <a:srgbClr val="0000FF"/>
              </a:solidFill>
              <a:latin typeface="楷体" pitchFamily="49" charset="-122"/>
              <a:ea typeface="楷体" pitchFamily="49" charset="-122"/>
              <a:cs typeface="Consolas" pitchFamily="49" charset="0"/>
            </a:endParaRPr>
          </a:p>
        </p:txBody>
      </p:sp>
      <p:sp>
        <p:nvSpPr>
          <p:cNvPr id="55" name="灯片编号占位符 54"/>
          <p:cNvSpPr>
            <a:spLocks noGrp="1"/>
          </p:cNvSpPr>
          <p:nvPr>
            <p:ph type="sldNum" sz="quarter" idx="12"/>
          </p:nvPr>
        </p:nvSpPr>
        <p:spPr/>
        <p:txBody>
          <a:bodyPr/>
          <a:lstStyle/>
          <a:p>
            <a:fld id="{7AF016A1-9F15-429F-9EFD-84004B73C732}" type="slidenum">
              <a:rPr lang="en-US" altLang="zh-CN" smtClean="0"/>
              <a:pPr/>
              <a:t>88</a:t>
            </a:fld>
            <a:r>
              <a:rPr lang="en-US" altLang="zh-CN"/>
              <a:t>/158</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14282" y="857232"/>
            <a:ext cx="1908550" cy="3112096"/>
            <a:chOff x="3367692" y="3582009"/>
            <a:chExt cx="1908550" cy="3112096"/>
          </a:xfrm>
        </p:grpSpPr>
        <p:sp>
          <p:nvSpPr>
            <p:cNvPr id="4" name="Text Box 23"/>
            <p:cNvSpPr txBox="1">
              <a:spLocks noChangeArrowheads="1"/>
            </p:cNvSpPr>
            <p:nvPr/>
          </p:nvSpPr>
          <p:spPr bwMode="auto">
            <a:xfrm>
              <a:off x="3787168" y="3963263"/>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 name="Text Box 22"/>
            <p:cNvSpPr txBox="1">
              <a:spLocks noChangeArrowheads="1"/>
            </p:cNvSpPr>
            <p:nvPr/>
          </p:nvSpPr>
          <p:spPr bwMode="auto">
            <a:xfrm>
              <a:off x="4798471" y="4005062"/>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6" name="Text Box 21"/>
            <p:cNvSpPr txBox="1">
              <a:spLocks noChangeArrowheads="1"/>
            </p:cNvSpPr>
            <p:nvPr/>
          </p:nvSpPr>
          <p:spPr bwMode="auto">
            <a:xfrm>
              <a:off x="4262404" y="4381249"/>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7" name="Text Box 20"/>
            <p:cNvSpPr txBox="1">
              <a:spLocks noChangeArrowheads="1"/>
            </p:cNvSpPr>
            <p:nvPr/>
          </p:nvSpPr>
          <p:spPr bwMode="auto">
            <a:xfrm>
              <a:off x="4365055" y="5053826"/>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8" name="Text Box 19"/>
            <p:cNvSpPr txBox="1">
              <a:spLocks noChangeArrowheads="1"/>
            </p:cNvSpPr>
            <p:nvPr/>
          </p:nvSpPr>
          <p:spPr bwMode="auto">
            <a:xfrm>
              <a:off x="5114028" y="5061426"/>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9" name="Text Box 18"/>
            <p:cNvSpPr txBox="1">
              <a:spLocks noChangeArrowheads="1"/>
            </p:cNvSpPr>
            <p:nvPr/>
          </p:nvSpPr>
          <p:spPr bwMode="auto">
            <a:xfrm>
              <a:off x="4714829" y="6041793"/>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0" name="Text Box 17"/>
            <p:cNvSpPr txBox="1">
              <a:spLocks noChangeArrowheads="1"/>
            </p:cNvSpPr>
            <p:nvPr/>
          </p:nvSpPr>
          <p:spPr bwMode="auto">
            <a:xfrm>
              <a:off x="3409513" y="5061426"/>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1" name="Text Box 16"/>
            <p:cNvSpPr txBox="1">
              <a:spLocks noChangeArrowheads="1"/>
            </p:cNvSpPr>
            <p:nvPr/>
          </p:nvSpPr>
          <p:spPr bwMode="auto">
            <a:xfrm>
              <a:off x="3704793" y="6037994"/>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2" name="Oval 15"/>
            <p:cNvSpPr>
              <a:spLocks noChangeArrowheads="1"/>
            </p:cNvSpPr>
            <p:nvPr/>
          </p:nvSpPr>
          <p:spPr bwMode="auto">
            <a:xfrm>
              <a:off x="4125536" y="3582009"/>
              <a:ext cx="395397" cy="430652"/>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0</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3" name="Oval 14"/>
            <p:cNvSpPr>
              <a:spLocks noChangeArrowheads="1"/>
            </p:cNvSpPr>
            <p:nvPr/>
          </p:nvSpPr>
          <p:spPr bwMode="auto">
            <a:xfrm>
              <a:off x="3367692" y="4469913"/>
              <a:ext cx="395397" cy="43065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4" name="Oval 13"/>
            <p:cNvSpPr>
              <a:spLocks noChangeArrowheads="1"/>
            </p:cNvSpPr>
            <p:nvPr/>
          </p:nvSpPr>
          <p:spPr bwMode="auto">
            <a:xfrm>
              <a:off x="4880845" y="4469913"/>
              <a:ext cx="395397" cy="43065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5" name="Oval 12"/>
            <p:cNvSpPr>
              <a:spLocks noChangeArrowheads="1"/>
            </p:cNvSpPr>
            <p:nvPr/>
          </p:nvSpPr>
          <p:spPr bwMode="auto">
            <a:xfrm>
              <a:off x="3367692" y="5489545"/>
              <a:ext cx="395397" cy="43191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6" name="Oval 11"/>
            <p:cNvSpPr>
              <a:spLocks noChangeArrowheads="1"/>
            </p:cNvSpPr>
            <p:nvPr/>
          </p:nvSpPr>
          <p:spPr bwMode="auto">
            <a:xfrm>
              <a:off x="4880845" y="5489545"/>
              <a:ext cx="395397" cy="43191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8" name="Oval 10"/>
            <p:cNvSpPr>
              <a:spLocks noChangeArrowheads="1"/>
            </p:cNvSpPr>
            <p:nvPr/>
          </p:nvSpPr>
          <p:spPr bwMode="auto">
            <a:xfrm>
              <a:off x="4125536" y="6263453"/>
              <a:ext cx="395397" cy="430652"/>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5</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9" name="AutoShape 9"/>
            <p:cNvSpPr>
              <a:spLocks noChangeShapeType="1"/>
            </p:cNvSpPr>
            <p:nvPr/>
          </p:nvSpPr>
          <p:spPr bwMode="auto">
            <a:xfrm flipH="1">
              <a:off x="3704793" y="3949330"/>
              <a:ext cx="479038" cy="58391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20" name="AutoShape 8"/>
            <p:cNvSpPr>
              <a:spLocks noChangeShapeType="1"/>
            </p:cNvSpPr>
            <p:nvPr/>
          </p:nvSpPr>
          <p:spPr bwMode="auto">
            <a:xfrm>
              <a:off x="4462637" y="3949330"/>
              <a:ext cx="476504" cy="583914"/>
            </a:xfrm>
            <a:prstGeom prst="straightConnector1">
              <a:avLst/>
            </a:prstGeom>
            <a:noFill/>
            <a:ln w="19050">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21" name="AutoShape 7"/>
            <p:cNvSpPr>
              <a:spLocks noChangeShapeType="1"/>
            </p:cNvSpPr>
            <p:nvPr/>
          </p:nvSpPr>
          <p:spPr bwMode="auto">
            <a:xfrm>
              <a:off x="3763089" y="4685239"/>
              <a:ext cx="1117756" cy="1267"/>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22" name="AutoShape 6"/>
            <p:cNvSpPr>
              <a:spLocks noChangeShapeType="1"/>
            </p:cNvSpPr>
            <p:nvPr/>
          </p:nvSpPr>
          <p:spPr bwMode="auto">
            <a:xfrm>
              <a:off x="3704793" y="4837234"/>
              <a:ext cx="1176052" cy="86890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23" name="AutoShape 5"/>
            <p:cNvSpPr>
              <a:spLocks noChangeShapeType="1"/>
            </p:cNvSpPr>
            <p:nvPr/>
          </p:nvSpPr>
          <p:spPr bwMode="auto">
            <a:xfrm>
              <a:off x="5078543" y="4900565"/>
              <a:ext cx="1267" cy="588980"/>
            </a:xfrm>
            <a:prstGeom prst="straightConnector1">
              <a:avLst/>
            </a:prstGeom>
            <a:noFill/>
            <a:ln w="19050">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24" name="AutoShape 4"/>
            <p:cNvSpPr>
              <a:spLocks noChangeShapeType="1"/>
            </p:cNvSpPr>
            <p:nvPr/>
          </p:nvSpPr>
          <p:spPr bwMode="auto">
            <a:xfrm>
              <a:off x="3565391" y="4900565"/>
              <a:ext cx="1267" cy="588980"/>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25" name="AutoShape 3"/>
            <p:cNvSpPr>
              <a:spLocks noChangeShapeType="1"/>
            </p:cNvSpPr>
            <p:nvPr/>
          </p:nvSpPr>
          <p:spPr bwMode="auto">
            <a:xfrm>
              <a:off x="3704793" y="5858133"/>
              <a:ext cx="479038" cy="468651"/>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26" name="AutoShape 2"/>
            <p:cNvSpPr>
              <a:spLocks noChangeShapeType="1"/>
            </p:cNvSpPr>
            <p:nvPr/>
          </p:nvSpPr>
          <p:spPr bwMode="auto">
            <a:xfrm flipH="1">
              <a:off x="4462637" y="5858133"/>
              <a:ext cx="476504" cy="468651"/>
            </a:xfrm>
            <a:prstGeom prst="straightConnector1">
              <a:avLst/>
            </a:prstGeom>
            <a:noFill/>
            <a:ln w="19050">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grpSp>
      <p:sp>
        <p:nvSpPr>
          <p:cNvPr id="27" name="TextBox 26"/>
          <p:cNvSpPr txBox="1"/>
          <p:nvPr/>
        </p:nvSpPr>
        <p:spPr>
          <a:xfrm>
            <a:off x="2357422" y="1357298"/>
            <a:ext cx="4214842" cy="1323439"/>
          </a:xfrm>
          <a:prstGeom prst="rect">
            <a:avLst/>
          </a:prstGeom>
          <a:noFill/>
        </p:spPr>
        <p:txBody>
          <a:bodyPr wrap="square" rtlCol="0">
            <a:spAutoFit/>
          </a:bodyPr>
          <a:lstStyle/>
          <a:p>
            <a:pPr algn="l">
              <a:lnSpc>
                <a:spcPct val="100000"/>
              </a:lnSpc>
              <a:spcBef>
                <a:spcPts val="0"/>
              </a:spcBef>
            </a:pPr>
            <a:r>
              <a:rPr lang="zh-CN" altLang="zh-CN" sz="2000">
                <a:solidFill>
                  <a:srgbClr val="0000FF"/>
                </a:solidFill>
                <a:latin typeface="Consolas" pitchFamily="49" charset="0"/>
                <a:ea typeface="仿宋" pitchFamily="49" charset="-122"/>
              </a:rPr>
              <a:t>路径中边的最小容量为</a:t>
            </a:r>
            <a:r>
              <a:rPr lang="en-US" altLang="zh-CN" sz="2000">
                <a:solidFill>
                  <a:srgbClr val="0000FF"/>
                </a:solidFill>
                <a:latin typeface="Consolas" pitchFamily="49" charset="0"/>
                <a:ea typeface="仿宋" pitchFamily="49" charset="-122"/>
              </a:rPr>
              <a:t>2</a:t>
            </a:r>
            <a:r>
              <a:rPr lang="zh-CN" altLang="zh-CN" sz="2000">
                <a:solidFill>
                  <a:srgbClr val="0000FF"/>
                </a:solidFill>
                <a:latin typeface="Consolas" pitchFamily="49" charset="0"/>
                <a:ea typeface="仿宋" pitchFamily="49" charset="-122"/>
              </a:rPr>
              <a:t>，将该路径上所有边的容量减去</a:t>
            </a:r>
            <a:r>
              <a:rPr lang="en-US" altLang="zh-CN" sz="2000">
                <a:solidFill>
                  <a:srgbClr val="0000FF"/>
                </a:solidFill>
                <a:latin typeface="Consolas" pitchFamily="49" charset="0"/>
                <a:ea typeface="仿宋" pitchFamily="49" charset="-122"/>
              </a:rPr>
              <a:t>2</a:t>
            </a:r>
            <a:r>
              <a:rPr lang="zh-CN" altLang="zh-CN" sz="2000">
                <a:solidFill>
                  <a:srgbClr val="0000FF"/>
                </a:solidFill>
                <a:latin typeface="Consolas" pitchFamily="49" charset="0"/>
                <a:ea typeface="仿宋" pitchFamily="49" charset="-122"/>
              </a:rPr>
              <a:t>，得到对应边的剩余容量，其中两条边的剩余容量为</a:t>
            </a:r>
            <a:r>
              <a:rPr lang="en-US" altLang="zh-CN" sz="2000">
                <a:solidFill>
                  <a:srgbClr val="0000FF"/>
                </a:solidFill>
                <a:latin typeface="Consolas" pitchFamily="49" charset="0"/>
                <a:ea typeface="仿宋" pitchFamily="49" charset="-122"/>
              </a:rPr>
              <a:t>0</a:t>
            </a:r>
            <a:r>
              <a:rPr lang="zh-CN" altLang="zh-CN" sz="2000">
                <a:solidFill>
                  <a:srgbClr val="0000FF"/>
                </a:solidFill>
                <a:latin typeface="Consolas" pitchFamily="49" charset="0"/>
                <a:ea typeface="仿宋" pitchFamily="49" charset="-122"/>
              </a:rPr>
              <a:t>即饱和边，将饱和边移去</a:t>
            </a:r>
            <a:endParaRPr lang="zh-CN" altLang="en-US" sz="2000">
              <a:solidFill>
                <a:srgbClr val="0000FF"/>
              </a:solidFill>
              <a:latin typeface="Consolas" pitchFamily="49" charset="0"/>
              <a:ea typeface="仿宋" pitchFamily="49" charset="-122"/>
              <a:cs typeface="Consolas" pitchFamily="49" charset="0"/>
            </a:endParaRPr>
          </a:p>
        </p:txBody>
      </p:sp>
      <p:grpSp>
        <p:nvGrpSpPr>
          <p:cNvPr id="28" name="组合 27"/>
          <p:cNvGrpSpPr/>
          <p:nvPr/>
        </p:nvGrpSpPr>
        <p:grpSpPr>
          <a:xfrm>
            <a:off x="6643702" y="785794"/>
            <a:ext cx="1908550" cy="3112096"/>
            <a:chOff x="3367692" y="3582009"/>
            <a:chExt cx="1908550" cy="3112096"/>
          </a:xfrm>
        </p:grpSpPr>
        <p:sp>
          <p:nvSpPr>
            <p:cNvPr id="29" name="Text Box 23"/>
            <p:cNvSpPr txBox="1">
              <a:spLocks noChangeArrowheads="1"/>
            </p:cNvSpPr>
            <p:nvPr/>
          </p:nvSpPr>
          <p:spPr bwMode="auto">
            <a:xfrm>
              <a:off x="3787168" y="3963263"/>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1" name="Text Box 21"/>
            <p:cNvSpPr txBox="1">
              <a:spLocks noChangeArrowheads="1"/>
            </p:cNvSpPr>
            <p:nvPr/>
          </p:nvSpPr>
          <p:spPr bwMode="auto">
            <a:xfrm>
              <a:off x="4262404" y="4381249"/>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2" name="Text Box 20"/>
            <p:cNvSpPr txBox="1">
              <a:spLocks noChangeArrowheads="1"/>
            </p:cNvSpPr>
            <p:nvPr/>
          </p:nvSpPr>
          <p:spPr bwMode="auto">
            <a:xfrm>
              <a:off x="4365055" y="5053826"/>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4" name="Text Box 18"/>
            <p:cNvSpPr txBox="1">
              <a:spLocks noChangeArrowheads="1"/>
            </p:cNvSpPr>
            <p:nvPr/>
          </p:nvSpPr>
          <p:spPr bwMode="auto">
            <a:xfrm>
              <a:off x="4714829" y="6041793"/>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0000FF"/>
                  </a:solidFill>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5" name="Text Box 17"/>
            <p:cNvSpPr txBox="1">
              <a:spLocks noChangeArrowheads="1"/>
            </p:cNvSpPr>
            <p:nvPr/>
          </p:nvSpPr>
          <p:spPr bwMode="auto">
            <a:xfrm>
              <a:off x="3409513" y="5061426"/>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6" name="Text Box 16"/>
            <p:cNvSpPr txBox="1">
              <a:spLocks noChangeArrowheads="1"/>
            </p:cNvSpPr>
            <p:nvPr/>
          </p:nvSpPr>
          <p:spPr bwMode="auto">
            <a:xfrm>
              <a:off x="3704793" y="6037994"/>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7" name="Oval 15"/>
            <p:cNvSpPr>
              <a:spLocks noChangeArrowheads="1"/>
            </p:cNvSpPr>
            <p:nvPr/>
          </p:nvSpPr>
          <p:spPr bwMode="auto">
            <a:xfrm>
              <a:off x="4125536" y="3582009"/>
              <a:ext cx="395397" cy="430652"/>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0</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8" name="Oval 14"/>
            <p:cNvSpPr>
              <a:spLocks noChangeArrowheads="1"/>
            </p:cNvSpPr>
            <p:nvPr/>
          </p:nvSpPr>
          <p:spPr bwMode="auto">
            <a:xfrm>
              <a:off x="3367692" y="4469913"/>
              <a:ext cx="395397" cy="43065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9" name="Oval 13"/>
            <p:cNvSpPr>
              <a:spLocks noChangeArrowheads="1"/>
            </p:cNvSpPr>
            <p:nvPr/>
          </p:nvSpPr>
          <p:spPr bwMode="auto">
            <a:xfrm>
              <a:off x="4880845" y="4469913"/>
              <a:ext cx="395397" cy="43065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40" name="Oval 12"/>
            <p:cNvSpPr>
              <a:spLocks noChangeArrowheads="1"/>
            </p:cNvSpPr>
            <p:nvPr/>
          </p:nvSpPr>
          <p:spPr bwMode="auto">
            <a:xfrm>
              <a:off x="3367692" y="5489545"/>
              <a:ext cx="395397" cy="43191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41" name="Oval 11"/>
            <p:cNvSpPr>
              <a:spLocks noChangeArrowheads="1"/>
            </p:cNvSpPr>
            <p:nvPr/>
          </p:nvSpPr>
          <p:spPr bwMode="auto">
            <a:xfrm>
              <a:off x="4880845" y="5489545"/>
              <a:ext cx="395397" cy="43191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42" name="Oval 10"/>
            <p:cNvSpPr>
              <a:spLocks noChangeArrowheads="1"/>
            </p:cNvSpPr>
            <p:nvPr/>
          </p:nvSpPr>
          <p:spPr bwMode="auto">
            <a:xfrm>
              <a:off x="4125536" y="6263453"/>
              <a:ext cx="395397" cy="430652"/>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5</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43" name="AutoShape 9"/>
            <p:cNvSpPr>
              <a:spLocks noChangeShapeType="1"/>
            </p:cNvSpPr>
            <p:nvPr/>
          </p:nvSpPr>
          <p:spPr bwMode="auto">
            <a:xfrm flipH="1">
              <a:off x="3704793" y="3949330"/>
              <a:ext cx="479038" cy="58391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45" name="AutoShape 7"/>
            <p:cNvSpPr>
              <a:spLocks noChangeShapeType="1"/>
            </p:cNvSpPr>
            <p:nvPr/>
          </p:nvSpPr>
          <p:spPr bwMode="auto">
            <a:xfrm>
              <a:off x="3763089" y="4685239"/>
              <a:ext cx="1117756" cy="1267"/>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46" name="AutoShape 6"/>
            <p:cNvSpPr>
              <a:spLocks noChangeShapeType="1"/>
            </p:cNvSpPr>
            <p:nvPr/>
          </p:nvSpPr>
          <p:spPr bwMode="auto">
            <a:xfrm>
              <a:off x="3704793" y="4837234"/>
              <a:ext cx="1176052" cy="86890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48" name="AutoShape 4"/>
            <p:cNvSpPr>
              <a:spLocks noChangeShapeType="1"/>
            </p:cNvSpPr>
            <p:nvPr/>
          </p:nvSpPr>
          <p:spPr bwMode="auto">
            <a:xfrm>
              <a:off x="3565391" y="4900565"/>
              <a:ext cx="1267" cy="588980"/>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49" name="AutoShape 3"/>
            <p:cNvSpPr>
              <a:spLocks noChangeShapeType="1"/>
            </p:cNvSpPr>
            <p:nvPr/>
          </p:nvSpPr>
          <p:spPr bwMode="auto">
            <a:xfrm>
              <a:off x="3704793" y="5858133"/>
              <a:ext cx="479038" cy="468651"/>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50" name="AutoShape 2"/>
            <p:cNvSpPr>
              <a:spLocks noChangeShapeType="1"/>
            </p:cNvSpPr>
            <p:nvPr/>
          </p:nvSpPr>
          <p:spPr bwMode="auto">
            <a:xfrm flipH="1">
              <a:off x="4462637" y="5858133"/>
              <a:ext cx="476504" cy="468651"/>
            </a:xfrm>
            <a:prstGeom prst="straightConnector1">
              <a:avLst/>
            </a:prstGeom>
            <a:noFill/>
            <a:ln w="19050">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grpSp>
      <p:sp>
        <p:nvSpPr>
          <p:cNvPr id="51" name="TextBox 50"/>
          <p:cNvSpPr txBox="1"/>
          <p:nvPr/>
        </p:nvSpPr>
        <p:spPr>
          <a:xfrm>
            <a:off x="7072330" y="4143380"/>
            <a:ext cx="1357322" cy="400110"/>
          </a:xfrm>
          <a:prstGeom prst="rect">
            <a:avLst/>
          </a:prstGeom>
          <a:noFill/>
        </p:spPr>
        <p:txBody>
          <a:bodyPr wrap="square" rtlCol="0">
            <a:spAutoFit/>
          </a:bodyPr>
          <a:lstStyle/>
          <a:p>
            <a:pPr algn="l">
              <a:lnSpc>
                <a:spcPct val="100000"/>
              </a:lnSpc>
              <a:spcBef>
                <a:spcPts val="0"/>
              </a:spcBef>
            </a:pPr>
            <a:r>
              <a:rPr lang="zh-CN" altLang="zh-CN" sz="2000">
                <a:solidFill>
                  <a:srgbClr val="0000FF"/>
                </a:solidFill>
                <a:latin typeface="仿宋" pitchFamily="49" charset="-122"/>
                <a:ea typeface="仿宋" pitchFamily="49" charset="-122"/>
              </a:rPr>
              <a:t>剩余</a:t>
            </a:r>
            <a:r>
              <a:rPr lang="zh-CN" altLang="en-US" sz="2000">
                <a:solidFill>
                  <a:srgbClr val="0000FF"/>
                </a:solidFill>
                <a:latin typeface="仿宋" pitchFamily="49" charset="-122"/>
                <a:ea typeface="仿宋" pitchFamily="49" charset="-122"/>
              </a:rPr>
              <a:t>网络</a:t>
            </a:r>
            <a:endParaRPr lang="zh-CN" altLang="en-US" sz="2000">
              <a:solidFill>
                <a:srgbClr val="0000FF"/>
              </a:solidFill>
              <a:latin typeface="仿宋" pitchFamily="49" charset="-122"/>
              <a:ea typeface="仿宋" pitchFamily="49" charset="-122"/>
              <a:cs typeface="Consolas" pitchFamily="49" charset="0"/>
            </a:endParaRPr>
          </a:p>
        </p:txBody>
      </p:sp>
      <p:sp>
        <p:nvSpPr>
          <p:cNvPr id="52" name="右箭头 51"/>
          <p:cNvSpPr/>
          <p:nvPr/>
        </p:nvSpPr>
        <p:spPr>
          <a:xfrm>
            <a:off x="2786050" y="2714620"/>
            <a:ext cx="3286148" cy="214314"/>
          </a:xfrm>
          <a:prstGeom prst="right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54" name="灯片编号占位符 53"/>
          <p:cNvSpPr>
            <a:spLocks noGrp="1"/>
          </p:cNvSpPr>
          <p:nvPr>
            <p:ph type="sldNum" sz="quarter" idx="12"/>
          </p:nvPr>
        </p:nvSpPr>
        <p:spPr/>
        <p:txBody>
          <a:bodyPr/>
          <a:lstStyle/>
          <a:p>
            <a:fld id="{7AF016A1-9F15-429F-9EFD-84004B73C732}" type="slidenum">
              <a:rPr lang="en-US" altLang="zh-CN" smtClean="0"/>
              <a:pPr/>
              <a:t>89</a:t>
            </a:fld>
            <a:r>
              <a:rPr lang="en-US" altLang="zh-CN"/>
              <a:t>/158</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28596" y="714356"/>
            <a:ext cx="1714512" cy="430887"/>
          </a:xfrm>
          <a:prstGeom prst="rect">
            <a:avLst/>
          </a:prstGeom>
          <a:noFill/>
        </p:spPr>
        <p:txBody>
          <a:bodyPr wrap="square" rtlCol="0">
            <a:spAutoFit/>
          </a:bodyPr>
          <a:lstStyle/>
          <a:p>
            <a:pPr algn="l">
              <a:lnSpc>
                <a:spcPct val="100000"/>
              </a:lnSpc>
              <a:spcBef>
                <a:spcPts val="0"/>
              </a:spcBef>
            </a:pPr>
            <a:r>
              <a:rPr lang="zh-CN" altLang="zh-CN" sz="2200">
                <a:solidFill>
                  <a:srgbClr val="0000FF"/>
                </a:solidFill>
                <a:latin typeface="楷体" pitchFamily="49" charset="-122"/>
                <a:ea typeface="楷体" pitchFamily="49" charset="-122"/>
              </a:rPr>
              <a:t>第</a:t>
            </a:r>
            <a:r>
              <a:rPr lang="zh-CN" altLang="en-US" sz="2200">
                <a:solidFill>
                  <a:srgbClr val="0000FF"/>
                </a:solidFill>
                <a:latin typeface="楷体" pitchFamily="49" charset="-122"/>
                <a:ea typeface="楷体" pitchFamily="49" charset="-122"/>
              </a:rPr>
              <a:t>二</a:t>
            </a:r>
            <a:r>
              <a:rPr lang="zh-CN" altLang="zh-CN" sz="2200">
                <a:solidFill>
                  <a:srgbClr val="0000FF"/>
                </a:solidFill>
                <a:latin typeface="楷体" pitchFamily="49" charset="-122"/>
                <a:ea typeface="楷体" pitchFamily="49" charset="-122"/>
              </a:rPr>
              <a:t>轮循环</a:t>
            </a:r>
            <a:endParaRPr lang="zh-CN" altLang="en-US" sz="2200">
              <a:solidFill>
                <a:srgbClr val="0000FF"/>
              </a:solidFill>
              <a:latin typeface="楷体" pitchFamily="49" charset="-122"/>
              <a:ea typeface="楷体" pitchFamily="49" charset="-122"/>
              <a:cs typeface="Consolas" pitchFamily="49" charset="0"/>
            </a:endParaRPr>
          </a:p>
        </p:txBody>
      </p:sp>
      <p:grpSp>
        <p:nvGrpSpPr>
          <p:cNvPr id="4" name="组合 3"/>
          <p:cNvGrpSpPr/>
          <p:nvPr/>
        </p:nvGrpSpPr>
        <p:grpSpPr>
          <a:xfrm>
            <a:off x="357158" y="1643050"/>
            <a:ext cx="1908550" cy="3112096"/>
            <a:chOff x="3367692" y="3582009"/>
            <a:chExt cx="1908550" cy="3112096"/>
          </a:xfrm>
        </p:grpSpPr>
        <p:sp>
          <p:nvSpPr>
            <p:cNvPr id="5" name="Text Box 23"/>
            <p:cNvSpPr txBox="1">
              <a:spLocks noChangeArrowheads="1"/>
            </p:cNvSpPr>
            <p:nvPr/>
          </p:nvSpPr>
          <p:spPr bwMode="auto">
            <a:xfrm>
              <a:off x="3787168" y="3963263"/>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6" name="Text Box 21"/>
            <p:cNvSpPr txBox="1">
              <a:spLocks noChangeArrowheads="1"/>
            </p:cNvSpPr>
            <p:nvPr/>
          </p:nvSpPr>
          <p:spPr bwMode="auto">
            <a:xfrm>
              <a:off x="4262404" y="4381249"/>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7" name="Text Box 20"/>
            <p:cNvSpPr txBox="1">
              <a:spLocks noChangeArrowheads="1"/>
            </p:cNvSpPr>
            <p:nvPr/>
          </p:nvSpPr>
          <p:spPr bwMode="auto">
            <a:xfrm>
              <a:off x="4365055" y="5053826"/>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8" name="Text Box 18"/>
            <p:cNvSpPr txBox="1">
              <a:spLocks noChangeArrowheads="1"/>
            </p:cNvSpPr>
            <p:nvPr/>
          </p:nvSpPr>
          <p:spPr bwMode="auto">
            <a:xfrm>
              <a:off x="4714829" y="6041793"/>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0000FF"/>
                  </a:solidFill>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9" name="Text Box 17"/>
            <p:cNvSpPr txBox="1">
              <a:spLocks noChangeArrowheads="1"/>
            </p:cNvSpPr>
            <p:nvPr/>
          </p:nvSpPr>
          <p:spPr bwMode="auto">
            <a:xfrm>
              <a:off x="3409513" y="5061426"/>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0" name="Text Box 16"/>
            <p:cNvSpPr txBox="1">
              <a:spLocks noChangeArrowheads="1"/>
            </p:cNvSpPr>
            <p:nvPr/>
          </p:nvSpPr>
          <p:spPr bwMode="auto">
            <a:xfrm>
              <a:off x="3704793" y="6037994"/>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1" name="Oval 15"/>
            <p:cNvSpPr>
              <a:spLocks noChangeArrowheads="1"/>
            </p:cNvSpPr>
            <p:nvPr/>
          </p:nvSpPr>
          <p:spPr bwMode="auto">
            <a:xfrm>
              <a:off x="4125536" y="3582009"/>
              <a:ext cx="395397" cy="430652"/>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0</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2" name="Oval 14"/>
            <p:cNvSpPr>
              <a:spLocks noChangeArrowheads="1"/>
            </p:cNvSpPr>
            <p:nvPr/>
          </p:nvSpPr>
          <p:spPr bwMode="auto">
            <a:xfrm>
              <a:off x="3367692" y="4469913"/>
              <a:ext cx="395397" cy="43065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3" name="Oval 13"/>
            <p:cNvSpPr>
              <a:spLocks noChangeArrowheads="1"/>
            </p:cNvSpPr>
            <p:nvPr/>
          </p:nvSpPr>
          <p:spPr bwMode="auto">
            <a:xfrm>
              <a:off x="4880845" y="4469913"/>
              <a:ext cx="395397" cy="43065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4" name="Oval 12"/>
            <p:cNvSpPr>
              <a:spLocks noChangeArrowheads="1"/>
            </p:cNvSpPr>
            <p:nvPr/>
          </p:nvSpPr>
          <p:spPr bwMode="auto">
            <a:xfrm>
              <a:off x="3367692" y="5489545"/>
              <a:ext cx="395397" cy="43191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5" name="Oval 11"/>
            <p:cNvSpPr>
              <a:spLocks noChangeArrowheads="1"/>
            </p:cNvSpPr>
            <p:nvPr/>
          </p:nvSpPr>
          <p:spPr bwMode="auto">
            <a:xfrm>
              <a:off x="4880845" y="5489545"/>
              <a:ext cx="395397" cy="43191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6" name="Oval 10"/>
            <p:cNvSpPr>
              <a:spLocks noChangeArrowheads="1"/>
            </p:cNvSpPr>
            <p:nvPr/>
          </p:nvSpPr>
          <p:spPr bwMode="auto">
            <a:xfrm>
              <a:off x="4125536" y="6263453"/>
              <a:ext cx="395397" cy="430652"/>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5</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8" name="AutoShape 9"/>
            <p:cNvSpPr>
              <a:spLocks noChangeShapeType="1"/>
            </p:cNvSpPr>
            <p:nvPr/>
          </p:nvSpPr>
          <p:spPr bwMode="auto">
            <a:xfrm flipH="1">
              <a:off x="3704793" y="3949330"/>
              <a:ext cx="479038" cy="58391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19" name="AutoShape 7"/>
            <p:cNvSpPr>
              <a:spLocks noChangeShapeType="1"/>
            </p:cNvSpPr>
            <p:nvPr/>
          </p:nvSpPr>
          <p:spPr bwMode="auto">
            <a:xfrm>
              <a:off x="3763089" y="4685239"/>
              <a:ext cx="1117756" cy="1267"/>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20" name="AutoShape 6"/>
            <p:cNvSpPr>
              <a:spLocks noChangeShapeType="1"/>
            </p:cNvSpPr>
            <p:nvPr/>
          </p:nvSpPr>
          <p:spPr bwMode="auto">
            <a:xfrm>
              <a:off x="3704793" y="4837234"/>
              <a:ext cx="1176052" cy="86890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21" name="AutoShape 4"/>
            <p:cNvSpPr>
              <a:spLocks noChangeShapeType="1"/>
            </p:cNvSpPr>
            <p:nvPr/>
          </p:nvSpPr>
          <p:spPr bwMode="auto">
            <a:xfrm>
              <a:off x="3565391" y="4900565"/>
              <a:ext cx="1267" cy="588980"/>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22" name="AutoShape 3"/>
            <p:cNvSpPr>
              <a:spLocks noChangeShapeType="1"/>
            </p:cNvSpPr>
            <p:nvPr/>
          </p:nvSpPr>
          <p:spPr bwMode="auto">
            <a:xfrm>
              <a:off x="3704793" y="5858133"/>
              <a:ext cx="479038" cy="468651"/>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23" name="AutoShape 2"/>
            <p:cNvSpPr>
              <a:spLocks noChangeShapeType="1"/>
            </p:cNvSpPr>
            <p:nvPr/>
          </p:nvSpPr>
          <p:spPr bwMode="auto">
            <a:xfrm flipH="1">
              <a:off x="4462637" y="5858133"/>
              <a:ext cx="476504" cy="468651"/>
            </a:xfrm>
            <a:prstGeom prst="straightConnector1">
              <a:avLst/>
            </a:prstGeom>
            <a:noFill/>
            <a:ln w="19050">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grpSp>
      <p:sp>
        <p:nvSpPr>
          <p:cNvPr id="24" name="TextBox 23"/>
          <p:cNvSpPr txBox="1"/>
          <p:nvPr/>
        </p:nvSpPr>
        <p:spPr>
          <a:xfrm>
            <a:off x="785786" y="5000636"/>
            <a:ext cx="1357322" cy="400110"/>
          </a:xfrm>
          <a:prstGeom prst="rect">
            <a:avLst/>
          </a:prstGeom>
          <a:noFill/>
        </p:spPr>
        <p:txBody>
          <a:bodyPr wrap="square" rtlCol="0">
            <a:spAutoFit/>
          </a:bodyPr>
          <a:lstStyle/>
          <a:p>
            <a:pPr algn="l">
              <a:lnSpc>
                <a:spcPct val="100000"/>
              </a:lnSpc>
              <a:spcBef>
                <a:spcPts val="0"/>
              </a:spcBef>
            </a:pPr>
            <a:r>
              <a:rPr lang="zh-CN" altLang="zh-CN" sz="2000">
                <a:solidFill>
                  <a:srgbClr val="0000FF"/>
                </a:solidFill>
                <a:latin typeface="仿宋" pitchFamily="49" charset="-122"/>
                <a:ea typeface="仿宋" pitchFamily="49" charset="-122"/>
              </a:rPr>
              <a:t>剩余</a:t>
            </a:r>
            <a:r>
              <a:rPr lang="zh-CN" altLang="en-US" sz="2000">
                <a:solidFill>
                  <a:srgbClr val="0000FF"/>
                </a:solidFill>
                <a:latin typeface="仿宋" pitchFamily="49" charset="-122"/>
                <a:ea typeface="仿宋" pitchFamily="49" charset="-122"/>
              </a:rPr>
              <a:t>网络</a:t>
            </a:r>
            <a:endParaRPr lang="zh-CN" altLang="en-US" sz="2000">
              <a:solidFill>
                <a:srgbClr val="0000FF"/>
              </a:solidFill>
              <a:latin typeface="仿宋" pitchFamily="49" charset="-122"/>
              <a:ea typeface="仿宋" pitchFamily="49" charset="-122"/>
              <a:cs typeface="Consolas" pitchFamily="49" charset="0"/>
            </a:endParaRPr>
          </a:p>
        </p:txBody>
      </p:sp>
      <p:sp>
        <p:nvSpPr>
          <p:cNvPr id="25" name="TextBox 24"/>
          <p:cNvSpPr txBox="1"/>
          <p:nvPr/>
        </p:nvSpPr>
        <p:spPr>
          <a:xfrm>
            <a:off x="2592012" y="2888672"/>
            <a:ext cx="3714776" cy="707886"/>
          </a:xfrm>
          <a:prstGeom prst="rect">
            <a:avLst/>
          </a:prstGeom>
          <a:noFill/>
        </p:spPr>
        <p:txBody>
          <a:bodyPr wrap="square" rtlCol="0">
            <a:spAutoFit/>
          </a:bodyPr>
          <a:lstStyle/>
          <a:p>
            <a:pPr algn="l">
              <a:lnSpc>
                <a:spcPct val="100000"/>
              </a:lnSpc>
              <a:spcBef>
                <a:spcPts val="0"/>
              </a:spcBef>
            </a:pPr>
            <a:r>
              <a:rPr lang="zh-CN" altLang="zh-CN" sz="2000">
                <a:solidFill>
                  <a:srgbClr val="0000FF"/>
                </a:solidFill>
                <a:latin typeface="Consolas" pitchFamily="49" charset="0"/>
                <a:ea typeface="仿宋" pitchFamily="49" charset="-122"/>
              </a:rPr>
              <a:t>找到的一条从源点</a:t>
            </a:r>
            <a:r>
              <a:rPr lang="en-US" altLang="zh-CN" sz="2000">
                <a:solidFill>
                  <a:srgbClr val="0000FF"/>
                </a:solidFill>
                <a:latin typeface="Consolas" pitchFamily="49" charset="0"/>
                <a:ea typeface="仿宋" pitchFamily="49" charset="-122"/>
              </a:rPr>
              <a:t>0</a:t>
            </a:r>
            <a:r>
              <a:rPr lang="zh-CN" altLang="zh-CN" sz="2000">
                <a:solidFill>
                  <a:srgbClr val="0000FF"/>
                </a:solidFill>
                <a:latin typeface="Consolas" pitchFamily="49" charset="0"/>
                <a:ea typeface="仿宋" pitchFamily="49" charset="-122"/>
              </a:rPr>
              <a:t>到汇点</a:t>
            </a:r>
            <a:r>
              <a:rPr lang="en-US" altLang="zh-CN" sz="2000">
                <a:solidFill>
                  <a:srgbClr val="0000FF"/>
                </a:solidFill>
                <a:latin typeface="Consolas" pitchFamily="49" charset="0"/>
                <a:ea typeface="仿宋" pitchFamily="49" charset="-122"/>
              </a:rPr>
              <a:t>5</a:t>
            </a:r>
            <a:r>
              <a:rPr lang="zh-CN" altLang="zh-CN" sz="2000">
                <a:solidFill>
                  <a:srgbClr val="0000FF"/>
                </a:solidFill>
                <a:latin typeface="Consolas" pitchFamily="49" charset="0"/>
                <a:ea typeface="仿宋" pitchFamily="49" charset="-122"/>
              </a:rPr>
              <a:t>的一条增广路径是</a:t>
            </a:r>
            <a:r>
              <a:rPr lang="en-US" altLang="zh-CN" sz="2000">
                <a:solidFill>
                  <a:srgbClr val="0000FF"/>
                </a:solidFill>
                <a:latin typeface="Consolas" pitchFamily="49" charset="0"/>
                <a:ea typeface="仿宋" pitchFamily="49" charset="-122"/>
              </a:rPr>
              <a:t>0</a:t>
            </a:r>
            <a:r>
              <a:rPr lang="zh-CN" altLang="zh-CN" sz="2000">
                <a:solidFill>
                  <a:srgbClr val="0000FF"/>
                </a:solidFill>
                <a:latin typeface="Consolas" pitchFamily="49" charset="0"/>
                <a:ea typeface="仿宋" pitchFamily="49" charset="-122"/>
              </a:rPr>
              <a:t>→</a:t>
            </a:r>
            <a:r>
              <a:rPr lang="en-US" altLang="zh-CN" sz="2000">
                <a:solidFill>
                  <a:srgbClr val="0000FF"/>
                </a:solidFill>
                <a:latin typeface="Consolas" pitchFamily="49" charset="0"/>
                <a:ea typeface="仿宋" pitchFamily="49" charset="-122"/>
              </a:rPr>
              <a:t>1</a:t>
            </a:r>
            <a:r>
              <a:rPr lang="zh-CN" altLang="zh-CN" sz="2000">
                <a:solidFill>
                  <a:srgbClr val="0000FF"/>
                </a:solidFill>
                <a:latin typeface="Consolas" pitchFamily="49" charset="0"/>
                <a:ea typeface="仿宋" pitchFamily="49" charset="-122"/>
              </a:rPr>
              <a:t>→</a:t>
            </a:r>
            <a:r>
              <a:rPr lang="en-US" altLang="zh-CN" sz="2000">
                <a:solidFill>
                  <a:srgbClr val="0000FF"/>
                </a:solidFill>
                <a:latin typeface="Consolas" pitchFamily="49" charset="0"/>
                <a:ea typeface="仿宋" pitchFamily="49" charset="-122"/>
              </a:rPr>
              <a:t>3</a:t>
            </a:r>
            <a:r>
              <a:rPr lang="zh-CN" altLang="zh-CN" sz="2000">
                <a:solidFill>
                  <a:srgbClr val="0000FF"/>
                </a:solidFill>
                <a:latin typeface="Consolas" pitchFamily="49" charset="0"/>
                <a:ea typeface="仿宋" pitchFamily="49" charset="-122"/>
              </a:rPr>
              <a:t>→</a:t>
            </a:r>
            <a:r>
              <a:rPr lang="en-US" altLang="zh-CN" sz="2000">
                <a:solidFill>
                  <a:srgbClr val="0000FF"/>
                </a:solidFill>
                <a:latin typeface="Consolas" pitchFamily="49" charset="0"/>
                <a:ea typeface="仿宋" pitchFamily="49" charset="-122"/>
              </a:rPr>
              <a:t>5</a:t>
            </a:r>
            <a:endParaRPr lang="zh-CN" altLang="en-US" sz="2000">
              <a:solidFill>
                <a:srgbClr val="0000FF"/>
              </a:solidFill>
              <a:latin typeface="Consolas" pitchFamily="49" charset="0"/>
              <a:ea typeface="仿宋" pitchFamily="49" charset="-122"/>
              <a:cs typeface="Consolas" pitchFamily="49" charset="0"/>
            </a:endParaRPr>
          </a:p>
        </p:txBody>
      </p:sp>
      <p:sp>
        <p:nvSpPr>
          <p:cNvPr id="26" name="右箭头 25"/>
          <p:cNvSpPr/>
          <p:nvPr/>
        </p:nvSpPr>
        <p:spPr>
          <a:xfrm>
            <a:off x="2663450" y="3674490"/>
            <a:ext cx="3286148" cy="214314"/>
          </a:xfrm>
          <a:prstGeom prst="right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grpSp>
        <p:nvGrpSpPr>
          <p:cNvPr id="27" name="组合 26"/>
          <p:cNvGrpSpPr/>
          <p:nvPr/>
        </p:nvGrpSpPr>
        <p:grpSpPr>
          <a:xfrm>
            <a:off x="6663978" y="1643050"/>
            <a:ext cx="1908550" cy="3112096"/>
            <a:chOff x="3367692" y="3582009"/>
            <a:chExt cx="1908550" cy="3112096"/>
          </a:xfrm>
        </p:grpSpPr>
        <p:sp>
          <p:nvSpPr>
            <p:cNvPr id="28" name="Text Box 23"/>
            <p:cNvSpPr txBox="1">
              <a:spLocks noChangeArrowheads="1"/>
            </p:cNvSpPr>
            <p:nvPr/>
          </p:nvSpPr>
          <p:spPr bwMode="auto">
            <a:xfrm>
              <a:off x="3787168" y="3963263"/>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9" name="Text Box 21"/>
            <p:cNvSpPr txBox="1">
              <a:spLocks noChangeArrowheads="1"/>
            </p:cNvSpPr>
            <p:nvPr/>
          </p:nvSpPr>
          <p:spPr bwMode="auto">
            <a:xfrm>
              <a:off x="4262404" y="4381249"/>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0" name="Text Box 20"/>
            <p:cNvSpPr txBox="1">
              <a:spLocks noChangeArrowheads="1"/>
            </p:cNvSpPr>
            <p:nvPr/>
          </p:nvSpPr>
          <p:spPr bwMode="auto">
            <a:xfrm>
              <a:off x="4365055" y="5053826"/>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1" name="Text Box 18"/>
            <p:cNvSpPr txBox="1">
              <a:spLocks noChangeArrowheads="1"/>
            </p:cNvSpPr>
            <p:nvPr/>
          </p:nvSpPr>
          <p:spPr bwMode="auto">
            <a:xfrm>
              <a:off x="4714829" y="6041793"/>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0000FF"/>
                  </a:solidFill>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2" name="Text Box 17"/>
            <p:cNvSpPr txBox="1">
              <a:spLocks noChangeArrowheads="1"/>
            </p:cNvSpPr>
            <p:nvPr/>
          </p:nvSpPr>
          <p:spPr bwMode="auto">
            <a:xfrm>
              <a:off x="3409513" y="5061426"/>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3" name="Text Box 16"/>
            <p:cNvSpPr txBox="1">
              <a:spLocks noChangeArrowheads="1"/>
            </p:cNvSpPr>
            <p:nvPr/>
          </p:nvSpPr>
          <p:spPr bwMode="auto">
            <a:xfrm>
              <a:off x="3704793" y="6037994"/>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4" name="Oval 15"/>
            <p:cNvSpPr>
              <a:spLocks noChangeArrowheads="1"/>
            </p:cNvSpPr>
            <p:nvPr/>
          </p:nvSpPr>
          <p:spPr bwMode="auto">
            <a:xfrm>
              <a:off x="4125536" y="3582009"/>
              <a:ext cx="395397" cy="430652"/>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0</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5" name="Oval 14"/>
            <p:cNvSpPr>
              <a:spLocks noChangeArrowheads="1"/>
            </p:cNvSpPr>
            <p:nvPr/>
          </p:nvSpPr>
          <p:spPr bwMode="auto">
            <a:xfrm>
              <a:off x="3367692" y="4469913"/>
              <a:ext cx="395397" cy="43065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6" name="Oval 13"/>
            <p:cNvSpPr>
              <a:spLocks noChangeArrowheads="1"/>
            </p:cNvSpPr>
            <p:nvPr/>
          </p:nvSpPr>
          <p:spPr bwMode="auto">
            <a:xfrm>
              <a:off x="4880845" y="4469913"/>
              <a:ext cx="395397" cy="43065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7" name="Oval 12"/>
            <p:cNvSpPr>
              <a:spLocks noChangeArrowheads="1"/>
            </p:cNvSpPr>
            <p:nvPr/>
          </p:nvSpPr>
          <p:spPr bwMode="auto">
            <a:xfrm>
              <a:off x="3367692" y="5489545"/>
              <a:ext cx="395397" cy="43191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8" name="Oval 11"/>
            <p:cNvSpPr>
              <a:spLocks noChangeArrowheads="1"/>
            </p:cNvSpPr>
            <p:nvPr/>
          </p:nvSpPr>
          <p:spPr bwMode="auto">
            <a:xfrm>
              <a:off x="4880845" y="5489545"/>
              <a:ext cx="395397" cy="43191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9" name="Oval 10"/>
            <p:cNvSpPr>
              <a:spLocks noChangeArrowheads="1"/>
            </p:cNvSpPr>
            <p:nvPr/>
          </p:nvSpPr>
          <p:spPr bwMode="auto">
            <a:xfrm>
              <a:off x="4125536" y="6263453"/>
              <a:ext cx="395397" cy="430652"/>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5</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40" name="AutoShape 9"/>
            <p:cNvSpPr>
              <a:spLocks noChangeShapeType="1"/>
            </p:cNvSpPr>
            <p:nvPr/>
          </p:nvSpPr>
          <p:spPr bwMode="auto">
            <a:xfrm flipH="1">
              <a:off x="3704793" y="3949330"/>
              <a:ext cx="479038" cy="583914"/>
            </a:xfrm>
            <a:prstGeom prst="straightConnector1">
              <a:avLst/>
            </a:prstGeom>
            <a:noFill/>
            <a:ln w="19050">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41" name="AutoShape 7"/>
            <p:cNvSpPr>
              <a:spLocks noChangeShapeType="1"/>
            </p:cNvSpPr>
            <p:nvPr/>
          </p:nvSpPr>
          <p:spPr bwMode="auto">
            <a:xfrm>
              <a:off x="3763089" y="4685239"/>
              <a:ext cx="1117756" cy="1267"/>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42" name="AutoShape 6"/>
            <p:cNvSpPr>
              <a:spLocks noChangeShapeType="1"/>
            </p:cNvSpPr>
            <p:nvPr/>
          </p:nvSpPr>
          <p:spPr bwMode="auto">
            <a:xfrm>
              <a:off x="3704793" y="4837234"/>
              <a:ext cx="1176052" cy="86890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43" name="AutoShape 4"/>
            <p:cNvSpPr>
              <a:spLocks noChangeShapeType="1"/>
            </p:cNvSpPr>
            <p:nvPr/>
          </p:nvSpPr>
          <p:spPr bwMode="auto">
            <a:xfrm>
              <a:off x="3565391" y="4900565"/>
              <a:ext cx="1267" cy="588980"/>
            </a:xfrm>
            <a:prstGeom prst="straightConnector1">
              <a:avLst/>
            </a:prstGeom>
            <a:noFill/>
            <a:ln w="19050">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44" name="AutoShape 3"/>
            <p:cNvSpPr>
              <a:spLocks noChangeShapeType="1"/>
            </p:cNvSpPr>
            <p:nvPr/>
          </p:nvSpPr>
          <p:spPr bwMode="auto">
            <a:xfrm>
              <a:off x="3704793" y="5858133"/>
              <a:ext cx="479038" cy="468651"/>
            </a:xfrm>
            <a:prstGeom prst="straightConnector1">
              <a:avLst/>
            </a:prstGeom>
            <a:noFill/>
            <a:ln w="19050">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45" name="AutoShape 2"/>
            <p:cNvSpPr>
              <a:spLocks noChangeShapeType="1"/>
            </p:cNvSpPr>
            <p:nvPr/>
          </p:nvSpPr>
          <p:spPr bwMode="auto">
            <a:xfrm flipH="1">
              <a:off x="4462637" y="5858133"/>
              <a:ext cx="476504" cy="468651"/>
            </a:xfrm>
            <a:prstGeom prst="straightConnector1">
              <a:avLst/>
            </a:prstGeom>
            <a:noFill/>
            <a:ln w="19050">
              <a:solidFill>
                <a:schemeClr val="tx1"/>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grpSp>
      <p:sp>
        <p:nvSpPr>
          <p:cNvPr id="47" name="灯片编号占位符 46"/>
          <p:cNvSpPr>
            <a:spLocks noGrp="1"/>
          </p:cNvSpPr>
          <p:nvPr>
            <p:ph type="sldNum" sz="quarter" idx="12"/>
          </p:nvPr>
        </p:nvSpPr>
        <p:spPr/>
        <p:txBody>
          <a:bodyPr/>
          <a:lstStyle/>
          <a:p>
            <a:fld id="{7AF016A1-9F15-429F-9EFD-84004B73C732}" type="slidenum">
              <a:rPr lang="en-US" altLang="zh-CN" smtClean="0"/>
              <a:pPr/>
              <a:t>90</a:t>
            </a:fld>
            <a:r>
              <a:rPr lang="en-US" altLang="zh-CN"/>
              <a:t>/158</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428596" y="1357298"/>
            <a:ext cx="1908550" cy="3112096"/>
            <a:chOff x="3367692" y="3582009"/>
            <a:chExt cx="1908550" cy="3112096"/>
          </a:xfrm>
        </p:grpSpPr>
        <p:sp>
          <p:nvSpPr>
            <p:cNvPr id="4" name="Text Box 23"/>
            <p:cNvSpPr txBox="1">
              <a:spLocks noChangeArrowheads="1"/>
            </p:cNvSpPr>
            <p:nvPr/>
          </p:nvSpPr>
          <p:spPr bwMode="auto">
            <a:xfrm>
              <a:off x="3787168" y="3963263"/>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 name="Text Box 21"/>
            <p:cNvSpPr txBox="1">
              <a:spLocks noChangeArrowheads="1"/>
            </p:cNvSpPr>
            <p:nvPr/>
          </p:nvSpPr>
          <p:spPr bwMode="auto">
            <a:xfrm>
              <a:off x="4262404" y="4381249"/>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6" name="Text Box 20"/>
            <p:cNvSpPr txBox="1">
              <a:spLocks noChangeArrowheads="1"/>
            </p:cNvSpPr>
            <p:nvPr/>
          </p:nvSpPr>
          <p:spPr bwMode="auto">
            <a:xfrm>
              <a:off x="4365055" y="5053826"/>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7" name="Text Box 18"/>
            <p:cNvSpPr txBox="1">
              <a:spLocks noChangeArrowheads="1"/>
            </p:cNvSpPr>
            <p:nvPr/>
          </p:nvSpPr>
          <p:spPr bwMode="auto">
            <a:xfrm>
              <a:off x="4714829" y="6041793"/>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0000FF"/>
                  </a:solidFill>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8" name="Text Box 17"/>
            <p:cNvSpPr txBox="1">
              <a:spLocks noChangeArrowheads="1"/>
            </p:cNvSpPr>
            <p:nvPr/>
          </p:nvSpPr>
          <p:spPr bwMode="auto">
            <a:xfrm>
              <a:off x="3409513" y="5061426"/>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9" name="Text Box 16"/>
            <p:cNvSpPr txBox="1">
              <a:spLocks noChangeArrowheads="1"/>
            </p:cNvSpPr>
            <p:nvPr/>
          </p:nvSpPr>
          <p:spPr bwMode="auto">
            <a:xfrm>
              <a:off x="3704793" y="6037994"/>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0" name="Oval 15"/>
            <p:cNvSpPr>
              <a:spLocks noChangeArrowheads="1"/>
            </p:cNvSpPr>
            <p:nvPr/>
          </p:nvSpPr>
          <p:spPr bwMode="auto">
            <a:xfrm>
              <a:off x="4125536" y="3582009"/>
              <a:ext cx="395397" cy="430652"/>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0</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1" name="Oval 14"/>
            <p:cNvSpPr>
              <a:spLocks noChangeArrowheads="1"/>
            </p:cNvSpPr>
            <p:nvPr/>
          </p:nvSpPr>
          <p:spPr bwMode="auto">
            <a:xfrm>
              <a:off x="3367692" y="4469913"/>
              <a:ext cx="395397" cy="43065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2" name="Oval 13"/>
            <p:cNvSpPr>
              <a:spLocks noChangeArrowheads="1"/>
            </p:cNvSpPr>
            <p:nvPr/>
          </p:nvSpPr>
          <p:spPr bwMode="auto">
            <a:xfrm>
              <a:off x="4880845" y="4469913"/>
              <a:ext cx="395397" cy="43065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3" name="Oval 12"/>
            <p:cNvSpPr>
              <a:spLocks noChangeArrowheads="1"/>
            </p:cNvSpPr>
            <p:nvPr/>
          </p:nvSpPr>
          <p:spPr bwMode="auto">
            <a:xfrm>
              <a:off x="3367692" y="5489545"/>
              <a:ext cx="395397" cy="43191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4" name="Oval 11"/>
            <p:cNvSpPr>
              <a:spLocks noChangeArrowheads="1"/>
            </p:cNvSpPr>
            <p:nvPr/>
          </p:nvSpPr>
          <p:spPr bwMode="auto">
            <a:xfrm>
              <a:off x="4880845" y="5489545"/>
              <a:ext cx="395397" cy="43191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5" name="Oval 10"/>
            <p:cNvSpPr>
              <a:spLocks noChangeArrowheads="1"/>
            </p:cNvSpPr>
            <p:nvPr/>
          </p:nvSpPr>
          <p:spPr bwMode="auto">
            <a:xfrm>
              <a:off x="4125536" y="6263453"/>
              <a:ext cx="395397" cy="430652"/>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5</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6" name="AutoShape 9"/>
            <p:cNvSpPr>
              <a:spLocks noChangeShapeType="1"/>
            </p:cNvSpPr>
            <p:nvPr/>
          </p:nvSpPr>
          <p:spPr bwMode="auto">
            <a:xfrm flipH="1">
              <a:off x="3704793" y="3949330"/>
              <a:ext cx="479038" cy="583914"/>
            </a:xfrm>
            <a:prstGeom prst="straightConnector1">
              <a:avLst/>
            </a:prstGeom>
            <a:noFill/>
            <a:ln w="19050">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18" name="AutoShape 7"/>
            <p:cNvSpPr>
              <a:spLocks noChangeShapeType="1"/>
            </p:cNvSpPr>
            <p:nvPr/>
          </p:nvSpPr>
          <p:spPr bwMode="auto">
            <a:xfrm>
              <a:off x="3763089" y="4685239"/>
              <a:ext cx="1117756" cy="1267"/>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19" name="AutoShape 6"/>
            <p:cNvSpPr>
              <a:spLocks noChangeShapeType="1"/>
            </p:cNvSpPr>
            <p:nvPr/>
          </p:nvSpPr>
          <p:spPr bwMode="auto">
            <a:xfrm>
              <a:off x="3704793" y="4837234"/>
              <a:ext cx="1176052" cy="86890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20" name="AutoShape 4"/>
            <p:cNvSpPr>
              <a:spLocks noChangeShapeType="1"/>
            </p:cNvSpPr>
            <p:nvPr/>
          </p:nvSpPr>
          <p:spPr bwMode="auto">
            <a:xfrm>
              <a:off x="3565391" y="4900565"/>
              <a:ext cx="1267" cy="588980"/>
            </a:xfrm>
            <a:prstGeom prst="straightConnector1">
              <a:avLst/>
            </a:prstGeom>
            <a:noFill/>
            <a:ln w="19050">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21" name="AutoShape 3"/>
            <p:cNvSpPr>
              <a:spLocks noChangeShapeType="1"/>
            </p:cNvSpPr>
            <p:nvPr/>
          </p:nvSpPr>
          <p:spPr bwMode="auto">
            <a:xfrm>
              <a:off x="3704793" y="5858133"/>
              <a:ext cx="479038" cy="468651"/>
            </a:xfrm>
            <a:prstGeom prst="straightConnector1">
              <a:avLst/>
            </a:prstGeom>
            <a:noFill/>
            <a:ln w="19050">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22" name="AutoShape 2"/>
            <p:cNvSpPr>
              <a:spLocks noChangeShapeType="1"/>
            </p:cNvSpPr>
            <p:nvPr/>
          </p:nvSpPr>
          <p:spPr bwMode="auto">
            <a:xfrm flipH="1">
              <a:off x="4462637" y="5858133"/>
              <a:ext cx="476504" cy="468651"/>
            </a:xfrm>
            <a:prstGeom prst="straightConnector1">
              <a:avLst/>
            </a:prstGeom>
            <a:noFill/>
            <a:ln w="19050">
              <a:solidFill>
                <a:schemeClr val="tx1"/>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grpSp>
      <p:sp>
        <p:nvSpPr>
          <p:cNvPr id="23" name="TextBox 22"/>
          <p:cNvSpPr txBox="1"/>
          <p:nvPr/>
        </p:nvSpPr>
        <p:spPr>
          <a:xfrm>
            <a:off x="2357422" y="1785926"/>
            <a:ext cx="4214842" cy="1323439"/>
          </a:xfrm>
          <a:prstGeom prst="rect">
            <a:avLst/>
          </a:prstGeom>
          <a:noFill/>
        </p:spPr>
        <p:txBody>
          <a:bodyPr wrap="square" rtlCol="0">
            <a:spAutoFit/>
          </a:bodyPr>
          <a:lstStyle/>
          <a:p>
            <a:pPr algn="l">
              <a:lnSpc>
                <a:spcPct val="100000"/>
              </a:lnSpc>
              <a:spcBef>
                <a:spcPts val="0"/>
              </a:spcBef>
            </a:pPr>
            <a:r>
              <a:rPr lang="zh-CN" altLang="zh-CN" sz="2000">
                <a:solidFill>
                  <a:srgbClr val="0000FF"/>
                </a:solidFill>
                <a:latin typeface="Consolas" pitchFamily="49" charset="0"/>
                <a:ea typeface="仿宋" pitchFamily="49" charset="-122"/>
              </a:rPr>
              <a:t>路径中边的最小容量为</a:t>
            </a:r>
            <a:r>
              <a:rPr lang="en-US" altLang="zh-CN" sz="2000">
                <a:solidFill>
                  <a:srgbClr val="0000FF"/>
                </a:solidFill>
                <a:latin typeface="Consolas" pitchFamily="49" charset="0"/>
                <a:ea typeface="仿宋" pitchFamily="49" charset="-122"/>
              </a:rPr>
              <a:t>2</a:t>
            </a:r>
            <a:r>
              <a:rPr lang="zh-CN" altLang="zh-CN" sz="2000">
                <a:solidFill>
                  <a:srgbClr val="0000FF"/>
                </a:solidFill>
                <a:latin typeface="Consolas" pitchFamily="49" charset="0"/>
                <a:ea typeface="仿宋" pitchFamily="49" charset="-122"/>
              </a:rPr>
              <a:t>，将该路径上所有边的容量减去</a:t>
            </a:r>
            <a:r>
              <a:rPr lang="en-US" altLang="zh-CN" sz="2000">
                <a:solidFill>
                  <a:srgbClr val="0000FF"/>
                </a:solidFill>
                <a:latin typeface="Consolas" pitchFamily="49" charset="0"/>
                <a:ea typeface="仿宋" pitchFamily="49" charset="-122"/>
              </a:rPr>
              <a:t>2</a:t>
            </a:r>
            <a:r>
              <a:rPr lang="zh-CN" altLang="zh-CN" sz="2000">
                <a:solidFill>
                  <a:srgbClr val="0000FF"/>
                </a:solidFill>
                <a:latin typeface="Consolas" pitchFamily="49" charset="0"/>
                <a:ea typeface="仿宋" pitchFamily="49" charset="-122"/>
              </a:rPr>
              <a:t>，得到对应边的剩余容量，其中两条边的剩余容量为</a:t>
            </a:r>
            <a:r>
              <a:rPr lang="en-US" altLang="zh-CN" sz="2000">
                <a:solidFill>
                  <a:srgbClr val="0000FF"/>
                </a:solidFill>
                <a:latin typeface="Consolas" pitchFamily="49" charset="0"/>
                <a:ea typeface="仿宋" pitchFamily="49" charset="-122"/>
              </a:rPr>
              <a:t>0</a:t>
            </a:r>
            <a:r>
              <a:rPr lang="zh-CN" altLang="zh-CN" sz="2000">
                <a:solidFill>
                  <a:srgbClr val="0000FF"/>
                </a:solidFill>
                <a:latin typeface="Consolas" pitchFamily="49" charset="0"/>
                <a:ea typeface="仿宋" pitchFamily="49" charset="-122"/>
              </a:rPr>
              <a:t>即饱和边，将饱和边移去</a:t>
            </a:r>
            <a:endParaRPr lang="zh-CN" altLang="en-US" sz="2000">
              <a:solidFill>
                <a:srgbClr val="0000FF"/>
              </a:solidFill>
              <a:latin typeface="Consolas" pitchFamily="49" charset="0"/>
              <a:ea typeface="仿宋" pitchFamily="49" charset="-122"/>
              <a:cs typeface="Consolas" pitchFamily="49" charset="0"/>
            </a:endParaRPr>
          </a:p>
        </p:txBody>
      </p:sp>
      <p:sp>
        <p:nvSpPr>
          <p:cNvPr id="24" name="右箭头 23"/>
          <p:cNvSpPr/>
          <p:nvPr/>
        </p:nvSpPr>
        <p:spPr>
          <a:xfrm>
            <a:off x="2786050" y="3143248"/>
            <a:ext cx="3286148" cy="214314"/>
          </a:xfrm>
          <a:prstGeom prst="right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grpSp>
        <p:nvGrpSpPr>
          <p:cNvPr id="25" name="组合 24"/>
          <p:cNvGrpSpPr/>
          <p:nvPr/>
        </p:nvGrpSpPr>
        <p:grpSpPr>
          <a:xfrm>
            <a:off x="6735416" y="1357298"/>
            <a:ext cx="1908550" cy="3112096"/>
            <a:chOff x="3367692" y="3582009"/>
            <a:chExt cx="1908550" cy="3112096"/>
          </a:xfrm>
        </p:grpSpPr>
        <p:sp>
          <p:nvSpPr>
            <p:cNvPr id="26" name="Text Box 23"/>
            <p:cNvSpPr txBox="1">
              <a:spLocks noChangeArrowheads="1"/>
            </p:cNvSpPr>
            <p:nvPr/>
          </p:nvSpPr>
          <p:spPr bwMode="auto">
            <a:xfrm>
              <a:off x="3787168" y="3963263"/>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0000FF"/>
                  </a:solidFill>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7" name="Text Box 21"/>
            <p:cNvSpPr txBox="1">
              <a:spLocks noChangeArrowheads="1"/>
            </p:cNvSpPr>
            <p:nvPr/>
          </p:nvSpPr>
          <p:spPr bwMode="auto">
            <a:xfrm>
              <a:off x="4262404" y="4381249"/>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8" name="Text Box 20"/>
            <p:cNvSpPr txBox="1">
              <a:spLocks noChangeArrowheads="1"/>
            </p:cNvSpPr>
            <p:nvPr/>
          </p:nvSpPr>
          <p:spPr bwMode="auto">
            <a:xfrm>
              <a:off x="4365055" y="5053826"/>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9" name="Text Box 18"/>
            <p:cNvSpPr txBox="1">
              <a:spLocks noChangeArrowheads="1"/>
            </p:cNvSpPr>
            <p:nvPr/>
          </p:nvSpPr>
          <p:spPr bwMode="auto">
            <a:xfrm>
              <a:off x="4714829" y="6041793"/>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0000FF"/>
                  </a:solidFill>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1" name="Text Box 16"/>
            <p:cNvSpPr txBox="1">
              <a:spLocks noChangeArrowheads="1"/>
            </p:cNvSpPr>
            <p:nvPr/>
          </p:nvSpPr>
          <p:spPr bwMode="auto">
            <a:xfrm>
              <a:off x="3704793" y="6037994"/>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0000FF"/>
                  </a:solidFill>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2" name="Oval 15"/>
            <p:cNvSpPr>
              <a:spLocks noChangeArrowheads="1"/>
            </p:cNvSpPr>
            <p:nvPr/>
          </p:nvSpPr>
          <p:spPr bwMode="auto">
            <a:xfrm>
              <a:off x="4125536" y="3582009"/>
              <a:ext cx="395397" cy="430652"/>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0</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3" name="Oval 14"/>
            <p:cNvSpPr>
              <a:spLocks noChangeArrowheads="1"/>
            </p:cNvSpPr>
            <p:nvPr/>
          </p:nvSpPr>
          <p:spPr bwMode="auto">
            <a:xfrm>
              <a:off x="3367692" y="4469913"/>
              <a:ext cx="395397" cy="43065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4" name="Oval 13"/>
            <p:cNvSpPr>
              <a:spLocks noChangeArrowheads="1"/>
            </p:cNvSpPr>
            <p:nvPr/>
          </p:nvSpPr>
          <p:spPr bwMode="auto">
            <a:xfrm>
              <a:off x="4880845" y="4469913"/>
              <a:ext cx="395397" cy="43065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5" name="Oval 12"/>
            <p:cNvSpPr>
              <a:spLocks noChangeArrowheads="1"/>
            </p:cNvSpPr>
            <p:nvPr/>
          </p:nvSpPr>
          <p:spPr bwMode="auto">
            <a:xfrm>
              <a:off x="3367692" y="5489545"/>
              <a:ext cx="395397" cy="43191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6" name="Oval 11"/>
            <p:cNvSpPr>
              <a:spLocks noChangeArrowheads="1"/>
            </p:cNvSpPr>
            <p:nvPr/>
          </p:nvSpPr>
          <p:spPr bwMode="auto">
            <a:xfrm>
              <a:off x="4880845" y="5489545"/>
              <a:ext cx="395397" cy="43191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7" name="Oval 10"/>
            <p:cNvSpPr>
              <a:spLocks noChangeArrowheads="1"/>
            </p:cNvSpPr>
            <p:nvPr/>
          </p:nvSpPr>
          <p:spPr bwMode="auto">
            <a:xfrm>
              <a:off x="4125536" y="6263453"/>
              <a:ext cx="395397" cy="430652"/>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5</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8" name="AutoShape 9"/>
            <p:cNvSpPr>
              <a:spLocks noChangeShapeType="1"/>
            </p:cNvSpPr>
            <p:nvPr/>
          </p:nvSpPr>
          <p:spPr bwMode="auto">
            <a:xfrm flipH="1">
              <a:off x="3704793" y="3949330"/>
              <a:ext cx="479038" cy="583914"/>
            </a:xfrm>
            <a:prstGeom prst="straightConnector1">
              <a:avLst/>
            </a:prstGeom>
            <a:noFill/>
            <a:ln w="19050">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39" name="AutoShape 7"/>
            <p:cNvSpPr>
              <a:spLocks noChangeShapeType="1"/>
            </p:cNvSpPr>
            <p:nvPr/>
          </p:nvSpPr>
          <p:spPr bwMode="auto">
            <a:xfrm>
              <a:off x="3763089" y="4685239"/>
              <a:ext cx="1117756" cy="1267"/>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40" name="AutoShape 6"/>
            <p:cNvSpPr>
              <a:spLocks noChangeShapeType="1"/>
            </p:cNvSpPr>
            <p:nvPr/>
          </p:nvSpPr>
          <p:spPr bwMode="auto">
            <a:xfrm>
              <a:off x="3704793" y="4837234"/>
              <a:ext cx="1176052" cy="86890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42" name="AutoShape 3"/>
            <p:cNvSpPr>
              <a:spLocks noChangeShapeType="1"/>
            </p:cNvSpPr>
            <p:nvPr/>
          </p:nvSpPr>
          <p:spPr bwMode="auto">
            <a:xfrm>
              <a:off x="3704793" y="5858133"/>
              <a:ext cx="479038" cy="468651"/>
            </a:xfrm>
            <a:prstGeom prst="straightConnector1">
              <a:avLst/>
            </a:prstGeom>
            <a:noFill/>
            <a:ln w="19050">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43" name="AutoShape 2"/>
            <p:cNvSpPr>
              <a:spLocks noChangeShapeType="1"/>
            </p:cNvSpPr>
            <p:nvPr/>
          </p:nvSpPr>
          <p:spPr bwMode="auto">
            <a:xfrm flipH="1">
              <a:off x="4462637" y="5858133"/>
              <a:ext cx="476504" cy="468651"/>
            </a:xfrm>
            <a:prstGeom prst="straightConnector1">
              <a:avLst/>
            </a:prstGeom>
            <a:noFill/>
            <a:ln w="19050">
              <a:solidFill>
                <a:schemeClr val="tx1"/>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grpSp>
      <p:sp>
        <p:nvSpPr>
          <p:cNvPr id="44" name="灯片编号占位符 43"/>
          <p:cNvSpPr>
            <a:spLocks noGrp="1"/>
          </p:cNvSpPr>
          <p:nvPr>
            <p:ph type="sldNum" sz="quarter" idx="12"/>
          </p:nvPr>
        </p:nvSpPr>
        <p:spPr/>
        <p:txBody>
          <a:bodyPr/>
          <a:lstStyle/>
          <a:p>
            <a:fld id="{7AF016A1-9F15-429F-9EFD-84004B73C732}" type="slidenum">
              <a:rPr lang="en-US" altLang="zh-CN" smtClean="0"/>
              <a:pPr/>
              <a:t>91</a:t>
            </a:fld>
            <a:r>
              <a:rPr lang="en-US" altLang="zh-CN"/>
              <a:t>/158</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28596" y="714356"/>
            <a:ext cx="1714512" cy="430887"/>
          </a:xfrm>
          <a:prstGeom prst="rect">
            <a:avLst/>
          </a:prstGeom>
          <a:noFill/>
        </p:spPr>
        <p:txBody>
          <a:bodyPr wrap="square" rtlCol="0">
            <a:spAutoFit/>
          </a:bodyPr>
          <a:lstStyle/>
          <a:p>
            <a:pPr algn="l">
              <a:lnSpc>
                <a:spcPct val="100000"/>
              </a:lnSpc>
              <a:spcBef>
                <a:spcPts val="0"/>
              </a:spcBef>
            </a:pPr>
            <a:r>
              <a:rPr lang="zh-CN" altLang="zh-CN" sz="2200">
                <a:solidFill>
                  <a:srgbClr val="0000FF"/>
                </a:solidFill>
                <a:latin typeface="楷体" pitchFamily="49" charset="-122"/>
                <a:ea typeface="楷体" pitchFamily="49" charset="-122"/>
              </a:rPr>
              <a:t>第</a:t>
            </a:r>
            <a:r>
              <a:rPr lang="zh-CN" altLang="en-US" sz="2200">
                <a:solidFill>
                  <a:srgbClr val="0000FF"/>
                </a:solidFill>
                <a:latin typeface="楷体" pitchFamily="49" charset="-122"/>
                <a:ea typeface="楷体" pitchFamily="49" charset="-122"/>
              </a:rPr>
              <a:t>三</a:t>
            </a:r>
            <a:r>
              <a:rPr lang="zh-CN" altLang="zh-CN" sz="2200">
                <a:solidFill>
                  <a:srgbClr val="0000FF"/>
                </a:solidFill>
                <a:latin typeface="楷体" pitchFamily="49" charset="-122"/>
                <a:ea typeface="楷体" pitchFamily="49" charset="-122"/>
              </a:rPr>
              <a:t>轮循环</a:t>
            </a:r>
            <a:endParaRPr lang="zh-CN" altLang="en-US" sz="2200">
              <a:solidFill>
                <a:srgbClr val="0000FF"/>
              </a:solidFill>
              <a:latin typeface="楷体" pitchFamily="49" charset="-122"/>
              <a:ea typeface="楷体" pitchFamily="49" charset="-122"/>
              <a:cs typeface="Consolas" pitchFamily="49" charset="0"/>
            </a:endParaRPr>
          </a:p>
        </p:txBody>
      </p:sp>
      <p:grpSp>
        <p:nvGrpSpPr>
          <p:cNvPr id="4" name="组合 3"/>
          <p:cNvGrpSpPr/>
          <p:nvPr/>
        </p:nvGrpSpPr>
        <p:grpSpPr>
          <a:xfrm>
            <a:off x="500034" y="1643050"/>
            <a:ext cx="1908550" cy="3112096"/>
            <a:chOff x="3367692" y="3582009"/>
            <a:chExt cx="1908550" cy="3112096"/>
          </a:xfrm>
        </p:grpSpPr>
        <p:sp>
          <p:nvSpPr>
            <p:cNvPr id="5" name="Text Box 23"/>
            <p:cNvSpPr txBox="1">
              <a:spLocks noChangeArrowheads="1"/>
            </p:cNvSpPr>
            <p:nvPr/>
          </p:nvSpPr>
          <p:spPr bwMode="auto">
            <a:xfrm>
              <a:off x="3787168" y="3963263"/>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0000FF"/>
                  </a:solidFill>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6" name="Text Box 21"/>
            <p:cNvSpPr txBox="1">
              <a:spLocks noChangeArrowheads="1"/>
            </p:cNvSpPr>
            <p:nvPr/>
          </p:nvSpPr>
          <p:spPr bwMode="auto">
            <a:xfrm>
              <a:off x="4262404" y="4381249"/>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7" name="Text Box 20"/>
            <p:cNvSpPr txBox="1">
              <a:spLocks noChangeArrowheads="1"/>
            </p:cNvSpPr>
            <p:nvPr/>
          </p:nvSpPr>
          <p:spPr bwMode="auto">
            <a:xfrm>
              <a:off x="4365055" y="5053826"/>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8" name="Text Box 18"/>
            <p:cNvSpPr txBox="1">
              <a:spLocks noChangeArrowheads="1"/>
            </p:cNvSpPr>
            <p:nvPr/>
          </p:nvSpPr>
          <p:spPr bwMode="auto">
            <a:xfrm>
              <a:off x="4714829" y="6041793"/>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0000FF"/>
                  </a:solidFill>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9" name="Text Box 16"/>
            <p:cNvSpPr txBox="1">
              <a:spLocks noChangeArrowheads="1"/>
            </p:cNvSpPr>
            <p:nvPr/>
          </p:nvSpPr>
          <p:spPr bwMode="auto">
            <a:xfrm>
              <a:off x="3704793" y="6037994"/>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0000FF"/>
                  </a:solidFill>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0" name="Oval 15"/>
            <p:cNvSpPr>
              <a:spLocks noChangeArrowheads="1"/>
            </p:cNvSpPr>
            <p:nvPr/>
          </p:nvSpPr>
          <p:spPr bwMode="auto">
            <a:xfrm>
              <a:off x="4125536" y="3582009"/>
              <a:ext cx="395397" cy="430652"/>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0</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1" name="Oval 14"/>
            <p:cNvSpPr>
              <a:spLocks noChangeArrowheads="1"/>
            </p:cNvSpPr>
            <p:nvPr/>
          </p:nvSpPr>
          <p:spPr bwMode="auto">
            <a:xfrm>
              <a:off x="3367692" y="4469913"/>
              <a:ext cx="395397" cy="43065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2" name="Oval 13"/>
            <p:cNvSpPr>
              <a:spLocks noChangeArrowheads="1"/>
            </p:cNvSpPr>
            <p:nvPr/>
          </p:nvSpPr>
          <p:spPr bwMode="auto">
            <a:xfrm>
              <a:off x="4880845" y="4469913"/>
              <a:ext cx="395397" cy="43065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3" name="Oval 12"/>
            <p:cNvSpPr>
              <a:spLocks noChangeArrowheads="1"/>
            </p:cNvSpPr>
            <p:nvPr/>
          </p:nvSpPr>
          <p:spPr bwMode="auto">
            <a:xfrm>
              <a:off x="3367692" y="5489545"/>
              <a:ext cx="395397" cy="43191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4" name="Oval 11"/>
            <p:cNvSpPr>
              <a:spLocks noChangeArrowheads="1"/>
            </p:cNvSpPr>
            <p:nvPr/>
          </p:nvSpPr>
          <p:spPr bwMode="auto">
            <a:xfrm>
              <a:off x="4880845" y="5489545"/>
              <a:ext cx="395397" cy="43191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5" name="Oval 10"/>
            <p:cNvSpPr>
              <a:spLocks noChangeArrowheads="1"/>
            </p:cNvSpPr>
            <p:nvPr/>
          </p:nvSpPr>
          <p:spPr bwMode="auto">
            <a:xfrm>
              <a:off x="4125536" y="6263453"/>
              <a:ext cx="395397" cy="430652"/>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5</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6" name="AutoShape 9"/>
            <p:cNvSpPr>
              <a:spLocks noChangeShapeType="1"/>
            </p:cNvSpPr>
            <p:nvPr/>
          </p:nvSpPr>
          <p:spPr bwMode="auto">
            <a:xfrm flipH="1">
              <a:off x="3704793" y="3949330"/>
              <a:ext cx="479038" cy="583914"/>
            </a:xfrm>
            <a:prstGeom prst="straightConnector1">
              <a:avLst/>
            </a:prstGeom>
            <a:noFill/>
            <a:ln w="19050">
              <a:solidFill>
                <a:schemeClr val="tx1"/>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18" name="AutoShape 7"/>
            <p:cNvSpPr>
              <a:spLocks noChangeShapeType="1"/>
            </p:cNvSpPr>
            <p:nvPr/>
          </p:nvSpPr>
          <p:spPr bwMode="auto">
            <a:xfrm>
              <a:off x="3763089" y="4685239"/>
              <a:ext cx="1117756" cy="1267"/>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19" name="AutoShape 6"/>
            <p:cNvSpPr>
              <a:spLocks noChangeShapeType="1"/>
            </p:cNvSpPr>
            <p:nvPr/>
          </p:nvSpPr>
          <p:spPr bwMode="auto">
            <a:xfrm>
              <a:off x="3704793" y="4837234"/>
              <a:ext cx="1176052" cy="86890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20" name="AutoShape 3"/>
            <p:cNvSpPr>
              <a:spLocks noChangeShapeType="1"/>
            </p:cNvSpPr>
            <p:nvPr/>
          </p:nvSpPr>
          <p:spPr bwMode="auto">
            <a:xfrm>
              <a:off x="3704793" y="5858133"/>
              <a:ext cx="479038" cy="468651"/>
            </a:xfrm>
            <a:prstGeom prst="straightConnector1">
              <a:avLst/>
            </a:prstGeom>
            <a:noFill/>
            <a:ln w="19050">
              <a:solidFill>
                <a:schemeClr val="tx1"/>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21" name="AutoShape 2"/>
            <p:cNvSpPr>
              <a:spLocks noChangeShapeType="1"/>
            </p:cNvSpPr>
            <p:nvPr/>
          </p:nvSpPr>
          <p:spPr bwMode="auto">
            <a:xfrm flipH="1">
              <a:off x="4462637" y="5858133"/>
              <a:ext cx="476504" cy="468651"/>
            </a:xfrm>
            <a:prstGeom prst="straightConnector1">
              <a:avLst/>
            </a:prstGeom>
            <a:noFill/>
            <a:ln w="19050">
              <a:solidFill>
                <a:schemeClr val="tx1"/>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grpSp>
      <p:sp>
        <p:nvSpPr>
          <p:cNvPr id="22" name="TextBox 21"/>
          <p:cNvSpPr txBox="1"/>
          <p:nvPr/>
        </p:nvSpPr>
        <p:spPr>
          <a:xfrm>
            <a:off x="2592012" y="2888672"/>
            <a:ext cx="3714776" cy="707886"/>
          </a:xfrm>
          <a:prstGeom prst="rect">
            <a:avLst/>
          </a:prstGeom>
          <a:noFill/>
        </p:spPr>
        <p:txBody>
          <a:bodyPr wrap="square" rtlCol="0">
            <a:spAutoFit/>
          </a:bodyPr>
          <a:lstStyle/>
          <a:p>
            <a:pPr algn="l">
              <a:lnSpc>
                <a:spcPct val="100000"/>
              </a:lnSpc>
              <a:spcBef>
                <a:spcPts val="0"/>
              </a:spcBef>
            </a:pPr>
            <a:r>
              <a:rPr lang="zh-CN" altLang="zh-CN" sz="2000">
                <a:solidFill>
                  <a:srgbClr val="0000FF"/>
                </a:solidFill>
                <a:latin typeface="Consolas" pitchFamily="49" charset="0"/>
                <a:ea typeface="仿宋" pitchFamily="49" charset="-122"/>
              </a:rPr>
              <a:t>找到的一条从源点</a:t>
            </a:r>
            <a:r>
              <a:rPr lang="en-US" altLang="zh-CN" sz="2000">
                <a:solidFill>
                  <a:srgbClr val="0000FF"/>
                </a:solidFill>
                <a:latin typeface="Consolas" pitchFamily="49" charset="0"/>
                <a:ea typeface="仿宋" pitchFamily="49" charset="-122"/>
              </a:rPr>
              <a:t>0</a:t>
            </a:r>
            <a:r>
              <a:rPr lang="zh-CN" altLang="zh-CN" sz="2000">
                <a:solidFill>
                  <a:srgbClr val="0000FF"/>
                </a:solidFill>
                <a:latin typeface="Consolas" pitchFamily="49" charset="0"/>
                <a:ea typeface="仿宋" pitchFamily="49" charset="-122"/>
              </a:rPr>
              <a:t>到汇点</a:t>
            </a:r>
            <a:r>
              <a:rPr lang="en-US" altLang="zh-CN" sz="2000">
                <a:solidFill>
                  <a:srgbClr val="0000FF"/>
                </a:solidFill>
                <a:latin typeface="Consolas" pitchFamily="49" charset="0"/>
                <a:ea typeface="仿宋" pitchFamily="49" charset="-122"/>
              </a:rPr>
              <a:t>5</a:t>
            </a:r>
            <a:r>
              <a:rPr lang="zh-CN" altLang="zh-CN" sz="2000">
                <a:solidFill>
                  <a:srgbClr val="0000FF"/>
                </a:solidFill>
                <a:latin typeface="Consolas" pitchFamily="49" charset="0"/>
                <a:ea typeface="仿宋" pitchFamily="49" charset="-122"/>
              </a:rPr>
              <a:t>的一条增广路径是</a:t>
            </a:r>
            <a:r>
              <a:rPr lang="en-US" altLang="zh-CN" sz="2000">
                <a:solidFill>
                  <a:srgbClr val="0000FF"/>
                </a:solidFill>
                <a:latin typeface="Consolas" pitchFamily="49" charset="0"/>
                <a:ea typeface="仿宋" pitchFamily="49" charset="-122"/>
              </a:rPr>
              <a:t>0</a:t>
            </a:r>
            <a:r>
              <a:rPr lang="zh-CN" altLang="zh-CN" sz="2000">
                <a:solidFill>
                  <a:srgbClr val="0000FF"/>
                </a:solidFill>
                <a:latin typeface="Consolas" pitchFamily="49" charset="0"/>
                <a:ea typeface="仿宋" pitchFamily="49" charset="-122"/>
              </a:rPr>
              <a:t>→</a:t>
            </a:r>
            <a:r>
              <a:rPr lang="en-US" altLang="zh-CN" sz="2000">
                <a:solidFill>
                  <a:srgbClr val="0000FF"/>
                </a:solidFill>
                <a:latin typeface="Consolas" pitchFamily="49" charset="0"/>
                <a:ea typeface="仿宋" pitchFamily="49" charset="-122"/>
              </a:rPr>
              <a:t>1</a:t>
            </a:r>
            <a:r>
              <a:rPr lang="zh-CN" altLang="zh-CN" sz="2000">
                <a:solidFill>
                  <a:srgbClr val="0000FF"/>
                </a:solidFill>
                <a:latin typeface="Consolas" pitchFamily="49" charset="0"/>
                <a:ea typeface="仿宋" pitchFamily="49" charset="-122"/>
              </a:rPr>
              <a:t>→</a:t>
            </a:r>
            <a:r>
              <a:rPr lang="en-US" altLang="zh-CN" sz="2000">
                <a:solidFill>
                  <a:srgbClr val="0000FF"/>
                </a:solidFill>
                <a:latin typeface="Consolas" pitchFamily="49" charset="0"/>
                <a:ea typeface="仿宋" pitchFamily="49" charset="-122"/>
              </a:rPr>
              <a:t>4</a:t>
            </a:r>
            <a:r>
              <a:rPr lang="zh-CN" altLang="zh-CN" sz="2000">
                <a:solidFill>
                  <a:srgbClr val="0000FF"/>
                </a:solidFill>
                <a:latin typeface="Consolas" pitchFamily="49" charset="0"/>
                <a:ea typeface="仿宋" pitchFamily="49" charset="-122"/>
              </a:rPr>
              <a:t>→</a:t>
            </a:r>
            <a:r>
              <a:rPr lang="en-US" altLang="zh-CN" sz="2000">
                <a:solidFill>
                  <a:srgbClr val="0000FF"/>
                </a:solidFill>
                <a:latin typeface="Consolas" pitchFamily="49" charset="0"/>
                <a:ea typeface="仿宋" pitchFamily="49" charset="-122"/>
              </a:rPr>
              <a:t>5</a:t>
            </a:r>
            <a:endParaRPr lang="zh-CN" altLang="en-US" sz="2000">
              <a:solidFill>
                <a:srgbClr val="0000FF"/>
              </a:solidFill>
              <a:latin typeface="Consolas" pitchFamily="49" charset="0"/>
              <a:ea typeface="仿宋" pitchFamily="49" charset="-122"/>
              <a:cs typeface="Consolas" pitchFamily="49" charset="0"/>
            </a:endParaRPr>
          </a:p>
        </p:txBody>
      </p:sp>
      <p:sp>
        <p:nvSpPr>
          <p:cNvPr id="23" name="右箭头 22"/>
          <p:cNvSpPr/>
          <p:nvPr/>
        </p:nvSpPr>
        <p:spPr>
          <a:xfrm>
            <a:off x="2663450" y="3674490"/>
            <a:ext cx="3286148" cy="214314"/>
          </a:xfrm>
          <a:prstGeom prst="right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grpSp>
        <p:nvGrpSpPr>
          <p:cNvPr id="24" name="组合 23"/>
          <p:cNvGrpSpPr/>
          <p:nvPr/>
        </p:nvGrpSpPr>
        <p:grpSpPr>
          <a:xfrm>
            <a:off x="6521102" y="1643050"/>
            <a:ext cx="1908550" cy="3112096"/>
            <a:chOff x="3367692" y="3582009"/>
            <a:chExt cx="1908550" cy="3112096"/>
          </a:xfrm>
        </p:grpSpPr>
        <p:sp>
          <p:nvSpPr>
            <p:cNvPr id="25" name="Text Box 23"/>
            <p:cNvSpPr txBox="1">
              <a:spLocks noChangeArrowheads="1"/>
            </p:cNvSpPr>
            <p:nvPr/>
          </p:nvSpPr>
          <p:spPr bwMode="auto">
            <a:xfrm>
              <a:off x="3787168" y="3963263"/>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0000FF"/>
                  </a:solidFill>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6" name="Text Box 21"/>
            <p:cNvSpPr txBox="1">
              <a:spLocks noChangeArrowheads="1"/>
            </p:cNvSpPr>
            <p:nvPr/>
          </p:nvSpPr>
          <p:spPr bwMode="auto">
            <a:xfrm>
              <a:off x="4262404" y="4381249"/>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7" name="Text Box 20"/>
            <p:cNvSpPr txBox="1">
              <a:spLocks noChangeArrowheads="1"/>
            </p:cNvSpPr>
            <p:nvPr/>
          </p:nvSpPr>
          <p:spPr bwMode="auto">
            <a:xfrm>
              <a:off x="4365055" y="5053826"/>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8" name="Text Box 18"/>
            <p:cNvSpPr txBox="1">
              <a:spLocks noChangeArrowheads="1"/>
            </p:cNvSpPr>
            <p:nvPr/>
          </p:nvSpPr>
          <p:spPr bwMode="auto">
            <a:xfrm>
              <a:off x="4714829" y="6041793"/>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0000FF"/>
                  </a:solidFill>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9" name="Text Box 16"/>
            <p:cNvSpPr txBox="1">
              <a:spLocks noChangeArrowheads="1"/>
            </p:cNvSpPr>
            <p:nvPr/>
          </p:nvSpPr>
          <p:spPr bwMode="auto">
            <a:xfrm>
              <a:off x="3704793" y="6037994"/>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0000FF"/>
                  </a:solidFill>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0" name="Oval 15"/>
            <p:cNvSpPr>
              <a:spLocks noChangeArrowheads="1"/>
            </p:cNvSpPr>
            <p:nvPr/>
          </p:nvSpPr>
          <p:spPr bwMode="auto">
            <a:xfrm>
              <a:off x="4125536" y="3582009"/>
              <a:ext cx="395397" cy="430652"/>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0</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1" name="Oval 14"/>
            <p:cNvSpPr>
              <a:spLocks noChangeArrowheads="1"/>
            </p:cNvSpPr>
            <p:nvPr/>
          </p:nvSpPr>
          <p:spPr bwMode="auto">
            <a:xfrm>
              <a:off x="3367692" y="4469913"/>
              <a:ext cx="395397" cy="43065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2" name="Oval 13"/>
            <p:cNvSpPr>
              <a:spLocks noChangeArrowheads="1"/>
            </p:cNvSpPr>
            <p:nvPr/>
          </p:nvSpPr>
          <p:spPr bwMode="auto">
            <a:xfrm>
              <a:off x="4880845" y="4469913"/>
              <a:ext cx="395397" cy="43065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3" name="Oval 12"/>
            <p:cNvSpPr>
              <a:spLocks noChangeArrowheads="1"/>
            </p:cNvSpPr>
            <p:nvPr/>
          </p:nvSpPr>
          <p:spPr bwMode="auto">
            <a:xfrm>
              <a:off x="3367692" y="5489545"/>
              <a:ext cx="395397" cy="43191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4" name="Oval 11"/>
            <p:cNvSpPr>
              <a:spLocks noChangeArrowheads="1"/>
            </p:cNvSpPr>
            <p:nvPr/>
          </p:nvSpPr>
          <p:spPr bwMode="auto">
            <a:xfrm>
              <a:off x="4880845" y="5489545"/>
              <a:ext cx="395397" cy="43191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5" name="Oval 10"/>
            <p:cNvSpPr>
              <a:spLocks noChangeArrowheads="1"/>
            </p:cNvSpPr>
            <p:nvPr/>
          </p:nvSpPr>
          <p:spPr bwMode="auto">
            <a:xfrm>
              <a:off x="4125536" y="6263453"/>
              <a:ext cx="395397" cy="430652"/>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5</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6" name="AutoShape 9"/>
            <p:cNvSpPr>
              <a:spLocks noChangeShapeType="1"/>
            </p:cNvSpPr>
            <p:nvPr/>
          </p:nvSpPr>
          <p:spPr bwMode="auto">
            <a:xfrm flipH="1">
              <a:off x="3704793" y="3949330"/>
              <a:ext cx="479038" cy="583914"/>
            </a:xfrm>
            <a:prstGeom prst="straightConnector1">
              <a:avLst/>
            </a:prstGeom>
            <a:noFill/>
            <a:ln w="19050">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37" name="AutoShape 7"/>
            <p:cNvSpPr>
              <a:spLocks noChangeShapeType="1"/>
            </p:cNvSpPr>
            <p:nvPr/>
          </p:nvSpPr>
          <p:spPr bwMode="auto">
            <a:xfrm>
              <a:off x="3763089" y="4685239"/>
              <a:ext cx="1117756" cy="1267"/>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38" name="AutoShape 6"/>
            <p:cNvSpPr>
              <a:spLocks noChangeShapeType="1"/>
            </p:cNvSpPr>
            <p:nvPr/>
          </p:nvSpPr>
          <p:spPr bwMode="auto">
            <a:xfrm>
              <a:off x="3704793" y="4837234"/>
              <a:ext cx="1176052" cy="868904"/>
            </a:xfrm>
            <a:prstGeom prst="straightConnector1">
              <a:avLst/>
            </a:prstGeom>
            <a:noFill/>
            <a:ln w="19050">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39" name="AutoShape 3"/>
            <p:cNvSpPr>
              <a:spLocks noChangeShapeType="1"/>
            </p:cNvSpPr>
            <p:nvPr/>
          </p:nvSpPr>
          <p:spPr bwMode="auto">
            <a:xfrm>
              <a:off x="3704793" y="5858133"/>
              <a:ext cx="479038" cy="468651"/>
            </a:xfrm>
            <a:prstGeom prst="straightConnector1">
              <a:avLst/>
            </a:prstGeom>
            <a:noFill/>
            <a:ln w="19050">
              <a:solidFill>
                <a:schemeClr val="tx1"/>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40" name="AutoShape 2"/>
            <p:cNvSpPr>
              <a:spLocks noChangeShapeType="1"/>
            </p:cNvSpPr>
            <p:nvPr/>
          </p:nvSpPr>
          <p:spPr bwMode="auto">
            <a:xfrm flipH="1">
              <a:off x="4462637" y="5858133"/>
              <a:ext cx="476504" cy="468651"/>
            </a:xfrm>
            <a:prstGeom prst="straightConnector1">
              <a:avLst/>
            </a:prstGeom>
            <a:noFill/>
            <a:ln w="19050">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grpSp>
      <p:sp>
        <p:nvSpPr>
          <p:cNvPr id="42" name="灯片编号占位符 41"/>
          <p:cNvSpPr>
            <a:spLocks noGrp="1"/>
          </p:cNvSpPr>
          <p:nvPr>
            <p:ph type="sldNum" sz="quarter" idx="12"/>
          </p:nvPr>
        </p:nvSpPr>
        <p:spPr/>
        <p:txBody>
          <a:bodyPr/>
          <a:lstStyle/>
          <a:p>
            <a:fld id="{7AF016A1-9F15-429F-9EFD-84004B73C732}" type="slidenum">
              <a:rPr lang="en-US" altLang="zh-CN" smtClean="0"/>
              <a:pPr/>
              <a:t>92</a:t>
            </a:fld>
            <a:r>
              <a:rPr lang="en-US" altLang="zh-CN"/>
              <a:t>/158</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57158" y="1285860"/>
            <a:ext cx="1908550" cy="3112096"/>
            <a:chOff x="3367692" y="3582009"/>
            <a:chExt cx="1908550" cy="3112096"/>
          </a:xfrm>
        </p:grpSpPr>
        <p:sp>
          <p:nvSpPr>
            <p:cNvPr id="4" name="Text Box 23"/>
            <p:cNvSpPr txBox="1">
              <a:spLocks noChangeArrowheads="1"/>
            </p:cNvSpPr>
            <p:nvPr/>
          </p:nvSpPr>
          <p:spPr bwMode="auto">
            <a:xfrm>
              <a:off x="3787168" y="3963263"/>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0000FF"/>
                  </a:solidFill>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 name="Text Box 21"/>
            <p:cNvSpPr txBox="1">
              <a:spLocks noChangeArrowheads="1"/>
            </p:cNvSpPr>
            <p:nvPr/>
          </p:nvSpPr>
          <p:spPr bwMode="auto">
            <a:xfrm>
              <a:off x="4262404" y="4381249"/>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6" name="Text Box 20"/>
            <p:cNvSpPr txBox="1">
              <a:spLocks noChangeArrowheads="1"/>
            </p:cNvSpPr>
            <p:nvPr/>
          </p:nvSpPr>
          <p:spPr bwMode="auto">
            <a:xfrm>
              <a:off x="4365055" y="5053826"/>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7" name="Text Box 18"/>
            <p:cNvSpPr txBox="1">
              <a:spLocks noChangeArrowheads="1"/>
            </p:cNvSpPr>
            <p:nvPr/>
          </p:nvSpPr>
          <p:spPr bwMode="auto">
            <a:xfrm>
              <a:off x="4714829" y="6041793"/>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0000FF"/>
                  </a:solidFill>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8" name="Text Box 16"/>
            <p:cNvSpPr txBox="1">
              <a:spLocks noChangeArrowheads="1"/>
            </p:cNvSpPr>
            <p:nvPr/>
          </p:nvSpPr>
          <p:spPr bwMode="auto">
            <a:xfrm>
              <a:off x="3704793" y="6037994"/>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0000FF"/>
                  </a:solidFill>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9" name="Oval 15"/>
            <p:cNvSpPr>
              <a:spLocks noChangeArrowheads="1"/>
            </p:cNvSpPr>
            <p:nvPr/>
          </p:nvSpPr>
          <p:spPr bwMode="auto">
            <a:xfrm>
              <a:off x="4125536" y="3582009"/>
              <a:ext cx="395397" cy="430652"/>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0</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0" name="Oval 14"/>
            <p:cNvSpPr>
              <a:spLocks noChangeArrowheads="1"/>
            </p:cNvSpPr>
            <p:nvPr/>
          </p:nvSpPr>
          <p:spPr bwMode="auto">
            <a:xfrm>
              <a:off x="3367692" y="4469913"/>
              <a:ext cx="395397" cy="43065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1" name="Oval 13"/>
            <p:cNvSpPr>
              <a:spLocks noChangeArrowheads="1"/>
            </p:cNvSpPr>
            <p:nvPr/>
          </p:nvSpPr>
          <p:spPr bwMode="auto">
            <a:xfrm>
              <a:off x="4880845" y="4469913"/>
              <a:ext cx="395397" cy="43065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2" name="Oval 12"/>
            <p:cNvSpPr>
              <a:spLocks noChangeArrowheads="1"/>
            </p:cNvSpPr>
            <p:nvPr/>
          </p:nvSpPr>
          <p:spPr bwMode="auto">
            <a:xfrm>
              <a:off x="3367692" y="5489545"/>
              <a:ext cx="395397" cy="43191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3" name="Oval 11"/>
            <p:cNvSpPr>
              <a:spLocks noChangeArrowheads="1"/>
            </p:cNvSpPr>
            <p:nvPr/>
          </p:nvSpPr>
          <p:spPr bwMode="auto">
            <a:xfrm>
              <a:off x="4880845" y="5489545"/>
              <a:ext cx="395397" cy="43191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4" name="Oval 10"/>
            <p:cNvSpPr>
              <a:spLocks noChangeArrowheads="1"/>
            </p:cNvSpPr>
            <p:nvPr/>
          </p:nvSpPr>
          <p:spPr bwMode="auto">
            <a:xfrm>
              <a:off x="4125536" y="6263453"/>
              <a:ext cx="395397" cy="430652"/>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5</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5" name="AutoShape 9"/>
            <p:cNvSpPr>
              <a:spLocks noChangeShapeType="1"/>
            </p:cNvSpPr>
            <p:nvPr/>
          </p:nvSpPr>
          <p:spPr bwMode="auto">
            <a:xfrm flipH="1">
              <a:off x="3704793" y="3949330"/>
              <a:ext cx="479038" cy="583914"/>
            </a:xfrm>
            <a:prstGeom prst="straightConnector1">
              <a:avLst/>
            </a:prstGeom>
            <a:noFill/>
            <a:ln w="19050">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16" name="AutoShape 7"/>
            <p:cNvSpPr>
              <a:spLocks noChangeShapeType="1"/>
            </p:cNvSpPr>
            <p:nvPr/>
          </p:nvSpPr>
          <p:spPr bwMode="auto">
            <a:xfrm>
              <a:off x="3763089" y="4685239"/>
              <a:ext cx="1117756" cy="1267"/>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18" name="AutoShape 6"/>
            <p:cNvSpPr>
              <a:spLocks noChangeShapeType="1"/>
            </p:cNvSpPr>
            <p:nvPr/>
          </p:nvSpPr>
          <p:spPr bwMode="auto">
            <a:xfrm>
              <a:off x="3704793" y="4837234"/>
              <a:ext cx="1176052" cy="868904"/>
            </a:xfrm>
            <a:prstGeom prst="straightConnector1">
              <a:avLst/>
            </a:prstGeom>
            <a:noFill/>
            <a:ln w="19050">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19" name="AutoShape 3"/>
            <p:cNvSpPr>
              <a:spLocks noChangeShapeType="1"/>
            </p:cNvSpPr>
            <p:nvPr/>
          </p:nvSpPr>
          <p:spPr bwMode="auto">
            <a:xfrm>
              <a:off x="3704793" y="5858133"/>
              <a:ext cx="479038" cy="468651"/>
            </a:xfrm>
            <a:prstGeom prst="straightConnector1">
              <a:avLst/>
            </a:prstGeom>
            <a:noFill/>
            <a:ln w="19050">
              <a:solidFill>
                <a:schemeClr val="tx1"/>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20" name="AutoShape 2"/>
            <p:cNvSpPr>
              <a:spLocks noChangeShapeType="1"/>
            </p:cNvSpPr>
            <p:nvPr/>
          </p:nvSpPr>
          <p:spPr bwMode="auto">
            <a:xfrm flipH="1">
              <a:off x="4462637" y="5858133"/>
              <a:ext cx="476504" cy="468651"/>
            </a:xfrm>
            <a:prstGeom prst="straightConnector1">
              <a:avLst/>
            </a:prstGeom>
            <a:noFill/>
            <a:ln w="19050">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grpSp>
      <p:sp>
        <p:nvSpPr>
          <p:cNvPr id="21" name="TextBox 20"/>
          <p:cNvSpPr txBox="1"/>
          <p:nvPr/>
        </p:nvSpPr>
        <p:spPr>
          <a:xfrm>
            <a:off x="2357422" y="1785926"/>
            <a:ext cx="4214842" cy="1323439"/>
          </a:xfrm>
          <a:prstGeom prst="rect">
            <a:avLst/>
          </a:prstGeom>
          <a:noFill/>
        </p:spPr>
        <p:txBody>
          <a:bodyPr wrap="square" rtlCol="0">
            <a:spAutoFit/>
          </a:bodyPr>
          <a:lstStyle/>
          <a:p>
            <a:pPr algn="l">
              <a:lnSpc>
                <a:spcPct val="100000"/>
              </a:lnSpc>
              <a:spcBef>
                <a:spcPts val="0"/>
              </a:spcBef>
            </a:pPr>
            <a:r>
              <a:rPr lang="zh-CN" altLang="zh-CN" sz="2000">
                <a:solidFill>
                  <a:srgbClr val="0000FF"/>
                </a:solidFill>
                <a:latin typeface="Consolas" pitchFamily="49" charset="0"/>
                <a:ea typeface="仿宋" pitchFamily="49" charset="-122"/>
              </a:rPr>
              <a:t>路径中边的最小容量为</a:t>
            </a:r>
            <a:r>
              <a:rPr lang="en-US" altLang="zh-CN" sz="2000">
                <a:solidFill>
                  <a:srgbClr val="0000FF"/>
                </a:solidFill>
                <a:latin typeface="Consolas" pitchFamily="49" charset="0"/>
                <a:ea typeface="仿宋" pitchFamily="49" charset="-122"/>
              </a:rPr>
              <a:t>1</a:t>
            </a:r>
            <a:r>
              <a:rPr lang="zh-CN" altLang="zh-CN" sz="2000">
                <a:solidFill>
                  <a:srgbClr val="0000FF"/>
                </a:solidFill>
                <a:latin typeface="Consolas" pitchFamily="49" charset="0"/>
                <a:ea typeface="仿宋" pitchFamily="49" charset="-122"/>
              </a:rPr>
              <a:t>，将该路径上所有边的容量减去</a:t>
            </a:r>
            <a:r>
              <a:rPr lang="en-US" altLang="zh-CN" sz="2000">
                <a:solidFill>
                  <a:srgbClr val="0000FF"/>
                </a:solidFill>
                <a:latin typeface="Consolas" pitchFamily="49" charset="0"/>
                <a:ea typeface="仿宋" pitchFamily="49" charset="-122"/>
              </a:rPr>
              <a:t>1</a:t>
            </a:r>
            <a:r>
              <a:rPr lang="zh-CN" altLang="zh-CN" sz="2000">
                <a:solidFill>
                  <a:srgbClr val="0000FF"/>
                </a:solidFill>
                <a:latin typeface="Consolas" pitchFamily="49" charset="0"/>
                <a:ea typeface="仿宋" pitchFamily="49" charset="-122"/>
              </a:rPr>
              <a:t>，得到对应边的剩余容量，其中两条边的剩余容量为</a:t>
            </a:r>
            <a:r>
              <a:rPr lang="en-US" altLang="zh-CN" sz="2000">
                <a:solidFill>
                  <a:srgbClr val="0000FF"/>
                </a:solidFill>
                <a:latin typeface="Consolas" pitchFamily="49" charset="0"/>
                <a:ea typeface="仿宋" pitchFamily="49" charset="-122"/>
              </a:rPr>
              <a:t>0</a:t>
            </a:r>
            <a:r>
              <a:rPr lang="zh-CN" altLang="zh-CN" sz="2000">
                <a:solidFill>
                  <a:srgbClr val="0000FF"/>
                </a:solidFill>
                <a:latin typeface="Consolas" pitchFamily="49" charset="0"/>
                <a:ea typeface="仿宋" pitchFamily="49" charset="-122"/>
              </a:rPr>
              <a:t>即饱和边，将饱和边移去</a:t>
            </a:r>
            <a:endParaRPr lang="zh-CN" altLang="en-US" sz="2000">
              <a:solidFill>
                <a:srgbClr val="0000FF"/>
              </a:solidFill>
              <a:latin typeface="Consolas" pitchFamily="49" charset="0"/>
              <a:ea typeface="仿宋" pitchFamily="49" charset="-122"/>
              <a:cs typeface="Consolas" pitchFamily="49" charset="0"/>
            </a:endParaRPr>
          </a:p>
        </p:txBody>
      </p:sp>
      <p:sp>
        <p:nvSpPr>
          <p:cNvPr id="22" name="右箭头 21"/>
          <p:cNvSpPr/>
          <p:nvPr/>
        </p:nvSpPr>
        <p:spPr>
          <a:xfrm>
            <a:off x="2786050" y="3143248"/>
            <a:ext cx="3286148" cy="214314"/>
          </a:xfrm>
          <a:prstGeom prst="right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grpSp>
        <p:nvGrpSpPr>
          <p:cNvPr id="23" name="组合 22"/>
          <p:cNvGrpSpPr/>
          <p:nvPr/>
        </p:nvGrpSpPr>
        <p:grpSpPr>
          <a:xfrm>
            <a:off x="6663978" y="1285860"/>
            <a:ext cx="1908550" cy="3112096"/>
            <a:chOff x="3367692" y="3582009"/>
            <a:chExt cx="1908550" cy="3112096"/>
          </a:xfrm>
        </p:grpSpPr>
        <p:sp>
          <p:nvSpPr>
            <p:cNvPr id="24" name="Text Box 23"/>
            <p:cNvSpPr txBox="1">
              <a:spLocks noChangeArrowheads="1"/>
            </p:cNvSpPr>
            <p:nvPr/>
          </p:nvSpPr>
          <p:spPr bwMode="auto">
            <a:xfrm>
              <a:off x="3787168" y="3963263"/>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0000FF"/>
                  </a:solidFill>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5" name="Text Box 21"/>
            <p:cNvSpPr txBox="1">
              <a:spLocks noChangeArrowheads="1"/>
            </p:cNvSpPr>
            <p:nvPr/>
          </p:nvSpPr>
          <p:spPr bwMode="auto">
            <a:xfrm>
              <a:off x="4262404" y="4381249"/>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6" name="Text Box 20"/>
            <p:cNvSpPr txBox="1">
              <a:spLocks noChangeArrowheads="1"/>
            </p:cNvSpPr>
            <p:nvPr/>
          </p:nvSpPr>
          <p:spPr bwMode="auto">
            <a:xfrm>
              <a:off x="4365055" y="5053826"/>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0000FF"/>
                  </a:solidFill>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8" name="Text Box 16"/>
            <p:cNvSpPr txBox="1">
              <a:spLocks noChangeArrowheads="1"/>
            </p:cNvSpPr>
            <p:nvPr/>
          </p:nvSpPr>
          <p:spPr bwMode="auto">
            <a:xfrm>
              <a:off x="3704793" y="6037994"/>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0000FF"/>
                  </a:solidFill>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9" name="Oval 15"/>
            <p:cNvSpPr>
              <a:spLocks noChangeArrowheads="1"/>
            </p:cNvSpPr>
            <p:nvPr/>
          </p:nvSpPr>
          <p:spPr bwMode="auto">
            <a:xfrm>
              <a:off x="4125536" y="3582009"/>
              <a:ext cx="395397" cy="430652"/>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0</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0" name="Oval 14"/>
            <p:cNvSpPr>
              <a:spLocks noChangeArrowheads="1"/>
            </p:cNvSpPr>
            <p:nvPr/>
          </p:nvSpPr>
          <p:spPr bwMode="auto">
            <a:xfrm>
              <a:off x="3367692" y="4469913"/>
              <a:ext cx="395397" cy="43065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1" name="Oval 13"/>
            <p:cNvSpPr>
              <a:spLocks noChangeArrowheads="1"/>
            </p:cNvSpPr>
            <p:nvPr/>
          </p:nvSpPr>
          <p:spPr bwMode="auto">
            <a:xfrm>
              <a:off x="4880845" y="4469913"/>
              <a:ext cx="395397" cy="43065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2" name="Oval 12"/>
            <p:cNvSpPr>
              <a:spLocks noChangeArrowheads="1"/>
            </p:cNvSpPr>
            <p:nvPr/>
          </p:nvSpPr>
          <p:spPr bwMode="auto">
            <a:xfrm>
              <a:off x="3367692" y="5489545"/>
              <a:ext cx="395397" cy="43191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3" name="Oval 11"/>
            <p:cNvSpPr>
              <a:spLocks noChangeArrowheads="1"/>
            </p:cNvSpPr>
            <p:nvPr/>
          </p:nvSpPr>
          <p:spPr bwMode="auto">
            <a:xfrm>
              <a:off x="4880845" y="5489545"/>
              <a:ext cx="395397" cy="43191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4" name="Oval 10"/>
            <p:cNvSpPr>
              <a:spLocks noChangeArrowheads="1"/>
            </p:cNvSpPr>
            <p:nvPr/>
          </p:nvSpPr>
          <p:spPr bwMode="auto">
            <a:xfrm>
              <a:off x="4125536" y="6263453"/>
              <a:ext cx="395397" cy="430652"/>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5</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5" name="AutoShape 9"/>
            <p:cNvSpPr>
              <a:spLocks noChangeShapeType="1"/>
            </p:cNvSpPr>
            <p:nvPr/>
          </p:nvSpPr>
          <p:spPr bwMode="auto">
            <a:xfrm flipH="1">
              <a:off x="3704793" y="3949330"/>
              <a:ext cx="479038" cy="583914"/>
            </a:xfrm>
            <a:prstGeom prst="straightConnector1">
              <a:avLst/>
            </a:prstGeom>
            <a:noFill/>
            <a:ln w="19050">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36" name="AutoShape 7"/>
            <p:cNvSpPr>
              <a:spLocks noChangeShapeType="1"/>
            </p:cNvSpPr>
            <p:nvPr/>
          </p:nvSpPr>
          <p:spPr bwMode="auto">
            <a:xfrm>
              <a:off x="3763089" y="4685239"/>
              <a:ext cx="1117756" cy="1267"/>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37" name="AutoShape 6"/>
            <p:cNvSpPr>
              <a:spLocks noChangeShapeType="1"/>
            </p:cNvSpPr>
            <p:nvPr/>
          </p:nvSpPr>
          <p:spPr bwMode="auto">
            <a:xfrm>
              <a:off x="3704793" y="4837234"/>
              <a:ext cx="1176052" cy="868904"/>
            </a:xfrm>
            <a:prstGeom prst="straightConnector1">
              <a:avLst/>
            </a:prstGeom>
            <a:noFill/>
            <a:ln w="19050">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38" name="AutoShape 3"/>
            <p:cNvSpPr>
              <a:spLocks noChangeShapeType="1"/>
            </p:cNvSpPr>
            <p:nvPr/>
          </p:nvSpPr>
          <p:spPr bwMode="auto">
            <a:xfrm>
              <a:off x="3704793" y="5858133"/>
              <a:ext cx="479038" cy="468651"/>
            </a:xfrm>
            <a:prstGeom prst="straightConnector1">
              <a:avLst/>
            </a:prstGeom>
            <a:noFill/>
            <a:ln w="19050">
              <a:solidFill>
                <a:schemeClr val="tx1"/>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grpSp>
      <p:sp>
        <p:nvSpPr>
          <p:cNvPr id="40" name="灯片编号占位符 39"/>
          <p:cNvSpPr>
            <a:spLocks noGrp="1"/>
          </p:cNvSpPr>
          <p:nvPr>
            <p:ph type="sldNum" sz="quarter" idx="12"/>
          </p:nvPr>
        </p:nvSpPr>
        <p:spPr/>
        <p:txBody>
          <a:bodyPr/>
          <a:lstStyle/>
          <a:p>
            <a:fld id="{7AF016A1-9F15-429F-9EFD-84004B73C732}" type="slidenum">
              <a:rPr lang="en-US" altLang="zh-CN" smtClean="0"/>
              <a:pPr/>
              <a:t>93</a:t>
            </a:fld>
            <a:r>
              <a:rPr lang="en-US" altLang="zh-CN"/>
              <a:t>/158</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286116" y="1817102"/>
            <a:ext cx="1908550" cy="3112096"/>
            <a:chOff x="3367692" y="3582009"/>
            <a:chExt cx="1908550" cy="3112096"/>
          </a:xfrm>
        </p:grpSpPr>
        <p:sp>
          <p:nvSpPr>
            <p:cNvPr id="4" name="Text Box 23"/>
            <p:cNvSpPr txBox="1">
              <a:spLocks noChangeArrowheads="1"/>
            </p:cNvSpPr>
            <p:nvPr/>
          </p:nvSpPr>
          <p:spPr bwMode="auto">
            <a:xfrm>
              <a:off x="3787168" y="3963263"/>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0000FF"/>
                  </a:solidFill>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 name="Text Box 21"/>
            <p:cNvSpPr txBox="1">
              <a:spLocks noChangeArrowheads="1"/>
            </p:cNvSpPr>
            <p:nvPr/>
          </p:nvSpPr>
          <p:spPr bwMode="auto">
            <a:xfrm>
              <a:off x="4262404" y="4381249"/>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6" name="Text Box 20"/>
            <p:cNvSpPr txBox="1">
              <a:spLocks noChangeArrowheads="1"/>
            </p:cNvSpPr>
            <p:nvPr/>
          </p:nvSpPr>
          <p:spPr bwMode="auto">
            <a:xfrm>
              <a:off x="4365055" y="5053826"/>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0000FF"/>
                  </a:solidFill>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7" name="Text Box 16"/>
            <p:cNvSpPr txBox="1">
              <a:spLocks noChangeArrowheads="1"/>
            </p:cNvSpPr>
            <p:nvPr/>
          </p:nvSpPr>
          <p:spPr bwMode="auto">
            <a:xfrm>
              <a:off x="3704793" y="6037994"/>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0000FF"/>
                  </a:solidFill>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8" name="Oval 15"/>
            <p:cNvSpPr>
              <a:spLocks noChangeArrowheads="1"/>
            </p:cNvSpPr>
            <p:nvPr/>
          </p:nvSpPr>
          <p:spPr bwMode="auto">
            <a:xfrm>
              <a:off x="4125536" y="3582009"/>
              <a:ext cx="395397" cy="430652"/>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0</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9" name="Oval 14"/>
            <p:cNvSpPr>
              <a:spLocks noChangeArrowheads="1"/>
            </p:cNvSpPr>
            <p:nvPr/>
          </p:nvSpPr>
          <p:spPr bwMode="auto">
            <a:xfrm>
              <a:off x="3367692" y="4469913"/>
              <a:ext cx="395397" cy="43065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0" name="Oval 13"/>
            <p:cNvSpPr>
              <a:spLocks noChangeArrowheads="1"/>
            </p:cNvSpPr>
            <p:nvPr/>
          </p:nvSpPr>
          <p:spPr bwMode="auto">
            <a:xfrm>
              <a:off x="4880845" y="4469913"/>
              <a:ext cx="395397" cy="43065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1" name="Oval 12"/>
            <p:cNvSpPr>
              <a:spLocks noChangeArrowheads="1"/>
            </p:cNvSpPr>
            <p:nvPr/>
          </p:nvSpPr>
          <p:spPr bwMode="auto">
            <a:xfrm>
              <a:off x="3367692" y="5489545"/>
              <a:ext cx="395397" cy="43191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2" name="Oval 11"/>
            <p:cNvSpPr>
              <a:spLocks noChangeArrowheads="1"/>
            </p:cNvSpPr>
            <p:nvPr/>
          </p:nvSpPr>
          <p:spPr bwMode="auto">
            <a:xfrm>
              <a:off x="4880845" y="5489545"/>
              <a:ext cx="395397" cy="43191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3" name="Oval 10"/>
            <p:cNvSpPr>
              <a:spLocks noChangeArrowheads="1"/>
            </p:cNvSpPr>
            <p:nvPr/>
          </p:nvSpPr>
          <p:spPr bwMode="auto">
            <a:xfrm>
              <a:off x="4125536" y="6263453"/>
              <a:ext cx="395397" cy="430652"/>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5</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4" name="AutoShape 9"/>
            <p:cNvSpPr>
              <a:spLocks noChangeShapeType="1"/>
            </p:cNvSpPr>
            <p:nvPr/>
          </p:nvSpPr>
          <p:spPr bwMode="auto">
            <a:xfrm flipH="1">
              <a:off x="3704793" y="3949330"/>
              <a:ext cx="479038" cy="583914"/>
            </a:xfrm>
            <a:prstGeom prst="straightConnector1">
              <a:avLst/>
            </a:prstGeom>
            <a:noFill/>
            <a:ln w="19050">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15" name="AutoShape 7"/>
            <p:cNvSpPr>
              <a:spLocks noChangeShapeType="1"/>
            </p:cNvSpPr>
            <p:nvPr/>
          </p:nvSpPr>
          <p:spPr bwMode="auto">
            <a:xfrm>
              <a:off x="3763089" y="4685239"/>
              <a:ext cx="1117756" cy="1267"/>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16" name="AutoShape 6"/>
            <p:cNvSpPr>
              <a:spLocks noChangeShapeType="1"/>
            </p:cNvSpPr>
            <p:nvPr/>
          </p:nvSpPr>
          <p:spPr bwMode="auto">
            <a:xfrm>
              <a:off x="3704793" y="4837234"/>
              <a:ext cx="1176052" cy="868904"/>
            </a:xfrm>
            <a:prstGeom prst="straightConnector1">
              <a:avLst/>
            </a:prstGeom>
            <a:noFill/>
            <a:ln w="19050">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18" name="AutoShape 3"/>
            <p:cNvSpPr>
              <a:spLocks noChangeShapeType="1"/>
            </p:cNvSpPr>
            <p:nvPr/>
          </p:nvSpPr>
          <p:spPr bwMode="auto">
            <a:xfrm>
              <a:off x="3704793" y="5858133"/>
              <a:ext cx="479038" cy="468651"/>
            </a:xfrm>
            <a:prstGeom prst="straightConnector1">
              <a:avLst/>
            </a:prstGeom>
            <a:noFill/>
            <a:ln w="19050">
              <a:solidFill>
                <a:schemeClr val="tx1"/>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grpSp>
      <p:sp>
        <p:nvSpPr>
          <p:cNvPr id="19" name="TextBox 18"/>
          <p:cNvSpPr txBox="1"/>
          <p:nvPr/>
        </p:nvSpPr>
        <p:spPr>
          <a:xfrm>
            <a:off x="428596" y="714356"/>
            <a:ext cx="1714512" cy="430887"/>
          </a:xfrm>
          <a:prstGeom prst="rect">
            <a:avLst/>
          </a:prstGeom>
          <a:noFill/>
        </p:spPr>
        <p:txBody>
          <a:bodyPr wrap="square" rtlCol="0">
            <a:spAutoFit/>
          </a:bodyPr>
          <a:lstStyle/>
          <a:p>
            <a:pPr algn="l">
              <a:lnSpc>
                <a:spcPct val="100000"/>
              </a:lnSpc>
              <a:spcBef>
                <a:spcPts val="0"/>
              </a:spcBef>
            </a:pPr>
            <a:r>
              <a:rPr lang="zh-CN" altLang="zh-CN" sz="2200">
                <a:solidFill>
                  <a:srgbClr val="0000FF"/>
                </a:solidFill>
                <a:latin typeface="楷体" pitchFamily="49" charset="-122"/>
                <a:ea typeface="楷体" pitchFamily="49" charset="-122"/>
              </a:rPr>
              <a:t>第</a:t>
            </a:r>
            <a:r>
              <a:rPr lang="zh-CN" altLang="en-US" sz="2200">
                <a:solidFill>
                  <a:srgbClr val="0000FF"/>
                </a:solidFill>
                <a:latin typeface="楷体" pitchFamily="49" charset="-122"/>
                <a:ea typeface="楷体" pitchFamily="49" charset="-122"/>
              </a:rPr>
              <a:t>四</a:t>
            </a:r>
            <a:r>
              <a:rPr lang="zh-CN" altLang="zh-CN" sz="2200">
                <a:solidFill>
                  <a:srgbClr val="0000FF"/>
                </a:solidFill>
                <a:latin typeface="楷体" pitchFamily="49" charset="-122"/>
                <a:ea typeface="楷体" pitchFamily="49" charset="-122"/>
              </a:rPr>
              <a:t>轮循环</a:t>
            </a:r>
            <a:endParaRPr lang="zh-CN" altLang="en-US" sz="2200">
              <a:solidFill>
                <a:srgbClr val="0000FF"/>
              </a:solidFill>
              <a:latin typeface="楷体" pitchFamily="49" charset="-122"/>
              <a:ea typeface="楷体" pitchFamily="49" charset="-122"/>
              <a:cs typeface="Consolas" pitchFamily="49" charset="0"/>
            </a:endParaRPr>
          </a:p>
        </p:txBody>
      </p:sp>
      <p:sp>
        <p:nvSpPr>
          <p:cNvPr id="20" name="TextBox 19"/>
          <p:cNvSpPr txBox="1"/>
          <p:nvPr/>
        </p:nvSpPr>
        <p:spPr>
          <a:xfrm>
            <a:off x="357158" y="5357826"/>
            <a:ext cx="5143536" cy="769441"/>
          </a:xfrm>
          <a:prstGeom prst="rect">
            <a:avLst/>
          </a:prstGeom>
          <a:noFill/>
        </p:spPr>
        <p:txBody>
          <a:bodyPr wrap="square" rtlCol="0">
            <a:spAutoFit/>
          </a:bodyPr>
          <a:lstStyle/>
          <a:p>
            <a:pPr algn="l">
              <a:lnSpc>
                <a:spcPct val="100000"/>
              </a:lnSpc>
              <a:spcBef>
                <a:spcPts val="0"/>
              </a:spcBef>
            </a:pPr>
            <a:r>
              <a:rPr lang="zh-CN" altLang="zh-CN" sz="2200">
                <a:solidFill>
                  <a:srgbClr val="0000FF"/>
                </a:solidFill>
                <a:latin typeface="Consolas" pitchFamily="49" charset="0"/>
                <a:ea typeface="仿宋" pitchFamily="49" charset="-122"/>
              </a:rPr>
              <a:t>找不到源点</a:t>
            </a:r>
            <a:r>
              <a:rPr lang="en-US" altLang="zh-CN" sz="2200">
                <a:solidFill>
                  <a:srgbClr val="0000FF"/>
                </a:solidFill>
                <a:latin typeface="Consolas" pitchFamily="49" charset="0"/>
                <a:ea typeface="仿宋" pitchFamily="49" charset="-122"/>
              </a:rPr>
              <a:t>0</a:t>
            </a:r>
            <a:r>
              <a:rPr lang="zh-CN" altLang="zh-CN" sz="2200">
                <a:solidFill>
                  <a:srgbClr val="0000FF"/>
                </a:solidFill>
                <a:latin typeface="Consolas" pitchFamily="49" charset="0"/>
                <a:ea typeface="仿宋" pitchFamily="49" charset="-122"/>
              </a:rPr>
              <a:t>到汇点</a:t>
            </a:r>
            <a:r>
              <a:rPr lang="en-US" altLang="zh-CN" sz="2200">
                <a:solidFill>
                  <a:srgbClr val="0000FF"/>
                </a:solidFill>
                <a:latin typeface="Consolas" pitchFamily="49" charset="0"/>
                <a:ea typeface="仿宋" pitchFamily="49" charset="-122"/>
              </a:rPr>
              <a:t>5</a:t>
            </a:r>
            <a:r>
              <a:rPr lang="zh-CN" altLang="zh-CN" sz="2200">
                <a:solidFill>
                  <a:srgbClr val="0000FF"/>
                </a:solidFill>
                <a:latin typeface="Consolas" pitchFamily="49" charset="0"/>
                <a:ea typeface="仿宋" pitchFamily="49" charset="-122"/>
              </a:rPr>
              <a:t>的增广路径，</a:t>
            </a:r>
            <a:r>
              <a:rPr lang="zh-CN" altLang="en-US" sz="2200">
                <a:solidFill>
                  <a:srgbClr val="0000FF"/>
                </a:solidFill>
                <a:latin typeface="Consolas" pitchFamily="49" charset="0"/>
                <a:ea typeface="仿宋" pitchFamily="49" charset="-122"/>
              </a:rPr>
              <a:t>结束。</a:t>
            </a:r>
            <a:r>
              <a:rPr lang="zh-CN" altLang="zh-CN" sz="2200">
                <a:solidFill>
                  <a:srgbClr val="0000FF"/>
                </a:solidFill>
                <a:latin typeface="Consolas" pitchFamily="49" charset="0"/>
                <a:ea typeface="仿宋" pitchFamily="49" charset="-122"/>
              </a:rPr>
              <a:t>流量</a:t>
            </a:r>
            <a:r>
              <a:rPr lang="en-US" altLang="zh-CN" sz="2200" i="1">
                <a:solidFill>
                  <a:srgbClr val="FF0000"/>
                </a:solidFill>
                <a:latin typeface="Consolas" pitchFamily="49" charset="0"/>
                <a:ea typeface="仿宋" pitchFamily="49" charset="-122"/>
              </a:rPr>
              <a:t>f</a:t>
            </a:r>
            <a:r>
              <a:rPr lang="en-US" altLang="zh-CN" sz="2200">
                <a:solidFill>
                  <a:srgbClr val="0000FF"/>
                </a:solidFill>
                <a:latin typeface="Consolas" pitchFamily="49" charset="0"/>
                <a:ea typeface="仿宋" pitchFamily="49" charset="-122"/>
              </a:rPr>
              <a:t>=</a:t>
            </a:r>
            <a:r>
              <a:rPr lang="zh-CN" altLang="en-US" sz="2200">
                <a:solidFill>
                  <a:srgbClr val="0000FF"/>
                </a:solidFill>
                <a:latin typeface="Consolas" pitchFamily="49" charset="0"/>
                <a:ea typeface="仿宋" pitchFamily="49" charset="-122"/>
              </a:rPr>
              <a:t>初始容量</a:t>
            </a:r>
            <a:r>
              <a:rPr lang="en-US" altLang="zh-CN" sz="2200">
                <a:solidFill>
                  <a:srgbClr val="0000FF"/>
                </a:solidFill>
                <a:latin typeface="Consolas" pitchFamily="49" charset="0"/>
                <a:ea typeface="仿宋" pitchFamily="49" charset="-122"/>
              </a:rPr>
              <a:t>-</a:t>
            </a:r>
            <a:r>
              <a:rPr lang="zh-CN" altLang="zh-CN" sz="2200">
                <a:solidFill>
                  <a:srgbClr val="0000FF"/>
                </a:solidFill>
                <a:latin typeface="Consolas" pitchFamily="49" charset="0"/>
                <a:ea typeface="仿宋" pitchFamily="49" charset="-122"/>
              </a:rPr>
              <a:t>剩余容量</a:t>
            </a:r>
            <a:endParaRPr lang="zh-CN" altLang="en-US" sz="2200">
              <a:solidFill>
                <a:srgbClr val="0000FF"/>
              </a:solidFill>
              <a:latin typeface="Consolas" pitchFamily="49" charset="0"/>
              <a:ea typeface="仿宋" pitchFamily="49" charset="-122"/>
              <a:cs typeface="Consolas" pitchFamily="49" charset="0"/>
            </a:endParaRPr>
          </a:p>
        </p:txBody>
      </p:sp>
      <p:grpSp>
        <p:nvGrpSpPr>
          <p:cNvPr id="21" name="组合 20"/>
          <p:cNvGrpSpPr/>
          <p:nvPr/>
        </p:nvGrpSpPr>
        <p:grpSpPr>
          <a:xfrm>
            <a:off x="428596" y="1817102"/>
            <a:ext cx="1908550" cy="3112096"/>
            <a:chOff x="3367692" y="3582009"/>
            <a:chExt cx="1908550" cy="3112096"/>
          </a:xfrm>
        </p:grpSpPr>
        <p:sp>
          <p:nvSpPr>
            <p:cNvPr id="22" name="Text Box 23"/>
            <p:cNvSpPr txBox="1">
              <a:spLocks noChangeArrowheads="1"/>
            </p:cNvSpPr>
            <p:nvPr/>
          </p:nvSpPr>
          <p:spPr bwMode="auto">
            <a:xfrm>
              <a:off x="3787168" y="3963263"/>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3" name="Text Box 22"/>
            <p:cNvSpPr txBox="1">
              <a:spLocks noChangeArrowheads="1"/>
            </p:cNvSpPr>
            <p:nvPr/>
          </p:nvSpPr>
          <p:spPr bwMode="auto">
            <a:xfrm>
              <a:off x="4798471" y="4005062"/>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4" name="Text Box 21"/>
            <p:cNvSpPr txBox="1">
              <a:spLocks noChangeArrowheads="1"/>
            </p:cNvSpPr>
            <p:nvPr/>
          </p:nvSpPr>
          <p:spPr bwMode="auto">
            <a:xfrm>
              <a:off x="4262404" y="4381249"/>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5" name="Text Box 20"/>
            <p:cNvSpPr txBox="1">
              <a:spLocks noChangeArrowheads="1"/>
            </p:cNvSpPr>
            <p:nvPr/>
          </p:nvSpPr>
          <p:spPr bwMode="auto">
            <a:xfrm>
              <a:off x="4365055" y="5053826"/>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6" name="Text Box 19"/>
            <p:cNvSpPr txBox="1">
              <a:spLocks noChangeArrowheads="1"/>
            </p:cNvSpPr>
            <p:nvPr/>
          </p:nvSpPr>
          <p:spPr bwMode="auto">
            <a:xfrm>
              <a:off x="5114028" y="5061426"/>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7" name="Text Box 18"/>
            <p:cNvSpPr txBox="1">
              <a:spLocks noChangeArrowheads="1"/>
            </p:cNvSpPr>
            <p:nvPr/>
          </p:nvSpPr>
          <p:spPr bwMode="auto">
            <a:xfrm>
              <a:off x="4714829" y="6041793"/>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8" name="Text Box 17"/>
            <p:cNvSpPr txBox="1">
              <a:spLocks noChangeArrowheads="1"/>
            </p:cNvSpPr>
            <p:nvPr/>
          </p:nvSpPr>
          <p:spPr bwMode="auto">
            <a:xfrm>
              <a:off x="3409513" y="5061426"/>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9" name="Text Box 16"/>
            <p:cNvSpPr txBox="1">
              <a:spLocks noChangeArrowheads="1"/>
            </p:cNvSpPr>
            <p:nvPr/>
          </p:nvSpPr>
          <p:spPr bwMode="auto">
            <a:xfrm>
              <a:off x="3704793" y="6037994"/>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0" name="Oval 15"/>
            <p:cNvSpPr>
              <a:spLocks noChangeArrowheads="1"/>
            </p:cNvSpPr>
            <p:nvPr/>
          </p:nvSpPr>
          <p:spPr bwMode="auto">
            <a:xfrm>
              <a:off x="4125536" y="3582009"/>
              <a:ext cx="395397" cy="430652"/>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0</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1" name="Oval 14"/>
            <p:cNvSpPr>
              <a:spLocks noChangeArrowheads="1"/>
            </p:cNvSpPr>
            <p:nvPr/>
          </p:nvSpPr>
          <p:spPr bwMode="auto">
            <a:xfrm>
              <a:off x="3367692" y="4469913"/>
              <a:ext cx="395397" cy="43065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2" name="Oval 13"/>
            <p:cNvSpPr>
              <a:spLocks noChangeArrowheads="1"/>
            </p:cNvSpPr>
            <p:nvPr/>
          </p:nvSpPr>
          <p:spPr bwMode="auto">
            <a:xfrm>
              <a:off x="4880845" y="4469913"/>
              <a:ext cx="395397" cy="43065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3" name="Oval 12"/>
            <p:cNvSpPr>
              <a:spLocks noChangeArrowheads="1"/>
            </p:cNvSpPr>
            <p:nvPr/>
          </p:nvSpPr>
          <p:spPr bwMode="auto">
            <a:xfrm>
              <a:off x="3367692" y="5489545"/>
              <a:ext cx="395397" cy="43191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4" name="Oval 11"/>
            <p:cNvSpPr>
              <a:spLocks noChangeArrowheads="1"/>
            </p:cNvSpPr>
            <p:nvPr/>
          </p:nvSpPr>
          <p:spPr bwMode="auto">
            <a:xfrm>
              <a:off x="4880845" y="5489545"/>
              <a:ext cx="395397" cy="43191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5" name="Oval 10"/>
            <p:cNvSpPr>
              <a:spLocks noChangeArrowheads="1"/>
            </p:cNvSpPr>
            <p:nvPr/>
          </p:nvSpPr>
          <p:spPr bwMode="auto">
            <a:xfrm>
              <a:off x="4125536" y="6263453"/>
              <a:ext cx="395397" cy="430652"/>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5</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6" name="AutoShape 9"/>
            <p:cNvSpPr>
              <a:spLocks noChangeShapeType="1"/>
            </p:cNvSpPr>
            <p:nvPr/>
          </p:nvSpPr>
          <p:spPr bwMode="auto">
            <a:xfrm flipH="1">
              <a:off x="3704793" y="3949330"/>
              <a:ext cx="479038" cy="58391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37" name="AutoShape 8"/>
            <p:cNvSpPr>
              <a:spLocks noChangeShapeType="1"/>
            </p:cNvSpPr>
            <p:nvPr/>
          </p:nvSpPr>
          <p:spPr bwMode="auto">
            <a:xfrm>
              <a:off x="4462637" y="3949330"/>
              <a:ext cx="476504" cy="58391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38" name="AutoShape 7"/>
            <p:cNvSpPr>
              <a:spLocks noChangeShapeType="1"/>
            </p:cNvSpPr>
            <p:nvPr/>
          </p:nvSpPr>
          <p:spPr bwMode="auto">
            <a:xfrm>
              <a:off x="3763089" y="4685239"/>
              <a:ext cx="1117756" cy="1267"/>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39" name="AutoShape 6"/>
            <p:cNvSpPr>
              <a:spLocks noChangeShapeType="1"/>
            </p:cNvSpPr>
            <p:nvPr/>
          </p:nvSpPr>
          <p:spPr bwMode="auto">
            <a:xfrm>
              <a:off x="3704793" y="4837234"/>
              <a:ext cx="1176052" cy="86890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40" name="AutoShape 5"/>
            <p:cNvSpPr>
              <a:spLocks noChangeShapeType="1"/>
            </p:cNvSpPr>
            <p:nvPr/>
          </p:nvSpPr>
          <p:spPr bwMode="auto">
            <a:xfrm>
              <a:off x="5078543" y="4900565"/>
              <a:ext cx="1267" cy="588980"/>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41" name="AutoShape 4"/>
            <p:cNvSpPr>
              <a:spLocks noChangeShapeType="1"/>
            </p:cNvSpPr>
            <p:nvPr/>
          </p:nvSpPr>
          <p:spPr bwMode="auto">
            <a:xfrm>
              <a:off x="3565391" y="4900565"/>
              <a:ext cx="1267" cy="588980"/>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42" name="AutoShape 3"/>
            <p:cNvSpPr>
              <a:spLocks noChangeShapeType="1"/>
            </p:cNvSpPr>
            <p:nvPr/>
          </p:nvSpPr>
          <p:spPr bwMode="auto">
            <a:xfrm>
              <a:off x="3704793" y="5858133"/>
              <a:ext cx="479038" cy="468651"/>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43" name="AutoShape 2"/>
            <p:cNvSpPr>
              <a:spLocks noChangeShapeType="1"/>
            </p:cNvSpPr>
            <p:nvPr/>
          </p:nvSpPr>
          <p:spPr bwMode="auto">
            <a:xfrm flipH="1">
              <a:off x="4462637" y="5858133"/>
              <a:ext cx="476504" cy="468651"/>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grpSp>
      <p:sp>
        <p:nvSpPr>
          <p:cNvPr id="45" name="减号 44"/>
          <p:cNvSpPr/>
          <p:nvPr/>
        </p:nvSpPr>
        <p:spPr>
          <a:xfrm>
            <a:off x="2643174" y="3071810"/>
            <a:ext cx="428628" cy="428628"/>
          </a:xfrm>
          <a:prstGeom prst="mathMinus">
            <a:avLst/>
          </a:prstGeom>
          <a:solidFill>
            <a:schemeClr val="tx1"/>
          </a:solidFill>
          <a:ln w="19050">
            <a:tailEnd type="none"/>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46" name="等于号 45"/>
          <p:cNvSpPr/>
          <p:nvPr/>
        </p:nvSpPr>
        <p:spPr>
          <a:xfrm>
            <a:off x="5551856" y="3000372"/>
            <a:ext cx="500066" cy="428628"/>
          </a:xfrm>
          <a:prstGeom prst="mathEqual">
            <a:avLst/>
          </a:prstGeom>
          <a:solidFill>
            <a:schemeClr val="tx1"/>
          </a:solidFill>
          <a:ln w="19050">
            <a:tailEnd type="none"/>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solidFill>
                <a:schemeClr val="tx1"/>
              </a:solidFill>
            </a:endParaRPr>
          </a:p>
        </p:txBody>
      </p:sp>
      <p:grpSp>
        <p:nvGrpSpPr>
          <p:cNvPr id="71" name="组合 70"/>
          <p:cNvGrpSpPr/>
          <p:nvPr/>
        </p:nvGrpSpPr>
        <p:grpSpPr>
          <a:xfrm>
            <a:off x="6123360" y="1785926"/>
            <a:ext cx="2571768" cy="3994034"/>
            <a:chOff x="6123360" y="1785926"/>
            <a:chExt cx="2571768" cy="3994034"/>
          </a:xfrm>
        </p:grpSpPr>
        <p:sp>
          <p:nvSpPr>
            <p:cNvPr id="48" name="Text Box 23"/>
            <p:cNvSpPr txBox="1">
              <a:spLocks noChangeArrowheads="1"/>
            </p:cNvSpPr>
            <p:nvPr/>
          </p:nvSpPr>
          <p:spPr bwMode="auto">
            <a:xfrm>
              <a:off x="6480550" y="2167180"/>
              <a:ext cx="580422" cy="333126"/>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FF0000"/>
                  </a:solidFill>
                  <a:effectLst/>
                  <a:latin typeface="Consolas" pitchFamily="49" charset="0"/>
                  <a:ea typeface="宋体" pitchFamily="2" charset="-122"/>
                  <a:cs typeface="Times New Roman" pitchFamily="18" charset="0"/>
                </a:rPr>
                <a:t>3</a:t>
              </a: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49" name="Text Box 22"/>
            <p:cNvSpPr txBox="1">
              <a:spLocks noChangeArrowheads="1"/>
            </p:cNvSpPr>
            <p:nvPr/>
          </p:nvSpPr>
          <p:spPr bwMode="auto">
            <a:xfrm>
              <a:off x="7931604" y="2208979"/>
              <a:ext cx="620648"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FF0000"/>
                  </a:solidFill>
                  <a:effectLst/>
                  <a:latin typeface="Consolas" pitchFamily="49" charset="0"/>
                  <a:ea typeface="宋体" pitchFamily="2" charset="-122"/>
                  <a:cs typeface="Times New Roman" pitchFamily="18" charset="0"/>
                </a:rPr>
                <a:t>2</a:t>
              </a: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0" name="Text Box 21"/>
            <p:cNvSpPr txBox="1">
              <a:spLocks noChangeArrowheads="1"/>
            </p:cNvSpPr>
            <p:nvPr/>
          </p:nvSpPr>
          <p:spPr bwMode="auto">
            <a:xfrm>
              <a:off x="7194930" y="2585166"/>
              <a:ext cx="500066"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FF0000"/>
                  </a:solidFill>
                  <a:effectLst/>
                  <a:latin typeface="Consolas" pitchFamily="49" charset="0"/>
                  <a:ea typeface="宋体" pitchFamily="2" charset="-122"/>
                  <a:cs typeface="Times New Roman" pitchFamily="18" charset="0"/>
                </a:rPr>
                <a:t>0</a:t>
              </a: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1" name="Text Box 20"/>
            <p:cNvSpPr txBox="1">
              <a:spLocks noChangeArrowheads="1"/>
            </p:cNvSpPr>
            <p:nvPr/>
          </p:nvSpPr>
          <p:spPr bwMode="auto">
            <a:xfrm>
              <a:off x="7498188" y="3257743"/>
              <a:ext cx="482559"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FF0000"/>
                  </a:solidFill>
                  <a:effectLst/>
                  <a:latin typeface="Consolas" pitchFamily="49" charset="0"/>
                  <a:ea typeface="宋体" pitchFamily="2" charset="-122"/>
                  <a:cs typeface="Times New Roman" pitchFamily="18" charset="0"/>
                </a:rPr>
                <a:t>1</a:t>
              </a: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2" name="Text Box 19"/>
            <p:cNvSpPr txBox="1">
              <a:spLocks noChangeArrowheads="1"/>
            </p:cNvSpPr>
            <p:nvPr/>
          </p:nvSpPr>
          <p:spPr bwMode="auto">
            <a:xfrm>
              <a:off x="8247162" y="3265343"/>
              <a:ext cx="447966"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u="none" strike="noStrike" cap="none" normalizeH="0" baseline="0">
                  <a:ln>
                    <a:noFill/>
                  </a:ln>
                  <a:solidFill>
                    <a:srgbClr val="FF0000"/>
                  </a:solidFill>
                  <a:effectLst/>
                  <a:latin typeface="Consolas" pitchFamily="49" charset="0"/>
                  <a:ea typeface="宋体" pitchFamily="2" charset="-122"/>
                  <a:cs typeface="Times New Roman" pitchFamily="18" charset="0"/>
                </a:rPr>
                <a:t>2</a:t>
              </a: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3" name="Text Box 18"/>
            <p:cNvSpPr txBox="1">
              <a:spLocks noChangeArrowheads="1"/>
            </p:cNvSpPr>
            <p:nvPr/>
          </p:nvSpPr>
          <p:spPr bwMode="auto">
            <a:xfrm>
              <a:off x="7847962" y="4245710"/>
              <a:ext cx="632852"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FF0000"/>
                  </a:solidFill>
                  <a:effectLst/>
                  <a:latin typeface="Consolas" pitchFamily="49" charset="0"/>
                  <a:ea typeface="宋体" pitchFamily="2" charset="-122"/>
                  <a:cs typeface="Times New Roman" pitchFamily="18" charset="0"/>
                </a:rPr>
                <a:t>3</a:t>
              </a: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4" name="Text Box 17"/>
            <p:cNvSpPr txBox="1">
              <a:spLocks noChangeArrowheads="1"/>
            </p:cNvSpPr>
            <p:nvPr/>
          </p:nvSpPr>
          <p:spPr bwMode="auto">
            <a:xfrm>
              <a:off x="6123360" y="3265343"/>
              <a:ext cx="559957"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FF0000"/>
                  </a:solidFill>
                  <a:latin typeface="Consolas" pitchFamily="49" charset="0"/>
                  <a:ea typeface="宋体" pitchFamily="2" charset="-122"/>
                  <a:cs typeface="Times New Roman" pitchFamily="18" charset="0"/>
                </a:rPr>
                <a:t>2</a:t>
              </a: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5" name="Text Box 16"/>
            <p:cNvSpPr txBox="1">
              <a:spLocks noChangeArrowheads="1"/>
            </p:cNvSpPr>
            <p:nvPr/>
          </p:nvSpPr>
          <p:spPr bwMode="auto">
            <a:xfrm>
              <a:off x="6645721" y="4283218"/>
              <a:ext cx="498047"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FF0000"/>
                  </a:solidFill>
                  <a:effectLst/>
                  <a:latin typeface="Consolas" pitchFamily="49" charset="0"/>
                  <a:ea typeface="宋体" pitchFamily="2" charset="-122"/>
                  <a:cs typeface="Times New Roman" pitchFamily="18" charset="0"/>
                </a:rPr>
                <a:t>2</a:t>
              </a: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6" name="Oval 15"/>
            <p:cNvSpPr>
              <a:spLocks noChangeArrowheads="1"/>
            </p:cNvSpPr>
            <p:nvPr/>
          </p:nvSpPr>
          <p:spPr bwMode="auto">
            <a:xfrm>
              <a:off x="7258670" y="1785926"/>
              <a:ext cx="395397" cy="430652"/>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0</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7" name="Oval 14"/>
            <p:cNvSpPr>
              <a:spLocks noChangeArrowheads="1"/>
            </p:cNvSpPr>
            <p:nvPr/>
          </p:nvSpPr>
          <p:spPr bwMode="auto">
            <a:xfrm>
              <a:off x="6500826" y="2673830"/>
              <a:ext cx="395397" cy="43065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8" name="Oval 13"/>
            <p:cNvSpPr>
              <a:spLocks noChangeArrowheads="1"/>
            </p:cNvSpPr>
            <p:nvPr/>
          </p:nvSpPr>
          <p:spPr bwMode="auto">
            <a:xfrm>
              <a:off x="8013979" y="2673830"/>
              <a:ext cx="395397" cy="43065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9" name="Oval 12"/>
            <p:cNvSpPr>
              <a:spLocks noChangeArrowheads="1"/>
            </p:cNvSpPr>
            <p:nvPr/>
          </p:nvSpPr>
          <p:spPr bwMode="auto">
            <a:xfrm>
              <a:off x="6500826" y="3693462"/>
              <a:ext cx="395397" cy="43191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60" name="Oval 11"/>
            <p:cNvSpPr>
              <a:spLocks noChangeArrowheads="1"/>
            </p:cNvSpPr>
            <p:nvPr/>
          </p:nvSpPr>
          <p:spPr bwMode="auto">
            <a:xfrm>
              <a:off x="8013979" y="3693462"/>
              <a:ext cx="395397" cy="43191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61" name="Oval 10"/>
            <p:cNvSpPr>
              <a:spLocks noChangeArrowheads="1"/>
            </p:cNvSpPr>
            <p:nvPr/>
          </p:nvSpPr>
          <p:spPr bwMode="auto">
            <a:xfrm>
              <a:off x="7258670" y="4467370"/>
              <a:ext cx="395397" cy="430652"/>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5</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62" name="AutoShape 9"/>
            <p:cNvSpPr>
              <a:spLocks noChangeShapeType="1"/>
            </p:cNvSpPr>
            <p:nvPr/>
          </p:nvSpPr>
          <p:spPr bwMode="auto">
            <a:xfrm flipH="1">
              <a:off x="6837927" y="2153247"/>
              <a:ext cx="479038" cy="58391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63" name="AutoShape 8"/>
            <p:cNvSpPr>
              <a:spLocks noChangeShapeType="1"/>
            </p:cNvSpPr>
            <p:nvPr/>
          </p:nvSpPr>
          <p:spPr bwMode="auto">
            <a:xfrm>
              <a:off x="7595771" y="2153247"/>
              <a:ext cx="476504" cy="58391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64" name="AutoShape 7"/>
            <p:cNvSpPr>
              <a:spLocks noChangeShapeType="1"/>
            </p:cNvSpPr>
            <p:nvPr/>
          </p:nvSpPr>
          <p:spPr bwMode="auto">
            <a:xfrm>
              <a:off x="6896223" y="2889156"/>
              <a:ext cx="1117756" cy="1267"/>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65" name="AutoShape 6"/>
            <p:cNvSpPr>
              <a:spLocks noChangeShapeType="1"/>
            </p:cNvSpPr>
            <p:nvPr/>
          </p:nvSpPr>
          <p:spPr bwMode="auto">
            <a:xfrm>
              <a:off x="6837927" y="3041151"/>
              <a:ext cx="1176052" cy="86890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66" name="AutoShape 5"/>
            <p:cNvSpPr>
              <a:spLocks noChangeShapeType="1"/>
            </p:cNvSpPr>
            <p:nvPr/>
          </p:nvSpPr>
          <p:spPr bwMode="auto">
            <a:xfrm>
              <a:off x="8211677" y="3104482"/>
              <a:ext cx="1267" cy="588980"/>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67" name="AutoShape 4"/>
            <p:cNvSpPr>
              <a:spLocks noChangeShapeType="1"/>
            </p:cNvSpPr>
            <p:nvPr/>
          </p:nvSpPr>
          <p:spPr bwMode="auto">
            <a:xfrm>
              <a:off x="6698525" y="3104482"/>
              <a:ext cx="1267" cy="588980"/>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68" name="AutoShape 3"/>
            <p:cNvSpPr>
              <a:spLocks noChangeShapeType="1"/>
            </p:cNvSpPr>
            <p:nvPr/>
          </p:nvSpPr>
          <p:spPr bwMode="auto">
            <a:xfrm>
              <a:off x="6837927" y="4062050"/>
              <a:ext cx="479038" cy="468651"/>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69" name="AutoShape 2"/>
            <p:cNvSpPr>
              <a:spLocks noChangeShapeType="1"/>
            </p:cNvSpPr>
            <p:nvPr/>
          </p:nvSpPr>
          <p:spPr bwMode="auto">
            <a:xfrm flipH="1">
              <a:off x="7595771" y="4062050"/>
              <a:ext cx="476504" cy="468651"/>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70" name="TextBox 69"/>
            <p:cNvSpPr txBox="1"/>
            <p:nvPr/>
          </p:nvSpPr>
          <p:spPr>
            <a:xfrm>
              <a:off x="6715140" y="5072074"/>
              <a:ext cx="1949102" cy="707886"/>
            </a:xfrm>
            <a:prstGeom prst="rect">
              <a:avLst/>
            </a:prstGeom>
            <a:noFill/>
          </p:spPr>
          <p:txBody>
            <a:bodyPr wrap="square" rtlCol="0">
              <a:spAutoFit/>
            </a:bodyPr>
            <a:lstStyle/>
            <a:p>
              <a:pPr>
                <a:lnSpc>
                  <a:spcPct val="100000"/>
                </a:lnSpc>
                <a:spcBef>
                  <a:spcPts val="0"/>
                </a:spcBef>
              </a:pPr>
              <a:r>
                <a:rPr lang="zh-CN" altLang="zh-CN" sz="2000">
                  <a:solidFill>
                    <a:srgbClr val="0000FF"/>
                  </a:solidFill>
                  <a:latin typeface="Consolas" pitchFamily="49" charset="0"/>
                  <a:ea typeface="仿宋" pitchFamily="49" charset="-122"/>
                </a:rPr>
                <a:t>网络流</a:t>
              </a:r>
              <a:r>
                <a:rPr lang="zh-CN" altLang="en-US" sz="2000">
                  <a:solidFill>
                    <a:srgbClr val="0000FF"/>
                  </a:solidFill>
                  <a:latin typeface="Consolas" pitchFamily="49" charset="0"/>
                  <a:ea typeface="仿宋" pitchFamily="49" charset="-122"/>
                </a:rPr>
                <a:t>（最大流量为</a:t>
              </a:r>
              <a:r>
                <a:rPr lang="en-US" altLang="zh-CN" sz="2000">
                  <a:solidFill>
                    <a:srgbClr val="0000FF"/>
                  </a:solidFill>
                  <a:latin typeface="Consolas" pitchFamily="49" charset="0"/>
                  <a:ea typeface="仿宋" pitchFamily="49" charset="-122"/>
                </a:rPr>
                <a:t>5</a:t>
              </a:r>
              <a:r>
                <a:rPr lang="zh-CN" altLang="en-US" sz="2000">
                  <a:solidFill>
                    <a:srgbClr val="0000FF"/>
                  </a:solidFill>
                  <a:latin typeface="Consolas" pitchFamily="49" charset="0"/>
                  <a:ea typeface="仿宋" pitchFamily="49" charset="-122"/>
                </a:rPr>
                <a:t>）</a:t>
              </a:r>
              <a:endParaRPr lang="zh-CN" altLang="en-US" sz="2000">
                <a:solidFill>
                  <a:srgbClr val="0000FF"/>
                </a:solidFill>
                <a:latin typeface="Consolas" pitchFamily="49" charset="0"/>
                <a:ea typeface="仿宋" pitchFamily="49" charset="-122"/>
                <a:cs typeface="Consolas" pitchFamily="49" charset="0"/>
              </a:endParaRPr>
            </a:p>
          </p:txBody>
        </p:sp>
      </p:grpSp>
      <p:sp>
        <p:nvSpPr>
          <p:cNvPr id="73" name="灯片编号占位符 72"/>
          <p:cNvSpPr>
            <a:spLocks noGrp="1"/>
          </p:cNvSpPr>
          <p:nvPr>
            <p:ph type="sldNum" sz="quarter" idx="12"/>
          </p:nvPr>
        </p:nvSpPr>
        <p:spPr/>
        <p:txBody>
          <a:bodyPr/>
          <a:lstStyle/>
          <a:p>
            <a:fld id="{7AF016A1-9F15-429F-9EFD-84004B73C732}" type="slidenum">
              <a:rPr lang="en-US" altLang="zh-CN" smtClean="0"/>
              <a:pPr/>
              <a:t>94</a:t>
            </a:fld>
            <a:r>
              <a:rPr lang="en-US" altLang="zh-CN"/>
              <a:t>/158</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728" y="1567973"/>
            <a:ext cx="7215270"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itchFamily="49" charset="0"/>
                <a:ea typeface="仿宋" pitchFamily="49" charset="-122"/>
              </a:rPr>
              <a:t>那么上述过程是不是能够求出任意网络的最大流呢？</a:t>
            </a:r>
            <a:endParaRPr lang="zh-CN" altLang="en-US">
              <a:solidFill>
                <a:srgbClr val="0000FF"/>
              </a:solidFill>
              <a:latin typeface="Consolas" pitchFamily="49" charset="0"/>
              <a:ea typeface="仿宋" pitchFamily="49" charset="-122"/>
              <a:cs typeface="Consolas" pitchFamily="49" charset="0"/>
            </a:endParaRPr>
          </a:p>
        </p:txBody>
      </p:sp>
      <p:sp>
        <p:nvSpPr>
          <p:cNvPr id="4" name="TextBox 3"/>
          <p:cNvSpPr txBox="1"/>
          <p:nvPr/>
        </p:nvSpPr>
        <p:spPr>
          <a:xfrm>
            <a:off x="1928794" y="2928934"/>
            <a:ext cx="2928958"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itchFamily="49" charset="0"/>
                <a:ea typeface="楷体" pitchFamily="49" charset="-122"/>
              </a:rPr>
              <a:t>答案是否定的</a:t>
            </a:r>
            <a:r>
              <a:rPr lang="en-US" altLang="zh-CN">
                <a:solidFill>
                  <a:srgbClr val="0000FF"/>
                </a:solidFill>
                <a:latin typeface="Consolas" pitchFamily="49" charset="0"/>
                <a:ea typeface="楷体" pitchFamily="49" charset="-122"/>
              </a:rPr>
              <a:t>!</a:t>
            </a:r>
            <a:endParaRPr lang="zh-CN" altLang="en-US">
              <a:solidFill>
                <a:srgbClr val="0000FF"/>
              </a:solidFill>
              <a:latin typeface="Consolas" pitchFamily="49" charset="0"/>
              <a:ea typeface="楷体" pitchFamily="49" charset="-122"/>
              <a:cs typeface="Consolas" pitchFamily="49" charset="0"/>
            </a:endParaRPr>
          </a:p>
        </p:txBody>
      </p:sp>
      <p:pic>
        <p:nvPicPr>
          <p:cNvPr id="120834" name="Picture 2"/>
          <p:cNvPicPr>
            <a:picLocks noChangeAspect="1" noChangeArrowheads="1"/>
          </p:cNvPicPr>
          <p:nvPr/>
        </p:nvPicPr>
        <p:blipFill>
          <a:blip r:embed="rId3" cstate="print"/>
          <a:srcRect/>
          <a:stretch>
            <a:fillRect/>
          </a:stretch>
        </p:blipFill>
        <p:spPr bwMode="auto">
          <a:xfrm>
            <a:off x="428596" y="996469"/>
            <a:ext cx="885826" cy="143239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7" name="灯片编号占位符 6"/>
          <p:cNvSpPr>
            <a:spLocks noGrp="1"/>
          </p:cNvSpPr>
          <p:nvPr>
            <p:ph type="sldNum" sz="quarter" idx="12"/>
          </p:nvPr>
        </p:nvSpPr>
        <p:spPr/>
        <p:txBody>
          <a:bodyPr/>
          <a:lstStyle/>
          <a:p>
            <a:fld id="{7AF016A1-9F15-429F-9EFD-84004B73C732}" type="slidenum">
              <a:rPr lang="en-US" altLang="zh-CN" smtClean="0"/>
              <a:pPr/>
              <a:t>95</a:t>
            </a:fld>
            <a:r>
              <a:rPr lang="en-US" altLang="zh-CN"/>
              <a:t>/158</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7158" y="467005"/>
            <a:ext cx="857256" cy="461665"/>
          </a:xfrm>
          <a:prstGeom prst="rect">
            <a:avLst/>
          </a:prstGeom>
          <a:noFill/>
        </p:spPr>
        <p:txBody>
          <a:bodyPr wrap="square" rtlCol="0">
            <a:spAutoFit/>
          </a:bodyPr>
          <a:lstStyle/>
          <a:p>
            <a:pPr algn="l">
              <a:lnSpc>
                <a:spcPct val="100000"/>
              </a:lnSpc>
              <a:spcBef>
                <a:spcPts val="0"/>
              </a:spcBef>
            </a:pPr>
            <a:r>
              <a:rPr lang="zh-CN" altLang="en-US">
                <a:solidFill>
                  <a:srgbClr val="FF0000"/>
                </a:solidFill>
                <a:latin typeface="微软雅黑" pitchFamily="34" charset="-122"/>
                <a:ea typeface="微软雅黑" pitchFamily="34" charset="-122"/>
              </a:rPr>
              <a:t>反例</a:t>
            </a:r>
            <a:endParaRPr lang="zh-CN" altLang="en-US">
              <a:solidFill>
                <a:srgbClr val="FF0000"/>
              </a:solidFill>
              <a:latin typeface="微软雅黑" pitchFamily="34" charset="-122"/>
              <a:ea typeface="微软雅黑" pitchFamily="34" charset="-122"/>
              <a:cs typeface="Consolas" pitchFamily="49" charset="0"/>
            </a:endParaRPr>
          </a:p>
        </p:txBody>
      </p:sp>
      <p:grpSp>
        <p:nvGrpSpPr>
          <p:cNvPr id="2" name="组合 3"/>
          <p:cNvGrpSpPr/>
          <p:nvPr/>
        </p:nvGrpSpPr>
        <p:grpSpPr>
          <a:xfrm>
            <a:off x="142844" y="1459912"/>
            <a:ext cx="1908550" cy="3112096"/>
            <a:chOff x="3367692" y="3582009"/>
            <a:chExt cx="1908550" cy="3112096"/>
          </a:xfrm>
        </p:grpSpPr>
        <p:sp>
          <p:nvSpPr>
            <p:cNvPr id="5" name="Text Box 23"/>
            <p:cNvSpPr txBox="1">
              <a:spLocks noChangeArrowheads="1"/>
            </p:cNvSpPr>
            <p:nvPr/>
          </p:nvSpPr>
          <p:spPr bwMode="auto">
            <a:xfrm>
              <a:off x="3787168" y="3963263"/>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6" name="Text Box 22"/>
            <p:cNvSpPr txBox="1">
              <a:spLocks noChangeArrowheads="1"/>
            </p:cNvSpPr>
            <p:nvPr/>
          </p:nvSpPr>
          <p:spPr bwMode="auto">
            <a:xfrm>
              <a:off x="4798471" y="4005062"/>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7" name="Text Box 21"/>
            <p:cNvSpPr txBox="1">
              <a:spLocks noChangeArrowheads="1"/>
            </p:cNvSpPr>
            <p:nvPr/>
          </p:nvSpPr>
          <p:spPr bwMode="auto">
            <a:xfrm>
              <a:off x="4262404" y="4381249"/>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8" name="Text Box 20"/>
            <p:cNvSpPr txBox="1">
              <a:spLocks noChangeArrowheads="1"/>
            </p:cNvSpPr>
            <p:nvPr/>
          </p:nvSpPr>
          <p:spPr bwMode="auto">
            <a:xfrm>
              <a:off x="4365055" y="5053826"/>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9" name="Text Box 19"/>
            <p:cNvSpPr txBox="1">
              <a:spLocks noChangeArrowheads="1"/>
            </p:cNvSpPr>
            <p:nvPr/>
          </p:nvSpPr>
          <p:spPr bwMode="auto">
            <a:xfrm>
              <a:off x="5114028" y="5061426"/>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0" name="Text Box 18"/>
            <p:cNvSpPr txBox="1">
              <a:spLocks noChangeArrowheads="1"/>
            </p:cNvSpPr>
            <p:nvPr/>
          </p:nvSpPr>
          <p:spPr bwMode="auto">
            <a:xfrm>
              <a:off x="4714829" y="6041793"/>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1" name="Text Box 17"/>
            <p:cNvSpPr txBox="1">
              <a:spLocks noChangeArrowheads="1"/>
            </p:cNvSpPr>
            <p:nvPr/>
          </p:nvSpPr>
          <p:spPr bwMode="auto">
            <a:xfrm>
              <a:off x="3409513" y="5061426"/>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2" name="Text Box 16"/>
            <p:cNvSpPr txBox="1">
              <a:spLocks noChangeArrowheads="1"/>
            </p:cNvSpPr>
            <p:nvPr/>
          </p:nvSpPr>
          <p:spPr bwMode="auto">
            <a:xfrm>
              <a:off x="3704793" y="6037994"/>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3" name="Oval 15"/>
            <p:cNvSpPr>
              <a:spLocks noChangeArrowheads="1"/>
            </p:cNvSpPr>
            <p:nvPr/>
          </p:nvSpPr>
          <p:spPr bwMode="auto">
            <a:xfrm>
              <a:off x="4125536" y="3582009"/>
              <a:ext cx="395397" cy="430652"/>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0</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4" name="Oval 14"/>
            <p:cNvSpPr>
              <a:spLocks noChangeArrowheads="1"/>
            </p:cNvSpPr>
            <p:nvPr/>
          </p:nvSpPr>
          <p:spPr bwMode="auto">
            <a:xfrm>
              <a:off x="3367692" y="4469913"/>
              <a:ext cx="395397" cy="43065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5" name="Oval 13"/>
            <p:cNvSpPr>
              <a:spLocks noChangeArrowheads="1"/>
            </p:cNvSpPr>
            <p:nvPr/>
          </p:nvSpPr>
          <p:spPr bwMode="auto">
            <a:xfrm>
              <a:off x="4880845" y="4469913"/>
              <a:ext cx="395397" cy="43065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6" name="Oval 12"/>
            <p:cNvSpPr>
              <a:spLocks noChangeArrowheads="1"/>
            </p:cNvSpPr>
            <p:nvPr/>
          </p:nvSpPr>
          <p:spPr bwMode="auto">
            <a:xfrm>
              <a:off x="3367692" y="5489545"/>
              <a:ext cx="395397" cy="43191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8" name="Oval 11"/>
            <p:cNvSpPr>
              <a:spLocks noChangeArrowheads="1"/>
            </p:cNvSpPr>
            <p:nvPr/>
          </p:nvSpPr>
          <p:spPr bwMode="auto">
            <a:xfrm>
              <a:off x="4880845" y="5489545"/>
              <a:ext cx="395397" cy="43191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9" name="Oval 10"/>
            <p:cNvSpPr>
              <a:spLocks noChangeArrowheads="1"/>
            </p:cNvSpPr>
            <p:nvPr/>
          </p:nvSpPr>
          <p:spPr bwMode="auto">
            <a:xfrm>
              <a:off x="4125536" y="6263453"/>
              <a:ext cx="395397" cy="430652"/>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5</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0" name="AutoShape 9"/>
            <p:cNvSpPr>
              <a:spLocks noChangeShapeType="1"/>
            </p:cNvSpPr>
            <p:nvPr/>
          </p:nvSpPr>
          <p:spPr bwMode="auto">
            <a:xfrm flipH="1">
              <a:off x="3704793" y="3949330"/>
              <a:ext cx="479038" cy="58391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21" name="AutoShape 8"/>
            <p:cNvSpPr>
              <a:spLocks noChangeShapeType="1"/>
            </p:cNvSpPr>
            <p:nvPr/>
          </p:nvSpPr>
          <p:spPr bwMode="auto">
            <a:xfrm>
              <a:off x="4462637" y="3949330"/>
              <a:ext cx="476504" cy="58391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22" name="AutoShape 7"/>
            <p:cNvSpPr>
              <a:spLocks noChangeShapeType="1"/>
            </p:cNvSpPr>
            <p:nvPr/>
          </p:nvSpPr>
          <p:spPr bwMode="auto">
            <a:xfrm>
              <a:off x="3763089" y="4685239"/>
              <a:ext cx="1117756" cy="1267"/>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23" name="AutoShape 6"/>
            <p:cNvSpPr>
              <a:spLocks noChangeShapeType="1"/>
            </p:cNvSpPr>
            <p:nvPr/>
          </p:nvSpPr>
          <p:spPr bwMode="auto">
            <a:xfrm>
              <a:off x="3704793" y="4837234"/>
              <a:ext cx="1176052" cy="86890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24" name="AutoShape 5"/>
            <p:cNvSpPr>
              <a:spLocks noChangeShapeType="1"/>
            </p:cNvSpPr>
            <p:nvPr/>
          </p:nvSpPr>
          <p:spPr bwMode="auto">
            <a:xfrm>
              <a:off x="5078543" y="4900565"/>
              <a:ext cx="1267" cy="588980"/>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25" name="AutoShape 4"/>
            <p:cNvSpPr>
              <a:spLocks noChangeShapeType="1"/>
            </p:cNvSpPr>
            <p:nvPr/>
          </p:nvSpPr>
          <p:spPr bwMode="auto">
            <a:xfrm>
              <a:off x="3565391" y="4900565"/>
              <a:ext cx="1267" cy="588980"/>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26" name="AutoShape 3"/>
            <p:cNvSpPr>
              <a:spLocks noChangeShapeType="1"/>
            </p:cNvSpPr>
            <p:nvPr/>
          </p:nvSpPr>
          <p:spPr bwMode="auto">
            <a:xfrm>
              <a:off x="3704793" y="5858133"/>
              <a:ext cx="479038" cy="468651"/>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27" name="AutoShape 2"/>
            <p:cNvSpPr>
              <a:spLocks noChangeShapeType="1"/>
            </p:cNvSpPr>
            <p:nvPr/>
          </p:nvSpPr>
          <p:spPr bwMode="auto">
            <a:xfrm flipH="1">
              <a:off x="4462637" y="5858133"/>
              <a:ext cx="476504" cy="468651"/>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grpSp>
      <p:grpSp>
        <p:nvGrpSpPr>
          <p:cNvPr id="4" name="组合 28"/>
          <p:cNvGrpSpPr/>
          <p:nvPr/>
        </p:nvGrpSpPr>
        <p:grpSpPr>
          <a:xfrm>
            <a:off x="4214810" y="1459912"/>
            <a:ext cx="1908550" cy="3112096"/>
            <a:chOff x="3367692" y="3582009"/>
            <a:chExt cx="1908550" cy="3112096"/>
          </a:xfrm>
        </p:grpSpPr>
        <p:sp>
          <p:nvSpPr>
            <p:cNvPr id="30" name="Text Box 23"/>
            <p:cNvSpPr txBox="1">
              <a:spLocks noChangeArrowheads="1"/>
            </p:cNvSpPr>
            <p:nvPr/>
          </p:nvSpPr>
          <p:spPr bwMode="auto">
            <a:xfrm>
              <a:off x="3787168" y="3963263"/>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1" name="Text Box 22"/>
            <p:cNvSpPr txBox="1">
              <a:spLocks noChangeArrowheads="1"/>
            </p:cNvSpPr>
            <p:nvPr/>
          </p:nvSpPr>
          <p:spPr bwMode="auto">
            <a:xfrm>
              <a:off x="4798471" y="4005062"/>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2" name="Text Box 21"/>
            <p:cNvSpPr txBox="1">
              <a:spLocks noChangeArrowheads="1"/>
            </p:cNvSpPr>
            <p:nvPr/>
          </p:nvSpPr>
          <p:spPr bwMode="auto">
            <a:xfrm>
              <a:off x="4262404" y="4381249"/>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3" name="Text Box 20"/>
            <p:cNvSpPr txBox="1">
              <a:spLocks noChangeArrowheads="1"/>
            </p:cNvSpPr>
            <p:nvPr/>
          </p:nvSpPr>
          <p:spPr bwMode="auto">
            <a:xfrm>
              <a:off x="4365055" y="5053826"/>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4" name="Text Box 19"/>
            <p:cNvSpPr txBox="1">
              <a:spLocks noChangeArrowheads="1"/>
            </p:cNvSpPr>
            <p:nvPr/>
          </p:nvSpPr>
          <p:spPr bwMode="auto">
            <a:xfrm>
              <a:off x="5114028" y="5061426"/>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5" name="Text Box 18"/>
            <p:cNvSpPr txBox="1">
              <a:spLocks noChangeArrowheads="1"/>
            </p:cNvSpPr>
            <p:nvPr/>
          </p:nvSpPr>
          <p:spPr bwMode="auto">
            <a:xfrm>
              <a:off x="4714829" y="6041793"/>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6" name="Text Box 17"/>
            <p:cNvSpPr txBox="1">
              <a:spLocks noChangeArrowheads="1"/>
            </p:cNvSpPr>
            <p:nvPr/>
          </p:nvSpPr>
          <p:spPr bwMode="auto">
            <a:xfrm>
              <a:off x="3409513" y="5061426"/>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7" name="Text Box 16"/>
            <p:cNvSpPr txBox="1">
              <a:spLocks noChangeArrowheads="1"/>
            </p:cNvSpPr>
            <p:nvPr/>
          </p:nvSpPr>
          <p:spPr bwMode="auto">
            <a:xfrm>
              <a:off x="3704793" y="6037994"/>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8" name="Oval 15"/>
            <p:cNvSpPr>
              <a:spLocks noChangeArrowheads="1"/>
            </p:cNvSpPr>
            <p:nvPr/>
          </p:nvSpPr>
          <p:spPr bwMode="auto">
            <a:xfrm>
              <a:off x="4125536" y="3582009"/>
              <a:ext cx="395397" cy="430652"/>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0</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9" name="Oval 14"/>
            <p:cNvSpPr>
              <a:spLocks noChangeArrowheads="1"/>
            </p:cNvSpPr>
            <p:nvPr/>
          </p:nvSpPr>
          <p:spPr bwMode="auto">
            <a:xfrm>
              <a:off x="3367692" y="4469913"/>
              <a:ext cx="395397" cy="43065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40" name="Oval 13"/>
            <p:cNvSpPr>
              <a:spLocks noChangeArrowheads="1"/>
            </p:cNvSpPr>
            <p:nvPr/>
          </p:nvSpPr>
          <p:spPr bwMode="auto">
            <a:xfrm>
              <a:off x="4880845" y="4469913"/>
              <a:ext cx="395397" cy="43065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41" name="Oval 12"/>
            <p:cNvSpPr>
              <a:spLocks noChangeArrowheads="1"/>
            </p:cNvSpPr>
            <p:nvPr/>
          </p:nvSpPr>
          <p:spPr bwMode="auto">
            <a:xfrm>
              <a:off x="3367692" y="5489545"/>
              <a:ext cx="395397" cy="43191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42" name="Oval 11"/>
            <p:cNvSpPr>
              <a:spLocks noChangeArrowheads="1"/>
            </p:cNvSpPr>
            <p:nvPr/>
          </p:nvSpPr>
          <p:spPr bwMode="auto">
            <a:xfrm>
              <a:off x="4880845" y="5489545"/>
              <a:ext cx="395397" cy="43191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43" name="Oval 10"/>
            <p:cNvSpPr>
              <a:spLocks noChangeArrowheads="1"/>
            </p:cNvSpPr>
            <p:nvPr/>
          </p:nvSpPr>
          <p:spPr bwMode="auto">
            <a:xfrm>
              <a:off x="4125536" y="6263453"/>
              <a:ext cx="395397" cy="430652"/>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5</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44" name="AutoShape 9"/>
            <p:cNvSpPr>
              <a:spLocks noChangeShapeType="1"/>
            </p:cNvSpPr>
            <p:nvPr/>
          </p:nvSpPr>
          <p:spPr bwMode="auto">
            <a:xfrm flipH="1">
              <a:off x="3704793" y="3949330"/>
              <a:ext cx="479038" cy="583914"/>
            </a:xfrm>
            <a:prstGeom prst="straightConnector1">
              <a:avLst/>
            </a:prstGeom>
            <a:noFill/>
            <a:ln w="19050">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45" name="AutoShape 8"/>
            <p:cNvSpPr>
              <a:spLocks noChangeShapeType="1"/>
            </p:cNvSpPr>
            <p:nvPr/>
          </p:nvSpPr>
          <p:spPr bwMode="auto">
            <a:xfrm>
              <a:off x="4462637" y="3949330"/>
              <a:ext cx="476504" cy="583914"/>
            </a:xfrm>
            <a:prstGeom prst="straightConnector1">
              <a:avLst/>
            </a:prstGeom>
            <a:noFill/>
            <a:ln w="19050">
              <a:solidFill>
                <a:schemeClr val="tx1"/>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46" name="AutoShape 7"/>
            <p:cNvSpPr>
              <a:spLocks noChangeShapeType="1"/>
            </p:cNvSpPr>
            <p:nvPr/>
          </p:nvSpPr>
          <p:spPr bwMode="auto">
            <a:xfrm>
              <a:off x="3763089" y="4685239"/>
              <a:ext cx="1117756" cy="1267"/>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47" name="AutoShape 6"/>
            <p:cNvSpPr>
              <a:spLocks noChangeShapeType="1"/>
            </p:cNvSpPr>
            <p:nvPr/>
          </p:nvSpPr>
          <p:spPr bwMode="auto">
            <a:xfrm>
              <a:off x="3704793" y="4837234"/>
              <a:ext cx="1176052" cy="868904"/>
            </a:xfrm>
            <a:prstGeom prst="straightConnector1">
              <a:avLst/>
            </a:prstGeom>
            <a:noFill/>
            <a:ln w="19050">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48" name="AutoShape 5"/>
            <p:cNvSpPr>
              <a:spLocks noChangeShapeType="1"/>
            </p:cNvSpPr>
            <p:nvPr/>
          </p:nvSpPr>
          <p:spPr bwMode="auto">
            <a:xfrm>
              <a:off x="5078543" y="4900565"/>
              <a:ext cx="1267" cy="588980"/>
            </a:xfrm>
            <a:prstGeom prst="straightConnector1">
              <a:avLst/>
            </a:prstGeom>
            <a:noFill/>
            <a:ln w="19050">
              <a:solidFill>
                <a:schemeClr val="tx1"/>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49" name="AutoShape 4"/>
            <p:cNvSpPr>
              <a:spLocks noChangeShapeType="1"/>
            </p:cNvSpPr>
            <p:nvPr/>
          </p:nvSpPr>
          <p:spPr bwMode="auto">
            <a:xfrm>
              <a:off x="3565391" y="4900565"/>
              <a:ext cx="1267" cy="588980"/>
            </a:xfrm>
            <a:prstGeom prst="straightConnector1">
              <a:avLst/>
            </a:prstGeom>
            <a:noFill/>
            <a:ln w="19050">
              <a:solidFill>
                <a:schemeClr val="tx1"/>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50" name="AutoShape 3"/>
            <p:cNvSpPr>
              <a:spLocks noChangeShapeType="1"/>
            </p:cNvSpPr>
            <p:nvPr/>
          </p:nvSpPr>
          <p:spPr bwMode="auto">
            <a:xfrm>
              <a:off x="3704793" y="5858133"/>
              <a:ext cx="479038" cy="468651"/>
            </a:xfrm>
            <a:prstGeom prst="straightConnector1">
              <a:avLst/>
            </a:prstGeom>
            <a:noFill/>
            <a:ln w="19050">
              <a:solidFill>
                <a:schemeClr val="tx1"/>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51" name="AutoShape 2"/>
            <p:cNvSpPr>
              <a:spLocks noChangeShapeType="1"/>
            </p:cNvSpPr>
            <p:nvPr/>
          </p:nvSpPr>
          <p:spPr bwMode="auto">
            <a:xfrm flipH="1">
              <a:off x="4462637" y="5858133"/>
              <a:ext cx="476504" cy="468651"/>
            </a:xfrm>
            <a:prstGeom prst="straightConnector1">
              <a:avLst/>
            </a:prstGeom>
            <a:noFill/>
            <a:ln w="19050">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grpSp>
      <p:grpSp>
        <p:nvGrpSpPr>
          <p:cNvPr id="78" name="组合 77"/>
          <p:cNvGrpSpPr/>
          <p:nvPr/>
        </p:nvGrpSpPr>
        <p:grpSpPr>
          <a:xfrm>
            <a:off x="2071670" y="2317168"/>
            <a:ext cx="2122864" cy="1071570"/>
            <a:chOff x="2234822" y="2317168"/>
            <a:chExt cx="2122864" cy="1071570"/>
          </a:xfrm>
        </p:grpSpPr>
        <p:sp>
          <p:nvSpPr>
            <p:cNvPr id="28" name="TextBox 27"/>
            <p:cNvSpPr txBox="1"/>
            <p:nvPr/>
          </p:nvSpPr>
          <p:spPr>
            <a:xfrm>
              <a:off x="2234822" y="2317168"/>
              <a:ext cx="2122864" cy="707886"/>
            </a:xfrm>
            <a:prstGeom prst="rect">
              <a:avLst/>
            </a:prstGeom>
            <a:noFill/>
          </p:spPr>
          <p:txBody>
            <a:bodyPr wrap="square" rtlCol="0">
              <a:spAutoFit/>
            </a:bodyPr>
            <a:lstStyle/>
            <a:p>
              <a:pPr algn="l">
                <a:lnSpc>
                  <a:spcPct val="100000"/>
                </a:lnSpc>
                <a:spcBef>
                  <a:spcPts val="0"/>
                </a:spcBef>
              </a:pPr>
              <a:r>
                <a:rPr lang="zh-CN" altLang="zh-CN" sz="2000">
                  <a:solidFill>
                    <a:srgbClr val="0000FF"/>
                  </a:solidFill>
                  <a:latin typeface="Consolas" pitchFamily="49" charset="0"/>
                  <a:ea typeface="仿宋" pitchFamily="49" charset="-122"/>
                </a:rPr>
                <a:t>找到一条增广路径是</a:t>
              </a:r>
              <a:r>
                <a:rPr lang="en-US" altLang="zh-CN" sz="2000">
                  <a:solidFill>
                    <a:srgbClr val="0000FF"/>
                  </a:solidFill>
                  <a:latin typeface="Consolas" pitchFamily="49" charset="0"/>
                  <a:ea typeface="仿宋" pitchFamily="49" charset="-122"/>
                </a:rPr>
                <a:t>0</a:t>
              </a:r>
              <a:r>
                <a:rPr lang="zh-CN" altLang="zh-CN" sz="2000">
                  <a:solidFill>
                    <a:srgbClr val="0000FF"/>
                  </a:solidFill>
                  <a:latin typeface="Consolas" pitchFamily="49" charset="0"/>
                  <a:ea typeface="仿宋" pitchFamily="49" charset="-122"/>
                </a:rPr>
                <a:t>→</a:t>
              </a:r>
              <a:r>
                <a:rPr lang="en-US" altLang="zh-CN" sz="2000">
                  <a:solidFill>
                    <a:srgbClr val="0000FF"/>
                  </a:solidFill>
                  <a:latin typeface="Consolas" pitchFamily="49" charset="0"/>
                  <a:ea typeface="仿宋" pitchFamily="49" charset="-122"/>
                </a:rPr>
                <a:t>1</a:t>
              </a:r>
              <a:r>
                <a:rPr lang="zh-CN" altLang="zh-CN" sz="2000">
                  <a:solidFill>
                    <a:srgbClr val="0000FF"/>
                  </a:solidFill>
                  <a:latin typeface="Consolas" pitchFamily="49" charset="0"/>
                  <a:ea typeface="仿宋" pitchFamily="49" charset="-122"/>
                </a:rPr>
                <a:t>→</a:t>
              </a:r>
              <a:r>
                <a:rPr lang="en-US" altLang="zh-CN" sz="2000">
                  <a:solidFill>
                    <a:srgbClr val="0000FF"/>
                  </a:solidFill>
                  <a:latin typeface="Consolas" pitchFamily="49" charset="0"/>
                  <a:ea typeface="仿宋" pitchFamily="49" charset="-122"/>
                </a:rPr>
                <a:t>4</a:t>
              </a:r>
              <a:r>
                <a:rPr lang="zh-CN" altLang="zh-CN" sz="2000">
                  <a:solidFill>
                    <a:srgbClr val="0000FF"/>
                  </a:solidFill>
                  <a:latin typeface="Consolas" pitchFamily="49" charset="0"/>
                  <a:ea typeface="仿宋" pitchFamily="49" charset="-122"/>
                </a:rPr>
                <a:t>→</a:t>
              </a:r>
              <a:r>
                <a:rPr lang="en-US" altLang="zh-CN" sz="2000">
                  <a:solidFill>
                    <a:srgbClr val="0000FF"/>
                  </a:solidFill>
                  <a:latin typeface="Consolas" pitchFamily="49" charset="0"/>
                  <a:ea typeface="仿宋" pitchFamily="49" charset="-122"/>
                </a:rPr>
                <a:t>5</a:t>
              </a:r>
              <a:endParaRPr lang="zh-CN" altLang="en-US" sz="2000">
                <a:solidFill>
                  <a:srgbClr val="0000FF"/>
                </a:solidFill>
                <a:latin typeface="Consolas" pitchFamily="49" charset="0"/>
                <a:ea typeface="仿宋" pitchFamily="49" charset="-122"/>
                <a:cs typeface="Consolas" pitchFamily="49" charset="0"/>
              </a:endParaRPr>
            </a:p>
          </p:txBody>
        </p:sp>
        <p:sp>
          <p:nvSpPr>
            <p:cNvPr id="52" name="右箭头 51"/>
            <p:cNvSpPr/>
            <p:nvPr/>
          </p:nvSpPr>
          <p:spPr>
            <a:xfrm>
              <a:off x="2349837" y="3102986"/>
              <a:ext cx="1837112" cy="285752"/>
            </a:xfrm>
            <a:prstGeom prst="right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grpSp>
      <p:sp>
        <p:nvSpPr>
          <p:cNvPr id="53" name="TextBox 52"/>
          <p:cNvSpPr txBox="1"/>
          <p:nvPr/>
        </p:nvSpPr>
        <p:spPr>
          <a:xfrm>
            <a:off x="1285852" y="467005"/>
            <a:ext cx="1714512" cy="430887"/>
          </a:xfrm>
          <a:prstGeom prst="rect">
            <a:avLst/>
          </a:prstGeom>
          <a:noFill/>
        </p:spPr>
        <p:txBody>
          <a:bodyPr wrap="square" rtlCol="0">
            <a:spAutoFit/>
          </a:bodyPr>
          <a:lstStyle/>
          <a:p>
            <a:pPr algn="l">
              <a:lnSpc>
                <a:spcPct val="100000"/>
              </a:lnSpc>
              <a:spcBef>
                <a:spcPts val="0"/>
              </a:spcBef>
            </a:pPr>
            <a:r>
              <a:rPr lang="zh-CN" altLang="zh-CN" sz="2200">
                <a:solidFill>
                  <a:srgbClr val="0000FF"/>
                </a:solidFill>
                <a:latin typeface="楷体" pitchFamily="49" charset="-122"/>
                <a:ea typeface="楷体" pitchFamily="49" charset="-122"/>
              </a:rPr>
              <a:t>第一轮循环</a:t>
            </a:r>
            <a:endParaRPr lang="zh-CN" altLang="en-US" sz="2200">
              <a:solidFill>
                <a:srgbClr val="0000FF"/>
              </a:solidFill>
              <a:latin typeface="楷体" pitchFamily="49" charset="-122"/>
              <a:ea typeface="楷体" pitchFamily="49" charset="-122"/>
              <a:cs typeface="Consolas" pitchFamily="49" charset="0"/>
            </a:endParaRPr>
          </a:p>
        </p:txBody>
      </p:sp>
      <p:grpSp>
        <p:nvGrpSpPr>
          <p:cNvPr id="54" name="组合 28"/>
          <p:cNvGrpSpPr/>
          <p:nvPr/>
        </p:nvGrpSpPr>
        <p:grpSpPr>
          <a:xfrm>
            <a:off x="7092606" y="1459912"/>
            <a:ext cx="1908550" cy="3112096"/>
            <a:chOff x="3367692" y="3582009"/>
            <a:chExt cx="1908550" cy="3112096"/>
          </a:xfrm>
        </p:grpSpPr>
        <p:sp>
          <p:nvSpPr>
            <p:cNvPr id="55" name="Text Box 23"/>
            <p:cNvSpPr txBox="1">
              <a:spLocks noChangeArrowheads="1"/>
            </p:cNvSpPr>
            <p:nvPr/>
          </p:nvSpPr>
          <p:spPr bwMode="auto">
            <a:xfrm>
              <a:off x="3787168" y="3963263"/>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6" name="Text Box 22"/>
            <p:cNvSpPr txBox="1">
              <a:spLocks noChangeArrowheads="1"/>
            </p:cNvSpPr>
            <p:nvPr/>
          </p:nvSpPr>
          <p:spPr bwMode="auto">
            <a:xfrm>
              <a:off x="4798471" y="4005062"/>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7" name="Text Box 21"/>
            <p:cNvSpPr txBox="1">
              <a:spLocks noChangeArrowheads="1"/>
            </p:cNvSpPr>
            <p:nvPr/>
          </p:nvSpPr>
          <p:spPr bwMode="auto">
            <a:xfrm>
              <a:off x="4262404" y="4381249"/>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8" name="Text Box 20"/>
            <p:cNvSpPr txBox="1">
              <a:spLocks noChangeArrowheads="1"/>
            </p:cNvSpPr>
            <p:nvPr/>
          </p:nvSpPr>
          <p:spPr bwMode="auto">
            <a:xfrm>
              <a:off x="4365055" y="5053826"/>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0000FF"/>
                  </a:solidFill>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9" name="Text Box 19"/>
            <p:cNvSpPr txBox="1">
              <a:spLocks noChangeArrowheads="1"/>
            </p:cNvSpPr>
            <p:nvPr/>
          </p:nvSpPr>
          <p:spPr bwMode="auto">
            <a:xfrm>
              <a:off x="5114028" y="5061426"/>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60" name="Text Box 17"/>
            <p:cNvSpPr txBox="1">
              <a:spLocks noChangeArrowheads="1"/>
            </p:cNvSpPr>
            <p:nvPr/>
          </p:nvSpPr>
          <p:spPr bwMode="auto">
            <a:xfrm>
              <a:off x="3409513" y="5061426"/>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61" name="Text Box 16"/>
            <p:cNvSpPr txBox="1">
              <a:spLocks noChangeArrowheads="1"/>
            </p:cNvSpPr>
            <p:nvPr/>
          </p:nvSpPr>
          <p:spPr bwMode="auto">
            <a:xfrm>
              <a:off x="3704793" y="6037994"/>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62" name="Oval 15"/>
            <p:cNvSpPr>
              <a:spLocks noChangeArrowheads="1"/>
            </p:cNvSpPr>
            <p:nvPr/>
          </p:nvSpPr>
          <p:spPr bwMode="auto">
            <a:xfrm>
              <a:off x="4125536" y="3582009"/>
              <a:ext cx="395397" cy="430652"/>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0</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63" name="Oval 14"/>
            <p:cNvSpPr>
              <a:spLocks noChangeArrowheads="1"/>
            </p:cNvSpPr>
            <p:nvPr/>
          </p:nvSpPr>
          <p:spPr bwMode="auto">
            <a:xfrm>
              <a:off x="3367692" y="4469913"/>
              <a:ext cx="395397" cy="43065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64" name="Oval 13"/>
            <p:cNvSpPr>
              <a:spLocks noChangeArrowheads="1"/>
            </p:cNvSpPr>
            <p:nvPr/>
          </p:nvSpPr>
          <p:spPr bwMode="auto">
            <a:xfrm>
              <a:off x="4880845" y="4469913"/>
              <a:ext cx="395397" cy="43065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65" name="Oval 12"/>
            <p:cNvSpPr>
              <a:spLocks noChangeArrowheads="1"/>
            </p:cNvSpPr>
            <p:nvPr/>
          </p:nvSpPr>
          <p:spPr bwMode="auto">
            <a:xfrm>
              <a:off x="3367692" y="5489545"/>
              <a:ext cx="395397" cy="43191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66" name="Oval 11"/>
            <p:cNvSpPr>
              <a:spLocks noChangeArrowheads="1"/>
            </p:cNvSpPr>
            <p:nvPr/>
          </p:nvSpPr>
          <p:spPr bwMode="auto">
            <a:xfrm>
              <a:off x="4880845" y="5489545"/>
              <a:ext cx="395397" cy="43191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67" name="Oval 10"/>
            <p:cNvSpPr>
              <a:spLocks noChangeArrowheads="1"/>
            </p:cNvSpPr>
            <p:nvPr/>
          </p:nvSpPr>
          <p:spPr bwMode="auto">
            <a:xfrm>
              <a:off x="4125536" y="6263453"/>
              <a:ext cx="395397" cy="430652"/>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5</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68" name="AutoShape 9"/>
            <p:cNvSpPr>
              <a:spLocks noChangeShapeType="1"/>
            </p:cNvSpPr>
            <p:nvPr/>
          </p:nvSpPr>
          <p:spPr bwMode="auto">
            <a:xfrm flipH="1">
              <a:off x="3704793" y="3949330"/>
              <a:ext cx="479038" cy="583914"/>
            </a:xfrm>
            <a:prstGeom prst="straightConnector1">
              <a:avLst/>
            </a:prstGeom>
            <a:noFill/>
            <a:ln w="19050">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69" name="AutoShape 8"/>
            <p:cNvSpPr>
              <a:spLocks noChangeShapeType="1"/>
            </p:cNvSpPr>
            <p:nvPr/>
          </p:nvSpPr>
          <p:spPr bwMode="auto">
            <a:xfrm>
              <a:off x="4462637" y="3949330"/>
              <a:ext cx="476504" cy="583914"/>
            </a:xfrm>
            <a:prstGeom prst="straightConnector1">
              <a:avLst/>
            </a:prstGeom>
            <a:noFill/>
            <a:ln w="19050">
              <a:solidFill>
                <a:schemeClr val="tx1"/>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70" name="AutoShape 7"/>
            <p:cNvSpPr>
              <a:spLocks noChangeShapeType="1"/>
            </p:cNvSpPr>
            <p:nvPr/>
          </p:nvSpPr>
          <p:spPr bwMode="auto">
            <a:xfrm>
              <a:off x="3763089" y="4685239"/>
              <a:ext cx="1117756" cy="1267"/>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71" name="AutoShape 6"/>
            <p:cNvSpPr>
              <a:spLocks noChangeShapeType="1"/>
            </p:cNvSpPr>
            <p:nvPr/>
          </p:nvSpPr>
          <p:spPr bwMode="auto">
            <a:xfrm>
              <a:off x="3704793" y="4837234"/>
              <a:ext cx="1176052" cy="868904"/>
            </a:xfrm>
            <a:prstGeom prst="straightConnector1">
              <a:avLst/>
            </a:prstGeom>
            <a:noFill/>
            <a:ln w="19050">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72" name="AutoShape 5"/>
            <p:cNvSpPr>
              <a:spLocks noChangeShapeType="1"/>
            </p:cNvSpPr>
            <p:nvPr/>
          </p:nvSpPr>
          <p:spPr bwMode="auto">
            <a:xfrm>
              <a:off x="5078543" y="4900565"/>
              <a:ext cx="1267" cy="588980"/>
            </a:xfrm>
            <a:prstGeom prst="straightConnector1">
              <a:avLst/>
            </a:prstGeom>
            <a:noFill/>
            <a:ln w="19050">
              <a:solidFill>
                <a:schemeClr val="tx1"/>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73" name="AutoShape 4"/>
            <p:cNvSpPr>
              <a:spLocks noChangeShapeType="1"/>
            </p:cNvSpPr>
            <p:nvPr/>
          </p:nvSpPr>
          <p:spPr bwMode="auto">
            <a:xfrm>
              <a:off x="3565391" y="4900565"/>
              <a:ext cx="1267" cy="588980"/>
            </a:xfrm>
            <a:prstGeom prst="straightConnector1">
              <a:avLst/>
            </a:prstGeom>
            <a:noFill/>
            <a:ln w="19050">
              <a:solidFill>
                <a:schemeClr val="tx1"/>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74" name="AutoShape 3"/>
            <p:cNvSpPr>
              <a:spLocks noChangeShapeType="1"/>
            </p:cNvSpPr>
            <p:nvPr/>
          </p:nvSpPr>
          <p:spPr bwMode="auto">
            <a:xfrm>
              <a:off x="3704793" y="5858133"/>
              <a:ext cx="479038" cy="468651"/>
            </a:xfrm>
            <a:prstGeom prst="straightConnector1">
              <a:avLst/>
            </a:prstGeom>
            <a:noFill/>
            <a:ln w="19050">
              <a:solidFill>
                <a:schemeClr val="tx1"/>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grpSp>
      <p:grpSp>
        <p:nvGrpSpPr>
          <p:cNvPr id="77" name="组合 76"/>
          <p:cNvGrpSpPr/>
          <p:nvPr/>
        </p:nvGrpSpPr>
        <p:grpSpPr>
          <a:xfrm>
            <a:off x="6286512" y="2714620"/>
            <a:ext cx="847732" cy="685862"/>
            <a:chOff x="2509822" y="5100592"/>
            <a:chExt cx="847732" cy="685862"/>
          </a:xfrm>
        </p:grpSpPr>
        <p:sp>
          <p:nvSpPr>
            <p:cNvPr id="75" name="TextBox 74"/>
            <p:cNvSpPr txBox="1"/>
            <p:nvPr/>
          </p:nvSpPr>
          <p:spPr>
            <a:xfrm>
              <a:off x="2509822" y="5100592"/>
              <a:ext cx="847732" cy="400110"/>
            </a:xfrm>
            <a:prstGeom prst="rect">
              <a:avLst/>
            </a:prstGeom>
            <a:noFill/>
          </p:spPr>
          <p:txBody>
            <a:bodyPr wrap="square" rtlCol="0">
              <a:spAutoFit/>
            </a:bodyPr>
            <a:lstStyle/>
            <a:p>
              <a:pPr algn="l">
                <a:lnSpc>
                  <a:spcPct val="100000"/>
                </a:lnSpc>
                <a:spcBef>
                  <a:spcPts val="0"/>
                </a:spcBef>
              </a:pPr>
              <a:r>
                <a:rPr lang="zh-CN" altLang="zh-CN" sz="2000">
                  <a:solidFill>
                    <a:srgbClr val="0000FF"/>
                  </a:solidFill>
                  <a:latin typeface="Consolas" pitchFamily="49" charset="0"/>
                  <a:ea typeface="仿宋" pitchFamily="49" charset="-122"/>
                </a:rPr>
                <a:t>增广</a:t>
              </a:r>
              <a:endParaRPr lang="zh-CN" altLang="en-US" sz="2000">
                <a:solidFill>
                  <a:srgbClr val="0000FF"/>
                </a:solidFill>
                <a:latin typeface="Consolas" pitchFamily="49" charset="0"/>
                <a:ea typeface="仿宋" pitchFamily="49" charset="-122"/>
                <a:cs typeface="Consolas" pitchFamily="49" charset="0"/>
              </a:endParaRPr>
            </a:p>
          </p:txBody>
        </p:sp>
        <p:sp>
          <p:nvSpPr>
            <p:cNvPr id="76" name="右箭头 75"/>
            <p:cNvSpPr/>
            <p:nvPr/>
          </p:nvSpPr>
          <p:spPr>
            <a:xfrm>
              <a:off x="2581260" y="5500702"/>
              <a:ext cx="633418" cy="285752"/>
            </a:xfrm>
            <a:prstGeom prst="right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grpSp>
      <p:sp>
        <p:nvSpPr>
          <p:cNvPr id="80" name="灯片编号占位符 79"/>
          <p:cNvSpPr>
            <a:spLocks noGrp="1"/>
          </p:cNvSpPr>
          <p:nvPr>
            <p:ph type="sldNum" sz="quarter" idx="12"/>
          </p:nvPr>
        </p:nvSpPr>
        <p:spPr/>
        <p:txBody>
          <a:bodyPr/>
          <a:lstStyle/>
          <a:p>
            <a:fld id="{7AF016A1-9F15-429F-9EFD-84004B73C732}" type="slidenum">
              <a:rPr lang="en-US" altLang="zh-CN" smtClean="0"/>
              <a:pPr/>
              <a:t>96</a:t>
            </a:fld>
            <a:r>
              <a:rPr lang="en-US" altLang="zh-CN"/>
              <a:t>/158</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TextBox 73"/>
          <p:cNvSpPr txBox="1"/>
          <p:nvPr/>
        </p:nvSpPr>
        <p:spPr>
          <a:xfrm>
            <a:off x="857224" y="571480"/>
            <a:ext cx="1714512" cy="430887"/>
          </a:xfrm>
          <a:prstGeom prst="rect">
            <a:avLst/>
          </a:prstGeom>
          <a:noFill/>
        </p:spPr>
        <p:txBody>
          <a:bodyPr wrap="square" rtlCol="0">
            <a:spAutoFit/>
          </a:bodyPr>
          <a:lstStyle/>
          <a:p>
            <a:pPr algn="l">
              <a:lnSpc>
                <a:spcPct val="100000"/>
              </a:lnSpc>
              <a:spcBef>
                <a:spcPts val="0"/>
              </a:spcBef>
            </a:pPr>
            <a:r>
              <a:rPr lang="zh-CN" altLang="zh-CN" sz="2200">
                <a:solidFill>
                  <a:srgbClr val="0000FF"/>
                </a:solidFill>
                <a:latin typeface="楷体" pitchFamily="49" charset="-122"/>
                <a:ea typeface="楷体" pitchFamily="49" charset="-122"/>
              </a:rPr>
              <a:t>第</a:t>
            </a:r>
            <a:r>
              <a:rPr lang="zh-CN" altLang="en-US" sz="2200">
                <a:solidFill>
                  <a:srgbClr val="0000FF"/>
                </a:solidFill>
                <a:latin typeface="楷体" pitchFamily="49" charset="-122"/>
                <a:ea typeface="楷体" pitchFamily="49" charset="-122"/>
              </a:rPr>
              <a:t>二</a:t>
            </a:r>
            <a:r>
              <a:rPr lang="zh-CN" altLang="zh-CN" sz="2200">
                <a:solidFill>
                  <a:srgbClr val="0000FF"/>
                </a:solidFill>
                <a:latin typeface="楷体" pitchFamily="49" charset="-122"/>
                <a:ea typeface="楷体" pitchFamily="49" charset="-122"/>
              </a:rPr>
              <a:t>轮循环</a:t>
            </a:r>
            <a:endParaRPr lang="zh-CN" altLang="en-US" sz="2200">
              <a:solidFill>
                <a:srgbClr val="0000FF"/>
              </a:solidFill>
              <a:latin typeface="楷体" pitchFamily="49" charset="-122"/>
              <a:ea typeface="楷体" pitchFamily="49" charset="-122"/>
              <a:cs typeface="Consolas" pitchFamily="49" charset="0"/>
            </a:endParaRPr>
          </a:p>
        </p:txBody>
      </p:sp>
      <p:grpSp>
        <p:nvGrpSpPr>
          <p:cNvPr id="75" name="组合 28"/>
          <p:cNvGrpSpPr/>
          <p:nvPr/>
        </p:nvGrpSpPr>
        <p:grpSpPr>
          <a:xfrm>
            <a:off x="4235086" y="1459912"/>
            <a:ext cx="1908550" cy="3112096"/>
            <a:chOff x="3367692" y="3582009"/>
            <a:chExt cx="1908550" cy="3112096"/>
          </a:xfrm>
        </p:grpSpPr>
        <p:sp>
          <p:nvSpPr>
            <p:cNvPr id="76" name="Text Box 23"/>
            <p:cNvSpPr txBox="1">
              <a:spLocks noChangeArrowheads="1"/>
            </p:cNvSpPr>
            <p:nvPr/>
          </p:nvSpPr>
          <p:spPr bwMode="auto">
            <a:xfrm>
              <a:off x="3787168" y="3963263"/>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77" name="Text Box 22"/>
            <p:cNvSpPr txBox="1">
              <a:spLocks noChangeArrowheads="1"/>
            </p:cNvSpPr>
            <p:nvPr/>
          </p:nvSpPr>
          <p:spPr bwMode="auto">
            <a:xfrm>
              <a:off x="4798471" y="4005062"/>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78" name="Text Box 21"/>
            <p:cNvSpPr txBox="1">
              <a:spLocks noChangeArrowheads="1"/>
            </p:cNvSpPr>
            <p:nvPr/>
          </p:nvSpPr>
          <p:spPr bwMode="auto">
            <a:xfrm>
              <a:off x="4262404" y="4381249"/>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79" name="Text Box 20"/>
            <p:cNvSpPr txBox="1">
              <a:spLocks noChangeArrowheads="1"/>
            </p:cNvSpPr>
            <p:nvPr/>
          </p:nvSpPr>
          <p:spPr bwMode="auto">
            <a:xfrm>
              <a:off x="4365055" y="5053826"/>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80" name="Text Box 19"/>
            <p:cNvSpPr txBox="1">
              <a:spLocks noChangeArrowheads="1"/>
            </p:cNvSpPr>
            <p:nvPr/>
          </p:nvSpPr>
          <p:spPr bwMode="auto">
            <a:xfrm>
              <a:off x="5114028" y="5061426"/>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81" name="Text Box 17"/>
            <p:cNvSpPr txBox="1">
              <a:spLocks noChangeArrowheads="1"/>
            </p:cNvSpPr>
            <p:nvPr/>
          </p:nvSpPr>
          <p:spPr bwMode="auto">
            <a:xfrm>
              <a:off x="3409513" y="5061426"/>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82" name="Text Box 16"/>
            <p:cNvSpPr txBox="1">
              <a:spLocks noChangeArrowheads="1"/>
            </p:cNvSpPr>
            <p:nvPr/>
          </p:nvSpPr>
          <p:spPr bwMode="auto">
            <a:xfrm>
              <a:off x="3704793" y="6037994"/>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83" name="Oval 15"/>
            <p:cNvSpPr>
              <a:spLocks noChangeArrowheads="1"/>
            </p:cNvSpPr>
            <p:nvPr/>
          </p:nvSpPr>
          <p:spPr bwMode="auto">
            <a:xfrm>
              <a:off x="4125536" y="3582009"/>
              <a:ext cx="395397" cy="430652"/>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0</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84" name="Oval 14"/>
            <p:cNvSpPr>
              <a:spLocks noChangeArrowheads="1"/>
            </p:cNvSpPr>
            <p:nvPr/>
          </p:nvSpPr>
          <p:spPr bwMode="auto">
            <a:xfrm>
              <a:off x="3367692" y="4469913"/>
              <a:ext cx="395397" cy="43065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85" name="Oval 13"/>
            <p:cNvSpPr>
              <a:spLocks noChangeArrowheads="1"/>
            </p:cNvSpPr>
            <p:nvPr/>
          </p:nvSpPr>
          <p:spPr bwMode="auto">
            <a:xfrm>
              <a:off x="4880845" y="4469913"/>
              <a:ext cx="395397" cy="43065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86" name="Oval 12"/>
            <p:cNvSpPr>
              <a:spLocks noChangeArrowheads="1"/>
            </p:cNvSpPr>
            <p:nvPr/>
          </p:nvSpPr>
          <p:spPr bwMode="auto">
            <a:xfrm>
              <a:off x="3367692" y="5489545"/>
              <a:ext cx="395397" cy="43191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87" name="Oval 11"/>
            <p:cNvSpPr>
              <a:spLocks noChangeArrowheads="1"/>
            </p:cNvSpPr>
            <p:nvPr/>
          </p:nvSpPr>
          <p:spPr bwMode="auto">
            <a:xfrm>
              <a:off x="4880845" y="5489545"/>
              <a:ext cx="395397" cy="43191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88" name="Oval 10"/>
            <p:cNvSpPr>
              <a:spLocks noChangeArrowheads="1"/>
            </p:cNvSpPr>
            <p:nvPr/>
          </p:nvSpPr>
          <p:spPr bwMode="auto">
            <a:xfrm>
              <a:off x="4125536" y="6263453"/>
              <a:ext cx="395397" cy="430652"/>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5</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89" name="AutoShape 9"/>
            <p:cNvSpPr>
              <a:spLocks noChangeShapeType="1"/>
            </p:cNvSpPr>
            <p:nvPr/>
          </p:nvSpPr>
          <p:spPr bwMode="auto">
            <a:xfrm flipH="1">
              <a:off x="3704793" y="3949330"/>
              <a:ext cx="479038" cy="583914"/>
            </a:xfrm>
            <a:prstGeom prst="straightConnector1">
              <a:avLst/>
            </a:prstGeom>
            <a:noFill/>
            <a:ln w="19050">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90" name="AutoShape 8"/>
            <p:cNvSpPr>
              <a:spLocks noChangeShapeType="1"/>
            </p:cNvSpPr>
            <p:nvPr/>
          </p:nvSpPr>
          <p:spPr bwMode="auto">
            <a:xfrm>
              <a:off x="4462637" y="3949330"/>
              <a:ext cx="476504" cy="583914"/>
            </a:xfrm>
            <a:prstGeom prst="straightConnector1">
              <a:avLst/>
            </a:prstGeom>
            <a:noFill/>
            <a:ln w="19050">
              <a:solidFill>
                <a:schemeClr val="tx1"/>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91" name="AutoShape 7"/>
            <p:cNvSpPr>
              <a:spLocks noChangeShapeType="1"/>
            </p:cNvSpPr>
            <p:nvPr/>
          </p:nvSpPr>
          <p:spPr bwMode="auto">
            <a:xfrm>
              <a:off x="3763089" y="4685239"/>
              <a:ext cx="1117756" cy="1267"/>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92" name="AutoShape 6"/>
            <p:cNvSpPr>
              <a:spLocks noChangeShapeType="1"/>
            </p:cNvSpPr>
            <p:nvPr/>
          </p:nvSpPr>
          <p:spPr bwMode="auto">
            <a:xfrm>
              <a:off x="3704793" y="4837234"/>
              <a:ext cx="1176052" cy="868904"/>
            </a:xfrm>
            <a:prstGeom prst="straightConnector1">
              <a:avLst/>
            </a:prstGeom>
            <a:noFill/>
            <a:ln w="19050">
              <a:solidFill>
                <a:schemeClr val="tx1"/>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93" name="AutoShape 5"/>
            <p:cNvSpPr>
              <a:spLocks noChangeShapeType="1"/>
            </p:cNvSpPr>
            <p:nvPr/>
          </p:nvSpPr>
          <p:spPr bwMode="auto">
            <a:xfrm>
              <a:off x="5078543" y="4900565"/>
              <a:ext cx="1267" cy="588980"/>
            </a:xfrm>
            <a:prstGeom prst="straightConnector1">
              <a:avLst/>
            </a:prstGeom>
            <a:noFill/>
            <a:ln w="19050">
              <a:solidFill>
                <a:schemeClr val="tx1"/>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94" name="AutoShape 4"/>
            <p:cNvSpPr>
              <a:spLocks noChangeShapeType="1"/>
            </p:cNvSpPr>
            <p:nvPr/>
          </p:nvSpPr>
          <p:spPr bwMode="auto">
            <a:xfrm>
              <a:off x="3565391" y="4900565"/>
              <a:ext cx="1267" cy="588980"/>
            </a:xfrm>
            <a:prstGeom prst="straightConnector1">
              <a:avLst/>
            </a:prstGeom>
            <a:noFill/>
            <a:ln w="19050">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95" name="AutoShape 3"/>
            <p:cNvSpPr>
              <a:spLocks noChangeShapeType="1"/>
            </p:cNvSpPr>
            <p:nvPr/>
          </p:nvSpPr>
          <p:spPr bwMode="auto">
            <a:xfrm>
              <a:off x="3704793" y="5858133"/>
              <a:ext cx="479038" cy="468651"/>
            </a:xfrm>
            <a:prstGeom prst="straightConnector1">
              <a:avLst/>
            </a:prstGeom>
            <a:noFill/>
            <a:ln w="19050">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grpSp>
      <p:grpSp>
        <p:nvGrpSpPr>
          <p:cNvPr id="96" name="组合 95"/>
          <p:cNvGrpSpPr/>
          <p:nvPr/>
        </p:nvGrpSpPr>
        <p:grpSpPr>
          <a:xfrm>
            <a:off x="2139404" y="2214554"/>
            <a:ext cx="2122864" cy="1071570"/>
            <a:chOff x="2234822" y="2317168"/>
            <a:chExt cx="2122864" cy="1071570"/>
          </a:xfrm>
        </p:grpSpPr>
        <p:sp>
          <p:nvSpPr>
            <p:cNvPr id="97" name="TextBox 96"/>
            <p:cNvSpPr txBox="1"/>
            <p:nvPr/>
          </p:nvSpPr>
          <p:spPr>
            <a:xfrm>
              <a:off x="2234822" y="2317168"/>
              <a:ext cx="2122864" cy="707886"/>
            </a:xfrm>
            <a:prstGeom prst="rect">
              <a:avLst/>
            </a:prstGeom>
            <a:noFill/>
          </p:spPr>
          <p:txBody>
            <a:bodyPr wrap="square" rtlCol="0">
              <a:spAutoFit/>
            </a:bodyPr>
            <a:lstStyle/>
            <a:p>
              <a:pPr algn="l">
                <a:lnSpc>
                  <a:spcPct val="100000"/>
                </a:lnSpc>
                <a:spcBef>
                  <a:spcPts val="0"/>
                </a:spcBef>
              </a:pPr>
              <a:r>
                <a:rPr lang="zh-CN" altLang="zh-CN" sz="2000">
                  <a:solidFill>
                    <a:srgbClr val="0000FF"/>
                  </a:solidFill>
                  <a:latin typeface="Consolas" pitchFamily="49" charset="0"/>
                  <a:ea typeface="仿宋" pitchFamily="49" charset="-122"/>
                </a:rPr>
                <a:t>找到一条增广路径是</a:t>
              </a:r>
              <a:r>
                <a:rPr lang="en-US" altLang="zh-CN" sz="2000">
                  <a:solidFill>
                    <a:srgbClr val="0000FF"/>
                  </a:solidFill>
                  <a:latin typeface="Consolas" pitchFamily="49" charset="0"/>
                  <a:ea typeface="仿宋" pitchFamily="49" charset="-122"/>
                </a:rPr>
                <a:t>0</a:t>
              </a:r>
              <a:r>
                <a:rPr lang="zh-CN" altLang="zh-CN" sz="2000">
                  <a:solidFill>
                    <a:srgbClr val="0000FF"/>
                  </a:solidFill>
                  <a:latin typeface="Consolas" pitchFamily="49" charset="0"/>
                  <a:ea typeface="仿宋" pitchFamily="49" charset="-122"/>
                </a:rPr>
                <a:t>→</a:t>
              </a:r>
              <a:r>
                <a:rPr lang="en-US" altLang="zh-CN" sz="2000">
                  <a:solidFill>
                    <a:srgbClr val="0000FF"/>
                  </a:solidFill>
                  <a:latin typeface="Consolas" pitchFamily="49" charset="0"/>
                  <a:ea typeface="仿宋" pitchFamily="49" charset="-122"/>
                </a:rPr>
                <a:t>1</a:t>
              </a:r>
              <a:r>
                <a:rPr lang="zh-CN" altLang="zh-CN" sz="2000">
                  <a:solidFill>
                    <a:srgbClr val="0000FF"/>
                  </a:solidFill>
                  <a:latin typeface="Consolas" pitchFamily="49" charset="0"/>
                  <a:ea typeface="仿宋" pitchFamily="49" charset="-122"/>
                </a:rPr>
                <a:t>→</a:t>
              </a:r>
              <a:r>
                <a:rPr lang="en-US" altLang="zh-CN" sz="2000">
                  <a:solidFill>
                    <a:srgbClr val="0000FF"/>
                  </a:solidFill>
                  <a:latin typeface="Consolas" pitchFamily="49" charset="0"/>
                  <a:ea typeface="仿宋" pitchFamily="49" charset="-122"/>
                </a:rPr>
                <a:t>3</a:t>
              </a:r>
              <a:r>
                <a:rPr lang="zh-CN" altLang="zh-CN" sz="2000">
                  <a:solidFill>
                    <a:srgbClr val="0000FF"/>
                  </a:solidFill>
                  <a:latin typeface="Consolas" pitchFamily="49" charset="0"/>
                  <a:ea typeface="仿宋" pitchFamily="49" charset="-122"/>
                </a:rPr>
                <a:t>→</a:t>
              </a:r>
              <a:r>
                <a:rPr lang="en-US" altLang="zh-CN" sz="2000">
                  <a:solidFill>
                    <a:srgbClr val="0000FF"/>
                  </a:solidFill>
                  <a:latin typeface="Consolas" pitchFamily="49" charset="0"/>
                  <a:ea typeface="仿宋" pitchFamily="49" charset="-122"/>
                </a:rPr>
                <a:t>5</a:t>
              </a:r>
              <a:endParaRPr lang="zh-CN" altLang="en-US" sz="2000">
                <a:solidFill>
                  <a:srgbClr val="0000FF"/>
                </a:solidFill>
                <a:latin typeface="Consolas" pitchFamily="49" charset="0"/>
                <a:ea typeface="仿宋" pitchFamily="49" charset="-122"/>
                <a:cs typeface="Consolas" pitchFamily="49" charset="0"/>
              </a:endParaRPr>
            </a:p>
          </p:txBody>
        </p:sp>
        <p:sp>
          <p:nvSpPr>
            <p:cNvPr id="98" name="右箭头 97"/>
            <p:cNvSpPr/>
            <p:nvPr/>
          </p:nvSpPr>
          <p:spPr>
            <a:xfrm>
              <a:off x="2349837" y="3102986"/>
              <a:ext cx="1837112" cy="285752"/>
            </a:xfrm>
            <a:prstGeom prst="right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grpSp>
      <p:grpSp>
        <p:nvGrpSpPr>
          <p:cNvPr id="99" name="组合 98"/>
          <p:cNvGrpSpPr/>
          <p:nvPr/>
        </p:nvGrpSpPr>
        <p:grpSpPr>
          <a:xfrm>
            <a:off x="6224598" y="2709448"/>
            <a:ext cx="847732" cy="685862"/>
            <a:chOff x="2509822" y="5100592"/>
            <a:chExt cx="847732" cy="685862"/>
          </a:xfrm>
        </p:grpSpPr>
        <p:sp>
          <p:nvSpPr>
            <p:cNvPr id="100" name="TextBox 99"/>
            <p:cNvSpPr txBox="1"/>
            <p:nvPr/>
          </p:nvSpPr>
          <p:spPr>
            <a:xfrm>
              <a:off x="2509822" y="5100592"/>
              <a:ext cx="847732" cy="400110"/>
            </a:xfrm>
            <a:prstGeom prst="rect">
              <a:avLst/>
            </a:prstGeom>
            <a:noFill/>
          </p:spPr>
          <p:txBody>
            <a:bodyPr wrap="square" rtlCol="0">
              <a:spAutoFit/>
            </a:bodyPr>
            <a:lstStyle/>
            <a:p>
              <a:pPr algn="l">
                <a:lnSpc>
                  <a:spcPct val="100000"/>
                </a:lnSpc>
                <a:spcBef>
                  <a:spcPts val="0"/>
                </a:spcBef>
              </a:pPr>
              <a:r>
                <a:rPr lang="zh-CN" altLang="zh-CN" sz="2000">
                  <a:solidFill>
                    <a:srgbClr val="0000FF"/>
                  </a:solidFill>
                  <a:latin typeface="Consolas" pitchFamily="49" charset="0"/>
                  <a:ea typeface="仿宋" pitchFamily="49" charset="-122"/>
                </a:rPr>
                <a:t>增广</a:t>
              </a:r>
              <a:endParaRPr lang="zh-CN" altLang="en-US" sz="2000">
                <a:solidFill>
                  <a:srgbClr val="0000FF"/>
                </a:solidFill>
                <a:latin typeface="Consolas" pitchFamily="49" charset="0"/>
                <a:ea typeface="仿宋" pitchFamily="49" charset="-122"/>
                <a:cs typeface="Consolas" pitchFamily="49" charset="0"/>
              </a:endParaRPr>
            </a:p>
          </p:txBody>
        </p:sp>
        <p:sp>
          <p:nvSpPr>
            <p:cNvPr id="101" name="右箭头 100"/>
            <p:cNvSpPr/>
            <p:nvPr/>
          </p:nvSpPr>
          <p:spPr>
            <a:xfrm>
              <a:off x="2581260" y="5500702"/>
              <a:ext cx="633418" cy="285752"/>
            </a:xfrm>
            <a:prstGeom prst="right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grpSp>
      <p:grpSp>
        <p:nvGrpSpPr>
          <p:cNvPr id="102" name="组合 28"/>
          <p:cNvGrpSpPr/>
          <p:nvPr/>
        </p:nvGrpSpPr>
        <p:grpSpPr>
          <a:xfrm>
            <a:off x="142844" y="1459912"/>
            <a:ext cx="1908550" cy="3112096"/>
            <a:chOff x="3367692" y="3582009"/>
            <a:chExt cx="1908550" cy="3112096"/>
          </a:xfrm>
        </p:grpSpPr>
        <p:sp>
          <p:nvSpPr>
            <p:cNvPr id="103" name="Text Box 23"/>
            <p:cNvSpPr txBox="1">
              <a:spLocks noChangeArrowheads="1"/>
            </p:cNvSpPr>
            <p:nvPr/>
          </p:nvSpPr>
          <p:spPr bwMode="auto">
            <a:xfrm>
              <a:off x="3787168" y="3963263"/>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04" name="Text Box 22"/>
            <p:cNvSpPr txBox="1">
              <a:spLocks noChangeArrowheads="1"/>
            </p:cNvSpPr>
            <p:nvPr/>
          </p:nvSpPr>
          <p:spPr bwMode="auto">
            <a:xfrm>
              <a:off x="4798471" y="4005062"/>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05" name="Text Box 21"/>
            <p:cNvSpPr txBox="1">
              <a:spLocks noChangeArrowheads="1"/>
            </p:cNvSpPr>
            <p:nvPr/>
          </p:nvSpPr>
          <p:spPr bwMode="auto">
            <a:xfrm>
              <a:off x="4262404" y="4381249"/>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06" name="Text Box 20"/>
            <p:cNvSpPr txBox="1">
              <a:spLocks noChangeArrowheads="1"/>
            </p:cNvSpPr>
            <p:nvPr/>
          </p:nvSpPr>
          <p:spPr bwMode="auto">
            <a:xfrm>
              <a:off x="4365055" y="5053826"/>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07" name="Text Box 19"/>
            <p:cNvSpPr txBox="1">
              <a:spLocks noChangeArrowheads="1"/>
            </p:cNvSpPr>
            <p:nvPr/>
          </p:nvSpPr>
          <p:spPr bwMode="auto">
            <a:xfrm>
              <a:off x="5114028" y="5061426"/>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08" name="Text Box 17"/>
            <p:cNvSpPr txBox="1">
              <a:spLocks noChangeArrowheads="1"/>
            </p:cNvSpPr>
            <p:nvPr/>
          </p:nvSpPr>
          <p:spPr bwMode="auto">
            <a:xfrm>
              <a:off x="3409513" y="5061426"/>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09" name="Text Box 16"/>
            <p:cNvSpPr txBox="1">
              <a:spLocks noChangeArrowheads="1"/>
            </p:cNvSpPr>
            <p:nvPr/>
          </p:nvSpPr>
          <p:spPr bwMode="auto">
            <a:xfrm>
              <a:off x="3704793" y="6037994"/>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10" name="Oval 15"/>
            <p:cNvSpPr>
              <a:spLocks noChangeArrowheads="1"/>
            </p:cNvSpPr>
            <p:nvPr/>
          </p:nvSpPr>
          <p:spPr bwMode="auto">
            <a:xfrm>
              <a:off x="4125536" y="3582009"/>
              <a:ext cx="395397" cy="430652"/>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0</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11" name="Oval 14"/>
            <p:cNvSpPr>
              <a:spLocks noChangeArrowheads="1"/>
            </p:cNvSpPr>
            <p:nvPr/>
          </p:nvSpPr>
          <p:spPr bwMode="auto">
            <a:xfrm>
              <a:off x="3367692" y="4469913"/>
              <a:ext cx="395397" cy="43065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12" name="Oval 13"/>
            <p:cNvSpPr>
              <a:spLocks noChangeArrowheads="1"/>
            </p:cNvSpPr>
            <p:nvPr/>
          </p:nvSpPr>
          <p:spPr bwMode="auto">
            <a:xfrm>
              <a:off x="4880845" y="4469913"/>
              <a:ext cx="395397" cy="43065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13" name="Oval 12"/>
            <p:cNvSpPr>
              <a:spLocks noChangeArrowheads="1"/>
            </p:cNvSpPr>
            <p:nvPr/>
          </p:nvSpPr>
          <p:spPr bwMode="auto">
            <a:xfrm>
              <a:off x="3367692" y="5489545"/>
              <a:ext cx="395397" cy="43191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14" name="Oval 11"/>
            <p:cNvSpPr>
              <a:spLocks noChangeArrowheads="1"/>
            </p:cNvSpPr>
            <p:nvPr/>
          </p:nvSpPr>
          <p:spPr bwMode="auto">
            <a:xfrm>
              <a:off x="4880845" y="5489545"/>
              <a:ext cx="395397" cy="43191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15" name="Oval 10"/>
            <p:cNvSpPr>
              <a:spLocks noChangeArrowheads="1"/>
            </p:cNvSpPr>
            <p:nvPr/>
          </p:nvSpPr>
          <p:spPr bwMode="auto">
            <a:xfrm>
              <a:off x="4125536" y="6263453"/>
              <a:ext cx="395397" cy="430652"/>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5</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16" name="AutoShape 9"/>
            <p:cNvSpPr>
              <a:spLocks noChangeShapeType="1"/>
            </p:cNvSpPr>
            <p:nvPr/>
          </p:nvSpPr>
          <p:spPr bwMode="auto">
            <a:xfrm flipH="1">
              <a:off x="3704793" y="3949330"/>
              <a:ext cx="479038" cy="583914"/>
            </a:xfrm>
            <a:prstGeom prst="straightConnector1">
              <a:avLst/>
            </a:prstGeom>
            <a:noFill/>
            <a:ln w="19050">
              <a:solidFill>
                <a:schemeClr val="tx1"/>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117" name="AutoShape 8"/>
            <p:cNvSpPr>
              <a:spLocks noChangeShapeType="1"/>
            </p:cNvSpPr>
            <p:nvPr/>
          </p:nvSpPr>
          <p:spPr bwMode="auto">
            <a:xfrm>
              <a:off x="4462637" y="3949330"/>
              <a:ext cx="476504" cy="583914"/>
            </a:xfrm>
            <a:prstGeom prst="straightConnector1">
              <a:avLst/>
            </a:prstGeom>
            <a:noFill/>
            <a:ln w="19050">
              <a:solidFill>
                <a:schemeClr val="tx1"/>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118" name="AutoShape 7"/>
            <p:cNvSpPr>
              <a:spLocks noChangeShapeType="1"/>
            </p:cNvSpPr>
            <p:nvPr/>
          </p:nvSpPr>
          <p:spPr bwMode="auto">
            <a:xfrm>
              <a:off x="3763089" y="4685239"/>
              <a:ext cx="1117756" cy="1267"/>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119" name="AutoShape 6"/>
            <p:cNvSpPr>
              <a:spLocks noChangeShapeType="1"/>
            </p:cNvSpPr>
            <p:nvPr/>
          </p:nvSpPr>
          <p:spPr bwMode="auto">
            <a:xfrm>
              <a:off x="3704793" y="4837234"/>
              <a:ext cx="1176052" cy="868904"/>
            </a:xfrm>
            <a:prstGeom prst="straightConnector1">
              <a:avLst/>
            </a:prstGeom>
            <a:noFill/>
            <a:ln w="19050">
              <a:solidFill>
                <a:schemeClr val="tx1"/>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120" name="AutoShape 5"/>
            <p:cNvSpPr>
              <a:spLocks noChangeShapeType="1"/>
            </p:cNvSpPr>
            <p:nvPr/>
          </p:nvSpPr>
          <p:spPr bwMode="auto">
            <a:xfrm>
              <a:off x="5078543" y="4900565"/>
              <a:ext cx="1267" cy="588980"/>
            </a:xfrm>
            <a:prstGeom prst="straightConnector1">
              <a:avLst/>
            </a:prstGeom>
            <a:noFill/>
            <a:ln w="19050">
              <a:solidFill>
                <a:schemeClr val="tx1"/>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121" name="AutoShape 4"/>
            <p:cNvSpPr>
              <a:spLocks noChangeShapeType="1"/>
            </p:cNvSpPr>
            <p:nvPr/>
          </p:nvSpPr>
          <p:spPr bwMode="auto">
            <a:xfrm>
              <a:off x="3565391" y="4900565"/>
              <a:ext cx="1267" cy="588980"/>
            </a:xfrm>
            <a:prstGeom prst="straightConnector1">
              <a:avLst/>
            </a:prstGeom>
            <a:noFill/>
            <a:ln w="19050">
              <a:solidFill>
                <a:schemeClr val="tx1"/>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122" name="AutoShape 3"/>
            <p:cNvSpPr>
              <a:spLocks noChangeShapeType="1"/>
            </p:cNvSpPr>
            <p:nvPr/>
          </p:nvSpPr>
          <p:spPr bwMode="auto">
            <a:xfrm>
              <a:off x="3704793" y="5858133"/>
              <a:ext cx="479038" cy="468651"/>
            </a:xfrm>
            <a:prstGeom prst="straightConnector1">
              <a:avLst/>
            </a:prstGeom>
            <a:noFill/>
            <a:ln w="19050">
              <a:solidFill>
                <a:schemeClr val="tx1"/>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grpSp>
      <p:grpSp>
        <p:nvGrpSpPr>
          <p:cNvPr id="123" name="组合 28"/>
          <p:cNvGrpSpPr/>
          <p:nvPr/>
        </p:nvGrpSpPr>
        <p:grpSpPr>
          <a:xfrm>
            <a:off x="7021168" y="1459912"/>
            <a:ext cx="1908550" cy="3112096"/>
            <a:chOff x="3367692" y="3582009"/>
            <a:chExt cx="1908550" cy="3112096"/>
          </a:xfrm>
        </p:grpSpPr>
        <p:sp>
          <p:nvSpPr>
            <p:cNvPr id="125" name="Text Box 22"/>
            <p:cNvSpPr txBox="1">
              <a:spLocks noChangeArrowheads="1"/>
            </p:cNvSpPr>
            <p:nvPr/>
          </p:nvSpPr>
          <p:spPr bwMode="auto">
            <a:xfrm>
              <a:off x="4798471" y="4005062"/>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26" name="Text Box 21"/>
            <p:cNvSpPr txBox="1">
              <a:spLocks noChangeArrowheads="1"/>
            </p:cNvSpPr>
            <p:nvPr/>
          </p:nvSpPr>
          <p:spPr bwMode="auto">
            <a:xfrm>
              <a:off x="4262404" y="4381249"/>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27" name="Text Box 20"/>
            <p:cNvSpPr txBox="1">
              <a:spLocks noChangeArrowheads="1"/>
            </p:cNvSpPr>
            <p:nvPr/>
          </p:nvSpPr>
          <p:spPr bwMode="auto">
            <a:xfrm>
              <a:off x="4365055" y="5053826"/>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28" name="Text Box 19"/>
            <p:cNvSpPr txBox="1">
              <a:spLocks noChangeArrowheads="1"/>
            </p:cNvSpPr>
            <p:nvPr/>
          </p:nvSpPr>
          <p:spPr bwMode="auto">
            <a:xfrm>
              <a:off x="5114028" y="5061426"/>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29" name="Text Box 17"/>
            <p:cNvSpPr txBox="1">
              <a:spLocks noChangeArrowheads="1"/>
            </p:cNvSpPr>
            <p:nvPr/>
          </p:nvSpPr>
          <p:spPr bwMode="auto">
            <a:xfrm>
              <a:off x="3375646" y="5061426"/>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0000FF"/>
                  </a:solidFill>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30" name="Text Box 16"/>
            <p:cNvSpPr txBox="1">
              <a:spLocks noChangeArrowheads="1"/>
            </p:cNvSpPr>
            <p:nvPr/>
          </p:nvSpPr>
          <p:spPr bwMode="auto">
            <a:xfrm>
              <a:off x="3761238" y="6037994"/>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0000FF"/>
                  </a:solidFill>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31" name="Oval 15"/>
            <p:cNvSpPr>
              <a:spLocks noChangeArrowheads="1"/>
            </p:cNvSpPr>
            <p:nvPr/>
          </p:nvSpPr>
          <p:spPr bwMode="auto">
            <a:xfrm>
              <a:off x="4125536" y="3582009"/>
              <a:ext cx="395397" cy="430652"/>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0</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32" name="Oval 14"/>
            <p:cNvSpPr>
              <a:spLocks noChangeArrowheads="1"/>
            </p:cNvSpPr>
            <p:nvPr/>
          </p:nvSpPr>
          <p:spPr bwMode="auto">
            <a:xfrm>
              <a:off x="3367692" y="4469913"/>
              <a:ext cx="395397" cy="43065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33" name="Oval 13"/>
            <p:cNvSpPr>
              <a:spLocks noChangeArrowheads="1"/>
            </p:cNvSpPr>
            <p:nvPr/>
          </p:nvSpPr>
          <p:spPr bwMode="auto">
            <a:xfrm>
              <a:off x="4880845" y="4469913"/>
              <a:ext cx="395397" cy="43065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34" name="Oval 12"/>
            <p:cNvSpPr>
              <a:spLocks noChangeArrowheads="1"/>
            </p:cNvSpPr>
            <p:nvPr/>
          </p:nvSpPr>
          <p:spPr bwMode="auto">
            <a:xfrm>
              <a:off x="3367692" y="5489545"/>
              <a:ext cx="395397" cy="43191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35" name="Oval 11"/>
            <p:cNvSpPr>
              <a:spLocks noChangeArrowheads="1"/>
            </p:cNvSpPr>
            <p:nvPr/>
          </p:nvSpPr>
          <p:spPr bwMode="auto">
            <a:xfrm>
              <a:off x="4880845" y="5489545"/>
              <a:ext cx="395397" cy="43191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36" name="Oval 10"/>
            <p:cNvSpPr>
              <a:spLocks noChangeArrowheads="1"/>
            </p:cNvSpPr>
            <p:nvPr/>
          </p:nvSpPr>
          <p:spPr bwMode="auto">
            <a:xfrm>
              <a:off x="4125536" y="6263453"/>
              <a:ext cx="395397" cy="430652"/>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5</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38" name="AutoShape 8"/>
            <p:cNvSpPr>
              <a:spLocks noChangeShapeType="1"/>
            </p:cNvSpPr>
            <p:nvPr/>
          </p:nvSpPr>
          <p:spPr bwMode="auto">
            <a:xfrm>
              <a:off x="4462637" y="3949330"/>
              <a:ext cx="476504" cy="583914"/>
            </a:xfrm>
            <a:prstGeom prst="straightConnector1">
              <a:avLst/>
            </a:prstGeom>
            <a:noFill/>
            <a:ln w="19050">
              <a:solidFill>
                <a:schemeClr val="tx1"/>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139" name="AutoShape 7"/>
            <p:cNvSpPr>
              <a:spLocks noChangeShapeType="1"/>
            </p:cNvSpPr>
            <p:nvPr/>
          </p:nvSpPr>
          <p:spPr bwMode="auto">
            <a:xfrm>
              <a:off x="3763089" y="4685239"/>
              <a:ext cx="1117756" cy="1267"/>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140" name="AutoShape 6"/>
            <p:cNvSpPr>
              <a:spLocks noChangeShapeType="1"/>
            </p:cNvSpPr>
            <p:nvPr/>
          </p:nvSpPr>
          <p:spPr bwMode="auto">
            <a:xfrm>
              <a:off x="3704793" y="4837234"/>
              <a:ext cx="1176052" cy="868904"/>
            </a:xfrm>
            <a:prstGeom prst="straightConnector1">
              <a:avLst/>
            </a:prstGeom>
            <a:noFill/>
            <a:ln w="19050">
              <a:solidFill>
                <a:schemeClr val="tx1"/>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141" name="AutoShape 5"/>
            <p:cNvSpPr>
              <a:spLocks noChangeShapeType="1"/>
            </p:cNvSpPr>
            <p:nvPr/>
          </p:nvSpPr>
          <p:spPr bwMode="auto">
            <a:xfrm>
              <a:off x="5078543" y="4900565"/>
              <a:ext cx="1267" cy="588980"/>
            </a:xfrm>
            <a:prstGeom prst="straightConnector1">
              <a:avLst/>
            </a:prstGeom>
            <a:noFill/>
            <a:ln w="19050">
              <a:solidFill>
                <a:schemeClr val="tx1"/>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142" name="AutoShape 4"/>
            <p:cNvSpPr>
              <a:spLocks noChangeShapeType="1"/>
            </p:cNvSpPr>
            <p:nvPr/>
          </p:nvSpPr>
          <p:spPr bwMode="auto">
            <a:xfrm>
              <a:off x="3565391" y="4900565"/>
              <a:ext cx="1267" cy="588980"/>
            </a:xfrm>
            <a:prstGeom prst="straightConnector1">
              <a:avLst/>
            </a:prstGeom>
            <a:noFill/>
            <a:ln w="19050">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143" name="AutoShape 3"/>
            <p:cNvSpPr>
              <a:spLocks noChangeShapeType="1"/>
            </p:cNvSpPr>
            <p:nvPr/>
          </p:nvSpPr>
          <p:spPr bwMode="auto">
            <a:xfrm>
              <a:off x="3704793" y="5858133"/>
              <a:ext cx="479038" cy="468651"/>
            </a:xfrm>
            <a:prstGeom prst="straightConnector1">
              <a:avLst/>
            </a:prstGeom>
            <a:noFill/>
            <a:ln w="19050">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grpSp>
      <p:sp>
        <p:nvSpPr>
          <p:cNvPr id="72" name="灯片编号占位符 71"/>
          <p:cNvSpPr>
            <a:spLocks noGrp="1"/>
          </p:cNvSpPr>
          <p:nvPr>
            <p:ph type="sldNum" sz="quarter" idx="12"/>
          </p:nvPr>
        </p:nvSpPr>
        <p:spPr/>
        <p:txBody>
          <a:bodyPr/>
          <a:lstStyle/>
          <a:p>
            <a:fld id="{7AF016A1-9F15-429F-9EFD-84004B73C732}" type="slidenum">
              <a:rPr lang="en-US" altLang="zh-CN" smtClean="0"/>
              <a:pPr/>
              <a:t>97</a:t>
            </a:fld>
            <a:r>
              <a:rPr lang="en-US" altLang="zh-CN"/>
              <a:t>/158</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428596" y="714356"/>
            <a:ext cx="1714512" cy="430887"/>
          </a:xfrm>
          <a:prstGeom prst="rect">
            <a:avLst/>
          </a:prstGeom>
          <a:noFill/>
        </p:spPr>
        <p:txBody>
          <a:bodyPr wrap="square" rtlCol="0">
            <a:spAutoFit/>
          </a:bodyPr>
          <a:lstStyle/>
          <a:p>
            <a:pPr algn="l">
              <a:lnSpc>
                <a:spcPct val="100000"/>
              </a:lnSpc>
              <a:spcBef>
                <a:spcPts val="0"/>
              </a:spcBef>
            </a:pPr>
            <a:r>
              <a:rPr lang="zh-CN" altLang="zh-CN" sz="2200">
                <a:solidFill>
                  <a:srgbClr val="0000FF"/>
                </a:solidFill>
                <a:latin typeface="楷体" pitchFamily="49" charset="-122"/>
                <a:ea typeface="楷体" pitchFamily="49" charset="-122"/>
              </a:rPr>
              <a:t>第</a:t>
            </a:r>
            <a:r>
              <a:rPr lang="zh-CN" altLang="en-US" sz="2200">
                <a:solidFill>
                  <a:srgbClr val="0000FF"/>
                </a:solidFill>
                <a:latin typeface="楷体" pitchFamily="49" charset="-122"/>
                <a:ea typeface="楷体" pitchFamily="49" charset="-122"/>
              </a:rPr>
              <a:t>三</a:t>
            </a:r>
            <a:r>
              <a:rPr lang="zh-CN" altLang="zh-CN" sz="2200">
                <a:solidFill>
                  <a:srgbClr val="0000FF"/>
                </a:solidFill>
                <a:latin typeface="楷体" pitchFamily="49" charset="-122"/>
                <a:ea typeface="楷体" pitchFamily="49" charset="-122"/>
              </a:rPr>
              <a:t>轮循环</a:t>
            </a:r>
            <a:endParaRPr lang="zh-CN" altLang="en-US" sz="2200">
              <a:solidFill>
                <a:srgbClr val="0000FF"/>
              </a:solidFill>
              <a:latin typeface="楷体" pitchFamily="49" charset="-122"/>
              <a:ea typeface="楷体" pitchFamily="49" charset="-122"/>
              <a:cs typeface="Consolas" pitchFamily="49" charset="0"/>
            </a:endParaRPr>
          </a:p>
        </p:txBody>
      </p:sp>
      <p:sp>
        <p:nvSpPr>
          <p:cNvPr id="20" name="TextBox 19"/>
          <p:cNvSpPr txBox="1"/>
          <p:nvPr/>
        </p:nvSpPr>
        <p:spPr>
          <a:xfrm>
            <a:off x="2285984" y="500042"/>
            <a:ext cx="5143536" cy="769441"/>
          </a:xfrm>
          <a:prstGeom prst="rect">
            <a:avLst/>
          </a:prstGeom>
          <a:noFill/>
        </p:spPr>
        <p:txBody>
          <a:bodyPr wrap="square" rtlCol="0">
            <a:spAutoFit/>
          </a:bodyPr>
          <a:lstStyle/>
          <a:p>
            <a:pPr algn="l">
              <a:lnSpc>
                <a:spcPct val="100000"/>
              </a:lnSpc>
              <a:spcBef>
                <a:spcPts val="0"/>
              </a:spcBef>
            </a:pPr>
            <a:r>
              <a:rPr lang="zh-CN" altLang="zh-CN" sz="2200">
                <a:solidFill>
                  <a:srgbClr val="0000FF"/>
                </a:solidFill>
                <a:latin typeface="Consolas" pitchFamily="49" charset="0"/>
                <a:ea typeface="仿宋" pitchFamily="49" charset="-122"/>
              </a:rPr>
              <a:t>找不到源点</a:t>
            </a:r>
            <a:r>
              <a:rPr lang="en-US" altLang="zh-CN" sz="2200">
                <a:solidFill>
                  <a:srgbClr val="0000FF"/>
                </a:solidFill>
                <a:latin typeface="Consolas" pitchFamily="49" charset="0"/>
                <a:ea typeface="仿宋" pitchFamily="49" charset="-122"/>
              </a:rPr>
              <a:t>0</a:t>
            </a:r>
            <a:r>
              <a:rPr lang="zh-CN" altLang="zh-CN" sz="2200">
                <a:solidFill>
                  <a:srgbClr val="0000FF"/>
                </a:solidFill>
                <a:latin typeface="Consolas" pitchFamily="49" charset="0"/>
                <a:ea typeface="仿宋" pitchFamily="49" charset="-122"/>
              </a:rPr>
              <a:t>到汇点</a:t>
            </a:r>
            <a:r>
              <a:rPr lang="en-US" altLang="zh-CN" sz="2200">
                <a:solidFill>
                  <a:srgbClr val="0000FF"/>
                </a:solidFill>
                <a:latin typeface="Consolas" pitchFamily="49" charset="0"/>
                <a:ea typeface="仿宋" pitchFamily="49" charset="-122"/>
              </a:rPr>
              <a:t>5</a:t>
            </a:r>
            <a:r>
              <a:rPr lang="zh-CN" altLang="zh-CN" sz="2200">
                <a:solidFill>
                  <a:srgbClr val="0000FF"/>
                </a:solidFill>
                <a:latin typeface="Consolas" pitchFamily="49" charset="0"/>
                <a:ea typeface="仿宋" pitchFamily="49" charset="-122"/>
              </a:rPr>
              <a:t>的增广路径，</a:t>
            </a:r>
            <a:r>
              <a:rPr lang="zh-CN" altLang="en-US" sz="2200">
                <a:solidFill>
                  <a:srgbClr val="0000FF"/>
                </a:solidFill>
                <a:latin typeface="Consolas" pitchFamily="49" charset="0"/>
                <a:ea typeface="仿宋" pitchFamily="49" charset="-122"/>
              </a:rPr>
              <a:t>结束。</a:t>
            </a:r>
            <a:r>
              <a:rPr lang="zh-CN" altLang="zh-CN" sz="2200">
                <a:solidFill>
                  <a:srgbClr val="0000FF"/>
                </a:solidFill>
                <a:latin typeface="Consolas" pitchFamily="49" charset="0"/>
                <a:ea typeface="仿宋" pitchFamily="49" charset="-122"/>
              </a:rPr>
              <a:t>流量</a:t>
            </a:r>
            <a:r>
              <a:rPr lang="en-US" altLang="zh-CN" sz="2200" i="1">
                <a:solidFill>
                  <a:srgbClr val="FF0000"/>
                </a:solidFill>
                <a:latin typeface="Consolas" pitchFamily="49" charset="0"/>
                <a:ea typeface="仿宋" pitchFamily="49" charset="-122"/>
              </a:rPr>
              <a:t>f</a:t>
            </a:r>
            <a:r>
              <a:rPr lang="en-US" altLang="zh-CN" sz="2200">
                <a:solidFill>
                  <a:srgbClr val="0000FF"/>
                </a:solidFill>
                <a:latin typeface="Consolas" pitchFamily="49" charset="0"/>
                <a:ea typeface="仿宋" pitchFamily="49" charset="-122"/>
              </a:rPr>
              <a:t>=</a:t>
            </a:r>
            <a:r>
              <a:rPr lang="zh-CN" altLang="en-US" sz="2200">
                <a:solidFill>
                  <a:srgbClr val="0000FF"/>
                </a:solidFill>
                <a:latin typeface="Consolas" pitchFamily="49" charset="0"/>
                <a:ea typeface="仿宋" pitchFamily="49" charset="-122"/>
              </a:rPr>
              <a:t>初始容量</a:t>
            </a:r>
            <a:r>
              <a:rPr lang="en-US" altLang="zh-CN" sz="2200">
                <a:solidFill>
                  <a:srgbClr val="0000FF"/>
                </a:solidFill>
                <a:latin typeface="Consolas" pitchFamily="49" charset="0"/>
                <a:ea typeface="仿宋" pitchFamily="49" charset="-122"/>
              </a:rPr>
              <a:t>-</a:t>
            </a:r>
            <a:r>
              <a:rPr lang="zh-CN" altLang="zh-CN" sz="2200">
                <a:solidFill>
                  <a:srgbClr val="0000FF"/>
                </a:solidFill>
                <a:latin typeface="Consolas" pitchFamily="49" charset="0"/>
                <a:ea typeface="仿宋" pitchFamily="49" charset="-122"/>
              </a:rPr>
              <a:t>剩余容量</a:t>
            </a:r>
            <a:endParaRPr lang="zh-CN" altLang="en-US" sz="2200">
              <a:solidFill>
                <a:srgbClr val="0000FF"/>
              </a:solidFill>
              <a:latin typeface="Consolas" pitchFamily="49" charset="0"/>
              <a:ea typeface="仿宋" pitchFamily="49" charset="-122"/>
              <a:cs typeface="Consolas" pitchFamily="49" charset="0"/>
            </a:endParaRPr>
          </a:p>
        </p:txBody>
      </p:sp>
      <p:grpSp>
        <p:nvGrpSpPr>
          <p:cNvPr id="3" name="组合 20"/>
          <p:cNvGrpSpPr/>
          <p:nvPr/>
        </p:nvGrpSpPr>
        <p:grpSpPr>
          <a:xfrm>
            <a:off x="428596" y="1817102"/>
            <a:ext cx="1908550" cy="3112096"/>
            <a:chOff x="3367692" y="3582009"/>
            <a:chExt cx="1908550" cy="3112096"/>
          </a:xfrm>
        </p:grpSpPr>
        <p:sp>
          <p:nvSpPr>
            <p:cNvPr id="22" name="Text Box 23"/>
            <p:cNvSpPr txBox="1">
              <a:spLocks noChangeArrowheads="1"/>
            </p:cNvSpPr>
            <p:nvPr/>
          </p:nvSpPr>
          <p:spPr bwMode="auto">
            <a:xfrm>
              <a:off x="3787168" y="3963263"/>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3" name="Text Box 22"/>
            <p:cNvSpPr txBox="1">
              <a:spLocks noChangeArrowheads="1"/>
            </p:cNvSpPr>
            <p:nvPr/>
          </p:nvSpPr>
          <p:spPr bwMode="auto">
            <a:xfrm>
              <a:off x="4798471" y="4005062"/>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4" name="Text Box 21"/>
            <p:cNvSpPr txBox="1">
              <a:spLocks noChangeArrowheads="1"/>
            </p:cNvSpPr>
            <p:nvPr/>
          </p:nvSpPr>
          <p:spPr bwMode="auto">
            <a:xfrm>
              <a:off x="4262404" y="4381249"/>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5" name="Text Box 20"/>
            <p:cNvSpPr txBox="1">
              <a:spLocks noChangeArrowheads="1"/>
            </p:cNvSpPr>
            <p:nvPr/>
          </p:nvSpPr>
          <p:spPr bwMode="auto">
            <a:xfrm>
              <a:off x="4365055" y="5053826"/>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6" name="Text Box 19"/>
            <p:cNvSpPr txBox="1">
              <a:spLocks noChangeArrowheads="1"/>
            </p:cNvSpPr>
            <p:nvPr/>
          </p:nvSpPr>
          <p:spPr bwMode="auto">
            <a:xfrm>
              <a:off x="5114028" y="5061426"/>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7" name="Text Box 18"/>
            <p:cNvSpPr txBox="1">
              <a:spLocks noChangeArrowheads="1"/>
            </p:cNvSpPr>
            <p:nvPr/>
          </p:nvSpPr>
          <p:spPr bwMode="auto">
            <a:xfrm>
              <a:off x="4714829" y="6041793"/>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8" name="Text Box 17"/>
            <p:cNvSpPr txBox="1">
              <a:spLocks noChangeArrowheads="1"/>
            </p:cNvSpPr>
            <p:nvPr/>
          </p:nvSpPr>
          <p:spPr bwMode="auto">
            <a:xfrm>
              <a:off x="3409513" y="5061426"/>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9" name="Text Box 16"/>
            <p:cNvSpPr txBox="1">
              <a:spLocks noChangeArrowheads="1"/>
            </p:cNvSpPr>
            <p:nvPr/>
          </p:nvSpPr>
          <p:spPr bwMode="auto">
            <a:xfrm>
              <a:off x="3704793" y="6037994"/>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0" name="Oval 15"/>
            <p:cNvSpPr>
              <a:spLocks noChangeArrowheads="1"/>
            </p:cNvSpPr>
            <p:nvPr/>
          </p:nvSpPr>
          <p:spPr bwMode="auto">
            <a:xfrm>
              <a:off x="4125536" y="3582009"/>
              <a:ext cx="395397" cy="430652"/>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0</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1" name="Oval 14"/>
            <p:cNvSpPr>
              <a:spLocks noChangeArrowheads="1"/>
            </p:cNvSpPr>
            <p:nvPr/>
          </p:nvSpPr>
          <p:spPr bwMode="auto">
            <a:xfrm>
              <a:off x="3367692" y="4469913"/>
              <a:ext cx="395397" cy="43065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2" name="Oval 13"/>
            <p:cNvSpPr>
              <a:spLocks noChangeArrowheads="1"/>
            </p:cNvSpPr>
            <p:nvPr/>
          </p:nvSpPr>
          <p:spPr bwMode="auto">
            <a:xfrm>
              <a:off x="4880845" y="4469913"/>
              <a:ext cx="395397" cy="43065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3" name="Oval 12"/>
            <p:cNvSpPr>
              <a:spLocks noChangeArrowheads="1"/>
            </p:cNvSpPr>
            <p:nvPr/>
          </p:nvSpPr>
          <p:spPr bwMode="auto">
            <a:xfrm>
              <a:off x="3367692" y="5489545"/>
              <a:ext cx="395397" cy="43191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4" name="Oval 11"/>
            <p:cNvSpPr>
              <a:spLocks noChangeArrowheads="1"/>
            </p:cNvSpPr>
            <p:nvPr/>
          </p:nvSpPr>
          <p:spPr bwMode="auto">
            <a:xfrm>
              <a:off x="4880845" y="5489545"/>
              <a:ext cx="395397" cy="43191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5" name="Oval 10"/>
            <p:cNvSpPr>
              <a:spLocks noChangeArrowheads="1"/>
            </p:cNvSpPr>
            <p:nvPr/>
          </p:nvSpPr>
          <p:spPr bwMode="auto">
            <a:xfrm>
              <a:off x="4125536" y="6263453"/>
              <a:ext cx="395397" cy="430652"/>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5</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6" name="AutoShape 9"/>
            <p:cNvSpPr>
              <a:spLocks noChangeShapeType="1"/>
            </p:cNvSpPr>
            <p:nvPr/>
          </p:nvSpPr>
          <p:spPr bwMode="auto">
            <a:xfrm flipH="1">
              <a:off x="3704793" y="3949330"/>
              <a:ext cx="479038" cy="58391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37" name="AutoShape 8"/>
            <p:cNvSpPr>
              <a:spLocks noChangeShapeType="1"/>
            </p:cNvSpPr>
            <p:nvPr/>
          </p:nvSpPr>
          <p:spPr bwMode="auto">
            <a:xfrm>
              <a:off x="4462637" y="3949330"/>
              <a:ext cx="476504" cy="58391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38" name="AutoShape 7"/>
            <p:cNvSpPr>
              <a:spLocks noChangeShapeType="1"/>
            </p:cNvSpPr>
            <p:nvPr/>
          </p:nvSpPr>
          <p:spPr bwMode="auto">
            <a:xfrm>
              <a:off x="3763089" y="4685239"/>
              <a:ext cx="1117756" cy="1267"/>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39" name="AutoShape 6"/>
            <p:cNvSpPr>
              <a:spLocks noChangeShapeType="1"/>
            </p:cNvSpPr>
            <p:nvPr/>
          </p:nvSpPr>
          <p:spPr bwMode="auto">
            <a:xfrm>
              <a:off x="3704793" y="4837234"/>
              <a:ext cx="1176052" cy="86890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40" name="AutoShape 5"/>
            <p:cNvSpPr>
              <a:spLocks noChangeShapeType="1"/>
            </p:cNvSpPr>
            <p:nvPr/>
          </p:nvSpPr>
          <p:spPr bwMode="auto">
            <a:xfrm>
              <a:off x="5078543" y="4900565"/>
              <a:ext cx="1267" cy="588980"/>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41" name="AutoShape 4"/>
            <p:cNvSpPr>
              <a:spLocks noChangeShapeType="1"/>
            </p:cNvSpPr>
            <p:nvPr/>
          </p:nvSpPr>
          <p:spPr bwMode="auto">
            <a:xfrm>
              <a:off x="3565391" y="4900565"/>
              <a:ext cx="1267" cy="588980"/>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42" name="AutoShape 3"/>
            <p:cNvSpPr>
              <a:spLocks noChangeShapeType="1"/>
            </p:cNvSpPr>
            <p:nvPr/>
          </p:nvSpPr>
          <p:spPr bwMode="auto">
            <a:xfrm>
              <a:off x="3704793" y="5858133"/>
              <a:ext cx="479038" cy="468651"/>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43" name="AutoShape 2"/>
            <p:cNvSpPr>
              <a:spLocks noChangeShapeType="1"/>
            </p:cNvSpPr>
            <p:nvPr/>
          </p:nvSpPr>
          <p:spPr bwMode="auto">
            <a:xfrm flipH="1">
              <a:off x="4462637" y="5858133"/>
              <a:ext cx="476504" cy="468651"/>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grpSp>
      <p:sp>
        <p:nvSpPr>
          <p:cNvPr id="45" name="减号 44"/>
          <p:cNvSpPr/>
          <p:nvPr/>
        </p:nvSpPr>
        <p:spPr>
          <a:xfrm>
            <a:off x="2643174" y="3071810"/>
            <a:ext cx="428628" cy="428628"/>
          </a:xfrm>
          <a:prstGeom prst="mathMinus">
            <a:avLst/>
          </a:prstGeom>
          <a:solidFill>
            <a:schemeClr val="tx1"/>
          </a:solidFill>
          <a:ln w="19050">
            <a:tailEnd type="none"/>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46" name="等于号 45"/>
          <p:cNvSpPr/>
          <p:nvPr/>
        </p:nvSpPr>
        <p:spPr>
          <a:xfrm>
            <a:off x="5551856" y="3000372"/>
            <a:ext cx="500066" cy="428628"/>
          </a:xfrm>
          <a:prstGeom prst="mathEqual">
            <a:avLst/>
          </a:prstGeom>
          <a:solidFill>
            <a:schemeClr val="tx1"/>
          </a:solidFill>
          <a:ln w="19050">
            <a:tailEnd type="none"/>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solidFill>
                <a:schemeClr val="tx1"/>
              </a:solidFill>
            </a:endParaRPr>
          </a:p>
        </p:txBody>
      </p:sp>
      <p:grpSp>
        <p:nvGrpSpPr>
          <p:cNvPr id="90" name="组合 89"/>
          <p:cNvGrpSpPr/>
          <p:nvPr/>
        </p:nvGrpSpPr>
        <p:grpSpPr>
          <a:xfrm>
            <a:off x="6123360" y="1714488"/>
            <a:ext cx="2571768" cy="3922596"/>
            <a:chOff x="6123360" y="1714488"/>
            <a:chExt cx="2571768" cy="3922596"/>
          </a:xfrm>
        </p:grpSpPr>
        <p:sp>
          <p:nvSpPr>
            <p:cNvPr id="48" name="Text Box 23"/>
            <p:cNvSpPr txBox="1">
              <a:spLocks noChangeArrowheads="1"/>
            </p:cNvSpPr>
            <p:nvPr/>
          </p:nvSpPr>
          <p:spPr bwMode="auto">
            <a:xfrm>
              <a:off x="6480550" y="2095742"/>
              <a:ext cx="580422" cy="333126"/>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FF0000"/>
                  </a:solidFill>
                  <a:effectLst/>
                  <a:latin typeface="Consolas" pitchFamily="49" charset="0"/>
                  <a:ea typeface="宋体" pitchFamily="2" charset="-122"/>
                  <a:cs typeface="Times New Roman" pitchFamily="18" charset="0"/>
                </a:rPr>
                <a:t>4</a:t>
              </a: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49" name="Text Box 22"/>
            <p:cNvSpPr txBox="1">
              <a:spLocks noChangeArrowheads="1"/>
            </p:cNvSpPr>
            <p:nvPr/>
          </p:nvSpPr>
          <p:spPr bwMode="auto">
            <a:xfrm>
              <a:off x="7931604" y="2137541"/>
              <a:ext cx="620648"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FF0000"/>
                  </a:solidFill>
                  <a:latin typeface="Consolas" pitchFamily="49" charset="0"/>
                  <a:ea typeface="宋体" pitchFamily="2" charset="-122"/>
                  <a:cs typeface="Times New Roman" pitchFamily="18" charset="0"/>
                </a:rPr>
                <a:t>0</a:t>
              </a: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0" name="Text Box 21"/>
            <p:cNvSpPr txBox="1">
              <a:spLocks noChangeArrowheads="1"/>
            </p:cNvSpPr>
            <p:nvPr/>
          </p:nvSpPr>
          <p:spPr bwMode="auto">
            <a:xfrm>
              <a:off x="7194930" y="2513728"/>
              <a:ext cx="500066"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FF0000"/>
                  </a:solidFill>
                  <a:effectLst/>
                  <a:latin typeface="Consolas" pitchFamily="49" charset="0"/>
                  <a:ea typeface="宋体" pitchFamily="2" charset="-122"/>
                  <a:cs typeface="Times New Roman" pitchFamily="18" charset="0"/>
                </a:rPr>
                <a:t>0</a:t>
              </a: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1" name="Text Box 20"/>
            <p:cNvSpPr txBox="1">
              <a:spLocks noChangeArrowheads="1"/>
            </p:cNvSpPr>
            <p:nvPr/>
          </p:nvSpPr>
          <p:spPr bwMode="auto">
            <a:xfrm>
              <a:off x="7498188" y="3186305"/>
              <a:ext cx="482559"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FF0000"/>
                  </a:solidFill>
                  <a:latin typeface="Consolas" pitchFamily="49" charset="0"/>
                  <a:ea typeface="宋体" pitchFamily="2" charset="-122"/>
                  <a:cs typeface="Times New Roman" pitchFamily="18" charset="0"/>
                </a:rPr>
                <a:t>3</a:t>
              </a: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2" name="Text Box 19"/>
            <p:cNvSpPr txBox="1">
              <a:spLocks noChangeArrowheads="1"/>
            </p:cNvSpPr>
            <p:nvPr/>
          </p:nvSpPr>
          <p:spPr bwMode="auto">
            <a:xfrm>
              <a:off x="8247162" y="3193905"/>
              <a:ext cx="447966"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a:solidFill>
                    <a:srgbClr val="FF0000"/>
                  </a:solidFill>
                  <a:latin typeface="Consolas" pitchFamily="49" charset="0"/>
                  <a:ea typeface="宋体" pitchFamily="2" charset="-122"/>
                  <a:cs typeface="Times New Roman" pitchFamily="18" charset="0"/>
                </a:rPr>
                <a:t>0</a:t>
              </a: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3" name="Text Box 18"/>
            <p:cNvSpPr txBox="1">
              <a:spLocks noChangeArrowheads="1"/>
            </p:cNvSpPr>
            <p:nvPr/>
          </p:nvSpPr>
          <p:spPr bwMode="auto">
            <a:xfrm>
              <a:off x="7847962" y="4174272"/>
              <a:ext cx="632852"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FF0000"/>
                  </a:solidFill>
                  <a:effectLst/>
                  <a:latin typeface="Consolas" pitchFamily="49" charset="0"/>
                  <a:ea typeface="宋体" pitchFamily="2" charset="-122"/>
                  <a:cs typeface="Times New Roman" pitchFamily="18" charset="0"/>
                </a:rPr>
                <a:t>3</a:t>
              </a: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4" name="Text Box 17"/>
            <p:cNvSpPr txBox="1">
              <a:spLocks noChangeArrowheads="1"/>
            </p:cNvSpPr>
            <p:nvPr/>
          </p:nvSpPr>
          <p:spPr bwMode="auto">
            <a:xfrm>
              <a:off x="6123360" y="3193905"/>
              <a:ext cx="559957"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FF0000"/>
                  </a:solidFill>
                  <a:latin typeface="Consolas" pitchFamily="49" charset="0"/>
                  <a:ea typeface="宋体" pitchFamily="2" charset="-122"/>
                  <a:cs typeface="Times New Roman" pitchFamily="18" charset="0"/>
                </a:rPr>
                <a:t>1</a:t>
              </a: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5" name="Text Box 16"/>
            <p:cNvSpPr txBox="1">
              <a:spLocks noChangeArrowheads="1"/>
            </p:cNvSpPr>
            <p:nvPr/>
          </p:nvSpPr>
          <p:spPr bwMode="auto">
            <a:xfrm>
              <a:off x="6634432" y="4180951"/>
              <a:ext cx="498047"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FF0000"/>
                  </a:solidFill>
                  <a:latin typeface="Consolas" pitchFamily="49" charset="0"/>
                  <a:ea typeface="宋体" pitchFamily="2" charset="-122"/>
                  <a:cs typeface="Times New Roman" pitchFamily="18" charset="0"/>
                </a:rPr>
                <a:t>1</a:t>
              </a: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6" name="Oval 15"/>
            <p:cNvSpPr>
              <a:spLocks noChangeArrowheads="1"/>
            </p:cNvSpPr>
            <p:nvPr/>
          </p:nvSpPr>
          <p:spPr bwMode="auto">
            <a:xfrm>
              <a:off x="7258670" y="1714488"/>
              <a:ext cx="395397" cy="430652"/>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0</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7" name="Oval 14"/>
            <p:cNvSpPr>
              <a:spLocks noChangeArrowheads="1"/>
            </p:cNvSpPr>
            <p:nvPr/>
          </p:nvSpPr>
          <p:spPr bwMode="auto">
            <a:xfrm>
              <a:off x="6500826" y="2602392"/>
              <a:ext cx="395397" cy="43065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8" name="Oval 13"/>
            <p:cNvSpPr>
              <a:spLocks noChangeArrowheads="1"/>
            </p:cNvSpPr>
            <p:nvPr/>
          </p:nvSpPr>
          <p:spPr bwMode="auto">
            <a:xfrm>
              <a:off x="8013979" y="2602392"/>
              <a:ext cx="395397" cy="43065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9" name="Oval 12"/>
            <p:cNvSpPr>
              <a:spLocks noChangeArrowheads="1"/>
            </p:cNvSpPr>
            <p:nvPr/>
          </p:nvSpPr>
          <p:spPr bwMode="auto">
            <a:xfrm>
              <a:off x="6500826" y="3622024"/>
              <a:ext cx="395397" cy="43191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60" name="Oval 11"/>
            <p:cNvSpPr>
              <a:spLocks noChangeArrowheads="1"/>
            </p:cNvSpPr>
            <p:nvPr/>
          </p:nvSpPr>
          <p:spPr bwMode="auto">
            <a:xfrm>
              <a:off x="8013979" y="3622024"/>
              <a:ext cx="395397" cy="43191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61" name="Oval 10"/>
            <p:cNvSpPr>
              <a:spLocks noChangeArrowheads="1"/>
            </p:cNvSpPr>
            <p:nvPr/>
          </p:nvSpPr>
          <p:spPr bwMode="auto">
            <a:xfrm>
              <a:off x="7258670" y="4395932"/>
              <a:ext cx="395397" cy="430652"/>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5</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62" name="AutoShape 9"/>
            <p:cNvSpPr>
              <a:spLocks noChangeShapeType="1"/>
            </p:cNvSpPr>
            <p:nvPr/>
          </p:nvSpPr>
          <p:spPr bwMode="auto">
            <a:xfrm flipH="1">
              <a:off x="6837927" y="2081809"/>
              <a:ext cx="479038" cy="58391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63" name="AutoShape 8"/>
            <p:cNvSpPr>
              <a:spLocks noChangeShapeType="1"/>
            </p:cNvSpPr>
            <p:nvPr/>
          </p:nvSpPr>
          <p:spPr bwMode="auto">
            <a:xfrm>
              <a:off x="7595771" y="2081809"/>
              <a:ext cx="476504" cy="58391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64" name="AutoShape 7"/>
            <p:cNvSpPr>
              <a:spLocks noChangeShapeType="1"/>
            </p:cNvSpPr>
            <p:nvPr/>
          </p:nvSpPr>
          <p:spPr bwMode="auto">
            <a:xfrm>
              <a:off x="6896223" y="2817718"/>
              <a:ext cx="1117756" cy="1267"/>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65" name="AutoShape 6"/>
            <p:cNvSpPr>
              <a:spLocks noChangeShapeType="1"/>
            </p:cNvSpPr>
            <p:nvPr/>
          </p:nvSpPr>
          <p:spPr bwMode="auto">
            <a:xfrm>
              <a:off x="6837927" y="2969713"/>
              <a:ext cx="1176052" cy="86890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66" name="AutoShape 5"/>
            <p:cNvSpPr>
              <a:spLocks noChangeShapeType="1"/>
            </p:cNvSpPr>
            <p:nvPr/>
          </p:nvSpPr>
          <p:spPr bwMode="auto">
            <a:xfrm>
              <a:off x="8211677" y="3033044"/>
              <a:ext cx="1267" cy="588980"/>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67" name="AutoShape 4"/>
            <p:cNvSpPr>
              <a:spLocks noChangeShapeType="1"/>
            </p:cNvSpPr>
            <p:nvPr/>
          </p:nvSpPr>
          <p:spPr bwMode="auto">
            <a:xfrm>
              <a:off x="6698525" y="3033044"/>
              <a:ext cx="1267" cy="588980"/>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68" name="AutoShape 3"/>
            <p:cNvSpPr>
              <a:spLocks noChangeShapeType="1"/>
            </p:cNvSpPr>
            <p:nvPr/>
          </p:nvSpPr>
          <p:spPr bwMode="auto">
            <a:xfrm>
              <a:off x="6837927" y="3990612"/>
              <a:ext cx="479038" cy="468651"/>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69" name="AutoShape 2"/>
            <p:cNvSpPr>
              <a:spLocks noChangeShapeType="1"/>
            </p:cNvSpPr>
            <p:nvPr/>
          </p:nvSpPr>
          <p:spPr bwMode="auto">
            <a:xfrm flipH="1">
              <a:off x="7595771" y="3990612"/>
              <a:ext cx="476504" cy="468651"/>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70" name="TextBox 69"/>
            <p:cNvSpPr txBox="1"/>
            <p:nvPr/>
          </p:nvSpPr>
          <p:spPr>
            <a:xfrm>
              <a:off x="6500826" y="4929198"/>
              <a:ext cx="1949102" cy="707886"/>
            </a:xfrm>
            <a:prstGeom prst="rect">
              <a:avLst/>
            </a:prstGeom>
            <a:noFill/>
          </p:spPr>
          <p:txBody>
            <a:bodyPr wrap="square" rtlCol="0">
              <a:spAutoFit/>
            </a:bodyPr>
            <a:lstStyle/>
            <a:p>
              <a:pPr>
                <a:lnSpc>
                  <a:spcPct val="100000"/>
                </a:lnSpc>
                <a:spcBef>
                  <a:spcPts val="0"/>
                </a:spcBef>
              </a:pPr>
              <a:r>
                <a:rPr lang="zh-CN" altLang="en-US" sz="2000">
                  <a:solidFill>
                    <a:srgbClr val="0000FF"/>
                  </a:solidFill>
                  <a:latin typeface="Consolas" pitchFamily="49" charset="0"/>
                  <a:ea typeface="楷体" pitchFamily="49" charset="-122"/>
                </a:rPr>
                <a:t>最大流量为</a:t>
              </a:r>
              <a:r>
                <a:rPr lang="en-US" altLang="zh-CN" sz="2000">
                  <a:solidFill>
                    <a:srgbClr val="0000FF"/>
                  </a:solidFill>
                  <a:latin typeface="Consolas" pitchFamily="49" charset="0"/>
                  <a:ea typeface="楷体" pitchFamily="49" charset="-122"/>
                </a:rPr>
                <a:t>4</a:t>
              </a:r>
            </a:p>
            <a:p>
              <a:pPr>
                <a:lnSpc>
                  <a:spcPct val="100000"/>
                </a:lnSpc>
                <a:spcBef>
                  <a:spcPts val="0"/>
                </a:spcBef>
              </a:pPr>
              <a:r>
                <a:rPr lang="zh-CN" altLang="zh-CN" sz="2000">
                  <a:solidFill>
                    <a:srgbClr val="FF0000"/>
                  </a:solidFill>
                  <a:latin typeface="Consolas" pitchFamily="49" charset="0"/>
                  <a:ea typeface="楷体" pitchFamily="49" charset="-122"/>
                </a:rPr>
                <a:t>阻塞流</a:t>
              </a:r>
              <a:endParaRPr lang="zh-CN" altLang="en-US" sz="2000">
                <a:solidFill>
                  <a:srgbClr val="FF0000"/>
                </a:solidFill>
                <a:latin typeface="Consolas" pitchFamily="49" charset="0"/>
                <a:ea typeface="楷体" pitchFamily="49" charset="-122"/>
                <a:cs typeface="Consolas" pitchFamily="49" charset="0"/>
              </a:endParaRPr>
            </a:p>
          </p:txBody>
        </p:sp>
      </p:grpSp>
      <p:grpSp>
        <p:nvGrpSpPr>
          <p:cNvPr id="71" name="组合 28"/>
          <p:cNvGrpSpPr/>
          <p:nvPr/>
        </p:nvGrpSpPr>
        <p:grpSpPr>
          <a:xfrm>
            <a:off x="3234954" y="1714488"/>
            <a:ext cx="1908550" cy="3112096"/>
            <a:chOff x="3367692" y="3582009"/>
            <a:chExt cx="1908550" cy="3112096"/>
          </a:xfrm>
        </p:grpSpPr>
        <p:sp>
          <p:nvSpPr>
            <p:cNvPr id="72" name="Text Box 22"/>
            <p:cNvSpPr txBox="1">
              <a:spLocks noChangeArrowheads="1"/>
            </p:cNvSpPr>
            <p:nvPr/>
          </p:nvSpPr>
          <p:spPr bwMode="auto">
            <a:xfrm>
              <a:off x="4798471" y="4005062"/>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73" name="Text Box 21"/>
            <p:cNvSpPr txBox="1">
              <a:spLocks noChangeArrowheads="1"/>
            </p:cNvSpPr>
            <p:nvPr/>
          </p:nvSpPr>
          <p:spPr bwMode="auto">
            <a:xfrm>
              <a:off x="4262404" y="4381249"/>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74" name="Text Box 20"/>
            <p:cNvSpPr txBox="1">
              <a:spLocks noChangeArrowheads="1"/>
            </p:cNvSpPr>
            <p:nvPr/>
          </p:nvSpPr>
          <p:spPr bwMode="auto">
            <a:xfrm>
              <a:off x="4365055" y="5053826"/>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75" name="Text Box 19"/>
            <p:cNvSpPr txBox="1">
              <a:spLocks noChangeArrowheads="1"/>
            </p:cNvSpPr>
            <p:nvPr/>
          </p:nvSpPr>
          <p:spPr bwMode="auto">
            <a:xfrm>
              <a:off x="5114028" y="5061426"/>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76" name="Text Box 17"/>
            <p:cNvSpPr txBox="1">
              <a:spLocks noChangeArrowheads="1"/>
            </p:cNvSpPr>
            <p:nvPr/>
          </p:nvSpPr>
          <p:spPr bwMode="auto">
            <a:xfrm>
              <a:off x="3375646" y="5061426"/>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0000FF"/>
                  </a:solidFill>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77" name="Text Box 16"/>
            <p:cNvSpPr txBox="1">
              <a:spLocks noChangeArrowheads="1"/>
            </p:cNvSpPr>
            <p:nvPr/>
          </p:nvSpPr>
          <p:spPr bwMode="auto">
            <a:xfrm>
              <a:off x="3761238" y="6037994"/>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0000FF"/>
                  </a:solidFill>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78" name="Oval 15"/>
            <p:cNvSpPr>
              <a:spLocks noChangeArrowheads="1"/>
            </p:cNvSpPr>
            <p:nvPr/>
          </p:nvSpPr>
          <p:spPr bwMode="auto">
            <a:xfrm>
              <a:off x="4125536" y="3582009"/>
              <a:ext cx="395397" cy="430652"/>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0</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79" name="Oval 14"/>
            <p:cNvSpPr>
              <a:spLocks noChangeArrowheads="1"/>
            </p:cNvSpPr>
            <p:nvPr/>
          </p:nvSpPr>
          <p:spPr bwMode="auto">
            <a:xfrm>
              <a:off x="3367692" y="4469913"/>
              <a:ext cx="395397" cy="43065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80" name="Oval 13"/>
            <p:cNvSpPr>
              <a:spLocks noChangeArrowheads="1"/>
            </p:cNvSpPr>
            <p:nvPr/>
          </p:nvSpPr>
          <p:spPr bwMode="auto">
            <a:xfrm>
              <a:off x="4880845" y="4469913"/>
              <a:ext cx="395397" cy="43065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81" name="Oval 12"/>
            <p:cNvSpPr>
              <a:spLocks noChangeArrowheads="1"/>
            </p:cNvSpPr>
            <p:nvPr/>
          </p:nvSpPr>
          <p:spPr bwMode="auto">
            <a:xfrm>
              <a:off x="3367692" y="5489545"/>
              <a:ext cx="395397" cy="43191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82" name="Oval 11"/>
            <p:cNvSpPr>
              <a:spLocks noChangeArrowheads="1"/>
            </p:cNvSpPr>
            <p:nvPr/>
          </p:nvSpPr>
          <p:spPr bwMode="auto">
            <a:xfrm>
              <a:off x="4880845" y="5489545"/>
              <a:ext cx="395397" cy="43191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83" name="Oval 10"/>
            <p:cNvSpPr>
              <a:spLocks noChangeArrowheads="1"/>
            </p:cNvSpPr>
            <p:nvPr/>
          </p:nvSpPr>
          <p:spPr bwMode="auto">
            <a:xfrm>
              <a:off x="4125536" y="6263453"/>
              <a:ext cx="395397" cy="430652"/>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5</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84" name="AutoShape 8"/>
            <p:cNvSpPr>
              <a:spLocks noChangeShapeType="1"/>
            </p:cNvSpPr>
            <p:nvPr/>
          </p:nvSpPr>
          <p:spPr bwMode="auto">
            <a:xfrm>
              <a:off x="4462637" y="3949330"/>
              <a:ext cx="476504" cy="583914"/>
            </a:xfrm>
            <a:prstGeom prst="straightConnector1">
              <a:avLst/>
            </a:prstGeom>
            <a:noFill/>
            <a:ln w="19050">
              <a:solidFill>
                <a:schemeClr val="tx1"/>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85" name="AutoShape 7"/>
            <p:cNvSpPr>
              <a:spLocks noChangeShapeType="1"/>
            </p:cNvSpPr>
            <p:nvPr/>
          </p:nvSpPr>
          <p:spPr bwMode="auto">
            <a:xfrm>
              <a:off x="3763089" y="4685239"/>
              <a:ext cx="1117756" cy="1267"/>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86" name="AutoShape 6"/>
            <p:cNvSpPr>
              <a:spLocks noChangeShapeType="1"/>
            </p:cNvSpPr>
            <p:nvPr/>
          </p:nvSpPr>
          <p:spPr bwMode="auto">
            <a:xfrm>
              <a:off x="3704793" y="4837234"/>
              <a:ext cx="1176052" cy="868904"/>
            </a:xfrm>
            <a:prstGeom prst="straightConnector1">
              <a:avLst/>
            </a:prstGeom>
            <a:noFill/>
            <a:ln w="19050">
              <a:solidFill>
                <a:schemeClr val="tx1"/>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87" name="AutoShape 5"/>
            <p:cNvSpPr>
              <a:spLocks noChangeShapeType="1"/>
            </p:cNvSpPr>
            <p:nvPr/>
          </p:nvSpPr>
          <p:spPr bwMode="auto">
            <a:xfrm>
              <a:off x="5078543" y="4900565"/>
              <a:ext cx="1267" cy="588980"/>
            </a:xfrm>
            <a:prstGeom prst="straightConnector1">
              <a:avLst/>
            </a:prstGeom>
            <a:noFill/>
            <a:ln w="19050">
              <a:solidFill>
                <a:schemeClr val="tx1"/>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88" name="AutoShape 4"/>
            <p:cNvSpPr>
              <a:spLocks noChangeShapeType="1"/>
            </p:cNvSpPr>
            <p:nvPr/>
          </p:nvSpPr>
          <p:spPr bwMode="auto">
            <a:xfrm>
              <a:off x="3565391" y="4900565"/>
              <a:ext cx="1267" cy="588980"/>
            </a:xfrm>
            <a:prstGeom prst="straightConnector1">
              <a:avLst/>
            </a:prstGeom>
            <a:noFill/>
            <a:ln w="19050">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89" name="AutoShape 3"/>
            <p:cNvSpPr>
              <a:spLocks noChangeShapeType="1"/>
            </p:cNvSpPr>
            <p:nvPr/>
          </p:nvSpPr>
          <p:spPr bwMode="auto">
            <a:xfrm>
              <a:off x="3704793" y="5858133"/>
              <a:ext cx="479038" cy="468651"/>
            </a:xfrm>
            <a:prstGeom prst="straightConnector1">
              <a:avLst/>
            </a:prstGeom>
            <a:noFill/>
            <a:ln w="19050">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grpSp>
      <p:sp>
        <p:nvSpPr>
          <p:cNvPr id="92" name="灯片编号占位符 91"/>
          <p:cNvSpPr>
            <a:spLocks noGrp="1"/>
          </p:cNvSpPr>
          <p:nvPr>
            <p:ph type="sldNum" sz="quarter" idx="12"/>
          </p:nvPr>
        </p:nvSpPr>
        <p:spPr/>
        <p:txBody>
          <a:bodyPr/>
          <a:lstStyle/>
          <a:p>
            <a:fld id="{7AF016A1-9F15-429F-9EFD-84004B73C732}" type="slidenum">
              <a:rPr lang="en-US" altLang="zh-CN" smtClean="0"/>
              <a:pPr/>
              <a:t>98</a:t>
            </a:fld>
            <a:r>
              <a:rPr lang="en-US" altLang="zh-CN"/>
              <a:t>/158</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0034" y="714356"/>
            <a:ext cx="8143932" cy="3654205"/>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342900" indent="-342900" algn="l">
              <a:lnSpc>
                <a:spcPts val="3200"/>
              </a:lnSpc>
              <a:spcBef>
                <a:spcPts val="1200"/>
              </a:spcBef>
              <a:buBlip>
                <a:blip r:embed="rId3"/>
              </a:buBlip>
            </a:pPr>
            <a:r>
              <a:rPr lang="en-US" altLang="zh-CN">
                <a:solidFill>
                  <a:srgbClr val="0000FF"/>
                </a:solidFill>
                <a:latin typeface="Consolas" pitchFamily="49" charset="0"/>
                <a:ea typeface="仿宋" pitchFamily="49" charset="-122"/>
              </a:rPr>
              <a:t>Ford-Fulkerson</a:t>
            </a:r>
            <a:r>
              <a:rPr lang="zh-CN" altLang="zh-CN">
                <a:solidFill>
                  <a:srgbClr val="0000FF"/>
                </a:solidFill>
                <a:latin typeface="Consolas" pitchFamily="49" charset="0"/>
                <a:ea typeface="仿宋" pitchFamily="49" charset="-122"/>
              </a:rPr>
              <a:t>（福特</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富尔克逊）提出一种方法解决了这个问题，即添加反向边</a:t>
            </a:r>
            <a:r>
              <a:rPr lang="zh-CN" altLang="en-US">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marL="342900" indent="-342900" algn="l">
              <a:lnSpc>
                <a:spcPts val="3200"/>
              </a:lnSpc>
              <a:spcBef>
                <a:spcPts val="1200"/>
              </a:spcBef>
              <a:buBlip>
                <a:blip r:embed="rId3"/>
              </a:buBlip>
            </a:pPr>
            <a:r>
              <a:rPr lang="zh-CN" altLang="zh-CN">
                <a:solidFill>
                  <a:srgbClr val="0000FF"/>
                </a:solidFill>
                <a:latin typeface="Consolas" pitchFamily="49" charset="0"/>
                <a:ea typeface="仿宋" pitchFamily="49" charset="-122"/>
              </a:rPr>
              <a:t>也就是说在找到一条增广路径，求出该路径上最小容量</a:t>
            </a:r>
            <a:r>
              <a:rPr lang="en-US" altLang="zh-CN">
                <a:solidFill>
                  <a:srgbClr val="0000FF"/>
                </a:solidFill>
                <a:latin typeface="Consolas" pitchFamily="49" charset="0"/>
                <a:ea typeface="仿宋" pitchFamily="49" charset="-122"/>
              </a:rPr>
              <a:t>delta</a:t>
            </a:r>
            <a:r>
              <a:rPr lang="zh-CN" altLang="zh-CN">
                <a:solidFill>
                  <a:srgbClr val="0000FF"/>
                </a:solidFill>
                <a:latin typeface="Consolas" pitchFamily="49" charset="0"/>
                <a:ea typeface="仿宋" pitchFamily="49" charset="-122"/>
              </a:rPr>
              <a:t>，当将该路径上所有边的剩余容量减去</a:t>
            </a:r>
            <a:r>
              <a:rPr lang="en-US" altLang="zh-CN">
                <a:solidFill>
                  <a:srgbClr val="0000FF"/>
                </a:solidFill>
                <a:latin typeface="Consolas" pitchFamily="49" charset="0"/>
                <a:ea typeface="仿宋" pitchFamily="49" charset="-122"/>
              </a:rPr>
              <a:t>delta</a:t>
            </a:r>
            <a:r>
              <a:rPr lang="zh-CN" altLang="zh-CN">
                <a:solidFill>
                  <a:srgbClr val="0000FF"/>
                </a:solidFill>
                <a:latin typeface="Consolas" pitchFamily="49" charset="0"/>
                <a:ea typeface="仿宋" pitchFamily="49" charset="-122"/>
              </a:rPr>
              <a:t>时，同时添加相应的反向边，对应的权值（流量）为</a:t>
            </a:r>
            <a:r>
              <a:rPr lang="en-US" altLang="zh-CN">
                <a:solidFill>
                  <a:srgbClr val="0000FF"/>
                </a:solidFill>
                <a:latin typeface="Consolas" pitchFamily="49" charset="0"/>
                <a:ea typeface="仿宋" pitchFamily="49" charset="-122"/>
              </a:rPr>
              <a:t>delta</a:t>
            </a:r>
            <a:r>
              <a:rPr lang="zh-CN" altLang="zh-CN">
                <a:solidFill>
                  <a:srgbClr val="0000FF"/>
                </a:solidFill>
                <a:latin typeface="Consolas" pitchFamily="49" charset="0"/>
                <a:ea typeface="仿宋" pitchFamily="49" charset="-122"/>
              </a:rPr>
              <a:t>（如果该反向边已经存在，则将其权值加上</a:t>
            </a:r>
            <a:r>
              <a:rPr lang="en-US" altLang="zh-CN">
                <a:solidFill>
                  <a:srgbClr val="0000FF"/>
                </a:solidFill>
                <a:latin typeface="Consolas" pitchFamily="49" charset="0"/>
                <a:ea typeface="仿宋" pitchFamily="49" charset="-122"/>
              </a:rPr>
              <a:t>delta</a:t>
            </a:r>
            <a:r>
              <a:rPr lang="zh-CN" altLang="zh-CN">
                <a:solidFill>
                  <a:srgbClr val="0000FF"/>
                </a:solidFill>
                <a:latin typeface="Consolas" pitchFamily="49" charset="0"/>
                <a:ea typeface="仿宋" pitchFamily="49" charset="-122"/>
              </a:rPr>
              <a:t>）</a:t>
            </a:r>
            <a:r>
              <a:rPr lang="zh-CN" altLang="en-US">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marL="342900" indent="-342900" algn="l">
              <a:lnSpc>
                <a:spcPts val="3200"/>
              </a:lnSpc>
              <a:spcBef>
                <a:spcPts val="1200"/>
              </a:spcBef>
              <a:buBlip>
                <a:blip r:embed="rId3"/>
              </a:buBlip>
            </a:pPr>
            <a:r>
              <a:rPr lang="zh-CN" altLang="zh-CN">
                <a:solidFill>
                  <a:srgbClr val="0000FF"/>
                </a:solidFill>
                <a:latin typeface="Consolas" pitchFamily="49" charset="0"/>
                <a:ea typeface="仿宋" pitchFamily="49" charset="-122"/>
              </a:rPr>
              <a:t>增加反向边的目的是便于前面操作的“反悔”或者“撤销”。这便是</a:t>
            </a:r>
            <a:r>
              <a:rPr lang="en-US" altLang="zh-CN">
                <a:solidFill>
                  <a:srgbClr val="0000FF"/>
                </a:solidFill>
                <a:latin typeface="Consolas" pitchFamily="49" charset="0"/>
                <a:ea typeface="仿宋" pitchFamily="49" charset="-122"/>
              </a:rPr>
              <a:t>Ford-Fulkerson</a:t>
            </a:r>
            <a:r>
              <a:rPr lang="zh-CN" altLang="zh-CN">
                <a:solidFill>
                  <a:srgbClr val="0000FF"/>
                </a:solidFill>
                <a:latin typeface="Consolas" pitchFamily="49" charset="0"/>
                <a:ea typeface="仿宋" pitchFamily="49" charset="-122"/>
              </a:rPr>
              <a:t>算法的核心。</a:t>
            </a:r>
            <a:endParaRPr lang="zh-CN" altLang="en-US">
              <a:solidFill>
                <a:srgbClr val="0000FF"/>
              </a:solidFill>
              <a:latin typeface="Consolas" pitchFamily="49" charset="0"/>
              <a:ea typeface="仿宋" pitchFamily="49" charset="-122"/>
              <a:cs typeface="Consolas" pitchFamily="49" charset="0"/>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99</a:t>
            </a:fld>
            <a:r>
              <a:rPr lang="en-US" altLang="zh-CN"/>
              <a:t>/158</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7158" y="467005"/>
            <a:ext cx="857256" cy="461665"/>
          </a:xfrm>
          <a:prstGeom prst="rect">
            <a:avLst/>
          </a:prstGeom>
          <a:noFill/>
        </p:spPr>
        <p:txBody>
          <a:bodyPr wrap="square" rtlCol="0">
            <a:spAutoFit/>
          </a:bodyPr>
          <a:lstStyle/>
          <a:p>
            <a:pPr algn="l">
              <a:lnSpc>
                <a:spcPct val="100000"/>
              </a:lnSpc>
              <a:spcBef>
                <a:spcPts val="0"/>
              </a:spcBef>
            </a:pPr>
            <a:r>
              <a:rPr lang="zh-CN" altLang="en-US">
                <a:solidFill>
                  <a:srgbClr val="FF0000"/>
                </a:solidFill>
                <a:latin typeface="微软雅黑" pitchFamily="34" charset="-122"/>
                <a:ea typeface="微软雅黑" pitchFamily="34" charset="-122"/>
              </a:rPr>
              <a:t>示例</a:t>
            </a:r>
            <a:endParaRPr lang="zh-CN" altLang="en-US">
              <a:solidFill>
                <a:srgbClr val="FF0000"/>
              </a:solidFill>
              <a:latin typeface="微软雅黑" pitchFamily="34" charset="-122"/>
              <a:ea typeface="微软雅黑" pitchFamily="34" charset="-122"/>
              <a:cs typeface="Consolas" pitchFamily="49" charset="0"/>
            </a:endParaRPr>
          </a:p>
        </p:txBody>
      </p:sp>
      <p:grpSp>
        <p:nvGrpSpPr>
          <p:cNvPr id="2" name="组合 3"/>
          <p:cNvGrpSpPr/>
          <p:nvPr/>
        </p:nvGrpSpPr>
        <p:grpSpPr>
          <a:xfrm>
            <a:off x="142844" y="1459912"/>
            <a:ext cx="1908550" cy="3112096"/>
            <a:chOff x="3367692" y="3582009"/>
            <a:chExt cx="1908550" cy="3112096"/>
          </a:xfrm>
        </p:grpSpPr>
        <p:sp>
          <p:nvSpPr>
            <p:cNvPr id="5" name="Text Box 23"/>
            <p:cNvSpPr txBox="1">
              <a:spLocks noChangeArrowheads="1"/>
            </p:cNvSpPr>
            <p:nvPr/>
          </p:nvSpPr>
          <p:spPr bwMode="auto">
            <a:xfrm>
              <a:off x="3787168" y="3963263"/>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6" name="Text Box 22"/>
            <p:cNvSpPr txBox="1">
              <a:spLocks noChangeArrowheads="1"/>
            </p:cNvSpPr>
            <p:nvPr/>
          </p:nvSpPr>
          <p:spPr bwMode="auto">
            <a:xfrm>
              <a:off x="4798471" y="4005062"/>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7" name="Text Box 21"/>
            <p:cNvSpPr txBox="1">
              <a:spLocks noChangeArrowheads="1"/>
            </p:cNvSpPr>
            <p:nvPr/>
          </p:nvSpPr>
          <p:spPr bwMode="auto">
            <a:xfrm>
              <a:off x="4262404" y="4381249"/>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8" name="Text Box 20"/>
            <p:cNvSpPr txBox="1">
              <a:spLocks noChangeArrowheads="1"/>
            </p:cNvSpPr>
            <p:nvPr/>
          </p:nvSpPr>
          <p:spPr bwMode="auto">
            <a:xfrm>
              <a:off x="4365055" y="5053826"/>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9" name="Text Box 19"/>
            <p:cNvSpPr txBox="1">
              <a:spLocks noChangeArrowheads="1"/>
            </p:cNvSpPr>
            <p:nvPr/>
          </p:nvSpPr>
          <p:spPr bwMode="auto">
            <a:xfrm>
              <a:off x="5114028" y="5061426"/>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0" name="Text Box 18"/>
            <p:cNvSpPr txBox="1">
              <a:spLocks noChangeArrowheads="1"/>
            </p:cNvSpPr>
            <p:nvPr/>
          </p:nvSpPr>
          <p:spPr bwMode="auto">
            <a:xfrm>
              <a:off x="4714829" y="6041793"/>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1" name="Text Box 17"/>
            <p:cNvSpPr txBox="1">
              <a:spLocks noChangeArrowheads="1"/>
            </p:cNvSpPr>
            <p:nvPr/>
          </p:nvSpPr>
          <p:spPr bwMode="auto">
            <a:xfrm>
              <a:off x="3409513" y="5061426"/>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2" name="Text Box 16"/>
            <p:cNvSpPr txBox="1">
              <a:spLocks noChangeArrowheads="1"/>
            </p:cNvSpPr>
            <p:nvPr/>
          </p:nvSpPr>
          <p:spPr bwMode="auto">
            <a:xfrm>
              <a:off x="3704793" y="6037994"/>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3" name="Oval 15"/>
            <p:cNvSpPr>
              <a:spLocks noChangeArrowheads="1"/>
            </p:cNvSpPr>
            <p:nvPr/>
          </p:nvSpPr>
          <p:spPr bwMode="auto">
            <a:xfrm>
              <a:off x="4125536" y="3582009"/>
              <a:ext cx="395397" cy="430652"/>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0</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4" name="Oval 14"/>
            <p:cNvSpPr>
              <a:spLocks noChangeArrowheads="1"/>
            </p:cNvSpPr>
            <p:nvPr/>
          </p:nvSpPr>
          <p:spPr bwMode="auto">
            <a:xfrm>
              <a:off x="3367692" y="4469913"/>
              <a:ext cx="395397" cy="43065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5" name="Oval 13"/>
            <p:cNvSpPr>
              <a:spLocks noChangeArrowheads="1"/>
            </p:cNvSpPr>
            <p:nvPr/>
          </p:nvSpPr>
          <p:spPr bwMode="auto">
            <a:xfrm>
              <a:off x="4880845" y="4469913"/>
              <a:ext cx="395397" cy="43065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6" name="Oval 12"/>
            <p:cNvSpPr>
              <a:spLocks noChangeArrowheads="1"/>
            </p:cNvSpPr>
            <p:nvPr/>
          </p:nvSpPr>
          <p:spPr bwMode="auto">
            <a:xfrm>
              <a:off x="3367692" y="5489545"/>
              <a:ext cx="395397" cy="43191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8" name="Oval 11"/>
            <p:cNvSpPr>
              <a:spLocks noChangeArrowheads="1"/>
            </p:cNvSpPr>
            <p:nvPr/>
          </p:nvSpPr>
          <p:spPr bwMode="auto">
            <a:xfrm>
              <a:off x="4880845" y="5489545"/>
              <a:ext cx="395397" cy="43191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9" name="Oval 10"/>
            <p:cNvSpPr>
              <a:spLocks noChangeArrowheads="1"/>
            </p:cNvSpPr>
            <p:nvPr/>
          </p:nvSpPr>
          <p:spPr bwMode="auto">
            <a:xfrm>
              <a:off x="4125536" y="6263453"/>
              <a:ext cx="395397" cy="430652"/>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5</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0" name="AutoShape 9"/>
            <p:cNvSpPr>
              <a:spLocks noChangeShapeType="1"/>
            </p:cNvSpPr>
            <p:nvPr/>
          </p:nvSpPr>
          <p:spPr bwMode="auto">
            <a:xfrm flipH="1">
              <a:off x="3704793" y="3949330"/>
              <a:ext cx="479038" cy="58391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21" name="AutoShape 8"/>
            <p:cNvSpPr>
              <a:spLocks noChangeShapeType="1"/>
            </p:cNvSpPr>
            <p:nvPr/>
          </p:nvSpPr>
          <p:spPr bwMode="auto">
            <a:xfrm>
              <a:off x="4462637" y="3949330"/>
              <a:ext cx="476504" cy="58391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22" name="AutoShape 7"/>
            <p:cNvSpPr>
              <a:spLocks noChangeShapeType="1"/>
            </p:cNvSpPr>
            <p:nvPr/>
          </p:nvSpPr>
          <p:spPr bwMode="auto">
            <a:xfrm>
              <a:off x="3763089" y="4685239"/>
              <a:ext cx="1117756" cy="1267"/>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23" name="AutoShape 6"/>
            <p:cNvSpPr>
              <a:spLocks noChangeShapeType="1"/>
            </p:cNvSpPr>
            <p:nvPr/>
          </p:nvSpPr>
          <p:spPr bwMode="auto">
            <a:xfrm>
              <a:off x="3704793" y="4837234"/>
              <a:ext cx="1176052" cy="86890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24" name="AutoShape 5"/>
            <p:cNvSpPr>
              <a:spLocks noChangeShapeType="1"/>
            </p:cNvSpPr>
            <p:nvPr/>
          </p:nvSpPr>
          <p:spPr bwMode="auto">
            <a:xfrm>
              <a:off x="5078543" y="4900565"/>
              <a:ext cx="1267" cy="588980"/>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25" name="AutoShape 4"/>
            <p:cNvSpPr>
              <a:spLocks noChangeShapeType="1"/>
            </p:cNvSpPr>
            <p:nvPr/>
          </p:nvSpPr>
          <p:spPr bwMode="auto">
            <a:xfrm>
              <a:off x="3565391" y="4900565"/>
              <a:ext cx="1267" cy="588980"/>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26" name="AutoShape 3"/>
            <p:cNvSpPr>
              <a:spLocks noChangeShapeType="1"/>
            </p:cNvSpPr>
            <p:nvPr/>
          </p:nvSpPr>
          <p:spPr bwMode="auto">
            <a:xfrm>
              <a:off x="3704793" y="5858133"/>
              <a:ext cx="479038" cy="468651"/>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27" name="AutoShape 2"/>
            <p:cNvSpPr>
              <a:spLocks noChangeShapeType="1"/>
            </p:cNvSpPr>
            <p:nvPr/>
          </p:nvSpPr>
          <p:spPr bwMode="auto">
            <a:xfrm flipH="1">
              <a:off x="4462637" y="5858133"/>
              <a:ext cx="476504" cy="468651"/>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grpSp>
      <p:grpSp>
        <p:nvGrpSpPr>
          <p:cNvPr id="4" name="组合 28"/>
          <p:cNvGrpSpPr/>
          <p:nvPr/>
        </p:nvGrpSpPr>
        <p:grpSpPr>
          <a:xfrm>
            <a:off x="4143372" y="1459912"/>
            <a:ext cx="1908550" cy="3112096"/>
            <a:chOff x="3367692" y="3582009"/>
            <a:chExt cx="1908550" cy="3112096"/>
          </a:xfrm>
        </p:grpSpPr>
        <p:sp>
          <p:nvSpPr>
            <p:cNvPr id="30" name="Text Box 23"/>
            <p:cNvSpPr txBox="1">
              <a:spLocks noChangeArrowheads="1"/>
            </p:cNvSpPr>
            <p:nvPr/>
          </p:nvSpPr>
          <p:spPr bwMode="auto">
            <a:xfrm>
              <a:off x="3787168" y="3963263"/>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1" name="Text Box 22"/>
            <p:cNvSpPr txBox="1">
              <a:spLocks noChangeArrowheads="1"/>
            </p:cNvSpPr>
            <p:nvPr/>
          </p:nvSpPr>
          <p:spPr bwMode="auto">
            <a:xfrm>
              <a:off x="4798471" y="4005062"/>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2" name="Text Box 21"/>
            <p:cNvSpPr txBox="1">
              <a:spLocks noChangeArrowheads="1"/>
            </p:cNvSpPr>
            <p:nvPr/>
          </p:nvSpPr>
          <p:spPr bwMode="auto">
            <a:xfrm>
              <a:off x="4262404" y="4381249"/>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3" name="Text Box 20"/>
            <p:cNvSpPr txBox="1">
              <a:spLocks noChangeArrowheads="1"/>
            </p:cNvSpPr>
            <p:nvPr/>
          </p:nvSpPr>
          <p:spPr bwMode="auto">
            <a:xfrm>
              <a:off x="4365055" y="5053826"/>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4" name="Text Box 19"/>
            <p:cNvSpPr txBox="1">
              <a:spLocks noChangeArrowheads="1"/>
            </p:cNvSpPr>
            <p:nvPr/>
          </p:nvSpPr>
          <p:spPr bwMode="auto">
            <a:xfrm>
              <a:off x="5114028" y="5061426"/>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5" name="Text Box 18"/>
            <p:cNvSpPr txBox="1">
              <a:spLocks noChangeArrowheads="1"/>
            </p:cNvSpPr>
            <p:nvPr/>
          </p:nvSpPr>
          <p:spPr bwMode="auto">
            <a:xfrm>
              <a:off x="4737407" y="6041793"/>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6" name="Text Box 17"/>
            <p:cNvSpPr txBox="1">
              <a:spLocks noChangeArrowheads="1"/>
            </p:cNvSpPr>
            <p:nvPr/>
          </p:nvSpPr>
          <p:spPr bwMode="auto">
            <a:xfrm>
              <a:off x="3409513" y="5061426"/>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7" name="Text Box 16"/>
            <p:cNvSpPr txBox="1">
              <a:spLocks noChangeArrowheads="1"/>
            </p:cNvSpPr>
            <p:nvPr/>
          </p:nvSpPr>
          <p:spPr bwMode="auto">
            <a:xfrm>
              <a:off x="3704793" y="6037994"/>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8" name="Oval 15"/>
            <p:cNvSpPr>
              <a:spLocks noChangeArrowheads="1"/>
            </p:cNvSpPr>
            <p:nvPr/>
          </p:nvSpPr>
          <p:spPr bwMode="auto">
            <a:xfrm>
              <a:off x="4125536" y="3582009"/>
              <a:ext cx="395397" cy="430652"/>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0</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9" name="Oval 14"/>
            <p:cNvSpPr>
              <a:spLocks noChangeArrowheads="1"/>
            </p:cNvSpPr>
            <p:nvPr/>
          </p:nvSpPr>
          <p:spPr bwMode="auto">
            <a:xfrm>
              <a:off x="3367692" y="4469913"/>
              <a:ext cx="395397" cy="43065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40" name="Oval 13"/>
            <p:cNvSpPr>
              <a:spLocks noChangeArrowheads="1"/>
            </p:cNvSpPr>
            <p:nvPr/>
          </p:nvSpPr>
          <p:spPr bwMode="auto">
            <a:xfrm>
              <a:off x="4880845" y="4469913"/>
              <a:ext cx="395397" cy="43065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41" name="Oval 12"/>
            <p:cNvSpPr>
              <a:spLocks noChangeArrowheads="1"/>
            </p:cNvSpPr>
            <p:nvPr/>
          </p:nvSpPr>
          <p:spPr bwMode="auto">
            <a:xfrm>
              <a:off x="3367692" y="5489545"/>
              <a:ext cx="395397" cy="43191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42" name="Oval 11"/>
            <p:cNvSpPr>
              <a:spLocks noChangeArrowheads="1"/>
            </p:cNvSpPr>
            <p:nvPr/>
          </p:nvSpPr>
          <p:spPr bwMode="auto">
            <a:xfrm>
              <a:off x="4880845" y="5489545"/>
              <a:ext cx="395397" cy="43191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43" name="Oval 10"/>
            <p:cNvSpPr>
              <a:spLocks noChangeArrowheads="1"/>
            </p:cNvSpPr>
            <p:nvPr/>
          </p:nvSpPr>
          <p:spPr bwMode="auto">
            <a:xfrm>
              <a:off x="4125536" y="6263453"/>
              <a:ext cx="395397" cy="430652"/>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5</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44" name="AutoShape 9"/>
            <p:cNvSpPr>
              <a:spLocks noChangeShapeType="1"/>
            </p:cNvSpPr>
            <p:nvPr/>
          </p:nvSpPr>
          <p:spPr bwMode="auto">
            <a:xfrm flipH="1">
              <a:off x="3704793" y="3949330"/>
              <a:ext cx="479038" cy="583914"/>
            </a:xfrm>
            <a:prstGeom prst="straightConnector1">
              <a:avLst/>
            </a:prstGeom>
            <a:noFill/>
            <a:ln w="19050">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45" name="AutoShape 8"/>
            <p:cNvSpPr>
              <a:spLocks noChangeShapeType="1"/>
            </p:cNvSpPr>
            <p:nvPr/>
          </p:nvSpPr>
          <p:spPr bwMode="auto">
            <a:xfrm>
              <a:off x="4462637" y="3949330"/>
              <a:ext cx="476504" cy="583914"/>
            </a:xfrm>
            <a:prstGeom prst="straightConnector1">
              <a:avLst/>
            </a:prstGeom>
            <a:noFill/>
            <a:ln w="19050">
              <a:solidFill>
                <a:schemeClr val="tx1"/>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46" name="AutoShape 7"/>
            <p:cNvSpPr>
              <a:spLocks noChangeShapeType="1"/>
            </p:cNvSpPr>
            <p:nvPr/>
          </p:nvSpPr>
          <p:spPr bwMode="auto">
            <a:xfrm>
              <a:off x="3763089" y="4685239"/>
              <a:ext cx="1117756" cy="1267"/>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47" name="AutoShape 6"/>
            <p:cNvSpPr>
              <a:spLocks noChangeShapeType="1"/>
            </p:cNvSpPr>
            <p:nvPr/>
          </p:nvSpPr>
          <p:spPr bwMode="auto">
            <a:xfrm>
              <a:off x="3704793" y="4837234"/>
              <a:ext cx="1176052" cy="868904"/>
            </a:xfrm>
            <a:prstGeom prst="straightConnector1">
              <a:avLst/>
            </a:prstGeom>
            <a:noFill/>
            <a:ln w="19050">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48" name="AutoShape 5"/>
            <p:cNvSpPr>
              <a:spLocks noChangeShapeType="1"/>
            </p:cNvSpPr>
            <p:nvPr/>
          </p:nvSpPr>
          <p:spPr bwMode="auto">
            <a:xfrm>
              <a:off x="5078543" y="4900565"/>
              <a:ext cx="1267" cy="588980"/>
            </a:xfrm>
            <a:prstGeom prst="straightConnector1">
              <a:avLst/>
            </a:prstGeom>
            <a:noFill/>
            <a:ln w="19050">
              <a:solidFill>
                <a:schemeClr val="tx1"/>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49" name="AutoShape 4"/>
            <p:cNvSpPr>
              <a:spLocks noChangeShapeType="1"/>
            </p:cNvSpPr>
            <p:nvPr/>
          </p:nvSpPr>
          <p:spPr bwMode="auto">
            <a:xfrm>
              <a:off x="3565391" y="4900565"/>
              <a:ext cx="1267" cy="588980"/>
            </a:xfrm>
            <a:prstGeom prst="straightConnector1">
              <a:avLst/>
            </a:prstGeom>
            <a:noFill/>
            <a:ln w="19050">
              <a:solidFill>
                <a:schemeClr val="tx1"/>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50" name="AutoShape 3"/>
            <p:cNvSpPr>
              <a:spLocks noChangeShapeType="1"/>
            </p:cNvSpPr>
            <p:nvPr/>
          </p:nvSpPr>
          <p:spPr bwMode="auto">
            <a:xfrm>
              <a:off x="3704793" y="5858133"/>
              <a:ext cx="479038" cy="468651"/>
            </a:xfrm>
            <a:prstGeom prst="straightConnector1">
              <a:avLst/>
            </a:prstGeom>
            <a:noFill/>
            <a:ln w="19050">
              <a:solidFill>
                <a:schemeClr val="tx1"/>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51" name="AutoShape 2"/>
            <p:cNvSpPr>
              <a:spLocks noChangeShapeType="1"/>
            </p:cNvSpPr>
            <p:nvPr/>
          </p:nvSpPr>
          <p:spPr bwMode="auto">
            <a:xfrm flipH="1">
              <a:off x="4462637" y="5858133"/>
              <a:ext cx="476504" cy="468651"/>
            </a:xfrm>
            <a:prstGeom prst="straightConnector1">
              <a:avLst/>
            </a:prstGeom>
            <a:noFill/>
            <a:ln w="19050">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grpSp>
      <p:grpSp>
        <p:nvGrpSpPr>
          <p:cNvPr id="29" name="组合 77"/>
          <p:cNvGrpSpPr/>
          <p:nvPr/>
        </p:nvGrpSpPr>
        <p:grpSpPr>
          <a:xfrm>
            <a:off x="2071670" y="2317168"/>
            <a:ext cx="2122864" cy="1071570"/>
            <a:chOff x="2234822" y="2317168"/>
            <a:chExt cx="2122864" cy="1071570"/>
          </a:xfrm>
        </p:grpSpPr>
        <p:sp>
          <p:nvSpPr>
            <p:cNvPr id="28" name="TextBox 27"/>
            <p:cNvSpPr txBox="1"/>
            <p:nvPr/>
          </p:nvSpPr>
          <p:spPr>
            <a:xfrm>
              <a:off x="2234822" y="2317168"/>
              <a:ext cx="2122864" cy="707886"/>
            </a:xfrm>
            <a:prstGeom prst="rect">
              <a:avLst/>
            </a:prstGeom>
            <a:noFill/>
          </p:spPr>
          <p:txBody>
            <a:bodyPr wrap="square" rtlCol="0">
              <a:spAutoFit/>
            </a:bodyPr>
            <a:lstStyle/>
            <a:p>
              <a:pPr algn="l">
                <a:lnSpc>
                  <a:spcPct val="100000"/>
                </a:lnSpc>
                <a:spcBef>
                  <a:spcPts val="0"/>
                </a:spcBef>
              </a:pPr>
              <a:r>
                <a:rPr lang="zh-CN" altLang="zh-CN" sz="2000">
                  <a:solidFill>
                    <a:srgbClr val="0000FF"/>
                  </a:solidFill>
                  <a:latin typeface="Consolas" pitchFamily="49" charset="0"/>
                  <a:ea typeface="仿宋" pitchFamily="49" charset="-122"/>
                </a:rPr>
                <a:t>找到一条增广路径是</a:t>
              </a:r>
              <a:r>
                <a:rPr lang="en-US" altLang="zh-CN" sz="2000">
                  <a:solidFill>
                    <a:srgbClr val="0000FF"/>
                  </a:solidFill>
                  <a:latin typeface="Consolas" pitchFamily="49" charset="0"/>
                  <a:ea typeface="仿宋" pitchFamily="49" charset="-122"/>
                </a:rPr>
                <a:t>0</a:t>
              </a:r>
              <a:r>
                <a:rPr lang="zh-CN" altLang="zh-CN" sz="2000">
                  <a:solidFill>
                    <a:srgbClr val="0000FF"/>
                  </a:solidFill>
                  <a:latin typeface="Consolas" pitchFamily="49" charset="0"/>
                  <a:ea typeface="仿宋" pitchFamily="49" charset="-122"/>
                </a:rPr>
                <a:t>→</a:t>
              </a:r>
              <a:r>
                <a:rPr lang="en-US" altLang="zh-CN" sz="2000">
                  <a:solidFill>
                    <a:srgbClr val="0000FF"/>
                  </a:solidFill>
                  <a:latin typeface="Consolas" pitchFamily="49" charset="0"/>
                  <a:ea typeface="仿宋" pitchFamily="49" charset="-122"/>
                </a:rPr>
                <a:t>1</a:t>
              </a:r>
              <a:r>
                <a:rPr lang="zh-CN" altLang="zh-CN" sz="2000">
                  <a:solidFill>
                    <a:srgbClr val="0000FF"/>
                  </a:solidFill>
                  <a:latin typeface="Consolas" pitchFamily="49" charset="0"/>
                  <a:ea typeface="仿宋" pitchFamily="49" charset="-122"/>
                </a:rPr>
                <a:t>→</a:t>
              </a:r>
              <a:r>
                <a:rPr lang="en-US" altLang="zh-CN" sz="2000">
                  <a:solidFill>
                    <a:srgbClr val="0000FF"/>
                  </a:solidFill>
                  <a:latin typeface="Consolas" pitchFamily="49" charset="0"/>
                  <a:ea typeface="仿宋" pitchFamily="49" charset="-122"/>
                </a:rPr>
                <a:t>4</a:t>
              </a:r>
              <a:r>
                <a:rPr lang="zh-CN" altLang="zh-CN" sz="2000">
                  <a:solidFill>
                    <a:srgbClr val="0000FF"/>
                  </a:solidFill>
                  <a:latin typeface="Consolas" pitchFamily="49" charset="0"/>
                  <a:ea typeface="仿宋" pitchFamily="49" charset="-122"/>
                </a:rPr>
                <a:t>→</a:t>
              </a:r>
              <a:r>
                <a:rPr lang="en-US" altLang="zh-CN" sz="2000">
                  <a:solidFill>
                    <a:srgbClr val="0000FF"/>
                  </a:solidFill>
                  <a:latin typeface="Consolas" pitchFamily="49" charset="0"/>
                  <a:ea typeface="仿宋" pitchFamily="49" charset="-122"/>
                </a:rPr>
                <a:t>5</a:t>
              </a:r>
              <a:endParaRPr lang="zh-CN" altLang="en-US" sz="2000">
                <a:solidFill>
                  <a:srgbClr val="0000FF"/>
                </a:solidFill>
                <a:latin typeface="Consolas" pitchFamily="49" charset="0"/>
                <a:ea typeface="仿宋" pitchFamily="49" charset="-122"/>
                <a:cs typeface="Consolas" pitchFamily="49" charset="0"/>
              </a:endParaRPr>
            </a:p>
          </p:txBody>
        </p:sp>
        <p:sp>
          <p:nvSpPr>
            <p:cNvPr id="52" name="右箭头 51"/>
            <p:cNvSpPr/>
            <p:nvPr/>
          </p:nvSpPr>
          <p:spPr>
            <a:xfrm>
              <a:off x="2349837" y="3102986"/>
              <a:ext cx="1837112" cy="285752"/>
            </a:xfrm>
            <a:prstGeom prst="right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grpSp>
      <p:sp>
        <p:nvSpPr>
          <p:cNvPr id="53" name="TextBox 52"/>
          <p:cNvSpPr txBox="1"/>
          <p:nvPr/>
        </p:nvSpPr>
        <p:spPr>
          <a:xfrm>
            <a:off x="1285852" y="467005"/>
            <a:ext cx="1714512" cy="430887"/>
          </a:xfrm>
          <a:prstGeom prst="rect">
            <a:avLst/>
          </a:prstGeom>
          <a:noFill/>
        </p:spPr>
        <p:txBody>
          <a:bodyPr wrap="square" rtlCol="0">
            <a:spAutoFit/>
          </a:bodyPr>
          <a:lstStyle/>
          <a:p>
            <a:pPr algn="l">
              <a:lnSpc>
                <a:spcPct val="100000"/>
              </a:lnSpc>
              <a:spcBef>
                <a:spcPts val="0"/>
              </a:spcBef>
            </a:pPr>
            <a:r>
              <a:rPr lang="zh-CN" altLang="zh-CN" sz="2200">
                <a:solidFill>
                  <a:srgbClr val="0000FF"/>
                </a:solidFill>
                <a:latin typeface="楷体" pitchFamily="49" charset="-122"/>
                <a:ea typeface="楷体" pitchFamily="49" charset="-122"/>
              </a:rPr>
              <a:t>第一轮循环</a:t>
            </a:r>
            <a:endParaRPr lang="zh-CN" altLang="en-US" sz="2200">
              <a:solidFill>
                <a:srgbClr val="0000FF"/>
              </a:solidFill>
              <a:latin typeface="楷体" pitchFamily="49" charset="-122"/>
              <a:ea typeface="楷体" pitchFamily="49" charset="-122"/>
              <a:cs typeface="Consolas" pitchFamily="49" charset="0"/>
            </a:endParaRPr>
          </a:p>
        </p:txBody>
      </p:sp>
      <p:grpSp>
        <p:nvGrpSpPr>
          <p:cNvPr id="77" name="组合 76"/>
          <p:cNvGrpSpPr/>
          <p:nvPr/>
        </p:nvGrpSpPr>
        <p:grpSpPr>
          <a:xfrm>
            <a:off x="6215074" y="2714620"/>
            <a:ext cx="847732" cy="685862"/>
            <a:chOff x="2509822" y="5100592"/>
            <a:chExt cx="847732" cy="685862"/>
          </a:xfrm>
        </p:grpSpPr>
        <p:sp>
          <p:nvSpPr>
            <p:cNvPr id="75" name="TextBox 74"/>
            <p:cNvSpPr txBox="1"/>
            <p:nvPr/>
          </p:nvSpPr>
          <p:spPr>
            <a:xfrm>
              <a:off x="2509822" y="5100592"/>
              <a:ext cx="847732" cy="400110"/>
            </a:xfrm>
            <a:prstGeom prst="rect">
              <a:avLst/>
            </a:prstGeom>
            <a:noFill/>
          </p:spPr>
          <p:txBody>
            <a:bodyPr wrap="square" rtlCol="0">
              <a:spAutoFit/>
            </a:bodyPr>
            <a:lstStyle/>
            <a:p>
              <a:pPr algn="l">
                <a:lnSpc>
                  <a:spcPct val="100000"/>
                </a:lnSpc>
                <a:spcBef>
                  <a:spcPts val="0"/>
                </a:spcBef>
              </a:pPr>
              <a:r>
                <a:rPr lang="zh-CN" altLang="zh-CN" sz="2000">
                  <a:solidFill>
                    <a:srgbClr val="0000FF"/>
                  </a:solidFill>
                  <a:latin typeface="Consolas" pitchFamily="49" charset="0"/>
                  <a:ea typeface="仿宋" pitchFamily="49" charset="-122"/>
                </a:rPr>
                <a:t>增广</a:t>
              </a:r>
              <a:endParaRPr lang="zh-CN" altLang="en-US" sz="2000">
                <a:solidFill>
                  <a:srgbClr val="0000FF"/>
                </a:solidFill>
                <a:latin typeface="Consolas" pitchFamily="49" charset="0"/>
                <a:ea typeface="仿宋" pitchFamily="49" charset="-122"/>
                <a:cs typeface="Consolas" pitchFamily="49" charset="0"/>
              </a:endParaRPr>
            </a:p>
          </p:txBody>
        </p:sp>
        <p:sp>
          <p:nvSpPr>
            <p:cNvPr id="76" name="右箭头 75"/>
            <p:cNvSpPr/>
            <p:nvPr/>
          </p:nvSpPr>
          <p:spPr>
            <a:xfrm>
              <a:off x="2581260" y="5500702"/>
              <a:ext cx="633418" cy="285752"/>
            </a:xfrm>
            <a:prstGeom prst="right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grpSp>
      <p:grpSp>
        <p:nvGrpSpPr>
          <p:cNvPr id="85" name="组合 84"/>
          <p:cNvGrpSpPr/>
          <p:nvPr/>
        </p:nvGrpSpPr>
        <p:grpSpPr>
          <a:xfrm>
            <a:off x="7092606" y="1459912"/>
            <a:ext cx="1908550" cy="3112096"/>
            <a:chOff x="7092606" y="1459912"/>
            <a:chExt cx="1908550" cy="3112096"/>
          </a:xfrm>
        </p:grpSpPr>
        <p:sp>
          <p:nvSpPr>
            <p:cNvPr id="55" name="Text Box 23"/>
            <p:cNvSpPr txBox="1">
              <a:spLocks noChangeArrowheads="1"/>
            </p:cNvSpPr>
            <p:nvPr/>
          </p:nvSpPr>
          <p:spPr bwMode="auto">
            <a:xfrm>
              <a:off x="7512082" y="1841166"/>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6" name="Text Box 22"/>
            <p:cNvSpPr txBox="1">
              <a:spLocks noChangeArrowheads="1"/>
            </p:cNvSpPr>
            <p:nvPr/>
          </p:nvSpPr>
          <p:spPr bwMode="auto">
            <a:xfrm>
              <a:off x="8523385" y="1882965"/>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7" name="Text Box 21"/>
            <p:cNvSpPr txBox="1">
              <a:spLocks noChangeArrowheads="1"/>
            </p:cNvSpPr>
            <p:nvPr/>
          </p:nvSpPr>
          <p:spPr bwMode="auto">
            <a:xfrm>
              <a:off x="7987318" y="2259152"/>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8" name="Text Box 20"/>
            <p:cNvSpPr txBox="1">
              <a:spLocks noChangeArrowheads="1"/>
            </p:cNvSpPr>
            <p:nvPr/>
          </p:nvSpPr>
          <p:spPr bwMode="auto">
            <a:xfrm>
              <a:off x="8089969" y="2931729"/>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0000FF"/>
                  </a:solidFill>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9" name="Text Box 19"/>
            <p:cNvSpPr txBox="1">
              <a:spLocks noChangeArrowheads="1"/>
            </p:cNvSpPr>
            <p:nvPr/>
          </p:nvSpPr>
          <p:spPr bwMode="auto">
            <a:xfrm>
              <a:off x="8838942" y="2939329"/>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60" name="Text Box 17"/>
            <p:cNvSpPr txBox="1">
              <a:spLocks noChangeArrowheads="1"/>
            </p:cNvSpPr>
            <p:nvPr/>
          </p:nvSpPr>
          <p:spPr bwMode="auto">
            <a:xfrm>
              <a:off x="7134427" y="2939329"/>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61" name="Text Box 16"/>
            <p:cNvSpPr txBox="1">
              <a:spLocks noChangeArrowheads="1"/>
            </p:cNvSpPr>
            <p:nvPr/>
          </p:nvSpPr>
          <p:spPr bwMode="auto">
            <a:xfrm>
              <a:off x="7429707" y="3915897"/>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62" name="Oval 15"/>
            <p:cNvSpPr>
              <a:spLocks noChangeArrowheads="1"/>
            </p:cNvSpPr>
            <p:nvPr/>
          </p:nvSpPr>
          <p:spPr bwMode="auto">
            <a:xfrm>
              <a:off x="7850450" y="1459912"/>
              <a:ext cx="395397" cy="430652"/>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0</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63" name="Oval 14"/>
            <p:cNvSpPr>
              <a:spLocks noChangeArrowheads="1"/>
            </p:cNvSpPr>
            <p:nvPr/>
          </p:nvSpPr>
          <p:spPr bwMode="auto">
            <a:xfrm>
              <a:off x="7092606" y="2347816"/>
              <a:ext cx="395397" cy="43065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64" name="Oval 13"/>
            <p:cNvSpPr>
              <a:spLocks noChangeArrowheads="1"/>
            </p:cNvSpPr>
            <p:nvPr/>
          </p:nvSpPr>
          <p:spPr bwMode="auto">
            <a:xfrm>
              <a:off x="8605759" y="2347816"/>
              <a:ext cx="395397" cy="43065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65" name="Oval 12"/>
            <p:cNvSpPr>
              <a:spLocks noChangeArrowheads="1"/>
            </p:cNvSpPr>
            <p:nvPr/>
          </p:nvSpPr>
          <p:spPr bwMode="auto">
            <a:xfrm>
              <a:off x="7092606" y="3367448"/>
              <a:ext cx="395397" cy="43191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66" name="Oval 11"/>
            <p:cNvSpPr>
              <a:spLocks noChangeArrowheads="1"/>
            </p:cNvSpPr>
            <p:nvPr/>
          </p:nvSpPr>
          <p:spPr bwMode="auto">
            <a:xfrm>
              <a:off x="8605759" y="3367448"/>
              <a:ext cx="395397" cy="43191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67" name="Oval 10"/>
            <p:cNvSpPr>
              <a:spLocks noChangeArrowheads="1"/>
            </p:cNvSpPr>
            <p:nvPr/>
          </p:nvSpPr>
          <p:spPr bwMode="auto">
            <a:xfrm>
              <a:off x="7850450" y="4141356"/>
              <a:ext cx="395397" cy="430652"/>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5</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68" name="AutoShape 9"/>
            <p:cNvSpPr>
              <a:spLocks noChangeShapeType="1"/>
            </p:cNvSpPr>
            <p:nvPr/>
          </p:nvSpPr>
          <p:spPr bwMode="auto">
            <a:xfrm flipH="1">
              <a:off x="7429707" y="1827233"/>
              <a:ext cx="479038" cy="583914"/>
            </a:xfrm>
            <a:prstGeom prst="straightConnector1">
              <a:avLst/>
            </a:prstGeom>
            <a:noFill/>
            <a:ln w="19050">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69" name="AutoShape 8"/>
            <p:cNvSpPr>
              <a:spLocks noChangeShapeType="1"/>
            </p:cNvSpPr>
            <p:nvPr/>
          </p:nvSpPr>
          <p:spPr bwMode="auto">
            <a:xfrm>
              <a:off x="8187551" y="1827233"/>
              <a:ext cx="476504" cy="583914"/>
            </a:xfrm>
            <a:prstGeom prst="straightConnector1">
              <a:avLst/>
            </a:prstGeom>
            <a:noFill/>
            <a:ln w="19050">
              <a:solidFill>
                <a:schemeClr val="tx1"/>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70" name="AutoShape 7"/>
            <p:cNvSpPr>
              <a:spLocks noChangeShapeType="1"/>
            </p:cNvSpPr>
            <p:nvPr/>
          </p:nvSpPr>
          <p:spPr bwMode="auto">
            <a:xfrm>
              <a:off x="7488003" y="2563142"/>
              <a:ext cx="1117756" cy="1267"/>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71" name="AutoShape 6"/>
            <p:cNvSpPr>
              <a:spLocks noChangeShapeType="1"/>
            </p:cNvSpPr>
            <p:nvPr/>
          </p:nvSpPr>
          <p:spPr bwMode="auto">
            <a:xfrm>
              <a:off x="7429707" y="2715137"/>
              <a:ext cx="1176052" cy="868904"/>
            </a:xfrm>
            <a:prstGeom prst="straightConnector1">
              <a:avLst/>
            </a:prstGeom>
            <a:noFill/>
            <a:ln w="19050">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72" name="AutoShape 5"/>
            <p:cNvSpPr>
              <a:spLocks noChangeShapeType="1"/>
            </p:cNvSpPr>
            <p:nvPr/>
          </p:nvSpPr>
          <p:spPr bwMode="auto">
            <a:xfrm>
              <a:off x="8803457" y="2778468"/>
              <a:ext cx="1267" cy="588980"/>
            </a:xfrm>
            <a:prstGeom prst="straightConnector1">
              <a:avLst/>
            </a:prstGeom>
            <a:noFill/>
            <a:ln w="19050">
              <a:solidFill>
                <a:schemeClr val="tx1"/>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73" name="AutoShape 4"/>
            <p:cNvSpPr>
              <a:spLocks noChangeShapeType="1"/>
            </p:cNvSpPr>
            <p:nvPr/>
          </p:nvSpPr>
          <p:spPr bwMode="auto">
            <a:xfrm>
              <a:off x="7290305" y="2778468"/>
              <a:ext cx="1267" cy="588980"/>
            </a:xfrm>
            <a:prstGeom prst="straightConnector1">
              <a:avLst/>
            </a:prstGeom>
            <a:noFill/>
            <a:ln w="19050">
              <a:solidFill>
                <a:schemeClr val="tx1"/>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74" name="AutoShape 3"/>
            <p:cNvSpPr>
              <a:spLocks noChangeShapeType="1"/>
            </p:cNvSpPr>
            <p:nvPr/>
          </p:nvSpPr>
          <p:spPr bwMode="auto">
            <a:xfrm>
              <a:off x="7429707" y="3736036"/>
              <a:ext cx="479038" cy="468651"/>
            </a:xfrm>
            <a:prstGeom prst="straightConnector1">
              <a:avLst/>
            </a:prstGeom>
            <a:noFill/>
            <a:ln w="19050">
              <a:solidFill>
                <a:schemeClr val="tx1"/>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cxnSp>
          <p:nvCxnSpPr>
            <p:cNvPr id="79" name="直接箭头连接符 78"/>
            <p:cNvCxnSpPr>
              <a:stCxn id="67" idx="7"/>
              <a:endCxn id="66" idx="3"/>
            </p:cNvCxnSpPr>
            <p:nvPr/>
          </p:nvCxnSpPr>
          <p:spPr>
            <a:xfrm rot="5400000" flipH="1" flipV="1">
              <a:off x="8191649" y="3732408"/>
              <a:ext cx="468309" cy="475722"/>
            </a:xfrm>
            <a:prstGeom prst="straightConnector1">
              <a:avLst/>
            </a:prstGeom>
            <a:ln w="19050">
              <a:solidFill>
                <a:srgbClr val="006600"/>
              </a:solidFill>
              <a:prstDash val="dash"/>
              <a:tailEnd type="arrow"/>
            </a:ln>
          </p:spPr>
          <p:style>
            <a:lnRef idx="2">
              <a:schemeClr val="dk1"/>
            </a:lnRef>
            <a:fillRef idx="0">
              <a:schemeClr val="dk1"/>
            </a:fillRef>
            <a:effectRef idx="1">
              <a:schemeClr val="dk1"/>
            </a:effectRef>
            <a:fontRef idx="minor">
              <a:schemeClr val="tx1"/>
            </a:fontRef>
          </p:style>
        </p:cxnSp>
        <p:sp>
          <p:nvSpPr>
            <p:cNvPr id="80" name="Text Box 18"/>
            <p:cNvSpPr txBox="1">
              <a:spLocks noChangeArrowheads="1"/>
            </p:cNvSpPr>
            <p:nvPr/>
          </p:nvSpPr>
          <p:spPr bwMode="auto">
            <a:xfrm>
              <a:off x="8458140" y="3951644"/>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6600"/>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6600"/>
                </a:solidFill>
                <a:effectLst/>
                <a:latin typeface="Consolas" pitchFamily="49" charset="0"/>
                <a:ea typeface="宋体" pitchFamily="2" charset="-122"/>
                <a:cs typeface="宋体" pitchFamily="2" charset="-122"/>
              </a:endParaRPr>
            </a:p>
          </p:txBody>
        </p:sp>
        <p:sp>
          <p:nvSpPr>
            <p:cNvPr id="81" name="任意多边形 80"/>
            <p:cNvSpPr/>
            <p:nvPr/>
          </p:nvSpPr>
          <p:spPr>
            <a:xfrm>
              <a:off x="7382933" y="2777067"/>
              <a:ext cx="1241778" cy="886177"/>
            </a:xfrm>
            <a:custGeom>
              <a:avLst/>
              <a:gdLst>
                <a:gd name="connsiteX0" fmla="*/ 1241778 w 1241778"/>
                <a:gd name="connsiteY0" fmla="*/ 846666 h 886177"/>
                <a:gd name="connsiteX1" fmla="*/ 925689 w 1241778"/>
                <a:gd name="connsiteY1" fmla="*/ 857955 h 886177"/>
                <a:gd name="connsiteX2" fmla="*/ 462845 w 1241778"/>
                <a:gd name="connsiteY2" fmla="*/ 677333 h 886177"/>
                <a:gd name="connsiteX3" fmla="*/ 0 w 1241778"/>
                <a:gd name="connsiteY3" fmla="*/ 0 h 886177"/>
              </a:gdLst>
              <a:ahLst/>
              <a:cxnLst>
                <a:cxn ang="0">
                  <a:pos x="connsiteX0" y="connsiteY0"/>
                </a:cxn>
                <a:cxn ang="0">
                  <a:pos x="connsiteX1" y="connsiteY1"/>
                </a:cxn>
                <a:cxn ang="0">
                  <a:pos x="connsiteX2" y="connsiteY2"/>
                </a:cxn>
                <a:cxn ang="0">
                  <a:pos x="connsiteX3" y="connsiteY3"/>
                </a:cxn>
              </a:cxnLst>
              <a:rect l="l" t="t" r="r" b="b"/>
              <a:pathLst>
                <a:path w="1241778" h="886177">
                  <a:moveTo>
                    <a:pt x="1241778" y="846666"/>
                  </a:moveTo>
                  <a:cubicBezTo>
                    <a:pt x="1148644" y="866421"/>
                    <a:pt x="1055511" y="886177"/>
                    <a:pt x="925689" y="857955"/>
                  </a:cubicBezTo>
                  <a:cubicBezTo>
                    <a:pt x="795867" y="829733"/>
                    <a:pt x="617127" y="820326"/>
                    <a:pt x="462845" y="677333"/>
                  </a:cubicBezTo>
                  <a:cubicBezTo>
                    <a:pt x="308564" y="534341"/>
                    <a:pt x="154282" y="267170"/>
                    <a:pt x="0" y="0"/>
                  </a:cubicBezTo>
                </a:path>
              </a:pathLst>
            </a:custGeom>
            <a:ln w="19050">
              <a:solidFill>
                <a:srgbClr val="006600"/>
              </a:solidFill>
              <a:prstDash val="dash"/>
              <a:tailEnd type="arrow"/>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82" name="任意多边形 81"/>
            <p:cNvSpPr/>
            <p:nvPr/>
          </p:nvSpPr>
          <p:spPr>
            <a:xfrm>
              <a:off x="7266281" y="1524000"/>
              <a:ext cx="624652" cy="835378"/>
            </a:xfrm>
            <a:custGeom>
              <a:avLst/>
              <a:gdLst>
                <a:gd name="connsiteX0" fmla="*/ 37630 w 624652"/>
                <a:gd name="connsiteY0" fmla="*/ 835378 h 835378"/>
                <a:gd name="connsiteX1" fmla="*/ 15052 w 624652"/>
                <a:gd name="connsiteY1" fmla="*/ 620889 h 835378"/>
                <a:gd name="connsiteX2" fmla="*/ 127941 w 624652"/>
                <a:gd name="connsiteY2" fmla="*/ 327378 h 835378"/>
                <a:gd name="connsiteX3" fmla="*/ 387586 w 624652"/>
                <a:gd name="connsiteY3" fmla="*/ 45156 h 835378"/>
                <a:gd name="connsiteX4" fmla="*/ 624652 w 624652"/>
                <a:gd name="connsiteY4" fmla="*/ 56444 h 8353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4652" h="835378">
                  <a:moveTo>
                    <a:pt x="37630" y="835378"/>
                  </a:moveTo>
                  <a:cubicBezTo>
                    <a:pt x="18815" y="770467"/>
                    <a:pt x="0" y="705556"/>
                    <a:pt x="15052" y="620889"/>
                  </a:cubicBezTo>
                  <a:cubicBezTo>
                    <a:pt x="30104" y="536222"/>
                    <a:pt x="65852" y="423333"/>
                    <a:pt x="127941" y="327378"/>
                  </a:cubicBezTo>
                  <a:cubicBezTo>
                    <a:pt x="190030" y="231423"/>
                    <a:pt x="304801" y="90312"/>
                    <a:pt x="387586" y="45156"/>
                  </a:cubicBezTo>
                  <a:cubicBezTo>
                    <a:pt x="470371" y="0"/>
                    <a:pt x="547511" y="28222"/>
                    <a:pt x="624652" y="56444"/>
                  </a:cubicBezTo>
                </a:path>
              </a:pathLst>
            </a:custGeom>
            <a:ln w="19050">
              <a:solidFill>
                <a:srgbClr val="006600"/>
              </a:solidFill>
              <a:prstDash val="dash"/>
              <a:tailEnd type="arrow"/>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83" name="Text Box 18"/>
            <p:cNvSpPr txBox="1">
              <a:spLocks noChangeArrowheads="1"/>
            </p:cNvSpPr>
            <p:nvPr/>
          </p:nvSpPr>
          <p:spPr bwMode="auto">
            <a:xfrm>
              <a:off x="7858148" y="3214686"/>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6600"/>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6600"/>
                </a:solidFill>
                <a:effectLst/>
                <a:latin typeface="Consolas" pitchFamily="49" charset="0"/>
                <a:ea typeface="宋体" pitchFamily="2" charset="-122"/>
                <a:cs typeface="宋体" pitchFamily="2" charset="-122"/>
              </a:endParaRPr>
            </a:p>
          </p:txBody>
        </p:sp>
        <p:sp>
          <p:nvSpPr>
            <p:cNvPr id="84" name="Text Box 18"/>
            <p:cNvSpPr txBox="1">
              <a:spLocks noChangeArrowheads="1"/>
            </p:cNvSpPr>
            <p:nvPr/>
          </p:nvSpPr>
          <p:spPr bwMode="auto">
            <a:xfrm>
              <a:off x="7215206" y="1571612"/>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6600"/>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6600"/>
                </a:solidFill>
                <a:effectLst/>
                <a:latin typeface="Consolas" pitchFamily="49" charset="0"/>
                <a:ea typeface="宋体" pitchFamily="2" charset="-122"/>
                <a:cs typeface="宋体" pitchFamily="2" charset="-122"/>
              </a:endParaRPr>
            </a:p>
          </p:txBody>
        </p:sp>
      </p:grpSp>
      <p:sp>
        <p:nvSpPr>
          <p:cNvPr id="87" name="灯片编号占位符 86"/>
          <p:cNvSpPr>
            <a:spLocks noGrp="1"/>
          </p:cNvSpPr>
          <p:nvPr>
            <p:ph type="sldNum" sz="quarter" idx="12"/>
          </p:nvPr>
        </p:nvSpPr>
        <p:spPr/>
        <p:txBody>
          <a:bodyPr/>
          <a:lstStyle/>
          <a:p>
            <a:fld id="{7AF016A1-9F15-429F-9EFD-84004B73C732}" type="slidenum">
              <a:rPr lang="en-US" altLang="zh-CN" smtClean="0"/>
              <a:pPr/>
              <a:t>100</a:t>
            </a:fld>
            <a:r>
              <a:rPr lang="en-US" altLang="zh-CN"/>
              <a:t>/158</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85720" y="1214422"/>
            <a:ext cx="1908550" cy="3112096"/>
            <a:chOff x="7092606" y="1459912"/>
            <a:chExt cx="1908550" cy="3112096"/>
          </a:xfrm>
        </p:grpSpPr>
        <p:sp>
          <p:nvSpPr>
            <p:cNvPr id="4" name="Text Box 23"/>
            <p:cNvSpPr txBox="1">
              <a:spLocks noChangeArrowheads="1"/>
            </p:cNvSpPr>
            <p:nvPr/>
          </p:nvSpPr>
          <p:spPr bwMode="auto">
            <a:xfrm>
              <a:off x="7512082" y="1841166"/>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 name="Text Box 22"/>
            <p:cNvSpPr txBox="1">
              <a:spLocks noChangeArrowheads="1"/>
            </p:cNvSpPr>
            <p:nvPr/>
          </p:nvSpPr>
          <p:spPr bwMode="auto">
            <a:xfrm>
              <a:off x="8523385" y="1882965"/>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6" name="Text Box 21"/>
            <p:cNvSpPr txBox="1">
              <a:spLocks noChangeArrowheads="1"/>
            </p:cNvSpPr>
            <p:nvPr/>
          </p:nvSpPr>
          <p:spPr bwMode="auto">
            <a:xfrm>
              <a:off x="7987318" y="2259152"/>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7" name="Text Box 20"/>
            <p:cNvSpPr txBox="1">
              <a:spLocks noChangeArrowheads="1"/>
            </p:cNvSpPr>
            <p:nvPr/>
          </p:nvSpPr>
          <p:spPr bwMode="auto">
            <a:xfrm>
              <a:off x="8089969" y="2931729"/>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0000FF"/>
                  </a:solidFill>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8" name="Text Box 19"/>
            <p:cNvSpPr txBox="1">
              <a:spLocks noChangeArrowheads="1"/>
            </p:cNvSpPr>
            <p:nvPr/>
          </p:nvSpPr>
          <p:spPr bwMode="auto">
            <a:xfrm>
              <a:off x="8838942" y="2939329"/>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9" name="Text Box 17"/>
            <p:cNvSpPr txBox="1">
              <a:spLocks noChangeArrowheads="1"/>
            </p:cNvSpPr>
            <p:nvPr/>
          </p:nvSpPr>
          <p:spPr bwMode="auto">
            <a:xfrm>
              <a:off x="7134427" y="2939329"/>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0" name="Text Box 16"/>
            <p:cNvSpPr txBox="1">
              <a:spLocks noChangeArrowheads="1"/>
            </p:cNvSpPr>
            <p:nvPr/>
          </p:nvSpPr>
          <p:spPr bwMode="auto">
            <a:xfrm>
              <a:off x="7429707" y="3915897"/>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1" name="Oval 15"/>
            <p:cNvSpPr>
              <a:spLocks noChangeArrowheads="1"/>
            </p:cNvSpPr>
            <p:nvPr/>
          </p:nvSpPr>
          <p:spPr bwMode="auto">
            <a:xfrm>
              <a:off x="7850450" y="1459912"/>
              <a:ext cx="395397" cy="430652"/>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0</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2" name="Oval 14"/>
            <p:cNvSpPr>
              <a:spLocks noChangeArrowheads="1"/>
            </p:cNvSpPr>
            <p:nvPr/>
          </p:nvSpPr>
          <p:spPr bwMode="auto">
            <a:xfrm>
              <a:off x="7092606" y="2347816"/>
              <a:ext cx="395397" cy="43065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3" name="Oval 13"/>
            <p:cNvSpPr>
              <a:spLocks noChangeArrowheads="1"/>
            </p:cNvSpPr>
            <p:nvPr/>
          </p:nvSpPr>
          <p:spPr bwMode="auto">
            <a:xfrm>
              <a:off x="8605759" y="2347816"/>
              <a:ext cx="395397" cy="43065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4" name="Oval 12"/>
            <p:cNvSpPr>
              <a:spLocks noChangeArrowheads="1"/>
            </p:cNvSpPr>
            <p:nvPr/>
          </p:nvSpPr>
          <p:spPr bwMode="auto">
            <a:xfrm>
              <a:off x="7092606" y="3367448"/>
              <a:ext cx="395397" cy="43191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5" name="Oval 11"/>
            <p:cNvSpPr>
              <a:spLocks noChangeArrowheads="1"/>
            </p:cNvSpPr>
            <p:nvPr/>
          </p:nvSpPr>
          <p:spPr bwMode="auto">
            <a:xfrm>
              <a:off x="8605759" y="3367448"/>
              <a:ext cx="395397" cy="43191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6" name="Oval 10"/>
            <p:cNvSpPr>
              <a:spLocks noChangeArrowheads="1"/>
            </p:cNvSpPr>
            <p:nvPr/>
          </p:nvSpPr>
          <p:spPr bwMode="auto">
            <a:xfrm>
              <a:off x="7850450" y="4141356"/>
              <a:ext cx="395397" cy="430652"/>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5</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8" name="AutoShape 9"/>
            <p:cNvSpPr>
              <a:spLocks noChangeShapeType="1"/>
            </p:cNvSpPr>
            <p:nvPr/>
          </p:nvSpPr>
          <p:spPr bwMode="auto">
            <a:xfrm flipH="1">
              <a:off x="7429707" y="1827233"/>
              <a:ext cx="479038" cy="583914"/>
            </a:xfrm>
            <a:prstGeom prst="straightConnector1">
              <a:avLst/>
            </a:prstGeom>
            <a:noFill/>
            <a:ln w="19050">
              <a:solidFill>
                <a:schemeClr val="tx1"/>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19" name="AutoShape 8"/>
            <p:cNvSpPr>
              <a:spLocks noChangeShapeType="1"/>
            </p:cNvSpPr>
            <p:nvPr/>
          </p:nvSpPr>
          <p:spPr bwMode="auto">
            <a:xfrm>
              <a:off x="8187551" y="1827233"/>
              <a:ext cx="476504" cy="583914"/>
            </a:xfrm>
            <a:prstGeom prst="straightConnector1">
              <a:avLst/>
            </a:prstGeom>
            <a:noFill/>
            <a:ln w="19050">
              <a:solidFill>
                <a:schemeClr val="tx1"/>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20" name="AutoShape 7"/>
            <p:cNvSpPr>
              <a:spLocks noChangeShapeType="1"/>
            </p:cNvSpPr>
            <p:nvPr/>
          </p:nvSpPr>
          <p:spPr bwMode="auto">
            <a:xfrm>
              <a:off x="7488003" y="2563142"/>
              <a:ext cx="1117756" cy="1267"/>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21" name="AutoShape 6"/>
            <p:cNvSpPr>
              <a:spLocks noChangeShapeType="1"/>
            </p:cNvSpPr>
            <p:nvPr/>
          </p:nvSpPr>
          <p:spPr bwMode="auto">
            <a:xfrm>
              <a:off x="7429707" y="2715137"/>
              <a:ext cx="1176052" cy="868904"/>
            </a:xfrm>
            <a:prstGeom prst="straightConnector1">
              <a:avLst/>
            </a:prstGeom>
            <a:noFill/>
            <a:ln w="19050">
              <a:solidFill>
                <a:schemeClr val="tx1"/>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22" name="AutoShape 5"/>
            <p:cNvSpPr>
              <a:spLocks noChangeShapeType="1"/>
            </p:cNvSpPr>
            <p:nvPr/>
          </p:nvSpPr>
          <p:spPr bwMode="auto">
            <a:xfrm>
              <a:off x="8803457" y="2778468"/>
              <a:ext cx="1267" cy="588980"/>
            </a:xfrm>
            <a:prstGeom prst="straightConnector1">
              <a:avLst/>
            </a:prstGeom>
            <a:noFill/>
            <a:ln w="19050">
              <a:solidFill>
                <a:schemeClr val="tx1"/>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23" name="AutoShape 4"/>
            <p:cNvSpPr>
              <a:spLocks noChangeShapeType="1"/>
            </p:cNvSpPr>
            <p:nvPr/>
          </p:nvSpPr>
          <p:spPr bwMode="auto">
            <a:xfrm>
              <a:off x="7290305" y="2778468"/>
              <a:ext cx="1267" cy="588980"/>
            </a:xfrm>
            <a:prstGeom prst="straightConnector1">
              <a:avLst/>
            </a:prstGeom>
            <a:noFill/>
            <a:ln w="19050">
              <a:solidFill>
                <a:schemeClr val="tx1"/>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24" name="AutoShape 3"/>
            <p:cNvSpPr>
              <a:spLocks noChangeShapeType="1"/>
            </p:cNvSpPr>
            <p:nvPr/>
          </p:nvSpPr>
          <p:spPr bwMode="auto">
            <a:xfrm>
              <a:off x="7429707" y="3736036"/>
              <a:ext cx="479038" cy="468651"/>
            </a:xfrm>
            <a:prstGeom prst="straightConnector1">
              <a:avLst/>
            </a:prstGeom>
            <a:noFill/>
            <a:ln w="19050">
              <a:solidFill>
                <a:schemeClr val="tx1"/>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cxnSp>
          <p:nvCxnSpPr>
            <p:cNvPr id="25" name="直接箭头连接符 24"/>
            <p:cNvCxnSpPr>
              <a:stCxn id="16" idx="7"/>
              <a:endCxn id="15" idx="3"/>
            </p:cNvCxnSpPr>
            <p:nvPr/>
          </p:nvCxnSpPr>
          <p:spPr>
            <a:xfrm rot="5400000" flipH="1" flipV="1">
              <a:off x="8191649" y="3732408"/>
              <a:ext cx="468309" cy="475722"/>
            </a:xfrm>
            <a:prstGeom prst="straightConnector1">
              <a:avLst/>
            </a:prstGeom>
            <a:ln w="19050">
              <a:solidFill>
                <a:srgbClr val="006600"/>
              </a:solidFill>
              <a:prstDash val="dash"/>
              <a:tailEnd type="arrow"/>
            </a:ln>
          </p:spPr>
          <p:style>
            <a:lnRef idx="2">
              <a:schemeClr val="dk1"/>
            </a:lnRef>
            <a:fillRef idx="0">
              <a:schemeClr val="dk1"/>
            </a:fillRef>
            <a:effectRef idx="1">
              <a:schemeClr val="dk1"/>
            </a:effectRef>
            <a:fontRef idx="minor">
              <a:schemeClr val="tx1"/>
            </a:fontRef>
          </p:style>
        </p:cxnSp>
        <p:sp>
          <p:nvSpPr>
            <p:cNvPr id="26" name="Text Box 18"/>
            <p:cNvSpPr txBox="1">
              <a:spLocks noChangeArrowheads="1"/>
            </p:cNvSpPr>
            <p:nvPr/>
          </p:nvSpPr>
          <p:spPr bwMode="auto">
            <a:xfrm>
              <a:off x="8458140" y="3951644"/>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6600"/>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6600"/>
                </a:solidFill>
                <a:effectLst/>
                <a:latin typeface="Consolas" pitchFamily="49" charset="0"/>
                <a:ea typeface="宋体" pitchFamily="2" charset="-122"/>
                <a:cs typeface="宋体" pitchFamily="2" charset="-122"/>
              </a:endParaRPr>
            </a:p>
          </p:txBody>
        </p:sp>
        <p:sp>
          <p:nvSpPr>
            <p:cNvPr id="27" name="任意多边形 26"/>
            <p:cNvSpPr/>
            <p:nvPr/>
          </p:nvSpPr>
          <p:spPr>
            <a:xfrm>
              <a:off x="7382933" y="2777067"/>
              <a:ext cx="1241778" cy="886177"/>
            </a:xfrm>
            <a:custGeom>
              <a:avLst/>
              <a:gdLst>
                <a:gd name="connsiteX0" fmla="*/ 1241778 w 1241778"/>
                <a:gd name="connsiteY0" fmla="*/ 846666 h 886177"/>
                <a:gd name="connsiteX1" fmla="*/ 925689 w 1241778"/>
                <a:gd name="connsiteY1" fmla="*/ 857955 h 886177"/>
                <a:gd name="connsiteX2" fmla="*/ 462845 w 1241778"/>
                <a:gd name="connsiteY2" fmla="*/ 677333 h 886177"/>
                <a:gd name="connsiteX3" fmla="*/ 0 w 1241778"/>
                <a:gd name="connsiteY3" fmla="*/ 0 h 886177"/>
              </a:gdLst>
              <a:ahLst/>
              <a:cxnLst>
                <a:cxn ang="0">
                  <a:pos x="connsiteX0" y="connsiteY0"/>
                </a:cxn>
                <a:cxn ang="0">
                  <a:pos x="connsiteX1" y="connsiteY1"/>
                </a:cxn>
                <a:cxn ang="0">
                  <a:pos x="connsiteX2" y="connsiteY2"/>
                </a:cxn>
                <a:cxn ang="0">
                  <a:pos x="connsiteX3" y="connsiteY3"/>
                </a:cxn>
              </a:cxnLst>
              <a:rect l="l" t="t" r="r" b="b"/>
              <a:pathLst>
                <a:path w="1241778" h="886177">
                  <a:moveTo>
                    <a:pt x="1241778" y="846666"/>
                  </a:moveTo>
                  <a:cubicBezTo>
                    <a:pt x="1148644" y="866421"/>
                    <a:pt x="1055511" y="886177"/>
                    <a:pt x="925689" y="857955"/>
                  </a:cubicBezTo>
                  <a:cubicBezTo>
                    <a:pt x="795867" y="829733"/>
                    <a:pt x="617127" y="820326"/>
                    <a:pt x="462845" y="677333"/>
                  </a:cubicBezTo>
                  <a:cubicBezTo>
                    <a:pt x="308564" y="534341"/>
                    <a:pt x="154282" y="267170"/>
                    <a:pt x="0" y="0"/>
                  </a:cubicBezTo>
                </a:path>
              </a:pathLst>
            </a:custGeom>
            <a:ln w="19050">
              <a:solidFill>
                <a:srgbClr val="006600"/>
              </a:solidFill>
              <a:prstDash val="dash"/>
              <a:tailEnd type="arrow"/>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28" name="任意多边形 27"/>
            <p:cNvSpPr/>
            <p:nvPr/>
          </p:nvSpPr>
          <p:spPr>
            <a:xfrm>
              <a:off x="7266281" y="1524000"/>
              <a:ext cx="624652" cy="835378"/>
            </a:xfrm>
            <a:custGeom>
              <a:avLst/>
              <a:gdLst>
                <a:gd name="connsiteX0" fmla="*/ 37630 w 624652"/>
                <a:gd name="connsiteY0" fmla="*/ 835378 h 835378"/>
                <a:gd name="connsiteX1" fmla="*/ 15052 w 624652"/>
                <a:gd name="connsiteY1" fmla="*/ 620889 h 835378"/>
                <a:gd name="connsiteX2" fmla="*/ 127941 w 624652"/>
                <a:gd name="connsiteY2" fmla="*/ 327378 h 835378"/>
                <a:gd name="connsiteX3" fmla="*/ 387586 w 624652"/>
                <a:gd name="connsiteY3" fmla="*/ 45156 h 835378"/>
                <a:gd name="connsiteX4" fmla="*/ 624652 w 624652"/>
                <a:gd name="connsiteY4" fmla="*/ 56444 h 8353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4652" h="835378">
                  <a:moveTo>
                    <a:pt x="37630" y="835378"/>
                  </a:moveTo>
                  <a:cubicBezTo>
                    <a:pt x="18815" y="770467"/>
                    <a:pt x="0" y="705556"/>
                    <a:pt x="15052" y="620889"/>
                  </a:cubicBezTo>
                  <a:cubicBezTo>
                    <a:pt x="30104" y="536222"/>
                    <a:pt x="65852" y="423333"/>
                    <a:pt x="127941" y="327378"/>
                  </a:cubicBezTo>
                  <a:cubicBezTo>
                    <a:pt x="190030" y="231423"/>
                    <a:pt x="304801" y="90312"/>
                    <a:pt x="387586" y="45156"/>
                  </a:cubicBezTo>
                  <a:cubicBezTo>
                    <a:pt x="470371" y="0"/>
                    <a:pt x="547511" y="28222"/>
                    <a:pt x="624652" y="56444"/>
                  </a:cubicBezTo>
                </a:path>
              </a:pathLst>
            </a:custGeom>
            <a:ln w="19050">
              <a:solidFill>
                <a:srgbClr val="006600"/>
              </a:solidFill>
              <a:prstDash val="dash"/>
              <a:tailEnd type="arrow"/>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29" name="Text Box 18"/>
            <p:cNvSpPr txBox="1">
              <a:spLocks noChangeArrowheads="1"/>
            </p:cNvSpPr>
            <p:nvPr/>
          </p:nvSpPr>
          <p:spPr bwMode="auto">
            <a:xfrm>
              <a:off x="7858148" y="3214686"/>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6600"/>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6600"/>
                </a:solidFill>
                <a:effectLst/>
                <a:latin typeface="Consolas" pitchFamily="49" charset="0"/>
                <a:ea typeface="宋体" pitchFamily="2" charset="-122"/>
                <a:cs typeface="宋体" pitchFamily="2" charset="-122"/>
              </a:endParaRPr>
            </a:p>
          </p:txBody>
        </p:sp>
        <p:sp>
          <p:nvSpPr>
            <p:cNvPr id="30" name="Text Box 18"/>
            <p:cNvSpPr txBox="1">
              <a:spLocks noChangeArrowheads="1"/>
            </p:cNvSpPr>
            <p:nvPr/>
          </p:nvSpPr>
          <p:spPr bwMode="auto">
            <a:xfrm>
              <a:off x="7215206" y="1571612"/>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6600"/>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6600"/>
                </a:solidFill>
                <a:effectLst/>
                <a:latin typeface="Consolas" pitchFamily="49" charset="0"/>
                <a:ea typeface="宋体" pitchFamily="2" charset="-122"/>
                <a:cs typeface="宋体" pitchFamily="2" charset="-122"/>
              </a:endParaRPr>
            </a:p>
          </p:txBody>
        </p:sp>
      </p:grpSp>
      <p:grpSp>
        <p:nvGrpSpPr>
          <p:cNvPr id="31" name="组合 77"/>
          <p:cNvGrpSpPr/>
          <p:nvPr/>
        </p:nvGrpSpPr>
        <p:grpSpPr>
          <a:xfrm>
            <a:off x="2214546" y="2428868"/>
            <a:ext cx="1500198" cy="714380"/>
            <a:chOff x="2234822" y="2317168"/>
            <a:chExt cx="1500198" cy="714380"/>
          </a:xfrm>
        </p:grpSpPr>
        <p:sp>
          <p:nvSpPr>
            <p:cNvPr id="32" name="TextBox 31"/>
            <p:cNvSpPr txBox="1"/>
            <p:nvPr/>
          </p:nvSpPr>
          <p:spPr>
            <a:xfrm>
              <a:off x="2234822" y="2317168"/>
              <a:ext cx="1500198" cy="400110"/>
            </a:xfrm>
            <a:prstGeom prst="rect">
              <a:avLst/>
            </a:prstGeom>
            <a:noFill/>
          </p:spPr>
          <p:txBody>
            <a:bodyPr wrap="square" rtlCol="0">
              <a:spAutoFit/>
            </a:bodyPr>
            <a:lstStyle/>
            <a:p>
              <a:pPr algn="l">
                <a:lnSpc>
                  <a:spcPct val="100000"/>
                </a:lnSpc>
                <a:spcBef>
                  <a:spcPts val="0"/>
                </a:spcBef>
              </a:pPr>
              <a:r>
                <a:rPr lang="zh-CN" altLang="en-US" sz="2000">
                  <a:solidFill>
                    <a:srgbClr val="0000FF"/>
                  </a:solidFill>
                  <a:latin typeface="Consolas" pitchFamily="49" charset="0"/>
                  <a:ea typeface="仿宋" pitchFamily="49" charset="-122"/>
                </a:rPr>
                <a:t>找</a:t>
              </a:r>
              <a:r>
                <a:rPr lang="zh-CN" altLang="zh-CN" sz="2000">
                  <a:solidFill>
                    <a:srgbClr val="0000FF"/>
                  </a:solidFill>
                  <a:latin typeface="Consolas" pitchFamily="49" charset="0"/>
                  <a:ea typeface="仿宋" pitchFamily="49" charset="-122"/>
                </a:rPr>
                <a:t>增广路径</a:t>
              </a:r>
              <a:endParaRPr lang="zh-CN" altLang="en-US" sz="2000">
                <a:solidFill>
                  <a:srgbClr val="0000FF"/>
                </a:solidFill>
                <a:latin typeface="Consolas" pitchFamily="49" charset="0"/>
                <a:ea typeface="仿宋" pitchFamily="49" charset="-122"/>
                <a:cs typeface="Consolas" pitchFamily="49" charset="0"/>
              </a:endParaRPr>
            </a:p>
          </p:txBody>
        </p:sp>
        <p:sp>
          <p:nvSpPr>
            <p:cNvPr id="33" name="右箭头 32"/>
            <p:cNvSpPr/>
            <p:nvPr/>
          </p:nvSpPr>
          <p:spPr>
            <a:xfrm>
              <a:off x="2449136" y="2745796"/>
              <a:ext cx="1099431" cy="285752"/>
            </a:xfrm>
            <a:prstGeom prst="right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grpSp>
      <p:grpSp>
        <p:nvGrpSpPr>
          <p:cNvPr id="34" name="组合 33"/>
          <p:cNvGrpSpPr/>
          <p:nvPr/>
        </p:nvGrpSpPr>
        <p:grpSpPr>
          <a:xfrm>
            <a:off x="3786182" y="1174160"/>
            <a:ext cx="1908550" cy="3112096"/>
            <a:chOff x="7092606" y="1459912"/>
            <a:chExt cx="1908550" cy="3112096"/>
          </a:xfrm>
        </p:grpSpPr>
        <p:sp>
          <p:nvSpPr>
            <p:cNvPr id="35" name="Text Box 23"/>
            <p:cNvSpPr txBox="1">
              <a:spLocks noChangeArrowheads="1"/>
            </p:cNvSpPr>
            <p:nvPr/>
          </p:nvSpPr>
          <p:spPr bwMode="auto">
            <a:xfrm>
              <a:off x="7512082" y="1841166"/>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6" name="Text Box 22"/>
            <p:cNvSpPr txBox="1">
              <a:spLocks noChangeArrowheads="1"/>
            </p:cNvSpPr>
            <p:nvPr/>
          </p:nvSpPr>
          <p:spPr bwMode="auto">
            <a:xfrm>
              <a:off x="8523385" y="1882965"/>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7" name="Text Box 21"/>
            <p:cNvSpPr txBox="1">
              <a:spLocks noChangeArrowheads="1"/>
            </p:cNvSpPr>
            <p:nvPr/>
          </p:nvSpPr>
          <p:spPr bwMode="auto">
            <a:xfrm>
              <a:off x="7987318" y="2259152"/>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8" name="Text Box 20"/>
            <p:cNvSpPr txBox="1">
              <a:spLocks noChangeArrowheads="1"/>
            </p:cNvSpPr>
            <p:nvPr/>
          </p:nvSpPr>
          <p:spPr bwMode="auto">
            <a:xfrm>
              <a:off x="8089969" y="2931729"/>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0000FF"/>
                  </a:solidFill>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9" name="Text Box 19"/>
            <p:cNvSpPr txBox="1">
              <a:spLocks noChangeArrowheads="1"/>
            </p:cNvSpPr>
            <p:nvPr/>
          </p:nvSpPr>
          <p:spPr bwMode="auto">
            <a:xfrm>
              <a:off x="8838942" y="2939329"/>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40" name="Text Box 17"/>
            <p:cNvSpPr txBox="1">
              <a:spLocks noChangeArrowheads="1"/>
            </p:cNvSpPr>
            <p:nvPr/>
          </p:nvSpPr>
          <p:spPr bwMode="auto">
            <a:xfrm>
              <a:off x="7134427" y="2939329"/>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41" name="Text Box 16"/>
            <p:cNvSpPr txBox="1">
              <a:spLocks noChangeArrowheads="1"/>
            </p:cNvSpPr>
            <p:nvPr/>
          </p:nvSpPr>
          <p:spPr bwMode="auto">
            <a:xfrm>
              <a:off x="7508730" y="3915897"/>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42" name="Oval 15"/>
            <p:cNvSpPr>
              <a:spLocks noChangeArrowheads="1"/>
            </p:cNvSpPr>
            <p:nvPr/>
          </p:nvSpPr>
          <p:spPr bwMode="auto">
            <a:xfrm>
              <a:off x="7850450" y="1459912"/>
              <a:ext cx="395397" cy="430652"/>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0</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43" name="Oval 14"/>
            <p:cNvSpPr>
              <a:spLocks noChangeArrowheads="1"/>
            </p:cNvSpPr>
            <p:nvPr/>
          </p:nvSpPr>
          <p:spPr bwMode="auto">
            <a:xfrm>
              <a:off x="7092606" y="2347816"/>
              <a:ext cx="395397" cy="43065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44" name="Oval 13"/>
            <p:cNvSpPr>
              <a:spLocks noChangeArrowheads="1"/>
            </p:cNvSpPr>
            <p:nvPr/>
          </p:nvSpPr>
          <p:spPr bwMode="auto">
            <a:xfrm>
              <a:off x="8605759" y="2347816"/>
              <a:ext cx="395397" cy="43065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45" name="Oval 12"/>
            <p:cNvSpPr>
              <a:spLocks noChangeArrowheads="1"/>
            </p:cNvSpPr>
            <p:nvPr/>
          </p:nvSpPr>
          <p:spPr bwMode="auto">
            <a:xfrm>
              <a:off x="7092606" y="3367448"/>
              <a:ext cx="395397" cy="43191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46" name="Oval 11"/>
            <p:cNvSpPr>
              <a:spLocks noChangeArrowheads="1"/>
            </p:cNvSpPr>
            <p:nvPr/>
          </p:nvSpPr>
          <p:spPr bwMode="auto">
            <a:xfrm>
              <a:off x="8605759" y="3367448"/>
              <a:ext cx="395397" cy="43191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47" name="Oval 10"/>
            <p:cNvSpPr>
              <a:spLocks noChangeArrowheads="1"/>
            </p:cNvSpPr>
            <p:nvPr/>
          </p:nvSpPr>
          <p:spPr bwMode="auto">
            <a:xfrm>
              <a:off x="7850450" y="4141356"/>
              <a:ext cx="395397" cy="430652"/>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5</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48" name="AutoShape 9"/>
            <p:cNvSpPr>
              <a:spLocks noChangeShapeType="1"/>
            </p:cNvSpPr>
            <p:nvPr/>
          </p:nvSpPr>
          <p:spPr bwMode="auto">
            <a:xfrm flipH="1">
              <a:off x="7429707" y="1827233"/>
              <a:ext cx="479038" cy="583914"/>
            </a:xfrm>
            <a:prstGeom prst="straightConnector1">
              <a:avLst/>
            </a:prstGeom>
            <a:noFill/>
            <a:ln w="19050">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49" name="AutoShape 8"/>
            <p:cNvSpPr>
              <a:spLocks noChangeShapeType="1"/>
            </p:cNvSpPr>
            <p:nvPr/>
          </p:nvSpPr>
          <p:spPr bwMode="auto">
            <a:xfrm>
              <a:off x="8187551" y="1827233"/>
              <a:ext cx="476504" cy="583914"/>
            </a:xfrm>
            <a:prstGeom prst="straightConnector1">
              <a:avLst/>
            </a:prstGeom>
            <a:noFill/>
            <a:ln w="19050">
              <a:solidFill>
                <a:schemeClr val="tx1"/>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50" name="AutoShape 7"/>
            <p:cNvSpPr>
              <a:spLocks noChangeShapeType="1"/>
            </p:cNvSpPr>
            <p:nvPr/>
          </p:nvSpPr>
          <p:spPr bwMode="auto">
            <a:xfrm>
              <a:off x="7488003" y="2563142"/>
              <a:ext cx="1117756" cy="1267"/>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51" name="AutoShape 6"/>
            <p:cNvSpPr>
              <a:spLocks noChangeShapeType="1"/>
            </p:cNvSpPr>
            <p:nvPr/>
          </p:nvSpPr>
          <p:spPr bwMode="auto">
            <a:xfrm>
              <a:off x="7429707" y="2715137"/>
              <a:ext cx="1176052" cy="868904"/>
            </a:xfrm>
            <a:prstGeom prst="straightConnector1">
              <a:avLst/>
            </a:prstGeom>
            <a:noFill/>
            <a:ln w="19050">
              <a:solidFill>
                <a:schemeClr val="tx1"/>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52" name="AutoShape 5"/>
            <p:cNvSpPr>
              <a:spLocks noChangeShapeType="1"/>
            </p:cNvSpPr>
            <p:nvPr/>
          </p:nvSpPr>
          <p:spPr bwMode="auto">
            <a:xfrm>
              <a:off x="8803457" y="2778468"/>
              <a:ext cx="1267" cy="588980"/>
            </a:xfrm>
            <a:prstGeom prst="straightConnector1">
              <a:avLst/>
            </a:prstGeom>
            <a:noFill/>
            <a:ln w="19050">
              <a:solidFill>
                <a:schemeClr val="tx1"/>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53" name="AutoShape 4"/>
            <p:cNvSpPr>
              <a:spLocks noChangeShapeType="1"/>
            </p:cNvSpPr>
            <p:nvPr/>
          </p:nvSpPr>
          <p:spPr bwMode="auto">
            <a:xfrm>
              <a:off x="7290305" y="2778468"/>
              <a:ext cx="1267" cy="588980"/>
            </a:xfrm>
            <a:prstGeom prst="straightConnector1">
              <a:avLst/>
            </a:prstGeom>
            <a:noFill/>
            <a:ln w="19050">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54" name="AutoShape 3"/>
            <p:cNvSpPr>
              <a:spLocks noChangeShapeType="1"/>
            </p:cNvSpPr>
            <p:nvPr/>
          </p:nvSpPr>
          <p:spPr bwMode="auto">
            <a:xfrm>
              <a:off x="7429707" y="3736036"/>
              <a:ext cx="479038" cy="468651"/>
            </a:xfrm>
            <a:prstGeom prst="straightConnector1">
              <a:avLst/>
            </a:prstGeom>
            <a:noFill/>
            <a:ln w="19050">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cxnSp>
          <p:nvCxnSpPr>
            <p:cNvPr id="55" name="直接箭头连接符 54"/>
            <p:cNvCxnSpPr>
              <a:stCxn id="47" idx="7"/>
              <a:endCxn id="46" idx="3"/>
            </p:cNvCxnSpPr>
            <p:nvPr/>
          </p:nvCxnSpPr>
          <p:spPr>
            <a:xfrm rot="5400000" flipH="1" flipV="1">
              <a:off x="8191649" y="3732408"/>
              <a:ext cx="468309" cy="475722"/>
            </a:xfrm>
            <a:prstGeom prst="straightConnector1">
              <a:avLst/>
            </a:prstGeom>
            <a:ln w="19050">
              <a:solidFill>
                <a:srgbClr val="006600"/>
              </a:solidFill>
              <a:prstDash val="dash"/>
              <a:tailEnd type="arrow"/>
            </a:ln>
          </p:spPr>
          <p:style>
            <a:lnRef idx="2">
              <a:schemeClr val="dk1"/>
            </a:lnRef>
            <a:fillRef idx="0">
              <a:schemeClr val="dk1"/>
            </a:fillRef>
            <a:effectRef idx="1">
              <a:schemeClr val="dk1"/>
            </a:effectRef>
            <a:fontRef idx="minor">
              <a:schemeClr val="tx1"/>
            </a:fontRef>
          </p:style>
        </p:cxnSp>
        <p:sp>
          <p:nvSpPr>
            <p:cNvPr id="56" name="Text Box 18"/>
            <p:cNvSpPr txBox="1">
              <a:spLocks noChangeArrowheads="1"/>
            </p:cNvSpPr>
            <p:nvPr/>
          </p:nvSpPr>
          <p:spPr bwMode="auto">
            <a:xfrm>
              <a:off x="8458140" y="3951644"/>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6600"/>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6600"/>
                </a:solidFill>
                <a:effectLst/>
                <a:latin typeface="Consolas" pitchFamily="49" charset="0"/>
                <a:ea typeface="宋体" pitchFamily="2" charset="-122"/>
                <a:cs typeface="宋体" pitchFamily="2" charset="-122"/>
              </a:endParaRPr>
            </a:p>
          </p:txBody>
        </p:sp>
        <p:sp>
          <p:nvSpPr>
            <p:cNvPr id="57" name="任意多边形 56"/>
            <p:cNvSpPr/>
            <p:nvPr/>
          </p:nvSpPr>
          <p:spPr>
            <a:xfrm>
              <a:off x="7382933" y="2777067"/>
              <a:ext cx="1241778" cy="886177"/>
            </a:xfrm>
            <a:custGeom>
              <a:avLst/>
              <a:gdLst>
                <a:gd name="connsiteX0" fmla="*/ 1241778 w 1241778"/>
                <a:gd name="connsiteY0" fmla="*/ 846666 h 886177"/>
                <a:gd name="connsiteX1" fmla="*/ 925689 w 1241778"/>
                <a:gd name="connsiteY1" fmla="*/ 857955 h 886177"/>
                <a:gd name="connsiteX2" fmla="*/ 462845 w 1241778"/>
                <a:gd name="connsiteY2" fmla="*/ 677333 h 886177"/>
                <a:gd name="connsiteX3" fmla="*/ 0 w 1241778"/>
                <a:gd name="connsiteY3" fmla="*/ 0 h 886177"/>
              </a:gdLst>
              <a:ahLst/>
              <a:cxnLst>
                <a:cxn ang="0">
                  <a:pos x="connsiteX0" y="connsiteY0"/>
                </a:cxn>
                <a:cxn ang="0">
                  <a:pos x="connsiteX1" y="connsiteY1"/>
                </a:cxn>
                <a:cxn ang="0">
                  <a:pos x="connsiteX2" y="connsiteY2"/>
                </a:cxn>
                <a:cxn ang="0">
                  <a:pos x="connsiteX3" y="connsiteY3"/>
                </a:cxn>
              </a:cxnLst>
              <a:rect l="l" t="t" r="r" b="b"/>
              <a:pathLst>
                <a:path w="1241778" h="886177">
                  <a:moveTo>
                    <a:pt x="1241778" y="846666"/>
                  </a:moveTo>
                  <a:cubicBezTo>
                    <a:pt x="1148644" y="866421"/>
                    <a:pt x="1055511" y="886177"/>
                    <a:pt x="925689" y="857955"/>
                  </a:cubicBezTo>
                  <a:cubicBezTo>
                    <a:pt x="795867" y="829733"/>
                    <a:pt x="617127" y="820326"/>
                    <a:pt x="462845" y="677333"/>
                  </a:cubicBezTo>
                  <a:cubicBezTo>
                    <a:pt x="308564" y="534341"/>
                    <a:pt x="154282" y="267170"/>
                    <a:pt x="0" y="0"/>
                  </a:cubicBezTo>
                </a:path>
              </a:pathLst>
            </a:custGeom>
            <a:ln w="19050">
              <a:solidFill>
                <a:srgbClr val="006600"/>
              </a:solidFill>
              <a:prstDash val="dash"/>
              <a:tailEnd type="arrow"/>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58" name="任意多边形 57"/>
            <p:cNvSpPr/>
            <p:nvPr/>
          </p:nvSpPr>
          <p:spPr>
            <a:xfrm>
              <a:off x="7266281" y="1524000"/>
              <a:ext cx="624652" cy="835378"/>
            </a:xfrm>
            <a:custGeom>
              <a:avLst/>
              <a:gdLst>
                <a:gd name="connsiteX0" fmla="*/ 37630 w 624652"/>
                <a:gd name="connsiteY0" fmla="*/ 835378 h 835378"/>
                <a:gd name="connsiteX1" fmla="*/ 15052 w 624652"/>
                <a:gd name="connsiteY1" fmla="*/ 620889 h 835378"/>
                <a:gd name="connsiteX2" fmla="*/ 127941 w 624652"/>
                <a:gd name="connsiteY2" fmla="*/ 327378 h 835378"/>
                <a:gd name="connsiteX3" fmla="*/ 387586 w 624652"/>
                <a:gd name="connsiteY3" fmla="*/ 45156 h 835378"/>
                <a:gd name="connsiteX4" fmla="*/ 624652 w 624652"/>
                <a:gd name="connsiteY4" fmla="*/ 56444 h 8353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4652" h="835378">
                  <a:moveTo>
                    <a:pt x="37630" y="835378"/>
                  </a:moveTo>
                  <a:cubicBezTo>
                    <a:pt x="18815" y="770467"/>
                    <a:pt x="0" y="705556"/>
                    <a:pt x="15052" y="620889"/>
                  </a:cubicBezTo>
                  <a:cubicBezTo>
                    <a:pt x="30104" y="536222"/>
                    <a:pt x="65852" y="423333"/>
                    <a:pt x="127941" y="327378"/>
                  </a:cubicBezTo>
                  <a:cubicBezTo>
                    <a:pt x="190030" y="231423"/>
                    <a:pt x="304801" y="90312"/>
                    <a:pt x="387586" y="45156"/>
                  </a:cubicBezTo>
                  <a:cubicBezTo>
                    <a:pt x="470371" y="0"/>
                    <a:pt x="547511" y="28222"/>
                    <a:pt x="624652" y="56444"/>
                  </a:cubicBezTo>
                </a:path>
              </a:pathLst>
            </a:custGeom>
            <a:ln w="19050">
              <a:solidFill>
                <a:srgbClr val="006600"/>
              </a:solidFill>
              <a:prstDash val="dash"/>
              <a:tailEnd type="arrow"/>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59" name="Text Box 18"/>
            <p:cNvSpPr txBox="1">
              <a:spLocks noChangeArrowheads="1"/>
            </p:cNvSpPr>
            <p:nvPr/>
          </p:nvSpPr>
          <p:spPr bwMode="auto">
            <a:xfrm>
              <a:off x="7858148" y="3214686"/>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6600"/>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6600"/>
                </a:solidFill>
                <a:effectLst/>
                <a:latin typeface="Consolas" pitchFamily="49" charset="0"/>
                <a:ea typeface="宋体" pitchFamily="2" charset="-122"/>
                <a:cs typeface="宋体" pitchFamily="2" charset="-122"/>
              </a:endParaRPr>
            </a:p>
          </p:txBody>
        </p:sp>
        <p:sp>
          <p:nvSpPr>
            <p:cNvPr id="60" name="Text Box 18"/>
            <p:cNvSpPr txBox="1">
              <a:spLocks noChangeArrowheads="1"/>
            </p:cNvSpPr>
            <p:nvPr/>
          </p:nvSpPr>
          <p:spPr bwMode="auto">
            <a:xfrm>
              <a:off x="7215206" y="1571612"/>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6600"/>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6600"/>
                </a:solidFill>
                <a:effectLst/>
                <a:latin typeface="Consolas" pitchFamily="49" charset="0"/>
                <a:ea typeface="宋体" pitchFamily="2" charset="-122"/>
                <a:cs typeface="宋体" pitchFamily="2" charset="-122"/>
              </a:endParaRPr>
            </a:p>
          </p:txBody>
        </p:sp>
      </p:grpSp>
      <p:grpSp>
        <p:nvGrpSpPr>
          <p:cNvPr id="61" name="组合 60"/>
          <p:cNvGrpSpPr/>
          <p:nvPr/>
        </p:nvGrpSpPr>
        <p:grpSpPr>
          <a:xfrm>
            <a:off x="5786446" y="2428868"/>
            <a:ext cx="847732" cy="685862"/>
            <a:chOff x="2509822" y="5100592"/>
            <a:chExt cx="847732" cy="685862"/>
          </a:xfrm>
        </p:grpSpPr>
        <p:sp>
          <p:nvSpPr>
            <p:cNvPr id="62" name="TextBox 61"/>
            <p:cNvSpPr txBox="1"/>
            <p:nvPr/>
          </p:nvSpPr>
          <p:spPr>
            <a:xfrm>
              <a:off x="2509822" y="5100592"/>
              <a:ext cx="847732" cy="400110"/>
            </a:xfrm>
            <a:prstGeom prst="rect">
              <a:avLst/>
            </a:prstGeom>
            <a:noFill/>
          </p:spPr>
          <p:txBody>
            <a:bodyPr wrap="square" rtlCol="0">
              <a:spAutoFit/>
            </a:bodyPr>
            <a:lstStyle/>
            <a:p>
              <a:pPr algn="l">
                <a:lnSpc>
                  <a:spcPct val="100000"/>
                </a:lnSpc>
                <a:spcBef>
                  <a:spcPts val="0"/>
                </a:spcBef>
              </a:pPr>
              <a:r>
                <a:rPr lang="zh-CN" altLang="zh-CN" sz="2000">
                  <a:solidFill>
                    <a:srgbClr val="0000FF"/>
                  </a:solidFill>
                  <a:latin typeface="Consolas" pitchFamily="49" charset="0"/>
                  <a:ea typeface="仿宋" pitchFamily="49" charset="-122"/>
                </a:rPr>
                <a:t>增广</a:t>
              </a:r>
              <a:endParaRPr lang="zh-CN" altLang="en-US" sz="2000">
                <a:solidFill>
                  <a:srgbClr val="0000FF"/>
                </a:solidFill>
                <a:latin typeface="Consolas" pitchFamily="49" charset="0"/>
                <a:ea typeface="仿宋" pitchFamily="49" charset="-122"/>
                <a:cs typeface="Consolas" pitchFamily="49" charset="0"/>
              </a:endParaRPr>
            </a:p>
          </p:txBody>
        </p:sp>
        <p:sp>
          <p:nvSpPr>
            <p:cNvPr id="63" name="右箭头 62"/>
            <p:cNvSpPr/>
            <p:nvPr/>
          </p:nvSpPr>
          <p:spPr>
            <a:xfrm>
              <a:off x="2581260" y="5500702"/>
              <a:ext cx="633418" cy="285752"/>
            </a:xfrm>
            <a:prstGeom prst="right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grpSp>
      <p:sp>
        <p:nvSpPr>
          <p:cNvPr id="91" name="TextBox 90"/>
          <p:cNvSpPr txBox="1"/>
          <p:nvPr/>
        </p:nvSpPr>
        <p:spPr>
          <a:xfrm>
            <a:off x="428596" y="428604"/>
            <a:ext cx="1714512" cy="430887"/>
          </a:xfrm>
          <a:prstGeom prst="rect">
            <a:avLst/>
          </a:prstGeom>
          <a:noFill/>
        </p:spPr>
        <p:txBody>
          <a:bodyPr wrap="square" rtlCol="0">
            <a:spAutoFit/>
          </a:bodyPr>
          <a:lstStyle/>
          <a:p>
            <a:pPr algn="l">
              <a:lnSpc>
                <a:spcPct val="100000"/>
              </a:lnSpc>
              <a:spcBef>
                <a:spcPts val="0"/>
              </a:spcBef>
            </a:pPr>
            <a:r>
              <a:rPr lang="zh-CN" altLang="zh-CN" sz="2200">
                <a:solidFill>
                  <a:srgbClr val="0000FF"/>
                </a:solidFill>
                <a:latin typeface="楷体" pitchFamily="49" charset="-122"/>
                <a:ea typeface="楷体" pitchFamily="49" charset="-122"/>
              </a:rPr>
              <a:t>第</a:t>
            </a:r>
            <a:r>
              <a:rPr lang="zh-CN" altLang="en-US" sz="2200">
                <a:solidFill>
                  <a:srgbClr val="0000FF"/>
                </a:solidFill>
                <a:latin typeface="楷体" pitchFamily="49" charset="-122"/>
                <a:ea typeface="楷体" pitchFamily="49" charset="-122"/>
              </a:rPr>
              <a:t>二</a:t>
            </a:r>
            <a:r>
              <a:rPr lang="zh-CN" altLang="zh-CN" sz="2200">
                <a:solidFill>
                  <a:srgbClr val="0000FF"/>
                </a:solidFill>
                <a:latin typeface="楷体" pitchFamily="49" charset="-122"/>
                <a:ea typeface="楷体" pitchFamily="49" charset="-122"/>
              </a:rPr>
              <a:t>轮循环</a:t>
            </a:r>
            <a:endParaRPr lang="zh-CN" altLang="en-US" sz="2200">
              <a:solidFill>
                <a:srgbClr val="0000FF"/>
              </a:solidFill>
              <a:latin typeface="楷体" pitchFamily="49" charset="-122"/>
              <a:ea typeface="楷体" pitchFamily="49" charset="-122"/>
              <a:cs typeface="Consolas" pitchFamily="49" charset="0"/>
            </a:endParaRPr>
          </a:p>
        </p:txBody>
      </p:sp>
      <p:grpSp>
        <p:nvGrpSpPr>
          <p:cNvPr id="96" name="组合 95"/>
          <p:cNvGrpSpPr/>
          <p:nvPr/>
        </p:nvGrpSpPr>
        <p:grpSpPr>
          <a:xfrm>
            <a:off x="6700147" y="1174160"/>
            <a:ext cx="2229571" cy="3112096"/>
            <a:chOff x="6700147" y="1174160"/>
            <a:chExt cx="2229571" cy="3112096"/>
          </a:xfrm>
        </p:grpSpPr>
        <p:sp>
          <p:nvSpPr>
            <p:cNvPr id="66" name="Text Box 22"/>
            <p:cNvSpPr txBox="1">
              <a:spLocks noChangeArrowheads="1"/>
            </p:cNvSpPr>
            <p:nvPr/>
          </p:nvSpPr>
          <p:spPr bwMode="auto">
            <a:xfrm>
              <a:off x="8451947" y="1597213"/>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67" name="Text Box 21"/>
            <p:cNvSpPr txBox="1">
              <a:spLocks noChangeArrowheads="1"/>
            </p:cNvSpPr>
            <p:nvPr/>
          </p:nvSpPr>
          <p:spPr bwMode="auto">
            <a:xfrm>
              <a:off x="7915880" y="1973400"/>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68" name="Text Box 20"/>
            <p:cNvSpPr txBox="1">
              <a:spLocks noChangeArrowheads="1"/>
            </p:cNvSpPr>
            <p:nvPr/>
          </p:nvSpPr>
          <p:spPr bwMode="auto">
            <a:xfrm>
              <a:off x="8018531" y="2645977"/>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0000FF"/>
                  </a:solidFill>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69" name="Text Box 19"/>
            <p:cNvSpPr txBox="1">
              <a:spLocks noChangeArrowheads="1"/>
            </p:cNvSpPr>
            <p:nvPr/>
          </p:nvSpPr>
          <p:spPr bwMode="auto">
            <a:xfrm>
              <a:off x="8767504" y="2653577"/>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70" name="Text Box 17"/>
            <p:cNvSpPr txBox="1">
              <a:spLocks noChangeArrowheads="1"/>
            </p:cNvSpPr>
            <p:nvPr/>
          </p:nvSpPr>
          <p:spPr bwMode="auto">
            <a:xfrm>
              <a:off x="7062989" y="2653577"/>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71" name="Text Box 16"/>
            <p:cNvSpPr txBox="1">
              <a:spLocks noChangeArrowheads="1"/>
            </p:cNvSpPr>
            <p:nvPr/>
          </p:nvSpPr>
          <p:spPr bwMode="auto">
            <a:xfrm>
              <a:off x="7437292" y="3630145"/>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0000FF"/>
                  </a:solidFill>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72" name="Oval 15"/>
            <p:cNvSpPr>
              <a:spLocks noChangeArrowheads="1"/>
            </p:cNvSpPr>
            <p:nvPr/>
          </p:nvSpPr>
          <p:spPr bwMode="auto">
            <a:xfrm>
              <a:off x="7779012" y="1174160"/>
              <a:ext cx="395397" cy="430652"/>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0</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73" name="Oval 14"/>
            <p:cNvSpPr>
              <a:spLocks noChangeArrowheads="1"/>
            </p:cNvSpPr>
            <p:nvPr/>
          </p:nvSpPr>
          <p:spPr bwMode="auto">
            <a:xfrm>
              <a:off x="7021168" y="2062064"/>
              <a:ext cx="395397" cy="43065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74" name="Oval 13"/>
            <p:cNvSpPr>
              <a:spLocks noChangeArrowheads="1"/>
            </p:cNvSpPr>
            <p:nvPr/>
          </p:nvSpPr>
          <p:spPr bwMode="auto">
            <a:xfrm>
              <a:off x="8534321" y="2062064"/>
              <a:ext cx="395397" cy="43065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75" name="Oval 12"/>
            <p:cNvSpPr>
              <a:spLocks noChangeArrowheads="1"/>
            </p:cNvSpPr>
            <p:nvPr/>
          </p:nvSpPr>
          <p:spPr bwMode="auto">
            <a:xfrm>
              <a:off x="7021168" y="3081696"/>
              <a:ext cx="395397" cy="43191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76" name="Oval 11"/>
            <p:cNvSpPr>
              <a:spLocks noChangeArrowheads="1"/>
            </p:cNvSpPr>
            <p:nvPr/>
          </p:nvSpPr>
          <p:spPr bwMode="auto">
            <a:xfrm>
              <a:off x="8534321" y="3081696"/>
              <a:ext cx="395397" cy="43191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77" name="Oval 10"/>
            <p:cNvSpPr>
              <a:spLocks noChangeArrowheads="1"/>
            </p:cNvSpPr>
            <p:nvPr/>
          </p:nvSpPr>
          <p:spPr bwMode="auto">
            <a:xfrm>
              <a:off x="7779012" y="3855604"/>
              <a:ext cx="395397" cy="430652"/>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5</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79" name="AutoShape 8"/>
            <p:cNvSpPr>
              <a:spLocks noChangeShapeType="1"/>
            </p:cNvSpPr>
            <p:nvPr/>
          </p:nvSpPr>
          <p:spPr bwMode="auto">
            <a:xfrm>
              <a:off x="8116113" y="1541481"/>
              <a:ext cx="476504" cy="583914"/>
            </a:xfrm>
            <a:prstGeom prst="straightConnector1">
              <a:avLst/>
            </a:prstGeom>
            <a:noFill/>
            <a:ln w="19050">
              <a:solidFill>
                <a:schemeClr val="tx1"/>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80" name="AutoShape 7"/>
            <p:cNvSpPr>
              <a:spLocks noChangeShapeType="1"/>
            </p:cNvSpPr>
            <p:nvPr/>
          </p:nvSpPr>
          <p:spPr bwMode="auto">
            <a:xfrm>
              <a:off x="7416565" y="2277390"/>
              <a:ext cx="1117756" cy="1267"/>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81" name="AutoShape 6"/>
            <p:cNvSpPr>
              <a:spLocks noChangeShapeType="1"/>
            </p:cNvSpPr>
            <p:nvPr/>
          </p:nvSpPr>
          <p:spPr bwMode="auto">
            <a:xfrm>
              <a:off x="7358269" y="2429385"/>
              <a:ext cx="1176052" cy="868904"/>
            </a:xfrm>
            <a:prstGeom prst="straightConnector1">
              <a:avLst/>
            </a:prstGeom>
            <a:noFill/>
            <a:ln w="19050">
              <a:solidFill>
                <a:schemeClr val="tx1"/>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82" name="AutoShape 5"/>
            <p:cNvSpPr>
              <a:spLocks noChangeShapeType="1"/>
            </p:cNvSpPr>
            <p:nvPr/>
          </p:nvSpPr>
          <p:spPr bwMode="auto">
            <a:xfrm>
              <a:off x="8732019" y="2492716"/>
              <a:ext cx="1267" cy="588980"/>
            </a:xfrm>
            <a:prstGeom prst="straightConnector1">
              <a:avLst/>
            </a:prstGeom>
            <a:noFill/>
            <a:ln w="19050">
              <a:solidFill>
                <a:schemeClr val="tx1"/>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83" name="AutoShape 4"/>
            <p:cNvSpPr>
              <a:spLocks noChangeShapeType="1"/>
            </p:cNvSpPr>
            <p:nvPr/>
          </p:nvSpPr>
          <p:spPr bwMode="auto">
            <a:xfrm>
              <a:off x="7218867" y="2492716"/>
              <a:ext cx="1267" cy="588980"/>
            </a:xfrm>
            <a:prstGeom prst="straightConnector1">
              <a:avLst/>
            </a:prstGeom>
            <a:noFill/>
            <a:ln w="19050">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84" name="AutoShape 3"/>
            <p:cNvSpPr>
              <a:spLocks noChangeShapeType="1"/>
            </p:cNvSpPr>
            <p:nvPr/>
          </p:nvSpPr>
          <p:spPr bwMode="auto">
            <a:xfrm>
              <a:off x="7358269" y="3450284"/>
              <a:ext cx="479038" cy="468651"/>
            </a:xfrm>
            <a:prstGeom prst="straightConnector1">
              <a:avLst/>
            </a:prstGeom>
            <a:noFill/>
            <a:ln w="19050">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cxnSp>
          <p:nvCxnSpPr>
            <p:cNvPr id="85" name="直接箭头连接符 84"/>
            <p:cNvCxnSpPr>
              <a:stCxn id="77" idx="7"/>
              <a:endCxn id="76" idx="3"/>
            </p:cNvCxnSpPr>
            <p:nvPr/>
          </p:nvCxnSpPr>
          <p:spPr>
            <a:xfrm rot="5400000" flipH="1" flipV="1">
              <a:off x="8120211" y="3446656"/>
              <a:ext cx="468309" cy="475722"/>
            </a:xfrm>
            <a:prstGeom prst="straightConnector1">
              <a:avLst/>
            </a:prstGeom>
            <a:ln w="19050">
              <a:solidFill>
                <a:srgbClr val="006600"/>
              </a:solidFill>
              <a:prstDash val="dash"/>
              <a:tailEnd type="arrow"/>
            </a:ln>
          </p:spPr>
          <p:style>
            <a:lnRef idx="2">
              <a:schemeClr val="dk1"/>
            </a:lnRef>
            <a:fillRef idx="0">
              <a:schemeClr val="dk1"/>
            </a:fillRef>
            <a:effectRef idx="1">
              <a:schemeClr val="dk1"/>
            </a:effectRef>
            <a:fontRef idx="minor">
              <a:schemeClr val="tx1"/>
            </a:fontRef>
          </p:style>
        </p:cxnSp>
        <p:sp>
          <p:nvSpPr>
            <p:cNvPr id="86" name="Text Box 18"/>
            <p:cNvSpPr txBox="1">
              <a:spLocks noChangeArrowheads="1"/>
            </p:cNvSpPr>
            <p:nvPr/>
          </p:nvSpPr>
          <p:spPr bwMode="auto">
            <a:xfrm>
              <a:off x="8386702" y="3665892"/>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6600"/>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6600"/>
                </a:solidFill>
                <a:effectLst/>
                <a:latin typeface="Consolas" pitchFamily="49" charset="0"/>
                <a:ea typeface="宋体" pitchFamily="2" charset="-122"/>
                <a:cs typeface="宋体" pitchFamily="2" charset="-122"/>
              </a:endParaRPr>
            </a:p>
          </p:txBody>
        </p:sp>
        <p:sp>
          <p:nvSpPr>
            <p:cNvPr id="87" name="任意多边形 86"/>
            <p:cNvSpPr/>
            <p:nvPr/>
          </p:nvSpPr>
          <p:spPr>
            <a:xfrm>
              <a:off x="7311495" y="2491315"/>
              <a:ext cx="1241778" cy="886177"/>
            </a:xfrm>
            <a:custGeom>
              <a:avLst/>
              <a:gdLst>
                <a:gd name="connsiteX0" fmla="*/ 1241778 w 1241778"/>
                <a:gd name="connsiteY0" fmla="*/ 846666 h 886177"/>
                <a:gd name="connsiteX1" fmla="*/ 925689 w 1241778"/>
                <a:gd name="connsiteY1" fmla="*/ 857955 h 886177"/>
                <a:gd name="connsiteX2" fmla="*/ 462845 w 1241778"/>
                <a:gd name="connsiteY2" fmla="*/ 677333 h 886177"/>
                <a:gd name="connsiteX3" fmla="*/ 0 w 1241778"/>
                <a:gd name="connsiteY3" fmla="*/ 0 h 886177"/>
              </a:gdLst>
              <a:ahLst/>
              <a:cxnLst>
                <a:cxn ang="0">
                  <a:pos x="connsiteX0" y="connsiteY0"/>
                </a:cxn>
                <a:cxn ang="0">
                  <a:pos x="connsiteX1" y="connsiteY1"/>
                </a:cxn>
                <a:cxn ang="0">
                  <a:pos x="connsiteX2" y="connsiteY2"/>
                </a:cxn>
                <a:cxn ang="0">
                  <a:pos x="connsiteX3" y="connsiteY3"/>
                </a:cxn>
              </a:cxnLst>
              <a:rect l="l" t="t" r="r" b="b"/>
              <a:pathLst>
                <a:path w="1241778" h="886177">
                  <a:moveTo>
                    <a:pt x="1241778" y="846666"/>
                  </a:moveTo>
                  <a:cubicBezTo>
                    <a:pt x="1148644" y="866421"/>
                    <a:pt x="1055511" y="886177"/>
                    <a:pt x="925689" y="857955"/>
                  </a:cubicBezTo>
                  <a:cubicBezTo>
                    <a:pt x="795867" y="829733"/>
                    <a:pt x="617127" y="820326"/>
                    <a:pt x="462845" y="677333"/>
                  </a:cubicBezTo>
                  <a:cubicBezTo>
                    <a:pt x="308564" y="534341"/>
                    <a:pt x="154282" y="267170"/>
                    <a:pt x="0" y="0"/>
                  </a:cubicBezTo>
                </a:path>
              </a:pathLst>
            </a:custGeom>
            <a:ln w="19050">
              <a:solidFill>
                <a:srgbClr val="006600"/>
              </a:solidFill>
              <a:prstDash val="dash"/>
              <a:tailEnd type="arrow"/>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88" name="任意多边形 87"/>
            <p:cNvSpPr/>
            <p:nvPr/>
          </p:nvSpPr>
          <p:spPr>
            <a:xfrm>
              <a:off x="7194843" y="1238248"/>
              <a:ext cx="624652" cy="835378"/>
            </a:xfrm>
            <a:custGeom>
              <a:avLst/>
              <a:gdLst>
                <a:gd name="connsiteX0" fmla="*/ 37630 w 624652"/>
                <a:gd name="connsiteY0" fmla="*/ 835378 h 835378"/>
                <a:gd name="connsiteX1" fmla="*/ 15052 w 624652"/>
                <a:gd name="connsiteY1" fmla="*/ 620889 h 835378"/>
                <a:gd name="connsiteX2" fmla="*/ 127941 w 624652"/>
                <a:gd name="connsiteY2" fmla="*/ 327378 h 835378"/>
                <a:gd name="connsiteX3" fmla="*/ 387586 w 624652"/>
                <a:gd name="connsiteY3" fmla="*/ 45156 h 835378"/>
                <a:gd name="connsiteX4" fmla="*/ 624652 w 624652"/>
                <a:gd name="connsiteY4" fmla="*/ 56444 h 8353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4652" h="835378">
                  <a:moveTo>
                    <a:pt x="37630" y="835378"/>
                  </a:moveTo>
                  <a:cubicBezTo>
                    <a:pt x="18815" y="770467"/>
                    <a:pt x="0" y="705556"/>
                    <a:pt x="15052" y="620889"/>
                  </a:cubicBezTo>
                  <a:cubicBezTo>
                    <a:pt x="30104" y="536222"/>
                    <a:pt x="65852" y="423333"/>
                    <a:pt x="127941" y="327378"/>
                  </a:cubicBezTo>
                  <a:cubicBezTo>
                    <a:pt x="190030" y="231423"/>
                    <a:pt x="304801" y="90312"/>
                    <a:pt x="387586" y="45156"/>
                  </a:cubicBezTo>
                  <a:cubicBezTo>
                    <a:pt x="470371" y="0"/>
                    <a:pt x="547511" y="28222"/>
                    <a:pt x="624652" y="56444"/>
                  </a:cubicBezTo>
                </a:path>
              </a:pathLst>
            </a:custGeom>
            <a:ln w="19050">
              <a:solidFill>
                <a:srgbClr val="006600"/>
              </a:solidFill>
              <a:prstDash val="dash"/>
              <a:tailEnd type="arrow"/>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89" name="Text Box 18"/>
            <p:cNvSpPr txBox="1">
              <a:spLocks noChangeArrowheads="1"/>
            </p:cNvSpPr>
            <p:nvPr/>
          </p:nvSpPr>
          <p:spPr bwMode="auto">
            <a:xfrm>
              <a:off x="7786710" y="2928934"/>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6600"/>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6600"/>
                </a:solidFill>
                <a:effectLst/>
                <a:latin typeface="Consolas" pitchFamily="49" charset="0"/>
                <a:ea typeface="宋体" pitchFamily="2" charset="-122"/>
                <a:cs typeface="宋体" pitchFamily="2" charset="-122"/>
              </a:endParaRPr>
            </a:p>
          </p:txBody>
        </p:sp>
        <p:sp>
          <p:nvSpPr>
            <p:cNvPr id="90" name="Text Box 18"/>
            <p:cNvSpPr txBox="1">
              <a:spLocks noChangeArrowheads="1"/>
            </p:cNvSpPr>
            <p:nvPr/>
          </p:nvSpPr>
          <p:spPr bwMode="auto">
            <a:xfrm>
              <a:off x="7143768" y="1285860"/>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006600"/>
                  </a:solidFill>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6600"/>
                </a:solidFill>
                <a:effectLst/>
                <a:latin typeface="Consolas" pitchFamily="49" charset="0"/>
                <a:ea typeface="宋体" pitchFamily="2" charset="-122"/>
                <a:cs typeface="宋体" pitchFamily="2" charset="-122"/>
              </a:endParaRPr>
            </a:p>
          </p:txBody>
        </p:sp>
        <p:sp>
          <p:nvSpPr>
            <p:cNvPr id="92" name="任意多边形 91"/>
            <p:cNvSpPr/>
            <p:nvPr/>
          </p:nvSpPr>
          <p:spPr>
            <a:xfrm>
              <a:off x="6886222" y="2427111"/>
              <a:ext cx="191911" cy="699911"/>
            </a:xfrm>
            <a:custGeom>
              <a:avLst/>
              <a:gdLst>
                <a:gd name="connsiteX0" fmla="*/ 191911 w 191911"/>
                <a:gd name="connsiteY0" fmla="*/ 699911 h 699911"/>
                <a:gd name="connsiteX1" fmla="*/ 56445 w 191911"/>
                <a:gd name="connsiteY1" fmla="*/ 609600 h 699911"/>
                <a:gd name="connsiteX2" fmla="*/ 22578 w 191911"/>
                <a:gd name="connsiteY2" fmla="*/ 349956 h 699911"/>
                <a:gd name="connsiteX3" fmla="*/ 191911 w 191911"/>
                <a:gd name="connsiteY3" fmla="*/ 0 h 699911"/>
              </a:gdLst>
              <a:ahLst/>
              <a:cxnLst>
                <a:cxn ang="0">
                  <a:pos x="connsiteX0" y="connsiteY0"/>
                </a:cxn>
                <a:cxn ang="0">
                  <a:pos x="connsiteX1" y="connsiteY1"/>
                </a:cxn>
                <a:cxn ang="0">
                  <a:pos x="connsiteX2" y="connsiteY2"/>
                </a:cxn>
                <a:cxn ang="0">
                  <a:pos x="connsiteX3" y="connsiteY3"/>
                </a:cxn>
              </a:cxnLst>
              <a:rect l="l" t="t" r="r" b="b"/>
              <a:pathLst>
                <a:path w="191911" h="699911">
                  <a:moveTo>
                    <a:pt x="191911" y="699911"/>
                  </a:moveTo>
                  <a:cubicBezTo>
                    <a:pt x="138289" y="683918"/>
                    <a:pt x="84667" y="667926"/>
                    <a:pt x="56445" y="609600"/>
                  </a:cubicBezTo>
                  <a:cubicBezTo>
                    <a:pt x="28223" y="551274"/>
                    <a:pt x="0" y="451556"/>
                    <a:pt x="22578" y="349956"/>
                  </a:cubicBezTo>
                  <a:cubicBezTo>
                    <a:pt x="45156" y="248356"/>
                    <a:pt x="118533" y="124178"/>
                    <a:pt x="191911" y="0"/>
                  </a:cubicBezTo>
                </a:path>
              </a:pathLst>
            </a:custGeom>
            <a:ln w="19050">
              <a:solidFill>
                <a:schemeClr val="tx1"/>
              </a:solidFill>
              <a:prstDash val="dash"/>
              <a:tailEnd type="arrow"/>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93" name="Text Box 18"/>
            <p:cNvSpPr txBox="1">
              <a:spLocks noChangeArrowheads="1"/>
            </p:cNvSpPr>
            <p:nvPr/>
          </p:nvSpPr>
          <p:spPr bwMode="auto">
            <a:xfrm>
              <a:off x="6700147" y="2571744"/>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006600"/>
                  </a:solidFill>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6600"/>
                </a:solidFill>
                <a:effectLst/>
                <a:latin typeface="Consolas" pitchFamily="49" charset="0"/>
                <a:ea typeface="宋体" pitchFamily="2" charset="-122"/>
                <a:cs typeface="宋体" pitchFamily="2" charset="-122"/>
              </a:endParaRPr>
            </a:p>
          </p:txBody>
        </p:sp>
        <p:sp>
          <p:nvSpPr>
            <p:cNvPr id="94" name="任意多边形 93"/>
            <p:cNvSpPr/>
            <p:nvPr/>
          </p:nvSpPr>
          <p:spPr>
            <a:xfrm>
              <a:off x="7198548" y="3533422"/>
              <a:ext cx="556919" cy="630296"/>
            </a:xfrm>
            <a:custGeom>
              <a:avLst/>
              <a:gdLst>
                <a:gd name="connsiteX0" fmla="*/ 556919 w 556919"/>
                <a:gd name="connsiteY0" fmla="*/ 598311 h 630296"/>
                <a:gd name="connsiteX1" fmla="*/ 308563 w 556919"/>
                <a:gd name="connsiteY1" fmla="*/ 609600 h 630296"/>
                <a:gd name="connsiteX2" fmla="*/ 116652 w 556919"/>
                <a:gd name="connsiteY2" fmla="*/ 474134 h 630296"/>
                <a:gd name="connsiteX3" fmla="*/ 15052 w 556919"/>
                <a:gd name="connsiteY3" fmla="*/ 270934 h 630296"/>
                <a:gd name="connsiteX4" fmla="*/ 26341 w 556919"/>
                <a:gd name="connsiteY4" fmla="*/ 0 h 6302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6919" h="630296">
                  <a:moveTo>
                    <a:pt x="556919" y="598311"/>
                  </a:moveTo>
                  <a:cubicBezTo>
                    <a:pt x="469430" y="614303"/>
                    <a:pt x="381941" y="630296"/>
                    <a:pt x="308563" y="609600"/>
                  </a:cubicBezTo>
                  <a:cubicBezTo>
                    <a:pt x="235185" y="588904"/>
                    <a:pt x="165570" y="530578"/>
                    <a:pt x="116652" y="474134"/>
                  </a:cubicBezTo>
                  <a:cubicBezTo>
                    <a:pt x="67734" y="417690"/>
                    <a:pt x="30104" y="349956"/>
                    <a:pt x="15052" y="270934"/>
                  </a:cubicBezTo>
                  <a:cubicBezTo>
                    <a:pt x="0" y="191912"/>
                    <a:pt x="13170" y="95956"/>
                    <a:pt x="26341" y="0"/>
                  </a:cubicBezTo>
                </a:path>
              </a:pathLst>
            </a:custGeom>
            <a:ln w="19050">
              <a:solidFill>
                <a:srgbClr val="006600"/>
              </a:solidFill>
              <a:prstDash val="dash"/>
              <a:tailEnd type="arrow"/>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95" name="Text Box 18"/>
            <p:cNvSpPr txBox="1">
              <a:spLocks noChangeArrowheads="1"/>
            </p:cNvSpPr>
            <p:nvPr/>
          </p:nvSpPr>
          <p:spPr bwMode="auto">
            <a:xfrm>
              <a:off x="7100818" y="3857628"/>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006600"/>
                  </a:solidFill>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6600"/>
                </a:solidFill>
                <a:effectLst/>
                <a:latin typeface="Consolas" pitchFamily="49" charset="0"/>
                <a:ea typeface="宋体" pitchFamily="2" charset="-122"/>
                <a:cs typeface="宋体" pitchFamily="2" charset="-122"/>
              </a:endParaRPr>
            </a:p>
          </p:txBody>
        </p:sp>
      </p:grpSp>
      <p:sp>
        <p:nvSpPr>
          <p:cNvPr id="98" name="灯片编号占位符 97"/>
          <p:cNvSpPr>
            <a:spLocks noGrp="1"/>
          </p:cNvSpPr>
          <p:nvPr>
            <p:ph type="sldNum" sz="quarter" idx="12"/>
          </p:nvPr>
        </p:nvSpPr>
        <p:spPr/>
        <p:txBody>
          <a:bodyPr/>
          <a:lstStyle/>
          <a:p>
            <a:fld id="{7AF016A1-9F15-429F-9EFD-84004B73C732}" type="slidenum">
              <a:rPr lang="en-US" altLang="zh-CN" smtClean="0"/>
              <a:pPr/>
              <a:t>101</a:t>
            </a:fld>
            <a:r>
              <a:rPr lang="en-US" altLang="zh-CN"/>
              <a:t>/158</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28596" y="428604"/>
            <a:ext cx="1714512" cy="430887"/>
          </a:xfrm>
          <a:prstGeom prst="rect">
            <a:avLst/>
          </a:prstGeom>
          <a:noFill/>
        </p:spPr>
        <p:txBody>
          <a:bodyPr wrap="square" rtlCol="0">
            <a:spAutoFit/>
          </a:bodyPr>
          <a:lstStyle/>
          <a:p>
            <a:pPr algn="l">
              <a:lnSpc>
                <a:spcPct val="100000"/>
              </a:lnSpc>
              <a:spcBef>
                <a:spcPts val="0"/>
              </a:spcBef>
            </a:pPr>
            <a:r>
              <a:rPr lang="zh-CN" altLang="zh-CN" sz="2200">
                <a:solidFill>
                  <a:srgbClr val="0000FF"/>
                </a:solidFill>
                <a:latin typeface="楷体" pitchFamily="49" charset="-122"/>
                <a:ea typeface="楷体" pitchFamily="49" charset="-122"/>
              </a:rPr>
              <a:t>第</a:t>
            </a:r>
            <a:r>
              <a:rPr lang="zh-CN" altLang="en-US" sz="2200">
                <a:solidFill>
                  <a:srgbClr val="0000FF"/>
                </a:solidFill>
                <a:latin typeface="楷体" pitchFamily="49" charset="-122"/>
                <a:ea typeface="楷体" pitchFamily="49" charset="-122"/>
              </a:rPr>
              <a:t>三</a:t>
            </a:r>
            <a:r>
              <a:rPr lang="zh-CN" altLang="zh-CN" sz="2200">
                <a:solidFill>
                  <a:srgbClr val="0000FF"/>
                </a:solidFill>
                <a:latin typeface="楷体" pitchFamily="49" charset="-122"/>
                <a:ea typeface="楷体" pitchFamily="49" charset="-122"/>
              </a:rPr>
              <a:t>轮循环</a:t>
            </a:r>
            <a:endParaRPr lang="zh-CN" altLang="en-US" sz="2200">
              <a:solidFill>
                <a:srgbClr val="0000FF"/>
              </a:solidFill>
              <a:latin typeface="楷体" pitchFamily="49" charset="-122"/>
              <a:ea typeface="楷体" pitchFamily="49" charset="-122"/>
              <a:cs typeface="Consolas" pitchFamily="49" charset="0"/>
            </a:endParaRPr>
          </a:p>
        </p:txBody>
      </p:sp>
      <p:grpSp>
        <p:nvGrpSpPr>
          <p:cNvPr id="4" name="组合 3"/>
          <p:cNvGrpSpPr/>
          <p:nvPr/>
        </p:nvGrpSpPr>
        <p:grpSpPr>
          <a:xfrm>
            <a:off x="0" y="1571612"/>
            <a:ext cx="2229571" cy="3112096"/>
            <a:chOff x="6700147" y="1174160"/>
            <a:chExt cx="2229571" cy="3112096"/>
          </a:xfrm>
        </p:grpSpPr>
        <p:sp>
          <p:nvSpPr>
            <p:cNvPr id="5" name="Text Box 22"/>
            <p:cNvSpPr txBox="1">
              <a:spLocks noChangeArrowheads="1"/>
            </p:cNvSpPr>
            <p:nvPr/>
          </p:nvSpPr>
          <p:spPr bwMode="auto">
            <a:xfrm>
              <a:off x="8451947" y="1597213"/>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6" name="Text Box 21"/>
            <p:cNvSpPr txBox="1">
              <a:spLocks noChangeArrowheads="1"/>
            </p:cNvSpPr>
            <p:nvPr/>
          </p:nvSpPr>
          <p:spPr bwMode="auto">
            <a:xfrm>
              <a:off x="7915880" y="1973400"/>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7" name="Text Box 20"/>
            <p:cNvSpPr txBox="1">
              <a:spLocks noChangeArrowheads="1"/>
            </p:cNvSpPr>
            <p:nvPr/>
          </p:nvSpPr>
          <p:spPr bwMode="auto">
            <a:xfrm>
              <a:off x="8018531" y="2645977"/>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0000FF"/>
                  </a:solidFill>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8" name="Text Box 19"/>
            <p:cNvSpPr txBox="1">
              <a:spLocks noChangeArrowheads="1"/>
            </p:cNvSpPr>
            <p:nvPr/>
          </p:nvSpPr>
          <p:spPr bwMode="auto">
            <a:xfrm>
              <a:off x="8767504" y="2653577"/>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9" name="Text Box 17"/>
            <p:cNvSpPr txBox="1">
              <a:spLocks noChangeArrowheads="1"/>
            </p:cNvSpPr>
            <p:nvPr/>
          </p:nvSpPr>
          <p:spPr bwMode="auto">
            <a:xfrm>
              <a:off x="7062989" y="2653577"/>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0" name="Text Box 16"/>
            <p:cNvSpPr txBox="1">
              <a:spLocks noChangeArrowheads="1"/>
            </p:cNvSpPr>
            <p:nvPr/>
          </p:nvSpPr>
          <p:spPr bwMode="auto">
            <a:xfrm>
              <a:off x="7437292" y="3630145"/>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0000FF"/>
                  </a:solidFill>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1" name="Oval 15"/>
            <p:cNvSpPr>
              <a:spLocks noChangeArrowheads="1"/>
            </p:cNvSpPr>
            <p:nvPr/>
          </p:nvSpPr>
          <p:spPr bwMode="auto">
            <a:xfrm>
              <a:off x="7779012" y="1174160"/>
              <a:ext cx="395397" cy="430652"/>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0</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2" name="Oval 14"/>
            <p:cNvSpPr>
              <a:spLocks noChangeArrowheads="1"/>
            </p:cNvSpPr>
            <p:nvPr/>
          </p:nvSpPr>
          <p:spPr bwMode="auto">
            <a:xfrm>
              <a:off x="7021168" y="2062064"/>
              <a:ext cx="395397" cy="43065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3" name="Oval 13"/>
            <p:cNvSpPr>
              <a:spLocks noChangeArrowheads="1"/>
            </p:cNvSpPr>
            <p:nvPr/>
          </p:nvSpPr>
          <p:spPr bwMode="auto">
            <a:xfrm>
              <a:off x="8534321" y="2062064"/>
              <a:ext cx="395397" cy="43065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4" name="Oval 12"/>
            <p:cNvSpPr>
              <a:spLocks noChangeArrowheads="1"/>
            </p:cNvSpPr>
            <p:nvPr/>
          </p:nvSpPr>
          <p:spPr bwMode="auto">
            <a:xfrm>
              <a:off x="7021168" y="3081696"/>
              <a:ext cx="395397" cy="43191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5" name="Oval 11"/>
            <p:cNvSpPr>
              <a:spLocks noChangeArrowheads="1"/>
            </p:cNvSpPr>
            <p:nvPr/>
          </p:nvSpPr>
          <p:spPr bwMode="auto">
            <a:xfrm>
              <a:off x="8534321" y="3081696"/>
              <a:ext cx="395397" cy="43191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6" name="Oval 10"/>
            <p:cNvSpPr>
              <a:spLocks noChangeArrowheads="1"/>
            </p:cNvSpPr>
            <p:nvPr/>
          </p:nvSpPr>
          <p:spPr bwMode="auto">
            <a:xfrm>
              <a:off x="7779012" y="3855604"/>
              <a:ext cx="395397" cy="430652"/>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5</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8" name="AutoShape 8"/>
            <p:cNvSpPr>
              <a:spLocks noChangeShapeType="1"/>
            </p:cNvSpPr>
            <p:nvPr/>
          </p:nvSpPr>
          <p:spPr bwMode="auto">
            <a:xfrm>
              <a:off x="8116113" y="1541481"/>
              <a:ext cx="476504" cy="583914"/>
            </a:xfrm>
            <a:prstGeom prst="straightConnector1">
              <a:avLst/>
            </a:prstGeom>
            <a:noFill/>
            <a:ln w="19050">
              <a:solidFill>
                <a:schemeClr val="tx1"/>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19" name="AutoShape 7"/>
            <p:cNvSpPr>
              <a:spLocks noChangeShapeType="1"/>
            </p:cNvSpPr>
            <p:nvPr/>
          </p:nvSpPr>
          <p:spPr bwMode="auto">
            <a:xfrm>
              <a:off x="7416565" y="2277390"/>
              <a:ext cx="1117756" cy="1267"/>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20" name="AutoShape 6"/>
            <p:cNvSpPr>
              <a:spLocks noChangeShapeType="1"/>
            </p:cNvSpPr>
            <p:nvPr/>
          </p:nvSpPr>
          <p:spPr bwMode="auto">
            <a:xfrm>
              <a:off x="7358269" y="2429385"/>
              <a:ext cx="1176052" cy="868904"/>
            </a:xfrm>
            <a:prstGeom prst="straightConnector1">
              <a:avLst/>
            </a:prstGeom>
            <a:noFill/>
            <a:ln w="19050">
              <a:solidFill>
                <a:schemeClr val="tx1"/>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21" name="AutoShape 5"/>
            <p:cNvSpPr>
              <a:spLocks noChangeShapeType="1"/>
            </p:cNvSpPr>
            <p:nvPr/>
          </p:nvSpPr>
          <p:spPr bwMode="auto">
            <a:xfrm>
              <a:off x="8732019" y="2492716"/>
              <a:ext cx="1267" cy="588980"/>
            </a:xfrm>
            <a:prstGeom prst="straightConnector1">
              <a:avLst/>
            </a:prstGeom>
            <a:noFill/>
            <a:ln w="19050">
              <a:solidFill>
                <a:schemeClr val="tx1"/>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22" name="AutoShape 4"/>
            <p:cNvSpPr>
              <a:spLocks noChangeShapeType="1"/>
            </p:cNvSpPr>
            <p:nvPr/>
          </p:nvSpPr>
          <p:spPr bwMode="auto">
            <a:xfrm>
              <a:off x="7218867" y="2492716"/>
              <a:ext cx="1267" cy="588980"/>
            </a:xfrm>
            <a:prstGeom prst="straightConnector1">
              <a:avLst/>
            </a:prstGeom>
            <a:noFill/>
            <a:ln w="19050">
              <a:solidFill>
                <a:schemeClr val="tx1"/>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23" name="AutoShape 3"/>
            <p:cNvSpPr>
              <a:spLocks noChangeShapeType="1"/>
            </p:cNvSpPr>
            <p:nvPr/>
          </p:nvSpPr>
          <p:spPr bwMode="auto">
            <a:xfrm>
              <a:off x="7358269" y="3450284"/>
              <a:ext cx="479038" cy="468651"/>
            </a:xfrm>
            <a:prstGeom prst="straightConnector1">
              <a:avLst/>
            </a:prstGeom>
            <a:noFill/>
            <a:ln w="19050">
              <a:solidFill>
                <a:schemeClr val="tx1"/>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cxnSp>
          <p:nvCxnSpPr>
            <p:cNvPr id="24" name="直接箭头连接符 23"/>
            <p:cNvCxnSpPr>
              <a:stCxn id="16" idx="7"/>
              <a:endCxn id="15" idx="3"/>
            </p:cNvCxnSpPr>
            <p:nvPr/>
          </p:nvCxnSpPr>
          <p:spPr>
            <a:xfrm rot="5400000" flipH="1" flipV="1">
              <a:off x="8120211" y="3446656"/>
              <a:ext cx="468309" cy="475722"/>
            </a:xfrm>
            <a:prstGeom prst="straightConnector1">
              <a:avLst/>
            </a:prstGeom>
            <a:ln w="19050">
              <a:solidFill>
                <a:srgbClr val="006600"/>
              </a:solidFill>
              <a:prstDash val="dash"/>
              <a:tailEnd type="arrow"/>
            </a:ln>
          </p:spPr>
          <p:style>
            <a:lnRef idx="2">
              <a:schemeClr val="dk1"/>
            </a:lnRef>
            <a:fillRef idx="0">
              <a:schemeClr val="dk1"/>
            </a:fillRef>
            <a:effectRef idx="1">
              <a:schemeClr val="dk1"/>
            </a:effectRef>
            <a:fontRef idx="minor">
              <a:schemeClr val="tx1"/>
            </a:fontRef>
          </p:style>
        </p:cxnSp>
        <p:sp>
          <p:nvSpPr>
            <p:cNvPr id="25" name="Text Box 18"/>
            <p:cNvSpPr txBox="1">
              <a:spLocks noChangeArrowheads="1"/>
            </p:cNvSpPr>
            <p:nvPr/>
          </p:nvSpPr>
          <p:spPr bwMode="auto">
            <a:xfrm>
              <a:off x="8386702" y="3665892"/>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6600"/>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6600"/>
                </a:solidFill>
                <a:effectLst/>
                <a:latin typeface="Consolas" pitchFamily="49" charset="0"/>
                <a:ea typeface="宋体" pitchFamily="2" charset="-122"/>
                <a:cs typeface="宋体" pitchFamily="2" charset="-122"/>
              </a:endParaRPr>
            </a:p>
          </p:txBody>
        </p:sp>
        <p:sp>
          <p:nvSpPr>
            <p:cNvPr id="26" name="任意多边形 25"/>
            <p:cNvSpPr/>
            <p:nvPr/>
          </p:nvSpPr>
          <p:spPr>
            <a:xfrm>
              <a:off x="7311495" y="2491315"/>
              <a:ext cx="1241778" cy="886177"/>
            </a:xfrm>
            <a:custGeom>
              <a:avLst/>
              <a:gdLst>
                <a:gd name="connsiteX0" fmla="*/ 1241778 w 1241778"/>
                <a:gd name="connsiteY0" fmla="*/ 846666 h 886177"/>
                <a:gd name="connsiteX1" fmla="*/ 925689 w 1241778"/>
                <a:gd name="connsiteY1" fmla="*/ 857955 h 886177"/>
                <a:gd name="connsiteX2" fmla="*/ 462845 w 1241778"/>
                <a:gd name="connsiteY2" fmla="*/ 677333 h 886177"/>
                <a:gd name="connsiteX3" fmla="*/ 0 w 1241778"/>
                <a:gd name="connsiteY3" fmla="*/ 0 h 886177"/>
              </a:gdLst>
              <a:ahLst/>
              <a:cxnLst>
                <a:cxn ang="0">
                  <a:pos x="connsiteX0" y="connsiteY0"/>
                </a:cxn>
                <a:cxn ang="0">
                  <a:pos x="connsiteX1" y="connsiteY1"/>
                </a:cxn>
                <a:cxn ang="0">
                  <a:pos x="connsiteX2" y="connsiteY2"/>
                </a:cxn>
                <a:cxn ang="0">
                  <a:pos x="connsiteX3" y="connsiteY3"/>
                </a:cxn>
              </a:cxnLst>
              <a:rect l="l" t="t" r="r" b="b"/>
              <a:pathLst>
                <a:path w="1241778" h="886177">
                  <a:moveTo>
                    <a:pt x="1241778" y="846666"/>
                  </a:moveTo>
                  <a:cubicBezTo>
                    <a:pt x="1148644" y="866421"/>
                    <a:pt x="1055511" y="886177"/>
                    <a:pt x="925689" y="857955"/>
                  </a:cubicBezTo>
                  <a:cubicBezTo>
                    <a:pt x="795867" y="829733"/>
                    <a:pt x="617127" y="820326"/>
                    <a:pt x="462845" y="677333"/>
                  </a:cubicBezTo>
                  <a:cubicBezTo>
                    <a:pt x="308564" y="534341"/>
                    <a:pt x="154282" y="267170"/>
                    <a:pt x="0" y="0"/>
                  </a:cubicBezTo>
                </a:path>
              </a:pathLst>
            </a:custGeom>
            <a:ln w="19050">
              <a:solidFill>
                <a:srgbClr val="006600"/>
              </a:solidFill>
              <a:prstDash val="dash"/>
              <a:tailEnd type="arrow"/>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27" name="任意多边形 26"/>
            <p:cNvSpPr/>
            <p:nvPr/>
          </p:nvSpPr>
          <p:spPr>
            <a:xfrm>
              <a:off x="7194843" y="1238248"/>
              <a:ext cx="624652" cy="835378"/>
            </a:xfrm>
            <a:custGeom>
              <a:avLst/>
              <a:gdLst>
                <a:gd name="connsiteX0" fmla="*/ 37630 w 624652"/>
                <a:gd name="connsiteY0" fmla="*/ 835378 h 835378"/>
                <a:gd name="connsiteX1" fmla="*/ 15052 w 624652"/>
                <a:gd name="connsiteY1" fmla="*/ 620889 h 835378"/>
                <a:gd name="connsiteX2" fmla="*/ 127941 w 624652"/>
                <a:gd name="connsiteY2" fmla="*/ 327378 h 835378"/>
                <a:gd name="connsiteX3" fmla="*/ 387586 w 624652"/>
                <a:gd name="connsiteY3" fmla="*/ 45156 h 835378"/>
                <a:gd name="connsiteX4" fmla="*/ 624652 w 624652"/>
                <a:gd name="connsiteY4" fmla="*/ 56444 h 8353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4652" h="835378">
                  <a:moveTo>
                    <a:pt x="37630" y="835378"/>
                  </a:moveTo>
                  <a:cubicBezTo>
                    <a:pt x="18815" y="770467"/>
                    <a:pt x="0" y="705556"/>
                    <a:pt x="15052" y="620889"/>
                  </a:cubicBezTo>
                  <a:cubicBezTo>
                    <a:pt x="30104" y="536222"/>
                    <a:pt x="65852" y="423333"/>
                    <a:pt x="127941" y="327378"/>
                  </a:cubicBezTo>
                  <a:cubicBezTo>
                    <a:pt x="190030" y="231423"/>
                    <a:pt x="304801" y="90312"/>
                    <a:pt x="387586" y="45156"/>
                  </a:cubicBezTo>
                  <a:cubicBezTo>
                    <a:pt x="470371" y="0"/>
                    <a:pt x="547511" y="28222"/>
                    <a:pt x="624652" y="56444"/>
                  </a:cubicBezTo>
                </a:path>
              </a:pathLst>
            </a:custGeom>
            <a:ln w="19050">
              <a:solidFill>
                <a:srgbClr val="006600"/>
              </a:solidFill>
              <a:prstDash val="dash"/>
              <a:tailEnd type="arrow"/>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28" name="Text Box 18"/>
            <p:cNvSpPr txBox="1">
              <a:spLocks noChangeArrowheads="1"/>
            </p:cNvSpPr>
            <p:nvPr/>
          </p:nvSpPr>
          <p:spPr bwMode="auto">
            <a:xfrm>
              <a:off x="7786710" y="2928934"/>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6600"/>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6600"/>
                </a:solidFill>
                <a:effectLst/>
                <a:latin typeface="Consolas" pitchFamily="49" charset="0"/>
                <a:ea typeface="宋体" pitchFamily="2" charset="-122"/>
                <a:cs typeface="宋体" pitchFamily="2" charset="-122"/>
              </a:endParaRPr>
            </a:p>
          </p:txBody>
        </p:sp>
        <p:sp>
          <p:nvSpPr>
            <p:cNvPr id="29" name="Text Box 18"/>
            <p:cNvSpPr txBox="1">
              <a:spLocks noChangeArrowheads="1"/>
            </p:cNvSpPr>
            <p:nvPr/>
          </p:nvSpPr>
          <p:spPr bwMode="auto">
            <a:xfrm>
              <a:off x="7143768" y="1285860"/>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006600"/>
                  </a:solidFill>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6600"/>
                </a:solidFill>
                <a:effectLst/>
                <a:latin typeface="Consolas" pitchFamily="49" charset="0"/>
                <a:ea typeface="宋体" pitchFamily="2" charset="-122"/>
                <a:cs typeface="宋体" pitchFamily="2" charset="-122"/>
              </a:endParaRPr>
            </a:p>
          </p:txBody>
        </p:sp>
        <p:sp>
          <p:nvSpPr>
            <p:cNvPr id="30" name="任意多边形 29"/>
            <p:cNvSpPr/>
            <p:nvPr/>
          </p:nvSpPr>
          <p:spPr>
            <a:xfrm>
              <a:off x="6886222" y="2427111"/>
              <a:ext cx="191911" cy="699911"/>
            </a:xfrm>
            <a:custGeom>
              <a:avLst/>
              <a:gdLst>
                <a:gd name="connsiteX0" fmla="*/ 191911 w 191911"/>
                <a:gd name="connsiteY0" fmla="*/ 699911 h 699911"/>
                <a:gd name="connsiteX1" fmla="*/ 56445 w 191911"/>
                <a:gd name="connsiteY1" fmla="*/ 609600 h 699911"/>
                <a:gd name="connsiteX2" fmla="*/ 22578 w 191911"/>
                <a:gd name="connsiteY2" fmla="*/ 349956 h 699911"/>
                <a:gd name="connsiteX3" fmla="*/ 191911 w 191911"/>
                <a:gd name="connsiteY3" fmla="*/ 0 h 699911"/>
              </a:gdLst>
              <a:ahLst/>
              <a:cxnLst>
                <a:cxn ang="0">
                  <a:pos x="connsiteX0" y="connsiteY0"/>
                </a:cxn>
                <a:cxn ang="0">
                  <a:pos x="connsiteX1" y="connsiteY1"/>
                </a:cxn>
                <a:cxn ang="0">
                  <a:pos x="connsiteX2" y="connsiteY2"/>
                </a:cxn>
                <a:cxn ang="0">
                  <a:pos x="connsiteX3" y="connsiteY3"/>
                </a:cxn>
              </a:cxnLst>
              <a:rect l="l" t="t" r="r" b="b"/>
              <a:pathLst>
                <a:path w="191911" h="699911">
                  <a:moveTo>
                    <a:pt x="191911" y="699911"/>
                  </a:moveTo>
                  <a:cubicBezTo>
                    <a:pt x="138289" y="683918"/>
                    <a:pt x="84667" y="667926"/>
                    <a:pt x="56445" y="609600"/>
                  </a:cubicBezTo>
                  <a:cubicBezTo>
                    <a:pt x="28223" y="551274"/>
                    <a:pt x="0" y="451556"/>
                    <a:pt x="22578" y="349956"/>
                  </a:cubicBezTo>
                  <a:cubicBezTo>
                    <a:pt x="45156" y="248356"/>
                    <a:pt x="118533" y="124178"/>
                    <a:pt x="191911" y="0"/>
                  </a:cubicBezTo>
                </a:path>
              </a:pathLst>
            </a:custGeom>
            <a:ln w="19050">
              <a:solidFill>
                <a:schemeClr val="tx1"/>
              </a:solidFill>
              <a:prstDash val="dash"/>
              <a:tailEnd type="arrow"/>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31" name="Text Box 18"/>
            <p:cNvSpPr txBox="1">
              <a:spLocks noChangeArrowheads="1"/>
            </p:cNvSpPr>
            <p:nvPr/>
          </p:nvSpPr>
          <p:spPr bwMode="auto">
            <a:xfrm>
              <a:off x="6700147" y="2571744"/>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006600"/>
                  </a:solidFill>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6600"/>
                </a:solidFill>
                <a:effectLst/>
                <a:latin typeface="Consolas" pitchFamily="49" charset="0"/>
                <a:ea typeface="宋体" pitchFamily="2" charset="-122"/>
                <a:cs typeface="宋体" pitchFamily="2" charset="-122"/>
              </a:endParaRPr>
            </a:p>
          </p:txBody>
        </p:sp>
        <p:sp>
          <p:nvSpPr>
            <p:cNvPr id="32" name="任意多边形 31"/>
            <p:cNvSpPr/>
            <p:nvPr/>
          </p:nvSpPr>
          <p:spPr>
            <a:xfrm>
              <a:off x="7198548" y="3533422"/>
              <a:ext cx="556919" cy="630296"/>
            </a:xfrm>
            <a:custGeom>
              <a:avLst/>
              <a:gdLst>
                <a:gd name="connsiteX0" fmla="*/ 556919 w 556919"/>
                <a:gd name="connsiteY0" fmla="*/ 598311 h 630296"/>
                <a:gd name="connsiteX1" fmla="*/ 308563 w 556919"/>
                <a:gd name="connsiteY1" fmla="*/ 609600 h 630296"/>
                <a:gd name="connsiteX2" fmla="*/ 116652 w 556919"/>
                <a:gd name="connsiteY2" fmla="*/ 474134 h 630296"/>
                <a:gd name="connsiteX3" fmla="*/ 15052 w 556919"/>
                <a:gd name="connsiteY3" fmla="*/ 270934 h 630296"/>
                <a:gd name="connsiteX4" fmla="*/ 26341 w 556919"/>
                <a:gd name="connsiteY4" fmla="*/ 0 h 6302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6919" h="630296">
                  <a:moveTo>
                    <a:pt x="556919" y="598311"/>
                  </a:moveTo>
                  <a:cubicBezTo>
                    <a:pt x="469430" y="614303"/>
                    <a:pt x="381941" y="630296"/>
                    <a:pt x="308563" y="609600"/>
                  </a:cubicBezTo>
                  <a:cubicBezTo>
                    <a:pt x="235185" y="588904"/>
                    <a:pt x="165570" y="530578"/>
                    <a:pt x="116652" y="474134"/>
                  </a:cubicBezTo>
                  <a:cubicBezTo>
                    <a:pt x="67734" y="417690"/>
                    <a:pt x="30104" y="349956"/>
                    <a:pt x="15052" y="270934"/>
                  </a:cubicBezTo>
                  <a:cubicBezTo>
                    <a:pt x="0" y="191912"/>
                    <a:pt x="13170" y="95956"/>
                    <a:pt x="26341" y="0"/>
                  </a:cubicBezTo>
                </a:path>
              </a:pathLst>
            </a:custGeom>
            <a:ln w="19050">
              <a:solidFill>
                <a:srgbClr val="006600"/>
              </a:solidFill>
              <a:prstDash val="dash"/>
              <a:tailEnd type="arrow"/>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33" name="Text Box 18"/>
            <p:cNvSpPr txBox="1">
              <a:spLocks noChangeArrowheads="1"/>
            </p:cNvSpPr>
            <p:nvPr/>
          </p:nvSpPr>
          <p:spPr bwMode="auto">
            <a:xfrm>
              <a:off x="7100818" y="3857628"/>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006600"/>
                  </a:solidFill>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6600"/>
                </a:solidFill>
                <a:effectLst/>
                <a:latin typeface="Consolas" pitchFamily="49" charset="0"/>
                <a:ea typeface="宋体" pitchFamily="2" charset="-122"/>
                <a:cs typeface="宋体" pitchFamily="2" charset="-122"/>
              </a:endParaRPr>
            </a:p>
          </p:txBody>
        </p:sp>
      </p:grpSp>
      <p:grpSp>
        <p:nvGrpSpPr>
          <p:cNvPr id="34" name="组合 77"/>
          <p:cNvGrpSpPr/>
          <p:nvPr/>
        </p:nvGrpSpPr>
        <p:grpSpPr>
          <a:xfrm>
            <a:off x="2214546" y="2428868"/>
            <a:ext cx="1500198" cy="714380"/>
            <a:chOff x="2234822" y="2317168"/>
            <a:chExt cx="1500198" cy="714380"/>
          </a:xfrm>
        </p:grpSpPr>
        <p:sp>
          <p:nvSpPr>
            <p:cNvPr id="35" name="TextBox 34"/>
            <p:cNvSpPr txBox="1"/>
            <p:nvPr/>
          </p:nvSpPr>
          <p:spPr>
            <a:xfrm>
              <a:off x="2234822" y="2317168"/>
              <a:ext cx="1500198" cy="400110"/>
            </a:xfrm>
            <a:prstGeom prst="rect">
              <a:avLst/>
            </a:prstGeom>
            <a:noFill/>
          </p:spPr>
          <p:txBody>
            <a:bodyPr wrap="square" rtlCol="0">
              <a:spAutoFit/>
            </a:bodyPr>
            <a:lstStyle/>
            <a:p>
              <a:pPr algn="l">
                <a:lnSpc>
                  <a:spcPct val="100000"/>
                </a:lnSpc>
                <a:spcBef>
                  <a:spcPts val="0"/>
                </a:spcBef>
              </a:pPr>
              <a:r>
                <a:rPr lang="zh-CN" altLang="en-US" sz="2000">
                  <a:solidFill>
                    <a:srgbClr val="0000FF"/>
                  </a:solidFill>
                  <a:latin typeface="Consolas" pitchFamily="49" charset="0"/>
                  <a:ea typeface="仿宋" pitchFamily="49" charset="-122"/>
                </a:rPr>
                <a:t>找</a:t>
              </a:r>
              <a:r>
                <a:rPr lang="zh-CN" altLang="zh-CN" sz="2000">
                  <a:solidFill>
                    <a:srgbClr val="0000FF"/>
                  </a:solidFill>
                  <a:latin typeface="Consolas" pitchFamily="49" charset="0"/>
                  <a:ea typeface="仿宋" pitchFamily="49" charset="-122"/>
                </a:rPr>
                <a:t>增广路径</a:t>
              </a:r>
              <a:endParaRPr lang="zh-CN" altLang="en-US" sz="2000">
                <a:solidFill>
                  <a:srgbClr val="0000FF"/>
                </a:solidFill>
                <a:latin typeface="Consolas" pitchFamily="49" charset="0"/>
                <a:ea typeface="仿宋" pitchFamily="49" charset="-122"/>
                <a:cs typeface="Consolas" pitchFamily="49" charset="0"/>
              </a:endParaRPr>
            </a:p>
          </p:txBody>
        </p:sp>
        <p:sp>
          <p:nvSpPr>
            <p:cNvPr id="36" name="右箭头 35"/>
            <p:cNvSpPr/>
            <p:nvPr/>
          </p:nvSpPr>
          <p:spPr>
            <a:xfrm>
              <a:off x="2449136" y="2745796"/>
              <a:ext cx="1099431" cy="285752"/>
            </a:xfrm>
            <a:prstGeom prst="right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grpSp>
      <p:grpSp>
        <p:nvGrpSpPr>
          <p:cNvPr id="37" name="组合 36"/>
          <p:cNvGrpSpPr/>
          <p:nvPr/>
        </p:nvGrpSpPr>
        <p:grpSpPr>
          <a:xfrm>
            <a:off x="3571868" y="1571612"/>
            <a:ext cx="2229571" cy="3112096"/>
            <a:chOff x="6700147" y="1174160"/>
            <a:chExt cx="2229571" cy="3112096"/>
          </a:xfrm>
        </p:grpSpPr>
        <p:sp>
          <p:nvSpPr>
            <p:cNvPr id="38" name="Text Box 22"/>
            <p:cNvSpPr txBox="1">
              <a:spLocks noChangeArrowheads="1"/>
            </p:cNvSpPr>
            <p:nvPr/>
          </p:nvSpPr>
          <p:spPr bwMode="auto">
            <a:xfrm>
              <a:off x="8451947" y="1597213"/>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9" name="Text Box 21"/>
            <p:cNvSpPr txBox="1">
              <a:spLocks noChangeArrowheads="1"/>
            </p:cNvSpPr>
            <p:nvPr/>
          </p:nvSpPr>
          <p:spPr bwMode="auto">
            <a:xfrm>
              <a:off x="7915880" y="1973400"/>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40" name="Text Box 20"/>
            <p:cNvSpPr txBox="1">
              <a:spLocks noChangeArrowheads="1"/>
            </p:cNvSpPr>
            <p:nvPr/>
          </p:nvSpPr>
          <p:spPr bwMode="auto">
            <a:xfrm>
              <a:off x="8018531" y="2645977"/>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0000FF"/>
                  </a:solidFill>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41" name="Text Box 19"/>
            <p:cNvSpPr txBox="1">
              <a:spLocks noChangeArrowheads="1"/>
            </p:cNvSpPr>
            <p:nvPr/>
          </p:nvSpPr>
          <p:spPr bwMode="auto">
            <a:xfrm>
              <a:off x="8767504" y="2653577"/>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42" name="Text Box 17"/>
            <p:cNvSpPr txBox="1">
              <a:spLocks noChangeArrowheads="1"/>
            </p:cNvSpPr>
            <p:nvPr/>
          </p:nvSpPr>
          <p:spPr bwMode="auto">
            <a:xfrm>
              <a:off x="7062989" y="2653577"/>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43" name="Text Box 16"/>
            <p:cNvSpPr txBox="1">
              <a:spLocks noChangeArrowheads="1"/>
            </p:cNvSpPr>
            <p:nvPr/>
          </p:nvSpPr>
          <p:spPr bwMode="auto">
            <a:xfrm>
              <a:off x="7437292" y="3630145"/>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0000FF"/>
                  </a:solidFill>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44" name="Oval 15"/>
            <p:cNvSpPr>
              <a:spLocks noChangeArrowheads="1"/>
            </p:cNvSpPr>
            <p:nvPr/>
          </p:nvSpPr>
          <p:spPr bwMode="auto">
            <a:xfrm>
              <a:off x="7779012" y="1174160"/>
              <a:ext cx="395397" cy="430652"/>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0</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45" name="Oval 14"/>
            <p:cNvSpPr>
              <a:spLocks noChangeArrowheads="1"/>
            </p:cNvSpPr>
            <p:nvPr/>
          </p:nvSpPr>
          <p:spPr bwMode="auto">
            <a:xfrm>
              <a:off x="7021168" y="2062064"/>
              <a:ext cx="395397" cy="43065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46" name="Oval 13"/>
            <p:cNvSpPr>
              <a:spLocks noChangeArrowheads="1"/>
            </p:cNvSpPr>
            <p:nvPr/>
          </p:nvSpPr>
          <p:spPr bwMode="auto">
            <a:xfrm>
              <a:off x="8534321" y="2062064"/>
              <a:ext cx="395397" cy="43065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47" name="Oval 12"/>
            <p:cNvSpPr>
              <a:spLocks noChangeArrowheads="1"/>
            </p:cNvSpPr>
            <p:nvPr/>
          </p:nvSpPr>
          <p:spPr bwMode="auto">
            <a:xfrm>
              <a:off x="7021168" y="3081696"/>
              <a:ext cx="395397" cy="43191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48" name="Oval 11"/>
            <p:cNvSpPr>
              <a:spLocks noChangeArrowheads="1"/>
            </p:cNvSpPr>
            <p:nvPr/>
          </p:nvSpPr>
          <p:spPr bwMode="auto">
            <a:xfrm>
              <a:off x="8534321" y="3081696"/>
              <a:ext cx="395397" cy="43191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49" name="Oval 10"/>
            <p:cNvSpPr>
              <a:spLocks noChangeArrowheads="1"/>
            </p:cNvSpPr>
            <p:nvPr/>
          </p:nvSpPr>
          <p:spPr bwMode="auto">
            <a:xfrm>
              <a:off x="7779012" y="3855604"/>
              <a:ext cx="395397" cy="430652"/>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5</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0" name="AutoShape 8"/>
            <p:cNvSpPr>
              <a:spLocks noChangeShapeType="1"/>
            </p:cNvSpPr>
            <p:nvPr/>
          </p:nvSpPr>
          <p:spPr bwMode="auto">
            <a:xfrm>
              <a:off x="8116113" y="1541481"/>
              <a:ext cx="476504" cy="583914"/>
            </a:xfrm>
            <a:prstGeom prst="straightConnector1">
              <a:avLst/>
            </a:prstGeom>
            <a:noFill/>
            <a:ln w="19050">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51" name="AutoShape 7"/>
            <p:cNvSpPr>
              <a:spLocks noChangeShapeType="1"/>
            </p:cNvSpPr>
            <p:nvPr/>
          </p:nvSpPr>
          <p:spPr bwMode="auto">
            <a:xfrm>
              <a:off x="7416565" y="2277390"/>
              <a:ext cx="1117756" cy="1267"/>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52" name="AutoShape 6"/>
            <p:cNvSpPr>
              <a:spLocks noChangeShapeType="1"/>
            </p:cNvSpPr>
            <p:nvPr/>
          </p:nvSpPr>
          <p:spPr bwMode="auto">
            <a:xfrm>
              <a:off x="7358269" y="2429385"/>
              <a:ext cx="1176052" cy="868904"/>
            </a:xfrm>
            <a:prstGeom prst="straightConnector1">
              <a:avLst/>
            </a:prstGeom>
            <a:noFill/>
            <a:ln w="19050">
              <a:solidFill>
                <a:schemeClr val="tx1"/>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53" name="AutoShape 5"/>
            <p:cNvSpPr>
              <a:spLocks noChangeShapeType="1"/>
            </p:cNvSpPr>
            <p:nvPr/>
          </p:nvSpPr>
          <p:spPr bwMode="auto">
            <a:xfrm>
              <a:off x="8732019" y="2492716"/>
              <a:ext cx="1267" cy="588980"/>
            </a:xfrm>
            <a:prstGeom prst="straightConnector1">
              <a:avLst/>
            </a:prstGeom>
            <a:noFill/>
            <a:ln w="19050">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54" name="AutoShape 4"/>
            <p:cNvSpPr>
              <a:spLocks noChangeShapeType="1"/>
            </p:cNvSpPr>
            <p:nvPr/>
          </p:nvSpPr>
          <p:spPr bwMode="auto">
            <a:xfrm>
              <a:off x="7218867" y="2492716"/>
              <a:ext cx="1267" cy="588980"/>
            </a:xfrm>
            <a:prstGeom prst="straightConnector1">
              <a:avLst/>
            </a:prstGeom>
            <a:noFill/>
            <a:ln w="19050">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55" name="AutoShape 3"/>
            <p:cNvSpPr>
              <a:spLocks noChangeShapeType="1"/>
            </p:cNvSpPr>
            <p:nvPr/>
          </p:nvSpPr>
          <p:spPr bwMode="auto">
            <a:xfrm>
              <a:off x="7358269" y="3450284"/>
              <a:ext cx="479038" cy="468651"/>
            </a:xfrm>
            <a:prstGeom prst="straightConnector1">
              <a:avLst/>
            </a:prstGeom>
            <a:noFill/>
            <a:ln w="19050">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cxnSp>
          <p:nvCxnSpPr>
            <p:cNvPr id="56" name="直接箭头连接符 55"/>
            <p:cNvCxnSpPr>
              <a:stCxn id="49" idx="7"/>
              <a:endCxn id="48" idx="3"/>
            </p:cNvCxnSpPr>
            <p:nvPr/>
          </p:nvCxnSpPr>
          <p:spPr>
            <a:xfrm rot="5400000" flipH="1" flipV="1">
              <a:off x="8120211" y="3446656"/>
              <a:ext cx="468309" cy="475722"/>
            </a:xfrm>
            <a:prstGeom prst="straightConnector1">
              <a:avLst/>
            </a:prstGeom>
            <a:ln w="19050">
              <a:solidFill>
                <a:srgbClr val="006600"/>
              </a:solidFill>
              <a:prstDash val="dash"/>
              <a:tailEnd type="arrow"/>
            </a:ln>
          </p:spPr>
          <p:style>
            <a:lnRef idx="2">
              <a:schemeClr val="dk1"/>
            </a:lnRef>
            <a:fillRef idx="0">
              <a:schemeClr val="dk1"/>
            </a:fillRef>
            <a:effectRef idx="1">
              <a:schemeClr val="dk1"/>
            </a:effectRef>
            <a:fontRef idx="minor">
              <a:schemeClr val="tx1"/>
            </a:fontRef>
          </p:style>
        </p:cxnSp>
        <p:sp>
          <p:nvSpPr>
            <p:cNvPr id="57" name="Text Box 18"/>
            <p:cNvSpPr txBox="1">
              <a:spLocks noChangeArrowheads="1"/>
            </p:cNvSpPr>
            <p:nvPr/>
          </p:nvSpPr>
          <p:spPr bwMode="auto">
            <a:xfrm>
              <a:off x="8386702" y="3665892"/>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6600"/>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6600"/>
                </a:solidFill>
                <a:effectLst/>
                <a:latin typeface="Consolas" pitchFamily="49" charset="0"/>
                <a:ea typeface="宋体" pitchFamily="2" charset="-122"/>
                <a:cs typeface="宋体" pitchFamily="2" charset="-122"/>
              </a:endParaRPr>
            </a:p>
          </p:txBody>
        </p:sp>
        <p:sp>
          <p:nvSpPr>
            <p:cNvPr id="58" name="任意多边形 57"/>
            <p:cNvSpPr/>
            <p:nvPr/>
          </p:nvSpPr>
          <p:spPr>
            <a:xfrm>
              <a:off x="7311495" y="2491315"/>
              <a:ext cx="1241778" cy="886177"/>
            </a:xfrm>
            <a:custGeom>
              <a:avLst/>
              <a:gdLst>
                <a:gd name="connsiteX0" fmla="*/ 1241778 w 1241778"/>
                <a:gd name="connsiteY0" fmla="*/ 846666 h 886177"/>
                <a:gd name="connsiteX1" fmla="*/ 925689 w 1241778"/>
                <a:gd name="connsiteY1" fmla="*/ 857955 h 886177"/>
                <a:gd name="connsiteX2" fmla="*/ 462845 w 1241778"/>
                <a:gd name="connsiteY2" fmla="*/ 677333 h 886177"/>
                <a:gd name="connsiteX3" fmla="*/ 0 w 1241778"/>
                <a:gd name="connsiteY3" fmla="*/ 0 h 886177"/>
              </a:gdLst>
              <a:ahLst/>
              <a:cxnLst>
                <a:cxn ang="0">
                  <a:pos x="connsiteX0" y="connsiteY0"/>
                </a:cxn>
                <a:cxn ang="0">
                  <a:pos x="connsiteX1" y="connsiteY1"/>
                </a:cxn>
                <a:cxn ang="0">
                  <a:pos x="connsiteX2" y="connsiteY2"/>
                </a:cxn>
                <a:cxn ang="0">
                  <a:pos x="connsiteX3" y="connsiteY3"/>
                </a:cxn>
              </a:cxnLst>
              <a:rect l="l" t="t" r="r" b="b"/>
              <a:pathLst>
                <a:path w="1241778" h="886177">
                  <a:moveTo>
                    <a:pt x="1241778" y="846666"/>
                  </a:moveTo>
                  <a:cubicBezTo>
                    <a:pt x="1148644" y="866421"/>
                    <a:pt x="1055511" y="886177"/>
                    <a:pt x="925689" y="857955"/>
                  </a:cubicBezTo>
                  <a:cubicBezTo>
                    <a:pt x="795867" y="829733"/>
                    <a:pt x="617127" y="820326"/>
                    <a:pt x="462845" y="677333"/>
                  </a:cubicBezTo>
                  <a:cubicBezTo>
                    <a:pt x="308564" y="534341"/>
                    <a:pt x="154282" y="267170"/>
                    <a:pt x="0" y="0"/>
                  </a:cubicBezTo>
                </a:path>
              </a:pathLst>
            </a:custGeom>
            <a:ln w="19050">
              <a:solidFill>
                <a:srgbClr val="FF0000"/>
              </a:solidFill>
              <a:prstDash val="dash"/>
              <a:tailEnd type="arrow"/>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59" name="任意多边形 58"/>
            <p:cNvSpPr/>
            <p:nvPr/>
          </p:nvSpPr>
          <p:spPr>
            <a:xfrm>
              <a:off x="7194843" y="1238248"/>
              <a:ext cx="624652" cy="835378"/>
            </a:xfrm>
            <a:custGeom>
              <a:avLst/>
              <a:gdLst>
                <a:gd name="connsiteX0" fmla="*/ 37630 w 624652"/>
                <a:gd name="connsiteY0" fmla="*/ 835378 h 835378"/>
                <a:gd name="connsiteX1" fmla="*/ 15052 w 624652"/>
                <a:gd name="connsiteY1" fmla="*/ 620889 h 835378"/>
                <a:gd name="connsiteX2" fmla="*/ 127941 w 624652"/>
                <a:gd name="connsiteY2" fmla="*/ 327378 h 835378"/>
                <a:gd name="connsiteX3" fmla="*/ 387586 w 624652"/>
                <a:gd name="connsiteY3" fmla="*/ 45156 h 835378"/>
                <a:gd name="connsiteX4" fmla="*/ 624652 w 624652"/>
                <a:gd name="connsiteY4" fmla="*/ 56444 h 8353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4652" h="835378">
                  <a:moveTo>
                    <a:pt x="37630" y="835378"/>
                  </a:moveTo>
                  <a:cubicBezTo>
                    <a:pt x="18815" y="770467"/>
                    <a:pt x="0" y="705556"/>
                    <a:pt x="15052" y="620889"/>
                  </a:cubicBezTo>
                  <a:cubicBezTo>
                    <a:pt x="30104" y="536222"/>
                    <a:pt x="65852" y="423333"/>
                    <a:pt x="127941" y="327378"/>
                  </a:cubicBezTo>
                  <a:cubicBezTo>
                    <a:pt x="190030" y="231423"/>
                    <a:pt x="304801" y="90312"/>
                    <a:pt x="387586" y="45156"/>
                  </a:cubicBezTo>
                  <a:cubicBezTo>
                    <a:pt x="470371" y="0"/>
                    <a:pt x="547511" y="28222"/>
                    <a:pt x="624652" y="56444"/>
                  </a:cubicBezTo>
                </a:path>
              </a:pathLst>
            </a:custGeom>
            <a:ln w="19050">
              <a:solidFill>
                <a:srgbClr val="006600"/>
              </a:solidFill>
              <a:prstDash val="dash"/>
              <a:tailEnd type="arrow"/>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60" name="Text Box 18"/>
            <p:cNvSpPr txBox="1">
              <a:spLocks noChangeArrowheads="1"/>
            </p:cNvSpPr>
            <p:nvPr/>
          </p:nvSpPr>
          <p:spPr bwMode="auto">
            <a:xfrm>
              <a:off x="7786710" y="2928934"/>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6600"/>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6600"/>
                </a:solidFill>
                <a:effectLst/>
                <a:latin typeface="Consolas" pitchFamily="49" charset="0"/>
                <a:ea typeface="宋体" pitchFamily="2" charset="-122"/>
                <a:cs typeface="宋体" pitchFamily="2" charset="-122"/>
              </a:endParaRPr>
            </a:p>
          </p:txBody>
        </p:sp>
        <p:sp>
          <p:nvSpPr>
            <p:cNvPr id="61" name="Text Box 18"/>
            <p:cNvSpPr txBox="1">
              <a:spLocks noChangeArrowheads="1"/>
            </p:cNvSpPr>
            <p:nvPr/>
          </p:nvSpPr>
          <p:spPr bwMode="auto">
            <a:xfrm>
              <a:off x="7143768" y="1285860"/>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006600"/>
                  </a:solidFill>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6600"/>
                </a:solidFill>
                <a:effectLst/>
                <a:latin typeface="Consolas" pitchFamily="49" charset="0"/>
                <a:ea typeface="宋体" pitchFamily="2" charset="-122"/>
                <a:cs typeface="宋体" pitchFamily="2" charset="-122"/>
              </a:endParaRPr>
            </a:p>
          </p:txBody>
        </p:sp>
        <p:sp>
          <p:nvSpPr>
            <p:cNvPr id="62" name="任意多边形 61"/>
            <p:cNvSpPr/>
            <p:nvPr/>
          </p:nvSpPr>
          <p:spPr>
            <a:xfrm>
              <a:off x="6886222" y="2427111"/>
              <a:ext cx="191911" cy="699911"/>
            </a:xfrm>
            <a:custGeom>
              <a:avLst/>
              <a:gdLst>
                <a:gd name="connsiteX0" fmla="*/ 191911 w 191911"/>
                <a:gd name="connsiteY0" fmla="*/ 699911 h 699911"/>
                <a:gd name="connsiteX1" fmla="*/ 56445 w 191911"/>
                <a:gd name="connsiteY1" fmla="*/ 609600 h 699911"/>
                <a:gd name="connsiteX2" fmla="*/ 22578 w 191911"/>
                <a:gd name="connsiteY2" fmla="*/ 349956 h 699911"/>
                <a:gd name="connsiteX3" fmla="*/ 191911 w 191911"/>
                <a:gd name="connsiteY3" fmla="*/ 0 h 699911"/>
              </a:gdLst>
              <a:ahLst/>
              <a:cxnLst>
                <a:cxn ang="0">
                  <a:pos x="connsiteX0" y="connsiteY0"/>
                </a:cxn>
                <a:cxn ang="0">
                  <a:pos x="connsiteX1" y="connsiteY1"/>
                </a:cxn>
                <a:cxn ang="0">
                  <a:pos x="connsiteX2" y="connsiteY2"/>
                </a:cxn>
                <a:cxn ang="0">
                  <a:pos x="connsiteX3" y="connsiteY3"/>
                </a:cxn>
              </a:cxnLst>
              <a:rect l="l" t="t" r="r" b="b"/>
              <a:pathLst>
                <a:path w="191911" h="699911">
                  <a:moveTo>
                    <a:pt x="191911" y="699911"/>
                  </a:moveTo>
                  <a:cubicBezTo>
                    <a:pt x="138289" y="683918"/>
                    <a:pt x="84667" y="667926"/>
                    <a:pt x="56445" y="609600"/>
                  </a:cubicBezTo>
                  <a:cubicBezTo>
                    <a:pt x="28223" y="551274"/>
                    <a:pt x="0" y="451556"/>
                    <a:pt x="22578" y="349956"/>
                  </a:cubicBezTo>
                  <a:cubicBezTo>
                    <a:pt x="45156" y="248356"/>
                    <a:pt x="118533" y="124178"/>
                    <a:pt x="191911" y="0"/>
                  </a:cubicBezTo>
                </a:path>
              </a:pathLst>
            </a:custGeom>
            <a:ln w="19050">
              <a:solidFill>
                <a:schemeClr val="tx1"/>
              </a:solidFill>
              <a:prstDash val="dash"/>
              <a:tailEnd type="arrow"/>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63" name="Text Box 18"/>
            <p:cNvSpPr txBox="1">
              <a:spLocks noChangeArrowheads="1"/>
            </p:cNvSpPr>
            <p:nvPr/>
          </p:nvSpPr>
          <p:spPr bwMode="auto">
            <a:xfrm>
              <a:off x="6700147" y="2571744"/>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006600"/>
                  </a:solidFill>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6600"/>
                </a:solidFill>
                <a:effectLst/>
                <a:latin typeface="Consolas" pitchFamily="49" charset="0"/>
                <a:ea typeface="宋体" pitchFamily="2" charset="-122"/>
                <a:cs typeface="宋体" pitchFamily="2" charset="-122"/>
              </a:endParaRPr>
            </a:p>
          </p:txBody>
        </p:sp>
        <p:sp>
          <p:nvSpPr>
            <p:cNvPr id="64" name="任意多边形 63"/>
            <p:cNvSpPr/>
            <p:nvPr/>
          </p:nvSpPr>
          <p:spPr>
            <a:xfrm>
              <a:off x="7198548" y="3533422"/>
              <a:ext cx="556919" cy="630296"/>
            </a:xfrm>
            <a:custGeom>
              <a:avLst/>
              <a:gdLst>
                <a:gd name="connsiteX0" fmla="*/ 556919 w 556919"/>
                <a:gd name="connsiteY0" fmla="*/ 598311 h 630296"/>
                <a:gd name="connsiteX1" fmla="*/ 308563 w 556919"/>
                <a:gd name="connsiteY1" fmla="*/ 609600 h 630296"/>
                <a:gd name="connsiteX2" fmla="*/ 116652 w 556919"/>
                <a:gd name="connsiteY2" fmla="*/ 474134 h 630296"/>
                <a:gd name="connsiteX3" fmla="*/ 15052 w 556919"/>
                <a:gd name="connsiteY3" fmla="*/ 270934 h 630296"/>
                <a:gd name="connsiteX4" fmla="*/ 26341 w 556919"/>
                <a:gd name="connsiteY4" fmla="*/ 0 h 6302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6919" h="630296">
                  <a:moveTo>
                    <a:pt x="556919" y="598311"/>
                  </a:moveTo>
                  <a:cubicBezTo>
                    <a:pt x="469430" y="614303"/>
                    <a:pt x="381941" y="630296"/>
                    <a:pt x="308563" y="609600"/>
                  </a:cubicBezTo>
                  <a:cubicBezTo>
                    <a:pt x="235185" y="588904"/>
                    <a:pt x="165570" y="530578"/>
                    <a:pt x="116652" y="474134"/>
                  </a:cubicBezTo>
                  <a:cubicBezTo>
                    <a:pt x="67734" y="417690"/>
                    <a:pt x="30104" y="349956"/>
                    <a:pt x="15052" y="270934"/>
                  </a:cubicBezTo>
                  <a:cubicBezTo>
                    <a:pt x="0" y="191912"/>
                    <a:pt x="13170" y="95956"/>
                    <a:pt x="26341" y="0"/>
                  </a:cubicBezTo>
                </a:path>
              </a:pathLst>
            </a:custGeom>
            <a:ln w="19050">
              <a:solidFill>
                <a:srgbClr val="006600"/>
              </a:solidFill>
              <a:prstDash val="dash"/>
              <a:tailEnd type="arrow"/>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65" name="Text Box 18"/>
            <p:cNvSpPr txBox="1">
              <a:spLocks noChangeArrowheads="1"/>
            </p:cNvSpPr>
            <p:nvPr/>
          </p:nvSpPr>
          <p:spPr bwMode="auto">
            <a:xfrm>
              <a:off x="7100818" y="3857628"/>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006600"/>
                  </a:solidFill>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6600"/>
                </a:solidFill>
                <a:effectLst/>
                <a:latin typeface="Consolas" pitchFamily="49" charset="0"/>
                <a:ea typeface="宋体" pitchFamily="2" charset="-122"/>
                <a:cs typeface="宋体" pitchFamily="2" charset="-122"/>
              </a:endParaRPr>
            </a:p>
          </p:txBody>
        </p:sp>
      </p:grpSp>
      <p:grpSp>
        <p:nvGrpSpPr>
          <p:cNvPr id="66" name="组合 65"/>
          <p:cNvGrpSpPr/>
          <p:nvPr/>
        </p:nvGrpSpPr>
        <p:grpSpPr>
          <a:xfrm>
            <a:off x="5867408" y="2428868"/>
            <a:ext cx="847732" cy="685862"/>
            <a:chOff x="2509822" y="5100592"/>
            <a:chExt cx="847732" cy="685862"/>
          </a:xfrm>
        </p:grpSpPr>
        <p:sp>
          <p:nvSpPr>
            <p:cNvPr id="67" name="TextBox 66"/>
            <p:cNvSpPr txBox="1"/>
            <p:nvPr/>
          </p:nvSpPr>
          <p:spPr>
            <a:xfrm>
              <a:off x="2509822" y="5100592"/>
              <a:ext cx="847732" cy="400110"/>
            </a:xfrm>
            <a:prstGeom prst="rect">
              <a:avLst/>
            </a:prstGeom>
            <a:noFill/>
          </p:spPr>
          <p:txBody>
            <a:bodyPr wrap="square" rtlCol="0">
              <a:spAutoFit/>
            </a:bodyPr>
            <a:lstStyle/>
            <a:p>
              <a:pPr algn="l">
                <a:lnSpc>
                  <a:spcPct val="100000"/>
                </a:lnSpc>
                <a:spcBef>
                  <a:spcPts val="0"/>
                </a:spcBef>
              </a:pPr>
              <a:r>
                <a:rPr lang="zh-CN" altLang="zh-CN" sz="2000">
                  <a:solidFill>
                    <a:srgbClr val="0000FF"/>
                  </a:solidFill>
                  <a:latin typeface="Consolas" pitchFamily="49" charset="0"/>
                  <a:ea typeface="仿宋" pitchFamily="49" charset="-122"/>
                </a:rPr>
                <a:t>增广</a:t>
              </a:r>
              <a:endParaRPr lang="zh-CN" altLang="en-US" sz="2000">
                <a:solidFill>
                  <a:srgbClr val="0000FF"/>
                </a:solidFill>
                <a:latin typeface="Consolas" pitchFamily="49" charset="0"/>
                <a:ea typeface="仿宋" pitchFamily="49" charset="-122"/>
                <a:cs typeface="Consolas" pitchFamily="49" charset="0"/>
              </a:endParaRPr>
            </a:p>
          </p:txBody>
        </p:sp>
        <p:sp>
          <p:nvSpPr>
            <p:cNvPr id="68" name="右箭头 67"/>
            <p:cNvSpPr/>
            <p:nvPr/>
          </p:nvSpPr>
          <p:spPr>
            <a:xfrm>
              <a:off x="2581260" y="5500702"/>
              <a:ext cx="633418" cy="285752"/>
            </a:xfrm>
            <a:prstGeom prst="right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grpSp>
      <p:grpSp>
        <p:nvGrpSpPr>
          <p:cNvPr id="102" name="组合 101"/>
          <p:cNvGrpSpPr/>
          <p:nvPr/>
        </p:nvGrpSpPr>
        <p:grpSpPr>
          <a:xfrm>
            <a:off x="6628709" y="1571612"/>
            <a:ext cx="2229571" cy="3112096"/>
            <a:chOff x="6628709" y="1571612"/>
            <a:chExt cx="2229571" cy="3112096"/>
          </a:xfrm>
        </p:grpSpPr>
        <p:sp>
          <p:nvSpPr>
            <p:cNvPr id="70" name="Text Box 22"/>
            <p:cNvSpPr txBox="1">
              <a:spLocks noChangeArrowheads="1"/>
            </p:cNvSpPr>
            <p:nvPr/>
          </p:nvSpPr>
          <p:spPr bwMode="auto">
            <a:xfrm>
              <a:off x="8380509" y="1994665"/>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71" name="Text Box 21"/>
            <p:cNvSpPr txBox="1">
              <a:spLocks noChangeArrowheads="1"/>
            </p:cNvSpPr>
            <p:nvPr/>
          </p:nvSpPr>
          <p:spPr bwMode="auto">
            <a:xfrm>
              <a:off x="7844442" y="2370852"/>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72" name="Text Box 20"/>
            <p:cNvSpPr txBox="1">
              <a:spLocks noChangeArrowheads="1"/>
            </p:cNvSpPr>
            <p:nvPr/>
          </p:nvSpPr>
          <p:spPr bwMode="auto">
            <a:xfrm>
              <a:off x="7947093" y="3043429"/>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0000FF"/>
                  </a:solidFill>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73" name="Text Box 19"/>
            <p:cNvSpPr txBox="1">
              <a:spLocks noChangeArrowheads="1"/>
            </p:cNvSpPr>
            <p:nvPr/>
          </p:nvSpPr>
          <p:spPr bwMode="auto">
            <a:xfrm>
              <a:off x="8696066" y="3051029"/>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0000FF"/>
                  </a:solidFill>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75" name="Text Box 16"/>
            <p:cNvSpPr txBox="1">
              <a:spLocks noChangeArrowheads="1"/>
            </p:cNvSpPr>
            <p:nvPr/>
          </p:nvSpPr>
          <p:spPr bwMode="auto">
            <a:xfrm>
              <a:off x="7365854" y="4027597"/>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0000FF"/>
                  </a:solidFill>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76" name="Oval 15"/>
            <p:cNvSpPr>
              <a:spLocks noChangeArrowheads="1"/>
            </p:cNvSpPr>
            <p:nvPr/>
          </p:nvSpPr>
          <p:spPr bwMode="auto">
            <a:xfrm>
              <a:off x="7707574" y="1571612"/>
              <a:ext cx="395397" cy="430652"/>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0</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77" name="Oval 14"/>
            <p:cNvSpPr>
              <a:spLocks noChangeArrowheads="1"/>
            </p:cNvSpPr>
            <p:nvPr/>
          </p:nvSpPr>
          <p:spPr bwMode="auto">
            <a:xfrm>
              <a:off x="6949730" y="2459516"/>
              <a:ext cx="395397" cy="43065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78" name="Oval 13"/>
            <p:cNvSpPr>
              <a:spLocks noChangeArrowheads="1"/>
            </p:cNvSpPr>
            <p:nvPr/>
          </p:nvSpPr>
          <p:spPr bwMode="auto">
            <a:xfrm>
              <a:off x="8462883" y="2459516"/>
              <a:ext cx="395397" cy="43065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79" name="Oval 12"/>
            <p:cNvSpPr>
              <a:spLocks noChangeArrowheads="1"/>
            </p:cNvSpPr>
            <p:nvPr/>
          </p:nvSpPr>
          <p:spPr bwMode="auto">
            <a:xfrm>
              <a:off x="6949730" y="3479148"/>
              <a:ext cx="395397" cy="43191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80" name="Oval 11"/>
            <p:cNvSpPr>
              <a:spLocks noChangeArrowheads="1"/>
            </p:cNvSpPr>
            <p:nvPr/>
          </p:nvSpPr>
          <p:spPr bwMode="auto">
            <a:xfrm>
              <a:off x="8462883" y="3479148"/>
              <a:ext cx="395397" cy="43191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81" name="Oval 10"/>
            <p:cNvSpPr>
              <a:spLocks noChangeArrowheads="1"/>
            </p:cNvSpPr>
            <p:nvPr/>
          </p:nvSpPr>
          <p:spPr bwMode="auto">
            <a:xfrm>
              <a:off x="7707574" y="4253056"/>
              <a:ext cx="395397" cy="430652"/>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5</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82" name="AutoShape 8"/>
            <p:cNvSpPr>
              <a:spLocks noChangeShapeType="1"/>
            </p:cNvSpPr>
            <p:nvPr/>
          </p:nvSpPr>
          <p:spPr bwMode="auto">
            <a:xfrm>
              <a:off x="8044675" y="1938933"/>
              <a:ext cx="476504" cy="583914"/>
            </a:xfrm>
            <a:prstGeom prst="straightConnector1">
              <a:avLst/>
            </a:prstGeom>
            <a:noFill/>
            <a:ln w="19050">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83" name="AutoShape 7"/>
            <p:cNvSpPr>
              <a:spLocks noChangeShapeType="1"/>
            </p:cNvSpPr>
            <p:nvPr/>
          </p:nvSpPr>
          <p:spPr bwMode="auto">
            <a:xfrm>
              <a:off x="7345127" y="2674842"/>
              <a:ext cx="1117756" cy="1267"/>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84" name="AutoShape 6"/>
            <p:cNvSpPr>
              <a:spLocks noChangeShapeType="1"/>
            </p:cNvSpPr>
            <p:nvPr/>
          </p:nvSpPr>
          <p:spPr bwMode="auto">
            <a:xfrm>
              <a:off x="7286831" y="2826837"/>
              <a:ext cx="1176052" cy="868904"/>
            </a:xfrm>
            <a:prstGeom prst="straightConnector1">
              <a:avLst/>
            </a:prstGeom>
            <a:noFill/>
            <a:ln w="19050">
              <a:solidFill>
                <a:schemeClr val="tx1"/>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85" name="AutoShape 5"/>
            <p:cNvSpPr>
              <a:spLocks noChangeShapeType="1"/>
            </p:cNvSpPr>
            <p:nvPr/>
          </p:nvSpPr>
          <p:spPr bwMode="auto">
            <a:xfrm>
              <a:off x="8660581" y="2890168"/>
              <a:ext cx="1267" cy="588980"/>
            </a:xfrm>
            <a:prstGeom prst="straightConnector1">
              <a:avLst/>
            </a:prstGeom>
            <a:noFill/>
            <a:ln w="19050">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87" name="AutoShape 3"/>
            <p:cNvSpPr>
              <a:spLocks noChangeShapeType="1"/>
            </p:cNvSpPr>
            <p:nvPr/>
          </p:nvSpPr>
          <p:spPr bwMode="auto">
            <a:xfrm>
              <a:off x="7286831" y="3847736"/>
              <a:ext cx="479038" cy="468651"/>
            </a:xfrm>
            <a:prstGeom prst="straightConnector1">
              <a:avLst/>
            </a:prstGeom>
            <a:noFill/>
            <a:ln w="19050">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cxnSp>
          <p:nvCxnSpPr>
            <p:cNvPr id="88" name="直接箭头连接符 87"/>
            <p:cNvCxnSpPr>
              <a:stCxn id="81" idx="7"/>
              <a:endCxn id="80" idx="3"/>
            </p:cNvCxnSpPr>
            <p:nvPr/>
          </p:nvCxnSpPr>
          <p:spPr>
            <a:xfrm rot="5400000" flipH="1" flipV="1">
              <a:off x="8048773" y="3844108"/>
              <a:ext cx="468309" cy="475722"/>
            </a:xfrm>
            <a:prstGeom prst="straightConnector1">
              <a:avLst/>
            </a:prstGeom>
            <a:ln w="19050">
              <a:solidFill>
                <a:srgbClr val="006600"/>
              </a:solidFill>
              <a:prstDash val="dash"/>
              <a:tailEnd type="arrow"/>
            </a:ln>
          </p:spPr>
          <p:style>
            <a:lnRef idx="2">
              <a:schemeClr val="dk1"/>
            </a:lnRef>
            <a:fillRef idx="0">
              <a:schemeClr val="dk1"/>
            </a:fillRef>
            <a:effectRef idx="1">
              <a:schemeClr val="dk1"/>
            </a:effectRef>
            <a:fontRef idx="minor">
              <a:schemeClr val="tx1"/>
            </a:fontRef>
          </p:style>
        </p:cxnSp>
        <p:sp>
          <p:nvSpPr>
            <p:cNvPr id="89" name="Text Box 18"/>
            <p:cNvSpPr txBox="1">
              <a:spLocks noChangeArrowheads="1"/>
            </p:cNvSpPr>
            <p:nvPr/>
          </p:nvSpPr>
          <p:spPr bwMode="auto">
            <a:xfrm>
              <a:off x="8315264" y="4063344"/>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6600"/>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6600"/>
                </a:solidFill>
                <a:effectLst/>
                <a:latin typeface="Consolas" pitchFamily="49" charset="0"/>
                <a:ea typeface="宋体" pitchFamily="2" charset="-122"/>
                <a:cs typeface="宋体" pitchFamily="2" charset="-122"/>
              </a:endParaRPr>
            </a:p>
          </p:txBody>
        </p:sp>
        <p:sp>
          <p:nvSpPr>
            <p:cNvPr id="90" name="任意多边形 89"/>
            <p:cNvSpPr/>
            <p:nvPr/>
          </p:nvSpPr>
          <p:spPr>
            <a:xfrm>
              <a:off x="7240057" y="2888767"/>
              <a:ext cx="1241778" cy="886177"/>
            </a:xfrm>
            <a:custGeom>
              <a:avLst/>
              <a:gdLst>
                <a:gd name="connsiteX0" fmla="*/ 1241778 w 1241778"/>
                <a:gd name="connsiteY0" fmla="*/ 846666 h 886177"/>
                <a:gd name="connsiteX1" fmla="*/ 925689 w 1241778"/>
                <a:gd name="connsiteY1" fmla="*/ 857955 h 886177"/>
                <a:gd name="connsiteX2" fmla="*/ 462845 w 1241778"/>
                <a:gd name="connsiteY2" fmla="*/ 677333 h 886177"/>
                <a:gd name="connsiteX3" fmla="*/ 0 w 1241778"/>
                <a:gd name="connsiteY3" fmla="*/ 0 h 886177"/>
              </a:gdLst>
              <a:ahLst/>
              <a:cxnLst>
                <a:cxn ang="0">
                  <a:pos x="connsiteX0" y="connsiteY0"/>
                </a:cxn>
                <a:cxn ang="0">
                  <a:pos x="connsiteX1" y="connsiteY1"/>
                </a:cxn>
                <a:cxn ang="0">
                  <a:pos x="connsiteX2" y="connsiteY2"/>
                </a:cxn>
                <a:cxn ang="0">
                  <a:pos x="connsiteX3" y="connsiteY3"/>
                </a:cxn>
              </a:cxnLst>
              <a:rect l="l" t="t" r="r" b="b"/>
              <a:pathLst>
                <a:path w="1241778" h="886177">
                  <a:moveTo>
                    <a:pt x="1241778" y="846666"/>
                  </a:moveTo>
                  <a:cubicBezTo>
                    <a:pt x="1148644" y="866421"/>
                    <a:pt x="1055511" y="886177"/>
                    <a:pt x="925689" y="857955"/>
                  </a:cubicBezTo>
                  <a:cubicBezTo>
                    <a:pt x="795867" y="829733"/>
                    <a:pt x="617127" y="820326"/>
                    <a:pt x="462845" y="677333"/>
                  </a:cubicBezTo>
                  <a:cubicBezTo>
                    <a:pt x="308564" y="534341"/>
                    <a:pt x="154282" y="267170"/>
                    <a:pt x="0" y="0"/>
                  </a:cubicBezTo>
                </a:path>
              </a:pathLst>
            </a:custGeom>
            <a:ln w="19050">
              <a:solidFill>
                <a:srgbClr val="FF0000"/>
              </a:solidFill>
              <a:prstDash val="dash"/>
              <a:tailEnd type="arrow"/>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91" name="任意多边形 90"/>
            <p:cNvSpPr/>
            <p:nvPr/>
          </p:nvSpPr>
          <p:spPr>
            <a:xfrm>
              <a:off x="7123405" y="1635700"/>
              <a:ext cx="624652" cy="835378"/>
            </a:xfrm>
            <a:custGeom>
              <a:avLst/>
              <a:gdLst>
                <a:gd name="connsiteX0" fmla="*/ 37630 w 624652"/>
                <a:gd name="connsiteY0" fmla="*/ 835378 h 835378"/>
                <a:gd name="connsiteX1" fmla="*/ 15052 w 624652"/>
                <a:gd name="connsiteY1" fmla="*/ 620889 h 835378"/>
                <a:gd name="connsiteX2" fmla="*/ 127941 w 624652"/>
                <a:gd name="connsiteY2" fmla="*/ 327378 h 835378"/>
                <a:gd name="connsiteX3" fmla="*/ 387586 w 624652"/>
                <a:gd name="connsiteY3" fmla="*/ 45156 h 835378"/>
                <a:gd name="connsiteX4" fmla="*/ 624652 w 624652"/>
                <a:gd name="connsiteY4" fmla="*/ 56444 h 8353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4652" h="835378">
                  <a:moveTo>
                    <a:pt x="37630" y="835378"/>
                  </a:moveTo>
                  <a:cubicBezTo>
                    <a:pt x="18815" y="770467"/>
                    <a:pt x="0" y="705556"/>
                    <a:pt x="15052" y="620889"/>
                  </a:cubicBezTo>
                  <a:cubicBezTo>
                    <a:pt x="30104" y="536222"/>
                    <a:pt x="65852" y="423333"/>
                    <a:pt x="127941" y="327378"/>
                  </a:cubicBezTo>
                  <a:cubicBezTo>
                    <a:pt x="190030" y="231423"/>
                    <a:pt x="304801" y="90312"/>
                    <a:pt x="387586" y="45156"/>
                  </a:cubicBezTo>
                  <a:cubicBezTo>
                    <a:pt x="470371" y="0"/>
                    <a:pt x="547511" y="28222"/>
                    <a:pt x="624652" y="56444"/>
                  </a:cubicBezTo>
                </a:path>
              </a:pathLst>
            </a:custGeom>
            <a:ln w="19050">
              <a:solidFill>
                <a:srgbClr val="006600"/>
              </a:solidFill>
              <a:prstDash val="dash"/>
              <a:tailEnd type="arrow"/>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92" name="Text Box 18"/>
            <p:cNvSpPr txBox="1">
              <a:spLocks noChangeArrowheads="1"/>
            </p:cNvSpPr>
            <p:nvPr/>
          </p:nvSpPr>
          <p:spPr bwMode="auto">
            <a:xfrm>
              <a:off x="7715272" y="3326386"/>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006600"/>
                  </a:solidFill>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6600"/>
                </a:solidFill>
                <a:effectLst/>
                <a:latin typeface="Consolas" pitchFamily="49" charset="0"/>
                <a:ea typeface="宋体" pitchFamily="2" charset="-122"/>
                <a:cs typeface="宋体" pitchFamily="2" charset="-122"/>
              </a:endParaRPr>
            </a:p>
          </p:txBody>
        </p:sp>
        <p:sp>
          <p:nvSpPr>
            <p:cNvPr id="93" name="Text Box 18"/>
            <p:cNvSpPr txBox="1">
              <a:spLocks noChangeArrowheads="1"/>
            </p:cNvSpPr>
            <p:nvPr/>
          </p:nvSpPr>
          <p:spPr bwMode="auto">
            <a:xfrm>
              <a:off x="7072330" y="1683312"/>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006600"/>
                  </a:solidFill>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6600"/>
                </a:solidFill>
                <a:effectLst/>
                <a:latin typeface="Consolas" pitchFamily="49" charset="0"/>
                <a:ea typeface="宋体" pitchFamily="2" charset="-122"/>
                <a:cs typeface="宋体" pitchFamily="2" charset="-122"/>
              </a:endParaRPr>
            </a:p>
          </p:txBody>
        </p:sp>
        <p:sp>
          <p:nvSpPr>
            <p:cNvPr id="94" name="任意多边形 93"/>
            <p:cNvSpPr/>
            <p:nvPr/>
          </p:nvSpPr>
          <p:spPr>
            <a:xfrm>
              <a:off x="6814784" y="2824563"/>
              <a:ext cx="191911" cy="699911"/>
            </a:xfrm>
            <a:custGeom>
              <a:avLst/>
              <a:gdLst>
                <a:gd name="connsiteX0" fmla="*/ 191911 w 191911"/>
                <a:gd name="connsiteY0" fmla="*/ 699911 h 699911"/>
                <a:gd name="connsiteX1" fmla="*/ 56445 w 191911"/>
                <a:gd name="connsiteY1" fmla="*/ 609600 h 699911"/>
                <a:gd name="connsiteX2" fmla="*/ 22578 w 191911"/>
                <a:gd name="connsiteY2" fmla="*/ 349956 h 699911"/>
                <a:gd name="connsiteX3" fmla="*/ 191911 w 191911"/>
                <a:gd name="connsiteY3" fmla="*/ 0 h 699911"/>
              </a:gdLst>
              <a:ahLst/>
              <a:cxnLst>
                <a:cxn ang="0">
                  <a:pos x="connsiteX0" y="connsiteY0"/>
                </a:cxn>
                <a:cxn ang="0">
                  <a:pos x="connsiteX1" y="connsiteY1"/>
                </a:cxn>
                <a:cxn ang="0">
                  <a:pos x="connsiteX2" y="connsiteY2"/>
                </a:cxn>
                <a:cxn ang="0">
                  <a:pos x="connsiteX3" y="connsiteY3"/>
                </a:cxn>
              </a:cxnLst>
              <a:rect l="l" t="t" r="r" b="b"/>
              <a:pathLst>
                <a:path w="191911" h="699911">
                  <a:moveTo>
                    <a:pt x="191911" y="699911"/>
                  </a:moveTo>
                  <a:cubicBezTo>
                    <a:pt x="138289" y="683918"/>
                    <a:pt x="84667" y="667926"/>
                    <a:pt x="56445" y="609600"/>
                  </a:cubicBezTo>
                  <a:cubicBezTo>
                    <a:pt x="28223" y="551274"/>
                    <a:pt x="0" y="451556"/>
                    <a:pt x="22578" y="349956"/>
                  </a:cubicBezTo>
                  <a:cubicBezTo>
                    <a:pt x="45156" y="248356"/>
                    <a:pt x="118533" y="124178"/>
                    <a:pt x="191911" y="0"/>
                  </a:cubicBezTo>
                </a:path>
              </a:pathLst>
            </a:custGeom>
            <a:ln w="19050">
              <a:solidFill>
                <a:srgbClr val="006600"/>
              </a:solidFill>
              <a:prstDash val="dash"/>
              <a:tailEnd type="arrow"/>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95" name="Text Box 18"/>
            <p:cNvSpPr txBox="1">
              <a:spLocks noChangeArrowheads="1"/>
            </p:cNvSpPr>
            <p:nvPr/>
          </p:nvSpPr>
          <p:spPr bwMode="auto">
            <a:xfrm>
              <a:off x="6628709" y="2969196"/>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006600"/>
                  </a:solidFill>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6600"/>
                </a:solidFill>
                <a:effectLst/>
                <a:latin typeface="Consolas" pitchFamily="49" charset="0"/>
                <a:ea typeface="宋体" pitchFamily="2" charset="-122"/>
                <a:cs typeface="宋体" pitchFamily="2" charset="-122"/>
              </a:endParaRPr>
            </a:p>
          </p:txBody>
        </p:sp>
        <p:sp>
          <p:nvSpPr>
            <p:cNvPr id="96" name="任意多边形 95"/>
            <p:cNvSpPr/>
            <p:nvPr/>
          </p:nvSpPr>
          <p:spPr>
            <a:xfrm>
              <a:off x="7127110" y="3930874"/>
              <a:ext cx="556919" cy="630296"/>
            </a:xfrm>
            <a:custGeom>
              <a:avLst/>
              <a:gdLst>
                <a:gd name="connsiteX0" fmla="*/ 556919 w 556919"/>
                <a:gd name="connsiteY0" fmla="*/ 598311 h 630296"/>
                <a:gd name="connsiteX1" fmla="*/ 308563 w 556919"/>
                <a:gd name="connsiteY1" fmla="*/ 609600 h 630296"/>
                <a:gd name="connsiteX2" fmla="*/ 116652 w 556919"/>
                <a:gd name="connsiteY2" fmla="*/ 474134 h 630296"/>
                <a:gd name="connsiteX3" fmla="*/ 15052 w 556919"/>
                <a:gd name="connsiteY3" fmla="*/ 270934 h 630296"/>
                <a:gd name="connsiteX4" fmla="*/ 26341 w 556919"/>
                <a:gd name="connsiteY4" fmla="*/ 0 h 6302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6919" h="630296">
                  <a:moveTo>
                    <a:pt x="556919" y="598311"/>
                  </a:moveTo>
                  <a:cubicBezTo>
                    <a:pt x="469430" y="614303"/>
                    <a:pt x="381941" y="630296"/>
                    <a:pt x="308563" y="609600"/>
                  </a:cubicBezTo>
                  <a:cubicBezTo>
                    <a:pt x="235185" y="588904"/>
                    <a:pt x="165570" y="530578"/>
                    <a:pt x="116652" y="474134"/>
                  </a:cubicBezTo>
                  <a:cubicBezTo>
                    <a:pt x="67734" y="417690"/>
                    <a:pt x="30104" y="349956"/>
                    <a:pt x="15052" y="270934"/>
                  </a:cubicBezTo>
                  <a:cubicBezTo>
                    <a:pt x="0" y="191912"/>
                    <a:pt x="13170" y="95956"/>
                    <a:pt x="26341" y="0"/>
                  </a:cubicBezTo>
                </a:path>
              </a:pathLst>
            </a:custGeom>
            <a:ln w="19050">
              <a:solidFill>
                <a:srgbClr val="006600"/>
              </a:solidFill>
              <a:prstDash val="dash"/>
              <a:tailEnd type="arrow"/>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97" name="Text Box 18"/>
            <p:cNvSpPr txBox="1">
              <a:spLocks noChangeArrowheads="1"/>
            </p:cNvSpPr>
            <p:nvPr/>
          </p:nvSpPr>
          <p:spPr bwMode="auto">
            <a:xfrm>
              <a:off x="7029380" y="4255080"/>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006600"/>
                  </a:solidFill>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6600"/>
                </a:solidFill>
                <a:effectLst/>
                <a:latin typeface="Consolas" pitchFamily="49" charset="0"/>
                <a:ea typeface="宋体" pitchFamily="2" charset="-122"/>
                <a:cs typeface="宋体" pitchFamily="2" charset="-122"/>
              </a:endParaRPr>
            </a:p>
          </p:txBody>
        </p:sp>
        <p:sp>
          <p:nvSpPr>
            <p:cNvPr id="98" name="任意多边形 97"/>
            <p:cNvSpPr/>
            <p:nvPr/>
          </p:nvSpPr>
          <p:spPr>
            <a:xfrm>
              <a:off x="8082844" y="1693333"/>
              <a:ext cx="596430" cy="756356"/>
            </a:xfrm>
            <a:custGeom>
              <a:avLst/>
              <a:gdLst>
                <a:gd name="connsiteX0" fmla="*/ 587023 w 596430"/>
                <a:gd name="connsiteY0" fmla="*/ 756356 h 756356"/>
                <a:gd name="connsiteX1" fmla="*/ 575734 w 596430"/>
                <a:gd name="connsiteY1" fmla="*/ 485423 h 756356"/>
                <a:gd name="connsiteX2" fmla="*/ 462845 w 596430"/>
                <a:gd name="connsiteY2" fmla="*/ 112889 h 756356"/>
                <a:gd name="connsiteX3" fmla="*/ 0 w 596430"/>
                <a:gd name="connsiteY3" fmla="*/ 0 h 756356"/>
              </a:gdLst>
              <a:ahLst/>
              <a:cxnLst>
                <a:cxn ang="0">
                  <a:pos x="connsiteX0" y="connsiteY0"/>
                </a:cxn>
                <a:cxn ang="0">
                  <a:pos x="connsiteX1" y="connsiteY1"/>
                </a:cxn>
                <a:cxn ang="0">
                  <a:pos x="connsiteX2" y="connsiteY2"/>
                </a:cxn>
                <a:cxn ang="0">
                  <a:pos x="connsiteX3" y="connsiteY3"/>
                </a:cxn>
              </a:cxnLst>
              <a:rect l="l" t="t" r="r" b="b"/>
              <a:pathLst>
                <a:path w="596430" h="756356">
                  <a:moveTo>
                    <a:pt x="587023" y="756356"/>
                  </a:moveTo>
                  <a:cubicBezTo>
                    <a:pt x="591726" y="674511"/>
                    <a:pt x="596430" y="592667"/>
                    <a:pt x="575734" y="485423"/>
                  </a:cubicBezTo>
                  <a:cubicBezTo>
                    <a:pt x="555038" y="378179"/>
                    <a:pt x="558801" y="193793"/>
                    <a:pt x="462845" y="112889"/>
                  </a:cubicBezTo>
                  <a:cubicBezTo>
                    <a:pt x="366889" y="31985"/>
                    <a:pt x="183444" y="15992"/>
                    <a:pt x="0" y="0"/>
                  </a:cubicBezTo>
                </a:path>
              </a:pathLst>
            </a:custGeom>
            <a:ln w="19050">
              <a:solidFill>
                <a:srgbClr val="006600"/>
              </a:solidFill>
              <a:prstDash val="dash"/>
              <a:headEnd type="none" w="med" len="med"/>
              <a:tailEnd type="arrow" w="med" len="med"/>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99" name="Text Box 18"/>
            <p:cNvSpPr txBox="1">
              <a:spLocks noChangeArrowheads="1"/>
            </p:cNvSpPr>
            <p:nvPr/>
          </p:nvSpPr>
          <p:spPr bwMode="auto">
            <a:xfrm>
              <a:off x="8666544" y="1782888"/>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006600"/>
                  </a:solidFill>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6600"/>
                </a:solidFill>
                <a:effectLst/>
                <a:latin typeface="Consolas" pitchFamily="49" charset="0"/>
                <a:ea typeface="宋体" pitchFamily="2" charset="-122"/>
                <a:cs typeface="宋体" pitchFamily="2" charset="-122"/>
              </a:endParaRPr>
            </a:p>
          </p:txBody>
        </p:sp>
        <p:sp>
          <p:nvSpPr>
            <p:cNvPr id="100" name="任意多边形 99"/>
            <p:cNvSpPr/>
            <p:nvPr/>
          </p:nvSpPr>
          <p:spPr>
            <a:xfrm>
              <a:off x="8487363" y="2878667"/>
              <a:ext cx="103481" cy="643466"/>
            </a:xfrm>
            <a:custGeom>
              <a:avLst/>
              <a:gdLst>
                <a:gd name="connsiteX0" fmla="*/ 92193 w 103481"/>
                <a:gd name="connsiteY0" fmla="*/ 643466 h 643466"/>
                <a:gd name="connsiteX1" fmla="*/ 1881 w 103481"/>
                <a:gd name="connsiteY1" fmla="*/ 440266 h 643466"/>
                <a:gd name="connsiteX2" fmla="*/ 103481 w 103481"/>
                <a:gd name="connsiteY2" fmla="*/ 0 h 643466"/>
              </a:gdLst>
              <a:ahLst/>
              <a:cxnLst>
                <a:cxn ang="0">
                  <a:pos x="connsiteX0" y="connsiteY0"/>
                </a:cxn>
                <a:cxn ang="0">
                  <a:pos x="connsiteX1" y="connsiteY1"/>
                </a:cxn>
                <a:cxn ang="0">
                  <a:pos x="connsiteX2" y="connsiteY2"/>
                </a:cxn>
              </a:cxnLst>
              <a:rect l="l" t="t" r="r" b="b"/>
              <a:pathLst>
                <a:path w="103481" h="643466">
                  <a:moveTo>
                    <a:pt x="92193" y="643466"/>
                  </a:moveTo>
                  <a:cubicBezTo>
                    <a:pt x="46096" y="595488"/>
                    <a:pt x="0" y="547510"/>
                    <a:pt x="1881" y="440266"/>
                  </a:cubicBezTo>
                  <a:cubicBezTo>
                    <a:pt x="3762" y="333022"/>
                    <a:pt x="53621" y="166511"/>
                    <a:pt x="103481" y="0"/>
                  </a:cubicBezTo>
                </a:path>
              </a:pathLst>
            </a:custGeom>
            <a:ln w="19050">
              <a:solidFill>
                <a:srgbClr val="006600"/>
              </a:solidFill>
              <a:prstDash val="dash"/>
              <a:headEnd type="none" w="med" len="med"/>
              <a:tailEnd type="arrow" w="med" len="med"/>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101" name="Text Box 18"/>
            <p:cNvSpPr txBox="1">
              <a:spLocks noChangeArrowheads="1"/>
            </p:cNvSpPr>
            <p:nvPr/>
          </p:nvSpPr>
          <p:spPr bwMode="auto">
            <a:xfrm>
              <a:off x="8326553" y="3000372"/>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006600"/>
                  </a:solidFill>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6600"/>
                </a:solidFill>
                <a:effectLst/>
                <a:latin typeface="Consolas" pitchFamily="49" charset="0"/>
                <a:ea typeface="宋体" pitchFamily="2" charset="-122"/>
                <a:cs typeface="宋体" pitchFamily="2" charset="-122"/>
              </a:endParaRPr>
            </a:p>
          </p:txBody>
        </p:sp>
      </p:grpSp>
      <p:sp>
        <p:nvSpPr>
          <p:cNvPr id="104" name="灯片编号占位符 103"/>
          <p:cNvSpPr>
            <a:spLocks noGrp="1"/>
          </p:cNvSpPr>
          <p:nvPr>
            <p:ph type="sldNum" sz="quarter" idx="12"/>
          </p:nvPr>
        </p:nvSpPr>
        <p:spPr/>
        <p:txBody>
          <a:bodyPr/>
          <a:lstStyle/>
          <a:p>
            <a:fld id="{7AF016A1-9F15-429F-9EFD-84004B73C732}" type="slidenum">
              <a:rPr lang="en-US" altLang="zh-CN" smtClean="0"/>
              <a:pPr/>
              <a:t>102</a:t>
            </a:fld>
            <a:r>
              <a:rPr lang="en-US" altLang="zh-CN"/>
              <a:t>/158</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428596" y="714356"/>
            <a:ext cx="1714512" cy="430887"/>
          </a:xfrm>
          <a:prstGeom prst="rect">
            <a:avLst/>
          </a:prstGeom>
          <a:noFill/>
        </p:spPr>
        <p:txBody>
          <a:bodyPr wrap="square" rtlCol="0">
            <a:spAutoFit/>
          </a:bodyPr>
          <a:lstStyle/>
          <a:p>
            <a:pPr algn="l">
              <a:lnSpc>
                <a:spcPct val="100000"/>
              </a:lnSpc>
              <a:spcBef>
                <a:spcPts val="0"/>
              </a:spcBef>
            </a:pPr>
            <a:r>
              <a:rPr lang="zh-CN" altLang="zh-CN" sz="2200">
                <a:solidFill>
                  <a:srgbClr val="0000FF"/>
                </a:solidFill>
                <a:latin typeface="楷体" pitchFamily="49" charset="-122"/>
                <a:ea typeface="楷体" pitchFamily="49" charset="-122"/>
              </a:rPr>
              <a:t>第</a:t>
            </a:r>
            <a:r>
              <a:rPr lang="zh-CN" altLang="en-US" sz="2200">
                <a:solidFill>
                  <a:srgbClr val="0000FF"/>
                </a:solidFill>
                <a:latin typeface="楷体" pitchFamily="49" charset="-122"/>
                <a:ea typeface="楷体" pitchFamily="49" charset="-122"/>
              </a:rPr>
              <a:t>三</a:t>
            </a:r>
            <a:r>
              <a:rPr lang="zh-CN" altLang="zh-CN" sz="2200">
                <a:solidFill>
                  <a:srgbClr val="0000FF"/>
                </a:solidFill>
                <a:latin typeface="楷体" pitchFamily="49" charset="-122"/>
                <a:ea typeface="楷体" pitchFamily="49" charset="-122"/>
              </a:rPr>
              <a:t>轮循环</a:t>
            </a:r>
            <a:endParaRPr lang="zh-CN" altLang="en-US" sz="2200">
              <a:solidFill>
                <a:srgbClr val="0000FF"/>
              </a:solidFill>
              <a:latin typeface="楷体" pitchFamily="49" charset="-122"/>
              <a:ea typeface="楷体" pitchFamily="49" charset="-122"/>
              <a:cs typeface="Consolas" pitchFamily="49" charset="0"/>
            </a:endParaRPr>
          </a:p>
        </p:txBody>
      </p:sp>
      <p:sp>
        <p:nvSpPr>
          <p:cNvPr id="20" name="TextBox 19"/>
          <p:cNvSpPr txBox="1"/>
          <p:nvPr/>
        </p:nvSpPr>
        <p:spPr>
          <a:xfrm>
            <a:off x="2285984" y="500042"/>
            <a:ext cx="5143536" cy="769441"/>
          </a:xfrm>
          <a:prstGeom prst="rect">
            <a:avLst/>
          </a:prstGeom>
          <a:noFill/>
        </p:spPr>
        <p:txBody>
          <a:bodyPr wrap="square" rtlCol="0">
            <a:spAutoFit/>
          </a:bodyPr>
          <a:lstStyle/>
          <a:p>
            <a:pPr algn="l">
              <a:lnSpc>
                <a:spcPct val="100000"/>
              </a:lnSpc>
              <a:spcBef>
                <a:spcPts val="0"/>
              </a:spcBef>
            </a:pPr>
            <a:r>
              <a:rPr lang="zh-CN" altLang="zh-CN" sz="2200">
                <a:solidFill>
                  <a:srgbClr val="0000FF"/>
                </a:solidFill>
                <a:latin typeface="Consolas" pitchFamily="49" charset="0"/>
                <a:ea typeface="仿宋" pitchFamily="49" charset="-122"/>
              </a:rPr>
              <a:t>找不到源点</a:t>
            </a:r>
            <a:r>
              <a:rPr lang="en-US" altLang="zh-CN" sz="2200">
                <a:solidFill>
                  <a:srgbClr val="0000FF"/>
                </a:solidFill>
                <a:latin typeface="Consolas" pitchFamily="49" charset="0"/>
                <a:ea typeface="仿宋" pitchFamily="49" charset="-122"/>
              </a:rPr>
              <a:t>0</a:t>
            </a:r>
            <a:r>
              <a:rPr lang="zh-CN" altLang="zh-CN" sz="2200">
                <a:solidFill>
                  <a:srgbClr val="0000FF"/>
                </a:solidFill>
                <a:latin typeface="Consolas" pitchFamily="49" charset="0"/>
                <a:ea typeface="仿宋" pitchFamily="49" charset="-122"/>
              </a:rPr>
              <a:t>到汇点</a:t>
            </a:r>
            <a:r>
              <a:rPr lang="en-US" altLang="zh-CN" sz="2200">
                <a:solidFill>
                  <a:srgbClr val="0000FF"/>
                </a:solidFill>
                <a:latin typeface="Consolas" pitchFamily="49" charset="0"/>
                <a:ea typeface="仿宋" pitchFamily="49" charset="-122"/>
              </a:rPr>
              <a:t>5</a:t>
            </a:r>
            <a:r>
              <a:rPr lang="zh-CN" altLang="zh-CN" sz="2200">
                <a:solidFill>
                  <a:srgbClr val="0000FF"/>
                </a:solidFill>
                <a:latin typeface="Consolas" pitchFamily="49" charset="0"/>
                <a:ea typeface="仿宋" pitchFamily="49" charset="-122"/>
              </a:rPr>
              <a:t>的增广路径，</a:t>
            </a:r>
            <a:r>
              <a:rPr lang="zh-CN" altLang="en-US" sz="2200">
                <a:solidFill>
                  <a:srgbClr val="0000FF"/>
                </a:solidFill>
                <a:latin typeface="Consolas" pitchFamily="49" charset="0"/>
                <a:ea typeface="仿宋" pitchFamily="49" charset="-122"/>
              </a:rPr>
              <a:t>结束。</a:t>
            </a:r>
            <a:r>
              <a:rPr lang="zh-CN" altLang="zh-CN" sz="2200">
                <a:solidFill>
                  <a:srgbClr val="0000FF"/>
                </a:solidFill>
                <a:latin typeface="Consolas" pitchFamily="49" charset="0"/>
                <a:ea typeface="仿宋" pitchFamily="49" charset="-122"/>
              </a:rPr>
              <a:t>流量</a:t>
            </a:r>
            <a:r>
              <a:rPr lang="en-US" altLang="zh-CN" sz="2200" i="1">
                <a:solidFill>
                  <a:srgbClr val="FF0000"/>
                </a:solidFill>
                <a:latin typeface="Consolas" pitchFamily="49" charset="0"/>
                <a:ea typeface="仿宋" pitchFamily="49" charset="-122"/>
              </a:rPr>
              <a:t>f</a:t>
            </a:r>
            <a:r>
              <a:rPr lang="en-US" altLang="zh-CN" sz="2200">
                <a:solidFill>
                  <a:srgbClr val="0000FF"/>
                </a:solidFill>
                <a:latin typeface="Consolas" pitchFamily="49" charset="0"/>
                <a:ea typeface="仿宋" pitchFamily="49" charset="-122"/>
              </a:rPr>
              <a:t>=</a:t>
            </a:r>
            <a:r>
              <a:rPr lang="zh-CN" altLang="en-US" sz="2200">
                <a:solidFill>
                  <a:srgbClr val="0000FF"/>
                </a:solidFill>
                <a:latin typeface="Consolas" pitchFamily="49" charset="0"/>
                <a:ea typeface="仿宋" pitchFamily="49" charset="-122"/>
              </a:rPr>
              <a:t>初始容量</a:t>
            </a:r>
            <a:r>
              <a:rPr lang="en-US" altLang="zh-CN" sz="2200">
                <a:solidFill>
                  <a:srgbClr val="0000FF"/>
                </a:solidFill>
                <a:latin typeface="Consolas" pitchFamily="49" charset="0"/>
                <a:ea typeface="仿宋" pitchFamily="49" charset="-122"/>
              </a:rPr>
              <a:t>-</a:t>
            </a:r>
            <a:r>
              <a:rPr lang="zh-CN" altLang="zh-CN" sz="2200">
                <a:solidFill>
                  <a:srgbClr val="0000FF"/>
                </a:solidFill>
                <a:latin typeface="Consolas" pitchFamily="49" charset="0"/>
                <a:ea typeface="仿宋" pitchFamily="49" charset="-122"/>
              </a:rPr>
              <a:t>剩余容量</a:t>
            </a:r>
            <a:endParaRPr lang="zh-CN" altLang="en-US" sz="2200">
              <a:solidFill>
                <a:srgbClr val="0000FF"/>
              </a:solidFill>
              <a:latin typeface="Consolas" pitchFamily="49" charset="0"/>
              <a:ea typeface="仿宋" pitchFamily="49" charset="-122"/>
              <a:cs typeface="Consolas" pitchFamily="49" charset="0"/>
            </a:endParaRPr>
          </a:p>
        </p:txBody>
      </p:sp>
      <p:grpSp>
        <p:nvGrpSpPr>
          <p:cNvPr id="2" name="组合 20"/>
          <p:cNvGrpSpPr/>
          <p:nvPr/>
        </p:nvGrpSpPr>
        <p:grpSpPr>
          <a:xfrm>
            <a:off x="428596" y="1817102"/>
            <a:ext cx="1908550" cy="3112096"/>
            <a:chOff x="3367692" y="3582009"/>
            <a:chExt cx="1908550" cy="3112096"/>
          </a:xfrm>
        </p:grpSpPr>
        <p:sp>
          <p:nvSpPr>
            <p:cNvPr id="22" name="Text Box 23"/>
            <p:cNvSpPr txBox="1">
              <a:spLocks noChangeArrowheads="1"/>
            </p:cNvSpPr>
            <p:nvPr/>
          </p:nvSpPr>
          <p:spPr bwMode="auto">
            <a:xfrm>
              <a:off x="3787168" y="3963263"/>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3" name="Text Box 22"/>
            <p:cNvSpPr txBox="1">
              <a:spLocks noChangeArrowheads="1"/>
            </p:cNvSpPr>
            <p:nvPr/>
          </p:nvSpPr>
          <p:spPr bwMode="auto">
            <a:xfrm>
              <a:off x="4798471" y="4005062"/>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4" name="Text Box 21"/>
            <p:cNvSpPr txBox="1">
              <a:spLocks noChangeArrowheads="1"/>
            </p:cNvSpPr>
            <p:nvPr/>
          </p:nvSpPr>
          <p:spPr bwMode="auto">
            <a:xfrm>
              <a:off x="4262404" y="4381249"/>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5" name="Text Box 20"/>
            <p:cNvSpPr txBox="1">
              <a:spLocks noChangeArrowheads="1"/>
            </p:cNvSpPr>
            <p:nvPr/>
          </p:nvSpPr>
          <p:spPr bwMode="auto">
            <a:xfrm>
              <a:off x="4365055" y="5053826"/>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6" name="Text Box 19"/>
            <p:cNvSpPr txBox="1">
              <a:spLocks noChangeArrowheads="1"/>
            </p:cNvSpPr>
            <p:nvPr/>
          </p:nvSpPr>
          <p:spPr bwMode="auto">
            <a:xfrm>
              <a:off x="5114028" y="5061426"/>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7" name="Text Box 18"/>
            <p:cNvSpPr txBox="1">
              <a:spLocks noChangeArrowheads="1"/>
            </p:cNvSpPr>
            <p:nvPr/>
          </p:nvSpPr>
          <p:spPr bwMode="auto">
            <a:xfrm>
              <a:off x="4714829" y="6041793"/>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8" name="Text Box 17"/>
            <p:cNvSpPr txBox="1">
              <a:spLocks noChangeArrowheads="1"/>
            </p:cNvSpPr>
            <p:nvPr/>
          </p:nvSpPr>
          <p:spPr bwMode="auto">
            <a:xfrm>
              <a:off x="3367692" y="5061426"/>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9" name="Text Box 16"/>
            <p:cNvSpPr txBox="1">
              <a:spLocks noChangeArrowheads="1"/>
            </p:cNvSpPr>
            <p:nvPr/>
          </p:nvSpPr>
          <p:spPr bwMode="auto">
            <a:xfrm>
              <a:off x="3704793" y="6037994"/>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0" name="Oval 15"/>
            <p:cNvSpPr>
              <a:spLocks noChangeArrowheads="1"/>
            </p:cNvSpPr>
            <p:nvPr/>
          </p:nvSpPr>
          <p:spPr bwMode="auto">
            <a:xfrm>
              <a:off x="4125536" y="3582009"/>
              <a:ext cx="395397" cy="430652"/>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0</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1" name="Oval 14"/>
            <p:cNvSpPr>
              <a:spLocks noChangeArrowheads="1"/>
            </p:cNvSpPr>
            <p:nvPr/>
          </p:nvSpPr>
          <p:spPr bwMode="auto">
            <a:xfrm>
              <a:off x="3367692" y="4469913"/>
              <a:ext cx="395397" cy="43065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2" name="Oval 13"/>
            <p:cNvSpPr>
              <a:spLocks noChangeArrowheads="1"/>
            </p:cNvSpPr>
            <p:nvPr/>
          </p:nvSpPr>
          <p:spPr bwMode="auto">
            <a:xfrm>
              <a:off x="4880845" y="4469913"/>
              <a:ext cx="395397" cy="43065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3" name="Oval 12"/>
            <p:cNvSpPr>
              <a:spLocks noChangeArrowheads="1"/>
            </p:cNvSpPr>
            <p:nvPr/>
          </p:nvSpPr>
          <p:spPr bwMode="auto">
            <a:xfrm>
              <a:off x="3367692" y="5489545"/>
              <a:ext cx="395397" cy="43191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4" name="Oval 11"/>
            <p:cNvSpPr>
              <a:spLocks noChangeArrowheads="1"/>
            </p:cNvSpPr>
            <p:nvPr/>
          </p:nvSpPr>
          <p:spPr bwMode="auto">
            <a:xfrm>
              <a:off x="4880845" y="5489545"/>
              <a:ext cx="395397" cy="43191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5" name="Oval 10"/>
            <p:cNvSpPr>
              <a:spLocks noChangeArrowheads="1"/>
            </p:cNvSpPr>
            <p:nvPr/>
          </p:nvSpPr>
          <p:spPr bwMode="auto">
            <a:xfrm>
              <a:off x="4125536" y="6263453"/>
              <a:ext cx="395397" cy="430652"/>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5</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6" name="AutoShape 9"/>
            <p:cNvSpPr>
              <a:spLocks noChangeShapeType="1"/>
            </p:cNvSpPr>
            <p:nvPr/>
          </p:nvSpPr>
          <p:spPr bwMode="auto">
            <a:xfrm flipH="1">
              <a:off x="3704793" y="3949330"/>
              <a:ext cx="479038" cy="58391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37" name="AutoShape 8"/>
            <p:cNvSpPr>
              <a:spLocks noChangeShapeType="1"/>
            </p:cNvSpPr>
            <p:nvPr/>
          </p:nvSpPr>
          <p:spPr bwMode="auto">
            <a:xfrm>
              <a:off x="4462637" y="3949330"/>
              <a:ext cx="476504" cy="58391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38" name="AutoShape 7"/>
            <p:cNvSpPr>
              <a:spLocks noChangeShapeType="1"/>
            </p:cNvSpPr>
            <p:nvPr/>
          </p:nvSpPr>
          <p:spPr bwMode="auto">
            <a:xfrm>
              <a:off x="3763089" y="4685239"/>
              <a:ext cx="1117756" cy="1267"/>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39" name="AutoShape 6"/>
            <p:cNvSpPr>
              <a:spLocks noChangeShapeType="1"/>
            </p:cNvSpPr>
            <p:nvPr/>
          </p:nvSpPr>
          <p:spPr bwMode="auto">
            <a:xfrm>
              <a:off x="3704793" y="4837234"/>
              <a:ext cx="1176052" cy="86890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40" name="AutoShape 5"/>
            <p:cNvSpPr>
              <a:spLocks noChangeShapeType="1"/>
            </p:cNvSpPr>
            <p:nvPr/>
          </p:nvSpPr>
          <p:spPr bwMode="auto">
            <a:xfrm>
              <a:off x="5078543" y="4900565"/>
              <a:ext cx="1267" cy="588980"/>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41" name="AutoShape 4"/>
            <p:cNvSpPr>
              <a:spLocks noChangeShapeType="1"/>
            </p:cNvSpPr>
            <p:nvPr/>
          </p:nvSpPr>
          <p:spPr bwMode="auto">
            <a:xfrm>
              <a:off x="3565391" y="4900565"/>
              <a:ext cx="1267" cy="588980"/>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42" name="AutoShape 3"/>
            <p:cNvSpPr>
              <a:spLocks noChangeShapeType="1"/>
            </p:cNvSpPr>
            <p:nvPr/>
          </p:nvSpPr>
          <p:spPr bwMode="auto">
            <a:xfrm>
              <a:off x="3704793" y="5858133"/>
              <a:ext cx="479038" cy="468651"/>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43" name="AutoShape 2"/>
            <p:cNvSpPr>
              <a:spLocks noChangeShapeType="1"/>
            </p:cNvSpPr>
            <p:nvPr/>
          </p:nvSpPr>
          <p:spPr bwMode="auto">
            <a:xfrm flipH="1">
              <a:off x="4462637" y="5858133"/>
              <a:ext cx="476504" cy="468651"/>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grpSp>
      <p:sp>
        <p:nvSpPr>
          <p:cNvPr id="45" name="减号 44"/>
          <p:cNvSpPr/>
          <p:nvPr/>
        </p:nvSpPr>
        <p:spPr>
          <a:xfrm>
            <a:off x="2643174" y="3000372"/>
            <a:ext cx="428628" cy="428628"/>
          </a:xfrm>
          <a:prstGeom prst="mathMinus">
            <a:avLst/>
          </a:prstGeom>
          <a:solidFill>
            <a:schemeClr val="tx1"/>
          </a:solidFill>
          <a:ln w="19050">
            <a:tailEnd type="none"/>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46" name="等于号 45"/>
          <p:cNvSpPr/>
          <p:nvPr/>
        </p:nvSpPr>
        <p:spPr>
          <a:xfrm>
            <a:off x="5551856" y="3000372"/>
            <a:ext cx="500066" cy="428628"/>
          </a:xfrm>
          <a:prstGeom prst="mathEqual">
            <a:avLst/>
          </a:prstGeom>
          <a:solidFill>
            <a:schemeClr val="tx1"/>
          </a:solidFill>
          <a:ln w="19050">
            <a:tailEnd type="none"/>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solidFill>
                <a:schemeClr val="tx1"/>
              </a:solidFill>
            </a:endParaRPr>
          </a:p>
        </p:txBody>
      </p:sp>
      <p:grpSp>
        <p:nvGrpSpPr>
          <p:cNvPr id="3" name="组合 89"/>
          <p:cNvGrpSpPr/>
          <p:nvPr/>
        </p:nvGrpSpPr>
        <p:grpSpPr>
          <a:xfrm>
            <a:off x="6123360" y="1714488"/>
            <a:ext cx="2571768" cy="3614820"/>
            <a:chOff x="6123360" y="1714488"/>
            <a:chExt cx="2571768" cy="3614820"/>
          </a:xfrm>
        </p:grpSpPr>
        <p:sp>
          <p:nvSpPr>
            <p:cNvPr id="48" name="Text Box 23"/>
            <p:cNvSpPr txBox="1">
              <a:spLocks noChangeArrowheads="1"/>
            </p:cNvSpPr>
            <p:nvPr/>
          </p:nvSpPr>
          <p:spPr bwMode="auto">
            <a:xfrm>
              <a:off x="6480550" y="2095742"/>
              <a:ext cx="580422" cy="333126"/>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FF0000"/>
                  </a:solidFill>
                  <a:effectLst/>
                  <a:latin typeface="Consolas" pitchFamily="49" charset="0"/>
                  <a:ea typeface="宋体" pitchFamily="2" charset="-122"/>
                  <a:cs typeface="Times New Roman" pitchFamily="18" charset="0"/>
                </a:rPr>
                <a:t>4</a:t>
              </a: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49" name="Text Box 22"/>
            <p:cNvSpPr txBox="1">
              <a:spLocks noChangeArrowheads="1"/>
            </p:cNvSpPr>
            <p:nvPr/>
          </p:nvSpPr>
          <p:spPr bwMode="auto">
            <a:xfrm>
              <a:off x="7786710" y="2137541"/>
              <a:ext cx="620648"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FF0000"/>
                  </a:solidFill>
                  <a:latin typeface="Consolas" pitchFamily="49" charset="0"/>
                  <a:ea typeface="宋体" pitchFamily="2" charset="-122"/>
                  <a:cs typeface="Times New Roman" pitchFamily="18" charset="0"/>
                </a:rPr>
                <a:t>1</a:t>
              </a: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0" name="Text Box 21"/>
            <p:cNvSpPr txBox="1">
              <a:spLocks noChangeArrowheads="1"/>
            </p:cNvSpPr>
            <p:nvPr/>
          </p:nvSpPr>
          <p:spPr bwMode="auto">
            <a:xfrm>
              <a:off x="7194930" y="2513728"/>
              <a:ext cx="500066"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FF0000"/>
                  </a:solidFill>
                  <a:effectLst/>
                  <a:latin typeface="Consolas" pitchFamily="49" charset="0"/>
                  <a:ea typeface="宋体" pitchFamily="2" charset="-122"/>
                  <a:cs typeface="Times New Roman" pitchFamily="18" charset="0"/>
                </a:rPr>
                <a:t>0</a:t>
              </a: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1" name="Text Box 20"/>
            <p:cNvSpPr txBox="1">
              <a:spLocks noChangeArrowheads="1"/>
            </p:cNvSpPr>
            <p:nvPr/>
          </p:nvSpPr>
          <p:spPr bwMode="auto">
            <a:xfrm>
              <a:off x="7498188" y="3186305"/>
              <a:ext cx="482559"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FF0000"/>
                  </a:solidFill>
                  <a:latin typeface="Consolas" pitchFamily="49" charset="0"/>
                  <a:ea typeface="宋体" pitchFamily="2" charset="-122"/>
                  <a:cs typeface="Times New Roman" pitchFamily="18" charset="0"/>
                </a:rPr>
                <a:t>2</a:t>
              </a: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2" name="Text Box 19"/>
            <p:cNvSpPr txBox="1">
              <a:spLocks noChangeArrowheads="1"/>
            </p:cNvSpPr>
            <p:nvPr/>
          </p:nvSpPr>
          <p:spPr bwMode="auto">
            <a:xfrm>
              <a:off x="8247162" y="3193905"/>
              <a:ext cx="447966"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a:solidFill>
                    <a:srgbClr val="FF0000"/>
                  </a:solidFill>
                  <a:latin typeface="Consolas" pitchFamily="49" charset="0"/>
                  <a:ea typeface="宋体" pitchFamily="2" charset="-122"/>
                  <a:cs typeface="Times New Roman" pitchFamily="18" charset="0"/>
                </a:rPr>
                <a:t>1</a:t>
              </a: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3" name="Text Box 18"/>
            <p:cNvSpPr txBox="1">
              <a:spLocks noChangeArrowheads="1"/>
            </p:cNvSpPr>
            <p:nvPr/>
          </p:nvSpPr>
          <p:spPr bwMode="auto">
            <a:xfrm>
              <a:off x="7847962" y="4174272"/>
              <a:ext cx="632852"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FF0000"/>
                  </a:solidFill>
                  <a:effectLst/>
                  <a:latin typeface="Consolas" pitchFamily="49" charset="0"/>
                  <a:ea typeface="宋体" pitchFamily="2" charset="-122"/>
                  <a:cs typeface="Times New Roman" pitchFamily="18" charset="0"/>
                </a:rPr>
                <a:t>3</a:t>
              </a: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4" name="Text Box 17"/>
            <p:cNvSpPr txBox="1">
              <a:spLocks noChangeArrowheads="1"/>
            </p:cNvSpPr>
            <p:nvPr/>
          </p:nvSpPr>
          <p:spPr bwMode="auto">
            <a:xfrm>
              <a:off x="6123360" y="3193905"/>
              <a:ext cx="559957"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FF0000"/>
                  </a:solidFill>
                  <a:latin typeface="Consolas" pitchFamily="49" charset="0"/>
                  <a:ea typeface="宋体" pitchFamily="2" charset="-122"/>
                  <a:cs typeface="Times New Roman" pitchFamily="18" charset="0"/>
                </a:rPr>
                <a:t>2</a:t>
              </a: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5" name="Text Box 16"/>
            <p:cNvSpPr txBox="1">
              <a:spLocks noChangeArrowheads="1"/>
            </p:cNvSpPr>
            <p:nvPr/>
          </p:nvSpPr>
          <p:spPr bwMode="auto">
            <a:xfrm>
              <a:off x="6634432" y="4180951"/>
              <a:ext cx="498047"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FF0000"/>
                  </a:solidFill>
                  <a:latin typeface="Consolas" pitchFamily="49" charset="0"/>
                  <a:ea typeface="宋体" pitchFamily="2" charset="-122"/>
                  <a:cs typeface="Times New Roman" pitchFamily="18" charset="0"/>
                </a:rPr>
                <a:t>2</a:t>
              </a: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6" name="Oval 15"/>
            <p:cNvSpPr>
              <a:spLocks noChangeArrowheads="1"/>
            </p:cNvSpPr>
            <p:nvPr/>
          </p:nvSpPr>
          <p:spPr bwMode="auto">
            <a:xfrm>
              <a:off x="7258670" y="1714488"/>
              <a:ext cx="395397" cy="430652"/>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0</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7" name="Oval 14"/>
            <p:cNvSpPr>
              <a:spLocks noChangeArrowheads="1"/>
            </p:cNvSpPr>
            <p:nvPr/>
          </p:nvSpPr>
          <p:spPr bwMode="auto">
            <a:xfrm>
              <a:off x="6500826" y="2602392"/>
              <a:ext cx="395397" cy="43065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8" name="Oval 13"/>
            <p:cNvSpPr>
              <a:spLocks noChangeArrowheads="1"/>
            </p:cNvSpPr>
            <p:nvPr/>
          </p:nvSpPr>
          <p:spPr bwMode="auto">
            <a:xfrm>
              <a:off x="8013979" y="2602392"/>
              <a:ext cx="395397" cy="43065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9" name="Oval 12"/>
            <p:cNvSpPr>
              <a:spLocks noChangeArrowheads="1"/>
            </p:cNvSpPr>
            <p:nvPr/>
          </p:nvSpPr>
          <p:spPr bwMode="auto">
            <a:xfrm>
              <a:off x="6500826" y="3622024"/>
              <a:ext cx="395397" cy="43191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60" name="Oval 11"/>
            <p:cNvSpPr>
              <a:spLocks noChangeArrowheads="1"/>
            </p:cNvSpPr>
            <p:nvPr/>
          </p:nvSpPr>
          <p:spPr bwMode="auto">
            <a:xfrm>
              <a:off x="8013979" y="3622024"/>
              <a:ext cx="395397" cy="43191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61" name="Oval 10"/>
            <p:cNvSpPr>
              <a:spLocks noChangeArrowheads="1"/>
            </p:cNvSpPr>
            <p:nvPr/>
          </p:nvSpPr>
          <p:spPr bwMode="auto">
            <a:xfrm>
              <a:off x="7258670" y="4395932"/>
              <a:ext cx="395397" cy="430652"/>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5</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62" name="AutoShape 9"/>
            <p:cNvSpPr>
              <a:spLocks noChangeShapeType="1"/>
            </p:cNvSpPr>
            <p:nvPr/>
          </p:nvSpPr>
          <p:spPr bwMode="auto">
            <a:xfrm flipH="1">
              <a:off x="6837927" y="2081809"/>
              <a:ext cx="479038" cy="58391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63" name="AutoShape 8"/>
            <p:cNvSpPr>
              <a:spLocks noChangeShapeType="1"/>
            </p:cNvSpPr>
            <p:nvPr/>
          </p:nvSpPr>
          <p:spPr bwMode="auto">
            <a:xfrm>
              <a:off x="7595771" y="2081809"/>
              <a:ext cx="476504" cy="58391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64" name="AutoShape 7"/>
            <p:cNvSpPr>
              <a:spLocks noChangeShapeType="1"/>
            </p:cNvSpPr>
            <p:nvPr/>
          </p:nvSpPr>
          <p:spPr bwMode="auto">
            <a:xfrm>
              <a:off x="6896223" y="2817718"/>
              <a:ext cx="1117756" cy="1267"/>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65" name="AutoShape 6"/>
            <p:cNvSpPr>
              <a:spLocks noChangeShapeType="1"/>
            </p:cNvSpPr>
            <p:nvPr/>
          </p:nvSpPr>
          <p:spPr bwMode="auto">
            <a:xfrm>
              <a:off x="6837927" y="2969713"/>
              <a:ext cx="1176052" cy="86890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66" name="AutoShape 5"/>
            <p:cNvSpPr>
              <a:spLocks noChangeShapeType="1"/>
            </p:cNvSpPr>
            <p:nvPr/>
          </p:nvSpPr>
          <p:spPr bwMode="auto">
            <a:xfrm>
              <a:off x="8211677" y="3033044"/>
              <a:ext cx="1267" cy="588980"/>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67" name="AutoShape 4"/>
            <p:cNvSpPr>
              <a:spLocks noChangeShapeType="1"/>
            </p:cNvSpPr>
            <p:nvPr/>
          </p:nvSpPr>
          <p:spPr bwMode="auto">
            <a:xfrm>
              <a:off x="6698525" y="3033044"/>
              <a:ext cx="1267" cy="588980"/>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68" name="AutoShape 3"/>
            <p:cNvSpPr>
              <a:spLocks noChangeShapeType="1"/>
            </p:cNvSpPr>
            <p:nvPr/>
          </p:nvSpPr>
          <p:spPr bwMode="auto">
            <a:xfrm>
              <a:off x="6837927" y="3990612"/>
              <a:ext cx="479038" cy="468651"/>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69" name="AutoShape 2"/>
            <p:cNvSpPr>
              <a:spLocks noChangeShapeType="1"/>
            </p:cNvSpPr>
            <p:nvPr/>
          </p:nvSpPr>
          <p:spPr bwMode="auto">
            <a:xfrm flipH="1">
              <a:off x="7595771" y="3990612"/>
              <a:ext cx="476504" cy="468651"/>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70" name="TextBox 69"/>
            <p:cNvSpPr txBox="1"/>
            <p:nvPr/>
          </p:nvSpPr>
          <p:spPr>
            <a:xfrm>
              <a:off x="6500826" y="4929198"/>
              <a:ext cx="1949102" cy="400110"/>
            </a:xfrm>
            <a:prstGeom prst="rect">
              <a:avLst/>
            </a:prstGeom>
            <a:noFill/>
          </p:spPr>
          <p:txBody>
            <a:bodyPr wrap="square" rtlCol="0">
              <a:spAutoFit/>
            </a:bodyPr>
            <a:lstStyle/>
            <a:p>
              <a:pPr>
                <a:lnSpc>
                  <a:spcPct val="100000"/>
                </a:lnSpc>
                <a:spcBef>
                  <a:spcPts val="0"/>
                </a:spcBef>
              </a:pPr>
              <a:r>
                <a:rPr lang="zh-CN" altLang="en-US" sz="2000">
                  <a:solidFill>
                    <a:srgbClr val="0000FF"/>
                  </a:solidFill>
                  <a:latin typeface="Consolas" pitchFamily="49" charset="0"/>
                  <a:ea typeface="楷体" pitchFamily="49" charset="-122"/>
                </a:rPr>
                <a:t>最大流量为</a:t>
              </a:r>
              <a:r>
                <a:rPr lang="en-US" altLang="zh-CN" sz="2000">
                  <a:solidFill>
                    <a:srgbClr val="0000FF"/>
                  </a:solidFill>
                  <a:latin typeface="Consolas" pitchFamily="49" charset="0"/>
                  <a:ea typeface="楷体" pitchFamily="49" charset="-122"/>
                </a:rPr>
                <a:t>5</a:t>
              </a:r>
            </a:p>
          </p:txBody>
        </p:sp>
      </p:grpSp>
      <p:grpSp>
        <p:nvGrpSpPr>
          <p:cNvPr id="90" name="组合 89"/>
          <p:cNvGrpSpPr/>
          <p:nvPr/>
        </p:nvGrpSpPr>
        <p:grpSpPr>
          <a:xfrm>
            <a:off x="3056809" y="1817102"/>
            <a:ext cx="2229571" cy="3112096"/>
            <a:chOff x="6628709" y="1571612"/>
            <a:chExt cx="2229571" cy="3112096"/>
          </a:xfrm>
        </p:grpSpPr>
        <p:sp>
          <p:nvSpPr>
            <p:cNvPr id="91" name="Text Box 22"/>
            <p:cNvSpPr txBox="1">
              <a:spLocks noChangeArrowheads="1"/>
            </p:cNvSpPr>
            <p:nvPr/>
          </p:nvSpPr>
          <p:spPr bwMode="auto">
            <a:xfrm>
              <a:off x="8380509" y="1994665"/>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92" name="Text Box 21"/>
            <p:cNvSpPr txBox="1">
              <a:spLocks noChangeArrowheads="1"/>
            </p:cNvSpPr>
            <p:nvPr/>
          </p:nvSpPr>
          <p:spPr bwMode="auto">
            <a:xfrm>
              <a:off x="7844442" y="2370852"/>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93" name="Text Box 20"/>
            <p:cNvSpPr txBox="1">
              <a:spLocks noChangeArrowheads="1"/>
            </p:cNvSpPr>
            <p:nvPr/>
          </p:nvSpPr>
          <p:spPr bwMode="auto">
            <a:xfrm>
              <a:off x="7947093" y="3043429"/>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0000FF"/>
                  </a:solidFill>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94" name="Text Box 19"/>
            <p:cNvSpPr txBox="1">
              <a:spLocks noChangeArrowheads="1"/>
            </p:cNvSpPr>
            <p:nvPr/>
          </p:nvSpPr>
          <p:spPr bwMode="auto">
            <a:xfrm>
              <a:off x="8696066" y="3051029"/>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0000FF"/>
                  </a:solidFill>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95" name="Text Box 16"/>
            <p:cNvSpPr txBox="1">
              <a:spLocks noChangeArrowheads="1"/>
            </p:cNvSpPr>
            <p:nvPr/>
          </p:nvSpPr>
          <p:spPr bwMode="auto">
            <a:xfrm>
              <a:off x="7365854" y="4027597"/>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0000FF"/>
                  </a:solidFill>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96" name="Oval 15"/>
            <p:cNvSpPr>
              <a:spLocks noChangeArrowheads="1"/>
            </p:cNvSpPr>
            <p:nvPr/>
          </p:nvSpPr>
          <p:spPr bwMode="auto">
            <a:xfrm>
              <a:off x="7707574" y="1571612"/>
              <a:ext cx="395397" cy="430652"/>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0</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97" name="Oval 14"/>
            <p:cNvSpPr>
              <a:spLocks noChangeArrowheads="1"/>
            </p:cNvSpPr>
            <p:nvPr/>
          </p:nvSpPr>
          <p:spPr bwMode="auto">
            <a:xfrm>
              <a:off x="6949730" y="2459516"/>
              <a:ext cx="395397" cy="43065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98" name="Oval 13"/>
            <p:cNvSpPr>
              <a:spLocks noChangeArrowheads="1"/>
            </p:cNvSpPr>
            <p:nvPr/>
          </p:nvSpPr>
          <p:spPr bwMode="auto">
            <a:xfrm>
              <a:off x="8462883" y="2459516"/>
              <a:ext cx="395397" cy="43065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99" name="Oval 12"/>
            <p:cNvSpPr>
              <a:spLocks noChangeArrowheads="1"/>
            </p:cNvSpPr>
            <p:nvPr/>
          </p:nvSpPr>
          <p:spPr bwMode="auto">
            <a:xfrm>
              <a:off x="6949730" y="3479148"/>
              <a:ext cx="395397" cy="43191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00" name="Oval 11"/>
            <p:cNvSpPr>
              <a:spLocks noChangeArrowheads="1"/>
            </p:cNvSpPr>
            <p:nvPr/>
          </p:nvSpPr>
          <p:spPr bwMode="auto">
            <a:xfrm>
              <a:off x="8462883" y="3479148"/>
              <a:ext cx="395397" cy="43191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01" name="Oval 10"/>
            <p:cNvSpPr>
              <a:spLocks noChangeArrowheads="1"/>
            </p:cNvSpPr>
            <p:nvPr/>
          </p:nvSpPr>
          <p:spPr bwMode="auto">
            <a:xfrm>
              <a:off x="7707574" y="4253056"/>
              <a:ext cx="395397" cy="430652"/>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5</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02" name="AutoShape 8"/>
            <p:cNvSpPr>
              <a:spLocks noChangeShapeType="1"/>
            </p:cNvSpPr>
            <p:nvPr/>
          </p:nvSpPr>
          <p:spPr bwMode="auto">
            <a:xfrm>
              <a:off x="8044675" y="1938933"/>
              <a:ext cx="476504" cy="583914"/>
            </a:xfrm>
            <a:prstGeom prst="straightConnector1">
              <a:avLst/>
            </a:prstGeom>
            <a:noFill/>
            <a:ln w="19050">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103" name="AutoShape 7"/>
            <p:cNvSpPr>
              <a:spLocks noChangeShapeType="1"/>
            </p:cNvSpPr>
            <p:nvPr/>
          </p:nvSpPr>
          <p:spPr bwMode="auto">
            <a:xfrm>
              <a:off x="7345127" y="2674842"/>
              <a:ext cx="1117756" cy="1267"/>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104" name="AutoShape 6"/>
            <p:cNvSpPr>
              <a:spLocks noChangeShapeType="1"/>
            </p:cNvSpPr>
            <p:nvPr/>
          </p:nvSpPr>
          <p:spPr bwMode="auto">
            <a:xfrm>
              <a:off x="7286831" y="2826837"/>
              <a:ext cx="1176052" cy="868904"/>
            </a:xfrm>
            <a:prstGeom prst="straightConnector1">
              <a:avLst/>
            </a:prstGeom>
            <a:noFill/>
            <a:ln w="19050">
              <a:solidFill>
                <a:schemeClr val="tx1"/>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105" name="AutoShape 5"/>
            <p:cNvSpPr>
              <a:spLocks noChangeShapeType="1"/>
            </p:cNvSpPr>
            <p:nvPr/>
          </p:nvSpPr>
          <p:spPr bwMode="auto">
            <a:xfrm>
              <a:off x="8660581" y="2890168"/>
              <a:ext cx="1267" cy="588980"/>
            </a:xfrm>
            <a:prstGeom prst="straightConnector1">
              <a:avLst/>
            </a:prstGeom>
            <a:noFill/>
            <a:ln w="19050">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106" name="AutoShape 3"/>
            <p:cNvSpPr>
              <a:spLocks noChangeShapeType="1"/>
            </p:cNvSpPr>
            <p:nvPr/>
          </p:nvSpPr>
          <p:spPr bwMode="auto">
            <a:xfrm>
              <a:off x="7286831" y="3847736"/>
              <a:ext cx="479038" cy="468651"/>
            </a:xfrm>
            <a:prstGeom prst="straightConnector1">
              <a:avLst/>
            </a:prstGeom>
            <a:noFill/>
            <a:ln w="19050">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cxnSp>
          <p:nvCxnSpPr>
            <p:cNvPr id="107" name="直接箭头连接符 106"/>
            <p:cNvCxnSpPr>
              <a:stCxn id="101" idx="7"/>
              <a:endCxn id="100" idx="3"/>
            </p:cNvCxnSpPr>
            <p:nvPr/>
          </p:nvCxnSpPr>
          <p:spPr>
            <a:xfrm rot="5400000" flipH="1" flipV="1">
              <a:off x="8048773" y="3844108"/>
              <a:ext cx="468309" cy="475722"/>
            </a:xfrm>
            <a:prstGeom prst="straightConnector1">
              <a:avLst/>
            </a:prstGeom>
            <a:ln w="19050">
              <a:solidFill>
                <a:srgbClr val="006600"/>
              </a:solidFill>
              <a:prstDash val="dash"/>
              <a:tailEnd type="arrow"/>
            </a:ln>
          </p:spPr>
          <p:style>
            <a:lnRef idx="2">
              <a:schemeClr val="dk1"/>
            </a:lnRef>
            <a:fillRef idx="0">
              <a:schemeClr val="dk1"/>
            </a:fillRef>
            <a:effectRef idx="1">
              <a:schemeClr val="dk1"/>
            </a:effectRef>
            <a:fontRef idx="minor">
              <a:schemeClr val="tx1"/>
            </a:fontRef>
          </p:style>
        </p:cxnSp>
        <p:sp>
          <p:nvSpPr>
            <p:cNvPr id="108" name="Text Box 18"/>
            <p:cNvSpPr txBox="1">
              <a:spLocks noChangeArrowheads="1"/>
            </p:cNvSpPr>
            <p:nvPr/>
          </p:nvSpPr>
          <p:spPr bwMode="auto">
            <a:xfrm>
              <a:off x="8315264" y="4063344"/>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6600"/>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6600"/>
                </a:solidFill>
                <a:effectLst/>
                <a:latin typeface="Consolas" pitchFamily="49" charset="0"/>
                <a:ea typeface="宋体" pitchFamily="2" charset="-122"/>
                <a:cs typeface="宋体" pitchFamily="2" charset="-122"/>
              </a:endParaRPr>
            </a:p>
          </p:txBody>
        </p:sp>
        <p:sp>
          <p:nvSpPr>
            <p:cNvPr id="109" name="任意多边形 108"/>
            <p:cNvSpPr/>
            <p:nvPr/>
          </p:nvSpPr>
          <p:spPr>
            <a:xfrm>
              <a:off x="7240057" y="2888767"/>
              <a:ext cx="1241778" cy="886177"/>
            </a:xfrm>
            <a:custGeom>
              <a:avLst/>
              <a:gdLst>
                <a:gd name="connsiteX0" fmla="*/ 1241778 w 1241778"/>
                <a:gd name="connsiteY0" fmla="*/ 846666 h 886177"/>
                <a:gd name="connsiteX1" fmla="*/ 925689 w 1241778"/>
                <a:gd name="connsiteY1" fmla="*/ 857955 h 886177"/>
                <a:gd name="connsiteX2" fmla="*/ 462845 w 1241778"/>
                <a:gd name="connsiteY2" fmla="*/ 677333 h 886177"/>
                <a:gd name="connsiteX3" fmla="*/ 0 w 1241778"/>
                <a:gd name="connsiteY3" fmla="*/ 0 h 886177"/>
              </a:gdLst>
              <a:ahLst/>
              <a:cxnLst>
                <a:cxn ang="0">
                  <a:pos x="connsiteX0" y="connsiteY0"/>
                </a:cxn>
                <a:cxn ang="0">
                  <a:pos x="connsiteX1" y="connsiteY1"/>
                </a:cxn>
                <a:cxn ang="0">
                  <a:pos x="connsiteX2" y="connsiteY2"/>
                </a:cxn>
                <a:cxn ang="0">
                  <a:pos x="connsiteX3" y="connsiteY3"/>
                </a:cxn>
              </a:cxnLst>
              <a:rect l="l" t="t" r="r" b="b"/>
              <a:pathLst>
                <a:path w="1241778" h="886177">
                  <a:moveTo>
                    <a:pt x="1241778" y="846666"/>
                  </a:moveTo>
                  <a:cubicBezTo>
                    <a:pt x="1148644" y="866421"/>
                    <a:pt x="1055511" y="886177"/>
                    <a:pt x="925689" y="857955"/>
                  </a:cubicBezTo>
                  <a:cubicBezTo>
                    <a:pt x="795867" y="829733"/>
                    <a:pt x="617127" y="820326"/>
                    <a:pt x="462845" y="677333"/>
                  </a:cubicBezTo>
                  <a:cubicBezTo>
                    <a:pt x="308564" y="534341"/>
                    <a:pt x="154282" y="267170"/>
                    <a:pt x="0" y="0"/>
                  </a:cubicBezTo>
                </a:path>
              </a:pathLst>
            </a:custGeom>
            <a:ln w="19050">
              <a:solidFill>
                <a:srgbClr val="FF0000"/>
              </a:solidFill>
              <a:prstDash val="dash"/>
              <a:tailEnd type="arrow"/>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110" name="任意多边形 109"/>
            <p:cNvSpPr/>
            <p:nvPr/>
          </p:nvSpPr>
          <p:spPr>
            <a:xfrm>
              <a:off x="7123405" y="1635700"/>
              <a:ext cx="624652" cy="835378"/>
            </a:xfrm>
            <a:custGeom>
              <a:avLst/>
              <a:gdLst>
                <a:gd name="connsiteX0" fmla="*/ 37630 w 624652"/>
                <a:gd name="connsiteY0" fmla="*/ 835378 h 835378"/>
                <a:gd name="connsiteX1" fmla="*/ 15052 w 624652"/>
                <a:gd name="connsiteY1" fmla="*/ 620889 h 835378"/>
                <a:gd name="connsiteX2" fmla="*/ 127941 w 624652"/>
                <a:gd name="connsiteY2" fmla="*/ 327378 h 835378"/>
                <a:gd name="connsiteX3" fmla="*/ 387586 w 624652"/>
                <a:gd name="connsiteY3" fmla="*/ 45156 h 835378"/>
                <a:gd name="connsiteX4" fmla="*/ 624652 w 624652"/>
                <a:gd name="connsiteY4" fmla="*/ 56444 h 8353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4652" h="835378">
                  <a:moveTo>
                    <a:pt x="37630" y="835378"/>
                  </a:moveTo>
                  <a:cubicBezTo>
                    <a:pt x="18815" y="770467"/>
                    <a:pt x="0" y="705556"/>
                    <a:pt x="15052" y="620889"/>
                  </a:cubicBezTo>
                  <a:cubicBezTo>
                    <a:pt x="30104" y="536222"/>
                    <a:pt x="65852" y="423333"/>
                    <a:pt x="127941" y="327378"/>
                  </a:cubicBezTo>
                  <a:cubicBezTo>
                    <a:pt x="190030" y="231423"/>
                    <a:pt x="304801" y="90312"/>
                    <a:pt x="387586" y="45156"/>
                  </a:cubicBezTo>
                  <a:cubicBezTo>
                    <a:pt x="470371" y="0"/>
                    <a:pt x="547511" y="28222"/>
                    <a:pt x="624652" y="56444"/>
                  </a:cubicBezTo>
                </a:path>
              </a:pathLst>
            </a:custGeom>
            <a:ln w="19050">
              <a:solidFill>
                <a:srgbClr val="006600"/>
              </a:solidFill>
              <a:prstDash val="dash"/>
              <a:tailEnd type="arrow"/>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111" name="Text Box 18"/>
            <p:cNvSpPr txBox="1">
              <a:spLocks noChangeArrowheads="1"/>
            </p:cNvSpPr>
            <p:nvPr/>
          </p:nvSpPr>
          <p:spPr bwMode="auto">
            <a:xfrm>
              <a:off x="7715272" y="3326386"/>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006600"/>
                  </a:solidFill>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6600"/>
                </a:solidFill>
                <a:effectLst/>
                <a:latin typeface="Consolas" pitchFamily="49" charset="0"/>
                <a:ea typeface="宋体" pitchFamily="2" charset="-122"/>
                <a:cs typeface="宋体" pitchFamily="2" charset="-122"/>
              </a:endParaRPr>
            </a:p>
          </p:txBody>
        </p:sp>
        <p:sp>
          <p:nvSpPr>
            <p:cNvPr id="112" name="Text Box 18"/>
            <p:cNvSpPr txBox="1">
              <a:spLocks noChangeArrowheads="1"/>
            </p:cNvSpPr>
            <p:nvPr/>
          </p:nvSpPr>
          <p:spPr bwMode="auto">
            <a:xfrm>
              <a:off x="7072330" y="1683312"/>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006600"/>
                  </a:solidFill>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6600"/>
                </a:solidFill>
                <a:effectLst/>
                <a:latin typeface="Consolas" pitchFamily="49" charset="0"/>
                <a:ea typeface="宋体" pitchFamily="2" charset="-122"/>
                <a:cs typeface="宋体" pitchFamily="2" charset="-122"/>
              </a:endParaRPr>
            </a:p>
          </p:txBody>
        </p:sp>
        <p:sp>
          <p:nvSpPr>
            <p:cNvPr id="113" name="任意多边形 112"/>
            <p:cNvSpPr/>
            <p:nvPr/>
          </p:nvSpPr>
          <p:spPr>
            <a:xfrm>
              <a:off x="6814784" y="2824563"/>
              <a:ext cx="191911" cy="699911"/>
            </a:xfrm>
            <a:custGeom>
              <a:avLst/>
              <a:gdLst>
                <a:gd name="connsiteX0" fmla="*/ 191911 w 191911"/>
                <a:gd name="connsiteY0" fmla="*/ 699911 h 699911"/>
                <a:gd name="connsiteX1" fmla="*/ 56445 w 191911"/>
                <a:gd name="connsiteY1" fmla="*/ 609600 h 699911"/>
                <a:gd name="connsiteX2" fmla="*/ 22578 w 191911"/>
                <a:gd name="connsiteY2" fmla="*/ 349956 h 699911"/>
                <a:gd name="connsiteX3" fmla="*/ 191911 w 191911"/>
                <a:gd name="connsiteY3" fmla="*/ 0 h 699911"/>
              </a:gdLst>
              <a:ahLst/>
              <a:cxnLst>
                <a:cxn ang="0">
                  <a:pos x="connsiteX0" y="connsiteY0"/>
                </a:cxn>
                <a:cxn ang="0">
                  <a:pos x="connsiteX1" y="connsiteY1"/>
                </a:cxn>
                <a:cxn ang="0">
                  <a:pos x="connsiteX2" y="connsiteY2"/>
                </a:cxn>
                <a:cxn ang="0">
                  <a:pos x="connsiteX3" y="connsiteY3"/>
                </a:cxn>
              </a:cxnLst>
              <a:rect l="l" t="t" r="r" b="b"/>
              <a:pathLst>
                <a:path w="191911" h="699911">
                  <a:moveTo>
                    <a:pt x="191911" y="699911"/>
                  </a:moveTo>
                  <a:cubicBezTo>
                    <a:pt x="138289" y="683918"/>
                    <a:pt x="84667" y="667926"/>
                    <a:pt x="56445" y="609600"/>
                  </a:cubicBezTo>
                  <a:cubicBezTo>
                    <a:pt x="28223" y="551274"/>
                    <a:pt x="0" y="451556"/>
                    <a:pt x="22578" y="349956"/>
                  </a:cubicBezTo>
                  <a:cubicBezTo>
                    <a:pt x="45156" y="248356"/>
                    <a:pt x="118533" y="124178"/>
                    <a:pt x="191911" y="0"/>
                  </a:cubicBezTo>
                </a:path>
              </a:pathLst>
            </a:custGeom>
            <a:ln w="19050">
              <a:solidFill>
                <a:schemeClr val="tx1"/>
              </a:solidFill>
              <a:prstDash val="dash"/>
              <a:tailEnd type="arrow"/>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114" name="Text Box 18"/>
            <p:cNvSpPr txBox="1">
              <a:spLocks noChangeArrowheads="1"/>
            </p:cNvSpPr>
            <p:nvPr/>
          </p:nvSpPr>
          <p:spPr bwMode="auto">
            <a:xfrm>
              <a:off x="6628709" y="2969196"/>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006600"/>
                  </a:solidFill>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6600"/>
                </a:solidFill>
                <a:effectLst/>
                <a:latin typeface="Consolas" pitchFamily="49" charset="0"/>
                <a:ea typeface="宋体" pitchFamily="2" charset="-122"/>
                <a:cs typeface="宋体" pitchFamily="2" charset="-122"/>
              </a:endParaRPr>
            </a:p>
          </p:txBody>
        </p:sp>
        <p:sp>
          <p:nvSpPr>
            <p:cNvPr id="115" name="任意多边形 114"/>
            <p:cNvSpPr/>
            <p:nvPr/>
          </p:nvSpPr>
          <p:spPr>
            <a:xfrm>
              <a:off x="7127110" y="3930874"/>
              <a:ext cx="556919" cy="630296"/>
            </a:xfrm>
            <a:custGeom>
              <a:avLst/>
              <a:gdLst>
                <a:gd name="connsiteX0" fmla="*/ 556919 w 556919"/>
                <a:gd name="connsiteY0" fmla="*/ 598311 h 630296"/>
                <a:gd name="connsiteX1" fmla="*/ 308563 w 556919"/>
                <a:gd name="connsiteY1" fmla="*/ 609600 h 630296"/>
                <a:gd name="connsiteX2" fmla="*/ 116652 w 556919"/>
                <a:gd name="connsiteY2" fmla="*/ 474134 h 630296"/>
                <a:gd name="connsiteX3" fmla="*/ 15052 w 556919"/>
                <a:gd name="connsiteY3" fmla="*/ 270934 h 630296"/>
                <a:gd name="connsiteX4" fmla="*/ 26341 w 556919"/>
                <a:gd name="connsiteY4" fmla="*/ 0 h 6302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6919" h="630296">
                  <a:moveTo>
                    <a:pt x="556919" y="598311"/>
                  </a:moveTo>
                  <a:cubicBezTo>
                    <a:pt x="469430" y="614303"/>
                    <a:pt x="381941" y="630296"/>
                    <a:pt x="308563" y="609600"/>
                  </a:cubicBezTo>
                  <a:cubicBezTo>
                    <a:pt x="235185" y="588904"/>
                    <a:pt x="165570" y="530578"/>
                    <a:pt x="116652" y="474134"/>
                  </a:cubicBezTo>
                  <a:cubicBezTo>
                    <a:pt x="67734" y="417690"/>
                    <a:pt x="30104" y="349956"/>
                    <a:pt x="15052" y="270934"/>
                  </a:cubicBezTo>
                  <a:cubicBezTo>
                    <a:pt x="0" y="191912"/>
                    <a:pt x="13170" y="95956"/>
                    <a:pt x="26341" y="0"/>
                  </a:cubicBezTo>
                </a:path>
              </a:pathLst>
            </a:custGeom>
            <a:ln w="19050">
              <a:solidFill>
                <a:srgbClr val="006600"/>
              </a:solidFill>
              <a:prstDash val="dash"/>
              <a:tailEnd type="arrow"/>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116" name="Text Box 18"/>
            <p:cNvSpPr txBox="1">
              <a:spLocks noChangeArrowheads="1"/>
            </p:cNvSpPr>
            <p:nvPr/>
          </p:nvSpPr>
          <p:spPr bwMode="auto">
            <a:xfrm>
              <a:off x="7029380" y="4255080"/>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006600"/>
                  </a:solidFill>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6600"/>
                </a:solidFill>
                <a:effectLst/>
                <a:latin typeface="Consolas" pitchFamily="49" charset="0"/>
                <a:ea typeface="宋体" pitchFamily="2" charset="-122"/>
                <a:cs typeface="宋体" pitchFamily="2" charset="-122"/>
              </a:endParaRPr>
            </a:p>
          </p:txBody>
        </p:sp>
        <p:sp>
          <p:nvSpPr>
            <p:cNvPr id="117" name="任意多边形 116"/>
            <p:cNvSpPr/>
            <p:nvPr/>
          </p:nvSpPr>
          <p:spPr>
            <a:xfrm>
              <a:off x="8082844" y="1693333"/>
              <a:ext cx="596430" cy="756356"/>
            </a:xfrm>
            <a:custGeom>
              <a:avLst/>
              <a:gdLst>
                <a:gd name="connsiteX0" fmla="*/ 587023 w 596430"/>
                <a:gd name="connsiteY0" fmla="*/ 756356 h 756356"/>
                <a:gd name="connsiteX1" fmla="*/ 575734 w 596430"/>
                <a:gd name="connsiteY1" fmla="*/ 485423 h 756356"/>
                <a:gd name="connsiteX2" fmla="*/ 462845 w 596430"/>
                <a:gd name="connsiteY2" fmla="*/ 112889 h 756356"/>
                <a:gd name="connsiteX3" fmla="*/ 0 w 596430"/>
                <a:gd name="connsiteY3" fmla="*/ 0 h 756356"/>
              </a:gdLst>
              <a:ahLst/>
              <a:cxnLst>
                <a:cxn ang="0">
                  <a:pos x="connsiteX0" y="connsiteY0"/>
                </a:cxn>
                <a:cxn ang="0">
                  <a:pos x="connsiteX1" y="connsiteY1"/>
                </a:cxn>
                <a:cxn ang="0">
                  <a:pos x="connsiteX2" y="connsiteY2"/>
                </a:cxn>
                <a:cxn ang="0">
                  <a:pos x="connsiteX3" y="connsiteY3"/>
                </a:cxn>
              </a:cxnLst>
              <a:rect l="l" t="t" r="r" b="b"/>
              <a:pathLst>
                <a:path w="596430" h="756356">
                  <a:moveTo>
                    <a:pt x="587023" y="756356"/>
                  </a:moveTo>
                  <a:cubicBezTo>
                    <a:pt x="591726" y="674511"/>
                    <a:pt x="596430" y="592667"/>
                    <a:pt x="575734" y="485423"/>
                  </a:cubicBezTo>
                  <a:cubicBezTo>
                    <a:pt x="555038" y="378179"/>
                    <a:pt x="558801" y="193793"/>
                    <a:pt x="462845" y="112889"/>
                  </a:cubicBezTo>
                  <a:cubicBezTo>
                    <a:pt x="366889" y="31985"/>
                    <a:pt x="183444" y="15992"/>
                    <a:pt x="0" y="0"/>
                  </a:cubicBezTo>
                </a:path>
              </a:pathLst>
            </a:custGeom>
            <a:ln w="19050">
              <a:solidFill>
                <a:srgbClr val="006600"/>
              </a:solidFill>
              <a:prstDash val="dash"/>
              <a:headEnd type="none" w="med" len="med"/>
              <a:tailEnd type="arrow" w="med" len="med"/>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118" name="Text Box 18"/>
            <p:cNvSpPr txBox="1">
              <a:spLocks noChangeArrowheads="1"/>
            </p:cNvSpPr>
            <p:nvPr/>
          </p:nvSpPr>
          <p:spPr bwMode="auto">
            <a:xfrm>
              <a:off x="8666544" y="1782888"/>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006600"/>
                  </a:solidFill>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6600"/>
                </a:solidFill>
                <a:effectLst/>
                <a:latin typeface="Consolas" pitchFamily="49" charset="0"/>
                <a:ea typeface="宋体" pitchFamily="2" charset="-122"/>
                <a:cs typeface="宋体" pitchFamily="2" charset="-122"/>
              </a:endParaRPr>
            </a:p>
          </p:txBody>
        </p:sp>
        <p:sp>
          <p:nvSpPr>
            <p:cNvPr id="119" name="任意多边形 118"/>
            <p:cNvSpPr/>
            <p:nvPr/>
          </p:nvSpPr>
          <p:spPr>
            <a:xfrm>
              <a:off x="8487363" y="2878667"/>
              <a:ext cx="103481" cy="643466"/>
            </a:xfrm>
            <a:custGeom>
              <a:avLst/>
              <a:gdLst>
                <a:gd name="connsiteX0" fmla="*/ 92193 w 103481"/>
                <a:gd name="connsiteY0" fmla="*/ 643466 h 643466"/>
                <a:gd name="connsiteX1" fmla="*/ 1881 w 103481"/>
                <a:gd name="connsiteY1" fmla="*/ 440266 h 643466"/>
                <a:gd name="connsiteX2" fmla="*/ 103481 w 103481"/>
                <a:gd name="connsiteY2" fmla="*/ 0 h 643466"/>
              </a:gdLst>
              <a:ahLst/>
              <a:cxnLst>
                <a:cxn ang="0">
                  <a:pos x="connsiteX0" y="connsiteY0"/>
                </a:cxn>
                <a:cxn ang="0">
                  <a:pos x="connsiteX1" y="connsiteY1"/>
                </a:cxn>
                <a:cxn ang="0">
                  <a:pos x="connsiteX2" y="connsiteY2"/>
                </a:cxn>
              </a:cxnLst>
              <a:rect l="l" t="t" r="r" b="b"/>
              <a:pathLst>
                <a:path w="103481" h="643466">
                  <a:moveTo>
                    <a:pt x="92193" y="643466"/>
                  </a:moveTo>
                  <a:cubicBezTo>
                    <a:pt x="46096" y="595488"/>
                    <a:pt x="0" y="547510"/>
                    <a:pt x="1881" y="440266"/>
                  </a:cubicBezTo>
                  <a:cubicBezTo>
                    <a:pt x="3762" y="333022"/>
                    <a:pt x="53621" y="166511"/>
                    <a:pt x="103481" y="0"/>
                  </a:cubicBezTo>
                </a:path>
              </a:pathLst>
            </a:custGeom>
            <a:ln w="19050">
              <a:solidFill>
                <a:srgbClr val="006600"/>
              </a:solidFill>
              <a:prstDash val="dash"/>
              <a:headEnd type="none" w="med" len="med"/>
              <a:tailEnd type="arrow" w="med" len="med"/>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120" name="Text Box 18"/>
            <p:cNvSpPr txBox="1">
              <a:spLocks noChangeArrowheads="1"/>
            </p:cNvSpPr>
            <p:nvPr/>
          </p:nvSpPr>
          <p:spPr bwMode="auto">
            <a:xfrm>
              <a:off x="8326553" y="3000372"/>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006600"/>
                  </a:solidFill>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6600"/>
                </a:solidFill>
                <a:effectLst/>
                <a:latin typeface="Consolas" pitchFamily="49" charset="0"/>
                <a:ea typeface="宋体" pitchFamily="2" charset="-122"/>
                <a:cs typeface="宋体" pitchFamily="2" charset="-122"/>
              </a:endParaRPr>
            </a:p>
          </p:txBody>
        </p:sp>
      </p:grpSp>
      <p:sp>
        <p:nvSpPr>
          <p:cNvPr id="121" name="TextBox 120"/>
          <p:cNvSpPr txBox="1"/>
          <p:nvPr/>
        </p:nvSpPr>
        <p:spPr>
          <a:xfrm>
            <a:off x="3357554" y="5143512"/>
            <a:ext cx="2071702" cy="400110"/>
          </a:xfrm>
          <a:prstGeom prst="rect">
            <a:avLst/>
          </a:prstGeom>
          <a:noFill/>
        </p:spPr>
        <p:txBody>
          <a:bodyPr wrap="square" rtlCol="0">
            <a:spAutoFit/>
          </a:bodyPr>
          <a:lstStyle/>
          <a:p>
            <a:pPr>
              <a:lnSpc>
                <a:spcPct val="100000"/>
              </a:lnSpc>
              <a:spcBef>
                <a:spcPts val="0"/>
              </a:spcBef>
            </a:pPr>
            <a:r>
              <a:rPr lang="zh-CN" altLang="en-US" sz="2000">
                <a:solidFill>
                  <a:srgbClr val="0000FF"/>
                </a:solidFill>
                <a:latin typeface="仿宋" pitchFamily="49" charset="-122"/>
                <a:ea typeface="仿宋" pitchFamily="49" charset="-122"/>
                <a:cs typeface="Consolas" pitchFamily="49" charset="0"/>
              </a:rPr>
              <a:t>不考虑反向边</a:t>
            </a:r>
          </a:p>
        </p:txBody>
      </p:sp>
      <p:sp>
        <p:nvSpPr>
          <p:cNvPr id="122" name="TextBox 121"/>
          <p:cNvSpPr txBox="1"/>
          <p:nvPr/>
        </p:nvSpPr>
        <p:spPr>
          <a:xfrm>
            <a:off x="7000892" y="5500702"/>
            <a:ext cx="1143008" cy="584775"/>
          </a:xfrm>
          <a:prstGeom prst="rect">
            <a:avLst/>
          </a:prstGeom>
          <a:noFill/>
        </p:spPr>
        <p:txBody>
          <a:bodyPr wrap="square" rtlCol="0">
            <a:spAutoFit/>
          </a:bodyPr>
          <a:lstStyle/>
          <a:p>
            <a:pPr algn="l">
              <a:lnSpc>
                <a:spcPct val="100000"/>
              </a:lnSpc>
              <a:spcBef>
                <a:spcPts val="0"/>
              </a:spcBef>
            </a:pPr>
            <a:r>
              <a:rPr lang="en-US" altLang="zh-CN" sz="3200">
                <a:solidFill>
                  <a:srgbClr val="0000FF"/>
                </a:solidFill>
                <a:latin typeface="Consolas" pitchFamily="49" charset="0"/>
                <a:ea typeface="楷体" pitchFamily="49" charset="-122"/>
                <a:cs typeface="Consolas" pitchFamily="49" charset="0"/>
              </a:rPr>
              <a:t>OK!</a:t>
            </a:r>
            <a:endParaRPr lang="zh-CN" altLang="en-US" sz="3200">
              <a:solidFill>
                <a:srgbClr val="0000FF"/>
              </a:solidFill>
              <a:latin typeface="Consolas" pitchFamily="49" charset="0"/>
              <a:ea typeface="楷体" pitchFamily="49" charset="-122"/>
              <a:cs typeface="Consolas" pitchFamily="49" charset="0"/>
            </a:endParaRPr>
          </a:p>
        </p:txBody>
      </p:sp>
      <p:sp>
        <p:nvSpPr>
          <p:cNvPr id="88" name="灯片编号占位符 87"/>
          <p:cNvSpPr>
            <a:spLocks noGrp="1"/>
          </p:cNvSpPr>
          <p:nvPr>
            <p:ph type="sldNum" sz="quarter" idx="12"/>
          </p:nvPr>
        </p:nvSpPr>
        <p:spPr/>
        <p:txBody>
          <a:bodyPr/>
          <a:lstStyle/>
          <a:p>
            <a:fld id="{7AF016A1-9F15-429F-9EFD-84004B73C732}" type="slidenum">
              <a:rPr lang="en-US" altLang="zh-CN" smtClean="0"/>
              <a:pPr/>
              <a:t>103</a:t>
            </a:fld>
            <a:r>
              <a:rPr lang="en-US" altLang="zh-CN"/>
              <a:t>/158</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14282" y="285728"/>
            <a:ext cx="5429288"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itchFamily="49" charset="0"/>
                <a:ea typeface="仿宋" pitchFamily="49" charset="-122"/>
              </a:rPr>
              <a:t>介绍如下一些基本概念。</a:t>
            </a:r>
            <a:endParaRPr lang="zh-CN" altLang="en-US">
              <a:solidFill>
                <a:srgbClr val="0000FF"/>
              </a:solidFill>
              <a:latin typeface="Consolas" pitchFamily="49" charset="0"/>
              <a:ea typeface="仿宋" pitchFamily="49" charset="-122"/>
              <a:cs typeface="Consolas" pitchFamily="49" charset="0"/>
            </a:endParaRPr>
          </a:p>
        </p:txBody>
      </p:sp>
      <p:sp>
        <p:nvSpPr>
          <p:cNvPr id="4" name="TextBox 3"/>
          <p:cNvSpPr txBox="1"/>
          <p:nvPr/>
        </p:nvSpPr>
        <p:spPr>
          <a:xfrm>
            <a:off x="285720" y="857232"/>
            <a:ext cx="6143668" cy="5247590"/>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defTabSz="360000">
              <a:lnSpc>
                <a:spcPts val="3200"/>
              </a:lnSpc>
              <a:spcBef>
                <a:spcPts val="600"/>
              </a:spcBef>
            </a:pPr>
            <a:r>
              <a:rPr lang="zh-CN" altLang="zh-CN">
                <a:solidFill>
                  <a:srgbClr val="FF0000"/>
                </a:solidFill>
                <a:latin typeface="Consolas" pitchFamily="49" charset="0"/>
                <a:ea typeface="仿宋" pitchFamily="49" charset="-122"/>
              </a:rPr>
              <a:t>（</a:t>
            </a:r>
            <a:r>
              <a:rPr lang="en-US" altLang="zh-CN">
                <a:solidFill>
                  <a:srgbClr val="FF0000"/>
                </a:solidFill>
                <a:latin typeface="Consolas" pitchFamily="49" charset="0"/>
                <a:ea typeface="仿宋" pitchFamily="49" charset="-122"/>
              </a:rPr>
              <a:t>1</a:t>
            </a:r>
            <a:r>
              <a:rPr lang="zh-CN" altLang="zh-CN">
                <a:solidFill>
                  <a:srgbClr val="FF0000"/>
                </a:solidFill>
                <a:latin typeface="Consolas" pitchFamily="49" charset="0"/>
                <a:ea typeface="仿宋" pitchFamily="49" charset="-122"/>
              </a:rPr>
              <a:t>）</a:t>
            </a:r>
            <a:r>
              <a:rPr lang="zh-CN" altLang="zh-CN">
                <a:solidFill>
                  <a:srgbClr val="FF0000"/>
                </a:solidFill>
                <a:latin typeface="微软雅黑" pitchFamily="34" charset="-122"/>
                <a:ea typeface="微软雅黑" pitchFamily="34" charset="-122"/>
              </a:rPr>
              <a:t>流或者网络流</a:t>
            </a:r>
            <a:r>
              <a:rPr lang="zh-CN" altLang="zh-CN">
                <a:solidFill>
                  <a:srgbClr val="0000FF"/>
                </a:solidFill>
                <a:latin typeface="Consolas" pitchFamily="49" charset="0"/>
                <a:ea typeface="仿宋" pitchFamily="49" charset="-122"/>
              </a:rPr>
              <a:t>：定义在一个网络边集合</a:t>
            </a:r>
            <a:r>
              <a:rPr lang="en-US" altLang="zh-CN" i="1">
                <a:solidFill>
                  <a:srgbClr val="0000FF"/>
                </a:solidFill>
                <a:latin typeface="Consolas" pitchFamily="49" charset="0"/>
                <a:ea typeface="仿宋" pitchFamily="49" charset="-122"/>
              </a:rPr>
              <a:t>E</a:t>
            </a:r>
            <a:r>
              <a:rPr lang="zh-CN" altLang="zh-CN">
                <a:solidFill>
                  <a:srgbClr val="0000FF"/>
                </a:solidFill>
                <a:latin typeface="Consolas" pitchFamily="49" charset="0"/>
                <a:ea typeface="仿宋" pitchFamily="49" charset="-122"/>
              </a:rPr>
              <a:t>上的</a:t>
            </a:r>
            <a:r>
              <a:rPr lang="zh-CN" altLang="zh-CN">
                <a:solidFill>
                  <a:srgbClr val="FF0000"/>
                </a:solidFill>
                <a:latin typeface="Consolas" pitchFamily="49" charset="0"/>
                <a:ea typeface="楷体" pitchFamily="49" charset="-122"/>
              </a:rPr>
              <a:t>流（</a:t>
            </a:r>
            <a:r>
              <a:rPr lang="en-US" altLang="zh-CN">
                <a:solidFill>
                  <a:srgbClr val="FF0000"/>
                </a:solidFill>
                <a:latin typeface="Consolas" pitchFamily="49" charset="0"/>
                <a:ea typeface="楷体" pitchFamily="49" charset="-122"/>
              </a:rPr>
              <a:t>flow</a:t>
            </a:r>
            <a:r>
              <a:rPr lang="zh-CN" altLang="zh-CN">
                <a:solidFill>
                  <a:srgbClr val="FF0000"/>
                </a:solidFill>
                <a:latin typeface="Consolas" pitchFamily="49" charset="0"/>
                <a:ea typeface="楷体" pitchFamily="49" charset="-122"/>
              </a:rPr>
              <a:t>）函数</a:t>
            </a:r>
            <a:r>
              <a:rPr lang="en-US" altLang="zh-CN" i="1">
                <a:solidFill>
                  <a:srgbClr val="0000FF"/>
                </a:solidFill>
                <a:latin typeface="Consolas" pitchFamily="49" charset="0"/>
                <a:ea typeface="仿宋" pitchFamily="49" charset="-122"/>
              </a:rPr>
              <a:t>f</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u</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v</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，满足以下条件：</a:t>
            </a:r>
          </a:p>
          <a:p>
            <a:pPr marL="457200" indent="-457200" algn="l" defTabSz="360000">
              <a:lnSpc>
                <a:spcPts val="3200"/>
              </a:lnSpc>
              <a:spcBef>
                <a:spcPts val="600"/>
              </a:spcBef>
              <a:buFont typeface="+mj-ea"/>
              <a:buAutoNum type="circleNumDbPlain"/>
            </a:pPr>
            <a:r>
              <a:rPr lang="zh-CN" altLang="zh-CN">
                <a:solidFill>
                  <a:srgbClr val="FF0000"/>
                </a:solidFill>
                <a:latin typeface="Consolas" pitchFamily="49" charset="0"/>
                <a:ea typeface="仿宋" pitchFamily="49" charset="-122"/>
              </a:rPr>
              <a:t>容量限制</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V</a:t>
            </a:r>
            <a:r>
              <a:rPr lang="zh-CN" altLang="zh-CN">
                <a:solidFill>
                  <a:srgbClr val="0000FF"/>
                </a:solidFill>
                <a:latin typeface="Consolas" pitchFamily="49" charset="0"/>
                <a:ea typeface="仿宋" pitchFamily="49" charset="-122"/>
              </a:rPr>
              <a:t>中的任意两个顶点</a:t>
            </a:r>
            <a:r>
              <a:rPr lang="en-US" altLang="zh-CN" i="1">
                <a:solidFill>
                  <a:srgbClr val="0000FF"/>
                </a:solidFill>
                <a:latin typeface="Consolas" pitchFamily="49" charset="0"/>
                <a:ea typeface="仿宋" pitchFamily="49" charset="-122"/>
              </a:rPr>
              <a:t>u</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v</a:t>
            </a:r>
            <a:r>
              <a:rPr lang="zh-CN" altLang="zh-CN">
                <a:solidFill>
                  <a:srgbClr val="0000FF"/>
                </a:solidFill>
                <a:latin typeface="Consolas" pitchFamily="49" charset="0"/>
                <a:ea typeface="仿宋" pitchFamily="49" charset="-122"/>
              </a:rPr>
              <a:t>，满足</a:t>
            </a:r>
            <a:r>
              <a:rPr lang="en-US" altLang="zh-CN" i="1">
                <a:solidFill>
                  <a:srgbClr val="0000FF"/>
                </a:solidFill>
                <a:latin typeface="Consolas" pitchFamily="49" charset="0"/>
                <a:ea typeface="仿宋" pitchFamily="49" charset="-122"/>
              </a:rPr>
              <a:t>f</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u</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v</a:t>
            </a:r>
            <a:r>
              <a:rPr lang="en-US" altLang="zh-CN">
                <a:solidFill>
                  <a:srgbClr val="0000FF"/>
                </a:solidFill>
                <a:latin typeface="Consolas" pitchFamily="49" charset="0"/>
                <a:ea typeface="仿宋" pitchFamily="49" charset="-122"/>
              </a:rPr>
              <a:t>)</a:t>
            </a:r>
            <a:r>
              <a:rPr lang="en-US" altLang="zh-CN">
                <a:solidFill>
                  <a:srgbClr val="0000FF"/>
                </a:solidFill>
                <a:latin typeface="+mn-ea"/>
              </a:rPr>
              <a:t>≤</a:t>
            </a:r>
            <a:r>
              <a:rPr lang="en-US" altLang="zh-CN" i="1">
                <a:solidFill>
                  <a:srgbClr val="0000FF"/>
                </a:solidFill>
                <a:latin typeface="Consolas" pitchFamily="49" charset="0"/>
                <a:ea typeface="仿宋" pitchFamily="49" charset="-122"/>
              </a:rPr>
              <a:t>c</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u</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v</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，即一条边的流量不能超过它的容量。</a:t>
            </a:r>
            <a:r>
              <a:rPr lang="en-US" altLang="zh-CN">
                <a:solidFill>
                  <a:srgbClr val="0000FF"/>
                </a:solidFill>
                <a:latin typeface="Consolas" pitchFamily="49" charset="0"/>
                <a:ea typeface="仿宋" pitchFamily="49" charset="-122"/>
              </a:rPr>
              <a:t> </a:t>
            </a:r>
            <a:endParaRPr lang="zh-CN" altLang="zh-CN">
              <a:solidFill>
                <a:srgbClr val="0000FF"/>
              </a:solidFill>
              <a:latin typeface="Consolas" pitchFamily="49" charset="0"/>
              <a:ea typeface="仿宋" pitchFamily="49" charset="-122"/>
            </a:endParaRPr>
          </a:p>
          <a:p>
            <a:pPr marL="457200" indent="-457200" algn="l" defTabSz="360000">
              <a:lnSpc>
                <a:spcPts val="3200"/>
              </a:lnSpc>
              <a:spcBef>
                <a:spcPts val="600"/>
              </a:spcBef>
              <a:buFont typeface="+mj-ea"/>
              <a:buAutoNum type="circleNumDbPlain"/>
            </a:pPr>
            <a:r>
              <a:rPr lang="zh-CN" altLang="zh-CN">
                <a:solidFill>
                  <a:srgbClr val="FF0000"/>
                </a:solidFill>
                <a:latin typeface="Consolas" pitchFamily="49" charset="0"/>
                <a:ea typeface="仿宋" pitchFamily="49" charset="-122"/>
              </a:rPr>
              <a:t>斜对称</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V</a:t>
            </a:r>
            <a:r>
              <a:rPr lang="zh-CN" altLang="zh-CN">
                <a:solidFill>
                  <a:srgbClr val="0000FF"/>
                </a:solidFill>
                <a:latin typeface="Consolas" pitchFamily="49" charset="0"/>
                <a:ea typeface="仿宋" pitchFamily="49" charset="-122"/>
              </a:rPr>
              <a:t>中的任意两个顶点</a:t>
            </a:r>
            <a:r>
              <a:rPr lang="en-US" altLang="zh-CN" i="1">
                <a:solidFill>
                  <a:srgbClr val="0000FF"/>
                </a:solidFill>
                <a:latin typeface="Consolas" pitchFamily="49" charset="0"/>
                <a:ea typeface="仿宋" pitchFamily="49" charset="-122"/>
              </a:rPr>
              <a:t>u</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v</a:t>
            </a:r>
            <a:r>
              <a:rPr lang="zh-CN" altLang="zh-CN">
                <a:solidFill>
                  <a:srgbClr val="0000FF"/>
                </a:solidFill>
                <a:latin typeface="Consolas" pitchFamily="49" charset="0"/>
                <a:ea typeface="仿宋" pitchFamily="49" charset="-122"/>
              </a:rPr>
              <a:t>，满足</a:t>
            </a:r>
            <a:r>
              <a:rPr lang="en-US" altLang="zh-CN" i="1">
                <a:solidFill>
                  <a:srgbClr val="0000FF"/>
                </a:solidFill>
                <a:latin typeface="Consolas" pitchFamily="49" charset="0"/>
                <a:ea typeface="仿宋" pitchFamily="49" charset="-122"/>
              </a:rPr>
              <a:t>f</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u</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v</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f</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v</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u</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。即</a:t>
            </a:r>
            <a:r>
              <a:rPr lang="en-US" altLang="zh-CN" i="1">
                <a:solidFill>
                  <a:srgbClr val="0000FF"/>
                </a:solidFill>
                <a:latin typeface="Consolas" pitchFamily="49" charset="0"/>
                <a:ea typeface="仿宋" pitchFamily="49" charset="-122"/>
              </a:rPr>
              <a:t>u</a:t>
            </a:r>
            <a:r>
              <a:rPr lang="zh-CN" altLang="zh-CN">
                <a:solidFill>
                  <a:srgbClr val="0000FF"/>
                </a:solidFill>
                <a:latin typeface="Consolas" pitchFamily="49" charset="0"/>
                <a:ea typeface="仿宋" pitchFamily="49" charset="-122"/>
              </a:rPr>
              <a:t>到</a:t>
            </a:r>
            <a:r>
              <a:rPr lang="en-US" altLang="zh-CN" i="1">
                <a:solidFill>
                  <a:srgbClr val="0000FF"/>
                </a:solidFill>
                <a:latin typeface="Consolas" pitchFamily="49" charset="0"/>
                <a:ea typeface="仿宋" pitchFamily="49" charset="-122"/>
              </a:rPr>
              <a:t>v</a:t>
            </a:r>
            <a:r>
              <a:rPr lang="zh-CN" altLang="zh-CN">
                <a:solidFill>
                  <a:srgbClr val="0000FF"/>
                </a:solidFill>
                <a:latin typeface="Consolas" pitchFamily="49" charset="0"/>
                <a:ea typeface="仿宋" pitchFamily="49" charset="-122"/>
              </a:rPr>
              <a:t>的流量必须是</a:t>
            </a:r>
            <a:r>
              <a:rPr lang="en-US" altLang="zh-CN" i="1">
                <a:solidFill>
                  <a:srgbClr val="0000FF"/>
                </a:solidFill>
                <a:latin typeface="Consolas" pitchFamily="49" charset="0"/>
                <a:ea typeface="仿宋" pitchFamily="49" charset="-122"/>
              </a:rPr>
              <a:t>v</a:t>
            </a:r>
            <a:r>
              <a:rPr lang="zh-CN" altLang="zh-CN">
                <a:solidFill>
                  <a:srgbClr val="0000FF"/>
                </a:solidFill>
                <a:latin typeface="Consolas" pitchFamily="49" charset="0"/>
                <a:ea typeface="仿宋" pitchFamily="49" charset="-122"/>
              </a:rPr>
              <a:t>到</a:t>
            </a:r>
            <a:r>
              <a:rPr lang="en-US" altLang="zh-CN" i="1">
                <a:solidFill>
                  <a:srgbClr val="0000FF"/>
                </a:solidFill>
                <a:latin typeface="Consolas" pitchFamily="49" charset="0"/>
                <a:ea typeface="仿宋" pitchFamily="49" charset="-122"/>
              </a:rPr>
              <a:t>u</a:t>
            </a:r>
            <a:r>
              <a:rPr lang="zh-CN" altLang="zh-CN">
                <a:solidFill>
                  <a:srgbClr val="0000FF"/>
                </a:solidFill>
                <a:latin typeface="Consolas" pitchFamily="49" charset="0"/>
                <a:ea typeface="仿宋" pitchFamily="49" charset="-122"/>
              </a:rPr>
              <a:t>的流量的相反值。</a:t>
            </a:r>
          </a:p>
          <a:p>
            <a:pPr marL="457200" indent="-457200" algn="l" defTabSz="360000">
              <a:lnSpc>
                <a:spcPts val="3200"/>
              </a:lnSpc>
              <a:spcBef>
                <a:spcPts val="600"/>
              </a:spcBef>
              <a:buFont typeface="+mj-ea"/>
              <a:buAutoNum type="circleNumDbPlain"/>
            </a:pPr>
            <a:r>
              <a:rPr lang="zh-CN" altLang="zh-CN">
                <a:solidFill>
                  <a:srgbClr val="FF0000"/>
                </a:solidFill>
                <a:latin typeface="Consolas" pitchFamily="49" charset="0"/>
                <a:ea typeface="仿宋" pitchFamily="49" charset="-122"/>
              </a:rPr>
              <a:t>流守恒</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V</a:t>
            </a:r>
            <a:r>
              <a:rPr lang="zh-CN" altLang="zh-CN">
                <a:solidFill>
                  <a:srgbClr val="0000FF"/>
                </a:solidFill>
                <a:latin typeface="Consolas" pitchFamily="49" charset="0"/>
                <a:ea typeface="仿宋" pitchFamily="49" charset="-122"/>
              </a:rPr>
              <a:t>中的非</a:t>
            </a:r>
            <a:r>
              <a:rPr lang="en-US" altLang="zh-CN" i="1">
                <a:solidFill>
                  <a:srgbClr val="0000FF"/>
                </a:solidFill>
                <a:latin typeface="Consolas" pitchFamily="49" charset="0"/>
                <a:ea typeface="仿宋" pitchFamily="49" charset="-122"/>
              </a:rPr>
              <a:t>s</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t</a:t>
            </a:r>
            <a:r>
              <a:rPr lang="zh-CN" altLang="zh-CN">
                <a:solidFill>
                  <a:srgbClr val="0000FF"/>
                </a:solidFill>
                <a:latin typeface="Consolas" pitchFamily="49" charset="0"/>
                <a:ea typeface="仿宋" pitchFamily="49" charset="-122"/>
              </a:rPr>
              <a:t>其他任意两个顶点</a:t>
            </a:r>
            <a:r>
              <a:rPr lang="en-US" altLang="zh-CN" i="1">
                <a:solidFill>
                  <a:srgbClr val="0000FF"/>
                </a:solidFill>
                <a:latin typeface="Consolas" pitchFamily="49" charset="0"/>
                <a:ea typeface="仿宋" pitchFamily="49" charset="-122"/>
              </a:rPr>
              <a:t>u</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v</a:t>
            </a:r>
            <a:r>
              <a:rPr lang="zh-CN" altLang="zh-CN">
                <a:solidFill>
                  <a:srgbClr val="0000FF"/>
                </a:solidFill>
                <a:latin typeface="Consolas" pitchFamily="49" charset="0"/>
                <a:ea typeface="仿宋" pitchFamily="49" charset="-122"/>
              </a:rPr>
              <a:t>，满足，即顶点的净流量（出去的总流量减去进来的总流量）是零。</a:t>
            </a:r>
          </a:p>
        </p:txBody>
      </p:sp>
      <p:grpSp>
        <p:nvGrpSpPr>
          <p:cNvPr id="5" name="组合 89"/>
          <p:cNvGrpSpPr/>
          <p:nvPr/>
        </p:nvGrpSpPr>
        <p:grpSpPr>
          <a:xfrm>
            <a:off x="6429388" y="1928802"/>
            <a:ext cx="2571768" cy="3112096"/>
            <a:chOff x="6123360" y="1714488"/>
            <a:chExt cx="2571768" cy="3112096"/>
          </a:xfrm>
        </p:grpSpPr>
        <p:sp>
          <p:nvSpPr>
            <p:cNvPr id="6" name="Text Box 23"/>
            <p:cNvSpPr txBox="1">
              <a:spLocks noChangeArrowheads="1"/>
            </p:cNvSpPr>
            <p:nvPr/>
          </p:nvSpPr>
          <p:spPr bwMode="auto">
            <a:xfrm>
              <a:off x="6480550" y="2095742"/>
              <a:ext cx="580422" cy="333126"/>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FF0000"/>
                  </a:solidFill>
                  <a:effectLst/>
                  <a:latin typeface="Consolas" pitchFamily="49" charset="0"/>
                  <a:ea typeface="宋体" pitchFamily="2" charset="-122"/>
                  <a:cs typeface="Times New Roman" pitchFamily="18" charset="0"/>
                </a:rPr>
                <a:t>4</a:t>
              </a: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7" name="Text Box 22"/>
            <p:cNvSpPr txBox="1">
              <a:spLocks noChangeArrowheads="1"/>
            </p:cNvSpPr>
            <p:nvPr/>
          </p:nvSpPr>
          <p:spPr bwMode="auto">
            <a:xfrm>
              <a:off x="7786710" y="2137541"/>
              <a:ext cx="620648"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FF0000"/>
                  </a:solidFill>
                  <a:latin typeface="Consolas" pitchFamily="49" charset="0"/>
                  <a:ea typeface="宋体" pitchFamily="2" charset="-122"/>
                  <a:cs typeface="Times New Roman" pitchFamily="18" charset="0"/>
                </a:rPr>
                <a:t>1</a:t>
              </a: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8" name="Text Box 21"/>
            <p:cNvSpPr txBox="1">
              <a:spLocks noChangeArrowheads="1"/>
            </p:cNvSpPr>
            <p:nvPr/>
          </p:nvSpPr>
          <p:spPr bwMode="auto">
            <a:xfrm>
              <a:off x="7194930" y="2513728"/>
              <a:ext cx="500066"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FF0000"/>
                  </a:solidFill>
                  <a:effectLst/>
                  <a:latin typeface="Consolas" pitchFamily="49" charset="0"/>
                  <a:ea typeface="宋体" pitchFamily="2" charset="-122"/>
                  <a:cs typeface="Times New Roman" pitchFamily="18" charset="0"/>
                </a:rPr>
                <a:t>0</a:t>
              </a: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9" name="Text Box 20"/>
            <p:cNvSpPr txBox="1">
              <a:spLocks noChangeArrowheads="1"/>
            </p:cNvSpPr>
            <p:nvPr/>
          </p:nvSpPr>
          <p:spPr bwMode="auto">
            <a:xfrm>
              <a:off x="7498188" y="3186305"/>
              <a:ext cx="482559"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FF0000"/>
                  </a:solidFill>
                  <a:latin typeface="Consolas" pitchFamily="49" charset="0"/>
                  <a:ea typeface="宋体" pitchFamily="2" charset="-122"/>
                  <a:cs typeface="Times New Roman" pitchFamily="18" charset="0"/>
                </a:rPr>
                <a:t>2</a:t>
              </a: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0" name="Text Box 19"/>
            <p:cNvSpPr txBox="1">
              <a:spLocks noChangeArrowheads="1"/>
            </p:cNvSpPr>
            <p:nvPr/>
          </p:nvSpPr>
          <p:spPr bwMode="auto">
            <a:xfrm>
              <a:off x="8247162" y="3193905"/>
              <a:ext cx="447966"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a:solidFill>
                    <a:srgbClr val="FF0000"/>
                  </a:solidFill>
                  <a:latin typeface="Consolas" pitchFamily="49" charset="0"/>
                  <a:ea typeface="宋体" pitchFamily="2" charset="-122"/>
                  <a:cs typeface="Times New Roman" pitchFamily="18" charset="0"/>
                </a:rPr>
                <a:t>1</a:t>
              </a: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1" name="Text Box 18"/>
            <p:cNvSpPr txBox="1">
              <a:spLocks noChangeArrowheads="1"/>
            </p:cNvSpPr>
            <p:nvPr/>
          </p:nvSpPr>
          <p:spPr bwMode="auto">
            <a:xfrm>
              <a:off x="7847962" y="4174272"/>
              <a:ext cx="632852"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FF0000"/>
                  </a:solidFill>
                  <a:effectLst/>
                  <a:latin typeface="Consolas" pitchFamily="49" charset="0"/>
                  <a:ea typeface="宋体" pitchFamily="2" charset="-122"/>
                  <a:cs typeface="Times New Roman" pitchFamily="18" charset="0"/>
                </a:rPr>
                <a:t>3</a:t>
              </a: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2" name="Text Box 17"/>
            <p:cNvSpPr txBox="1">
              <a:spLocks noChangeArrowheads="1"/>
            </p:cNvSpPr>
            <p:nvPr/>
          </p:nvSpPr>
          <p:spPr bwMode="auto">
            <a:xfrm>
              <a:off x="6123360" y="3193905"/>
              <a:ext cx="559957"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FF0000"/>
                  </a:solidFill>
                  <a:latin typeface="Consolas" pitchFamily="49" charset="0"/>
                  <a:ea typeface="宋体" pitchFamily="2" charset="-122"/>
                  <a:cs typeface="Times New Roman" pitchFamily="18" charset="0"/>
                </a:rPr>
                <a:t>2</a:t>
              </a: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3" name="Text Box 16"/>
            <p:cNvSpPr txBox="1">
              <a:spLocks noChangeArrowheads="1"/>
            </p:cNvSpPr>
            <p:nvPr/>
          </p:nvSpPr>
          <p:spPr bwMode="auto">
            <a:xfrm>
              <a:off x="6634432" y="4180951"/>
              <a:ext cx="498047"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FF0000"/>
                  </a:solidFill>
                  <a:latin typeface="Consolas" pitchFamily="49" charset="0"/>
                  <a:ea typeface="宋体" pitchFamily="2" charset="-122"/>
                  <a:cs typeface="Times New Roman" pitchFamily="18" charset="0"/>
                </a:rPr>
                <a:t>2</a:t>
              </a: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4" name="Oval 15"/>
            <p:cNvSpPr>
              <a:spLocks noChangeArrowheads="1"/>
            </p:cNvSpPr>
            <p:nvPr/>
          </p:nvSpPr>
          <p:spPr bwMode="auto">
            <a:xfrm>
              <a:off x="7258670" y="1714488"/>
              <a:ext cx="395397" cy="430652"/>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0</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5" name="Oval 14"/>
            <p:cNvSpPr>
              <a:spLocks noChangeArrowheads="1"/>
            </p:cNvSpPr>
            <p:nvPr/>
          </p:nvSpPr>
          <p:spPr bwMode="auto">
            <a:xfrm>
              <a:off x="6500826" y="2602392"/>
              <a:ext cx="395397" cy="43065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6" name="Oval 13"/>
            <p:cNvSpPr>
              <a:spLocks noChangeArrowheads="1"/>
            </p:cNvSpPr>
            <p:nvPr/>
          </p:nvSpPr>
          <p:spPr bwMode="auto">
            <a:xfrm>
              <a:off x="8013979" y="2602392"/>
              <a:ext cx="395397" cy="43065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8" name="Oval 12"/>
            <p:cNvSpPr>
              <a:spLocks noChangeArrowheads="1"/>
            </p:cNvSpPr>
            <p:nvPr/>
          </p:nvSpPr>
          <p:spPr bwMode="auto">
            <a:xfrm>
              <a:off x="6500826" y="3622024"/>
              <a:ext cx="395397" cy="43191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9" name="Oval 11"/>
            <p:cNvSpPr>
              <a:spLocks noChangeArrowheads="1"/>
            </p:cNvSpPr>
            <p:nvPr/>
          </p:nvSpPr>
          <p:spPr bwMode="auto">
            <a:xfrm>
              <a:off x="8013979" y="3622024"/>
              <a:ext cx="395397" cy="43191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0" name="Oval 10"/>
            <p:cNvSpPr>
              <a:spLocks noChangeArrowheads="1"/>
            </p:cNvSpPr>
            <p:nvPr/>
          </p:nvSpPr>
          <p:spPr bwMode="auto">
            <a:xfrm>
              <a:off x="7258670" y="4395932"/>
              <a:ext cx="395397" cy="430652"/>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5</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1" name="AutoShape 9"/>
            <p:cNvSpPr>
              <a:spLocks noChangeShapeType="1"/>
            </p:cNvSpPr>
            <p:nvPr/>
          </p:nvSpPr>
          <p:spPr bwMode="auto">
            <a:xfrm flipH="1">
              <a:off x="6837927" y="2081809"/>
              <a:ext cx="479038" cy="58391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22" name="AutoShape 8"/>
            <p:cNvSpPr>
              <a:spLocks noChangeShapeType="1"/>
            </p:cNvSpPr>
            <p:nvPr/>
          </p:nvSpPr>
          <p:spPr bwMode="auto">
            <a:xfrm>
              <a:off x="7595771" y="2081809"/>
              <a:ext cx="476504" cy="58391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23" name="AutoShape 7"/>
            <p:cNvSpPr>
              <a:spLocks noChangeShapeType="1"/>
            </p:cNvSpPr>
            <p:nvPr/>
          </p:nvSpPr>
          <p:spPr bwMode="auto">
            <a:xfrm>
              <a:off x="6896223" y="2817718"/>
              <a:ext cx="1117756" cy="1267"/>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24" name="AutoShape 6"/>
            <p:cNvSpPr>
              <a:spLocks noChangeShapeType="1"/>
            </p:cNvSpPr>
            <p:nvPr/>
          </p:nvSpPr>
          <p:spPr bwMode="auto">
            <a:xfrm>
              <a:off x="6837927" y="2969713"/>
              <a:ext cx="1176052" cy="86890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25" name="AutoShape 5"/>
            <p:cNvSpPr>
              <a:spLocks noChangeShapeType="1"/>
            </p:cNvSpPr>
            <p:nvPr/>
          </p:nvSpPr>
          <p:spPr bwMode="auto">
            <a:xfrm>
              <a:off x="8211677" y="3033044"/>
              <a:ext cx="1267" cy="588980"/>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26" name="AutoShape 4"/>
            <p:cNvSpPr>
              <a:spLocks noChangeShapeType="1"/>
            </p:cNvSpPr>
            <p:nvPr/>
          </p:nvSpPr>
          <p:spPr bwMode="auto">
            <a:xfrm>
              <a:off x="6698525" y="3033044"/>
              <a:ext cx="1267" cy="588980"/>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27" name="AutoShape 3"/>
            <p:cNvSpPr>
              <a:spLocks noChangeShapeType="1"/>
            </p:cNvSpPr>
            <p:nvPr/>
          </p:nvSpPr>
          <p:spPr bwMode="auto">
            <a:xfrm>
              <a:off x="6837927" y="3990612"/>
              <a:ext cx="479038" cy="468651"/>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28" name="AutoShape 2"/>
            <p:cNvSpPr>
              <a:spLocks noChangeShapeType="1"/>
            </p:cNvSpPr>
            <p:nvPr/>
          </p:nvSpPr>
          <p:spPr bwMode="auto">
            <a:xfrm flipH="1">
              <a:off x="7595771" y="3990612"/>
              <a:ext cx="476504" cy="468651"/>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grpSp>
      <p:sp>
        <p:nvSpPr>
          <p:cNvPr id="30" name="灯片编号占位符 29"/>
          <p:cNvSpPr>
            <a:spLocks noGrp="1"/>
          </p:cNvSpPr>
          <p:nvPr>
            <p:ph type="sldNum" sz="quarter" idx="12"/>
          </p:nvPr>
        </p:nvSpPr>
        <p:spPr/>
        <p:txBody>
          <a:bodyPr/>
          <a:lstStyle/>
          <a:p>
            <a:fld id="{7AF016A1-9F15-429F-9EFD-84004B73C732}" type="slidenum">
              <a:rPr lang="en-US" altLang="zh-CN" smtClean="0"/>
              <a:pPr/>
              <a:t>104</a:t>
            </a:fld>
            <a:r>
              <a:rPr lang="en-US" altLang="zh-CN"/>
              <a:t>/158</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0034" y="500042"/>
            <a:ext cx="8215370" cy="4064574"/>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200"/>
              </a:lnSpc>
              <a:spcBef>
                <a:spcPts val="1200"/>
              </a:spcBef>
            </a:pPr>
            <a:r>
              <a:rPr lang="zh-CN" altLang="zh-CN">
                <a:solidFill>
                  <a:srgbClr val="FF0000"/>
                </a:solidFill>
                <a:latin typeface="Consolas" pitchFamily="49" charset="0"/>
                <a:ea typeface="微软雅黑" pitchFamily="34" charset="-122"/>
              </a:rPr>
              <a:t>（</a:t>
            </a:r>
            <a:r>
              <a:rPr lang="en-US" altLang="zh-CN">
                <a:solidFill>
                  <a:srgbClr val="FF0000"/>
                </a:solidFill>
                <a:latin typeface="Consolas" pitchFamily="49" charset="0"/>
                <a:ea typeface="微软雅黑" pitchFamily="34" charset="-122"/>
              </a:rPr>
              <a:t>2</a:t>
            </a:r>
            <a:r>
              <a:rPr lang="zh-CN" altLang="zh-CN">
                <a:solidFill>
                  <a:srgbClr val="FF0000"/>
                </a:solidFill>
                <a:latin typeface="Consolas" pitchFamily="49" charset="0"/>
                <a:ea typeface="微软雅黑" pitchFamily="34" charset="-122"/>
              </a:rPr>
              <a:t>）剩余网络或者残留网络</a:t>
            </a:r>
            <a:r>
              <a:rPr lang="zh-CN" altLang="zh-CN">
                <a:solidFill>
                  <a:srgbClr val="0000FF"/>
                </a:solidFill>
                <a:latin typeface="Consolas" pitchFamily="49" charset="0"/>
                <a:ea typeface="仿宋" pitchFamily="49" charset="-122"/>
              </a:rPr>
              <a:t>：给定一个网络</a:t>
            </a:r>
            <a:r>
              <a:rPr lang="en-US" altLang="zh-CN" i="1">
                <a:solidFill>
                  <a:srgbClr val="0000FF"/>
                </a:solidFill>
                <a:latin typeface="Consolas" pitchFamily="49" charset="0"/>
                <a:ea typeface="仿宋" pitchFamily="49" charset="-122"/>
              </a:rPr>
              <a:t>G</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V</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E</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，其流函数为</a:t>
            </a:r>
            <a:r>
              <a:rPr lang="en-US" altLang="zh-CN" i="1">
                <a:solidFill>
                  <a:srgbClr val="0000FF"/>
                </a:solidFill>
                <a:latin typeface="Consolas" pitchFamily="49" charset="0"/>
                <a:ea typeface="仿宋" pitchFamily="49" charset="-122"/>
              </a:rPr>
              <a:t>f</a:t>
            </a:r>
            <a:r>
              <a:rPr lang="zh-CN" altLang="zh-CN">
                <a:solidFill>
                  <a:srgbClr val="0000FF"/>
                </a:solidFill>
                <a:latin typeface="Consolas" pitchFamily="49" charset="0"/>
                <a:ea typeface="仿宋" pitchFamily="49" charset="-122"/>
              </a:rPr>
              <a:t>，由</a:t>
            </a:r>
            <a:r>
              <a:rPr lang="en-US" altLang="zh-CN" i="1">
                <a:solidFill>
                  <a:srgbClr val="0000FF"/>
                </a:solidFill>
                <a:latin typeface="Consolas" pitchFamily="49" charset="0"/>
                <a:ea typeface="仿宋" pitchFamily="49" charset="-122"/>
              </a:rPr>
              <a:t>f</a:t>
            </a:r>
            <a:r>
              <a:rPr lang="zh-CN" altLang="zh-CN">
                <a:solidFill>
                  <a:srgbClr val="0000FF"/>
                </a:solidFill>
                <a:latin typeface="Consolas" pitchFamily="49" charset="0"/>
                <a:ea typeface="仿宋" pitchFamily="49" charset="-122"/>
              </a:rPr>
              <a:t>对应的剩余网络或者残留网络</a:t>
            </a:r>
            <a:r>
              <a:rPr lang="en-US" altLang="zh-CN" i="1">
                <a:solidFill>
                  <a:srgbClr val="FF0000"/>
                </a:solidFill>
                <a:latin typeface="Consolas" pitchFamily="49" charset="0"/>
                <a:ea typeface="仿宋" pitchFamily="49" charset="-122"/>
              </a:rPr>
              <a:t>G</a:t>
            </a:r>
            <a:r>
              <a:rPr lang="en-US" altLang="zh-CN" i="1" baseline="-25000">
                <a:solidFill>
                  <a:srgbClr val="FF0000"/>
                </a:solidFill>
                <a:latin typeface="Consolas" pitchFamily="49" charset="0"/>
                <a:ea typeface="仿宋" pitchFamily="49" charset="-122"/>
              </a:rPr>
              <a:t>f</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V</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E</a:t>
            </a:r>
            <a:r>
              <a:rPr lang="en-US" altLang="zh-CN" i="1" baseline="-25000">
                <a:solidFill>
                  <a:srgbClr val="0000FF"/>
                </a:solidFill>
                <a:latin typeface="Consolas" pitchFamily="49" charset="0"/>
                <a:ea typeface="仿宋" pitchFamily="49" charset="-122"/>
              </a:rPr>
              <a:t>f</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G</a:t>
            </a:r>
            <a:r>
              <a:rPr lang="en-US" altLang="zh-CN" i="1" baseline="-25000">
                <a:solidFill>
                  <a:srgbClr val="0000FF"/>
                </a:solidFill>
                <a:latin typeface="Consolas" pitchFamily="49" charset="0"/>
                <a:ea typeface="仿宋" pitchFamily="49" charset="-122"/>
              </a:rPr>
              <a:t>f</a:t>
            </a:r>
            <a:r>
              <a:rPr lang="zh-CN" altLang="zh-CN">
                <a:solidFill>
                  <a:srgbClr val="0000FF"/>
                </a:solidFill>
                <a:latin typeface="Consolas" pitchFamily="49" charset="0"/>
                <a:ea typeface="仿宋" pitchFamily="49" charset="-122"/>
              </a:rPr>
              <a:t>中的边称为剩余边</a:t>
            </a:r>
            <a:r>
              <a:rPr lang="zh-CN" altLang="en-US">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marL="457200" indent="-457200" algn="l">
              <a:lnSpc>
                <a:spcPts val="3200"/>
              </a:lnSpc>
              <a:spcBef>
                <a:spcPts val="1200"/>
              </a:spcBef>
              <a:buFont typeface="+mj-ea"/>
              <a:buAutoNum type="circleNumDbPlain"/>
            </a:pPr>
            <a:r>
              <a:rPr lang="zh-CN" altLang="zh-CN">
                <a:solidFill>
                  <a:srgbClr val="0000FF"/>
                </a:solidFill>
                <a:latin typeface="Consolas" pitchFamily="49" charset="0"/>
                <a:ea typeface="仿宋" pitchFamily="49" charset="-122"/>
              </a:rPr>
              <a:t>若</a:t>
            </a:r>
            <a:r>
              <a:rPr lang="en-US" altLang="zh-CN" i="1">
                <a:solidFill>
                  <a:srgbClr val="0000FF"/>
                </a:solidFill>
                <a:latin typeface="Consolas" pitchFamily="49" charset="0"/>
                <a:ea typeface="仿宋" pitchFamily="49" charset="-122"/>
              </a:rPr>
              <a:t>G</a:t>
            </a:r>
            <a:r>
              <a:rPr lang="zh-CN" altLang="zh-CN">
                <a:solidFill>
                  <a:srgbClr val="0000FF"/>
                </a:solidFill>
                <a:latin typeface="Consolas" pitchFamily="49" charset="0"/>
                <a:ea typeface="仿宋" pitchFamily="49" charset="-122"/>
              </a:rPr>
              <a:t>中有边</a:t>
            </a:r>
            <a:r>
              <a:rPr lang="en-US" altLang="zh-CN">
                <a:solidFill>
                  <a:srgbClr val="0000FF"/>
                </a:solidFill>
                <a:latin typeface="Consolas" pitchFamily="49" charset="0"/>
                <a:ea typeface="仿宋" pitchFamily="49" charset="-122"/>
              </a:rPr>
              <a:t>&lt;</a:t>
            </a:r>
            <a:r>
              <a:rPr lang="en-US" altLang="zh-CN" i="1">
                <a:solidFill>
                  <a:srgbClr val="0000FF"/>
                </a:solidFill>
                <a:latin typeface="Consolas" pitchFamily="49" charset="0"/>
                <a:ea typeface="仿宋" pitchFamily="49" charset="-122"/>
              </a:rPr>
              <a:t>u</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v</a:t>
            </a:r>
            <a:r>
              <a:rPr lang="en-US" altLang="zh-CN">
                <a:solidFill>
                  <a:srgbClr val="0000FF"/>
                </a:solidFill>
                <a:latin typeface="Consolas" pitchFamily="49" charset="0"/>
                <a:ea typeface="仿宋" pitchFamily="49" charset="-122"/>
              </a:rPr>
              <a:t>&gt;</a:t>
            </a:r>
            <a:r>
              <a:rPr lang="zh-CN" altLang="zh-CN">
                <a:solidFill>
                  <a:srgbClr val="0000FF"/>
                </a:solidFill>
                <a:latin typeface="Consolas" pitchFamily="49" charset="0"/>
                <a:ea typeface="仿宋" pitchFamily="49" charset="-122"/>
              </a:rPr>
              <a:t>且</a:t>
            </a:r>
            <a:r>
              <a:rPr lang="en-US" altLang="zh-CN" i="1">
                <a:solidFill>
                  <a:srgbClr val="0000FF"/>
                </a:solidFill>
                <a:latin typeface="Consolas" pitchFamily="49" charset="0"/>
                <a:ea typeface="仿宋" pitchFamily="49" charset="-122"/>
              </a:rPr>
              <a:t>f</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u</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v</a:t>
            </a:r>
            <a:r>
              <a:rPr lang="en-US" altLang="zh-CN">
                <a:solidFill>
                  <a:srgbClr val="0000FF"/>
                </a:solidFill>
                <a:latin typeface="Consolas" pitchFamily="49" charset="0"/>
                <a:ea typeface="仿宋" pitchFamily="49" charset="-122"/>
              </a:rPr>
              <a:t>)&lt;</a:t>
            </a:r>
            <a:r>
              <a:rPr lang="en-US" altLang="zh-CN" i="1">
                <a:solidFill>
                  <a:srgbClr val="0000FF"/>
                </a:solidFill>
                <a:latin typeface="Consolas" pitchFamily="49" charset="0"/>
                <a:ea typeface="仿宋" pitchFamily="49" charset="-122"/>
              </a:rPr>
              <a:t>c</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u</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v</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，则对应的剩余边</a:t>
            </a:r>
            <a:r>
              <a:rPr lang="en-US" altLang="zh-CN">
                <a:solidFill>
                  <a:srgbClr val="0000FF"/>
                </a:solidFill>
                <a:latin typeface="Consolas" pitchFamily="49" charset="0"/>
                <a:ea typeface="仿宋" pitchFamily="49" charset="-122"/>
              </a:rPr>
              <a:t>&lt;</a:t>
            </a:r>
            <a:r>
              <a:rPr lang="en-US" altLang="zh-CN" i="1">
                <a:solidFill>
                  <a:srgbClr val="0000FF"/>
                </a:solidFill>
                <a:latin typeface="Consolas" pitchFamily="49" charset="0"/>
                <a:ea typeface="仿宋" pitchFamily="49" charset="-122"/>
              </a:rPr>
              <a:t>u</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v</a:t>
            </a:r>
            <a:r>
              <a:rPr lang="en-US" altLang="zh-CN">
                <a:solidFill>
                  <a:srgbClr val="0000FF"/>
                </a:solidFill>
                <a:latin typeface="Consolas" pitchFamily="49" charset="0"/>
                <a:ea typeface="仿宋" pitchFamily="49" charset="-122"/>
              </a:rPr>
              <a:t>&gt;</a:t>
            </a:r>
            <a:r>
              <a:rPr lang="zh-CN" altLang="zh-CN">
                <a:solidFill>
                  <a:srgbClr val="0000FF"/>
                </a:solidFill>
                <a:latin typeface="Consolas" pitchFamily="49" charset="0"/>
                <a:ea typeface="仿宋" pitchFamily="49" charset="-122"/>
              </a:rPr>
              <a:t>的</a:t>
            </a:r>
            <a:r>
              <a:rPr lang="zh-CN" altLang="zh-CN">
                <a:solidFill>
                  <a:srgbClr val="FF0000"/>
                </a:solidFill>
                <a:latin typeface="Consolas" pitchFamily="49" charset="0"/>
                <a:ea typeface="仿宋" pitchFamily="49" charset="-122"/>
              </a:rPr>
              <a:t>流量为</a:t>
            </a:r>
            <a:r>
              <a:rPr lang="en-US" altLang="zh-CN" i="1">
                <a:solidFill>
                  <a:srgbClr val="FF0000"/>
                </a:solidFill>
                <a:latin typeface="Consolas" pitchFamily="49" charset="0"/>
                <a:ea typeface="仿宋" pitchFamily="49" charset="-122"/>
              </a:rPr>
              <a:t>c</a:t>
            </a:r>
            <a:r>
              <a:rPr lang="en-US" altLang="zh-CN">
                <a:solidFill>
                  <a:srgbClr val="FF0000"/>
                </a:solidFill>
                <a:latin typeface="Consolas" pitchFamily="49" charset="0"/>
                <a:ea typeface="仿宋" pitchFamily="49" charset="-122"/>
              </a:rPr>
              <a:t>(</a:t>
            </a:r>
            <a:r>
              <a:rPr lang="en-US" altLang="zh-CN" i="1">
                <a:solidFill>
                  <a:srgbClr val="FF0000"/>
                </a:solidFill>
                <a:latin typeface="Consolas" pitchFamily="49" charset="0"/>
                <a:ea typeface="仿宋" pitchFamily="49" charset="-122"/>
              </a:rPr>
              <a:t>u</a:t>
            </a:r>
            <a:r>
              <a:rPr lang="zh-CN" altLang="zh-CN">
                <a:solidFill>
                  <a:srgbClr val="FF0000"/>
                </a:solidFill>
                <a:latin typeface="Consolas" pitchFamily="49" charset="0"/>
                <a:ea typeface="仿宋" pitchFamily="49" charset="-122"/>
              </a:rPr>
              <a:t>，</a:t>
            </a:r>
            <a:r>
              <a:rPr lang="en-US" altLang="zh-CN" i="1">
                <a:solidFill>
                  <a:srgbClr val="FF0000"/>
                </a:solidFill>
                <a:latin typeface="Consolas" pitchFamily="49" charset="0"/>
                <a:ea typeface="仿宋" pitchFamily="49" charset="-122"/>
              </a:rPr>
              <a:t>v</a:t>
            </a:r>
            <a:r>
              <a:rPr lang="en-US" altLang="zh-CN">
                <a:solidFill>
                  <a:srgbClr val="FF0000"/>
                </a:solidFill>
                <a:latin typeface="Consolas" pitchFamily="49" charset="0"/>
                <a:ea typeface="仿宋" pitchFamily="49" charset="-122"/>
              </a:rPr>
              <a:t>)-</a:t>
            </a:r>
            <a:r>
              <a:rPr lang="en-US" altLang="zh-CN" i="1">
                <a:solidFill>
                  <a:srgbClr val="FF0000"/>
                </a:solidFill>
                <a:latin typeface="Consolas" pitchFamily="49" charset="0"/>
                <a:ea typeface="仿宋" pitchFamily="49" charset="-122"/>
              </a:rPr>
              <a:t>f</a:t>
            </a:r>
            <a:r>
              <a:rPr lang="en-US" altLang="zh-CN">
                <a:solidFill>
                  <a:srgbClr val="FF0000"/>
                </a:solidFill>
                <a:latin typeface="Consolas" pitchFamily="49" charset="0"/>
                <a:ea typeface="仿宋" pitchFamily="49" charset="-122"/>
              </a:rPr>
              <a:t>(</a:t>
            </a:r>
            <a:r>
              <a:rPr lang="en-US" altLang="zh-CN" i="1">
                <a:solidFill>
                  <a:srgbClr val="FF0000"/>
                </a:solidFill>
                <a:latin typeface="Consolas" pitchFamily="49" charset="0"/>
                <a:ea typeface="仿宋" pitchFamily="49" charset="-122"/>
              </a:rPr>
              <a:t>u</a:t>
            </a:r>
            <a:r>
              <a:rPr lang="zh-CN" altLang="zh-CN">
                <a:solidFill>
                  <a:srgbClr val="FF0000"/>
                </a:solidFill>
                <a:latin typeface="Consolas" pitchFamily="49" charset="0"/>
                <a:ea typeface="仿宋" pitchFamily="49" charset="-122"/>
              </a:rPr>
              <a:t>，</a:t>
            </a:r>
            <a:r>
              <a:rPr lang="en-US" altLang="zh-CN" i="1">
                <a:solidFill>
                  <a:srgbClr val="FF0000"/>
                </a:solidFill>
                <a:latin typeface="Consolas" pitchFamily="49" charset="0"/>
                <a:ea typeface="仿宋" pitchFamily="49" charset="-122"/>
              </a:rPr>
              <a:t>v</a:t>
            </a:r>
            <a:r>
              <a:rPr lang="en-US" altLang="zh-CN">
                <a:solidFill>
                  <a:srgbClr val="FF0000"/>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（表示从顶点</a:t>
            </a:r>
            <a:r>
              <a:rPr lang="en-US" altLang="zh-CN" i="1">
                <a:solidFill>
                  <a:srgbClr val="0000FF"/>
                </a:solidFill>
                <a:latin typeface="Consolas" pitchFamily="49" charset="0"/>
                <a:ea typeface="仿宋" pitchFamily="49" charset="-122"/>
              </a:rPr>
              <a:t>u</a:t>
            </a:r>
            <a:r>
              <a:rPr lang="zh-CN" altLang="zh-CN">
                <a:solidFill>
                  <a:srgbClr val="0000FF"/>
                </a:solidFill>
                <a:latin typeface="Consolas" pitchFamily="49" charset="0"/>
                <a:ea typeface="仿宋" pitchFamily="49" charset="-122"/>
              </a:rPr>
              <a:t>到</a:t>
            </a:r>
            <a:r>
              <a:rPr lang="en-US" altLang="zh-CN" i="1">
                <a:solidFill>
                  <a:srgbClr val="0000FF"/>
                </a:solidFill>
                <a:latin typeface="Consolas" pitchFamily="49" charset="0"/>
                <a:ea typeface="仿宋" pitchFamily="49" charset="-122"/>
              </a:rPr>
              <a:t>v</a:t>
            </a:r>
            <a:r>
              <a:rPr lang="zh-CN" altLang="zh-CN">
                <a:solidFill>
                  <a:srgbClr val="0000FF"/>
                </a:solidFill>
                <a:latin typeface="Consolas" pitchFamily="49" charset="0"/>
                <a:ea typeface="仿宋" pitchFamily="49" charset="-122"/>
              </a:rPr>
              <a:t>还可以增加的最大网络流量）</a:t>
            </a:r>
            <a:r>
              <a:rPr lang="zh-CN" altLang="en-US">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marL="457200" indent="-457200" algn="l">
              <a:lnSpc>
                <a:spcPts val="3200"/>
              </a:lnSpc>
              <a:spcBef>
                <a:spcPts val="1200"/>
              </a:spcBef>
              <a:buFont typeface="+mj-ea"/>
              <a:buAutoNum type="circleNumDbPlain"/>
            </a:pPr>
            <a:r>
              <a:rPr lang="zh-CN" altLang="zh-CN">
                <a:solidFill>
                  <a:srgbClr val="0000FF"/>
                </a:solidFill>
                <a:latin typeface="Consolas" pitchFamily="49" charset="0"/>
                <a:ea typeface="仿宋" pitchFamily="49" charset="-122"/>
              </a:rPr>
              <a:t>若</a:t>
            </a:r>
            <a:r>
              <a:rPr lang="en-US" altLang="zh-CN" i="1">
                <a:solidFill>
                  <a:srgbClr val="0000FF"/>
                </a:solidFill>
                <a:latin typeface="Consolas" pitchFamily="49" charset="0"/>
                <a:ea typeface="仿宋" pitchFamily="49" charset="-122"/>
              </a:rPr>
              <a:t>G</a:t>
            </a:r>
            <a:r>
              <a:rPr lang="zh-CN" altLang="zh-CN">
                <a:solidFill>
                  <a:srgbClr val="0000FF"/>
                </a:solidFill>
                <a:latin typeface="Consolas" pitchFamily="49" charset="0"/>
                <a:ea typeface="仿宋" pitchFamily="49" charset="-122"/>
              </a:rPr>
              <a:t>中有边</a:t>
            </a:r>
            <a:r>
              <a:rPr lang="en-US" altLang="zh-CN">
                <a:solidFill>
                  <a:srgbClr val="0000FF"/>
                </a:solidFill>
                <a:latin typeface="Consolas" pitchFamily="49" charset="0"/>
                <a:ea typeface="仿宋" pitchFamily="49" charset="-122"/>
              </a:rPr>
              <a:t>&lt;</a:t>
            </a:r>
            <a:r>
              <a:rPr lang="en-US" altLang="zh-CN" i="1">
                <a:solidFill>
                  <a:srgbClr val="0000FF"/>
                </a:solidFill>
                <a:latin typeface="Consolas" pitchFamily="49" charset="0"/>
                <a:ea typeface="仿宋" pitchFamily="49" charset="-122"/>
              </a:rPr>
              <a:t>u</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v</a:t>
            </a:r>
            <a:r>
              <a:rPr lang="en-US" altLang="zh-CN">
                <a:solidFill>
                  <a:srgbClr val="0000FF"/>
                </a:solidFill>
                <a:latin typeface="Consolas" pitchFamily="49" charset="0"/>
                <a:ea typeface="仿宋" pitchFamily="49" charset="-122"/>
              </a:rPr>
              <a:t>&gt;</a:t>
            </a:r>
            <a:r>
              <a:rPr lang="zh-CN" altLang="zh-CN">
                <a:solidFill>
                  <a:srgbClr val="0000FF"/>
                </a:solidFill>
                <a:latin typeface="Consolas" pitchFamily="49" charset="0"/>
                <a:ea typeface="仿宋" pitchFamily="49" charset="-122"/>
              </a:rPr>
              <a:t>且</a:t>
            </a:r>
            <a:r>
              <a:rPr lang="en-US" altLang="zh-CN" i="1">
                <a:solidFill>
                  <a:srgbClr val="0000FF"/>
                </a:solidFill>
                <a:latin typeface="Consolas" pitchFamily="49" charset="0"/>
                <a:ea typeface="仿宋" pitchFamily="49" charset="-122"/>
              </a:rPr>
              <a:t>f</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u</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v</a:t>
            </a:r>
            <a:r>
              <a:rPr lang="en-US" altLang="zh-CN">
                <a:solidFill>
                  <a:srgbClr val="0000FF"/>
                </a:solidFill>
                <a:latin typeface="Consolas" pitchFamily="49" charset="0"/>
                <a:ea typeface="仿宋" pitchFamily="49" charset="-122"/>
              </a:rPr>
              <a:t>)&gt;0</a:t>
            </a:r>
            <a:r>
              <a:rPr lang="zh-CN" altLang="zh-CN">
                <a:solidFill>
                  <a:srgbClr val="0000FF"/>
                </a:solidFill>
                <a:latin typeface="Consolas" pitchFamily="49" charset="0"/>
                <a:ea typeface="仿宋" pitchFamily="49" charset="-122"/>
              </a:rPr>
              <a:t>，则对应的剩余边</a:t>
            </a:r>
            <a:r>
              <a:rPr lang="en-US" altLang="zh-CN">
                <a:solidFill>
                  <a:srgbClr val="0000FF"/>
                </a:solidFill>
                <a:latin typeface="Consolas" pitchFamily="49" charset="0"/>
                <a:ea typeface="仿宋" pitchFamily="49" charset="-122"/>
              </a:rPr>
              <a:t>&lt;</a:t>
            </a:r>
            <a:r>
              <a:rPr lang="en-US" altLang="zh-CN" i="1">
                <a:solidFill>
                  <a:srgbClr val="0000FF"/>
                </a:solidFill>
                <a:latin typeface="Consolas" pitchFamily="49" charset="0"/>
                <a:ea typeface="仿宋" pitchFamily="49" charset="-122"/>
              </a:rPr>
              <a:t>v</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u</a:t>
            </a:r>
            <a:r>
              <a:rPr lang="en-US" altLang="zh-CN">
                <a:solidFill>
                  <a:srgbClr val="0000FF"/>
                </a:solidFill>
                <a:latin typeface="Consolas" pitchFamily="49" charset="0"/>
                <a:ea typeface="仿宋" pitchFamily="49" charset="-122"/>
              </a:rPr>
              <a:t>&gt;</a:t>
            </a:r>
            <a:r>
              <a:rPr lang="zh-CN" altLang="zh-CN">
                <a:solidFill>
                  <a:srgbClr val="0000FF"/>
                </a:solidFill>
                <a:latin typeface="Consolas" pitchFamily="49" charset="0"/>
                <a:ea typeface="仿宋" pitchFamily="49" charset="-122"/>
              </a:rPr>
              <a:t>的</a:t>
            </a:r>
            <a:r>
              <a:rPr lang="zh-CN" altLang="zh-CN">
                <a:solidFill>
                  <a:srgbClr val="FF0000"/>
                </a:solidFill>
                <a:latin typeface="Consolas" pitchFamily="49" charset="0"/>
                <a:ea typeface="仿宋" pitchFamily="49" charset="-122"/>
              </a:rPr>
              <a:t>流量为</a:t>
            </a:r>
            <a:r>
              <a:rPr lang="en-US" altLang="zh-CN" i="1">
                <a:solidFill>
                  <a:srgbClr val="FF0000"/>
                </a:solidFill>
                <a:latin typeface="Consolas" pitchFamily="49" charset="0"/>
                <a:ea typeface="仿宋" pitchFamily="49" charset="-122"/>
              </a:rPr>
              <a:t>f</a:t>
            </a:r>
            <a:r>
              <a:rPr lang="en-US" altLang="zh-CN">
                <a:solidFill>
                  <a:srgbClr val="FF0000"/>
                </a:solidFill>
                <a:latin typeface="Consolas" pitchFamily="49" charset="0"/>
                <a:ea typeface="仿宋" pitchFamily="49" charset="-122"/>
              </a:rPr>
              <a:t>(</a:t>
            </a:r>
            <a:r>
              <a:rPr lang="en-US" altLang="zh-CN" i="1">
                <a:solidFill>
                  <a:srgbClr val="FF0000"/>
                </a:solidFill>
                <a:latin typeface="Consolas" pitchFamily="49" charset="0"/>
                <a:ea typeface="仿宋" pitchFamily="49" charset="-122"/>
              </a:rPr>
              <a:t>u</a:t>
            </a:r>
            <a:r>
              <a:rPr lang="zh-CN" altLang="zh-CN">
                <a:solidFill>
                  <a:srgbClr val="FF0000"/>
                </a:solidFill>
                <a:latin typeface="Consolas" pitchFamily="49" charset="0"/>
                <a:ea typeface="仿宋" pitchFamily="49" charset="-122"/>
              </a:rPr>
              <a:t>，</a:t>
            </a:r>
            <a:r>
              <a:rPr lang="en-US" altLang="zh-CN" i="1">
                <a:solidFill>
                  <a:srgbClr val="FF0000"/>
                </a:solidFill>
                <a:latin typeface="Consolas" pitchFamily="49" charset="0"/>
                <a:ea typeface="仿宋" pitchFamily="49" charset="-122"/>
              </a:rPr>
              <a:t>v</a:t>
            </a:r>
            <a:r>
              <a:rPr lang="en-US" altLang="zh-CN">
                <a:solidFill>
                  <a:srgbClr val="FF0000"/>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（表示从顶点</a:t>
            </a:r>
            <a:r>
              <a:rPr lang="en-US" altLang="zh-CN" i="1">
                <a:solidFill>
                  <a:srgbClr val="0000FF"/>
                </a:solidFill>
                <a:latin typeface="Consolas" pitchFamily="49" charset="0"/>
                <a:ea typeface="仿宋" pitchFamily="49" charset="-122"/>
              </a:rPr>
              <a:t>u</a:t>
            </a:r>
            <a:r>
              <a:rPr lang="zh-CN" altLang="zh-CN">
                <a:solidFill>
                  <a:srgbClr val="0000FF"/>
                </a:solidFill>
                <a:latin typeface="Consolas" pitchFamily="49" charset="0"/>
                <a:ea typeface="仿宋" pitchFamily="49" charset="-122"/>
              </a:rPr>
              <a:t>到</a:t>
            </a:r>
            <a:r>
              <a:rPr lang="en-US" altLang="zh-CN" i="1">
                <a:solidFill>
                  <a:srgbClr val="0000FF"/>
                </a:solidFill>
                <a:latin typeface="Consolas" pitchFamily="49" charset="0"/>
                <a:ea typeface="仿宋" pitchFamily="49" charset="-122"/>
              </a:rPr>
              <a:t>v</a:t>
            </a:r>
            <a:r>
              <a:rPr lang="zh-CN" altLang="zh-CN">
                <a:solidFill>
                  <a:srgbClr val="0000FF"/>
                </a:solidFill>
                <a:latin typeface="Consolas" pitchFamily="49" charset="0"/>
                <a:ea typeface="仿宋" pitchFamily="49" charset="-122"/>
              </a:rPr>
              <a:t>可以减少的最大网络流量）。</a:t>
            </a: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105</a:t>
            </a:fld>
            <a:r>
              <a:rPr lang="en-US" altLang="zh-CN"/>
              <a:t>/158</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89"/>
          <p:cNvGrpSpPr/>
          <p:nvPr/>
        </p:nvGrpSpPr>
        <p:grpSpPr>
          <a:xfrm>
            <a:off x="714348" y="928670"/>
            <a:ext cx="2571768" cy="3112096"/>
            <a:chOff x="6123360" y="1714488"/>
            <a:chExt cx="2571768" cy="3112096"/>
          </a:xfrm>
        </p:grpSpPr>
        <p:sp>
          <p:nvSpPr>
            <p:cNvPr id="4" name="Text Box 23"/>
            <p:cNvSpPr txBox="1">
              <a:spLocks noChangeArrowheads="1"/>
            </p:cNvSpPr>
            <p:nvPr/>
          </p:nvSpPr>
          <p:spPr bwMode="auto">
            <a:xfrm>
              <a:off x="6480550" y="2095742"/>
              <a:ext cx="580422" cy="333126"/>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FF0000"/>
                  </a:solidFill>
                  <a:effectLst/>
                  <a:latin typeface="Consolas" pitchFamily="49" charset="0"/>
                  <a:ea typeface="宋体" pitchFamily="2" charset="-122"/>
                  <a:cs typeface="Times New Roman" pitchFamily="18" charset="0"/>
                </a:rPr>
                <a:t>4</a:t>
              </a: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 name="Text Box 22"/>
            <p:cNvSpPr txBox="1">
              <a:spLocks noChangeArrowheads="1"/>
            </p:cNvSpPr>
            <p:nvPr/>
          </p:nvSpPr>
          <p:spPr bwMode="auto">
            <a:xfrm>
              <a:off x="7786710" y="2137541"/>
              <a:ext cx="620648"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FF0000"/>
                  </a:solidFill>
                  <a:latin typeface="Consolas" pitchFamily="49" charset="0"/>
                  <a:ea typeface="宋体" pitchFamily="2" charset="-122"/>
                  <a:cs typeface="Times New Roman" pitchFamily="18" charset="0"/>
                </a:rPr>
                <a:t>1</a:t>
              </a: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6" name="Text Box 21"/>
            <p:cNvSpPr txBox="1">
              <a:spLocks noChangeArrowheads="1"/>
            </p:cNvSpPr>
            <p:nvPr/>
          </p:nvSpPr>
          <p:spPr bwMode="auto">
            <a:xfrm>
              <a:off x="7194930" y="2513728"/>
              <a:ext cx="500066"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FF0000"/>
                  </a:solidFill>
                  <a:effectLst/>
                  <a:latin typeface="Consolas" pitchFamily="49" charset="0"/>
                  <a:ea typeface="宋体" pitchFamily="2" charset="-122"/>
                  <a:cs typeface="Times New Roman" pitchFamily="18" charset="0"/>
                </a:rPr>
                <a:t>0</a:t>
              </a: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7" name="Text Box 20"/>
            <p:cNvSpPr txBox="1">
              <a:spLocks noChangeArrowheads="1"/>
            </p:cNvSpPr>
            <p:nvPr/>
          </p:nvSpPr>
          <p:spPr bwMode="auto">
            <a:xfrm>
              <a:off x="7498188" y="3186305"/>
              <a:ext cx="482559"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FF0000"/>
                  </a:solidFill>
                  <a:latin typeface="Consolas" pitchFamily="49" charset="0"/>
                  <a:ea typeface="宋体" pitchFamily="2" charset="-122"/>
                  <a:cs typeface="Times New Roman" pitchFamily="18" charset="0"/>
                </a:rPr>
                <a:t>2</a:t>
              </a: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8" name="Text Box 19"/>
            <p:cNvSpPr txBox="1">
              <a:spLocks noChangeArrowheads="1"/>
            </p:cNvSpPr>
            <p:nvPr/>
          </p:nvSpPr>
          <p:spPr bwMode="auto">
            <a:xfrm>
              <a:off x="8247162" y="3193905"/>
              <a:ext cx="447966"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a:solidFill>
                    <a:srgbClr val="FF0000"/>
                  </a:solidFill>
                  <a:latin typeface="Consolas" pitchFamily="49" charset="0"/>
                  <a:ea typeface="宋体" pitchFamily="2" charset="-122"/>
                  <a:cs typeface="Times New Roman" pitchFamily="18" charset="0"/>
                </a:rPr>
                <a:t>1</a:t>
              </a: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9" name="Text Box 18"/>
            <p:cNvSpPr txBox="1">
              <a:spLocks noChangeArrowheads="1"/>
            </p:cNvSpPr>
            <p:nvPr/>
          </p:nvSpPr>
          <p:spPr bwMode="auto">
            <a:xfrm>
              <a:off x="7847962" y="4174272"/>
              <a:ext cx="632852"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FF0000"/>
                  </a:solidFill>
                  <a:effectLst/>
                  <a:latin typeface="Consolas" pitchFamily="49" charset="0"/>
                  <a:ea typeface="宋体" pitchFamily="2" charset="-122"/>
                  <a:cs typeface="Times New Roman" pitchFamily="18" charset="0"/>
                </a:rPr>
                <a:t>3</a:t>
              </a: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0" name="Text Box 17"/>
            <p:cNvSpPr txBox="1">
              <a:spLocks noChangeArrowheads="1"/>
            </p:cNvSpPr>
            <p:nvPr/>
          </p:nvSpPr>
          <p:spPr bwMode="auto">
            <a:xfrm>
              <a:off x="6123360" y="3193905"/>
              <a:ext cx="559957"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FF0000"/>
                  </a:solidFill>
                  <a:latin typeface="Consolas" pitchFamily="49" charset="0"/>
                  <a:ea typeface="宋体" pitchFamily="2" charset="-122"/>
                  <a:cs typeface="Times New Roman" pitchFamily="18" charset="0"/>
                </a:rPr>
                <a:t>2</a:t>
              </a: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1" name="Text Box 16"/>
            <p:cNvSpPr txBox="1">
              <a:spLocks noChangeArrowheads="1"/>
            </p:cNvSpPr>
            <p:nvPr/>
          </p:nvSpPr>
          <p:spPr bwMode="auto">
            <a:xfrm>
              <a:off x="6634432" y="4180951"/>
              <a:ext cx="498047"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FF0000"/>
                  </a:solidFill>
                  <a:latin typeface="Consolas" pitchFamily="49" charset="0"/>
                  <a:ea typeface="宋体" pitchFamily="2" charset="-122"/>
                  <a:cs typeface="Times New Roman" pitchFamily="18" charset="0"/>
                </a:rPr>
                <a:t>2</a:t>
              </a: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2" name="Oval 15"/>
            <p:cNvSpPr>
              <a:spLocks noChangeArrowheads="1"/>
            </p:cNvSpPr>
            <p:nvPr/>
          </p:nvSpPr>
          <p:spPr bwMode="auto">
            <a:xfrm>
              <a:off x="7258670" y="1714488"/>
              <a:ext cx="395397" cy="430652"/>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0</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3" name="Oval 14"/>
            <p:cNvSpPr>
              <a:spLocks noChangeArrowheads="1"/>
            </p:cNvSpPr>
            <p:nvPr/>
          </p:nvSpPr>
          <p:spPr bwMode="auto">
            <a:xfrm>
              <a:off x="6500826" y="2602392"/>
              <a:ext cx="395397" cy="43065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4" name="Oval 13"/>
            <p:cNvSpPr>
              <a:spLocks noChangeArrowheads="1"/>
            </p:cNvSpPr>
            <p:nvPr/>
          </p:nvSpPr>
          <p:spPr bwMode="auto">
            <a:xfrm>
              <a:off x="8013979" y="2602392"/>
              <a:ext cx="395397" cy="43065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5" name="Oval 12"/>
            <p:cNvSpPr>
              <a:spLocks noChangeArrowheads="1"/>
            </p:cNvSpPr>
            <p:nvPr/>
          </p:nvSpPr>
          <p:spPr bwMode="auto">
            <a:xfrm>
              <a:off x="6500826" y="3622024"/>
              <a:ext cx="395397" cy="43191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6" name="Oval 11"/>
            <p:cNvSpPr>
              <a:spLocks noChangeArrowheads="1"/>
            </p:cNvSpPr>
            <p:nvPr/>
          </p:nvSpPr>
          <p:spPr bwMode="auto">
            <a:xfrm>
              <a:off x="8013979" y="3622024"/>
              <a:ext cx="395397" cy="43191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8" name="Oval 10"/>
            <p:cNvSpPr>
              <a:spLocks noChangeArrowheads="1"/>
            </p:cNvSpPr>
            <p:nvPr/>
          </p:nvSpPr>
          <p:spPr bwMode="auto">
            <a:xfrm>
              <a:off x="7258670" y="4395932"/>
              <a:ext cx="395397" cy="430652"/>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5</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9" name="AutoShape 9"/>
            <p:cNvSpPr>
              <a:spLocks noChangeShapeType="1"/>
            </p:cNvSpPr>
            <p:nvPr/>
          </p:nvSpPr>
          <p:spPr bwMode="auto">
            <a:xfrm flipH="1">
              <a:off x="6837927" y="2081809"/>
              <a:ext cx="479038" cy="58391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20" name="AutoShape 8"/>
            <p:cNvSpPr>
              <a:spLocks noChangeShapeType="1"/>
            </p:cNvSpPr>
            <p:nvPr/>
          </p:nvSpPr>
          <p:spPr bwMode="auto">
            <a:xfrm>
              <a:off x="7595771" y="2081809"/>
              <a:ext cx="476504" cy="58391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21" name="AutoShape 7"/>
            <p:cNvSpPr>
              <a:spLocks noChangeShapeType="1"/>
            </p:cNvSpPr>
            <p:nvPr/>
          </p:nvSpPr>
          <p:spPr bwMode="auto">
            <a:xfrm>
              <a:off x="6896223" y="2817718"/>
              <a:ext cx="1117756" cy="1267"/>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22" name="AutoShape 6"/>
            <p:cNvSpPr>
              <a:spLocks noChangeShapeType="1"/>
            </p:cNvSpPr>
            <p:nvPr/>
          </p:nvSpPr>
          <p:spPr bwMode="auto">
            <a:xfrm>
              <a:off x="6837927" y="2969713"/>
              <a:ext cx="1176052" cy="86890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23" name="AutoShape 5"/>
            <p:cNvSpPr>
              <a:spLocks noChangeShapeType="1"/>
            </p:cNvSpPr>
            <p:nvPr/>
          </p:nvSpPr>
          <p:spPr bwMode="auto">
            <a:xfrm>
              <a:off x="8211677" y="3033044"/>
              <a:ext cx="1267" cy="588980"/>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24" name="AutoShape 4"/>
            <p:cNvSpPr>
              <a:spLocks noChangeShapeType="1"/>
            </p:cNvSpPr>
            <p:nvPr/>
          </p:nvSpPr>
          <p:spPr bwMode="auto">
            <a:xfrm>
              <a:off x="6698525" y="3033044"/>
              <a:ext cx="1267" cy="588980"/>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25" name="AutoShape 3"/>
            <p:cNvSpPr>
              <a:spLocks noChangeShapeType="1"/>
            </p:cNvSpPr>
            <p:nvPr/>
          </p:nvSpPr>
          <p:spPr bwMode="auto">
            <a:xfrm>
              <a:off x="6837927" y="3990612"/>
              <a:ext cx="479038" cy="468651"/>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26" name="AutoShape 2"/>
            <p:cNvSpPr>
              <a:spLocks noChangeShapeType="1"/>
            </p:cNvSpPr>
            <p:nvPr/>
          </p:nvSpPr>
          <p:spPr bwMode="auto">
            <a:xfrm flipH="1">
              <a:off x="7595771" y="3990612"/>
              <a:ext cx="476504" cy="468651"/>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grpSp>
      <p:sp>
        <p:nvSpPr>
          <p:cNvPr id="27" name="右箭头 26"/>
          <p:cNvSpPr/>
          <p:nvPr/>
        </p:nvSpPr>
        <p:spPr>
          <a:xfrm>
            <a:off x="3643306" y="2285992"/>
            <a:ext cx="500066" cy="357190"/>
          </a:xfrm>
          <a:prstGeom prst="right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grpSp>
        <p:nvGrpSpPr>
          <p:cNvPr id="28" name="组合 89"/>
          <p:cNvGrpSpPr/>
          <p:nvPr/>
        </p:nvGrpSpPr>
        <p:grpSpPr>
          <a:xfrm>
            <a:off x="4714876" y="928670"/>
            <a:ext cx="2428892" cy="3112096"/>
            <a:chOff x="6266236" y="1714488"/>
            <a:chExt cx="2428892" cy="3112096"/>
          </a:xfrm>
        </p:grpSpPr>
        <p:sp>
          <p:nvSpPr>
            <p:cNvPr id="29" name="Text Box 23"/>
            <p:cNvSpPr txBox="1">
              <a:spLocks noChangeArrowheads="1"/>
            </p:cNvSpPr>
            <p:nvPr/>
          </p:nvSpPr>
          <p:spPr bwMode="auto">
            <a:xfrm>
              <a:off x="6766302" y="2095742"/>
              <a:ext cx="357190" cy="333126"/>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0</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0" name="Text Box 22"/>
            <p:cNvSpPr txBox="1">
              <a:spLocks noChangeArrowheads="1"/>
            </p:cNvSpPr>
            <p:nvPr/>
          </p:nvSpPr>
          <p:spPr bwMode="auto">
            <a:xfrm>
              <a:off x="7786710" y="2137541"/>
              <a:ext cx="336914"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0000FF"/>
                  </a:solidFill>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1" name="Text Box 21"/>
            <p:cNvSpPr txBox="1">
              <a:spLocks noChangeArrowheads="1"/>
            </p:cNvSpPr>
            <p:nvPr/>
          </p:nvSpPr>
          <p:spPr bwMode="auto">
            <a:xfrm>
              <a:off x="7194930" y="2513728"/>
              <a:ext cx="500066"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2" name="Text Box 20"/>
            <p:cNvSpPr txBox="1">
              <a:spLocks noChangeArrowheads="1"/>
            </p:cNvSpPr>
            <p:nvPr/>
          </p:nvSpPr>
          <p:spPr bwMode="auto">
            <a:xfrm>
              <a:off x="7480682" y="3186305"/>
              <a:ext cx="339684"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0000FF"/>
                  </a:solidFill>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3" name="Text Box 19"/>
            <p:cNvSpPr txBox="1">
              <a:spLocks noChangeArrowheads="1"/>
            </p:cNvSpPr>
            <p:nvPr/>
          </p:nvSpPr>
          <p:spPr bwMode="auto">
            <a:xfrm>
              <a:off x="8247162" y="3193905"/>
              <a:ext cx="447966"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a:solidFill>
                    <a:srgbClr val="0000FF"/>
                  </a:solidFill>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4" name="Text Box 18"/>
            <p:cNvSpPr txBox="1">
              <a:spLocks noChangeArrowheads="1"/>
            </p:cNvSpPr>
            <p:nvPr/>
          </p:nvSpPr>
          <p:spPr bwMode="auto">
            <a:xfrm>
              <a:off x="7909310" y="4174272"/>
              <a:ext cx="275662"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0</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5" name="Text Box 17"/>
            <p:cNvSpPr txBox="1">
              <a:spLocks noChangeArrowheads="1"/>
            </p:cNvSpPr>
            <p:nvPr/>
          </p:nvSpPr>
          <p:spPr bwMode="auto">
            <a:xfrm>
              <a:off x="6266236" y="3193905"/>
              <a:ext cx="428628"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0000FF"/>
                  </a:solidFill>
                  <a:latin typeface="Consolas" pitchFamily="49" charset="0"/>
                  <a:ea typeface="宋体" pitchFamily="2" charset="-122"/>
                  <a:cs typeface="Times New Roman" pitchFamily="18" charset="0"/>
                </a:rPr>
                <a:t>0</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6" name="Text Box 16"/>
            <p:cNvSpPr txBox="1">
              <a:spLocks noChangeArrowheads="1"/>
            </p:cNvSpPr>
            <p:nvPr/>
          </p:nvSpPr>
          <p:spPr bwMode="auto">
            <a:xfrm>
              <a:off x="6634432" y="4180951"/>
              <a:ext cx="498047"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0000FF"/>
                  </a:solidFill>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7" name="Oval 15"/>
            <p:cNvSpPr>
              <a:spLocks noChangeArrowheads="1"/>
            </p:cNvSpPr>
            <p:nvPr/>
          </p:nvSpPr>
          <p:spPr bwMode="auto">
            <a:xfrm>
              <a:off x="7258670" y="1714488"/>
              <a:ext cx="395397" cy="430652"/>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0</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8" name="Oval 14"/>
            <p:cNvSpPr>
              <a:spLocks noChangeArrowheads="1"/>
            </p:cNvSpPr>
            <p:nvPr/>
          </p:nvSpPr>
          <p:spPr bwMode="auto">
            <a:xfrm>
              <a:off x="6500826" y="2602392"/>
              <a:ext cx="395397" cy="43065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9" name="Oval 13"/>
            <p:cNvSpPr>
              <a:spLocks noChangeArrowheads="1"/>
            </p:cNvSpPr>
            <p:nvPr/>
          </p:nvSpPr>
          <p:spPr bwMode="auto">
            <a:xfrm>
              <a:off x="8013979" y="2602392"/>
              <a:ext cx="395397" cy="43065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40" name="Oval 12"/>
            <p:cNvSpPr>
              <a:spLocks noChangeArrowheads="1"/>
            </p:cNvSpPr>
            <p:nvPr/>
          </p:nvSpPr>
          <p:spPr bwMode="auto">
            <a:xfrm>
              <a:off x="6500826" y="3622024"/>
              <a:ext cx="395397" cy="43191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41" name="Oval 11"/>
            <p:cNvSpPr>
              <a:spLocks noChangeArrowheads="1"/>
            </p:cNvSpPr>
            <p:nvPr/>
          </p:nvSpPr>
          <p:spPr bwMode="auto">
            <a:xfrm>
              <a:off x="8013979" y="3622024"/>
              <a:ext cx="395397" cy="43191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42" name="Oval 10"/>
            <p:cNvSpPr>
              <a:spLocks noChangeArrowheads="1"/>
            </p:cNvSpPr>
            <p:nvPr/>
          </p:nvSpPr>
          <p:spPr bwMode="auto">
            <a:xfrm>
              <a:off x="7258670" y="4395932"/>
              <a:ext cx="395397" cy="430652"/>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5</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43" name="AutoShape 9"/>
            <p:cNvSpPr>
              <a:spLocks noChangeShapeType="1"/>
            </p:cNvSpPr>
            <p:nvPr/>
          </p:nvSpPr>
          <p:spPr bwMode="auto">
            <a:xfrm flipH="1">
              <a:off x="6837927" y="2081809"/>
              <a:ext cx="479038" cy="58391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44" name="AutoShape 8"/>
            <p:cNvSpPr>
              <a:spLocks noChangeShapeType="1"/>
            </p:cNvSpPr>
            <p:nvPr/>
          </p:nvSpPr>
          <p:spPr bwMode="auto">
            <a:xfrm>
              <a:off x="7595771" y="2081809"/>
              <a:ext cx="476504" cy="58391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45" name="AutoShape 7"/>
            <p:cNvSpPr>
              <a:spLocks noChangeShapeType="1"/>
            </p:cNvSpPr>
            <p:nvPr/>
          </p:nvSpPr>
          <p:spPr bwMode="auto">
            <a:xfrm>
              <a:off x="6896223" y="2817718"/>
              <a:ext cx="1117756" cy="1267"/>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46" name="AutoShape 6"/>
            <p:cNvSpPr>
              <a:spLocks noChangeShapeType="1"/>
            </p:cNvSpPr>
            <p:nvPr/>
          </p:nvSpPr>
          <p:spPr bwMode="auto">
            <a:xfrm>
              <a:off x="6837927" y="2969713"/>
              <a:ext cx="1176052" cy="86890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47" name="AutoShape 5"/>
            <p:cNvSpPr>
              <a:spLocks noChangeShapeType="1"/>
            </p:cNvSpPr>
            <p:nvPr/>
          </p:nvSpPr>
          <p:spPr bwMode="auto">
            <a:xfrm>
              <a:off x="8211677" y="3033044"/>
              <a:ext cx="1267" cy="588980"/>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48" name="AutoShape 4"/>
            <p:cNvSpPr>
              <a:spLocks noChangeShapeType="1"/>
            </p:cNvSpPr>
            <p:nvPr/>
          </p:nvSpPr>
          <p:spPr bwMode="auto">
            <a:xfrm>
              <a:off x="6698525" y="3033044"/>
              <a:ext cx="1267" cy="588980"/>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49" name="AutoShape 3"/>
            <p:cNvSpPr>
              <a:spLocks noChangeShapeType="1"/>
            </p:cNvSpPr>
            <p:nvPr/>
          </p:nvSpPr>
          <p:spPr bwMode="auto">
            <a:xfrm>
              <a:off x="6837927" y="3990612"/>
              <a:ext cx="479038" cy="468651"/>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50" name="AutoShape 2"/>
            <p:cNvSpPr>
              <a:spLocks noChangeShapeType="1"/>
            </p:cNvSpPr>
            <p:nvPr/>
          </p:nvSpPr>
          <p:spPr bwMode="auto">
            <a:xfrm flipH="1">
              <a:off x="7595771" y="3990612"/>
              <a:ext cx="476504" cy="468651"/>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grpSp>
      <p:sp>
        <p:nvSpPr>
          <p:cNvPr id="51" name="TextBox 50"/>
          <p:cNvSpPr txBox="1"/>
          <p:nvPr/>
        </p:nvSpPr>
        <p:spPr>
          <a:xfrm>
            <a:off x="5357818" y="4357694"/>
            <a:ext cx="1428760" cy="400110"/>
          </a:xfrm>
          <a:prstGeom prst="rect">
            <a:avLst/>
          </a:prstGeom>
          <a:noFill/>
        </p:spPr>
        <p:txBody>
          <a:bodyPr wrap="square" rtlCol="0">
            <a:spAutoFit/>
          </a:bodyPr>
          <a:lstStyle/>
          <a:p>
            <a:pPr algn="l">
              <a:lnSpc>
                <a:spcPct val="100000"/>
              </a:lnSpc>
              <a:spcBef>
                <a:spcPts val="0"/>
              </a:spcBef>
            </a:pPr>
            <a:r>
              <a:rPr lang="zh-CN" altLang="zh-CN" sz="2000">
                <a:solidFill>
                  <a:srgbClr val="0000FF"/>
                </a:solidFill>
                <a:latin typeface="仿宋" pitchFamily="49" charset="-122"/>
                <a:ea typeface="仿宋" pitchFamily="49" charset="-122"/>
              </a:rPr>
              <a:t>剩余网络</a:t>
            </a:r>
            <a:endParaRPr lang="zh-CN" altLang="en-US" sz="2000">
              <a:solidFill>
                <a:srgbClr val="0000FF"/>
              </a:solidFill>
              <a:latin typeface="仿宋" pitchFamily="49" charset="-122"/>
              <a:ea typeface="仿宋" pitchFamily="49" charset="-122"/>
              <a:cs typeface="Consolas" pitchFamily="49" charset="0"/>
            </a:endParaRPr>
          </a:p>
        </p:txBody>
      </p:sp>
      <p:sp>
        <p:nvSpPr>
          <p:cNvPr id="53" name="灯片编号占位符 52"/>
          <p:cNvSpPr>
            <a:spLocks noGrp="1"/>
          </p:cNvSpPr>
          <p:nvPr>
            <p:ph type="sldNum" sz="quarter" idx="12"/>
          </p:nvPr>
        </p:nvSpPr>
        <p:spPr/>
        <p:txBody>
          <a:bodyPr/>
          <a:lstStyle/>
          <a:p>
            <a:fld id="{7AF016A1-9F15-429F-9EFD-84004B73C732}" type="slidenum">
              <a:rPr lang="en-US" altLang="zh-CN" smtClean="0"/>
              <a:pPr/>
              <a:t>106</a:t>
            </a:fld>
            <a:r>
              <a:rPr lang="en-US" altLang="zh-CN"/>
              <a:t>/158</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28596" y="500042"/>
            <a:ext cx="8501122" cy="4962256"/>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200"/>
              </a:lnSpc>
              <a:spcBef>
                <a:spcPts val="600"/>
              </a:spcBef>
            </a:pPr>
            <a:r>
              <a:rPr lang="zh-CN" altLang="zh-CN">
                <a:solidFill>
                  <a:srgbClr val="FF0000"/>
                </a:solidFill>
                <a:latin typeface="Consolas" pitchFamily="49" charset="0"/>
                <a:ea typeface="微软雅黑" pitchFamily="34" charset="-122"/>
              </a:rPr>
              <a:t>（</a:t>
            </a:r>
            <a:r>
              <a:rPr lang="en-US" altLang="zh-CN">
                <a:solidFill>
                  <a:srgbClr val="FF0000"/>
                </a:solidFill>
                <a:latin typeface="Consolas" pitchFamily="49" charset="0"/>
                <a:ea typeface="微软雅黑" pitchFamily="34" charset="-122"/>
              </a:rPr>
              <a:t>3</a:t>
            </a:r>
            <a:r>
              <a:rPr lang="zh-CN" altLang="zh-CN">
                <a:solidFill>
                  <a:srgbClr val="FF0000"/>
                </a:solidFill>
                <a:latin typeface="Consolas" pitchFamily="49" charset="0"/>
                <a:ea typeface="微软雅黑" pitchFamily="34" charset="-122"/>
              </a:rPr>
              <a:t>）增广路径</a:t>
            </a:r>
            <a:r>
              <a:rPr lang="zh-CN" altLang="zh-CN">
                <a:solidFill>
                  <a:srgbClr val="0000FF"/>
                </a:solidFill>
                <a:latin typeface="Consolas" pitchFamily="49" charset="0"/>
                <a:ea typeface="仿宋" pitchFamily="49" charset="-122"/>
              </a:rPr>
              <a:t>：设</a:t>
            </a:r>
            <a:r>
              <a:rPr lang="en-US" altLang="zh-CN" i="1">
                <a:solidFill>
                  <a:srgbClr val="0000FF"/>
                </a:solidFill>
                <a:latin typeface="Consolas" pitchFamily="49" charset="0"/>
                <a:ea typeface="仿宋" pitchFamily="49" charset="-122"/>
              </a:rPr>
              <a:t>f</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u</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v</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为网络</a:t>
            </a:r>
            <a:r>
              <a:rPr lang="en-US" altLang="zh-CN" i="1">
                <a:solidFill>
                  <a:srgbClr val="0000FF"/>
                </a:solidFill>
                <a:latin typeface="Consolas" pitchFamily="49" charset="0"/>
                <a:ea typeface="仿宋" pitchFamily="49" charset="-122"/>
              </a:rPr>
              <a:t>G</a:t>
            </a:r>
            <a:r>
              <a:rPr lang="zh-CN" altLang="zh-CN">
                <a:solidFill>
                  <a:srgbClr val="0000FF"/>
                </a:solidFill>
                <a:latin typeface="Consolas" pitchFamily="49" charset="0"/>
                <a:ea typeface="仿宋" pitchFamily="49" charset="-122"/>
              </a:rPr>
              <a:t>上一个可行流，</a:t>
            </a:r>
            <a:r>
              <a:rPr lang="en-US" altLang="zh-CN" i="1">
                <a:solidFill>
                  <a:srgbClr val="0000FF"/>
                </a:solidFill>
                <a:latin typeface="Consolas" pitchFamily="49" charset="0"/>
                <a:ea typeface="仿宋" pitchFamily="49" charset="-122"/>
              </a:rPr>
              <a:t>μ</a:t>
            </a:r>
            <a:r>
              <a:rPr lang="zh-CN" altLang="zh-CN">
                <a:solidFill>
                  <a:srgbClr val="0000FF"/>
                </a:solidFill>
                <a:latin typeface="Consolas" pitchFamily="49" charset="0"/>
                <a:ea typeface="仿宋" pitchFamily="49" charset="-122"/>
              </a:rPr>
              <a:t>是从源点</a:t>
            </a:r>
            <a:r>
              <a:rPr lang="en-US" altLang="zh-CN">
                <a:solidFill>
                  <a:srgbClr val="0000FF"/>
                </a:solidFill>
                <a:latin typeface="Consolas" pitchFamily="49" charset="0"/>
                <a:ea typeface="仿宋" pitchFamily="49" charset="-122"/>
              </a:rPr>
              <a:t>S</a:t>
            </a:r>
            <a:r>
              <a:rPr lang="zh-CN" altLang="zh-CN">
                <a:solidFill>
                  <a:srgbClr val="0000FF"/>
                </a:solidFill>
                <a:latin typeface="Consolas" pitchFamily="49" charset="0"/>
                <a:ea typeface="仿宋" pitchFamily="49" charset="-122"/>
              </a:rPr>
              <a:t>到汇点</a:t>
            </a:r>
            <a:r>
              <a:rPr lang="en-US" altLang="zh-CN">
                <a:solidFill>
                  <a:srgbClr val="0000FF"/>
                </a:solidFill>
                <a:latin typeface="Consolas" pitchFamily="49" charset="0"/>
                <a:ea typeface="仿宋" pitchFamily="49" charset="-122"/>
              </a:rPr>
              <a:t>T</a:t>
            </a:r>
            <a:r>
              <a:rPr lang="zh-CN" altLang="zh-CN">
                <a:solidFill>
                  <a:srgbClr val="0000FF"/>
                </a:solidFill>
                <a:latin typeface="Consolas" pitchFamily="49" charset="0"/>
                <a:ea typeface="仿宋" pitchFamily="49" charset="-122"/>
              </a:rPr>
              <a:t>的一条简单路径，若该路径上边的流满足条件：</a:t>
            </a:r>
            <a:endParaRPr lang="en-US" altLang="zh-CN">
              <a:solidFill>
                <a:srgbClr val="0000FF"/>
              </a:solidFill>
              <a:latin typeface="Consolas" pitchFamily="49" charset="0"/>
              <a:ea typeface="仿宋" pitchFamily="49" charset="-122"/>
            </a:endParaRPr>
          </a:p>
          <a:p>
            <a:pPr marL="914400" lvl="1" indent="-457200" algn="l">
              <a:lnSpc>
                <a:spcPts val="3200"/>
              </a:lnSpc>
              <a:spcBef>
                <a:spcPts val="600"/>
              </a:spcBef>
              <a:buFont typeface="+mj-ea"/>
              <a:buAutoNum type="circleNumDbPlain"/>
            </a:pPr>
            <a:r>
              <a:rPr lang="zh-CN" altLang="zh-CN">
                <a:solidFill>
                  <a:srgbClr val="0000FF"/>
                </a:solidFill>
                <a:latin typeface="Consolas" pitchFamily="49" charset="0"/>
                <a:ea typeface="仿宋" pitchFamily="49" charset="-122"/>
              </a:rPr>
              <a:t>当</a:t>
            </a:r>
            <a:r>
              <a:rPr lang="en-US" altLang="zh-CN">
                <a:solidFill>
                  <a:srgbClr val="0000FF"/>
                </a:solidFill>
                <a:latin typeface="Consolas" pitchFamily="49" charset="0"/>
                <a:ea typeface="仿宋" pitchFamily="49" charset="-122"/>
              </a:rPr>
              <a:t>&lt;</a:t>
            </a:r>
            <a:r>
              <a:rPr lang="en-US" altLang="zh-CN" i="1">
                <a:solidFill>
                  <a:srgbClr val="0000FF"/>
                </a:solidFill>
                <a:latin typeface="Consolas" pitchFamily="49" charset="0"/>
                <a:ea typeface="仿宋" pitchFamily="49" charset="-122"/>
              </a:rPr>
              <a:t>u</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v</a:t>
            </a:r>
            <a:r>
              <a:rPr lang="en-US" altLang="zh-CN">
                <a:solidFill>
                  <a:srgbClr val="0000FF"/>
                </a:solidFill>
                <a:latin typeface="Consolas" pitchFamily="49" charset="0"/>
                <a:ea typeface="仿宋" pitchFamily="49" charset="-122"/>
              </a:rPr>
              <a:t>&gt;</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μ</a:t>
            </a:r>
            <a:r>
              <a:rPr lang="en-US" altLang="zh-CN" baseline="30000">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，则</a:t>
            </a:r>
            <a:r>
              <a:rPr lang="en-US" altLang="zh-CN" i="1">
                <a:solidFill>
                  <a:srgbClr val="0000FF"/>
                </a:solidFill>
                <a:latin typeface="Consolas" pitchFamily="49" charset="0"/>
                <a:ea typeface="仿宋" pitchFamily="49" charset="-122"/>
              </a:rPr>
              <a:t>f</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u</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v</a:t>
            </a:r>
            <a:r>
              <a:rPr lang="en-US" altLang="zh-CN">
                <a:solidFill>
                  <a:srgbClr val="0000FF"/>
                </a:solidFill>
                <a:latin typeface="Consolas" pitchFamily="49" charset="0"/>
                <a:ea typeface="仿宋" pitchFamily="49" charset="-122"/>
              </a:rPr>
              <a:t>)&lt;</a:t>
            </a:r>
            <a:r>
              <a:rPr lang="en-US" altLang="zh-CN" i="1">
                <a:solidFill>
                  <a:srgbClr val="0000FF"/>
                </a:solidFill>
                <a:latin typeface="Consolas" pitchFamily="49" charset="0"/>
                <a:ea typeface="仿宋" pitchFamily="49" charset="-122"/>
              </a:rPr>
              <a:t>c</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u</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v</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（其剩余容量为正）</a:t>
            </a:r>
            <a:r>
              <a:rPr lang="zh-CN" altLang="en-US">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marL="914400" lvl="1" indent="-457200" algn="l">
              <a:lnSpc>
                <a:spcPts val="3200"/>
              </a:lnSpc>
              <a:spcBef>
                <a:spcPts val="600"/>
              </a:spcBef>
              <a:buFont typeface="+mj-ea"/>
              <a:buAutoNum type="circleNumDbPlain"/>
            </a:pPr>
            <a:r>
              <a:rPr lang="zh-CN" altLang="zh-CN">
                <a:solidFill>
                  <a:srgbClr val="0000FF"/>
                </a:solidFill>
                <a:latin typeface="Consolas" pitchFamily="49" charset="0"/>
                <a:ea typeface="仿宋" pitchFamily="49" charset="-122"/>
              </a:rPr>
              <a:t>当</a:t>
            </a:r>
            <a:r>
              <a:rPr lang="en-US" altLang="zh-CN">
                <a:solidFill>
                  <a:srgbClr val="0000FF"/>
                </a:solidFill>
                <a:latin typeface="Consolas" pitchFamily="49" charset="0"/>
                <a:ea typeface="仿宋" pitchFamily="49" charset="-122"/>
              </a:rPr>
              <a:t>&lt;</a:t>
            </a:r>
            <a:r>
              <a:rPr lang="en-US" altLang="zh-CN" i="1">
                <a:solidFill>
                  <a:srgbClr val="0000FF"/>
                </a:solidFill>
                <a:latin typeface="Consolas" pitchFamily="49" charset="0"/>
                <a:ea typeface="仿宋" pitchFamily="49" charset="-122"/>
              </a:rPr>
              <a:t>u</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v</a:t>
            </a:r>
            <a:r>
              <a:rPr lang="en-US" altLang="zh-CN">
                <a:solidFill>
                  <a:srgbClr val="0000FF"/>
                </a:solidFill>
                <a:latin typeface="Consolas" pitchFamily="49" charset="0"/>
                <a:ea typeface="仿宋" pitchFamily="49" charset="-122"/>
              </a:rPr>
              <a:t>&gt;</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μ</a:t>
            </a:r>
            <a:r>
              <a:rPr lang="en-US" altLang="zh-CN" baseline="30000">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，则</a:t>
            </a:r>
            <a:r>
              <a:rPr lang="en-US" altLang="zh-CN" i="1">
                <a:solidFill>
                  <a:srgbClr val="0000FF"/>
                </a:solidFill>
                <a:latin typeface="Consolas" pitchFamily="49" charset="0"/>
                <a:ea typeface="仿宋" pitchFamily="49" charset="-122"/>
              </a:rPr>
              <a:t>f</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u</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v</a:t>
            </a:r>
            <a:r>
              <a:rPr lang="en-US" altLang="zh-CN">
                <a:solidFill>
                  <a:srgbClr val="0000FF"/>
                </a:solidFill>
                <a:latin typeface="Consolas" pitchFamily="49" charset="0"/>
                <a:ea typeface="仿宋" pitchFamily="49" charset="-122"/>
              </a:rPr>
              <a:t>)&gt;0</a:t>
            </a:r>
            <a:r>
              <a:rPr lang="zh-CN" altLang="en-US">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algn="l">
              <a:lnSpc>
                <a:spcPts val="3200"/>
              </a:lnSpc>
              <a:spcBef>
                <a:spcPts val="600"/>
              </a:spcBef>
            </a:pPr>
            <a:r>
              <a:rPr lang="zh-CN" altLang="zh-CN">
                <a:solidFill>
                  <a:srgbClr val="0000FF"/>
                </a:solidFill>
                <a:latin typeface="Consolas" pitchFamily="49" charset="0"/>
                <a:ea typeface="仿宋" pitchFamily="49" charset="-122"/>
              </a:rPr>
              <a:t>则称</a:t>
            </a:r>
            <a:r>
              <a:rPr lang="en-US" altLang="zh-CN" i="1">
                <a:solidFill>
                  <a:srgbClr val="0000FF"/>
                </a:solidFill>
                <a:latin typeface="Consolas" pitchFamily="49" charset="0"/>
                <a:ea typeface="仿宋" pitchFamily="49" charset="-122"/>
              </a:rPr>
              <a:t>μ</a:t>
            </a:r>
            <a:r>
              <a:rPr lang="zh-CN" altLang="zh-CN">
                <a:solidFill>
                  <a:srgbClr val="0000FF"/>
                </a:solidFill>
                <a:latin typeface="Consolas" pitchFamily="49" charset="0"/>
                <a:ea typeface="仿宋" pitchFamily="49" charset="-122"/>
              </a:rPr>
              <a:t>是一条关于可行流</a:t>
            </a:r>
            <a:r>
              <a:rPr lang="en-US" altLang="zh-CN" i="1">
                <a:solidFill>
                  <a:srgbClr val="0000FF"/>
                </a:solidFill>
                <a:latin typeface="Consolas" pitchFamily="49" charset="0"/>
                <a:ea typeface="仿宋" pitchFamily="49" charset="-122"/>
              </a:rPr>
              <a:t>f</a:t>
            </a:r>
            <a:r>
              <a:rPr lang="zh-CN" altLang="zh-CN">
                <a:solidFill>
                  <a:srgbClr val="0000FF"/>
                </a:solidFill>
                <a:latin typeface="Consolas" pitchFamily="49" charset="0"/>
                <a:ea typeface="仿宋" pitchFamily="49" charset="-122"/>
              </a:rPr>
              <a:t>的增广路径（</a:t>
            </a:r>
            <a:r>
              <a:rPr lang="en-US" altLang="zh-CN">
                <a:solidFill>
                  <a:srgbClr val="0000FF"/>
                </a:solidFill>
                <a:latin typeface="Consolas" pitchFamily="49" charset="0"/>
                <a:ea typeface="仿宋" pitchFamily="49" charset="-122"/>
              </a:rPr>
              <a:t>augmenting path</a:t>
            </a:r>
            <a:r>
              <a:rPr lang="zh-CN" altLang="zh-CN">
                <a:solidFill>
                  <a:srgbClr val="0000FF"/>
                </a:solidFill>
                <a:latin typeface="Consolas" pitchFamily="49" charset="0"/>
                <a:ea typeface="仿宋" pitchFamily="49" charset="-122"/>
              </a:rPr>
              <a:t>），记为</a:t>
            </a:r>
            <a:r>
              <a:rPr lang="en-US" altLang="zh-CN" i="1">
                <a:solidFill>
                  <a:srgbClr val="0000FF"/>
                </a:solidFill>
                <a:latin typeface="Consolas" pitchFamily="49" charset="0"/>
                <a:ea typeface="仿宋" pitchFamily="49" charset="-122"/>
              </a:rPr>
              <a:t>μ</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f</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marL="457200" indent="-457200" algn="l">
              <a:lnSpc>
                <a:spcPts val="3200"/>
              </a:lnSpc>
              <a:spcBef>
                <a:spcPts val="600"/>
              </a:spcBef>
              <a:buBlip>
                <a:blip r:embed="rId3"/>
              </a:buBlip>
            </a:pPr>
            <a:r>
              <a:rPr lang="zh-CN" altLang="zh-CN">
                <a:solidFill>
                  <a:srgbClr val="0000FF"/>
                </a:solidFill>
                <a:latin typeface="Consolas" pitchFamily="49" charset="0"/>
                <a:ea typeface="仿宋" pitchFamily="49" charset="-122"/>
              </a:rPr>
              <a:t>其中</a:t>
            </a:r>
            <a:r>
              <a:rPr lang="en-US" altLang="zh-CN" i="1">
                <a:solidFill>
                  <a:srgbClr val="0000FF"/>
                </a:solidFill>
                <a:latin typeface="Consolas" pitchFamily="49" charset="0"/>
                <a:ea typeface="仿宋" pitchFamily="49" charset="-122"/>
              </a:rPr>
              <a:t>μ</a:t>
            </a:r>
            <a:r>
              <a:rPr lang="en-US" altLang="zh-CN" baseline="30000">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表示增广路径中与路径方向一致的边集合，这样的边也称为正向边或者前向边（即可以增加流量的边）</a:t>
            </a:r>
            <a:r>
              <a:rPr lang="zh-CN" altLang="en-US">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marL="457200" indent="-457200" algn="l">
              <a:lnSpc>
                <a:spcPts val="3200"/>
              </a:lnSpc>
              <a:spcBef>
                <a:spcPts val="600"/>
              </a:spcBef>
              <a:buBlip>
                <a:blip r:embed="rId3"/>
              </a:buBlip>
            </a:pPr>
            <a:r>
              <a:rPr lang="en-US" altLang="zh-CN" i="1">
                <a:solidFill>
                  <a:srgbClr val="0000FF"/>
                </a:solidFill>
                <a:latin typeface="Consolas" pitchFamily="49" charset="0"/>
                <a:ea typeface="仿宋" pitchFamily="49" charset="-122"/>
              </a:rPr>
              <a:t>μ</a:t>
            </a:r>
            <a:r>
              <a:rPr lang="en-US" altLang="zh-CN" baseline="30000">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表示增广路径中与路径方向相反的边集合，这样的边也称为反向边或者后向边（即可以减少流量的边）。</a:t>
            </a: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107</a:t>
            </a:fld>
            <a:r>
              <a:rPr lang="en-US" altLang="zh-CN"/>
              <a:t>/158</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857224" y="500042"/>
            <a:ext cx="1943819" cy="3112096"/>
            <a:chOff x="6914461" y="1571612"/>
            <a:chExt cx="1943819" cy="3112096"/>
          </a:xfrm>
        </p:grpSpPr>
        <p:sp>
          <p:nvSpPr>
            <p:cNvPr id="4" name="Text Box 22"/>
            <p:cNvSpPr txBox="1">
              <a:spLocks noChangeArrowheads="1"/>
            </p:cNvSpPr>
            <p:nvPr/>
          </p:nvSpPr>
          <p:spPr bwMode="auto">
            <a:xfrm>
              <a:off x="8380509" y="1994665"/>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 name="Text Box 21"/>
            <p:cNvSpPr txBox="1">
              <a:spLocks noChangeArrowheads="1"/>
            </p:cNvSpPr>
            <p:nvPr/>
          </p:nvSpPr>
          <p:spPr bwMode="auto">
            <a:xfrm>
              <a:off x="7844442" y="2370852"/>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6" name="Text Box 20"/>
            <p:cNvSpPr txBox="1">
              <a:spLocks noChangeArrowheads="1"/>
            </p:cNvSpPr>
            <p:nvPr/>
          </p:nvSpPr>
          <p:spPr bwMode="auto">
            <a:xfrm>
              <a:off x="7947093" y="3043429"/>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0000FF"/>
                  </a:solidFill>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7" name="Text Box 19"/>
            <p:cNvSpPr txBox="1">
              <a:spLocks noChangeArrowheads="1"/>
            </p:cNvSpPr>
            <p:nvPr/>
          </p:nvSpPr>
          <p:spPr bwMode="auto">
            <a:xfrm>
              <a:off x="8696066" y="3051029"/>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0000FF"/>
                  </a:solidFill>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8" name="Text Box 16"/>
            <p:cNvSpPr txBox="1">
              <a:spLocks noChangeArrowheads="1"/>
            </p:cNvSpPr>
            <p:nvPr/>
          </p:nvSpPr>
          <p:spPr bwMode="auto">
            <a:xfrm>
              <a:off x="7365854" y="4027597"/>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0000FF"/>
                  </a:solidFill>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9" name="Oval 15"/>
            <p:cNvSpPr>
              <a:spLocks noChangeArrowheads="1"/>
            </p:cNvSpPr>
            <p:nvPr/>
          </p:nvSpPr>
          <p:spPr bwMode="auto">
            <a:xfrm>
              <a:off x="7707574" y="1571612"/>
              <a:ext cx="395397" cy="430652"/>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0</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0" name="Oval 14"/>
            <p:cNvSpPr>
              <a:spLocks noChangeArrowheads="1"/>
            </p:cNvSpPr>
            <p:nvPr/>
          </p:nvSpPr>
          <p:spPr bwMode="auto">
            <a:xfrm>
              <a:off x="6949730" y="2459516"/>
              <a:ext cx="395397" cy="43065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1" name="Oval 13"/>
            <p:cNvSpPr>
              <a:spLocks noChangeArrowheads="1"/>
            </p:cNvSpPr>
            <p:nvPr/>
          </p:nvSpPr>
          <p:spPr bwMode="auto">
            <a:xfrm>
              <a:off x="8462883" y="2459516"/>
              <a:ext cx="395397" cy="43065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2" name="Oval 12"/>
            <p:cNvSpPr>
              <a:spLocks noChangeArrowheads="1"/>
            </p:cNvSpPr>
            <p:nvPr/>
          </p:nvSpPr>
          <p:spPr bwMode="auto">
            <a:xfrm>
              <a:off x="6949730" y="3479148"/>
              <a:ext cx="395397" cy="43191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3" name="Oval 11"/>
            <p:cNvSpPr>
              <a:spLocks noChangeArrowheads="1"/>
            </p:cNvSpPr>
            <p:nvPr/>
          </p:nvSpPr>
          <p:spPr bwMode="auto">
            <a:xfrm>
              <a:off x="8462883" y="3479148"/>
              <a:ext cx="395397" cy="43191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4" name="Oval 10"/>
            <p:cNvSpPr>
              <a:spLocks noChangeArrowheads="1"/>
            </p:cNvSpPr>
            <p:nvPr/>
          </p:nvSpPr>
          <p:spPr bwMode="auto">
            <a:xfrm>
              <a:off x="7707574" y="4253056"/>
              <a:ext cx="395397" cy="430652"/>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5</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5" name="AutoShape 8"/>
            <p:cNvSpPr>
              <a:spLocks noChangeShapeType="1"/>
            </p:cNvSpPr>
            <p:nvPr/>
          </p:nvSpPr>
          <p:spPr bwMode="auto">
            <a:xfrm>
              <a:off x="8044675" y="1938933"/>
              <a:ext cx="476504" cy="583914"/>
            </a:xfrm>
            <a:prstGeom prst="straightConnector1">
              <a:avLst/>
            </a:prstGeom>
            <a:noFill/>
            <a:ln w="19050">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16" name="AutoShape 7"/>
            <p:cNvSpPr>
              <a:spLocks noChangeShapeType="1"/>
            </p:cNvSpPr>
            <p:nvPr/>
          </p:nvSpPr>
          <p:spPr bwMode="auto">
            <a:xfrm>
              <a:off x="7345127" y="2674842"/>
              <a:ext cx="1117756" cy="1267"/>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18" name="AutoShape 6"/>
            <p:cNvSpPr>
              <a:spLocks noChangeShapeType="1"/>
            </p:cNvSpPr>
            <p:nvPr/>
          </p:nvSpPr>
          <p:spPr bwMode="auto">
            <a:xfrm>
              <a:off x="7286831" y="2826837"/>
              <a:ext cx="1176052" cy="868904"/>
            </a:xfrm>
            <a:prstGeom prst="straightConnector1">
              <a:avLst/>
            </a:prstGeom>
            <a:noFill/>
            <a:ln w="19050">
              <a:solidFill>
                <a:schemeClr val="tx1"/>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19" name="AutoShape 5"/>
            <p:cNvSpPr>
              <a:spLocks noChangeShapeType="1"/>
            </p:cNvSpPr>
            <p:nvPr/>
          </p:nvSpPr>
          <p:spPr bwMode="auto">
            <a:xfrm>
              <a:off x="8660581" y="2890168"/>
              <a:ext cx="1267" cy="588980"/>
            </a:xfrm>
            <a:prstGeom prst="straightConnector1">
              <a:avLst/>
            </a:prstGeom>
            <a:noFill/>
            <a:ln w="19050">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20" name="AutoShape 3"/>
            <p:cNvSpPr>
              <a:spLocks noChangeShapeType="1"/>
            </p:cNvSpPr>
            <p:nvPr/>
          </p:nvSpPr>
          <p:spPr bwMode="auto">
            <a:xfrm>
              <a:off x="7286831" y="3847736"/>
              <a:ext cx="479038" cy="468651"/>
            </a:xfrm>
            <a:prstGeom prst="straightConnector1">
              <a:avLst/>
            </a:prstGeom>
            <a:noFill/>
            <a:ln w="19050">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cxnSp>
          <p:nvCxnSpPr>
            <p:cNvPr id="21" name="直接箭头连接符 20"/>
            <p:cNvCxnSpPr>
              <a:stCxn id="14" idx="7"/>
              <a:endCxn id="13" idx="3"/>
            </p:cNvCxnSpPr>
            <p:nvPr/>
          </p:nvCxnSpPr>
          <p:spPr>
            <a:xfrm rot="5400000" flipH="1" flipV="1">
              <a:off x="8048773" y="3844108"/>
              <a:ext cx="468309" cy="475722"/>
            </a:xfrm>
            <a:prstGeom prst="straightConnector1">
              <a:avLst/>
            </a:prstGeom>
            <a:ln w="19050">
              <a:solidFill>
                <a:srgbClr val="006600"/>
              </a:solidFill>
              <a:prstDash val="dash"/>
              <a:tailEnd type="arrow"/>
            </a:ln>
          </p:spPr>
          <p:style>
            <a:lnRef idx="2">
              <a:schemeClr val="dk1"/>
            </a:lnRef>
            <a:fillRef idx="0">
              <a:schemeClr val="dk1"/>
            </a:fillRef>
            <a:effectRef idx="1">
              <a:schemeClr val="dk1"/>
            </a:effectRef>
            <a:fontRef idx="minor">
              <a:schemeClr val="tx1"/>
            </a:fontRef>
          </p:style>
        </p:cxnSp>
        <p:sp>
          <p:nvSpPr>
            <p:cNvPr id="22" name="Text Box 18"/>
            <p:cNvSpPr txBox="1">
              <a:spLocks noChangeArrowheads="1"/>
            </p:cNvSpPr>
            <p:nvPr/>
          </p:nvSpPr>
          <p:spPr bwMode="auto">
            <a:xfrm>
              <a:off x="8315264" y="4063344"/>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6600"/>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6600"/>
                </a:solidFill>
                <a:effectLst/>
                <a:latin typeface="Consolas" pitchFamily="49" charset="0"/>
                <a:ea typeface="宋体" pitchFamily="2" charset="-122"/>
                <a:cs typeface="宋体" pitchFamily="2" charset="-122"/>
              </a:endParaRPr>
            </a:p>
          </p:txBody>
        </p:sp>
        <p:sp>
          <p:nvSpPr>
            <p:cNvPr id="23" name="任意多边形 22"/>
            <p:cNvSpPr/>
            <p:nvPr/>
          </p:nvSpPr>
          <p:spPr>
            <a:xfrm>
              <a:off x="7240057" y="2888767"/>
              <a:ext cx="1241778" cy="886177"/>
            </a:xfrm>
            <a:custGeom>
              <a:avLst/>
              <a:gdLst>
                <a:gd name="connsiteX0" fmla="*/ 1241778 w 1241778"/>
                <a:gd name="connsiteY0" fmla="*/ 846666 h 886177"/>
                <a:gd name="connsiteX1" fmla="*/ 925689 w 1241778"/>
                <a:gd name="connsiteY1" fmla="*/ 857955 h 886177"/>
                <a:gd name="connsiteX2" fmla="*/ 462845 w 1241778"/>
                <a:gd name="connsiteY2" fmla="*/ 677333 h 886177"/>
                <a:gd name="connsiteX3" fmla="*/ 0 w 1241778"/>
                <a:gd name="connsiteY3" fmla="*/ 0 h 886177"/>
              </a:gdLst>
              <a:ahLst/>
              <a:cxnLst>
                <a:cxn ang="0">
                  <a:pos x="connsiteX0" y="connsiteY0"/>
                </a:cxn>
                <a:cxn ang="0">
                  <a:pos x="connsiteX1" y="connsiteY1"/>
                </a:cxn>
                <a:cxn ang="0">
                  <a:pos x="connsiteX2" y="connsiteY2"/>
                </a:cxn>
                <a:cxn ang="0">
                  <a:pos x="connsiteX3" y="connsiteY3"/>
                </a:cxn>
              </a:cxnLst>
              <a:rect l="l" t="t" r="r" b="b"/>
              <a:pathLst>
                <a:path w="1241778" h="886177">
                  <a:moveTo>
                    <a:pt x="1241778" y="846666"/>
                  </a:moveTo>
                  <a:cubicBezTo>
                    <a:pt x="1148644" y="866421"/>
                    <a:pt x="1055511" y="886177"/>
                    <a:pt x="925689" y="857955"/>
                  </a:cubicBezTo>
                  <a:cubicBezTo>
                    <a:pt x="795867" y="829733"/>
                    <a:pt x="617127" y="820326"/>
                    <a:pt x="462845" y="677333"/>
                  </a:cubicBezTo>
                  <a:cubicBezTo>
                    <a:pt x="308564" y="534341"/>
                    <a:pt x="154282" y="267170"/>
                    <a:pt x="0" y="0"/>
                  </a:cubicBezTo>
                </a:path>
              </a:pathLst>
            </a:custGeom>
            <a:ln w="19050">
              <a:solidFill>
                <a:srgbClr val="FF0000"/>
              </a:solidFill>
              <a:prstDash val="dash"/>
              <a:tailEnd type="arrow"/>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24" name="任意多边形 23"/>
            <p:cNvSpPr/>
            <p:nvPr/>
          </p:nvSpPr>
          <p:spPr>
            <a:xfrm>
              <a:off x="7123405" y="1635700"/>
              <a:ext cx="624652" cy="835378"/>
            </a:xfrm>
            <a:custGeom>
              <a:avLst/>
              <a:gdLst>
                <a:gd name="connsiteX0" fmla="*/ 37630 w 624652"/>
                <a:gd name="connsiteY0" fmla="*/ 835378 h 835378"/>
                <a:gd name="connsiteX1" fmla="*/ 15052 w 624652"/>
                <a:gd name="connsiteY1" fmla="*/ 620889 h 835378"/>
                <a:gd name="connsiteX2" fmla="*/ 127941 w 624652"/>
                <a:gd name="connsiteY2" fmla="*/ 327378 h 835378"/>
                <a:gd name="connsiteX3" fmla="*/ 387586 w 624652"/>
                <a:gd name="connsiteY3" fmla="*/ 45156 h 835378"/>
                <a:gd name="connsiteX4" fmla="*/ 624652 w 624652"/>
                <a:gd name="connsiteY4" fmla="*/ 56444 h 8353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4652" h="835378">
                  <a:moveTo>
                    <a:pt x="37630" y="835378"/>
                  </a:moveTo>
                  <a:cubicBezTo>
                    <a:pt x="18815" y="770467"/>
                    <a:pt x="0" y="705556"/>
                    <a:pt x="15052" y="620889"/>
                  </a:cubicBezTo>
                  <a:cubicBezTo>
                    <a:pt x="30104" y="536222"/>
                    <a:pt x="65852" y="423333"/>
                    <a:pt x="127941" y="327378"/>
                  </a:cubicBezTo>
                  <a:cubicBezTo>
                    <a:pt x="190030" y="231423"/>
                    <a:pt x="304801" y="90312"/>
                    <a:pt x="387586" y="45156"/>
                  </a:cubicBezTo>
                  <a:cubicBezTo>
                    <a:pt x="470371" y="0"/>
                    <a:pt x="547511" y="28222"/>
                    <a:pt x="624652" y="56444"/>
                  </a:cubicBezTo>
                </a:path>
              </a:pathLst>
            </a:custGeom>
            <a:ln w="19050">
              <a:solidFill>
                <a:srgbClr val="006600"/>
              </a:solidFill>
              <a:prstDash val="dash"/>
              <a:tailEnd type="arrow"/>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25" name="Text Box 18"/>
            <p:cNvSpPr txBox="1">
              <a:spLocks noChangeArrowheads="1"/>
            </p:cNvSpPr>
            <p:nvPr/>
          </p:nvSpPr>
          <p:spPr bwMode="auto">
            <a:xfrm>
              <a:off x="7715272" y="3326386"/>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006600"/>
                  </a:solidFill>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6600"/>
                </a:solidFill>
                <a:effectLst/>
                <a:latin typeface="Consolas" pitchFamily="49" charset="0"/>
                <a:ea typeface="宋体" pitchFamily="2" charset="-122"/>
                <a:cs typeface="宋体" pitchFamily="2" charset="-122"/>
              </a:endParaRPr>
            </a:p>
          </p:txBody>
        </p:sp>
        <p:sp>
          <p:nvSpPr>
            <p:cNvPr id="26" name="Text Box 18"/>
            <p:cNvSpPr txBox="1">
              <a:spLocks noChangeArrowheads="1"/>
            </p:cNvSpPr>
            <p:nvPr/>
          </p:nvSpPr>
          <p:spPr bwMode="auto">
            <a:xfrm>
              <a:off x="7072330" y="1683312"/>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006600"/>
                  </a:solidFill>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6600"/>
                </a:solidFill>
                <a:effectLst/>
                <a:latin typeface="Consolas" pitchFamily="49" charset="0"/>
                <a:ea typeface="宋体" pitchFamily="2" charset="-122"/>
                <a:cs typeface="宋体" pitchFamily="2" charset="-122"/>
              </a:endParaRPr>
            </a:p>
          </p:txBody>
        </p:sp>
        <p:sp>
          <p:nvSpPr>
            <p:cNvPr id="28" name="Text Box 18"/>
            <p:cNvSpPr txBox="1">
              <a:spLocks noChangeArrowheads="1"/>
            </p:cNvSpPr>
            <p:nvPr/>
          </p:nvSpPr>
          <p:spPr bwMode="auto">
            <a:xfrm>
              <a:off x="6914461" y="3068772"/>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0000FF"/>
                  </a:solidFill>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9" name="任意多边形 28"/>
            <p:cNvSpPr/>
            <p:nvPr/>
          </p:nvSpPr>
          <p:spPr>
            <a:xfrm>
              <a:off x="7127110" y="3930874"/>
              <a:ext cx="556919" cy="630296"/>
            </a:xfrm>
            <a:custGeom>
              <a:avLst/>
              <a:gdLst>
                <a:gd name="connsiteX0" fmla="*/ 556919 w 556919"/>
                <a:gd name="connsiteY0" fmla="*/ 598311 h 630296"/>
                <a:gd name="connsiteX1" fmla="*/ 308563 w 556919"/>
                <a:gd name="connsiteY1" fmla="*/ 609600 h 630296"/>
                <a:gd name="connsiteX2" fmla="*/ 116652 w 556919"/>
                <a:gd name="connsiteY2" fmla="*/ 474134 h 630296"/>
                <a:gd name="connsiteX3" fmla="*/ 15052 w 556919"/>
                <a:gd name="connsiteY3" fmla="*/ 270934 h 630296"/>
                <a:gd name="connsiteX4" fmla="*/ 26341 w 556919"/>
                <a:gd name="connsiteY4" fmla="*/ 0 h 6302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6919" h="630296">
                  <a:moveTo>
                    <a:pt x="556919" y="598311"/>
                  </a:moveTo>
                  <a:cubicBezTo>
                    <a:pt x="469430" y="614303"/>
                    <a:pt x="381941" y="630296"/>
                    <a:pt x="308563" y="609600"/>
                  </a:cubicBezTo>
                  <a:cubicBezTo>
                    <a:pt x="235185" y="588904"/>
                    <a:pt x="165570" y="530578"/>
                    <a:pt x="116652" y="474134"/>
                  </a:cubicBezTo>
                  <a:cubicBezTo>
                    <a:pt x="67734" y="417690"/>
                    <a:pt x="30104" y="349956"/>
                    <a:pt x="15052" y="270934"/>
                  </a:cubicBezTo>
                  <a:cubicBezTo>
                    <a:pt x="0" y="191912"/>
                    <a:pt x="13170" y="95956"/>
                    <a:pt x="26341" y="0"/>
                  </a:cubicBezTo>
                </a:path>
              </a:pathLst>
            </a:custGeom>
            <a:ln w="19050">
              <a:solidFill>
                <a:srgbClr val="006600"/>
              </a:solidFill>
              <a:prstDash val="dash"/>
              <a:tailEnd type="arrow"/>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30" name="Text Box 18"/>
            <p:cNvSpPr txBox="1">
              <a:spLocks noChangeArrowheads="1"/>
            </p:cNvSpPr>
            <p:nvPr/>
          </p:nvSpPr>
          <p:spPr bwMode="auto">
            <a:xfrm>
              <a:off x="7029380" y="4255080"/>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006600"/>
                  </a:solidFill>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6600"/>
                </a:solidFill>
                <a:effectLst/>
                <a:latin typeface="Consolas" pitchFamily="49" charset="0"/>
                <a:ea typeface="宋体" pitchFamily="2" charset="-122"/>
                <a:cs typeface="宋体" pitchFamily="2" charset="-122"/>
              </a:endParaRPr>
            </a:p>
          </p:txBody>
        </p:sp>
        <p:sp>
          <p:nvSpPr>
            <p:cNvPr id="31" name="任意多边形 30"/>
            <p:cNvSpPr/>
            <p:nvPr/>
          </p:nvSpPr>
          <p:spPr>
            <a:xfrm>
              <a:off x="8082844" y="1693333"/>
              <a:ext cx="596430" cy="756356"/>
            </a:xfrm>
            <a:custGeom>
              <a:avLst/>
              <a:gdLst>
                <a:gd name="connsiteX0" fmla="*/ 587023 w 596430"/>
                <a:gd name="connsiteY0" fmla="*/ 756356 h 756356"/>
                <a:gd name="connsiteX1" fmla="*/ 575734 w 596430"/>
                <a:gd name="connsiteY1" fmla="*/ 485423 h 756356"/>
                <a:gd name="connsiteX2" fmla="*/ 462845 w 596430"/>
                <a:gd name="connsiteY2" fmla="*/ 112889 h 756356"/>
                <a:gd name="connsiteX3" fmla="*/ 0 w 596430"/>
                <a:gd name="connsiteY3" fmla="*/ 0 h 756356"/>
              </a:gdLst>
              <a:ahLst/>
              <a:cxnLst>
                <a:cxn ang="0">
                  <a:pos x="connsiteX0" y="connsiteY0"/>
                </a:cxn>
                <a:cxn ang="0">
                  <a:pos x="connsiteX1" y="connsiteY1"/>
                </a:cxn>
                <a:cxn ang="0">
                  <a:pos x="connsiteX2" y="connsiteY2"/>
                </a:cxn>
                <a:cxn ang="0">
                  <a:pos x="connsiteX3" y="connsiteY3"/>
                </a:cxn>
              </a:cxnLst>
              <a:rect l="l" t="t" r="r" b="b"/>
              <a:pathLst>
                <a:path w="596430" h="756356">
                  <a:moveTo>
                    <a:pt x="587023" y="756356"/>
                  </a:moveTo>
                  <a:cubicBezTo>
                    <a:pt x="591726" y="674511"/>
                    <a:pt x="596430" y="592667"/>
                    <a:pt x="575734" y="485423"/>
                  </a:cubicBezTo>
                  <a:cubicBezTo>
                    <a:pt x="555038" y="378179"/>
                    <a:pt x="558801" y="193793"/>
                    <a:pt x="462845" y="112889"/>
                  </a:cubicBezTo>
                  <a:cubicBezTo>
                    <a:pt x="366889" y="31985"/>
                    <a:pt x="183444" y="15992"/>
                    <a:pt x="0" y="0"/>
                  </a:cubicBezTo>
                </a:path>
              </a:pathLst>
            </a:custGeom>
            <a:ln w="19050">
              <a:solidFill>
                <a:srgbClr val="006600"/>
              </a:solidFill>
              <a:prstDash val="dash"/>
              <a:headEnd type="none" w="med" len="med"/>
              <a:tailEnd type="arrow" w="med" len="med"/>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32" name="Text Box 18"/>
            <p:cNvSpPr txBox="1">
              <a:spLocks noChangeArrowheads="1"/>
            </p:cNvSpPr>
            <p:nvPr/>
          </p:nvSpPr>
          <p:spPr bwMode="auto">
            <a:xfrm>
              <a:off x="8666544" y="1782888"/>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006600"/>
                  </a:solidFill>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6600"/>
                </a:solidFill>
                <a:effectLst/>
                <a:latin typeface="Consolas" pitchFamily="49" charset="0"/>
                <a:ea typeface="宋体" pitchFamily="2" charset="-122"/>
                <a:cs typeface="宋体" pitchFamily="2" charset="-122"/>
              </a:endParaRPr>
            </a:p>
          </p:txBody>
        </p:sp>
        <p:sp>
          <p:nvSpPr>
            <p:cNvPr id="33" name="任意多边形 32"/>
            <p:cNvSpPr/>
            <p:nvPr/>
          </p:nvSpPr>
          <p:spPr>
            <a:xfrm>
              <a:off x="8487363" y="2878667"/>
              <a:ext cx="103481" cy="643466"/>
            </a:xfrm>
            <a:custGeom>
              <a:avLst/>
              <a:gdLst>
                <a:gd name="connsiteX0" fmla="*/ 92193 w 103481"/>
                <a:gd name="connsiteY0" fmla="*/ 643466 h 643466"/>
                <a:gd name="connsiteX1" fmla="*/ 1881 w 103481"/>
                <a:gd name="connsiteY1" fmla="*/ 440266 h 643466"/>
                <a:gd name="connsiteX2" fmla="*/ 103481 w 103481"/>
                <a:gd name="connsiteY2" fmla="*/ 0 h 643466"/>
              </a:gdLst>
              <a:ahLst/>
              <a:cxnLst>
                <a:cxn ang="0">
                  <a:pos x="connsiteX0" y="connsiteY0"/>
                </a:cxn>
                <a:cxn ang="0">
                  <a:pos x="connsiteX1" y="connsiteY1"/>
                </a:cxn>
                <a:cxn ang="0">
                  <a:pos x="connsiteX2" y="connsiteY2"/>
                </a:cxn>
              </a:cxnLst>
              <a:rect l="l" t="t" r="r" b="b"/>
              <a:pathLst>
                <a:path w="103481" h="643466">
                  <a:moveTo>
                    <a:pt x="92193" y="643466"/>
                  </a:moveTo>
                  <a:cubicBezTo>
                    <a:pt x="46096" y="595488"/>
                    <a:pt x="0" y="547510"/>
                    <a:pt x="1881" y="440266"/>
                  </a:cubicBezTo>
                  <a:cubicBezTo>
                    <a:pt x="3762" y="333022"/>
                    <a:pt x="53621" y="166511"/>
                    <a:pt x="103481" y="0"/>
                  </a:cubicBezTo>
                </a:path>
              </a:pathLst>
            </a:custGeom>
            <a:ln w="19050">
              <a:solidFill>
                <a:srgbClr val="006600"/>
              </a:solidFill>
              <a:prstDash val="dash"/>
              <a:headEnd type="none" w="med" len="med"/>
              <a:tailEnd type="arrow" w="med" len="med"/>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34" name="Text Box 18"/>
            <p:cNvSpPr txBox="1">
              <a:spLocks noChangeArrowheads="1"/>
            </p:cNvSpPr>
            <p:nvPr/>
          </p:nvSpPr>
          <p:spPr bwMode="auto">
            <a:xfrm>
              <a:off x="8326553" y="3000372"/>
              <a:ext cx="140670" cy="2887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006600"/>
                  </a:solidFill>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6600"/>
                </a:solidFill>
                <a:effectLst/>
                <a:latin typeface="Consolas" pitchFamily="49" charset="0"/>
                <a:ea typeface="宋体" pitchFamily="2" charset="-122"/>
                <a:cs typeface="宋体" pitchFamily="2" charset="-122"/>
              </a:endParaRPr>
            </a:p>
          </p:txBody>
        </p:sp>
      </p:grpSp>
      <p:sp>
        <p:nvSpPr>
          <p:cNvPr id="35" name="TextBox 34"/>
          <p:cNvSpPr txBox="1"/>
          <p:nvPr/>
        </p:nvSpPr>
        <p:spPr>
          <a:xfrm>
            <a:off x="2214546" y="3571876"/>
            <a:ext cx="1143008" cy="400110"/>
          </a:xfrm>
          <a:prstGeom prst="rect">
            <a:avLst/>
          </a:prstGeom>
          <a:noFill/>
        </p:spPr>
        <p:txBody>
          <a:bodyPr wrap="square" rtlCol="0">
            <a:spAutoFit/>
          </a:bodyPr>
          <a:lstStyle/>
          <a:p>
            <a:pPr algn="l">
              <a:lnSpc>
                <a:spcPct val="100000"/>
              </a:lnSpc>
              <a:spcBef>
                <a:spcPts val="0"/>
              </a:spcBef>
            </a:pPr>
            <a:r>
              <a:rPr lang="zh-CN" altLang="en-US" sz="2000">
                <a:solidFill>
                  <a:srgbClr val="0000FF"/>
                </a:solidFill>
                <a:latin typeface="Consolas" pitchFamily="49" charset="0"/>
                <a:ea typeface="楷体" pitchFamily="49" charset="-122"/>
                <a:cs typeface="Consolas" pitchFamily="49" charset="0"/>
              </a:rPr>
              <a:t>正向边</a:t>
            </a:r>
          </a:p>
        </p:txBody>
      </p:sp>
      <p:cxnSp>
        <p:nvCxnSpPr>
          <p:cNvPr id="39" name="直接箭头连接符 38"/>
          <p:cNvCxnSpPr/>
          <p:nvPr/>
        </p:nvCxnSpPr>
        <p:spPr>
          <a:xfrm rot="16200000" flipV="1">
            <a:off x="1785918" y="2928934"/>
            <a:ext cx="857256" cy="428628"/>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40" name="TextBox 39"/>
          <p:cNvSpPr txBox="1"/>
          <p:nvPr/>
        </p:nvSpPr>
        <p:spPr>
          <a:xfrm>
            <a:off x="3286116" y="1857364"/>
            <a:ext cx="4786346" cy="400110"/>
          </a:xfrm>
          <a:prstGeom prst="rect">
            <a:avLst/>
          </a:prstGeom>
          <a:noFill/>
        </p:spPr>
        <p:txBody>
          <a:bodyPr wrap="square" rtlCol="0">
            <a:spAutoFit/>
          </a:bodyPr>
          <a:lstStyle/>
          <a:p>
            <a:pPr algn="l">
              <a:lnSpc>
                <a:spcPct val="100000"/>
              </a:lnSpc>
              <a:spcBef>
                <a:spcPts val="0"/>
              </a:spcBef>
            </a:pPr>
            <a:r>
              <a:rPr lang="zh-CN" altLang="en-US" sz="2000">
                <a:solidFill>
                  <a:srgbClr val="0000FF"/>
                </a:solidFill>
                <a:latin typeface="Consolas" pitchFamily="49" charset="0"/>
                <a:ea typeface="仿宋" pitchFamily="49" charset="-122"/>
                <a:cs typeface="Consolas" pitchFamily="49" charset="0"/>
              </a:rPr>
              <a:t>增广路径：</a:t>
            </a:r>
            <a:r>
              <a:rPr lang="en-US" altLang="zh-CN" sz="2000">
                <a:solidFill>
                  <a:srgbClr val="0000FF"/>
                </a:solidFill>
                <a:latin typeface="Consolas" pitchFamily="49" charset="0"/>
                <a:ea typeface="仿宋" pitchFamily="49" charset="-122"/>
                <a:cs typeface="Consolas" pitchFamily="49" charset="0"/>
              </a:rPr>
              <a:t>0→2→4→1→3→5</a:t>
            </a:r>
            <a:endParaRPr lang="zh-CN" altLang="en-US" sz="2000">
              <a:solidFill>
                <a:srgbClr val="0000FF"/>
              </a:solidFill>
              <a:latin typeface="Consolas" pitchFamily="49" charset="0"/>
              <a:ea typeface="仿宋" pitchFamily="49" charset="-122"/>
              <a:cs typeface="Consolas" pitchFamily="49" charset="0"/>
            </a:endParaRPr>
          </a:p>
        </p:txBody>
      </p:sp>
      <p:cxnSp>
        <p:nvCxnSpPr>
          <p:cNvPr id="42" name="直接箭头连接符 41"/>
          <p:cNvCxnSpPr/>
          <p:nvPr/>
        </p:nvCxnSpPr>
        <p:spPr>
          <a:xfrm rot="5400000">
            <a:off x="795702" y="2113088"/>
            <a:ext cx="588980" cy="1588"/>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38" name="灯片编号占位符 37"/>
          <p:cNvSpPr>
            <a:spLocks noGrp="1"/>
          </p:cNvSpPr>
          <p:nvPr>
            <p:ph type="sldNum" sz="quarter" idx="12"/>
          </p:nvPr>
        </p:nvSpPr>
        <p:spPr/>
        <p:txBody>
          <a:bodyPr/>
          <a:lstStyle/>
          <a:p>
            <a:fld id="{7AF016A1-9F15-429F-9EFD-84004B73C732}" type="slidenum">
              <a:rPr lang="en-US" altLang="zh-CN" smtClean="0"/>
              <a:pPr/>
              <a:t>108</a:t>
            </a:fld>
            <a:r>
              <a:rPr lang="en-US" altLang="zh-CN"/>
              <a:t>/158</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357166"/>
            <a:ext cx="5143536" cy="523220"/>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rPr>
              <a:t>9.3.2 </a:t>
            </a:r>
            <a:r>
              <a:rPr lang="en-US" altLang="zh-CN" sz="2800">
                <a:latin typeface="Consolas" pitchFamily="49" charset="0"/>
                <a:ea typeface="微软雅黑" pitchFamily="34" charset="-122"/>
              </a:rPr>
              <a:t>Ford-Fulkerson</a:t>
            </a:r>
            <a:r>
              <a:rPr lang="zh-CN" altLang="zh-CN" sz="2800">
                <a:latin typeface="Consolas" pitchFamily="49" charset="0"/>
                <a:ea typeface="微软雅黑" pitchFamily="34" charset="-122"/>
              </a:rPr>
              <a:t>算法</a:t>
            </a:r>
            <a:endParaRPr lang="zh-CN" altLang="zh-CN"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endParaRPr>
          </a:p>
        </p:txBody>
      </p:sp>
      <p:sp>
        <p:nvSpPr>
          <p:cNvPr id="4" name="TextBox 3"/>
          <p:cNvSpPr txBox="1"/>
          <p:nvPr/>
        </p:nvSpPr>
        <p:spPr>
          <a:xfrm>
            <a:off x="357158" y="1214422"/>
            <a:ext cx="5429288" cy="461665"/>
          </a:xfrm>
          <a:prstGeom prst="rect">
            <a:avLst/>
          </a:prstGeom>
          <a:noFill/>
        </p:spPr>
        <p:txBody>
          <a:bodyPr wrap="square" rtlCol="0">
            <a:spAutoFit/>
          </a:bodyPr>
          <a:lstStyle/>
          <a:p>
            <a:pPr algn="l">
              <a:lnSpc>
                <a:spcPct val="100000"/>
              </a:lnSpc>
              <a:spcBef>
                <a:spcPts val="0"/>
              </a:spcBef>
            </a:pPr>
            <a:r>
              <a:rPr lang="en-US" altLang="zh-CN">
                <a:solidFill>
                  <a:srgbClr val="0000FF"/>
                </a:solidFill>
                <a:latin typeface="Consolas" pitchFamily="49" charset="0"/>
                <a:ea typeface="仿宋" pitchFamily="49" charset="-122"/>
              </a:rPr>
              <a:t>Ford-Fulkerson</a:t>
            </a:r>
            <a:r>
              <a:rPr lang="zh-CN" altLang="zh-CN">
                <a:solidFill>
                  <a:srgbClr val="0000FF"/>
                </a:solidFill>
                <a:latin typeface="Consolas" pitchFamily="49" charset="0"/>
                <a:ea typeface="仿宋" pitchFamily="49" charset="-122"/>
              </a:rPr>
              <a:t>算法的具体步骤</a:t>
            </a:r>
            <a:r>
              <a:rPr lang="zh-CN" altLang="en-US">
                <a:solidFill>
                  <a:srgbClr val="0000FF"/>
                </a:solidFill>
                <a:latin typeface="Consolas" pitchFamily="49" charset="0"/>
                <a:ea typeface="仿宋" pitchFamily="49" charset="-122"/>
              </a:rPr>
              <a:t>。</a:t>
            </a:r>
            <a:endParaRPr lang="zh-CN" altLang="en-US">
              <a:solidFill>
                <a:srgbClr val="0000FF"/>
              </a:solidFill>
              <a:latin typeface="Consolas" pitchFamily="49" charset="0"/>
              <a:ea typeface="仿宋" pitchFamily="49" charset="-122"/>
              <a:cs typeface="Consolas" pitchFamily="49" charset="0"/>
            </a:endParaRPr>
          </a:p>
        </p:txBody>
      </p:sp>
      <p:sp>
        <p:nvSpPr>
          <p:cNvPr id="5" name="TextBox 4"/>
          <p:cNvSpPr txBox="1"/>
          <p:nvPr/>
        </p:nvSpPr>
        <p:spPr>
          <a:xfrm>
            <a:off x="500034" y="1928802"/>
            <a:ext cx="8286808" cy="3952364"/>
          </a:xfrm>
          <a:prstGeom prst="rect">
            <a:avLst/>
          </a:prstGeom>
          <a:ln>
            <a:solidFill>
              <a:schemeClr val="accent6">
                <a:lumMod val="20000"/>
                <a:lumOff val="8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100"/>
              </a:lnSpc>
              <a:spcBef>
                <a:spcPts val="600"/>
              </a:spcBef>
            </a:pPr>
            <a:r>
              <a:rPr lang="en-US" altLang="zh-CN">
                <a:solidFill>
                  <a:srgbClr val="0000FF"/>
                </a:solidFill>
                <a:latin typeface="Consolas" pitchFamily="49" charset="0"/>
                <a:ea typeface="仿宋" pitchFamily="49" charset="-122"/>
              </a:rPr>
              <a:t>  </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）根据给定的网络</a:t>
            </a:r>
            <a:r>
              <a:rPr lang="en-US" altLang="zh-CN" i="1">
                <a:solidFill>
                  <a:srgbClr val="0000FF"/>
                </a:solidFill>
                <a:latin typeface="Consolas" pitchFamily="49" charset="0"/>
                <a:ea typeface="仿宋" pitchFamily="49" charset="-122"/>
              </a:rPr>
              <a:t>G</a:t>
            </a:r>
            <a:r>
              <a:rPr lang="zh-CN" altLang="zh-CN">
                <a:solidFill>
                  <a:srgbClr val="0000FF"/>
                </a:solidFill>
                <a:latin typeface="Consolas" pitchFamily="49" charset="0"/>
                <a:ea typeface="仿宋" pitchFamily="49" charset="-122"/>
              </a:rPr>
              <a:t>从零流开始构建一个</a:t>
            </a:r>
            <a:r>
              <a:rPr lang="zh-CN" altLang="en-US">
                <a:solidFill>
                  <a:srgbClr val="FF0000"/>
                </a:solidFill>
                <a:latin typeface="Consolas" pitchFamily="49" charset="0"/>
                <a:ea typeface="仿宋" pitchFamily="49" charset="-122"/>
              </a:rPr>
              <a:t>剩余</a:t>
            </a:r>
            <a:r>
              <a:rPr lang="zh-CN" altLang="zh-CN">
                <a:solidFill>
                  <a:srgbClr val="FF0000"/>
                </a:solidFill>
                <a:latin typeface="Consolas" pitchFamily="49" charset="0"/>
                <a:ea typeface="仿宋" pitchFamily="49" charset="-122"/>
              </a:rPr>
              <a:t>网络</a:t>
            </a:r>
            <a:r>
              <a:rPr lang="en-US" altLang="zh-CN" i="1">
                <a:solidFill>
                  <a:srgbClr val="FF0000"/>
                </a:solidFill>
                <a:latin typeface="Consolas" pitchFamily="49" charset="0"/>
                <a:ea typeface="仿宋" pitchFamily="49" charset="-122"/>
              </a:rPr>
              <a:t>G</a:t>
            </a:r>
            <a:r>
              <a:rPr lang="en-US" altLang="zh-CN" i="1" baseline="-25000">
                <a:solidFill>
                  <a:srgbClr val="FF0000"/>
                </a:solidFill>
                <a:latin typeface="Consolas" pitchFamily="49" charset="0"/>
                <a:ea typeface="仿宋" pitchFamily="49" charset="-122"/>
              </a:rPr>
              <a:t>f</a:t>
            </a:r>
            <a:r>
              <a:rPr lang="zh-CN" altLang="zh-CN">
                <a:solidFill>
                  <a:srgbClr val="0000FF"/>
                </a:solidFill>
                <a:latin typeface="Consolas" pitchFamily="49" charset="0"/>
                <a:ea typeface="仿宋" pitchFamily="49" charset="-122"/>
              </a:rPr>
              <a:t>，其初始边上的</a:t>
            </a:r>
            <a:r>
              <a:rPr lang="zh-CN" altLang="en-US">
                <a:solidFill>
                  <a:srgbClr val="0000FF"/>
                </a:solidFill>
                <a:latin typeface="Consolas" pitchFamily="49" charset="0"/>
                <a:ea typeface="仿宋" pitchFamily="49" charset="-122"/>
              </a:rPr>
              <a:t>剩余</a:t>
            </a:r>
            <a:r>
              <a:rPr lang="zh-CN" altLang="zh-CN">
                <a:solidFill>
                  <a:srgbClr val="0000FF"/>
                </a:solidFill>
                <a:latin typeface="Consolas" pitchFamily="49" charset="0"/>
                <a:ea typeface="仿宋" pitchFamily="49" charset="-122"/>
              </a:rPr>
              <a:t>容量等于</a:t>
            </a:r>
            <a:r>
              <a:rPr lang="en-US" altLang="zh-CN">
                <a:solidFill>
                  <a:srgbClr val="0000FF"/>
                </a:solidFill>
                <a:latin typeface="Consolas" pitchFamily="49" charset="0"/>
                <a:ea typeface="仿宋" pitchFamily="49" charset="-122"/>
              </a:rPr>
              <a:t>G</a:t>
            </a:r>
            <a:r>
              <a:rPr lang="zh-CN" altLang="zh-CN">
                <a:solidFill>
                  <a:srgbClr val="0000FF"/>
                </a:solidFill>
                <a:latin typeface="Consolas" pitchFamily="49" charset="0"/>
                <a:ea typeface="仿宋" pitchFamily="49" charset="-122"/>
              </a:rPr>
              <a:t>中对应边的初始容量。</a:t>
            </a:r>
          </a:p>
          <a:p>
            <a:pPr algn="l">
              <a:lnSpc>
                <a:spcPts val="3100"/>
              </a:lnSpc>
              <a:spcBef>
                <a:spcPts val="600"/>
              </a:spcBef>
            </a:pPr>
            <a:r>
              <a:rPr lang="en-US" altLang="zh-CN">
                <a:solidFill>
                  <a:srgbClr val="0000FF"/>
                </a:solidFill>
                <a:latin typeface="Consolas" pitchFamily="49" charset="0"/>
                <a:ea typeface="仿宋" pitchFamily="49" charset="-122"/>
              </a:rPr>
              <a:t>  </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）若在</a:t>
            </a:r>
            <a:r>
              <a:rPr lang="en-US" altLang="zh-CN" i="1">
                <a:solidFill>
                  <a:srgbClr val="0000FF"/>
                </a:solidFill>
                <a:latin typeface="Consolas" pitchFamily="49" charset="0"/>
                <a:ea typeface="仿宋" pitchFamily="49" charset="-122"/>
              </a:rPr>
              <a:t>G</a:t>
            </a:r>
            <a:r>
              <a:rPr lang="en-US" altLang="zh-CN" i="1" baseline="-25000">
                <a:solidFill>
                  <a:srgbClr val="0000FF"/>
                </a:solidFill>
                <a:latin typeface="Consolas" pitchFamily="49" charset="0"/>
                <a:ea typeface="仿宋" pitchFamily="49" charset="-122"/>
              </a:rPr>
              <a:t>f</a:t>
            </a:r>
            <a:r>
              <a:rPr lang="zh-CN" altLang="zh-CN">
                <a:solidFill>
                  <a:srgbClr val="0000FF"/>
                </a:solidFill>
                <a:latin typeface="Consolas" pitchFamily="49" charset="0"/>
                <a:ea typeface="仿宋" pitchFamily="49" charset="-122"/>
              </a:rPr>
              <a:t>中能够找到从源点</a:t>
            </a:r>
            <a:r>
              <a:rPr lang="en-US" altLang="zh-CN">
                <a:solidFill>
                  <a:srgbClr val="0000FF"/>
                </a:solidFill>
                <a:latin typeface="Consolas" pitchFamily="49" charset="0"/>
                <a:ea typeface="仿宋" pitchFamily="49" charset="-122"/>
              </a:rPr>
              <a:t>S</a:t>
            </a:r>
            <a:r>
              <a:rPr lang="zh-CN" altLang="zh-CN">
                <a:solidFill>
                  <a:srgbClr val="0000FF"/>
                </a:solidFill>
                <a:latin typeface="Consolas" pitchFamily="49" charset="0"/>
                <a:ea typeface="仿宋" pitchFamily="49" charset="-122"/>
              </a:rPr>
              <a:t>到汇点</a:t>
            </a:r>
            <a:r>
              <a:rPr lang="en-US" altLang="zh-CN">
                <a:solidFill>
                  <a:srgbClr val="0000FF"/>
                </a:solidFill>
                <a:latin typeface="Consolas" pitchFamily="49" charset="0"/>
                <a:ea typeface="仿宋" pitchFamily="49" charset="-122"/>
              </a:rPr>
              <a:t>T</a:t>
            </a:r>
            <a:r>
              <a:rPr lang="zh-CN" altLang="zh-CN">
                <a:solidFill>
                  <a:srgbClr val="0000FF"/>
                </a:solidFill>
                <a:latin typeface="Consolas" pitchFamily="49" charset="0"/>
                <a:ea typeface="仿宋" pitchFamily="49" charset="-122"/>
              </a:rPr>
              <a:t>的增广路径</a:t>
            </a:r>
            <a:r>
              <a:rPr lang="en-US" altLang="zh-CN" i="1">
                <a:solidFill>
                  <a:srgbClr val="0000FF"/>
                </a:solidFill>
                <a:latin typeface="Consolas" pitchFamily="49" charset="0"/>
                <a:ea typeface="仿宋" pitchFamily="49" charset="-122"/>
              </a:rPr>
              <a:t>μ</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f</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，重复以下过程。</a:t>
            </a:r>
          </a:p>
          <a:p>
            <a:pPr marL="914400" lvl="1" indent="-457200" algn="l">
              <a:lnSpc>
                <a:spcPts val="3100"/>
              </a:lnSpc>
              <a:spcBef>
                <a:spcPts val="600"/>
              </a:spcBef>
              <a:buFont typeface="+mj-ea"/>
              <a:buAutoNum type="circleNumDbPlain"/>
            </a:pPr>
            <a:r>
              <a:rPr lang="zh-CN" altLang="zh-CN" sz="2200">
                <a:solidFill>
                  <a:srgbClr val="006600"/>
                </a:solidFill>
                <a:latin typeface="Consolas" pitchFamily="49" charset="0"/>
                <a:ea typeface="仿宋" pitchFamily="49" charset="-122"/>
              </a:rPr>
              <a:t>增广路径</a:t>
            </a:r>
            <a:r>
              <a:rPr lang="en-US" altLang="zh-CN" sz="2200" i="1">
                <a:solidFill>
                  <a:srgbClr val="006600"/>
                </a:solidFill>
                <a:latin typeface="Consolas" pitchFamily="49" charset="0"/>
                <a:ea typeface="仿宋" pitchFamily="49" charset="-122"/>
              </a:rPr>
              <a:t>μ</a:t>
            </a:r>
            <a:r>
              <a:rPr lang="en-US" altLang="zh-CN" sz="2200">
                <a:solidFill>
                  <a:srgbClr val="006600"/>
                </a:solidFill>
                <a:latin typeface="Consolas" pitchFamily="49" charset="0"/>
                <a:ea typeface="仿宋" pitchFamily="49" charset="-122"/>
              </a:rPr>
              <a:t>(</a:t>
            </a:r>
            <a:r>
              <a:rPr lang="en-US" altLang="zh-CN" sz="2200" i="1">
                <a:solidFill>
                  <a:srgbClr val="006600"/>
                </a:solidFill>
                <a:latin typeface="Consolas" pitchFamily="49" charset="0"/>
                <a:ea typeface="仿宋" pitchFamily="49" charset="-122"/>
              </a:rPr>
              <a:t>f</a:t>
            </a:r>
            <a:r>
              <a:rPr lang="en-US" altLang="zh-CN" sz="2200">
                <a:solidFill>
                  <a:srgbClr val="006600"/>
                </a:solidFill>
                <a:latin typeface="Consolas" pitchFamily="49" charset="0"/>
                <a:ea typeface="仿宋" pitchFamily="49" charset="-122"/>
              </a:rPr>
              <a:t>)</a:t>
            </a:r>
            <a:r>
              <a:rPr lang="zh-CN" altLang="zh-CN" sz="2200">
                <a:solidFill>
                  <a:srgbClr val="006600"/>
                </a:solidFill>
                <a:latin typeface="Consolas" pitchFamily="49" charset="0"/>
                <a:ea typeface="仿宋" pitchFamily="49" charset="-122"/>
              </a:rPr>
              <a:t>中找到最小容量</a:t>
            </a:r>
            <a:r>
              <a:rPr lang="en-US" altLang="zh-CN" sz="2200">
                <a:solidFill>
                  <a:srgbClr val="006600"/>
                </a:solidFill>
                <a:latin typeface="Consolas" pitchFamily="49" charset="0"/>
                <a:ea typeface="仿宋" pitchFamily="49" charset="-122"/>
              </a:rPr>
              <a:t>delta</a:t>
            </a:r>
            <a:r>
              <a:rPr lang="zh-CN" altLang="zh-CN" sz="2200">
                <a:solidFill>
                  <a:srgbClr val="006600"/>
                </a:solidFill>
                <a:latin typeface="Consolas" pitchFamily="49" charset="0"/>
                <a:ea typeface="仿宋" pitchFamily="49" charset="-122"/>
              </a:rPr>
              <a:t>。</a:t>
            </a:r>
          </a:p>
          <a:p>
            <a:pPr marL="914400" lvl="1" indent="-457200" algn="l">
              <a:lnSpc>
                <a:spcPts val="3100"/>
              </a:lnSpc>
              <a:spcBef>
                <a:spcPts val="600"/>
              </a:spcBef>
              <a:buFont typeface="+mj-ea"/>
              <a:buAutoNum type="circleNumDbPlain"/>
            </a:pPr>
            <a:r>
              <a:rPr lang="zh-CN" altLang="zh-CN" sz="2200">
                <a:solidFill>
                  <a:srgbClr val="006600"/>
                </a:solidFill>
                <a:latin typeface="Consolas" pitchFamily="49" charset="0"/>
                <a:ea typeface="仿宋" pitchFamily="49" charset="-122"/>
              </a:rPr>
              <a:t>增广操作</a:t>
            </a:r>
            <a:r>
              <a:rPr lang="zh-CN" altLang="en-US" sz="2200">
                <a:solidFill>
                  <a:srgbClr val="006600"/>
                </a:solidFill>
                <a:latin typeface="Consolas" pitchFamily="49" charset="0"/>
                <a:ea typeface="仿宋" pitchFamily="49" charset="-122"/>
              </a:rPr>
              <a:t>：</a:t>
            </a:r>
            <a:r>
              <a:rPr lang="zh-CN" altLang="zh-CN" sz="2200">
                <a:solidFill>
                  <a:srgbClr val="006600"/>
                </a:solidFill>
                <a:latin typeface="Consolas" pitchFamily="49" charset="0"/>
                <a:ea typeface="仿宋" pitchFamily="49" charset="-122"/>
              </a:rPr>
              <a:t>若</a:t>
            </a:r>
            <a:r>
              <a:rPr lang="en-US" altLang="zh-CN" sz="2200">
                <a:solidFill>
                  <a:srgbClr val="006600"/>
                </a:solidFill>
                <a:latin typeface="Consolas" pitchFamily="49" charset="0"/>
                <a:ea typeface="仿宋" pitchFamily="49" charset="-122"/>
              </a:rPr>
              <a:t>&lt;</a:t>
            </a:r>
            <a:r>
              <a:rPr lang="en-US" altLang="zh-CN" sz="2200" i="1">
                <a:solidFill>
                  <a:srgbClr val="006600"/>
                </a:solidFill>
                <a:latin typeface="Consolas" pitchFamily="49" charset="0"/>
                <a:ea typeface="仿宋" pitchFamily="49" charset="-122"/>
              </a:rPr>
              <a:t>u</a:t>
            </a:r>
            <a:r>
              <a:rPr lang="zh-CN" altLang="zh-CN" sz="2200">
                <a:solidFill>
                  <a:srgbClr val="006600"/>
                </a:solidFill>
                <a:latin typeface="Consolas" pitchFamily="49" charset="0"/>
                <a:ea typeface="仿宋" pitchFamily="49" charset="-122"/>
              </a:rPr>
              <a:t>，</a:t>
            </a:r>
            <a:r>
              <a:rPr lang="en-US" altLang="zh-CN" sz="2200" i="1">
                <a:solidFill>
                  <a:srgbClr val="006600"/>
                </a:solidFill>
                <a:latin typeface="Consolas" pitchFamily="49" charset="0"/>
                <a:ea typeface="仿宋" pitchFamily="49" charset="-122"/>
              </a:rPr>
              <a:t>v</a:t>
            </a:r>
            <a:r>
              <a:rPr lang="en-US" altLang="zh-CN" sz="2200">
                <a:solidFill>
                  <a:srgbClr val="006600"/>
                </a:solidFill>
                <a:latin typeface="Consolas" pitchFamily="49" charset="0"/>
                <a:ea typeface="仿宋" pitchFamily="49" charset="-122"/>
              </a:rPr>
              <a:t>&gt;</a:t>
            </a:r>
            <a:r>
              <a:rPr lang="zh-CN" altLang="zh-CN" sz="2200">
                <a:solidFill>
                  <a:srgbClr val="006600"/>
                </a:solidFill>
                <a:latin typeface="Consolas" pitchFamily="49" charset="0"/>
                <a:ea typeface="仿宋" pitchFamily="49" charset="-122"/>
              </a:rPr>
              <a:t>∈</a:t>
            </a:r>
            <a:r>
              <a:rPr lang="en-US" altLang="zh-CN" sz="2200" i="1">
                <a:solidFill>
                  <a:srgbClr val="006600"/>
                </a:solidFill>
                <a:latin typeface="Consolas" pitchFamily="49" charset="0"/>
                <a:ea typeface="仿宋" pitchFamily="49" charset="-122"/>
              </a:rPr>
              <a:t>μ</a:t>
            </a:r>
            <a:r>
              <a:rPr lang="en-US" altLang="zh-CN" sz="2200" baseline="30000">
                <a:solidFill>
                  <a:srgbClr val="006600"/>
                </a:solidFill>
                <a:latin typeface="Consolas" pitchFamily="49" charset="0"/>
                <a:ea typeface="仿宋" pitchFamily="49" charset="-122"/>
              </a:rPr>
              <a:t>+</a:t>
            </a:r>
            <a:r>
              <a:rPr lang="zh-CN" altLang="zh-CN" sz="2200">
                <a:solidFill>
                  <a:srgbClr val="006600"/>
                </a:solidFill>
                <a:latin typeface="Consolas" pitchFamily="49" charset="0"/>
                <a:ea typeface="仿宋" pitchFamily="49" charset="-122"/>
              </a:rPr>
              <a:t>，则将其剩余容量减去</a:t>
            </a:r>
            <a:r>
              <a:rPr lang="en-US" altLang="zh-CN" sz="2200">
                <a:solidFill>
                  <a:srgbClr val="006600"/>
                </a:solidFill>
                <a:latin typeface="Consolas" pitchFamily="49" charset="0"/>
                <a:ea typeface="仿宋" pitchFamily="49" charset="-122"/>
              </a:rPr>
              <a:t>delta</a:t>
            </a:r>
            <a:r>
              <a:rPr lang="zh-CN" altLang="zh-CN" sz="2200">
                <a:solidFill>
                  <a:srgbClr val="006600"/>
                </a:solidFill>
                <a:latin typeface="Consolas" pitchFamily="49" charset="0"/>
                <a:ea typeface="仿宋" pitchFamily="49" charset="-122"/>
              </a:rPr>
              <a:t>。若当</a:t>
            </a:r>
            <a:r>
              <a:rPr lang="en-US" altLang="zh-CN" sz="2200">
                <a:solidFill>
                  <a:srgbClr val="006600"/>
                </a:solidFill>
                <a:latin typeface="Consolas" pitchFamily="49" charset="0"/>
                <a:ea typeface="仿宋" pitchFamily="49" charset="-122"/>
              </a:rPr>
              <a:t>&lt;</a:t>
            </a:r>
            <a:r>
              <a:rPr lang="en-US" altLang="zh-CN" sz="2200" i="1">
                <a:solidFill>
                  <a:srgbClr val="006600"/>
                </a:solidFill>
                <a:latin typeface="Consolas" pitchFamily="49" charset="0"/>
                <a:ea typeface="仿宋" pitchFamily="49" charset="-122"/>
              </a:rPr>
              <a:t>u</a:t>
            </a:r>
            <a:r>
              <a:rPr lang="zh-CN" altLang="zh-CN" sz="2200">
                <a:solidFill>
                  <a:srgbClr val="006600"/>
                </a:solidFill>
                <a:latin typeface="Consolas" pitchFamily="49" charset="0"/>
                <a:ea typeface="仿宋" pitchFamily="49" charset="-122"/>
              </a:rPr>
              <a:t>，</a:t>
            </a:r>
            <a:r>
              <a:rPr lang="en-US" altLang="zh-CN" sz="2200" i="1">
                <a:solidFill>
                  <a:srgbClr val="006600"/>
                </a:solidFill>
                <a:latin typeface="Consolas" pitchFamily="49" charset="0"/>
                <a:ea typeface="仿宋" pitchFamily="49" charset="-122"/>
              </a:rPr>
              <a:t>v</a:t>
            </a:r>
            <a:r>
              <a:rPr lang="en-US" altLang="zh-CN" sz="2200">
                <a:solidFill>
                  <a:srgbClr val="006600"/>
                </a:solidFill>
                <a:latin typeface="Consolas" pitchFamily="49" charset="0"/>
                <a:ea typeface="仿宋" pitchFamily="49" charset="-122"/>
              </a:rPr>
              <a:t>&gt;</a:t>
            </a:r>
            <a:r>
              <a:rPr lang="zh-CN" altLang="zh-CN" sz="2200">
                <a:solidFill>
                  <a:srgbClr val="006600"/>
                </a:solidFill>
                <a:latin typeface="Consolas" pitchFamily="49" charset="0"/>
                <a:ea typeface="仿宋" pitchFamily="49" charset="-122"/>
              </a:rPr>
              <a:t>∈</a:t>
            </a:r>
            <a:r>
              <a:rPr lang="en-US" altLang="zh-CN" sz="2200" i="1">
                <a:solidFill>
                  <a:srgbClr val="006600"/>
                </a:solidFill>
                <a:latin typeface="Consolas" pitchFamily="49" charset="0"/>
                <a:ea typeface="仿宋" pitchFamily="49" charset="-122"/>
              </a:rPr>
              <a:t>μ</a:t>
            </a:r>
            <a:r>
              <a:rPr lang="en-US" altLang="zh-CN" sz="2200" baseline="30000">
                <a:solidFill>
                  <a:srgbClr val="006600"/>
                </a:solidFill>
                <a:latin typeface="Consolas" pitchFamily="49" charset="0"/>
                <a:ea typeface="仿宋" pitchFamily="49" charset="-122"/>
              </a:rPr>
              <a:t>-</a:t>
            </a:r>
            <a:r>
              <a:rPr lang="zh-CN" altLang="en-US" sz="2200">
                <a:solidFill>
                  <a:srgbClr val="006600"/>
                </a:solidFill>
                <a:latin typeface="Consolas" pitchFamily="49" charset="0"/>
                <a:ea typeface="仿宋" pitchFamily="49" charset="-122"/>
              </a:rPr>
              <a:t>，</a:t>
            </a:r>
            <a:r>
              <a:rPr lang="zh-CN" altLang="zh-CN" sz="2200">
                <a:solidFill>
                  <a:srgbClr val="006600"/>
                </a:solidFill>
                <a:latin typeface="Consolas" pitchFamily="49" charset="0"/>
                <a:ea typeface="仿宋" pitchFamily="49" charset="-122"/>
              </a:rPr>
              <a:t>则将其流量加上</a:t>
            </a:r>
            <a:r>
              <a:rPr lang="en-US" altLang="zh-CN" sz="2200">
                <a:solidFill>
                  <a:srgbClr val="006600"/>
                </a:solidFill>
                <a:latin typeface="Consolas" pitchFamily="49" charset="0"/>
                <a:ea typeface="仿宋" pitchFamily="49" charset="-122"/>
              </a:rPr>
              <a:t>delta</a:t>
            </a:r>
            <a:r>
              <a:rPr lang="zh-CN" altLang="zh-CN" sz="2200">
                <a:solidFill>
                  <a:srgbClr val="006600"/>
                </a:solidFill>
                <a:latin typeface="Consolas" pitchFamily="49" charset="0"/>
                <a:ea typeface="仿宋" pitchFamily="49" charset="-122"/>
              </a:rPr>
              <a:t>。</a:t>
            </a:r>
          </a:p>
          <a:p>
            <a:pPr algn="l">
              <a:lnSpc>
                <a:spcPts val="3100"/>
              </a:lnSpc>
              <a:spcBef>
                <a:spcPts val="600"/>
              </a:spcBef>
            </a:pPr>
            <a:r>
              <a:rPr lang="zh-CN" altLang="zh-CN">
                <a:solidFill>
                  <a:srgbClr val="0000FF"/>
                </a:solidFill>
                <a:latin typeface="Consolas" pitchFamily="49" charset="0"/>
                <a:ea typeface="仿宋" pitchFamily="49" charset="-122"/>
              </a:rPr>
              <a:t>上述过程直到找不到增广路径为止，此时的可行流就是</a:t>
            </a:r>
            <a:r>
              <a:rPr lang="zh-CN" altLang="zh-CN">
                <a:solidFill>
                  <a:srgbClr val="FF0000"/>
                </a:solidFill>
                <a:latin typeface="Consolas" pitchFamily="49" charset="0"/>
                <a:ea typeface="仿宋" pitchFamily="49" charset="-122"/>
              </a:rPr>
              <a:t>最大流</a:t>
            </a:r>
            <a:r>
              <a:rPr lang="zh-CN" altLang="zh-CN">
                <a:solidFill>
                  <a:srgbClr val="0000FF"/>
                </a:solidFill>
                <a:latin typeface="Consolas" pitchFamily="49" charset="0"/>
                <a:ea typeface="仿宋" pitchFamily="49" charset="-122"/>
              </a:rPr>
              <a:t>。</a:t>
            </a:r>
            <a:endParaRPr lang="zh-CN" altLang="en-US">
              <a:solidFill>
                <a:srgbClr val="0000FF"/>
              </a:solidFill>
              <a:latin typeface="Consolas" pitchFamily="49" charset="0"/>
              <a:ea typeface="仿宋" pitchFamily="49" charset="-122"/>
              <a:cs typeface="Consolas" pitchFamily="49" charset="0"/>
            </a:endParaRPr>
          </a:p>
        </p:txBody>
      </p:sp>
      <p:sp>
        <p:nvSpPr>
          <p:cNvPr id="7" name="灯片编号占位符 6"/>
          <p:cNvSpPr>
            <a:spLocks noGrp="1"/>
          </p:cNvSpPr>
          <p:nvPr>
            <p:ph type="sldNum" sz="quarter" idx="12"/>
          </p:nvPr>
        </p:nvSpPr>
        <p:spPr/>
        <p:txBody>
          <a:bodyPr/>
          <a:lstStyle/>
          <a:p>
            <a:fld id="{7AF016A1-9F15-429F-9EFD-84004B73C732}" type="slidenum">
              <a:rPr lang="en-US" altLang="zh-CN" smtClean="0"/>
              <a:pPr/>
              <a:t>109</a:t>
            </a:fld>
            <a:r>
              <a:rPr lang="en-US" altLang="zh-CN"/>
              <a:t>/158</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0034" y="428604"/>
            <a:ext cx="8143932" cy="938719"/>
          </a:xfrm>
          <a:prstGeom prst="rect">
            <a:avLst/>
          </a:prstGeom>
          <a:ln>
            <a:solidFill>
              <a:schemeClr val="accent6">
                <a:lumMod val="20000"/>
                <a:lumOff val="8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300"/>
              </a:lnSpc>
              <a:spcBef>
                <a:spcPts val="0"/>
              </a:spcBef>
            </a:pPr>
            <a:r>
              <a:rPr lang="zh-CN" altLang="zh-CN">
                <a:solidFill>
                  <a:srgbClr val="FF0000"/>
                </a:solidFill>
                <a:latin typeface="Consolas" pitchFamily="49" charset="0"/>
                <a:ea typeface="楷体" pitchFamily="49" charset="-122"/>
              </a:rPr>
              <a:t>【例</a:t>
            </a:r>
            <a:r>
              <a:rPr lang="en-US" altLang="zh-CN">
                <a:solidFill>
                  <a:srgbClr val="FF0000"/>
                </a:solidFill>
                <a:latin typeface="Consolas" pitchFamily="49" charset="0"/>
                <a:ea typeface="楷体" pitchFamily="49" charset="-122"/>
              </a:rPr>
              <a:t>9.3</a:t>
            </a:r>
            <a:r>
              <a:rPr lang="zh-CN" altLang="zh-CN">
                <a:solidFill>
                  <a:srgbClr val="FF0000"/>
                </a:solidFill>
                <a:latin typeface="Consolas" pitchFamily="49" charset="0"/>
                <a:ea typeface="楷体" pitchFamily="49" charset="-122"/>
              </a:rPr>
              <a:t>】</a:t>
            </a:r>
            <a:r>
              <a:rPr lang="zh-CN" altLang="zh-CN">
                <a:solidFill>
                  <a:srgbClr val="0000FF"/>
                </a:solidFill>
                <a:latin typeface="Consolas" pitchFamily="49" charset="0"/>
                <a:ea typeface="仿宋" pitchFamily="49" charset="-122"/>
              </a:rPr>
              <a:t>对于如图</a:t>
            </a:r>
            <a:r>
              <a:rPr lang="en-US" altLang="zh-CN">
                <a:solidFill>
                  <a:srgbClr val="0000FF"/>
                </a:solidFill>
                <a:latin typeface="Consolas" pitchFamily="49" charset="0"/>
                <a:ea typeface="仿宋" pitchFamily="49" charset="-122"/>
              </a:rPr>
              <a:t>(a)</a:t>
            </a:r>
            <a:r>
              <a:rPr lang="zh-CN" altLang="zh-CN">
                <a:solidFill>
                  <a:srgbClr val="0000FF"/>
                </a:solidFill>
                <a:latin typeface="Consolas" pitchFamily="49" charset="0"/>
                <a:ea typeface="仿宋" pitchFamily="49" charset="-122"/>
              </a:rPr>
              <a:t>所示的网络，假设源点</a:t>
            </a:r>
            <a:r>
              <a:rPr lang="en-US" altLang="zh-CN">
                <a:solidFill>
                  <a:srgbClr val="0000FF"/>
                </a:solidFill>
                <a:latin typeface="Consolas" pitchFamily="49" charset="0"/>
                <a:ea typeface="仿宋" pitchFamily="49" charset="-122"/>
              </a:rPr>
              <a:t>S=0</a:t>
            </a:r>
            <a:r>
              <a:rPr lang="zh-CN" altLang="zh-CN">
                <a:solidFill>
                  <a:srgbClr val="0000FF"/>
                </a:solidFill>
                <a:latin typeface="Consolas" pitchFamily="49" charset="0"/>
                <a:ea typeface="仿宋" pitchFamily="49" charset="-122"/>
              </a:rPr>
              <a:t>，汇点</a:t>
            </a:r>
            <a:r>
              <a:rPr lang="en-US" altLang="zh-CN">
                <a:solidFill>
                  <a:srgbClr val="0000FF"/>
                </a:solidFill>
                <a:latin typeface="Consolas" pitchFamily="49" charset="0"/>
                <a:ea typeface="仿宋" pitchFamily="49" charset="-122"/>
              </a:rPr>
              <a:t>T=5</a:t>
            </a:r>
            <a:r>
              <a:rPr lang="zh-CN" altLang="zh-CN">
                <a:solidFill>
                  <a:srgbClr val="0000FF"/>
                </a:solidFill>
                <a:latin typeface="Consolas" pitchFamily="49" charset="0"/>
                <a:ea typeface="仿宋" pitchFamily="49" charset="-122"/>
              </a:rPr>
              <a:t>，采用</a:t>
            </a:r>
            <a:r>
              <a:rPr lang="en-US" altLang="zh-CN">
                <a:solidFill>
                  <a:srgbClr val="0000FF"/>
                </a:solidFill>
                <a:latin typeface="Consolas" pitchFamily="49" charset="0"/>
                <a:ea typeface="仿宋" pitchFamily="49" charset="-122"/>
              </a:rPr>
              <a:t>Ford-Fulkerson</a:t>
            </a:r>
            <a:r>
              <a:rPr lang="zh-CN" altLang="zh-CN">
                <a:solidFill>
                  <a:srgbClr val="0000FF"/>
                </a:solidFill>
                <a:latin typeface="Consolas" pitchFamily="49" charset="0"/>
                <a:ea typeface="仿宋" pitchFamily="49" charset="-122"/>
              </a:rPr>
              <a:t>算法求其最大流。</a:t>
            </a:r>
          </a:p>
        </p:txBody>
      </p:sp>
      <p:grpSp>
        <p:nvGrpSpPr>
          <p:cNvPr id="6" name="组合 5"/>
          <p:cNvGrpSpPr/>
          <p:nvPr/>
        </p:nvGrpSpPr>
        <p:grpSpPr>
          <a:xfrm>
            <a:off x="2857488" y="1785926"/>
            <a:ext cx="2354101" cy="3545617"/>
            <a:chOff x="724862" y="1169267"/>
            <a:chExt cx="2354101" cy="3545617"/>
          </a:xfrm>
        </p:grpSpPr>
        <p:sp>
          <p:nvSpPr>
            <p:cNvPr id="7" name="Text Box 51"/>
            <p:cNvSpPr txBox="1">
              <a:spLocks noChangeArrowheads="1"/>
            </p:cNvSpPr>
            <p:nvPr/>
          </p:nvSpPr>
          <p:spPr bwMode="auto">
            <a:xfrm>
              <a:off x="1714610" y="3437516"/>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8" name="Text Box 50"/>
            <p:cNvSpPr txBox="1">
              <a:spLocks noChangeArrowheads="1"/>
            </p:cNvSpPr>
            <p:nvPr/>
          </p:nvSpPr>
          <p:spPr bwMode="auto">
            <a:xfrm>
              <a:off x="1677807" y="2546512"/>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9" name="Text Box 49"/>
            <p:cNvSpPr txBox="1">
              <a:spLocks noChangeArrowheads="1"/>
            </p:cNvSpPr>
            <p:nvPr/>
          </p:nvSpPr>
          <p:spPr bwMode="auto">
            <a:xfrm>
              <a:off x="1982749" y="1620026"/>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5</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0" name="Text Box 48"/>
            <p:cNvSpPr txBox="1">
              <a:spLocks noChangeArrowheads="1"/>
            </p:cNvSpPr>
            <p:nvPr/>
          </p:nvSpPr>
          <p:spPr bwMode="auto">
            <a:xfrm>
              <a:off x="2444105" y="2413781"/>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1" name="Text Box 47"/>
            <p:cNvSpPr txBox="1">
              <a:spLocks noChangeArrowheads="1"/>
            </p:cNvSpPr>
            <p:nvPr/>
          </p:nvSpPr>
          <p:spPr bwMode="auto">
            <a:xfrm>
              <a:off x="1182276" y="3508481"/>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2" name="Text Box 46"/>
            <p:cNvSpPr txBox="1">
              <a:spLocks noChangeArrowheads="1"/>
            </p:cNvSpPr>
            <p:nvPr/>
          </p:nvSpPr>
          <p:spPr bwMode="auto">
            <a:xfrm>
              <a:off x="1241424" y="2413781"/>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3" name="Text Box 45"/>
            <p:cNvSpPr txBox="1">
              <a:spLocks noChangeArrowheads="1"/>
            </p:cNvSpPr>
            <p:nvPr/>
          </p:nvSpPr>
          <p:spPr bwMode="auto">
            <a:xfrm>
              <a:off x="2298206" y="2846142"/>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4" name="Text Box 44"/>
            <p:cNvSpPr txBox="1">
              <a:spLocks noChangeArrowheads="1"/>
            </p:cNvSpPr>
            <p:nvPr/>
          </p:nvSpPr>
          <p:spPr bwMode="auto">
            <a:xfrm>
              <a:off x="2379700" y="3559733"/>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5" name="Oval 43"/>
            <p:cNvSpPr>
              <a:spLocks noChangeArrowheads="1"/>
            </p:cNvSpPr>
            <p:nvPr/>
          </p:nvSpPr>
          <p:spPr bwMode="auto">
            <a:xfrm>
              <a:off x="1677807" y="1169267"/>
              <a:ext cx="411409" cy="448130"/>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0</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6" name="Oval 42"/>
            <p:cNvSpPr>
              <a:spLocks noChangeArrowheads="1"/>
            </p:cNvSpPr>
            <p:nvPr/>
          </p:nvSpPr>
          <p:spPr bwMode="auto">
            <a:xfrm>
              <a:off x="724862" y="2921049"/>
              <a:ext cx="410095" cy="44681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8" name="Oval 41"/>
            <p:cNvSpPr>
              <a:spLocks noChangeArrowheads="1"/>
            </p:cNvSpPr>
            <p:nvPr/>
          </p:nvSpPr>
          <p:spPr bwMode="auto">
            <a:xfrm>
              <a:off x="1677807" y="2921049"/>
              <a:ext cx="408780" cy="44681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9" name="Oval 40"/>
            <p:cNvSpPr>
              <a:spLocks noChangeArrowheads="1"/>
            </p:cNvSpPr>
            <p:nvPr/>
          </p:nvSpPr>
          <p:spPr bwMode="auto">
            <a:xfrm>
              <a:off x="2670183" y="2921049"/>
              <a:ext cx="408780" cy="44681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20" name="Oval 39"/>
            <p:cNvSpPr>
              <a:spLocks noChangeArrowheads="1"/>
            </p:cNvSpPr>
            <p:nvPr/>
          </p:nvSpPr>
          <p:spPr bwMode="auto">
            <a:xfrm>
              <a:off x="1677807" y="1966965"/>
              <a:ext cx="408780" cy="44681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21" name="Oval 38"/>
            <p:cNvSpPr>
              <a:spLocks noChangeArrowheads="1"/>
            </p:cNvSpPr>
            <p:nvPr/>
          </p:nvSpPr>
          <p:spPr bwMode="auto">
            <a:xfrm>
              <a:off x="1677807" y="3835708"/>
              <a:ext cx="408780" cy="446816"/>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5</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22" name="AutoShape 37"/>
            <p:cNvSpPr>
              <a:spLocks noChangeShapeType="1"/>
            </p:cNvSpPr>
            <p:nvPr/>
          </p:nvSpPr>
          <p:spPr bwMode="auto">
            <a:xfrm flipH="1">
              <a:off x="1882854" y="1617398"/>
              <a:ext cx="1314" cy="349568"/>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23" name="AutoShape 36"/>
            <p:cNvSpPr>
              <a:spLocks noChangeShapeType="1"/>
            </p:cNvSpPr>
            <p:nvPr/>
          </p:nvSpPr>
          <p:spPr bwMode="auto">
            <a:xfrm flipH="1">
              <a:off x="1074494" y="2348073"/>
              <a:ext cx="663775" cy="63868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24" name="AutoShape 35"/>
            <p:cNvSpPr>
              <a:spLocks noChangeShapeType="1"/>
            </p:cNvSpPr>
            <p:nvPr/>
          </p:nvSpPr>
          <p:spPr bwMode="auto">
            <a:xfrm>
              <a:off x="1882854" y="2413781"/>
              <a:ext cx="1314" cy="507268"/>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25" name="AutoShape 34"/>
            <p:cNvSpPr>
              <a:spLocks noChangeShapeType="1"/>
            </p:cNvSpPr>
            <p:nvPr/>
          </p:nvSpPr>
          <p:spPr bwMode="auto">
            <a:xfrm>
              <a:off x="2026124" y="2348073"/>
              <a:ext cx="704522" cy="63868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26" name="AutoShape 33"/>
            <p:cNvSpPr>
              <a:spLocks noChangeShapeType="1"/>
            </p:cNvSpPr>
            <p:nvPr/>
          </p:nvSpPr>
          <p:spPr bwMode="auto">
            <a:xfrm>
              <a:off x="1074494" y="3302157"/>
              <a:ext cx="663775" cy="599259"/>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27" name="AutoShape 32"/>
            <p:cNvSpPr>
              <a:spLocks noChangeShapeType="1"/>
            </p:cNvSpPr>
            <p:nvPr/>
          </p:nvSpPr>
          <p:spPr bwMode="auto">
            <a:xfrm>
              <a:off x="1882854" y="3367865"/>
              <a:ext cx="1314" cy="467843"/>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28" name="AutoShape 31"/>
            <p:cNvSpPr>
              <a:spLocks noChangeShapeType="1"/>
            </p:cNvSpPr>
            <p:nvPr/>
          </p:nvSpPr>
          <p:spPr bwMode="auto">
            <a:xfrm flipH="1">
              <a:off x="2026124" y="3302157"/>
              <a:ext cx="704522" cy="599259"/>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29" name="AutoShape 30"/>
            <p:cNvSpPr>
              <a:spLocks noChangeShapeType="1"/>
            </p:cNvSpPr>
            <p:nvPr/>
          </p:nvSpPr>
          <p:spPr bwMode="auto">
            <a:xfrm flipH="1">
              <a:off x="2086587" y="3144457"/>
              <a:ext cx="583596" cy="131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30" name="Text Box 29"/>
            <p:cNvSpPr txBox="1">
              <a:spLocks noChangeArrowheads="1"/>
            </p:cNvSpPr>
            <p:nvPr/>
          </p:nvSpPr>
          <p:spPr bwMode="auto">
            <a:xfrm>
              <a:off x="1131014" y="4415254"/>
              <a:ext cx="1633807"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 </a:t>
              </a:r>
              <a:r>
                <a:rPr kumimoji="0" lang="zh-CN" altLang="en-US"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一个网络</a:t>
              </a:r>
              <a:endParaRPr kumimoji="0" lang="zh-CN" altLang="en-US"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grpSp>
      <p:sp>
        <p:nvSpPr>
          <p:cNvPr id="32" name="灯片编号占位符 31"/>
          <p:cNvSpPr>
            <a:spLocks noGrp="1"/>
          </p:cNvSpPr>
          <p:nvPr>
            <p:ph type="sldNum" sz="quarter" idx="12"/>
          </p:nvPr>
        </p:nvSpPr>
        <p:spPr/>
        <p:txBody>
          <a:bodyPr/>
          <a:lstStyle/>
          <a:p>
            <a:fld id="{7AF016A1-9F15-429F-9EFD-84004B73C732}" type="slidenum">
              <a:rPr lang="en-US" altLang="zh-CN" smtClean="0"/>
              <a:pPr/>
              <a:t>110</a:t>
            </a:fld>
            <a:r>
              <a:rPr lang="en-US" altLang="zh-CN"/>
              <a:t>/158</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13" name="Rectangle 5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56" name="组合 55"/>
          <p:cNvGrpSpPr/>
          <p:nvPr/>
        </p:nvGrpSpPr>
        <p:grpSpPr>
          <a:xfrm>
            <a:off x="214282" y="1526457"/>
            <a:ext cx="2354101" cy="3545617"/>
            <a:chOff x="724862" y="1169267"/>
            <a:chExt cx="2354101" cy="3545617"/>
          </a:xfrm>
        </p:grpSpPr>
        <p:sp>
          <p:nvSpPr>
            <p:cNvPr id="41011" name="Text Box 51"/>
            <p:cNvSpPr txBox="1">
              <a:spLocks noChangeArrowheads="1"/>
            </p:cNvSpPr>
            <p:nvPr/>
          </p:nvSpPr>
          <p:spPr bwMode="auto">
            <a:xfrm>
              <a:off x="1714610" y="3437516"/>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1010" name="Text Box 50"/>
            <p:cNvSpPr txBox="1">
              <a:spLocks noChangeArrowheads="1"/>
            </p:cNvSpPr>
            <p:nvPr/>
          </p:nvSpPr>
          <p:spPr bwMode="auto">
            <a:xfrm>
              <a:off x="1677807" y="2546512"/>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1009" name="Text Box 49"/>
            <p:cNvSpPr txBox="1">
              <a:spLocks noChangeArrowheads="1"/>
            </p:cNvSpPr>
            <p:nvPr/>
          </p:nvSpPr>
          <p:spPr bwMode="auto">
            <a:xfrm>
              <a:off x="1982749" y="1620026"/>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5</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1008" name="Text Box 48"/>
            <p:cNvSpPr txBox="1">
              <a:spLocks noChangeArrowheads="1"/>
            </p:cNvSpPr>
            <p:nvPr/>
          </p:nvSpPr>
          <p:spPr bwMode="auto">
            <a:xfrm>
              <a:off x="2444105" y="2413781"/>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1007" name="Text Box 47"/>
            <p:cNvSpPr txBox="1">
              <a:spLocks noChangeArrowheads="1"/>
            </p:cNvSpPr>
            <p:nvPr/>
          </p:nvSpPr>
          <p:spPr bwMode="auto">
            <a:xfrm>
              <a:off x="1182276" y="3508481"/>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1006" name="Text Box 46"/>
            <p:cNvSpPr txBox="1">
              <a:spLocks noChangeArrowheads="1"/>
            </p:cNvSpPr>
            <p:nvPr/>
          </p:nvSpPr>
          <p:spPr bwMode="auto">
            <a:xfrm>
              <a:off x="1241424" y="2413781"/>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1005" name="Text Box 45"/>
            <p:cNvSpPr txBox="1">
              <a:spLocks noChangeArrowheads="1"/>
            </p:cNvSpPr>
            <p:nvPr/>
          </p:nvSpPr>
          <p:spPr bwMode="auto">
            <a:xfrm>
              <a:off x="2298206" y="2846142"/>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1004" name="Text Box 44"/>
            <p:cNvSpPr txBox="1">
              <a:spLocks noChangeArrowheads="1"/>
            </p:cNvSpPr>
            <p:nvPr/>
          </p:nvSpPr>
          <p:spPr bwMode="auto">
            <a:xfrm>
              <a:off x="2379700" y="3559733"/>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1003" name="Oval 43"/>
            <p:cNvSpPr>
              <a:spLocks noChangeArrowheads="1"/>
            </p:cNvSpPr>
            <p:nvPr/>
          </p:nvSpPr>
          <p:spPr bwMode="auto">
            <a:xfrm>
              <a:off x="1677807" y="1169267"/>
              <a:ext cx="411409" cy="448130"/>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0</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1002" name="Oval 42"/>
            <p:cNvSpPr>
              <a:spLocks noChangeArrowheads="1"/>
            </p:cNvSpPr>
            <p:nvPr/>
          </p:nvSpPr>
          <p:spPr bwMode="auto">
            <a:xfrm>
              <a:off x="724862" y="2921049"/>
              <a:ext cx="410095" cy="44681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1001" name="Oval 41"/>
            <p:cNvSpPr>
              <a:spLocks noChangeArrowheads="1"/>
            </p:cNvSpPr>
            <p:nvPr/>
          </p:nvSpPr>
          <p:spPr bwMode="auto">
            <a:xfrm>
              <a:off x="1677807" y="2921049"/>
              <a:ext cx="408780" cy="44681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1000" name="Oval 40"/>
            <p:cNvSpPr>
              <a:spLocks noChangeArrowheads="1"/>
            </p:cNvSpPr>
            <p:nvPr/>
          </p:nvSpPr>
          <p:spPr bwMode="auto">
            <a:xfrm>
              <a:off x="2670183" y="2921049"/>
              <a:ext cx="408780" cy="44681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0999" name="Oval 39"/>
            <p:cNvSpPr>
              <a:spLocks noChangeArrowheads="1"/>
            </p:cNvSpPr>
            <p:nvPr/>
          </p:nvSpPr>
          <p:spPr bwMode="auto">
            <a:xfrm>
              <a:off x="1677807" y="1966965"/>
              <a:ext cx="408780" cy="44681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0998" name="Oval 38"/>
            <p:cNvSpPr>
              <a:spLocks noChangeArrowheads="1"/>
            </p:cNvSpPr>
            <p:nvPr/>
          </p:nvSpPr>
          <p:spPr bwMode="auto">
            <a:xfrm>
              <a:off x="1677807" y="3835708"/>
              <a:ext cx="408780" cy="446816"/>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5</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0997" name="AutoShape 37"/>
            <p:cNvSpPr>
              <a:spLocks noChangeShapeType="1"/>
            </p:cNvSpPr>
            <p:nvPr/>
          </p:nvSpPr>
          <p:spPr bwMode="auto">
            <a:xfrm flipH="1">
              <a:off x="1882854" y="1617398"/>
              <a:ext cx="1314" cy="349568"/>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40996" name="AutoShape 36"/>
            <p:cNvSpPr>
              <a:spLocks noChangeShapeType="1"/>
            </p:cNvSpPr>
            <p:nvPr/>
          </p:nvSpPr>
          <p:spPr bwMode="auto">
            <a:xfrm flipH="1">
              <a:off x="1074494" y="2348073"/>
              <a:ext cx="663775" cy="63868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40995" name="AutoShape 35"/>
            <p:cNvSpPr>
              <a:spLocks noChangeShapeType="1"/>
            </p:cNvSpPr>
            <p:nvPr/>
          </p:nvSpPr>
          <p:spPr bwMode="auto">
            <a:xfrm>
              <a:off x="1882854" y="2413781"/>
              <a:ext cx="1314" cy="507268"/>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40994" name="AutoShape 34"/>
            <p:cNvSpPr>
              <a:spLocks noChangeShapeType="1"/>
            </p:cNvSpPr>
            <p:nvPr/>
          </p:nvSpPr>
          <p:spPr bwMode="auto">
            <a:xfrm>
              <a:off x="2026124" y="2348073"/>
              <a:ext cx="704522" cy="63868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40993" name="AutoShape 33"/>
            <p:cNvSpPr>
              <a:spLocks noChangeShapeType="1"/>
            </p:cNvSpPr>
            <p:nvPr/>
          </p:nvSpPr>
          <p:spPr bwMode="auto">
            <a:xfrm>
              <a:off x="1074494" y="3302157"/>
              <a:ext cx="663775" cy="599259"/>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40992" name="AutoShape 32"/>
            <p:cNvSpPr>
              <a:spLocks noChangeShapeType="1"/>
            </p:cNvSpPr>
            <p:nvPr/>
          </p:nvSpPr>
          <p:spPr bwMode="auto">
            <a:xfrm>
              <a:off x="1882854" y="3367865"/>
              <a:ext cx="1314" cy="467843"/>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40991" name="AutoShape 31"/>
            <p:cNvSpPr>
              <a:spLocks noChangeShapeType="1"/>
            </p:cNvSpPr>
            <p:nvPr/>
          </p:nvSpPr>
          <p:spPr bwMode="auto">
            <a:xfrm flipH="1">
              <a:off x="2026124" y="3302157"/>
              <a:ext cx="704522" cy="599259"/>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40990" name="AutoShape 30"/>
            <p:cNvSpPr>
              <a:spLocks noChangeShapeType="1"/>
            </p:cNvSpPr>
            <p:nvPr/>
          </p:nvSpPr>
          <p:spPr bwMode="auto">
            <a:xfrm flipH="1">
              <a:off x="2086587" y="3144457"/>
              <a:ext cx="583596" cy="131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40989" name="Text Box 29"/>
            <p:cNvSpPr txBox="1">
              <a:spLocks noChangeArrowheads="1"/>
            </p:cNvSpPr>
            <p:nvPr/>
          </p:nvSpPr>
          <p:spPr bwMode="auto">
            <a:xfrm>
              <a:off x="939176" y="4415254"/>
              <a:ext cx="1633807"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一个剩余网络</a:t>
              </a:r>
              <a:endParaRPr kumimoji="0" lang="zh-CN" altLang="en-US"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grpSp>
      <p:grpSp>
        <p:nvGrpSpPr>
          <p:cNvPr id="57" name="组合 56"/>
          <p:cNvGrpSpPr/>
          <p:nvPr/>
        </p:nvGrpSpPr>
        <p:grpSpPr>
          <a:xfrm>
            <a:off x="6504179" y="1537745"/>
            <a:ext cx="2354101" cy="3605767"/>
            <a:chOff x="4837639" y="1153497"/>
            <a:chExt cx="2354101" cy="3605767"/>
          </a:xfrm>
        </p:grpSpPr>
        <p:sp>
          <p:nvSpPr>
            <p:cNvPr id="40988" name="Text Box 28"/>
            <p:cNvSpPr txBox="1">
              <a:spLocks noChangeArrowheads="1"/>
            </p:cNvSpPr>
            <p:nvPr/>
          </p:nvSpPr>
          <p:spPr bwMode="auto">
            <a:xfrm>
              <a:off x="5827387" y="3421746"/>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0987" name="Text Box 27"/>
            <p:cNvSpPr txBox="1">
              <a:spLocks noChangeArrowheads="1"/>
            </p:cNvSpPr>
            <p:nvPr/>
          </p:nvSpPr>
          <p:spPr bwMode="auto">
            <a:xfrm>
              <a:off x="5790584" y="2530742"/>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0986" name="Text Box 26"/>
            <p:cNvSpPr txBox="1">
              <a:spLocks noChangeArrowheads="1"/>
            </p:cNvSpPr>
            <p:nvPr/>
          </p:nvSpPr>
          <p:spPr bwMode="auto">
            <a:xfrm>
              <a:off x="6095526" y="1604256"/>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0985" name="Text Box 25"/>
            <p:cNvSpPr txBox="1">
              <a:spLocks noChangeArrowheads="1"/>
            </p:cNvSpPr>
            <p:nvPr/>
          </p:nvSpPr>
          <p:spPr bwMode="auto">
            <a:xfrm>
              <a:off x="6556882" y="2398011"/>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0984" name="Text Box 24"/>
            <p:cNvSpPr txBox="1">
              <a:spLocks noChangeArrowheads="1"/>
            </p:cNvSpPr>
            <p:nvPr/>
          </p:nvSpPr>
          <p:spPr bwMode="auto">
            <a:xfrm>
              <a:off x="5295052" y="3492711"/>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0983" name="Text Box 23"/>
            <p:cNvSpPr txBox="1">
              <a:spLocks noChangeArrowheads="1"/>
            </p:cNvSpPr>
            <p:nvPr/>
          </p:nvSpPr>
          <p:spPr bwMode="auto">
            <a:xfrm>
              <a:off x="5354201" y="2398011"/>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0982" name="Text Box 22"/>
            <p:cNvSpPr txBox="1">
              <a:spLocks noChangeArrowheads="1"/>
            </p:cNvSpPr>
            <p:nvPr/>
          </p:nvSpPr>
          <p:spPr bwMode="auto">
            <a:xfrm>
              <a:off x="6410983" y="2830372"/>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0981" name="Oval 21"/>
            <p:cNvSpPr>
              <a:spLocks noChangeArrowheads="1"/>
            </p:cNvSpPr>
            <p:nvPr/>
          </p:nvSpPr>
          <p:spPr bwMode="auto">
            <a:xfrm>
              <a:off x="5790584" y="1153497"/>
              <a:ext cx="411409" cy="448130"/>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0</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0980" name="Oval 20"/>
            <p:cNvSpPr>
              <a:spLocks noChangeArrowheads="1"/>
            </p:cNvSpPr>
            <p:nvPr/>
          </p:nvSpPr>
          <p:spPr bwMode="auto">
            <a:xfrm>
              <a:off x="4837639" y="2905279"/>
              <a:ext cx="410095" cy="44681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0979" name="Oval 19"/>
            <p:cNvSpPr>
              <a:spLocks noChangeArrowheads="1"/>
            </p:cNvSpPr>
            <p:nvPr/>
          </p:nvSpPr>
          <p:spPr bwMode="auto">
            <a:xfrm>
              <a:off x="5790584" y="2905279"/>
              <a:ext cx="408780" cy="44681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0978" name="Oval 18"/>
            <p:cNvSpPr>
              <a:spLocks noChangeArrowheads="1"/>
            </p:cNvSpPr>
            <p:nvPr/>
          </p:nvSpPr>
          <p:spPr bwMode="auto">
            <a:xfrm>
              <a:off x="6782960" y="2905279"/>
              <a:ext cx="408780" cy="44681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0977" name="Oval 17"/>
            <p:cNvSpPr>
              <a:spLocks noChangeArrowheads="1"/>
            </p:cNvSpPr>
            <p:nvPr/>
          </p:nvSpPr>
          <p:spPr bwMode="auto">
            <a:xfrm>
              <a:off x="5790584" y="1951195"/>
              <a:ext cx="408780" cy="44681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0976" name="Oval 16"/>
            <p:cNvSpPr>
              <a:spLocks noChangeArrowheads="1"/>
            </p:cNvSpPr>
            <p:nvPr/>
          </p:nvSpPr>
          <p:spPr bwMode="auto">
            <a:xfrm>
              <a:off x="5790584" y="3819938"/>
              <a:ext cx="408780" cy="446816"/>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5</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0975" name="AutoShape 15"/>
            <p:cNvSpPr>
              <a:spLocks noChangeShapeType="1"/>
            </p:cNvSpPr>
            <p:nvPr/>
          </p:nvSpPr>
          <p:spPr bwMode="auto">
            <a:xfrm flipH="1">
              <a:off x="5995631" y="1601628"/>
              <a:ext cx="1314" cy="349568"/>
            </a:xfrm>
            <a:prstGeom prst="straightConnector1">
              <a:avLst/>
            </a:prstGeom>
            <a:noFill/>
            <a:ln w="19050">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40974" name="AutoShape 14"/>
            <p:cNvSpPr>
              <a:spLocks noChangeShapeType="1"/>
            </p:cNvSpPr>
            <p:nvPr/>
          </p:nvSpPr>
          <p:spPr bwMode="auto">
            <a:xfrm flipH="1">
              <a:off x="5187271" y="2332303"/>
              <a:ext cx="663775" cy="63868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40973" name="AutoShape 13"/>
            <p:cNvSpPr>
              <a:spLocks noChangeShapeType="1"/>
            </p:cNvSpPr>
            <p:nvPr/>
          </p:nvSpPr>
          <p:spPr bwMode="auto">
            <a:xfrm>
              <a:off x="5995631" y="2398011"/>
              <a:ext cx="1314" cy="507268"/>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40972" name="AutoShape 12"/>
            <p:cNvSpPr>
              <a:spLocks noChangeShapeType="1"/>
            </p:cNvSpPr>
            <p:nvPr/>
          </p:nvSpPr>
          <p:spPr bwMode="auto">
            <a:xfrm>
              <a:off x="6138901" y="2332303"/>
              <a:ext cx="704522" cy="638684"/>
            </a:xfrm>
            <a:prstGeom prst="straightConnector1">
              <a:avLst/>
            </a:prstGeom>
            <a:noFill/>
            <a:ln w="19050">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40971" name="AutoShape 11"/>
            <p:cNvSpPr>
              <a:spLocks noChangeShapeType="1"/>
            </p:cNvSpPr>
            <p:nvPr/>
          </p:nvSpPr>
          <p:spPr bwMode="auto">
            <a:xfrm>
              <a:off x="5187271" y="3286387"/>
              <a:ext cx="663775" cy="599259"/>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40970" name="AutoShape 10"/>
            <p:cNvSpPr>
              <a:spLocks noChangeShapeType="1"/>
            </p:cNvSpPr>
            <p:nvPr/>
          </p:nvSpPr>
          <p:spPr bwMode="auto">
            <a:xfrm>
              <a:off x="5995631" y="3352095"/>
              <a:ext cx="1314" cy="467843"/>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40969" name="AutoShape 9"/>
            <p:cNvSpPr>
              <a:spLocks noChangeShapeType="1"/>
            </p:cNvSpPr>
            <p:nvPr/>
          </p:nvSpPr>
          <p:spPr bwMode="auto">
            <a:xfrm flipH="1">
              <a:off x="6199364" y="3128687"/>
              <a:ext cx="583596" cy="131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40968" name="Text Box 8"/>
            <p:cNvSpPr txBox="1">
              <a:spLocks noChangeArrowheads="1"/>
            </p:cNvSpPr>
            <p:nvPr/>
          </p:nvSpPr>
          <p:spPr bwMode="auto">
            <a:xfrm>
              <a:off x="5620104" y="4429132"/>
              <a:ext cx="1299487" cy="330132"/>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增广操作</a:t>
              </a:r>
              <a:endParaRPr kumimoji="0" lang="zh-CN" altLang="en-US"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0967" name="Freeform 7"/>
            <p:cNvSpPr>
              <a:spLocks/>
            </p:cNvSpPr>
            <p:nvPr/>
          </p:nvSpPr>
          <p:spPr bwMode="auto">
            <a:xfrm>
              <a:off x="6201993" y="3344210"/>
              <a:ext cx="789958" cy="646569"/>
            </a:xfrm>
            <a:custGeom>
              <a:avLst/>
              <a:gdLst/>
              <a:ahLst/>
              <a:cxnLst>
                <a:cxn ang="0">
                  <a:pos x="0" y="484"/>
                </a:cxn>
                <a:cxn ang="0">
                  <a:pos x="270" y="467"/>
                </a:cxn>
                <a:cxn ang="0">
                  <a:pos x="514" y="335"/>
                </a:cxn>
                <a:cxn ang="0">
                  <a:pos x="601" y="0"/>
                </a:cxn>
              </a:cxnLst>
              <a:rect l="0" t="0" r="r" b="b"/>
              <a:pathLst>
                <a:path w="601" h="492">
                  <a:moveTo>
                    <a:pt x="0" y="484"/>
                  </a:moveTo>
                  <a:cubicBezTo>
                    <a:pt x="92" y="488"/>
                    <a:pt x="184" y="492"/>
                    <a:pt x="270" y="467"/>
                  </a:cubicBezTo>
                  <a:cubicBezTo>
                    <a:pt x="356" y="442"/>
                    <a:pt x="459" y="413"/>
                    <a:pt x="514" y="335"/>
                  </a:cubicBezTo>
                  <a:cubicBezTo>
                    <a:pt x="569" y="257"/>
                    <a:pt x="585" y="128"/>
                    <a:pt x="601" y="0"/>
                  </a:cubicBezTo>
                </a:path>
              </a:pathLst>
            </a:custGeom>
            <a:noFill/>
            <a:ln w="19050">
              <a:solidFill>
                <a:srgbClr val="006600"/>
              </a:solidFill>
              <a:prstDash val="dash"/>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40966" name="Text Box 6"/>
            <p:cNvSpPr txBox="1">
              <a:spLocks noChangeArrowheads="1"/>
            </p:cNvSpPr>
            <p:nvPr/>
          </p:nvSpPr>
          <p:spPr bwMode="auto">
            <a:xfrm>
              <a:off x="6924916" y="3721375"/>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6600"/>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6600"/>
                </a:solidFill>
                <a:effectLst/>
                <a:latin typeface="Consolas" pitchFamily="49" charset="0"/>
                <a:ea typeface="仿宋" pitchFamily="49" charset="-122"/>
                <a:cs typeface="宋体" pitchFamily="2" charset="-122"/>
              </a:endParaRPr>
            </a:p>
          </p:txBody>
        </p:sp>
        <p:sp>
          <p:nvSpPr>
            <p:cNvPr id="40965" name="Freeform 5"/>
            <p:cNvSpPr>
              <a:spLocks/>
            </p:cNvSpPr>
            <p:nvPr/>
          </p:nvSpPr>
          <p:spPr bwMode="auto">
            <a:xfrm>
              <a:off x="6201993" y="2135178"/>
              <a:ext cx="807045" cy="770101"/>
            </a:xfrm>
            <a:custGeom>
              <a:avLst/>
              <a:gdLst/>
              <a:ahLst/>
              <a:cxnLst>
                <a:cxn ang="0">
                  <a:pos x="601" y="586"/>
                </a:cxn>
                <a:cxn ang="0">
                  <a:pos x="514" y="194"/>
                </a:cxn>
                <a:cxn ang="0">
                  <a:pos x="0" y="0"/>
                </a:cxn>
              </a:cxnLst>
              <a:rect l="0" t="0" r="r" b="b"/>
              <a:pathLst>
                <a:path w="614" h="586">
                  <a:moveTo>
                    <a:pt x="601" y="586"/>
                  </a:moveTo>
                  <a:cubicBezTo>
                    <a:pt x="607" y="439"/>
                    <a:pt x="614" y="292"/>
                    <a:pt x="514" y="194"/>
                  </a:cubicBezTo>
                  <a:cubicBezTo>
                    <a:pt x="414" y="96"/>
                    <a:pt x="207" y="48"/>
                    <a:pt x="0" y="0"/>
                  </a:cubicBezTo>
                </a:path>
              </a:pathLst>
            </a:custGeom>
            <a:noFill/>
            <a:ln w="19050">
              <a:solidFill>
                <a:srgbClr val="006600"/>
              </a:solidFill>
              <a:prstDash val="dash"/>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40964" name="Text Box 4"/>
            <p:cNvSpPr txBox="1">
              <a:spLocks noChangeArrowheads="1"/>
            </p:cNvSpPr>
            <p:nvPr/>
          </p:nvSpPr>
          <p:spPr bwMode="auto">
            <a:xfrm>
              <a:off x="6919658" y="2133864"/>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6600"/>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6600"/>
                </a:solidFill>
                <a:effectLst/>
                <a:latin typeface="Consolas" pitchFamily="49" charset="0"/>
                <a:ea typeface="仿宋" pitchFamily="49" charset="-122"/>
                <a:cs typeface="宋体" pitchFamily="2" charset="-122"/>
              </a:endParaRPr>
            </a:p>
          </p:txBody>
        </p:sp>
        <p:sp>
          <p:nvSpPr>
            <p:cNvPr id="40963" name="Freeform 3"/>
            <p:cNvSpPr>
              <a:spLocks/>
            </p:cNvSpPr>
            <p:nvPr/>
          </p:nvSpPr>
          <p:spPr bwMode="auto">
            <a:xfrm>
              <a:off x="5702518" y="1403189"/>
              <a:ext cx="151157" cy="592688"/>
            </a:xfrm>
            <a:custGeom>
              <a:avLst/>
              <a:gdLst/>
              <a:ahLst/>
              <a:cxnLst>
                <a:cxn ang="0">
                  <a:pos x="115" y="451"/>
                </a:cxn>
                <a:cxn ang="0">
                  <a:pos x="18" y="321"/>
                </a:cxn>
                <a:cxn ang="0">
                  <a:pos x="9" y="168"/>
                </a:cxn>
                <a:cxn ang="0">
                  <a:pos x="67" y="0"/>
                </a:cxn>
              </a:cxnLst>
              <a:rect l="0" t="0" r="r" b="b"/>
              <a:pathLst>
                <a:path w="115" h="451">
                  <a:moveTo>
                    <a:pt x="115" y="451"/>
                  </a:moveTo>
                  <a:cubicBezTo>
                    <a:pt x="99" y="431"/>
                    <a:pt x="36" y="368"/>
                    <a:pt x="18" y="321"/>
                  </a:cubicBezTo>
                  <a:cubicBezTo>
                    <a:pt x="0" y="274"/>
                    <a:pt x="1" y="221"/>
                    <a:pt x="9" y="168"/>
                  </a:cubicBezTo>
                  <a:cubicBezTo>
                    <a:pt x="17" y="115"/>
                    <a:pt x="55" y="35"/>
                    <a:pt x="67" y="0"/>
                  </a:cubicBezTo>
                </a:path>
              </a:pathLst>
            </a:custGeom>
            <a:noFill/>
            <a:ln w="19050">
              <a:solidFill>
                <a:srgbClr val="006600"/>
              </a:solidFill>
              <a:prstDash val="dash"/>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40962" name="Text Box 2"/>
            <p:cNvSpPr txBox="1">
              <a:spLocks noChangeArrowheads="1"/>
            </p:cNvSpPr>
            <p:nvPr/>
          </p:nvSpPr>
          <p:spPr bwMode="auto">
            <a:xfrm>
              <a:off x="5500100" y="1620026"/>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6600"/>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6600"/>
                </a:solidFill>
                <a:effectLst/>
                <a:latin typeface="Consolas" pitchFamily="49" charset="0"/>
                <a:ea typeface="仿宋" pitchFamily="49" charset="-122"/>
                <a:cs typeface="宋体" pitchFamily="2" charset="-122"/>
              </a:endParaRPr>
            </a:p>
          </p:txBody>
        </p:sp>
      </p:grpSp>
      <p:sp>
        <p:nvSpPr>
          <p:cNvPr id="58" name="TextBox 57"/>
          <p:cNvSpPr txBox="1"/>
          <p:nvPr/>
        </p:nvSpPr>
        <p:spPr>
          <a:xfrm>
            <a:off x="357158" y="467005"/>
            <a:ext cx="714380" cy="461665"/>
          </a:xfrm>
          <a:prstGeom prst="rect">
            <a:avLst/>
          </a:prstGeom>
          <a:solidFill>
            <a:schemeClr val="accent5">
              <a:lumMod val="20000"/>
              <a:lumOff val="80000"/>
            </a:schemeClr>
          </a:solidFill>
          <a:ln/>
          <a:effectLst>
            <a:outerShdw blurRad="76200" dir="13500000" sy="23000" kx="1200000" algn="br" rotWithShape="0">
              <a:prstClr val="black">
                <a:alpha val="20000"/>
              </a:prstClr>
            </a:outerShdw>
          </a:effectLst>
        </p:spPr>
        <p:style>
          <a:lnRef idx="3">
            <a:schemeClr val="lt1"/>
          </a:lnRef>
          <a:fillRef idx="1">
            <a:schemeClr val="dk1"/>
          </a:fillRef>
          <a:effectRef idx="1">
            <a:schemeClr val="dk1"/>
          </a:effectRef>
          <a:fontRef idx="minor">
            <a:schemeClr val="lt1"/>
          </a:fontRef>
        </p:style>
        <p:txBody>
          <a:bodyPr wrap="square" rtlCol="0">
            <a:spAutoFit/>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pPr>
              <a:lnSpc>
                <a:spcPct val="100000"/>
              </a:lnSpc>
              <a:spcBef>
                <a:spcPts val="0"/>
              </a:spcBef>
            </a:pPr>
            <a:r>
              <a:rPr lang="zh-CN" altLang="en-US">
                <a:solidFill>
                  <a:srgbClr val="FF0000"/>
                </a:solidFill>
                <a:latin typeface="Consolas" pitchFamily="49" charset="0"/>
                <a:ea typeface="微软雅黑" pitchFamily="34" charset="-122"/>
                <a:cs typeface="Consolas" pitchFamily="49" charset="0"/>
              </a:rPr>
              <a:t>解</a:t>
            </a:r>
            <a:endParaRPr lang="zh-CN" altLang="en-US">
              <a:ln w="18415" cmpd="sng">
                <a:solidFill>
                  <a:srgbClr val="FFFFFF"/>
                </a:solidFill>
                <a:prstDash val="solid"/>
              </a:ln>
              <a:solidFill>
                <a:srgbClr val="FF0000"/>
              </a:solidFill>
              <a:effectLst>
                <a:outerShdw blurRad="63500" dir="3600000" algn="tl" rotWithShape="0">
                  <a:srgbClr val="000000">
                    <a:alpha val="70000"/>
                  </a:srgbClr>
                </a:outerShdw>
              </a:effectLst>
              <a:latin typeface="Consolas" pitchFamily="49" charset="0"/>
              <a:ea typeface="微软雅黑" pitchFamily="34" charset="-122"/>
              <a:cs typeface="Consolas" pitchFamily="49" charset="0"/>
            </a:endParaRPr>
          </a:p>
        </p:txBody>
      </p:sp>
      <p:sp>
        <p:nvSpPr>
          <p:cNvPr id="59" name="TextBox 58"/>
          <p:cNvSpPr txBox="1"/>
          <p:nvPr/>
        </p:nvSpPr>
        <p:spPr>
          <a:xfrm>
            <a:off x="1214414" y="497783"/>
            <a:ext cx="1643074" cy="430887"/>
          </a:xfrm>
          <a:prstGeom prst="rect">
            <a:avLst/>
          </a:prstGeom>
          <a:noFill/>
        </p:spPr>
        <p:txBody>
          <a:bodyPr wrap="square" rtlCol="0">
            <a:spAutoFit/>
          </a:bodyPr>
          <a:lstStyle/>
          <a:p>
            <a:pPr algn="l">
              <a:lnSpc>
                <a:spcPct val="100000"/>
              </a:lnSpc>
              <a:spcBef>
                <a:spcPts val="0"/>
              </a:spcBef>
            </a:pPr>
            <a:r>
              <a:rPr lang="zh-CN" altLang="zh-CN" sz="2200">
                <a:solidFill>
                  <a:srgbClr val="0000FF"/>
                </a:solidFill>
                <a:latin typeface="Consolas" pitchFamily="49" charset="0"/>
                <a:ea typeface="楷体" pitchFamily="49" charset="-122"/>
              </a:rPr>
              <a:t>第</a:t>
            </a:r>
            <a:r>
              <a:rPr lang="en-US" altLang="zh-CN" sz="2200">
                <a:solidFill>
                  <a:srgbClr val="0000FF"/>
                </a:solidFill>
                <a:latin typeface="Consolas" pitchFamily="49" charset="0"/>
                <a:ea typeface="楷体" pitchFamily="49" charset="-122"/>
              </a:rPr>
              <a:t>1</a:t>
            </a:r>
            <a:r>
              <a:rPr lang="zh-CN" altLang="zh-CN" sz="2200">
                <a:solidFill>
                  <a:srgbClr val="0000FF"/>
                </a:solidFill>
                <a:latin typeface="Consolas" pitchFamily="49" charset="0"/>
                <a:ea typeface="楷体" pitchFamily="49" charset="-122"/>
              </a:rPr>
              <a:t>次迭代</a:t>
            </a:r>
            <a:endParaRPr lang="zh-CN" altLang="en-US" sz="2200">
              <a:solidFill>
                <a:srgbClr val="0000FF"/>
              </a:solidFill>
              <a:latin typeface="Consolas" pitchFamily="49" charset="0"/>
              <a:ea typeface="楷体" pitchFamily="49" charset="-122"/>
              <a:cs typeface="Consolas" pitchFamily="49" charset="0"/>
            </a:endParaRPr>
          </a:p>
        </p:txBody>
      </p:sp>
      <p:grpSp>
        <p:nvGrpSpPr>
          <p:cNvPr id="60" name="组合 59"/>
          <p:cNvGrpSpPr/>
          <p:nvPr/>
        </p:nvGrpSpPr>
        <p:grpSpPr>
          <a:xfrm>
            <a:off x="3432345" y="1549035"/>
            <a:ext cx="2711290" cy="3545617"/>
            <a:chOff x="724862" y="1169267"/>
            <a:chExt cx="2711290" cy="3545617"/>
          </a:xfrm>
        </p:grpSpPr>
        <p:sp>
          <p:nvSpPr>
            <p:cNvPr id="61" name="Text Box 51"/>
            <p:cNvSpPr txBox="1">
              <a:spLocks noChangeArrowheads="1"/>
            </p:cNvSpPr>
            <p:nvPr/>
          </p:nvSpPr>
          <p:spPr bwMode="auto">
            <a:xfrm>
              <a:off x="1714610" y="3437516"/>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62" name="Text Box 50"/>
            <p:cNvSpPr txBox="1">
              <a:spLocks noChangeArrowheads="1"/>
            </p:cNvSpPr>
            <p:nvPr/>
          </p:nvSpPr>
          <p:spPr bwMode="auto">
            <a:xfrm>
              <a:off x="1677807" y="2546512"/>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63" name="Text Box 49"/>
            <p:cNvSpPr txBox="1">
              <a:spLocks noChangeArrowheads="1"/>
            </p:cNvSpPr>
            <p:nvPr/>
          </p:nvSpPr>
          <p:spPr bwMode="auto">
            <a:xfrm>
              <a:off x="1982749" y="1620026"/>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5</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64" name="Text Box 48"/>
            <p:cNvSpPr txBox="1">
              <a:spLocks noChangeArrowheads="1"/>
            </p:cNvSpPr>
            <p:nvPr/>
          </p:nvSpPr>
          <p:spPr bwMode="auto">
            <a:xfrm>
              <a:off x="2444105" y="2413781"/>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65" name="Text Box 47"/>
            <p:cNvSpPr txBox="1">
              <a:spLocks noChangeArrowheads="1"/>
            </p:cNvSpPr>
            <p:nvPr/>
          </p:nvSpPr>
          <p:spPr bwMode="auto">
            <a:xfrm>
              <a:off x="1182276" y="3508481"/>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66" name="Text Box 46"/>
            <p:cNvSpPr txBox="1">
              <a:spLocks noChangeArrowheads="1"/>
            </p:cNvSpPr>
            <p:nvPr/>
          </p:nvSpPr>
          <p:spPr bwMode="auto">
            <a:xfrm>
              <a:off x="1241424" y="2413781"/>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67" name="Text Box 45"/>
            <p:cNvSpPr txBox="1">
              <a:spLocks noChangeArrowheads="1"/>
            </p:cNvSpPr>
            <p:nvPr/>
          </p:nvSpPr>
          <p:spPr bwMode="auto">
            <a:xfrm>
              <a:off x="2298206" y="2846142"/>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68" name="Text Box 44"/>
            <p:cNvSpPr txBox="1">
              <a:spLocks noChangeArrowheads="1"/>
            </p:cNvSpPr>
            <p:nvPr/>
          </p:nvSpPr>
          <p:spPr bwMode="auto">
            <a:xfrm>
              <a:off x="2379700" y="3559733"/>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69" name="Oval 43"/>
            <p:cNvSpPr>
              <a:spLocks noChangeArrowheads="1"/>
            </p:cNvSpPr>
            <p:nvPr/>
          </p:nvSpPr>
          <p:spPr bwMode="auto">
            <a:xfrm>
              <a:off x="1677807" y="1169267"/>
              <a:ext cx="411409" cy="448130"/>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0</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70" name="Oval 42"/>
            <p:cNvSpPr>
              <a:spLocks noChangeArrowheads="1"/>
            </p:cNvSpPr>
            <p:nvPr/>
          </p:nvSpPr>
          <p:spPr bwMode="auto">
            <a:xfrm>
              <a:off x="724862" y="2921049"/>
              <a:ext cx="410095" cy="44681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71" name="Oval 41"/>
            <p:cNvSpPr>
              <a:spLocks noChangeArrowheads="1"/>
            </p:cNvSpPr>
            <p:nvPr/>
          </p:nvSpPr>
          <p:spPr bwMode="auto">
            <a:xfrm>
              <a:off x="1677807" y="2921049"/>
              <a:ext cx="408780" cy="44681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72" name="Oval 40"/>
            <p:cNvSpPr>
              <a:spLocks noChangeArrowheads="1"/>
            </p:cNvSpPr>
            <p:nvPr/>
          </p:nvSpPr>
          <p:spPr bwMode="auto">
            <a:xfrm>
              <a:off x="2670183" y="2921049"/>
              <a:ext cx="408780" cy="44681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73" name="Oval 39"/>
            <p:cNvSpPr>
              <a:spLocks noChangeArrowheads="1"/>
            </p:cNvSpPr>
            <p:nvPr/>
          </p:nvSpPr>
          <p:spPr bwMode="auto">
            <a:xfrm>
              <a:off x="1677807" y="1966965"/>
              <a:ext cx="408780" cy="44681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74" name="Oval 38"/>
            <p:cNvSpPr>
              <a:spLocks noChangeArrowheads="1"/>
            </p:cNvSpPr>
            <p:nvPr/>
          </p:nvSpPr>
          <p:spPr bwMode="auto">
            <a:xfrm>
              <a:off x="1677807" y="3835708"/>
              <a:ext cx="408780" cy="446816"/>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5</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75" name="AutoShape 37"/>
            <p:cNvSpPr>
              <a:spLocks noChangeShapeType="1"/>
            </p:cNvSpPr>
            <p:nvPr/>
          </p:nvSpPr>
          <p:spPr bwMode="auto">
            <a:xfrm flipH="1">
              <a:off x="1882854" y="1617398"/>
              <a:ext cx="1314" cy="349568"/>
            </a:xfrm>
            <a:prstGeom prst="straightConnector1">
              <a:avLst/>
            </a:prstGeom>
            <a:noFill/>
            <a:ln w="19050">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76" name="AutoShape 36"/>
            <p:cNvSpPr>
              <a:spLocks noChangeShapeType="1"/>
            </p:cNvSpPr>
            <p:nvPr/>
          </p:nvSpPr>
          <p:spPr bwMode="auto">
            <a:xfrm flipH="1">
              <a:off x="1074494" y="2348073"/>
              <a:ext cx="663775" cy="63868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77" name="AutoShape 35"/>
            <p:cNvSpPr>
              <a:spLocks noChangeShapeType="1"/>
            </p:cNvSpPr>
            <p:nvPr/>
          </p:nvSpPr>
          <p:spPr bwMode="auto">
            <a:xfrm>
              <a:off x="1882854" y="2413781"/>
              <a:ext cx="1314" cy="507268"/>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78" name="AutoShape 34"/>
            <p:cNvSpPr>
              <a:spLocks noChangeShapeType="1"/>
            </p:cNvSpPr>
            <p:nvPr/>
          </p:nvSpPr>
          <p:spPr bwMode="auto">
            <a:xfrm>
              <a:off x="2026124" y="2348073"/>
              <a:ext cx="704522" cy="638684"/>
            </a:xfrm>
            <a:prstGeom prst="straightConnector1">
              <a:avLst/>
            </a:prstGeom>
            <a:noFill/>
            <a:ln w="19050">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79" name="AutoShape 33"/>
            <p:cNvSpPr>
              <a:spLocks noChangeShapeType="1"/>
            </p:cNvSpPr>
            <p:nvPr/>
          </p:nvSpPr>
          <p:spPr bwMode="auto">
            <a:xfrm>
              <a:off x="1074494" y="3302157"/>
              <a:ext cx="663775" cy="599259"/>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80" name="AutoShape 32"/>
            <p:cNvSpPr>
              <a:spLocks noChangeShapeType="1"/>
            </p:cNvSpPr>
            <p:nvPr/>
          </p:nvSpPr>
          <p:spPr bwMode="auto">
            <a:xfrm>
              <a:off x="1882854" y="3367865"/>
              <a:ext cx="1314" cy="467843"/>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81" name="AutoShape 31"/>
            <p:cNvSpPr>
              <a:spLocks noChangeShapeType="1"/>
            </p:cNvSpPr>
            <p:nvPr/>
          </p:nvSpPr>
          <p:spPr bwMode="auto">
            <a:xfrm flipH="1">
              <a:off x="2026124" y="3302157"/>
              <a:ext cx="704522" cy="599259"/>
            </a:xfrm>
            <a:prstGeom prst="straightConnector1">
              <a:avLst/>
            </a:prstGeom>
            <a:noFill/>
            <a:ln w="19050">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82" name="AutoShape 30"/>
            <p:cNvSpPr>
              <a:spLocks noChangeShapeType="1"/>
            </p:cNvSpPr>
            <p:nvPr/>
          </p:nvSpPr>
          <p:spPr bwMode="auto">
            <a:xfrm flipH="1">
              <a:off x="2086587" y="3144457"/>
              <a:ext cx="583596" cy="131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83" name="Text Box 29"/>
            <p:cNvSpPr txBox="1">
              <a:spLocks noChangeArrowheads="1"/>
            </p:cNvSpPr>
            <p:nvPr/>
          </p:nvSpPr>
          <p:spPr bwMode="auto">
            <a:xfrm>
              <a:off x="792947" y="4415254"/>
              <a:ext cx="2643205"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lvl="0">
                <a:lnSpc>
                  <a:spcPct val="100000"/>
                </a:lnSpc>
                <a:spcBef>
                  <a:spcPct val="0"/>
                </a:spcBef>
              </a:pPr>
              <a:r>
                <a:rPr kumimoji="0" lang="zh-CN" altLang="en-US" sz="2000" b="0">
                  <a:solidFill>
                    <a:srgbClr val="0000FF"/>
                  </a:solidFill>
                  <a:latin typeface="Consolas" pitchFamily="49" charset="0"/>
                  <a:ea typeface="仿宋" pitchFamily="49" charset="-122"/>
                  <a:cs typeface="Times New Roman" pitchFamily="18" charset="0"/>
                </a:rPr>
                <a:t>找到第一条增广路径</a:t>
              </a:r>
              <a:endParaRPr kumimoji="0" lang="zh-CN" altLang="en-US"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grpSp>
      <p:sp>
        <p:nvSpPr>
          <p:cNvPr id="84" name="右箭头 83"/>
          <p:cNvSpPr/>
          <p:nvPr/>
        </p:nvSpPr>
        <p:spPr>
          <a:xfrm>
            <a:off x="2786050" y="3297413"/>
            <a:ext cx="428628" cy="285752"/>
          </a:xfrm>
          <a:prstGeom prst="right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85" name="右箭头 84"/>
          <p:cNvSpPr/>
          <p:nvPr/>
        </p:nvSpPr>
        <p:spPr>
          <a:xfrm>
            <a:off x="5933203" y="3297413"/>
            <a:ext cx="428628" cy="285752"/>
          </a:xfrm>
          <a:prstGeom prst="right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87" name="灯片编号占位符 86"/>
          <p:cNvSpPr>
            <a:spLocks noGrp="1"/>
          </p:cNvSpPr>
          <p:nvPr>
            <p:ph type="sldNum" sz="quarter" idx="12"/>
          </p:nvPr>
        </p:nvSpPr>
        <p:spPr/>
        <p:txBody>
          <a:bodyPr/>
          <a:lstStyle/>
          <a:p>
            <a:fld id="{7AF016A1-9F15-429F-9EFD-84004B73C732}" type="slidenum">
              <a:rPr lang="en-US" altLang="zh-CN" smtClean="0"/>
              <a:pPr/>
              <a:t>111</a:t>
            </a:fld>
            <a:r>
              <a:rPr lang="en-US" altLang="zh-CN"/>
              <a:t>/158</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285852" y="1510687"/>
            <a:ext cx="2571768" cy="3704263"/>
            <a:chOff x="4837639" y="1153497"/>
            <a:chExt cx="2571768" cy="3704263"/>
          </a:xfrm>
        </p:grpSpPr>
        <p:sp>
          <p:nvSpPr>
            <p:cNvPr id="4" name="Text Box 28"/>
            <p:cNvSpPr txBox="1">
              <a:spLocks noChangeArrowheads="1"/>
            </p:cNvSpPr>
            <p:nvPr/>
          </p:nvSpPr>
          <p:spPr bwMode="auto">
            <a:xfrm>
              <a:off x="5827387" y="3421746"/>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5" name="Text Box 27"/>
            <p:cNvSpPr txBox="1">
              <a:spLocks noChangeArrowheads="1"/>
            </p:cNvSpPr>
            <p:nvPr/>
          </p:nvSpPr>
          <p:spPr bwMode="auto">
            <a:xfrm>
              <a:off x="5790584" y="2530742"/>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6" name="Text Box 26"/>
            <p:cNvSpPr txBox="1">
              <a:spLocks noChangeArrowheads="1"/>
            </p:cNvSpPr>
            <p:nvPr/>
          </p:nvSpPr>
          <p:spPr bwMode="auto">
            <a:xfrm>
              <a:off x="6095526" y="1604256"/>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7" name="Text Box 25"/>
            <p:cNvSpPr txBox="1">
              <a:spLocks noChangeArrowheads="1"/>
            </p:cNvSpPr>
            <p:nvPr/>
          </p:nvSpPr>
          <p:spPr bwMode="auto">
            <a:xfrm>
              <a:off x="6556882" y="2398011"/>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8" name="Text Box 24"/>
            <p:cNvSpPr txBox="1">
              <a:spLocks noChangeArrowheads="1"/>
            </p:cNvSpPr>
            <p:nvPr/>
          </p:nvSpPr>
          <p:spPr bwMode="auto">
            <a:xfrm>
              <a:off x="5295052" y="3492711"/>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9" name="Text Box 23"/>
            <p:cNvSpPr txBox="1">
              <a:spLocks noChangeArrowheads="1"/>
            </p:cNvSpPr>
            <p:nvPr/>
          </p:nvSpPr>
          <p:spPr bwMode="auto">
            <a:xfrm>
              <a:off x="5354201" y="2398011"/>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0" name="Text Box 22"/>
            <p:cNvSpPr txBox="1">
              <a:spLocks noChangeArrowheads="1"/>
            </p:cNvSpPr>
            <p:nvPr/>
          </p:nvSpPr>
          <p:spPr bwMode="auto">
            <a:xfrm>
              <a:off x="6410983" y="2830372"/>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1" name="Oval 21"/>
            <p:cNvSpPr>
              <a:spLocks noChangeArrowheads="1"/>
            </p:cNvSpPr>
            <p:nvPr/>
          </p:nvSpPr>
          <p:spPr bwMode="auto">
            <a:xfrm>
              <a:off x="5790584" y="1153497"/>
              <a:ext cx="411409" cy="448130"/>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0</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2" name="Oval 20"/>
            <p:cNvSpPr>
              <a:spLocks noChangeArrowheads="1"/>
            </p:cNvSpPr>
            <p:nvPr/>
          </p:nvSpPr>
          <p:spPr bwMode="auto">
            <a:xfrm>
              <a:off x="4837639" y="2905279"/>
              <a:ext cx="410095" cy="44681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3" name="Oval 19"/>
            <p:cNvSpPr>
              <a:spLocks noChangeArrowheads="1"/>
            </p:cNvSpPr>
            <p:nvPr/>
          </p:nvSpPr>
          <p:spPr bwMode="auto">
            <a:xfrm>
              <a:off x="5790584" y="2905279"/>
              <a:ext cx="408780" cy="44681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4" name="Oval 18"/>
            <p:cNvSpPr>
              <a:spLocks noChangeArrowheads="1"/>
            </p:cNvSpPr>
            <p:nvPr/>
          </p:nvSpPr>
          <p:spPr bwMode="auto">
            <a:xfrm>
              <a:off x="6782960" y="2905279"/>
              <a:ext cx="408780" cy="44681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5" name="Oval 17"/>
            <p:cNvSpPr>
              <a:spLocks noChangeArrowheads="1"/>
            </p:cNvSpPr>
            <p:nvPr/>
          </p:nvSpPr>
          <p:spPr bwMode="auto">
            <a:xfrm>
              <a:off x="5790584" y="1951195"/>
              <a:ext cx="408780" cy="44681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6" name="Oval 16"/>
            <p:cNvSpPr>
              <a:spLocks noChangeArrowheads="1"/>
            </p:cNvSpPr>
            <p:nvPr/>
          </p:nvSpPr>
          <p:spPr bwMode="auto">
            <a:xfrm>
              <a:off x="5790584" y="3819938"/>
              <a:ext cx="408780" cy="446816"/>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5</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8" name="AutoShape 15"/>
            <p:cNvSpPr>
              <a:spLocks noChangeShapeType="1"/>
            </p:cNvSpPr>
            <p:nvPr/>
          </p:nvSpPr>
          <p:spPr bwMode="auto">
            <a:xfrm flipH="1">
              <a:off x="5995631" y="1601628"/>
              <a:ext cx="1314" cy="349568"/>
            </a:xfrm>
            <a:prstGeom prst="straightConnector1">
              <a:avLst/>
            </a:prstGeom>
            <a:noFill/>
            <a:ln w="19050">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9" name="AutoShape 14"/>
            <p:cNvSpPr>
              <a:spLocks noChangeShapeType="1"/>
            </p:cNvSpPr>
            <p:nvPr/>
          </p:nvSpPr>
          <p:spPr bwMode="auto">
            <a:xfrm flipH="1">
              <a:off x="5187271" y="2332303"/>
              <a:ext cx="663775" cy="63868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20" name="AutoShape 13"/>
            <p:cNvSpPr>
              <a:spLocks noChangeShapeType="1"/>
            </p:cNvSpPr>
            <p:nvPr/>
          </p:nvSpPr>
          <p:spPr bwMode="auto">
            <a:xfrm>
              <a:off x="5995631" y="2398011"/>
              <a:ext cx="1314" cy="507268"/>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21" name="AutoShape 12"/>
            <p:cNvSpPr>
              <a:spLocks noChangeShapeType="1"/>
            </p:cNvSpPr>
            <p:nvPr/>
          </p:nvSpPr>
          <p:spPr bwMode="auto">
            <a:xfrm>
              <a:off x="6138901" y="2332303"/>
              <a:ext cx="704522" cy="638684"/>
            </a:xfrm>
            <a:prstGeom prst="straightConnector1">
              <a:avLst/>
            </a:prstGeom>
            <a:noFill/>
            <a:ln w="19050">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22" name="AutoShape 11"/>
            <p:cNvSpPr>
              <a:spLocks noChangeShapeType="1"/>
            </p:cNvSpPr>
            <p:nvPr/>
          </p:nvSpPr>
          <p:spPr bwMode="auto">
            <a:xfrm>
              <a:off x="5187271" y="3286387"/>
              <a:ext cx="663775" cy="599259"/>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23" name="AutoShape 10"/>
            <p:cNvSpPr>
              <a:spLocks noChangeShapeType="1"/>
            </p:cNvSpPr>
            <p:nvPr/>
          </p:nvSpPr>
          <p:spPr bwMode="auto">
            <a:xfrm>
              <a:off x="5995631" y="3352095"/>
              <a:ext cx="1314" cy="467843"/>
            </a:xfrm>
            <a:prstGeom prst="straightConnector1">
              <a:avLst/>
            </a:prstGeom>
            <a:noFill/>
            <a:ln w="19050">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24" name="AutoShape 9"/>
            <p:cNvSpPr>
              <a:spLocks noChangeShapeType="1"/>
            </p:cNvSpPr>
            <p:nvPr/>
          </p:nvSpPr>
          <p:spPr bwMode="auto">
            <a:xfrm flipH="1">
              <a:off x="6199364" y="3128687"/>
              <a:ext cx="583596" cy="1314"/>
            </a:xfrm>
            <a:prstGeom prst="straightConnector1">
              <a:avLst/>
            </a:prstGeom>
            <a:noFill/>
            <a:ln w="19050">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25" name="Text Box 8"/>
            <p:cNvSpPr txBox="1">
              <a:spLocks noChangeArrowheads="1"/>
            </p:cNvSpPr>
            <p:nvPr/>
          </p:nvSpPr>
          <p:spPr bwMode="auto">
            <a:xfrm>
              <a:off x="4892121" y="4429132"/>
              <a:ext cx="2517286" cy="428628"/>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找到第</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r>
                <a:rPr kumimoji="0" lang="zh-CN" altLang="en-US"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条增广路径</a:t>
              </a:r>
              <a:endParaRPr kumimoji="0" lang="zh-CN" altLang="en-US"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26" name="Freeform 7"/>
            <p:cNvSpPr>
              <a:spLocks/>
            </p:cNvSpPr>
            <p:nvPr/>
          </p:nvSpPr>
          <p:spPr bwMode="auto">
            <a:xfrm>
              <a:off x="6201993" y="3344210"/>
              <a:ext cx="789958" cy="646569"/>
            </a:xfrm>
            <a:custGeom>
              <a:avLst/>
              <a:gdLst/>
              <a:ahLst/>
              <a:cxnLst>
                <a:cxn ang="0">
                  <a:pos x="0" y="484"/>
                </a:cxn>
                <a:cxn ang="0">
                  <a:pos x="270" y="467"/>
                </a:cxn>
                <a:cxn ang="0">
                  <a:pos x="514" y="335"/>
                </a:cxn>
                <a:cxn ang="0">
                  <a:pos x="601" y="0"/>
                </a:cxn>
              </a:cxnLst>
              <a:rect l="0" t="0" r="r" b="b"/>
              <a:pathLst>
                <a:path w="601" h="492">
                  <a:moveTo>
                    <a:pt x="0" y="484"/>
                  </a:moveTo>
                  <a:cubicBezTo>
                    <a:pt x="92" y="488"/>
                    <a:pt x="184" y="492"/>
                    <a:pt x="270" y="467"/>
                  </a:cubicBezTo>
                  <a:cubicBezTo>
                    <a:pt x="356" y="442"/>
                    <a:pt x="459" y="413"/>
                    <a:pt x="514" y="335"/>
                  </a:cubicBezTo>
                  <a:cubicBezTo>
                    <a:pt x="569" y="257"/>
                    <a:pt x="585" y="128"/>
                    <a:pt x="601" y="0"/>
                  </a:cubicBezTo>
                </a:path>
              </a:pathLst>
            </a:custGeom>
            <a:noFill/>
            <a:ln w="19050">
              <a:solidFill>
                <a:srgbClr val="006600"/>
              </a:solidFill>
              <a:prstDash val="dash"/>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27" name="Text Box 6"/>
            <p:cNvSpPr txBox="1">
              <a:spLocks noChangeArrowheads="1"/>
            </p:cNvSpPr>
            <p:nvPr/>
          </p:nvSpPr>
          <p:spPr bwMode="auto">
            <a:xfrm>
              <a:off x="6924916" y="3721375"/>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6600"/>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6600"/>
                </a:solidFill>
                <a:effectLst/>
                <a:latin typeface="Consolas" pitchFamily="49" charset="0"/>
                <a:ea typeface="仿宋" pitchFamily="49" charset="-122"/>
                <a:cs typeface="宋体" pitchFamily="2" charset="-122"/>
              </a:endParaRPr>
            </a:p>
          </p:txBody>
        </p:sp>
        <p:sp>
          <p:nvSpPr>
            <p:cNvPr id="28" name="Freeform 5"/>
            <p:cNvSpPr>
              <a:spLocks/>
            </p:cNvSpPr>
            <p:nvPr/>
          </p:nvSpPr>
          <p:spPr bwMode="auto">
            <a:xfrm>
              <a:off x="6201993" y="2135178"/>
              <a:ext cx="807045" cy="770101"/>
            </a:xfrm>
            <a:custGeom>
              <a:avLst/>
              <a:gdLst/>
              <a:ahLst/>
              <a:cxnLst>
                <a:cxn ang="0">
                  <a:pos x="601" y="586"/>
                </a:cxn>
                <a:cxn ang="0">
                  <a:pos x="514" y="194"/>
                </a:cxn>
                <a:cxn ang="0">
                  <a:pos x="0" y="0"/>
                </a:cxn>
              </a:cxnLst>
              <a:rect l="0" t="0" r="r" b="b"/>
              <a:pathLst>
                <a:path w="614" h="586">
                  <a:moveTo>
                    <a:pt x="601" y="586"/>
                  </a:moveTo>
                  <a:cubicBezTo>
                    <a:pt x="607" y="439"/>
                    <a:pt x="614" y="292"/>
                    <a:pt x="514" y="194"/>
                  </a:cubicBezTo>
                  <a:cubicBezTo>
                    <a:pt x="414" y="96"/>
                    <a:pt x="207" y="48"/>
                    <a:pt x="0" y="0"/>
                  </a:cubicBezTo>
                </a:path>
              </a:pathLst>
            </a:custGeom>
            <a:noFill/>
            <a:ln w="19050">
              <a:solidFill>
                <a:srgbClr val="006600"/>
              </a:solidFill>
              <a:prstDash val="dash"/>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29" name="Text Box 4"/>
            <p:cNvSpPr txBox="1">
              <a:spLocks noChangeArrowheads="1"/>
            </p:cNvSpPr>
            <p:nvPr/>
          </p:nvSpPr>
          <p:spPr bwMode="auto">
            <a:xfrm>
              <a:off x="6919658" y="2133864"/>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6600"/>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6600"/>
                </a:solidFill>
                <a:effectLst/>
                <a:latin typeface="Consolas" pitchFamily="49" charset="0"/>
                <a:ea typeface="仿宋" pitchFamily="49" charset="-122"/>
                <a:cs typeface="宋体" pitchFamily="2" charset="-122"/>
              </a:endParaRPr>
            </a:p>
          </p:txBody>
        </p:sp>
        <p:sp>
          <p:nvSpPr>
            <p:cNvPr id="30" name="Freeform 3"/>
            <p:cNvSpPr>
              <a:spLocks/>
            </p:cNvSpPr>
            <p:nvPr/>
          </p:nvSpPr>
          <p:spPr bwMode="auto">
            <a:xfrm>
              <a:off x="5702518" y="1403189"/>
              <a:ext cx="151157" cy="592688"/>
            </a:xfrm>
            <a:custGeom>
              <a:avLst/>
              <a:gdLst/>
              <a:ahLst/>
              <a:cxnLst>
                <a:cxn ang="0">
                  <a:pos x="115" y="451"/>
                </a:cxn>
                <a:cxn ang="0">
                  <a:pos x="18" y="321"/>
                </a:cxn>
                <a:cxn ang="0">
                  <a:pos x="9" y="168"/>
                </a:cxn>
                <a:cxn ang="0">
                  <a:pos x="67" y="0"/>
                </a:cxn>
              </a:cxnLst>
              <a:rect l="0" t="0" r="r" b="b"/>
              <a:pathLst>
                <a:path w="115" h="451">
                  <a:moveTo>
                    <a:pt x="115" y="451"/>
                  </a:moveTo>
                  <a:cubicBezTo>
                    <a:pt x="99" y="431"/>
                    <a:pt x="36" y="368"/>
                    <a:pt x="18" y="321"/>
                  </a:cubicBezTo>
                  <a:cubicBezTo>
                    <a:pt x="0" y="274"/>
                    <a:pt x="1" y="221"/>
                    <a:pt x="9" y="168"/>
                  </a:cubicBezTo>
                  <a:cubicBezTo>
                    <a:pt x="17" y="115"/>
                    <a:pt x="55" y="35"/>
                    <a:pt x="67" y="0"/>
                  </a:cubicBezTo>
                </a:path>
              </a:pathLst>
            </a:custGeom>
            <a:noFill/>
            <a:ln w="19050">
              <a:solidFill>
                <a:srgbClr val="006600"/>
              </a:solidFill>
              <a:prstDash val="dash"/>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31" name="Text Box 2"/>
            <p:cNvSpPr txBox="1">
              <a:spLocks noChangeArrowheads="1"/>
            </p:cNvSpPr>
            <p:nvPr/>
          </p:nvSpPr>
          <p:spPr bwMode="auto">
            <a:xfrm>
              <a:off x="5500100" y="1620026"/>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6600"/>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6600"/>
                </a:solidFill>
                <a:effectLst/>
                <a:latin typeface="Consolas" pitchFamily="49" charset="0"/>
                <a:ea typeface="仿宋" pitchFamily="49" charset="-122"/>
                <a:cs typeface="宋体" pitchFamily="2" charset="-122"/>
              </a:endParaRPr>
            </a:p>
          </p:txBody>
        </p:sp>
      </p:grpSp>
      <p:grpSp>
        <p:nvGrpSpPr>
          <p:cNvPr id="66" name="组合 65"/>
          <p:cNvGrpSpPr/>
          <p:nvPr/>
        </p:nvGrpSpPr>
        <p:grpSpPr>
          <a:xfrm>
            <a:off x="4718229" y="1439249"/>
            <a:ext cx="2354101" cy="3632825"/>
            <a:chOff x="4718229" y="1439249"/>
            <a:chExt cx="2354101" cy="3632825"/>
          </a:xfrm>
        </p:grpSpPr>
        <p:sp>
          <p:nvSpPr>
            <p:cNvPr id="33" name="Text Box 28"/>
            <p:cNvSpPr txBox="1">
              <a:spLocks noChangeArrowheads="1"/>
            </p:cNvSpPr>
            <p:nvPr/>
          </p:nvSpPr>
          <p:spPr bwMode="auto">
            <a:xfrm>
              <a:off x="5707977" y="3707498"/>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0000FF"/>
                  </a:solidFill>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34" name="Text Box 27"/>
            <p:cNvSpPr txBox="1">
              <a:spLocks noChangeArrowheads="1"/>
            </p:cNvSpPr>
            <p:nvPr/>
          </p:nvSpPr>
          <p:spPr bwMode="auto">
            <a:xfrm>
              <a:off x="5671174" y="2816494"/>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35" name="Text Box 26"/>
            <p:cNvSpPr txBox="1">
              <a:spLocks noChangeArrowheads="1"/>
            </p:cNvSpPr>
            <p:nvPr/>
          </p:nvSpPr>
          <p:spPr bwMode="auto">
            <a:xfrm>
              <a:off x="5976116" y="1890008"/>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37" name="Text Box 24"/>
            <p:cNvSpPr txBox="1">
              <a:spLocks noChangeArrowheads="1"/>
            </p:cNvSpPr>
            <p:nvPr/>
          </p:nvSpPr>
          <p:spPr bwMode="auto">
            <a:xfrm>
              <a:off x="5175642" y="3778463"/>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38" name="Text Box 23"/>
            <p:cNvSpPr txBox="1">
              <a:spLocks noChangeArrowheads="1"/>
            </p:cNvSpPr>
            <p:nvPr/>
          </p:nvSpPr>
          <p:spPr bwMode="auto">
            <a:xfrm>
              <a:off x="5234791" y="2683763"/>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39" name="Text Box 22"/>
            <p:cNvSpPr txBox="1">
              <a:spLocks noChangeArrowheads="1"/>
            </p:cNvSpPr>
            <p:nvPr/>
          </p:nvSpPr>
          <p:spPr bwMode="auto">
            <a:xfrm>
              <a:off x="6291573" y="3116124"/>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6600"/>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6600"/>
                </a:solidFill>
                <a:effectLst/>
                <a:latin typeface="Consolas" pitchFamily="49" charset="0"/>
                <a:ea typeface="仿宋" pitchFamily="49" charset="-122"/>
                <a:cs typeface="宋体" pitchFamily="2" charset="-122"/>
              </a:endParaRPr>
            </a:p>
          </p:txBody>
        </p:sp>
        <p:sp>
          <p:nvSpPr>
            <p:cNvPr id="40" name="Oval 21"/>
            <p:cNvSpPr>
              <a:spLocks noChangeArrowheads="1"/>
            </p:cNvSpPr>
            <p:nvPr/>
          </p:nvSpPr>
          <p:spPr bwMode="auto">
            <a:xfrm>
              <a:off x="5671174" y="1439249"/>
              <a:ext cx="411409" cy="448130"/>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0</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1" name="Oval 20"/>
            <p:cNvSpPr>
              <a:spLocks noChangeArrowheads="1"/>
            </p:cNvSpPr>
            <p:nvPr/>
          </p:nvSpPr>
          <p:spPr bwMode="auto">
            <a:xfrm>
              <a:off x="4718229" y="3191031"/>
              <a:ext cx="410095" cy="44681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2" name="Oval 19"/>
            <p:cNvSpPr>
              <a:spLocks noChangeArrowheads="1"/>
            </p:cNvSpPr>
            <p:nvPr/>
          </p:nvSpPr>
          <p:spPr bwMode="auto">
            <a:xfrm>
              <a:off x="5671174" y="3191031"/>
              <a:ext cx="408780" cy="44681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3" name="Oval 18"/>
            <p:cNvSpPr>
              <a:spLocks noChangeArrowheads="1"/>
            </p:cNvSpPr>
            <p:nvPr/>
          </p:nvSpPr>
          <p:spPr bwMode="auto">
            <a:xfrm>
              <a:off x="6663550" y="3191031"/>
              <a:ext cx="408780" cy="44681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4" name="Oval 17"/>
            <p:cNvSpPr>
              <a:spLocks noChangeArrowheads="1"/>
            </p:cNvSpPr>
            <p:nvPr/>
          </p:nvSpPr>
          <p:spPr bwMode="auto">
            <a:xfrm>
              <a:off x="5671174" y="2236947"/>
              <a:ext cx="408780" cy="44681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5" name="Oval 16"/>
            <p:cNvSpPr>
              <a:spLocks noChangeArrowheads="1"/>
            </p:cNvSpPr>
            <p:nvPr/>
          </p:nvSpPr>
          <p:spPr bwMode="auto">
            <a:xfrm>
              <a:off x="5671174" y="4105690"/>
              <a:ext cx="408780" cy="446816"/>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5</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6" name="AutoShape 15"/>
            <p:cNvSpPr>
              <a:spLocks noChangeShapeType="1"/>
            </p:cNvSpPr>
            <p:nvPr/>
          </p:nvSpPr>
          <p:spPr bwMode="auto">
            <a:xfrm flipH="1">
              <a:off x="5876221" y="1887380"/>
              <a:ext cx="1314" cy="349568"/>
            </a:xfrm>
            <a:prstGeom prst="straightConnector1">
              <a:avLst/>
            </a:prstGeom>
            <a:noFill/>
            <a:ln w="19050">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47" name="AutoShape 14"/>
            <p:cNvSpPr>
              <a:spLocks noChangeShapeType="1"/>
            </p:cNvSpPr>
            <p:nvPr/>
          </p:nvSpPr>
          <p:spPr bwMode="auto">
            <a:xfrm flipH="1">
              <a:off x="5067861" y="2618055"/>
              <a:ext cx="663775" cy="63868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48" name="AutoShape 13"/>
            <p:cNvSpPr>
              <a:spLocks noChangeShapeType="1"/>
            </p:cNvSpPr>
            <p:nvPr/>
          </p:nvSpPr>
          <p:spPr bwMode="auto">
            <a:xfrm>
              <a:off x="5876221" y="2683763"/>
              <a:ext cx="1314" cy="507268"/>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50" name="AutoShape 11"/>
            <p:cNvSpPr>
              <a:spLocks noChangeShapeType="1"/>
            </p:cNvSpPr>
            <p:nvPr/>
          </p:nvSpPr>
          <p:spPr bwMode="auto">
            <a:xfrm>
              <a:off x="5067861" y="3572139"/>
              <a:ext cx="663775" cy="599259"/>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51" name="AutoShape 10"/>
            <p:cNvSpPr>
              <a:spLocks noChangeShapeType="1"/>
            </p:cNvSpPr>
            <p:nvPr/>
          </p:nvSpPr>
          <p:spPr bwMode="auto">
            <a:xfrm>
              <a:off x="5876221" y="3637847"/>
              <a:ext cx="1314" cy="467843"/>
            </a:xfrm>
            <a:prstGeom prst="straightConnector1">
              <a:avLst/>
            </a:prstGeom>
            <a:noFill/>
            <a:ln w="19050">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53" name="Text Box 8"/>
            <p:cNvSpPr txBox="1">
              <a:spLocks noChangeArrowheads="1"/>
            </p:cNvSpPr>
            <p:nvPr/>
          </p:nvSpPr>
          <p:spPr bwMode="auto">
            <a:xfrm>
              <a:off x="5415653" y="4714884"/>
              <a:ext cx="1299487" cy="3571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增广操作</a:t>
              </a:r>
              <a:endParaRPr kumimoji="0" lang="zh-CN" altLang="en-US"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54" name="Freeform 7"/>
            <p:cNvSpPr>
              <a:spLocks/>
            </p:cNvSpPr>
            <p:nvPr/>
          </p:nvSpPr>
          <p:spPr bwMode="auto">
            <a:xfrm>
              <a:off x="6082583" y="3629962"/>
              <a:ext cx="789958" cy="646569"/>
            </a:xfrm>
            <a:custGeom>
              <a:avLst/>
              <a:gdLst/>
              <a:ahLst/>
              <a:cxnLst>
                <a:cxn ang="0">
                  <a:pos x="0" y="484"/>
                </a:cxn>
                <a:cxn ang="0">
                  <a:pos x="270" y="467"/>
                </a:cxn>
                <a:cxn ang="0">
                  <a:pos x="514" y="335"/>
                </a:cxn>
                <a:cxn ang="0">
                  <a:pos x="601" y="0"/>
                </a:cxn>
              </a:cxnLst>
              <a:rect l="0" t="0" r="r" b="b"/>
              <a:pathLst>
                <a:path w="601" h="492">
                  <a:moveTo>
                    <a:pt x="0" y="484"/>
                  </a:moveTo>
                  <a:cubicBezTo>
                    <a:pt x="92" y="488"/>
                    <a:pt x="184" y="492"/>
                    <a:pt x="270" y="467"/>
                  </a:cubicBezTo>
                  <a:cubicBezTo>
                    <a:pt x="356" y="442"/>
                    <a:pt x="459" y="413"/>
                    <a:pt x="514" y="335"/>
                  </a:cubicBezTo>
                  <a:cubicBezTo>
                    <a:pt x="569" y="257"/>
                    <a:pt x="585" y="128"/>
                    <a:pt x="601" y="0"/>
                  </a:cubicBezTo>
                </a:path>
              </a:pathLst>
            </a:custGeom>
            <a:noFill/>
            <a:ln w="19050">
              <a:solidFill>
                <a:srgbClr val="006600"/>
              </a:solidFill>
              <a:prstDash val="dash"/>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55" name="Text Box 6"/>
            <p:cNvSpPr txBox="1">
              <a:spLocks noChangeArrowheads="1"/>
            </p:cNvSpPr>
            <p:nvPr/>
          </p:nvSpPr>
          <p:spPr bwMode="auto">
            <a:xfrm>
              <a:off x="6805506" y="4007127"/>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6600"/>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6600"/>
                </a:solidFill>
                <a:effectLst/>
                <a:latin typeface="Consolas" pitchFamily="49" charset="0"/>
                <a:ea typeface="仿宋" pitchFamily="49" charset="-122"/>
                <a:cs typeface="宋体" pitchFamily="2" charset="-122"/>
              </a:endParaRPr>
            </a:p>
          </p:txBody>
        </p:sp>
        <p:sp>
          <p:nvSpPr>
            <p:cNvPr id="56" name="Freeform 5"/>
            <p:cNvSpPr>
              <a:spLocks/>
            </p:cNvSpPr>
            <p:nvPr/>
          </p:nvSpPr>
          <p:spPr bwMode="auto">
            <a:xfrm>
              <a:off x="6082583" y="2420930"/>
              <a:ext cx="807045" cy="770101"/>
            </a:xfrm>
            <a:custGeom>
              <a:avLst/>
              <a:gdLst/>
              <a:ahLst/>
              <a:cxnLst>
                <a:cxn ang="0">
                  <a:pos x="601" y="586"/>
                </a:cxn>
                <a:cxn ang="0">
                  <a:pos x="514" y="194"/>
                </a:cxn>
                <a:cxn ang="0">
                  <a:pos x="0" y="0"/>
                </a:cxn>
              </a:cxnLst>
              <a:rect l="0" t="0" r="r" b="b"/>
              <a:pathLst>
                <a:path w="614" h="586">
                  <a:moveTo>
                    <a:pt x="601" y="586"/>
                  </a:moveTo>
                  <a:cubicBezTo>
                    <a:pt x="607" y="439"/>
                    <a:pt x="614" y="292"/>
                    <a:pt x="514" y="194"/>
                  </a:cubicBezTo>
                  <a:cubicBezTo>
                    <a:pt x="414" y="96"/>
                    <a:pt x="207" y="48"/>
                    <a:pt x="0" y="0"/>
                  </a:cubicBezTo>
                </a:path>
              </a:pathLst>
            </a:custGeom>
            <a:noFill/>
            <a:ln w="19050">
              <a:solidFill>
                <a:srgbClr val="006600"/>
              </a:solidFill>
              <a:prstDash val="dash"/>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57" name="Text Box 4"/>
            <p:cNvSpPr txBox="1">
              <a:spLocks noChangeArrowheads="1"/>
            </p:cNvSpPr>
            <p:nvPr/>
          </p:nvSpPr>
          <p:spPr bwMode="auto">
            <a:xfrm>
              <a:off x="6800248" y="2419616"/>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006600"/>
                  </a:solidFill>
                  <a:latin typeface="Consolas" pitchFamily="49" charset="0"/>
                  <a:ea typeface="仿宋" pitchFamily="49" charset="-122"/>
                  <a:cs typeface="Times New Roman" pitchFamily="18" charset="0"/>
                </a:rPr>
                <a:t>3</a:t>
              </a:r>
              <a:endParaRPr kumimoji="0" lang="en-US" altLang="zh-CN" sz="2000" b="0" i="0" u="none" strike="noStrike" cap="none" normalizeH="0" baseline="0">
                <a:ln>
                  <a:noFill/>
                </a:ln>
                <a:solidFill>
                  <a:srgbClr val="006600"/>
                </a:solidFill>
                <a:effectLst/>
                <a:latin typeface="Consolas" pitchFamily="49" charset="0"/>
                <a:ea typeface="仿宋" pitchFamily="49" charset="-122"/>
                <a:cs typeface="宋体" pitchFamily="2" charset="-122"/>
              </a:endParaRPr>
            </a:p>
          </p:txBody>
        </p:sp>
        <p:sp>
          <p:nvSpPr>
            <p:cNvPr id="58" name="Freeform 3"/>
            <p:cNvSpPr>
              <a:spLocks/>
            </p:cNvSpPr>
            <p:nvPr/>
          </p:nvSpPr>
          <p:spPr bwMode="auto">
            <a:xfrm>
              <a:off x="5583108" y="1688941"/>
              <a:ext cx="151157" cy="592688"/>
            </a:xfrm>
            <a:custGeom>
              <a:avLst/>
              <a:gdLst/>
              <a:ahLst/>
              <a:cxnLst>
                <a:cxn ang="0">
                  <a:pos x="115" y="451"/>
                </a:cxn>
                <a:cxn ang="0">
                  <a:pos x="18" y="321"/>
                </a:cxn>
                <a:cxn ang="0">
                  <a:pos x="9" y="168"/>
                </a:cxn>
                <a:cxn ang="0">
                  <a:pos x="67" y="0"/>
                </a:cxn>
              </a:cxnLst>
              <a:rect l="0" t="0" r="r" b="b"/>
              <a:pathLst>
                <a:path w="115" h="451">
                  <a:moveTo>
                    <a:pt x="115" y="451"/>
                  </a:moveTo>
                  <a:cubicBezTo>
                    <a:pt x="99" y="431"/>
                    <a:pt x="36" y="368"/>
                    <a:pt x="18" y="321"/>
                  </a:cubicBezTo>
                  <a:cubicBezTo>
                    <a:pt x="0" y="274"/>
                    <a:pt x="1" y="221"/>
                    <a:pt x="9" y="168"/>
                  </a:cubicBezTo>
                  <a:cubicBezTo>
                    <a:pt x="17" y="115"/>
                    <a:pt x="55" y="35"/>
                    <a:pt x="67" y="0"/>
                  </a:cubicBezTo>
                </a:path>
              </a:pathLst>
            </a:custGeom>
            <a:noFill/>
            <a:ln w="19050">
              <a:solidFill>
                <a:srgbClr val="006600"/>
              </a:solidFill>
              <a:prstDash val="dash"/>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59" name="Text Box 2"/>
            <p:cNvSpPr txBox="1">
              <a:spLocks noChangeArrowheads="1"/>
            </p:cNvSpPr>
            <p:nvPr/>
          </p:nvSpPr>
          <p:spPr bwMode="auto">
            <a:xfrm>
              <a:off x="5380690" y="1905778"/>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6600"/>
                  </a:solidFill>
                  <a:effectLst/>
                  <a:latin typeface="Consolas" pitchFamily="49" charset="0"/>
                  <a:ea typeface="仿宋" pitchFamily="49" charset="-122"/>
                  <a:cs typeface="Times New Roman" pitchFamily="18" charset="0"/>
                </a:rPr>
                <a:t>3</a:t>
              </a:r>
              <a:endParaRPr kumimoji="0" lang="en-US" altLang="zh-CN" sz="2000" b="0" i="0" u="none" strike="noStrike" cap="none" normalizeH="0" baseline="0">
                <a:ln>
                  <a:noFill/>
                </a:ln>
                <a:solidFill>
                  <a:srgbClr val="006600"/>
                </a:solidFill>
                <a:effectLst/>
                <a:latin typeface="Consolas" pitchFamily="49" charset="0"/>
                <a:ea typeface="仿宋" pitchFamily="49" charset="-122"/>
                <a:cs typeface="宋体" pitchFamily="2" charset="-122"/>
              </a:endParaRPr>
            </a:p>
          </p:txBody>
        </p:sp>
        <p:sp>
          <p:nvSpPr>
            <p:cNvPr id="60" name="任意多边形 59"/>
            <p:cNvSpPr/>
            <p:nvPr/>
          </p:nvSpPr>
          <p:spPr>
            <a:xfrm>
              <a:off x="5986116" y="3610969"/>
              <a:ext cx="94074" cy="553156"/>
            </a:xfrm>
            <a:custGeom>
              <a:avLst/>
              <a:gdLst>
                <a:gd name="connsiteX0" fmla="*/ 0 w 94074"/>
                <a:gd name="connsiteY0" fmla="*/ 553156 h 553156"/>
                <a:gd name="connsiteX1" fmla="*/ 90311 w 94074"/>
                <a:gd name="connsiteY1" fmla="*/ 406400 h 553156"/>
                <a:gd name="connsiteX2" fmla="*/ 22578 w 94074"/>
                <a:gd name="connsiteY2" fmla="*/ 0 h 553156"/>
              </a:gdLst>
              <a:ahLst/>
              <a:cxnLst>
                <a:cxn ang="0">
                  <a:pos x="connsiteX0" y="connsiteY0"/>
                </a:cxn>
                <a:cxn ang="0">
                  <a:pos x="connsiteX1" y="connsiteY1"/>
                </a:cxn>
                <a:cxn ang="0">
                  <a:pos x="connsiteX2" y="connsiteY2"/>
                </a:cxn>
              </a:cxnLst>
              <a:rect l="l" t="t" r="r" b="b"/>
              <a:pathLst>
                <a:path w="94074" h="553156">
                  <a:moveTo>
                    <a:pt x="0" y="553156"/>
                  </a:moveTo>
                  <a:cubicBezTo>
                    <a:pt x="43274" y="525874"/>
                    <a:pt x="86548" y="498592"/>
                    <a:pt x="90311" y="406400"/>
                  </a:cubicBezTo>
                  <a:cubicBezTo>
                    <a:pt x="94074" y="314208"/>
                    <a:pt x="58326" y="157104"/>
                    <a:pt x="22578" y="0"/>
                  </a:cubicBezTo>
                </a:path>
              </a:pathLst>
            </a:custGeom>
            <a:ln w="19050">
              <a:solidFill>
                <a:srgbClr val="006600"/>
              </a:solidFill>
              <a:prstDash val="dash"/>
              <a:headEnd type="none" w="med" len="med"/>
              <a:tailEnd type="arrow" w="med" len="med"/>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61" name="Text Box 6"/>
            <p:cNvSpPr txBox="1">
              <a:spLocks noChangeArrowheads="1"/>
            </p:cNvSpPr>
            <p:nvPr/>
          </p:nvSpPr>
          <p:spPr bwMode="auto">
            <a:xfrm>
              <a:off x="6117354" y="3785414"/>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006600"/>
                  </a:solidFill>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6600"/>
                </a:solidFill>
                <a:effectLst/>
                <a:latin typeface="Consolas" pitchFamily="49" charset="0"/>
                <a:ea typeface="仿宋" pitchFamily="49" charset="-122"/>
                <a:cs typeface="宋体" pitchFamily="2" charset="-122"/>
              </a:endParaRPr>
            </a:p>
          </p:txBody>
        </p:sp>
        <p:cxnSp>
          <p:nvCxnSpPr>
            <p:cNvPr id="63" name="直接箭头连接符 62"/>
            <p:cNvCxnSpPr>
              <a:stCxn id="42" idx="6"/>
              <a:endCxn id="43" idx="2"/>
            </p:cNvCxnSpPr>
            <p:nvPr/>
          </p:nvCxnSpPr>
          <p:spPr>
            <a:xfrm>
              <a:off x="6079954" y="3414439"/>
              <a:ext cx="583596" cy="1588"/>
            </a:xfrm>
            <a:prstGeom prst="straightConnector1">
              <a:avLst/>
            </a:prstGeom>
            <a:ln w="19050">
              <a:solidFill>
                <a:srgbClr val="006600"/>
              </a:solidFill>
              <a:prstDash val="dash"/>
              <a:tailEnd type="arrow"/>
            </a:ln>
          </p:spPr>
          <p:style>
            <a:lnRef idx="2">
              <a:schemeClr val="dk1"/>
            </a:lnRef>
            <a:fillRef idx="0">
              <a:schemeClr val="dk1"/>
            </a:fillRef>
            <a:effectRef idx="1">
              <a:schemeClr val="dk1"/>
            </a:effectRef>
            <a:fontRef idx="minor">
              <a:schemeClr val="tx1"/>
            </a:fontRef>
          </p:style>
        </p:cxnSp>
      </p:grpSp>
      <p:sp>
        <p:nvSpPr>
          <p:cNvPr id="64" name="TextBox 63"/>
          <p:cNvSpPr txBox="1"/>
          <p:nvPr/>
        </p:nvSpPr>
        <p:spPr>
          <a:xfrm>
            <a:off x="428596" y="642918"/>
            <a:ext cx="1643074" cy="430887"/>
          </a:xfrm>
          <a:prstGeom prst="rect">
            <a:avLst/>
          </a:prstGeom>
          <a:noFill/>
        </p:spPr>
        <p:txBody>
          <a:bodyPr wrap="square" rtlCol="0">
            <a:spAutoFit/>
          </a:bodyPr>
          <a:lstStyle/>
          <a:p>
            <a:pPr algn="l">
              <a:lnSpc>
                <a:spcPct val="100000"/>
              </a:lnSpc>
              <a:spcBef>
                <a:spcPts val="0"/>
              </a:spcBef>
            </a:pPr>
            <a:r>
              <a:rPr lang="zh-CN" altLang="zh-CN" sz="2200">
                <a:solidFill>
                  <a:srgbClr val="0000FF"/>
                </a:solidFill>
                <a:latin typeface="Consolas" pitchFamily="49" charset="0"/>
                <a:ea typeface="楷体" pitchFamily="49" charset="-122"/>
              </a:rPr>
              <a:t>第</a:t>
            </a:r>
            <a:r>
              <a:rPr lang="en-US" altLang="zh-CN" sz="2200">
                <a:solidFill>
                  <a:srgbClr val="0000FF"/>
                </a:solidFill>
                <a:latin typeface="Consolas" pitchFamily="49" charset="0"/>
                <a:ea typeface="楷体" pitchFamily="49" charset="-122"/>
              </a:rPr>
              <a:t>2</a:t>
            </a:r>
            <a:r>
              <a:rPr lang="zh-CN" altLang="zh-CN" sz="2200">
                <a:solidFill>
                  <a:srgbClr val="0000FF"/>
                </a:solidFill>
                <a:latin typeface="Consolas" pitchFamily="49" charset="0"/>
                <a:ea typeface="楷体" pitchFamily="49" charset="-122"/>
              </a:rPr>
              <a:t>次迭代</a:t>
            </a:r>
            <a:endParaRPr lang="zh-CN" altLang="en-US" sz="2200">
              <a:solidFill>
                <a:srgbClr val="0000FF"/>
              </a:solidFill>
              <a:latin typeface="Consolas" pitchFamily="49" charset="0"/>
              <a:ea typeface="楷体" pitchFamily="49" charset="-122"/>
              <a:cs typeface="Consolas" pitchFamily="49" charset="0"/>
            </a:endParaRPr>
          </a:p>
        </p:txBody>
      </p:sp>
      <p:sp>
        <p:nvSpPr>
          <p:cNvPr id="65" name="右箭头 64"/>
          <p:cNvSpPr/>
          <p:nvPr/>
        </p:nvSpPr>
        <p:spPr>
          <a:xfrm>
            <a:off x="4000496" y="3286124"/>
            <a:ext cx="428628" cy="285752"/>
          </a:xfrm>
          <a:prstGeom prst="right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67" name="灯片编号占位符 66"/>
          <p:cNvSpPr>
            <a:spLocks noGrp="1"/>
          </p:cNvSpPr>
          <p:nvPr>
            <p:ph type="sldNum" sz="quarter" idx="12"/>
          </p:nvPr>
        </p:nvSpPr>
        <p:spPr/>
        <p:txBody>
          <a:bodyPr/>
          <a:lstStyle/>
          <a:p>
            <a:fld id="{7AF016A1-9F15-429F-9EFD-84004B73C732}" type="slidenum">
              <a:rPr lang="en-US" altLang="zh-CN" smtClean="0"/>
              <a:pPr/>
              <a:t>112</a:t>
            </a:fld>
            <a:r>
              <a:rPr lang="en-US" altLang="zh-CN"/>
              <a:t>/158</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28596" y="642918"/>
            <a:ext cx="1643074" cy="430887"/>
          </a:xfrm>
          <a:prstGeom prst="rect">
            <a:avLst/>
          </a:prstGeom>
          <a:noFill/>
        </p:spPr>
        <p:txBody>
          <a:bodyPr wrap="square" rtlCol="0">
            <a:spAutoFit/>
          </a:bodyPr>
          <a:lstStyle/>
          <a:p>
            <a:pPr algn="l">
              <a:lnSpc>
                <a:spcPct val="100000"/>
              </a:lnSpc>
              <a:spcBef>
                <a:spcPts val="0"/>
              </a:spcBef>
            </a:pPr>
            <a:r>
              <a:rPr lang="zh-CN" altLang="zh-CN" sz="2200">
                <a:solidFill>
                  <a:srgbClr val="0000FF"/>
                </a:solidFill>
                <a:latin typeface="Consolas" pitchFamily="49" charset="0"/>
                <a:ea typeface="楷体" pitchFamily="49" charset="-122"/>
              </a:rPr>
              <a:t>第</a:t>
            </a:r>
            <a:r>
              <a:rPr lang="en-US" altLang="zh-CN" sz="2200">
                <a:solidFill>
                  <a:srgbClr val="0000FF"/>
                </a:solidFill>
                <a:latin typeface="Consolas" pitchFamily="49" charset="0"/>
                <a:ea typeface="楷体" pitchFamily="49" charset="-122"/>
              </a:rPr>
              <a:t>3</a:t>
            </a:r>
            <a:r>
              <a:rPr lang="zh-CN" altLang="zh-CN" sz="2200">
                <a:solidFill>
                  <a:srgbClr val="0000FF"/>
                </a:solidFill>
                <a:latin typeface="Consolas" pitchFamily="49" charset="0"/>
                <a:ea typeface="楷体" pitchFamily="49" charset="-122"/>
              </a:rPr>
              <a:t>次迭代</a:t>
            </a:r>
            <a:endParaRPr lang="zh-CN" altLang="en-US" sz="2200">
              <a:solidFill>
                <a:srgbClr val="0000FF"/>
              </a:solidFill>
              <a:latin typeface="Consolas" pitchFamily="49" charset="0"/>
              <a:ea typeface="楷体" pitchFamily="49" charset="-122"/>
              <a:cs typeface="Consolas" pitchFamily="49" charset="0"/>
            </a:endParaRPr>
          </a:p>
        </p:txBody>
      </p:sp>
      <p:grpSp>
        <p:nvGrpSpPr>
          <p:cNvPr id="4" name="组合 3"/>
          <p:cNvGrpSpPr/>
          <p:nvPr/>
        </p:nvGrpSpPr>
        <p:grpSpPr>
          <a:xfrm>
            <a:off x="996747" y="1500174"/>
            <a:ext cx="2646559" cy="3714776"/>
            <a:chOff x="4575353" y="1439249"/>
            <a:chExt cx="2646559" cy="3714776"/>
          </a:xfrm>
        </p:grpSpPr>
        <p:sp>
          <p:nvSpPr>
            <p:cNvPr id="5" name="Text Box 28"/>
            <p:cNvSpPr txBox="1">
              <a:spLocks noChangeArrowheads="1"/>
            </p:cNvSpPr>
            <p:nvPr/>
          </p:nvSpPr>
          <p:spPr bwMode="auto">
            <a:xfrm>
              <a:off x="5707977" y="3707498"/>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0000FF"/>
                  </a:solidFill>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6" name="Text Box 27"/>
            <p:cNvSpPr txBox="1">
              <a:spLocks noChangeArrowheads="1"/>
            </p:cNvSpPr>
            <p:nvPr/>
          </p:nvSpPr>
          <p:spPr bwMode="auto">
            <a:xfrm>
              <a:off x="5671174" y="2816494"/>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7" name="Text Box 26"/>
            <p:cNvSpPr txBox="1">
              <a:spLocks noChangeArrowheads="1"/>
            </p:cNvSpPr>
            <p:nvPr/>
          </p:nvSpPr>
          <p:spPr bwMode="auto">
            <a:xfrm>
              <a:off x="5976116" y="1890008"/>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8" name="Text Box 24"/>
            <p:cNvSpPr txBox="1">
              <a:spLocks noChangeArrowheads="1"/>
            </p:cNvSpPr>
            <p:nvPr/>
          </p:nvSpPr>
          <p:spPr bwMode="auto">
            <a:xfrm>
              <a:off x="5175642" y="3778463"/>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9" name="Text Box 23"/>
            <p:cNvSpPr txBox="1">
              <a:spLocks noChangeArrowheads="1"/>
            </p:cNvSpPr>
            <p:nvPr/>
          </p:nvSpPr>
          <p:spPr bwMode="auto">
            <a:xfrm>
              <a:off x="5234791" y="2683763"/>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0" name="Text Box 22"/>
            <p:cNvSpPr txBox="1">
              <a:spLocks noChangeArrowheads="1"/>
            </p:cNvSpPr>
            <p:nvPr/>
          </p:nvSpPr>
          <p:spPr bwMode="auto">
            <a:xfrm>
              <a:off x="6291573" y="3116124"/>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6600"/>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6600"/>
                </a:solidFill>
                <a:effectLst/>
                <a:latin typeface="Consolas" pitchFamily="49" charset="0"/>
                <a:ea typeface="仿宋" pitchFamily="49" charset="-122"/>
                <a:cs typeface="宋体" pitchFamily="2" charset="-122"/>
              </a:endParaRPr>
            </a:p>
          </p:txBody>
        </p:sp>
        <p:sp>
          <p:nvSpPr>
            <p:cNvPr id="11" name="Oval 21"/>
            <p:cNvSpPr>
              <a:spLocks noChangeArrowheads="1"/>
            </p:cNvSpPr>
            <p:nvPr/>
          </p:nvSpPr>
          <p:spPr bwMode="auto">
            <a:xfrm>
              <a:off x="5671174" y="1439249"/>
              <a:ext cx="411409" cy="448130"/>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0</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2" name="Oval 20"/>
            <p:cNvSpPr>
              <a:spLocks noChangeArrowheads="1"/>
            </p:cNvSpPr>
            <p:nvPr/>
          </p:nvSpPr>
          <p:spPr bwMode="auto">
            <a:xfrm>
              <a:off x="4718229" y="3191031"/>
              <a:ext cx="410095" cy="44681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3" name="Oval 19"/>
            <p:cNvSpPr>
              <a:spLocks noChangeArrowheads="1"/>
            </p:cNvSpPr>
            <p:nvPr/>
          </p:nvSpPr>
          <p:spPr bwMode="auto">
            <a:xfrm>
              <a:off x="5671174" y="3191031"/>
              <a:ext cx="408780" cy="44681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4" name="Oval 18"/>
            <p:cNvSpPr>
              <a:spLocks noChangeArrowheads="1"/>
            </p:cNvSpPr>
            <p:nvPr/>
          </p:nvSpPr>
          <p:spPr bwMode="auto">
            <a:xfrm>
              <a:off x="6663550" y="3191031"/>
              <a:ext cx="408780" cy="44681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5" name="Oval 17"/>
            <p:cNvSpPr>
              <a:spLocks noChangeArrowheads="1"/>
            </p:cNvSpPr>
            <p:nvPr/>
          </p:nvSpPr>
          <p:spPr bwMode="auto">
            <a:xfrm>
              <a:off x="5671174" y="2236947"/>
              <a:ext cx="408780" cy="44681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6" name="Oval 16"/>
            <p:cNvSpPr>
              <a:spLocks noChangeArrowheads="1"/>
            </p:cNvSpPr>
            <p:nvPr/>
          </p:nvSpPr>
          <p:spPr bwMode="auto">
            <a:xfrm>
              <a:off x="5671174" y="4105690"/>
              <a:ext cx="408780" cy="446816"/>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5</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8" name="AutoShape 15"/>
            <p:cNvSpPr>
              <a:spLocks noChangeShapeType="1"/>
            </p:cNvSpPr>
            <p:nvPr/>
          </p:nvSpPr>
          <p:spPr bwMode="auto">
            <a:xfrm flipH="1">
              <a:off x="5876221" y="1887380"/>
              <a:ext cx="1314" cy="349568"/>
            </a:xfrm>
            <a:prstGeom prst="straightConnector1">
              <a:avLst/>
            </a:prstGeom>
            <a:noFill/>
            <a:ln w="19050">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9" name="AutoShape 14"/>
            <p:cNvSpPr>
              <a:spLocks noChangeShapeType="1"/>
            </p:cNvSpPr>
            <p:nvPr/>
          </p:nvSpPr>
          <p:spPr bwMode="auto">
            <a:xfrm flipH="1">
              <a:off x="5067861" y="2618055"/>
              <a:ext cx="663775" cy="63868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20" name="AutoShape 13"/>
            <p:cNvSpPr>
              <a:spLocks noChangeShapeType="1"/>
            </p:cNvSpPr>
            <p:nvPr/>
          </p:nvSpPr>
          <p:spPr bwMode="auto">
            <a:xfrm>
              <a:off x="5876221" y="2683763"/>
              <a:ext cx="1314" cy="507268"/>
            </a:xfrm>
            <a:prstGeom prst="straightConnector1">
              <a:avLst/>
            </a:prstGeom>
            <a:noFill/>
            <a:ln w="19050">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21" name="AutoShape 11"/>
            <p:cNvSpPr>
              <a:spLocks noChangeShapeType="1"/>
            </p:cNvSpPr>
            <p:nvPr/>
          </p:nvSpPr>
          <p:spPr bwMode="auto">
            <a:xfrm>
              <a:off x="5067861" y="3572139"/>
              <a:ext cx="663775" cy="599259"/>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22" name="AutoShape 10"/>
            <p:cNvSpPr>
              <a:spLocks noChangeShapeType="1"/>
            </p:cNvSpPr>
            <p:nvPr/>
          </p:nvSpPr>
          <p:spPr bwMode="auto">
            <a:xfrm>
              <a:off x="5876221" y="3637847"/>
              <a:ext cx="1314" cy="467843"/>
            </a:xfrm>
            <a:prstGeom prst="straightConnector1">
              <a:avLst/>
            </a:prstGeom>
            <a:noFill/>
            <a:ln w="19050">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23" name="Text Box 8"/>
            <p:cNvSpPr txBox="1">
              <a:spLocks noChangeArrowheads="1"/>
            </p:cNvSpPr>
            <p:nvPr/>
          </p:nvSpPr>
          <p:spPr bwMode="auto">
            <a:xfrm>
              <a:off x="4575353" y="4796835"/>
              <a:ext cx="2646559" cy="3571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找到第</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3</a:t>
              </a:r>
              <a:r>
                <a:rPr kumimoji="0" lang="zh-CN" altLang="en-US"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条增广路径</a:t>
              </a:r>
              <a:endParaRPr kumimoji="0" lang="zh-CN" altLang="en-US"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24" name="Freeform 7"/>
            <p:cNvSpPr>
              <a:spLocks/>
            </p:cNvSpPr>
            <p:nvPr/>
          </p:nvSpPr>
          <p:spPr bwMode="auto">
            <a:xfrm>
              <a:off x="6082583" y="3629962"/>
              <a:ext cx="789958" cy="646569"/>
            </a:xfrm>
            <a:custGeom>
              <a:avLst/>
              <a:gdLst/>
              <a:ahLst/>
              <a:cxnLst>
                <a:cxn ang="0">
                  <a:pos x="0" y="484"/>
                </a:cxn>
                <a:cxn ang="0">
                  <a:pos x="270" y="467"/>
                </a:cxn>
                <a:cxn ang="0">
                  <a:pos x="514" y="335"/>
                </a:cxn>
                <a:cxn ang="0">
                  <a:pos x="601" y="0"/>
                </a:cxn>
              </a:cxnLst>
              <a:rect l="0" t="0" r="r" b="b"/>
              <a:pathLst>
                <a:path w="601" h="492">
                  <a:moveTo>
                    <a:pt x="0" y="484"/>
                  </a:moveTo>
                  <a:cubicBezTo>
                    <a:pt x="92" y="488"/>
                    <a:pt x="184" y="492"/>
                    <a:pt x="270" y="467"/>
                  </a:cubicBezTo>
                  <a:cubicBezTo>
                    <a:pt x="356" y="442"/>
                    <a:pt x="459" y="413"/>
                    <a:pt x="514" y="335"/>
                  </a:cubicBezTo>
                  <a:cubicBezTo>
                    <a:pt x="569" y="257"/>
                    <a:pt x="585" y="128"/>
                    <a:pt x="601" y="0"/>
                  </a:cubicBezTo>
                </a:path>
              </a:pathLst>
            </a:custGeom>
            <a:noFill/>
            <a:ln w="19050">
              <a:solidFill>
                <a:srgbClr val="006600"/>
              </a:solidFill>
              <a:prstDash val="dash"/>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25" name="Text Box 6"/>
            <p:cNvSpPr txBox="1">
              <a:spLocks noChangeArrowheads="1"/>
            </p:cNvSpPr>
            <p:nvPr/>
          </p:nvSpPr>
          <p:spPr bwMode="auto">
            <a:xfrm>
              <a:off x="6805506" y="4007127"/>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6600"/>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6600"/>
                </a:solidFill>
                <a:effectLst/>
                <a:latin typeface="Consolas" pitchFamily="49" charset="0"/>
                <a:ea typeface="仿宋" pitchFamily="49" charset="-122"/>
                <a:cs typeface="宋体" pitchFamily="2" charset="-122"/>
              </a:endParaRPr>
            </a:p>
          </p:txBody>
        </p:sp>
        <p:sp>
          <p:nvSpPr>
            <p:cNvPr id="26" name="Freeform 5"/>
            <p:cNvSpPr>
              <a:spLocks/>
            </p:cNvSpPr>
            <p:nvPr/>
          </p:nvSpPr>
          <p:spPr bwMode="auto">
            <a:xfrm>
              <a:off x="6082583" y="2420930"/>
              <a:ext cx="807045" cy="770101"/>
            </a:xfrm>
            <a:custGeom>
              <a:avLst/>
              <a:gdLst/>
              <a:ahLst/>
              <a:cxnLst>
                <a:cxn ang="0">
                  <a:pos x="601" y="586"/>
                </a:cxn>
                <a:cxn ang="0">
                  <a:pos x="514" y="194"/>
                </a:cxn>
                <a:cxn ang="0">
                  <a:pos x="0" y="0"/>
                </a:cxn>
              </a:cxnLst>
              <a:rect l="0" t="0" r="r" b="b"/>
              <a:pathLst>
                <a:path w="614" h="586">
                  <a:moveTo>
                    <a:pt x="601" y="586"/>
                  </a:moveTo>
                  <a:cubicBezTo>
                    <a:pt x="607" y="439"/>
                    <a:pt x="614" y="292"/>
                    <a:pt x="514" y="194"/>
                  </a:cubicBezTo>
                  <a:cubicBezTo>
                    <a:pt x="414" y="96"/>
                    <a:pt x="207" y="48"/>
                    <a:pt x="0" y="0"/>
                  </a:cubicBezTo>
                </a:path>
              </a:pathLst>
            </a:custGeom>
            <a:noFill/>
            <a:ln w="19050">
              <a:solidFill>
                <a:srgbClr val="006600"/>
              </a:solidFill>
              <a:prstDash val="dash"/>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27" name="Text Box 4"/>
            <p:cNvSpPr txBox="1">
              <a:spLocks noChangeArrowheads="1"/>
            </p:cNvSpPr>
            <p:nvPr/>
          </p:nvSpPr>
          <p:spPr bwMode="auto">
            <a:xfrm>
              <a:off x="6800248" y="2419616"/>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006600"/>
                  </a:solidFill>
                  <a:latin typeface="Consolas" pitchFamily="49" charset="0"/>
                  <a:ea typeface="仿宋" pitchFamily="49" charset="-122"/>
                  <a:cs typeface="Times New Roman" pitchFamily="18" charset="0"/>
                </a:rPr>
                <a:t>3</a:t>
              </a:r>
              <a:endParaRPr kumimoji="0" lang="en-US" altLang="zh-CN" sz="2000" b="0" i="0" u="none" strike="noStrike" cap="none" normalizeH="0" baseline="0">
                <a:ln>
                  <a:noFill/>
                </a:ln>
                <a:solidFill>
                  <a:srgbClr val="006600"/>
                </a:solidFill>
                <a:effectLst/>
                <a:latin typeface="Consolas" pitchFamily="49" charset="0"/>
                <a:ea typeface="仿宋" pitchFamily="49" charset="-122"/>
                <a:cs typeface="宋体" pitchFamily="2" charset="-122"/>
              </a:endParaRPr>
            </a:p>
          </p:txBody>
        </p:sp>
        <p:sp>
          <p:nvSpPr>
            <p:cNvPr id="28" name="Freeform 3"/>
            <p:cNvSpPr>
              <a:spLocks/>
            </p:cNvSpPr>
            <p:nvPr/>
          </p:nvSpPr>
          <p:spPr bwMode="auto">
            <a:xfrm>
              <a:off x="5583108" y="1688941"/>
              <a:ext cx="151157" cy="592688"/>
            </a:xfrm>
            <a:custGeom>
              <a:avLst/>
              <a:gdLst/>
              <a:ahLst/>
              <a:cxnLst>
                <a:cxn ang="0">
                  <a:pos x="115" y="451"/>
                </a:cxn>
                <a:cxn ang="0">
                  <a:pos x="18" y="321"/>
                </a:cxn>
                <a:cxn ang="0">
                  <a:pos x="9" y="168"/>
                </a:cxn>
                <a:cxn ang="0">
                  <a:pos x="67" y="0"/>
                </a:cxn>
              </a:cxnLst>
              <a:rect l="0" t="0" r="r" b="b"/>
              <a:pathLst>
                <a:path w="115" h="451">
                  <a:moveTo>
                    <a:pt x="115" y="451"/>
                  </a:moveTo>
                  <a:cubicBezTo>
                    <a:pt x="99" y="431"/>
                    <a:pt x="36" y="368"/>
                    <a:pt x="18" y="321"/>
                  </a:cubicBezTo>
                  <a:cubicBezTo>
                    <a:pt x="0" y="274"/>
                    <a:pt x="1" y="221"/>
                    <a:pt x="9" y="168"/>
                  </a:cubicBezTo>
                  <a:cubicBezTo>
                    <a:pt x="17" y="115"/>
                    <a:pt x="55" y="35"/>
                    <a:pt x="67" y="0"/>
                  </a:cubicBezTo>
                </a:path>
              </a:pathLst>
            </a:custGeom>
            <a:noFill/>
            <a:ln w="19050">
              <a:solidFill>
                <a:srgbClr val="006600"/>
              </a:solidFill>
              <a:prstDash val="dash"/>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29" name="Text Box 2"/>
            <p:cNvSpPr txBox="1">
              <a:spLocks noChangeArrowheads="1"/>
            </p:cNvSpPr>
            <p:nvPr/>
          </p:nvSpPr>
          <p:spPr bwMode="auto">
            <a:xfrm>
              <a:off x="5380690" y="1905778"/>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6600"/>
                  </a:solidFill>
                  <a:effectLst/>
                  <a:latin typeface="Consolas" pitchFamily="49" charset="0"/>
                  <a:ea typeface="仿宋" pitchFamily="49" charset="-122"/>
                  <a:cs typeface="Times New Roman" pitchFamily="18" charset="0"/>
                </a:rPr>
                <a:t>3</a:t>
              </a:r>
              <a:endParaRPr kumimoji="0" lang="en-US" altLang="zh-CN" sz="2000" b="0" i="0" u="none" strike="noStrike" cap="none" normalizeH="0" baseline="0">
                <a:ln>
                  <a:noFill/>
                </a:ln>
                <a:solidFill>
                  <a:srgbClr val="006600"/>
                </a:solidFill>
                <a:effectLst/>
                <a:latin typeface="Consolas" pitchFamily="49" charset="0"/>
                <a:ea typeface="仿宋" pitchFamily="49" charset="-122"/>
                <a:cs typeface="宋体" pitchFamily="2" charset="-122"/>
              </a:endParaRPr>
            </a:p>
          </p:txBody>
        </p:sp>
        <p:sp>
          <p:nvSpPr>
            <p:cNvPr id="30" name="任意多边形 29"/>
            <p:cNvSpPr/>
            <p:nvPr/>
          </p:nvSpPr>
          <p:spPr>
            <a:xfrm>
              <a:off x="5986116" y="3610969"/>
              <a:ext cx="94074" cy="553156"/>
            </a:xfrm>
            <a:custGeom>
              <a:avLst/>
              <a:gdLst>
                <a:gd name="connsiteX0" fmla="*/ 0 w 94074"/>
                <a:gd name="connsiteY0" fmla="*/ 553156 h 553156"/>
                <a:gd name="connsiteX1" fmla="*/ 90311 w 94074"/>
                <a:gd name="connsiteY1" fmla="*/ 406400 h 553156"/>
                <a:gd name="connsiteX2" fmla="*/ 22578 w 94074"/>
                <a:gd name="connsiteY2" fmla="*/ 0 h 553156"/>
              </a:gdLst>
              <a:ahLst/>
              <a:cxnLst>
                <a:cxn ang="0">
                  <a:pos x="connsiteX0" y="connsiteY0"/>
                </a:cxn>
                <a:cxn ang="0">
                  <a:pos x="connsiteX1" y="connsiteY1"/>
                </a:cxn>
                <a:cxn ang="0">
                  <a:pos x="connsiteX2" y="connsiteY2"/>
                </a:cxn>
              </a:cxnLst>
              <a:rect l="l" t="t" r="r" b="b"/>
              <a:pathLst>
                <a:path w="94074" h="553156">
                  <a:moveTo>
                    <a:pt x="0" y="553156"/>
                  </a:moveTo>
                  <a:cubicBezTo>
                    <a:pt x="43274" y="525874"/>
                    <a:pt x="86548" y="498592"/>
                    <a:pt x="90311" y="406400"/>
                  </a:cubicBezTo>
                  <a:cubicBezTo>
                    <a:pt x="94074" y="314208"/>
                    <a:pt x="58326" y="157104"/>
                    <a:pt x="22578" y="0"/>
                  </a:cubicBezTo>
                </a:path>
              </a:pathLst>
            </a:custGeom>
            <a:ln w="19050">
              <a:solidFill>
                <a:srgbClr val="006600"/>
              </a:solidFill>
              <a:prstDash val="dash"/>
              <a:headEnd type="none" w="med" len="med"/>
              <a:tailEnd type="arrow" w="med" len="med"/>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31" name="Text Box 6"/>
            <p:cNvSpPr txBox="1">
              <a:spLocks noChangeArrowheads="1"/>
            </p:cNvSpPr>
            <p:nvPr/>
          </p:nvSpPr>
          <p:spPr bwMode="auto">
            <a:xfrm>
              <a:off x="6117354" y="3785414"/>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006600"/>
                  </a:solidFill>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6600"/>
                </a:solidFill>
                <a:effectLst/>
                <a:latin typeface="Consolas" pitchFamily="49" charset="0"/>
                <a:ea typeface="仿宋" pitchFamily="49" charset="-122"/>
                <a:cs typeface="宋体" pitchFamily="2" charset="-122"/>
              </a:endParaRPr>
            </a:p>
          </p:txBody>
        </p:sp>
        <p:cxnSp>
          <p:nvCxnSpPr>
            <p:cNvPr id="32" name="直接箭头连接符 31"/>
            <p:cNvCxnSpPr>
              <a:stCxn id="13" idx="6"/>
              <a:endCxn id="14" idx="2"/>
            </p:cNvCxnSpPr>
            <p:nvPr/>
          </p:nvCxnSpPr>
          <p:spPr>
            <a:xfrm>
              <a:off x="6079954" y="3414439"/>
              <a:ext cx="583596" cy="1588"/>
            </a:xfrm>
            <a:prstGeom prst="straightConnector1">
              <a:avLst/>
            </a:prstGeom>
            <a:ln w="19050">
              <a:solidFill>
                <a:srgbClr val="006600"/>
              </a:solidFill>
              <a:prstDash val="dash"/>
              <a:tailEnd type="arrow"/>
            </a:ln>
          </p:spPr>
          <p:style>
            <a:lnRef idx="2">
              <a:schemeClr val="dk1"/>
            </a:lnRef>
            <a:fillRef idx="0">
              <a:schemeClr val="dk1"/>
            </a:fillRef>
            <a:effectRef idx="1">
              <a:schemeClr val="dk1"/>
            </a:effectRef>
            <a:fontRef idx="minor">
              <a:schemeClr val="tx1"/>
            </a:fontRef>
          </p:style>
        </p:cxnSp>
      </p:grpSp>
      <p:grpSp>
        <p:nvGrpSpPr>
          <p:cNvPr id="64" name="组合 63"/>
          <p:cNvGrpSpPr/>
          <p:nvPr/>
        </p:nvGrpSpPr>
        <p:grpSpPr>
          <a:xfrm>
            <a:off x="4782961" y="1500174"/>
            <a:ext cx="2354101" cy="3714776"/>
            <a:chOff x="4782961" y="1500174"/>
            <a:chExt cx="2354101" cy="3714776"/>
          </a:xfrm>
        </p:grpSpPr>
        <p:sp>
          <p:nvSpPr>
            <p:cNvPr id="35" name="Text Box 27"/>
            <p:cNvSpPr txBox="1">
              <a:spLocks noChangeArrowheads="1"/>
            </p:cNvSpPr>
            <p:nvPr/>
          </p:nvSpPr>
          <p:spPr bwMode="auto">
            <a:xfrm>
              <a:off x="5735906" y="2877419"/>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6600"/>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6600"/>
                </a:solidFill>
                <a:effectLst/>
                <a:latin typeface="Consolas" pitchFamily="49" charset="0"/>
                <a:ea typeface="仿宋" pitchFamily="49" charset="-122"/>
                <a:cs typeface="宋体" pitchFamily="2" charset="-122"/>
              </a:endParaRPr>
            </a:p>
          </p:txBody>
        </p:sp>
        <p:sp>
          <p:nvSpPr>
            <p:cNvPr id="37" name="Text Box 24"/>
            <p:cNvSpPr txBox="1">
              <a:spLocks noChangeArrowheads="1"/>
            </p:cNvSpPr>
            <p:nvPr/>
          </p:nvSpPr>
          <p:spPr bwMode="auto">
            <a:xfrm>
              <a:off x="5240374" y="3839388"/>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38" name="Text Box 23"/>
            <p:cNvSpPr txBox="1">
              <a:spLocks noChangeArrowheads="1"/>
            </p:cNvSpPr>
            <p:nvPr/>
          </p:nvSpPr>
          <p:spPr bwMode="auto">
            <a:xfrm>
              <a:off x="5299523" y="2744688"/>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39" name="Text Box 22"/>
            <p:cNvSpPr txBox="1">
              <a:spLocks noChangeArrowheads="1"/>
            </p:cNvSpPr>
            <p:nvPr/>
          </p:nvSpPr>
          <p:spPr bwMode="auto">
            <a:xfrm>
              <a:off x="6356305" y="3177049"/>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6600"/>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6600"/>
                </a:solidFill>
                <a:effectLst/>
                <a:latin typeface="Consolas" pitchFamily="49" charset="0"/>
                <a:ea typeface="仿宋" pitchFamily="49" charset="-122"/>
                <a:cs typeface="宋体" pitchFamily="2" charset="-122"/>
              </a:endParaRPr>
            </a:p>
          </p:txBody>
        </p:sp>
        <p:sp>
          <p:nvSpPr>
            <p:cNvPr id="40" name="Oval 21"/>
            <p:cNvSpPr>
              <a:spLocks noChangeArrowheads="1"/>
            </p:cNvSpPr>
            <p:nvPr/>
          </p:nvSpPr>
          <p:spPr bwMode="auto">
            <a:xfrm>
              <a:off x="5735906" y="1500174"/>
              <a:ext cx="411409" cy="448130"/>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0</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1" name="Oval 20"/>
            <p:cNvSpPr>
              <a:spLocks noChangeArrowheads="1"/>
            </p:cNvSpPr>
            <p:nvPr/>
          </p:nvSpPr>
          <p:spPr bwMode="auto">
            <a:xfrm>
              <a:off x="4782961" y="3251956"/>
              <a:ext cx="410095" cy="44681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2" name="Oval 19"/>
            <p:cNvSpPr>
              <a:spLocks noChangeArrowheads="1"/>
            </p:cNvSpPr>
            <p:nvPr/>
          </p:nvSpPr>
          <p:spPr bwMode="auto">
            <a:xfrm>
              <a:off x="5735906" y="3251956"/>
              <a:ext cx="408780" cy="44681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3" name="Oval 18"/>
            <p:cNvSpPr>
              <a:spLocks noChangeArrowheads="1"/>
            </p:cNvSpPr>
            <p:nvPr/>
          </p:nvSpPr>
          <p:spPr bwMode="auto">
            <a:xfrm>
              <a:off x="6728282" y="3251956"/>
              <a:ext cx="408780" cy="44681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4" name="Oval 17"/>
            <p:cNvSpPr>
              <a:spLocks noChangeArrowheads="1"/>
            </p:cNvSpPr>
            <p:nvPr/>
          </p:nvSpPr>
          <p:spPr bwMode="auto">
            <a:xfrm>
              <a:off x="5735906" y="2297872"/>
              <a:ext cx="408780" cy="44681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5" name="Oval 16"/>
            <p:cNvSpPr>
              <a:spLocks noChangeArrowheads="1"/>
            </p:cNvSpPr>
            <p:nvPr/>
          </p:nvSpPr>
          <p:spPr bwMode="auto">
            <a:xfrm>
              <a:off x="5735906" y="4166615"/>
              <a:ext cx="408780" cy="446816"/>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5</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7" name="AutoShape 14"/>
            <p:cNvSpPr>
              <a:spLocks noChangeShapeType="1"/>
            </p:cNvSpPr>
            <p:nvPr/>
          </p:nvSpPr>
          <p:spPr bwMode="auto">
            <a:xfrm flipH="1">
              <a:off x="5132593" y="2678980"/>
              <a:ext cx="663775" cy="63868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49" name="AutoShape 11"/>
            <p:cNvSpPr>
              <a:spLocks noChangeShapeType="1"/>
            </p:cNvSpPr>
            <p:nvPr/>
          </p:nvSpPr>
          <p:spPr bwMode="auto">
            <a:xfrm>
              <a:off x="5132593" y="3633064"/>
              <a:ext cx="663775" cy="599259"/>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51" name="Text Box 8"/>
            <p:cNvSpPr txBox="1">
              <a:spLocks noChangeArrowheads="1"/>
            </p:cNvSpPr>
            <p:nvPr/>
          </p:nvSpPr>
          <p:spPr bwMode="auto">
            <a:xfrm>
              <a:off x="5214942" y="4857760"/>
              <a:ext cx="1646427" cy="3571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增广操作</a:t>
              </a:r>
              <a:endParaRPr kumimoji="0" lang="zh-CN" altLang="en-US"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52" name="Freeform 7"/>
            <p:cNvSpPr>
              <a:spLocks/>
            </p:cNvSpPr>
            <p:nvPr/>
          </p:nvSpPr>
          <p:spPr bwMode="auto">
            <a:xfrm>
              <a:off x="6147315" y="3690887"/>
              <a:ext cx="789958" cy="646569"/>
            </a:xfrm>
            <a:custGeom>
              <a:avLst/>
              <a:gdLst/>
              <a:ahLst/>
              <a:cxnLst>
                <a:cxn ang="0">
                  <a:pos x="0" y="484"/>
                </a:cxn>
                <a:cxn ang="0">
                  <a:pos x="270" y="467"/>
                </a:cxn>
                <a:cxn ang="0">
                  <a:pos x="514" y="335"/>
                </a:cxn>
                <a:cxn ang="0">
                  <a:pos x="601" y="0"/>
                </a:cxn>
              </a:cxnLst>
              <a:rect l="0" t="0" r="r" b="b"/>
              <a:pathLst>
                <a:path w="601" h="492">
                  <a:moveTo>
                    <a:pt x="0" y="484"/>
                  </a:moveTo>
                  <a:cubicBezTo>
                    <a:pt x="92" y="488"/>
                    <a:pt x="184" y="492"/>
                    <a:pt x="270" y="467"/>
                  </a:cubicBezTo>
                  <a:cubicBezTo>
                    <a:pt x="356" y="442"/>
                    <a:pt x="459" y="413"/>
                    <a:pt x="514" y="335"/>
                  </a:cubicBezTo>
                  <a:cubicBezTo>
                    <a:pt x="569" y="257"/>
                    <a:pt x="585" y="128"/>
                    <a:pt x="601" y="0"/>
                  </a:cubicBezTo>
                </a:path>
              </a:pathLst>
            </a:custGeom>
            <a:noFill/>
            <a:ln w="19050">
              <a:solidFill>
                <a:srgbClr val="006600"/>
              </a:solidFill>
              <a:prstDash val="dash"/>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53" name="Text Box 6"/>
            <p:cNvSpPr txBox="1">
              <a:spLocks noChangeArrowheads="1"/>
            </p:cNvSpPr>
            <p:nvPr/>
          </p:nvSpPr>
          <p:spPr bwMode="auto">
            <a:xfrm>
              <a:off x="6870238" y="4068052"/>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6600"/>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6600"/>
                </a:solidFill>
                <a:effectLst/>
                <a:latin typeface="Consolas" pitchFamily="49" charset="0"/>
                <a:ea typeface="仿宋" pitchFamily="49" charset="-122"/>
                <a:cs typeface="宋体" pitchFamily="2" charset="-122"/>
              </a:endParaRPr>
            </a:p>
          </p:txBody>
        </p:sp>
        <p:sp>
          <p:nvSpPr>
            <p:cNvPr id="54" name="Freeform 5"/>
            <p:cNvSpPr>
              <a:spLocks/>
            </p:cNvSpPr>
            <p:nvPr/>
          </p:nvSpPr>
          <p:spPr bwMode="auto">
            <a:xfrm>
              <a:off x="6147315" y="2481855"/>
              <a:ext cx="807045" cy="770101"/>
            </a:xfrm>
            <a:custGeom>
              <a:avLst/>
              <a:gdLst/>
              <a:ahLst/>
              <a:cxnLst>
                <a:cxn ang="0">
                  <a:pos x="601" y="586"/>
                </a:cxn>
                <a:cxn ang="0">
                  <a:pos x="514" y="194"/>
                </a:cxn>
                <a:cxn ang="0">
                  <a:pos x="0" y="0"/>
                </a:cxn>
              </a:cxnLst>
              <a:rect l="0" t="0" r="r" b="b"/>
              <a:pathLst>
                <a:path w="614" h="586">
                  <a:moveTo>
                    <a:pt x="601" y="586"/>
                  </a:moveTo>
                  <a:cubicBezTo>
                    <a:pt x="607" y="439"/>
                    <a:pt x="614" y="292"/>
                    <a:pt x="514" y="194"/>
                  </a:cubicBezTo>
                  <a:cubicBezTo>
                    <a:pt x="414" y="96"/>
                    <a:pt x="207" y="48"/>
                    <a:pt x="0" y="0"/>
                  </a:cubicBezTo>
                </a:path>
              </a:pathLst>
            </a:custGeom>
            <a:noFill/>
            <a:ln w="19050">
              <a:solidFill>
                <a:srgbClr val="006600"/>
              </a:solidFill>
              <a:prstDash val="dash"/>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55" name="Text Box 4"/>
            <p:cNvSpPr txBox="1">
              <a:spLocks noChangeArrowheads="1"/>
            </p:cNvSpPr>
            <p:nvPr/>
          </p:nvSpPr>
          <p:spPr bwMode="auto">
            <a:xfrm>
              <a:off x="6864980" y="2480541"/>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006600"/>
                  </a:solidFill>
                  <a:latin typeface="Consolas" pitchFamily="49" charset="0"/>
                  <a:ea typeface="仿宋" pitchFamily="49" charset="-122"/>
                  <a:cs typeface="Times New Roman" pitchFamily="18" charset="0"/>
                </a:rPr>
                <a:t>3</a:t>
              </a:r>
              <a:endParaRPr kumimoji="0" lang="en-US" altLang="zh-CN" sz="2000" b="0" i="0" u="none" strike="noStrike" cap="none" normalizeH="0" baseline="0">
                <a:ln>
                  <a:noFill/>
                </a:ln>
                <a:solidFill>
                  <a:srgbClr val="006600"/>
                </a:solidFill>
                <a:effectLst/>
                <a:latin typeface="Consolas" pitchFamily="49" charset="0"/>
                <a:ea typeface="仿宋" pitchFamily="49" charset="-122"/>
                <a:cs typeface="宋体" pitchFamily="2" charset="-122"/>
              </a:endParaRPr>
            </a:p>
          </p:txBody>
        </p:sp>
        <p:sp>
          <p:nvSpPr>
            <p:cNvPr id="56" name="Freeform 3"/>
            <p:cNvSpPr>
              <a:spLocks/>
            </p:cNvSpPr>
            <p:nvPr/>
          </p:nvSpPr>
          <p:spPr bwMode="auto">
            <a:xfrm>
              <a:off x="5647840" y="1749866"/>
              <a:ext cx="151157" cy="592688"/>
            </a:xfrm>
            <a:custGeom>
              <a:avLst/>
              <a:gdLst/>
              <a:ahLst/>
              <a:cxnLst>
                <a:cxn ang="0">
                  <a:pos x="115" y="451"/>
                </a:cxn>
                <a:cxn ang="0">
                  <a:pos x="18" y="321"/>
                </a:cxn>
                <a:cxn ang="0">
                  <a:pos x="9" y="168"/>
                </a:cxn>
                <a:cxn ang="0">
                  <a:pos x="67" y="0"/>
                </a:cxn>
              </a:cxnLst>
              <a:rect l="0" t="0" r="r" b="b"/>
              <a:pathLst>
                <a:path w="115" h="451">
                  <a:moveTo>
                    <a:pt x="115" y="451"/>
                  </a:moveTo>
                  <a:cubicBezTo>
                    <a:pt x="99" y="431"/>
                    <a:pt x="36" y="368"/>
                    <a:pt x="18" y="321"/>
                  </a:cubicBezTo>
                  <a:cubicBezTo>
                    <a:pt x="0" y="274"/>
                    <a:pt x="1" y="221"/>
                    <a:pt x="9" y="168"/>
                  </a:cubicBezTo>
                  <a:cubicBezTo>
                    <a:pt x="17" y="115"/>
                    <a:pt x="55" y="35"/>
                    <a:pt x="67" y="0"/>
                  </a:cubicBezTo>
                </a:path>
              </a:pathLst>
            </a:custGeom>
            <a:noFill/>
            <a:ln w="19050">
              <a:solidFill>
                <a:srgbClr val="006600"/>
              </a:solidFill>
              <a:prstDash val="dash"/>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57" name="Text Box 2"/>
            <p:cNvSpPr txBox="1">
              <a:spLocks noChangeArrowheads="1"/>
            </p:cNvSpPr>
            <p:nvPr/>
          </p:nvSpPr>
          <p:spPr bwMode="auto">
            <a:xfrm>
              <a:off x="5445422" y="1966703"/>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006600"/>
                  </a:solidFill>
                  <a:latin typeface="Consolas" pitchFamily="49" charset="0"/>
                  <a:ea typeface="仿宋" pitchFamily="49" charset="-122"/>
                  <a:cs typeface="Times New Roman" pitchFamily="18" charset="0"/>
                </a:rPr>
                <a:t>5</a:t>
              </a:r>
              <a:endParaRPr kumimoji="0" lang="en-US" altLang="zh-CN" sz="2000" b="0" i="0" u="none" strike="noStrike" cap="none" normalizeH="0" baseline="0">
                <a:ln>
                  <a:noFill/>
                </a:ln>
                <a:solidFill>
                  <a:srgbClr val="006600"/>
                </a:solidFill>
                <a:effectLst/>
                <a:latin typeface="Consolas" pitchFamily="49" charset="0"/>
                <a:ea typeface="仿宋" pitchFamily="49" charset="-122"/>
                <a:cs typeface="宋体" pitchFamily="2" charset="-122"/>
              </a:endParaRPr>
            </a:p>
          </p:txBody>
        </p:sp>
        <p:sp>
          <p:nvSpPr>
            <p:cNvPr id="58" name="任意多边形 57"/>
            <p:cNvSpPr/>
            <p:nvPr/>
          </p:nvSpPr>
          <p:spPr>
            <a:xfrm>
              <a:off x="6050848" y="3671894"/>
              <a:ext cx="94074" cy="553156"/>
            </a:xfrm>
            <a:custGeom>
              <a:avLst/>
              <a:gdLst>
                <a:gd name="connsiteX0" fmla="*/ 0 w 94074"/>
                <a:gd name="connsiteY0" fmla="*/ 553156 h 553156"/>
                <a:gd name="connsiteX1" fmla="*/ 90311 w 94074"/>
                <a:gd name="connsiteY1" fmla="*/ 406400 h 553156"/>
                <a:gd name="connsiteX2" fmla="*/ 22578 w 94074"/>
                <a:gd name="connsiteY2" fmla="*/ 0 h 553156"/>
              </a:gdLst>
              <a:ahLst/>
              <a:cxnLst>
                <a:cxn ang="0">
                  <a:pos x="connsiteX0" y="connsiteY0"/>
                </a:cxn>
                <a:cxn ang="0">
                  <a:pos x="connsiteX1" y="connsiteY1"/>
                </a:cxn>
                <a:cxn ang="0">
                  <a:pos x="connsiteX2" y="connsiteY2"/>
                </a:cxn>
              </a:cxnLst>
              <a:rect l="l" t="t" r="r" b="b"/>
              <a:pathLst>
                <a:path w="94074" h="553156">
                  <a:moveTo>
                    <a:pt x="0" y="553156"/>
                  </a:moveTo>
                  <a:cubicBezTo>
                    <a:pt x="43274" y="525874"/>
                    <a:pt x="86548" y="498592"/>
                    <a:pt x="90311" y="406400"/>
                  </a:cubicBezTo>
                  <a:cubicBezTo>
                    <a:pt x="94074" y="314208"/>
                    <a:pt x="58326" y="157104"/>
                    <a:pt x="22578" y="0"/>
                  </a:cubicBezTo>
                </a:path>
              </a:pathLst>
            </a:custGeom>
            <a:ln w="19050">
              <a:solidFill>
                <a:srgbClr val="006600"/>
              </a:solidFill>
              <a:prstDash val="dash"/>
              <a:headEnd type="none" w="med" len="med"/>
              <a:tailEnd type="arrow" w="med" len="med"/>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59" name="Text Box 6"/>
            <p:cNvSpPr txBox="1">
              <a:spLocks noChangeArrowheads="1"/>
            </p:cNvSpPr>
            <p:nvPr/>
          </p:nvSpPr>
          <p:spPr bwMode="auto">
            <a:xfrm>
              <a:off x="6182086" y="3846339"/>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006600"/>
                  </a:solidFill>
                  <a:latin typeface="Consolas" pitchFamily="49" charset="0"/>
                  <a:ea typeface="仿宋" pitchFamily="49" charset="-122"/>
                  <a:cs typeface="Times New Roman" pitchFamily="18" charset="0"/>
                </a:rPr>
                <a:t>3</a:t>
              </a:r>
              <a:endParaRPr kumimoji="0" lang="en-US" altLang="zh-CN" sz="2000" b="0" i="0" u="none" strike="noStrike" cap="none" normalizeH="0" baseline="0">
                <a:ln>
                  <a:noFill/>
                </a:ln>
                <a:solidFill>
                  <a:srgbClr val="006600"/>
                </a:solidFill>
                <a:effectLst/>
                <a:latin typeface="Consolas" pitchFamily="49" charset="0"/>
                <a:ea typeface="仿宋" pitchFamily="49" charset="-122"/>
                <a:cs typeface="宋体" pitchFamily="2" charset="-122"/>
              </a:endParaRPr>
            </a:p>
          </p:txBody>
        </p:sp>
        <p:cxnSp>
          <p:nvCxnSpPr>
            <p:cNvPr id="60" name="直接箭头连接符 59"/>
            <p:cNvCxnSpPr>
              <a:stCxn id="42" idx="6"/>
              <a:endCxn id="43" idx="2"/>
            </p:cNvCxnSpPr>
            <p:nvPr/>
          </p:nvCxnSpPr>
          <p:spPr>
            <a:xfrm>
              <a:off x="6144686" y="3475364"/>
              <a:ext cx="583596" cy="1588"/>
            </a:xfrm>
            <a:prstGeom prst="straightConnector1">
              <a:avLst/>
            </a:prstGeom>
            <a:ln w="19050">
              <a:solidFill>
                <a:srgbClr val="006600"/>
              </a:solidFill>
              <a:prstDash val="dash"/>
              <a:tailEnd type="arrow"/>
            </a:ln>
          </p:spPr>
          <p:style>
            <a:lnRef idx="2">
              <a:schemeClr val="dk1"/>
            </a:lnRef>
            <a:fillRef idx="0">
              <a:schemeClr val="dk1"/>
            </a:fillRef>
            <a:effectRef idx="1">
              <a:schemeClr val="dk1"/>
            </a:effectRef>
            <a:fontRef idx="minor">
              <a:schemeClr val="tx1"/>
            </a:fontRef>
          </p:style>
        </p:cxnSp>
        <p:cxnSp>
          <p:nvCxnSpPr>
            <p:cNvPr id="62" name="直接箭头连接符 61"/>
            <p:cNvCxnSpPr>
              <a:stCxn id="42" idx="0"/>
              <a:endCxn id="44" idx="4"/>
            </p:cNvCxnSpPr>
            <p:nvPr/>
          </p:nvCxnSpPr>
          <p:spPr>
            <a:xfrm rot="5400000" flipH="1" flipV="1">
              <a:off x="5686662" y="2998322"/>
              <a:ext cx="507268" cy="1588"/>
            </a:xfrm>
            <a:prstGeom prst="straightConnector1">
              <a:avLst/>
            </a:prstGeom>
            <a:ln w="19050">
              <a:solidFill>
                <a:srgbClr val="006600"/>
              </a:solidFill>
              <a:prstDash val="dash"/>
              <a:tailEnd type="arrow"/>
            </a:ln>
          </p:spPr>
          <p:style>
            <a:lnRef idx="2">
              <a:schemeClr val="dk1"/>
            </a:lnRef>
            <a:fillRef idx="0">
              <a:schemeClr val="dk1"/>
            </a:fillRef>
            <a:effectRef idx="1">
              <a:schemeClr val="dk1"/>
            </a:effectRef>
            <a:fontRef idx="minor">
              <a:schemeClr val="tx1"/>
            </a:fontRef>
          </p:style>
        </p:cxnSp>
      </p:grpSp>
      <p:sp>
        <p:nvSpPr>
          <p:cNvPr id="63" name="右箭头 62"/>
          <p:cNvSpPr/>
          <p:nvPr/>
        </p:nvSpPr>
        <p:spPr>
          <a:xfrm>
            <a:off x="4000496" y="3286124"/>
            <a:ext cx="428628" cy="285752"/>
          </a:xfrm>
          <a:prstGeom prst="right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65" name="灯片编号占位符 64"/>
          <p:cNvSpPr>
            <a:spLocks noGrp="1"/>
          </p:cNvSpPr>
          <p:nvPr>
            <p:ph type="sldNum" sz="quarter" idx="12"/>
          </p:nvPr>
        </p:nvSpPr>
        <p:spPr/>
        <p:txBody>
          <a:bodyPr/>
          <a:lstStyle/>
          <a:p>
            <a:fld id="{7AF016A1-9F15-429F-9EFD-84004B73C732}" type="slidenum">
              <a:rPr lang="en-US" altLang="zh-CN" smtClean="0"/>
              <a:pPr/>
              <a:t>113</a:t>
            </a:fld>
            <a:r>
              <a:rPr lang="en-US" altLang="zh-CN"/>
              <a:t>/158</a:t>
            </a: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减号 26"/>
          <p:cNvSpPr/>
          <p:nvPr/>
        </p:nvSpPr>
        <p:spPr>
          <a:xfrm>
            <a:off x="2665752" y="3331280"/>
            <a:ext cx="428628" cy="428628"/>
          </a:xfrm>
          <a:prstGeom prst="mathMinus">
            <a:avLst/>
          </a:prstGeom>
          <a:solidFill>
            <a:schemeClr val="tx1"/>
          </a:solidFill>
          <a:ln w="19050">
            <a:tailEnd type="none"/>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28" name="等于号 27"/>
          <p:cNvSpPr/>
          <p:nvPr/>
        </p:nvSpPr>
        <p:spPr>
          <a:xfrm>
            <a:off x="5715008" y="3331280"/>
            <a:ext cx="500066" cy="428628"/>
          </a:xfrm>
          <a:prstGeom prst="mathEqual">
            <a:avLst/>
          </a:prstGeom>
          <a:solidFill>
            <a:schemeClr val="tx1"/>
          </a:solidFill>
          <a:ln w="19050">
            <a:tailEnd type="none"/>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solidFill>
                <a:schemeClr val="tx1"/>
              </a:solidFill>
            </a:endParaRPr>
          </a:p>
        </p:txBody>
      </p:sp>
      <p:grpSp>
        <p:nvGrpSpPr>
          <p:cNvPr id="29" name="组合 28"/>
          <p:cNvGrpSpPr/>
          <p:nvPr/>
        </p:nvGrpSpPr>
        <p:grpSpPr>
          <a:xfrm>
            <a:off x="3146593" y="1571612"/>
            <a:ext cx="2354101" cy="3113257"/>
            <a:chOff x="4782961" y="1500174"/>
            <a:chExt cx="2354101" cy="3113257"/>
          </a:xfrm>
        </p:grpSpPr>
        <p:sp>
          <p:nvSpPr>
            <p:cNvPr id="30" name="Text Box 27"/>
            <p:cNvSpPr txBox="1">
              <a:spLocks noChangeArrowheads="1"/>
            </p:cNvSpPr>
            <p:nvPr/>
          </p:nvSpPr>
          <p:spPr bwMode="auto">
            <a:xfrm>
              <a:off x="5735906" y="2877419"/>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6600"/>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6600"/>
                </a:solidFill>
                <a:effectLst/>
                <a:latin typeface="Consolas" pitchFamily="49" charset="0"/>
                <a:ea typeface="仿宋" pitchFamily="49" charset="-122"/>
                <a:cs typeface="宋体" pitchFamily="2" charset="-122"/>
              </a:endParaRPr>
            </a:p>
          </p:txBody>
        </p:sp>
        <p:sp>
          <p:nvSpPr>
            <p:cNvPr id="31" name="Text Box 24"/>
            <p:cNvSpPr txBox="1">
              <a:spLocks noChangeArrowheads="1"/>
            </p:cNvSpPr>
            <p:nvPr/>
          </p:nvSpPr>
          <p:spPr bwMode="auto">
            <a:xfrm>
              <a:off x="5240374" y="3839388"/>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32" name="Text Box 23"/>
            <p:cNvSpPr txBox="1">
              <a:spLocks noChangeArrowheads="1"/>
            </p:cNvSpPr>
            <p:nvPr/>
          </p:nvSpPr>
          <p:spPr bwMode="auto">
            <a:xfrm>
              <a:off x="5299523" y="2744688"/>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33" name="Text Box 22"/>
            <p:cNvSpPr txBox="1">
              <a:spLocks noChangeArrowheads="1"/>
            </p:cNvSpPr>
            <p:nvPr/>
          </p:nvSpPr>
          <p:spPr bwMode="auto">
            <a:xfrm>
              <a:off x="6356305" y="3177049"/>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6600"/>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6600"/>
                </a:solidFill>
                <a:effectLst/>
                <a:latin typeface="Consolas" pitchFamily="49" charset="0"/>
                <a:ea typeface="仿宋" pitchFamily="49" charset="-122"/>
                <a:cs typeface="宋体" pitchFamily="2" charset="-122"/>
              </a:endParaRPr>
            </a:p>
          </p:txBody>
        </p:sp>
        <p:sp>
          <p:nvSpPr>
            <p:cNvPr id="34" name="Oval 21"/>
            <p:cNvSpPr>
              <a:spLocks noChangeArrowheads="1"/>
            </p:cNvSpPr>
            <p:nvPr/>
          </p:nvSpPr>
          <p:spPr bwMode="auto">
            <a:xfrm>
              <a:off x="5735906" y="1500174"/>
              <a:ext cx="411409" cy="448130"/>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0</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35" name="Oval 20"/>
            <p:cNvSpPr>
              <a:spLocks noChangeArrowheads="1"/>
            </p:cNvSpPr>
            <p:nvPr/>
          </p:nvSpPr>
          <p:spPr bwMode="auto">
            <a:xfrm>
              <a:off x="4782961" y="3251956"/>
              <a:ext cx="410095" cy="44681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36" name="Oval 19"/>
            <p:cNvSpPr>
              <a:spLocks noChangeArrowheads="1"/>
            </p:cNvSpPr>
            <p:nvPr/>
          </p:nvSpPr>
          <p:spPr bwMode="auto">
            <a:xfrm>
              <a:off x="5735906" y="3251956"/>
              <a:ext cx="408780" cy="44681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37" name="Oval 18"/>
            <p:cNvSpPr>
              <a:spLocks noChangeArrowheads="1"/>
            </p:cNvSpPr>
            <p:nvPr/>
          </p:nvSpPr>
          <p:spPr bwMode="auto">
            <a:xfrm>
              <a:off x="6728282" y="3251956"/>
              <a:ext cx="408780" cy="44681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38" name="Oval 17"/>
            <p:cNvSpPr>
              <a:spLocks noChangeArrowheads="1"/>
            </p:cNvSpPr>
            <p:nvPr/>
          </p:nvSpPr>
          <p:spPr bwMode="auto">
            <a:xfrm>
              <a:off x="5735906" y="2297872"/>
              <a:ext cx="408780" cy="44681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39" name="Oval 16"/>
            <p:cNvSpPr>
              <a:spLocks noChangeArrowheads="1"/>
            </p:cNvSpPr>
            <p:nvPr/>
          </p:nvSpPr>
          <p:spPr bwMode="auto">
            <a:xfrm>
              <a:off x="5735906" y="4166615"/>
              <a:ext cx="408780" cy="446816"/>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5</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0" name="AutoShape 14"/>
            <p:cNvSpPr>
              <a:spLocks noChangeShapeType="1"/>
            </p:cNvSpPr>
            <p:nvPr/>
          </p:nvSpPr>
          <p:spPr bwMode="auto">
            <a:xfrm flipH="1">
              <a:off x="5132593" y="2678980"/>
              <a:ext cx="663775" cy="63868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41" name="AutoShape 11"/>
            <p:cNvSpPr>
              <a:spLocks noChangeShapeType="1"/>
            </p:cNvSpPr>
            <p:nvPr/>
          </p:nvSpPr>
          <p:spPr bwMode="auto">
            <a:xfrm>
              <a:off x="5132593" y="3633064"/>
              <a:ext cx="663775" cy="599259"/>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43" name="Freeform 7"/>
            <p:cNvSpPr>
              <a:spLocks/>
            </p:cNvSpPr>
            <p:nvPr/>
          </p:nvSpPr>
          <p:spPr bwMode="auto">
            <a:xfrm>
              <a:off x="6147315" y="3690887"/>
              <a:ext cx="789958" cy="646569"/>
            </a:xfrm>
            <a:custGeom>
              <a:avLst/>
              <a:gdLst/>
              <a:ahLst/>
              <a:cxnLst>
                <a:cxn ang="0">
                  <a:pos x="0" y="484"/>
                </a:cxn>
                <a:cxn ang="0">
                  <a:pos x="270" y="467"/>
                </a:cxn>
                <a:cxn ang="0">
                  <a:pos x="514" y="335"/>
                </a:cxn>
                <a:cxn ang="0">
                  <a:pos x="601" y="0"/>
                </a:cxn>
              </a:cxnLst>
              <a:rect l="0" t="0" r="r" b="b"/>
              <a:pathLst>
                <a:path w="601" h="492">
                  <a:moveTo>
                    <a:pt x="0" y="484"/>
                  </a:moveTo>
                  <a:cubicBezTo>
                    <a:pt x="92" y="488"/>
                    <a:pt x="184" y="492"/>
                    <a:pt x="270" y="467"/>
                  </a:cubicBezTo>
                  <a:cubicBezTo>
                    <a:pt x="356" y="442"/>
                    <a:pt x="459" y="413"/>
                    <a:pt x="514" y="335"/>
                  </a:cubicBezTo>
                  <a:cubicBezTo>
                    <a:pt x="569" y="257"/>
                    <a:pt x="585" y="128"/>
                    <a:pt x="601" y="0"/>
                  </a:cubicBezTo>
                </a:path>
              </a:pathLst>
            </a:custGeom>
            <a:noFill/>
            <a:ln w="19050">
              <a:solidFill>
                <a:srgbClr val="006600"/>
              </a:solidFill>
              <a:prstDash val="dash"/>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44" name="Text Box 6"/>
            <p:cNvSpPr txBox="1">
              <a:spLocks noChangeArrowheads="1"/>
            </p:cNvSpPr>
            <p:nvPr/>
          </p:nvSpPr>
          <p:spPr bwMode="auto">
            <a:xfrm>
              <a:off x="6870238" y="4068052"/>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6600"/>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6600"/>
                </a:solidFill>
                <a:effectLst/>
                <a:latin typeface="Consolas" pitchFamily="49" charset="0"/>
                <a:ea typeface="仿宋" pitchFamily="49" charset="-122"/>
                <a:cs typeface="宋体" pitchFamily="2" charset="-122"/>
              </a:endParaRPr>
            </a:p>
          </p:txBody>
        </p:sp>
        <p:sp>
          <p:nvSpPr>
            <p:cNvPr id="45" name="Freeform 5"/>
            <p:cNvSpPr>
              <a:spLocks/>
            </p:cNvSpPr>
            <p:nvPr/>
          </p:nvSpPr>
          <p:spPr bwMode="auto">
            <a:xfrm>
              <a:off x="6147315" y="2481855"/>
              <a:ext cx="807045" cy="770101"/>
            </a:xfrm>
            <a:custGeom>
              <a:avLst/>
              <a:gdLst/>
              <a:ahLst/>
              <a:cxnLst>
                <a:cxn ang="0">
                  <a:pos x="601" y="586"/>
                </a:cxn>
                <a:cxn ang="0">
                  <a:pos x="514" y="194"/>
                </a:cxn>
                <a:cxn ang="0">
                  <a:pos x="0" y="0"/>
                </a:cxn>
              </a:cxnLst>
              <a:rect l="0" t="0" r="r" b="b"/>
              <a:pathLst>
                <a:path w="614" h="586">
                  <a:moveTo>
                    <a:pt x="601" y="586"/>
                  </a:moveTo>
                  <a:cubicBezTo>
                    <a:pt x="607" y="439"/>
                    <a:pt x="614" y="292"/>
                    <a:pt x="514" y="194"/>
                  </a:cubicBezTo>
                  <a:cubicBezTo>
                    <a:pt x="414" y="96"/>
                    <a:pt x="207" y="48"/>
                    <a:pt x="0" y="0"/>
                  </a:cubicBezTo>
                </a:path>
              </a:pathLst>
            </a:custGeom>
            <a:noFill/>
            <a:ln w="19050">
              <a:solidFill>
                <a:srgbClr val="006600"/>
              </a:solidFill>
              <a:prstDash val="dash"/>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46" name="Text Box 4"/>
            <p:cNvSpPr txBox="1">
              <a:spLocks noChangeArrowheads="1"/>
            </p:cNvSpPr>
            <p:nvPr/>
          </p:nvSpPr>
          <p:spPr bwMode="auto">
            <a:xfrm>
              <a:off x="6864980" y="2480541"/>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006600"/>
                  </a:solidFill>
                  <a:latin typeface="Consolas" pitchFamily="49" charset="0"/>
                  <a:ea typeface="仿宋" pitchFamily="49" charset="-122"/>
                  <a:cs typeface="Times New Roman" pitchFamily="18" charset="0"/>
                </a:rPr>
                <a:t>3</a:t>
              </a:r>
              <a:endParaRPr kumimoji="0" lang="en-US" altLang="zh-CN" sz="2000" b="0" i="0" u="none" strike="noStrike" cap="none" normalizeH="0" baseline="0">
                <a:ln>
                  <a:noFill/>
                </a:ln>
                <a:solidFill>
                  <a:srgbClr val="006600"/>
                </a:solidFill>
                <a:effectLst/>
                <a:latin typeface="Consolas" pitchFamily="49" charset="0"/>
                <a:ea typeface="仿宋" pitchFamily="49" charset="-122"/>
                <a:cs typeface="宋体" pitchFamily="2" charset="-122"/>
              </a:endParaRPr>
            </a:p>
          </p:txBody>
        </p:sp>
        <p:sp>
          <p:nvSpPr>
            <p:cNvPr id="47" name="Freeform 3"/>
            <p:cNvSpPr>
              <a:spLocks/>
            </p:cNvSpPr>
            <p:nvPr/>
          </p:nvSpPr>
          <p:spPr bwMode="auto">
            <a:xfrm>
              <a:off x="5647840" y="1749866"/>
              <a:ext cx="151157" cy="592688"/>
            </a:xfrm>
            <a:custGeom>
              <a:avLst/>
              <a:gdLst/>
              <a:ahLst/>
              <a:cxnLst>
                <a:cxn ang="0">
                  <a:pos x="115" y="451"/>
                </a:cxn>
                <a:cxn ang="0">
                  <a:pos x="18" y="321"/>
                </a:cxn>
                <a:cxn ang="0">
                  <a:pos x="9" y="168"/>
                </a:cxn>
                <a:cxn ang="0">
                  <a:pos x="67" y="0"/>
                </a:cxn>
              </a:cxnLst>
              <a:rect l="0" t="0" r="r" b="b"/>
              <a:pathLst>
                <a:path w="115" h="451">
                  <a:moveTo>
                    <a:pt x="115" y="451"/>
                  </a:moveTo>
                  <a:cubicBezTo>
                    <a:pt x="99" y="431"/>
                    <a:pt x="36" y="368"/>
                    <a:pt x="18" y="321"/>
                  </a:cubicBezTo>
                  <a:cubicBezTo>
                    <a:pt x="0" y="274"/>
                    <a:pt x="1" y="221"/>
                    <a:pt x="9" y="168"/>
                  </a:cubicBezTo>
                  <a:cubicBezTo>
                    <a:pt x="17" y="115"/>
                    <a:pt x="55" y="35"/>
                    <a:pt x="67" y="0"/>
                  </a:cubicBezTo>
                </a:path>
              </a:pathLst>
            </a:custGeom>
            <a:noFill/>
            <a:ln w="19050">
              <a:solidFill>
                <a:srgbClr val="006600"/>
              </a:solidFill>
              <a:prstDash val="dash"/>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48" name="Text Box 2"/>
            <p:cNvSpPr txBox="1">
              <a:spLocks noChangeArrowheads="1"/>
            </p:cNvSpPr>
            <p:nvPr/>
          </p:nvSpPr>
          <p:spPr bwMode="auto">
            <a:xfrm>
              <a:off x="5445422" y="1966703"/>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006600"/>
                  </a:solidFill>
                  <a:latin typeface="Consolas" pitchFamily="49" charset="0"/>
                  <a:ea typeface="仿宋" pitchFamily="49" charset="-122"/>
                  <a:cs typeface="Times New Roman" pitchFamily="18" charset="0"/>
                </a:rPr>
                <a:t>5</a:t>
              </a:r>
              <a:endParaRPr kumimoji="0" lang="en-US" altLang="zh-CN" sz="2000" b="0" i="0" u="none" strike="noStrike" cap="none" normalizeH="0" baseline="0">
                <a:ln>
                  <a:noFill/>
                </a:ln>
                <a:solidFill>
                  <a:srgbClr val="006600"/>
                </a:solidFill>
                <a:effectLst/>
                <a:latin typeface="Consolas" pitchFamily="49" charset="0"/>
                <a:ea typeface="仿宋" pitchFamily="49" charset="-122"/>
                <a:cs typeface="宋体" pitchFamily="2" charset="-122"/>
              </a:endParaRPr>
            </a:p>
          </p:txBody>
        </p:sp>
        <p:sp>
          <p:nvSpPr>
            <p:cNvPr id="49" name="任意多边形 48"/>
            <p:cNvSpPr/>
            <p:nvPr/>
          </p:nvSpPr>
          <p:spPr>
            <a:xfrm>
              <a:off x="6050848" y="3671894"/>
              <a:ext cx="94074" cy="553156"/>
            </a:xfrm>
            <a:custGeom>
              <a:avLst/>
              <a:gdLst>
                <a:gd name="connsiteX0" fmla="*/ 0 w 94074"/>
                <a:gd name="connsiteY0" fmla="*/ 553156 h 553156"/>
                <a:gd name="connsiteX1" fmla="*/ 90311 w 94074"/>
                <a:gd name="connsiteY1" fmla="*/ 406400 h 553156"/>
                <a:gd name="connsiteX2" fmla="*/ 22578 w 94074"/>
                <a:gd name="connsiteY2" fmla="*/ 0 h 553156"/>
              </a:gdLst>
              <a:ahLst/>
              <a:cxnLst>
                <a:cxn ang="0">
                  <a:pos x="connsiteX0" y="connsiteY0"/>
                </a:cxn>
                <a:cxn ang="0">
                  <a:pos x="connsiteX1" y="connsiteY1"/>
                </a:cxn>
                <a:cxn ang="0">
                  <a:pos x="connsiteX2" y="connsiteY2"/>
                </a:cxn>
              </a:cxnLst>
              <a:rect l="l" t="t" r="r" b="b"/>
              <a:pathLst>
                <a:path w="94074" h="553156">
                  <a:moveTo>
                    <a:pt x="0" y="553156"/>
                  </a:moveTo>
                  <a:cubicBezTo>
                    <a:pt x="43274" y="525874"/>
                    <a:pt x="86548" y="498592"/>
                    <a:pt x="90311" y="406400"/>
                  </a:cubicBezTo>
                  <a:cubicBezTo>
                    <a:pt x="94074" y="314208"/>
                    <a:pt x="58326" y="157104"/>
                    <a:pt x="22578" y="0"/>
                  </a:cubicBezTo>
                </a:path>
              </a:pathLst>
            </a:custGeom>
            <a:ln w="19050">
              <a:solidFill>
                <a:srgbClr val="006600"/>
              </a:solidFill>
              <a:prstDash val="dash"/>
              <a:headEnd type="none" w="med" len="med"/>
              <a:tailEnd type="arrow" w="med" len="med"/>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50" name="Text Box 6"/>
            <p:cNvSpPr txBox="1">
              <a:spLocks noChangeArrowheads="1"/>
            </p:cNvSpPr>
            <p:nvPr/>
          </p:nvSpPr>
          <p:spPr bwMode="auto">
            <a:xfrm>
              <a:off x="6182086" y="3846339"/>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006600"/>
                  </a:solidFill>
                  <a:latin typeface="Consolas" pitchFamily="49" charset="0"/>
                  <a:ea typeface="仿宋" pitchFamily="49" charset="-122"/>
                  <a:cs typeface="Times New Roman" pitchFamily="18" charset="0"/>
                </a:rPr>
                <a:t>3</a:t>
              </a:r>
              <a:endParaRPr kumimoji="0" lang="en-US" altLang="zh-CN" sz="2000" b="0" i="0" u="none" strike="noStrike" cap="none" normalizeH="0" baseline="0">
                <a:ln>
                  <a:noFill/>
                </a:ln>
                <a:solidFill>
                  <a:srgbClr val="006600"/>
                </a:solidFill>
                <a:effectLst/>
                <a:latin typeface="Consolas" pitchFamily="49" charset="0"/>
                <a:ea typeface="仿宋" pitchFamily="49" charset="-122"/>
                <a:cs typeface="宋体" pitchFamily="2" charset="-122"/>
              </a:endParaRPr>
            </a:p>
          </p:txBody>
        </p:sp>
        <p:cxnSp>
          <p:nvCxnSpPr>
            <p:cNvPr id="51" name="直接箭头连接符 50"/>
            <p:cNvCxnSpPr>
              <a:stCxn id="36" idx="6"/>
              <a:endCxn id="37" idx="2"/>
            </p:cNvCxnSpPr>
            <p:nvPr/>
          </p:nvCxnSpPr>
          <p:spPr>
            <a:xfrm>
              <a:off x="6144686" y="3475364"/>
              <a:ext cx="583596" cy="1588"/>
            </a:xfrm>
            <a:prstGeom prst="straightConnector1">
              <a:avLst/>
            </a:prstGeom>
            <a:ln w="19050">
              <a:solidFill>
                <a:srgbClr val="006600"/>
              </a:solidFill>
              <a:prstDash val="dash"/>
              <a:tailEnd type="arrow"/>
            </a:ln>
          </p:spPr>
          <p:style>
            <a:lnRef idx="2">
              <a:schemeClr val="dk1"/>
            </a:lnRef>
            <a:fillRef idx="0">
              <a:schemeClr val="dk1"/>
            </a:fillRef>
            <a:effectRef idx="1">
              <a:schemeClr val="dk1"/>
            </a:effectRef>
            <a:fontRef idx="minor">
              <a:schemeClr val="tx1"/>
            </a:fontRef>
          </p:style>
        </p:cxnSp>
        <p:cxnSp>
          <p:nvCxnSpPr>
            <p:cNvPr id="52" name="直接箭头连接符 51"/>
            <p:cNvCxnSpPr>
              <a:stCxn id="36" idx="0"/>
              <a:endCxn id="38" idx="4"/>
            </p:cNvCxnSpPr>
            <p:nvPr/>
          </p:nvCxnSpPr>
          <p:spPr>
            <a:xfrm rot="5400000" flipH="1" flipV="1">
              <a:off x="5686662" y="2998322"/>
              <a:ext cx="507268" cy="1588"/>
            </a:xfrm>
            <a:prstGeom prst="straightConnector1">
              <a:avLst/>
            </a:prstGeom>
            <a:ln w="19050">
              <a:solidFill>
                <a:srgbClr val="006600"/>
              </a:solidFill>
              <a:prstDash val="dash"/>
              <a:tailEnd type="arrow"/>
            </a:ln>
          </p:spPr>
          <p:style>
            <a:lnRef idx="2">
              <a:schemeClr val="dk1"/>
            </a:lnRef>
            <a:fillRef idx="0">
              <a:schemeClr val="dk1"/>
            </a:fillRef>
            <a:effectRef idx="1">
              <a:schemeClr val="dk1"/>
            </a:effectRef>
            <a:fontRef idx="minor">
              <a:schemeClr val="tx1"/>
            </a:fontRef>
          </p:style>
        </p:cxnSp>
      </p:grpSp>
      <p:sp>
        <p:nvSpPr>
          <p:cNvPr id="76" name="TextBox 75"/>
          <p:cNvSpPr txBox="1"/>
          <p:nvPr/>
        </p:nvSpPr>
        <p:spPr>
          <a:xfrm>
            <a:off x="428596" y="571480"/>
            <a:ext cx="3071834" cy="430887"/>
          </a:xfrm>
          <a:prstGeom prst="rect">
            <a:avLst/>
          </a:prstGeom>
          <a:noFill/>
        </p:spPr>
        <p:txBody>
          <a:bodyPr wrap="square" rtlCol="0">
            <a:spAutoFit/>
          </a:bodyPr>
          <a:lstStyle/>
          <a:p>
            <a:pPr algn="l">
              <a:lnSpc>
                <a:spcPct val="100000"/>
              </a:lnSpc>
              <a:spcBef>
                <a:spcPts val="0"/>
              </a:spcBef>
            </a:pPr>
            <a:r>
              <a:rPr lang="zh-CN" altLang="zh-CN" sz="2200">
                <a:solidFill>
                  <a:srgbClr val="0000FF"/>
                </a:solidFill>
                <a:latin typeface="楷体" pitchFamily="49" charset="-122"/>
                <a:ea typeface="楷体" pitchFamily="49" charset="-122"/>
              </a:rPr>
              <a:t>再已找不到增广路径</a:t>
            </a:r>
            <a:endParaRPr lang="zh-CN" altLang="en-US" sz="2200">
              <a:solidFill>
                <a:srgbClr val="0000FF"/>
              </a:solidFill>
              <a:latin typeface="楷体" pitchFamily="49" charset="-122"/>
              <a:ea typeface="楷体" pitchFamily="49" charset="-122"/>
              <a:cs typeface="Consolas" pitchFamily="49" charset="0"/>
            </a:endParaRPr>
          </a:p>
        </p:txBody>
      </p:sp>
      <p:grpSp>
        <p:nvGrpSpPr>
          <p:cNvPr id="77" name="组合 76"/>
          <p:cNvGrpSpPr/>
          <p:nvPr/>
        </p:nvGrpSpPr>
        <p:grpSpPr>
          <a:xfrm>
            <a:off x="285720" y="1597895"/>
            <a:ext cx="2354101" cy="3545617"/>
            <a:chOff x="724862" y="1169267"/>
            <a:chExt cx="2354101" cy="3545617"/>
          </a:xfrm>
        </p:grpSpPr>
        <p:sp>
          <p:nvSpPr>
            <p:cNvPr id="78" name="Text Box 51"/>
            <p:cNvSpPr txBox="1">
              <a:spLocks noChangeArrowheads="1"/>
            </p:cNvSpPr>
            <p:nvPr/>
          </p:nvSpPr>
          <p:spPr bwMode="auto">
            <a:xfrm>
              <a:off x="1714610" y="3437516"/>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79" name="Text Box 50"/>
            <p:cNvSpPr txBox="1">
              <a:spLocks noChangeArrowheads="1"/>
            </p:cNvSpPr>
            <p:nvPr/>
          </p:nvSpPr>
          <p:spPr bwMode="auto">
            <a:xfrm>
              <a:off x="1677807" y="2546512"/>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80" name="Text Box 49"/>
            <p:cNvSpPr txBox="1">
              <a:spLocks noChangeArrowheads="1"/>
            </p:cNvSpPr>
            <p:nvPr/>
          </p:nvSpPr>
          <p:spPr bwMode="auto">
            <a:xfrm>
              <a:off x="1982749" y="1620026"/>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5</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81" name="Text Box 48"/>
            <p:cNvSpPr txBox="1">
              <a:spLocks noChangeArrowheads="1"/>
            </p:cNvSpPr>
            <p:nvPr/>
          </p:nvSpPr>
          <p:spPr bwMode="auto">
            <a:xfrm>
              <a:off x="2444105" y="2413781"/>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82" name="Text Box 47"/>
            <p:cNvSpPr txBox="1">
              <a:spLocks noChangeArrowheads="1"/>
            </p:cNvSpPr>
            <p:nvPr/>
          </p:nvSpPr>
          <p:spPr bwMode="auto">
            <a:xfrm>
              <a:off x="1182276" y="3508481"/>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83" name="Text Box 46"/>
            <p:cNvSpPr txBox="1">
              <a:spLocks noChangeArrowheads="1"/>
            </p:cNvSpPr>
            <p:nvPr/>
          </p:nvSpPr>
          <p:spPr bwMode="auto">
            <a:xfrm>
              <a:off x="1241424" y="2413781"/>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84" name="Text Box 45"/>
            <p:cNvSpPr txBox="1">
              <a:spLocks noChangeArrowheads="1"/>
            </p:cNvSpPr>
            <p:nvPr/>
          </p:nvSpPr>
          <p:spPr bwMode="auto">
            <a:xfrm>
              <a:off x="2298206" y="2846142"/>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85" name="Text Box 44"/>
            <p:cNvSpPr txBox="1">
              <a:spLocks noChangeArrowheads="1"/>
            </p:cNvSpPr>
            <p:nvPr/>
          </p:nvSpPr>
          <p:spPr bwMode="auto">
            <a:xfrm>
              <a:off x="2379700" y="3559733"/>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86" name="Oval 43"/>
            <p:cNvSpPr>
              <a:spLocks noChangeArrowheads="1"/>
            </p:cNvSpPr>
            <p:nvPr/>
          </p:nvSpPr>
          <p:spPr bwMode="auto">
            <a:xfrm>
              <a:off x="1677807" y="1169267"/>
              <a:ext cx="411409" cy="448130"/>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0</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87" name="Oval 42"/>
            <p:cNvSpPr>
              <a:spLocks noChangeArrowheads="1"/>
            </p:cNvSpPr>
            <p:nvPr/>
          </p:nvSpPr>
          <p:spPr bwMode="auto">
            <a:xfrm>
              <a:off x="724862" y="2921049"/>
              <a:ext cx="410095" cy="44681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88" name="Oval 41"/>
            <p:cNvSpPr>
              <a:spLocks noChangeArrowheads="1"/>
            </p:cNvSpPr>
            <p:nvPr/>
          </p:nvSpPr>
          <p:spPr bwMode="auto">
            <a:xfrm>
              <a:off x="1677807" y="2921049"/>
              <a:ext cx="408780" cy="44681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89" name="Oval 40"/>
            <p:cNvSpPr>
              <a:spLocks noChangeArrowheads="1"/>
            </p:cNvSpPr>
            <p:nvPr/>
          </p:nvSpPr>
          <p:spPr bwMode="auto">
            <a:xfrm>
              <a:off x="2670183" y="2921049"/>
              <a:ext cx="408780" cy="44681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90" name="Oval 39"/>
            <p:cNvSpPr>
              <a:spLocks noChangeArrowheads="1"/>
            </p:cNvSpPr>
            <p:nvPr/>
          </p:nvSpPr>
          <p:spPr bwMode="auto">
            <a:xfrm>
              <a:off x="1677807" y="1966965"/>
              <a:ext cx="408780" cy="44681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91" name="Oval 38"/>
            <p:cNvSpPr>
              <a:spLocks noChangeArrowheads="1"/>
            </p:cNvSpPr>
            <p:nvPr/>
          </p:nvSpPr>
          <p:spPr bwMode="auto">
            <a:xfrm>
              <a:off x="1677807" y="3835708"/>
              <a:ext cx="408780" cy="446816"/>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5</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92" name="AutoShape 37"/>
            <p:cNvSpPr>
              <a:spLocks noChangeShapeType="1"/>
            </p:cNvSpPr>
            <p:nvPr/>
          </p:nvSpPr>
          <p:spPr bwMode="auto">
            <a:xfrm flipH="1">
              <a:off x="1882854" y="1617398"/>
              <a:ext cx="1314" cy="349568"/>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93" name="AutoShape 36"/>
            <p:cNvSpPr>
              <a:spLocks noChangeShapeType="1"/>
            </p:cNvSpPr>
            <p:nvPr/>
          </p:nvSpPr>
          <p:spPr bwMode="auto">
            <a:xfrm flipH="1">
              <a:off x="1074494" y="2348073"/>
              <a:ext cx="663775" cy="63868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94" name="AutoShape 35"/>
            <p:cNvSpPr>
              <a:spLocks noChangeShapeType="1"/>
            </p:cNvSpPr>
            <p:nvPr/>
          </p:nvSpPr>
          <p:spPr bwMode="auto">
            <a:xfrm>
              <a:off x="1882854" y="2413781"/>
              <a:ext cx="1314" cy="507268"/>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95" name="AutoShape 34"/>
            <p:cNvSpPr>
              <a:spLocks noChangeShapeType="1"/>
            </p:cNvSpPr>
            <p:nvPr/>
          </p:nvSpPr>
          <p:spPr bwMode="auto">
            <a:xfrm>
              <a:off x="2026124" y="2348073"/>
              <a:ext cx="704522" cy="63868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96" name="AutoShape 33"/>
            <p:cNvSpPr>
              <a:spLocks noChangeShapeType="1"/>
            </p:cNvSpPr>
            <p:nvPr/>
          </p:nvSpPr>
          <p:spPr bwMode="auto">
            <a:xfrm>
              <a:off x="1074494" y="3302157"/>
              <a:ext cx="663775" cy="599259"/>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97" name="AutoShape 32"/>
            <p:cNvSpPr>
              <a:spLocks noChangeShapeType="1"/>
            </p:cNvSpPr>
            <p:nvPr/>
          </p:nvSpPr>
          <p:spPr bwMode="auto">
            <a:xfrm>
              <a:off x="1882854" y="3367865"/>
              <a:ext cx="1314" cy="467843"/>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98" name="AutoShape 31"/>
            <p:cNvSpPr>
              <a:spLocks noChangeShapeType="1"/>
            </p:cNvSpPr>
            <p:nvPr/>
          </p:nvSpPr>
          <p:spPr bwMode="auto">
            <a:xfrm flipH="1">
              <a:off x="2026124" y="3302157"/>
              <a:ext cx="704522" cy="599259"/>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99" name="AutoShape 30"/>
            <p:cNvSpPr>
              <a:spLocks noChangeShapeType="1"/>
            </p:cNvSpPr>
            <p:nvPr/>
          </p:nvSpPr>
          <p:spPr bwMode="auto">
            <a:xfrm flipH="1">
              <a:off x="2086587" y="3144457"/>
              <a:ext cx="583596" cy="131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00" name="Text Box 29"/>
            <p:cNvSpPr txBox="1">
              <a:spLocks noChangeArrowheads="1"/>
            </p:cNvSpPr>
            <p:nvPr/>
          </p:nvSpPr>
          <p:spPr bwMode="auto">
            <a:xfrm>
              <a:off x="1131014" y="4415254"/>
              <a:ext cx="1633807"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 </a:t>
              </a:r>
              <a:r>
                <a:rPr kumimoji="0" lang="zh-CN" altLang="en-US"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一个网络</a:t>
              </a:r>
              <a:endParaRPr kumimoji="0" lang="zh-CN" altLang="en-US"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grpSp>
      <p:grpSp>
        <p:nvGrpSpPr>
          <p:cNvPr id="101" name="组合 100"/>
          <p:cNvGrpSpPr/>
          <p:nvPr/>
        </p:nvGrpSpPr>
        <p:grpSpPr>
          <a:xfrm>
            <a:off x="6429388" y="1597895"/>
            <a:ext cx="2354101" cy="3617055"/>
            <a:chOff x="724862" y="1169267"/>
            <a:chExt cx="2354101" cy="3617055"/>
          </a:xfrm>
        </p:grpSpPr>
        <p:sp>
          <p:nvSpPr>
            <p:cNvPr id="102" name="Text Box 51"/>
            <p:cNvSpPr txBox="1">
              <a:spLocks noChangeArrowheads="1"/>
            </p:cNvSpPr>
            <p:nvPr/>
          </p:nvSpPr>
          <p:spPr bwMode="auto">
            <a:xfrm>
              <a:off x="1901737" y="3402718"/>
              <a:ext cx="500066"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FF0000"/>
                  </a:solidFill>
                  <a:effectLst/>
                  <a:latin typeface="Consolas" pitchFamily="49" charset="0"/>
                  <a:ea typeface="仿宋" pitchFamily="49" charset="-122"/>
                  <a:cs typeface="Times New Roman" pitchFamily="18" charset="0"/>
                </a:rPr>
                <a:t>3</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03" name="Text Box 50"/>
            <p:cNvSpPr txBox="1">
              <a:spLocks noChangeArrowheads="1"/>
            </p:cNvSpPr>
            <p:nvPr/>
          </p:nvSpPr>
          <p:spPr bwMode="auto">
            <a:xfrm>
              <a:off x="1394086" y="2546512"/>
              <a:ext cx="500065"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FF0000"/>
                  </a:solidFill>
                  <a:latin typeface="Consolas" pitchFamily="49" charset="0"/>
                  <a:ea typeface="仿宋" pitchFamily="49" charset="-122"/>
                  <a:cs typeface="Times New Roman" pitchFamily="18" charset="0"/>
                </a:rPr>
                <a:t>2</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04" name="Text Box 49"/>
            <p:cNvSpPr txBox="1">
              <a:spLocks noChangeArrowheads="1"/>
            </p:cNvSpPr>
            <p:nvPr/>
          </p:nvSpPr>
          <p:spPr bwMode="auto">
            <a:xfrm>
              <a:off x="1982749" y="1620026"/>
              <a:ext cx="599501"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FF0000"/>
                  </a:solidFill>
                  <a:effectLst/>
                  <a:latin typeface="Consolas" pitchFamily="49" charset="0"/>
                  <a:ea typeface="仿宋" pitchFamily="49" charset="-122"/>
                  <a:cs typeface="Times New Roman" pitchFamily="18" charset="0"/>
                </a:rPr>
                <a:t>5</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/5</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05" name="Text Box 48"/>
            <p:cNvSpPr txBox="1">
              <a:spLocks noChangeArrowheads="1"/>
            </p:cNvSpPr>
            <p:nvPr/>
          </p:nvSpPr>
          <p:spPr bwMode="auto">
            <a:xfrm>
              <a:off x="2444105" y="2413781"/>
              <a:ext cx="566773"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FF0000"/>
                  </a:solidFill>
                  <a:effectLst/>
                  <a:latin typeface="Consolas" pitchFamily="49" charset="0"/>
                  <a:ea typeface="仿宋" pitchFamily="49" charset="-122"/>
                  <a:cs typeface="Times New Roman" pitchFamily="18" charset="0"/>
                </a:rPr>
                <a:t>3</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06" name="Text Box 47"/>
            <p:cNvSpPr txBox="1">
              <a:spLocks noChangeArrowheads="1"/>
            </p:cNvSpPr>
            <p:nvPr/>
          </p:nvSpPr>
          <p:spPr bwMode="auto">
            <a:xfrm>
              <a:off x="796300" y="3508481"/>
              <a:ext cx="531875"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FF0000"/>
                  </a:solidFill>
                  <a:effectLst/>
                  <a:latin typeface="Consolas" pitchFamily="49" charset="0"/>
                  <a:ea typeface="仿宋" pitchFamily="49" charset="-122"/>
                  <a:cs typeface="Times New Roman" pitchFamily="18" charset="0"/>
                </a:rPr>
                <a:t>0</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07" name="Text Box 46"/>
            <p:cNvSpPr txBox="1">
              <a:spLocks noChangeArrowheads="1"/>
            </p:cNvSpPr>
            <p:nvPr/>
          </p:nvSpPr>
          <p:spPr bwMode="auto">
            <a:xfrm>
              <a:off x="939176" y="2413781"/>
              <a:ext cx="448147"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0/1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08" name="Text Box 45"/>
            <p:cNvSpPr txBox="1">
              <a:spLocks noChangeArrowheads="1"/>
            </p:cNvSpPr>
            <p:nvPr/>
          </p:nvSpPr>
          <p:spPr bwMode="auto">
            <a:xfrm>
              <a:off x="2153622" y="2846142"/>
              <a:ext cx="500066"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FF0000"/>
                  </a:solidFill>
                  <a:effectLst/>
                  <a:latin typeface="Consolas" pitchFamily="49" charset="0"/>
                  <a:ea typeface="仿宋" pitchFamily="49" charset="-122"/>
                  <a:cs typeface="Times New Roman" pitchFamily="18" charset="0"/>
                </a:rPr>
                <a:t>1</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09" name="Text Box 44"/>
            <p:cNvSpPr txBox="1">
              <a:spLocks noChangeArrowheads="1"/>
            </p:cNvSpPr>
            <p:nvPr/>
          </p:nvSpPr>
          <p:spPr bwMode="auto">
            <a:xfrm>
              <a:off x="2296498" y="3629436"/>
              <a:ext cx="559740"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FF0000"/>
                  </a:solidFill>
                  <a:effectLst/>
                  <a:latin typeface="Consolas" pitchFamily="49" charset="0"/>
                  <a:ea typeface="仿宋" pitchFamily="49" charset="-122"/>
                  <a:cs typeface="Times New Roman" pitchFamily="18" charset="0"/>
                </a:rPr>
                <a:t>2</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10" name="Oval 43"/>
            <p:cNvSpPr>
              <a:spLocks noChangeArrowheads="1"/>
            </p:cNvSpPr>
            <p:nvPr/>
          </p:nvSpPr>
          <p:spPr bwMode="auto">
            <a:xfrm>
              <a:off x="1677807" y="1169267"/>
              <a:ext cx="411409" cy="448130"/>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0</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11" name="Oval 42"/>
            <p:cNvSpPr>
              <a:spLocks noChangeArrowheads="1"/>
            </p:cNvSpPr>
            <p:nvPr/>
          </p:nvSpPr>
          <p:spPr bwMode="auto">
            <a:xfrm>
              <a:off x="724862" y="2921049"/>
              <a:ext cx="410095" cy="44681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12" name="Oval 41"/>
            <p:cNvSpPr>
              <a:spLocks noChangeArrowheads="1"/>
            </p:cNvSpPr>
            <p:nvPr/>
          </p:nvSpPr>
          <p:spPr bwMode="auto">
            <a:xfrm>
              <a:off x="1677807" y="2921049"/>
              <a:ext cx="408780" cy="44681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13" name="Oval 40"/>
            <p:cNvSpPr>
              <a:spLocks noChangeArrowheads="1"/>
            </p:cNvSpPr>
            <p:nvPr/>
          </p:nvSpPr>
          <p:spPr bwMode="auto">
            <a:xfrm>
              <a:off x="2670183" y="2921049"/>
              <a:ext cx="408780" cy="44681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14" name="Oval 39"/>
            <p:cNvSpPr>
              <a:spLocks noChangeArrowheads="1"/>
            </p:cNvSpPr>
            <p:nvPr/>
          </p:nvSpPr>
          <p:spPr bwMode="auto">
            <a:xfrm>
              <a:off x="1677807" y="1966965"/>
              <a:ext cx="408780" cy="44681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15" name="Oval 38"/>
            <p:cNvSpPr>
              <a:spLocks noChangeArrowheads="1"/>
            </p:cNvSpPr>
            <p:nvPr/>
          </p:nvSpPr>
          <p:spPr bwMode="auto">
            <a:xfrm>
              <a:off x="1677807" y="3835708"/>
              <a:ext cx="408780" cy="446816"/>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5</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16" name="AutoShape 37"/>
            <p:cNvSpPr>
              <a:spLocks noChangeShapeType="1"/>
            </p:cNvSpPr>
            <p:nvPr/>
          </p:nvSpPr>
          <p:spPr bwMode="auto">
            <a:xfrm flipH="1">
              <a:off x="1882854" y="1617398"/>
              <a:ext cx="1314" cy="349568"/>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17" name="AutoShape 36"/>
            <p:cNvSpPr>
              <a:spLocks noChangeShapeType="1"/>
            </p:cNvSpPr>
            <p:nvPr/>
          </p:nvSpPr>
          <p:spPr bwMode="auto">
            <a:xfrm flipH="1">
              <a:off x="1074494" y="2348073"/>
              <a:ext cx="663775" cy="63868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18" name="AutoShape 35"/>
            <p:cNvSpPr>
              <a:spLocks noChangeShapeType="1"/>
            </p:cNvSpPr>
            <p:nvPr/>
          </p:nvSpPr>
          <p:spPr bwMode="auto">
            <a:xfrm>
              <a:off x="1882854" y="2413781"/>
              <a:ext cx="1314" cy="507268"/>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19" name="AutoShape 34"/>
            <p:cNvSpPr>
              <a:spLocks noChangeShapeType="1"/>
            </p:cNvSpPr>
            <p:nvPr/>
          </p:nvSpPr>
          <p:spPr bwMode="auto">
            <a:xfrm>
              <a:off x="2026124" y="2348073"/>
              <a:ext cx="704522" cy="63868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20" name="AutoShape 33"/>
            <p:cNvSpPr>
              <a:spLocks noChangeShapeType="1"/>
            </p:cNvSpPr>
            <p:nvPr/>
          </p:nvSpPr>
          <p:spPr bwMode="auto">
            <a:xfrm>
              <a:off x="1074494" y="3302157"/>
              <a:ext cx="663775" cy="599259"/>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21" name="AutoShape 32"/>
            <p:cNvSpPr>
              <a:spLocks noChangeShapeType="1"/>
            </p:cNvSpPr>
            <p:nvPr/>
          </p:nvSpPr>
          <p:spPr bwMode="auto">
            <a:xfrm>
              <a:off x="1882854" y="3367865"/>
              <a:ext cx="1314" cy="467843"/>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22" name="AutoShape 31"/>
            <p:cNvSpPr>
              <a:spLocks noChangeShapeType="1"/>
            </p:cNvSpPr>
            <p:nvPr/>
          </p:nvSpPr>
          <p:spPr bwMode="auto">
            <a:xfrm flipH="1">
              <a:off x="2026124" y="3302157"/>
              <a:ext cx="704522" cy="599259"/>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23" name="AutoShape 30"/>
            <p:cNvSpPr>
              <a:spLocks noChangeShapeType="1"/>
            </p:cNvSpPr>
            <p:nvPr/>
          </p:nvSpPr>
          <p:spPr bwMode="auto">
            <a:xfrm flipH="1">
              <a:off x="2086587" y="3144457"/>
              <a:ext cx="583596" cy="131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24" name="Text Box 29"/>
            <p:cNvSpPr txBox="1">
              <a:spLocks noChangeArrowheads="1"/>
            </p:cNvSpPr>
            <p:nvPr/>
          </p:nvSpPr>
          <p:spPr bwMode="auto">
            <a:xfrm>
              <a:off x="1367804" y="4486692"/>
              <a:ext cx="1236922"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0">
                  <a:solidFill>
                    <a:srgbClr val="0000FF"/>
                  </a:solidFill>
                  <a:latin typeface="Consolas" pitchFamily="49" charset="0"/>
                  <a:ea typeface="仿宋" pitchFamily="49" charset="-122"/>
                  <a:cs typeface="Times New Roman" pitchFamily="18" charset="0"/>
                </a:rPr>
                <a:t>最大流</a:t>
              </a:r>
              <a:endParaRPr kumimoji="0" lang="zh-CN" altLang="en-US"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grpSp>
      <p:sp>
        <p:nvSpPr>
          <p:cNvPr id="126" name="灯片编号占位符 125"/>
          <p:cNvSpPr>
            <a:spLocks noGrp="1"/>
          </p:cNvSpPr>
          <p:nvPr>
            <p:ph type="sldNum" sz="quarter" idx="12"/>
          </p:nvPr>
        </p:nvSpPr>
        <p:spPr/>
        <p:txBody>
          <a:bodyPr/>
          <a:lstStyle/>
          <a:p>
            <a:fld id="{7AF016A1-9F15-429F-9EFD-84004B73C732}" type="slidenum">
              <a:rPr lang="en-US" altLang="zh-CN" smtClean="0"/>
              <a:pPr/>
              <a:t>114</a:t>
            </a:fld>
            <a:r>
              <a:rPr lang="en-US" altLang="zh-CN"/>
              <a:t>/158</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7158" y="357166"/>
            <a:ext cx="5000660"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itchFamily="49" charset="0"/>
                <a:ea typeface="仿宋" pitchFamily="49" charset="-122"/>
              </a:rPr>
              <a:t>求最大流量的几种方式如下：</a:t>
            </a:r>
            <a:endParaRPr lang="zh-CN" altLang="en-US">
              <a:solidFill>
                <a:srgbClr val="0000FF"/>
              </a:solidFill>
              <a:latin typeface="Consolas" pitchFamily="49" charset="0"/>
              <a:ea typeface="仿宋" pitchFamily="49" charset="-122"/>
              <a:cs typeface="Consolas" pitchFamily="49" charset="0"/>
            </a:endParaRPr>
          </a:p>
        </p:txBody>
      </p:sp>
      <p:sp>
        <p:nvSpPr>
          <p:cNvPr id="4" name="TextBox 3"/>
          <p:cNvSpPr txBox="1"/>
          <p:nvPr/>
        </p:nvSpPr>
        <p:spPr>
          <a:xfrm>
            <a:off x="428596" y="1285860"/>
            <a:ext cx="8429684" cy="3089948"/>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600"/>
              </a:spcBef>
              <a:buBlip>
                <a:blip r:embed="rId3"/>
              </a:buBlip>
            </a:pPr>
            <a:r>
              <a:rPr lang="zh-CN" altLang="zh-CN">
                <a:solidFill>
                  <a:srgbClr val="0000FF"/>
                </a:solidFill>
                <a:latin typeface="Consolas" pitchFamily="49" charset="0"/>
                <a:ea typeface="仿宋" pitchFamily="49" charset="-122"/>
              </a:rPr>
              <a:t>最大流量为上述过程中所有增广路径求出的最小容量</a:t>
            </a:r>
            <a:r>
              <a:rPr lang="en-US" altLang="zh-CN">
                <a:solidFill>
                  <a:srgbClr val="0000FF"/>
                </a:solidFill>
                <a:latin typeface="Consolas" pitchFamily="49" charset="0"/>
                <a:ea typeface="仿宋" pitchFamily="49" charset="-122"/>
              </a:rPr>
              <a:t>delta</a:t>
            </a:r>
            <a:r>
              <a:rPr lang="zh-CN" altLang="zh-CN">
                <a:solidFill>
                  <a:srgbClr val="0000FF"/>
                </a:solidFill>
                <a:latin typeface="Consolas" pitchFamily="49" charset="0"/>
                <a:ea typeface="仿宋" pitchFamily="49" charset="-122"/>
              </a:rPr>
              <a:t>之和，本例中最大流量等于</a:t>
            </a:r>
            <a:r>
              <a:rPr lang="en-US" altLang="zh-CN">
                <a:solidFill>
                  <a:srgbClr val="0000FF"/>
                </a:solidFill>
                <a:latin typeface="Consolas" pitchFamily="49" charset="0"/>
                <a:ea typeface="仿宋" pitchFamily="49" charset="-122"/>
              </a:rPr>
              <a:t>delta1+delta2+delta3=5</a:t>
            </a:r>
            <a:r>
              <a:rPr lang="zh-CN" altLang="zh-CN">
                <a:solidFill>
                  <a:srgbClr val="0000FF"/>
                </a:solidFill>
                <a:latin typeface="Consolas" pitchFamily="49" charset="0"/>
                <a:ea typeface="仿宋" pitchFamily="49" charset="-122"/>
              </a:rPr>
              <a:t>。</a:t>
            </a:r>
          </a:p>
          <a:p>
            <a:pPr marL="457200" indent="-457200" algn="l">
              <a:lnSpc>
                <a:spcPts val="3200"/>
              </a:lnSpc>
              <a:spcBef>
                <a:spcPts val="600"/>
              </a:spcBef>
              <a:buBlip>
                <a:blip r:embed="rId3"/>
              </a:buBlip>
            </a:pPr>
            <a:r>
              <a:rPr lang="zh-CN" altLang="zh-CN">
                <a:solidFill>
                  <a:srgbClr val="0000FF"/>
                </a:solidFill>
                <a:latin typeface="Consolas" pitchFamily="49" charset="0"/>
                <a:ea typeface="仿宋" pitchFamily="49" charset="-122"/>
              </a:rPr>
              <a:t>最大流量为最大流中源点</a:t>
            </a:r>
            <a:r>
              <a:rPr lang="en-US" altLang="zh-CN">
                <a:solidFill>
                  <a:srgbClr val="0000FF"/>
                </a:solidFill>
                <a:latin typeface="Consolas" pitchFamily="49" charset="0"/>
                <a:ea typeface="仿宋" pitchFamily="49" charset="-122"/>
              </a:rPr>
              <a:t>S</a:t>
            </a:r>
            <a:r>
              <a:rPr lang="zh-CN" altLang="zh-CN">
                <a:solidFill>
                  <a:srgbClr val="0000FF"/>
                </a:solidFill>
                <a:latin typeface="Consolas" pitchFamily="49" charset="0"/>
                <a:ea typeface="仿宋" pitchFamily="49" charset="-122"/>
              </a:rPr>
              <a:t>的流出量之和，图</a:t>
            </a:r>
            <a:r>
              <a:rPr lang="en-US" altLang="zh-CN">
                <a:solidFill>
                  <a:srgbClr val="0000FF"/>
                </a:solidFill>
                <a:latin typeface="Consolas" pitchFamily="49" charset="0"/>
                <a:ea typeface="仿宋" pitchFamily="49" charset="-122"/>
              </a:rPr>
              <a:t>9.20(c)</a:t>
            </a:r>
            <a:r>
              <a:rPr lang="zh-CN" altLang="zh-CN">
                <a:solidFill>
                  <a:srgbClr val="0000FF"/>
                </a:solidFill>
                <a:latin typeface="Consolas" pitchFamily="49" charset="0"/>
                <a:ea typeface="仿宋" pitchFamily="49" charset="-122"/>
              </a:rPr>
              <a:t>中源点</a:t>
            </a:r>
            <a:r>
              <a:rPr lang="en-US"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的流出量之和为</a:t>
            </a:r>
            <a:r>
              <a:rPr lang="en-US" altLang="zh-CN">
                <a:solidFill>
                  <a:srgbClr val="0000FF"/>
                </a:solidFill>
                <a:latin typeface="Consolas" pitchFamily="49" charset="0"/>
                <a:ea typeface="仿宋" pitchFamily="49" charset="-122"/>
              </a:rPr>
              <a:t>5</a:t>
            </a:r>
            <a:r>
              <a:rPr lang="zh-CN" altLang="zh-CN">
                <a:solidFill>
                  <a:srgbClr val="0000FF"/>
                </a:solidFill>
                <a:latin typeface="Consolas" pitchFamily="49" charset="0"/>
                <a:ea typeface="仿宋" pitchFamily="49" charset="-122"/>
              </a:rPr>
              <a:t>。</a:t>
            </a:r>
          </a:p>
          <a:p>
            <a:pPr marL="457200" indent="-457200" algn="l">
              <a:lnSpc>
                <a:spcPts val="3200"/>
              </a:lnSpc>
              <a:spcBef>
                <a:spcPts val="600"/>
              </a:spcBef>
              <a:buBlip>
                <a:blip r:embed="rId3"/>
              </a:buBlip>
            </a:pPr>
            <a:r>
              <a:rPr lang="zh-CN" altLang="zh-CN">
                <a:solidFill>
                  <a:srgbClr val="0000FF"/>
                </a:solidFill>
                <a:latin typeface="Consolas" pitchFamily="49" charset="0"/>
                <a:ea typeface="仿宋" pitchFamily="49" charset="-122"/>
              </a:rPr>
              <a:t>最大流量为最大流中汇点</a:t>
            </a:r>
            <a:r>
              <a:rPr lang="en-US" altLang="zh-CN">
                <a:solidFill>
                  <a:srgbClr val="0000FF"/>
                </a:solidFill>
                <a:latin typeface="Consolas" pitchFamily="49" charset="0"/>
                <a:ea typeface="仿宋" pitchFamily="49" charset="-122"/>
              </a:rPr>
              <a:t>S</a:t>
            </a:r>
            <a:r>
              <a:rPr lang="zh-CN" altLang="zh-CN">
                <a:solidFill>
                  <a:srgbClr val="0000FF"/>
                </a:solidFill>
                <a:latin typeface="Consolas" pitchFamily="49" charset="0"/>
                <a:ea typeface="仿宋" pitchFamily="49" charset="-122"/>
              </a:rPr>
              <a:t>的流入量之和，图</a:t>
            </a:r>
            <a:r>
              <a:rPr lang="en-US" altLang="zh-CN">
                <a:solidFill>
                  <a:srgbClr val="0000FF"/>
                </a:solidFill>
                <a:latin typeface="Consolas" pitchFamily="49" charset="0"/>
                <a:ea typeface="仿宋" pitchFamily="49" charset="-122"/>
              </a:rPr>
              <a:t>9.20(c)</a:t>
            </a:r>
            <a:r>
              <a:rPr lang="zh-CN" altLang="zh-CN">
                <a:solidFill>
                  <a:srgbClr val="0000FF"/>
                </a:solidFill>
                <a:latin typeface="Consolas" pitchFamily="49" charset="0"/>
                <a:ea typeface="仿宋" pitchFamily="49" charset="-122"/>
              </a:rPr>
              <a:t>中汇点</a:t>
            </a:r>
            <a:r>
              <a:rPr lang="en-US"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的流入量之和为</a:t>
            </a:r>
            <a:r>
              <a:rPr lang="en-US" altLang="zh-CN">
                <a:solidFill>
                  <a:srgbClr val="0000FF"/>
                </a:solidFill>
                <a:latin typeface="Consolas" pitchFamily="49" charset="0"/>
                <a:ea typeface="仿宋" pitchFamily="49" charset="-122"/>
              </a:rPr>
              <a:t>5</a:t>
            </a:r>
            <a:r>
              <a:rPr lang="zh-CN" altLang="zh-CN">
                <a:solidFill>
                  <a:srgbClr val="0000FF"/>
                </a:solidFill>
                <a:latin typeface="Consolas" pitchFamily="49" charset="0"/>
                <a:ea typeface="仿宋" pitchFamily="49" charset="-122"/>
              </a:rPr>
              <a:t>。</a:t>
            </a:r>
          </a:p>
        </p:txBody>
      </p:sp>
      <p:sp>
        <p:nvSpPr>
          <p:cNvPr id="6" name="灯片编号占位符 5"/>
          <p:cNvSpPr>
            <a:spLocks noGrp="1"/>
          </p:cNvSpPr>
          <p:nvPr>
            <p:ph type="sldNum" sz="quarter" idx="12"/>
          </p:nvPr>
        </p:nvSpPr>
        <p:spPr/>
        <p:txBody>
          <a:bodyPr/>
          <a:lstStyle/>
          <a:p>
            <a:fld id="{7AF016A1-9F15-429F-9EFD-84004B73C732}" type="slidenum">
              <a:rPr lang="en-US" altLang="zh-CN" smtClean="0"/>
              <a:pPr/>
              <a:t>115</a:t>
            </a:fld>
            <a:r>
              <a:rPr lang="en-US" altLang="zh-CN"/>
              <a:t>/158</a:t>
            </a: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28596" y="1000108"/>
            <a:ext cx="8143932" cy="1785104"/>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300"/>
              </a:lnSpc>
              <a:spcBef>
                <a:spcPts val="0"/>
              </a:spcBef>
            </a:pPr>
            <a:r>
              <a:rPr lang="en-US" altLang="zh-CN" sz="2200">
                <a:solidFill>
                  <a:srgbClr val="FF0000"/>
                </a:solidFill>
                <a:latin typeface="Consolas" pitchFamily="49" charset="0"/>
                <a:ea typeface="楷体" pitchFamily="49" charset="-122"/>
                <a:sym typeface="Wingdings"/>
              </a:rPr>
              <a:t></a:t>
            </a:r>
            <a:r>
              <a:rPr lang="en-US" altLang="zh-CN" sz="2200">
                <a:solidFill>
                  <a:srgbClr val="FF0000"/>
                </a:solidFill>
                <a:latin typeface="Consolas" pitchFamily="49" charset="0"/>
                <a:ea typeface="楷体" pitchFamily="49" charset="-122"/>
              </a:rPr>
              <a:t>Ford-Fulkerson</a:t>
            </a:r>
            <a:r>
              <a:rPr lang="zh-CN" altLang="zh-CN" sz="2200">
                <a:solidFill>
                  <a:srgbClr val="FF0000"/>
                </a:solidFill>
                <a:latin typeface="Consolas" pitchFamily="49" charset="0"/>
                <a:ea typeface="楷体" pitchFamily="49" charset="-122"/>
              </a:rPr>
              <a:t>算法分析</a:t>
            </a:r>
            <a:r>
              <a:rPr lang="zh-CN" altLang="zh-CN" sz="2200">
                <a:solidFill>
                  <a:srgbClr val="0000FF"/>
                </a:solidFill>
                <a:latin typeface="Consolas" pitchFamily="49" charset="0"/>
                <a:ea typeface="仿宋" pitchFamily="49" charset="-122"/>
              </a:rPr>
              <a:t>：若网络</a:t>
            </a:r>
            <a:r>
              <a:rPr lang="en-US" altLang="zh-CN" sz="2200" i="1">
                <a:solidFill>
                  <a:srgbClr val="0000FF"/>
                </a:solidFill>
                <a:latin typeface="Consolas" pitchFamily="49" charset="0"/>
                <a:ea typeface="仿宋" pitchFamily="49" charset="-122"/>
              </a:rPr>
              <a:t>G</a:t>
            </a:r>
            <a:r>
              <a:rPr lang="zh-CN" altLang="zh-CN" sz="2200">
                <a:solidFill>
                  <a:srgbClr val="0000FF"/>
                </a:solidFill>
                <a:latin typeface="Consolas" pitchFamily="49" charset="0"/>
                <a:ea typeface="仿宋" pitchFamily="49" charset="-122"/>
              </a:rPr>
              <a:t>中有</a:t>
            </a:r>
            <a:r>
              <a:rPr lang="en-US" altLang="zh-CN" sz="2200" i="1">
                <a:solidFill>
                  <a:srgbClr val="0000FF"/>
                </a:solidFill>
                <a:latin typeface="Consolas" pitchFamily="49" charset="0"/>
                <a:ea typeface="仿宋" pitchFamily="49" charset="-122"/>
              </a:rPr>
              <a:t>n</a:t>
            </a:r>
            <a:r>
              <a:rPr lang="zh-CN" altLang="zh-CN" sz="2200">
                <a:solidFill>
                  <a:srgbClr val="0000FF"/>
                </a:solidFill>
                <a:latin typeface="Consolas" pitchFamily="49" charset="0"/>
                <a:ea typeface="仿宋" pitchFamily="49" charset="-122"/>
              </a:rPr>
              <a:t>个顶点和</a:t>
            </a:r>
            <a:r>
              <a:rPr lang="en-US" altLang="zh-CN" sz="2200" i="1">
                <a:solidFill>
                  <a:srgbClr val="0000FF"/>
                </a:solidFill>
                <a:latin typeface="Consolas" pitchFamily="49" charset="0"/>
                <a:ea typeface="仿宋" pitchFamily="49" charset="-122"/>
              </a:rPr>
              <a:t>e</a:t>
            </a:r>
            <a:r>
              <a:rPr lang="zh-CN" altLang="zh-CN" sz="2200">
                <a:solidFill>
                  <a:srgbClr val="0000FF"/>
                </a:solidFill>
                <a:latin typeface="Consolas" pitchFamily="49" charset="0"/>
                <a:ea typeface="仿宋" pitchFamily="49" charset="-122"/>
              </a:rPr>
              <a:t>条边，找一条增广路径的时间为</a:t>
            </a:r>
            <a:r>
              <a:rPr lang="en-US" altLang="zh-CN" sz="2200">
                <a:solidFill>
                  <a:srgbClr val="0000FF"/>
                </a:solidFill>
                <a:latin typeface="Consolas" pitchFamily="49" charset="0"/>
                <a:ea typeface="仿宋" pitchFamily="49" charset="-122"/>
              </a:rPr>
              <a:t>O(</a:t>
            </a:r>
            <a:r>
              <a:rPr lang="en-US" altLang="zh-CN" sz="2200" i="1">
                <a:solidFill>
                  <a:srgbClr val="0000FF"/>
                </a:solidFill>
                <a:latin typeface="Consolas" pitchFamily="49" charset="0"/>
                <a:ea typeface="仿宋" pitchFamily="49" charset="-122"/>
              </a:rPr>
              <a:t>e</a:t>
            </a:r>
            <a:r>
              <a:rPr lang="en-US" altLang="zh-CN" sz="2200">
                <a:solidFill>
                  <a:srgbClr val="0000FF"/>
                </a:solidFill>
                <a:latin typeface="Consolas" pitchFamily="49" charset="0"/>
                <a:ea typeface="仿宋" pitchFamily="49" charset="-122"/>
              </a:rPr>
              <a:t>)</a:t>
            </a:r>
            <a:r>
              <a:rPr lang="zh-CN" altLang="zh-CN" sz="2200">
                <a:solidFill>
                  <a:srgbClr val="0000FF"/>
                </a:solidFill>
                <a:latin typeface="Consolas" pitchFamily="49" charset="0"/>
                <a:ea typeface="仿宋" pitchFamily="49" charset="-122"/>
              </a:rPr>
              <a:t>，调整流量的时间为</a:t>
            </a:r>
            <a:r>
              <a:rPr lang="en-US" altLang="zh-CN" sz="2200">
                <a:solidFill>
                  <a:srgbClr val="0000FF"/>
                </a:solidFill>
                <a:latin typeface="Consolas" pitchFamily="49" charset="0"/>
                <a:ea typeface="仿宋" pitchFamily="49" charset="-122"/>
              </a:rPr>
              <a:t>O(</a:t>
            </a:r>
            <a:r>
              <a:rPr lang="en-US" altLang="zh-CN" sz="2200" i="1">
                <a:solidFill>
                  <a:srgbClr val="0000FF"/>
                </a:solidFill>
                <a:latin typeface="Consolas" pitchFamily="49" charset="0"/>
                <a:ea typeface="仿宋" pitchFamily="49" charset="-122"/>
              </a:rPr>
              <a:t>e</a:t>
            </a:r>
            <a:r>
              <a:rPr lang="en-US" altLang="zh-CN" sz="2200">
                <a:solidFill>
                  <a:srgbClr val="0000FF"/>
                </a:solidFill>
                <a:latin typeface="Consolas" pitchFamily="49" charset="0"/>
                <a:ea typeface="仿宋" pitchFamily="49" charset="-122"/>
              </a:rPr>
              <a:t>)</a:t>
            </a:r>
            <a:r>
              <a:rPr lang="zh-CN" altLang="zh-CN" sz="2200">
                <a:solidFill>
                  <a:srgbClr val="0000FF"/>
                </a:solidFill>
                <a:latin typeface="Consolas" pitchFamily="49" charset="0"/>
                <a:ea typeface="仿宋" pitchFamily="49" charset="-122"/>
              </a:rPr>
              <a:t>，设</a:t>
            </a:r>
            <a:r>
              <a:rPr lang="en-US" altLang="zh-CN" sz="2200" i="1">
                <a:solidFill>
                  <a:srgbClr val="0000FF"/>
                </a:solidFill>
                <a:latin typeface="Consolas" pitchFamily="49" charset="0"/>
                <a:ea typeface="仿宋" pitchFamily="49" charset="-122"/>
              </a:rPr>
              <a:t>f</a:t>
            </a:r>
            <a:r>
              <a:rPr lang="en-US" altLang="zh-CN" sz="2200" baseline="30000">
                <a:solidFill>
                  <a:srgbClr val="0000FF"/>
                </a:solidFill>
                <a:latin typeface="Consolas" pitchFamily="49" charset="0"/>
                <a:ea typeface="仿宋" pitchFamily="49" charset="-122"/>
              </a:rPr>
              <a:t>*</a:t>
            </a:r>
            <a:r>
              <a:rPr lang="zh-CN" altLang="zh-CN" sz="2200">
                <a:solidFill>
                  <a:srgbClr val="0000FF"/>
                </a:solidFill>
                <a:latin typeface="Consolas" pitchFamily="49" charset="0"/>
                <a:ea typeface="仿宋" pitchFamily="49" charset="-122"/>
              </a:rPr>
              <a:t>表示算法找到的最大流量，迭代次数最多为</a:t>
            </a:r>
            <a:r>
              <a:rPr lang="en-US" altLang="zh-CN" sz="2200" i="1">
                <a:solidFill>
                  <a:srgbClr val="0000FF"/>
                </a:solidFill>
                <a:latin typeface="Consolas" pitchFamily="49" charset="0"/>
                <a:ea typeface="仿宋" pitchFamily="49" charset="-122"/>
              </a:rPr>
              <a:t>f</a:t>
            </a:r>
            <a:r>
              <a:rPr lang="en-US" altLang="zh-CN" sz="2200" baseline="30000">
                <a:solidFill>
                  <a:srgbClr val="0000FF"/>
                </a:solidFill>
                <a:latin typeface="Consolas" pitchFamily="49" charset="0"/>
                <a:ea typeface="仿宋" pitchFamily="49" charset="-122"/>
              </a:rPr>
              <a:t>*</a:t>
            </a:r>
            <a:r>
              <a:rPr lang="zh-CN" altLang="zh-CN" sz="2200">
                <a:solidFill>
                  <a:srgbClr val="0000FF"/>
                </a:solidFill>
                <a:latin typeface="Consolas" pitchFamily="49" charset="0"/>
                <a:ea typeface="仿宋" pitchFamily="49" charset="-122"/>
              </a:rPr>
              <a:t>，所以该算法的时间复杂度为</a:t>
            </a:r>
            <a:r>
              <a:rPr lang="en-US" altLang="zh-CN" sz="2200">
                <a:solidFill>
                  <a:srgbClr val="0000FF"/>
                </a:solidFill>
                <a:latin typeface="Consolas" pitchFamily="49" charset="0"/>
                <a:ea typeface="仿宋" pitchFamily="49" charset="-122"/>
              </a:rPr>
              <a:t>O(</a:t>
            </a:r>
            <a:r>
              <a:rPr lang="en-US" altLang="zh-CN" sz="2200" i="1">
                <a:solidFill>
                  <a:srgbClr val="0000FF"/>
                </a:solidFill>
                <a:latin typeface="Consolas" pitchFamily="49" charset="0"/>
                <a:ea typeface="仿宋" pitchFamily="49" charset="-122"/>
              </a:rPr>
              <a:t>ef</a:t>
            </a:r>
            <a:r>
              <a:rPr lang="en-US" altLang="zh-CN" sz="2200" baseline="300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a:t>
            </a:r>
            <a:r>
              <a:rPr lang="zh-CN" altLang="zh-CN" sz="2200">
                <a:solidFill>
                  <a:srgbClr val="0000FF"/>
                </a:solidFill>
                <a:latin typeface="Consolas" pitchFamily="49" charset="0"/>
                <a:ea typeface="仿宋" pitchFamily="49" charset="-122"/>
              </a:rPr>
              <a:t>。</a:t>
            </a:r>
            <a:endParaRPr lang="zh-CN" altLang="en-US" sz="2200">
              <a:solidFill>
                <a:srgbClr val="0000FF"/>
              </a:solidFill>
              <a:latin typeface="Consolas" pitchFamily="49" charset="0"/>
              <a:ea typeface="仿宋" pitchFamily="49" charset="-122"/>
              <a:cs typeface="Consolas" pitchFamily="49" charset="0"/>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116</a:t>
            </a:fld>
            <a:r>
              <a:rPr lang="en-US" altLang="zh-CN"/>
              <a:t>/158</a:t>
            </a: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14282" y="642918"/>
            <a:ext cx="4929222" cy="523220"/>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rPr>
              <a:t>9.3.3 </a:t>
            </a:r>
            <a:r>
              <a:rPr lang="en-US" altLang="zh-CN" sz="2800">
                <a:latin typeface="Consolas" pitchFamily="49" charset="0"/>
                <a:ea typeface="微软雅黑" pitchFamily="34" charset="-122"/>
              </a:rPr>
              <a:t>Edmonds-Krap</a:t>
            </a:r>
            <a:r>
              <a:rPr lang="zh-CN" altLang="zh-CN" sz="2800">
                <a:latin typeface="Consolas" pitchFamily="49" charset="0"/>
                <a:ea typeface="微软雅黑" pitchFamily="34" charset="-122"/>
              </a:rPr>
              <a:t>算法</a:t>
            </a:r>
            <a:endParaRPr lang="zh-CN" altLang="zh-CN"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endParaRPr>
          </a:p>
        </p:txBody>
      </p:sp>
      <p:sp>
        <p:nvSpPr>
          <p:cNvPr id="4" name="TextBox 3"/>
          <p:cNvSpPr txBox="1"/>
          <p:nvPr/>
        </p:nvSpPr>
        <p:spPr>
          <a:xfrm>
            <a:off x="571472" y="1643050"/>
            <a:ext cx="8286808" cy="1906932"/>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300"/>
              </a:lnSpc>
              <a:spcBef>
                <a:spcPts val="1200"/>
              </a:spcBef>
              <a:buBlip>
                <a:blip r:embed="rId3"/>
              </a:buBlip>
            </a:pPr>
            <a:r>
              <a:rPr lang="zh-CN" altLang="zh-CN">
                <a:solidFill>
                  <a:srgbClr val="0000FF"/>
                </a:solidFill>
                <a:latin typeface="Consolas" pitchFamily="49" charset="0"/>
                <a:ea typeface="仿宋" pitchFamily="49" charset="-122"/>
              </a:rPr>
              <a:t>当一个网络中最大流量很大时</a:t>
            </a:r>
            <a:r>
              <a:rPr lang="en-US" altLang="zh-CN">
                <a:solidFill>
                  <a:srgbClr val="0000FF"/>
                </a:solidFill>
                <a:latin typeface="Consolas" pitchFamily="49" charset="0"/>
                <a:ea typeface="仿宋" pitchFamily="49" charset="-122"/>
              </a:rPr>
              <a:t>Ford-Fulkerson</a:t>
            </a:r>
            <a:r>
              <a:rPr lang="zh-CN" altLang="zh-CN">
                <a:solidFill>
                  <a:srgbClr val="0000FF"/>
                </a:solidFill>
                <a:latin typeface="Consolas" pitchFamily="49" charset="0"/>
                <a:ea typeface="仿宋" pitchFamily="49" charset="-122"/>
              </a:rPr>
              <a:t>算法十分耗时</a:t>
            </a:r>
            <a:r>
              <a:rPr lang="zh-CN" altLang="en-US">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marL="457200" indent="-457200" algn="l">
              <a:lnSpc>
                <a:spcPts val="3300"/>
              </a:lnSpc>
              <a:spcBef>
                <a:spcPts val="1200"/>
              </a:spcBef>
              <a:buBlip>
                <a:blip r:embed="rId3"/>
              </a:buBlip>
            </a:pPr>
            <a:r>
              <a:rPr lang="en-US" altLang="zh-CN">
                <a:solidFill>
                  <a:srgbClr val="0000FF"/>
                </a:solidFill>
                <a:latin typeface="Consolas" pitchFamily="49" charset="0"/>
                <a:ea typeface="仿宋" pitchFamily="49" charset="-122"/>
              </a:rPr>
              <a:t>Edmonds-Krap</a:t>
            </a:r>
            <a:r>
              <a:rPr lang="zh-CN" altLang="zh-CN">
                <a:solidFill>
                  <a:srgbClr val="0000FF"/>
                </a:solidFill>
                <a:latin typeface="Consolas" pitchFamily="49" charset="0"/>
                <a:ea typeface="仿宋" pitchFamily="49" charset="-122"/>
              </a:rPr>
              <a:t>算法做了这样的改进</a:t>
            </a:r>
            <a:r>
              <a:rPr lang="zh-CN" altLang="en-US">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每次在</a:t>
            </a:r>
            <a:r>
              <a:rPr lang="en-US" altLang="zh-CN" i="1">
                <a:solidFill>
                  <a:srgbClr val="0000FF"/>
                </a:solidFill>
                <a:latin typeface="Consolas" pitchFamily="49" charset="0"/>
                <a:ea typeface="仿宋" pitchFamily="49" charset="-122"/>
              </a:rPr>
              <a:t>G</a:t>
            </a:r>
            <a:r>
              <a:rPr lang="en-US" altLang="zh-CN" i="1" baseline="-25000">
                <a:solidFill>
                  <a:srgbClr val="0000FF"/>
                </a:solidFill>
                <a:latin typeface="Consolas" pitchFamily="49" charset="0"/>
                <a:ea typeface="仿宋" pitchFamily="49" charset="-122"/>
              </a:rPr>
              <a:t>f</a:t>
            </a:r>
            <a:r>
              <a:rPr lang="zh-CN" altLang="zh-CN">
                <a:solidFill>
                  <a:srgbClr val="0000FF"/>
                </a:solidFill>
                <a:latin typeface="Consolas" pitchFamily="49" charset="0"/>
                <a:ea typeface="仿宋" pitchFamily="49" charset="-122"/>
              </a:rPr>
              <a:t>中找增广路径时总是找一条边数最少的增广路径进行增广。</a:t>
            </a:r>
          </a:p>
        </p:txBody>
      </p:sp>
      <p:sp>
        <p:nvSpPr>
          <p:cNvPr id="6" name="灯片编号占位符 5"/>
          <p:cNvSpPr>
            <a:spLocks noGrp="1"/>
          </p:cNvSpPr>
          <p:nvPr>
            <p:ph type="sldNum" sz="quarter" idx="12"/>
          </p:nvPr>
        </p:nvSpPr>
        <p:spPr/>
        <p:txBody>
          <a:bodyPr/>
          <a:lstStyle/>
          <a:p>
            <a:fld id="{7AF016A1-9F15-429F-9EFD-84004B73C732}" type="slidenum">
              <a:rPr lang="en-US" altLang="zh-CN" smtClean="0"/>
              <a:pPr/>
              <a:t>117</a:t>
            </a:fld>
            <a:r>
              <a:rPr lang="en-US" altLang="zh-CN"/>
              <a:t>/158</a:t>
            </a: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85720" y="500042"/>
            <a:ext cx="5715040"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itchFamily="49" charset="0"/>
                <a:ea typeface="仿宋" pitchFamily="49" charset="-122"/>
              </a:rPr>
              <a:t>当</a:t>
            </a:r>
            <a:r>
              <a:rPr lang="en-US" altLang="zh-CN">
                <a:solidFill>
                  <a:srgbClr val="0000FF"/>
                </a:solidFill>
                <a:latin typeface="Consolas" pitchFamily="49" charset="0"/>
                <a:ea typeface="仿宋" pitchFamily="49" charset="-122"/>
              </a:rPr>
              <a:t>Edmonds-Krap</a:t>
            </a:r>
            <a:r>
              <a:rPr lang="zh-CN" altLang="zh-CN">
                <a:solidFill>
                  <a:srgbClr val="0000FF"/>
                </a:solidFill>
                <a:latin typeface="Consolas" pitchFamily="49" charset="0"/>
                <a:ea typeface="仿宋" pitchFamily="49" charset="-122"/>
              </a:rPr>
              <a:t>算法的具体步骤</a:t>
            </a:r>
            <a:r>
              <a:rPr lang="zh-CN" altLang="en-US">
                <a:solidFill>
                  <a:srgbClr val="0000FF"/>
                </a:solidFill>
                <a:latin typeface="Consolas" pitchFamily="49" charset="0"/>
                <a:ea typeface="仿宋" pitchFamily="49" charset="-122"/>
              </a:rPr>
              <a:t>。</a:t>
            </a:r>
            <a:endParaRPr lang="zh-CN" altLang="zh-CN">
              <a:solidFill>
                <a:srgbClr val="0000FF"/>
              </a:solidFill>
              <a:latin typeface="Consolas" pitchFamily="49" charset="0"/>
              <a:ea typeface="仿宋" pitchFamily="49" charset="-122"/>
            </a:endParaRPr>
          </a:p>
        </p:txBody>
      </p:sp>
      <p:sp>
        <p:nvSpPr>
          <p:cNvPr id="5" name="TextBox 4"/>
          <p:cNvSpPr txBox="1"/>
          <p:nvPr/>
        </p:nvSpPr>
        <p:spPr>
          <a:xfrm>
            <a:off x="214282" y="1285860"/>
            <a:ext cx="8286808" cy="4503797"/>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200"/>
              </a:lnSpc>
              <a:spcBef>
                <a:spcPts val="600"/>
              </a:spcBef>
            </a:pPr>
            <a:r>
              <a:rPr lang="en-US" altLang="zh-CN">
                <a:solidFill>
                  <a:srgbClr val="0000FF"/>
                </a:solidFill>
                <a:latin typeface="Consolas" pitchFamily="49" charset="0"/>
                <a:ea typeface="仿宋" pitchFamily="49" charset="-122"/>
              </a:rPr>
              <a:t> </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）根据给定的网络</a:t>
            </a:r>
            <a:r>
              <a:rPr lang="en-US" altLang="zh-CN" i="1">
                <a:solidFill>
                  <a:srgbClr val="0000FF"/>
                </a:solidFill>
                <a:latin typeface="Consolas" pitchFamily="49" charset="0"/>
                <a:ea typeface="仿宋" pitchFamily="49" charset="-122"/>
              </a:rPr>
              <a:t>G</a:t>
            </a:r>
            <a:r>
              <a:rPr lang="zh-CN" altLang="zh-CN">
                <a:solidFill>
                  <a:srgbClr val="0000FF"/>
                </a:solidFill>
                <a:latin typeface="Consolas" pitchFamily="49" charset="0"/>
                <a:ea typeface="仿宋" pitchFamily="49" charset="-122"/>
              </a:rPr>
              <a:t>从零流开始建立一个</a:t>
            </a:r>
            <a:r>
              <a:rPr lang="zh-CN" altLang="zh-CN">
                <a:solidFill>
                  <a:srgbClr val="FF0000"/>
                </a:solidFill>
                <a:latin typeface="Consolas" pitchFamily="49" charset="0"/>
                <a:ea typeface="仿宋" pitchFamily="49" charset="-122"/>
              </a:rPr>
              <a:t>剩余网络</a:t>
            </a:r>
            <a:r>
              <a:rPr lang="en-US" altLang="zh-CN" i="1">
                <a:solidFill>
                  <a:srgbClr val="FF0000"/>
                </a:solidFill>
                <a:latin typeface="Consolas" pitchFamily="49" charset="0"/>
                <a:ea typeface="仿宋" pitchFamily="49" charset="-122"/>
              </a:rPr>
              <a:t>G</a:t>
            </a:r>
            <a:r>
              <a:rPr lang="en-US" altLang="zh-CN" i="1" baseline="-25000">
                <a:solidFill>
                  <a:srgbClr val="FF0000"/>
                </a:solidFill>
                <a:latin typeface="Consolas" pitchFamily="49" charset="0"/>
                <a:ea typeface="仿宋" pitchFamily="49" charset="-122"/>
              </a:rPr>
              <a:t>f</a:t>
            </a:r>
            <a:r>
              <a:rPr lang="zh-CN" altLang="zh-CN">
                <a:solidFill>
                  <a:srgbClr val="0000FF"/>
                </a:solidFill>
                <a:latin typeface="Consolas" pitchFamily="49" charset="0"/>
                <a:ea typeface="仿宋" pitchFamily="49" charset="-122"/>
              </a:rPr>
              <a:t>，其初始边上的剩余容量等于</a:t>
            </a:r>
            <a:r>
              <a:rPr lang="en-US" altLang="zh-CN">
                <a:solidFill>
                  <a:srgbClr val="0000FF"/>
                </a:solidFill>
                <a:latin typeface="Consolas" pitchFamily="49" charset="0"/>
                <a:ea typeface="仿宋" pitchFamily="49" charset="-122"/>
              </a:rPr>
              <a:t>G</a:t>
            </a:r>
            <a:r>
              <a:rPr lang="zh-CN" altLang="zh-CN">
                <a:solidFill>
                  <a:srgbClr val="0000FF"/>
                </a:solidFill>
                <a:latin typeface="Consolas" pitchFamily="49" charset="0"/>
                <a:ea typeface="仿宋" pitchFamily="49" charset="-122"/>
              </a:rPr>
              <a:t>中对应边的初始容量。</a:t>
            </a:r>
          </a:p>
          <a:p>
            <a:pPr algn="l">
              <a:lnSpc>
                <a:spcPts val="3200"/>
              </a:lnSpc>
              <a:spcBef>
                <a:spcPts val="600"/>
              </a:spcBef>
            </a:pPr>
            <a:r>
              <a:rPr lang="en-US" altLang="zh-CN">
                <a:solidFill>
                  <a:srgbClr val="0000FF"/>
                </a:solidFill>
                <a:latin typeface="Consolas" pitchFamily="49" charset="0"/>
                <a:ea typeface="仿宋" pitchFamily="49" charset="-122"/>
              </a:rPr>
              <a:t> </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）若</a:t>
            </a:r>
            <a:r>
              <a:rPr lang="en-US" altLang="zh-CN" i="1">
                <a:solidFill>
                  <a:srgbClr val="0000FF"/>
                </a:solidFill>
                <a:latin typeface="Consolas" pitchFamily="49" charset="0"/>
                <a:ea typeface="仿宋" pitchFamily="49" charset="-122"/>
              </a:rPr>
              <a:t>G</a:t>
            </a:r>
            <a:r>
              <a:rPr lang="en-US" altLang="zh-CN" i="1" baseline="-25000">
                <a:solidFill>
                  <a:srgbClr val="0000FF"/>
                </a:solidFill>
                <a:latin typeface="Consolas" pitchFamily="49" charset="0"/>
                <a:ea typeface="仿宋" pitchFamily="49" charset="-122"/>
              </a:rPr>
              <a:t>f</a:t>
            </a:r>
            <a:r>
              <a:rPr lang="zh-CN" altLang="zh-CN">
                <a:solidFill>
                  <a:srgbClr val="0000FF"/>
                </a:solidFill>
                <a:latin typeface="Consolas" pitchFamily="49" charset="0"/>
                <a:ea typeface="仿宋" pitchFamily="49" charset="-122"/>
              </a:rPr>
              <a:t>中存在从源点</a:t>
            </a:r>
            <a:r>
              <a:rPr lang="en-US" altLang="zh-CN">
                <a:solidFill>
                  <a:srgbClr val="0000FF"/>
                </a:solidFill>
                <a:latin typeface="Consolas" pitchFamily="49" charset="0"/>
                <a:ea typeface="仿宋" pitchFamily="49" charset="-122"/>
              </a:rPr>
              <a:t>S</a:t>
            </a:r>
            <a:r>
              <a:rPr lang="zh-CN" altLang="zh-CN">
                <a:solidFill>
                  <a:srgbClr val="0000FF"/>
                </a:solidFill>
                <a:latin typeface="Consolas" pitchFamily="49" charset="0"/>
                <a:ea typeface="仿宋" pitchFamily="49" charset="-122"/>
              </a:rPr>
              <a:t>到汇点</a:t>
            </a:r>
            <a:r>
              <a:rPr lang="en-US" altLang="zh-CN">
                <a:solidFill>
                  <a:srgbClr val="0000FF"/>
                </a:solidFill>
                <a:latin typeface="Consolas" pitchFamily="49" charset="0"/>
                <a:ea typeface="仿宋" pitchFamily="49" charset="-122"/>
              </a:rPr>
              <a:t>T</a:t>
            </a:r>
            <a:r>
              <a:rPr lang="zh-CN" altLang="zh-CN">
                <a:solidFill>
                  <a:srgbClr val="0000FF"/>
                </a:solidFill>
                <a:latin typeface="Consolas" pitchFamily="49" charset="0"/>
                <a:ea typeface="仿宋" pitchFamily="49" charset="-122"/>
              </a:rPr>
              <a:t>的增广路径</a:t>
            </a:r>
            <a:r>
              <a:rPr lang="en-US" altLang="zh-CN" i="1">
                <a:solidFill>
                  <a:srgbClr val="0000FF"/>
                </a:solidFill>
                <a:latin typeface="Consolas" pitchFamily="49" charset="0"/>
                <a:ea typeface="仿宋" pitchFamily="49" charset="-122"/>
              </a:rPr>
              <a:t>μ</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f</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，重复以下过程。</a:t>
            </a:r>
          </a:p>
          <a:p>
            <a:pPr marL="914400" lvl="1" indent="-457200" algn="l">
              <a:lnSpc>
                <a:spcPts val="3200"/>
              </a:lnSpc>
              <a:spcBef>
                <a:spcPts val="600"/>
              </a:spcBef>
              <a:buFont typeface="+mj-ea"/>
              <a:buAutoNum type="circleNumDbPlain"/>
            </a:pPr>
            <a:r>
              <a:rPr lang="zh-CN" altLang="zh-CN" sz="2200">
                <a:solidFill>
                  <a:srgbClr val="006600"/>
                </a:solidFill>
                <a:latin typeface="Consolas" pitchFamily="49" charset="0"/>
                <a:ea typeface="仿宋" pitchFamily="49" charset="-122"/>
              </a:rPr>
              <a:t>采用</a:t>
            </a:r>
            <a:r>
              <a:rPr lang="en-US" altLang="zh-CN" sz="2200">
                <a:solidFill>
                  <a:srgbClr val="FF0000"/>
                </a:solidFill>
                <a:latin typeface="Consolas" pitchFamily="49" charset="0"/>
                <a:ea typeface="仿宋" pitchFamily="49" charset="-122"/>
              </a:rPr>
              <a:t>BFS</a:t>
            </a:r>
            <a:r>
              <a:rPr lang="zh-CN" altLang="zh-CN" sz="2200">
                <a:solidFill>
                  <a:srgbClr val="006600"/>
                </a:solidFill>
                <a:latin typeface="Consolas" pitchFamily="49" charset="0"/>
                <a:ea typeface="仿宋" pitchFamily="49" charset="-122"/>
              </a:rPr>
              <a:t>算法找到一条增广路径</a:t>
            </a:r>
            <a:r>
              <a:rPr lang="en-US" altLang="zh-CN" sz="2200" i="1">
                <a:solidFill>
                  <a:srgbClr val="006600"/>
                </a:solidFill>
                <a:latin typeface="Consolas" pitchFamily="49" charset="0"/>
                <a:ea typeface="仿宋" pitchFamily="49" charset="-122"/>
              </a:rPr>
              <a:t>μ</a:t>
            </a:r>
            <a:r>
              <a:rPr lang="en-US" altLang="zh-CN" sz="2200">
                <a:solidFill>
                  <a:srgbClr val="006600"/>
                </a:solidFill>
                <a:latin typeface="Consolas" pitchFamily="49" charset="0"/>
                <a:ea typeface="仿宋" pitchFamily="49" charset="-122"/>
              </a:rPr>
              <a:t>(</a:t>
            </a:r>
            <a:r>
              <a:rPr lang="en-US" altLang="zh-CN" sz="2200" i="1">
                <a:solidFill>
                  <a:srgbClr val="006600"/>
                </a:solidFill>
                <a:latin typeface="Consolas" pitchFamily="49" charset="0"/>
                <a:ea typeface="仿宋" pitchFamily="49" charset="-122"/>
              </a:rPr>
              <a:t>f</a:t>
            </a:r>
            <a:r>
              <a:rPr lang="en-US" altLang="zh-CN" sz="2200">
                <a:solidFill>
                  <a:srgbClr val="006600"/>
                </a:solidFill>
                <a:latin typeface="Consolas" pitchFamily="49" charset="0"/>
                <a:ea typeface="仿宋" pitchFamily="49" charset="-122"/>
              </a:rPr>
              <a:t>)</a:t>
            </a:r>
            <a:r>
              <a:rPr lang="zh-CN" altLang="zh-CN" sz="2200">
                <a:solidFill>
                  <a:srgbClr val="006600"/>
                </a:solidFill>
                <a:latin typeface="Consolas" pitchFamily="49" charset="0"/>
                <a:ea typeface="仿宋" pitchFamily="49" charset="-122"/>
              </a:rPr>
              <a:t>，同时求出路径上的最小容量</a:t>
            </a:r>
            <a:r>
              <a:rPr lang="en-US" altLang="zh-CN" sz="2200">
                <a:solidFill>
                  <a:srgbClr val="006600"/>
                </a:solidFill>
                <a:latin typeface="Consolas" pitchFamily="49" charset="0"/>
                <a:ea typeface="仿宋" pitchFamily="49" charset="-122"/>
              </a:rPr>
              <a:t>delta</a:t>
            </a:r>
            <a:r>
              <a:rPr lang="zh-CN" altLang="zh-CN" sz="2200">
                <a:solidFill>
                  <a:srgbClr val="006600"/>
                </a:solidFill>
                <a:latin typeface="Consolas" pitchFamily="49" charset="0"/>
                <a:ea typeface="仿宋" pitchFamily="49" charset="-122"/>
              </a:rPr>
              <a:t>。</a:t>
            </a:r>
          </a:p>
          <a:p>
            <a:pPr marL="914400" lvl="1" indent="-457200" algn="l">
              <a:lnSpc>
                <a:spcPts val="3200"/>
              </a:lnSpc>
              <a:spcBef>
                <a:spcPts val="600"/>
              </a:spcBef>
              <a:buFont typeface="+mj-ea"/>
              <a:buAutoNum type="circleNumDbPlain"/>
            </a:pPr>
            <a:r>
              <a:rPr lang="zh-CN" altLang="zh-CN" sz="2200">
                <a:solidFill>
                  <a:srgbClr val="006600"/>
                </a:solidFill>
                <a:latin typeface="Consolas" pitchFamily="49" charset="0"/>
                <a:ea typeface="仿宋" pitchFamily="49" charset="-122"/>
              </a:rPr>
              <a:t>增广</a:t>
            </a:r>
            <a:r>
              <a:rPr lang="zh-CN" altLang="en-US" sz="2200">
                <a:solidFill>
                  <a:srgbClr val="006600"/>
                </a:solidFill>
                <a:latin typeface="Consolas" pitchFamily="49" charset="0"/>
                <a:ea typeface="仿宋" pitchFamily="49" charset="-122"/>
              </a:rPr>
              <a:t>操作：</a:t>
            </a:r>
            <a:r>
              <a:rPr lang="zh-CN" altLang="zh-CN" sz="2200">
                <a:solidFill>
                  <a:srgbClr val="006600"/>
                </a:solidFill>
                <a:latin typeface="Consolas" pitchFamily="49" charset="0"/>
                <a:ea typeface="仿宋" pitchFamily="49" charset="-122"/>
              </a:rPr>
              <a:t>若</a:t>
            </a:r>
            <a:r>
              <a:rPr lang="en-US" altLang="zh-CN" sz="2200">
                <a:solidFill>
                  <a:srgbClr val="006600"/>
                </a:solidFill>
                <a:latin typeface="Consolas" pitchFamily="49" charset="0"/>
                <a:ea typeface="仿宋" pitchFamily="49" charset="-122"/>
              </a:rPr>
              <a:t>&lt;</a:t>
            </a:r>
            <a:r>
              <a:rPr lang="en-US" altLang="zh-CN" sz="2200" i="1">
                <a:solidFill>
                  <a:srgbClr val="006600"/>
                </a:solidFill>
                <a:latin typeface="Consolas" pitchFamily="49" charset="0"/>
                <a:ea typeface="仿宋" pitchFamily="49" charset="-122"/>
              </a:rPr>
              <a:t>u</a:t>
            </a:r>
            <a:r>
              <a:rPr lang="zh-CN" altLang="zh-CN" sz="2200">
                <a:solidFill>
                  <a:srgbClr val="006600"/>
                </a:solidFill>
                <a:latin typeface="Consolas" pitchFamily="49" charset="0"/>
                <a:ea typeface="仿宋" pitchFamily="49" charset="-122"/>
              </a:rPr>
              <a:t>，</a:t>
            </a:r>
            <a:r>
              <a:rPr lang="en-US" altLang="zh-CN" sz="2200" i="1">
                <a:solidFill>
                  <a:srgbClr val="006600"/>
                </a:solidFill>
                <a:latin typeface="Consolas" pitchFamily="49" charset="0"/>
                <a:ea typeface="仿宋" pitchFamily="49" charset="-122"/>
              </a:rPr>
              <a:t>v</a:t>
            </a:r>
            <a:r>
              <a:rPr lang="en-US" altLang="zh-CN" sz="2200">
                <a:solidFill>
                  <a:srgbClr val="006600"/>
                </a:solidFill>
                <a:latin typeface="Consolas" pitchFamily="49" charset="0"/>
                <a:ea typeface="仿宋" pitchFamily="49" charset="-122"/>
              </a:rPr>
              <a:t>&gt;</a:t>
            </a:r>
            <a:r>
              <a:rPr lang="zh-CN" altLang="zh-CN" sz="2200">
                <a:solidFill>
                  <a:srgbClr val="006600"/>
                </a:solidFill>
                <a:latin typeface="Consolas" pitchFamily="49" charset="0"/>
                <a:ea typeface="仿宋" pitchFamily="49" charset="-122"/>
              </a:rPr>
              <a:t>∈</a:t>
            </a:r>
            <a:r>
              <a:rPr lang="en-US" altLang="zh-CN" sz="2200" i="1">
                <a:solidFill>
                  <a:srgbClr val="006600"/>
                </a:solidFill>
                <a:latin typeface="Consolas" pitchFamily="49" charset="0"/>
                <a:ea typeface="仿宋" pitchFamily="49" charset="-122"/>
              </a:rPr>
              <a:t>μ</a:t>
            </a:r>
            <a:r>
              <a:rPr lang="en-US" altLang="zh-CN" sz="2200" baseline="30000">
                <a:solidFill>
                  <a:srgbClr val="006600"/>
                </a:solidFill>
                <a:latin typeface="Consolas" pitchFamily="49" charset="0"/>
                <a:ea typeface="仿宋" pitchFamily="49" charset="-122"/>
              </a:rPr>
              <a:t>+</a:t>
            </a:r>
            <a:r>
              <a:rPr lang="zh-CN" altLang="zh-CN" sz="2200">
                <a:solidFill>
                  <a:srgbClr val="006600"/>
                </a:solidFill>
                <a:latin typeface="Consolas" pitchFamily="49" charset="0"/>
                <a:ea typeface="仿宋" pitchFamily="49" charset="-122"/>
              </a:rPr>
              <a:t>，则将其剩余容量减去</a:t>
            </a:r>
            <a:r>
              <a:rPr lang="en-US" altLang="zh-CN" sz="2200">
                <a:solidFill>
                  <a:srgbClr val="006600"/>
                </a:solidFill>
                <a:latin typeface="Consolas" pitchFamily="49" charset="0"/>
                <a:ea typeface="仿宋" pitchFamily="49" charset="-122"/>
              </a:rPr>
              <a:t>delta</a:t>
            </a:r>
            <a:r>
              <a:rPr lang="zh-CN" altLang="zh-CN" sz="2200">
                <a:solidFill>
                  <a:srgbClr val="006600"/>
                </a:solidFill>
                <a:latin typeface="Consolas" pitchFamily="49" charset="0"/>
                <a:ea typeface="仿宋" pitchFamily="49" charset="-122"/>
              </a:rPr>
              <a:t>。若当</a:t>
            </a:r>
            <a:r>
              <a:rPr lang="en-US" altLang="zh-CN" sz="2200">
                <a:solidFill>
                  <a:srgbClr val="006600"/>
                </a:solidFill>
                <a:latin typeface="Consolas" pitchFamily="49" charset="0"/>
                <a:ea typeface="仿宋" pitchFamily="49" charset="-122"/>
              </a:rPr>
              <a:t>&lt;</a:t>
            </a:r>
            <a:r>
              <a:rPr lang="en-US" altLang="zh-CN" sz="2200" i="1">
                <a:solidFill>
                  <a:srgbClr val="006600"/>
                </a:solidFill>
                <a:latin typeface="Consolas" pitchFamily="49" charset="0"/>
                <a:ea typeface="仿宋" pitchFamily="49" charset="-122"/>
              </a:rPr>
              <a:t>u</a:t>
            </a:r>
            <a:r>
              <a:rPr lang="zh-CN" altLang="zh-CN" sz="2200">
                <a:solidFill>
                  <a:srgbClr val="006600"/>
                </a:solidFill>
                <a:latin typeface="Consolas" pitchFamily="49" charset="0"/>
                <a:ea typeface="仿宋" pitchFamily="49" charset="-122"/>
              </a:rPr>
              <a:t>，</a:t>
            </a:r>
            <a:r>
              <a:rPr lang="en-US" altLang="zh-CN" sz="2200" i="1">
                <a:solidFill>
                  <a:srgbClr val="006600"/>
                </a:solidFill>
                <a:latin typeface="Consolas" pitchFamily="49" charset="0"/>
                <a:ea typeface="仿宋" pitchFamily="49" charset="-122"/>
              </a:rPr>
              <a:t>v</a:t>
            </a:r>
            <a:r>
              <a:rPr lang="en-US" altLang="zh-CN" sz="2200">
                <a:solidFill>
                  <a:srgbClr val="006600"/>
                </a:solidFill>
                <a:latin typeface="Consolas" pitchFamily="49" charset="0"/>
                <a:ea typeface="仿宋" pitchFamily="49" charset="-122"/>
              </a:rPr>
              <a:t>&gt;</a:t>
            </a:r>
            <a:r>
              <a:rPr lang="zh-CN" altLang="zh-CN" sz="2200">
                <a:solidFill>
                  <a:srgbClr val="006600"/>
                </a:solidFill>
                <a:latin typeface="Consolas" pitchFamily="49" charset="0"/>
                <a:ea typeface="仿宋" pitchFamily="49" charset="-122"/>
              </a:rPr>
              <a:t>∈</a:t>
            </a:r>
            <a:r>
              <a:rPr lang="en-US" altLang="zh-CN" sz="2200" i="1">
                <a:solidFill>
                  <a:srgbClr val="006600"/>
                </a:solidFill>
                <a:latin typeface="Consolas" pitchFamily="49" charset="0"/>
                <a:ea typeface="仿宋" pitchFamily="49" charset="-122"/>
              </a:rPr>
              <a:t>μ</a:t>
            </a:r>
            <a:r>
              <a:rPr lang="en-US" altLang="zh-CN" sz="2200" baseline="30000">
                <a:solidFill>
                  <a:srgbClr val="006600"/>
                </a:solidFill>
                <a:latin typeface="Consolas" pitchFamily="49" charset="0"/>
                <a:ea typeface="仿宋" pitchFamily="49" charset="-122"/>
              </a:rPr>
              <a:t>-</a:t>
            </a:r>
            <a:r>
              <a:rPr lang="zh-CN" altLang="zh-CN" sz="2200">
                <a:solidFill>
                  <a:srgbClr val="006600"/>
                </a:solidFill>
                <a:latin typeface="Consolas" pitchFamily="49" charset="0"/>
                <a:ea typeface="仿宋" pitchFamily="49" charset="-122"/>
              </a:rPr>
              <a:t>，则将其流量加上</a:t>
            </a:r>
            <a:r>
              <a:rPr lang="en-US" altLang="zh-CN" sz="2200">
                <a:solidFill>
                  <a:srgbClr val="006600"/>
                </a:solidFill>
                <a:latin typeface="Consolas" pitchFamily="49" charset="0"/>
                <a:ea typeface="仿宋" pitchFamily="49" charset="-122"/>
              </a:rPr>
              <a:t>delta</a:t>
            </a:r>
            <a:r>
              <a:rPr lang="zh-CN" altLang="zh-CN" sz="2200">
                <a:solidFill>
                  <a:srgbClr val="006600"/>
                </a:solidFill>
                <a:latin typeface="Consolas" pitchFamily="49" charset="0"/>
                <a:ea typeface="仿宋" pitchFamily="49" charset="-122"/>
              </a:rPr>
              <a:t>。</a:t>
            </a:r>
          </a:p>
          <a:p>
            <a:pPr algn="l">
              <a:lnSpc>
                <a:spcPts val="3200"/>
              </a:lnSpc>
              <a:spcBef>
                <a:spcPts val="600"/>
              </a:spcBef>
            </a:pPr>
            <a:r>
              <a:rPr lang="zh-CN" altLang="zh-CN">
                <a:solidFill>
                  <a:srgbClr val="0000FF"/>
                </a:solidFill>
                <a:latin typeface="Consolas" pitchFamily="49" charset="0"/>
                <a:ea typeface="仿宋" pitchFamily="49" charset="-122"/>
              </a:rPr>
              <a:t>上述过程直到找不到增广路径为止，此时的可行流就是</a:t>
            </a:r>
            <a:r>
              <a:rPr lang="zh-CN" altLang="zh-CN">
                <a:solidFill>
                  <a:srgbClr val="FF0000"/>
                </a:solidFill>
                <a:latin typeface="Consolas" pitchFamily="49" charset="0"/>
                <a:ea typeface="仿宋" pitchFamily="49" charset="-122"/>
              </a:rPr>
              <a:t>最大流</a:t>
            </a:r>
            <a:r>
              <a:rPr lang="zh-CN" altLang="zh-CN">
                <a:solidFill>
                  <a:srgbClr val="0000FF"/>
                </a:solidFill>
                <a:latin typeface="Consolas" pitchFamily="49" charset="0"/>
                <a:ea typeface="仿宋" pitchFamily="49" charset="-122"/>
              </a:rPr>
              <a:t>。</a:t>
            </a:r>
            <a:endParaRPr lang="zh-CN" altLang="en-US">
              <a:solidFill>
                <a:srgbClr val="0000FF"/>
              </a:solidFill>
              <a:latin typeface="Consolas" pitchFamily="49" charset="0"/>
              <a:ea typeface="仿宋" pitchFamily="49" charset="-122"/>
              <a:cs typeface="Consolas" pitchFamily="49" charset="0"/>
            </a:endParaRPr>
          </a:p>
        </p:txBody>
      </p:sp>
      <p:sp>
        <p:nvSpPr>
          <p:cNvPr id="7" name="灯片编号占位符 6"/>
          <p:cNvSpPr>
            <a:spLocks noGrp="1"/>
          </p:cNvSpPr>
          <p:nvPr>
            <p:ph type="sldNum" sz="quarter" idx="12"/>
          </p:nvPr>
        </p:nvSpPr>
        <p:spPr/>
        <p:txBody>
          <a:bodyPr/>
          <a:lstStyle/>
          <a:p>
            <a:fld id="{7AF016A1-9F15-429F-9EFD-84004B73C732}" type="slidenum">
              <a:rPr lang="en-US" altLang="zh-CN" smtClean="0"/>
              <a:pPr/>
              <a:t>118</a:t>
            </a:fld>
            <a:r>
              <a:rPr lang="en-US" altLang="zh-CN"/>
              <a:t>/158</a:t>
            </a: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0034" y="428604"/>
            <a:ext cx="8143932" cy="938719"/>
          </a:xfrm>
          <a:prstGeom prst="rect">
            <a:avLst/>
          </a:prstGeom>
          <a:ln>
            <a:solidFill>
              <a:schemeClr val="accent6">
                <a:lumMod val="20000"/>
                <a:lumOff val="8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300"/>
              </a:lnSpc>
              <a:spcBef>
                <a:spcPts val="0"/>
              </a:spcBef>
            </a:pPr>
            <a:r>
              <a:rPr lang="zh-CN" altLang="zh-CN">
                <a:solidFill>
                  <a:srgbClr val="FF0000"/>
                </a:solidFill>
                <a:latin typeface="Consolas" pitchFamily="49" charset="0"/>
                <a:ea typeface="楷体" pitchFamily="49" charset="-122"/>
              </a:rPr>
              <a:t>【例</a:t>
            </a:r>
            <a:r>
              <a:rPr lang="en-US" altLang="zh-CN">
                <a:solidFill>
                  <a:srgbClr val="FF0000"/>
                </a:solidFill>
                <a:latin typeface="Consolas" pitchFamily="49" charset="0"/>
                <a:ea typeface="楷体" pitchFamily="49" charset="-122"/>
              </a:rPr>
              <a:t>9.4</a:t>
            </a:r>
            <a:r>
              <a:rPr lang="zh-CN" altLang="zh-CN">
                <a:solidFill>
                  <a:srgbClr val="FF0000"/>
                </a:solidFill>
                <a:latin typeface="Consolas" pitchFamily="49" charset="0"/>
                <a:ea typeface="楷体" pitchFamily="49" charset="-122"/>
              </a:rPr>
              <a:t>】</a:t>
            </a:r>
            <a:r>
              <a:rPr lang="zh-CN" altLang="zh-CN">
                <a:solidFill>
                  <a:srgbClr val="0000FF"/>
                </a:solidFill>
                <a:latin typeface="Consolas" pitchFamily="49" charset="0"/>
                <a:ea typeface="仿宋" pitchFamily="49" charset="-122"/>
              </a:rPr>
              <a:t>对于如图</a:t>
            </a:r>
            <a:r>
              <a:rPr lang="en-US" altLang="zh-CN">
                <a:solidFill>
                  <a:srgbClr val="0000FF"/>
                </a:solidFill>
                <a:latin typeface="Consolas" pitchFamily="49" charset="0"/>
                <a:ea typeface="仿宋" pitchFamily="49" charset="-122"/>
              </a:rPr>
              <a:t>(a)</a:t>
            </a:r>
            <a:r>
              <a:rPr lang="zh-CN" altLang="zh-CN">
                <a:solidFill>
                  <a:srgbClr val="0000FF"/>
                </a:solidFill>
                <a:latin typeface="Consolas" pitchFamily="49" charset="0"/>
                <a:ea typeface="仿宋" pitchFamily="49" charset="-122"/>
              </a:rPr>
              <a:t>所示的网络，假设源点</a:t>
            </a:r>
            <a:r>
              <a:rPr lang="en-US" altLang="zh-CN">
                <a:solidFill>
                  <a:srgbClr val="0000FF"/>
                </a:solidFill>
                <a:latin typeface="Consolas" pitchFamily="49" charset="0"/>
                <a:ea typeface="仿宋" pitchFamily="49" charset="-122"/>
              </a:rPr>
              <a:t>S=0</a:t>
            </a:r>
            <a:r>
              <a:rPr lang="zh-CN" altLang="zh-CN">
                <a:solidFill>
                  <a:srgbClr val="0000FF"/>
                </a:solidFill>
                <a:latin typeface="Consolas" pitchFamily="49" charset="0"/>
                <a:ea typeface="仿宋" pitchFamily="49" charset="-122"/>
              </a:rPr>
              <a:t>，汇点</a:t>
            </a:r>
            <a:r>
              <a:rPr lang="en-US" altLang="zh-CN">
                <a:solidFill>
                  <a:srgbClr val="0000FF"/>
                </a:solidFill>
                <a:latin typeface="Consolas" pitchFamily="49" charset="0"/>
                <a:ea typeface="仿宋" pitchFamily="49" charset="-122"/>
              </a:rPr>
              <a:t>T=5</a:t>
            </a:r>
            <a:r>
              <a:rPr lang="zh-CN" altLang="zh-CN">
                <a:solidFill>
                  <a:srgbClr val="0000FF"/>
                </a:solidFill>
                <a:latin typeface="Consolas" pitchFamily="49" charset="0"/>
                <a:ea typeface="仿宋" pitchFamily="49" charset="-122"/>
              </a:rPr>
              <a:t>，采用</a:t>
            </a:r>
            <a:r>
              <a:rPr lang="en-US" altLang="zh-CN">
                <a:solidFill>
                  <a:srgbClr val="0000FF"/>
                </a:solidFill>
                <a:latin typeface="Consolas" pitchFamily="49" charset="0"/>
              </a:rPr>
              <a:t>Edmonds-Krap</a:t>
            </a:r>
            <a:r>
              <a:rPr lang="zh-CN" altLang="zh-CN">
                <a:solidFill>
                  <a:srgbClr val="0000FF"/>
                </a:solidFill>
                <a:latin typeface="Consolas" pitchFamily="49" charset="0"/>
                <a:ea typeface="仿宋" pitchFamily="49" charset="-122"/>
              </a:rPr>
              <a:t>算法求其最大流。</a:t>
            </a:r>
          </a:p>
        </p:txBody>
      </p:sp>
      <p:grpSp>
        <p:nvGrpSpPr>
          <p:cNvPr id="2" name="组合 5"/>
          <p:cNvGrpSpPr/>
          <p:nvPr/>
        </p:nvGrpSpPr>
        <p:grpSpPr>
          <a:xfrm>
            <a:off x="2857488" y="1785926"/>
            <a:ext cx="2354101" cy="3545617"/>
            <a:chOff x="724862" y="1169267"/>
            <a:chExt cx="2354101" cy="3545617"/>
          </a:xfrm>
        </p:grpSpPr>
        <p:sp>
          <p:nvSpPr>
            <p:cNvPr id="7" name="Text Box 51"/>
            <p:cNvSpPr txBox="1">
              <a:spLocks noChangeArrowheads="1"/>
            </p:cNvSpPr>
            <p:nvPr/>
          </p:nvSpPr>
          <p:spPr bwMode="auto">
            <a:xfrm>
              <a:off x="1714610" y="3437516"/>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8" name="Text Box 50"/>
            <p:cNvSpPr txBox="1">
              <a:spLocks noChangeArrowheads="1"/>
            </p:cNvSpPr>
            <p:nvPr/>
          </p:nvSpPr>
          <p:spPr bwMode="auto">
            <a:xfrm>
              <a:off x="1677807" y="2546512"/>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9" name="Text Box 49"/>
            <p:cNvSpPr txBox="1">
              <a:spLocks noChangeArrowheads="1"/>
            </p:cNvSpPr>
            <p:nvPr/>
          </p:nvSpPr>
          <p:spPr bwMode="auto">
            <a:xfrm>
              <a:off x="1982749" y="1620026"/>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5</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0" name="Text Box 48"/>
            <p:cNvSpPr txBox="1">
              <a:spLocks noChangeArrowheads="1"/>
            </p:cNvSpPr>
            <p:nvPr/>
          </p:nvSpPr>
          <p:spPr bwMode="auto">
            <a:xfrm>
              <a:off x="2444105" y="2413781"/>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1" name="Text Box 47"/>
            <p:cNvSpPr txBox="1">
              <a:spLocks noChangeArrowheads="1"/>
            </p:cNvSpPr>
            <p:nvPr/>
          </p:nvSpPr>
          <p:spPr bwMode="auto">
            <a:xfrm>
              <a:off x="1182276" y="3508481"/>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2" name="Text Box 46"/>
            <p:cNvSpPr txBox="1">
              <a:spLocks noChangeArrowheads="1"/>
            </p:cNvSpPr>
            <p:nvPr/>
          </p:nvSpPr>
          <p:spPr bwMode="auto">
            <a:xfrm>
              <a:off x="1241424" y="2413781"/>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3" name="Text Box 45"/>
            <p:cNvSpPr txBox="1">
              <a:spLocks noChangeArrowheads="1"/>
            </p:cNvSpPr>
            <p:nvPr/>
          </p:nvSpPr>
          <p:spPr bwMode="auto">
            <a:xfrm>
              <a:off x="2298206" y="2846142"/>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4" name="Text Box 44"/>
            <p:cNvSpPr txBox="1">
              <a:spLocks noChangeArrowheads="1"/>
            </p:cNvSpPr>
            <p:nvPr/>
          </p:nvSpPr>
          <p:spPr bwMode="auto">
            <a:xfrm>
              <a:off x="2379700" y="3559733"/>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5" name="Oval 43"/>
            <p:cNvSpPr>
              <a:spLocks noChangeArrowheads="1"/>
            </p:cNvSpPr>
            <p:nvPr/>
          </p:nvSpPr>
          <p:spPr bwMode="auto">
            <a:xfrm>
              <a:off x="1677807" y="1169267"/>
              <a:ext cx="411409" cy="448130"/>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0</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6" name="Oval 42"/>
            <p:cNvSpPr>
              <a:spLocks noChangeArrowheads="1"/>
            </p:cNvSpPr>
            <p:nvPr/>
          </p:nvSpPr>
          <p:spPr bwMode="auto">
            <a:xfrm>
              <a:off x="724862" y="2921049"/>
              <a:ext cx="410095" cy="44681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8" name="Oval 41"/>
            <p:cNvSpPr>
              <a:spLocks noChangeArrowheads="1"/>
            </p:cNvSpPr>
            <p:nvPr/>
          </p:nvSpPr>
          <p:spPr bwMode="auto">
            <a:xfrm>
              <a:off x="1677807" y="2921049"/>
              <a:ext cx="408780" cy="44681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9" name="Oval 40"/>
            <p:cNvSpPr>
              <a:spLocks noChangeArrowheads="1"/>
            </p:cNvSpPr>
            <p:nvPr/>
          </p:nvSpPr>
          <p:spPr bwMode="auto">
            <a:xfrm>
              <a:off x="2670183" y="2921049"/>
              <a:ext cx="408780" cy="44681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20" name="Oval 39"/>
            <p:cNvSpPr>
              <a:spLocks noChangeArrowheads="1"/>
            </p:cNvSpPr>
            <p:nvPr/>
          </p:nvSpPr>
          <p:spPr bwMode="auto">
            <a:xfrm>
              <a:off x="1677807" y="1966965"/>
              <a:ext cx="408780" cy="44681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21" name="Oval 38"/>
            <p:cNvSpPr>
              <a:spLocks noChangeArrowheads="1"/>
            </p:cNvSpPr>
            <p:nvPr/>
          </p:nvSpPr>
          <p:spPr bwMode="auto">
            <a:xfrm>
              <a:off x="1677807" y="3835708"/>
              <a:ext cx="408780" cy="446816"/>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5</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22" name="AutoShape 37"/>
            <p:cNvSpPr>
              <a:spLocks noChangeShapeType="1"/>
            </p:cNvSpPr>
            <p:nvPr/>
          </p:nvSpPr>
          <p:spPr bwMode="auto">
            <a:xfrm flipH="1">
              <a:off x="1882854" y="1617398"/>
              <a:ext cx="1314" cy="349568"/>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23" name="AutoShape 36"/>
            <p:cNvSpPr>
              <a:spLocks noChangeShapeType="1"/>
            </p:cNvSpPr>
            <p:nvPr/>
          </p:nvSpPr>
          <p:spPr bwMode="auto">
            <a:xfrm flipH="1">
              <a:off x="1074494" y="2348073"/>
              <a:ext cx="663775" cy="63868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24" name="AutoShape 35"/>
            <p:cNvSpPr>
              <a:spLocks noChangeShapeType="1"/>
            </p:cNvSpPr>
            <p:nvPr/>
          </p:nvSpPr>
          <p:spPr bwMode="auto">
            <a:xfrm>
              <a:off x="1882854" y="2413781"/>
              <a:ext cx="1314" cy="507268"/>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25" name="AutoShape 34"/>
            <p:cNvSpPr>
              <a:spLocks noChangeShapeType="1"/>
            </p:cNvSpPr>
            <p:nvPr/>
          </p:nvSpPr>
          <p:spPr bwMode="auto">
            <a:xfrm>
              <a:off x="2026124" y="2348073"/>
              <a:ext cx="704522" cy="63868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26" name="AutoShape 33"/>
            <p:cNvSpPr>
              <a:spLocks noChangeShapeType="1"/>
            </p:cNvSpPr>
            <p:nvPr/>
          </p:nvSpPr>
          <p:spPr bwMode="auto">
            <a:xfrm>
              <a:off x="1074494" y="3302157"/>
              <a:ext cx="663775" cy="599259"/>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27" name="AutoShape 32"/>
            <p:cNvSpPr>
              <a:spLocks noChangeShapeType="1"/>
            </p:cNvSpPr>
            <p:nvPr/>
          </p:nvSpPr>
          <p:spPr bwMode="auto">
            <a:xfrm>
              <a:off x="1882854" y="3367865"/>
              <a:ext cx="1314" cy="467843"/>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28" name="AutoShape 31"/>
            <p:cNvSpPr>
              <a:spLocks noChangeShapeType="1"/>
            </p:cNvSpPr>
            <p:nvPr/>
          </p:nvSpPr>
          <p:spPr bwMode="auto">
            <a:xfrm flipH="1">
              <a:off x="2026124" y="3302157"/>
              <a:ext cx="704522" cy="599259"/>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29" name="AutoShape 30"/>
            <p:cNvSpPr>
              <a:spLocks noChangeShapeType="1"/>
            </p:cNvSpPr>
            <p:nvPr/>
          </p:nvSpPr>
          <p:spPr bwMode="auto">
            <a:xfrm flipH="1">
              <a:off x="2086587" y="3144457"/>
              <a:ext cx="583596" cy="131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30" name="Text Box 29"/>
            <p:cNvSpPr txBox="1">
              <a:spLocks noChangeArrowheads="1"/>
            </p:cNvSpPr>
            <p:nvPr/>
          </p:nvSpPr>
          <p:spPr bwMode="auto">
            <a:xfrm>
              <a:off x="1131014" y="4415254"/>
              <a:ext cx="1633807"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 </a:t>
              </a:r>
              <a:r>
                <a:rPr kumimoji="0" lang="zh-CN" altLang="en-US"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一个网络</a:t>
              </a:r>
              <a:endParaRPr kumimoji="0" lang="zh-CN" altLang="en-US"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grpSp>
      <p:sp>
        <p:nvSpPr>
          <p:cNvPr id="32" name="灯片编号占位符 31"/>
          <p:cNvSpPr>
            <a:spLocks noGrp="1"/>
          </p:cNvSpPr>
          <p:nvPr>
            <p:ph type="sldNum" sz="quarter" idx="12"/>
          </p:nvPr>
        </p:nvSpPr>
        <p:spPr/>
        <p:txBody>
          <a:bodyPr/>
          <a:lstStyle/>
          <a:p>
            <a:fld id="{7AF016A1-9F15-429F-9EFD-84004B73C732}" type="slidenum">
              <a:rPr lang="en-US" altLang="zh-CN" smtClean="0"/>
              <a:pPr/>
              <a:t>119</a:t>
            </a:fld>
            <a:r>
              <a:rPr lang="en-US" altLang="zh-CN"/>
              <a:t>/158</a:t>
            </a: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13" name="Rectangle 5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2" name="组合 55"/>
          <p:cNvGrpSpPr/>
          <p:nvPr/>
        </p:nvGrpSpPr>
        <p:grpSpPr>
          <a:xfrm>
            <a:off x="214282" y="1526457"/>
            <a:ext cx="2354101" cy="3545617"/>
            <a:chOff x="724862" y="1169267"/>
            <a:chExt cx="2354101" cy="3545617"/>
          </a:xfrm>
        </p:grpSpPr>
        <p:sp>
          <p:nvSpPr>
            <p:cNvPr id="41011" name="Text Box 51"/>
            <p:cNvSpPr txBox="1">
              <a:spLocks noChangeArrowheads="1"/>
            </p:cNvSpPr>
            <p:nvPr/>
          </p:nvSpPr>
          <p:spPr bwMode="auto">
            <a:xfrm>
              <a:off x="1714610" y="3437516"/>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1010" name="Text Box 50"/>
            <p:cNvSpPr txBox="1">
              <a:spLocks noChangeArrowheads="1"/>
            </p:cNvSpPr>
            <p:nvPr/>
          </p:nvSpPr>
          <p:spPr bwMode="auto">
            <a:xfrm>
              <a:off x="1677807" y="2546512"/>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1009" name="Text Box 49"/>
            <p:cNvSpPr txBox="1">
              <a:spLocks noChangeArrowheads="1"/>
            </p:cNvSpPr>
            <p:nvPr/>
          </p:nvSpPr>
          <p:spPr bwMode="auto">
            <a:xfrm>
              <a:off x="1982749" y="1620026"/>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5</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1008" name="Text Box 48"/>
            <p:cNvSpPr txBox="1">
              <a:spLocks noChangeArrowheads="1"/>
            </p:cNvSpPr>
            <p:nvPr/>
          </p:nvSpPr>
          <p:spPr bwMode="auto">
            <a:xfrm>
              <a:off x="2444105" y="2413781"/>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1007" name="Text Box 47"/>
            <p:cNvSpPr txBox="1">
              <a:spLocks noChangeArrowheads="1"/>
            </p:cNvSpPr>
            <p:nvPr/>
          </p:nvSpPr>
          <p:spPr bwMode="auto">
            <a:xfrm>
              <a:off x="1182276" y="3508481"/>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1006" name="Text Box 46"/>
            <p:cNvSpPr txBox="1">
              <a:spLocks noChangeArrowheads="1"/>
            </p:cNvSpPr>
            <p:nvPr/>
          </p:nvSpPr>
          <p:spPr bwMode="auto">
            <a:xfrm>
              <a:off x="1241424" y="2413781"/>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1005" name="Text Box 45"/>
            <p:cNvSpPr txBox="1">
              <a:spLocks noChangeArrowheads="1"/>
            </p:cNvSpPr>
            <p:nvPr/>
          </p:nvSpPr>
          <p:spPr bwMode="auto">
            <a:xfrm>
              <a:off x="2298206" y="2846142"/>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1004" name="Text Box 44"/>
            <p:cNvSpPr txBox="1">
              <a:spLocks noChangeArrowheads="1"/>
            </p:cNvSpPr>
            <p:nvPr/>
          </p:nvSpPr>
          <p:spPr bwMode="auto">
            <a:xfrm>
              <a:off x="2379700" y="3559733"/>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1003" name="Oval 43"/>
            <p:cNvSpPr>
              <a:spLocks noChangeArrowheads="1"/>
            </p:cNvSpPr>
            <p:nvPr/>
          </p:nvSpPr>
          <p:spPr bwMode="auto">
            <a:xfrm>
              <a:off x="1677807" y="1169267"/>
              <a:ext cx="411409" cy="448130"/>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0</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1002" name="Oval 42"/>
            <p:cNvSpPr>
              <a:spLocks noChangeArrowheads="1"/>
            </p:cNvSpPr>
            <p:nvPr/>
          </p:nvSpPr>
          <p:spPr bwMode="auto">
            <a:xfrm>
              <a:off x="724862" y="2921049"/>
              <a:ext cx="410095" cy="44681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1001" name="Oval 41"/>
            <p:cNvSpPr>
              <a:spLocks noChangeArrowheads="1"/>
            </p:cNvSpPr>
            <p:nvPr/>
          </p:nvSpPr>
          <p:spPr bwMode="auto">
            <a:xfrm>
              <a:off x="1677807" y="2921049"/>
              <a:ext cx="408780" cy="44681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1000" name="Oval 40"/>
            <p:cNvSpPr>
              <a:spLocks noChangeArrowheads="1"/>
            </p:cNvSpPr>
            <p:nvPr/>
          </p:nvSpPr>
          <p:spPr bwMode="auto">
            <a:xfrm>
              <a:off x="2670183" y="2921049"/>
              <a:ext cx="408780" cy="44681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0999" name="Oval 39"/>
            <p:cNvSpPr>
              <a:spLocks noChangeArrowheads="1"/>
            </p:cNvSpPr>
            <p:nvPr/>
          </p:nvSpPr>
          <p:spPr bwMode="auto">
            <a:xfrm>
              <a:off x="1677807" y="1966965"/>
              <a:ext cx="408780" cy="44681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0998" name="Oval 38"/>
            <p:cNvSpPr>
              <a:spLocks noChangeArrowheads="1"/>
            </p:cNvSpPr>
            <p:nvPr/>
          </p:nvSpPr>
          <p:spPr bwMode="auto">
            <a:xfrm>
              <a:off x="1677807" y="3835708"/>
              <a:ext cx="408780" cy="446816"/>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5</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0997" name="AutoShape 37"/>
            <p:cNvSpPr>
              <a:spLocks noChangeShapeType="1"/>
            </p:cNvSpPr>
            <p:nvPr/>
          </p:nvSpPr>
          <p:spPr bwMode="auto">
            <a:xfrm flipH="1">
              <a:off x="1882854" y="1617398"/>
              <a:ext cx="1314" cy="349568"/>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40996" name="AutoShape 36"/>
            <p:cNvSpPr>
              <a:spLocks noChangeShapeType="1"/>
            </p:cNvSpPr>
            <p:nvPr/>
          </p:nvSpPr>
          <p:spPr bwMode="auto">
            <a:xfrm flipH="1">
              <a:off x="1074494" y="2348073"/>
              <a:ext cx="663775" cy="63868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40995" name="AutoShape 35"/>
            <p:cNvSpPr>
              <a:spLocks noChangeShapeType="1"/>
            </p:cNvSpPr>
            <p:nvPr/>
          </p:nvSpPr>
          <p:spPr bwMode="auto">
            <a:xfrm>
              <a:off x="1882854" y="2413781"/>
              <a:ext cx="1314" cy="507268"/>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40994" name="AutoShape 34"/>
            <p:cNvSpPr>
              <a:spLocks noChangeShapeType="1"/>
            </p:cNvSpPr>
            <p:nvPr/>
          </p:nvSpPr>
          <p:spPr bwMode="auto">
            <a:xfrm>
              <a:off x="2026124" y="2348073"/>
              <a:ext cx="704522" cy="63868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40993" name="AutoShape 33"/>
            <p:cNvSpPr>
              <a:spLocks noChangeShapeType="1"/>
            </p:cNvSpPr>
            <p:nvPr/>
          </p:nvSpPr>
          <p:spPr bwMode="auto">
            <a:xfrm>
              <a:off x="1074494" y="3302157"/>
              <a:ext cx="663775" cy="599259"/>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40992" name="AutoShape 32"/>
            <p:cNvSpPr>
              <a:spLocks noChangeShapeType="1"/>
            </p:cNvSpPr>
            <p:nvPr/>
          </p:nvSpPr>
          <p:spPr bwMode="auto">
            <a:xfrm>
              <a:off x="1882854" y="3367865"/>
              <a:ext cx="1314" cy="467843"/>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40991" name="AutoShape 31"/>
            <p:cNvSpPr>
              <a:spLocks noChangeShapeType="1"/>
            </p:cNvSpPr>
            <p:nvPr/>
          </p:nvSpPr>
          <p:spPr bwMode="auto">
            <a:xfrm flipH="1">
              <a:off x="2026124" y="3302157"/>
              <a:ext cx="704522" cy="599259"/>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40990" name="AutoShape 30"/>
            <p:cNvSpPr>
              <a:spLocks noChangeShapeType="1"/>
            </p:cNvSpPr>
            <p:nvPr/>
          </p:nvSpPr>
          <p:spPr bwMode="auto">
            <a:xfrm flipH="1">
              <a:off x="2086587" y="3144457"/>
              <a:ext cx="583596" cy="131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40989" name="Text Box 29"/>
            <p:cNvSpPr txBox="1">
              <a:spLocks noChangeArrowheads="1"/>
            </p:cNvSpPr>
            <p:nvPr/>
          </p:nvSpPr>
          <p:spPr bwMode="auto">
            <a:xfrm>
              <a:off x="939176" y="4415254"/>
              <a:ext cx="1633807"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一个剩余网络</a:t>
              </a:r>
              <a:endParaRPr kumimoji="0" lang="zh-CN" altLang="en-US"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grpSp>
      <p:grpSp>
        <p:nvGrpSpPr>
          <p:cNvPr id="3" name="组合 56"/>
          <p:cNvGrpSpPr/>
          <p:nvPr/>
        </p:nvGrpSpPr>
        <p:grpSpPr>
          <a:xfrm>
            <a:off x="6504179" y="1537745"/>
            <a:ext cx="2354101" cy="3605767"/>
            <a:chOff x="4837639" y="1153497"/>
            <a:chExt cx="2354101" cy="3605767"/>
          </a:xfrm>
        </p:grpSpPr>
        <p:sp>
          <p:nvSpPr>
            <p:cNvPr id="40988" name="Text Box 28"/>
            <p:cNvSpPr txBox="1">
              <a:spLocks noChangeArrowheads="1"/>
            </p:cNvSpPr>
            <p:nvPr/>
          </p:nvSpPr>
          <p:spPr bwMode="auto">
            <a:xfrm>
              <a:off x="5827387" y="3421746"/>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0987" name="Text Box 27"/>
            <p:cNvSpPr txBox="1">
              <a:spLocks noChangeArrowheads="1"/>
            </p:cNvSpPr>
            <p:nvPr/>
          </p:nvSpPr>
          <p:spPr bwMode="auto">
            <a:xfrm>
              <a:off x="5790584" y="2530742"/>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0986" name="Text Box 26"/>
            <p:cNvSpPr txBox="1">
              <a:spLocks noChangeArrowheads="1"/>
            </p:cNvSpPr>
            <p:nvPr/>
          </p:nvSpPr>
          <p:spPr bwMode="auto">
            <a:xfrm>
              <a:off x="6095526" y="1604256"/>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0985" name="Text Box 25"/>
            <p:cNvSpPr txBox="1">
              <a:spLocks noChangeArrowheads="1"/>
            </p:cNvSpPr>
            <p:nvPr/>
          </p:nvSpPr>
          <p:spPr bwMode="auto">
            <a:xfrm>
              <a:off x="6556882" y="2398011"/>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0984" name="Text Box 24"/>
            <p:cNvSpPr txBox="1">
              <a:spLocks noChangeArrowheads="1"/>
            </p:cNvSpPr>
            <p:nvPr/>
          </p:nvSpPr>
          <p:spPr bwMode="auto">
            <a:xfrm>
              <a:off x="5295052" y="3492711"/>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0983" name="Text Box 23"/>
            <p:cNvSpPr txBox="1">
              <a:spLocks noChangeArrowheads="1"/>
            </p:cNvSpPr>
            <p:nvPr/>
          </p:nvSpPr>
          <p:spPr bwMode="auto">
            <a:xfrm>
              <a:off x="5354201" y="2398011"/>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0982" name="Text Box 22"/>
            <p:cNvSpPr txBox="1">
              <a:spLocks noChangeArrowheads="1"/>
            </p:cNvSpPr>
            <p:nvPr/>
          </p:nvSpPr>
          <p:spPr bwMode="auto">
            <a:xfrm>
              <a:off x="6410983" y="2830372"/>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0981" name="Oval 21"/>
            <p:cNvSpPr>
              <a:spLocks noChangeArrowheads="1"/>
            </p:cNvSpPr>
            <p:nvPr/>
          </p:nvSpPr>
          <p:spPr bwMode="auto">
            <a:xfrm>
              <a:off x="5790584" y="1153497"/>
              <a:ext cx="411409" cy="448130"/>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0</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0980" name="Oval 20"/>
            <p:cNvSpPr>
              <a:spLocks noChangeArrowheads="1"/>
            </p:cNvSpPr>
            <p:nvPr/>
          </p:nvSpPr>
          <p:spPr bwMode="auto">
            <a:xfrm>
              <a:off x="4837639" y="2905279"/>
              <a:ext cx="410095" cy="44681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0979" name="Oval 19"/>
            <p:cNvSpPr>
              <a:spLocks noChangeArrowheads="1"/>
            </p:cNvSpPr>
            <p:nvPr/>
          </p:nvSpPr>
          <p:spPr bwMode="auto">
            <a:xfrm>
              <a:off x="5790584" y="2905279"/>
              <a:ext cx="408780" cy="44681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0978" name="Oval 18"/>
            <p:cNvSpPr>
              <a:spLocks noChangeArrowheads="1"/>
            </p:cNvSpPr>
            <p:nvPr/>
          </p:nvSpPr>
          <p:spPr bwMode="auto">
            <a:xfrm>
              <a:off x="6782960" y="2905279"/>
              <a:ext cx="408780" cy="44681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0977" name="Oval 17"/>
            <p:cNvSpPr>
              <a:spLocks noChangeArrowheads="1"/>
            </p:cNvSpPr>
            <p:nvPr/>
          </p:nvSpPr>
          <p:spPr bwMode="auto">
            <a:xfrm>
              <a:off x="5790584" y="1951195"/>
              <a:ext cx="408780" cy="44681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0976" name="Oval 16"/>
            <p:cNvSpPr>
              <a:spLocks noChangeArrowheads="1"/>
            </p:cNvSpPr>
            <p:nvPr/>
          </p:nvSpPr>
          <p:spPr bwMode="auto">
            <a:xfrm>
              <a:off x="5790584" y="3819938"/>
              <a:ext cx="408780" cy="446816"/>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5</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0975" name="AutoShape 15"/>
            <p:cNvSpPr>
              <a:spLocks noChangeShapeType="1"/>
            </p:cNvSpPr>
            <p:nvPr/>
          </p:nvSpPr>
          <p:spPr bwMode="auto">
            <a:xfrm flipH="1">
              <a:off x="5995631" y="1601628"/>
              <a:ext cx="1314" cy="349568"/>
            </a:xfrm>
            <a:prstGeom prst="straightConnector1">
              <a:avLst/>
            </a:prstGeom>
            <a:noFill/>
            <a:ln w="19050">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40974" name="AutoShape 14"/>
            <p:cNvSpPr>
              <a:spLocks noChangeShapeType="1"/>
            </p:cNvSpPr>
            <p:nvPr/>
          </p:nvSpPr>
          <p:spPr bwMode="auto">
            <a:xfrm flipH="1">
              <a:off x="5187271" y="2332303"/>
              <a:ext cx="663775" cy="63868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40973" name="AutoShape 13"/>
            <p:cNvSpPr>
              <a:spLocks noChangeShapeType="1"/>
            </p:cNvSpPr>
            <p:nvPr/>
          </p:nvSpPr>
          <p:spPr bwMode="auto">
            <a:xfrm>
              <a:off x="5995631" y="2398011"/>
              <a:ext cx="1314" cy="507268"/>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40972" name="AutoShape 12"/>
            <p:cNvSpPr>
              <a:spLocks noChangeShapeType="1"/>
            </p:cNvSpPr>
            <p:nvPr/>
          </p:nvSpPr>
          <p:spPr bwMode="auto">
            <a:xfrm>
              <a:off x="6138901" y="2332303"/>
              <a:ext cx="704522" cy="638684"/>
            </a:xfrm>
            <a:prstGeom prst="straightConnector1">
              <a:avLst/>
            </a:prstGeom>
            <a:noFill/>
            <a:ln w="19050">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40971" name="AutoShape 11"/>
            <p:cNvSpPr>
              <a:spLocks noChangeShapeType="1"/>
            </p:cNvSpPr>
            <p:nvPr/>
          </p:nvSpPr>
          <p:spPr bwMode="auto">
            <a:xfrm>
              <a:off x="5187271" y="3286387"/>
              <a:ext cx="663775" cy="599259"/>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40970" name="AutoShape 10"/>
            <p:cNvSpPr>
              <a:spLocks noChangeShapeType="1"/>
            </p:cNvSpPr>
            <p:nvPr/>
          </p:nvSpPr>
          <p:spPr bwMode="auto">
            <a:xfrm>
              <a:off x="5995631" y="3352095"/>
              <a:ext cx="1314" cy="467843"/>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40969" name="AutoShape 9"/>
            <p:cNvSpPr>
              <a:spLocks noChangeShapeType="1"/>
            </p:cNvSpPr>
            <p:nvPr/>
          </p:nvSpPr>
          <p:spPr bwMode="auto">
            <a:xfrm flipH="1">
              <a:off x="6199364" y="3128687"/>
              <a:ext cx="583596" cy="131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40968" name="Text Box 8"/>
            <p:cNvSpPr txBox="1">
              <a:spLocks noChangeArrowheads="1"/>
            </p:cNvSpPr>
            <p:nvPr/>
          </p:nvSpPr>
          <p:spPr bwMode="auto">
            <a:xfrm>
              <a:off x="5477228" y="4429132"/>
              <a:ext cx="1299487" cy="330132"/>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增广操作</a:t>
              </a:r>
              <a:endParaRPr kumimoji="0" lang="zh-CN" altLang="en-US"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0967" name="Freeform 7"/>
            <p:cNvSpPr>
              <a:spLocks/>
            </p:cNvSpPr>
            <p:nvPr/>
          </p:nvSpPr>
          <p:spPr bwMode="auto">
            <a:xfrm>
              <a:off x="6201993" y="3344210"/>
              <a:ext cx="789958" cy="646569"/>
            </a:xfrm>
            <a:custGeom>
              <a:avLst/>
              <a:gdLst/>
              <a:ahLst/>
              <a:cxnLst>
                <a:cxn ang="0">
                  <a:pos x="0" y="484"/>
                </a:cxn>
                <a:cxn ang="0">
                  <a:pos x="270" y="467"/>
                </a:cxn>
                <a:cxn ang="0">
                  <a:pos x="514" y="335"/>
                </a:cxn>
                <a:cxn ang="0">
                  <a:pos x="601" y="0"/>
                </a:cxn>
              </a:cxnLst>
              <a:rect l="0" t="0" r="r" b="b"/>
              <a:pathLst>
                <a:path w="601" h="492">
                  <a:moveTo>
                    <a:pt x="0" y="484"/>
                  </a:moveTo>
                  <a:cubicBezTo>
                    <a:pt x="92" y="488"/>
                    <a:pt x="184" y="492"/>
                    <a:pt x="270" y="467"/>
                  </a:cubicBezTo>
                  <a:cubicBezTo>
                    <a:pt x="356" y="442"/>
                    <a:pt x="459" y="413"/>
                    <a:pt x="514" y="335"/>
                  </a:cubicBezTo>
                  <a:cubicBezTo>
                    <a:pt x="569" y="257"/>
                    <a:pt x="585" y="128"/>
                    <a:pt x="601" y="0"/>
                  </a:cubicBezTo>
                </a:path>
              </a:pathLst>
            </a:custGeom>
            <a:noFill/>
            <a:ln w="19050">
              <a:solidFill>
                <a:srgbClr val="006600"/>
              </a:solidFill>
              <a:prstDash val="dash"/>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40966" name="Text Box 6"/>
            <p:cNvSpPr txBox="1">
              <a:spLocks noChangeArrowheads="1"/>
            </p:cNvSpPr>
            <p:nvPr/>
          </p:nvSpPr>
          <p:spPr bwMode="auto">
            <a:xfrm>
              <a:off x="6924916" y="3721375"/>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6600"/>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6600"/>
                </a:solidFill>
                <a:effectLst/>
                <a:latin typeface="Consolas" pitchFamily="49" charset="0"/>
                <a:ea typeface="仿宋" pitchFamily="49" charset="-122"/>
                <a:cs typeface="宋体" pitchFamily="2" charset="-122"/>
              </a:endParaRPr>
            </a:p>
          </p:txBody>
        </p:sp>
        <p:sp>
          <p:nvSpPr>
            <p:cNvPr id="40965" name="Freeform 5"/>
            <p:cNvSpPr>
              <a:spLocks/>
            </p:cNvSpPr>
            <p:nvPr/>
          </p:nvSpPr>
          <p:spPr bwMode="auto">
            <a:xfrm>
              <a:off x="6201993" y="2135178"/>
              <a:ext cx="807045" cy="770101"/>
            </a:xfrm>
            <a:custGeom>
              <a:avLst/>
              <a:gdLst/>
              <a:ahLst/>
              <a:cxnLst>
                <a:cxn ang="0">
                  <a:pos x="601" y="586"/>
                </a:cxn>
                <a:cxn ang="0">
                  <a:pos x="514" y="194"/>
                </a:cxn>
                <a:cxn ang="0">
                  <a:pos x="0" y="0"/>
                </a:cxn>
              </a:cxnLst>
              <a:rect l="0" t="0" r="r" b="b"/>
              <a:pathLst>
                <a:path w="614" h="586">
                  <a:moveTo>
                    <a:pt x="601" y="586"/>
                  </a:moveTo>
                  <a:cubicBezTo>
                    <a:pt x="607" y="439"/>
                    <a:pt x="614" y="292"/>
                    <a:pt x="514" y="194"/>
                  </a:cubicBezTo>
                  <a:cubicBezTo>
                    <a:pt x="414" y="96"/>
                    <a:pt x="207" y="48"/>
                    <a:pt x="0" y="0"/>
                  </a:cubicBezTo>
                </a:path>
              </a:pathLst>
            </a:custGeom>
            <a:noFill/>
            <a:ln w="19050">
              <a:solidFill>
                <a:srgbClr val="006600"/>
              </a:solidFill>
              <a:prstDash val="dash"/>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40964" name="Text Box 4"/>
            <p:cNvSpPr txBox="1">
              <a:spLocks noChangeArrowheads="1"/>
            </p:cNvSpPr>
            <p:nvPr/>
          </p:nvSpPr>
          <p:spPr bwMode="auto">
            <a:xfrm>
              <a:off x="6919658" y="2133864"/>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6600"/>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6600"/>
                </a:solidFill>
                <a:effectLst/>
                <a:latin typeface="Consolas" pitchFamily="49" charset="0"/>
                <a:ea typeface="仿宋" pitchFamily="49" charset="-122"/>
                <a:cs typeface="宋体" pitchFamily="2" charset="-122"/>
              </a:endParaRPr>
            </a:p>
          </p:txBody>
        </p:sp>
        <p:sp>
          <p:nvSpPr>
            <p:cNvPr id="40963" name="Freeform 3"/>
            <p:cNvSpPr>
              <a:spLocks/>
            </p:cNvSpPr>
            <p:nvPr/>
          </p:nvSpPr>
          <p:spPr bwMode="auto">
            <a:xfrm>
              <a:off x="5702518" y="1403189"/>
              <a:ext cx="151157" cy="592688"/>
            </a:xfrm>
            <a:custGeom>
              <a:avLst/>
              <a:gdLst/>
              <a:ahLst/>
              <a:cxnLst>
                <a:cxn ang="0">
                  <a:pos x="115" y="451"/>
                </a:cxn>
                <a:cxn ang="0">
                  <a:pos x="18" y="321"/>
                </a:cxn>
                <a:cxn ang="0">
                  <a:pos x="9" y="168"/>
                </a:cxn>
                <a:cxn ang="0">
                  <a:pos x="67" y="0"/>
                </a:cxn>
              </a:cxnLst>
              <a:rect l="0" t="0" r="r" b="b"/>
              <a:pathLst>
                <a:path w="115" h="451">
                  <a:moveTo>
                    <a:pt x="115" y="451"/>
                  </a:moveTo>
                  <a:cubicBezTo>
                    <a:pt x="99" y="431"/>
                    <a:pt x="36" y="368"/>
                    <a:pt x="18" y="321"/>
                  </a:cubicBezTo>
                  <a:cubicBezTo>
                    <a:pt x="0" y="274"/>
                    <a:pt x="1" y="221"/>
                    <a:pt x="9" y="168"/>
                  </a:cubicBezTo>
                  <a:cubicBezTo>
                    <a:pt x="17" y="115"/>
                    <a:pt x="55" y="35"/>
                    <a:pt x="67" y="0"/>
                  </a:cubicBezTo>
                </a:path>
              </a:pathLst>
            </a:custGeom>
            <a:noFill/>
            <a:ln w="19050">
              <a:solidFill>
                <a:srgbClr val="006600"/>
              </a:solidFill>
              <a:prstDash val="dash"/>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40962" name="Text Box 2"/>
            <p:cNvSpPr txBox="1">
              <a:spLocks noChangeArrowheads="1"/>
            </p:cNvSpPr>
            <p:nvPr/>
          </p:nvSpPr>
          <p:spPr bwMode="auto">
            <a:xfrm>
              <a:off x="5500100" y="1620026"/>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6600"/>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6600"/>
                </a:solidFill>
                <a:effectLst/>
                <a:latin typeface="Consolas" pitchFamily="49" charset="0"/>
                <a:ea typeface="仿宋" pitchFamily="49" charset="-122"/>
                <a:cs typeface="宋体" pitchFamily="2" charset="-122"/>
              </a:endParaRPr>
            </a:p>
          </p:txBody>
        </p:sp>
      </p:grpSp>
      <p:sp>
        <p:nvSpPr>
          <p:cNvPr id="58" name="TextBox 57"/>
          <p:cNvSpPr txBox="1"/>
          <p:nvPr/>
        </p:nvSpPr>
        <p:spPr>
          <a:xfrm>
            <a:off x="357158" y="467005"/>
            <a:ext cx="714380" cy="461665"/>
          </a:xfrm>
          <a:prstGeom prst="rect">
            <a:avLst/>
          </a:prstGeom>
          <a:solidFill>
            <a:schemeClr val="accent5">
              <a:lumMod val="20000"/>
              <a:lumOff val="80000"/>
            </a:schemeClr>
          </a:solidFill>
          <a:ln/>
          <a:effectLst>
            <a:outerShdw blurRad="76200" dir="13500000" sy="23000" kx="1200000" algn="br" rotWithShape="0">
              <a:prstClr val="black">
                <a:alpha val="20000"/>
              </a:prstClr>
            </a:outerShdw>
          </a:effectLst>
        </p:spPr>
        <p:style>
          <a:lnRef idx="3">
            <a:schemeClr val="lt1"/>
          </a:lnRef>
          <a:fillRef idx="1">
            <a:schemeClr val="dk1"/>
          </a:fillRef>
          <a:effectRef idx="1">
            <a:schemeClr val="dk1"/>
          </a:effectRef>
          <a:fontRef idx="minor">
            <a:schemeClr val="lt1"/>
          </a:fontRef>
        </p:style>
        <p:txBody>
          <a:bodyPr wrap="square" rtlCol="0">
            <a:spAutoFit/>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pPr>
              <a:lnSpc>
                <a:spcPct val="100000"/>
              </a:lnSpc>
              <a:spcBef>
                <a:spcPts val="0"/>
              </a:spcBef>
            </a:pPr>
            <a:r>
              <a:rPr lang="zh-CN" altLang="en-US">
                <a:solidFill>
                  <a:srgbClr val="FF0000"/>
                </a:solidFill>
                <a:latin typeface="Consolas" pitchFamily="49" charset="0"/>
                <a:ea typeface="微软雅黑" pitchFamily="34" charset="-122"/>
                <a:cs typeface="Consolas" pitchFamily="49" charset="0"/>
              </a:rPr>
              <a:t>解</a:t>
            </a:r>
            <a:endParaRPr lang="zh-CN" altLang="en-US">
              <a:ln w="18415" cmpd="sng">
                <a:solidFill>
                  <a:srgbClr val="FFFFFF"/>
                </a:solidFill>
                <a:prstDash val="solid"/>
              </a:ln>
              <a:solidFill>
                <a:srgbClr val="FF0000"/>
              </a:solidFill>
              <a:effectLst>
                <a:outerShdw blurRad="63500" dir="3600000" algn="tl" rotWithShape="0">
                  <a:srgbClr val="000000">
                    <a:alpha val="70000"/>
                  </a:srgbClr>
                </a:outerShdw>
              </a:effectLst>
              <a:latin typeface="Consolas" pitchFamily="49" charset="0"/>
              <a:ea typeface="微软雅黑" pitchFamily="34" charset="-122"/>
              <a:cs typeface="Consolas" pitchFamily="49" charset="0"/>
            </a:endParaRPr>
          </a:p>
        </p:txBody>
      </p:sp>
      <p:sp>
        <p:nvSpPr>
          <p:cNvPr id="59" name="TextBox 58"/>
          <p:cNvSpPr txBox="1"/>
          <p:nvPr/>
        </p:nvSpPr>
        <p:spPr>
          <a:xfrm>
            <a:off x="1214414" y="497783"/>
            <a:ext cx="1643074" cy="430887"/>
          </a:xfrm>
          <a:prstGeom prst="rect">
            <a:avLst/>
          </a:prstGeom>
          <a:noFill/>
        </p:spPr>
        <p:txBody>
          <a:bodyPr wrap="square" rtlCol="0">
            <a:spAutoFit/>
          </a:bodyPr>
          <a:lstStyle/>
          <a:p>
            <a:pPr algn="l">
              <a:lnSpc>
                <a:spcPct val="100000"/>
              </a:lnSpc>
              <a:spcBef>
                <a:spcPts val="0"/>
              </a:spcBef>
            </a:pPr>
            <a:r>
              <a:rPr lang="zh-CN" altLang="zh-CN" sz="2200">
                <a:solidFill>
                  <a:srgbClr val="0000FF"/>
                </a:solidFill>
                <a:latin typeface="Consolas" pitchFamily="49" charset="0"/>
                <a:ea typeface="楷体" pitchFamily="49" charset="-122"/>
              </a:rPr>
              <a:t>第</a:t>
            </a:r>
            <a:r>
              <a:rPr lang="en-US" altLang="zh-CN" sz="2200">
                <a:solidFill>
                  <a:srgbClr val="0000FF"/>
                </a:solidFill>
                <a:latin typeface="Consolas" pitchFamily="49" charset="0"/>
                <a:ea typeface="楷体" pitchFamily="49" charset="-122"/>
              </a:rPr>
              <a:t>1</a:t>
            </a:r>
            <a:r>
              <a:rPr lang="zh-CN" altLang="zh-CN" sz="2200">
                <a:solidFill>
                  <a:srgbClr val="0000FF"/>
                </a:solidFill>
                <a:latin typeface="Consolas" pitchFamily="49" charset="0"/>
                <a:ea typeface="楷体" pitchFamily="49" charset="-122"/>
              </a:rPr>
              <a:t>次迭代</a:t>
            </a:r>
            <a:endParaRPr lang="zh-CN" altLang="en-US" sz="2200">
              <a:solidFill>
                <a:srgbClr val="0000FF"/>
              </a:solidFill>
              <a:latin typeface="Consolas" pitchFamily="49" charset="0"/>
              <a:ea typeface="楷体" pitchFamily="49" charset="-122"/>
              <a:cs typeface="Consolas" pitchFamily="49" charset="0"/>
            </a:endParaRPr>
          </a:p>
        </p:txBody>
      </p:sp>
      <p:grpSp>
        <p:nvGrpSpPr>
          <p:cNvPr id="4" name="组合 59"/>
          <p:cNvGrpSpPr/>
          <p:nvPr/>
        </p:nvGrpSpPr>
        <p:grpSpPr>
          <a:xfrm>
            <a:off x="3432345" y="1549035"/>
            <a:ext cx="2711290" cy="3545617"/>
            <a:chOff x="724862" y="1169267"/>
            <a:chExt cx="2711290" cy="3545617"/>
          </a:xfrm>
        </p:grpSpPr>
        <p:sp>
          <p:nvSpPr>
            <p:cNvPr id="61" name="Text Box 51"/>
            <p:cNvSpPr txBox="1">
              <a:spLocks noChangeArrowheads="1"/>
            </p:cNvSpPr>
            <p:nvPr/>
          </p:nvSpPr>
          <p:spPr bwMode="auto">
            <a:xfrm>
              <a:off x="1714610" y="3437516"/>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62" name="Text Box 50"/>
            <p:cNvSpPr txBox="1">
              <a:spLocks noChangeArrowheads="1"/>
            </p:cNvSpPr>
            <p:nvPr/>
          </p:nvSpPr>
          <p:spPr bwMode="auto">
            <a:xfrm>
              <a:off x="1677807" y="2546512"/>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63" name="Text Box 49"/>
            <p:cNvSpPr txBox="1">
              <a:spLocks noChangeArrowheads="1"/>
            </p:cNvSpPr>
            <p:nvPr/>
          </p:nvSpPr>
          <p:spPr bwMode="auto">
            <a:xfrm>
              <a:off x="1982749" y="1620026"/>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5</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64" name="Text Box 48"/>
            <p:cNvSpPr txBox="1">
              <a:spLocks noChangeArrowheads="1"/>
            </p:cNvSpPr>
            <p:nvPr/>
          </p:nvSpPr>
          <p:spPr bwMode="auto">
            <a:xfrm>
              <a:off x="2444105" y="2413781"/>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65" name="Text Box 47"/>
            <p:cNvSpPr txBox="1">
              <a:spLocks noChangeArrowheads="1"/>
            </p:cNvSpPr>
            <p:nvPr/>
          </p:nvSpPr>
          <p:spPr bwMode="auto">
            <a:xfrm>
              <a:off x="1182276" y="3508481"/>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66" name="Text Box 46"/>
            <p:cNvSpPr txBox="1">
              <a:spLocks noChangeArrowheads="1"/>
            </p:cNvSpPr>
            <p:nvPr/>
          </p:nvSpPr>
          <p:spPr bwMode="auto">
            <a:xfrm>
              <a:off x="1241424" y="2413781"/>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67" name="Text Box 45"/>
            <p:cNvSpPr txBox="1">
              <a:spLocks noChangeArrowheads="1"/>
            </p:cNvSpPr>
            <p:nvPr/>
          </p:nvSpPr>
          <p:spPr bwMode="auto">
            <a:xfrm>
              <a:off x="2298206" y="2846142"/>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68" name="Text Box 44"/>
            <p:cNvSpPr txBox="1">
              <a:spLocks noChangeArrowheads="1"/>
            </p:cNvSpPr>
            <p:nvPr/>
          </p:nvSpPr>
          <p:spPr bwMode="auto">
            <a:xfrm>
              <a:off x="2379700" y="3559733"/>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69" name="Oval 43"/>
            <p:cNvSpPr>
              <a:spLocks noChangeArrowheads="1"/>
            </p:cNvSpPr>
            <p:nvPr/>
          </p:nvSpPr>
          <p:spPr bwMode="auto">
            <a:xfrm>
              <a:off x="1677807" y="1169267"/>
              <a:ext cx="411409" cy="448130"/>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0</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70" name="Oval 42"/>
            <p:cNvSpPr>
              <a:spLocks noChangeArrowheads="1"/>
            </p:cNvSpPr>
            <p:nvPr/>
          </p:nvSpPr>
          <p:spPr bwMode="auto">
            <a:xfrm>
              <a:off x="724862" y="2921049"/>
              <a:ext cx="410095" cy="44681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71" name="Oval 41"/>
            <p:cNvSpPr>
              <a:spLocks noChangeArrowheads="1"/>
            </p:cNvSpPr>
            <p:nvPr/>
          </p:nvSpPr>
          <p:spPr bwMode="auto">
            <a:xfrm>
              <a:off x="1677807" y="2921049"/>
              <a:ext cx="408780" cy="44681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72" name="Oval 40"/>
            <p:cNvSpPr>
              <a:spLocks noChangeArrowheads="1"/>
            </p:cNvSpPr>
            <p:nvPr/>
          </p:nvSpPr>
          <p:spPr bwMode="auto">
            <a:xfrm>
              <a:off x="2670183" y="2921049"/>
              <a:ext cx="408780" cy="44681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73" name="Oval 39"/>
            <p:cNvSpPr>
              <a:spLocks noChangeArrowheads="1"/>
            </p:cNvSpPr>
            <p:nvPr/>
          </p:nvSpPr>
          <p:spPr bwMode="auto">
            <a:xfrm>
              <a:off x="1677807" y="1966965"/>
              <a:ext cx="408780" cy="44681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74" name="Oval 38"/>
            <p:cNvSpPr>
              <a:spLocks noChangeArrowheads="1"/>
            </p:cNvSpPr>
            <p:nvPr/>
          </p:nvSpPr>
          <p:spPr bwMode="auto">
            <a:xfrm>
              <a:off x="1677807" y="3835708"/>
              <a:ext cx="408780" cy="446816"/>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5</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75" name="AutoShape 37"/>
            <p:cNvSpPr>
              <a:spLocks noChangeShapeType="1"/>
            </p:cNvSpPr>
            <p:nvPr/>
          </p:nvSpPr>
          <p:spPr bwMode="auto">
            <a:xfrm flipH="1">
              <a:off x="1882854" y="1617398"/>
              <a:ext cx="1314" cy="349568"/>
            </a:xfrm>
            <a:prstGeom prst="straightConnector1">
              <a:avLst/>
            </a:prstGeom>
            <a:noFill/>
            <a:ln w="19050">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76" name="AutoShape 36"/>
            <p:cNvSpPr>
              <a:spLocks noChangeShapeType="1"/>
            </p:cNvSpPr>
            <p:nvPr/>
          </p:nvSpPr>
          <p:spPr bwMode="auto">
            <a:xfrm flipH="1">
              <a:off x="1074494" y="2348073"/>
              <a:ext cx="663775" cy="63868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77" name="AutoShape 35"/>
            <p:cNvSpPr>
              <a:spLocks noChangeShapeType="1"/>
            </p:cNvSpPr>
            <p:nvPr/>
          </p:nvSpPr>
          <p:spPr bwMode="auto">
            <a:xfrm>
              <a:off x="1882854" y="2413781"/>
              <a:ext cx="1314" cy="507268"/>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78" name="AutoShape 34"/>
            <p:cNvSpPr>
              <a:spLocks noChangeShapeType="1"/>
            </p:cNvSpPr>
            <p:nvPr/>
          </p:nvSpPr>
          <p:spPr bwMode="auto">
            <a:xfrm>
              <a:off x="2026124" y="2348073"/>
              <a:ext cx="704522" cy="638684"/>
            </a:xfrm>
            <a:prstGeom prst="straightConnector1">
              <a:avLst/>
            </a:prstGeom>
            <a:noFill/>
            <a:ln w="19050">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79" name="AutoShape 33"/>
            <p:cNvSpPr>
              <a:spLocks noChangeShapeType="1"/>
            </p:cNvSpPr>
            <p:nvPr/>
          </p:nvSpPr>
          <p:spPr bwMode="auto">
            <a:xfrm>
              <a:off x="1074494" y="3302157"/>
              <a:ext cx="663775" cy="599259"/>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80" name="AutoShape 32"/>
            <p:cNvSpPr>
              <a:spLocks noChangeShapeType="1"/>
            </p:cNvSpPr>
            <p:nvPr/>
          </p:nvSpPr>
          <p:spPr bwMode="auto">
            <a:xfrm>
              <a:off x="1882854" y="3367865"/>
              <a:ext cx="1314" cy="467843"/>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81" name="AutoShape 31"/>
            <p:cNvSpPr>
              <a:spLocks noChangeShapeType="1"/>
            </p:cNvSpPr>
            <p:nvPr/>
          </p:nvSpPr>
          <p:spPr bwMode="auto">
            <a:xfrm flipH="1">
              <a:off x="2026124" y="3302157"/>
              <a:ext cx="704522" cy="599259"/>
            </a:xfrm>
            <a:prstGeom prst="straightConnector1">
              <a:avLst/>
            </a:prstGeom>
            <a:noFill/>
            <a:ln w="19050">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82" name="AutoShape 30"/>
            <p:cNvSpPr>
              <a:spLocks noChangeShapeType="1"/>
            </p:cNvSpPr>
            <p:nvPr/>
          </p:nvSpPr>
          <p:spPr bwMode="auto">
            <a:xfrm flipH="1">
              <a:off x="2086587" y="3144457"/>
              <a:ext cx="583596" cy="131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83" name="Text Box 29"/>
            <p:cNvSpPr txBox="1">
              <a:spLocks noChangeArrowheads="1"/>
            </p:cNvSpPr>
            <p:nvPr/>
          </p:nvSpPr>
          <p:spPr bwMode="auto">
            <a:xfrm>
              <a:off x="792947" y="4415254"/>
              <a:ext cx="2643205"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lvl="0">
                <a:lnSpc>
                  <a:spcPct val="100000"/>
                </a:lnSpc>
                <a:spcBef>
                  <a:spcPct val="0"/>
                </a:spcBef>
              </a:pPr>
              <a:r>
                <a:rPr kumimoji="0" lang="zh-CN" altLang="en-US" sz="2000" b="0">
                  <a:solidFill>
                    <a:srgbClr val="0000FF"/>
                  </a:solidFill>
                  <a:latin typeface="Consolas" pitchFamily="49" charset="0"/>
                  <a:ea typeface="仿宋" pitchFamily="49" charset="-122"/>
                  <a:cs typeface="Times New Roman" pitchFamily="18" charset="0"/>
                </a:rPr>
                <a:t>找到第一条增广路径</a:t>
              </a:r>
              <a:endParaRPr kumimoji="0" lang="zh-CN" altLang="en-US"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grpSp>
      <p:sp>
        <p:nvSpPr>
          <p:cNvPr id="84" name="右箭头 83"/>
          <p:cNvSpPr/>
          <p:nvPr/>
        </p:nvSpPr>
        <p:spPr>
          <a:xfrm>
            <a:off x="2786050" y="3297413"/>
            <a:ext cx="428628" cy="285752"/>
          </a:xfrm>
          <a:prstGeom prst="right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85" name="右箭头 84"/>
          <p:cNvSpPr/>
          <p:nvPr/>
        </p:nvSpPr>
        <p:spPr>
          <a:xfrm>
            <a:off x="5933203" y="3297413"/>
            <a:ext cx="428628" cy="285752"/>
          </a:xfrm>
          <a:prstGeom prst="right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86" name="TextBox 85"/>
          <p:cNvSpPr txBox="1"/>
          <p:nvPr/>
        </p:nvSpPr>
        <p:spPr>
          <a:xfrm>
            <a:off x="2714612" y="2916792"/>
            <a:ext cx="785818" cy="369332"/>
          </a:xfrm>
          <a:prstGeom prst="rect">
            <a:avLst/>
          </a:prstGeom>
          <a:noFill/>
        </p:spPr>
        <p:txBody>
          <a:bodyPr wrap="square" rtlCol="0">
            <a:spAutoFit/>
          </a:bodyPr>
          <a:lstStyle/>
          <a:p>
            <a:pPr algn="l">
              <a:lnSpc>
                <a:spcPct val="100000"/>
              </a:lnSpc>
              <a:spcBef>
                <a:spcPts val="0"/>
              </a:spcBef>
            </a:pPr>
            <a:r>
              <a:rPr lang="en-US" altLang="zh-CN" sz="1800">
                <a:solidFill>
                  <a:srgbClr val="FF0000"/>
                </a:solidFill>
                <a:latin typeface="Consolas" pitchFamily="49" charset="0"/>
                <a:ea typeface="楷体" pitchFamily="49" charset="-122"/>
                <a:cs typeface="Consolas" pitchFamily="49" charset="0"/>
              </a:rPr>
              <a:t>BFS</a:t>
            </a:r>
            <a:endParaRPr lang="zh-CN" altLang="en-US" sz="1800">
              <a:solidFill>
                <a:srgbClr val="FF0000"/>
              </a:solidFill>
              <a:latin typeface="Consolas" pitchFamily="49" charset="0"/>
              <a:ea typeface="楷体" pitchFamily="49" charset="-122"/>
              <a:cs typeface="Consolas" pitchFamily="49" charset="0"/>
            </a:endParaRPr>
          </a:p>
        </p:txBody>
      </p:sp>
      <p:sp>
        <p:nvSpPr>
          <p:cNvPr id="87" name="TextBox 86"/>
          <p:cNvSpPr txBox="1"/>
          <p:nvPr/>
        </p:nvSpPr>
        <p:spPr>
          <a:xfrm>
            <a:off x="5857884" y="2928934"/>
            <a:ext cx="714380" cy="369332"/>
          </a:xfrm>
          <a:prstGeom prst="rect">
            <a:avLst/>
          </a:prstGeom>
          <a:noFill/>
        </p:spPr>
        <p:txBody>
          <a:bodyPr wrap="square" rtlCol="0">
            <a:spAutoFit/>
          </a:bodyPr>
          <a:lstStyle/>
          <a:p>
            <a:pPr algn="l">
              <a:lnSpc>
                <a:spcPct val="100000"/>
              </a:lnSpc>
              <a:spcBef>
                <a:spcPts val="0"/>
              </a:spcBef>
            </a:pPr>
            <a:r>
              <a:rPr lang="zh-CN" altLang="en-US" sz="1800">
                <a:solidFill>
                  <a:srgbClr val="0000FF"/>
                </a:solidFill>
                <a:latin typeface="仿宋" pitchFamily="49" charset="-122"/>
                <a:ea typeface="仿宋" pitchFamily="49" charset="-122"/>
                <a:cs typeface="Consolas" pitchFamily="49" charset="0"/>
              </a:rPr>
              <a:t>增广</a:t>
            </a:r>
          </a:p>
        </p:txBody>
      </p:sp>
      <p:sp>
        <p:nvSpPr>
          <p:cNvPr id="89" name="灯片编号占位符 88"/>
          <p:cNvSpPr>
            <a:spLocks noGrp="1"/>
          </p:cNvSpPr>
          <p:nvPr>
            <p:ph type="sldNum" sz="quarter" idx="12"/>
          </p:nvPr>
        </p:nvSpPr>
        <p:spPr/>
        <p:txBody>
          <a:bodyPr/>
          <a:lstStyle/>
          <a:p>
            <a:fld id="{7AF016A1-9F15-429F-9EFD-84004B73C732}" type="slidenum">
              <a:rPr lang="en-US" altLang="zh-CN" smtClean="0"/>
              <a:pPr/>
              <a:t>120</a:t>
            </a:fld>
            <a:r>
              <a:rPr lang="en-US" altLang="zh-CN"/>
              <a:t>/158</a:t>
            </a: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42910" y="642918"/>
            <a:ext cx="1643074" cy="430887"/>
          </a:xfrm>
          <a:prstGeom prst="rect">
            <a:avLst/>
          </a:prstGeom>
          <a:noFill/>
        </p:spPr>
        <p:txBody>
          <a:bodyPr wrap="square" rtlCol="0">
            <a:spAutoFit/>
          </a:bodyPr>
          <a:lstStyle/>
          <a:p>
            <a:pPr algn="l">
              <a:lnSpc>
                <a:spcPct val="100000"/>
              </a:lnSpc>
              <a:spcBef>
                <a:spcPts val="0"/>
              </a:spcBef>
            </a:pPr>
            <a:r>
              <a:rPr lang="zh-CN" altLang="zh-CN" sz="2200">
                <a:solidFill>
                  <a:srgbClr val="0000FF"/>
                </a:solidFill>
                <a:latin typeface="Consolas" pitchFamily="49" charset="0"/>
                <a:ea typeface="楷体" pitchFamily="49" charset="-122"/>
              </a:rPr>
              <a:t>第</a:t>
            </a:r>
            <a:r>
              <a:rPr lang="en-US" altLang="zh-CN" sz="2200">
                <a:solidFill>
                  <a:srgbClr val="0000FF"/>
                </a:solidFill>
                <a:latin typeface="Consolas" pitchFamily="49" charset="0"/>
                <a:ea typeface="楷体" pitchFamily="49" charset="-122"/>
              </a:rPr>
              <a:t>2</a:t>
            </a:r>
            <a:r>
              <a:rPr lang="zh-CN" altLang="zh-CN" sz="2200">
                <a:solidFill>
                  <a:srgbClr val="0000FF"/>
                </a:solidFill>
                <a:latin typeface="Consolas" pitchFamily="49" charset="0"/>
                <a:ea typeface="楷体" pitchFamily="49" charset="-122"/>
              </a:rPr>
              <a:t>次迭代</a:t>
            </a:r>
            <a:endParaRPr lang="zh-CN" altLang="en-US" sz="2200">
              <a:solidFill>
                <a:srgbClr val="0000FF"/>
              </a:solidFill>
              <a:latin typeface="Consolas" pitchFamily="49" charset="0"/>
              <a:ea typeface="楷体" pitchFamily="49" charset="-122"/>
              <a:cs typeface="Consolas" pitchFamily="49" charset="0"/>
            </a:endParaRPr>
          </a:p>
        </p:txBody>
      </p:sp>
      <p:grpSp>
        <p:nvGrpSpPr>
          <p:cNvPr id="56" name="组合 56"/>
          <p:cNvGrpSpPr/>
          <p:nvPr/>
        </p:nvGrpSpPr>
        <p:grpSpPr>
          <a:xfrm>
            <a:off x="3503783" y="1643050"/>
            <a:ext cx="2354101" cy="3113257"/>
            <a:chOff x="4837639" y="1153497"/>
            <a:chExt cx="2354101" cy="3113257"/>
          </a:xfrm>
        </p:grpSpPr>
        <p:sp>
          <p:nvSpPr>
            <p:cNvPr id="57" name="Text Box 28"/>
            <p:cNvSpPr txBox="1">
              <a:spLocks noChangeArrowheads="1"/>
            </p:cNvSpPr>
            <p:nvPr/>
          </p:nvSpPr>
          <p:spPr bwMode="auto">
            <a:xfrm>
              <a:off x="5827387" y="3421746"/>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58" name="Text Box 27"/>
            <p:cNvSpPr txBox="1">
              <a:spLocks noChangeArrowheads="1"/>
            </p:cNvSpPr>
            <p:nvPr/>
          </p:nvSpPr>
          <p:spPr bwMode="auto">
            <a:xfrm>
              <a:off x="5790584" y="2530742"/>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59" name="Text Box 26"/>
            <p:cNvSpPr txBox="1">
              <a:spLocks noChangeArrowheads="1"/>
            </p:cNvSpPr>
            <p:nvPr/>
          </p:nvSpPr>
          <p:spPr bwMode="auto">
            <a:xfrm>
              <a:off x="6095526" y="1604256"/>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60" name="Text Box 25"/>
            <p:cNvSpPr txBox="1">
              <a:spLocks noChangeArrowheads="1"/>
            </p:cNvSpPr>
            <p:nvPr/>
          </p:nvSpPr>
          <p:spPr bwMode="auto">
            <a:xfrm>
              <a:off x="6556882" y="2398011"/>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61" name="Text Box 24"/>
            <p:cNvSpPr txBox="1">
              <a:spLocks noChangeArrowheads="1"/>
            </p:cNvSpPr>
            <p:nvPr/>
          </p:nvSpPr>
          <p:spPr bwMode="auto">
            <a:xfrm>
              <a:off x="5295052" y="3492711"/>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62" name="Text Box 23"/>
            <p:cNvSpPr txBox="1">
              <a:spLocks noChangeArrowheads="1"/>
            </p:cNvSpPr>
            <p:nvPr/>
          </p:nvSpPr>
          <p:spPr bwMode="auto">
            <a:xfrm>
              <a:off x="5354201" y="2398011"/>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63" name="Text Box 22"/>
            <p:cNvSpPr txBox="1">
              <a:spLocks noChangeArrowheads="1"/>
            </p:cNvSpPr>
            <p:nvPr/>
          </p:nvSpPr>
          <p:spPr bwMode="auto">
            <a:xfrm>
              <a:off x="6410983" y="2830372"/>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64" name="Oval 21"/>
            <p:cNvSpPr>
              <a:spLocks noChangeArrowheads="1"/>
            </p:cNvSpPr>
            <p:nvPr/>
          </p:nvSpPr>
          <p:spPr bwMode="auto">
            <a:xfrm>
              <a:off x="5790584" y="1153497"/>
              <a:ext cx="411409" cy="448130"/>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0</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65" name="Oval 20"/>
            <p:cNvSpPr>
              <a:spLocks noChangeArrowheads="1"/>
            </p:cNvSpPr>
            <p:nvPr/>
          </p:nvSpPr>
          <p:spPr bwMode="auto">
            <a:xfrm>
              <a:off x="4837639" y="2905279"/>
              <a:ext cx="410095" cy="44681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66" name="Oval 19"/>
            <p:cNvSpPr>
              <a:spLocks noChangeArrowheads="1"/>
            </p:cNvSpPr>
            <p:nvPr/>
          </p:nvSpPr>
          <p:spPr bwMode="auto">
            <a:xfrm>
              <a:off x="5790584" y="2905279"/>
              <a:ext cx="408780" cy="44681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67" name="Oval 18"/>
            <p:cNvSpPr>
              <a:spLocks noChangeArrowheads="1"/>
            </p:cNvSpPr>
            <p:nvPr/>
          </p:nvSpPr>
          <p:spPr bwMode="auto">
            <a:xfrm>
              <a:off x="6782960" y="2905279"/>
              <a:ext cx="408780" cy="44681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68" name="Oval 17"/>
            <p:cNvSpPr>
              <a:spLocks noChangeArrowheads="1"/>
            </p:cNvSpPr>
            <p:nvPr/>
          </p:nvSpPr>
          <p:spPr bwMode="auto">
            <a:xfrm>
              <a:off x="5790584" y="1951195"/>
              <a:ext cx="408780" cy="44681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69" name="Oval 16"/>
            <p:cNvSpPr>
              <a:spLocks noChangeArrowheads="1"/>
            </p:cNvSpPr>
            <p:nvPr/>
          </p:nvSpPr>
          <p:spPr bwMode="auto">
            <a:xfrm>
              <a:off x="5790584" y="3819938"/>
              <a:ext cx="408780" cy="446816"/>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5</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70" name="AutoShape 15"/>
            <p:cNvSpPr>
              <a:spLocks noChangeShapeType="1"/>
            </p:cNvSpPr>
            <p:nvPr/>
          </p:nvSpPr>
          <p:spPr bwMode="auto">
            <a:xfrm flipH="1">
              <a:off x="5995631" y="1601628"/>
              <a:ext cx="1314" cy="349568"/>
            </a:xfrm>
            <a:prstGeom prst="straightConnector1">
              <a:avLst/>
            </a:prstGeom>
            <a:noFill/>
            <a:ln w="19050">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71" name="AutoShape 14"/>
            <p:cNvSpPr>
              <a:spLocks noChangeShapeType="1"/>
            </p:cNvSpPr>
            <p:nvPr/>
          </p:nvSpPr>
          <p:spPr bwMode="auto">
            <a:xfrm flipH="1">
              <a:off x="5187271" y="2332303"/>
              <a:ext cx="663775" cy="63868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72" name="AutoShape 13"/>
            <p:cNvSpPr>
              <a:spLocks noChangeShapeType="1"/>
            </p:cNvSpPr>
            <p:nvPr/>
          </p:nvSpPr>
          <p:spPr bwMode="auto">
            <a:xfrm>
              <a:off x="5995631" y="2398011"/>
              <a:ext cx="1314" cy="507268"/>
            </a:xfrm>
            <a:prstGeom prst="straightConnector1">
              <a:avLst/>
            </a:prstGeom>
            <a:noFill/>
            <a:ln w="19050">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73" name="AutoShape 12"/>
            <p:cNvSpPr>
              <a:spLocks noChangeShapeType="1"/>
            </p:cNvSpPr>
            <p:nvPr/>
          </p:nvSpPr>
          <p:spPr bwMode="auto">
            <a:xfrm>
              <a:off x="6138901" y="2332303"/>
              <a:ext cx="704522" cy="638684"/>
            </a:xfrm>
            <a:prstGeom prst="straightConnector1">
              <a:avLst/>
            </a:prstGeom>
            <a:noFill/>
            <a:ln w="19050">
              <a:solidFill>
                <a:schemeClr val="tx1"/>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74" name="AutoShape 11"/>
            <p:cNvSpPr>
              <a:spLocks noChangeShapeType="1"/>
            </p:cNvSpPr>
            <p:nvPr/>
          </p:nvSpPr>
          <p:spPr bwMode="auto">
            <a:xfrm>
              <a:off x="5187271" y="3286387"/>
              <a:ext cx="663775" cy="599259"/>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75" name="AutoShape 10"/>
            <p:cNvSpPr>
              <a:spLocks noChangeShapeType="1"/>
            </p:cNvSpPr>
            <p:nvPr/>
          </p:nvSpPr>
          <p:spPr bwMode="auto">
            <a:xfrm>
              <a:off x="5995631" y="3352095"/>
              <a:ext cx="1314" cy="467843"/>
            </a:xfrm>
            <a:prstGeom prst="straightConnector1">
              <a:avLst/>
            </a:prstGeom>
            <a:noFill/>
            <a:ln w="19050">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76" name="AutoShape 9"/>
            <p:cNvSpPr>
              <a:spLocks noChangeShapeType="1"/>
            </p:cNvSpPr>
            <p:nvPr/>
          </p:nvSpPr>
          <p:spPr bwMode="auto">
            <a:xfrm flipH="1">
              <a:off x="6199364" y="3128687"/>
              <a:ext cx="583596" cy="131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78" name="Freeform 7"/>
            <p:cNvSpPr>
              <a:spLocks/>
            </p:cNvSpPr>
            <p:nvPr/>
          </p:nvSpPr>
          <p:spPr bwMode="auto">
            <a:xfrm>
              <a:off x="6201993" y="3344210"/>
              <a:ext cx="789958" cy="646569"/>
            </a:xfrm>
            <a:custGeom>
              <a:avLst/>
              <a:gdLst/>
              <a:ahLst/>
              <a:cxnLst>
                <a:cxn ang="0">
                  <a:pos x="0" y="484"/>
                </a:cxn>
                <a:cxn ang="0">
                  <a:pos x="270" y="467"/>
                </a:cxn>
                <a:cxn ang="0">
                  <a:pos x="514" y="335"/>
                </a:cxn>
                <a:cxn ang="0">
                  <a:pos x="601" y="0"/>
                </a:cxn>
              </a:cxnLst>
              <a:rect l="0" t="0" r="r" b="b"/>
              <a:pathLst>
                <a:path w="601" h="492">
                  <a:moveTo>
                    <a:pt x="0" y="484"/>
                  </a:moveTo>
                  <a:cubicBezTo>
                    <a:pt x="92" y="488"/>
                    <a:pt x="184" y="492"/>
                    <a:pt x="270" y="467"/>
                  </a:cubicBezTo>
                  <a:cubicBezTo>
                    <a:pt x="356" y="442"/>
                    <a:pt x="459" y="413"/>
                    <a:pt x="514" y="335"/>
                  </a:cubicBezTo>
                  <a:cubicBezTo>
                    <a:pt x="569" y="257"/>
                    <a:pt x="585" y="128"/>
                    <a:pt x="601" y="0"/>
                  </a:cubicBezTo>
                </a:path>
              </a:pathLst>
            </a:custGeom>
            <a:noFill/>
            <a:ln w="19050">
              <a:solidFill>
                <a:srgbClr val="006600"/>
              </a:solidFill>
              <a:prstDash val="dash"/>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79" name="Text Box 6"/>
            <p:cNvSpPr txBox="1">
              <a:spLocks noChangeArrowheads="1"/>
            </p:cNvSpPr>
            <p:nvPr/>
          </p:nvSpPr>
          <p:spPr bwMode="auto">
            <a:xfrm>
              <a:off x="6924916" y="3721375"/>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6600"/>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6600"/>
                </a:solidFill>
                <a:effectLst/>
                <a:latin typeface="Consolas" pitchFamily="49" charset="0"/>
                <a:ea typeface="仿宋" pitchFamily="49" charset="-122"/>
                <a:cs typeface="宋体" pitchFamily="2" charset="-122"/>
              </a:endParaRPr>
            </a:p>
          </p:txBody>
        </p:sp>
        <p:sp>
          <p:nvSpPr>
            <p:cNvPr id="80" name="Freeform 5"/>
            <p:cNvSpPr>
              <a:spLocks/>
            </p:cNvSpPr>
            <p:nvPr/>
          </p:nvSpPr>
          <p:spPr bwMode="auto">
            <a:xfrm>
              <a:off x="6201993" y="2135178"/>
              <a:ext cx="807045" cy="770101"/>
            </a:xfrm>
            <a:custGeom>
              <a:avLst/>
              <a:gdLst/>
              <a:ahLst/>
              <a:cxnLst>
                <a:cxn ang="0">
                  <a:pos x="601" y="586"/>
                </a:cxn>
                <a:cxn ang="0">
                  <a:pos x="514" y="194"/>
                </a:cxn>
                <a:cxn ang="0">
                  <a:pos x="0" y="0"/>
                </a:cxn>
              </a:cxnLst>
              <a:rect l="0" t="0" r="r" b="b"/>
              <a:pathLst>
                <a:path w="614" h="586">
                  <a:moveTo>
                    <a:pt x="601" y="586"/>
                  </a:moveTo>
                  <a:cubicBezTo>
                    <a:pt x="607" y="439"/>
                    <a:pt x="614" y="292"/>
                    <a:pt x="514" y="194"/>
                  </a:cubicBezTo>
                  <a:cubicBezTo>
                    <a:pt x="414" y="96"/>
                    <a:pt x="207" y="48"/>
                    <a:pt x="0" y="0"/>
                  </a:cubicBezTo>
                </a:path>
              </a:pathLst>
            </a:custGeom>
            <a:noFill/>
            <a:ln w="19050">
              <a:solidFill>
                <a:srgbClr val="006600"/>
              </a:solidFill>
              <a:prstDash val="dash"/>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81" name="Text Box 4"/>
            <p:cNvSpPr txBox="1">
              <a:spLocks noChangeArrowheads="1"/>
            </p:cNvSpPr>
            <p:nvPr/>
          </p:nvSpPr>
          <p:spPr bwMode="auto">
            <a:xfrm>
              <a:off x="6919658" y="2133864"/>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6600"/>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6600"/>
                </a:solidFill>
                <a:effectLst/>
                <a:latin typeface="Consolas" pitchFamily="49" charset="0"/>
                <a:ea typeface="仿宋" pitchFamily="49" charset="-122"/>
                <a:cs typeface="宋体" pitchFamily="2" charset="-122"/>
              </a:endParaRPr>
            </a:p>
          </p:txBody>
        </p:sp>
        <p:sp>
          <p:nvSpPr>
            <p:cNvPr id="82" name="Freeform 3"/>
            <p:cNvSpPr>
              <a:spLocks/>
            </p:cNvSpPr>
            <p:nvPr/>
          </p:nvSpPr>
          <p:spPr bwMode="auto">
            <a:xfrm>
              <a:off x="5702518" y="1403189"/>
              <a:ext cx="151157" cy="592688"/>
            </a:xfrm>
            <a:custGeom>
              <a:avLst/>
              <a:gdLst/>
              <a:ahLst/>
              <a:cxnLst>
                <a:cxn ang="0">
                  <a:pos x="115" y="451"/>
                </a:cxn>
                <a:cxn ang="0">
                  <a:pos x="18" y="321"/>
                </a:cxn>
                <a:cxn ang="0">
                  <a:pos x="9" y="168"/>
                </a:cxn>
                <a:cxn ang="0">
                  <a:pos x="67" y="0"/>
                </a:cxn>
              </a:cxnLst>
              <a:rect l="0" t="0" r="r" b="b"/>
              <a:pathLst>
                <a:path w="115" h="451">
                  <a:moveTo>
                    <a:pt x="115" y="451"/>
                  </a:moveTo>
                  <a:cubicBezTo>
                    <a:pt x="99" y="431"/>
                    <a:pt x="36" y="368"/>
                    <a:pt x="18" y="321"/>
                  </a:cubicBezTo>
                  <a:cubicBezTo>
                    <a:pt x="0" y="274"/>
                    <a:pt x="1" y="221"/>
                    <a:pt x="9" y="168"/>
                  </a:cubicBezTo>
                  <a:cubicBezTo>
                    <a:pt x="17" y="115"/>
                    <a:pt x="55" y="35"/>
                    <a:pt x="67" y="0"/>
                  </a:cubicBezTo>
                </a:path>
              </a:pathLst>
            </a:custGeom>
            <a:noFill/>
            <a:ln w="19050">
              <a:solidFill>
                <a:srgbClr val="006600"/>
              </a:solidFill>
              <a:prstDash val="dash"/>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83" name="Text Box 2"/>
            <p:cNvSpPr txBox="1">
              <a:spLocks noChangeArrowheads="1"/>
            </p:cNvSpPr>
            <p:nvPr/>
          </p:nvSpPr>
          <p:spPr bwMode="auto">
            <a:xfrm>
              <a:off x="5500100" y="1620026"/>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6600"/>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6600"/>
                </a:solidFill>
                <a:effectLst/>
                <a:latin typeface="Consolas" pitchFamily="49" charset="0"/>
                <a:ea typeface="仿宋" pitchFamily="49" charset="-122"/>
                <a:cs typeface="宋体" pitchFamily="2" charset="-122"/>
              </a:endParaRPr>
            </a:p>
          </p:txBody>
        </p:sp>
      </p:grpSp>
      <p:grpSp>
        <p:nvGrpSpPr>
          <p:cNvPr id="115" name="组合 114"/>
          <p:cNvGrpSpPr/>
          <p:nvPr/>
        </p:nvGrpSpPr>
        <p:grpSpPr>
          <a:xfrm>
            <a:off x="6643702" y="1601627"/>
            <a:ext cx="2354101" cy="3113257"/>
            <a:chOff x="6643702" y="1601627"/>
            <a:chExt cx="2354101" cy="3113257"/>
          </a:xfrm>
        </p:grpSpPr>
        <p:sp>
          <p:nvSpPr>
            <p:cNvPr id="85" name="Text Box 28"/>
            <p:cNvSpPr txBox="1">
              <a:spLocks noChangeArrowheads="1"/>
            </p:cNvSpPr>
            <p:nvPr/>
          </p:nvSpPr>
          <p:spPr bwMode="auto">
            <a:xfrm>
              <a:off x="7633450" y="3869876"/>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86" name="Text Box 27"/>
            <p:cNvSpPr txBox="1">
              <a:spLocks noChangeArrowheads="1"/>
            </p:cNvSpPr>
            <p:nvPr/>
          </p:nvSpPr>
          <p:spPr bwMode="auto">
            <a:xfrm>
              <a:off x="7596647" y="2978872"/>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6600"/>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6600"/>
                </a:solidFill>
                <a:effectLst/>
                <a:latin typeface="Consolas" pitchFamily="49" charset="0"/>
                <a:ea typeface="仿宋" pitchFamily="49" charset="-122"/>
                <a:cs typeface="宋体" pitchFamily="2" charset="-122"/>
              </a:endParaRPr>
            </a:p>
          </p:txBody>
        </p:sp>
        <p:sp>
          <p:nvSpPr>
            <p:cNvPr id="87" name="Text Box 26"/>
            <p:cNvSpPr txBox="1">
              <a:spLocks noChangeArrowheads="1"/>
            </p:cNvSpPr>
            <p:nvPr/>
          </p:nvSpPr>
          <p:spPr bwMode="auto">
            <a:xfrm>
              <a:off x="7901589" y="2052386"/>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0000FF"/>
                  </a:solidFill>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88" name="Text Box 25"/>
            <p:cNvSpPr txBox="1">
              <a:spLocks noChangeArrowheads="1"/>
            </p:cNvSpPr>
            <p:nvPr/>
          </p:nvSpPr>
          <p:spPr bwMode="auto">
            <a:xfrm>
              <a:off x="8362945" y="2846141"/>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89" name="Text Box 24"/>
            <p:cNvSpPr txBox="1">
              <a:spLocks noChangeArrowheads="1"/>
            </p:cNvSpPr>
            <p:nvPr/>
          </p:nvSpPr>
          <p:spPr bwMode="auto">
            <a:xfrm>
              <a:off x="7101115" y="3940841"/>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90" name="Text Box 23"/>
            <p:cNvSpPr txBox="1">
              <a:spLocks noChangeArrowheads="1"/>
            </p:cNvSpPr>
            <p:nvPr/>
          </p:nvSpPr>
          <p:spPr bwMode="auto">
            <a:xfrm>
              <a:off x="7160264" y="2846141"/>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91" name="Text Box 22"/>
            <p:cNvSpPr txBox="1">
              <a:spLocks noChangeArrowheads="1"/>
            </p:cNvSpPr>
            <p:nvPr/>
          </p:nvSpPr>
          <p:spPr bwMode="auto">
            <a:xfrm>
              <a:off x="8217046" y="3278502"/>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92" name="Oval 21"/>
            <p:cNvSpPr>
              <a:spLocks noChangeArrowheads="1"/>
            </p:cNvSpPr>
            <p:nvPr/>
          </p:nvSpPr>
          <p:spPr bwMode="auto">
            <a:xfrm>
              <a:off x="7596647" y="1601627"/>
              <a:ext cx="411409" cy="448130"/>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0</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93" name="Oval 20"/>
            <p:cNvSpPr>
              <a:spLocks noChangeArrowheads="1"/>
            </p:cNvSpPr>
            <p:nvPr/>
          </p:nvSpPr>
          <p:spPr bwMode="auto">
            <a:xfrm>
              <a:off x="6643702" y="3353409"/>
              <a:ext cx="410095" cy="44681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94" name="Oval 19"/>
            <p:cNvSpPr>
              <a:spLocks noChangeArrowheads="1"/>
            </p:cNvSpPr>
            <p:nvPr/>
          </p:nvSpPr>
          <p:spPr bwMode="auto">
            <a:xfrm>
              <a:off x="7596647" y="3353409"/>
              <a:ext cx="408780" cy="44681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95" name="Oval 18"/>
            <p:cNvSpPr>
              <a:spLocks noChangeArrowheads="1"/>
            </p:cNvSpPr>
            <p:nvPr/>
          </p:nvSpPr>
          <p:spPr bwMode="auto">
            <a:xfrm>
              <a:off x="8589023" y="3353409"/>
              <a:ext cx="408780" cy="44681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96" name="Oval 17"/>
            <p:cNvSpPr>
              <a:spLocks noChangeArrowheads="1"/>
            </p:cNvSpPr>
            <p:nvPr/>
          </p:nvSpPr>
          <p:spPr bwMode="auto">
            <a:xfrm>
              <a:off x="7596647" y="2399325"/>
              <a:ext cx="408780" cy="44681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97" name="Oval 16"/>
            <p:cNvSpPr>
              <a:spLocks noChangeArrowheads="1"/>
            </p:cNvSpPr>
            <p:nvPr/>
          </p:nvSpPr>
          <p:spPr bwMode="auto">
            <a:xfrm>
              <a:off x="7596647" y="4268068"/>
              <a:ext cx="408780" cy="446816"/>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5</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98" name="AutoShape 15"/>
            <p:cNvSpPr>
              <a:spLocks noChangeShapeType="1"/>
            </p:cNvSpPr>
            <p:nvPr/>
          </p:nvSpPr>
          <p:spPr bwMode="auto">
            <a:xfrm flipH="1">
              <a:off x="7801694" y="2049758"/>
              <a:ext cx="1314" cy="349568"/>
            </a:xfrm>
            <a:prstGeom prst="straightConnector1">
              <a:avLst/>
            </a:prstGeom>
            <a:noFill/>
            <a:ln w="19050">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99" name="AutoShape 14"/>
            <p:cNvSpPr>
              <a:spLocks noChangeShapeType="1"/>
            </p:cNvSpPr>
            <p:nvPr/>
          </p:nvSpPr>
          <p:spPr bwMode="auto">
            <a:xfrm flipH="1">
              <a:off x="6993334" y="2780433"/>
              <a:ext cx="663775" cy="63868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01" name="AutoShape 12"/>
            <p:cNvSpPr>
              <a:spLocks noChangeShapeType="1"/>
            </p:cNvSpPr>
            <p:nvPr/>
          </p:nvSpPr>
          <p:spPr bwMode="auto">
            <a:xfrm>
              <a:off x="7944964" y="2780433"/>
              <a:ext cx="704522" cy="638684"/>
            </a:xfrm>
            <a:prstGeom prst="straightConnector1">
              <a:avLst/>
            </a:prstGeom>
            <a:noFill/>
            <a:ln w="19050">
              <a:solidFill>
                <a:schemeClr val="tx1"/>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02" name="AutoShape 11"/>
            <p:cNvSpPr>
              <a:spLocks noChangeShapeType="1"/>
            </p:cNvSpPr>
            <p:nvPr/>
          </p:nvSpPr>
          <p:spPr bwMode="auto">
            <a:xfrm>
              <a:off x="6993334" y="3734517"/>
              <a:ext cx="663775" cy="599259"/>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03" name="AutoShape 10"/>
            <p:cNvSpPr>
              <a:spLocks noChangeShapeType="1"/>
            </p:cNvSpPr>
            <p:nvPr/>
          </p:nvSpPr>
          <p:spPr bwMode="auto">
            <a:xfrm>
              <a:off x="7801694" y="3800225"/>
              <a:ext cx="1314" cy="467843"/>
            </a:xfrm>
            <a:prstGeom prst="straightConnector1">
              <a:avLst/>
            </a:prstGeom>
            <a:noFill/>
            <a:ln w="19050">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04" name="AutoShape 9"/>
            <p:cNvSpPr>
              <a:spLocks noChangeShapeType="1"/>
            </p:cNvSpPr>
            <p:nvPr/>
          </p:nvSpPr>
          <p:spPr bwMode="auto">
            <a:xfrm flipH="1">
              <a:off x="8005427" y="3576817"/>
              <a:ext cx="583596" cy="131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05" name="Freeform 7"/>
            <p:cNvSpPr>
              <a:spLocks/>
            </p:cNvSpPr>
            <p:nvPr/>
          </p:nvSpPr>
          <p:spPr bwMode="auto">
            <a:xfrm>
              <a:off x="8008056" y="3792340"/>
              <a:ext cx="789958" cy="646569"/>
            </a:xfrm>
            <a:custGeom>
              <a:avLst/>
              <a:gdLst/>
              <a:ahLst/>
              <a:cxnLst>
                <a:cxn ang="0">
                  <a:pos x="0" y="484"/>
                </a:cxn>
                <a:cxn ang="0">
                  <a:pos x="270" y="467"/>
                </a:cxn>
                <a:cxn ang="0">
                  <a:pos x="514" y="335"/>
                </a:cxn>
                <a:cxn ang="0">
                  <a:pos x="601" y="0"/>
                </a:cxn>
              </a:cxnLst>
              <a:rect l="0" t="0" r="r" b="b"/>
              <a:pathLst>
                <a:path w="601" h="492">
                  <a:moveTo>
                    <a:pt x="0" y="484"/>
                  </a:moveTo>
                  <a:cubicBezTo>
                    <a:pt x="92" y="488"/>
                    <a:pt x="184" y="492"/>
                    <a:pt x="270" y="467"/>
                  </a:cubicBezTo>
                  <a:cubicBezTo>
                    <a:pt x="356" y="442"/>
                    <a:pt x="459" y="413"/>
                    <a:pt x="514" y="335"/>
                  </a:cubicBezTo>
                  <a:cubicBezTo>
                    <a:pt x="569" y="257"/>
                    <a:pt x="585" y="128"/>
                    <a:pt x="601" y="0"/>
                  </a:cubicBezTo>
                </a:path>
              </a:pathLst>
            </a:custGeom>
            <a:noFill/>
            <a:ln w="19050">
              <a:solidFill>
                <a:srgbClr val="006600"/>
              </a:solidFill>
              <a:prstDash val="dash"/>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06" name="Text Box 6"/>
            <p:cNvSpPr txBox="1">
              <a:spLocks noChangeArrowheads="1"/>
            </p:cNvSpPr>
            <p:nvPr/>
          </p:nvSpPr>
          <p:spPr bwMode="auto">
            <a:xfrm>
              <a:off x="8730979" y="4169505"/>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6600"/>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6600"/>
                </a:solidFill>
                <a:effectLst/>
                <a:latin typeface="Consolas" pitchFamily="49" charset="0"/>
                <a:ea typeface="仿宋" pitchFamily="49" charset="-122"/>
                <a:cs typeface="宋体" pitchFamily="2" charset="-122"/>
              </a:endParaRPr>
            </a:p>
          </p:txBody>
        </p:sp>
        <p:sp>
          <p:nvSpPr>
            <p:cNvPr id="107" name="Freeform 5"/>
            <p:cNvSpPr>
              <a:spLocks/>
            </p:cNvSpPr>
            <p:nvPr/>
          </p:nvSpPr>
          <p:spPr bwMode="auto">
            <a:xfrm>
              <a:off x="8008056" y="2583308"/>
              <a:ext cx="807045" cy="770101"/>
            </a:xfrm>
            <a:custGeom>
              <a:avLst/>
              <a:gdLst/>
              <a:ahLst/>
              <a:cxnLst>
                <a:cxn ang="0">
                  <a:pos x="601" y="586"/>
                </a:cxn>
                <a:cxn ang="0">
                  <a:pos x="514" y="194"/>
                </a:cxn>
                <a:cxn ang="0">
                  <a:pos x="0" y="0"/>
                </a:cxn>
              </a:cxnLst>
              <a:rect l="0" t="0" r="r" b="b"/>
              <a:pathLst>
                <a:path w="614" h="586">
                  <a:moveTo>
                    <a:pt x="601" y="586"/>
                  </a:moveTo>
                  <a:cubicBezTo>
                    <a:pt x="607" y="439"/>
                    <a:pt x="614" y="292"/>
                    <a:pt x="514" y="194"/>
                  </a:cubicBezTo>
                  <a:cubicBezTo>
                    <a:pt x="414" y="96"/>
                    <a:pt x="207" y="48"/>
                    <a:pt x="0" y="0"/>
                  </a:cubicBezTo>
                </a:path>
              </a:pathLst>
            </a:custGeom>
            <a:noFill/>
            <a:ln w="19050">
              <a:solidFill>
                <a:srgbClr val="006600"/>
              </a:solidFill>
              <a:prstDash val="dash"/>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08" name="Text Box 4"/>
            <p:cNvSpPr txBox="1">
              <a:spLocks noChangeArrowheads="1"/>
            </p:cNvSpPr>
            <p:nvPr/>
          </p:nvSpPr>
          <p:spPr bwMode="auto">
            <a:xfrm>
              <a:off x="8725721" y="2581994"/>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6600"/>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6600"/>
                </a:solidFill>
                <a:effectLst/>
                <a:latin typeface="Consolas" pitchFamily="49" charset="0"/>
                <a:ea typeface="仿宋" pitchFamily="49" charset="-122"/>
                <a:cs typeface="宋体" pitchFamily="2" charset="-122"/>
              </a:endParaRPr>
            </a:p>
          </p:txBody>
        </p:sp>
        <p:sp>
          <p:nvSpPr>
            <p:cNvPr id="109" name="Freeform 3"/>
            <p:cNvSpPr>
              <a:spLocks/>
            </p:cNvSpPr>
            <p:nvPr/>
          </p:nvSpPr>
          <p:spPr bwMode="auto">
            <a:xfrm>
              <a:off x="7508581" y="1851319"/>
              <a:ext cx="151157" cy="592688"/>
            </a:xfrm>
            <a:custGeom>
              <a:avLst/>
              <a:gdLst/>
              <a:ahLst/>
              <a:cxnLst>
                <a:cxn ang="0">
                  <a:pos x="115" y="451"/>
                </a:cxn>
                <a:cxn ang="0">
                  <a:pos x="18" y="321"/>
                </a:cxn>
                <a:cxn ang="0">
                  <a:pos x="9" y="168"/>
                </a:cxn>
                <a:cxn ang="0">
                  <a:pos x="67" y="0"/>
                </a:cxn>
              </a:cxnLst>
              <a:rect l="0" t="0" r="r" b="b"/>
              <a:pathLst>
                <a:path w="115" h="451">
                  <a:moveTo>
                    <a:pt x="115" y="451"/>
                  </a:moveTo>
                  <a:cubicBezTo>
                    <a:pt x="99" y="431"/>
                    <a:pt x="36" y="368"/>
                    <a:pt x="18" y="321"/>
                  </a:cubicBezTo>
                  <a:cubicBezTo>
                    <a:pt x="0" y="274"/>
                    <a:pt x="1" y="221"/>
                    <a:pt x="9" y="168"/>
                  </a:cubicBezTo>
                  <a:cubicBezTo>
                    <a:pt x="17" y="115"/>
                    <a:pt x="55" y="35"/>
                    <a:pt x="67" y="0"/>
                  </a:cubicBezTo>
                </a:path>
              </a:pathLst>
            </a:custGeom>
            <a:noFill/>
            <a:ln w="19050">
              <a:solidFill>
                <a:srgbClr val="006600"/>
              </a:solidFill>
              <a:prstDash val="dash"/>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10" name="Text Box 2"/>
            <p:cNvSpPr txBox="1">
              <a:spLocks noChangeArrowheads="1"/>
            </p:cNvSpPr>
            <p:nvPr/>
          </p:nvSpPr>
          <p:spPr bwMode="auto">
            <a:xfrm>
              <a:off x="7306163" y="2068156"/>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6600"/>
                  </a:solidFill>
                  <a:effectLst/>
                  <a:latin typeface="Consolas" pitchFamily="49" charset="0"/>
                  <a:ea typeface="仿宋" pitchFamily="49" charset="-122"/>
                  <a:cs typeface="Times New Roman" pitchFamily="18" charset="0"/>
                </a:rPr>
                <a:t>4</a:t>
              </a:r>
              <a:endParaRPr kumimoji="0" lang="en-US" altLang="zh-CN" sz="2000" b="0" i="0" u="none" strike="noStrike" cap="none" normalizeH="0" baseline="0">
                <a:ln>
                  <a:noFill/>
                </a:ln>
                <a:solidFill>
                  <a:srgbClr val="006600"/>
                </a:solidFill>
                <a:effectLst/>
                <a:latin typeface="Consolas" pitchFamily="49" charset="0"/>
                <a:ea typeface="仿宋" pitchFamily="49" charset="-122"/>
                <a:cs typeface="宋体" pitchFamily="2" charset="-122"/>
              </a:endParaRPr>
            </a:p>
          </p:txBody>
        </p:sp>
        <p:cxnSp>
          <p:nvCxnSpPr>
            <p:cNvPr id="112" name="直接箭头连接符 111"/>
            <p:cNvCxnSpPr>
              <a:stCxn id="94" idx="0"/>
              <a:endCxn id="96" idx="4"/>
            </p:cNvCxnSpPr>
            <p:nvPr/>
          </p:nvCxnSpPr>
          <p:spPr>
            <a:xfrm rot="5400000" flipH="1" flipV="1">
              <a:off x="7547403" y="3099775"/>
              <a:ext cx="507268" cy="1588"/>
            </a:xfrm>
            <a:prstGeom prst="straightConnector1">
              <a:avLst/>
            </a:prstGeom>
            <a:ln w="19050">
              <a:solidFill>
                <a:srgbClr val="006600"/>
              </a:solidFill>
              <a:prstDash val="dash"/>
              <a:tailEnd type="arrow"/>
            </a:ln>
          </p:spPr>
          <p:style>
            <a:lnRef idx="2">
              <a:schemeClr val="dk1"/>
            </a:lnRef>
            <a:fillRef idx="0">
              <a:schemeClr val="dk1"/>
            </a:fillRef>
            <a:effectRef idx="1">
              <a:schemeClr val="dk1"/>
            </a:effectRef>
            <a:fontRef idx="minor">
              <a:schemeClr val="tx1"/>
            </a:fontRef>
          </p:style>
        </p:cxnSp>
        <p:sp>
          <p:nvSpPr>
            <p:cNvPr id="113" name="任意多边形 112"/>
            <p:cNvSpPr/>
            <p:nvPr/>
          </p:nvSpPr>
          <p:spPr>
            <a:xfrm>
              <a:off x="7900650" y="3793067"/>
              <a:ext cx="105363" cy="519289"/>
            </a:xfrm>
            <a:custGeom>
              <a:avLst/>
              <a:gdLst>
                <a:gd name="connsiteX0" fmla="*/ 0 w 105363"/>
                <a:gd name="connsiteY0" fmla="*/ 519289 h 519289"/>
                <a:gd name="connsiteX1" fmla="*/ 101600 w 105363"/>
                <a:gd name="connsiteY1" fmla="*/ 327377 h 519289"/>
                <a:gd name="connsiteX2" fmla="*/ 22578 w 105363"/>
                <a:gd name="connsiteY2" fmla="*/ 0 h 519289"/>
              </a:gdLst>
              <a:ahLst/>
              <a:cxnLst>
                <a:cxn ang="0">
                  <a:pos x="connsiteX0" y="connsiteY0"/>
                </a:cxn>
                <a:cxn ang="0">
                  <a:pos x="connsiteX1" y="connsiteY1"/>
                </a:cxn>
                <a:cxn ang="0">
                  <a:pos x="connsiteX2" y="connsiteY2"/>
                </a:cxn>
              </a:cxnLst>
              <a:rect l="l" t="t" r="r" b="b"/>
              <a:pathLst>
                <a:path w="105363" h="519289">
                  <a:moveTo>
                    <a:pt x="0" y="519289"/>
                  </a:moveTo>
                  <a:cubicBezTo>
                    <a:pt x="48918" y="466607"/>
                    <a:pt x="97837" y="413925"/>
                    <a:pt x="101600" y="327377"/>
                  </a:cubicBezTo>
                  <a:cubicBezTo>
                    <a:pt x="105363" y="240829"/>
                    <a:pt x="63970" y="120414"/>
                    <a:pt x="22578" y="0"/>
                  </a:cubicBezTo>
                </a:path>
              </a:pathLst>
            </a:custGeom>
            <a:ln w="19050">
              <a:solidFill>
                <a:srgbClr val="006600"/>
              </a:solidFill>
              <a:prstDash val="dash"/>
              <a:headEnd type="none" w="med" len="med"/>
              <a:tailEnd type="arrow" w="med" len="med"/>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114" name="Text Box 27"/>
            <p:cNvSpPr txBox="1">
              <a:spLocks noChangeArrowheads="1"/>
            </p:cNvSpPr>
            <p:nvPr/>
          </p:nvSpPr>
          <p:spPr bwMode="auto">
            <a:xfrm>
              <a:off x="8069109" y="3906488"/>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6600"/>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6600"/>
                </a:solidFill>
                <a:effectLst/>
                <a:latin typeface="Consolas" pitchFamily="49" charset="0"/>
                <a:ea typeface="仿宋" pitchFamily="49" charset="-122"/>
                <a:cs typeface="宋体" pitchFamily="2" charset="-122"/>
              </a:endParaRPr>
            </a:p>
          </p:txBody>
        </p:sp>
      </p:grpSp>
      <p:grpSp>
        <p:nvGrpSpPr>
          <p:cNvPr id="116" name="组合 56"/>
          <p:cNvGrpSpPr/>
          <p:nvPr/>
        </p:nvGrpSpPr>
        <p:grpSpPr>
          <a:xfrm>
            <a:off x="214282" y="1643050"/>
            <a:ext cx="2354101" cy="3113257"/>
            <a:chOff x="4837639" y="1153497"/>
            <a:chExt cx="2354101" cy="3113257"/>
          </a:xfrm>
        </p:grpSpPr>
        <p:sp>
          <p:nvSpPr>
            <p:cNvPr id="117" name="Text Box 28"/>
            <p:cNvSpPr txBox="1">
              <a:spLocks noChangeArrowheads="1"/>
            </p:cNvSpPr>
            <p:nvPr/>
          </p:nvSpPr>
          <p:spPr bwMode="auto">
            <a:xfrm>
              <a:off x="5827387" y="3421746"/>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18" name="Text Box 27"/>
            <p:cNvSpPr txBox="1">
              <a:spLocks noChangeArrowheads="1"/>
            </p:cNvSpPr>
            <p:nvPr/>
          </p:nvSpPr>
          <p:spPr bwMode="auto">
            <a:xfrm>
              <a:off x="5790584" y="2530742"/>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19" name="Text Box 26"/>
            <p:cNvSpPr txBox="1">
              <a:spLocks noChangeArrowheads="1"/>
            </p:cNvSpPr>
            <p:nvPr/>
          </p:nvSpPr>
          <p:spPr bwMode="auto">
            <a:xfrm>
              <a:off x="6095526" y="1604256"/>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20" name="Text Box 25"/>
            <p:cNvSpPr txBox="1">
              <a:spLocks noChangeArrowheads="1"/>
            </p:cNvSpPr>
            <p:nvPr/>
          </p:nvSpPr>
          <p:spPr bwMode="auto">
            <a:xfrm>
              <a:off x="6556882" y="2398011"/>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21" name="Text Box 24"/>
            <p:cNvSpPr txBox="1">
              <a:spLocks noChangeArrowheads="1"/>
            </p:cNvSpPr>
            <p:nvPr/>
          </p:nvSpPr>
          <p:spPr bwMode="auto">
            <a:xfrm>
              <a:off x="5295052" y="3492711"/>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22" name="Text Box 23"/>
            <p:cNvSpPr txBox="1">
              <a:spLocks noChangeArrowheads="1"/>
            </p:cNvSpPr>
            <p:nvPr/>
          </p:nvSpPr>
          <p:spPr bwMode="auto">
            <a:xfrm>
              <a:off x="5354201" y="2398011"/>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23" name="Text Box 22"/>
            <p:cNvSpPr txBox="1">
              <a:spLocks noChangeArrowheads="1"/>
            </p:cNvSpPr>
            <p:nvPr/>
          </p:nvSpPr>
          <p:spPr bwMode="auto">
            <a:xfrm>
              <a:off x="6410983" y="2830372"/>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24" name="Oval 21"/>
            <p:cNvSpPr>
              <a:spLocks noChangeArrowheads="1"/>
            </p:cNvSpPr>
            <p:nvPr/>
          </p:nvSpPr>
          <p:spPr bwMode="auto">
            <a:xfrm>
              <a:off x="5790584" y="1153497"/>
              <a:ext cx="411409" cy="448130"/>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0</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25" name="Oval 20"/>
            <p:cNvSpPr>
              <a:spLocks noChangeArrowheads="1"/>
            </p:cNvSpPr>
            <p:nvPr/>
          </p:nvSpPr>
          <p:spPr bwMode="auto">
            <a:xfrm>
              <a:off x="4837639" y="2905279"/>
              <a:ext cx="410095" cy="44681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26" name="Oval 19"/>
            <p:cNvSpPr>
              <a:spLocks noChangeArrowheads="1"/>
            </p:cNvSpPr>
            <p:nvPr/>
          </p:nvSpPr>
          <p:spPr bwMode="auto">
            <a:xfrm>
              <a:off x="5790584" y="2905279"/>
              <a:ext cx="408780" cy="44681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27" name="Oval 18"/>
            <p:cNvSpPr>
              <a:spLocks noChangeArrowheads="1"/>
            </p:cNvSpPr>
            <p:nvPr/>
          </p:nvSpPr>
          <p:spPr bwMode="auto">
            <a:xfrm>
              <a:off x="6782960" y="2905279"/>
              <a:ext cx="408780" cy="44681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28" name="Oval 17"/>
            <p:cNvSpPr>
              <a:spLocks noChangeArrowheads="1"/>
            </p:cNvSpPr>
            <p:nvPr/>
          </p:nvSpPr>
          <p:spPr bwMode="auto">
            <a:xfrm>
              <a:off x="5790584" y="1951195"/>
              <a:ext cx="408780" cy="44681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29" name="Oval 16"/>
            <p:cNvSpPr>
              <a:spLocks noChangeArrowheads="1"/>
            </p:cNvSpPr>
            <p:nvPr/>
          </p:nvSpPr>
          <p:spPr bwMode="auto">
            <a:xfrm>
              <a:off x="5790584" y="3819938"/>
              <a:ext cx="408780" cy="446816"/>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5</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30" name="AutoShape 15"/>
            <p:cNvSpPr>
              <a:spLocks noChangeShapeType="1"/>
            </p:cNvSpPr>
            <p:nvPr/>
          </p:nvSpPr>
          <p:spPr bwMode="auto">
            <a:xfrm flipH="1">
              <a:off x="5995631" y="1601628"/>
              <a:ext cx="1314" cy="349568"/>
            </a:xfrm>
            <a:prstGeom prst="straightConnector1">
              <a:avLst/>
            </a:prstGeom>
            <a:noFill/>
            <a:ln w="19050">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31" name="AutoShape 14"/>
            <p:cNvSpPr>
              <a:spLocks noChangeShapeType="1"/>
            </p:cNvSpPr>
            <p:nvPr/>
          </p:nvSpPr>
          <p:spPr bwMode="auto">
            <a:xfrm flipH="1">
              <a:off x="5187271" y="2332303"/>
              <a:ext cx="663775" cy="63868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32" name="AutoShape 13"/>
            <p:cNvSpPr>
              <a:spLocks noChangeShapeType="1"/>
            </p:cNvSpPr>
            <p:nvPr/>
          </p:nvSpPr>
          <p:spPr bwMode="auto">
            <a:xfrm>
              <a:off x="5995631" y="2398011"/>
              <a:ext cx="1314" cy="507268"/>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33" name="AutoShape 12"/>
            <p:cNvSpPr>
              <a:spLocks noChangeShapeType="1"/>
            </p:cNvSpPr>
            <p:nvPr/>
          </p:nvSpPr>
          <p:spPr bwMode="auto">
            <a:xfrm>
              <a:off x="6138901" y="2332303"/>
              <a:ext cx="704522" cy="638684"/>
            </a:xfrm>
            <a:prstGeom prst="straightConnector1">
              <a:avLst/>
            </a:prstGeom>
            <a:noFill/>
            <a:ln w="19050">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34" name="AutoShape 11"/>
            <p:cNvSpPr>
              <a:spLocks noChangeShapeType="1"/>
            </p:cNvSpPr>
            <p:nvPr/>
          </p:nvSpPr>
          <p:spPr bwMode="auto">
            <a:xfrm>
              <a:off x="5187271" y="3286387"/>
              <a:ext cx="663775" cy="599259"/>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35" name="AutoShape 10"/>
            <p:cNvSpPr>
              <a:spLocks noChangeShapeType="1"/>
            </p:cNvSpPr>
            <p:nvPr/>
          </p:nvSpPr>
          <p:spPr bwMode="auto">
            <a:xfrm>
              <a:off x="5995631" y="3352095"/>
              <a:ext cx="1314" cy="467843"/>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36" name="AutoShape 9"/>
            <p:cNvSpPr>
              <a:spLocks noChangeShapeType="1"/>
            </p:cNvSpPr>
            <p:nvPr/>
          </p:nvSpPr>
          <p:spPr bwMode="auto">
            <a:xfrm flipH="1">
              <a:off x="6199364" y="3128687"/>
              <a:ext cx="583596" cy="131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38" name="Freeform 7"/>
            <p:cNvSpPr>
              <a:spLocks/>
            </p:cNvSpPr>
            <p:nvPr/>
          </p:nvSpPr>
          <p:spPr bwMode="auto">
            <a:xfrm>
              <a:off x="6201993" y="3344210"/>
              <a:ext cx="789958" cy="646569"/>
            </a:xfrm>
            <a:custGeom>
              <a:avLst/>
              <a:gdLst/>
              <a:ahLst/>
              <a:cxnLst>
                <a:cxn ang="0">
                  <a:pos x="0" y="484"/>
                </a:cxn>
                <a:cxn ang="0">
                  <a:pos x="270" y="467"/>
                </a:cxn>
                <a:cxn ang="0">
                  <a:pos x="514" y="335"/>
                </a:cxn>
                <a:cxn ang="0">
                  <a:pos x="601" y="0"/>
                </a:cxn>
              </a:cxnLst>
              <a:rect l="0" t="0" r="r" b="b"/>
              <a:pathLst>
                <a:path w="601" h="492">
                  <a:moveTo>
                    <a:pt x="0" y="484"/>
                  </a:moveTo>
                  <a:cubicBezTo>
                    <a:pt x="92" y="488"/>
                    <a:pt x="184" y="492"/>
                    <a:pt x="270" y="467"/>
                  </a:cubicBezTo>
                  <a:cubicBezTo>
                    <a:pt x="356" y="442"/>
                    <a:pt x="459" y="413"/>
                    <a:pt x="514" y="335"/>
                  </a:cubicBezTo>
                  <a:cubicBezTo>
                    <a:pt x="569" y="257"/>
                    <a:pt x="585" y="128"/>
                    <a:pt x="601" y="0"/>
                  </a:cubicBezTo>
                </a:path>
              </a:pathLst>
            </a:custGeom>
            <a:noFill/>
            <a:ln w="19050">
              <a:solidFill>
                <a:srgbClr val="006600"/>
              </a:solidFill>
              <a:prstDash val="dash"/>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39" name="Text Box 6"/>
            <p:cNvSpPr txBox="1">
              <a:spLocks noChangeArrowheads="1"/>
            </p:cNvSpPr>
            <p:nvPr/>
          </p:nvSpPr>
          <p:spPr bwMode="auto">
            <a:xfrm>
              <a:off x="6924916" y="3721375"/>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6600"/>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6600"/>
                </a:solidFill>
                <a:effectLst/>
                <a:latin typeface="Consolas" pitchFamily="49" charset="0"/>
                <a:ea typeface="仿宋" pitchFamily="49" charset="-122"/>
                <a:cs typeface="宋体" pitchFamily="2" charset="-122"/>
              </a:endParaRPr>
            </a:p>
          </p:txBody>
        </p:sp>
        <p:sp>
          <p:nvSpPr>
            <p:cNvPr id="140" name="Freeform 5"/>
            <p:cNvSpPr>
              <a:spLocks/>
            </p:cNvSpPr>
            <p:nvPr/>
          </p:nvSpPr>
          <p:spPr bwMode="auto">
            <a:xfrm>
              <a:off x="6201993" y="2135178"/>
              <a:ext cx="807045" cy="770101"/>
            </a:xfrm>
            <a:custGeom>
              <a:avLst/>
              <a:gdLst/>
              <a:ahLst/>
              <a:cxnLst>
                <a:cxn ang="0">
                  <a:pos x="601" y="586"/>
                </a:cxn>
                <a:cxn ang="0">
                  <a:pos x="514" y="194"/>
                </a:cxn>
                <a:cxn ang="0">
                  <a:pos x="0" y="0"/>
                </a:cxn>
              </a:cxnLst>
              <a:rect l="0" t="0" r="r" b="b"/>
              <a:pathLst>
                <a:path w="614" h="586">
                  <a:moveTo>
                    <a:pt x="601" y="586"/>
                  </a:moveTo>
                  <a:cubicBezTo>
                    <a:pt x="607" y="439"/>
                    <a:pt x="614" y="292"/>
                    <a:pt x="514" y="194"/>
                  </a:cubicBezTo>
                  <a:cubicBezTo>
                    <a:pt x="414" y="96"/>
                    <a:pt x="207" y="48"/>
                    <a:pt x="0" y="0"/>
                  </a:cubicBezTo>
                </a:path>
              </a:pathLst>
            </a:custGeom>
            <a:noFill/>
            <a:ln w="19050">
              <a:solidFill>
                <a:srgbClr val="006600"/>
              </a:solidFill>
              <a:prstDash val="dash"/>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41" name="Text Box 4"/>
            <p:cNvSpPr txBox="1">
              <a:spLocks noChangeArrowheads="1"/>
            </p:cNvSpPr>
            <p:nvPr/>
          </p:nvSpPr>
          <p:spPr bwMode="auto">
            <a:xfrm>
              <a:off x="6919658" y="2133864"/>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6600"/>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6600"/>
                </a:solidFill>
                <a:effectLst/>
                <a:latin typeface="Consolas" pitchFamily="49" charset="0"/>
                <a:ea typeface="仿宋" pitchFamily="49" charset="-122"/>
                <a:cs typeface="宋体" pitchFamily="2" charset="-122"/>
              </a:endParaRPr>
            </a:p>
          </p:txBody>
        </p:sp>
        <p:sp>
          <p:nvSpPr>
            <p:cNvPr id="142" name="Freeform 3"/>
            <p:cNvSpPr>
              <a:spLocks/>
            </p:cNvSpPr>
            <p:nvPr/>
          </p:nvSpPr>
          <p:spPr bwMode="auto">
            <a:xfrm>
              <a:off x="5702518" y="1403189"/>
              <a:ext cx="151157" cy="592688"/>
            </a:xfrm>
            <a:custGeom>
              <a:avLst/>
              <a:gdLst/>
              <a:ahLst/>
              <a:cxnLst>
                <a:cxn ang="0">
                  <a:pos x="115" y="451"/>
                </a:cxn>
                <a:cxn ang="0">
                  <a:pos x="18" y="321"/>
                </a:cxn>
                <a:cxn ang="0">
                  <a:pos x="9" y="168"/>
                </a:cxn>
                <a:cxn ang="0">
                  <a:pos x="67" y="0"/>
                </a:cxn>
              </a:cxnLst>
              <a:rect l="0" t="0" r="r" b="b"/>
              <a:pathLst>
                <a:path w="115" h="451">
                  <a:moveTo>
                    <a:pt x="115" y="451"/>
                  </a:moveTo>
                  <a:cubicBezTo>
                    <a:pt x="99" y="431"/>
                    <a:pt x="36" y="368"/>
                    <a:pt x="18" y="321"/>
                  </a:cubicBezTo>
                  <a:cubicBezTo>
                    <a:pt x="0" y="274"/>
                    <a:pt x="1" y="221"/>
                    <a:pt x="9" y="168"/>
                  </a:cubicBezTo>
                  <a:cubicBezTo>
                    <a:pt x="17" y="115"/>
                    <a:pt x="55" y="35"/>
                    <a:pt x="67" y="0"/>
                  </a:cubicBezTo>
                </a:path>
              </a:pathLst>
            </a:custGeom>
            <a:noFill/>
            <a:ln w="19050">
              <a:solidFill>
                <a:srgbClr val="006600"/>
              </a:solidFill>
              <a:prstDash val="dash"/>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43" name="Text Box 2"/>
            <p:cNvSpPr txBox="1">
              <a:spLocks noChangeArrowheads="1"/>
            </p:cNvSpPr>
            <p:nvPr/>
          </p:nvSpPr>
          <p:spPr bwMode="auto">
            <a:xfrm>
              <a:off x="5500100" y="1620026"/>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6600"/>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6600"/>
                </a:solidFill>
                <a:effectLst/>
                <a:latin typeface="Consolas" pitchFamily="49" charset="0"/>
                <a:ea typeface="仿宋" pitchFamily="49" charset="-122"/>
                <a:cs typeface="宋体" pitchFamily="2" charset="-122"/>
              </a:endParaRPr>
            </a:p>
          </p:txBody>
        </p:sp>
      </p:grpSp>
      <p:sp>
        <p:nvSpPr>
          <p:cNvPr id="144" name="右箭头 143"/>
          <p:cNvSpPr/>
          <p:nvPr/>
        </p:nvSpPr>
        <p:spPr>
          <a:xfrm>
            <a:off x="2928926" y="3395133"/>
            <a:ext cx="428628" cy="285752"/>
          </a:xfrm>
          <a:prstGeom prst="right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145" name="右箭头 144"/>
          <p:cNvSpPr/>
          <p:nvPr/>
        </p:nvSpPr>
        <p:spPr>
          <a:xfrm>
            <a:off x="6076079" y="3395133"/>
            <a:ext cx="428628" cy="285752"/>
          </a:xfrm>
          <a:prstGeom prst="right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146" name="TextBox 145"/>
          <p:cNvSpPr txBox="1"/>
          <p:nvPr/>
        </p:nvSpPr>
        <p:spPr>
          <a:xfrm>
            <a:off x="2857488" y="3014512"/>
            <a:ext cx="785818" cy="369332"/>
          </a:xfrm>
          <a:prstGeom prst="rect">
            <a:avLst/>
          </a:prstGeom>
          <a:noFill/>
        </p:spPr>
        <p:txBody>
          <a:bodyPr wrap="square" rtlCol="0">
            <a:spAutoFit/>
          </a:bodyPr>
          <a:lstStyle/>
          <a:p>
            <a:pPr algn="l">
              <a:lnSpc>
                <a:spcPct val="100000"/>
              </a:lnSpc>
              <a:spcBef>
                <a:spcPts val="0"/>
              </a:spcBef>
            </a:pPr>
            <a:r>
              <a:rPr lang="en-US" altLang="zh-CN" sz="1800">
                <a:solidFill>
                  <a:srgbClr val="FF0000"/>
                </a:solidFill>
                <a:latin typeface="Consolas" pitchFamily="49" charset="0"/>
                <a:ea typeface="楷体" pitchFamily="49" charset="-122"/>
                <a:cs typeface="Consolas" pitchFamily="49" charset="0"/>
              </a:rPr>
              <a:t>BFS</a:t>
            </a:r>
            <a:endParaRPr lang="zh-CN" altLang="en-US" sz="1800">
              <a:solidFill>
                <a:srgbClr val="FF0000"/>
              </a:solidFill>
              <a:latin typeface="Consolas" pitchFamily="49" charset="0"/>
              <a:ea typeface="楷体" pitchFamily="49" charset="-122"/>
              <a:cs typeface="Consolas" pitchFamily="49" charset="0"/>
            </a:endParaRPr>
          </a:p>
        </p:txBody>
      </p:sp>
      <p:sp>
        <p:nvSpPr>
          <p:cNvPr id="147" name="TextBox 146"/>
          <p:cNvSpPr txBox="1"/>
          <p:nvPr/>
        </p:nvSpPr>
        <p:spPr>
          <a:xfrm>
            <a:off x="6000760" y="3026654"/>
            <a:ext cx="714380" cy="369332"/>
          </a:xfrm>
          <a:prstGeom prst="rect">
            <a:avLst/>
          </a:prstGeom>
          <a:noFill/>
        </p:spPr>
        <p:txBody>
          <a:bodyPr wrap="square" rtlCol="0">
            <a:spAutoFit/>
          </a:bodyPr>
          <a:lstStyle/>
          <a:p>
            <a:pPr algn="l">
              <a:lnSpc>
                <a:spcPct val="100000"/>
              </a:lnSpc>
              <a:spcBef>
                <a:spcPts val="0"/>
              </a:spcBef>
            </a:pPr>
            <a:r>
              <a:rPr lang="zh-CN" altLang="en-US" sz="1800">
                <a:solidFill>
                  <a:srgbClr val="0000FF"/>
                </a:solidFill>
                <a:latin typeface="仿宋" pitchFamily="49" charset="-122"/>
                <a:ea typeface="仿宋" pitchFamily="49" charset="-122"/>
                <a:cs typeface="Consolas" pitchFamily="49" charset="0"/>
              </a:rPr>
              <a:t>增广</a:t>
            </a:r>
          </a:p>
        </p:txBody>
      </p:sp>
      <p:sp>
        <p:nvSpPr>
          <p:cNvPr id="111" name="灯片编号占位符 110"/>
          <p:cNvSpPr>
            <a:spLocks noGrp="1"/>
          </p:cNvSpPr>
          <p:nvPr>
            <p:ph type="sldNum" sz="quarter" idx="12"/>
          </p:nvPr>
        </p:nvSpPr>
        <p:spPr/>
        <p:txBody>
          <a:bodyPr/>
          <a:lstStyle/>
          <a:p>
            <a:fld id="{7AF016A1-9F15-429F-9EFD-84004B73C732}" type="slidenum">
              <a:rPr lang="en-US" altLang="zh-CN" smtClean="0"/>
              <a:pPr/>
              <a:t>121</a:t>
            </a:fld>
            <a:r>
              <a:rPr lang="en-US" altLang="zh-CN"/>
              <a:t>/158</a:t>
            </a: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42910" y="642918"/>
            <a:ext cx="1643074" cy="430887"/>
          </a:xfrm>
          <a:prstGeom prst="rect">
            <a:avLst/>
          </a:prstGeom>
          <a:noFill/>
        </p:spPr>
        <p:txBody>
          <a:bodyPr wrap="square" rtlCol="0">
            <a:spAutoFit/>
          </a:bodyPr>
          <a:lstStyle/>
          <a:p>
            <a:pPr algn="l">
              <a:lnSpc>
                <a:spcPct val="100000"/>
              </a:lnSpc>
              <a:spcBef>
                <a:spcPts val="0"/>
              </a:spcBef>
            </a:pPr>
            <a:r>
              <a:rPr lang="zh-CN" altLang="zh-CN" sz="2200">
                <a:solidFill>
                  <a:srgbClr val="0000FF"/>
                </a:solidFill>
                <a:latin typeface="Consolas" pitchFamily="49" charset="0"/>
                <a:ea typeface="楷体" pitchFamily="49" charset="-122"/>
              </a:rPr>
              <a:t>第</a:t>
            </a:r>
            <a:r>
              <a:rPr lang="en-US" altLang="zh-CN" sz="2200">
                <a:solidFill>
                  <a:srgbClr val="0000FF"/>
                </a:solidFill>
                <a:latin typeface="Consolas" pitchFamily="49" charset="0"/>
                <a:ea typeface="楷体" pitchFamily="49" charset="-122"/>
              </a:rPr>
              <a:t>3</a:t>
            </a:r>
            <a:r>
              <a:rPr lang="zh-CN" altLang="zh-CN" sz="2200">
                <a:solidFill>
                  <a:srgbClr val="0000FF"/>
                </a:solidFill>
                <a:latin typeface="Consolas" pitchFamily="49" charset="0"/>
                <a:ea typeface="楷体" pitchFamily="49" charset="-122"/>
              </a:rPr>
              <a:t>次迭代</a:t>
            </a:r>
            <a:endParaRPr lang="zh-CN" altLang="en-US" sz="2200">
              <a:solidFill>
                <a:srgbClr val="0000FF"/>
              </a:solidFill>
              <a:latin typeface="Consolas" pitchFamily="49" charset="0"/>
              <a:ea typeface="楷体" pitchFamily="49" charset="-122"/>
              <a:cs typeface="Consolas" pitchFamily="49" charset="0"/>
            </a:endParaRPr>
          </a:p>
        </p:txBody>
      </p:sp>
      <p:grpSp>
        <p:nvGrpSpPr>
          <p:cNvPr id="3" name="组合 114"/>
          <p:cNvGrpSpPr/>
          <p:nvPr/>
        </p:nvGrpSpPr>
        <p:grpSpPr>
          <a:xfrm>
            <a:off x="0" y="1500174"/>
            <a:ext cx="2354101" cy="3113257"/>
            <a:chOff x="6643702" y="1601627"/>
            <a:chExt cx="2354101" cy="3113257"/>
          </a:xfrm>
        </p:grpSpPr>
        <p:sp>
          <p:nvSpPr>
            <p:cNvPr id="85" name="Text Box 28"/>
            <p:cNvSpPr txBox="1">
              <a:spLocks noChangeArrowheads="1"/>
            </p:cNvSpPr>
            <p:nvPr/>
          </p:nvSpPr>
          <p:spPr bwMode="auto">
            <a:xfrm>
              <a:off x="7633450" y="3869876"/>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86" name="Text Box 27"/>
            <p:cNvSpPr txBox="1">
              <a:spLocks noChangeArrowheads="1"/>
            </p:cNvSpPr>
            <p:nvPr/>
          </p:nvSpPr>
          <p:spPr bwMode="auto">
            <a:xfrm>
              <a:off x="7596647" y="2978872"/>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6600"/>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6600"/>
                </a:solidFill>
                <a:effectLst/>
                <a:latin typeface="Consolas" pitchFamily="49" charset="0"/>
                <a:ea typeface="仿宋" pitchFamily="49" charset="-122"/>
                <a:cs typeface="宋体" pitchFamily="2" charset="-122"/>
              </a:endParaRPr>
            </a:p>
          </p:txBody>
        </p:sp>
        <p:sp>
          <p:nvSpPr>
            <p:cNvPr id="87" name="Text Box 26"/>
            <p:cNvSpPr txBox="1">
              <a:spLocks noChangeArrowheads="1"/>
            </p:cNvSpPr>
            <p:nvPr/>
          </p:nvSpPr>
          <p:spPr bwMode="auto">
            <a:xfrm>
              <a:off x="7901589" y="2052386"/>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0000FF"/>
                  </a:solidFill>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88" name="Text Box 25"/>
            <p:cNvSpPr txBox="1">
              <a:spLocks noChangeArrowheads="1"/>
            </p:cNvSpPr>
            <p:nvPr/>
          </p:nvSpPr>
          <p:spPr bwMode="auto">
            <a:xfrm>
              <a:off x="8362945" y="2846141"/>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89" name="Text Box 24"/>
            <p:cNvSpPr txBox="1">
              <a:spLocks noChangeArrowheads="1"/>
            </p:cNvSpPr>
            <p:nvPr/>
          </p:nvSpPr>
          <p:spPr bwMode="auto">
            <a:xfrm>
              <a:off x="7101115" y="3940841"/>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90" name="Text Box 23"/>
            <p:cNvSpPr txBox="1">
              <a:spLocks noChangeArrowheads="1"/>
            </p:cNvSpPr>
            <p:nvPr/>
          </p:nvSpPr>
          <p:spPr bwMode="auto">
            <a:xfrm>
              <a:off x="7160264" y="2846141"/>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91" name="Text Box 22"/>
            <p:cNvSpPr txBox="1">
              <a:spLocks noChangeArrowheads="1"/>
            </p:cNvSpPr>
            <p:nvPr/>
          </p:nvSpPr>
          <p:spPr bwMode="auto">
            <a:xfrm>
              <a:off x="8217046" y="3278502"/>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92" name="Oval 21"/>
            <p:cNvSpPr>
              <a:spLocks noChangeArrowheads="1"/>
            </p:cNvSpPr>
            <p:nvPr/>
          </p:nvSpPr>
          <p:spPr bwMode="auto">
            <a:xfrm>
              <a:off x="7596647" y="1601627"/>
              <a:ext cx="411409" cy="448130"/>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0</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93" name="Oval 20"/>
            <p:cNvSpPr>
              <a:spLocks noChangeArrowheads="1"/>
            </p:cNvSpPr>
            <p:nvPr/>
          </p:nvSpPr>
          <p:spPr bwMode="auto">
            <a:xfrm>
              <a:off x="6643702" y="3353409"/>
              <a:ext cx="410095" cy="44681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94" name="Oval 19"/>
            <p:cNvSpPr>
              <a:spLocks noChangeArrowheads="1"/>
            </p:cNvSpPr>
            <p:nvPr/>
          </p:nvSpPr>
          <p:spPr bwMode="auto">
            <a:xfrm>
              <a:off x="7596647" y="3353409"/>
              <a:ext cx="408780" cy="44681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95" name="Oval 18"/>
            <p:cNvSpPr>
              <a:spLocks noChangeArrowheads="1"/>
            </p:cNvSpPr>
            <p:nvPr/>
          </p:nvSpPr>
          <p:spPr bwMode="auto">
            <a:xfrm>
              <a:off x="8589023" y="3353409"/>
              <a:ext cx="408780" cy="44681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96" name="Oval 17"/>
            <p:cNvSpPr>
              <a:spLocks noChangeArrowheads="1"/>
            </p:cNvSpPr>
            <p:nvPr/>
          </p:nvSpPr>
          <p:spPr bwMode="auto">
            <a:xfrm>
              <a:off x="7596647" y="2399325"/>
              <a:ext cx="408780" cy="44681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97" name="Oval 16"/>
            <p:cNvSpPr>
              <a:spLocks noChangeArrowheads="1"/>
            </p:cNvSpPr>
            <p:nvPr/>
          </p:nvSpPr>
          <p:spPr bwMode="auto">
            <a:xfrm>
              <a:off x="7596647" y="4268068"/>
              <a:ext cx="408780" cy="446816"/>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5</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98" name="AutoShape 15"/>
            <p:cNvSpPr>
              <a:spLocks noChangeShapeType="1"/>
            </p:cNvSpPr>
            <p:nvPr/>
          </p:nvSpPr>
          <p:spPr bwMode="auto">
            <a:xfrm flipH="1">
              <a:off x="7801694" y="2049758"/>
              <a:ext cx="1314" cy="349568"/>
            </a:xfrm>
            <a:prstGeom prst="straightConnector1">
              <a:avLst/>
            </a:prstGeom>
            <a:noFill/>
            <a:ln w="19050">
              <a:solidFill>
                <a:schemeClr val="tx1"/>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99" name="AutoShape 14"/>
            <p:cNvSpPr>
              <a:spLocks noChangeShapeType="1"/>
            </p:cNvSpPr>
            <p:nvPr/>
          </p:nvSpPr>
          <p:spPr bwMode="auto">
            <a:xfrm flipH="1">
              <a:off x="6993334" y="2780433"/>
              <a:ext cx="663775" cy="63868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01" name="AutoShape 12"/>
            <p:cNvSpPr>
              <a:spLocks noChangeShapeType="1"/>
            </p:cNvSpPr>
            <p:nvPr/>
          </p:nvSpPr>
          <p:spPr bwMode="auto">
            <a:xfrm>
              <a:off x="7944964" y="2780433"/>
              <a:ext cx="704522" cy="638684"/>
            </a:xfrm>
            <a:prstGeom prst="straightConnector1">
              <a:avLst/>
            </a:prstGeom>
            <a:noFill/>
            <a:ln w="19050">
              <a:solidFill>
                <a:schemeClr val="tx1"/>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02" name="AutoShape 11"/>
            <p:cNvSpPr>
              <a:spLocks noChangeShapeType="1"/>
            </p:cNvSpPr>
            <p:nvPr/>
          </p:nvSpPr>
          <p:spPr bwMode="auto">
            <a:xfrm>
              <a:off x="6993334" y="3734517"/>
              <a:ext cx="663775" cy="599259"/>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03" name="AutoShape 10"/>
            <p:cNvSpPr>
              <a:spLocks noChangeShapeType="1"/>
            </p:cNvSpPr>
            <p:nvPr/>
          </p:nvSpPr>
          <p:spPr bwMode="auto">
            <a:xfrm>
              <a:off x="7801694" y="3800225"/>
              <a:ext cx="1314" cy="467843"/>
            </a:xfrm>
            <a:prstGeom prst="straightConnector1">
              <a:avLst/>
            </a:prstGeom>
            <a:noFill/>
            <a:ln w="19050">
              <a:solidFill>
                <a:schemeClr val="tx1"/>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04" name="AutoShape 9"/>
            <p:cNvSpPr>
              <a:spLocks noChangeShapeType="1"/>
            </p:cNvSpPr>
            <p:nvPr/>
          </p:nvSpPr>
          <p:spPr bwMode="auto">
            <a:xfrm flipH="1">
              <a:off x="8005427" y="3576817"/>
              <a:ext cx="583596" cy="131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05" name="Freeform 7"/>
            <p:cNvSpPr>
              <a:spLocks/>
            </p:cNvSpPr>
            <p:nvPr/>
          </p:nvSpPr>
          <p:spPr bwMode="auto">
            <a:xfrm>
              <a:off x="8008056" y="3792340"/>
              <a:ext cx="789958" cy="646569"/>
            </a:xfrm>
            <a:custGeom>
              <a:avLst/>
              <a:gdLst/>
              <a:ahLst/>
              <a:cxnLst>
                <a:cxn ang="0">
                  <a:pos x="0" y="484"/>
                </a:cxn>
                <a:cxn ang="0">
                  <a:pos x="270" y="467"/>
                </a:cxn>
                <a:cxn ang="0">
                  <a:pos x="514" y="335"/>
                </a:cxn>
                <a:cxn ang="0">
                  <a:pos x="601" y="0"/>
                </a:cxn>
              </a:cxnLst>
              <a:rect l="0" t="0" r="r" b="b"/>
              <a:pathLst>
                <a:path w="601" h="492">
                  <a:moveTo>
                    <a:pt x="0" y="484"/>
                  </a:moveTo>
                  <a:cubicBezTo>
                    <a:pt x="92" y="488"/>
                    <a:pt x="184" y="492"/>
                    <a:pt x="270" y="467"/>
                  </a:cubicBezTo>
                  <a:cubicBezTo>
                    <a:pt x="356" y="442"/>
                    <a:pt x="459" y="413"/>
                    <a:pt x="514" y="335"/>
                  </a:cubicBezTo>
                  <a:cubicBezTo>
                    <a:pt x="569" y="257"/>
                    <a:pt x="585" y="128"/>
                    <a:pt x="601" y="0"/>
                  </a:cubicBezTo>
                </a:path>
              </a:pathLst>
            </a:custGeom>
            <a:noFill/>
            <a:ln w="19050">
              <a:solidFill>
                <a:srgbClr val="006600"/>
              </a:solidFill>
              <a:prstDash val="dash"/>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06" name="Text Box 6"/>
            <p:cNvSpPr txBox="1">
              <a:spLocks noChangeArrowheads="1"/>
            </p:cNvSpPr>
            <p:nvPr/>
          </p:nvSpPr>
          <p:spPr bwMode="auto">
            <a:xfrm>
              <a:off x="8730979" y="4169505"/>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6600"/>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6600"/>
                </a:solidFill>
                <a:effectLst/>
                <a:latin typeface="Consolas" pitchFamily="49" charset="0"/>
                <a:ea typeface="仿宋" pitchFamily="49" charset="-122"/>
                <a:cs typeface="宋体" pitchFamily="2" charset="-122"/>
              </a:endParaRPr>
            </a:p>
          </p:txBody>
        </p:sp>
        <p:sp>
          <p:nvSpPr>
            <p:cNvPr id="107" name="Freeform 5"/>
            <p:cNvSpPr>
              <a:spLocks/>
            </p:cNvSpPr>
            <p:nvPr/>
          </p:nvSpPr>
          <p:spPr bwMode="auto">
            <a:xfrm>
              <a:off x="8008056" y="2583308"/>
              <a:ext cx="807045" cy="770101"/>
            </a:xfrm>
            <a:custGeom>
              <a:avLst/>
              <a:gdLst/>
              <a:ahLst/>
              <a:cxnLst>
                <a:cxn ang="0">
                  <a:pos x="601" y="586"/>
                </a:cxn>
                <a:cxn ang="0">
                  <a:pos x="514" y="194"/>
                </a:cxn>
                <a:cxn ang="0">
                  <a:pos x="0" y="0"/>
                </a:cxn>
              </a:cxnLst>
              <a:rect l="0" t="0" r="r" b="b"/>
              <a:pathLst>
                <a:path w="614" h="586">
                  <a:moveTo>
                    <a:pt x="601" y="586"/>
                  </a:moveTo>
                  <a:cubicBezTo>
                    <a:pt x="607" y="439"/>
                    <a:pt x="614" y="292"/>
                    <a:pt x="514" y="194"/>
                  </a:cubicBezTo>
                  <a:cubicBezTo>
                    <a:pt x="414" y="96"/>
                    <a:pt x="207" y="48"/>
                    <a:pt x="0" y="0"/>
                  </a:cubicBezTo>
                </a:path>
              </a:pathLst>
            </a:custGeom>
            <a:noFill/>
            <a:ln w="19050">
              <a:solidFill>
                <a:srgbClr val="006600"/>
              </a:solidFill>
              <a:prstDash val="dash"/>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08" name="Text Box 4"/>
            <p:cNvSpPr txBox="1">
              <a:spLocks noChangeArrowheads="1"/>
            </p:cNvSpPr>
            <p:nvPr/>
          </p:nvSpPr>
          <p:spPr bwMode="auto">
            <a:xfrm>
              <a:off x="8725721" y="2581994"/>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6600"/>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6600"/>
                </a:solidFill>
                <a:effectLst/>
                <a:latin typeface="Consolas" pitchFamily="49" charset="0"/>
                <a:ea typeface="仿宋" pitchFamily="49" charset="-122"/>
                <a:cs typeface="宋体" pitchFamily="2" charset="-122"/>
              </a:endParaRPr>
            </a:p>
          </p:txBody>
        </p:sp>
        <p:sp>
          <p:nvSpPr>
            <p:cNvPr id="109" name="Freeform 3"/>
            <p:cNvSpPr>
              <a:spLocks/>
            </p:cNvSpPr>
            <p:nvPr/>
          </p:nvSpPr>
          <p:spPr bwMode="auto">
            <a:xfrm>
              <a:off x="7508581" y="1851319"/>
              <a:ext cx="151157" cy="592688"/>
            </a:xfrm>
            <a:custGeom>
              <a:avLst/>
              <a:gdLst/>
              <a:ahLst/>
              <a:cxnLst>
                <a:cxn ang="0">
                  <a:pos x="115" y="451"/>
                </a:cxn>
                <a:cxn ang="0">
                  <a:pos x="18" y="321"/>
                </a:cxn>
                <a:cxn ang="0">
                  <a:pos x="9" y="168"/>
                </a:cxn>
                <a:cxn ang="0">
                  <a:pos x="67" y="0"/>
                </a:cxn>
              </a:cxnLst>
              <a:rect l="0" t="0" r="r" b="b"/>
              <a:pathLst>
                <a:path w="115" h="451">
                  <a:moveTo>
                    <a:pt x="115" y="451"/>
                  </a:moveTo>
                  <a:cubicBezTo>
                    <a:pt x="99" y="431"/>
                    <a:pt x="36" y="368"/>
                    <a:pt x="18" y="321"/>
                  </a:cubicBezTo>
                  <a:cubicBezTo>
                    <a:pt x="0" y="274"/>
                    <a:pt x="1" y="221"/>
                    <a:pt x="9" y="168"/>
                  </a:cubicBezTo>
                  <a:cubicBezTo>
                    <a:pt x="17" y="115"/>
                    <a:pt x="55" y="35"/>
                    <a:pt x="67" y="0"/>
                  </a:cubicBezTo>
                </a:path>
              </a:pathLst>
            </a:custGeom>
            <a:noFill/>
            <a:ln w="19050">
              <a:solidFill>
                <a:srgbClr val="006600"/>
              </a:solidFill>
              <a:prstDash val="dash"/>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10" name="Text Box 2"/>
            <p:cNvSpPr txBox="1">
              <a:spLocks noChangeArrowheads="1"/>
            </p:cNvSpPr>
            <p:nvPr/>
          </p:nvSpPr>
          <p:spPr bwMode="auto">
            <a:xfrm>
              <a:off x="7306163" y="2068156"/>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6600"/>
                  </a:solidFill>
                  <a:effectLst/>
                  <a:latin typeface="Consolas" pitchFamily="49" charset="0"/>
                  <a:ea typeface="仿宋" pitchFamily="49" charset="-122"/>
                  <a:cs typeface="Times New Roman" pitchFamily="18" charset="0"/>
                </a:rPr>
                <a:t>4</a:t>
              </a:r>
              <a:endParaRPr kumimoji="0" lang="en-US" altLang="zh-CN" sz="2000" b="0" i="0" u="none" strike="noStrike" cap="none" normalizeH="0" baseline="0">
                <a:ln>
                  <a:noFill/>
                </a:ln>
                <a:solidFill>
                  <a:srgbClr val="006600"/>
                </a:solidFill>
                <a:effectLst/>
                <a:latin typeface="Consolas" pitchFamily="49" charset="0"/>
                <a:ea typeface="仿宋" pitchFamily="49" charset="-122"/>
                <a:cs typeface="宋体" pitchFamily="2" charset="-122"/>
              </a:endParaRPr>
            </a:p>
          </p:txBody>
        </p:sp>
        <p:cxnSp>
          <p:nvCxnSpPr>
            <p:cNvPr id="112" name="直接箭头连接符 111"/>
            <p:cNvCxnSpPr>
              <a:stCxn id="94" idx="0"/>
              <a:endCxn id="96" idx="4"/>
            </p:cNvCxnSpPr>
            <p:nvPr/>
          </p:nvCxnSpPr>
          <p:spPr>
            <a:xfrm rot="5400000" flipH="1" flipV="1">
              <a:off x="7547403" y="3099775"/>
              <a:ext cx="507268" cy="1588"/>
            </a:xfrm>
            <a:prstGeom prst="straightConnector1">
              <a:avLst/>
            </a:prstGeom>
            <a:ln w="19050">
              <a:solidFill>
                <a:srgbClr val="006600"/>
              </a:solidFill>
              <a:prstDash val="dash"/>
              <a:tailEnd type="arrow"/>
            </a:ln>
          </p:spPr>
          <p:style>
            <a:lnRef idx="2">
              <a:schemeClr val="dk1"/>
            </a:lnRef>
            <a:fillRef idx="0">
              <a:schemeClr val="dk1"/>
            </a:fillRef>
            <a:effectRef idx="1">
              <a:schemeClr val="dk1"/>
            </a:effectRef>
            <a:fontRef idx="minor">
              <a:schemeClr val="tx1"/>
            </a:fontRef>
          </p:style>
        </p:cxnSp>
        <p:sp>
          <p:nvSpPr>
            <p:cNvPr id="113" name="任意多边形 112"/>
            <p:cNvSpPr/>
            <p:nvPr/>
          </p:nvSpPr>
          <p:spPr>
            <a:xfrm>
              <a:off x="7900650" y="3793067"/>
              <a:ext cx="105363" cy="519289"/>
            </a:xfrm>
            <a:custGeom>
              <a:avLst/>
              <a:gdLst>
                <a:gd name="connsiteX0" fmla="*/ 0 w 105363"/>
                <a:gd name="connsiteY0" fmla="*/ 519289 h 519289"/>
                <a:gd name="connsiteX1" fmla="*/ 101600 w 105363"/>
                <a:gd name="connsiteY1" fmla="*/ 327377 h 519289"/>
                <a:gd name="connsiteX2" fmla="*/ 22578 w 105363"/>
                <a:gd name="connsiteY2" fmla="*/ 0 h 519289"/>
              </a:gdLst>
              <a:ahLst/>
              <a:cxnLst>
                <a:cxn ang="0">
                  <a:pos x="connsiteX0" y="connsiteY0"/>
                </a:cxn>
                <a:cxn ang="0">
                  <a:pos x="connsiteX1" y="connsiteY1"/>
                </a:cxn>
                <a:cxn ang="0">
                  <a:pos x="connsiteX2" y="connsiteY2"/>
                </a:cxn>
              </a:cxnLst>
              <a:rect l="l" t="t" r="r" b="b"/>
              <a:pathLst>
                <a:path w="105363" h="519289">
                  <a:moveTo>
                    <a:pt x="0" y="519289"/>
                  </a:moveTo>
                  <a:cubicBezTo>
                    <a:pt x="48918" y="466607"/>
                    <a:pt x="97837" y="413925"/>
                    <a:pt x="101600" y="327377"/>
                  </a:cubicBezTo>
                  <a:cubicBezTo>
                    <a:pt x="105363" y="240829"/>
                    <a:pt x="63970" y="120414"/>
                    <a:pt x="22578" y="0"/>
                  </a:cubicBezTo>
                </a:path>
              </a:pathLst>
            </a:custGeom>
            <a:ln w="19050">
              <a:solidFill>
                <a:srgbClr val="006600"/>
              </a:solidFill>
              <a:prstDash val="dash"/>
              <a:headEnd type="none" w="med" len="med"/>
              <a:tailEnd type="arrow" w="med" len="med"/>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114" name="Text Box 27"/>
            <p:cNvSpPr txBox="1">
              <a:spLocks noChangeArrowheads="1"/>
            </p:cNvSpPr>
            <p:nvPr/>
          </p:nvSpPr>
          <p:spPr bwMode="auto">
            <a:xfrm>
              <a:off x="8069109" y="3906488"/>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6600"/>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6600"/>
                </a:solidFill>
                <a:effectLst/>
                <a:latin typeface="Consolas" pitchFamily="49" charset="0"/>
                <a:ea typeface="仿宋" pitchFamily="49" charset="-122"/>
                <a:cs typeface="宋体" pitchFamily="2" charset="-122"/>
              </a:endParaRPr>
            </a:p>
          </p:txBody>
        </p:sp>
      </p:grpSp>
      <p:grpSp>
        <p:nvGrpSpPr>
          <p:cNvPr id="100" name="组合 114"/>
          <p:cNvGrpSpPr/>
          <p:nvPr/>
        </p:nvGrpSpPr>
        <p:grpSpPr>
          <a:xfrm>
            <a:off x="3357554" y="1500174"/>
            <a:ext cx="2354101" cy="3113257"/>
            <a:chOff x="6643702" y="1601627"/>
            <a:chExt cx="2354101" cy="3113257"/>
          </a:xfrm>
        </p:grpSpPr>
        <p:sp>
          <p:nvSpPr>
            <p:cNvPr id="111" name="Text Box 28"/>
            <p:cNvSpPr txBox="1">
              <a:spLocks noChangeArrowheads="1"/>
            </p:cNvSpPr>
            <p:nvPr/>
          </p:nvSpPr>
          <p:spPr bwMode="auto">
            <a:xfrm>
              <a:off x="7633450" y="3869876"/>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15" name="Text Box 27"/>
            <p:cNvSpPr txBox="1">
              <a:spLocks noChangeArrowheads="1"/>
            </p:cNvSpPr>
            <p:nvPr/>
          </p:nvSpPr>
          <p:spPr bwMode="auto">
            <a:xfrm>
              <a:off x="7596647" y="2978872"/>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6600"/>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6600"/>
                </a:solidFill>
                <a:effectLst/>
                <a:latin typeface="Consolas" pitchFamily="49" charset="0"/>
                <a:ea typeface="仿宋" pitchFamily="49" charset="-122"/>
                <a:cs typeface="宋体" pitchFamily="2" charset="-122"/>
              </a:endParaRPr>
            </a:p>
          </p:txBody>
        </p:sp>
        <p:sp>
          <p:nvSpPr>
            <p:cNvPr id="116" name="Text Box 26"/>
            <p:cNvSpPr txBox="1">
              <a:spLocks noChangeArrowheads="1"/>
            </p:cNvSpPr>
            <p:nvPr/>
          </p:nvSpPr>
          <p:spPr bwMode="auto">
            <a:xfrm>
              <a:off x="7901589" y="2052386"/>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0000FF"/>
                  </a:solidFill>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37" name="Text Box 25"/>
            <p:cNvSpPr txBox="1">
              <a:spLocks noChangeArrowheads="1"/>
            </p:cNvSpPr>
            <p:nvPr/>
          </p:nvSpPr>
          <p:spPr bwMode="auto">
            <a:xfrm>
              <a:off x="8362945" y="2846141"/>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48" name="Text Box 24"/>
            <p:cNvSpPr txBox="1">
              <a:spLocks noChangeArrowheads="1"/>
            </p:cNvSpPr>
            <p:nvPr/>
          </p:nvSpPr>
          <p:spPr bwMode="auto">
            <a:xfrm>
              <a:off x="7101115" y="3940841"/>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49" name="Text Box 23"/>
            <p:cNvSpPr txBox="1">
              <a:spLocks noChangeArrowheads="1"/>
            </p:cNvSpPr>
            <p:nvPr/>
          </p:nvSpPr>
          <p:spPr bwMode="auto">
            <a:xfrm>
              <a:off x="7160264" y="2846141"/>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50" name="Text Box 22"/>
            <p:cNvSpPr txBox="1">
              <a:spLocks noChangeArrowheads="1"/>
            </p:cNvSpPr>
            <p:nvPr/>
          </p:nvSpPr>
          <p:spPr bwMode="auto">
            <a:xfrm>
              <a:off x="8217046" y="3278502"/>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51" name="Oval 21"/>
            <p:cNvSpPr>
              <a:spLocks noChangeArrowheads="1"/>
            </p:cNvSpPr>
            <p:nvPr/>
          </p:nvSpPr>
          <p:spPr bwMode="auto">
            <a:xfrm>
              <a:off x="7596647" y="1601627"/>
              <a:ext cx="411409" cy="448130"/>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0</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52" name="Oval 20"/>
            <p:cNvSpPr>
              <a:spLocks noChangeArrowheads="1"/>
            </p:cNvSpPr>
            <p:nvPr/>
          </p:nvSpPr>
          <p:spPr bwMode="auto">
            <a:xfrm>
              <a:off x="6643702" y="3353409"/>
              <a:ext cx="410095" cy="44681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53" name="Oval 19"/>
            <p:cNvSpPr>
              <a:spLocks noChangeArrowheads="1"/>
            </p:cNvSpPr>
            <p:nvPr/>
          </p:nvSpPr>
          <p:spPr bwMode="auto">
            <a:xfrm>
              <a:off x="7596647" y="3353409"/>
              <a:ext cx="408780" cy="44681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54" name="Oval 18"/>
            <p:cNvSpPr>
              <a:spLocks noChangeArrowheads="1"/>
            </p:cNvSpPr>
            <p:nvPr/>
          </p:nvSpPr>
          <p:spPr bwMode="auto">
            <a:xfrm>
              <a:off x="8589023" y="3353409"/>
              <a:ext cx="408780" cy="44681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55" name="Oval 17"/>
            <p:cNvSpPr>
              <a:spLocks noChangeArrowheads="1"/>
            </p:cNvSpPr>
            <p:nvPr/>
          </p:nvSpPr>
          <p:spPr bwMode="auto">
            <a:xfrm>
              <a:off x="7596647" y="2399325"/>
              <a:ext cx="408780" cy="44681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56" name="Oval 16"/>
            <p:cNvSpPr>
              <a:spLocks noChangeArrowheads="1"/>
            </p:cNvSpPr>
            <p:nvPr/>
          </p:nvSpPr>
          <p:spPr bwMode="auto">
            <a:xfrm>
              <a:off x="7596647" y="4268068"/>
              <a:ext cx="408780" cy="446816"/>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5</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57" name="AutoShape 15"/>
            <p:cNvSpPr>
              <a:spLocks noChangeShapeType="1"/>
            </p:cNvSpPr>
            <p:nvPr/>
          </p:nvSpPr>
          <p:spPr bwMode="auto">
            <a:xfrm flipH="1">
              <a:off x="7801694" y="2049758"/>
              <a:ext cx="1314" cy="349568"/>
            </a:xfrm>
            <a:prstGeom prst="straightConnector1">
              <a:avLst/>
            </a:prstGeom>
            <a:noFill/>
            <a:ln w="19050">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58" name="AutoShape 14"/>
            <p:cNvSpPr>
              <a:spLocks noChangeShapeType="1"/>
            </p:cNvSpPr>
            <p:nvPr/>
          </p:nvSpPr>
          <p:spPr bwMode="auto">
            <a:xfrm flipH="1">
              <a:off x="6993334" y="2780433"/>
              <a:ext cx="663775" cy="638684"/>
            </a:xfrm>
            <a:prstGeom prst="straightConnector1">
              <a:avLst/>
            </a:prstGeom>
            <a:noFill/>
            <a:ln w="19050">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59" name="AutoShape 12"/>
            <p:cNvSpPr>
              <a:spLocks noChangeShapeType="1"/>
            </p:cNvSpPr>
            <p:nvPr/>
          </p:nvSpPr>
          <p:spPr bwMode="auto">
            <a:xfrm>
              <a:off x="7944964" y="2780433"/>
              <a:ext cx="704522" cy="638684"/>
            </a:xfrm>
            <a:prstGeom prst="straightConnector1">
              <a:avLst/>
            </a:prstGeom>
            <a:noFill/>
            <a:ln w="19050">
              <a:solidFill>
                <a:schemeClr val="tx1"/>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60" name="AutoShape 11"/>
            <p:cNvSpPr>
              <a:spLocks noChangeShapeType="1"/>
            </p:cNvSpPr>
            <p:nvPr/>
          </p:nvSpPr>
          <p:spPr bwMode="auto">
            <a:xfrm>
              <a:off x="6993334" y="3734517"/>
              <a:ext cx="663775" cy="599259"/>
            </a:xfrm>
            <a:prstGeom prst="straightConnector1">
              <a:avLst/>
            </a:prstGeom>
            <a:noFill/>
            <a:ln w="19050">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61" name="AutoShape 10"/>
            <p:cNvSpPr>
              <a:spLocks noChangeShapeType="1"/>
            </p:cNvSpPr>
            <p:nvPr/>
          </p:nvSpPr>
          <p:spPr bwMode="auto">
            <a:xfrm>
              <a:off x="7801694" y="3800225"/>
              <a:ext cx="1314" cy="467843"/>
            </a:xfrm>
            <a:prstGeom prst="straightConnector1">
              <a:avLst/>
            </a:prstGeom>
            <a:noFill/>
            <a:ln w="19050">
              <a:solidFill>
                <a:schemeClr val="tx1"/>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62" name="AutoShape 9"/>
            <p:cNvSpPr>
              <a:spLocks noChangeShapeType="1"/>
            </p:cNvSpPr>
            <p:nvPr/>
          </p:nvSpPr>
          <p:spPr bwMode="auto">
            <a:xfrm flipH="1">
              <a:off x="8005427" y="3576817"/>
              <a:ext cx="583596" cy="131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63" name="Freeform 7"/>
            <p:cNvSpPr>
              <a:spLocks/>
            </p:cNvSpPr>
            <p:nvPr/>
          </p:nvSpPr>
          <p:spPr bwMode="auto">
            <a:xfrm>
              <a:off x="8008056" y="3792340"/>
              <a:ext cx="789958" cy="646569"/>
            </a:xfrm>
            <a:custGeom>
              <a:avLst/>
              <a:gdLst/>
              <a:ahLst/>
              <a:cxnLst>
                <a:cxn ang="0">
                  <a:pos x="0" y="484"/>
                </a:cxn>
                <a:cxn ang="0">
                  <a:pos x="270" y="467"/>
                </a:cxn>
                <a:cxn ang="0">
                  <a:pos x="514" y="335"/>
                </a:cxn>
                <a:cxn ang="0">
                  <a:pos x="601" y="0"/>
                </a:cxn>
              </a:cxnLst>
              <a:rect l="0" t="0" r="r" b="b"/>
              <a:pathLst>
                <a:path w="601" h="492">
                  <a:moveTo>
                    <a:pt x="0" y="484"/>
                  </a:moveTo>
                  <a:cubicBezTo>
                    <a:pt x="92" y="488"/>
                    <a:pt x="184" y="492"/>
                    <a:pt x="270" y="467"/>
                  </a:cubicBezTo>
                  <a:cubicBezTo>
                    <a:pt x="356" y="442"/>
                    <a:pt x="459" y="413"/>
                    <a:pt x="514" y="335"/>
                  </a:cubicBezTo>
                  <a:cubicBezTo>
                    <a:pt x="569" y="257"/>
                    <a:pt x="585" y="128"/>
                    <a:pt x="601" y="0"/>
                  </a:cubicBezTo>
                </a:path>
              </a:pathLst>
            </a:custGeom>
            <a:noFill/>
            <a:ln w="19050">
              <a:solidFill>
                <a:srgbClr val="006600"/>
              </a:solidFill>
              <a:prstDash val="dash"/>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64" name="Text Box 6"/>
            <p:cNvSpPr txBox="1">
              <a:spLocks noChangeArrowheads="1"/>
            </p:cNvSpPr>
            <p:nvPr/>
          </p:nvSpPr>
          <p:spPr bwMode="auto">
            <a:xfrm>
              <a:off x="8730979" y="4169505"/>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6600"/>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6600"/>
                </a:solidFill>
                <a:effectLst/>
                <a:latin typeface="Consolas" pitchFamily="49" charset="0"/>
                <a:ea typeface="仿宋" pitchFamily="49" charset="-122"/>
                <a:cs typeface="宋体" pitchFamily="2" charset="-122"/>
              </a:endParaRPr>
            </a:p>
          </p:txBody>
        </p:sp>
        <p:sp>
          <p:nvSpPr>
            <p:cNvPr id="165" name="Freeform 5"/>
            <p:cNvSpPr>
              <a:spLocks/>
            </p:cNvSpPr>
            <p:nvPr/>
          </p:nvSpPr>
          <p:spPr bwMode="auto">
            <a:xfrm>
              <a:off x="8008056" y="2583308"/>
              <a:ext cx="807045" cy="770101"/>
            </a:xfrm>
            <a:custGeom>
              <a:avLst/>
              <a:gdLst/>
              <a:ahLst/>
              <a:cxnLst>
                <a:cxn ang="0">
                  <a:pos x="601" y="586"/>
                </a:cxn>
                <a:cxn ang="0">
                  <a:pos x="514" y="194"/>
                </a:cxn>
                <a:cxn ang="0">
                  <a:pos x="0" y="0"/>
                </a:cxn>
              </a:cxnLst>
              <a:rect l="0" t="0" r="r" b="b"/>
              <a:pathLst>
                <a:path w="614" h="586">
                  <a:moveTo>
                    <a:pt x="601" y="586"/>
                  </a:moveTo>
                  <a:cubicBezTo>
                    <a:pt x="607" y="439"/>
                    <a:pt x="614" y="292"/>
                    <a:pt x="514" y="194"/>
                  </a:cubicBezTo>
                  <a:cubicBezTo>
                    <a:pt x="414" y="96"/>
                    <a:pt x="207" y="48"/>
                    <a:pt x="0" y="0"/>
                  </a:cubicBezTo>
                </a:path>
              </a:pathLst>
            </a:custGeom>
            <a:noFill/>
            <a:ln w="19050">
              <a:solidFill>
                <a:srgbClr val="006600"/>
              </a:solidFill>
              <a:prstDash val="dash"/>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66" name="Text Box 4"/>
            <p:cNvSpPr txBox="1">
              <a:spLocks noChangeArrowheads="1"/>
            </p:cNvSpPr>
            <p:nvPr/>
          </p:nvSpPr>
          <p:spPr bwMode="auto">
            <a:xfrm>
              <a:off x="8725721" y="2581994"/>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6600"/>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6600"/>
                </a:solidFill>
                <a:effectLst/>
                <a:latin typeface="Consolas" pitchFamily="49" charset="0"/>
                <a:ea typeface="仿宋" pitchFamily="49" charset="-122"/>
                <a:cs typeface="宋体" pitchFamily="2" charset="-122"/>
              </a:endParaRPr>
            </a:p>
          </p:txBody>
        </p:sp>
        <p:sp>
          <p:nvSpPr>
            <p:cNvPr id="167" name="Freeform 3"/>
            <p:cNvSpPr>
              <a:spLocks/>
            </p:cNvSpPr>
            <p:nvPr/>
          </p:nvSpPr>
          <p:spPr bwMode="auto">
            <a:xfrm>
              <a:off x="7508581" y="1851319"/>
              <a:ext cx="151157" cy="592688"/>
            </a:xfrm>
            <a:custGeom>
              <a:avLst/>
              <a:gdLst/>
              <a:ahLst/>
              <a:cxnLst>
                <a:cxn ang="0">
                  <a:pos x="115" y="451"/>
                </a:cxn>
                <a:cxn ang="0">
                  <a:pos x="18" y="321"/>
                </a:cxn>
                <a:cxn ang="0">
                  <a:pos x="9" y="168"/>
                </a:cxn>
                <a:cxn ang="0">
                  <a:pos x="67" y="0"/>
                </a:cxn>
              </a:cxnLst>
              <a:rect l="0" t="0" r="r" b="b"/>
              <a:pathLst>
                <a:path w="115" h="451">
                  <a:moveTo>
                    <a:pt x="115" y="451"/>
                  </a:moveTo>
                  <a:cubicBezTo>
                    <a:pt x="99" y="431"/>
                    <a:pt x="36" y="368"/>
                    <a:pt x="18" y="321"/>
                  </a:cubicBezTo>
                  <a:cubicBezTo>
                    <a:pt x="0" y="274"/>
                    <a:pt x="1" y="221"/>
                    <a:pt x="9" y="168"/>
                  </a:cubicBezTo>
                  <a:cubicBezTo>
                    <a:pt x="17" y="115"/>
                    <a:pt x="55" y="35"/>
                    <a:pt x="67" y="0"/>
                  </a:cubicBezTo>
                </a:path>
              </a:pathLst>
            </a:custGeom>
            <a:noFill/>
            <a:ln w="19050">
              <a:solidFill>
                <a:srgbClr val="006600"/>
              </a:solidFill>
              <a:prstDash val="dash"/>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68" name="Text Box 2"/>
            <p:cNvSpPr txBox="1">
              <a:spLocks noChangeArrowheads="1"/>
            </p:cNvSpPr>
            <p:nvPr/>
          </p:nvSpPr>
          <p:spPr bwMode="auto">
            <a:xfrm>
              <a:off x="7306163" y="2068156"/>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6600"/>
                  </a:solidFill>
                  <a:effectLst/>
                  <a:latin typeface="Consolas" pitchFamily="49" charset="0"/>
                  <a:ea typeface="仿宋" pitchFamily="49" charset="-122"/>
                  <a:cs typeface="Times New Roman" pitchFamily="18" charset="0"/>
                </a:rPr>
                <a:t>4</a:t>
              </a:r>
              <a:endParaRPr kumimoji="0" lang="en-US" altLang="zh-CN" sz="2000" b="0" i="0" u="none" strike="noStrike" cap="none" normalizeH="0" baseline="0">
                <a:ln>
                  <a:noFill/>
                </a:ln>
                <a:solidFill>
                  <a:srgbClr val="006600"/>
                </a:solidFill>
                <a:effectLst/>
                <a:latin typeface="Consolas" pitchFamily="49" charset="0"/>
                <a:ea typeface="仿宋" pitchFamily="49" charset="-122"/>
                <a:cs typeface="宋体" pitchFamily="2" charset="-122"/>
              </a:endParaRPr>
            </a:p>
          </p:txBody>
        </p:sp>
        <p:cxnSp>
          <p:nvCxnSpPr>
            <p:cNvPr id="169" name="直接箭头连接符 168"/>
            <p:cNvCxnSpPr>
              <a:stCxn id="153" idx="0"/>
              <a:endCxn id="155" idx="4"/>
            </p:cNvCxnSpPr>
            <p:nvPr/>
          </p:nvCxnSpPr>
          <p:spPr>
            <a:xfrm rot="5400000" flipH="1" flipV="1">
              <a:off x="7547403" y="3099775"/>
              <a:ext cx="507268" cy="1588"/>
            </a:xfrm>
            <a:prstGeom prst="straightConnector1">
              <a:avLst/>
            </a:prstGeom>
            <a:ln w="19050">
              <a:solidFill>
                <a:srgbClr val="006600"/>
              </a:solidFill>
              <a:prstDash val="dash"/>
              <a:tailEnd type="arrow"/>
            </a:ln>
          </p:spPr>
          <p:style>
            <a:lnRef idx="2">
              <a:schemeClr val="dk1"/>
            </a:lnRef>
            <a:fillRef idx="0">
              <a:schemeClr val="dk1"/>
            </a:fillRef>
            <a:effectRef idx="1">
              <a:schemeClr val="dk1"/>
            </a:effectRef>
            <a:fontRef idx="minor">
              <a:schemeClr val="tx1"/>
            </a:fontRef>
          </p:style>
        </p:cxnSp>
        <p:sp>
          <p:nvSpPr>
            <p:cNvPr id="170" name="任意多边形 169"/>
            <p:cNvSpPr/>
            <p:nvPr/>
          </p:nvSpPr>
          <p:spPr>
            <a:xfrm>
              <a:off x="7900650" y="3793067"/>
              <a:ext cx="105363" cy="519289"/>
            </a:xfrm>
            <a:custGeom>
              <a:avLst/>
              <a:gdLst>
                <a:gd name="connsiteX0" fmla="*/ 0 w 105363"/>
                <a:gd name="connsiteY0" fmla="*/ 519289 h 519289"/>
                <a:gd name="connsiteX1" fmla="*/ 101600 w 105363"/>
                <a:gd name="connsiteY1" fmla="*/ 327377 h 519289"/>
                <a:gd name="connsiteX2" fmla="*/ 22578 w 105363"/>
                <a:gd name="connsiteY2" fmla="*/ 0 h 519289"/>
              </a:gdLst>
              <a:ahLst/>
              <a:cxnLst>
                <a:cxn ang="0">
                  <a:pos x="connsiteX0" y="connsiteY0"/>
                </a:cxn>
                <a:cxn ang="0">
                  <a:pos x="connsiteX1" y="connsiteY1"/>
                </a:cxn>
                <a:cxn ang="0">
                  <a:pos x="connsiteX2" y="connsiteY2"/>
                </a:cxn>
              </a:cxnLst>
              <a:rect l="l" t="t" r="r" b="b"/>
              <a:pathLst>
                <a:path w="105363" h="519289">
                  <a:moveTo>
                    <a:pt x="0" y="519289"/>
                  </a:moveTo>
                  <a:cubicBezTo>
                    <a:pt x="48918" y="466607"/>
                    <a:pt x="97837" y="413925"/>
                    <a:pt x="101600" y="327377"/>
                  </a:cubicBezTo>
                  <a:cubicBezTo>
                    <a:pt x="105363" y="240829"/>
                    <a:pt x="63970" y="120414"/>
                    <a:pt x="22578" y="0"/>
                  </a:cubicBezTo>
                </a:path>
              </a:pathLst>
            </a:custGeom>
            <a:ln w="19050">
              <a:solidFill>
                <a:srgbClr val="006600"/>
              </a:solidFill>
              <a:prstDash val="dash"/>
              <a:headEnd type="none" w="med" len="med"/>
              <a:tailEnd type="arrow" w="med" len="med"/>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171" name="Text Box 27"/>
            <p:cNvSpPr txBox="1">
              <a:spLocks noChangeArrowheads="1"/>
            </p:cNvSpPr>
            <p:nvPr/>
          </p:nvSpPr>
          <p:spPr bwMode="auto">
            <a:xfrm>
              <a:off x="8069109" y="3906488"/>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6600"/>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6600"/>
                </a:solidFill>
                <a:effectLst/>
                <a:latin typeface="Consolas" pitchFamily="49" charset="0"/>
                <a:ea typeface="仿宋" pitchFamily="49" charset="-122"/>
                <a:cs typeface="宋体" pitchFamily="2" charset="-122"/>
              </a:endParaRPr>
            </a:p>
          </p:txBody>
        </p:sp>
      </p:grpSp>
      <p:grpSp>
        <p:nvGrpSpPr>
          <p:cNvPr id="205" name="组合 204"/>
          <p:cNvGrpSpPr/>
          <p:nvPr/>
        </p:nvGrpSpPr>
        <p:grpSpPr>
          <a:xfrm>
            <a:off x="6718493" y="1500174"/>
            <a:ext cx="2354101" cy="3214710"/>
            <a:chOff x="6718493" y="1500174"/>
            <a:chExt cx="2354101" cy="3214710"/>
          </a:xfrm>
        </p:grpSpPr>
        <p:sp>
          <p:nvSpPr>
            <p:cNvPr id="173" name="Text Box 28"/>
            <p:cNvSpPr txBox="1">
              <a:spLocks noChangeArrowheads="1"/>
            </p:cNvSpPr>
            <p:nvPr/>
          </p:nvSpPr>
          <p:spPr bwMode="auto">
            <a:xfrm>
              <a:off x="7708241" y="3768423"/>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74" name="Text Box 27"/>
            <p:cNvSpPr txBox="1">
              <a:spLocks noChangeArrowheads="1"/>
            </p:cNvSpPr>
            <p:nvPr/>
          </p:nvSpPr>
          <p:spPr bwMode="auto">
            <a:xfrm>
              <a:off x="7671438" y="2877419"/>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6600"/>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6600"/>
                </a:solidFill>
                <a:effectLst/>
                <a:latin typeface="Consolas" pitchFamily="49" charset="0"/>
                <a:ea typeface="仿宋" pitchFamily="49" charset="-122"/>
                <a:cs typeface="宋体" pitchFamily="2" charset="-122"/>
              </a:endParaRPr>
            </a:p>
          </p:txBody>
        </p:sp>
        <p:sp>
          <p:nvSpPr>
            <p:cNvPr id="176" name="Text Box 25"/>
            <p:cNvSpPr txBox="1">
              <a:spLocks noChangeArrowheads="1"/>
            </p:cNvSpPr>
            <p:nvPr/>
          </p:nvSpPr>
          <p:spPr bwMode="auto">
            <a:xfrm>
              <a:off x="8437736" y="2744688"/>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77" name="Text Box 24"/>
            <p:cNvSpPr txBox="1">
              <a:spLocks noChangeArrowheads="1"/>
            </p:cNvSpPr>
            <p:nvPr/>
          </p:nvSpPr>
          <p:spPr bwMode="auto">
            <a:xfrm>
              <a:off x="7175906" y="3839388"/>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78" name="Text Box 23"/>
            <p:cNvSpPr txBox="1">
              <a:spLocks noChangeArrowheads="1"/>
            </p:cNvSpPr>
            <p:nvPr/>
          </p:nvSpPr>
          <p:spPr bwMode="auto">
            <a:xfrm>
              <a:off x="7235055" y="2744688"/>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6600"/>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6600"/>
                </a:solidFill>
                <a:effectLst/>
                <a:latin typeface="Consolas" pitchFamily="49" charset="0"/>
                <a:ea typeface="仿宋" pitchFamily="49" charset="-122"/>
                <a:cs typeface="宋体" pitchFamily="2" charset="-122"/>
              </a:endParaRPr>
            </a:p>
          </p:txBody>
        </p:sp>
        <p:sp>
          <p:nvSpPr>
            <p:cNvPr id="179" name="Text Box 22"/>
            <p:cNvSpPr txBox="1">
              <a:spLocks noChangeArrowheads="1"/>
            </p:cNvSpPr>
            <p:nvPr/>
          </p:nvSpPr>
          <p:spPr bwMode="auto">
            <a:xfrm>
              <a:off x="8291837" y="3177049"/>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80" name="Oval 21"/>
            <p:cNvSpPr>
              <a:spLocks noChangeArrowheads="1"/>
            </p:cNvSpPr>
            <p:nvPr/>
          </p:nvSpPr>
          <p:spPr bwMode="auto">
            <a:xfrm>
              <a:off x="7671438" y="1500174"/>
              <a:ext cx="411409" cy="448130"/>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0</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81" name="Oval 20"/>
            <p:cNvSpPr>
              <a:spLocks noChangeArrowheads="1"/>
            </p:cNvSpPr>
            <p:nvPr/>
          </p:nvSpPr>
          <p:spPr bwMode="auto">
            <a:xfrm>
              <a:off x="6718493" y="3251956"/>
              <a:ext cx="410095" cy="44681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82" name="Oval 19"/>
            <p:cNvSpPr>
              <a:spLocks noChangeArrowheads="1"/>
            </p:cNvSpPr>
            <p:nvPr/>
          </p:nvSpPr>
          <p:spPr bwMode="auto">
            <a:xfrm>
              <a:off x="7671438" y="3251956"/>
              <a:ext cx="408780" cy="44681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83" name="Oval 18"/>
            <p:cNvSpPr>
              <a:spLocks noChangeArrowheads="1"/>
            </p:cNvSpPr>
            <p:nvPr/>
          </p:nvSpPr>
          <p:spPr bwMode="auto">
            <a:xfrm>
              <a:off x="8663814" y="3251956"/>
              <a:ext cx="408780" cy="44681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84" name="Oval 17"/>
            <p:cNvSpPr>
              <a:spLocks noChangeArrowheads="1"/>
            </p:cNvSpPr>
            <p:nvPr/>
          </p:nvSpPr>
          <p:spPr bwMode="auto">
            <a:xfrm>
              <a:off x="7671438" y="2297872"/>
              <a:ext cx="408780" cy="44681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85" name="Oval 16"/>
            <p:cNvSpPr>
              <a:spLocks noChangeArrowheads="1"/>
            </p:cNvSpPr>
            <p:nvPr/>
          </p:nvSpPr>
          <p:spPr bwMode="auto">
            <a:xfrm>
              <a:off x="7671438" y="4166615"/>
              <a:ext cx="408780" cy="446816"/>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5</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88" name="AutoShape 12"/>
            <p:cNvSpPr>
              <a:spLocks noChangeShapeType="1"/>
            </p:cNvSpPr>
            <p:nvPr/>
          </p:nvSpPr>
          <p:spPr bwMode="auto">
            <a:xfrm>
              <a:off x="8019755" y="2678980"/>
              <a:ext cx="704522" cy="638684"/>
            </a:xfrm>
            <a:prstGeom prst="straightConnector1">
              <a:avLst/>
            </a:prstGeom>
            <a:noFill/>
            <a:ln w="19050">
              <a:solidFill>
                <a:schemeClr val="tx1"/>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89" name="AutoShape 11"/>
            <p:cNvSpPr>
              <a:spLocks noChangeShapeType="1"/>
            </p:cNvSpPr>
            <p:nvPr/>
          </p:nvSpPr>
          <p:spPr bwMode="auto">
            <a:xfrm>
              <a:off x="7068125" y="3633064"/>
              <a:ext cx="663775" cy="599259"/>
            </a:xfrm>
            <a:prstGeom prst="straightConnector1">
              <a:avLst/>
            </a:prstGeom>
            <a:noFill/>
            <a:ln w="19050">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90" name="AutoShape 10"/>
            <p:cNvSpPr>
              <a:spLocks noChangeShapeType="1"/>
            </p:cNvSpPr>
            <p:nvPr/>
          </p:nvSpPr>
          <p:spPr bwMode="auto">
            <a:xfrm>
              <a:off x="7876485" y="3698772"/>
              <a:ext cx="1314" cy="467843"/>
            </a:xfrm>
            <a:prstGeom prst="straightConnector1">
              <a:avLst/>
            </a:prstGeom>
            <a:noFill/>
            <a:ln w="19050">
              <a:solidFill>
                <a:schemeClr val="tx1"/>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91" name="AutoShape 9"/>
            <p:cNvSpPr>
              <a:spLocks noChangeShapeType="1"/>
            </p:cNvSpPr>
            <p:nvPr/>
          </p:nvSpPr>
          <p:spPr bwMode="auto">
            <a:xfrm flipH="1">
              <a:off x="8080218" y="3475364"/>
              <a:ext cx="583596" cy="131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92" name="Freeform 7"/>
            <p:cNvSpPr>
              <a:spLocks/>
            </p:cNvSpPr>
            <p:nvPr/>
          </p:nvSpPr>
          <p:spPr bwMode="auto">
            <a:xfrm>
              <a:off x="8082847" y="3690887"/>
              <a:ext cx="789958" cy="646569"/>
            </a:xfrm>
            <a:custGeom>
              <a:avLst/>
              <a:gdLst/>
              <a:ahLst/>
              <a:cxnLst>
                <a:cxn ang="0">
                  <a:pos x="0" y="484"/>
                </a:cxn>
                <a:cxn ang="0">
                  <a:pos x="270" y="467"/>
                </a:cxn>
                <a:cxn ang="0">
                  <a:pos x="514" y="335"/>
                </a:cxn>
                <a:cxn ang="0">
                  <a:pos x="601" y="0"/>
                </a:cxn>
              </a:cxnLst>
              <a:rect l="0" t="0" r="r" b="b"/>
              <a:pathLst>
                <a:path w="601" h="492">
                  <a:moveTo>
                    <a:pt x="0" y="484"/>
                  </a:moveTo>
                  <a:cubicBezTo>
                    <a:pt x="92" y="488"/>
                    <a:pt x="184" y="492"/>
                    <a:pt x="270" y="467"/>
                  </a:cubicBezTo>
                  <a:cubicBezTo>
                    <a:pt x="356" y="442"/>
                    <a:pt x="459" y="413"/>
                    <a:pt x="514" y="335"/>
                  </a:cubicBezTo>
                  <a:cubicBezTo>
                    <a:pt x="569" y="257"/>
                    <a:pt x="585" y="128"/>
                    <a:pt x="601" y="0"/>
                  </a:cubicBezTo>
                </a:path>
              </a:pathLst>
            </a:custGeom>
            <a:noFill/>
            <a:ln w="19050">
              <a:solidFill>
                <a:srgbClr val="006600"/>
              </a:solidFill>
              <a:prstDash val="dash"/>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93" name="Text Box 6"/>
            <p:cNvSpPr txBox="1">
              <a:spLocks noChangeArrowheads="1"/>
            </p:cNvSpPr>
            <p:nvPr/>
          </p:nvSpPr>
          <p:spPr bwMode="auto">
            <a:xfrm>
              <a:off x="8805770" y="4068052"/>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6600"/>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6600"/>
                </a:solidFill>
                <a:effectLst/>
                <a:latin typeface="Consolas" pitchFamily="49" charset="0"/>
                <a:ea typeface="仿宋" pitchFamily="49" charset="-122"/>
                <a:cs typeface="宋体" pitchFamily="2" charset="-122"/>
              </a:endParaRPr>
            </a:p>
          </p:txBody>
        </p:sp>
        <p:sp>
          <p:nvSpPr>
            <p:cNvPr id="194" name="Freeform 5"/>
            <p:cNvSpPr>
              <a:spLocks/>
            </p:cNvSpPr>
            <p:nvPr/>
          </p:nvSpPr>
          <p:spPr bwMode="auto">
            <a:xfrm>
              <a:off x="8082847" y="2481855"/>
              <a:ext cx="807045" cy="770101"/>
            </a:xfrm>
            <a:custGeom>
              <a:avLst/>
              <a:gdLst/>
              <a:ahLst/>
              <a:cxnLst>
                <a:cxn ang="0">
                  <a:pos x="601" y="586"/>
                </a:cxn>
                <a:cxn ang="0">
                  <a:pos x="514" y="194"/>
                </a:cxn>
                <a:cxn ang="0">
                  <a:pos x="0" y="0"/>
                </a:cxn>
              </a:cxnLst>
              <a:rect l="0" t="0" r="r" b="b"/>
              <a:pathLst>
                <a:path w="614" h="586">
                  <a:moveTo>
                    <a:pt x="601" y="586"/>
                  </a:moveTo>
                  <a:cubicBezTo>
                    <a:pt x="607" y="439"/>
                    <a:pt x="614" y="292"/>
                    <a:pt x="514" y="194"/>
                  </a:cubicBezTo>
                  <a:cubicBezTo>
                    <a:pt x="414" y="96"/>
                    <a:pt x="207" y="48"/>
                    <a:pt x="0" y="0"/>
                  </a:cubicBezTo>
                </a:path>
              </a:pathLst>
            </a:custGeom>
            <a:noFill/>
            <a:ln w="19050">
              <a:solidFill>
                <a:srgbClr val="006600"/>
              </a:solidFill>
              <a:prstDash val="dash"/>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95" name="Text Box 4"/>
            <p:cNvSpPr txBox="1">
              <a:spLocks noChangeArrowheads="1"/>
            </p:cNvSpPr>
            <p:nvPr/>
          </p:nvSpPr>
          <p:spPr bwMode="auto">
            <a:xfrm>
              <a:off x="8800512" y="2480541"/>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6600"/>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6600"/>
                </a:solidFill>
                <a:effectLst/>
                <a:latin typeface="Consolas" pitchFamily="49" charset="0"/>
                <a:ea typeface="仿宋" pitchFamily="49" charset="-122"/>
                <a:cs typeface="宋体" pitchFamily="2" charset="-122"/>
              </a:endParaRPr>
            </a:p>
          </p:txBody>
        </p:sp>
        <p:sp>
          <p:nvSpPr>
            <p:cNvPr id="196" name="Freeform 3"/>
            <p:cNvSpPr>
              <a:spLocks/>
            </p:cNvSpPr>
            <p:nvPr/>
          </p:nvSpPr>
          <p:spPr bwMode="auto">
            <a:xfrm>
              <a:off x="7583372" y="1749866"/>
              <a:ext cx="151157" cy="592688"/>
            </a:xfrm>
            <a:custGeom>
              <a:avLst/>
              <a:gdLst/>
              <a:ahLst/>
              <a:cxnLst>
                <a:cxn ang="0">
                  <a:pos x="115" y="451"/>
                </a:cxn>
                <a:cxn ang="0">
                  <a:pos x="18" y="321"/>
                </a:cxn>
                <a:cxn ang="0">
                  <a:pos x="9" y="168"/>
                </a:cxn>
                <a:cxn ang="0">
                  <a:pos x="67" y="0"/>
                </a:cxn>
              </a:cxnLst>
              <a:rect l="0" t="0" r="r" b="b"/>
              <a:pathLst>
                <a:path w="115" h="451">
                  <a:moveTo>
                    <a:pt x="115" y="451"/>
                  </a:moveTo>
                  <a:cubicBezTo>
                    <a:pt x="99" y="431"/>
                    <a:pt x="36" y="368"/>
                    <a:pt x="18" y="321"/>
                  </a:cubicBezTo>
                  <a:cubicBezTo>
                    <a:pt x="0" y="274"/>
                    <a:pt x="1" y="221"/>
                    <a:pt x="9" y="168"/>
                  </a:cubicBezTo>
                  <a:cubicBezTo>
                    <a:pt x="17" y="115"/>
                    <a:pt x="55" y="35"/>
                    <a:pt x="67" y="0"/>
                  </a:cubicBezTo>
                </a:path>
              </a:pathLst>
            </a:custGeom>
            <a:noFill/>
            <a:ln w="19050">
              <a:solidFill>
                <a:srgbClr val="006600"/>
              </a:solidFill>
              <a:prstDash val="dash"/>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97" name="Text Box 2"/>
            <p:cNvSpPr txBox="1">
              <a:spLocks noChangeArrowheads="1"/>
            </p:cNvSpPr>
            <p:nvPr/>
          </p:nvSpPr>
          <p:spPr bwMode="auto">
            <a:xfrm>
              <a:off x="7380954" y="1966703"/>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6600"/>
                  </a:solidFill>
                  <a:effectLst/>
                  <a:latin typeface="Consolas" pitchFamily="49" charset="0"/>
                  <a:ea typeface="仿宋" pitchFamily="49" charset="-122"/>
                  <a:cs typeface="Times New Roman" pitchFamily="18" charset="0"/>
                </a:rPr>
                <a:t>5</a:t>
              </a:r>
              <a:endParaRPr kumimoji="0" lang="en-US" altLang="zh-CN" sz="2000" b="0" i="0" u="none" strike="noStrike" cap="none" normalizeH="0" baseline="0">
                <a:ln>
                  <a:noFill/>
                </a:ln>
                <a:solidFill>
                  <a:srgbClr val="006600"/>
                </a:solidFill>
                <a:effectLst/>
                <a:latin typeface="Consolas" pitchFamily="49" charset="0"/>
                <a:ea typeface="仿宋" pitchFamily="49" charset="-122"/>
                <a:cs typeface="宋体" pitchFamily="2" charset="-122"/>
              </a:endParaRPr>
            </a:p>
          </p:txBody>
        </p:sp>
        <p:cxnSp>
          <p:nvCxnSpPr>
            <p:cNvPr id="198" name="直接箭头连接符 197"/>
            <p:cNvCxnSpPr>
              <a:stCxn id="182" idx="0"/>
              <a:endCxn id="184" idx="4"/>
            </p:cNvCxnSpPr>
            <p:nvPr/>
          </p:nvCxnSpPr>
          <p:spPr>
            <a:xfrm rot="5400000" flipH="1" flipV="1">
              <a:off x="7622194" y="2998322"/>
              <a:ext cx="507268" cy="1588"/>
            </a:xfrm>
            <a:prstGeom prst="straightConnector1">
              <a:avLst/>
            </a:prstGeom>
            <a:ln w="19050">
              <a:solidFill>
                <a:srgbClr val="006600"/>
              </a:solidFill>
              <a:prstDash val="dash"/>
              <a:tailEnd type="arrow"/>
            </a:ln>
          </p:spPr>
          <p:style>
            <a:lnRef idx="2">
              <a:schemeClr val="dk1"/>
            </a:lnRef>
            <a:fillRef idx="0">
              <a:schemeClr val="dk1"/>
            </a:fillRef>
            <a:effectRef idx="1">
              <a:schemeClr val="dk1"/>
            </a:effectRef>
            <a:fontRef idx="minor">
              <a:schemeClr val="tx1"/>
            </a:fontRef>
          </p:style>
        </p:cxnSp>
        <p:sp>
          <p:nvSpPr>
            <p:cNvPr id="199" name="任意多边形 198"/>
            <p:cNvSpPr/>
            <p:nvPr/>
          </p:nvSpPr>
          <p:spPr>
            <a:xfrm>
              <a:off x="7975441" y="3691614"/>
              <a:ext cx="105363" cy="519289"/>
            </a:xfrm>
            <a:custGeom>
              <a:avLst/>
              <a:gdLst>
                <a:gd name="connsiteX0" fmla="*/ 0 w 105363"/>
                <a:gd name="connsiteY0" fmla="*/ 519289 h 519289"/>
                <a:gd name="connsiteX1" fmla="*/ 101600 w 105363"/>
                <a:gd name="connsiteY1" fmla="*/ 327377 h 519289"/>
                <a:gd name="connsiteX2" fmla="*/ 22578 w 105363"/>
                <a:gd name="connsiteY2" fmla="*/ 0 h 519289"/>
              </a:gdLst>
              <a:ahLst/>
              <a:cxnLst>
                <a:cxn ang="0">
                  <a:pos x="connsiteX0" y="connsiteY0"/>
                </a:cxn>
                <a:cxn ang="0">
                  <a:pos x="connsiteX1" y="connsiteY1"/>
                </a:cxn>
                <a:cxn ang="0">
                  <a:pos x="connsiteX2" y="connsiteY2"/>
                </a:cxn>
              </a:cxnLst>
              <a:rect l="l" t="t" r="r" b="b"/>
              <a:pathLst>
                <a:path w="105363" h="519289">
                  <a:moveTo>
                    <a:pt x="0" y="519289"/>
                  </a:moveTo>
                  <a:cubicBezTo>
                    <a:pt x="48918" y="466607"/>
                    <a:pt x="97837" y="413925"/>
                    <a:pt x="101600" y="327377"/>
                  </a:cubicBezTo>
                  <a:cubicBezTo>
                    <a:pt x="105363" y="240829"/>
                    <a:pt x="63970" y="120414"/>
                    <a:pt x="22578" y="0"/>
                  </a:cubicBezTo>
                </a:path>
              </a:pathLst>
            </a:custGeom>
            <a:ln w="19050">
              <a:solidFill>
                <a:srgbClr val="006600"/>
              </a:solidFill>
              <a:prstDash val="dash"/>
              <a:headEnd type="none" w="med" len="med"/>
              <a:tailEnd type="arrow" w="med" len="med"/>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200" name="Text Box 27"/>
            <p:cNvSpPr txBox="1">
              <a:spLocks noChangeArrowheads="1"/>
            </p:cNvSpPr>
            <p:nvPr/>
          </p:nvSpPr>
          <p:spPr bwMode="auto">
            <a:xfrm>
              <a:off x="8143900" y="3805035"/>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6600"/>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6600"/>
                </a:solidFill>
                <a:effectLst/>
                <a:latin typeface="Consolas" pitchFamily="49" charset="0"/>
                <a:ea typeface="仿宋" pitchFamily="49" charset="-122"/>
                <a:cs typeface="宋体" pitchFamily="2" charset="-122"/>
              </a:endParaRPr>
            </a:p>
          </p:txBody>
        </p:sp>
        <p:cxnSp>
          <p:nvCxnSpPr>
            <p:cNvPr id="202" name="直接箭头连接符 201"/>
            <p:cNvCxnSpPr>
              <a:stCxn id="181" idx="7"/>
              <a:endCxn id="184" idx="3"/>
            </p:cNvCxnSpPr>
            <p:nvPr/>
          </p:nvCxnSpPr>
          <p:spPr>
            <a:xfrm rot="5400000" flipH="1" flipV="1">
              <a:off x="7080847" y="2666937"/>
              <a:ext cx="638138" cy="662771"/>
            </a:xfrm>
            <a:prstGeom prst="straightConnector1">
              <a:avLst/>
            </a:prstGeom>
            <a:ln w="19050">
              <a:solidFill>
                <a:schemeClr val="tx1"/>
              </a:solidFill>
              <a:prstDash val="dash"/>
              <a:tailEnd type="arrow"/>
            </a:ln>
          </p:spPr>
          <p:style>
            <a:lnRef idx="2">
              <a:schemeClr val="dk1"/>
            </a:lnRef>
            <a:fillRef idx="0">
              <a:schemeClr val="dk1"/>
            </a:fillRef>
            <a:effectRef idx="1">
              <a:schemeClr val="dk1"/>
            </a:effectRef>
            <a:fontRef idx="minor">
              <a:schemeClr val="tx1"/>
            </a:fontRef>
          </p:style>
        </p:cxnSp>
        <p:sp>
          <p:nvSpPr>
            <p:cNvPr id="203" name="任意多边形 202"/>
            <p:cNvSpPr/>
            <p:nvPr/>
          </p:nvSpPr>
          <p:spPr>
            <a:xfrm>
              <a:off x="6931378" y="3725333"/>
              <a:ext cx="722489" cy="709319"/>
            </a:xfrm>
            <a:custGeom>
              <a:avLst/>
              <a:gdLst>
                <a:gd name="connsiteX0" fmla="*/ 722489 w 722489"/>
                <a:gd name="connsiteY0" fmla="*/ 677334 h 709319"/>
                <a:gd name="connsiteX1" fmla="*/ 406400 w 722489"/>
                <a:gd name="connsiteY1" fmla="*/ 677334 h 709319"/>
                <a:gd name="connsiteX2" fmla="*/ 67733 w 722489"/>
                <a:gd name="connsiteY2" fmla="*/ 485423 h 709319"/>
                <a:gd name="connsiteX3" fmla="*/ 0 w 722489"/>
                <a:gd name="connsiteY3" fmla="*/ 0 h 709319"/>
              </a:gdLst>
              <a:ahLst/>
              <a:cxnLst>
                <a:cxn ang="0">
                  <a:pos x="connsiteX0" y="connsiteY0"/>
                </a:cxn>
                <a:cxn ang="0">
                  <a:pos x="connsiteX1" y="connsiteY1"/>
                </a:cxn>
                <a:cxn ang="0">
                  <a:pos x="connsiteX2" y="connsiteY2"/>
                </a:cxn>
                <a:cxn ang="0">
                  <a:pos x="connsiteX3" y="connsiteY3"/>
                </a:cxn>
              </a:cxnLst>
              <a:rect l="l" t="t" r="r" b="b"/>
              <a:pathLst>
                <a:path w="722489" h="709319">
                  <a:moveTo>
                    <a:pt x="722489" y="677334"/>
                  </a:moveTo>
                  <a:cubicBezTo>
                    <a:pt x="619007" y="693326"/>
                    <a:pt x="515526" y="709319"/>
                    <a:pt x="406400" y="677334"/>
                  </a:cubicBezTo>
                  <a:cubicBezTo>
                    <a:pt x="297274" y="645349"/>
                    <a:pt x="135466" y="598312"/>
                    <a:pt x="67733" y="485423"/>
                  </a:cubicBezTo>
                  <a:cubicBezTo>
                    <a:pt x="0" y="372534"/>
                    <a:pt x="0" y="186267"/>
                    <a:pt x="0" y="0"/>
                  </a:cubicBezTo>
                </a:path>
              </a:pathLst>
            </a:custGeom>
            <a:ln w="19050">
              <a:solidFill>
                <a:schemeClr val="tx1"/>
              </a:solidFill>
              <a:prstDash val="dash"/>
              <a:headEnd type="none" w="med" len="med"/>
              <a:tailEnd type="arrow" w="med" len="med"/>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204" name="Text Box 23"/>
            <p:cNvSpPr txBox="1">
              <a:spLocks noChangeArrowheads="1"/>
            </p:cNvSpPr>
            <p:nvPr/>
          </p:nvSpPr>
          <p:spPr bwMode="auto">
            <a:xfrm>
              <a:off x="7140745" y="4415254"/>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6600"/>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6600"/>
                </a:solidFill>
                <a:effectLst/>
                <a:latin typeface="Consolas" pitchFamily="49" charset="0"/>
                <a:ea typeface="仿宋" pitchFamily="49" charset="-122"/>
                <a:cs typeface="宋体" pitchFamily="2" charset="-122"/>
              </a:endParaRPr>
            </a:p>
          </p:txBody>
        </p:sp>
      </p:grpSp>
      <p:sp>
        <p:nvSpPr>
          <p:cNvPr id="206" name="右箭头 205"/>
          <p:cNvSpPr/>
          <p:nvPr/>
        </p:nvSpPr>
        <p:spPr>
          <a:xfrm>
            <a:off x="2714612" y="3309555"/>
            <a:ext cx="428628" cy="285752"/>
          </a:xfrm>
          <a:prstGeom prst="right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207" name="右箭头 206"/>
          <p:cNvSpPr/>
          <p:nvPr/>
        </p:nvSpPr>
        <p:spPr>
          <a:xfrm>
            <a:off x="5861765" y="3309555"/>
            <a:ext cx="428628" cy="285752"/>
          </a:xfrm>
          <a:prstGeom prst="right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208" name="TextBox 207"/>
          <p:cNvSpPr txBox="1"/>
          <p:nvPr/>
        </p:nvSpPr>
        <p:spPr>
          <a:xfrm>
            <a:off x="2643174" y="2928934"/>
            <a:ext cx="785818" cy="369332"/>
          </a:xfrm>
          <a:prstGeom prst="rect">
            <a:avLst/>
          </a:prstGeom>
          <a:noFill/>
        </p:spPr>
        <p:txBody>
          <a:bodyPr wrap="square" rtlCol="0">
            <a:spAutoFit/>
          </a:bodyPr>
          <a:lstStyle/>
          <a:p>
            <a:pPr algn="l">
              <a:lnSpc>
                <a:spcPct val="100000"/>
              </a:lnSpc>
              <a:spcBef>
                <a:spcPts val="0"/>
              </a:spcBef>
            </a:pPr>
            <a:r>
              <a:rPr lang="en-US" altLang="zh-CN" sz="1800">
                <a:solidFill>
                  <a:srgbClr val="FF0000"/>
                </a:solidFill>
                <a:latin typeface="Consolas" pitchFamily="49" charset="0"/>
                <a:ea typeface="楷体" pitchFamily="49" charset="-122"/>
                <a:cs typeface="Consolas" pitchFamily="49" charset="0"/>
              </a:rPr>
              <a:t>BFS</a:t>
            </a:r>
            <a:endParaRPr lang="zh-CN" altLang="en-US" sz="1800">
              <a:solidFill>
                <a:srgbClr val="FF0000"/>
              </a:solidFill>
              <a:latin typeface="Consolas" pitchFamily="49" charset="0"/>
              <a:ea typeface="楷体" pitchFamily="49" charset="-122"/>
              <a:cs typeface="Consolas" pitchFamily="49" charset="0"/>
            </a:endParaRPr>
          </a:p>
        </p:txBody>
      </p:sp>
      <p:sp>
        <p:nvSpPr>
          <p:cNvPr id="209" name="TextBox 208"/>
          <p:cNvSpPr txBox="1"/>
          <p:nvPr/>
        </p:nvSpPr>
        <p:spPr>
          <a:xfrm>
            <a:off x="5786446" y="2941076"/>
            <a:ext cx="714380" cy="369332"/>
          </a:xfrm>
          <a:prstGeom prst="rect">
            <a:avLst/>
          </a:prstGeom>
          <a:noFill/>
        </p:spPr>
        <p:txBody>
          <a:bodyPr wrap="square" rtlCol="0">
            <a:spAutoFit/>
          </a:bodyPr>
          <a:lstStyle/>
          <a:p>
            <a:pPr algn="l">
              <a:lnSpc>
                <a:spcPct val="100000"/>
              </a:lnSpc>
              <a:spcBef>
                <a:spcPts val="0"/>
              </a:spcBef>
            </a:pPr>
            <a:r>
              <a:rPr lang="zh-CN" altLang="en-US" sz="1800">
                <a:solidFill>
                  <a:srgbClr val="0000FF"/>
                </a:solidFill>
                <a:latin typeface="仿宋" pitchFamily="49" charset="-122"/>
                <a:ea typeface="仿宋" pitchFamily="49" charset="-122"/>
                <a:cs typeface="Consolas" pitchFamily="49" charset="0"/>
              </a:rPr>
              <a:t>增广</a:t>
            </a:r>
          </a:p>
        </p:txBody>
      </p:sp>
      <p:sp>
        <p:nvSpPr>
          <p:cNvPr id="118" name="灯片编号占位符 117"/>
          <p:cNvSpPr>
            <a:spLocks noGrp="1"/>
          </p:cNvSpPr>
          <p:nvPr>
            <p:ph type="sldNum" sz="quarter" idx="12"/>
          </p:nvPr>
        </p:nvSpPr>
        <p:spPr/>
        <p:txBody>
          <a:bodyPr/>
          <a:lstStyle/>
          <a:p>
            <a:fld id="{7AF016A1-9F15-429F-9EFD-84004B73C732}" type="slidenum">
              <a:rPr lang="en-US" altLang="zh-CN" smtClean="0"/>
              <a:pPr/>
              <a:t>122</a:t>
            </a:fld>
            <a:r>
              <a:rPr lang="en-US" altLang="zh-CN"/>
              <a:t>/158</a:t>
            </a: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减号 26"/>
          <p:cNvSpPr/>
          <p:nvPr/>
        </p:nvSpPr>
        <p:spPr>
          <a:xfrm>
            <a:off x="2665752" y="3331280"/>
            <a:ext cx="428628" cy="428628"/>
          </a:xfrm>
          <a:prstGeom prst="mathMinus">
            <a:avLst/>
          </a:prstGeom>
          <a:solidFill>
            <a:schemeClr val="tx1"/>
          </a:solidFill>
          <a:ln w="19050">
            <a:tailEnd type="none"/>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28" name="等于号 27"/>
          <p:cNvSpPr/>
          <p:nvPr/>
        </p:nvSpPr>
        <p:spPr>
          <a:xfrm>
            <a:off x="5715008" y="3331280"/>
            <a:ext cx="500066" cy="428628"/>
          </a:xfrm>
          <a:prstGeom prst="mathEqual">
            <a:avLst/>
          </a:prstGeom>
          <a:solidFill>
            <a:schemeClr val="tx1"/>
          </a:solidFill>
          <a:ln w="19050">
            <a:tailEnd type="none"/>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solidFill>
                <a:schemeClr val="tx1"/>
              </a:solidFill>
            </a:endParaRPr>
          </a:p>
        </p:txBody>
      </p:sp>
      <p:sp>
        <p:nvSpPr>
          <p:cNvPr id="76" name="TextBox 75"/>
          <p:cNvSpPr txBox="1"/>
          <p:nvPr/>
        </p:nvSpPr>
        <p:spPr>
          <a:xfrm>
            <a:off x="428596" y="571480"/>
            <a:ext cx="3071834" cy="430887"/>
          </a:xfrm>
          <a:prstGeom prst="rect">
            <a:avLst/>
          </a:prstGeom>
          <a:noFill/>
        </p:spPr>
        <p:txBody>
          <a:bodyPr wrap="square" rtlCol="0">
            <a:spAutoFit/>
          </a:bodyPr>
          <a:lstStyle/>
          <a:p>
            <a:pPr algn="l">
              <a:lnSpc>
                <a:spcPct val="100000"/>
              </a:lnSpc>
              <a:spcBef>
                <a:spcPts val="0"/>
              </a:spcBef>
            </a:pPr>
            <a:r>
              <a:rPr lang="zh-CN" altLang="zh-CN" sz="2200">
                <a:solidFill>
                  <a:srgbClr val="0000FF"/>
                </a:solidFill>
                <a:latin typeface="楷体" pitchFamily="49" charset="-122"/>
                <a:ea typeface="楷体" pitchFamily="49" charset="-122"/>
              </a:rPr>
              <a:t>再已找不到增广路径</a:t>
            </a:r>
            <a:endParaRPr lang="zh-CN" altLang="en-US" sz="2200">
              <a:solidFill>
                <a:srgbClr val="0000FF"/>
              </a:solidFill>
              <a:latin typeface="楷体" pitchFamily="49" charset="-122"/>
              <a:ea typeface="楷体" pitchFamily="49" charset="-122"/>
              <a:cs typeface="Consolas" pitchFamily="49" charset="0"/>
            </a:endParaRPr>
          </a:p>
        </p:txBody>
      </p:sp>
      <p:grpSp>
        <p:nvGrpSpPr>
          <p:cNvPr id="3" name="组合 76"/>
          <p:cNvGrpSpPr/>
          <p:nvPr/>
        </p:nvGrpSpPr>
        <p:grpSpPr>
          <a:xfrm>
            <a:off x="285720" y="1597895"/>
            <a:ext cx="2354101" cy="3545617"/>
            <a:chOff x="724862" y="1169267"/>
            <a:chExt cx="2354101" cy="3545617"/>
          </a:xfrm>
        </p:grpSpPr>
        <p:sp>
          <p:nvSpPr>
            <p:cNvPr id="78" name="Text Box 51"/>
            <p:cNvSpPr txBox="1">
              <a:spLocks noChangeArrowheads="1"/>
            </p:cNvSpPr>
            <p:nvPr/>
          </p:nvSpPr>
          <p:spPr bwMode="auto">
            <a:xfrm>
              <a:off x="1714610" y="3437516"/>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79" name="Text Box 50"/>
            <p:cNvSpPr txBox="1">
              <a:spLocks noChangeArrowheads="1"/>
            </p:cNvSpPr>
            <p:nvPr/>
          </p:nvSpPr>
          <p:spPr bwMode="auto">
            <a:xfrm>
              <a:off x="1677807" y="2546512"/>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80" name="Text Box 49"/>
            <p:cNvSpPr txBox="1">
              <a:spLocks noChangeArrowheads="1"/>
            </p:cNvSpPr>
            <p:nvPr/>
          </p:nvSpPr>
          <p:spPr bwMode="auto">
            <a:xfrm>
              <a:off x="1982749" y="1620026"/>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5</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81" name="Text Box 48"/>
            <p:cNvSpPr txBox="1">
              <a:spLocks noChangeArrowheads="1"/>
            </p:cNvSpPr>
            <p:nvPr/>
          </p:nvSpPr>
          <p:spPr bwMode="auto">
            <a:xfrm>
              <a:off x="2444105" y="2413781"/>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82" name="Text Box 47"/>
            <p:cNvSpPr txBox="1">
              <a:spLocks noChangeArrowheads="1"/>
            </p:cNvSpPr>
            <p:nvPr/>
          </p:nvSpPr>
          <p:spPr bwMode="auto">
            <a:xfrm>
              <a:off x="1182276" y="3508481"/>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83" name="Text Box 46"/>
            <p:cNvSpPr txBox="1">
              <a:spLocks noChangeArrowheads="1"/>
            </p:cNvSpPr>
            <p:nvPr/>
          </p:nvSpPr>
          <p:spPr bwMode="auto">
            <a:xfrm>
              <a:off x="1241424" y="2413781"/>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84" name="Text Box 45"/>
            <p:cNvSpPr txBox="1">
              <a:spLocks noChangeArrowheads="1"/>
            </p:cNvSpPr>
            <p:nvPr/>
          </p:nvSpPr>
          <p:spPr bwMode="auto">
            <a:xfrm>
              <a:off x="2298206" y="2846142"/>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85" name="Text Box 44"/>
            <p:cNvSpPr txBox="1">
              <a:spLocks noChangeArrowheads="1"/>
            </p:cNvSpPr>
            <p:nvPr/>
          </p:nvSpPr>
          <p:spPr bwMode="auto">
            <a:xfrm>
              <a:off x="2379700" y="3559733"/>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86" name="Oval 43"/>
            <p:cNvSpPr>
              <a:spLocks noChangeArrowheads="1"/>
            </p:cNvSpPr>
            <p:nvPr/>
          </p:nvSpPr>
          <p:spPr bwMode="auto">
            <a:xfrm>
              <a:off x="1677807" y="1169267"/>
              <a:ext cx="411409" cy="448130"/>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0</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87" name="Oval 42"/>
            <p:cNvSpPr>
              <a:spLocks noChangeArrowheads="1"/>
            </p:cNvSpPr>
            <p:nvPr/>
          </p:nvSpPr>
          <p:spPr bwMode="auto">
            <a:xfrm>
              <a:off x="724862" y="2921049"/>
              <a:ext cx="410095" cy="44681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88" name="Oval 41"/>
            <p:cNvSpPr>
              <a:spLocks noChangeArrowheads="1"/>
            </p:cNvSpPr>
            <p:nvPr/>
          </p:nvSpPr>
          <p:spPr bwMode="auto">
            <a:xfrm>
              <a:off x="1677807" y="2921049"/>
              <a:ext cx="408780" cy="44681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89" name="Oval 40"/>
            <p:cNvSpPr>
              <a:spLocks noChangeArrowheads="1"/>
            </p:cNvSpPr>
            <p:nvPr/>
          </p:nvSpPr>
          <p:spPr bwMode="auto">
            <a:xfrm>
              <a:off x="2670183" y="2921049"/>
              <a:ext cx="408780" cy="44681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90" name="Oval 39"/>
            <p:cNvSpPr>
              <a:spLocks noChangeArrowheads="1"/>
            </p:cNvSpPr>
            <p:nvPr/>
          </p:nvSpPr>
          <p:spPr bwMode="auto">
            <a:xfrm>
              <a:off x="1677807" y="1966965"/>
              <a:ext cx="408780" cy="44681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91" name="Oval 38"/>
            <p:cNvSpPr>
              <a:spLocks noChangeArrowheads="1"/>
            </p:cNvSpPr>
            <p:nvPr/>
          </p:nvSpPr>
          <p:spPr bwMode="auto">
            <a:xfrm>
              <a:off x="1677807" y="3835708"/>
              <a:ext cx="408780" cy="446816"/>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5</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92" name="AutoShape 37"/>
            <p:cNvSpPr>
              <a:spLocks noChangeShapeType="1"/>
            </p:cNvSpPr>
            <p:nvPr/>
          </p:nvSpPr>
          <p:spPr bwMode="auto">
            <a:xfrm flipH="1">
              <a:off x="1882854" y="1617398"/>
              <a:ext cx="1314" cy="349568"/>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93" name="AutoShape 36"/>
            <p:cNvSpPr>
              <a:spLocks noChangeShapeType="1"/>
            </p:cNvSpPr>
            <p:nvPr/>
          </p:nvSpPr>
          <p:spPr bwMode="auto">
            <a:xfrm flipH="1">
              <a:off x="1074494" y="2348073"/>
              <a:ext cx="663775" cy="63868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94" name="AutoShape 35"/>
            <p:cNvSpPr>
              <a:spLocks noChangeShapeType="1"/>
            </p:cNvSpPr>
            <p:nvPr/>
          </p:nvSpPr>
          <p:spPr bwMode="auto">
            <a:xfrm>
              <a:off x="1882854" y="2413781"/>
              <a:ext cx="1314" cy="507268"/>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95" name="AutoShape 34"/>
            <p:cNvSpPr>
              <a:spLocks noChangeShapeType="1"/>
            </p:cNvSpPr>
            <p:nvPr/>
          </p:nvSpPr>
          <p:spPr bwMode="auto">
            <a:xfrm>
              <a:off x="2026124" y="2348073"/>
              <a:ext cx="704522" cy="63868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96" name="AutoShape 33"/>
            <p:cNvSpPr>
              <a:spLocks noChangeShapeType="1"/>
            </p:cNvSpPr>
            <p:nvPr/>
          </p:nvSpPr>
          <p:spPr bwMode="auto">
            <a:xfrm>
              <a:off x="1074494" y="3302157"/>
              <a:ext cx="663775" cy="599259"/>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97" name="AutoShape 32"/>
            <p:cNvSpPr>
              <a:spLocks noChangeShapeType="1"/>
            </p:cNvSpPr>
            <p:nvPr/>
          </p:nvSpPr>
          <p:spPr bwMode="auto">
            <a:xfrm>
              <a:off x="1882854" y="3367865"/>
              <a:ext cx="1314" cy="467843"/>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98" name="AutoShape 31"/>
            <p:cNvSpPr>
              <a:spLocks noChangeShapeType="1"/>
            </p:cNvSpPr>
            <p:nvPr/>
          </p:nvSpPr>
          <p:spPr bwMode="auto">
            <a:xfrm flipH="1">
              <a:off x="2026124" y="3302157"/>
              <a:ext cx="704522" cy="599259"/>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99" name="AutoShape 30"/>
            <p:cNvSpPr>
              <a:spLocks noChangeShapeType="1"/>
            </p:cNvSpPr>
            <p:nvPr/>
          </p:nvSpPr>
          <p:spPr bwMode="auto">
            <a:xfrm flipH="1">
              <a:off x="2086587" y="3144457"/>
              <a:ext cx="583596" cy="131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00" name="Text Box 29"/>
            <p:cNvSpPr txBox="1">
              <a:spLocks noChangeArrowheads="1"/>
            </p:cNvSpPr>
            <p:nvPr/>
          </p:nvSpPr>
          <p:spPr bwMode="auto">
            <a:xfrm>
              <a:off x="1131014" y="4415254"/>
              <a:ext cx="1633807"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 </a:t>
              </a:r>
              <a:r>
                <a:rPr kumimoji="0" lang="zh-CN" altLang="en-US"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一个网络</a:t>
              </a:r>
              <a:endParaRPr kumimoji="0" lang="zh-CN" altLang="en-US"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grpSp>
      <p:grpSp>
        <p:nvGrpSpPr>
          <p:cNvPr id="4" name="组合 100"/>
          <p:cNvGrpSpPr/>
          <p:nvPr/>
        </p:nvGrpSpPr>
        <p:grpSpPr>
          <a:xfrm>
            <a:off x="6429388" y="1597895"/>
            <a:ext cx="2354101" cy="3617055"/>
            <a:chOff x="724862" y="1169267"/>
            <a:chExt cx="2354101" cy="3617055"/>
          </a:xfrm>
        </p:grpSpPr>
        <p:sp>
          <p:nvSpPr>
            <p:cNvPr id="103" name="Text Box 50"/>
            <p:cNvSpPr txBox="1">
              <a:spLocks noChangeArrowheads="1"/>
            </p:cNvSpPr>
            <p:nvPr/>
          </p:nvSpPr>
          <p:spPr bwMode="auto">
            <a:xfrm>
              <a:off x="1394086" y="2546512"/>
              <a:ext cx="500065"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FF0000"/>
                  </a:solidFill>
                  <a:latin typeface="Consolas" pitchFamily="49" charset="0"/>
                  <a:ea typeface="仿宋" pitchFamily="49" charset="-122"/>
                  <a:cs typeface="Times New Roman" pitchFamily="18" charset="0"/>
                </a:rPr>
                <a:t>2</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04" name="Text Box 49"/>
            <p:cNvSpPr txBox="1">
              <a:spLocks noChangeArrowheads="1"/>
            </p:cNvSpPr>
            <p:nvPr/>
          </p:nvSpPr>
          <p:spPr bwMode="auto">
            <a:xfrm>
              <a:off x="1982749" y="1620026"/>
              <a:ext cx="599501"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FF0000"/>
                  </a:solidFill>
                  <a:effectLst/>
                  <a:latin typeface="Consolas" pitchFamily="49" charset="0"/>
                  <a:ea typeface="仿宋" pitchFamily="49" charset="-122"/>
                  <a:cs typeface="Times New Roman" pitchFamily="18" charset="0"/>
                </a:rPr>
                <a:t>5</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/5</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05" name="Text Box 48"/>
            <p:cNvSpPr txBox="1">
              <a:spLocks noChangeArrowheads="1"/>
            </p:cNvSpPr>
            <p:nvPr/>
          </p:nvSpPr>
          <p:spPr bwMode="auto">
            <a:xfrm>
              <a:off x="2444105" y="2413781"/>
              <a:ext cx="566773"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FF0000"/>
                  </a:solidFill>
                  <a:latin typeface="Consolas" pitchFamily="49" charset="0"/>
                  <a:ea typeface="仿宋" pitchFamily="49" charset="-122"/>
                  <a:cs typeface="Times New Roman" pitchFamily="18" charset="0"/>
                </a:rPr>
                <a:t>2</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06" name="Text Box 47"/>
            <p:cNvSpPr txBox="1">
              <a:spLocks noChangeArrowheads="1"/>
            </p:cNvSpPr>
            <p:nvPr/>
          </p:nvSpPr>
          <p:spPr bwMode="auto">
            <a:xfrm>
              <a:off x="796300" y="3508481"/>
              <a:ext cx="531875"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FF0000"/>
                  </a:solidFill>
                  <a:latin typeface="Consolas" pitchFamily="49" charset="0"/>
                  <a:ea typeface="仿宋" pitchFamily="49" charset="-122"/>
                  <a:cs typeface="Times New Roman" pitchFamily="18" charset="0"/>
                </a:rPr>
                <a:t>1</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07" name="Text Box 46"/>
            <p:cNvSpPr txBox="1">
              <a:spLocks noChangeArrowheads="1"/>
            </p:cNvSpPr>
            <p:nvPr/>
          </p:nvSpPr>
          <p:spPr bwMode="auto">
            <a:xfrm>
              <a:off x="905309" y="2413781"/>
              <a:ext cx="448147"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FF0000"/>
                  </a:solidFill>
                  <a:latin typeface="Consolas" pitchFamily="49" charset="0"/>
                  <a:ea typeface="仿宋" pitchFamily="49" charset="-122"/>
                  <a:cs typeface="Times New Roman" pitchFamily="18" charset="0"/>
                </a:rPr>
                <a:t>1</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08" name="Text Box 45"/>
            <p:cNvSpPr txBox="1">
              <a:spLocks noChangeArrowheads="1"/>
            </p:cNvSpPr>
            <p:nvPr/>
          </p:nvSpPr>
          <p:spPr bwMode="auto">
            <a:xfrm>
              <a:off x="2153622" y="2846142"/>
              <a:ext cx="500066"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FF0000"/>
                  </a:solidFill>
                  <a:latin typeface="Consolas" pitchFamily="49" charset="0"/>
                  <a:ea typeface="仿宋" pitchFamily="49" charset="-122"/>
                  <a:cs typeface="Times New Roman" pitchFamily="18" charset="0"/>
                </a:rPr>
                <a:t>0</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09" name="Text Box 44"/>
            <p:cNvSpPr txBox="1">
              <a:spLocks noChangeArrowheads="1"/>
            </p:cNvSpPr>
            <p:nvPr/>
          </p:nvSpPr>
          <p:spPr bwMode="auto">
            <a:xfrm>
              <a:off x="2342129" y="3602039"/>
              <a:ext cx="559740"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FF0000"/>
                  </a:solidFill>
                  <a:effectLst/>
                  <a:latin typeface="Consolas" pitchFamily="49" charset="0"/>
                  <a:ea typeface="仿宋" pitchFamily="49" charset="-122"/>
                  <a:cs typeface="Times New Roman" pitchFamily="18" charset="0"/>
                </a:rPr>
                <a:t>2</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10" name="Oval 43"/>
            <p:cNvSpPr>
              <a:spLocks noChangeArrowheads="1"/>
            </p:cNvSpPr>
            <p:nvPr/>
          </p:nvSpPr>
          <p:spPr bwMode="auto">
            <a:xfrm>
              <a:off x="1677807" y="1169267"/>
              <a:ext cx="411409" cy="448130"/>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0</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11" name="Oval 42"/>
            <p:cNvSpPr>
              <a:spLocks noChangeArrowheads="1"/>
            </p:cNvSpPr>
            <p:nvPr/>
          </p:nvSpPr>
          <p:spPr bwMode="auto">
            <a:xfrm>
              <a:off x="724862" y="2921049"/>
              <a:ext cx="410095" cy="44681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12" name="Oval 41"/>
            <p:cNvSpPr>
              <a:spLocks noChangeArrowheads="1"/>
            </p:cNvSpPr>
            <p:nvPr/>
          </p:nvSpPr>
          <p:spPr bwMode="auto">
            <a:xfrm>
              <a:off x="1677807" y="2921049"/>
              <a:ext cx="408780" cy="44681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13" name="Oval 40"/>
            <p:cNvSpPr>
              <a:spLocks noChangeArrowheads="1"/>
            </p:cNvSpPr>
            <p:nvPr/>
          </p:nvSpPr>
          <p:spPr bwMode="auto">
            <a:xfrm>
              <a:off x="2670183" y="2921049"/>
              <a:ext cx="408780" cy="44681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14" name="Oval 39"/>
            <p:cNvSpPr>
              <a:spLocks noChangeArrowheads="1"/>
            </p:cNvSpPr>
            <p:nvPr/>
          </p:nvSpPr>
          <p:spPr bwMode="auto">
            <a:xfrm>
              <a:off x="1677807" y="1966965"/>
              <a:ext cx="408780" cy="44681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15" name="Oval 38"/>
            <p:cNvSpPr>
              <a:spLocks noChangeArrowheads="1"/>
            </p:cNvSpPr>
            <p:nvPr/>
          </p:nvSpPr>
          <p:spPr bwMode="auto">
            <a:xfrm>
              <a:off x="1677807" y="3835708"/>
              <a:ext cx="408780" cy="446816"/>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5</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16" name="AutoShape 37"/>
            <p:cNvSpPr>
              <a:spLocks noChangeShapeType="1"/>
            </p:cNvSpPr>
            <p:nvPr/>
          </p:nvSpPr>
          <p:spPr bwMode="auto">
            <a:xfrm flipH="1">
              <a:off x="1882854" y="1617398"/>
              <a:ext cx="1314" cy="349568"/>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17" name="AutoShape 36"/>
            <p:cNvSpPr>
              <a:spLocks noChangeShapeType="1"/>
            </p:cNvSpPr>
            <p:nvPr/>
          </p:nvSpPr>
          <p:spPr bwMode="auto">
            <a:xfrm flipH="1">
              <a:off x="1074494" y="2348073"/>
              <a:ext cx="663775" cy="63868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18" name="AutoShape 35"/>
            <p:cNvSpPr>
              <a:spLocks noChangeShapeType="1"/>
            </p:cNvSpPr>
            <p:nvPr/>
          </p:nvSpPr>
          <p:spPr bwMode="auto">
            <a:xfrm>
              <a:off x="1882854" y="2413781"/>
              <a:ext cx="1314" cy="507268"/>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19" name="AutoShape 34"/>
            <p:cNvSpPr>
              <a:spLocks noChangeShapeType="1"/>
            </p:cNvSpPr>
            <p:nvPr/>
          </p:nvSpPr>
          <p:spPr bwMode="auto">
            <a:xfrm>
              <a:off x="2026124" y="2348073"/>
              <a:ext cx="704522" cy="63868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20" name="AutoShape 33"/>
            <p:cNvSpPr>
              <a:spLocks noChangeShapeType="1"/>
            </p:cNvSpPr>
            <p:nvPr/>
          </p:nvSpPr>
          <p:spPr bwMode="auto">
            <a:xfrm>
              <a:off x="1074494" y="3302157"/>
              <a:ext cx="663775" cy="599259"/>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21" name="AutoShape 32"/>
            <p:cNvSpPr>
              <a:spLocks noChangeShapeType="1"/>
            </p:cNvSpPr>
            <p:nvPr/>
          </p:nvSpPr>
          <p:spPr bwMode="auto">
            <a:xfrm>
              <a:off x="1882854" y="3367865"/>
              <a:ext cx="1314" cy="467843"/>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23" name="AutoShape 30"/>
            <p:cNvSpPr>
              <a:spLocks noChangeShapeType="1"/>
            </p:cNvSpPr>
            <p:nvPr/>
          </p:nvSpPr>
          <p:spPr bwMode="auto">
            <a:xfrm flipH="1">
              <a:off x="2086587" y="3144457"/>
              <a:ext cx="583596" cy="131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24" name="Text Box 29"/>
            <p:cNvSpPr txBox="1">
              <a:spLocks noChangeArrowheads="1"/>
            </p:cNvSpPr>
            <p:nvPr/>
          </p:nvSpPr>
          <p:spPr bwMode="auto">
            <a:xfrm>
              <a:off x="1367804" y="4486692"/>
              <a:ext cx="1236922"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0">
                  <a:solidFill>
                    <a:srgbClr val="0000FF"/>
                  </a:solidFill>
                  <a:latin typeface="Consolas" pitchFamily="49" charset="0"/>
                  <a:ea typeface="仿宋" pitchFamily="49" charset="-122"/>
                  <a:cs typeface="Times New Roman" pitchFamily="18" charset="0"/>
                </a:rPr>
                <a:t>最大流</a:t>
              </a:r>
              <a:endParaRPr kumimoji="0" lang="zh-CN" altLang="en-US"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02" name="Text Box 51"/>
            <p:cNvSpPr txBox="1">
              <a:spLocks noChangeArrowheads="1"/>
            </p:cNvSpPr>
            <p:nvPr/>
          </p:nvSpPr>
          <p:spPr bwMode="auto">
            <a:xfrm>
              <a:off x="1901737" y="3380140"/>
              <a:ext cx="500066"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FF0000"/>
                  </a:solidFill>
                  <a:latin typeface="Consolas" pitchFamily="49" charset="0"/>
                  <a:ea typeface="仿宋" pitchFamily="49" charset="-122"/>
                  <a:cs typeface="Times New Roman" pitchFamily="18" charset="0"/>
                </a:rPr>
                <a:t>2</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22" name="AutoShape 31"/>
            <p:cNvSpPr>
              <a:spLocks noChangeShapeType="1"/>
            </p:cNvSpPr>
            <p:nvPr/>
          </p:nvSpPr>
          <p:spPr bwMode="auto">
            <a:xfrm flipH="1">
              <a:off x="2059991" y="3347313"/>
              <a:ext cx="704522" cy="599259"/>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grpSp>
      <p:grpSp>
        <p:nvGrpSpPr>
          <p:cNvPr id="77" name="组合 76"/>
          <p:cNvGrpSpPr/>
          <p:nvPr/>
        </p:nvGrpSpPr>
        <p:grpSpPr>
          <a:xfrm>
            <a:off x="3143240" y="1643050"/>
            <a:ext cx="2354101" cy="3214710"/>
            <a:chOff x="6718493" y="1500174"/>
            <a:chExt cx="2354101" cy="3214710"/>
          </a:xfrm>
        </p:grpSpPr>
        <p:sp>
          <p:nvSpPr>
            <p:cNvPr id="101" name="Text Box 28"/>
            <p:cNvSpPr txBox="1">
              <a:spLocks noChangeArrowheads="1"/>
            </p:cNvSpPr>
            <p:nvPr/>
          </p:nvSpPr>
          <p:spPr bwMode="auto">
            <a:xfrm>
              <a:off x="7708241" y="3768423"/>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25" name="Text Box 27"/>
            <p:cNvSpPr txBox="1">
              <a:spLocks noChangeArrowheads="1"/>
            </p:cNvSpPr>
            <p:nvPr/>
          </p:nvSpPr>
          <p:spPr bwMode="auto">
            <a:xfrm>
              <a:off x="7671438" y="2877419"/>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6600"/>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6600"/>
                </a:solidFill>
                <a:effectLst/>
                <a:latin typeface="Consolas" pitchFamily="49" charset="0"/>
                <a:ea typeface="仿宋" pitchFamily="49" charset="-122"/>
                <a:cs typeface="宋体" pitchFamily="2" charset="-122"/>
              </a:endParaRPr>
            </a:p>
          </p:txBody>
        </p:sp>
        <p:sp>
          <p:nvSpPr>
            <p:cNvPr id="126" name="Text Box 25"/>
            <p:cNvSpPr txBox="1">
              <a:spLocks noChangeArrowheads="1"/>
            </p:cNvSpPr>
            <p:nvPr/>
          </p:nvSpPr>
          <p:spPr bwMode="auto">
            <a:xfrm>
              <a:off x="8437736" y="2744688"/>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27" name="Text Box 24"/>
            <p:cNvSpPr txBox="1">
              <a:spLocks noChangeArrowheads="1"/>
            </p:cNvSpPr>
            <p:nvPr/>
          </p:nvSpPr>
          <p:spPr bwMode="auto">
            <a:xfrm>
              <a:off x="7175906" y="3839388"/>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28" name="Text Box 23"/>
            <p:cNvSpPr txBox="1">
              <a:spLocks noChangeArrowheads="1"/>
            </p:cNvSpPr>
            <p:nvPr/>
          </p:nvSpPr>
          <p:spPr bwMode="auto">
            <a:xfrm>
              <a:off x="7235055" y="2744688"/>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6600"/>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6600"/>
                </a:solidFill>
                <a:effectLst/>
                <a:latin typeface="Consolas" pitchFamily="49" charset="0"/>
                <a:ea typeface="仿宋" pitchFamily="49" charset="-122"/>
                <a:cs typeface="宋体" pitchFamily="2" charset="-122"/>
              </a:endParaRPr>
            </a:p>
          </p:txBody>
        </p:sp>
        <p:sp>
          <p:nvSpPr>
            <p:cNvPr id="129" name="Text Box 22"/>
            <p:cNvSpPr txBox="1">
              <a:spLocks noChangeArrowheads="1"/>
            </p:cNvSpPr>
            <p:nvPr/>
          </p:nvSpPr>
          <p:spPr bwMode="auto">
            <a:xfrm>
              <a:off x="8291837" y="3177049"/>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30" name="Oval 21"/>
            <p:cNvSpPr>
              <a:spLocks noChangeArrowheads="1"/>
            </p:cNvSpPr>
            <p:nvPr/>
          </p:nvSpPr>
          <p:spPr bwMode="auto">
            <a:xfrm>
              <a:off x="7671438" y="1500174"/>
              <a:ext cx="411409" cy="448130"/>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0</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31" name="Oval 20"/>
            <p:cNvSpPr>
              <a:spLocks noChangeArrowheads="1"/>
            </p:cNvSpPr>
            <p:nvPr/>
          </p:nvSpPr>
          <p:spPr bwMode="auto">
            <a:xfrm>
              <a:off x="6718493" y="3251956"/>
              <a:ext cx="410095" cy="44681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32" name="Oval 19"/>
            <p:cNvSpPr>
              <a:spLocks noChangeArrowheads="1"/>
            </p:cNvSpPr>
            <p:nvPr/>
          </p:nvSpPr>
          <p:spPr bwMode="auto">
            <a:xfrm>
              <a:off x="7671438" y="3251956"/>
              <a:ext cx="408780" cy="44681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33" name="Oval 18"/>
            <p:cNvSpPr>
              <a:spLocks noChangeArrowheads="1"/>
            </p:cNvSpPr>
            <p:nvPr/>
          </p:nvSpPr>
          <p:spPr bwMode="auto">
            <a:xfrm>
              <a:off x="8663814" y="3251956"/>
              <a:ext cx="408780" cy="44681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34" name="Oval 17"/>
            <p:cNvSpPr>
              <a:spLocks noChangeArrowheads="1"/>
            </p:cNvSpPr>
            <p:nvPr/>
          </p:nvSpPr>
          <p:spPr bwMode="auto">
            <a:xfrm>
              <a:off x="7671438" y="2297872"/>
              <a:ext cx="408780" cy="44681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35" name="Oval 16"/>
            <p:cNvSpPr>
              <a:spLocks noChangeArrowheads="1"/>
            </p:cNvSpPr>
            <p:nvPr/>
          </p:nvSpPr>
          <p:spPr bwMode="auto">
            <a:xfrm>
              <a:off x="7671438" y="4166615"/>
              <a:ext cx="408780" cy="446816"/>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5</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36" name="AutoShape 12"/>
            <p:cNvSpPr>
              <a:spLocks noChangeShapeType="1"/>
            </p:cNvSpPr>
            <p:nvPr/>
          </p:nvSpPr>
          <p:spPr bwMode="auto">
            <a:xfrm>
              <a:off x="8019755" y="2678980"/>
              <a:ext cx="704522" cy="638684"/>
            </a:xfrm>
            <a:prstGeom prst="straightConnector1">
              <a:avLst/>
            </a:prstGeom>
            <a:noFill/>
            <a:ln w="19050">
              <a:solidFill>
                <a:schemeClr val="tx1"/>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37" name="AutoShape 11"/>
            <p:cNvSpPr>
              <a:spLocks noChangeShapeType="1"/>
            </p:cNvSpPr>
            <p:nvPr/>
          </p:nvSpPr>
          <p:spPr bwMode="auto">
            <a:xfrm>
              <a:off x="7068125" y="3633064"/>
              <a:ext cx="663775" cy="599259"/>
            </a:xfrm>
            <a:prstGeom prst="straightConnector1">
              <a:avLst/>
            </a:prstGeom>
            <a:noFill/>
            <a:ln w="19050">
              <a:solidFill>
                <a:schemeClr val="tx1"/>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38" name="AutoShape 10"/>
            <p:cNvSpPr>
              <a:spLocks noChangeShapeType="1"/>
            </p:cNvSpPr>
            <p:nvPr/>
          </p:nvSpPr>
          <p:spPr bwMode="auto">
            <a:xfrm>
              <a:off x="7876485" y="3698772"/>
              <a:ext cx="1314" cy="467843"/>
            </a:xfrm>
            <a:prstGeom prst="straightConnector1">
              <a:avLst/>
            </a:prstGeom>
            <a:noFill/>
            <a:ln w="19050">
              <a:solidFill>
                <a:schemeClr val="tx1"/>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39" name="AutoShape 9"/>
            <p:cNvSpPr>
              <a:spLocks noChangeShapeType="1"/>
            </p:cNvSpPr>
            <p:nvPr/>
          </p:nvSpPr>
          <p:spPr bwMode="auto">
            <a:xfrm flipH="1">
              <a:off x="8080218" y="3475364"/>
              <a:ext cx="583596" cy="131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40" name="Freeform 7"/>
            <p:cNvSpPr>
              <a:spLocks/>
            </p:cNvSpPr>
            <p:nvPr/>
          </p:nvSpPr>
          <p:spPr bwMode="auto">
            <a:xfrm>
              <a:off x="8082847" y="3690887"/>
              <a:ext cx="789958" cy="646569"/>
            </a:xfrm>
            <a:custGeom>
              <a:avLst/>
              <a:gdLst/>
              <a:ahLst/>
              <a:cxnLst>
                <a:cxn ang="0">
                  <a:pos x="0" y="484"/>
                </a:cxn>
                <a:cxn ang="0">
                  <a:pos x="270" y="467"/>
                </a:cxn>
                <a:cxn ang="0">
                  <a:pos x="514" y="335"/>
                </a:cxn>
                <a:cxn ang="0">
                  <a:pos x="601" y="0"/>
                </a:cxn>
              </a:cxnLst>
              <a:rect l="0" t="0" r="r" b="b"/>
              <a:pathLst>
                <a:path w="601" h="492">
                  <a:moveTo>
                    <a:pt x="0" y="484"/>
                  </a:moveTo>
                  <a:cubicBezTo>
                    <a:pt x="92" y="488"/>
                    <a:pt x="184" y="492"/>
                    <a:pt x="270" y="467"/>
                  </a:cubicBezTo>
                  <a:cubicBezTo>
                    <a:pt x="356" y="442"/>
                    <a:pt x="459" y="413"/>
                    <a:pt x="514" y="335"/>
                  </a:cubicBezTo>
                  <a:cubicBezTo>
                    <a:pt x="569" y="257"/>
                    <a:pt x="585" y="128"/>
                    <a:pt x="601" y="0"/>
                  </a:cubicBezTo>
                </a:path>
              </a:pathLst>
            </a:custGeom>
            <a:noFill/>
            <a:ln w="19050">
              <a:solidFill>
                <a:srgbClr val="006600"/>
              </a:solidFill>
              <a:prstDash val="dash"/>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41" name="Text Box 6"/>
            <p:cNvSpPr txBox="1">
              <a:spLocks noChangeArrowheads="1"/>
            </p:cNvSpPr>
            <p:nvPr/>
          </p:nvSpPr>
          <p:spPr bwMode="auto">
            <a:xfrm>
              <a:off x="8805770" y="4068052"/>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6600"/>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6600"/>
                </a:solidFill>
                <a:effectLst/>
                <a:latin typeface="Consolas" pitchFamily="49" charset="0"/>
                <a:ea typeface="仿宋" pitchFamily="49" charset="-122"/>
                <a:cs typeface="宋体" pitchFamily="2" charset="-122"/>
              </a:endParaRPr>
            </a:p>
          </p:txBody>
        </p:sp>
        <p:sp>
          <p:nvSpPr>
            <p:cNvPr id="142" name="Freeform 5"/>
            <p:cNvSpPr>
              <a:spLocks/>
            </p:cNvSpPr>
            <p:nvPr/>
          </p:nvSpPr>
          <p:spPr bwMode="auto">
            <a:xfrm>
              <a:off x="8082847" y="2481855"/>
              <a:ext cx="807045" cy="770101"/>
            </a:xfrm>
            <a:custGeom>
              <a:avLst/>
              <a:gdLst/>
              <a:ahLst/>
              <a:cxnLst>
                <a:cxn ang="0">
                  <a:pos x="601" y="586"/>
                </a:cxn>
                <a:cxn ang="0">
                  <a:pos x="514" y="194"/>
                </a:cxn>
                <a:cxn ang="0">
                  <a:pos x="0" y="0"/>
                </a:cxn>
              </a:cxnLst>
              <a:rect l="0" t="0" r="r" b="b"/>
              <a:pathLst>
                <a:path w="614" h="586">
                  <a:moveTo>
                    <a:pt x="601" y="586"/>
                  </a:moveTo>
                  <a:cubicBezTo>
                    <a:pt x="607" y="439"/>
                    <a:pt x="614" y="292"/>
                    <a:pt x="514" y="194"/>
                  </a:cubicBezTo>
                  <a:cubicBezTo>
                    <a:pt x="414" y="96"/>
                    <a:pt x="207" y="48"/>
                    <a:pt x="0" y="0"/>
                  </a:cubicBezTo>
                </a:path>
              </a:pathLst>
            </a:custGeom>
            <a:noFill/>
            <a:ln w="19050">
              <a:solidFill>
                <a:srgbClr val="006600"/>
              </a:solidFill>
              <a:prstDash val="dash"/>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43" name="Text Box 4"/>
            <p:cNvSpPr txBox="1">
              <a:spLocks noChangeArrowheads="1"/>
            </p:cNvSpPr>
            <p:nvPr/>
          </p:nvSpPr>
          <p:spPr bwMode="auto">
            <a:xfrm>
              <a:off x="8800512" y="2480541"/>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6600"/>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6600"/>
                </a:solidFill>
                <a:effectLst/>
                <a:latin typeface="Consolas" pitchFamily="49" charset="0"/>
                <a:ea typeface="仿宋" pitchFamily="49" charset="-122"/>
                <a:cs typeface="宋体" pitchFamily="2" charset="-122"/>
              </a:endParaRPr>
            </a:p>
          </p:txBody>
        </p:sp>
        <p:sp>
          <p:nvSpPr>
            <p:cNvPr id="144" name="Freeform 3"/>
            <p:cNvSpPr>
              <a:spLocks/>
            </p:cNvSpPr>
            <p:nvPr/>
          </p:nvSpPr>
          <p:spPr bwMode="auto">
            <a:xfrm>
              <a:off x="7583372" y="1749866"/>
              <a:ext cx="151157" cy="592688"/>
            </a:xfrm>
            <a:custGeom>
              <a:avLst/>
              <a:gdLst/>
              <a:ahLst/>
              <a:cxnLst>
                <a:cxn ang="0">
                  <a:pos x="115" y="451"/>
                </a:cxn>
                <a:cxn ang="0">
                  <a:pos x="18" y="321"/>
                </a:cxn>
                <a:cxn ang="0">
                  <a:pos x="9" y="168"/>
                </a:cxn>
                <a:cxn ang="0">
                  <a:pos x="67" y="0"/>
                </a:cxn>
              </a:cxnLst>
              <a:rect l="0" t="0" r="r" b="b"/>
              <a:pathLst>
                <a:path w="115" h="451">
                  <a:moveTo>
                    <a:pt x="115" y="451"/>
                  </a:moveTo>
                  <a:cubicBezTo>
                    <a:pt x="99" y="431"/>
                    <a:pt x="36" y="368"/>
                    <a:pt x="18" y="321"/>
                  </a:cubicBezTo>
                  <a:cubicBezTo>
                    <a:pt x="0" y="274"/>
                    <a:pt x="1" y="221"/>
                    <a:pt x="9" y="168"/>
                  </a:cubicBezTo>
                  <a:cubicBezTo>
                    <a:pt x="17" y="115"/>
                    <a:pt x="55" y="35"/>
                    <a:pt x="67" y="0"/>
                  </a:cubicBezTo>
                </a:path>
              </a:pathLst>
            </a:custGeom>
            <a:noFill/>
            <a:ln w="19050">
              <a:solidFill>
                <a:srgbClr val="006600"/>
              </a:solidFill>
              <a:prstDash val="dash"/>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45" name="Text Box 2"/>
            <p:cNvSpPr txBox="1">
              <a:spLocks noChangeArrowheads="1"/>
            </p:cNvSpPr>
            <p:nvPr/>
          </p:nvSpPr>
          <p:spPr bwMode="auto">
            <a:xfrm>
              <a:off x="7380954" y="1966703"/>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6600"/>
                  </a:solidFill>
                  <a:effectLst/>
                  <a:latin typeface="Consolas" pitchFamily="49" charset="0"/>
                  <a:ea typeface="仿宋" pitchFamily="49" charset="-122"/>
                  <a:cs typeface="Times New Roman" pitchFamily="18" charset="0"/>
                </a:rPr>
                <a:t>5</a:t>
              </a:r>
              <a:endParaRPr kumimoji="0" lang="en-US" altLang="zh-CN" sz="2000" b="0" i="0" u="none" strike="noStrike" cap="none" normalizeH="0" baseline="0">
                <a:ln>
                  <a:noFill/>
                </a:ln>
                <a:solidFill>
                  <a:srgbClr val="006600"/>
                </a:solidFill>
                <a:effectLst/>
                <a:latin typeface="Consolas" pitchFamily="49" charset="0"/>
                <a:ea typeface="仿宋" pitchFamily="49" charset="-122"/>
                <a:cs typeface="宋体" pitchFamily="2" charset="-122"/>
              </a:endParaRPr>
            </a:p>
          </p:txBody>
        </p:sp>
        <p:cxnSp>
          <p:nvCxnSpPr>
            <p:cNvPr id="146" name="直接箭头连接符 145"/>
            <p:cNvCxnSpPr>
              <a:stCxn id="132" idx="0"/>
              <a:endCxn id="134" idx="4"/>
            </p:cNvCxnSpPr>
            <p:nvPr/>
          </p:nvCxnSpPr>
          <p:spPr>
            <a:xfrm rot="5400000" flipH="1" flipV="1">
              <a:off x="7622194" y="2998322"/>
              <a:ext cx="507268" cy="1588"/>
            </a:xfrm>
            <a:prstGeom prst="straightConnector1">
              <a:avLst/>
            </a:prstGeom>
            <a:ln w="19050">
              <a:solidFill>
                <a:srgbClr val="006600"/>
              </a:solidFill>
              <a:prstDash val="dash"/>
              <a:tailEnd type="arrow"/>
            </a:ln>
          </p:spPr>
          <p:style>
            <a:lnRef idx="2">
              <a:schemeClr val="dk1"/>
            </a:lnRef>
            <a:fillRef idx="0">
              <a:schemeClr val="dk1"/>
            </a:fillRef>
            <a:effectRef idx="1">
              <a:schemeClr val="dk1"/>
            </a:effectRef>
            <a:fontRef idx="minor">
              <a:schemeClr val="tx1"/>
            </a:fontRef>
          </p:style>
        </p:cxnSp>
        <p:sp>
          <p:nvSpPr>
            <p:cNvPr id="147" name="任意多边形 146"/>
            <p:cNvSpPr/>
            <p:nvPr/>
          </p:nvSpPr>
          <p:spPr>
            <a:xfrm>
              <a:off x="7975441" y="3691614"/>
              <a:ext cx="105363" cy="519289"/>
            </a:xfrm>
            <a:custGeom>
              <a:avLst/>
              <a:gdLst>
                <a:gd name="connsiteX0" fmla="*/ 0 w 105363"/>
                <a:gd name="connsiteY0" fmla="*/ 519289 h 519289"/>
                <a:gd name="connsiteX1" fmla="*/ 101600 w 105363"/>
                <a:gd name="connsiteY1" fmla="*/ 327377 h 519289"/>
                <a:gd name="connsiteX2" fmla="*/ 22578 w 105363"/>
                <a:gd name="connsiteY2" fmla="*/ 0 h 519289"/>
              </a:gdLst>
              <a:ahLst/>
              <a:cxnLst>
                <a:cxn ang="0">
                  <a:pos x="connsiteX0" y="connsiteY0"/>
                </a:cxn>
                <a:cxn ang="0">
                  <a:pos x="connsiteX1" y="connsiteY1"/>
                </a:cxn>
                <a:cxn ang="0">
                  <a:pos x="connsiteX2" y="connsiteY2"/>
                </a:cxn>
              </a:cxnLst>
              <a:rect l="l" t="t" r="r" b="b"/>
              <a:pathLst>
                <a:path w="105363" h="519289">
                  <a:moveTo>
                    <a:pt x="0" y="519289"/>
                  </a:moveTo>
                  <a:cubicBezTo>
                    <a:pt x="48918" y="466607"/>
                    <a:pt x="97837" y="413925"/>
                    <a:pt x="101600" y="327377"/>
                  </a:cubicBezTo>
                  <a:cubicBezTo>
                    <a:pt x="105363" y="240829"/>
                    <a:pt x="63970" y="120414"/>
                    <a:pt x="22578" y="0"/>
                  </a:cubicBezTo>
                </a:path>
              </a:pathLst>
            </a:custGeom>
            <a:ln w="19050">
              <a:solidFill>
                <a:srgbClr val="006600"/>
              </a:solidFill>
              <a:prstDash val="dash"/>
              <a:headEnd type="none" w="med" len="med"/>
              <a:tailEnd type="arrow" w="med" len="med"/>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148" name="Text Box 27"/>
            <p:cNvSpPr txBox="1">
              <a:spLocks noChangeArrowheads="1"/>
            </p:cNvSpPr>
            <p:nvPr/>
          </p:nvSpPr>
          <p:spPr bwMode="auto">
            <a:xfrm>
              <a:off x="8143900" y="3805035"/>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6600"/>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6600"/>
                </a:solidFill>
                <a:effectLst/>
                <a:latin typeface="Consolas" pitchFamily="49" charset="0"/>
                <a:ea typeface="仿宋" pitchFamily="49" charset="-122"/>
                <a:cs typeface="宋体" pitchFamily="2" charset="-122"/>
              </a:endParaRPr>
            </a:p>
          </p:txBody>
        </p:sp>
        <p:cxnSp>
          <p:nvCxnSpPr>
            <p:cNvPr id="149" name="直接箭头连接符 148"/>
            <p:cNvCxnSpPr>
              <a:stCxn id="131" idx="7"/>
              <a:endCxn id="134" idx="3"/>
            </p:cNvCxnSpPr>
            <p:nvPr/>
          </p:nvCxnSpPr>
          <p:spPr>
            <a:xfrm rot="5400000" flipH="1" flipV="1">
              <a:off x="7080847" y="2666937"/>
              <a:ext cx="638138" cy="662771"/>
            </a:xfrm>
            <a:prstGeom prst="straightConnector1">
              <a:avLst/>
            </a:prstGeom>
            <a:ln w="19050">
              <a:solidFill>
                <a:schemeClr val="tx1"/>
              </a:solidFill>
              <a:prstDash val="dash"/>
              <a:tailEnd type="arrow"/>
            </a:ln>
          </p:spPr>
          <p:style>
            <a:lnRef idx="2">
              <a:schemeClr val="dk1"/>
            </a:lnRef>
            <a:fillRef idx="0">
              <a:schemeClr val="dk1"/>
            </a:fillRef>
            <a:effectRef idx="1">
              <a:schemeClr val="dk1"/>
            </a:effectRef>
            <a:fontRef idx="minor">
              <a:schemeClr val="tx1"/>
            </a:fontRef>
          </p:style>
        </p:cxnSp>
        <p:sp>
          <p:nvSpPr>
            <p:cNvPr id="150" name="任意多边形 149"/>
            <p:cNvSpPr/>
            <p:nvPr/>
          </p:nvSpPr>
          <p:spPr>
            <a:xfrm>
              <a:off x="6931378" y="3725333"/>
              <a:ext cx="722489" cy="709319"/>
            </a:xfrm>
            <a:custGeom>
              <a:avLst/>
              <a:gdLst>
                <a:gd name="connsiteX0" fmla="*/ 722489 w 722489"/>
                <a:gd name="connsiteY0" fmla="*/ 677334 h 709319"/>
                <a:gd name="connsiteX1" fmla="*/ 406400 w 722489"/>
                <a:gd name="connsiteY1" fmla="*/ 677334 h 709319"/>
                <a:gd name="connsiteX2" fmla="*/ 67733 w 722489"/>
                <a:gd name="connsiteY2" fmla="*/ 485423 h 709319"/>
                <a:gd name="connsiteX3" fmla="*/ 0 w 722489"/>
                <a:gd name="connsiteY3" fmla="*/ 0 h 709319"/>
              </a:gdLst>
              <a:ahLst/>
              <a:cxnLst>
                <a:cxn ang="0">
                  <a:pos x="connsiteX0" y="connsiteY0"/>
                </a:cxn>
                <a:cxn ang="0">
                  <a:pos x="connsiteX1" y="connsiteY1"/>
                </a:cxn>
                <a:cxn ang="0">
                  <a:pos x="connsiteX2" y="connsiteY2"/>
                </a:cxn>
                <a:cxn ang="0">
                  <a:pos x="connsiteX3" y="connsiteY3"/>
                </a:cxn>
              </a:cxnLst>
              <a:rect l="l" t="t" r="r" b="b"/>
              <a:pathLst>
                <a:path w="722489" h="709319">
                  <a:moveTo>
                    <a:pt x="722489" y="677334"/>
                  </a:moveTo>
                  <a:cubicBezTo>
                    <a:pt x="619007" y="693326"/>
                    <a:pt x="515526" y="709319"/>
                    <a:pt x="406400" y="677334"/>
                  </a:cubicBezTo>
                  <a:cubicBezTo>
                    <a:pt x="297274" y="645349"/>
                    <a:pt x="135466" y="598312"/>
                    <a:pt x="67733" y="485423"/>
                  </a:cubicBezTo>
                  <a:cubicBezTo>
                    <a:pt x="0" y="372534"/>
                    <a:pt x="0" y="186267"/>
                    <a:pt x="0" y="0"/>
                  </a:cubicBezTo>
                </a:path>
              </a:pathLst>
            </a:custGeom>
            <a:ln w="19050">
              <a:solidFill>
                <a:schemeClr val="tx1"/>
              </a:solidFill>
              <a:prstDash val="dash"/>
              <a:headEnd type="none" w="med" len="med"/>
              <a:tailEnd type="arrow" w="med" len="med"/>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151" name="Text Box 23"/>
            <p:cNvSpPr txBox="1">
              <a:spLocks noChangeArrowheads="1"/>
            </p:cNvSpPr>
            <p:nvPr/>
          </p:nvSpPr>
          <p:spPr bwMode="auto">
            <a:xfrm>
              <a:off x="7140745" y="4415254"/>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6600"/>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6600"/>
                </a:solidFill>
                <a:effectLst/>
                <a:latin typeface="Consolas" pitchFamily="49" charset="0"/>
                <a:ea typeface="仿宋" pitchFamily="49" charset="-122"/>
                <a:cs typeface="宋体" pitchFamily="2" charset="-122"/>
              </a:endParaRPr>
            </a:p>
          </p:txBody>
        </p:sp>
      </p:grpSp>
      <p:sp>
        <p:nvSpPr>
          <p:cNvPr id="153" name="灯片编号占位符 152"/>
          <p:cNvSpPr>
            <a:spLocks noGrp="1"/>
          </p:cNvSpPr>
          <p:nvPr>
            <p:ph type="sldNum" sz="quarter" idx="12"/>
          </p:nvPr>
        </p:nvSpPr>
        <p:spPr/>
        <p:txBody>
          <a:bodyPr/>
          <a:lstStyle/>
          <a:p>
            <a:fld id="{7AF016A1-9F15-429F-9EFD-84004B73C732}" type="slidenum">
              <a:rPr lang="en-US" altLang="zh-CN" smtClean="0"/>
              <a:pPr/>
              <a:t>123</a:t>
            </a:fld>
            <a:r>
              <a:rPr lang="en-US" altLang="zh-CN"/>
              <a:t>/158</a:t>
            </a: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28596" y="714356"/>
            <a:ext cx="8072494" cy="1785104"/>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300"/>
              </a:lnSpc>
              <a:spcBef>
                <a:spcPts val="0"/>
              </a:spcBef>
            </a:pPr>
            <a:r>
              <a:rPr lang="en-US" altLang="zh-CN" sz="2200">
                <a:solidFill>
                  <a:srgbClr val="FF0000"/>
                </a:solidFill>
                <a:latin typeface="Consolas" pitchFamily="49" charset="0"/>
                <a:ea typeface="楷体" pitchFamily="49" charset="-122"/>
                <a:sym typeface="Wingdings"/>
              </a:rPr>
              <a:t></a:t>
            </a:r>
            <a:r>
              <a:rPr lang="en-US" altLang="zh-CN" sz="2200">
                <a:solidFill>
                  <a:srgbClr val="FF0000"/>
                </a:solidFill>
                <a:latin typeface="Consolas" pitchFamily="49" charset="0"/>
                <a:ea typeface="楷体" pitchFamily="49" charset="-122"/>
              </a:rPr>
              <a:t>Edmonds-Krap</a:t>
            </a:r>
            <a:r>
              <a:rPr lang="zh-CN" altLang="zh-CN" sz="2200">
                <a:solidFill>
                  <a:srgbClr val="FF0000"/>
                </a:solidFill>
                <a:latin typeface="Consolas" pitchFamily="49" charset="0"/>
                <a:ea typeface="楷体" pitchFamily="49" charset="-122"/>
              </a:rPr>
              <a:t>算法分析</a:t>
            </a:r>
            <a:r>
              <a:rPr lang="zh-CN" altLang="zh-CN" sz="2200">
                <a:solidFill>
                  <a:srgbClr val="0000FF"/>
                </a:solidFill>
                <a:latin typeface="Consolas" pitchFamily="49" charset="0"/>
                <a:ea typeface="仿宋" pitchFamily="49" charset="-122"/>
              </a:rPr>
              <a:t>：若网络</a:t>
            </a:r>
            <a:r>
              <a:rPr lang="en-US" altLang="zh-CN" sz="2200" i="1">
                <a:solidFill>
                  <a:srgbClr val="0000FF"/>
                </a:solidFill>
                <a:latin typeface="Consolas" pitchFamily="49" charset="0"/>
                <a:ea typeface="仿宋" pitchFamily="49" charset="-122"/>
              </a:rPr>
              <a:t>G</a:t>
            </a:r>
            <a:r>
              <a:rPr lang="zh-CN" altLang="zh-CN" sz="2200">
                <a:solidFill>
                  <a:srgbClr val="0000FF"/>
                </a:solidFill>
                <a:latin typeface="Consolas" pitchFamily="49" charset="0"/>
                <a:ea typeface="仿宋" pitchFamily="49" charset="-122"/>
              </a:rPr>
              <a:t>中有</a:t>
            </a:r>
            <a:r>
              <a:rPr lang="en-US" altLang="zh-CN" sz="2200" i="1">
                <a:solidFill>
                  <a:srgbClr val="0000FF"/>
                </a:solidFill>
                <a:latin typeface="Consolas" pitchFamily="49" charset="0"/>
                <a:ea typeface="仿宋" pitchFamily="49" charset="-122"/>
              </a:rPr>
              <a:t>n</a:t>
            </a:r>
            <a:r>
              <a:rPr lang="zh-CN" altLang="zh-CN" sz="2200">
                <a:solidFill>
                  <a:srgbClr val="0000FF"/>
                </a:solidFill>
                <a:latin typeface="Consolas" pitchFamily="49" charset="0"/>
                <a:ea typeface="仿宋" pitchFamily="49" charset="-122"/>
              </a:rPr>
              <a:t>个顶点和</a:t>
            </a:r>
            <a:r>
              <a:rPr lang="en-US" altLang="zh-CN" sz="2200" i="1">
                <a:solidFill>
                  <a:srgbClr val="0000FF"/>
                </a:solidFill>
                <a:latin typeface="Consolas" pitchFamily="49" charset="0"/>
                <a:ea typeface="仿宋" pitchFamily="49" charset="-122"/>
              </a:rPr>
              <a:t>e</a:t>
            </a:r>
            <a:r>
              <a:rPr lang="zh-CN" altLang="zh-CN" sz="2200">
                <a:solidFill>
                  <a:srgbClr val="0000FF"/>
                </a:solidFill>
                <a:latin typeface="Consolas" pitchFamily="49" charset="0"/>
                <a:ea typeface="仿宋" pitchFamily="49" charset="-122"/>
              </a:rPr>
              <a:t>条边，</a:t>
            </a:r>
            <a:r>
              <a:rPr lang="en-US" altLang="zh-CN" sz="2200" i="1">
                <a:solidFill>
                  <a:srgbClr val="0000FF"/>
                </a:solidFill>
                <a:latin typeface="Consolas" pitchFamily="49" charset="0"/>
                <a:ea typeface="仿宋" pitchFamily="49" charset="-122"/>
              </a:rPr>
              <a:t>G</a:t>
            </a:r>
            <a:r>
              <a:rPr lang="en-US" altLang="zh-CN" sz="2200" i="1" baseline="-25000">
                <a:solidFill>
                  <a:srgbClr val="0000FF"/>
                </a:solidFill>
                <a:latin typeface="Consolas" pitchFamily="49" charset="0"/>
                <a:ea typeface="仿宋" pitchFamily="49" charset="-122"/>
              </a:rPr>
              <a:t>f</a:t>
            </a:r>
            <a:r>
              <a:rPr lang="zh-CN" altLang="zh-CN" sz="2200">
                <a:solidFill>
                  <a:srgbClr val="0000FF"/>
                </a:solidFill>
                <a:latin typeface="Consolas" pitchFamily="49" charset="0"/>
                <a:ea typeface="仿宋" pitchFamily="49" charset="-122"/>
              </a:rPr>
              <a:t>中的边数为</a:t>
            </a:r>
            <a:r>
              <a:rPr lang="en-US" altLang="zh-CN" sz="2200">
                <a:solidFill>
                  <a:srgbClr val="0000FF"/>
                </a:solidFill>
                <a:latin typeface="Consolas" pitchFamily="49" charset="0"/>
                <a:ea typeface="仿宋" pitchFamily="49" charset="-122"/>
              </a:rPr>
              <a:t>2</a:t>
            </a:r>
            <a:r>
              <a:rPr lang="en-US" altLang="zh-CN" sz="2200" i="1">
                <a:solidFill>
                  <a:srgbClr val="0000FF"/>
                </a:solidFill>
                <a:latin typeface="Consolas" pitchFamily="49" charset="0"/>
                <a:ea typeface="仿宋" pitchFamily="49" charset="-122"/>
              </a:rPr>
              <a:t>e</a:t>
            </a:r>
            <a:r>
              <a:rPr lang="zh-CN" altLang="zh-CN" sz="2200">
                <a:solidFill>
                  <a:srgbClr val="0000FF"/>
                </a:solidFill>
                <a:latin typeface="Consolas" pitchFamily="49" charset="0"/>
                <a:ea typeface="仿宋" pitchFamily="49" charset="-122"/>
              </a:rPr>
              <a:t>，该算法中利用</a:t>
            </a:r>
            <a:r>
              <a:rPr lang="en-US" altLang="zh-CN" sz="2200">
                <a:solidFill>
                  <a:srgbClr val="0000FF"/>
                </a:solidFill>
                <a:latin typeface="Consolas" pitchFamily="49" charset="0"/>
                <a:ea typeface="仿宋" pitchFamily="49" charset="-122"/>
              </a:rPr>
              <a:t>BFS</a:t>
            </a:r>
            <a:r>
              <a:rPr lang="zh-CN" altLang="zh-CN" sz="2200">
                <a:solidFill>
                  <a:srgbClr val="0000FF"/>
                </a:solidFill>
                <a:latin typeface="Consolas" pitchFamily="49" charset="0"/>
                <a:ea typeface="仿宋" pitchFamily="49" charset="-122"/>
              </a:rPr>
              <a:t>找一条增广路径的时间为</a:t>
            </a:r>
            <a:r>
              <a:rPr lang="en-US" altLang="zh-CN" sz="2200">
                <a:solidFill>
                  <a:srgbClr val="0000FF"/>
                </a:solidFill>
                <a:latin typeface="Consolas" pitchFamily="49" charset="0"/>
                <a:ea typeface="仿宋" pitchFamily="49" charset="-122"/>
              </a:rPr>
              <a:t>O(</a:t>
            </a:r>
            <a:r>
              <a:rPr lang="en-US" altLang="zh-CN" sz="2200" i="1">
                <a:solidFill>
                  <a:srgbClr val="0000FF"/>
                </a:solidFill>
                <a:latin typeface="Consolas" pitchFamily="49" charset="0"/>
                <a:ea typeface="仿宋" pitchFamily="49" charset="-122"/>
              </a:rPr>
              <a:t>e</a:t>
            </a:r>
            <a:r>
              <a:rPr lang="en-US" altLang="zh-CN" sz="2200">
                <a:solidFill>
                  <a:srgbClr val="0000FF"/>
                </a:solidFill>
                <a:latin typeface="Consolas" pitchFamily="49" charset="0"/>
                <a:ea typeface="仿宋" pitchFamily="49" charset="-122"/>
              </a:rPr>
              <a:t>)</a:t>
            </a:r>
            <a:r>
              <a:rPr lang="zh-CN" altLang="zh-CN" sz="2200">
                <a:solidFill>
                  <a:srgbClr val="0000FF"/>
                </a:solidFill>
                <a:latin typeface="Consolas" pitchFamily="49" charset="0"/>
                <a:ea typeface="仿宋" pitchFamily="49" charset="-122"/>
              </a:rPr>
              <a:t>，对流进行增加的全部次数或者</a:t>
            </a:r>
            <a:r>
              <a:rPr lang="en-US" altLang="zh-CN" sz="2200">
                <a:solidFill>
                  <a:srgbClr val="0000FF"/>
                </a:solidFill>
                <a:latin typeface="Consolas" pitchFamily="49" charset="0"/>
                <a:ea typeface="仿宋" pitchFamily="49" charset="-122"/>
              </a:rPr>
              <a:t>BFS</a:t>
            </a:r>
            <a:r>
              <a:rPr lang="zh-CN" altLang="zh-CN" sz="2200">
                <a:solidFill>
                  <a:srgbClr val="0000FF"/>
                </a:solidFill>
                <a:latin typeface="Consolas" pitchFamily="49" charset="0"/>
                <a:ea typeface="仿宋" pitchFamily="49" charset="-122"/>
              </a:rPr>
              <a:t>寻找增广路径的次数为</a:t>
            </a:r>
            <a:r>
              <a:rPr lang="en-US" altLang="zh-CN" sz="2200">
                <a:solidFill>
                  <a:srgbClr val="0000FF"/>
                </a:solidFill>
                <a:latin typeface="Consolas" pitchFamily="49" charset="0"/>
                <a:ea typeface="仿宋" pitchFamily="49" charset="-122"/>
              </a:rPr>
              <a:t>O(</a:t>
            </a:r>
            <a:r>
              <a:rPr lang="en-US" altLang="zh-CN" sz="2200" i="1">
                <a:solidFill>
                  <a:srgbClr val="0000FF"/>
                </a:solidFill>
                <a:latin typeface="Consolas" pitchFamily="49" charset="0"/>
                <a:ea typeface="仿宋" pitchFamily="49" charset="-122"/>
              </a:rPr>
              <a:t>ne</a:t>
            </a:r>
            <a:r>
              <a:rPr lang="en-US" altLang="zh-CN" sz="2200">
                <a:solidFill>
                  <a:srgbClr val="0000FF"/>
                </a:solidFill>
                <a:latin typeface="Consolas" pitchFamily="49" charset="0"/>
                <a:ea typeface="仿宋" pitchFamily="49" charset="-122"/>
              </a:rPr>
              <a:t>)</a:t>
            </a:r>
            <a:r>
              <a:rPr lang="zh-CN" altLang="zh-CN" sz="2200">
                <a:solidFill>
                  <a:srgbClr val="0000FF"/>
                </a:solidFill>
                <a:latin typeface="Consolas" pitchFamily="49" charset="0"/>
                <a:ea typeface="仿宋" pitchFamily="49" charset="-122"/>
              </a:rPr>
              <a:t>，所以</a:t>
            </a:r>
            <a:r>
              <a:rPr lang="en-US" altLang="zh-CN" sz="2200">
                <a:solidFill>
                  <a:srgbClr val="0000FF"/>
                </a:solidFill>
                <a:latin typeface="Consolas" pitchFamily="49" charset="0"/>
                <a:ea typeface="仿宋" pitchFamily="49" charset="-122"/>
              </a:rPr>
              <a:t>Edmonds-Krap</a:t>
            </a:r>
            <a:r>
              <a:rPr lang="zh-CN" altLang="zh-CN" sz="2200">
                <a:solidFill>
                  <a:srgbClr val="0000FF"/>
                </a:solidFill>
                <a:latin typeface="Consolas" pitchFamily="49" charset="0"/>
                <a:ea typeface="仿宋" pitchFamily="49" charset="-122"/>
              </a:rPr>
              <a:t>算法的时间复杂度为</a:t>
            </a:r>
            <a:r>
              <a:rPr lang="en-US" altLang="zh-CN" sz="2200">
                <a:solidFill>
                  <a:srgbClr val="0000FF"/>
                </a:solidFill>
                <a:latin typeface="Consolas" pitchFamily="49" charset="0"/>
                <a:ea typeface="仿宋" pitchFamily="49" charset="-122"/>
              </a:rPr>
              <a:t>O(</a:t>
            </a:r>
            <a:r>
              <a:rPr lang="en-US" altLang="zh-CN" sz="2200" i="1">
                <a:solidFill>
                  <a:srgbClr val="0000FF"/>
                </a:solidFill>
                <a:latin typeface="Consolas" pitchFamily="49" charset="0"/>
                <a:ea typeface="仿宋" pitchFamily="49" charset="-122"/>
              </a:rPr>
              <a:t>ne</a:t>
            </a:r>
            <a:r>
              <a:rPr lang="en-US" altLang="zh-CN" sz="2200" baseline="30000">
                <a:solidFill>
                  <a:srgbClr val="0000FF"/>
                </a:solidFill>
                <a:latin typeface="Consolas" pitchFamily="49" charset="0"/>
                <a:ea typeface="仿宋" pitchFamily="49" charset="-122"/>
              </a:rPr>
              <a:t>2</a:t>
            </a:r>
            <a:r>
              <a:rPr lang="en-US" altLang="zh-CN" sz="2200">
                <a:solidFill>
                  <a:srgbClr val="0000FF"/>
                </a:solidFill>
                <a:latin typeface="Consolas" pitchFamily="49" charset="0"/>
                <a:ea typeface="仿宋" pitchFamily="49" charset="-122"/>
              </a:rPr>
              <a:t>)</a:t>
            </a:r>
            <a:r>
              <a:rPr lang="zh-CN" altLang="zh-CN" sz="2200">
                <a:solidFill>
                  <a:srgbClr val="0000FF"/>
                </a:solidFill>
                <a:latin typeface="Consolas" pitchFamily="49" charset="0"/>
                <a:ea typeface="仿宋" pitchFamily="49" charset="-122"/>
              </a:rPr>
              <a:t>。</a:t>
            </a: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124</a:t>
            </a:fld>
            <a:r>
              <a:rPr lang="en-US" altLang="zh-CN"/>
              <a:t>/158</a:t>
            </a: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500042"/>
            <a:ext cx="3857652" cy="523220"/>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rPr>
              <a:t>9.3.4 Dinic</a:t>
            </a:r>
            <a:r>
              <a:rPr lang="zh-CN" altLang="zh-CN" sz="2800">
                <a:latin typeface="Consolas" pitchFamily="49" charset="0"/>
                <a:ea typeface="微软雅黑" pitchFamily="34" charset="-122"/>
              </a:rPr>
              <a:t>算法</a:t>
            </a:r>
            <a:endParaRPr lang="zh-CN" altLang="zh-CN"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endParaRPr>
          </a:p>
        </p:txBody>
      </p:sp>
      <p:sp>
        <p:nvSpPr>
          <p:cNvPr id="4" name="TextBox 3"/>
          <p:cNvSpPr txBox="1"/>
          <p:nvPr/>
        </p:nvSpPr>
        <p:spPr>
          <a:xfrm>
            <a:off x="571472" y="1571612"/>
            <a:ext cx="7858180" cy="2785378"/>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300"/>
              </a:lnSpc>
              <a:spcBef>
                <a:spcPts val="1200"/>
              </a:spcBef>
              <a:buBlip>
                <a:blip r:embed="rId3"/>
              </a:buBlip>
            </a:pPr>
            <a:r>
              <a:rPr lang="en-US" altLang="zh-CN">
                <a:solidFill>
                  <a:srgbClr val="0000FF"/>
                </a:solidFill>
                <a:latin typeface="Consolas" pitchFamily="49" charset="0"/>
                <a:ea typeface="仿宋" pitchFamily="49" charset="-122"/>
              </a:rPr>
              <a:t>Dinic</a:t>
            </a:r>
            <a:r>
              <a:rPr lang="zh-CN" altLang="zh-CN">
                <a:solidFill>
                  <a:srgbClr val="0000FF"/>
                </a:solidFill>
                <a:latin typeface="Consolas" pitchFamily="49" charset="0"/>
                <a:ea typeface="仿宋" pitchFamily="49" charset="-122"/>
              </a:rPr>
              <a:t>算法与</a:t>
            </a:r>
            <a:r>
              <a:rPr lang="en-US" altLang="zh-CN">
                <a:solidFill>
                  <a:srgbClr val="0000FF"/>
                </a:solidFill>
                <a:latin typeface="Consolas" pitchFamily="49" charset="0"/>
                <a:ea typeface="仿宋" pitchFamily="49" charset="-122"/>
              </a:rPr>
              <a:t>Edmonds-Krap</a:t>
            </a:r>
            <a:r>
              <a:rPr lang="zh-CN" altLang="zh-CN">
                <a:solidFill>
                  <a:srgbClr val="0000FF"/>
                </a:solidFill>
                <a:latin typeface="Consolas" pitchFamily="49" charset="0"/>
                <a:ea typeface="仿宋" pitchFamily="49" charset="-122"/>
              </a:rPr>
              <a:t>算法一样也是找边数最少的增广路径进行增广</a:t>
            </a:r>
            <a:r>
              <a:rPr lang="zh-CN" altLang="en-US">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marL="457200" indent="-457200" algn="l">
              <a:lnSpc>
                <a:spcPts val="3300"/>
              </a:lnSpc>
              <a:spcBef>
                <a:spcPts val="1200"/>
              </a:spcBef>
              <a:buBlip>
                <a:blip r:embed="rId3"/>
              </a:buBlip>
            </a:pPr>
            <a:r>
              <a:rPr lang="zh-CN" altLang="zh-CN">
                <a:solidFill>
                  <a:srgbClr val="FF0000"/>
                </a:solidFill>
                <a:latin typeface="楷体" pitchFamily="49" charset="-122"/>
                <a:ea typeface="楷体" pitchFamily="49" charset="-122"/>
              </a:rPr>
              <a:t>不同之处</a:t>
            </a:r>
            <a:r>
              <a:rPr lang="zh-CN" altLang="en-US">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Edmonds-Krap</a:t>
            </a:r>
            <a:r>
              <a:rPr lang="zh-CN" altLang="zh-CN">
                <a:solidFill>
                  <a:srgbClr val="0000FF"/>
                </a:solidFill>
                <a:latin typeface="Consolas" pitchFamily="49" charset="0"/>
                <a:ea typeface="仿宋" pitchFamily="49" charset="-122"/>
              </a:rPr>
              <a:t>算法的每个阶段执行完一次</a:t>
            </a:r>
            <a:r>
              <a:rPr lang="en-US" altLang="zh-CN">
                <a:solidFill>
                  <a:srgbClr val="0000FF"/>
                </a:solidFill>
                <a:latin typeface="Consolas" pitchFamily="49" charset="0"/>
                <a:ea typeface="仿宋" pitchFamily="49" charset="-122"/>
              </a:rPr>
              <a:t>BFS</a:t>
            </a:r>
            <a:r>
              <a:rPr lang="zh-CN" altLang="zh-CN">
                <a:solidFill>
                  <a:srgbClr val="0000FF"/>
                </a:solidFill>
                <a:latin typeface="Consolas" pitchFamily="49" charset="0"/>
                <a:ea typeface="仿宋" pitchFamily="49" charset="-122"/>
              </a:rPr>
              <a:t>增广后都要重新启动</a:t>
            </a:r>
            <a:r>
              <a:rPr lang="en-US" altLang="zh-CN">
                <a:solidFill>
                  <a:srgbClr val="0000FF"/>
                </a:solidFill>
                <a:latin typeface="Consolas" pitchFamily="49" charset="0"/>
                <a:ea typeface="仿宋" pitchFamily="49" charset="-122"/>
              </a:rPr>
              <a:t>BFS</a:t>
            </a:r>
            <a:r>
              <a:rPr lang="zh-CN" altLang="zh-CN">
                <a:solidFill>
                  <a:srgbClr val="0000FF"/>
                </a:solidFill>
                <a:latin typeface="Consolas" pitchFamily="49" charset="0"/>
                <a:ea typeface="仿宋" pitchFamily="49" charset="-122"/>
              </a:rPr>
              <a:t>从源点</a:t>
            </a:r>
            <a:r>
              <a:rPr lang="en-US" altLang="zh-CN">
                <a:solidFill>
                  <a:srgbClr val="0000FF"/>
                </a:solidFill>
                <a:latin typeface="Consolas" pitchFamily="49" charset="0"/>
                <a:ea typeface="仿宋" pitchFamily="49" charset="-122"/>
              </a:rPr>
              <a:t>S</a:t>
            </a:r>
            <a:r>
              <a:rPr lang="zh-CN" altLang="zh-CN">
                <a:solidFill>
                  <a:srgbClr val="0000FF"/>
                </a:solidFill>
                <a:latin typeface="Consolas" pitchFamily="49" charset="0"/>
                <a:ea typeface="仿宋" pitchFamily="49" charset="-122"/>
              </a:rPr>
              <a:t>开始寻找另一条增广路径，而</a:t>
            </a:r>
            <a:r>
              <a:rPr lang="en-US" altLang="zh-CN">
                <a:solidFill>
                  <a:srgbClr val="0000FF"/>
                </a:solidFill>
                <a:latin typeface="Consolas" pitchFamily="49" charset="0"/>
                <a:ea typeface="仿宋" pitchFamily="49" charset="-122"/>
              </a:rPr>
              <a:t>Dinic</a:t>
            </a:r>
            <a:r>
              <a:rPr lang="zh-CN" altLang="zh-CN">
                <a:solidFill>
                  <a:srgbClr val="0000FF"/>
                </a:solidFill>
                <a:latin typeface="Consolas" pitchFamily="49" charset="0"/>
                <a:ea typeface="仿宋" pitchFamily="49" charset="-122"/>
              </a:rPr>
              <a:t>算法中只需一次</a:t>
            </a:r>
            <a:r>
              <a:rPr lang="en-US" altLang="zh-CN">
                <a:solidFill>
                  <a:srgbClr val="0000FF"/>
                </a:solidFill>
                <a:latin typeface="Consolas" pitchFamily="49" charset="0"/>
                <a:ea typeface="仿宋" pitchFamily="49" charset="-122"/>
              </a:rPr>
              <a:t>DFS</a:t>
            </a:r>
            <a:r>
              <a:rPr lang="zh-CN" altLang="zh-CN">
                <a:solidFill>
                  <a:srgbClr val="0000FF"/>
                </a:solidFill>
                <a:latin typeface="Consolas" pitchFamily="49" charset="0"/>
                <a:ea typeface="仿宋" pitchFamily="49" charset="-122"/>
              </a:rPr>
              <a:t>过程就可以实现多次增广。</a:t>
            </a:r>
            <a:endParaRPr lang="zh-CN" altLang="en-US">
              <a:solidFill>
                <a:srgbClr val="0000FF"/>
              </a:solidFill>
              <a:latin typeface="Consolas" pitchFamily="49" charset="0"/>
              <a:ea typeface="仿宋" pitchFamily="49" charset="-122"/>
              <a:cs typeface="Consolas" pitchFamily="49" charset="0"/>
            </a:endParaRPr>
          </a:p>
        </p:txBody>
      </p:sp>
      <p:sp>
        <p:nvSpPr>
          <p:cNvPr id="6" name="灯片编号占位符 5"/>
          <p:cNvSpPr>
            <a:spLocks noGrp="1"/>
          </p:cNvSpPr>
          <p:nvPr>
            <p:ph type="sldNum" sz="quarter" idx="12"/>
          </p:nvPr>
        </p:nvSpPr>
        <p:spPr/>
        <p:txBody>
          <a:bodyPr/>
          <a:lstStyle/>
          <a:p>
            <a:fld id="{7AF016A1-9F15-429F-9EFD-84004B73C732}" type="slidenum">
              <a:rPr lang="en-US" altLang="zh-CN" smtClean="0"/>
              <a:pPr/>
              <a:t>125</a:t>
            </a:fld>
            <a:r>
              <a:rPr lang="en-US" altLang="zh-CN"/>
              <a:t>/158</a:t>
            </a: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28596" y="467005"/>
            <a:ext cx="3786214" cy="461665"/>
          </a:xfrm>
          <a:prstGeom prst="rect">
            <a:avLst/>
          </a:prstGeom>
          <a:noFill/>
        </p:spPr>
        <p:txBody>
          <a:bodyPr wrap="square" rtlCol="0">
            <a:spAutoFit/>
          </a:bodyPr>
          <a:lstStyle/>
          <a:p>
            <a:pPr algn="l">
              <a:lnSpc>
                <a:spcPct val="100000"/>
              </a:lnSpc>
              <a:spcBef>
                <a:spcPts val="0"/>
              </a:spcBef>
            </a:pPr>
            <a:r>
              <a:rPr lang="en-US" altLang="zh-CN">
                <a:solidFill>
                  <a:srgbClr val="0000FF"/>
                </a:solidFill>
                <a:latin typeface="Consolas" pitchFamily="49" charset="0"/>
                <a:ea typeface="仿宋" pitchFamily="49" charset="-122"/>
              </a:rPr>
              <a:t>Dinic</a:t>
            </a:r>
            <a:r>
              <a:rPr lang="zh-CN" altLang="zh-CN">
                <a:solidFill>
                  <a:srgbClr val="0000FF"/>
                </a:solidFill>
                <a:latin typeface="Consolas" pitchFamily="49" charset="0"/>
                <a:ea typeface="仿宋" pitchFamily="49" charset="-122"/>
              </a:rPr>
              <a:t>算法的具体步骤</a:t>
            </a:r>
            <a:r>
              <a:rPr lang="zh-CN" altLang="en-US">
                <a:solidFill>
                  <a:srgbClr val="0000FF"/>
                </a:solidFill>
                <a:latin typeface="Consolas" pitchFamily="49" charset="0"/>
                <a:ea typeface="仿宋" pitchFamily="49" charset="-122"/>
              </a:rPr>
              <a:t>。</a:t>
            </a:r>
            <a:endParaRPr lang="zh-CN" altLang="en-US">
              <a:solidFill>
                <a:srgbClr val="0000FF"/>
              </a:solidFill>
              <a:latin typeface="Consolas" pitchFamily="49" charset="0"/>
              <a:ea typeface="仿宋" pitchFamily="49" charset="-122"/>
              <a:cs typeface="Consolas" pitchFamily="49" charset="0"/>
            </a:endParaRPr>
          </a:p>
        </p:txBody>
      </p:sp>
      <p:sp>
        <p:nvSpPr>
          <p:cNvPr id="4" name="TextBox 3"/>
          <p:cNvSpPr txBox="1"/>
          <p:nvPr/>
        </p:nvSpPr>
        <p:spPr>
          <a:xfrm>
            <a:off x="428596" y="1142984"/>
            <a:ext cx="8501122" cy="4914166"/>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defTabSz="360000">
              <a:lnSpc>
                <a:spcPts val="3200"/>
              </a:lnSpc>
              <a:spcBef>
                <a:spcPts val="600"/>
              </a:spcBef>
            </a:pP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）根据给定的网络</a:t>
            </a:r>
            <a:r>
              <a:rPr lang="en-US" altLang="zh-CN" i="1">
                <a:solidFill>
                  <a:srgbClr val="0000FF"/>
                </a:solidFill>
                <a:latin typeface="Consolas" pitchFamily="49" charset="0"/>
                <a:ea typeface="仿宋" pitchFamily="49" charset="-122"/>
              </a:rPr>
              <a:t>G</a:t>
            </a:r>
            <a:r>
              <a:rPr lang="zh-CN" altLang="zh-CN">
                <a:solidFill>
                  <a:srgbClr val="0000FF"/>
                </a:solidFill>
                <a:latin typeface="Consolas" pitchFamily="49" charset="0"/>
                <a:ea typeface="仿宋" pitchFamily="49" charset="-122"/>
              </a:rPr>
              <a:t>从零流开始建立一个剩余网络</a:t>
            </a:r>
            <a:r>
              <a:rPr lang="en-US" altLang="zh-CN" i="1">
                <a:solidFill>
                  <a:srgbClr val="FF0000"/>
                </a:solidFill>
                <a:latin typeface="Consolas" pitchFamily="49" charset="0"/>
                <a:ea typeface="仿宋" pitchFamily="49" charset="-122"/>
              </a:rPr>
              <a:t>G</a:t>
            </a:r>
            <a:r>
              <a:rPr lang="en-US" altLang="zh-CN" i="1" baseline="-25000">
                <a:solidFill>
                  <a:srgbClr val="FF0000"/>
                </a:solidFill>
                <a:latin typeface="Consolas" pitchFamily="49" charset="0"/>
                <a:ea typeface="仿宋" pitchFamily="49" charset="-122"/>
              </a:rPr>
              <a:t>f</a:t>
            </a:r>
            <a:r>
              <a:rPr lang="zh-CN" altLang="zh-CN">
                <a:solidFill>
                  <a:srgbClr val="0000FF"/>
                </a:solidFill>
                <a:latin typeface="Consolas" pitchFamily="49" charset="0"/>
                <a:ea typeface="仿宋" pitchFamily="49" charset="-122"/>
              </a:rPr>
              <a:t>，其初始边上的剩余容量等于</a:t>
            </a:r>
            <a:r>
              <a:rPr lang="en-US" altLang="zh-CN">
                <a:solidFill>
                  <a:srgbClr val="0000FF"/>
                </a:solidFill>
                <a:latin typeface="Consolas" pitchFamily="49" charset="0"/>
                <a:ea typeface="仿宋" pitchFamily="49" charset="-122"/>
              </a:rPr>
              <a:t>G</a:t>
            </a:r>
            <a:r>
              <a:rPr lang="zh-CN" altLang="zh-CN">
                <a:solidFill>
                  <a:srgbClr val="0000FF"/>
                </a:solidFill>
                <a:latin typeface="Consolas" pitchFamily="49" charset="0"/>
                <a:ea typeface="仿宋" pitchFamily="49" charset="-122"/>
              </a:rPr>
              <a:t>中对应边的初始容量。</a:t>
            </a:r>
          </a:p>
          <a:p>
            <a:pPr algn="l" defTabSz="360000">
              <a:lnSpc>
                <a:spcPts val="3200"/>
              </a:lnSpc>
              <a:spcBef>
                <a:spcPts val="600"/>
              </a:spcBef>
            </a:pP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）若</a:t>
            </a:r>
            <a:r>
              <a:rPr lang="en-US" altLang="zh-CN" i="1">
                <a:solidFill>
                  <a:srgbClr val="0000FF"/>
                </a:solidFill>
                <a:latin typeface="Consolas" pitchFamily="49" charset="0"/>
                <a:ea typeface="仿宋" pitchFamily="49" charset="-122"/>
              </a:rPr>
              <a:t>G</a:t>
            </a:r>
            <a:r>
              <a:rPr lang="en-US" altLang="zh-CN" i="1" baseline="-25000">
                <a:solidFill>
                  <a:srgbClr val="0000FF"/>
                </a:solidFill>
                <a:latin typeface="Consolas" pitchFamily="49" charset="0"/>
                <a:ea typeface="仿宋" pitchFamily="49" charset="-122"/>
              </a:rPr>
              <a:t>f</a:t>
            </a:r>
            <a:r>
              <a:rPr lang="zh-CN" altLang="zh-CN">
                <a:solidFill>
                  <a:srgbClr val="0000FF"/>
                </a:solidFill>
                <a:latin typeface="Consolas" pitchFamily="49" charset="0"/>
                <a:ea typeface="仿宋" pitchFamily="49" charset="-122"/>
              </a:rPr>
              <a:t>中存在从源点</a:t>
            </a:r>
            <a:r>
              <a:rPr lang="en-US" altLang="zh-CN">
                <a:solidFill>
                  <a:srgbClr val="0000FF"/>
                </a:solidFill>
                <a:latin typeface="Consolas" pitchFamily="49" charset="0"/>
                <a:ea typeface="仿宋" pitchFamily="49" charset="-122"/>
              </a:rPr>
              <a:t>S</a:t>
            </a:r>
            <a:r>
              <a:rPr lang="zh-CN" altLang="zh-CN">
                <a:solidFill>
                  <a:srgbClr val="0000FF"/>
                </a:solidFill>
                <a:latin typeface="Consolas" pitchFamily="49" charset="0"/>
                <a:ea typeface="仿宋" pitchFamily="49" charset="-122"/>
              </a:rPr>
              <a:t>到汇点</a:t>
            </a:r>
            <a:r>
              <a:rPr lang="en-US" altLang="zh-CN">
                <a:solidFill>
                  <a:srgbClr val="0000FF"/>
                </a:solidFill>
                <a:latin typeface="Consolas" pitchFamily="49" charset="0"/>
                <a:ea typeface="仿宋" pitchFamily="49" charset="-122"/>
              </a:rPr>
              <a:t>T</a:t>
            </a:r>
            <a:r>
              <a:rPr lang="zh-CN" altLang="zh-CN">
                <a:solidFill>
                  <a:srgbClr val="0000FF"/>
                </a:solidFill>
                <a:latin typeface="Consolas" pitchFamily="49" charset="0"/>
                <a:ea typeface="仿宋" pitchFamily="49" charset="-122"/>
              </a:rPr>
              <a:t>的增广路径</a:t>
            </a:r>
            <a:r>
              <a:rPr lang="en-US" altLang="zh-CN" i="1">
                <a:solidFill>
                  <a:srgbClr val="0000FF"/>
                </a:solidFill>
                <a:latin typeface="Consolas" pitchFamily="49" charset="0"/>
                <a:ea typeface="仿宋" pitchFamily="49" charset="-122"/>
              </a:rPr>
              <a:t>μ</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f</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，重复以下过程。</a:t>
            </a:r>
          </a:p>
          <a:p>
            <a:pPr marL="914400" lvl="1" indent="-457200" algn="l" defTabSz="360000">
              <a:lnSpc>
                <a:spcPts val="3200"/>
              </a:lnSpc>
              <a:spcBef>
                <a:spcPts val="600"/>
              </a:spcBef>
              <a:buFont typeface="+mj-ea"/>
              <a:buAutoNum type="circleNumDbPlain"/>
            </a:pPr>
            <a:r>
              <a:rPr lang="zh-CN" altLang="zh-CN" sz="2200">
                <a:solidFill>
                  <a:srgbClr val="006600"/>
                </a:solidFill>
                <a:latin typeface="Consolas" pitchFamily="49" charset="0"/>
                <a:ea typeface="仿宋" pitchFamily="49" charset="-122"/>
              </a:rPr>
              <a:t>采用</a:t>
            </a:r>
            <a:r>
              <a:rPr lang="en-US" altLang="zh-CN" sz="2200">
                <a:solidFill>
                  <a:srgbClr val="006600"/>
                </a:solidFill>
                <a:latin typeface="Consolas" pitchFamily="49" charset="0"/>
                <a:ea typeface="仿宋" pitchFamily="49" charset="-122"/>
              </a:rPr>
              <a:t>BFS</a:t>
            </a:r>
            <a:r>
              <a:rPr lang="zh-CN" altLang="zh-CN" sz="2200">
                <a:solidFill>
                  <a:srgbClr val="006600"/>
                </a:solidFill>
                <a:latin typeface="Consolas" pitchFamily="49" charset="0"/>
                <a:ea typeface="仿宋" pitchFamily="49" charset="-122"/>
              </a:rPr>
              <a:t>算法构建层次网络，用</a:t>
            </a:r>
            <a:r>
              <a:rPr lang="en-US" altLang="zh-CN" sz="2200">
                <a:solidFill>
                  <a:srgbClr val="006600"/>
                </a:solidFill>
                <a:latin typeface="Consolas" pitchFamily="49" charset="0"/>
                <a:ea typeface="仿宋" pitchFamily="49" charset="-122"/>
              </a:rPr>
              <a:t>level</a:t>
            </a:r>
            <a:r>
              <a:rPr lang="zh-CN" altLang="zh-CN" sz="2200">
                <a:solidFill>
                  <a:srgbClr val="006600"/>
                </a:solidFill>
                <a:latin typeface="Consolas" pitchFamily="49" charset="0"/>
                <a:ea typeface="仿宋" pitchFamily="49" charset="-122"/>
              </a:rPr>
              <a:t>数组表示，其中</a:t>
            </a:r>
            <a:r>
              <a:rPr lang="en-US" altLang="zh-CN" sz="2200">
                <a:solidFill>
                  <a:srgbClr val="006600"/>
                </a:solidFill>
                <a:latin typeface="Consolas" pitchFamily="49" charset="0"/>
                <a:ea typeface="仿宋" pitchFamily="49" charset="-122"/>
              </a:rPr>
              <a:t>level[S]=0</a:t>
            </a:r>
            <a:r>
              <a:rPr lang="zh-CN" altLang="zh-CN" sz="2200">
                <a:solidFill>
                  <a:srgbClr val="006600"/>
                </a:solidFill>
                <a:latin typeface="Consolas" pitchFamily="49" charset="0"/>
                <a:ea typeface="仿宋" pitchFamily="49" charset="-122"/>
              </a:rPr>
              <a:t>，</a:t>
            </a:r>
            <a:r>
              <a:rPr lang="en-US" altLang="zh-CN" sz="2200">
                <a:solidFill>
                  <a:srgbClr val="006600"/>
                </a:solidFill>
                <a:latin typeface="Consolas" pitchFamily="49" charset="0"/>
                <a:ea typeface="仿宋" pitchFamily="49" charset="-122"/>
              </a:rPr>
              <a:t>level[</a:t>
            </a:r>
            <a:r>
              <a:rPr lang="en-US" altLang="zh-CN" sz="2200" i="1">
                <a:solidFill>
                  <a:srgbClr val="006600"/>
                </a:solidFill>
                <a:latin typeface="Consolas" pitchFamily="49" charset="0"/>
                <a:ea typeface="仿宋" pitchFamily="49" charset="-122"/>
              </a:rPr>
              <a:t>v</a:t>
            </a:r>
            <a:r>
              <a:rPr lang="en-US" altLang="zh-CN" sz="2200">
                <a:solidFill>
                  <a:srgbClr val="006600"/>
                </a:solidFill>
                <a:latin typeface="Consolas" pitchFamily="49" charset="0"/>
                <a:ea typeface="仿宋" pitchFamily="49" charset="-122"/>
              </a:rPr>
              <a:t>]</a:t>
            </a:r>
            <a:r>
              <a:rPr lang="zh-CN" altLang="zh-CN" sz="2200">
                <a:solidFill>
                  <a:srgbClr val="006600"/>
                </a:solidFill>
                <a:latin typeface="Consolas" pitchFamily="49" charset="0"/>
                <a:ea typeface="仿宋" pitchFamily="49" charset="-122"/>
              </a:rPr>
              <a:t>表示结点</a:t>
            </a:r>
            <a:r>
              <a:rPr lang="en-US" altLang="zh-CN" sz="2200" i="1">
                <a:solidFill>
                  <a:srgbClr val="006600"/>
                </a:solidFill>
                <a:latin typeface="Consolas" pitchFamily="49" charset="0"/>
                <a:ea typeface="仿宋" pitchFamily="49" charset="-122"/>
              </a:rPr>
              <a:t>v</a:t>
            </a:r>
            <a:r>
              <a:rPr lang="zh-CN" altLang="zh-CN" sz="2200">
                <a:solidFill>
                  <a:srgbClr val="006600"/>
                </a:solidFill>
                <a:latin typeface="Consolas" pitchFamily="49" charset="0"/>
                <a:ea typeface="仿宋" pitchFamily="49" charset="-122"/>
              </a:rPr>
              <a:t>的以源顶点</a:t>
            </a:r>
            <a:r>
              <a:rPr lang="en-US" altLang="zh-CN" sz="2200">
                <a:solidFill>
                  <a:srgbClr val="006600"/>
                </a:solidFill>
                <a:latin typeface="Consolas" pitchFamily="49" charset="0"/>
                <a:ea typeface="仿宋" pitchFamily="49" charset="-122"/>
              </a:rPr>
              <a:t>S</a:t>
            </a:r>
            <a:r>
              <a:rPr lang="zh-CN" altLang="zh-CN" sz="2200">
                <a:solidFill>
                  <a:srgbClr val="006600"/>
                </a:solidFill>
                <a:latin typeface="Consolas" pitchFamily="49" charset="0"/>
                <a:ea typeface="仿宋" pitchFamily="49" charset="-122"/>
              </a:rPr>
              <a:t>为根的层次。</a:t>
            </a:r>
          </a:p>
          <a:p>
            <a:pPr marL="914400" lvl="1" indent="-457200" algn="l" defTabSz="360000">
              <a:lnSpc>
                <a:spcPts val="3200"/>
              </a:lnSpc>
              <a:spcBef>
                <a:spcPts val="600"/>
              </a:spcBef>
              <a:buFont typeface="+mj-ea"/>
              <a:buAutoNum type="circleNumDbPlain"/>
            </a:pPr>
            <a:r>
              <a:rPr lang="zh-CN" altLang="zh-CN" sz="2200">
                <a:solidFill>
                  <a:srgbClr val="006600"/>
                </a:solidFill>
                <a:latin typeface="Consolas" pitchFamily="49" charset="0"/>
                <a:ea typeface="仿宋" pitchFamily="49" charset="-122"/>
              </a:rPr>
              <a:t>在层次网络中用一次</a:t>
            </a:r>
            <a:r>
              <a:rPr lang="en-US" altLang="zh-CN" sz="2200">
                <a:solidFill>
                  <a:srgbClr val="FF0000"/>
                </a:solidFill>
                <a:latin typeface="Consolas" pitchFamily="49" charset="0"/>
                <a:ea typeface="仿宋" pitchFamily="49" charset="-122"/>
              </a:rPr>
              <a:t>DFS</a:t>
            </a:r>
            <a:r>
              <a:rPr lang="zh-CN" altLang="zh-CN" sz="2200">
                <a:solidFill>
                  <a:srgbClr val="006600"/>
                </a:solidFill>
                <a:latin typeface="Consolas" pitchFamily="49" charset="0"/>
                <a:ea typeface="仿宋" pitchFamily="49" charset="-122"/>
              </a:rPr>
              <a:t>过程（以</a:t>
            </a:r>
            <a:r>
              <a:rPr lang="en-US" altLang="zh-CN" sz="2200">
                <a:solidFill>
                  <a:srgbClr val="006600"/>
                </a:solidFill>
                <a:latin typeface="Consolas" pitchFamily="49" charset="0"/>
                <a:ea typeface="仿宋" pitchFamily="49" charset="-122"/>
              </a:rPr>
              <a:t>limit</a:t>
            </a:r>
            <a:r>
              <a:rPr lang="zh-CN" altLang="zh-CN" sz="2200">
                <a:solidFill>
                  <a:srgbClr val="006600"/>
                </a:solidFill>
                <a:latin typeface="Consolas" pitchFamily="49" charset="0"/>
                <a:ea typeface="仿宋" pitchFamily="49" charset="-122"/>
              </a:rPr>
              <a:t>为当前流量限制）进行增广，</a:t>
            </a:r>
            <a:r>
              <a:rPr lang="en-US" altLang="zh-CN" sz="2200">
                <a:solidFill>
                  <a:srgbClr val="006600"/>
                </a:solidFill>
                <a:latin typeface="Consolas" pitchFamily="49" charset="0"/>
                <a:ea typeface="仿宋" pitchFamily="49" charset="-122"/>
              </a:rPr>
              <a:t>DFS</a:t>
            </a:r>
            <a:r>
              <a:rPr lang="zh-CN" altLang="zh-CN" sz="2200">
                <a:solidFill>
                  <a:srgbClr val="006600"/>
                </a:solidFill>
                <a:latin typeface="Consolas" pitchFamily="49" charset="0"/>
                <a:ea typeface="仿宋" pitchFamily="49" charset="-122"/>
              </a:rPr>
              <a:t>的终止条件是找到汇点</a:t>
            </a:r>
            <a:r>
              <a:rPr lang="en-US" altLang="zh-CN" sz="2200">
                <a:solidFill>
                  <a:srgbClr val="006600"/>
                </a:solidFill>
                <a:latin typeface="Consolas" pitchFamily="49" charset="0"/>
                <a:ea typeface="仿宋" pitchFamily="49" charset="-122"/>
              </a:rPr>
              <a:t>T</a:t>
            </a:r>
            <a:r>
              <a:rPr lang="zh-CN" altLang="zh-CN" sz="2200">
                <a:solidFill>
                  <a:srgbClr val="006600"/>
                </a:solidFill>
                <a:latin typeface="Consolas" pitchFamily="49" charset="0"/>
                <a:ea typeface="仿宋" pitchFamily="49" charset="-122"/>
              </a:rPr>
              <a:t>或</a:t>
            </a:r>
            <a:r>
              <a:rPr lang="en-US" altLang="zh-CN" sz="2200">
                <a:solidFill>
                  <a:srgbClr val="006600"/>
                </a:solidFill>
                <a:latin typeface="Consolas" pitchFamily="49" charset="0"/>
                <a:ea typeface="仿宋" pitchFamily="49" charset="-122"/>
              </a:rPr>
              <a:t>limit</a:t>
            </a:r>
            <a:r>
              <a:rPr lang="zh-CN" altLang="zh-CN" sz="2200">
                <a:solidFill>
                  <a:srgbClr val="006600"/>
                </a:solidFill>
                <a:latin typeface="Consolas" pitchFamily="49" charset="0"/>
                <a:ea typeface="仿宋" pitchFamily="49" charset="-122"/>
              </a:rPr>
              <a:t>为</a:t>
            </a:r>
            <a:r>
              <a:rPr lang="en-US" altLang="zh-CN" sz="2200">
                <a:solidFill>
                  <a:srgbClr val="006600"/>
                </a:solidFill>
                <a:latin typeface="Consolas" pitchFamily="49" charset="0"/>
                <a:ea typeface="仿宋" pitchFamily="49" charset="-122"/>
              </a:rPr>
              <a:t>0</a:t>
            </a:r>
            <a:r>
              <a:rPr lang="zh-CN" altLang="zh-CN" sz="2200">
                <a:solidFill>
                  <a:srgbClr val="006600"/>
                </a:solidFill>
                <a:latin typeface="Consolas" pitchFamily="49" charset="0"/>
                <a:ea typeface="仿宋" pitchFamily="49" charset="-122"/>
              </a:rPr>
              <a:t>。当</a:t>
            </a:r>
            <a:r>
              <a:rPr lang="en-US" altLang="zh-CN" sz="2200">
                <a:solidFill>
                  <a:srgbClr val="006600"/>
                </a:solidFill>
                <a:latin typeface="Consolas" pitchFamily="49" charset="0"/>
                <a:ea typeface="仿宋" pitchFamily="49" charset="-122"/>
              </a:rPr>
              <a:t>DFS</a:t>
            </a:r>
            <a:r>
              <a:rPr lang="zh-CN" altLang="zh-CN" sz="2200">
                <a:solidFill>
                  <a:srgbClr val="006600"/>
                </a:solidFill>
                <a:latin typeface="Consolas" pitchFamily="49" charset="0"/>
                <a:ea typeface="仿宋" pitchFamily="49" charset="-122"/>
              </a:rPr>
              <a:t>执行完毕，该阶段的增广也执行完毕，不同于</a:t>
            </a:r>
            <a:r>
              <a:rPr lang="en-US" altLang="zh-CN" sz="2200">
                <a:solidFill>
                  <a:srgbClr val="006600"/>
                </a:solidFill>
                <a:latin typeface="Consolas" pitchFamily="49" charset="0"/>
                <a:ea typeface="仿宋" pitchFamily="49" charset="-122"/>
              </a:rPr>
              <a:t>Edmonds-</a:t>
            </a:r>
            <a:r>
              <a:rPr lang="en-US" altLang="zh-CN">
                <a:solidFill>
                  <a:srgbClr val="006600"/>
                </a:solidFill>
                <a:latin typeface="Consolas" pitchFamily="49" charset="0"/>
                <a:ea typeface="仿宋" pitchFamily="49" charset="-122"/>
              </a:rPr>
              <a:t>Krap</a:t>
            </a:r>
            <a:r>
              <a:rPr lang="zh-CN" altLang="zh-CN">
                <a:solidFill>
                  <a:srgbClr val="006600"/>
                </a:solidFill>
                <a:latin typeface="Consolas" pitchFamily="49" charset="0"/>
                <a:ea typeface="仿宋" pitchFamily="49" charset="-122"/>
              </a:rPr>
              <a:t>算法，这里的增广是多路增广。</a:t>
            </a:r>
          </a:p>
          <a:p>
            <a:pPr algn="l" defTabSz="360000">
              <a:lnSpc>
                <a:spcPts val="3200"/>
              </a:lnSpc>
              <a:spcBef>
                <a:spcPts val="600"/>
              </a:spcBef>
            </a:pPr>
            <a:r>
              <a:rPr lang="zh-CN" altLang="zh-CN">
                <a:solidFill>
                  <a:srgbClr val="0000FF"/>
                </a:solidFill>
                <a:latin typeface="Consolas" pitchFamily="49" charset="0"/>
                <a:ea typeface="仿宋" pitchFamily="49" charset="-122"/>
              </a:rPr>
              <a:t>上述过程直到找不到增广路径为止，此时的可行流就是</a:t>
            </a:r>
            <a:r>
              <a:rPr lang="zh-CN" altLang="zh-CN">
                <a:solidFill>
                  <a:srgbClr val="FF0000"/>
                </a:solidFill>
                <a:latin typeface="Consolas" pitchFamily="49" charset="0"/>
                <a:ea typeface="仿宋" pitchFamily="49" charset="-122"/>
              </a:rPr>
              <a:t>最大流</a:t>
            </a:r>
            <a:r>
              <a:rPr lang="zh-CN" altLang="zh-CN">
                <a:solidFill>
                  <a:srgbClr val="0000FF"/>
                </a:solidFill>
                <a:latin typeface="Consolas" pitchFamily="49" charset="0"/>
                <a:ea typeface="仿宋" pitchFamily="49" charset="-122"/>
              </a:rPr>
              <a:t>。</a:t>
            </a:r>
          </a:p>
        </p:txBody>
      </p:sp>
      <p:sp>
        <p:nvSpPr>
          <p:cNvPr id="6" name="灯片编号占位符 5"/>
          <p:cNvSpPr>
            <a:spLocks noGrp="1"/>
          </p:cNvSpPr>
          <p:nvPr>
            <p:ph type="sldNum" sz="quarter" idx="12"/>
          </p:nvPr>
        </p:nvSpPr>
        <p:spPr/>
        <p:txBody>
          <a:bodyPr/>
          <a:lstStyle/>
          <a:p>
            <a:fld id="{7AF016A1-9F15-429F-9EFD-84004B73C732}" type="slidenum">
              <a:rPr lang="en-US" altLang="zh-CN" smtClean="0"/>
              <a:pPr/>
              <a:t>126</a:t>
            </a:fld>
            <a:r>
              <a:rPr lang="en-US" altLang="zh-CN"/>
              <a:t>/158</a:t>
            </a: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0034" y="428604"/>
            <a:ext cx="8143932" cy="938719"/>
          </a:xfrm>
          <a:prstGeom prst="rect">
            <a:avLst/>
          </a:prstGeom>
          <a:ln>
            <a:solidFill>
              <a:schemeClr val="accent6">
                <a:lumMod val="20000"/>
                <a:lumOff val="8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300"/>
              </a:lnSpc>
              <a:spcBef>
                <a:spcPts val="0"/>
              </a:spcBef>
            </a:pPr>
            <a:r>
              <a:rPr lang="zh-CN" altLang="zh-CN">
                <a:solidFill>
                  <a:srgbClr val="FF0000"/>
                </a:solidFill>
                <a:latin typeface="Consolas" pitchFamily="49" charset="0"/>
                <a:ea typeface="楷体" pitchFamily="49" charset="-122"/>
              </a:rPr>
              <a:t>【例</a:t>
            </a:r>
            <a:r>
              <a:rPr lang="en-US" altLang="zh-CN">
                <a:solidFill>
                  <a:srgbClr val="FF0000"/>
                </a:solidFill>
                <a:latin typeface="Consolas" pitchFamily="49" charset="0"/>
                <a:ea typeface="楷体" pitchFamily="49" charset="-122"/>
              </a:rPr>
              <a:t>9.5</a:t>
            </a:r>
            <a:r>
              <a:rPr lang="zh-CN" altLang="zh-CN">
                <a:solidFill>
                  <a:srgbClr val="FF0000"/>
                </a:solidFill>
                <a:latin typeface="Consolas" pitchFamily="49" charset="0"/>
                <a:ea typeface="楷体" pitchFamily="49" charset="-122"/>
              </a:rPr>
              <a:t>】</a:t>
            </a:r>
            <a:r>
              <a:rPr lang="zh-CN" altLang="zh-CN">
                <a:solidFill>
                  <a:srgbClr val="0000FF"/>
                </a:solidFill>
                <a:latin typeface="Consolas" pitchFamily="49" charset="0"/>
                <a:ea typeface="仿宋" pitchFamily="49" charset="-122"/>
              </a:rPr>
              <a:t>对于如图</a:t>
            </a:r>
            <a:r>
              <a:rPr lang="en-US" altLang="zh-CN">
                <a:solidFill>
                  <a:srgbClr val="0000FF"/>
                </a:solidFill>
                <a:latin typeface="Consolas" pitchFamily="49" charset="0"/>
                <a:ea typeface="仿宋" pitchFamily="49" charset="-122"/>
              </a:rPr>
              <a:t>(a)</a:t>
            </a:r>
            <a:r>
              <a:rPr lang="zh-CN" altLang="zh-CN">
                <a:solidFill>
                  <a:srgbClr val="0000FF"/>
                </a:solidFill>
                <a:latin typeface="Consolas" pitchFamily="49" charset="0"/>
                <a:ea typeface="仿宋" pitchFamily="49" charset="-122"/>
              </a:rPr>
              <a:t>所示的网络，假设源点</a:t>
            </a:r>
            <a:r>
              <a:rPr lang="en-US" altLang="zh-CN">
                <a:solidFill>
                  <a:srgbClr val="0000FF"/>
                </a:solidFill>
                <a:latin typeface="Consolas" pitchFamily="49" charset="0"/>
                <a:ea typeface="仿宋" pitchFamily="49" charset="-122"/>
              </a:rPr>
              <a:t>S=0</a:t>
            </a:r>
            <a:r>
              <a:rPr lang="zh-CN" altLang="zh-CN">
                <a:solidFill>
                  <a:srgbClr val="0000FF"/>
                </a:solidFill>
                <a:latin typeface="Consolas" pitchFamily="49" charset="0"/>
                <a:ea typeface="仿宋" pitchFamily="49" charset="-122"/>
              </a:rPr>
              <a:t>，汇点</a:t>
            </a:r>
            <a:r>
              <a:rPr lang="en-US" altLang="zh-CN">
                <a:solidFill>
                  <a:srgbClr val="0000FF"/>
                </a:solidFill>
                <a:latin typeface="Consolas" pitchFamily="49" charset="0"/>
                <a:ea typeface="仿宋" pitchFamily="49" charset="-122"/>
              </a:rPr>
              <a:t>T=5</a:t>
            </a:r>
            <a:r>
              <a:rPr lang="zh-CN" altLang="zh-CN">
                <a:solidFill>
                  <a:srgbClr val="0000FF"/>
                </a:solidFill>
                <a:latin typeface="Consolas" pitchFamily="49" charset="0"/>
                <a:ea typeface="仿宋" pitchFamily="49" charset="-122"/>
              </a:rPr>
              <a:t>，采用</a:t>
            </a:r>
            <a:r>
              <a:rPr lang="en-US" altLang="zh-CN">
                <a:solidFill>
                  <a:srgbClr val="0000FF"/>
                </a:solidFill>
                <a:latin typeface="Consolas" pitchFamily="49" charset="0"/>
                <a:ea typeface="仿宋" pitchFamily="49" charset="-122"/>
              </a:rPr>
              <a:t>Dinic</a:t>
            </a:r>
            <a:r>
              <a:rPr lang="zh-CN" altLang="zh-CN">
                <a:solidFill>
                  <a:srgbClr val="0000FF"/>
                </a:solidFill>
                <a:latin typeface="Consolas" pitchFamily="49" charset="0"/>
                <a:ea typeface="仿宋" pitchFamily="49" charset="-122"/>
              </a:rPr>
              <a:t>算法求其最大流。</a:t>
            </a:r>
          </a:p>
        </p:txBody>
      </p:sp>
      <p:grpSp>
        <p:nvGrpSpPr>
          <p:cNvPr id="2" name="组合 5"/>
          <p:cNvGrpSpPr/>
          <p:nvPr/>
        </p:nvGrpSpPr>
        <p:grpSpPr>
          <a:xfrm>
            <a:off x="2857488" y="1785926"/>
            <a:ext cx="2354101" cy="3545617"/>
            <a:chOff x="724862" y="1169267"/>
            <a:chExt cx="2354101" cy="3545617"/>
          </a:xfrm>
        </p:grpSpPr>
        <p:sp>
          <p:nvSpPr>
            <p:cNvPr id="7" name="Text Box 51"/>
            <p:cNvSpPr txBox="1">
              <a:spLocks noChangeArrowheads="1"/>
            </p:cNvSpPr>
            <p:nvPr/>
          </p:nvSpPr>
          <p:spPr bwMode="auto">
            <a:xfrm>
              <a:off x="1714610" y="3437516"/>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8" name="Text Box 50"/>
            <p:cNvSpPr txBox="1">
              <a:spLocks noChangeArrowheads="1"/>
            </p:cNvSpPr>
            <p:nvPr/>
          </p:nvSpPr>
          <p:spPr bwMode="auto">
            <a:xfrm>
              <a:off x="1677807" y="2546512"/>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9" name="Text Box 49"/>
            <p:cNvSpPr txBox="1">
              <a:spLocks noChangeArrowheads="1"/>
            </p:cNvSpPr>
            <p:nvPr/>
          </p:nvSpPr>
          <p:spPr bwMode="auto">
            <a:xfrm>
              <a:off x="1982749" y="1620026"/>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5</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0" name="Text Box 48"/>
            <p:cNvSpPr txBox="1">
              <a:spLocks noChangeArrowheads="1"/>
            </p:cNvSpPr>
            <p:nvPr/>
          </p:nvSpPr>
          <p:spPr bwMode="auto">
            <a:xfrm>
              <a:off x="2444105" y="2413781"/>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1" name="Text Box 47"/>
            <p:cNvSpPr txBox="1">
              <a:spLocks noChangeArrowheads="1"/>
            </p:cNvSpPr>
            <p:nvPr/>
          </p:nvSpPr>
          <p:spPr bwMode="auto">
            <a:xfrm>
              <a:off x="1182276" y="3508481"/>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2" name="Text Box 46"/>
            <p:cNvSpPr txBox="1">
              <a:spLocks noChangeArrowheads="1"/>
            </p:cNvSpPr>
            <p:nvPr/>
          </p:nvSpPr>
          <p:spPr bwMode="auto">
            <a:xfrm>
              <a:off x="1241424" y="2413781"/>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3" name="Text Box 45"/>
            <p:cNvSpPr txBox="1">
              <a:spLocks noChangeArrowheads="1"/>
            </p:cNvSpPr>
            <p:nvPr/>
          </p:nvSpPr>
          <p:spPr bwMode="auto">
            <a:xfrm>
              <a:off x="2298206" y="2846142"/>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4" name="Text Box 44"/>
            <p:cNvSpPr txBox="1">
              <a:spLocks noChangeArrowheads="1"/>
            </p:cNvSpPr>
            <p:nvPr/>
          </p:nvSpPr>
          <p:spPr bwMode="auto">
            <a:xfrm>
              <a:off x="2379700" y="3559733"/>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5" name="Oval 43"/>
            <p:cNvSpPr>
              <a:spLocks noChangeArrowheads="1"/>
            </p:cNvSpPr>
            <p:nvPr/>
          </p:nvSpPr>
          <p:spPr bwMode="auto">
            <a:xfrm>
              <a:off x="1677807" y="1169267"/>
              <a:ext cx="411409" cy="448130"/>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0</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6" name="Oval 42"/>
            <p:cNvSpPr>
              <a:spLocks noChangeArrowheads="1"/>
            </p:cNvSpPr>
            <p:nvPr/>
          </p:nvSpPr>
          <p:spPr bwMode="auto">
            <a:xfrm>
              <a:off x="724862" y="2921049"/>
              <a:ext cx="410095" cy="44681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8" name="Oval 41"/>
            <p:cNvSpPr>
              <a:spLocks noChangeArrowheads="1"/>
            </p:cNvSpPr>
            <p:nvPr/>
          </p:nvSpPr>
          <p:spPr bwMode="auto">
            <a:xfrm>
              <a:off x="1677807" y="2921049"/>
              <a:ext cx="408780" cy="44681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9" name="Oval 40"/>
            <p:cNvSpPr>
              <a:spLocks noChangeArrowheads="1"/>
            </p:cNvSpPr>
            <p:nvPr/>
          </p:nvSpPr>
          <p:spPr bwMode="auto">
            <a:xfrm>
              <a:off x="2670183" y="2921049"/>
              <a:ext cx="408780" cy="44681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20" name="Oval 39"/>
            <p:cNvSpPr>
              <a:spLocks noChangeArrowheads="1"/>
            </p:cNvSpPr>
            <p:nvPr/>
          </p:nvSpPr>
          <p:spPr bwMode="auto">
            <a:xfrm>
              <a:off x="1677807" y="1966965"/>
              <a:ext cx="408780" cy="44681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21" name="Oval 38"/>
            <p:cNvSpPr>
              <a:spLocks noChangeArrowheads="1"/>
            </p:cNvSpPr>
            <p:nvPr/>
          </p:nvSpPr>
          <p:spPr bwMode="auto">
            <a:xfrm>
              <a:off x="1677807" y="3835708"/>
              <a:ext cx="408780" cy="446816"/>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5</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22" name="AutoShape 37"/>
            <p:cNvSpPr>
              <a:spLocks noChangeShapeType="1"/>
            </p:cNvSpPr>
            <p:nvPr/>
          </p:nvSpPr>
          <p:spPr bwMode="auto">
            <a:xfrm flipH="1">
              <a:off x="1882854" y="1617398"/>
              <a:ext cx="1314" cy="349568"/>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23" name="AutoShape 36"/>
            <p:cNvSpPr>
              <a:spLocks noChangeShapeType="1"/>
            </p:cNvSpPr>
            <p:nvPr/>
          </p:nvSpPr>
          <p:spPr bwMode="auto">
            <a:xfrm flipH="1">
              <a:off x="1074494" y="2348073"/>
              <a:ext cx="663775" cy="63868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24" name="AutoShape 35"/>
            <p:cNvSpPr>
              <a:spLocks noChangeShapeType="1"/>
            </p:cNvSpPr>
            <p:nvPr/>
          </p:nvSpPr>
          <p:spPr bwMode="auto">
            <a:xfrm>
              <a:off x="1882854" y="2413781"/>
              <a:ext cx="1314" cy="507268"/>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25" name="AutoShape 34"/>
            <p:cNvSpPr>
              <a:spLocks noChangeShapeType="1"/>
            </p:cNvSpPr>
            <p:nvPr/>
          </p:nvSpPr>
          <p:spPr bwMode="auto">
            <a:xfrm>
              <a:off x="2026124" y="2348073"/>
              <a:ext cx="704522" cy="63868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26" name="AutoShape 33"/>
            <p:cNvSpPr>
              <a:spLocks noChangeShapeType="1"/>
            </p:cNvSpPr>
            <p:nvPr/>
          </p:nvSpPr>
          <p:spPr bwMode="auto">
            <a:xfrm>
              <a:off x="1074494" y="3302157"/>
              <a:ext cx="663775" cy="599259"/>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27" name="AutoShape 32"/>
            <p:cNvSpPr>
              <a:spLocks noChangeShapeType="1"/>
            </p:cNvSpPr>
            <p:nvPr/>
          </p:nvSpPr>
          <p:spPr bwMode="auto">
            <a:xfrm>
              <a:off x="1882854" y="3367865"/>
              <a:ext cx="1314" cy="467843"/>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28" name="AutoShape 31"/>
            <p:cNvSpPr>
              <a:spLocks noChangeShapeType="1"/>
            </p:cNvSpPr>
            <p:nvPr/>
          </p:nvSpPr>
          <p:spPr bwMode="auto">
            <a:xfrm flipH="1">
              <a:off x="2026124" y="3302157"/>
              <a:ext cx="704522" cy="599259"/>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29" name="AutoShape 30"/>
            <p:cNvSpPr>
              <a:spLocks noChangeShapeType="1"/>
            </p:cNvSpPr>
            <p:nvPr/>
          </p:nvSpPr>
          <p:spPr bwMode="auto">
            <a:xfrm flipH="1">
              <a:off x="2086587" y="3144457"/>
              <a:ext cx="583596" cy="131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30" name="Text Box 29"/>
            <p:cNvSpPr txBox="1">
              <a:spLocks noChangeArrowheads="1"/>
            </p:cNvSpPr>
            <p:nvPr/>
          </p:nvSpPr>
          <p:spPr bwMode="auto">
            <a:xfrm>
              <a:off x="1131014" y="4415254"/>
              <a:ext cx="1633807"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 </a:t>
              </a:r>
              <a:r>
                <a:rPr kumimoji="0" lang="zh-CN" altLang="en-US"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一个网络</a:t>
              </a:r>
              <a:endParaRPr kumimoji="0" lang="zh-CN" altLang="en-US"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grpSp>
      <p:sp>
        <p:nvSpPr>
          <p:cNvPr id="32" name="灯片编号占位符 31"/>
          <p:cNvSpPr>
            <a:spLocks noGrp="1"/>
          </p:cNvSpPr>
          <p:nvPr>
            <p:ph type="sldNum" sz="quarter" idx="12"/>
          </p:nvPr>
        </p:nvSpPr>
        <p:spPr/>
        <p:txBody>
          <a:bodyPr/>
          <a:lstStyle/>
          <a:p>
            <a:fld id="{7AF016A1-9F15-429F-9EFD-84004B73C732}" type="slidenum">
              <a:rPr lang="en-US" altLang="zh-CN" smtClean="0"/>
              <a:pPr/>
              <a:t>127</a:t>
            </a:fld>
            <a:r>
              <a:rPr lang="en-US" altLang="zh-CN"/>
              <a:t>/158</a:t>
            </a: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13" name="Rectangle 5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2" name="组合 55"/>
          <p:cNvGrpSpPr/>
          <p:nvPr/>
        </p:nvGrpSpPr>
        <p:grpSpPr>
          <a:xfrm>
            <a:off x="214282" y="1526457"/>
            <a:ext cx="2354101" cy="3545617"/>
            <a:chOff x="724862" y="1169267"/>
            <a:chExt cx="2354101" cy="3545617"/>
          </a:xfrm>
        </p:grpSpPr>
        <p:sp>
          <p:nvSpPr>
            <p:cNvPr id="41011" name="Text Box 51"/>
            <p:cNvSpPr txBox="1">
              <a:spLocks noChangeArrowheads="1"/>
            </p:cNvSpPr>
            <p:nvPr/>
          </p:nvSpPr>
          <p:spPr bwMode="auto">
            <a:xfrm>
              <a:off x="1714610" y="3437516"/>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1010" name="Text Box 50"/>
            <p:cNvSpPr txBox="1">
              <a:spLocks noChangeArrowheads="1"/>
            </p:cNvSpPr>
            <p:nvPr/>
          </p:nvSpPr>
          <p:spPr bwMode="auto">
            <a:xfrm>
              <a:off x="1677807" y="2546512"/>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1009" name="Text Box 49"/>
            <p:cNvSpPr txBox="1">
              <a:spLocks noChangeArrowheads="1"/>
            </p:cNvSpPr>
            <p:nvPr/>
          </p:nvSpPr>
          <p:spPr bwMode="auto">
            <a:xfrm>
              <a:off x="1982749" y="1620026"/>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5</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1008" name="Text Box 48"/>
            <p:cNvSpPr txBox="1">
              <a:spLocks noChangeArrowheads="1"/>
            </p:cNvSpPr>
            <p:nvPr/>
          </p:nvSpPr>
          <p:spPr bwMode="auto">
            <a:xfrm>
              <a:off x="2444105" y="2413781"/>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1007" name="Text Box 47"/>
            <p:cNvSpPr txBox="1">
              <a:spLocks noChangeArrowheads="1"/>
            </p:cNvSpPr>
            <p:nvPr/>
          </p:nvSpPr>
          <p:spPr bwMode="auto">
            <a:xfrm>
              <a:off x="1182276" y="3508481"/>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1006" name="Text Box 46"/>
            <p:cNvSpPr txBox="1">
              <a:spLocks noChangeArrowheads="1"/>
            </p:cNvSpPr>
            <p:nvPr/>
          </p:nvSpPr>
          <p:spPr bwMode="auto">
            <a:xfrm>
              <a:off x="1241424" y="2413781"/>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1005" name="Text Box 45"/>
            <p:cNvSpPr txBox="1">
              <a:spLocks noChangeArrowheads="1"/>
            </p:cNvSpPr>
            <p:nvPr/>
          </p:nvSpPr>
          <p:spPr bwMode="auto">
            <a:xfrm>
              <a:off x="2298206" y="2846142"/>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1004" name="Text Box 44"/>
            <p:cNvSpPr txBox="1">
              <a:spLocks noChangeArrowheads="1"/>
            </p:cNvSpPr>
            <p:nvPr/>
          </p:nvSpPr>
          <p:spPr bwMode="auto">
            <a:xfrm>
              <a:off x="2379700" y="3559733"/>
              <a:ext cx="145899"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1003" name="Oval 43"/>
            <p:cNvSpPr>
              <a:spLocks noChangeArrowheads="1"/>
            </p:cNvSpPr>
            <p:nvPr/>
          </p:nvSpPr>
          <p:spPr bwMode="auto">
            <a:xfrm>
              <a:off x="1677807" y="1169267"/>
              <a:ext cx="411409" cy="448130"/>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0</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1002" name="Oval 42"/>
            <p:cNvSpPr>
              <a:spLocks noChangeArrowheads="1"/>
            </p:cNvSpPr>
            <p:nvPr/>
          </p:nvSpPr>
          <p:spPr bwMode="auto">
            <a:xfrm>
              <a:off x="724862" y="2921049"/>
              <a:ext cx="410095" cy="44681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1001" name="Oval 41"/>
            <p:cNvSpPr>
              <a:spLocks noChangeArrowheads="1"/>
            </p:cNvSpPr>
            <p:nvPr/>
          </p:nvSpPr>
          <p:spPr bwMode="auto">
            <a:xfrm>
              <a:off x="1677807" y="2921049"/>
              <a:ext cx="408780" cy="44681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1000" name="Oval 40"/>
            <p:cNvSpPr>
              <a:spLocks noChangeArrowheads="1"/>
            </p:cNvSpPr>
            <p:nvPr/>
          </p:nvSpPr>
          <p:spPr bwMode="auto">
            <a:xfrm>
              <a:off x="2670183" y="2921049"/>
              <a:ext cx="408780" cy="44681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0999" name="Oval 39"/>
            <p:cNvSpPr>
              <a:spLocks noChangeArrowheads="1"/>
            </p:cNvSpPr>
            <p:nvPr/>
          </p:nvSpPr>
          <p:spPr bwMode="auto">
            <a:xfrm>
              <a:off x="1677807" y="1966965"/>
              <a:ext cx="408780" cy="44681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0998" name="Oval 38"/>
            <p:cNvSpPr>
              <a:spLocks noChangeArrowheads="1"/>
            </p:cNvSpPr>
            <p:nvPr/>
          </p:nvSpPr>
          <p:spPr bwMode="auto">
            <a:xfrm>
              <a:off x="1677807" y="3835708"/>
              <a:ext cx="408780" cy="446816"/>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5</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0997" name="AutoShape 37"/>
            <p:cNvSpPr>
              <a:spLocks noChangeShapeType="1"/>
            </p:cNvSpPr>
            <p:nvPr/>
          </p:nvSpPr>
          <p:spPr bwMode="auto">
            <a:xfrm flipH="1">
              <a:off x="1882854" y="1617398"/>
              <a:ext cx="1314" cy="349568"/>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40996" name="AutoShape 36"/>
            <p:cNvSpPr>
              <a:spLocks noChangeShapeType="1"/>
            </p:cNvSpPr>
            <p:nvPr/>
          </p:nvSpPr>
          <p:spPr bwMode="auto">
            <a:xfrm flipH="1">
              <a:off x="1074494" y="2348073"/>
              <a:ext cx="663775" cy="63868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40995" name="AutoShape 35"/>
            <p:cNvSpPr>
              <a:spLocks noChangeShapeType="1"/>
            </p:cNvSpPr>
            <p:nvPr/>
          </p:nvSpPr>
          <p:spPr bwMode="auto">
            <a:xfrm>
              <a:off x="1882854" y="2413781"/>
              <a:ext cx="1314" cy="507268"/>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40994" name="AutoShape 34"/>
            <p:cNvSpPr>
              <a:spLocks noChangeShapeType="1"/>
            </p:cNvSpPr>
            <p:nvPr/>
          </p:nvSpPr>
          <p:spPr bwMode="auto">
            <a:xfrm>
              <a:off x="2026124" y="2348073"/>
              <a:ext cx="704522" cy="63868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40993" name="AutoShape 33"/>
            <p:cNvSpPr>
              <a:spLocks noChangeShapeType="1"/>
            </p:cNvSpPr>
            <p:nvPr/>
          </p:nvSpPr>
          <p:spPr bwMode="auto">
            <a:xfrm>
              <a:off x="1074494" y="3302157"/>
              <a:ext cx="663775" cy="599259"/>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40992" name="AutoShape 32"/>
            <p:cNvSpPr>
              <a:spLocks noChangeShapeType="1"/>
            </p:cNvSpPr>
            <p:nvPr/>
          </p:nvSpPr>
          <p:spPr bwMode="auto">
            <a:xfrm>
              <a:off x="1882854" y="3367865"/>
              <a:ext cx="1314" cy="467843"/>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40991" name="AutoShape 31"/>
            <p:cNvSpPr>
              <a:spLocks noChangeShapeType="1"/>
            </p:cNvSpPr>
            <p:nvPr/>
          </p:nvSpPr>
          <p:spPr bwMode="auto">
            <a:xfrm flipH="1">
              <a:off x="2026124" y="3302157"/>
              <a:ext cx="704522" cy="599259"/>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40990" name="AutoShape 30"/>
            <p:cNvSpPr>
              <a:spLocks noChangeShapeType="1"/>
            </p:cNvSpPr>
            <p:nvPr/>
          </p:nvSpPr>
          <p:spPr bwMode="auto">
            <a:xfrm flipH="1">
              <a:off x="2086587" y="3144457"/>
              <a:ext cx="583596" cy="131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40989" name="Text Box 29"/>
            <p:cNvSpPr txBox="1">
              <a:spLocks noChangeArrowheads="1"/>
            </p:cNvSpPr>
            <p:nvPr/>
          </p:nvSpPr>
          <p:spPr bwMode="auto">
            <a:xfrm>
              <a:off x="939176" y="4415254"/>
              <a:ext cx="1633807" cy="299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一个剩余网络</a:t>
              </a:r>
              <a:endParaRPr kumimoji="0" lang="zh-CN" altLang="en-US"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grpSp>
      <p:sp>
        <p:nvSpPr>
          <p:cNvPr id="58" name="TextBox 57"/>
          <p:cNvSpPr txBox="1"/>
          <p:nvPr/>
        </p:nvSpPr>
        <p:spPr>
          <a:xfrm>
            <a:off x="357158" y="467005"/>
            <a:ext cx="714380" cy="461665"/>
          </a:xfrm>
          <a:prstGeom prst="rect">
            <a:avLst/>
          </a:prstGeom>
          <a:solidFill>
            <a:schemeClr val="accent5">
              <a:lumMod val="20000"/>
              <a:lumOff val="80000"/>
            </a:schemeClr>
          </a:solidFill>
          <a:ln/>
          <a:effectLst>
            <a:outerShdw blurRad="76200" dir="13500000" sy="23000" kx="1200000" algn="br" rotWithShape="0">
              <a:prstClr val="black">
                <a:alpha val="20000"/>
              </a:prstClr>
            </a:outerShdw>
          </a:effectLst>
        </p:spPr>
        <p:style>
          <a:lnRef idx="3">
            <a:schemeClr val="lt1"/>
          </a:lnRef>
          <a:fillRef idx="1">
            <a:schemeClr val="dk1"/>
          </a:fillRef>
          <a:effectRef idx="1">
            <a:schemeClr val="dk1"/>
          </a:effectRef>
          <a:fontRef idx="minor">
            <a:schemeClr val="lt1"/>
          </a:fontRef>
        </p:style>
        <p:txBody>
          <a:bodyPr wrap="square" rtlCol="0">
            <a:spAutoFit/>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pPr>
              <a:lnSpc>
                <a:spcPct val="100000"/>
              </a:lnSpc>
              <a:spcBef>
                <a:spcPts val="0"/>
              </a:spcBef>
            </a:pPr>
            <a:r>
              <a:rPr lang="zh-CN" altLang="en-US">
                <a:solidFill>
                  <a:srgbClr val="FF0000"/>
                </a:solidFill>
                <a:latin typeface="Consolas" pitchFamily="49" charset="0"/>
                <a:ea typeface="微软雅黑" pitchFamily="34" charset="-122"/>
                <a:cs typeface="Consolas" pitchFamily="49" charset="0"/>
              </a:rPr>
              <a:t>解</a:t>
            </a:r>
            <a:endParaRPr lang="zh-CN" altLang="en-US">
              <a:ln w="18415" cmpd="sng">
                <a:solidFill>
                  <a:srgbClr val="FFFFFF"/>
                </a:solidFill>
                <a:prstDash val="solid"/>
              </a:ln>
              <a:solidFill>
                <a:srgbClr val="FF0000"/>
              </a:solidFill>
              <a:effectLst>
                <a:outerShdw blurRad="63500" dir="3600000" algn="tl" rotWithShape="0">
                  <a:srgbClr val="000000">
                    <a:alpha val="70000"/>
                  </a:srgbClr>
                </a:outerShdw>
              </a:effectLst>
              <a:latin typeface="Consolas" pitchFamily="49" charset="0"/>
              <a:ea typeface="微软雅黑" pitchFamily="34" charset="-122"/>
              <a:cs typeface="Consolas" pitchFamily="49" charset="0"/>
            </a:endParaRPr>
          </a:p>
        </p:txBody>
      </p:sp>
      <p:sp>
        <p:nvSpPr>
          <p:cNvPr id="59" name="TextBox 58"/>
          <p:cNvSpPr txBox="1"/>
          <p:nvPr/>
        </p:nvSpPr>
        <p:spPr>
          <a:xfrm>
            <a:off x="1214414" y="497783"/>
            <a:ext cx="1643074" cy="430887"/>
          </a:xfrm>
          <a:prstGeom prst="rect">
            <a:avLst/>
          </a:prstGeom>
          <a:noFill/>
        </p:spPr>
        <p:txBody>
          <a:bodyPr wrap="square" rtlCol="0">
            <a:spAutoFit/>
          </a:bodyPr>
          <a:lstStyle/>
          <a:p>
            <a:pPr algn="l">
              <a:lnSpc>
                <a:spcPct val="100000"/>
              </a:lnSpc>
              <a:spcBef>
                <a:spcPts val="0"/>
              </a:spcBef>
            </a:pPr>
            <a:r>
              <a:rPr lang="zh-CN" altLang="zh-CN" sz="2200">
                <a:solidFill>
                  <a:srgbClr val="0000FF"/>
                </a:solidFill>
                <a:latin typeface="Consolas" pitchFamily="49" charset="0"/>
                <a:ea typeface="楷体" pitchFamily="49" charset="-122"/>
              </a:rPr>
              <a:t>第</a:t>
            </a:r>
            <a:r>
              <a:rPr lang="en-US" altLang="zh-CN" sz="2200">
                <a:solidFill>
                  <a:srgbClr val="0000FF"/>
                </a:solidFill>
                <a:latin typeface="Consolas" pitchFamily="49" charset="0"/>
                <a:ea typeface="楷体" pitchFamily="49" charset="-122"/>
              </a:rPr>
              <a:t>1</a:t>
            </a:r>
            <a:r>
              <a:rPr lang="zh-CN" altLang="zh-CN" sz="2200">
                <a:solidFill>
                  <a:srgbClr val="0000FF"/>
                </a:solidFill>
                <a:latin typeface="Consolas" pitchFamily="49" charset="0"/>
                <a:ea typeface="楷体" pitchFamily="49" charset="-122"/>
              </a:rPr>
              <a:t>次迭代</a:t>
            </a:r>
            <a:endParaRPr lang="zh-CN" altLang="en-US" sz="2200">
              <a:solidFill>
                <a:srgbClr val="0000FF"/>
              </a:solidFill>
              <a:latin typeface="Consolas" pitchFamily="49" charset="0"/>
              <a:ea typeface="楷体" pitchFamily="49" charset="-122"/>
              <a:cs typeface="Consolas" pitchFamily="49" charset="0"/>
            </a:endParaRPr>
          </a:p>
        </p:txBody>
      </p:sp>
      <p:sp>
        <p:nvSpPr>
          <p:cNvPr id="84" name="右箭头 83"/>
          <p:cNvSpPr/>
          <p:nvPr/>
        </p:nvSpPr>
        <p:spPr>
          <a:xfrm>
            <a:off x="2707027" y="3297413"/>
            <a:ext cx="428628" cy="285752"/>
          </a:xfrm>
          <a:prstGeom prst="right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86" name="TextBox 85"/>
          <p:cNvSpPr txBox="1"/>
          <p:nvPr/>
        </p:nvSpPr>
        <p:spPr>
          <a:xfrm>
            <a:off x="2635589" y="2916792"/>
            <a:ext cx="785818" cy="369332"/>
          </a:xfrm>
          <a:prstGeom prst="rect">
            <a:avLst/>
          </a:prstGeom>
          <a:noFill/>
        </p:spPr>
        <p:txBody>
          <a:bodyPr wrap="square" rtlCol="0">
            <a:spAutoFit/>
          </a:bodyPr>
          <a:lstStyle/>
          <a:p>
            <a:pPr algn="l">
              <a:lnSpc>
                <a:spcPct val="100000"/>
              </a:lnSpc>
              <a:spcBef>
                <a:spcPts val="0"/>
              </a:spcBef>
            </a:pPr>
            <a:r>
              <a:rPr lang="en-US" altLang="zh-CN" sz="1800">
                <a:solidFill>
                  <a:srgbClr val="0000FF"/>
                </a:solidFill>
                <a:latin typeface="Consolas" pitchFamily="49" charset="0"/>
                <a:ea typeface="楷体" pitchFamily="49" charset="-122"/>
                <a:cs typeface="Consolas" pitchFamily="49" charset="0"/>
              </a:rPr>
              <a:t>BFS</a:t>
            </a:r>
            <a:endParaRPr lang="zh-CN" altLang="en-US" sz="1800">
              <a:solidFill>
                <a:srgbClr val="0000FF"/>
              </a:solidFill>
              <a:latin typeface="Consolas" pitchFamily="49" charset="0"/>
              <a:ea typeface="楷体" pitchFamily="49" charset="-122"/>
              <a:cs typeface="Consolas" pitchFamily="49" charset="0"/>
            </a:endParaRPr>
          </a:p>
        </p:txBody>
      </p:sp>
      <p:grpSp>
        <p:nvGrpSpPr>
          <p:cNvPr id="88" name="组合 87"/>
          <p:cNvGrpSpPr/>
          <p:nvPr/>
        </p:nvGrpSpPr>
        <p:grpSpPr>
          <a:xfrm>
            <a:off x="3297405" y="1571612"/>
            <a:ext cx="2381322" cy="3534890"/>
            <a:chOff x="1318115" y="2476500"/>
            <a:chExt cx="2381322" cy="3534890"/>
          </a:xfrm>
        </p:grpSpPr>
        <p:sp>
          <p:nvSpPr>
            <p:cNvPr id="89" name="Text Box 2"/>
            <p:cNvSpPr txBox="1">
              <a:spLocks noChangeArrowheads="1"/>
            </p:cNvSpPr>
            <p:nvPr/>
          </p:nvSpPr>
          <p:spPr bwMode="auto">
            <a:xfrm>
              <a:off x="2565317" y="2908175"/>
              <a:ext cx="149663" cy="293153"/>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5</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90" name="Text Box 3"/>
            <p:cNvSpPr txBox="1">
              <a:spLocks noChangeArrowheads="1"/>
            </p:cNvSpPr>
            <p:nvPr/>
          </p:nvSpPr>
          <p:spPr bwMode="auto">
            <a:xfrm>
              <a:off x="1343623" y="3811244"/>
              <a:ext cx="375822" cy="296374"/>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rPr>
                <a:t>(2)</a:t>
              </a:r>
              <a:endParaRPr kumimoji="0" lang="zh-CN"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endParaRPr>
            </a:p>
          </p:txBody>
        </p:sp>
        <p:sp>
          <p:nvSpPr>
            <p:cNvPr id="91" name="Text Box 4"/>
            <p:cNvSpPr txBox="1">
              <a:spLocks noChangeArrowheads="1"/>
            </p:cNvSpPr>
            <p:nvPr/>
          </p:nvSpPr>
          <p:spPr bwMode="auto">
            <a:xfrm>
              <a:off x="2738262" y="2515157"/>
              <a:ext cx="372497" cy="296374"/>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rPr>
                <a:t>(0)</a:t>
              </a:r>
              <a:endParaRPr kumimoji="0" lang="zh-CN"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endParaRPr>
            </a:p>
          </p:txBody>
        </p:sp>
        <p:sp>
          <p:nvSpPr>
            <p:cNvPr id="92" name="Text Box 5"/>
            <p:cNvSpPr txBox="1">
              <a:spLocks noChangeArrowheads="1"/>
            </p:cNvSpPr>
            <p:nvPr/>
          </p:nvSpPr>
          <p:spPr bwMode="auto">
            <a:xfrm>
              <a:off x="2744818" y="3275420"/>
              <a:ext cx="375824" cy="293153"/>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rPr>
                <a:t>(1)</a:t>
              </a:r>
              <a:endParaRPr kumimoji="0" lang="zh-CN"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endParaRPr>
            </a:p>
          </p:txBody>
        </p:sp>
        <p:sp>
          <p:nvSpPr>
            <p:cNvPr id="93" name="Text Box 6"/>
            <p:cNvSpPr txBox="1">
              <a:spLocks noChangeArrowheads="1"/>
            </p:cNvSpPr>
            <p:nvPr/>
          </p:nvSpPr>
          <p:spPr bwMode="auto">
            <a:xfrm>
              <a:off x="1898222" y="4261184"/>
              <a:ext cx="375824" cy="296374"/>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rPr>
                <a:t>(2)</a:t>
              </a:r>
              <a:endParaRPr kumimoji="0" lang="zh-CN"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endParaRPr>
            </a:p>
          </p:txBody>
        </p:sp>
        <p:sp>
          <p:nvSpPr>
            <p:cNvPr id="94" name="Text Box 7"/>
            <p:cNvSpPr txBox="1">
              <a:spLocks noChangeArrowheads="1"/>
            </p:cNvSpPr>
            <p:nvPr/>
          </p:nvSpPr>
          <p:spPr bwMode="auto">
            <a:xfrm>
              <a:off x="3324634" y="3833822"/>
              <a:ext cx="372497" cy="293151"/>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rPr>
                <a:t>(2)</a:t>
              </a:r>
              <a:endParaRPr kumimoji="0" lang="zh-CN"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endParaRPr>
            </a:p>
          </p:txBody>
        </p:sp>
        <p:sp>
          <p:nvSpPr>
            <p:cNvPr id="95" name="Text Box 8"/>
            <p:cNvSpPr txBox="1">
              <a:spLocks noChangeArrowheads="1"/>
            </p:cNvSpPr>
            <p:nvPr/>
          </p:nvSpPr>
          <p:spPr bwMode="auto">
            <a:xfrm>
              <a:off x="2726877" y="5143862"/>
              <a:ext cx="375824" cy="293153"/>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rPr>
                <a:t>(3)</a:t>
              </a:r>
              <a:endParaRPr kumimoji="0" lang="zh-CN"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endParaRPr>
            </a:p>
          </p:txBody>
        </p:sp>
        <p:sp>
          <p:nvSpPr>
            <p:cNvPr id="96" name="Text Box 9"/>
            <p:cNvSpPr txBox="1">
              <a:spLocks noChangeArrowheads="1"/>
            </p:cNvSpPr>
            <p:nvPr/>
          </p:nvSpPr>
          <p:spPr bwMode="auto">
            <a:xfrm>
              <a:off x="2319203" y="4689638"/>
              <a:ext cx="146338" cy="293151"/>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3</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97" name="Text Box 10"/>
            <p:cNvSpPr txBox="1">
              <a:spLocks noChangeArrowheads="1"/>
            </p:cNvSpPr>
            <p:nvPr/>
          </p:nvSpPr>
          <p:spPr bwMode="auto">
            <a:xfrm>
              <a:off x="2282617" y="3816624"/>
              <a:ext cx="146338" cy="293153"/>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2</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98" name="Text Box 11"/>
            <p:cNvSpPr txBox="1">
              <a:spLocks noChangeArrowheads="1"/>
            </p:cNvSpPr>
            <p:nvPr/>
          </p:nvSpPr>
          <p:spPr bwMode="auto">
            <a:xfrm>
              <a:off x="3057545" y="3684545"/>
              <a:ext cx="146338" cy="293151"/>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3</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99" name="Text Box 12"/>
            <p:cNvSpPr txBox="1">
              <a:spLocks noChangeArrowheads="1"/>
            </p:cNvSpPr>
            <p:nvPr/>
          </p:nvSpPr>
          <p:spPr bwMode="auto">
            <a:xfrm>
              <a:off x="1780412" y="4757288"/>
              <a:ext cx="146338" cy="296374"/>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2</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00" name="Text Box 13"/>
            <p:cNvSpPr txBox="1">
              <a:spLocks noChangeArrowheads="1"/>
            </p:cNvSpPr>
            <p:nvPr/>
          </p:nvSpPr>
          <p:spPr bwMode="auto">
            <a:xfrm>
              <a:off x="1840278" y="3684545"/>
              <a:ext cx="146338" cy="293151"/>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1</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01" name="Text Box 14"/>
            <p:cNvSpPr txBox="1">
              <a:spLocks noChangeArrowheads="1"/>
            </p:cNvSpPr>
            <p:nvPr/>
          </p:nvSpPr>
          <p:spPr bwMode="auto">
            <a:xfrm>
              <a:off x="2907880" y="4109777"/>
              <a:ext cx="149665" cy="293151"/>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1</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02" name="Text Box 15"/>
            <p:cNvSpPr txBox="1">
              <a:spLocks noChangeArrowheads="1"/>
            </p:cNvSpPr>
            <p:nvPr/>
          </p:nvSpPr>
          <p:spPr bwMode="auto">
            <a:xfrm>
              <a:off x="2991028" y="4808831"/>
              <a:ext cx="149663" cy="293153"/>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2</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03" name="Oval 16"/>
            <p:cNvSpPr>
              <a:spLocks noChangeArrowheads="1"/>
            </p:cNvSpPr>
            <p:nvPr/>
          </p:nvSpPr>
          <p:spPr bwMode="auto">
            <a:xfrm>
              <a:off x="2282617" y="2476500"/>
              <a:ext cx="415735" cy="438117"/>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0</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04" name="Oval 17"/>
            <p:cNvSpPr>
              <a:spLocks noChangeArrowheads="1"/>
            </p:cNvSpPr>
            <p:nvPr/>
          </p:nvSpPr>
          <p:spPr bwMode="auto">
            <a:xfrm>
              <a:off x="1318115" y="4183869"/>
              <a:ext cx="412408" cy="438117"/>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2</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05" name="Oval 18"/>
            <p:cNvSpPr>
              <a:spLocks noChangeArrowheads="1"/>
            </p:cNvSpPr>
            <p:nvPr/>
          </p:nvSpPr>
          <p:spPr bwMode="auto">
            <a:xfrm>
              <a:off x="2282617" y="4183869"/>
              <a:ext cx="412408" cy="438117"/>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3</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06" name="Oval 19"/>
            <p:cNvSpPr>
              <a:spLocks noChangeArrowheads="1"/>
            </p:cNvSpPr>
            <p:nvPr/>
          </p:nvSpPr>
          <p:spPr bwMode="auto">
            <a:xfrm>
              <a:off x="3287029" y="4183869"/>
              <a:ext cx="412408" cy="438117"/>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4</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07" name="Oval 20"/>
            <p:cNvSpPr>
              <a:spLocks noChangeArrowheads="1"/>
            </p:cNvSpPr>
            <p:nvPr/>
          </p:nvSpPr>
          <p:spPr bwMode="auto">
            <a:xfrm>
              <a:off x="2282617" y="3246428"/>
              <a:ext cx="412408" cy="438117"/>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1</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08" name="Oval 21"/>
            <p:cNvSpPr>
              <a:spLocks noChangeArrowheads="1"/>
            </p:cNvSpPr>
            <p:nvPr/>
          </p:nvSpPr>
          <p:spPr bwMode="auto">
            <a:xfrm>
              <a:off x="2282617" y="5079433"/>
              <a:ext cx="412408" cy="438117"/>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5</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cxnSp>
          <p:nvCxnSpPr>
            <p:cNvPr id="109" name="AutoShape 22"/>
            <p:cNvCxnSpPr>
              <a:cxnSpLocks noChangeShapeType="1"/>
            </p:cNvCxnSpPr>
            <p:nvPr/>
          </p:nvCxnSpPr>
          <p:spPr bwMode="auto">
            <a:xfrm flipH="1">
              <a:off x="2488821" y="2914617"/>
              <a:ext cx="0" cy="331811"/>
            </a:xfrm>
            <a:prstGeom prst="straightConnector1">
              <a:avLst/>
            </a:prstGeom>
            <a:noFill/>
            <a:ln w="19050">
              <a:solidFill>
                <a:srgbClr val="000000"/>
              </a:solidFill>
              <a:round/>
              <a:headEnd type="none" w="med" len="med"/>
              <a:tailEnd type="arrow" w="med" len="med"/>
            </a:ln>
          </p:spPr>
        </p:cxnSp>
        <p:cxnSp>
          <p:nvCxnSpPr>
            <p:cNvPr id="110" name="AutoShape 23"/>
            <p:cNvCxnSpPr>
              <a:cxnSpLocks noChangeShapeType="1"/>
            </p:cNvCxnSpPr>
            <p:nvPr/>
          </p:nvCxnSpPr>
          <p:spPr bwMode="auto">
            <a:xfrm flipH="1">
              <a:off x="1670657" y="3620116"/>
              <a:ext cx="671825" cy="628182"/>
            </a:xfrm>
            <a:prstGeom prst="straightConnector1">
              <a:avLst/>
            </a:prstGeom>
            <a:noFill/>
            <a:ln w="19050">
              <a:solidFill>
                <a:srgbClr val="000000"/>
              </a:solidFill>
              <a:round/>
              <a:headEnd type="none" w="med" len="med"/>
              <a:tailEnd type="arrow" w="med" len="med"/>
            </a:ln>
          </p:spPr>
        </p:cxnSp>
        <p:cxnSp>
          <p:nvCxnSpPr>
            <p:cNvPr id="111" name="AutoShape 24"/>
            <p:cNvCxnSpPr>
              <a:cxnSpLocks noChangeShapeType="1"/>
            </p:cNvCxnSpPr>
            <p:nvPr/>
          </p:nvCxnSpPr>
          <p:spPr bwMode="auto">
            <a:xfrm>
              <a:off x="2488821" y="3684545"/>
              <a:ext cx="0" cy="499324"/>
            </a:xfrm>
            <a:prstGeom prst="straightConnector1">
              <a:avLst/>
            </a:prstGeom>
            <a:noFill/>
            <a:ln w="19050">
              <a:solidFill>
                <a:srgbClr val="000000"/>
              </a:solidFill>
              <a:round/>
              <a:headEnd type="none" w="med" len="med"/>
              <a:tailEnd type="arrow" w="med" len="med"/>
            </a:ln>
          </p:spPr>
        </p:cxnSp>
        <p:cxnSp>
          <p:nvCxnSpPr>
            <p:cNvPr id="112" name="AutoShape 25"/>
            <p:cNvCxnSpPr>
              <a:cxnSpLocks noChangeShapeType="1"/>
            </p:cNvCxnSpPr>
            <p:nvPr/>
          </p:nvCxnSpPr>
          <p:spPr bwMode="auto">
            <a:xfrm>
              <a:off x="2635159" y="3620116"/>
              <a:ext cx="711736" cy="628182"/>
            </a:xfrm>
            <a:prstGeom prst="straightConnector1">
              <a:avLst/>
            </a:prstGeom>
            <a:noFill/>
            <a:ln w="19050">
              <a:solidFill>
                <a:srgbClr val="000000"/>
              </a:solidFill>
              <a:round/>
              <a:headEnd type="none" w="med" len="med"/>
              <a:tailEnd type="arrow" w="med" len="med"/>
            </a:ln>
          </p:spPr>
        </p:cxnSp>
        <p:cxnSp>
          <p:nvCxnSpPr>
            <p:cNvPr id="113" name="AutoShape 26"/>
            <p:cNvCxnSpPr>
              <a:cxnSpLocks noChangeShapeType="1"/>
            </p:cNvCxnSpPr>
            <p:nvPr/>
          </p:nvCxnSpPr>
          <p:spPr bwMode="auto">
            <a:xfrm>
              <a:off x="1670657" y="4557558"/>
              <a:ext cx="671825" cy="586304"/>
            </a:xfrm>
            <a:prstGeom prst="straightConnector1">
              <a:avLst/>
            </a:prstGeom>
            <a:noFill/>
            <a:ln w="19050">
              <a:solidFill>
                <a:srgbClr val="000000"/>
              </a:solidFill>
              <a:round/>
              <a:headEnd type="none" w="med" len="med"/>
              <a:tailEnd type="arrow" w="med" len="med"/>
            </a:ln>
          </p:spPr>
        </p:cxnSp>
        <p:cxnSp>
          <p:nvCxnSpPr>
            <p:cNvPr id="114" name="AutoShape 27"/>
            <p:cNvCxnSpPr>
              <a:cxnSpLocks noChangeShapeType="1"/>
            </p:cNvCxnSpPr>
            <p:nvPr/>
          </p:nvCxnSpPr>
          <p:spPr bwMode="auto">
            <a:xfrm>
              <a:off x="2488821" y="4621987"/>
              <a:ext cx="0" cy="457446"/>
            </a:xfrm>
            <a:prstGeom prst="straightConnector1">
              <a:avLst/>
            </a:prstGeom>
            <a:noFill/>
            <a:ln w="19050">
              <a:solidFill>
                <a:srgbClr val="000000"/>
              </a:solidFill>
              <a:round/>
              <a:headEnd type="none" w="med" len="med"/>
              <a:tailEnd type="arrow" w="med" len="med"/>
            </a:ln>
          </p:spPr>
        </p:cxnSp>
        <p:cxnSp>
          <p:nvCxnSpPr>
            <p:cNvPr id="115" name="AutoShape 28"/>
            <p:cNvCxnSpPr>
              <a:cxnSpLocks noChangeShapeType="1"/>
            </p:cNvCxnSpPr>
            <p:nvPr/>
          </p:nvCxnSpPr>
          <p:spPr bwMode="auto">
            <a:xfrm flipH="1">
              <a:off x="2635159" y="4557558"/>
              <a:ext cx="711736" cy="586304"/>
            </a:xfrm>
            <a:prstGeom prst="straightConnector1">
              <a:avLst/>
            </a:prstGeom>
            <a:noFill/>
            <a:ln w="19050">
              <a:solidFill>
                <a:srgbClr val="000000"/>
              </a:solidFill>
              <a:round/>
              <a:headEnd type="none" w="med" len="med"/>
              <a:tailEnd type="arrow" w="med" len="med"/>
            </a:ln>
          </p:spPr>
        </p:cxnSp>
        <p:cxnSp>
          <p:nvCxnSpPr>
            <p:cNvPr id="116" name="AutoShape 29"/>
            <p:cNvCxnSpPr>
              <a:cxnSpLocks noChangeShapeType="1"/>
            </p:cNvCxnSpPr>
            <p:nvPr/>
          </p:nvCxnSpPr>
          <p:spPr bwMode="auto">
            <a:xfrm flipH="1">
              <a:off x="2695025" y="4402928"/>
              <a:ext cx="592005" cy="0"/>
            </a:xfrm>
            <a:prstGeom prst="straightConnector1">
              <a:avLst/>
            </a:prstGeom>
            <a:noFill/>
            <a:ln w="19050">
              <a:solidFill>
                <a:srgbClr val="000000"/>
              </a:solidFill>
              <a:round/>
              <a:headEnd type="none" w="med" len="med"/>
              <a:tailEnd type="arrow" w="med" len="med"/>
            </a:ln>
          </p:spPr>
        </p:cxnSp>
        <p:sp>
          <p:nvSpPr>
            <p:cNvPr id="117" name="Text Box 30"/>
            <p:cNvSpPr txBox="1">
              <a:spLocks noChangeArrowheads="1"/>
            </p:cNvSpPr>
            <p:nvPr/>
          </p:nvSpPr>
          <p:spPr bwMode="auto">
            <a:xfrm>
              <a:off x="1857356" y="5715016"/>
              <a:ext cx="1344603" cy="296374"/>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zh-CN" altLang="en-US" sz="2000" b="0" i="0" u="none" strike="noStrike" cap="none" normalizeH="0" baseline="0">
                  <a:ln>
                    <a:noFill/>
                  </a:ln>
                  <a:solidFill>
                    <a:srgbClr val="0000FF"/>
                  </a:solidFill>
                  <a:effectLst/>
                  <a:latin typeface="Consolas" pitchFamily="49" charset="0"/>
                  <a:ea typeface="仿宋" pitchFamily="49" charset="-122"/>
                  <a:cs typeface="宋体" pitchFamily="2" charset="-122"/>
                </a:rPr>
                <a:t>层次网络</a:t>
              </a:r>
              <a:endParaRPr kumimoji="0" 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grpSp>
      <p:sp>
        <p:nvSpPr>
          <p:cNvPr id="118" name="右箭头 117"/>
          <p:cNvSpPr/>
          <p:nvPr/>
        </p:nvSpPr>
        <p:spPr>
          <a:xfrm>
            <a:off x="5857884" y="3309555"/>
            <a:ext cx="428628" cy="285752"/>
          </a:xfrm>
          <a:prstGeom prst="right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grpSp>
        <p:nvGrpSpPr>
          <p:cNvPr id="152" name="组合 151"/>
          <p:cNvGrpSpPr/>
          <p:nvPr/>
        </p:nvGrpSpPr>
        <p:grpSpPr>
          <a:xfrm>
            <a:off x="6476958" y="1571612"/>
            <a:ext cx="2381322" cy="3534890"/>
            <a:chOff x="1318115" y="2476500"/>
            <a:chExt cx="2381322" cy="3534890"/>
          </a:xfrm>
        </p:grpSpPr>
        <p:sp>
          <p:nvSpPr>
            <p:cNvPr id="153" name="Text Box 2"/>
            <p:cNvSpPr txBox="1">
              <a:spLocks noChangeArrowheads="1"/>
            </p:cNvSpPr>
            <p:nvPr/>
          </p:nvSpPr>
          <p:spPr bwMode="auto">
            <a:xfrm>
              <a:off x="2565317" y="2908175"/>
              <a:ext cx="149663" cy="293153"/>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5</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54" name="Text Box 3"/>
            <p:cNvSpPr txBox="1">
              <a:spLocks noChangeArrowheads="1"/>
            </p:cNvSpPr>
            <p:nvPr/>
          </p:nvSpPr>
          <p:spPr bwMode="auto">
            <a:xfrm>
              <a:off x="1343623" y="3811244"/>
              <a:ext cx="375822" cy="296374"/>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rPr>
                <a:t>(2)</a:t>
              </a:r>
              <a:endParaRPr kumimoji="0" lang="zh-CN"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endParaRPr>
            </a:p>
          </p:txBody>
        </p:sp>
        <p:sp>
          <p:nvSpPr>
            <p:cNvPr id="155" name="Text Box 4"/>
            <p:cNvSpPr txBox="1">
              <a:spLocks noChangeArrowheads="1"/>
            </p:cNvSpPr>
            <p:nvPr/>
          </p:nvSpPr>
          <p:spPr bwMode="auto">
            <a:xfrm>
              <a:off x="2738262" y="2515157"/>
              <a:ext cx="372497" cy="296374"/>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rPr>
                <a:t>(0)</a:t>
              </a:r>
              <a:endParaRPr kumimoji="0" lang="zh-CN"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endParaRPr>
            </a:p>
          </p:txBody>
        </p:sp>
        <p:sp>
          <p:nvSpPr>
            <p:cNvPr id="156" name="Text Box 5"/>
            <p:cNvSpPr txBox="1">
              <a:spLocks noChangeArrowheads="1"/>
            </p:cNvSpPr>
            <p:nvPr/>
          </p:nvSpPr>
          <p:spPr bwMode="auto">
            <a:xfrm>
              <a:off x="2744818" y="3275420"/>
              <a:ext cx="375824" cy="293153"/>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rPr>
                <a:t>(1)</a:t>
              </a:r>
              <a:endParaRPr kumimoji="0" lang="zh-CN"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endParaRPr>
            </a:p>
          </p:txBody>
        </p:sp>
        <p:sp>
          <p:nvSpPr>
            <p:cNvPr id="157" name="Text Box 6"/>
            <p:cNvSpPr txBox="1">
              <a:spLocks noChangeArrowheads="1"/>
            </p:cNvSpPr>
            <p:nvPr/>
          </p:nvSpPr>
          <p:spPr bwMode="auto">
            <a:xfrm>
              <a:off x="1898222" y="4261184"/>
              <a:ext cx="375824" cy="296374"/>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rPr>
                <a:t>(2)</a:t>
              </a:r>
              <a:endParaRPr kumimoji="0" lang="zh-CN"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endParaRPr>
            </a:p>
          </p:txBody>
        </p:sp>
        <p:sp>
          <p:nvSpPr>
            <p:cNvPr id="158" name="Text Box 7"/>
            <p:cNvSpPr txBox="1">
              <a:spLocks noChangeArrowheads="1"/>
            </p:cNvSpPr>
            <p:nvPr/>
          </p:nvSpPr>
          <p:spPr bwMode="auto">
            <a:xfrm>
              <a:off x="3324634" y="3833822"/>
              <a:ext cx="372497" cy="293151"/>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rPr>
                <a:t>(2)</a:t>
              </a:r>
              <a:endParaRPr kumimoji="0" lang="zh-CN"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endParaRPr>
            </a:p>
          </p:txBody>
        </p:sp>
        <p:sp>
          <p:nvSpPr>
            <p:cNvPr id="159" name="Text Box 8"/>
            <p:cNvSpPr txBox="1">
              <a:spLocks noChangeArrowheads="1"/>
            </p:cNvSpPr>
            <p:nvPr/>
          </p:nvSpPr>
          <p:spPr bwMode="auto">
            <a:xfrm>
              <a:off x="2726877" y="5143862"/>
              <a:ext cx="375824" cy="293153"/>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rPr>
                <a:t>(3)</a:t>
              </a:r>
              <a:endParaRPr kumimoji="0" lang="zh-CN"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endParaRPr>
            </a:p>
          </p:txBody>
        </p:sp>
        <p:sp>
          <p:nvSpPr>
            <p:cNvPr id="160" name="Text Box 9"/>
            <p:cNvSpPr txBox="1">
              <a:spLocks noChangeArrowheads="1"/>
            </p:cNvSpPr>
            <p:nvPr/>
          </p:nvSpPr>
          <p:spPr bwMode="auto">
            <a:xfrm>
              <a:off x="2319203" y="4689638"/>
              <a:ext cx="146338" cy="293151"/>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3</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61" name="Text Box 10"/>
            <p:cNvSpPr txBox="1">
              <a:spLocks noChangeArrowheads="1"/>
            </p:cNvSpPr>
            <p:nvPr/>
          </p:nvSpPr>
          <p:spPr bwMode="auto">
            <a:xfrm>
              <a:off x="2282617" y="3816624"/>
              <a:ext cx="146338" cy="293153"/>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2</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62" name="Text Box 11"/>
            <p:cNvSpPr txBox="1">
              <a:spLocks noChangeArrowheads="1"/>
            </p:cNvSpPr>
            <p:nvPr/>
          </p:nvSpPr>
          <p:spPr bwMode="auto">
            <a:xfrm>
              <a:off x="3057545" y="3684545"/>
              <a:ext cx="146338" cy="293151"/>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3</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63" name="Text Box 12"/>
            <p:cNvSpPr txBox="1">
              <a:spLocks noChangeArrowheads="1"/>
            </p:cNvSpPr>
            <p:nvPr/>
          </p:nvSpPr>
          <p:spPr bwMode="auto">
            <a:xfrm>
              <a:off x="1780412" y="4757288"/>
              <a:ext cx="146338" cy="296374"/>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2</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64" name="Text Box 13"/>
            <p:cNvSpPr txBox="1">
              <a:spLocks noChangeArrowheads="1"/>
            </p:cNvSpPr>
            <p:nvPr/>
          </p:nvSpPr>
          <p:spPr bwMode="auto">
            <a:xfrm>
              <a:off x="1840278" y="3684545"/>
              <a:ext cx="146338" cy="293151"/>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1</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65" name="Text Box 14"/>
            <p:cNvSpPr txBox="1">
              <a:spLocks noChangeArrowheads="1"/>
            </p:cNvSpPr>
            <p:nvPr/>
          </p:nvSpPr>
          <p:spPr bwMode="auto">
            <a:xfrm>
              <a:off x="2907880" y="4109777"/>
              <a:ext cx="149665" cy="293151"/>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1</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66" name="Text Box 15"/>
            <p:cNvSpPr txBox="1">
              <a:spLocks noChangeArrowheads="1"/>
            </p:cNvSpPr>
            <p:nvPr/>
          </p:nvSpPr>
          <p:spPr bwMode="auto">
            <a:xfrm>
              <a:off x="2991028" y="4808831"/>
              <a:ext cx="149663" cy="293153"/>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2</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67" name="Oval 16"/>
            <p:cNvSpPr>
              <a:spLocks noChangeArrowheads="1"/>
            </p:cNvSpPr>
            <p:nvPr/>
          </p:nvSpPr>
          <p:spPr bwMode="auto">
            <a:xfrm>
              <a:off x="2282617" y="2476500"/>
              <a:ext cx="415735" cy="438117"/>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0</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68" name="Oval 17"/>
            <p:cNvSpPr>
              <a:spLocks noChangeArrowheads="1"/>
            </p:cNvSpPr>
            <p:nvPr/>
          </p:nvSpPr>
          <p:spPr bwMode="auto">
            <a:xfrm>
              <a:off x="1318115" y="4183869"/>
              <a:ext cx="412408" cy="438117"/>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2</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69" name="Oval 18"/>
            <p:cNvSpPr>
              <a:spLocks noChangeArrowheads="1"/>
            </p:cNvSpPr>
            <p:nvPr/>
          </p:nvSpPr>
          <p:spPr bwMode="auto">
            <a:xfrm>
              <a:off x="2282617" y="4183869"/>
              <a:ext cx="412408" cy="438117"/>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3</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70" name="Oval 19"/>
            <p:cNvSpPr>
              <a:spLocks noChangeArrowheads="1"/>
            </p:cNvSpPr>
            <p:nvPr/>
          </p:nvSpPr>
          <p:spPr bwMode="auto">
            <a:xfrm>
              <a:off x="3287029" y="4183869"/>
              <a:ext cx="412408" cy="438117"/>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4</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71" name="Oval 20"/>
            <p:cNvSpPr>
              <a:spLocks noChangeArrowheads="1"/>
            </p:cNvSpPr>
            <p:nvPr/>
          </p:nvSpPr>
          <p:spPr bwMode="auto">
            <a:xfrm>
              <a:off x="2282617" y="3246428"/>
              <a:ext cx="412408" cy="438117"/>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1</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72" name="Oval 21"/>
            <p:cNvSpPr>
              <a:spLocks noChangeArrowheads="1"/>
            </p:cNvSpPr>
            <p:nvPr/>
          </p:nvSpPr>
          <p:spPr bwMode="auto">
            <a:xfrm>
              <a:off x="2282617" y="5079433"/>
              <a:ext cx="412408" cy="438117"/>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5</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cxnSp>
          <p:nvCxnSpPr>
            <p:cNvPr id="173" name="AutoShape 22"/>
            <p:cNvCxnSpPr>
              <a:cxnSpLocks noChangeShapeType="1"/>
            </p:cNvCxnSpPr>
            <p:nvPr/>
          </p:nvCxnSpPr>
          <p:spPr bwMode="auto">
            <a:xfrm flipH="1">
              <a:off x="2488821" y="2914617"/>
              <a:ext cx="0" cy="331811"/>
            </a:xfrm>
            <a:prstGeom prst="straightConnector1">
              <a:avLst/>
            </a:prstGeom>
            <a:noFill/>
            <a:ln w="19050">
              <a:solidFill>
                <a:srgbClr val="FF0000"/>
              </a:solidFill>
              <a:round/>
              <a:headEnd type="none" w="med" len="med"/>
              <a:tailEnd type="arrow" w="med" len="med"/>
            </a:ln>
          </p:spPr>
        </p:cxnSp>
        <p:cxnSp>
          <p:nvCxnSpPr>
            <p:cNvPr id="174" name="AutoShape 23"/>
            <p:cNvCxnSpPr>
              <a:cxnSpLocks noChangeShapeType="1"/>
            </p:cNvCxnSpPr>
            <p:nvPr/>
          </p:nvCxnSpPr>
          <p:spPr bwMode="auto">
            <a:xfrm flipH="1">
              <a:off x="1670657" y="3620116"/>
              <a:ext cx="671825" cy="628182"/>
            </a:xfrm>
            <a:prstGeom prst="straightConnector1">
              <a:avLst/>
            </a:prstGeom>
            <a:noFill/>
            <a:ln w="19050">
              <a:solidFill>
                <a:srgbClr val="000000"/>
              </a:solidFill>
              <a:round/>
              <a:headEnd type="none" w="med" len="med"/>
              <a:tailEnd type="arrow" w="med" len="med"/>
            </a:ln>
          </p:spPr>
        </p:cxnSp>
        <p:cxnSp>
          <p:nvCxnSpPr>
            <p:cNvPr id="175" name="AutoShape 24"/>
            <p:cNvCxnSpPr>
              <a:cxnSpLocks noChangeShapeType="1"/>
            </p:cNvCxnSpPr>
            <p:nvPr/>
          </p:nvCxnSpPr>
          <p:spPr bwMode="auto">
            <a:xfrm>
              <a:off x="2488821" y="3684545"/>
              <a:ext cx="0" cy="499324"/>
            </a:xfrm>
            <a:prstGeom prst="straightConnector1">
              <a:avLst/>
            </a:prstGeom>
            <a:noFill/>
            <a:ln w="19050">
              <a:solidFill>
                <a:srgbClr val="000000"/>
              </a:solidFill>
              <a:round/>
              <a:headEnd type="none" w="med" len="med"/>
              <a:tailEnd type="arrow" w="med" len="med"/>
            </a:ln>
          </p:spPr>
        </p:cxnSp>
        <p:cxnSp>
          <p:nvCxnSpPr>
            <p:cNvPr id="176" name="AutoShape 25"/>
            <p:cNvCxnSpPr>
              <a:cxnSpLocks noChangeShapeType="1"/>
            </p:cNvCxnSpPr>
            <p:nvPr/>
          </p:nvCxnSpPr>
          <p:spPr bwMode="auto">
            <a:xfrm>
              <a:off x="2635159" y="3620116"/>
              <a:ext cx="711736" cy="628182"/>
            </a:xfrm>
            <a:prstGeom prst="straightConnector1">
              <a:avLst/>
            </a:prstGeom>
            <a:noFill/>
            <a:ln w="19050">
              <a:solidFill>
                <a:srgbClr val="FF0000"/>
              </a:solidFill>
              <a:round/>
              <a:headEnd type="none" w="med" len="med"/>
              <a:tailEnd type="arrow" w="med" len="med"/>
            </a:ln>
          </p:spPr>
        </p:cxnSp>
        <p:cxnSp>
          <p:nvCxnSpPr>
            <p:cNvPr id="177" name="AutoShape 26"/>
            <p:cNvCxnSpPr>
              <a:cxnSpLocks noChangeShapeType="1"/>
            </p:cNvCxnSpPr>
            <p:nvPr/>
          </p:nvCxnSpPr>
          <p:spPr bwMode="auto">
            <a:xfrm>
              <a:off x="1670657" y="4557558"/>
              <a:ext cx="671825" cy="586304"/>
            </a:xfrm>
            <a:prstGeom prst="straightConnector1">
              <a:avLst/>
            </a:prstGeom>
            <a:noFill/>
            <a:ln w="19050">
              <a:solidFill>
                <a:srgbClr val="000000"/>
              </a:solidFill>
              <a:round/>
              <a:headEnd type="none" w="med" len="med"/>
              <a:tailEnd type="arrow" w="med" len="med"/>
            </a:ln>
          </p:spPr>
        </p:cxnSp>
        <p:cxnSp>
          <p:nvCxnSpPr>
            <p:cNvPr id="178" name="AutoShape 27"/>
            <p:cNvCxnSpPr>
              <a:cxnSpLocks noChangeShapeType="1"/>
            </p:cNvCxnSpPr>
            <p:nvPr/>
          </p:nvCxnSpPr>
          <p:spPr bwMode="auto">
            <a:xfrm>
              <a:off x="2488821" y="4621987"/>
              <a:ext cx="0" cy="457446"/>
            </a:xfrm>
            <a:prstGeom prst="straightConnector1">
              <a:avLst/>
            </a:prstGeom>
            <a:noFill/>
            <a:ln w="19050">
              <a:solidFill>
                <a:srgbClr val="000000"/>
              </a:solidFill>
              <a:round/>
              <a:headEnd type="none" w="med" len="med"/>
              <a:tailEnd type="arrow" w="med" len="med"/>
            </a:ln>
          </p:spPr>
        </p:cxnSp>
        <p:cxnSp>
          <p:nvCxnSpPr>
            <p:cNvPr id="179" name="AutoShape 28"/>
            <p:cNvCxnSpPr>
              <a:cxnSpLocks noChangeShapeType="1"/>
            </p:cNvCxnSpPr>
            <p:nvPr/>
          </p:nvCxnSpPr>
          <p:spPr bwMode="auto">
            <a:xfrm flipH="1">
              <a:off x="2635159" y="4557558"/>
              <a:ext cx="711736" cy="586304"/>
            </a:xfrm>
            <a:prstGeom prst="straightConnector1">
              <a:avLst/>
            </a:prstGeom>
            <a:noFill/>
            <a:ln w="19050">
              <a:solidFill>
                <a:srgbClr val="FF0000"/>
              </a:solidFill>
              <a:round/>
              <a:headEnd type="none" w="med" len="med"/>
              <a:tailEnd type="arrow" w="med" len="med"/>
            </a:ln>
          </p:spPr>
        </p:cxnSp>
        <p:cxnSp>
          <p:nvCxnSpPr>
            <p:cNvPr id="180" name="AutoShape 29"/>
            <p:cNvCxnSpPr>
              <a:cxnSpLocks noChangeShapeType="1"/>
            </p:cNvCxnSpPr>
            <p:nvPr/>
          </p:nvCxnSpPr>
          <p:spPr bwMode="auto">
            <a:xfrm flipH="1">
              <a:off x="2695025" y="4402928"/>
              <a:ext cx="592005" cy="0"/>
            </a:xfrm>
            <a:prstGeom prst="straightConnector1">
              <a:avLst/>
            </a:prstGeom>
            <a:noFill/>
            <a:ln w="19050">
              <a:solidFill>
                <a:srgbClr val="000000"/>
              </a:solidFill>
              <a:round/>
              <a:headEnd type="none" w="med" len="med"/>
              <a:tailEnd type="arrow" w="med" len="med"/>
            </a:ln>
          </p:spPr>
        </p:cxnSp>
        <p:sp>
          <p:nvSpPr>
            <p:cNvPr id="181" name="Text Box 30"/>
            <p:cNvSpPr txBox="1">
              <a:spLocks noChangeArrowheads="1"/>
            </p:cNvSpPr>
            <p:nvPr/>
          </p:nvSpPr>
          <p:spPr bwMode="auto">
            <a:xfrm>
              <a:off x="1857356" y="5715016"/>
              <a:ext cx="1344603" cy="296374"/>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zh-CN" altLang="en-US" sz="2000" b="0">
                  <a:solidFill>
                    <a:srgbClr val="0000FF"/>
                  </a:solidFill>
                  <a:latin typeface="Consolas" pitchFamily="49" charset="0"/>
                  <a:ea typeface="仿宋" pitchFamily="49" charset="-122"/>
                  <a:cs typeface="宋体" pitchFamily="2" charset="-122"/>
                </a:rPr>
                <a:t>增广路径</a:t>
              </a:r>
              <a:r>
                <a:rPr kumimoji="0" lang="en-US" altLang="zh-CN" sz="2000" b="0">
                  <a:solidFill>
                    <a:srgbClr val="0000FF"/>
                  </a:solidFill>
                  <a:latin typeface="Consolas" pitchFamily="49" charset="0"/>
                  <a:ea typeface="仿宋" pitchFamily="49" charset="-122"/>
                  <a:cs typeface="宋体" pitchFamily="2" charset="-122"/>
                </a:rPr>
                <a:t>1</a:t>
              </a:r>
              <a:endParaRPr kumimoji="0" 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grpSp>
      <p:sp>
        <p:nvSpPr>
          <p:cNvPr id="119" name="灯片编号占位符 118"/>
          <p:cNvSpPr>
            <a:spLocks noGrp="1"/>
          </p:cNvSpPr>
          <p:nvPr>
            <p:ph type="sldNum" sz="quarter" idx="12"/>
          </p:nvPr>
        </p:nvSpPr>
        <p:spPr/>
        <p:txBody>
          <a:bodyPr/>
          <a:lstStyle/>
          <a:p>
            <a:fld id="{7AF016A1-9F15-429F-9EFD-84004B73C732}" type="slidenum">
              <a:rPr lang="en-US" altLang="zh-CN" smtClean="0"/>
              <a:pPr/>
              <a:t>128</a:t>
            </a:fld>
            <a:r>
              <a:rPr lang="en-US" altLang="zh-CN"/>
              <a:t>/158</a:t>
            </a: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428596" y="1571612"/>
            <a:ext cx="2381322" cy="3534890"/>
            <a:chOff x="1318115" y="2476500"/>
            <a:chExt cx="2381322" cy="3534890"/>
          </a:xfrm>
        </p:grpSpPr>
        <p:sp>
          <p:nvSpPr>
            <p:cNvPr id="4" name="Text Box 2"/>
            <p:cNvSpPr txBox="1">
              <a:spLocks noChangeArrowheads="1"/>
            </p:cNvSpPr>
            <p:nvPr/>
          </p:nvSpPr>
          <p:spPr bwMode="auto">
            <a:xfrm>
              <a:off x="2565317" y="2908175"/>
              <a:ext cx="149663" cy="293153"/>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5</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5" name="Text Box 3"/>
            <p:cNvSpPr txBox="1">
              <a:spLocks noChangeArrowheads="1"/>
            </p:cNvSpPr>
            <p:nvPr/>
          </p:nvSpPr>
          <p:spPr bwMode="auto">
            <a:xfrm>
              <a:off x="1343623" y="3811244"/>
              <a:ext cx="375822" cy="296374"/>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rPr>
                <a:t>(2)</a:t>
              </a:r>
              <a:endParaRPr kumimoji="0" lang="zh-CN"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endParaRPr>
            </a:p>
          </p:txBody>
        </p:sp>
        <p:sp>
          <p:nvSpPr>
            <p:cNvPr id="6" name="Text Box 4"/>
            <p:cNvSpPr txBox="1">
              <a:spLocks noChangeArrowheads="1"/>
            </p:cNvSpPr>
            <p:nvPr/>
          </p:nvSpPr>
          <p:spPr bwMode="auto">
            <a:xfrm>
              <a:off x="2738262" y="2515157"/>
              <a:ext cx="372497" cy="296374"/>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rPr>
                <a:t>(0)</a:t>
              </a:r>
              <a:endParaRPr kumimoji="0" lang="zh-CN"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endParaRPr>
            </a:p>
          </p:txBody>
        </p:sp>
        <p:sp>
          <p:nvSpPr>
            <p:cNvPr id="7" name="Text Box 5"/>
            <p:cNvSpPr txBox="1">
              <a:spLocks noChangeArrowheads="1"/>
            </p:cNvSpPr>
            <p:nvPr/>
          </p:nvSpPr>
          <p:spPr bwMode="auto">
            <a:xfrm>
              <a:off x="2744818" y="3275420"/>
              <a:ext cx="375824" cy="293153"/>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rPr>
                <a:t>(1)</a:t>
              </a:r>
              <a:endParaRPr kumimoji="0" lang="zh-CN"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endParaRPr>
            </a:p>
          </p:txBody>
        </p:sp>
        <p:sp>
          <p:nvSpPr>
            <p:cNvPr id="8" name="Text Box 6"/>
            <p:cNvSpPr txBox="1">
              <a:spLocks noChangeArrowheads="1"/>
            </p:cNvSpPr>
            <p:nvPr/>
          </p:nvSpPr>
          <p:spPr bwMode="auto">
            <a:xfrm>
              <a:off x="1898222" y="4261184"/>
              <a:ext cx="375824" cy="296374"/>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rPr>
                <a:t>(2)</a:t>
              </a:r>
              <a:endParaRPr kumimoji="0" lang="zh-CN"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endParaRPr>
            </a:p>
          </p:txBody>
        </p:sp>
        <p:sp>
          <p:nvSpPr>
            <p:cNvPr id="9" name="Text Box 7"/>
            <p:cNvSpPr txBox="1">
              <a:spLocks noChangeArrowheads="1"/>
            </p:cNvSpPr>
            <p:nvPr/>
          </p:nvSpPr>
          <p:spPr bwMode="auto">
            <a:xfrm>
              <a:off x="3324634" y="3833822"/>
              <a:ext cx="372497" cy="293151"/>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rPr>
                <a:t>(2)</a:t>
              </a:r>
              <a:endParaRPr kumimoji="0" lang="zh-CN"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endParaRPr>
            </a:p>
          </p:txBody>
        </p:sp>
        <p:sp>
          <p:nvSpPr>
            <p:cNvPr id="10" name="Text Box 8"/>
            <p:cNvSpPr txBox="1">
              <a:spLocks noChangeArrowheads="1"/>
            </p:cNvSpPr>
            <p:nvPr/>
          </p:nvSpPr>
          <p:spPr bwMode="auto">
            <a:xfrm>
              <a:off x="2726877" y="5143862"/>
              <a:ext cx="375824" cy="293153"/>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rPr>
                <a:t>(3)</a:t>
              </a:r>
              <a:endParaRPr kumimoji="0" lang="zh-CN"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endParaRPr>
            </a:p>
          </p:txBody>
        </p:sp>
        <p:sp>
          <p:nvSpPr>
            <p:cNvPr id="11" name="Text Box 9"/>
            <p:cNvSpPr txBox="1">
              <a:spLocks noChangeArrowheads="1"/>
            </p:cNvSpPr>
            <p:nvPr/>
          </p:nvSpPr>
          <p:spPr bwMode="auto">
            <a:xfrm>
              <a:off x="2319203" y="4689638"/>
              <a:ext cx="146338" cy="293151"/>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3</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2" name="Text Box 10"/>
            <p:cNvSpPr txBox="1">
              <a:spLocks noChangeArrowheads="1"/>
            </p:cNvSpPr>
            <p:nvPr/>
          </p:nvSpPr>
          <p:spPr bwMode="auto">
            <a:xfrm>
              <a:off x="2282617" y="3816624"/>
              <a:ext cx="146338" cy="293153"/>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2</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3" name="Text Box 11"/>
            <p:cNvSpPr txBox="1">
              <a:spLocks noChangeArrowheads="1"/>
            </p:cNvSpPr>
            <p:nvPr/>
          </p:nvSpPr>
          <p:spPr bwMode="auto">
            <a:xfrm>
              <a:off x="3057545" y="3684545"/>
              <a:ext cx="146338" cy="293151"/>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3</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4" name="Text Box 12"/>
            <p:cNvSpPr txBox="1">
              <a:spLocks noChangeArrowheads="1"/>
            </p:cNvSpPr>
            <p:nvPr/>
          </p:nvSpPr>
          <p:spPr bwMode="auto">
            <a:xfrm>
              <a:off x="1780412" y="4757288"/>
              <a:ext cx="146338" cy="296374"/>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2</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5" name="Text Box 13"/>
            <p:cNvSpPr txBox="1">
              <a:spLocks noChangeArrowheads="1"/>
            </p:cNvSpPr>
            <p:nvPr/>
          </p:nvSpPr>
          <p:spPr bwMode="auto">
            <a:xfrm>
              <a:off x="1840278" y="3684545"/>
              <a:ext cx="146338" cy="293151"/>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1</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6" name="Text Box 14"/>
            <p:cNvSpPr txBox="1">
              <a:spLocks noChangeArrowheads="1"/>
            </p:cNvSpPr>
            <p:nvPr/>
          </p:nvSpPr>
          <p:spPr bwMode="auto">
            <a:xfrm>
              <a:off x="2907880" y="4109777"/>
              <a:ext cx="149665" cy="293151"/>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1</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8" name="Text Box 15"/>
            <p:cNvSpPr txBox="1">
              <a:spLocks noChangeArrowheads="1"/>
            </p:cNvSpPr>
            <p:nvPr/>
          </p:nvSpPr>
          <p:spPr bwMode="auto">
            <a:xfrm>
              <a:off x="2991028" y="4808831"/>
              <a:ext cx="149663" cy="293153"/>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2</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9" name="Oval 16"/>
            <p:cNvSpPr>
              <a:spLocks noChangeArrowheads="1"/>
            </p:cNvSpPr>
            <p:nvPr/>
          </p:nvSpPr>
          <p:spPr bwMode="auto">
            <a:xfrm>
              <a:off x="2282617" y="2476500"/>
              <a:ext cx="415735" cy="438117"/>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0</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20" name="Oval 17"/>
            <p:cNvSpPr>
              <a:spLocks noChangeArrowheads="1"/>
            </p:cNvSpPr>
            <p:nvPr/>
          </p:nvSpPr>
          <p:spPr bwMode="auto">
            <a:xfrm>
              <a:off x="1318115" y="4183869"/>
              <a:ext cx="412408" cy="438117"/>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2</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21" name="Oval 18"/>
            <p:cNvSpPr>
              <a:spLocks noChangeArrowheads="1"/>
            </p:cNvSpPr>
            <p:nvPr/>
          </p:nvSpPr>
          <p:spPr bwMode="auto">
            <a:xfrm>
              <a:off x="2282617" y="4183869"/>
              <a:ext cx="412408" cy="438117"/>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3</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22" name="Oval 19"/>
            <p:cNvSpPr>
              <a:spLocks noChangeArrowheads="1"/>
            </p:cNvSpPr>
            <p:nvPr/>
          </p:nvSpPr>
          <p:spPr bwMode="auto">
            <a:xfrm>
              <a:off x="3287029" y="4183869"/>
              <a:ext cx="412408" cy="438117"/>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4</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23" name="Oval 20"/>
            <p:cNvSpPr>
              <a:spLocks noChangeArrowheads="1"/>
            </p:cNvSpPr>
            <p:nvPr/>
          </p:nvSpPr>
          <p:spPr bwMode="auto">
            <a:xfrm>
              <a:off x="2282617" y="3246428"/>
              <a:ext cx="412408" cy="438117"/>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1</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24" name="Oval 21"/>
            <p:cNvSpPr>
              <a:spLocks noChangeArrowheads="1"/>
            </p:cNvSpPr>
            <p:nvPr/>
          </p:nvSpPr>
          <p:spPr bwMode="auto">
            <a:xfrm>
              <a:off x="2282617" y="5079433"/>
              <a:ext cx="412408" cy="438117"/>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5</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cxnSp>
          <p:nvCxnSpPr>
            <p:cNvPr id="25" name="AutoShape 22"/>
            <p:cNvCxnSpPr>
              <a:cxnSpLocks noChangeShapeType="1"/>
            </p:cNvCxnSpPr>
            <p:nvPr/>
          </p:nvCxnSpPr>
          <p:spPr bwMode="auto">
            <a:xfrm flipH="1">
              <a:off x="2488821" y="2914617"/>
              <a:ext cx="0" cy="331811"/>
            </a:xfrm>
            <a:prstGeom prst="straightConnector1">
              <a:avLst/>
            </a:prstGeom>
            <a:noFill/>
            <a:ln w="19050">
              <a:solidFill>
                <a:srgbClr val="FF0000"/>
              </a:solidFill>
              <a:round/>
              <a:headEnd type="none" w="med" len="med"/>
              <a:tailEnd type="arrow" w="med" len="med"/>
            </a:ln>
          </p:spPr>
        </p:cxnSp>
        <p:cxnSp>
          <p:nvCxnSpPr>
            <p:cNvPr id="26" name="AutoShape 23"/>
            <p:cNvCxnSpPr>
              <a:cxnSpLocks noChangeShapeType="1"/>
            </p:cNvCxnSpPr>
            <p:nvPr/>
          </p:nvCxnSpPr>
          <p:spPr bwMode="auto">
            <a:xfrm flipH="1">
              <a:off x="1670657" y="3620116"/>
              <a:ext cx="671825" cy="628182"/>
            </a:xfrm>
            <a:prstGeom prst="straightConnector1">
              <a:avLst/>
            </a:prstGeom>
            <a:noFill/>
            <a:ln w="19050">
              <a:solidFill>
                <a:srgbClr val="000000"/>
              </a:solidFill>
              <a:round/>
              <a:headEnd type="none" w="med" len="med"/>
              <a:tailEnd type="arrow" w="med" len="med"/>
            </a:ln>
          </p:spPr>
        </p:cxnSp>
        <p:cxnSp>
          <p:nvCxnSpPr>
            <p:cNvPr id="27" name="AutoShape 24"/>
            <p:cNvCxnSpPr>
              <a:cxnSpLocks noChangeShapeType="1"/>
            </p:cNvCxnSpPr>
            <p:nvPr/>
          </p:nvCxnSpPr>
          <p:spPr bwMode="auto">
            <a:xfrm>
              <a:off x="2488821" y="3684545"/>
              <a:ext cx="0" cy="499324"/>
            </a:xfrm>
            <a:prstGeom prst="straightConnector1">
              <a:avLst/>
            </a:prstGeom>
            <a:noFill/>
            <a:ln w="19050">
              <a:solidFill>
                <a:srgbClr val="000000"/>
              </a:solidFill>
              <a:round/>
              <a:headEnd type="none" w="med" len="med"/>
              <a:tailEnd type="arrow" w="med" len="med"/>
            </a:ln>
          </p:spPr>
        </p:cxnSp>
        <p:cxnSp>
          <p:nvCxnSpPr>
            <p:cNvPr id="28" name="AutoShape 25"/>
            <p:cNvCxnSpPr>
              <a:cxnSpLocks noChangeShapeType="1"/>
            </p:cNvCxnSpPr>
            <p:nvPr/>
          </p:nvCxnSpPr>
          <p:spPr bwMode="auto">
            <a:xfrm>
              <a:off x="2635159" y="3620116"/>
              <a:ext cx="711736" cy="628182"/>
            </a:xfrm>
            <a:prstGeom prst="straightConnector1">
              <a:avLst/>
            </a:prstGeom>
            <a:noFill/>
            <a:ln w="19050">
              <a:solidFill>
                <a:srgbClr val="FF0000"/>
              </a:solidFill>
              <a:round/>
              <a:headEnd type="none" w="med" len="med"/>
              <a:tailEnd type="arrow" w="med" len="med"/>
            </a:ln>
          </p:spPr>
        </p:cxnSp>
        <p:cxnSp>
          <p:nvCxnSpPr>
            <p:cNvPr id="29" name="AutoShape 26"/>
            <p:cNvCxnSpPr>
              <a:cxnSpLocks noChangeShapeType="1"/>
            </p:cNvCxnSpPr>
            <p:nvPr/>
          </p:nvCxnSpPr>
          <p:spPr bwMode="auto">
            <a:xfrm>
              <a:off x="1670657" y="4557558"/>
              <a:ext cx="671825" cy="586304"/>
            </a:xfrm>
            <a:prstGeom prst="straightConnector1">
              <a:avLst/>
            </a:prstGeom>
            <a:noFill/>
            <a:ln w="19050">
              <a:solidFill>
                <a:srgbClr val="000000"/>
              </a:solidFill>
              <a:round/>
              <a:headEnd type="none" w="med" len="med"/>
              <a:tailEnd type="arrow" w="med" len="med"/>
            </a:ln>
          </p:spPr>
        </p:cxnSp>
        <p:cxnSp>
          <p:nvCxnSpPr>
            <p:cNvPr id="30" name="AutoShape 27"/>
            <p:cNvCxnSpPr>
              <a:cxnSpLocks noChangeShapeType="1"/>
            </p:cNvCxnSpPr>
            <p:nvPr/>
          </p:nvCxnSpPr>
          <p:spPr bwMode="auto">
            <a:xfrm>
              <a:off x="2488821" y="4621987"/>
              <a:ext cx="0" cy="457446"/>
            </a:xfrm>
            <a:prstGeom prst="straightConnector1">
              <a:avLst/>
            </a:prstGeom>
            <a:noFill/>
            <a:ln w="19050">
              <a:solidFill>
                <a:srgbClr val="000000"/>
              </a:solidFill>
              <a:round/>
              <a:headEnd type="none" w="med" len="med"/>
              <a:tailEnd type="arrow" w="med" len="med"/>
            </a:ln>
          </p:spPr>
        </p:cxnSp>
        <p:cxnSp>
          <p:nvCxnSpPr>
            <p:cNvPr id="31" name="AutoShape 28"/>
            <p:cNvCxnSpPr>
              <a:cxnSpLocks noChangeShapeType="1"/>
            </p:cNvCxnSpPr>
            <p:nvPr/>
          </p:nvCxnSpPr>
          <p:spPr bwMode="auto">
            <a:xfrm flipH="1">
              <a:off x="2635159" y="4557558"/>
              <a:ext cx="711736" cy="586304"/>
            </a:xfrm>
            <a:prstGeom prst="straightConnector1">
              <a:avLst/>
            </a:prstGeom>
            <a:noFill/>
            <a:ln w="19050">
              <a:solidFill>
                <a:srgbClr val="FF0000"/>
              </a:solidFill>
              <a:round/>
              <a:headEnd type="none" w="med" len="med"/>
              <a:tailEnd type="arrow" w="med" len="med"/>
            </a:ln>
          </p:spPr>
        </p:cxnSp>
        <p:cxnSp>
          <p:nvCxnSpPr>
            <p:cNvPr id="32" name="AutoShape 29"/>
            <p:cNvCxnSpPr>
              <a:cxnSpLocks noChangeShapeType="1"/>
            </p:cNvCxnSpPr>
            <p:nvPr/>
          </p:nvCxnSpPr>
          <p:spPr bwMode="auto">
            <a:xfrm flipH="1">
              <a:off x="2695025" y="4402928"/>
              <a:ext cx="592005" cy="0"/>
            </a:xfrm>
            <a:prstGeom prst="straightConnector1">
              <a:avLst/>
            </a:prstGeom>
            <a:noFill/>
            <a:ln w="19050">
              <a:solidFill>
                <a:srgbClr val="000000"/>
              </a:solidFill>
              <a:round/>
              <a:headEnd type="none" w="med" len="med"/>
              <a:tailEnd type="arrow" w="med" len="med"/>
            </a:ln>
          </p:spPr>
        </p:cxnSp>
        <p:sp>
          <p:nvSpPr>
            <p:cNvPr id="33" name="Text Box 30"/>
            <p:cNvSpPr txBox="1">
              <a:spLocks noChangeArrowheads="1"/>
            </p:cNvSpPr>
            <p:nvPr/>
          </p:nvSpPr>
          <p:spPr bwMode="auto">
            <a:xfrm>
              <a:off x="1857356" y="5715016"/>
              <a:ext cx="1344603" cy="296374"/>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zh-CN" altLang="en-US" sz="2000" b="0" i="0" u="none" strike="noStrike" cap="none" normalizeH="0" baseline="0">
                  <a:ln>
                    <a:noFill/>
                  </a:ln>
                  <a:solidFill>
                    <a:srgbClr val="0000FF"/>
                  </a:solidFill>
                  <a:effectLst/>
                  <a:latin typeface="Consolas" pitchFamily="49" charset="0"/>
                  <a:ea typeface="仿宋" pitchFamily="49" charset="-122"/>
                  <a:cs typeface="宋体" pitchFamily="2" charset="-122"/>
                </a:rPr>
                <a:t>增广路径</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1</a:t>
              </a:r>
              <a:endParaRPr kumimoji="0" 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grpSp>
      <p:sp>
        <p:nvSpPr>
          <p:cNvPr id="34" name="右箭头 33"/>
          <p:cNvSpPr/>
          <p:nvPr/>
        </p:nvSpPr>
        <p:spPr>
          <a:xfrm>
            <a:off x="2989075" y="3309555"/>
            <a:ext cx="428628" cy="285752"/>
          </a:xfrm>
          <a:prstGeom prst="right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grpSp>
        <p:nvGrpSpPr>
          <p:cNvPr id="35" name="组合 34"/>
          <p:cNvGrpSpPr/>
          <p:nvPr/>
        </p:nvGrpSpPr>
        <p:grpSpPr>
          <a:xfrm>
            <a:off x="3571868" y="1550981"/>
            <a:ext cx="2289613" cy="3521093"/>
            <a:chOff x="5331961" y="2479675"/>
            <a:chExt cx="2289613" cy="3521093"/>
          </a:xfrm>
        </p:grpSpPr>
        <p:sp>
          <p:nvSpPr>
            <p:cNvPr id="36" name="Text Box 31"/>
            <p:cNvSpPr txBox="1">
              <a:spLocks noChangeArrowheads="1"/>
            </p:cNvSpPr>
            <p:nvPr/>
          </p:nvSpPr>
          <p:spPr bwMode="auto">
            <a:xfrm>
              <a:off x="6531131" y="2913738"/>
              <a:ext cx="143899" cy="294775"/>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5</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37" name="Text Box 32"/>
            <p:cNvSpPr txBox="1">
              <a:spLocks noChangeArrowheads="1"/>
            </p:cNvSpPr>
            <p:nvPr/>
          </p:nvSpPr>
          <p:spPr bwMode="auto">
            <a:xfrm>
              <a:off x="7362554" y="3496807"/>
              <a:ext cx="143899" cy="294775"/>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2</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38" name="Text Box 33"/>
            <p:cNvSpPr txBox="1">
              <a:spLocks noChangeArrowheads="1"/>
            </p:cNvSpPr>
            <p:nvPr/>
          </p:nvSpPr>
          <p:spPr bwMode="auto">
            <a:xfrm>
              <a:off x="6005669" y="5705993"/>
              <a:ext cx="995223" cy="294775"/>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zh-CN" altLang="en-US" sz="2000" b="0" i="0" u="none" strike="noStrike" cap="none" normalizeH="0" baseline="0">
                  <a:ln>
                    <a:noFill/>
                  </a:ln>
                  <a:solidFill>
                    <a:srgbClr val="0000FF"/>
                  </a:solidFill>
                  <a:effectLst/>
                  <a:latin typeface="Consolas" pitchFamily="49" charset="0"/>
                  <a:ea typeface="仿宋" pitchFamily="49" charset="-122"/>
                  <a:cs typeface="宋体" pitchFamily="2" charset="-122"/>
                </a:rPr>
                <a:t>增广</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1</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39" name="Text Box 34"/>
            <p:cNvSpPr txBox="1">
              <a:spLocks noChangeArrowheads="1"/>
            </p:cNvSpPr>
            <p:nvPr/>
          </p:nvSpPr>
          <p:spPr bwMode="auto">
            <a:xfrm>
              <a:off x="5353660" y="3786190"/>
              <a:ext cx="361348" cy="294773"/>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rPr>
                <a:t>(2)</a:t>
              </a:r>
              <a:endParaRPr kumimoji="0" lang="zh-CN"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endParaRPr>
            </a:p>
          </p:txBody>
        </p:sp>
        <p:sp>
          <p:nvSpPr>
            <p:cNvPr id="40" name="Text Box 35"/>
            <p:cNvSpPr txBox="1">
              <a:spLocks noChangeArrowheads="1"/>
            </p:cNvSpPr>
            <p:nvPr/>
          </p:nvSpPr>
          <p:spPr bwMode="auto">
            <a:xfrm>
              <a:off x="6697415" y="2521787"/>
              <a:ext cx="358152" cy="294773"/>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rPr>
                <a:t>(0)</a:t>
              </a:r>
              <a:endParaRPr kumimoji="0" lang="zh-CN"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endParaRPr>
            </a:p>
          </p:txBody>
        </p:sp>
        <p:sp>
          <p:nvSpPr>
            <p:cNvPr id="41" name="Text Box 36"/>
            <p:cNvSpPr txBox="1">
              <a:spLocks noChangeArrowheads="1"/>
            </p:cNvSpPr>
            <p:nvPr/>
          </p:nvSpPr>
          <p:spPr bwMode="auto">
            <a:xfrm>
              <a:off x="6729780" y="3145685"/>
              <a:ext cx="361348" cy="298013"/>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rPr>
                <a:t>(1)</a:t>
              </a:r>
              <a:endParaRPr kumimoji="0" lang="zh-CN"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endParaRPr>
            </a:p>
          </p:txBody>
        </p:sp>
        <p:sp>
          <p:nvSpPr>
            <p:cNvPr id="42" name="Text Box 37"/>
            <p:cNvSpPr txBox="1">
              <a:spLocks noChangeArrowheads="1"/>
            </p:cNvSpPr>
            <p:nvPr/>
          </p:nvSpPr>
          <p:spPr bwMode="auto">
            <a:xfrm>
              <a:off x="5876699" y="4277474"/>
              <a:ext cx="361350" cy="294773"/>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rPr>
                <a:t>(2)</a:t>
              </a:r>
              <a:endParaRPr kumimoji="0" lang="zh-CN"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endParaRPr>
            </a:p>
          </p:txBody>
        </p:sp>
        <p:sp>
          <p:nvSpPr>
            <p:cNvPr id="43" name="Text Box 38"/>
            <p:cNvSpPr txBox="1">
              <a:spLocks noChangeArrowheads="1"/>
            </p:cNvSpPr>
            <p:nvPr/>
          </p:nvSpPr>
          <p:spPr bwMode="auto">
            <a:xfrm>
              <a:off x="7237784" y="4694574"/>
              <a:ext cx="358152" cy="294773"/>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rPr>
                <a:t>(2)</a:t>
              </a:r>
              <a:endParaRPr kumimoji="0" lang="zh-CN"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endParaRPr>
            </a:p>
          </p:txBody>
        </p:sp>
        <p:sp>
          <p:nvSpPr>
            <p:cNvPr id="44" name="Text Box 39"/>
            <p:cNvSpPr txBox="1">
              <a:spLocks noChangeArrowheads="1"/>
            </p:cNvSpPr>
            <p:nvPr/>
          </p:nvSpPr>
          <p:spPr bwMode="auto">
            <a:xfrm>
              <a:off x="6722075" y="5161795"/>
              <a:ext cx="361350" cy="298013"/>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rPr>
                <a:t>(3)</a:t>
              </a:r>
              <a:endParaRPr kumimoji="0" lang="zh-CN"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endParaRPr>
            </a:p>
          </p:txBody>
        </p:sp>
        <p:sp>
          <p:nvSpPr>
            <p:cNvPr id="45" name="Text Box 40"/>
            <p:cNvSpPr txBox="1">
              <a:spLocks noChangeArrowheads="1"/>
            </p:cNvSpPr>
            <p:nvPr/>
          </p:nvSpPr>
          <p:spPr bwMode="auto">
            <a:xfrm>
              <a:off x="6294495" y="4705058"/>
              <a:ext cx="140702" cy="294773"/>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3</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6" name="Text Box 41"/>
            <p:cNvSpPr txBox="1">
              <a:spLocks noChangeArrowheads="1"/>
            </p:cNvSpPr>
            <p:nvPr/>
          </p:nvSpPr>
          <p:spPr bwMode="auto">
            <a:xfrm>
              <a:off x="6259318" y="3827213"/>
              <a:ext cx="140702" cy="294775"/>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2</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7" name="Text Box 42"/>
            <p:cNvSpPr txBox="1">
              <a:spLocks noChangeArrowheads="1"/>
            </p:cNvSpPr>
            <p:nvPr/>
          </p:nvSpPr>
          <p:spPr bwMode="auto">
            <a:xfrm>
              <a:off x="7004403" y="3697642"/>
              <a:ext cx="140702" cy="294775"/>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1</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8" name="Text Box 43"/>
            <p:cNvSpPr txBox="1">
              <a:spLocks noChangeArrowheads="1"/>
            </p:cNvSpPr>
            <p:nvPr/>
          </p:nvSpPr>
          <p:spPr bwMode="auto">
            <a:xfrm>
              <a:off x="5776454" y="4776322"/>
              <a:ext cx="140702" cy="294773"/>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2</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9" name="Text Box 44"/>
            <p:cNvSpPr txBox="1">
              <a:spLocks noChangeArrowheads="1"/>
            </p:cNvSpPr>
            <p:nvPr/>
          </p:nvSpPr>
          <p:spPr bwMode="auto">
            <a:xfrm>
              <a:off x="5834014" y="3697642"/>
              <a:ext cx="140702" cy="294775"/>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1</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50" name="Text Box 45"/>
            <p:cNvSpPr txBox="1">
              <a:spLocks noChangeArrowheads="1"/>
            </p:cNvSpPr>
            <p:nvPr/>
          </p:nvSpPr>
          <p:spPr bwMode="auto">
            <a:xfrm>
              <a:off x="6860501" y="4121988"/>
              <a:ext cx="143901" cy="294773"/>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1</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51" name="Text Box 46"/>
            <p:cNvSpPr txBox="1">
              <a:spLocks noChangeArrowheads="1"/>
            </p:cNvSpPr>
            <p:nvPr/>
          </p:nvSpPr>
          <p:spPr bwMode="auto">
            <a:xfrm>
              <a:off x="6988413" y="4802236"/>
              <a:ext cx="140702" cy="294773"/>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2</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52" name="Oval 47"/>
            <p:cNvSpPr>
              <a:spLocks noChangeArrowheads="1"/>
            </p:cNvSpPr>
            <p:nvPr/>
          </p:nvSpPr>
          <p:spPr bwMode="auto">
            <a:xfrm>
              <a:off x="6259318" y="2479675"/>
              <a:ext cx="399724" cy="443782"/>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0</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53" name="Oval 48"/>
            <p:cNvSpPr>
              <a:spLocks noChangeArrowheads="1"/>
            </p:cNvSpPr>
            <p:nvPr/>
          </p:nvSpPr>
          <p:spPr bwMode="auto">
            <a:xfrm>
              <a:off x="5331961" y="4196491"/>
              <a:ext cx="396525" cy="440541"/>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2</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54" name="Oval 49"/>
            <p:cNvSpPr>
              <a:spLocks noChangeArrowheads="1"/>
            </p:cNvSpPr>
            <p:nvPr/>
          </p:nvSpPr>
          <p:spPr bwMode="auto">
            <a:xfrm>
              <a:off x="6259318" y="4196491"/>
              <a:ext cx="396525" cy="440541"/>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3</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55" name="Oval 50"/>
            <p:cNvSpPr>
              <a:spLocks noChangeArrowheads="1"/>
            </p:cNvSpPr>
            <p:nvPr/>
          </p:nvSpPr>
          <p:spPr bwMode="auto">
            <a:xfrm>
              <a:off x="7225049" y="4196491"/>
              <a:ext cx="396525" cy="440541"/>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4</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56" name="Oval 51"/>
            <p:cNvSpPr>
              <a:spLocks noChangeArrowheads="1"/>
            </p:cNvSpPr>
            <p:nvPr/>
          </p:nvSpPr>
          <p:spPr bwMode="auto">
            <a:xfrm>
              <a:off x="6259318" y="3257101"/>
              <a:ext cx="396525" cy="440541"/>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1</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57" name="Oval 52"/>
            <p:cNvSpPr>
              <a:spLocks noChangeArrowheads="1"/>
            </p:cNvSpPr>
            <p:nvPr/>
          </p:nvSpPr>
          <p:spPr bwMode="auto">
            <a:xfrm>
              <a:off x="6259318" y="5097009"/>
              <a:ext cx="396525" cy="440541"/>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5</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cxnSp>
          <p:nvCxnSpPr>
            <p:cNvPr id="58" name="AutoShape 53"/>
            <p:cNvCxnSpPr>
              <a:cxnSpLocks noChangeShapeType="1"/>
            </p:cNvCxnSpPr>
            <p:nvPr/>
          </p:nvCxnSpPr>
          <p:spPr bwMode="auto">
            <a:xfrm flipH="1">
              <a:off x="6457581" y="2923457"/>
              <a:ext cx="0" cy="333644"/>
            </a:xfrm>
            <a:prstGeom prst="straightConnector1">
              <a:avLst/>
            </a:prstGeom>
            <a:noFill/>
            <a:ln w="19050">
              <a:solidFill>
                <a:srgbClr val="FF0000"/>
              </a:solidFill>
              <a:round/>
              <a:headEnd type="none" w="med" len="med"/>
              <a:tailEnd type="arrow" w="med" len="med"/>
            </a:ln>
          </p:spPr>
        </p:cxnSp>
        <p:cxnSp>
          <p:nvCxnSpPr>
            <p:cNvPr id="59" name="AutoShape 54"/>
            <p:cNvCxnSpPr>
              <a:cxnSpLocks noChangeShapeType="1"/>
            </p:cNvCxnSpPr>
            <p:nvPr/>
          </p:nvCxnSpPr>
          <p:spPr bwMode="auto">
            <a:xfrm flipH="1">
              <a:off x="5670926" y="3632857"/>
              <a:ext cx="645952" cy="628419"/>
            </a:xfrm>
            <a:prstGeom prst="straightConnector1">
              <a:avLst/>
            </a:prstGeom>
            <a:noFill/>
            <a:ln w="19050">
              <a:solidFill>
                <a:srgbClr val="000000"/>
              </a:solidFill>
              <a:round/>
              <a:headEnd type="none" w="med" len="med"/>
              <a:tailEnd type="arrow" w="med" len="med"/>
            </a:ln>
          </p:spPr>
        </p:cxnSp>
        <p:cxnSp>
          <p:nvCxnSpPr>
            <p:cNvPr id="60" name="AutoShape 55"/>
            <p:cNvCxnSpPr>
              <a:cxnSpLocks noChangeShapeType="1"/>
            </p:cNvCxnSpPr>
            <p:nvPr/>
          </p:nvCxnSpPr>
          <p:spPr bwMode="auto">
            <a:xfrm>
              <a:off x="6457581" y="3697642"/>
              <a:ext cx="0" cy="498848"/>
            </a:xfrm>
            <a:prstGeom prst="straightConnector1">
              <a:avLst/>
            </a:prstGeom>
            <a:noFill/>
            <a:ln w="19050">
              <a:solidFill>
                <a:srgbClr val="000000"/>
              </a:solidFill>
              <a:round/>
              <a:headEnd type="none" w="med" len="med"/>
              <a:tailEnd type="arrow" w="med" len="med"/>
            </a:ln>
          </p:spPr>
        </p:cxnSp>
        <p:cxnSp>
          <p:nvCxnSpPr>
            <p:cNvPr id="61" name="AutoShape 56"/>
            <p:cNvCxnSpPr>
              <a:cxnSpLocks noChangeShapeType="1"/>
            </p:cNvCxnSpPr>
            <p:nvPr/>
          </p:nvCxnSpPr>
          <p:spPr bwMode="auto">
            <a:xfrm>
              <a:off x="6598283" y="3632857"/>
              <a:ext cx="684326" cy="628419"/>
            </a:xfrm>
            <a:prstGeom prst="straightConnector1">
              <a:avLst/>
            </a:prstGeom>
            <a:noFill/>
            <a:ln w="19050">
              <a:solidFill>
                <a:srgbClr val="FF0000"/>
              </a:solidFill>
              <a:round/>
              <a:headEnd type="none" w="med" len="med"/>
              <a:tailEnd type="arrow" w="med" len="med"/>
            </a:ln>
          </p:spPr>
        </p:cxnSp>
        <p:cxnSp>
          <p:nvCxnSpPr>
            <p:cNvPr id="62" name="AutoShape 57"/>
            <p:cNvCxnSpPr>
              <a:cxnSpLocks noChangeShapeType="1"/>
            </p:cNvCxnSpPr>
            <p:nvPr/>
          </p:nvCxnSpPr>
          <p:spPr bwMode="auto">
            <a:xfrm>
              <a:off x="5670926" y="4572247"/>
              <a:ext cx="645952" cy="589548"/>
            </a:xfrm>
            <a:prstGeom prst="straightConnector1">
              <a:avLst/>
            </a:prstGeom>
            <a:noFill/>
            <a:ln w="19050">
              <a:solidFill>
                <a:srgbClr val="000000"/>
              </a:solidFill>
              <a:round/>
              <a:headEnd type="none" w="med" len="med"/>
              <a:tailEnd type="arrow" w="med" len="med"/>
            </a:ln>
          </p:spPr>
        </p:cxnSp>
        <p:cxnSp>
          <p:nvCxnSpPr>
            <p:cNvPr id="63" name="AutoShape 58"/>
            <p:cNvCxnSpPr>
              <a:cxnSpLocks noChangeShapeType="1"/>
            </p:cNvCxnSpPr>
            <p:nvPr/>
          </p:nvCxnSpPr>
          <p:spPr bwMode="auto">
            <a:xfrm>
              <a:off x="6457581" y="4637032"/>
              <a:ext cx="0" cy="459977"/>
            </a:xfrm>
            <a:prstGeom prst="straightConnector1">
              <a:avLst/>
            </a:prstGeom>
            <a:noFill/>
            <a:ln w="19050">
              <a:solidFill>
                <a:srgbClr val="000000"/>
              </a:solidFill>
              <a:round/>
              <a:headEnd type="none" w="med" len="med"/>
              <a:tailEnd type="arrow" w="med" len="med"/>
            </a:ln>
          </p:spPr>
        </p:cxnSp>
        <p:cxnSp>
          <p:nvCxnSpPr>
            <p:cNvPr id="64" name="AutoShape 59"/>
            <p:cNvCxnSpPr>
              <a:cxnSpLocks noChangeShapeType="1"/>
            </p:cNvCxnSpPr>
            <p:nvPr/>
          </p:nvCxnSpPr>
          <p:spPr bwMode="auto">
            <a:xfrm flipH="1">
              <a:off x="6655843" y="4416761"/>
              <a:ext cx="569205" cy="0"/>
            </a:xfrm>
            <a:prstGeom prst="straightConnector1">
              <a:avLst/>
            </a:prstGeom>
            <a:noFill/>
            <a:ln w="19050">
              <a:solidFill>
                <a:srgbClr val="000000"/>
              </a:solidFill>
              <a:round/>
              <a:headEnd type="none" w="med" len="med"/>
              <a:tailEnd type="arrow" w="med" len="med"/>
            </a:ln>
          </p:spPr>
        </p:cxnSp>
        <p:cxnSp>
          <p:nvCxnSpPr>
            <p:cNvPr id="65" name="AutoShape 60"/>
            <p:cNvCxnSpPr>
              <a:cxnSpLocks noChangeShapeType="1"/>
            </p:cNvCxnSpPr>
            <p:nvPr/>
          </p:nvCxnSpPr>
          <p:spPr bwMode="auto">
            <a:xfrm flipV="1">
              <a:off x="6598283" y="4572247"/>
              <a:ext cx="684326" cy="589548"/>
            </a:xfrm>
            <a:prstGeom prst="straightConnector1">
              <a:avLst/>
            </a:prstGeom>
            <a:noFill/>
            <a:ln w="19050">
              <a:solidFill>
                <a:srgbClr val="006600"/>
              </a:solidFill>
              <a:prstDash val="dash"/>
              <a:round/>
              <a:headEnd type="none" w="med" len="med"/>
              <a:tailEnd type="arrow" w="med" len="med"/>
            </a:ln>
          </p:spPr>
        </p:cxnSp>
        <p:sp>
          <p:nvSpPr>
            <p:cNvPr id="66" name="Freeform 61"/>
            <p:cNvSpPr>
              <a:spLocks/>
            </p:cNvSpPr>
            <p:nvPr/>
          </p:nvSpPr>
          <p:spPr bwMode="auto">
            <a:xfrm>
              <a:off x="6659042" y="3496807"/>
              <a:ext cx="847411" cy="699683"/>
            </a:xfrm>
            <a:custGeom>
              <a:avLst/>
              <a:gdLst/>
              <a:ahLst/>
              <a:cxnLst>
                <a:cxn ang="0">
                  <a:pos x="630" y="541"/>
                </a:cxn>
                <a:cxn ang="0">
                  <a:pos x="603" y="256"/>
                </a:cxn>
                <a:cxn ang="0">
                  <a:pos x="275" y="65"/>
                </a:cxn>
                <a:cxn ang="0">
                  <a:pos x="0" y="0"/>
                </a:cxn>
              </a:cxnLst>
              <a:rect l="0" t="0" r="r" b="b"/>
              <a:pathLst>
                <a:path w="662" h="541">
                  <a:moveTo>
                    <a:pt x="630" y="541"/>
                  </a:moveTo>
                  <a:cubicBezTo>
                    <a:pt x="646" y="438"/>
                    <a:pt x="662" y="335"/>
                    <a:pt x="603" y="256"/>
                  </a:cubicBezTo>
                  <a:cubicBezTo>
                    <a:pt x="544" y="177"/>
                    <a:pt x="376" y="108"/>
                    <a:pt x="275" y="65"/>
                  </a:cubicBezTo>
                  <a:cubicBezTo>
                    <a:pt x="174" y="22"/>
                    <a:pt x="87" y="11"/>
                    <a:pt x="0" y="0"/>
                  </a:cubicBezTo>
                </a:path>
              </a:pathLst>
            </a:custGeom>
            <a:noFill/>
            <a:ln w="19050">
              <a:solidFill>
                <a:srgbClr val="006600"/>
              </a:solidFill>
              <a:prstDash val="dash"/>
              <a:round/>
              <a:headEnd type="none" w="med" len="med"/>
              <a:tailEnd type="arrow" w="med" len="med"/>
            </a:ln>
          </p:spPr>
          <p:txBody>
            <a:bodyPr vert="horz" wrap="square" lIns="91440" tIns="45720" rIns="91440" bIns="45720" numCol="1" anchor="t" anchorCtr="0" compatLnSpc="1">
              <a:prstTxWarp prst="textNoShape">
                <a:avLst/>
              </a:prstTxWarp>
            </a:bodyPr>
            <a:lstStyle/>
            <a:p>
              <a:pPr>
                <a:lnSpc>
                  <a:spcPts val="2400"/>
                </a:lnSpc>
              </a:pPr>
              <a:endParaRPr lang="zh-CN" altLang="en-US" sz="2000" b="0">
                <a:solidFill>
                  <a:srgbClr val="0000FF"/>
                </a:solidFill>
                <a:latin typeface="Consolas" pitchFamily="49" charset="0"/>
                <a:ea typeface="仿宋" pitchFamily="49" charset="-122"/>
              </a:endParaRPr>
            </a:p>
          </p:txBody>
        </p:sp>
      </p:grpSp>
      <p:sp>
        <p:nvSpPr>
          <p:cNvPr id="67" name="右箭头 66"/>
          <p:cNvSpPr/>
          <p:nvPr/>
        </p:nvSpPr>
        <p:spPr>
          <a:xfrm>
            <a:off x="5929322" y="3309555"/>
            <a:ext cx="428628" cy="285752"/>
          </a:xfrm>
          <a:prstGeom prst="right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grpSp>
        <p:nvGrpSpPr>
          <p:cNvPr id="68" name="组合 67"/>
          <p:cNvGrpSpPr/>
          <p:nvPr/>
        </p:nvGrpSpPr>
        <p:grpSpPr>
          <a:xfrm>
            <a:off x="6568667" y="1550981"/>
            <a:ext cx="2289613" cy="3521093"/>
            <a:chOff x="5331961" y="2479675"/>
            <a:chExt cx="2289613" cy="3521093"/>
          </a:xfrm>
        </p:grpSpPr>
        <p:sp>
          <p:nvSpPr>
            <p:cNvPr id="69" name="Text Box 31"/>
            <p:cNvSpPr txBox="1">
              <a:spLocks noChangeArrowheads="1"/>
            </p:cNvSpPr>
            <p:nvPr/>
          </p:nvSpPr>
          <p:spPr bwMode="auto">
            <a:xfrm>
              <a:off x="6531131" y="2913738"/>
              <a:ext cx="143899" cy="294775"/>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5</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70" name="Text Box 32"/>
            <p:cNvSpPr txBox="1">
              <a:spLocks noChangeArrowheads="1"/>
            </p:cNvSpPr>
            <p:nvPr/>
          </p:nvSpPr>
          <p:spPr bwMode="auto">
            <a:xfrm>
              <a:off x="7362554" y="3496807"/>
              <a:ext cx="143899" cy="294775"/>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2</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71" name="Text Box 33"/>
            <p:cNvSpPr txBox="1">
              <a:spLocks noChangeArrowheads="1"/>
            </p:cNvSpPr>
            <p:nvPr/>
          </p:nvSpPr>
          <p:spPr bwMode="auto">
            <a:xfrm>
              <a:off x="5791355" y="5705993"/>
              <a:ext cx="1401591" cy="294775"/>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zh-CN" altLang="en-US" sz="2000" b="0" i="0" u="none" strike="noStrike" cap="none" normalizeH="0" baseline="0">
                  <a:ln>
                    <a:noFill/>
                  </a:ln>
                  <a:solidFill>
                    <a:srgbClr val="0000FF"/>
                  </a:solidFill>
                  <a:effectLst/>
                  <a:latin typeface="Consolas" pitchFamily="49" charset="0"/>
                  <a:ea typeface="仿宋" pitchFamily="49" charset="-122"/>
                  <a:cs typeface="宋体" pitchFamily="2" charset="-122"/>
                </a:rPr>
                <a:t>增广路径</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2</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72" name="Text Box 34"/>
            <p:cNvSpPr txBox="1">
              <a:spLocks noChangeArrowheads="1"/>
            </p:cNvSpPr>
            <p:nvPr/>
          </p:nvSpPr>
          <p:spPr bwMode="auto">
            <a:xfrm>
              <a:off x="5353660" y="3786190"/>
              <a:ext cx="361348" cy="294773"/>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rPr>
                <a:t>(2)</a:t>
              </a:r>
              <a:endParaRPr kumimoji="0" lang="zh-CN"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endParaRPr>
            </a:p>
          </p:txBody>
        </p:sp>
        <p:sp>
          <p:nvSpPr>
            <p:cNvPr id="73" name="Text Box 35"/>
            <p:cNvSpPr txBox="1">
              <a:spLocks noChangeArrowheads="1"/>
            </p:cNvSpPr>
            <p:nvPr/>
          </p:nvSpPr>
          <p:spPr bwMode="auto">
            <a:xfrm>
              <a:off x="6697415" y="2521787"/>
              <a:ext cx="358152" cy="294773"/>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rPr>
                <a:t>(0)</a:t>
              </a:r>
              <a:endParaRPr kumimoji="0" lang="zh-CN"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endParaRPr>
            </a:p>
          </p:txBody>
        </p:sp>
        <p:sp>
          <p:nvSpPr>
            <p:cNvPr id="74" name="Text Box 36"/>
            <p:cNvSpPr txBox="1">
              <a:spLocks noChangeArrowheads="1"/>
            </p:cNvSpPr>
            <p:nvPr/>
          </p:nvSpPr>
          <p:spPr bwMode="auto">
            <a:xfrm>
              <a:off x="6729780" y="3145685"/>
              <a:ext cx="361348" cy="298013"/>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rPr>
                <a:t>(1)</a:t>
              </a:r>
              <a:endParaRPr kumimoji="0" lang="zh-CN"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endParaRPr>
            </a:p>
          </p:txBody>
        </p:sp>
        <p:sp>
          <p:nvSpPr>
            <p:cNvPr id="75" name="Text Box 37"/>
            <p:cNvSpPr txBox="1">
              <a:spLocks noChangeArrowheads="1"/>
            </p:cNvSpPr>
            <p:nvPr/>
          </p:nvSpPr>
          <p:spPr bwMode="auto">
            <a:xfrm>
              <a:off x="5876699" y="4277474"/>
              <a:ext cx="361350" cy="294773"/>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rPr>
                <a:t>(2)</a:t>
              </a:r>
              <a:endParaRPr kumimoji="0" lang="zh-CN"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endParaRPr>
            </a:p>
          </p:txBody>
        </p:sp>
        <p:sp>
          <p:nvSpPr>
            <p:cNvPr id="76" name="Text Box 38"/>
            <p:cNvSpPr txBox="1">
              <a:spLocks noChangeArrowheads="1"/>
            </p:cNvSpPr>
            <p:nvPr/>
          </p:nvSpPr>
          <p:spPr bwMode="auto">
            <a:xfrm>
              <a:off x="7237784" y="4694574"/>
              <a:ext cx="358152" cy="294773"/>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rPr>
                <a:t>(2)</a:t>
              </a:r>
              <a:endParaRPr kumimoji="0" lang="zh-CN"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endParaRPr>
            </a:p>
          </p:txBody>
        </p:sp>
        <p:sp>
          <p:nvSpPr>
            <p:cNvPr id="77" name="Text Box 39"/>
            <p:cNvSpPr txBox="1">
              <a:spLocks noChangeArrowheads="1"/>
            </p:cNvSpPr>
            <p:nvPr/>
          </p:nvSpPr>
          <p:spPr bwMode="auto">
            <a:xfrm>
              <a:off x="6722075" y="5161795"/>
              <a:ext cx="361350" cy="298013"/>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rPr>
                <a:t>(3)</a:t>
              </a:r>
              <a:endParaRPr kumimoji="0" lang="zh-CN"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endParaRPr>
            </a:p>
          </p:txBody>
        </p:sp>
        <p:sp>
          <p:nvSpPr>
            <p:cNvPr id="78" name="Text Box 40"/>
            <p:cNvSpPr txBox="1">
              <a:spLocks noChangeArrowheads="1"/>
            </p:cNvSpPr>
            <p:nvPr/>
          </p:nvSpPr>
          <p:spPr bwMode="auto">
            <a:xfrm>
              <a:off x="6294495" y="4705058"/>
              <a:ext cx="140702" cy="294773"/>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3</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79" name="Text Box 41"/>
            <p:cNvSpPr txBox="1">
              <a:spLocks noChangeArrowheads="1"/>
            </p:cNvSpPr>
            <p:nvPr/>
          </p:nvSpPr>
          <p:spPr bwMode="auto">
            <a:xfrm>
              <a:off x="6259318" y="3827213"/>
              <a:ext cx="140702" cy="294775"/>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2</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80" name="Text Box 42"/>
            <p:cNvSpPr txBox="1">
              <a:spLocks noChangeArrowheads="1"/>
            </p:cNvSpPr>
            <p:nvPr/>
          </p:nvSpPr>
          <p:spPr bwMode="auto">
            <a:xfrm>
              <a:off x="7004403" y="3697642"/>
              <a:ext cx="140702" cy="294775"/>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1</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81" name="Text Box 43"/>
            <p:cNvSpPr txBox="1">
              <a:spLocks noChangeArrowheads="1"/>
            </p:cNvSpPr>
            <p:nvPr/>
          </p:nvSpPr>
          <p:spPr bwMode="auto">
            <a:xfrm>
              <a:off x="5776454" y="4776322"/>
              <a:ext cx="140702" cy="294773"/>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2</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82" name="Text Box 44"/>
            <p:cNvSpPr txBox="1">
              <a:spLocks noChangeArrowheads="1"/>
            </p:cNvSpPr>
            <p:nvPr/>
          </p:nvSpPr>
          <p:spPr bwMode="auto">
            <a:xfrm>
              <a:off x="5834014" y="3697642"/>
              <a:ext cx="140702" cy="294775"/>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1</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83" name="Text Box 45"/>
            <p:cNvSpPr txBox="1">
              <a:spLocks noChangeArrowheads="1"/>
            </p:cNvSpPr>
            <p:nvPr/>
          </p:nvSpPr>
          <p:spPr bwMode="auto">
            <a:xfrm>
              <a:off x="6860501" y="4121988"/>
              <a:ext cx="143901" cy="294773"/>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1</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84" name="Text Box 46"/>
            <p:cNvSpPr txBox="1">
              <a:spLocks noChangeArrowheads="1"/>
            </p:cNvSpPr>
            <p:nvPr/>
          </p:nvSpPr>
          <p:spPr bwMode="auto">
            <a:xfrm>
              <a:off x="6988413" y="4802236"/>
              <a:ext cx="140702" cy="294773"/>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2</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85" name="Oval 47"/>
            <p:cNvSpPr>
              <a:spLocks noChangeArrowheads="1"/>
            </p:cNvSpPr>
            <p:nvPr/>
          </p:nvSpPr>
          <p:spPr bwMode="auto">
            <a:xfrm>
              <a:off x="6259318" y="2479675"/>
              <a:ext cx="399724" cy="443782"/>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0</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86" name="Oval 48"/>
            <p:cNvSpPr>
              <a:spLocks noChangeArrowheads="1"/>
            </p:cNvSpPr>
            <p:nvPr/>
          </p:nvSpPr>
          <p:spPr bwMode="auto">
            <a:xfrm>
              <a:off x="5331961" y="4196491"/>
              <a:ext cx="396525" cy="440541"/>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2</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87" name="Oval 49"/>
            <p:cNvSpPr>
              <a:spLocks noChangeArrowheads="1"/>
            </p:cNvSpPr>
            <p:nvPr/>
          </p:nvSpPr>
          <p:spPr bwMode="auto">
            <a:xfrm>
              <a:off x="6259318" y="4196491"/>
              <a:ext cx="396525" cy="440541"/>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3</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88" name="Oval 50"/>
            <p:cNvSpPr>
              <a:spLocks noChangeArrowheads="1"/>
            </p:cNvSpPr>
            <p:nvPr/>
          </p:nvSpPr>
          <p:spPr bwMode="auto">
            <a:xfrm>
              <a:off x="7225049" y="4196491"/>
              <a:ext cx="396525" cy="440541"/>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4</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89" name="Oval 51"/>
            <p:cNvSpPr>
              <a:spLocks noChangeArrowheads="1"/>
            </p:cNvSpPr>
            <p:nvPr/>
          </p:nvSpPr>
          <p:spPr bwMode="auto">
            <a:xfrm>
              <a:off x="6259318" y="3257101"/>
              <a:ext cx="396525" cy="440541"/>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1</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90" name="Oval 52"/>
            <p:cNvSpPr>
              <a:spLocks noChangeArrowheads="1"/>
            </p:cNvSpPr>
            <p:nvPr/>
          </p:nvSpPr>
          <p:spPr bwMode="auto">
            <a:xfrm>
              <a:off x="6259318" y="5097009"/>
              <a:ext cx="396525" cy="440541"/>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5</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cxnSp>
          <p:nvCxnSpPr>
            <p:cNvPr id="91" name="AutoShape 53"/>
            <p:cNvCxnSpPr>
              <a:cxnSpLocks noChangeShapeType="1"/>
            </p:cNvCxnSpPr>
            <p:nvPr/>
          </p:nvCxnSpPr>
          <p:spPr bwMode="auto">
            <a:xfrm flipH="1">
              <a:off x="6457581" y="2923457"/>
              <a:ext cx="0" cy="333644"/>
            </a:xfrm>
            <a:prstGeom prst="straightConnector1">
              <a:avLst/>
            </a:prstGeom>
            <a:noFill/>
            <a:ln w="19050">
              <a:solidFill>
                <a:srgbClr val="FF0000"/>
              </a:solidFill>
              <a:round/>
              <a:headEnd type="none" w="med" len="med"/>
              <a:tailEnd type="arrow" w="med" len="med"/>
            </a:ln>
          </p:spPr>
        </p:cxnSp>
        <p:cxnSp>
          <p:nvCxnSpPr>
            <p:cNvPr id="92" name="AutoShape 54"/>
            <p:cNvCxnSpPr>
              <a:cxnSpLocks noChangeShapeType="1"/>
            </p:cNvCxnSpPr>
            <p:nvPr/>
          </p:nvCxnSpPr>
          <p:spPr bwMode="auto">
            <a:xfrm flipH="1">
              <a:off x="5670926" y="3632857"/>
              <a:ext cx="645952" cy="628419"/>
            </a:xfrm>
            <a:prstGeom prst="straightConnector1">
              <a:avLst/>
            </a:prstGeom>
            <a:noFill/>
            <a:ln w="19050">
              <a:solidFill>
                <a:srgbClr val="000000"/>
              </a:solidFill>
              <a:round/>
              <a:headEnd type="none" w="med" len="med"/>
              <a:tailEnd type="arrow" w="med" len="med"/>
            </a:ln>
          </p:spPr>
        </p:cxnSp>
        <p:cxnSp>
          <p:nvCxnSpPr>
            <p:cNvPr id="93" name="AutoShape 55"/>
            <p:cNvCxnSpPr>
              <a:cxnSpLocks noChangeShapeType="1"/>
            </p:cNvCxnSpPr>
            <p:nvPr/>
          </p:nvCxnSpPr>
          <p:spPr bwMode="auto">
            <a:xfrm>
              <a:off x="6457581" y="3697642"/>
              <a:ext cx="0" cy="498848"/>
            </a:xfrm>
            <a:prstGeom prst="straightConnector1">
              <a:avLst/>
            </a:prstGeom>
            <a:noFill/>
            <a:ln w="19050">
              <a:solidFill>
                <a:srgbClr val="FF0000"/>
              </a:solidFill>
              <a:round/>
              <a:headEnd type="none" w="med" len="med"/>
              <a:tailEnd type="arrow" w="med" len="med"/>
            </a:ln>
          </p:spPr>
        </p:cxnSp>
        <p:cxnSp>
          <p:nvCxnSpPr>
            <p:cNvPr id="94" name="AutoShape 56"/>
            <p:cNvCxnSpPr>
              <a:cxnSpLocks noChangeShapeType="1"/>
            </p:cNvCxnSpPr>
            <p:nvPr/>
          </p:nvCxnSpPr>
          <p:spPr bwMode="auto">
            <a:xfrm>
              <a:off x="6598283" y="3632857"/>
              <a:ext cx="684326" cy="628419"/>
            </a:xfrm>
            <a:prstGeom prst="straightConnector1">
              <a:avLst/>
            </a:prstGeom>
            <a:noFill/>
            <a:ln w="19050">
              <a:solidFill>
                <a:srgbClr val="000000"/>
              </a:solidFill>
              <a:round/>
              <a:headEnd type="none" w="med" len="med"/>
              <a:tailEnd type="arrow" w="med" len="med"/>
            </a:ln>
          </p:spPr>
        </p:cxnSp>
        <p:cxnSp>
          <p:nvCxnSpPr>
            <p:cNvPr id="95" name="AutoShape 57"/>
            <p:cNvCxnSpPr>
              <a:cxnSpLocks noChangeShapeType="1"/>
            </p:cNvCxnSpPr>
            <p:nvPr/>
          </p:nvCxnSpPr>
          <p:spPr bwMode="auto">
            <a:xfrm>
              <a:off x="5670926" y="4572247"/>
              <a:ext cx="645952" cy="589548"/>
            </a:xfrm>
            <a:prstGeom prst="straightConnector1">
              <a:avLst/>
            </a:prstGeom>
            <a:noFill/>
            <a:ln w="19050">
              <a:solidFill>
                <a:srgbClr val="000000"/>
              </a:solidFill>
              <a:round/>
              <a:headEnd type="none" w="med" len="med"/>
              <a:tailEnd type="arrow" w="med" len="med"/>
            </a:ln>
          </p:spPr>
        </p:cxnSp>
        <p:cxnSp>
          <p:nvCxnSpPr>
            <p:cNvPr id="96" name="AutoShape 58"/>
            <p:cNvCxnSpPr>
              <a:cxnSpLocks noChangeShapeType="1"/>
            </p:cNvCxnSpPr>
            <p:nvPr/>
          </p:nvCxnSpPr>
          <p:spPr bwMode="auto">
            <a:xfrm>
              <a:off x="6457581" y="4637032"/>
              <a:ext cx="0" cy="459977"/>
            </a:xfrm>
            <a:prstGeom prst="straightConnector1">
              <a:avLst/>
            </a:prstGeom>
            <a:noFill/>
            <a:ln w="19050">
              <a:solidFill>
                <a:srgbClr val="FF0000"/>
              </a:solidFill>
              <a:round/>
              <a:headEnd type="none" w="med" len="med"/>
              <a:tailEnd type="arrow" w="med" len="med"/>
            </a:ln>
          </p:spPr>
        </p:cxnSp>
        <p:cxnSp>
          <p:nvCxnSpPr>
            <p:cNvPr id="97" name="AutoShape 59"/>
            <p:cNvCxnSpPr>
              <a:cxnSpLocks noChangeShapeType="1"/>
            </p:cNvCxnSpPr>
            <p:nvPr/>
          </p:nvCxnSpPr>
          <p:spPr bwMode="auto">
            <a:xfrm flipH="1">
              <a:off x="6655843" y="4416761"/>
              <a:ext cx="569205" cy="0"/>
            </a:xfrm>
            <a:prstGeom prst="straightConnector1">
              <a:avLst/>
            </a:prstGeom>
            <a:noFill/>
            <a:ln w="19050">
              <a:solidFill>
                <a:srgbClr val="000000"/>
              </a:solidFill>
              <a:round/>
              <a:headEnd type="none" w="med" len="med"/>
              <a:tailEnd type="arrow" w="med" len="med"/>
            </a:ln>
          </p:spPr>
        </p:cxnSp>
        <p:cxnSp>
          <p:nvCxnSpPr>
            <p:cNvPr id="98" name="AutoShape 60"/>
            <p:cNvCxnSpPr>
              <a:cxnSpLocks noChangeShapeType="1"/>
            </p:cNvCxnSpPr>
            <p:nvPr/>
          </p:nvCxnSpPr>
          <p:spPr bwMode="auto">
            <a:xfrm flipV="1">
              <a:off x="6598283" y="4572247"/>
              <a:ext cx="684326" cy="589548"/>
            </a:xfrm>
            <a:prstGeom prst="straightConnector1">
              <a:avLst/>
            </a:prstGeom>
            <a:noFill/>
            <a:ln w="19050">
              <a:solidFill>
                <a:srgbClr val="006600"/>
              </a:solidFill>
              <a:prstDash val="dash"/>
              <a:round/>
              <a:headEnd type="none" w="med" len="med"/>
              <a:tailEnd type="arrow" w="med" len="med"/>
            </a:ln>
          </p:spPr>
        </p:cxnSp>
        <p:sp>
          <p:nvSpPr>
            <p:cNvPr id="99" name="Freeform 61"/>
            <p:cNvSpPr>
              <a:spLocks/>
            </p:cNvSpPr>
            <p:nvPr/>
          </p:nvSpPr>
          <p:spPr bwMode="auto">
            <a:xfrm>
              <a:off x="6659042" y="3496807"/>
              <a:ext cx="847411" cy="699683"/>
            </a:xfrm>
            <a:custGeom>
              <a:avLst/>
              <a:gdLst/>
              <a:ahLst/>
              <a:cxnLst>
                <a:cxn ang="0">
                  <a:pos x="630" y="541"/>
                </a:cxn>
                <a:cxn ang="0">
                  <a:pos x="603" y="256"/>
                </a:cxn>
                <a:cxn ang="0">
                  <a:pos x="275" y="65"/>
                </a:cxn>
                <a:cxn ang="0">
                  <a:pos x="0" y="0"/>
                </a:cxn>
              </a:cxnLst>
              <a:rect l="0" t="0" r="r" b="b"/>
              <a:pathLst>
                <a:path w="662" h="541">
                  <a:moveTo>
                    <a:pt x="630" y="541"/>
                  </a:moveTo>
                  <a:cubicBezTo>
                    <a:pt x="646" y="438"/>
                    <a:pt x="662" y="335"/>
                    <a:pt x="603" y="256"/>
                  </a:cubicBezTo>
                  <a:cubicBezTo>
                    <a:pt x="544" y="177"/>
                    <a:pt x="376" y="108"/>
                    <a:pt x="275" y="65"/>
                  </a:cubicBezTo>
                  <a:cubicBezTo>
                    <a:pt x="174" y="22"/>
                    <a:pt x="87" y="11"/>
                    <a:pt x="0" y="0"/>
                  </a:cubicBezTo>
                </a:path>
              </a:pathLst>
            </a:custGeom>
            <a:noFill/>
            <a:ln w="19050">
              <a:solidFill>
                <a:srgbClr val="006600"/>
              </a:solidFill>
              <a:prstDash val="dash"/>
              <a:round/>
              <a:headEnd type="none" w="med" len="med"/>
              <a:tailEnd type="arrow" w="med" len="med"/>
            </a:ln>
          </p:spPr>
          <p:txBody>
            <a:bodyPr vert="horz" wrap="square" lIns="91440" tIns="45720" rIns="91440" bIns="45720" numCol="1" anchor="t" anchorCtr="0" compatLnSpc="1">
              <a:prstTxWarp prst="textNoShape">
                <a:avLst/>
              </a:prstTxWarp>
            </a:bodyPr>
            <a:lstStyle/>
            <a:p>
              <a:pPr>
                <a:lnSpc>
                  <a:spcPts val="2400"/>
                </a:lnSpc>
              </a:pPr>
              <a:endParaRPr lang="zh-CN" altLang="en-US" sz="2000" b="0">
                <a:solidFill>
                  <a:srgbClr val="0000FF"/>
                </a:solidFill>
                <a:latin typeface="Consolas" pitchFamily="49" charset="0"/>
                <a:ea typeface="仿宋" pitchFamily="49" charset="-122"/>
              </a:endParaRPr>
            </a:p>
          </p:txBody>
        </p:sp>
      </p:grpSp>
      <p:sp>
        <p:nvSpPr>
          <p:cNvPr id="100" name="任意多边形 99"/>
          <p:cNvSpPr/>
          <p:nvPr/>
        </p:nvSpPr>
        <p:spPr>
          <a:xfrm>
            <a:off x="7741858" y="2808611"/>
            <a:ext cx="668363" cy="623211"/>
          </a:xfrm>
          <a:custGeom>
            <a:avLst/>
            <a:gdLst>
              <a:gd name="connsiteX0" fmla="*/ 664162 w 664162"/>
              <a:gd name="connsiteY0" fmla="*/ 643466 h 643466"/>
              <a:gd name="connsiteX1" fmla="*/ 99718 w 664162"/>
              <a:gd name="connsiteY1" fmla="*/ 56444 h 643466"/>
              <a:gd name="connsiteX2" fmla="*/ 65851 w 664162"/>
              <a:gd name="connsiteY2" fmla="*/ 304800 h 643466"/>
              <a:gd name="connsiteX0" fmla="*/ 668363 w 668363"/>
              <a:gd name="connsiteY0" fmla="*/ 623211 h 623211"/>
              <a:gd name="connsiteX1" fmla="*/ 103919 w 668363"/>
              <a:gd name="connsiteY1" fmla="*/ 36189 h 623211"/>
              <a:gd name="connsiteX2" fmla="*/ 44851 w 668363"/>
              <a:gd name="connsiteY2" fmla="*/ 406075 h 623211"/>
            </a:gdLst>
            <a:ahLst/>
            <a:cxnLst>
              <a:cxn ang="0">
                <a:pos x="connsiteX0" y="connsiteY0"/>
              </a:cxn>
              <a:cxn ang="0">
                <a:pos x="connsiteX1" y="connsiteY1"/>
              </a:cxn>
              <a:cxn ang="0">
                <a:pos x="connsiteX2" y="connsiteY2"/>
              </a:cxn>
            </a:cxnLst>
            <a:rect l="l" t="t" r="r" b="b"/>
            <a:pathLst>
              <a:path w="668363" h="623211">
                <a:moveTo>
                  <a:pt x="668363" y="623211"/>
                </a:moveTo>
                <a:cubicBezTo>
                  <a:pt x="436000" y="357922"/>
                  <a:pt x="207838" y="72378"/>
                  <a:pt x="103919" y="36189"/>
                </a:cubicBezTo>
                <a:cubicBezTo>
                  <a:pt x="0" y="0"/>
                  <a:pt x="11925" y="253675"/>
                  <a:pt x="44851" y="406075"/>
                </a:cubicBezTo>
              </a:path>
            </a:pathLst>
          </a:custGeom>
          <a:ln w="28575">
            <a:solidFill>
              <a:srgbClr val="FF0000"/>
            </a:solidFill>
            <a:prstDash val="sysDot"/>
            <a:headEnd type="none" w="med" len="med"/>
            <a:tailEnd type="arrow" w="sm" len="sm"/>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102" name="灯片编号占位符 101"/>
          <p:cNvSpPr>
            <a:spLocks noGrp="1"/>
          </p:cNvSpPr>
          <p:nvPr>
            <p:ph type="sldNum" sz="quarter" idx="12"/>
          </p:nvPr>
        </p:nvSpPr>
        <p:spPr/>
        <p:txBody>
          <a:bodyPr/>
          <a:lstStyle/>
          <a:p>
            <a:fld id="{7AF016A1-9F15-429F-9EFD-84004B73C732}" type="slidenum">
              <a:rPr lang="en-US" altLang="zh-CN" smtClean="0"/>
              <a:pPr/>
              <a:t>129</a:t>
            </a:fld>
            <a:r>
              <a:rPr lang="en-US" altLang="zh-CN"/>
              <a:t>/158</a:t>
            </a: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57158" y="857232"/>
            <a:ext cx="2289613" cy="3521093"/>
            <a:chOff x="5331961" y="2479675"/>
            <a:chExt cx="2289613" cy="3521093"/>
          </a:xfrm>
        </p:grpSpPr>
        <p:sp>
          <p:nvSpPr>
            <p:cNvPr id="4" name="Text Box 31"/>
            <p:cNvSpPr txBox="1">
              <a:spLocks noChangeArrowheads="1"/>
            </p:cNvSpPr>
            <p:nvPr/>
          </p:nvSpPr>
          <p:spPr bwMode="auto">
            <a:xfrm>
              <a:off x="6531131" y="2913738"/>
              <a:ext cx="143899" cy="294775"/>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5</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5" name="Text Box 32"/>
            <p:cNvSpPr txBox="1">
              <a:spLocks noChangeArrowheads="1"/>
            </p:cNvSpPr>
            <p:nvPr/>
          </p:nvSpPr>
          <p:spPr bwMode="auto">
            <a:xfrm>
              <a:off x="7362554" y="3496807"/>
              <a:ext cx="143899" cy="294775"/>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2</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6" name="Text Box 33"/>
            <p:cNvSpPr txBox="1">
              <a:spLocks noChangeArrowheads="1"/>
            </p:cNvSpPr>
            <p:nvPr/>
          </p:nvSpPr>
          <p:spPr bwMode="auto">
            <a:xfrm>
              <a:off x="5791355" y="5705993"/>
              <a:ext cx="1401591" cy="294775"/>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zh-CN" altLang="en-US" sz="2000" b="0" i="0" u="none" strike="noStrike" cap="none" normalizeH="0" baseline="0">
                  <a:ln>
                    <a:noFill/>
                  </a:ln>
                  <a:solidFill>
                    <a:srgbClr val="0000FF"/>
                  </a:solidFill>
                  <a:effectLst/>
                  <a:latin typeface="Consolas" pitchFamily="49" charset="0"/>
                  <a:ea typeface="仿宋" pitchFamily="49" charset="-122"/>
                  <a:cs typeface="宋体" pitchFamily="2" charset="-122"/>
                </a:rPr>
                <a:t>增广路径</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2</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7" name="Text Box 34"/>
            <p:cNvSpPr txBox="1">
              <a:spLocks noChangeArrowheads="1"/>
            </p:cNvSpPr>
            <p:nvPr/>
          </p:nvSpPr>
          <p:spPr bwMode="auto">
            <a:xfrm>
              <a:off x="5353660" y="3786190"/>
              <a:ext cx="361348" cy="294773"/>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FF00FF"/>
                  </a:solidFill>
                  <a:effectLst/>
                  <a:latin typeface="Consolas" pitchFamily="49" charset="0"/>
                  <a:ea typeface="仿宋" pitchFamily="49" charset="-122"/>
                  <a:cs typeface="宋体" pitchFamily="2" charset="-122"/>
                </a:rPr>
                <a:t>(2)</a:t>
              </a:r>
              <a:endParaRPr kumimoji="0" lang="zh-CN" altLang="zh-CN" sz="2000" b="0" i="0" u="none" strike="noStrike" cap="none" normalizeH="0" baseline="0">
                <a:ln>
                  <a:noFill/>
                </a:ln>
                <a:solidFill>
                  <a:srgbClr val="FF00FF"/>
                </a:solidFill>
                <a:effectLst/>
                <a:latin typeface="Consolas" pitchFamily="49" charset="0"/>
                <a:ea typeface="仿宋" pitchFamily="49" charset="-122"/>
                <a:cs typeface="宋体" pitchFamily="2" charset="-122"/>
              </a:endParaRPr>
            </a:p>
          </p:txBody>
        </p:sp>
        <p:sp>
          <p:nvSpPr>
            <p:cNvPr id="8" name="Text Box 35"/>
            <p:cNvSpPr txBox="1">
              <a:spLocks noChangeArrowheads="1"/>
            </p:cNvSpPr>
            <p:nvPr/>
          </p:nvSpPr>
          <p:spPr bwMode="auto">
            <a:xfrm>
              <a:off x="6697415" y="2521787"/>
              <a:ext cx="358152" cy="294773"/>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FF00FF"/>
                  </a:solidFill>
                  <a:effectLst/>
                  <a:latin typeface="Consolas" pitchFamily="49" charset="0"/>
                  <a:ea typeface="仿宋" pitchFamily="49" charset="-122"/>
                  <a:cs typeface="宋体" pitchFamily="2" charset="-122"/>
                </a:rPr>
                <a:t>(0)</a:t>
              </a:r>
              <a:endParaRPr kumimoji="0" lang="zh-CN" altLang="zh-CN" sz="2000" b="0" i="0" u="none" strike="noStrike" cap="none" normalizeH="0" baseline="0">
                <a:ln>
                  <a:noFill/>
                </a:ln>
                <a:solidFill>
                  <a:srgbClr val="FF00FF"/>
                </a:solidFill>
                <a:effectLst/>
                <a:latin typeface="Consolas" pitchFamily="49" charset="0"/>
                <a:ea typeface="仿宋" pitchFamily="49" charset="-122"/>
                <a:cs typeface="宋体" pitchFamily="2" charset="-122"/>
              </a:endParaRPr>
            </a:p>
          </p:txBody>
        </p:sp>
        <p:sp>
          <p:nvSpPr>
            <p:cNvPr id="9" name="Text Box 36"/>
            <p:cNvSpPr txBox="1">
              <a:spLocks noChangeArrowheads="1"/>
            </p:cNvSpPr>
            <p:nvPr/>
          </p:nvSpPr>
          <p:spPr bwMode="auto">
            <a:xfrm>
              <a:off x="6729780" y="3145685"/>
              <a:ext cx="361348" cy="298013"/>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FF00FF"/>
                  </a:solidFill>
                  <a:effectLst/>
                  <a:latin typeface="Consolas" pitchFamily="49" charset="0"/>
                  <a:ea typeface="仿宋" pitchFamily="49" charset="-122"/>
                  <a:cs typeface="宋体" pitchFamily="2" charset="-122"/>
                </a:rPr>
                <a:t>(1)</a:t>
              </a:r>
              <a:endParaRPr kumimoji="0" lang="zh-CN" altLang="zh-CN" sz="2000" b="0" i="0" u="none" strike="noStrike" cap="none" normalizeH="0" baseline="0">
                <a:ln>
                  <a:noFill/>
                </a:ln>
                <a:solidFill>
                  <a:srgbClr val="FF00FF"/>
                </a:solidFill>
                <a:effectLst/>
                <a:latin typeface="Consolas" pitchFamily="49" charset="0"/>
                <a:ea typeface="仿宋" pitchFamily="49" charset="-122"/>
                <a:cs typeface="宋体" pitchFamily="2" charset="-122"/>
              </a:endParaRPr>
            </a:p>
          </p:txBody>
        </p:sp>
        <p:sp>
          <p:nvSpPr>
            <p:cNvPr id="10" name="Text Box 37"/>
            <p:cNvSpPr txBox="1">
              <a:spLocks noChangeArrowheads="1"/>
            </p:cNvSpPr>
            <p:nvPr/>
          </p:nvSpPr>
          <p:spPr bwMode="auto">
            <a:xfrm>
              <a:off x="5876699" y="4277474"/>
              <a:ext cx="361350" cy="294773"/>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FF00FF"/>
                  </a:solidFill>
                  <a:effectLst/>
                  <a:latin typeface="Consolas" pitchFamily="49" charset="0"/>
                  <a:ea typeface="仿宋" pitchFamily="49" charset="-122"/>
                  <a:cs typeface="宋体" pitchFamily="2" charset="-122"/>
                </a:rPr>
                <a:t>(2)</a:t>
              </a:r>
              <a:endParaRPr kumimoji="0" lang="zh-CN" altLang="zh-CN" sz="2000" b="0" i="0" u="none" strike="noStrike" cap="none" normalizeH="0" baseline="0">
                <a:ln>
                  <a:noFill/>
                </a:ln>
                <a:solidFill>
                  <a:srgbClr val="FF00FF"/>
                </a:solidFill>
                <a:effectLst/>
                <a:latin typeface="Consolas" pitchFamily="49" charset="0"/>
                <a:ea typeface="仿宋" pitchFamily="49" charset="-122"/>
                <a:cs typeface="宋体" pitchFamily="2" charset="-122"/>
              </a:endParaRPr>
            </a:p>
          </p:txBody>
        </p:sp>
        <p:sp>
          <p:nvSpPr>
            <p:cNvPr id="11" name="Text Box 38"/>
            <p:cNvSpPr txBox="1">
              <a:spLocks noChangeArrowheads="1"/>
            </p:cNvSpPr>
            <p:nvPr/>
          </p:nvSpPr>
          <p:spPr bwMode="auto">
            <a:xfrm>
              <a:off x="7237784" y="4694574"/>
              <a:ext cx="358152" cy="294773"/>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FF00FF"/>
                  </a:solidFill>
                  <a:effectLst/>
                  <a:latin typeface="Consolas" pitchFamily="49" charset="0"/>
                  <a:ea typeface="仿宋" pitchFamily="49" charset="-122"/>
                  <a:cs typeface="宋体" pitchFamily="2" charset="-122"/>
                </a:rPr>
                <a:t>(2)</a:t>
              </a:r>
              <a:endParaRPr kumimoji="0" lang="zh-CN" altLang="zh-CN" sz="2000" b="0" i="0" u="none" strike="noStrike" cap="none" normalizeH="0" baseline="0">
                <a:ln>
                  <a:noFill/>
                </a:ln>
                <a:solidFill>
                  <a:srgbClr val="FF00FF"/>
                </a:solidFill>
                <a:effectLst/>
                <a:latin typeface="Consolas" pitchFamily="49" charset="0"/>
                <a:ea typeface="仿宋" pitchFamily="49" charset="-122"/>
                <a:cs typeface="宋体" pitchFamily="2" charset="-122"/>
              </a:endParaRPr>
            </a:p>
          </p:txBody>
        </p:sp>
        <p:sp>
          <p:nvSpPr>
            <p:cNvPr id="12" name="Text Box 39"/>
            <p:cNvSpPr txBox="1">
              <a:spLocks noChangeArrowheads="1"/>
            </p:cNvSpPr>
            <p:nvPr/>
          </p:nvSpPr>
          <p:spPr bwMode="auto">
            <a:xfrm>
              <a:off x="6722075" y="5161795"/>
              <a:ext cx="361350" cy="298013"/>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FF00FF"/>
                  </a:solidFill>
                  <a:effectLst/>
                  <a:latin typeface="Consolas" pitchFamily="49" charset="0"/>
                  <a:ea typeface="仿宋" pitchFamily="49" charset="-122"/>
                  <a:cs typeface="宋体" pitchFamily="2" charset="-122"/>
                </a:rPr>
                <a:t>(3)</a:t>
              </a:r>
              <a:endParaRPr kumimoji="0" lang="zh-CN" altLang="zh-CN" sz="2000" b="0" i="0" u="none" strike="noStrike" cap="none" normalizeH="0" baseline="0">
                <a:ln>
                  <a:noFill/>
                </a:ln>
                <a:solidFill>
                  <a:srgbClr val="FF00FF"/>
                </a:solidFill>
                <a:effectLst/>
                <a:latin typeface="Consolas" pitchFamily="49" charset="0"/>
                <a:ea typeface="仿宋" pitchFamily="49" charset="-122"/>
                <a:cs typeface="宋体" pitchFamily="2" charset="-122"/>
              </a:endParaRPr>
            </a:p>
          </p:txBody>
        </p:sp>
        <p:sp>
          <p:nvSpPr>
            <p:cNvPr id="13" name="Text Box 40"/>
            <p:cNvSpPr txBox="1">
              <a:spLocks noChangeArrowheads="1"/>
            </p:cNvSpPr>
            <p:nvPr/>
          </p:nvSpPr>
          <p:spPr bwMode="auto">
            <a:xfrm>
              <a:off x="6294495" y="4705058"/>
              <a:ext cx="140702" cy="294773"/>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3</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4" name="Text Box 41"/>
            <p:cNvSpPr txBox="1">
              <a:spLocks noChangeArrowheads="1"/>
            </p:cNvSpPr>
            <p:nvPr/>
          </p:nvSpPr>
          <p:spPr bwMode="auto">
            <a:xfrm>
              <a:off x="6259318" y="3827213"/>
              <a:ext cx="140702" cy="294775"/>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2</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5" name="Text Box 42"/>
            <p:cNvSpPr txBox="1">
              <a:spLocks noChangeArrowheads="1"/>
            </p:cNvSpPr>
            <p:nvPr/>
          </p:nvSpPr>
          <p:spPr bwMode="auto">
            <a:xfrm>
              <a:off x="7004403" y="3697642"/>
              <a:ext cx="140702" cy="294775"/>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1</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6" name="Text Box 43"/>
            <p:cNvSpPr txBox="1">
              <a:spLocks noChangeArrowheads="1"/>
            </p:cNvSpPr>
            <p:nvPr/>
          </p:nvSpPr>
          <p:spPr bwMode="auto">
            <a:xfrm>
              <a:off x="5776454" y="4776322"/>
              <a:ext cx="140702" cy="294773"/>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2</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8" name="Text Box 44"/>
            <p:cNvSpPr txBox="1">
              <a:spLocks noChangeArrowheads="1"/>
            </p:cNvSpPr>
            <p:nvPr/>
          </p:nvSpPr>
          <p:spPr bwMode="auto">
            <a:xfrm>
              <a:off x="5834014" y="3697642"/>
              <a:ext cx="140702" cy="294775"/>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1</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9" name="Text Box 45"/>
            <p:cNvSpPr txBox="1">
              <a:spLocks noChangeArrowheads="1"/>
            </p:cNvSpPr>
            <p:nvPr/>
          </p:nvSpPr>
          <p:spPr bwMode="auto">
            <a:xfrm>
              <a:off x="6860501" y="4121988"/>
              <a:ext cx="143901" cy="294773"/>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1</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20" name="Text Box 46"/>
            <p:cNvSpPr txBox="1">
              <a:spLocks noChangeArrowheads="1"/>
            </p:cNvSpPr>
            <p:nvPr/>
          </p:nvSpPr>
          <p:spPr bwMode="auto">
            <a:xfrm>
              <a:off x="6988413" y="4802236"/>
              <a:ext cx="140702" cy="294773"/>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2</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21" name="Oval 47"/>
            <p:cNvSpPr>
              <a:spLocks noChangeArrowheads="1"/>
            </p:cNvSpPr>
            <p:nvPr/>
          </p:nvSpPr>
          <p:spPr bwMode="auto">
            <a:xfrm>
              <a:off x="6259318" y="2479675"/>
              <a:ext cx="399724" cy="443782"/>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0</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22" name="Oval 48"/>
            <p:cNvSpPr>
              <a:spLocks noChangeArrowheads="1"/>
            </p:cNvSpPr>
            <p:nvPr/>
          </p:nvSpPr>
          <p:spPr bwMode="auto">
            <a:xfrm>
              <a:off x="5331961" y="4196491"/>
              <a:ext cx="396525" cy="440541"/>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2</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23" name="Oval 49"/>
            <p:cNvSpPr>
              <a:spLocks noChangeArrowheads="1"/>
            </p:cNvSpPr>
            <p:nvPr/>
          </p:nvSpPr>
          <p:spPr bwMode="auto">
            <a:xfrm>
              <a:off x="6259318" y="4196491"/>
              <a:ext cx="396525" cy="440541"/>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3</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24" name="Oval 50"/>
            <p:cNvSpPr>
              <a:spLocks noChangeArrowheads="1"/>
            </p:cNvSpPr>
            <p:nvPr/>
          </p:nvSpPr>
          <p:spPr bwMode="auto">
            <a:xfrm>
              <a:off x="7225049" y="4196491"/>
              <a:ext cx="396525" cy="440541"/>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4</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25" name="Oval 51"/>
            <p:cNvSpPr>
              <a:spLocks noChangeArrowheads="1"/>
            </p:cNvSpPr>
            <p:nvPr/>
          </p:nvSpPr>
          <p:spPr bwMode="auto">
            <a:xfrm>
              <a:off x="6259318" y="3257101"/>
              <a:ext cx="396525" cy="440541"/>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1</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26" name="Oval 52"/>
            <p:cNvSpPr>
              <a:spLocks noChangeArrowheads="1"/>
            </p:cNvSpPr>
            <p:nvPr/>
          </p:nvSpPr>
          <p:spPr bwMode="auto">
            <a:xfrm>
              <a:off x="6259318" y="5097009"/>
              <a:ext cx="396525" cy="440541"/>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5</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cxnSp>
          <p:nvCxnSpPr>
            <p:cNvPr id="27" name="AutoShape 53"/>
            <p:cNvCxnSpPr>
              <a:cxnSpLocks noChangeShapeType="1"/>
            </p:cNvCxnSpPr>
            <p:nvPr/>
          </p:nvCxnSpPr>
          <p:spPr bwMode="auto">
            <a:xfrm flipH="1">
              <a:off x="6457581" y="2923457"/>
              <a:ext cx="0" cy="333644"/>
            </a:xfrm>
            <a:prstGeom prst="straightConnector1">
              <a:avLst/>
            </a:prstGeom>
            <a:noFill/>
            <a:ln w="19050">
              <a:solidFill>
                <a:srgbClr val="FF0000"/>
              </a:solidFill>
              <a:round/>
              <a:headEnd type="none" w="med" len="med"/>
              <a:tailEnd type="arrow" w="med" len="med"/>
            </a:ln>
          </p:spPr>
        </p:cxnSp>
        <p:cxnSp>
          <p:nvCxnSpPr>
            <p:cNvPr id="28" name="AutoShape 54"/>
            <p:cNvCxnSpPr>
              <a:cxnSpLocks noChangeShapeType="1"/>
            </p:cNvCxnSpPr>
            <p:nvPr/>
          </p:nvCxnSpPr>
          <p:spPr bwMode="auto">
            <a:xfrm flipH="1">
              <a:off x="5670926" y="3632857"/>
              <a:ext cx="645952" cy="628419"/>
            </a:xfrm>
            <a:prstGeom prst="straightConnector1">
              <a:avLst/>
            </a:prstGeom>
            <a:noFill/>
            <a:ln w="19050">
              <a:solidFill>
                <a:srgbClr val="000000"/>
              </a:solidFill>
              <a:round/>
              <a:headEnd type="none" w="med" len="med"/>
              <a:tailEnd type="arrow" w="med" len="med"/>
            </a:ln>
          </p:spPr>
        </p:cxnSp>
        <p:cxnSp>
          <p:nvCxnSpPr>
            <p:cNvPr id="29" name="AutoShape 55"/>
            <p:cNvCxnSpPr>
              <a:cxnSpLocks noChangeShapeType="1"/>
            </p:cNvCxnSpPr>
            <p:nvPr/>
          </p:nvCxnSpPr>
          <p:spPr bwMode="auto">
            <a:xfrm>
              <a:off x="6457581" y="3697642"/>
              <a:ext cx="0" cy="498848"/>
            </a:xfrm>
            <a:prstGeom prst="straightConnector1">
              <a:avLst/>
            </a:prstGeom>
            <a:noFill/>
            <a:ln w="19050">
              <a:solidFill>
                <a:srgbClr val="FF0000"/>
              </a:solidFill>
              <a:round/>
              <a:headEnd type="none" w="med" len="med"/>
              <a:tailEnd type="arrow" w="med" len="med"/>
            </a:ln>
          </p:spPr>
        </p:cxnSp>
        <p:cxnSp>
          <p:nvCxnSpPr>
            <p:cNvPr id="30" name="AutoShape 56"/>
            <p:cNvCxnSpPr>
              <a:cxnSpLocks noChangeShapeType="1"/>
            </p:cNvCxnSpPr>
            <p:nvPr/>
          </p:nvCxnSpPr>
          <p:spPr bwMode="auto">
            <a:xfrm>
              <a:off x="6598283" y="3632857"/>
              <a:ext cx="684326" cy="628419"/>
            </a:xfrm>
            <a:prstGeom prst="straightConnector1">
              <a:avLst/>
            </a:prstGeom>
            <a:noFill/>
            <a:ln w="19050">
              <a:solidFill>
                <a:srgbClr val="000000"/>
              </a:solidFill>
              <a:round/>
              <a:headEnd type="none" w="med" len="med"/>
              <a:tailEnd type="arrow" w="med" len="med"/>
            </a:ln>
          </p:spPr>
        </p:cxnSp>
        <p:cxnSp>
          <p:nvCxnSpPr>
            <p:cNvPr id="31" name="AutoShape 57"/>
            <p:cNvCxnSpPr>
              <a:cxnSpLocks noChangeShapeType="1"/>
            </p:cNvCxnSpPr>
            <p:nvPr/>
          </p:nvCxnSpPr>
          <p:spPr bwMode="auto">
            <a:xfrm>
              <a:off x="5670926" y="4572247"/>
              <a:ext cx="645952" cy="589548"/>
            </a:xfrm>
            <a:prstGeom prst="straightConnector1">
              <a:avLst/>
            </a:prstGeom>
            <a:noFill/>
            <a:ln w="19050">
              <a:solidFill>
                <a:srgbClr val="000000"/>
              </a:solidFill>
              <a:round/>
              <a:headEnd type="none" w="med" len="med"/>
              <a:tailEnd type="arrow" w="med" len="med"/>
            </a:ln>
          </p:spPr>
        </p:cxnSp>
        <p:cxnSp>
          <p:nvCxnSpPr>
            <p:cNvPr id="32" name="AutoShape 58"/>
            <p:cNvCxnSpPr>
              <a:cxnSpLocks noChangeShapeType="1"/>
            </p:cNvCxnSpPr>
            <p:nvPr/>
          </p:nvCxnSpPr>
          <p:spPr bwMode="auto">
            <a:xfrm>
              <a:off x="6457581" y="4637032"/>
              <a:ext cx="0" cy="459977"/>
            </a:xfrm>
            <a:prstGeom prst="straightConnector1">
              <a:avLst/>
            </a:prstGeom>
            <a:noFill/>
            <a:ln w="19050">
              <a:solidFill>
                <a:srgbClr val="FF0000"/>
              </a:solidFill>
              <a:round/>
              <a:headEnd type="none" w="med" len="med"/>
              <a:tailEnd type="arrow" w="med" len="med"/>
            </a:ln>
          </p:spPr>
        </p:cxnSp>
        <p:cxnSp>
          <p:nvCxnSpPr>
            <p:cNvPr id="33" name="AutoShape 59"/>
            <p:cNvCxnSpPr>
              <a:cxnSpLocks noChangeShapeType="1"/>
            </p:cNvCxnSpPr>
            <p:nvPr/>
          </p:nvCxnSpPr>
          <p:spPr bwMode="auto">
            <a:xfrm flipH="1">
              <a:off x="6655843" y="4416761"/>
              <a:ext cx="569205" cy="0"/>
            </a:xfrm>
            <a:prstGeom prst="straightConnector1">
              <a:avLst/>
            </a:prstGeom>
            <a:noFill/>
            <a:ln w="19050">
              <a:solidFill>
                <a:srgbClr val="000000"/>
              </a:solidFill>
              <a:round/>
              <a:headEnd type="none" w="med" len="med"/>
              <a:tailEnd type="arrow" w="med" len="med"/>
            </a:ln>
          </p:spPr>
        </p:cxnSp>
        <p:cxnSp>
          <p:nvCxnSpPr>
            <p:cNvPr id="34" name="AutoShape 60"/>
            <p:cNvCxnSpPr>
              <a:cxnSpLocks noChangeShapeType="1"/>
            </p:cNvCxnSpPr>
            <p:nvPr/>
          </p:nvCxnSpPr>
          <p:spPr bwMode="auto">
            <a:xfrm flipV="1">
              <a:off x="6598283" y="4572247"/>
              <a:ext cx="684326" cy="589548"/>
            </a:xfrm>
            <a:prstGeom prst="straightConnector1">
              <a:avLst/>
            </a:prstGeom>
            <a:noFill/>
            <a:ln w="19050">
              <a:solidFill>
                <a:srgbClr val="006600"/>
              </a:solidFill>
              <a:prstDash val="dash"/>
              <a:round/>
              <a:headEnd type="none" w="med" len="med"/>
              <a:tailEnd type="arrow" w="med" len="med"/>
            </a:ln>
          </p:spPr>
        </p:cxnSp>
        <p:sp>
          <p:nvSpPr>
            <p:cNvPr id="35" name="Freeform 61"/>
            <p:cNvSpPr>
              <a:spLocks/>
            </p:cNvSpPr>
            <p:nvPr/>
          </p:nvSpPr>
          <p:spPr bwMode="auto">
            <a:xfrm>
              <a:off x="6659042" y="3496807"/>
              <a:ext cx="847411" cy="699683"/>
            </a:xfrm>
            <a:custGeom>
              <a:avLst/>
              <a:gdLst/>
              <a:ahLst/>
              <a:cxnLst>
                <a:cxn ang="0">
                  <a:pos x="630" y="541"/>
                </a:cxn>
                <a:cxn ang="0">
                  <a:pos x="603" y="256"/>
                </a:cxn>
                <a:cxn ang="0">
                  <a:pos x="275" y="65"/>
                </a:cxn>
                <a:cxn ang="0">
                  <a:pos x="0" y="0"/>
                </a:cxn>
              </a:cxnLst>
              <a:rect l="0" t="0" r="r" b="b"/>
              <a:pathLst>
                <a:path w="662" h="541">
                  <a:moveTo>
                    <a:pt x="630" y="541"/>
                  </a:moveTo>
                  <a:cubicBezTo>
                    <a:pt x="646" y="438"/>
                    <a:pt x="662" y="335"/>
                    <a:pt x="603" y="256"/>
                  </a:cubicBezTo>
                  <a:cubicBezTo>
                    <a:pt x="544" y="177"/>
                    <a:pt x="376" y="108"/>
                    <a:pt x="275" y="65"/>
                  </a:cubicBezTo>
                  <a:cubicBezTo>
                    <a:pt x="174" y="22"/>
                    <a:pt x="87" y="11"/>
                    <a:pt x="0" y="0"/>
                  </a:cubicBezTo>
                </a:path>
              </a:pathLst>
            </a:custGeom>
            <a:noFill/>
            <a:ln w="19050">
              <a:solidFill>
                <a:srgbClr val="006600"/>
              </a:solidFill>
              <a:prstDash val="dash"/>
              <a:round/>
              <a:headEnd type="none" w="med" len="med"/>
              <a:tailEnd type="arrow" w="med" len="med"/>
            </a:ln>
          </p:spPr>
          <p:txBody>
            <a:bodyPr vert="horz" wrap="square" lIns="91440" tIns="45720" rIns="91440" bIns="45720" numCol="1" anchor="t" anchorCtr="0" compatLnSpc="1">
              <a:prstTxWarp prst="textNoShape">
                <a:avLst/>
              </a:prstTxWarp>
            </a:bodyPr>
            <a:lstStyle/>
            <a:p>
              <a:pPr>
                <a:lnSpc>
                  <a:spcPts val="2400"/>
                </a:lnSpc>
              </a:pPr>
              <a:endParaRPr lang="zh-CN" altLang="en-US" sz="2000" b="0">
                <a:solidFill>
                  <a:srgbClr val="0000FF"/>
                </a:solidFill>
                <a:latin typeface="Consolas" pitchFamily="49" charset="0"/>
                <a:ea typeface="仿宋" pitchFamily="49" charset="-122"/>
              </a:endParaRPr>
            </a:p>
          </p:txBody>
        </p:sp>
      </p:grpSp>
      <p:sp>
        <p:nvSpPr>
          <p:cNvPr id="36" name="右箭头 35"/>
          <p:cNvSpPr/>
          <p:nvPr/>
        </p:nvSpPr>
        <p:spPr>
          <a:xfrm>
            <a:off x="2786050" y="2643182"/>
            <a:ext cx="428628" cy="285752"/>
          </a:xfrm>
          <a:prstGeom prst="right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grpSp>
        <p:nvGrpSpPr>
          <p:cNvPr id="141" name="组合 140"/>
          <p:cNvGrpSpPr/>
          <p:nvPr/>
        </p:nvGrpSpPr>
        <p:grpSpPr>
          <a:xfrm>
            <a:off x="3394215" y="857232"/>
            <a:ext cx="2106479" cy="3500463"/>
            <a:chOff x="635818" y="1643049"/>
            <a:chExt cx="2106479" cy="3286149"/>
          </a:xfrm>
        </p:grpSpPr>
        <p:sp>
          <p:nvSpPr>
            <p:cNvPr id="142" name="Text Box 2"/>
            <p:cNvSpPr txBox="1">
              <a:spLocks noChangeArrowheads="1"/>
            </p:cNvSpPr>
            <p:nvPr/>
          </p:nvSpPr>
          <p:spPr bwMode="auto">
            <a:xfrm>
              <a:off x="1739073" y="2041219"/>
              <a:ext cx="132389" cy="270398"/>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5</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43" name="Text Box 3"/>
            <p:cNvSpPr txBox="1">
              <a:spLocks noChangeArrowheads="1"/>
            </p:cNvSpPr>
            <p:nvPr/>
          </p:nvSpPr>
          <p:spPr bwMode="auto">
            <a:xfrm>
              <a:off x="1815565" y="3610129"/>
              <a:ext cx="132389" cy="270398"/>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2</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44" name="Text Box 4"/>
            <p:cNvSpPr txBox="1">
              <a:spLocks noChangeArrowheads="1"/>
            </p:cNvSpPr>
            <p:nvPr/>
          </p:nvSpPr>
          <p:spPr bwMode="auto">
            <a:xfrm>
              <a:off x="2503995" y="2573103"/>
              <a:ext cx="132389" cy="273371"/>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2</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45" name="Text Box 5"/>
            <p:cNvSpPr txBox="1">
              <a:spLocks noChangeArrowheads="1"/>
            </p:cNvSpPr>
            <p:nvPr/>
          </p:nvSpPr>
          <p:spPr bwMode="auto">
            <a:xfrm>
              <a:off x="1124192" y="4599611"/>
              <a:ext cx="1376106" cy="329587"/>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zh-CN" altLang="en-US" sz="2000" b="0" i="0" u="none" strike="noStrike" cap="none" normalizeH="0" baseline="0">
                  <a:ln>
                    <a:noFill/>
                  </a:ln>
                  <a:solidFill>
                    <a:srgbClr val="0000FF"/>
                  </a:solidFill>
                  <a:effectLst/>
                  <a:latin typeface="Consolas" pitchFamily="49" charset="0"/>
                  <a:ea typeface="仿宋" pitchFamily="49" charset="-122"/>
                  <a:cs typeface="宋体" pitchFamily="2" charset="-122"/>
                </a:rPr>
                <a:t>增广</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2</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46" name="Text Box 6"/>
            <p:cNvSpPr txBox="1">
              <a:spLocks noChangeArrowheads="1"/>
            </p:cNvSpPr>
            <p:nvPr/>
          </p:nvSpPr>
          <p:spPr bwMode="auto">
            <a:xfrm>
              <a:off x="667654" y="2868785"/>
              <a:ext cx="332446" cy="27040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rPr>
                <a:t>(2)</a:t>
              </a:r>
              <a:endParaRPr kumimoji="0" lang="zh-CN"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endParaRPr>
            </a:p>
          </p:txBody>
        </p:sp>
        <p:sp>
          <p:nvSpPr>
            <p:cNvPr id="147" name="Text Box 7"/>
            <p:cNvSpPr txBox="1">
              <a:spLocks noChangeArrowheads="1"/>
            </p:cNvSpPr>
            <p:nvPr/>
          </p:nvSpPr>
          <p:spPr bwMode="auto">
            <a:xfrm>
              <a:off x="1892057" y="1681677"/>
              <a:ext cx="329505" cy="27040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rPr>
                <a:t>(0)</a:t>
              </a:r>
              <a:endParaRPr kumimoji="0" lang="zh-CN"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endParaRPr>
            </a:p>
          </p:txBody>
        </p:sp>
        <p:sp>
          <p:nvSpPr>
            <p:cNvPr id="148" name="Text Box 8"/>
            <p:cNvSpPr txBox="1">
              <a:spLocks noChangeArrowheads="1"/>
            </p:cNvSpPr>
            <p:nvPr/>
          </p:nvSpPr>
          <p:spPr bwMode="auto">
            <a:xfrm>
              <a:off x="1880289" y="2292609"/>
              <a:ext cx="332446" cy="270398"/>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rPr>
                <a:t>(1)</a:t>
              </a:r>
              <a:endParaRPr kumimoji="0" lang="zh-CN"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endParaRPr>
            </a:p>
          </p:txBody>
        </p:sp>
        <p:sp>
          <p:nvSpPr>
            <p:cNvPr id="149" name="Text Box 9"/>
            <p:cNvSpPr txBox="1">
              <a:spLocks noChangeArrowheads="1"/>
            </p:cNvSpPr>
            <p:nvPr/>
          </p:nvSpPr>
          <p:spPr bwMode="auto">
            <a:xfrm>
              <a:off x="1109893" y="3269608"/>
              <a:ext cx="332448" cy="27040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rPr>
                <a:t>(2)</a:t>
              </a:r>
              <a:endParaRPr kumimoji="0" lang="zh-CN"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endParaRPr>
            </a:p>
          </p:txBody>
        </p:sp>
        <p:sp>
          <p:nvSpPr>
            <p:cNvPr id="150" name="Text Box 10"/>
            <p:cNvSpPr txBox="1">
              <a:spLocks noChangeArrowheads="1"/>
            </p:cNvSpPr>
            <p:nvPr/>
          </p:nvSpPr>
          <p:spPr bwMode="auto">
            <a:xfrm>
              <a:off x="2400100" y="3662370"/>
              <a:ext cx="329505" cy="27040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rPr>
                <a:t>(2)</a:t>
              </a:r>
              <a:endParaRPr kumimoji="0" lang="zh-CN"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endParaRPr>
            </a:p>
          </p:txBody>
        </p:sp>
        <p:sp>
          <p:nvSpPr>
            <p:cNvPr id="151" name="Text Box 11"/>
            <p:cNvSpPr txBox="1">
              <a:spLocks noChangeArrowheads="1"/>
            </p:cNvSpPr>
            <p:nvPr/>
          </p:nvSpPr>
          <p:spPr bwMode="auto">
            <a:xfrm>
              <a:off x="1909776" y="4103385"/>
              <a:ext cx="332448" cy="270398"/>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rPr>
                <a:t>(3)</a:t>
              </a:r>
              <a:endParaRPr kumimoji="0" lang="zh-CN"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endParaRPr>
            </a:p>
          </p:txBody>
        </p:sp>
        <p:sp>
          <p:nvSpPr>
            <p:cNvPr id="152" name="Text Box 12"/>
            <p:cNvSpPr txBox="1">
              <a:spLocks noChangeArrowheads="1"/>
            </p:cNvSpPr>
            <p:nvPr/>
          </p:nvSpPr>
          <p:spPr bwMode="auto">
            <a:xfrm>
              <a:off x="1521364" y="3684414"/>
              <a:ext cx="129448" cy="27040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1</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53" name="Text Box 13"/>
            <p:cNvSpPr txBox="1">
              <a:spLocks noChangeArrowheads="1"/>
            </p:cNvSpPr>
            <p:nvPr/>
          </p:nvSpPr>
          <p:spPr bwMode="auto">
            <a:xfrm>
              <a:off x="1489001" y="2879160"/>
              <a:ext cx="129448" cy="270398"/>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2</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54" name="Text Box 14"/>
            <p:cNvSpPr txBox="1">
              <a:spLocks noChangeArrowheads="1"/>
            </p:cNvSpPr>
            <p:nvPr/>
          </p:nvSpPr>
          <p:spPr bwMode="auto">
            <a:xfrm>
              <a:off x="2174490" y="2757331"/>
              <a:ext cx="129448" cy="273371"/>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1</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55" name="Text Box 15"/>
            <p:cNvSpPr txBox="1">
              <a:spLocks noChangeArrowheads="1"/>
            </p:cNvSpPr>
            <p:nvPr/>
          </p:nvSpPr>
          <p:spPr bwMode="auto">
            <a:xfrm>
              <a:off x="1044758" y="3749785"/>
              <a:ext cx="129448" cy="27040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2</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56" name="Text Box 16"/>
            <p:cNvSpPr txBox="1">
              <a:spLocks noChangeArrowheads="1"/>
            </p:cNvSpPr>
            <p:nvPr/>
          </p:nvSpPr>
          <p:spPr bwMode="auto">
            <a:xfrm>
              <a:off x="1097715" y="2757331"/>
              <a:ext cx="129448" cy="273371"/>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1</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57" name="Text Box 17"/>
            <p:cNvSpPr txBox="1">
              <a:spLocks noChangeArrowheads="1"/>
            </p:cNvSpPr>
            <p:nvPr/>
          </p:nvSpPr>
          <p:spPr bwMode="auto">
            <a:xfrm>
              <a:off x="2042099" y="3149558"/>
              <a:ext cx="132391" cy="27040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1</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58" name="Text Box 18"/>
            <p:cNvSpPr txBox="1">
              <a:spLocks noChangeArrowheads="1"/>
            </p:cNvSpPr>
            <p:nvPr/>
          </p:nvSpPr>
          <p:spPr bwMode="auto">
            <a:xfrm>
              <a:off x="2159779" y="3773556"/>
              <a:ext cx="129448" cy="27040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2</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59" name="Oval 19"/>
            <p:cNvSpPr>
              <a:spLocks noChangeArrowheads="1"/>
            </p:cNvSpPr>
            <p:nvPr/>
          </p:nvSpPr>
          <p:spPr bwMode="auto">
            <a:xfrm>
              <a:off x="1489001" y="1643049"/>
              <a:ext cx="367752" cy="407084"/>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0</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60" name="Oval 20"/>
            <p:cNvSpPr>
              <a:spLocks noChangeArrowheads="1"/>
            </p:cNvSpPr>
            <p:nvPr/>
          </p:nvSpPr>
          <p:spPr bwMode="auto">
            <a:xfrm>
              <a:off x="635818" y="3217902"/>
              <a:ext cx="364809" cy="404113"/>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2</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61" name="Oval 21"/>
            <p:cNvSpPr>
              <a:spLocks noChangeArrowheads="1"/>
            </p:cNvSpPr>
            <p:nvPr/>
          </p:nvSpPr>
          <p:spPr bwMode="auto">
            <a:xfrm>
              <a:off x="1489001" y="3217902"/>
              <a:ext cx="364809" cy="404113"/>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3</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62" name="Oval 22"/>
            <p:cNvSpPr>
              <a:spLocks noChangeArrowheads="1"/>
            </p:cNvSpPr>
            <p:nvPr/>
          </p:nvSpPr>
          <p:spPr bwMode="auto">
            <a:xfrm>
              <a:off x="2377488" y="3217902"/>
              <a:ext cx="364809" cy="404113"/>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4</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63" name="Oval 23"/>
            <p:cNvSpPr>
              <a:spLocks noChangeArrowheads="1"/>
            </p:cNvSpPr>
            <p:nvPr/>
          </p:nvSpPr>
          <p:spPr bwMode="auto">
            <a:xfrm>
              <a:off x="1489001" y="2353218"/>
              <a:ext cx="364809" cy="404113"/>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1</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64" name="Oval 24"/>
            <p:cNvSpPr>
              <a:spLocks noChangeArrowheads="1"/>
            </p:cNvSpPr>
            <p:nvPr/>
          </p:nvSpPr>
          <p:spPr bwMode="auto">
            <a:xfrm>
              <a:off x="1489001" y="4043957"/>
              <a:ext cx="364809" cy="404113"/>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5</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cxnSp>
          <p:nvCxnSpPr>
            <p:cNvPr id="165" name="AutoShape 25"/>
            <p:cNvCxnSpPr>
              <a:cxnSpLocks noChangeShapeType="1"/>
            </p:cNvCxnSpPr>
            <p:nvPr/>
          </p:nvCxnSpPr>
          <p:spPr bwMode="auto">
            <a:xfrm flipH="1">
              <a:off x="1671406" y="2050133"/>
              <a:ext cx="0" cy="303085"/>
            </a:xfrm>
            <a:prstGeom prst="straightConnector1">
              <a:avLst/>
            </a:prstGeom>
            <a:noFill/>
            <a:ln w="19050">
              <a:solidFill>
                <a:srgbClr val="000000"/>
              </a:solidFill>
              <a:round/>
              <a:headEnd type="none" w="med" len="med"/>
              <a:tailEnd type="arrow" w="med" len="med"/>
            </a:ln>
          </p:spPr>
        </p:cxnSp>
        <p:cxnSp>
          <p:nvCxnSpPr>
            <p:cNvPr id="166" name="AutoShape 26"/>
            <p:cNvCxnSpPr>
              <a:cxnSpLocks noChangeShapeType="1"/>
            </p:cNvCxnSpPr>
            <p:nvPr/>
          </p:nvCxnSpPr>
          <p:spPr bwMode="auto">
            <a:xfrm flipH="1">
              <a:off x="947671" y="2697902"/>
              <a:ext cx="594286" cy="579428"/>
            </a:xfrm>
            <a:prstGeom prst="straightConnector1">
              <a:avLst/>
            </a:prstGeom>
            <a:noFill/>
            <a:ln w="19050">
              <a:solidFill>
                <a:srgbClr val="000000"/>
              </a:solidFill>
              <a:round/>
              <a:headEnd type="none" w="med" len="med"/>
              <a:tailEnd type="arrow" w="med" len="med"/>
            </a:ln>
          </p:spPr>
        </p:cxnSp>
        <p:cxnSp>
          <p:nvCxnSpPr>
            <p:cNvPr id="167" name="AutoShape 27"/>
            <p:cNvCxnSpPr>
              <a:cxnSpLocks noChangeShapeType="1"/>
            </p:cNvCxnSpPr>
            <p:nvPr/>
          </p:nvCxnSpPr>
          <p:spPr bwMode="auto">
            <a:xfrm>
              <a:off x="1800854" y="2697902"/>
              <a:ext cx="629590" cy="579428"/>
            </a:xfrm>
            <a:prstGeom prst="straightConnector1">
              <a:avLst/>
            </a:prstGeom>
            <a:noFill/>
            <a:ln w="19050">
              <a:solidFill>
                <a:srgbClr val="000000"/>
              </a:solidFill>
              <a:round/>
              <a:headEnd type="none" w="med" len="med"/>
              <a:tailEnd type="arrow" w="med" len="med"/>
            </a:ln>
          </p:spPr>
        </p:cxnSp>
        <p:cxnSp>
          <p:nvCxnSpPr>
            <p:cNvPr id="168" name="AutoShape 28"/>
            <p:cNvCxnSpPr>
              <a:cxnSpLocks noChangeShapeType="1"/>
            </p:cNvCxnSpPr>
            <p:nvPr/>
          </p:nvCxnSpPr>
          <p:spPr bwMode="auto">
            <a:xfrm>
              <a:off x="947671" y="3562587"/>
              <a:ext cx="594286" cy="540799"/>
            </a:xfrm>
            <a:prstGeom prst="straightConnector1">
              <a:avLst/>
            </a:prstGeom>
            <a:noFill/>
            <a:ln w="19050">
              <a:solidFill>
                <a:srgbClr val="000000"/>
              </a:solidFill>
              <a:round/>
              <a:headEnd type="none" w="med" len="med"/>
              <a:tailEnd type="arrow" w="med" len="med"/>
            </a:ln>
          </p:spPr>
        </p:cxnSp>
        <p:cxnSp>
          <p:nvCxnSpPr>
            <p:cNvPr id="169" name="AutoShape 29"/>
            <p:cNvCxnSpPr>
              <a:cxnSpLocks noChangeShapeType="1"/>
            </p:cNvCxnSpPr>
            <p:nvPr/>
          </p:nvCxnSpPr>
          <p:spPr bwMode="auto">
            <a:xfrm>
              <a:off x="1671406" y="3622015"/>
              <a:ext cx="0" cy="421942"/>
            </a:xfrm>
            <a:prstGeom prst="straightConnector1">
              <a:avLst/>
            </a:prstGeom>
            <a:noFill/>
            <a:ln w="19050">
              <a:solidFill>
                <a:srgbClr val="FF0000"/>
              </a:solidFill>
              <a:round/>
              <a:headEnd type="none" w="med" len="med"/>
              <a:tailEnd type="arrow" w="med" len="med"/>
            </a:ln>
          </p:spPr>
        </p:cxnSp>
        <p:cxnSp>
          <p:nvCxnSpPr>
            <p:cNvPr id="170" name="AutoShape 30"/>
            <p:cNvCxnSpPr>
              <a:cxnSpLocks noChangeShapeType="1"/>
            </p:cNvCxnSpPr>
            <p:nvPr/>
          </p:nvCxnSpPr>
          <p:spPr bwMode="auto">
            <a:xfrm flipH="1">
              <a:off x="1853810" y="3419958"/>
              <a:ext cx="523678" cy="0"/>
            </a:xfrm>
            <a:prstGeom prst="straightConnector1">
              <a:avLst/>
            </a:prstGeom>
            <a:noFill/>
            <a:ln w="19050">
              <a:solidFill>
                <a:srgbClr val="000000"/>
              </a:solidFill>
              <a:round/>
              <a:headEnd type="none" w="med" len="med"/>
              <a:tailEnd type="arrow" w="med" len="med"/>
            </a:ln>
          </p:spPr>
        </p:cxnSp>
        <p:cxnSp>
          <p:nvCxnSpPr>
            <p:cNvPr id="171" name="AutoShape 31"/>
            <p:cNvCxnSpPr>
              <a:cxnSpLocks noChangeShapeType="1"/>
            </p:cNvCxnSpPr>
            <p:nvPr/>
          </p:nvCxnSpPr>
          <p:spPr bwMode="auto">
            <a:xfrm flipV="1">
              <a:off x="1800854" y="3562587"/>
              <a:ext cx="629590" cy="540799"/>
            </a:xfrm>
            <a:prstGeom prst="straightConnector1">
              <a:avLst/>
            </a:prstGeom>
            <a:noFill/>
            <a:ln w="19050">
              <a:solidFill>
                <a:srgbClr val="006600"/>
              </a:solidFill>
              <a:prstDash val="dash"/>
              <a:round/>
              <a:headEnd type="none" w="med" len="med"/>
              <a:tailEnd type="arrow" w="med" len="med"/>
            </a:ln>
          </p:spPr>
        </p:cxnSp>
        <p:sp>
          <p:nvSpPr>
            <p:cNvPr id="172" name="Freeform 32"/>
            <p:cNvSpPr>
              <a:spLocks/>
            </p:cNvSpPr>
            <p:nvPr/>
          </p:nvSpPr>
          <p:spPr bwMode="auto">
            <a:xfrm>
              <a:off x="1856753" y="2573103"/>
              <a:ext cx="779632" cy="644799"/>
            </a:xfrm>
            <a:custGeom>
              <a:avLst/>
              <a:gdLst/>
              <a:ahLst/>
              <a:cxnLst>
                <a:cxn ang="0">
                  <a:pos x="630" y="541"/>
                </a:cxn>
                <a:cxn ang="0">
                  <a:pos x="603" y="256"/>
                </a:cxn>
                <a:cxn ang="0">
                  <a:pos x="275" y="65"/>
                </a:cxn>
                <a:cxn ang="0">
                  <a:pos x="0" y="0"/>
                </a:cxn>
              </a:cxnLst>
              <a:rect l="0" t="0" r="r" b="b"/>
              <a:pathLst>
                <a:path w="662" h="541">
                  <a:moveTo>
                    <a:pt x="630" y="541"/>
                  </a:moveTo>
                  <a:cubicBezTo>
                    <a:pt x="646" y="438"/>
                    <a:pt x="662" y="335"/>
                    <a:pt x="603" y="256"/>
                  </a:cubicBezTo>
                  <a:cubicBezTo>
                    <a:pt x="544" y="177"/>
                    <a:pt x="376" y="108"/>
                    <a:pt x="275" y="65"/>
                  </a:cubicBezTo>
                  <a:cubicBezTo>
                    <a:pt x="174" y="22"/>
                    <a:pt x="87" y="11"/>
                    <a:pt x="0" y="0"/>
                  </a:cubicBezTo>
                </a:path>
              </a:pathLst>
            </a:custGeom>
            <a:noFill/>
            <a:ln w="19050">
              <a:solidFill>
                <a:srgbClr val="006600"/>
              </a:solidFill>
              <a:prstDash val="dash"/>
              <a:round/>
              <a:headEnd type="none" w="med" len="med"/>
              <a:tailEnd type="arrow" w="med" len="med"/>
            </a:ln>
          </p:spPr>
          <p:txBody>
            <a:bodyPr vert="horz" wrap="square" lIns="91440" tIns="45720" rIns="91440" bIns="45720" numCol="1" anchor="t" anchorCtr="0" compatLnSpc="1">
              <a:prstTxWarp prst="textNoShape">
                <a:avLst/>
              </a:prstTxWarp>
            </a:bodyPr>
            <a:lstStyle/>
            <a:p>
              <a:pPr>
                <a:lnSpc>
                  <a:spcPts val="2400"/>
                </a:lnSpc>
              </a:pPr>
              <a:endParaRPr lang="zh-CN" altLang="en-US" sz="2000">
                <a:solidFill>
                  <a:srgbClr val="0000FF"/>
                </a:solidFill>
                <a:latin typeface="Consolas" pitchFamily="49" charset="0"/>
                <a:ea typeface="仿宋" pitchFamily="49" charset="-122"/>
              </a:endParaRPr>
            </a:p>
          </p:txBody>
        </p:sp>
        <p:cxnSp>
          <p:nvCxnSpPr>
            <p:cNvPr id="173" name="AutoShape 33"/>
            <p:cNvCxnSpPr>
              <a:cxnSpLocks noChangeShapeType="1"/>
            </p:cNvCxnSpPr>
            <p:nvPr/>
          </p:nvCxnSpPr>
          <p:spPr bwMode="auto">
            <a:xfrm flipV="1">
              <a:off x="1671406" y="2757331"/>
              <a:ext cx="0" cy="460571"/>
            </a:xfrm>
            <a:prstGeom prst="straightConnector1">
              <a:avLst/>
            </a:prstGeom>
            <a:noFill/>
            <a:ln w="19050">
              <a:solidFill>
                <a:srgbClr val="006600"/>
              </a:solidFill>
              <a:prstDash val="dash"/>
              <a:round/>
              <a:headEnd type="none" w="med" len="med"/>
              <a:tailEnd type="arrow" w="med" len="med"/>
            </a:ln>
          </p:spPr>
        </p:cxnSp>
        <p:sp>
          <p:nvSpPr>
            <p:cNvPr id="174" name="Freeform 34"/>
            <p:cNvSpPr>
              <a:spLocks/>
            </p:cNvSpPr>
            <p:nvPr/>
          </p:nvSpPr>
          <p:spPr bwMode="auto">
            <a:xfrm>
              <a:off x="1759666" y="3624985"/>
              <a:ext cx="41188" cy="436800"/>
            </a:xfrm>
            <a:custGeom>
              <a:avLst/>
              <a:gdLst/>
              <a:ahLst/>
              <a:cxnLst>
                <a:cxn ang="0">
                  <a:pos x="0" y="368"/>
                </a:cxn>
                <a:cxn ang="0">
                  <a:pos x="33" y="195"/>
                </a:cxn>
                <a:cxn ang="0">
                  <a:pos x="0" y="0"/>
                </a:cxn>
              </a:cxnLst>
              <a:rect l="0" t="0" r="r" b="b"/>
              <a:pathLst>
                <a:path w="33" h="368">
                  <a:moveTo>
                    <a:pt x="0" y="368"/>
                  </a:moveTo>
                  <a:cubicBezTo>
                    <a:pt x="16" y="312"/>
                    <a:pt x="33" y="256"/>
                    <a:pt x="33" y="195"/>
                  </a:cubicBezTo>
                  <a:cubicBezTo>
                    <a:pt x="33" y="134"/>
                    <a:pt x="16" y="67"/>
                    <a:pt x="0" y="0"/>
                  </a:cubicBezTo>
                </a:path>
              </a:pathLst>
            </a:custGeom>
            <a:noFill/>
            <a:ln w="19050">
              <a:solidFill>
                <a:srgbClr val="006600"/>
              </a:solidFill>
              <a:prstDash val="dash"/>
              <a:round/>
              <a:headEnd type="none" w="med" len="med"/>
              <a:tailEnd type="arrow" w="med" len="med"/>
            </a:ln>
          </p:spPr>
          <p:txBody>
            <a:bodyPr vert="horz" wrap="square" lIns="91440" tIns="45720" rIns="91440" bIns="45720" numCol="1" anchor="t" anchorCtr="0" compatLnSpc="1">
              <a:prstTxWarp prst="textNoShape">
                <a:avLst/>
              </a:prstTxWarp>
            </a:bodyPr>
            <a:lstStyle/>
            <a:p>
              <a:pPr>
                <a:lnSpc>
                  <a:spcPts val="2400"/>
                </a:lnSpc>
              </a:pPr>
              <a:endParaRPr lang="zh-CN" altLang="en-US" sz="2000">
                <a:solidFill>
                  <a:srgbClr val="0000FF"/>
                </a:solidFill>
                <a:latin typeface="Consolas" pitchFamily="49" charset="0"/>
                <a:ea typeface="仿宋" pitchFamily="49" charset="-122"/>
              </a:endParaRPr>
            </a:p>
          </p:txBody>
        </p:sp>
      </p:grpSp>
      <p:sp>
        <p:nvSpPr>
          <p:cNvPr id="175" name="右箭头 174"/>
          <p:cNvSpPr/>
          <p:nvPr/>
        </p:nvSpPr>
        <p:spPr>
          <a:xfrm>
            <a:off x="5786446" y="2643182"/>
            <a:ext cx="428628" cy="285752"/>
          </a:xfrm>
          <a:prstGeom prst="right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grpSp>
        <p:nvGrpSpPr>
          <p:cNvPr id="211" name="组合 210"/>
          <p:cNvGrpSpPr/>
          <p:nvPr/>
        </p:nvGrpSpPr>
        <p:grpSpPr>
          <a:xfrm>
            <a:off x="6608925" y="857232"/>
            <a:ext cx="2106479" cy="3500463"/>
            <a:chOff x="6608925" y="857232"/>
            <a:chExt cx="2106479" cy="3500463"/>
          </a:xfrm>
        </p:grpSpPr>
        <p:sp>
          <p:nvSpPr>
            <p:cNvPr id="177" name="Text Box 2"/>
            <p:cNvSpPr txBox="1">
              <a:spLocks noChangeArrowheads="1"/>
            </p:cNvSpPr>
            <p:nvPr/>
          </p:nvSpPr>
          <p:spPr bwMode="auto">
            <a:xfrm>
              <a:off x="7712180" y="1281370"/>
              <a:ext cx="132389" cy="288033"/>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5</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78" name="Text Box 3"/>
            <p:cNvSpPr txBox="1">
              <a:spLocks noChangeArrowheads="1"/>
            </p:cNvSpPr>
            <p:nvPr/>
          </p:nvSpPr>
          <p:spPr bwMode="auto">
            <a:xfrm>
              <a:off x="7788672" y="2952600"/>
              <a:ext cx="132389" cy="288033"/>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2</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79" name="Text Box 4"/>
            <p:cNvSpPr txBox="1">
              <a:spLocks noChangeArrowheads="1"/>
            </p:cNvSpPr>
            <p:nvPr/>
          </p:nvSpPr>
          <p:spPr bwMode="auto">
            <a:xfrm>
              <a:off x="8477102" y="1847942"/>
              <a:ext cx="132389" cy="29120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2</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80" name="Text Box 5"/>
            <p:cNvSpPr txBox="1">
              <a:spLocks noChangeArrowheads="1"/>
            </p:cNvSpPr>
            <p:nvPr/>
          </p:nvSpPr>
          <p:spPr bwMode="auto">
            <a:xfrm>
              <a:off x="7072330" y="4006613"/>
              <a:ext cx="1376106" cy="351082"/>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zh-CN" altLang="en-US" sz="2000" b="0" i="0" u="none" strike="noStrike" cap="none" normalizeH="0" baseline="0">
                  <a:ln>
                    <a:noFill/>
                  </a:ln>
                  <a:solidFill>
                    <a:srgbClr val="0000FF"/>
                  </a:solidFill>
                  <a:effectLst/>
                  <a:latin typeface="Consolas" pitchFamily="49" charset="0"/>
                  <a:ea typeface="仿宋" pitchFamily="49" charset="-122"/>
                  <a:cs typeface="宋体" pitchFamily="2" charset="-122"/>
                </a:rPr>
                <a:t>增广路径</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3</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81" name="Text Box 6"/>
            <p:cNvSpPr txBox="1">
              <a:spLocks noChangeArrowheads="1"/>
            </p:cNvSpPr>
            <p:nvPr/>
          </p:nvSpPr>
          <p:spPr bwMode="auto">
            <a:xfrm>
              <a:off x="6640761" y="2162907"/>
              <a:ext cx="332446" cy="288035"/>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rPr>
                <a:t>(2)</a:t>
              </a:r>
              <a:endParaRPr kumimoji="0" lang="zh-CN"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endParaRPr>
            </a:p>
          </p:txBody>
        </p:sp>
        <p:sp>
          <p:nvSpPr>
            <p:cNvPr id="182" name="Text Box 7"/>
            <p:cNvSpPr txBox="1">
              <a:spLocks noChangeArrowheads="1"/>
            </p:cNvSpPr>
            <p:nvPr/>
          </p:nvSpPr>
          <p:spPr bwMode="auto">
            <a:xfrm>
              <a:off x="7865164" y="898379"/>
              <a:ext cx="329505" cy="288035"/>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rPr>
                <a:t>(0)</a:t>
              </a:r>
              <a:endParaRPr kumimoji="0" lang="zh-CN"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endParaRPr>
            </a:p>
          </p:txBody>
        </p:sp>
        <p:sp>
          <p:nvSpPr>
            <p:cNvPr id="183" name="Text Box 8"/>
            <p:cNvSpPr txBox="1">
              <a:spLocks noChangeArrowheads="1"/>
            </p:cNvSpPr>
            <p:nvPr/>
          </p:nvSpPr>
          <p:spPr bwMode="auto">
            <a:xfrm>
              <a:off x="7853396" y="1549155"/>
              <a:ext cx="332446" cy="288033"/>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rPr>
                <a:t>(1)</a:t>
              </a:r>
              <a:endParaRPr kumimoji="0" lang="zh-CN"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endParaRPr>
            </a:p>
          </p:txBody>
        </p:sp>
        <p:sp>
          <p:nvSpPr>
            <p:cNvPr id="184" name="Text Box 9"/>
            <p:cNvSpPr txBox="1">
              <a:spLocks noChangeArrowheads="1"/>
            </p:cNvSpPr>
            <p:nvPr/>
          </p:nvSpPr>
          <p:spPr bwMode="auto">
            <a:xfrm>
              <a:off x="7083000" y="2589871"/>
              <a:ext cx="332448" cy="288035"/>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rPr>
                <a:t>(2)</a:t>
              </a:r>
              <a:endParaRPr kumimoji="0" lang="zh-CN"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endParaRPr>
            </a:p>
          </p:txBody>
        </p:sp>
        <p:sp>
          <p:nvSpPr>
            <p:cNvPr id="185" name="Text Box 10"/>
            <p:cNvSpPr txBox="1">
              <a:spLocks noChangeArrowheads="1"/>
            </p:cNvSpPr>
            <p:nvPr/>
          </p:nvSpPr>
          <p:spPr bwMode="auto">
            <a:xfrm>
              <a:off x="8373207" y="3008248"/>
              <a:ext cx="329505" cy="288035"/>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rPr>
                <a:t>(2)</a:t>
              </a:r>
              <a:endParaRPr kumimoji="0" lang="zh-CN"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endParaRPr>
            </a:p>
          </p:txBody>
        </p:sp>
        <p:sp>
          <p:nvSpPr>
            <p:cNvPr id="186" name="Text Box 11"/>
            <p:cNvSpPr txBox="1">
              <a:spLocks noChangeArrowheads="1"/>
            </p:cNvSpPr>
            <p:nvPr/>
          </p:nvSpPr>
          <p:spPr bwMode="auto">
            <a:xfrm>
              <a:off x="7882883" y="3478025"/>
              <a:ext cx="332448" cy="288033"/>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rPr>
                <a:t>(3)</a:t>
              </a:r>
              <a:endParaRPr kumimoji="0" lang="zh-CN"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endParaRPr>
            </a:p>
          </p:txBody>
        </p:sp>
        <p:sp>
          <p:nvSpPr>
            <p:cNvPr id="187" name="Text Box 12"/>
            <p:cNvSpPr txBox="1">
              <a:spLocks noChangeArrowheads="1"/>
            </p:cNvSpPr>
            <p:nvPr/>
          </p:nvSpPr>
          <p:spPr bwMode="auto">
            <a:xfrm>
              <a:off x="7494471" y="3031729"/>
              <a:ext cx="129448" cy="288035"/>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1</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88" name="Text Box 13"/>
            <p:cNvSpPr txBox="1">
              <a:spLocks noChangeArrowheads="1"/>
            </p:cNvSpPr>
            <p:nvPr/>
          </p:nvSpPr>
          <p:spPr bwMode="auto">
            <a:xfrm>
              <a:off x="7462108" y="2173959"/>
              <a:ext cx="129448" cy="288033"/>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2</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89" name="Text Box 14"/>
            <p:cNvSpPr txBox="1">
              <a:spLocks noChangeArrowheads="1"/>
            </p:cNvSpPr>
            <p:nvPr/>
          </p:nvSpPr>
          <p:spPr bwMode="auto">
            <a:xfrm>
              <a:off x="8147597" y="2044185"/>
              <a:ext cx="129448" cy="29120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1</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90" name="Text Box 15"/>
            <p:cNvSpPr txBox="1">
              <a:spLocks noChangeArrowheads="1"/>
            </p:cNvSpPr>
            <p:nvPr/>
          </p:nvSpPr>
          <p:spPr bwMode="auto">
            <a:xfrm>
              <a:off x="7017865" y="3101364"/>
              <a:ext cx="129448" cy="288035"/>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2</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91" name="Text Box 16"/>
            <p:cNvSpPr txBox="1">
              <a:spLocks noChangeArrowheads="1"/>
            </p:cNvSpPr>
            <p:nvPr/>
          </p:nvSpPr>
          <p:spPr bwMode="auto">
            <a:xfrm>
              <a:off x="7070822" y="2044185"/>
              <a:ext cx="129448" cy="29120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1</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92" name="Text Box 17"/>
            <p:cNvSpPr txBox="1">
              <a:spLocks noChangeArrowheads="1"/>
            </p:cNvSpPr>
            <p:nvPr/>
          </p:nvSpPr>
          <p:spPr bwMode="auto">
            <a:xfrm>
              <a:off x="8015206" y="2461992"/>
              <a:ext cx="132391" cy="288035"/>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1</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93" name="Text Box 18"/>
            <p:cNvSpPr txBox="1">
              <a:spLocks noChangeArrowheads="1"/>
            </p:cNvSpPr>
            <p:nvPr/>
          </p:nvSpPr>
          <p:spPr bwMode="auto">
            <a:xfrm>
              <a:off x="8132886" y="3126685"/>
              <a:ext cx="129448" cy="288035"/>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2</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94" name="Oval 19"/>
            <p:cNvSpPr>
              <a:spLocks noChangeArrowheads="1"/>
            </p:cNvSpPr>
            <p:nvPr/>
          </p:nvSpPr>
          <p:spPr bwMode="auto">
            <a:xfrm>
              <a:off x="7462108" y="857232"/>
              <a:ext cx="367752" cy="433633"/>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0</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95" name="Oval 20"/>
            <p:cNvSpPr>
              <a:spLocks noChangeArrowheads="1"/>
            </p:cNvSpPr>
            <p:nvPr/>
          </p:nvSpPr>
          <p:spPr bwMode="auto">
            <a:xfrm>
              <a:off x="6608925" y="2534793"/>
              <a:ext cx="364809" cy="430468"/>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2</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96" name="Oval 21"/>
            <p:cNvSpPr>
              <a:spLocks noChangeArrowheads="1"/>
            </p:cNvSpPr>
            <p:nvPr/>
          </p:nvSpPr>
          <p:spPr bwMode="auto">
            <a:xfrm>
              <a:off x="7462108" y="2534793"/>
              <a:ext cx="364809" cy="430468"/>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3</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97" name="Oval 22"/>
            <p:cNvSpPr>
              <a:spLocks noChangeArrowheads="1"/>
            </p:cNvSpPr>
            <p:nvPr/>
          </p:nvSpPr>
          <p:spPr bwMode="auto">
            <a:xfrm>
              <a:off x="8350595" y="2534793"/>
              <a:ext cx="364809" cy="430468"/>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4</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98" name="Oval 23"/>
            <p:cNvSpPr>
              <a:spLocks noChangeArrowheads="1"/>
            </p:cNvSpPr>
            <p:nvPr/>
          </p:nvSpPr>
          <p:spPr bwMode="auto">
            <a:xfrm>
              <a:off x="7462108" y="1613716"/>
              <a:ext cx="364809" cy="430468"/>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1</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99" name="Oval 24"/>
            <p:cNvSpPr>
              <a:spLocks noChangeArrowheads="1"/>
            </p:cNvSpPr>
            <p:nvPr/>
          </p:nvSpPr>
          <p:spPr bwMode="auto">
            <a:xfrm>
              <a:off x="7462108" y="3414721"/>
              <a:ext cx="364809" cy="430468"/>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5</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cxnSp>
          <p:nvCxnSpPr>
            <p:cNvPr id="200" name="AutoShape 25"/>
            <p:cNvCxnSpPr>
              <a:cxnSpLocks noChangeShapeType="1"/>
            </p:cNvCxnSpPr>
            <p:nvPr/>
          </p:nvCxnSpPr>
          <p:spPr bwMode="auto">
            <a:xfrm flipH="1">
              <a:off x="7644513" y="1290865"/>
              <a:ext cx="0" cy="322851"/>
            </a:xfrm>
            <a:prstGeom prst="straightConnector1">
              <a:avLst/>
            </a:prstGeom>
            <a:noFill/>
            <a:ln w="19050">
              <a:solidFill>
                <a:srgbClr val="000000"/>
              </a:solidFill>
              <a:round/>
              <a:headEnd type="none" w="med" len="med"/>
              <a:tailEnd type="arrow" w="med" len="med"/>
            </a:ln>
          </p:spPr>
        </p:cxnSp>
        <p:cxnSp>
          <p:nvCxnSpPr>
            <p:cNvPr id="201" name="AutoShape 26"/>
            <p:cNvCxnSpPr>
              <a:cxnSpLocks noChangeShapeType="1"/>
            </p:cNvCxnSpPr>
            <p:nvPr/>
          </p:nvCxnSpPr>
          <p:spPr bwMode="auto">
            <a:xfrm flipH="1">
              <a:off x="6920778" y="1980880"/>
              <a:ext cx="594286" cy="617217"/>
            </a:xfrm>
            <a:prstGeom prst="straightConnector1">
              <a:avLst/>
            </a:prstGeom>
            <a:noFill/>
            <a:ln w="19050">
              <a:solidFill>
                <a:srgbClr val="FF0000"/>
              </a:solidFill>
              <a:round/>
              <a:headEnd type="none" w="med" len="med"/>
              <a:tailEnd type="arrow" w="med" len="med"/>
            </a:ln>
          </p:spPr>
        </p:cxnSp>
        <p:cxnSp>
          <p:nvCxnSpPr>
            <p:cNvPr id="202" name="AutoShape 27"/>
            <p:cNvCxnSpPr>
              <a:cxnSpLocks noChangeShapeType="1"/>
            </p:cNvCxnSpPr>
            <p:nvPr/>
          </p:nvCxnSpPr>
          <p:spPr bwMode="auto">
            <a:xfrm>
              <a:off x="7773961" y="1980880"/>
              <a:ext cx="629590" cy="617217"/>
            </a:xfrm>
            <a:prstGeom prst="straightConnector1">
              <a:avLst/>
            </a:prstGeom>
            <a:noFill/>
            <a:ln w="19050">
              <a:solidFill>
                <a:srgbClr val="000000"/>
              </a:solidFill>
              <a:round/>
              <a:headEnd type="none" w="med" len="med"/>
              <a:tailEnd type="arrow" w="med" len="med"/>
            </a:ln>
          </p:spPr>
        </p:cxnSp>
        <p:cxnSp>
          <p:nvCxnSpPr>
            <p:cNvPr id="203" name="AutoShape 28"/>
            <p:cNvCxnSpPr>
              <a:cxnSpLocks noChangeShapeType="1"/>
            </p:cNvCxnSpPr>
            <p:nvPr/>
          </p:nvCxnSpPr>
          <p:spPr bwMode="auto">
            <a:xfrm>
              <a:off x="6920778" y="2901957"/>
              <a:ext cx="594286" cy="576068"/>
            </a:xfrm>
            <a:prstGeom prst="straightConnector1">
              <a:avLst/>
            </a:prstGeom>
            <a:noFill/>
            <a:ln w="19050">
              <a:solidFill>
                <a:srgbClr val="FF0000"/>
              </a:solidFill>
              <a:round/>
              <a:headEnd type="none" w="med" len="med"/>
              <a:tailEnd type="arrow" w="med" len="med"/>
            </a:ln>
          </p:spPr>
        </p:cxnSp>
        <p:cxnSp>
          <p:nvCxnSpPr>
            <p:cNvPr id="204" name="AutoShape 29"/>
            <p:cNvCxnSpPr>
              <a:cxnSpLocks noChangeShapeType="1"/>
            </p:cNvCxnSpPr>
            <p:nvPr/>
          </p:nvCxnSpPr>
          <p:spPr bwMode="auto">
            <a:xfrm>
              <a:off x="7644513" y="2965261"/>
              <a:ext cx="0" cy="449460"/>
            </a:xfrm>
            <a:prstGeom prst="straightConnector1">
              <a:avLst/>
            </a:prstGeom>
            <a:noFill/>
            <a:ln w="19050">
              <a:solidFill>
                <a:schemeClr val="tx1"/>
              </a:solidFill>
              <a:round/>
              <a:headEnd type="none" w="med" len="med"/>
              <a:tailEnd type="arrow" w="med" len="med"/>
            </a:ln>
          </p:spPr>
        </p:cxnSp>
        <p:cxnSp>
          <p:nvCxnSpPr>
            <p:cNvPr id="205" name="AutoShape 30"/>
            <p:cNvCxnSpPr>
              <a:cxnSpLocks noChangeShapeType="1"/>
            </p:cNvCxnSpPr>
            <p:nvPr/>
          </p:nvCxnSpPr>
          <p:spPr bwMode="auto">
            <a:xfrm flipH="1">
              <a:off x="7826917" y="2750026"/>
              <a:ext cx="523678" cy="0"/>
            </a:xfrm>
            <a:prstGeom prst="straightConnector1">
              <a:avLst/>
            </a:prstGeom>
            <a:noFill/>
            <a:ln w="19050">
              <a:solidFill>
                <a:srgbClr val="000000"/>
              </a:solidFill>
              <a:round/>
              <a:headEnd type="none" w="med" len="med"/>
              <a:tailEnd type="arrow" w="med" len="med"/>
            </a:ln>
          </p:spPr>
        </p:cxnSp>
        <p:cxnSp>
          <p:nvCxnSpPr>
            <p:cNvPr id="206" name="AutoShape 31"/>
            <p:cNvCxnSpPr>
              <a:cxnSpLocks noChangeShapeType="1"/>
            </p:cNvCxnSpPr>
            <p:nvPr/>
          </p:nvCxnSpPr>
          <p:spPr bwMode="auto">
            <a:xfrm flipV="1">
              <a:off x="7773961" y="2901957"/>
              <a:ext cx="629590" cy="576068"/>
            </a:xfrm>
            <a:prstGeom prst="straightConnector1">
              <a:avLst/>
            </a:prstGeom>
            <a:noFill/>
            <a:ln w="19050">
              <a:solidFill>
                <a:srgbClr val="006600"/>
              </a:solidFill>
              <a:prstDash val="dash"/>
              <a:round/>
              <a:headEnd type="none" w="med" len="med"/>
              <a:tailEnd type="arrow" w="med" len="med"/>
            </a:ln>
          </p:spPr>
        </p:cxnSp>
        <p:sp>
          <p:nvSpPr>
            <p:cNvPr id="207" name="Freeform 32"/>
            <p:cNvSpPr>
              <a:spLocks/>
            </p:cNvSpPr>
            <p:nvPr/>
          </p:nvSpPr>
          <p:spPr bwMode="auto">
            <a:xfrm>
              <a:off x="7829860" y="1847942"/>
              <a:ext cx="779632" cy="686851"/>
            </a:xfrm>
            <a:custGeom>
              <a:avLst/>
              <a:gdLst/>
              <a:ahLst/>
              <a:cxnLst>
                <a:cxn ang="0">
                  <a:pos x="630" y="541"/>
                </a:cxn>
                <a:cxn ang="0">
                  <a:pos x="603" y="256"/>
                </a:cxn>
                <a:cxn ang="0">
                  <a:pos x="275" y="65"/>
                </a:cxn>
                <a:cxn ang="0">
                  <a:pos x="0" y="0"/>
                </a:cxn>
              </a:cxnLst>
              <a:rect l="0" t="0" r="r" b="b"/>
              <a:pathLst>
                <a:path w="662" h="541">
                  <a:moveTo>
                    <a:pt x="630" y="541"/>
                  </a:moveTo>
                  <a:cubicBezTo>
                    <a:pt x="646" y="438"/>
                    <a:pt x="662" y="335"/>
                    <a:pt x="603" y="256"/>
                  </a:cubicBezTo>
                  <a:cubicBezTo>
                    <a:pt x="544" y="177"/>
                    <a:pt x="376" y="108"/>
                    <a:pt x="275" y="65"/>
                  </a:cubicBezTo>
                  <a:cubicBezTo>
                    <a:pt x="174" y="22"/>
                    <a:pt x="87" y="11"/>
                    <a:pt x="0" y="0"/>
                  </a:cubicBezTo>
                </a:path>
              </a:pathLst>
            </a:custGeom>
            <a:noFill/>
            <a:ln w="19050">
              <a:solidFill>
                <a:srgbClr val="006600"/>
              </a:solidFill>
              <a:prstDash val="dash"/>
              <a:round/>
              <a:headEnd type="none" w="med" len="med"/>
              <a:tailEnd type="arrow" w="med" len="med"/>
            </a:ln>
          </p:spPr>
          <p:txBody>
            <a:bodyPr vert="horz" wrap="square" lIns="91440" tIns="45720" rIns="91440" bIns="45720" numCol="1" anchor="t" anchorCtr="0" compatLnSpc="1">
              <a:prstTxWarp prst="textNoShape">
                <a:avLst/>
              </a:prstTxWarp>
            </a:bodyPr>
            <a:lstStyle/>
            <a:p>
              <a:pPr>
                <a:lnSpc>
                  <a:spcPts val="2400"/>
                </a:lnSpc>
              </a:pPr>
              <a:endParaRPr lang="zh-CN" altLang="en-US" sz="2000">
                <a:solidFill>
                  <a:srgbClr val="0000FF"/>
                </a:solidFill>
                <a:latin typeface="Consolas" pitchFamily="49" charset="0"/>
                <a:ea typeface="仿宋" pitchFamily="49" charset="-122"/>
              </a:endParaRPr>
            </a:p>
          </p:txBody>
        </p:sp>
        <p:cxnSp>
          <p:nvCxnSpPr>
            <p:cNvPr id="208" name="AutoShape 33"/>
            <p:cNvCxnSpPr>
              <a:cxnSpLocks noChangeShapeType="1"/>
            </p:cNvCxnSpPr>
            <p:nvPr/>
          </p:nvCxnSpPr>
          <p:spPr bwMode="auto">
            <a:xfrm flipV="1">
              <a:off x="7644513" y="2044185"/>
              <a:ext cx="0" cy="490608"/>
            </a:xfrm>
            <a:prstGeom prst="straightConnector1">
              <a:avLst/>
            </a:prstGeom>
            <a:noFill/>
            <a:ln w="19050">
              <a:solidFill>
                <a:srgbClr val="006600"/>
              </a:solidFill>
              <a:prstDash val="dash"/>
              <a:round/>
              <a:headEnd type="none" w="med" len="med"/>
              <a:tailEnd type="arrow" w="med" len="med"/>
            </a:ln>
          </p:spPr>
        </p:cxnSp>
        <p:sp>
          <p:nvSpPr>
            <p:cNvPr id="209" name="Freeform 34"/>
            <p:cNvSpPr>
              <a:spLocks/>
            </p:cNvSpPr>
            <p:nvPr/>
          </p:nvSpPr>
          <p:spPr bwMode="auto">
            <a:xfrm>
              <a:off x="7732773" y="2968425"/>
              <a:ext cx="41188" cy="465287"/>
            </a:xfrm>
            <a:custGeom>
              <a:avLst/>
              <a:gdLst/>
              <a:ahLst/>
              <a:cxnLst>
                <a:cxn ang="0">
                  <a:pos x="0" y="368"/>
                </a:cxn>
                <a:cxn ang="0">
                  <a:pos x="33" y="195"/>
                </a:cxn>
                <a:cxn ang="0">
                  <a:pos x="0" y="0"/>
                </a:cxn>
              </a:cxnLst>
              <a:rect l="0" t="0" r="r" b="b"/>
              <a:pathLst>
                <a:path w="33" h="368">
                  <a:moveTo>
                    <a:pt x="0" y="368"/>
                  </a:moveTo>
                  <a:cubicBezTo>
                    <a:pt x="16" y="312"/>
                    <a:pt x="33" y="256"/>
                    <a:pt x="33" y="195"/>
                  </a:cubicBezTo>
                  <a:cubicBezTo>
                    <a:pt x="33" y="134"/>
                    <a:pt x="16" y="67"/>
                    <a:pt x="0" y="0"/>
                  </a:cubicBezTo>
                </a:path>
              </a:pathLst>
            </a:custGeom>
            <a:noFill/>
            <a:ln w="19050">
              <a:solidFill>
                <a:srgbClr val="006600"/>
              </a:solidFill>
              <a:prstDash val="dash"/>
              <a:round/>
              <a:headEnd type="none" w="med" len="med"/>
              <a:tailEnd type="arrow" w="med" len="med"/>
            </a:ln>
          </p:spPr>
          <p:txBody>
            <a:bodyPr vert="horz" wrap="square" lIns="91440" tIns="45720" rIns="91440" bIns="45720" numCol="1" anchor="t" anchorCtr="0" compatLnSpc="1">
              <a:prstTxWarp prst="textNoShape">
                <a:avLst/>
              </a:prstTxWarp>
            </a:bodyPr>
            <a:lstStyle/>
            <a:p>
              <a:pPr>
                <a:lnSpc>
                  <a:spcPts val="2400"/>
                </a:lnSpc>
              </a:pPr>
              <a:endParaRPr lang="zh-CN" altLang="en-US" sz="2000">
                <a:solidFill>
                  <a:srgbClr val="0000FF"/>
                </a:solidFill>
                <a:latin typeface="Consolas" pitchFamily="49" charset="0"/>
                <a:ea typeface="仿宋" pitchFamily="49" charset="-122"/>
              </a:endParaRPr>
            </a:p>
          </p:txBody>
        </p:sp>
        <p:sp>
          <p:nvSpPr>
            <p:cNvPr id="210" name="任意多边形 209"/>
            <p:cNvSpPr/>
            <p:nvPr/>
          </p:nvSpPr>
          <p:spPr>
            <a:xfrm>
              <a:off x="7083619" y="2107336"/>
              <a:ext cx="410862" cy="1054609"/>
            </a:xfrm>
            <a:custGeom>
              <a:avLst/>
              <a:gdLst>
                <a:gd name="connsiteX0" fmla="*/ 203200 w 248356"/>
                <a:gd name="connsiteY0" fmla="*/ 590784 h 590784"/>
                <a:gd name="connsiteX1" fmla="*/ 214489 w 248356"/>
                <a:gd name="connsiteY1" fmla="*/ 71496 h 590784"/>
                <a:gd name="connsiteX2" fmla="*/ 0 w 248356"/>
                <a:gd name="connsiteY2" fmla="*/ 161807 h 590784"/>
                <a:gd name="connsiteX0" fmla="*/ 321905 w 386845"/>
                <a:gd name="connsiteY0" fmla="*/ 586986 h 586986"/>
                <a:gd name="connsiteX1" fmla="*/ 333194 w 386845"/>
                <a:gd name="connsiteY1" fmla="*/ 67698 h 586986"/>
                <a:gd name="connsiteX2" fmla="*/ 0 w 386845"/>
                <a:gd name="connsiteY2" fmla="*/ 180798 h 586986"/>
                <a:gd name="connsiteX0" fmla="*/ 321905 w 420711"/>
                <a:gd name="connsiteY0" fmla="*/ 591418 h 591418"/>
                <a:gd name="connsiteX1" fmla="*/ 367060 w 420711"/>
                <a:gd name="connsiteY1" fmla="*/ 67698 h 591418"/>
                <a:gd name="connsiteX2" fmla="*/ 0 w 420711"/>
                <a:gd name="connsiteY2" fmla="*/ 185230 h 591418"/>
                <a:gd name="connsiteX0" fmla="*/ 413670 w 527770"/>
                <a:gd name="connsiteY0" fmla="*/ 578359 h 578359"/>
                <a:gd name="connsiteX1" fmla="*/ 458825 w 527770"/>
                <a:gd name="connsiteY1" fmla="*/ 54639 h 578359"/>
                <a:gd name="connsiteX2" fmla="*/ 0 w 527770"/>
                <a:gd name="connsiteY2" fmla="*/ 250527 h 578359"/>
              </a:gdLst>
              <a:ahLst/>
              <a:cxnLst>
                <a:cxn ang="0">
                  <a:pos x="connsiteX0" y="connsiteY0"/>
                </a:cxn>
                <a:cxn ang="0">
                  <a:pos x="connsiteX1" y="connsiteY1"/>
                </a:cxn>
                <a:cxn ang="0">
                  <a:pos x="connsiteX2" y="connsiteY2"/>
                </a:cxn>
              </a:cxnLst>
              <a:rect l="l" t="t" r="r" b="b"/>
              <a:pathLst>
                <a:path w="527770" h="578359">
                  <a:moveTo>
                    <a:pt x="413670" y="578359"/>
                  </a:moveTo>
                  <a:cubicBezTo>
                    <a:pt x="436248" y="354463"/>
                    <a:pt x="527770" y="109278"/>
                    <a:pt x="458825" y="54639"/>
                  </a:cubicBezTo>
                  <a:cubicBezTo>
                    <a:pt x="389880" y="0"/>
                    <a:pt x="90311" y="169623"/>
                    <a:pt x="0" y="250527"/>
                  </a:cubicBezTo>
                </a:path>
              </a:pathLst>
            </a:custGeom>
            <a:ln w="28575">
              <a:solidFill>
                <a:srgbClr val="FF0000"/>
              </a:solidFill>
              <a:prstDash val="sysDot"/>
              <a:headEnd type="none" w="med" len="med"/>
              <a:tailEnd type="arrow" w="sm" len="sm"/>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grpSp>
      <p:sp>
        <p:nvSpPr>
          <p:cNvPr id="106" name="灯片编号占位符 105"/>
          <p:cNvSpPr>
            <a:spLocks noGrp="1"/>
          </p:cNvSpPr>
          <p:nvPr>
            <p:ph type="sldNum" sz="quarter" idx="12"/>
          </p:nvPr>
        </p:nvSpPr>
        <p:spPr/>
        <p:txBody>
          <a:bodyPr/>
          <a:lstStyle/>
          <a:p>
            <a:fld id="{7AF016A1-9F15-429F-9EFD-84004B73C732}" type="slidenum">
              <a:rPr lang="en-US" altLang="zh-CN" smtClean="0"/>
              <a:pPr/>
              <a:t>130</a:t>
            </a:fld>
            <a:r>
              <a:rPr lang="en-US" altLang="zh-CN"/>
              <a:t>/158</a:t>
            </a: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14282" y="1214422"/>
            <a:ext cx="2106479" cy="3500463"/>
            <a:chOff x="6608925" y="857232"/>
            <a:chExt cx="2106479" cy="3500463"/>
          </a:xfrm>
        </p:grpSpPr>
        <p:sp>
          <p:nvSpPr>
            <p:cNvPr id="4" name="Text Box 2"/>
            <p:cNvSpPr txBox="1">
              <a:spLocks noChangeArrowheads="1"/>
            </p:cNvSpPr>
            <p:nvPr/>
          </p:nvSpPr>
          <p:spPr bwMode="auto">
            <a:xfrm>
              <a:off x="7712180" y="1281370"/>
              <a:ext cx="132389" cy="288033"/>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5</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5" name="Text Box 3"/>
            <p:cNvSpPr txBox="1">
              <a:spLocks noChangeArrowheads="1"/>
            </p:cNvSpPr>
            <p:nvPr/>
          </p:nvSpPr>
          <p:spPr bwMode="auto">
            <a:xfrm>
              <a:off x="7788672" y="2952600"/>
              <a:ext cx="132389" cy="288033"/>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2</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6" name="Text Box 4"/>
            <p:cNvSpPr txBox="1">
              <a:spLocks noChangeArrowheads="1"/>
            </p:cNvSpPr>
            <p:nvPr/>
          </p:nvSpPr>
          <p:spPr bwMode="auto">
            <a:xfrm>
              <a:off x="8477102" y="1847942"/>
              <a:ext cx="132389" cy="29120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2</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7" name="Text Box 5"/>
            <p:cNvSpPr txBox="1">
              <a:spLocks noChangeArrowheads="1"/>
            </p:cNvSpPr>
            <p:nvPr/>
          </p:nvSpPr>
          <p:spPr bwMode="auto">
            <a:xfrm>
              <a:off x="7037553" y="4006613"/>
              <a:ext cx="1376106" cy="351082"/>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zh-CN" altLang="en-US" sz="2000" b="0" i="0" u="none" strike="noStrike" cap="none" normalizeH="0" baseline="0">
                  <a:ln>
                    <a:noFill/>
                  </a:ln>
                  <a:solidFill>
                    <a:srgbClr val="0000FF"/>
                  </a:solidFill>
                  <a:effectLst/>
                  <a:latin typeface="Consolas" pitchFamily="49" charset="0"/>
                  <a:ea typeface="仿宋" pitchFamily="49" charset="-122"/>
                  <a:cs typeface="宋体" pitchFamily="2" charset="-122"/>
                </a:rPr>
                <a:t>增广路径</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3</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8" name="Text Box 6"/>
            <p:cNvSpPr txBox="1">
              <a:spLocks noChangeArrowheads="1"/>
            </p:cNvSpPr>
            <p:nvPr/>
          </p:nvSpPr>
          <p:spPr bwMode="auto">
            <a:xfrm>
              <a:off x="6640761" y="2162907"/>
              <a:ext cx="332446" cy="288035"/>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rPr>
                <a:t>(2)</a:t>
              </a:r>
              <a:endParaRPr kumimoji="0" lang="zh-CN"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endParaRPr>
            </a:p>
          </p:txBody>
        </p:sp>
        <p:sp>
          <p:nvSpPr>
            <p:cNvPr id="9" name="Text Box 7"/>
            <p:cNvSpPr txBox="1">
              <a:spLocks noChangeArrowheads="1"/>
            </p:cNvSpPr>
            <p:nvPr/>
          </p:nvSpPr>
          <p:spPr bwMode="auto">
            <a:xfrm>
              <a:off x="7865164" y="898379"/>
              <a:ext cx="329505" cy="288035"/>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rPr>
                <a:t>(0)</a:t>
              </a:r>
              <a:endParaRPr kumimoji="0" lang="zh-CN"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endParaRPr>
            </a:p>
          </p:txBody>
        </p:sp>
        <p:sp>
          <p:nvSpPr>
            <p:cNvPr id="10" name="Text Box 8"/>
            <p:cNvSpPr txBox="1">
              <a:spLocks noChangeArrowheads="1"/>
            </p:cNvSpPr>
            <p:nvPr/>
          </p:nvSpPr>
          <p:spPr bwMode="auto">
            <a:xfrm>
              <a:off x="7853396" y="1549155"/>
              <a:ext cx="332446" cy="288033"/>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rPr>
                <a:t>(1)</a:t>
              </a:r>
              <a:endParaRPr kumimoji="0" lang="zh-CN"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endParaRPr>
            </a:p>
          </p:txBody>
        </p:sp>
        <p:sp>
          <p:nvSpPr>
            <p:cNvPr id="11" name="Text Box 9"/>
            <p:cNvSpPr txBox="1">
              <a:spLocks noChangeArrowheads="1"/>
            </p:cNvSpPr>
            <p:nvPr/>
          </p:nvSpPr>
          <p:spPr bwMode="auto">
            <a:xfrm>
              <a:off x="7083000" y="2589871"/>
              <a:ext cx="332448" cy="288035"/>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rPr>
                <a:t>(2)</a:t>
              </a:r>
              <a:endParaRPr kumimoji="0" lang="zh-CN"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endParaRPr>
            </a:p>
          </p:txBody>
        </p:sp>
        <p:sp>
          <p:nvSpPr>
            <p:cNvPr id="12" name="Text Box 10"/>
            <p:cNvSpPr txBox="1">
              <a:spLocks noChangeArrowheads="1"/>
            </p:cNvSpPr>
            <p:nvPr/>
          </p:nvSpPr>
          <p:spPr bwMode="auto">
            <a:xfrm>
              <a:off x="8373207" y="3008248"/>
              <a:ext cx="329505" cy="288035"/>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rPr>
                <a:t>(2)</a:t>
              </a:r>
              <a:endParaRPr kumimoji="0" lang="zh-CN"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endParaRPr>
            </a:p>
          </p:txBody>
        </p:sp>
        <p:sp>
          <p:nvSpPr>
            <p:cNvPr id="13" name="Text Box 11"/>
            <p:cNvSpPr txBox="1">
              <a:spLocks noChangeArrowheads="1"/>
            </p:cNvSpPr>
            <p:nvPr/>
          </p:nvSpPr>
          <p:spPr bwMode="auto">
            <a:xfrm>
              <a:off x="7882883" y="3478025"/>
              <a:ext cx="332448" cy="288033"/>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rPr>
                <a:t>(3)</a:t>
              </a:r>
              <a:endParaRPr kumimoji="0" lang="zh-CN"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endParaRPr>
            </a:p>
          </p:txBody>
        </p:sp>
        <p:sp>
          <p:nvSpPr>
            <p:cNvPr id="14" name="Text Box 12"/>
            <p:cNvSpPr txBox="1">
              <a:spLocks noChangeArrowheads="1"/>
            </p:cNvSpPr>
            <p:nvPr/>
          </p:nvSpPr>
          <p:spPr bwMode="auto">
            <a:xfrm>
              <a:off x="7494471" y="3031729"/>
              <a:ext cx="129448" cy="288035"/>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1</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5" name="Text Box 13"/>
            <p:cNvSpPr txBox="1">
              <a:spLocks noChangeArrowheads="1"/>
            </p:cNvSpPr>
            <p:nvPr/>
          </p:nvSpPr>
          <p:spPr bwMode="auto">
            <a:xfrm>
              <a:off x="7462108" y="2173959"/>
              <a:ext cx="129448" cy="288033"/>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2</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6" name="Text Box 14"/>
            <p:cNvSpPr txBox="1">
              <a:spLocks noChangeArrowheads="1"/>
            </p:cNvSpPr>
            <p:nvPr/>
          </p:nvSpPr>
          <p:spPr bwMode="auto">
            <a:xfrm>
              <a:off x="8147597" y="2044185"/>
              <a:ext cx="129448" cy="29120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1</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8" name="Text Box 15"/>
            <p:cNvSpPr txBox="1">
              <a:spLocks noChangeArrowheads="1"/>
            </p:cNvSpPr>
            <p:nvPr/>
          </p:nvSpPr>
          <p:spPr bwMode="auto">
            <a:xfrm>
              <a:off x="7017865" y="3101364"/>
              <a:ext cx="129448" cy="288035"/>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2</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9" name="Text Box 16"/>
            <p:cNvSpPr txBox="1">
              <a:spLocks noChangeArrowheads="1"/>
            </p:cNvSpPr>
            <p:nvPr/>
          </p:nvSpPr>
          <p:spPr bwMode="auto">
            <a:xfrm>
              <a:off x="7070822" y="2044185"/>
              <a:ext cx="129448" cy="29120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1</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20" name="Text Box 17"/>
            <p:cNvSpPr txBox="1">
              <a:spLocks noChangeArrowheads="1"/>
            </p:cNvSpPr>
            <p:nvPr/>
          </p:nvSpPr>
          <p:spPr bwMode="auto">
            <a:xfrm>
              <a:off x="8015206" y="2461992"/>
              <a:ext cx="132391" cy="288035"/>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1</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21" name="Text Box 18"/>
            <p:cNvSpPr txBox="1">
              <a:spLocks noChangeArrowheads="1"/>
            </p:cNvSpPr>
            <p:nvPr/>
          </p:nvSpPr>
          <p:spPr bwMode="auto">
            <a:xfrm>
              <a:off x="8132886" y="3126685"/>
              <a:ext cx="129448" cy="288035"/>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2</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22" name="Oval 19"/>
            <p:cNvSpPr>
              <a:spLocks noChangeArrowheads="1"/>
            </p:cNvSpPr>
            <p:nvPr/>
          </p:nvSpPr>
          <p:spPr bwMode="auto">
            <a:xfrm>
              <a:off x="7462108" y="857232"/>
              <a:ext cx="367752" cy="433633"/>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0</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23" name="Oval 20"/>
            <p:cNvSpPr>
              <a:spLocks noChangeArrowheads="1"/>
            </p:cNvSpPr>
            <p:nvPr/>
          </p:nvSpPr>
          <p:spPr bwMode="auto">
            <a:xfrm>
              <a:off x="6608925" y="2534793"/>
              <a:ext cx="364809" cy="430468"/>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2</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24" name="Oval 21"/>
            <p:cNvSpPr>
              <a:spLocks noChangeArrowheads="1"/>
            </p:cNvSpPr>
            <p:nvPr/>
          </p:nvSpPr>
          <p:spPr bwMode="auto">
            <a:xfrm>
              <a:off x="7462108" y="2534793"/>
              <a:ext cx="364809" cy="430468"/>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3</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25" name="Oval 22"/>
            <p:cNvSpPr>
              <a:spLocks noChangeArrowheads="1"/>
            </p:cNvSpPr>
            <p:nvPr/>
          </p:nvSpPr>
          <p:spPr bwMode="auto">
            <a:xfrm>
              <a:off x="8350595" y="2534793"/>
              <a:ext cx="364809" cy="430468"/>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4</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26" name="Oval 23"/>
            <p:cNvSpPr>
              <a:spLocks noChangeArrowheads="1"/>
            </p:cNvSpPr>
            <p:nvPr/>
          </p:nvSpPr>
          <p:spPr bwMode="auto">
            <a:xfrm>
              <a:off x="7462108" y="1613716"/>
              <a:ext cx="364809" cy="430468"/>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1</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27" name="Oval 24"/>
            <p:cNvSpPr>
              <a:spLocks noChangeArrowheads="1"/>
            </p:cNvSpPr>
            <p:nvPr/>
          </p:nvSpPr>
          <p:spPr bwMode="auto">
            <a:xfrm>
              <a:off x="7462108" y="3414721"/>
              <a:ext cx="364809" cy="430468"/>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5</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cxnSp>
          <p:nvCxnSpPr>
            <p:cNvPr id="28" name="AutoShape 25"/>
            <p:cNvCxnSpPr>
              <a:cxnSpLocks noChangeShapeType="1"/>
            </p:cNvCxnSpPr>
            <p:nvPr/>
          </p:nvCxnSpPr>
          <p:spPr bwMode="auto">
            <a:xfrm flipH="1">
              <a:off x="7644513" y="1290865"/>
              <a:ext cx="0" cy="322851"/>
            </a:xfrm>
            <a:prstGeom prst="straightConnector1">
              <a:avLst/>
            </a:prstGeom>
            <a:noFill/>
            <a:ln w="19050">
              <a:solidFill>
                <a:srgbClr val="000000"/>
              </a:solidFill>
              <a:round/>
              <a:headEnd type="none" w="med" len="med"/>
              <a:tailEnd type="arrow" w="med" len="med"/>
            </a:ln>
          </p:spPr>
        </p:cxnSp>
        <p:cxnSp>
          <p:nvCxnSpPr>
            <p:cNvPr id="29" name="AutoShape 26"/>
            <p:cNvCxnSpPr>
              <a:cxnSpLocks noChangeShapeType="1"/>
            </p:cNvCxnSpPr>
            <p:nvPr/>
          </p:nvCxnSpPr>
          <p:spPr bwMode="auto">
            <a:xfrm flipH="1">
              <a:off x="6920778" y="1980880"/>
              <a:ext cx="594286" cy="617217"/>
            </a:xfrm>
            <a:prstGeom prst="straightConnector1">
              <a:avLst/>
            </a:prstGeom>
            <a:noFill/>
            <a:ln w="19050">
              <a:solidFill>
                <a:srgbClr val="FF0000"/>
              </a:solidFill>
              <a:round/>
              <a:headEnd type="none" w="med" len="med"/>
              <a:tailEnd type="arrow" w="med" len="med"/>
            </a:ln>
          </p:spPr>
        </p:cxnSp>
        <p:cxnSp>
          <p:nvCxnSpPr>
            <p:cNvPr id="30" name="AutoShape 27"/>
            <p:cNvCxnSpPr>
              <a:cxnSpLocks noChangeShapeType="1"/>
            </p:cNvCxnSpPr>
            <p:nvPr/>
          </p:nvCxnSpPr>
          <p:spPr bwMode="auto">
            <a:xfrm>
              <a:off x="7773961" y="1980880"/>
              <a:ext cx="629590" cy="617217"/>
            </a:xfrm>
            <a:prstGeom prst="straightConnector1">
              <a:avLst/>
            </a:prstGeom>
            <a:noFill/>
            <a:ln w="19050">
              <a:solidFill>
                <a:srgbClr val="000000"/>
              </a:solidFill>
              <a:round/>
              <a:headEnd type="none" w="med" len="med"/>
              <a:tailEnd type="arrow" w="med" len="med"/>
            </a:ln>
          </p:spPr>
        </p:cxnSp>
        <p:cxnSp>
          <p:nvCxnSpPr>
            <p:cNvPr id="31" name="AutoShape 28"/>
            <p:cNvCxnSpPr>
              <a:cxnSpLocks noChangeShapeType="1"/>
            </p:cNvCxnSpPr>
            <p:nvPr/>
          </p:nvCxnSpPr>
          <p:spPr bwMode="auto">
            <a:xfrm>
              <a:off x="6920778" y="2901957"/>
              <a:ext cx="594286" cy="576068"/>
            </a:xfrm>
            <a:prstGeom prst="straightConnector1">
              <a:avLst/>
            </a:prstGeom>
            <a:noFill/>
            <a:ln w="19050">
              <a:solidFill>
                <a:srgbClr val="FF0000"/>
              </a:solidFill>
              <a:round/>
              <a:headEnd type="none" w="med" len="med"/>
              <a:tailEnd type="arrow" w="med" len="med"/>
            </a:ln>
          </p:spPr>
        </p:cxnSp>
        <p:cxnSp>
          <p:nvCxnSpPr>
            <p:cNvPr id="32" name="AutoShape 29"/>
            <p:cNvCxnSpPr>
              <a:cxnSpLocks noChangeShapeType="1"/>
            </p:cNvCxnSpPr>
            <p:nvPr/>
          </p:nvCxnSpPr>
          <p:spPr bwMode="auto">
            <a:xfrm>
              <a:off x="7644513" y="2965261"/>
              <a:ext cx="0" cy="449460"/>
            </a:xfrm>
            <a:prstGeom prst="straightConnector1">
              <a:avLst/>
            </a:prstGeom>
            <a:noFill/>
            <a:ln w="19050">
              <a:solidFill>
                <a:schemeClr val="tx1"/>
              </a:solidFill>
              <a:round/>
              <a:headEnd type="none" w="med" len="med"/>
              <a:tailEnd type="arrow" w="med" len="med"/>
            </a:ln>
          </p:spPr>
        </p:cxnSp>
        <p:cxnSp>
          <p:nvCxnSpPr>
            <p:cNvPr id="33" name="AutoShape 30"/>
            <p:cNvCxnSpPr>
              <a:cxnSpLocks noChangeShapeType="1"/>
            </p:cNvCxnSpPr>
            <p:nvPr/>
          </p:nvCxnSpPr>
          <p:spPr bwMode="auto">
            <a:xfrm flipH="1">
              <a:off x="7826917" y="2750026"/>
              <a:ext cx="523678" cy="0"/>
            </a:xfrm>
            <a:prstGeom prst="straightConnector1">
              <a:avLst/>
            </a:prstGeom>
            <a:noFill/>
            <a:ln w="19050">
              <a:solidFill>
                <a:srgbClr val="000000"/>
              </a:solidFill>
              <a:round/>
              <a:headEnd type="none" w="med" len="med"/>
              <a:tailEnd type="arrow" w="med" len="med"/>
            </a:ln>
          </p:spPr>
        </p:cxnSp>
        <p:cxnSp>
          <p:nvCxnSpPr>
            <p:cNvPr id="34" name="AutoShape 31"/>
            <p:cNvCxnSpPr>
              <a:cxnSpLocks noChangeShapeType="1"/>
            </p:cNvCxnSpPr>
            <p:nvPr/>
          </p:nvCxnSpPr>
          <p:spPr bwMode="auto">
            <a:xfrm flipV="1">
              <a:off x="7773961" y="2901957"/>
              <a:ext cx="629590" cy="576068"/>
            </a:xfrm>
            <a:prstGeom prst="straightConnector1">
              <a:avLst/>
            </a:prstGeom>
            <a:noFill/>
            <a:ln w="19050">
              <a:solidFill>
                <a:srgbClr val="006600"/>
              </a:solidFill>
              <a:prstDash val="dash"/>
              <a:round/>
              <a:headEnd type="none" w="med" len="med"/>
              <a:tailEnd type="arrow" w="med" len="med"/>
            </a:ln>
          </p:spPr>
        </p:cxnSp>
        <p:sp>
          <p:nvSpPr>
            <p:cNvPr id="35" name="Freeform 32"/>
            <p:cNvSpPr>
              <a:spLocks/>
            </p:cNvSpPr>
            <p:nvPr/>
          </p:nvSpPr>
          <p:spPr bwMode="auto">
            <a:xfrm>
              <a:off x="7829860" y="1847942"/>
              <a:ext cx="779632" cy="686851"/>
            </a:xfrm>
            <a:custGeom>
              <a:avLst/>
              <a:gdLst/>
              <a:ahLst/>
              <a:cxnLst>
                <a:cxn ang="0">
                  <a:pos x="630" y="541"/>
                </a:cxn>
                <a:cxn ang="0">
                  <a:pos x="603" y="256"/>
                </a:cxn>
                <a:cxn ang="0">
                  <a:pos x="275" y="65"/>
                </a:cxn>
                <a:cxn ang="0">
                  <a:pos x="0" y="0"/>
                </a:cxn>
              </a:cxnLst>
              <a:rect l="0" t="0" r="r" b="b"/>
              <a:pathLst>
                <a:path w="662" h="541">
                  <a:moveTo>
                    <a:pt x="630" y="541"/>
                  </a:moveTo>
                  <a:cubicBezTo>
                    <a:pt x="646" y="438"/>
                    <a:pt x="662" y="335"/>
                    <a:pt x="603" y="256"/>
                  </a:cubicBezTo>
                  <a:cubicBezTo>
                    <a:pt x="544" y="177"/>
                    <a:pt x="376" y="108"/>
                    <a:pt x="275" y="65"/>
                  </a:cubicBezTo>
                  <a:cubicBezTo>
                    <a:pt x="174" y="22"/>
                    <a:pt x="87" y="11"/>
                    <a:pt x="0" y="0"/>
                  </a:cubicBezTo>
                </a:path>
              </a:pathLst>
            </a:custGeom>
            <a:noFill/>
            <a:ln w="19050">
              <a:solidFill>
                <a:srgbClr val="006600"/>
              </a:solidFill>
              <a:prstDash val="dash"/>
              <a:round/>
              <a:headEnd type="none" w="med" len="med"/>
              <a:tailEnd type="arrow" w="med" len="med"/>
            </a:ln>
          </p:spPr>
          <p:txBody>
            <a:bodyPr vert="horz" wrap="square" lIns="91440" tIns="45720" rIns="91440" bIns="45720" numCol="1" anchor="t" anchorCtr="0" compatLnSpc="1">
              <a:prstTxWarp prst="textNoShape">
                <a:avLst/>
              </a:prstTxWarp>
            </a:bodyPr>
            <a:lstStyle/>
            <a:p>
              <a:pPr>
                <a:lnSpc>
                  <a:spcPts val="2400"/>
                </a:lnSpc>
              </a:pPr>
              <a:endParaRPr lang="zh-CN" altLang="en-US" sz="2000">
                <a:solidFill>
                  <a:srgbClr val="0000FF"/>
                </a:solidFill>
                <a:latin typeface="Consolas" pitchFamily="49" charset="0"/>
                <a:ea typeface="仿宋" pitchFamily="49" charset="-122"/>
              </a:endParaRPr>
            </a:p>
          </p:txBody>
        </p:sp>
        <p:cxnSp>
          <p:nvCxnSpPr>
            <p:cNvPr id="36" name="AutoShape 33"/>
            <p:cNvCxnSpPr>
              <a:cxnSpLocks noChangeShapeType="1"/>
            </p:cNvCxnSpPr>
            <p:nvPr/>
          </p:nvCxnSpPr>
          <p:spPr bwMode="auto">
            <a:xfrm flipV="1">
              <a:off x="7644513" y="2044185"/>
              <a:ext cx="0" cy="490608"/>
            </a:xfrm>
            <a:prstGeom prst="straightConnector1">
              <a:avLst/>
            </a:prstGeom>
            <a:noFill/>
            <a:ln w="19050">
              <a:solidFill>
                <a:srgbClr val="006600"/>
              </a:solidFill>
              <a:prstDash val="dash"/>
              <a:round/>
              <a:headEnd type="none" w="med" len="med"/>
              <a:tailEnd type="arrow" w="med" len="med"/>
            </a:ln>
          </p:spPr>
        </p:cxnSp>
        <p:sp>
          <p:nvSpPr>
            <p:cNvPr id="37" name="Freeform 34"/>
            <p:cNvSpPr>
              <a:spLocks/>
            </p:cNvSpPr>
            <p:nvPr/>
          </p:nvSpPr>
          <p:spPr bwMode="auto">
            <a:xfrm>
              <a:off x="7732773" y="2968425"/>
              <a:ext cx="41188" cy="465287"/>
            </a:xfrm>
            <a:custGeom>
              <a:avLst/>
              <a:gdLst/>
              <a:ahLst/>
              <a:cxnLst>
                <a:cxn ang="0">
                  <a:pos x="0" y="368"/>
                </a:cxn>
                <a:cxn ang="0">
                  <a:pos x="33" y="195"/>
                </a:cxn>
                <a:cxn ang="0">
                  <a:pos x="0" y="0"/>
                </a:cxn>
              </a:cxnLst>
              <a:rect l="0" t="0" r="r" b="b"/>
              <a:pathLst>
                <a:path w="33" h="368">
                  <a:moveTo>
                    <a:pt x="0" y="368"/>
                  </a:moveTo>
                  <a:cubicBezTo>
                    <a:pt x="16" y="312"/>
                    <a:pt x="33" y="256"/>
                    <a:pt x="33" y="195"/>
                  </a:cubicBezTo>
                  <a:cubicBezTo>
                    <a:pt x="33" y="134"/>
                    <a:pt x="16" y="67"/>
                    <a:pt x="0" y="0"/>
                  </a:cubicBezTo>
                </a:path>
              </a:pathLst>
            </a:custGeom>
            <a:noFill/>
            <a:ln w="19050">
              <a:solidFill>
                <a:srgbClr val="006600"/>
              </a:solidFill>
              <a:prstDash val="dash"/>
              <a:round/>
              <a:headEnd type="none" w="med" len="med"/>
              <a:tailEnd type="arrow" w="med" len="med"/>
            </a:ln>
          </p:spPr>
          <p:txBody>
            <a:bodyPr vert="horz" wrap="square" lIns="91440" tIns="45720" rIns="91440" bIns="45720" numCol="1" anchor="t" anchorCtr="0" compatLnSpc="1">
              <a:prstTxWarp prst="textNoShape">
                <a:avLst/>
              </a:prstTxWarp>
            </a:bodyPr>
            <a:lstStyle/>
            <a:p>
              <a:pPr>
                <a:lnSpc>
                  <a:spcPts val="2400"/>
                </a:lnSpc>
              </a:pPr>
              <a:endParaRPr lang="zh-CN" altLang="en-US" sz="2000">
                <a:solidFill>
                  <a:srgbClr val="0000FF"/>
                </a:solidFill>
                <a:latin typeface="Consolas" pitchFamily="49" charset="0"/>
                <a:ea typeface="仿宋" pitchFamily="49" charset="-122"/>
              </a:endParaRPr>
            </a:p>
          </p:txBody>
        </p:sp>
      </p:grpSp>
      <p:sp>
        <p:nvSpPr>
          <p:cNvPr id="39" name="右箭头 38"/>
          <p:cNvSpPr/>
          <p:nvPr/>
        </p:nvSpPr>
        <p:spPr>
          <a:xfrm>
            <a:off x="2428860" y="2928934"/>
            <a:ext cx="428628" cy="285752"/>
          </a:xfrm>
          <a:prstGeom prst="right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grpSp>
        <p:nvGrpSpPr>
          <p:cNvPr id="40" name="组合 39"/>
          <p:cNvGrpSpPr/>
          <p:nvPr/>
        </p:nvGrpSpPr>
        <p:grpSpPr>
          <a:xfrm>
            <a:off x="3000364" y="1285860"/>
            <a:ext cx="2106479" cy="3500462"/>
            <a:chOff x="3571868" y="1643050"/>
            <a:chExt cx="2106479" cy="3268686"/>
          </a:xfrm>
        </p:grpSpPr>
        <p:sp>
          <p:nvSpPr>
            <p:cNvPr id="41" name="Text Box 35"/>
            <p:cNvSpPr txBox="1">
              <a:spLocks noChangeArrowheads="1"/>
            </p:cNvSpPr>
            <p:nvPr/>
          </p:nvSpPr>
          <p:spPr bwMode="auto">
            <a:xfrm>
              <a:off x="4698659" y="2029335"/>
              <a:ext cx="129448" cy="273371"/>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5</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2" name="Text Box 36"/>
            <p:cNvSpPr txBox="1">
              <a:spLocks noChangeArrowheads="1"/>
            </p:cNvSpPr>
            <p:nvPr/>
          </p:nvSpPr>
          <p:spPr bwMode="auto">
            <a:xfrm>
              <a:off x="3766041" y="3916188"/>
              <a:ext cx="129448" cy="270398"/>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1</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3" name="Text Box 37"/>
            <p:cNvSpPr txBox="1">
              <a:spLocks noChangeArrowheads="1"/>
            </p:cNvSpPr>
            <p:nvPr/>
          </p:nvSpPr>
          <p:spPr bwMode="auto">
            <a:xfrm>
              <a:off x="4754556" y="3577446"/>
              <a:ext cx="129448" cy="270398"/>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2</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4" name="Text Box 38"/>
            <p:cNvSpPr txBox="1">
              <a:spLocks noChangeArrowheads="1"/>
            </p:cNvSpPr>
            <p:nvPr/>
          </p:nvSpPr>
          <p:spPr bwMode="auto">
            <a:xfrm>
              <a:off x="5442986" y="2543391"/>
              <a:ext cx="129448" cy="270398"/>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2</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5" name="Text Box 39"/>
            <p:cNvSpPr txBox="1">
              <a:spLocks noChangeArrowheads="1"/>
            </p:cNvSpPr>
            <p:nvPr/>
          </p:nvSpPr>
          <p:spPr bwMode="auto">
            <a:xfrm>
              <a:off x="4063185" y="4569900"/>
              <a:ext cx="1447543" cy="341836"/>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zh-CN" altLang="en-US" sz="2000" b="0" i="0" u="none" strike="noStrike" cap="none" normalizeH="0" baseline="0">
                  <a:ln>
                    <a:noFill/>
                  </a:ln>
                  <a:solidFill>
                    <a:srgbClr val="0000FF"/>
                  </a:solidFill>
                  <a:effectLst/>
                  <a:latin typeface="Consolas" pitchFamily="49" charset="0"/>
                  <a:ea typeface="仿宋" pitchFamily="49" charset="-122"/>
                  <a:cs typeface="宋体" pitchFamily="2" charset="-122"/>
                </a:rPr>
                <a:t>增广</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3</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6" name="Text Box 40"/>
            <p:cNvSpPr txBox="1">
              <a:spLocks noChangeArrowheads="1"/>
            </p:cNvSpPr>
            <p:nvPr/>
          </p:nvSpPr>
          <p:spPr bwMode="auto">
            <a:xfrm>
              <a:off x="3604478" y="2857495"/>
              <a:ext cx="329505" cy="27040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rPr>
                <a:t>(2)</a:t>
              </a:r>
              <a:endParaRPr kumimoji="0" lang="zh-CN"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endParaRPr>
            </a:p>
          </p:txBody>
        </p:sp>
        <p:sp>
          <p:nvSpPr>
            <p:cNvPr id="47" name="Text Box 41"/>
            <p:cNvSpPr txBox="1">
              <a:spLocks noChangeArrowheads="1"/>
            </p:cNvSpPr>
            <p:nvPr/>
          </p:nvSpPr>
          <p:spPr bwMode="auto">
            <a:xfrm>
              <a:off x="4828107" y="1681679"/>
              <a:ext cx="332446" cy="270398"/>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rPr>
                <a:t>(0)</a:t>
              </a:r>
              <a:endParaRPr kumimoji="0" lang="zh-CN"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endParaRPr>
            </a:p>
          </p:txBody>
        </p:sp>
        <p:sp>
          <p:nvSpPr>
            <p:cNvPr id="48" name="Text Box 42"/>
            <p:cNvSpPr txBox="1">
              <a:spLocks noChangeArrowheads="1"/>
            </p:cNvSpPr>
            <p:nvPr/>
          </p:nvSpPr>
          <p:spPr bwMode="auto">
            <a:xfrm>
              <a:off x="4830570" y="2251606"/>
              <a:ext cx="329505" cy="27040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rPr>
                <a:t>(1)</a:t>
              </a:r>
              <a:endParaRPr kumimoji="0" lang="zh-CN"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endParaRPr>
            </a:p>
          </p:txBody>
        </p:sp>
        <p:sp>
          <p:nvSpPr>
            <p:cNvPr id="49" name="Text Box 43"/>
            <p:cNvSpPr txBox="1">
              <a:spLocks noChangeArrowheads="1"/>
            </p:cNvSpPr>
            <p:nvPr/>
          </p:nvSpPr>
          <p:spPr bwMode="auto">
            <a:xfrm>
              <a:off x="4048887" y="3236926"/>
              <a:ext cx="329505" cy="27040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rPr>
                <a:t>(2)</a:t>
              </a:r>
              <a:endParaRPr kumimoji="0" lang="zh-CN"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endParaRPr>
            </a:p>
          </p:txBody>
        </p:sp>
        <p:sp>
          <p:nvSpPr>
            <p:cNvPr id="50" name="Text Box 44"/>
            <p:cNvSpPr txBox="1">
              <a:spLocks noChangeArrowheads="1"/>
            </p:cNvSpPr>
            <p:nvPr/>
          </p:nvSpPr>
          <p:spPr bwMode="auto">
            <a:xfrm>
              <a:off x="5341570" y="3644406"/>
              <a:ext cx="332448" cy="273371"/>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rPr>
                <a:t>(2)</a:t>
              </a:r>
              <a:endParaRPr kumimoji="0" lang="zh-CN"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endParaRPr>
            </a:p>
          </p:txBody>
        </p:sp>
        <p:sp>
          <p:nvSpPr>
            <p:cNvPr id="51" name="Text Box 45"/>
            <p:cNvSpPr txBox="1">
              <a:spLocks noChangeArrowheads="1"/>
            </p:cNvSpPr>
            <p:nvPr/>
          </p:nvSpPr>
          <p:spPr bwMode="auto">
            <a:xfrm>
              <a:off x="4848771" y="4073672"/>
              <a:ext cx="329505" cy="27040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rPr>
                <a:t>(3)</a:t>
              </a:r>
              <a:endParaRPr kumimoji="0" lang="zh-CN"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endParaRPr>
            </a:p>
          </p:txBody>
        </p:sp>
        <p:sp>
          <p:nvSpPr>
            <p:cNvPr id="52" name="Text Box 46"/>
            <p:cNvSpPr txBox="1">
              <a:spLocks noChangeArrowheads="1"/>
            </p:cNvSpPr>
            <p:nvPr/>
          </p:nvSpPr>
          <p:spPr bwMode="auto">
            <a:xfrm>
              <a:off x="4457414" y="3651730"/>
              <a:ext cx="132390" cy="273371"/>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1</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53" name="Text Box 47"/>
            <p:cNvSpPr txBox="1">
              <a:spLocks noChangeArrowheads="1"/>
            </p:cNvSpPr>
            <p:nvPr/>
          </p:nvSpPr>
          <p:spPr bwMode="auto">
            <a:xfrm>
              <a:off x="4425051" y="2846476"/>
              <a:ext cx="129448" cy="270398"/>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2</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54" name="Text Box 48"/>
            <p:cNvSpPr txBox="1">
              <a:spLocks noChangeArrowheads="1"/>
            </p:cNvSpPr>
            <p:nvPr/>
          </p:nvSpPr>
          <p:spPr bwMode="auto">
            <a:xfrm>
              <a:off x="5110540" y="2727619"/>
              <a:ext cx="132390" cy="270398"/>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1</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55" name="Text Box 49"/>
            <p:cNvSpPr txBox="1">
              <a:spLocks noChangeArrowheads="1"/>
            </p:cNvSpPr>
            <p:nvPr/>
          </p:nvSpPr>
          <p:spPr bwMode="auto">
            <a:xfrm>
              <a:off x="3980808" y="3717101"/>
              <a:ext cx="132390" cy="27040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1</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56" name="Text Box 50"/>
            <p:cNvSpPr txBox="1">
              <a:spLocks noChangeArrowheads="1"/>
            </p:cNvSpPr>
            <p:nvPr/>
          </p:nvSpPr>
          <p:spPr bwMode="auto">
            <a:xfrm>
              <a:off x="4033764" y="2727619"/>
              <a:ext cx="132390" cy="270398"/>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1</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57" name="Text Box 51"/>
            <p:cNvSpPr txBox="1">
              <a:spLocks noChangeArrowheads="1"/>
            </p:cNvSpPr>
            <p:nvPr/>
          </p:nvSpPr>
          <p:spPr bwMode="auto">
            <a:xfrm>
              <a:off x="4981092" y="3116875"/>
              <a:ext cx="129448" cy="273371"/>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1</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58" name="Text Box 52"/>
            <p:cNvSpPr txBox="1">
              <a:spLocks noChangeArrowheads="1"/>
            </p:cNvSpPr>
            <p:nvPr/>
          </p:nvSpPr>
          <p:spPr bwMode="auto">
            <a:xfrm>
              <a:off x="5095829" y="3740873"/>
              <a:ext cx="129448" cy="273371"/>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2</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59" name="Oval 53"/>
            <p:cNvSpPr>
              <a:spLocks noChangeArrowheads="1"/>
            </p:cNvSpPr>
            <p:nvPr/>
          </p:nvSpPr>
          <p:spPr bwMode="auto">
            <a:xfrm>
              <a:off x="4425051" y="1643050"/>
              <a:ext cx="367752" cy="407086"/>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0</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60" name="Oval 54"/>
            <p:cNvSpPr>
              <a:spLocks noChangeArrowheads="1"/>
            </p:cNvSpPr>
            <p:nvPr/>
          </p:nvSpPr>
          <p:spPr bwMode="auto">
            <a:xfrm>
              <a:off x="3571868" y="3185218"/>
              <a:ext cx="367752" cy="404113"/>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2</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61" name="Oval 55"/>
            <p:cNvSpPr>
              <a:spLocks noChangeArrowheads="1"/>
            </p:cNvSpPr>
            <p:nvPr/>
          </p:nvSpPr>
          <p:spPr bwMode="auto">
            <a:xfrm>
              <a:off x="4425051" y="3185218"/>
              <a:ext cx="364809" cy="404113"/>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3</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62" name="Oval 56"/>
            <p:cNvSpPr>
              <a:spLocks noChangeArrowheads="1"/>
            </p:cNvSpPr>
            <p:nvPr/>
          </p:nvSpPr>
          <p:spPr bwMode="auto">
            <a:xfrm>
              <a:off x="5313538" y="3185218"/>
              <a:ext cx="364809" cy="404113"/>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4</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63" name="Oval 57"/>
            <p:cNvSpPr>
              <a:spLocks noChangeArrowheads="1"/>
            </p:cNvSpPr>
            <p:nvPr/>
          </p:nvSpPr>
          <p:spPr bwMode="auto">
            <a:xfrm>
              <a:off x="4425051" y="2323506"/>
              <a:ext cx="364809" cy="404113"/>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1</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64" name="Oval 58"/>
            <p:cNvSpPr>
              <a:spLocks noChangeArrowheads="1"/>
            </p:cNvSpPr>
            <p:nvPr/>
          </p:nvSpPr>
          <p:spPr bwMode="auto">
            <a:xfrm>
              <a:off x="4425051" y="4014243"/>
              <a:ext cx="364809" cy="404113"/>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5</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cxnSp>
          <p:nvCxnSpPr>
            <p:cNvPr id="65" name="AutoShape 59"/>
            <p:cNvCxnSpPr>
              <a:cxnSpLocks noChangeShapeType="1"/>
            </p:cNvCxnSpPr>
            <p:nvPr/>
          </p:nvCxnSpPr>
          <p:spPr bwMode="auto">
            <a:xfrm flipH="1">
              <a:off x="4607455" y="2050136"/>
              <a:ext cx="2943" cy="273371"/>
            </a:xfrm>
            <a:prstGeom prst="straightConnector1">
              <a:avLst/>
            </a:prstGeom>
            <a:noFill/>
            <a:ln w="19050">
              <a:solidFill>
                <a:srgbClr val="000000"/>
              </a:solidFill>
              <a:round/>
              <a:headEnd type="none" w="med" len="med"/>
              <a:tailEnd type="arrow" w="med" len="med"/>
            </a:ln>
          </p:spPr>
        </p:cxnSp>
        <p:cxnSp>
          <p:nvCxnSpPr>
            <p:cNvPr id="66" name="AutoShape 60"/>
            <p:cNvCxnSpPr>
              <a:cxnSpLocks noChangeShapeType="1"/>
            </p:cNvCxnSpPr>
            <p:nvPr/>
          </p:nvCxnSpPr>
          <p:spPr bwMode="auto">
            <a:xfrm>
              <a:off x="4736904" y="2668191"/>
              <a:ext cx="629590" cy="576456"/>
            </a:xfrm>
            <a:prstGeom prst="straightConnector1">
              <a:avLst/>
            </a:prstGeom>
            <a:noFill/>
            <a:ln w="19050">
              <a:solidFill>
                <a:srgbClr val="000000"/>
              </a:solidFill>
              <a:round/>
              <a:headEnd type="none" w="med" len="med"/>
              <a:tailEnd type="arrow" w="med" len="med"/>
            </a:ln>
          </p:spPr>
        </p:cxnSp>
        <p:cxnSp>
          <p:nvCxnSpPr>
            <p:cNvPr id="67" name="AutoShape 61"/>
            <p:cNvCxnSpPr>
              <a:cxnSpLocks noChangeShapeType="1"/>
            </p:cNvCxnSpPr>
            <p:nvPr/>
          </p:nvCxnSpPr>
          <p:spPr bwMode="auto">
            <a:xfrm>
              <a:off x="3883721" y="3529903"/>
              <a:ext cx="594286" cy="543769"/>
            </a:xfrm>
            <a:prstGeom prst="straightConnector1">
              <a:avLst/>
            </a:prstGeom>
            <a:noFill/>
            <a:ln w="19050">
              <a:solidFill>
                <a:srgbClr val="000000"/>
              </a:solidFill>
              <a:round/>
              <a:headEnd type="none" w="med" len="med"/>
              <a:tailEnd type="arrow" w="med" len="med"/>
            </a:ln>
          </p:spPr>
        </p:cxnSp>
        <p:cxnSp>
          <p:nvCxnSpPr>
            <p:cNvPr id="68" name="AutoShape 62"/>
            <p:cNvCxnSpPr>
              <a:cxnSpLocks noChangeShapeType="1"/>
            </p:cNvCxnSpPr>
            <p:nvPr/>
          </p:nvCxnSpPr>
          <p:spPr bwMode="auto">
            <a:xfrm>
              <a:off x="4607455" y="3589331"/>
              <a:ext cx="2943" cy="424912"/>
            </a:xfrm>
            <a:prstGeom prst="straightConnector1">
              <a:avLst/>
            </a:prstGeom>
            <a:noFill/>
            <a:ln w="19050">
              <a:solidFill>
                <a:srgbClr val="000000"/>
              </a:solidFill>
              <a:round/>
              <a:headEnd type="none" w="med" len="med"/>
              <a:tailEnd type="arrow" w="med" len="med"/>
            </a:ln>
          </p:spPr>
        </p:cxnSp>
        <p:cxnSp>
          <p:nvCxnSpPr>
            <p:cNvPr id="69" name="AutoShape 63"/>
            <p:cNvCxnSpPr>
              <a:cxnSpLocks noChangeShapeType="1"/>
            </p:cNvCxnSpPr>
            <p:nvPr/>
          </p:nvCxnSpPr>
          <p:spPr bwMode="auto">
            <a:xfrm flipH="1">
              <a:off x="4789860" y="3387275"/>
              <a:ext cx="523678" cy="2970"/>
            </a:xfrm>
            <a:prstGeom prst="straightConnector1">
              <a:avLst/>
            </a:prstGeom>
            <a:noFill/>
            <a:ln w="19050">
              <a:solidFill>
                <a:srgbClr val="000000"/>
              </a:solidFill>
              <a:round/>
              <a:headEnd type="none" w="med" len="med"/>
              <a:tailEnd type="arrow" w="med" len="med"/>
            </a:ln>
          </p:spPr>
        </p:cxnSp>
        <p:cxnSp>
          <p:nvCxnSpPr>
            <p:cNvPr id="70" name="AutoShape 64"/>
            <p:cNvCxnSpPr>
              <a:cxnSpLocks noChangeShapeType="1"/>
            </p:cNvCxnSpPr>
            <p:nvPr/>
          </p:nvCxnSpPr>
          <p:spPr bwMode="auto">
            <a:xfrm flipV="1">
              <a:off x="4736904" y="3529903"/>
              <a:ext cx="629590" cy="543769"/>
            </a:xfrm>
            <a:prstGeom prst="straightConnector1">
              <a:avLst/>
            </a:prstGeom>
            <a:noFill/>
            <a:ln w="19050">
              <a:solidFill>
                <a:srgbClr val="006600"/>
              </a:solidFill>
              <a:prstDash val="dash"/>
              <a:round/>
              <a:headEnd type="none" w="med" len="med"/>
              <a:tailEnd type="arrow" w="med" len="med"/>
            </a:ln>
          </p:spPr>
        </p:cxnSp>
        <p:sp>
          <p:nvSpPr>
            <p:cNvPr id="71" name="Freeform 65"/>
            <p:cNvSpPr>
              <a:spLocks/>
            </p:cNvSpPr>
            <p:nvPr/>
          </p:nvSpPr>
          <p:spPr bwMode="auto">
            <a:xfrm>
              <a:off x="4792803" y="2543391"/>
              <a:ext cx="779632" cy="641827"/>
            </a:xfrm>
            <a:custGeom>
              <a:avLst/>
              <a:gdLst/>
              <a:ahLst/>
              <a:cxnLst>
                <a:cxn ang="0">
                  <a:pos x="630" y="541"/>
                </a:cxn>
                <a:cxn ang="0">
                  <a:pos x="603" y="256"/>
                </a:cxn>
                <a:cxn ang="0">
                  <a:pos x="275" y="65"/>
                </a:cxn>
                <a:cxn ang="0">
                  <a:pos x="0" y="0"/>
                </a:cxn>
              </a:cxnLst>
              <a:rect l="0" t="0" r="r" b="b"/>
              <a:pathLst>
                <a:path w="662" h="541">
                  <a:moveTo>
                    <a:pt x="630" y="541"/>
                  </a:moveTo>
                  <a:cubicBezTo>
                    <a:pt x="646" y="438"/>
                    <a:pt x="662" y="335"/>
                    <a:pt x="603" y="256"/>
                  </a:cubicBezTo>
                  <a:cubicBezTo>
                    <a:pt x="544" y="177"/>
                    <a:pt x="376" y="108"/>
                    <a:pt x="275" y="65"/>
                  </a:cubicBezTo>
                  <a:cubicBezTo>
                    <a:pt x="174" y="22"/>
                    <a:pt x="87" y="11"/>
                    <a:pt x="0" y="0"/>
                  </a:cubicBezTo>
                </a:path>
              </a:pathLst>
            </a:custGeom>
            <a:noFill/>
            <a:ln w="19050">
              <a:solidFill>
                <a:srgbClr val="006600"/>
              </a:solidFill>
              <a:prstDash val="dash"/>
              <a:round/>
              <a:headEnd type="none" w="med" len="med"/>
              <a:tailEnd type="arrow" w="med" len="med"/>
            </a:ln>
          </p:spPr>
          <p:txBody>
            <a:bodyPr vert="horz" wrap="square" lIns="91440" tIns="45720" rIns="91440" bIns="45720" numCol="1" anchor="t" anchorCtr="0" compatLnSpc="1">
              <a:prstTxWarp prst="textNoShape">
                <a:avLst/>
              </a:prstTxWarp>
            </a:bodyPr>
            <a:lstStyle/>
            <a:p>
              <a:pPr>
                <a:lnSpc>
                  <a:spcPts val="2400"/>
                </a:lnSpc>
              </a:pPr>
              <a:endParaRPr lang="zh-CN" altLang="en-US" sz="2000">
                <a:solidFill>
                  <a:srgbClr val="0000FF"/>
                </a:solidFill>
                <a:latin typeface="Consolas" pitchFamily="49" charset="0"/>
                <a:ea typeface="仿宋" pitchFamily="49" charset="-122"/>
              </a:endParaRPr>
            </a:p>
          </p:txBody>
        </p:sp>
        <p:cxnSp>
          <p:nvCxnSpPr>
            <p:cNvPr id="72" name="AutoShape 66"/>
            <p:cNvCxnSpPr>
              <a:cxnSpLocks noChangeShapeType="1"/>
            </p:cNvCxnSpPr>
            <p:nvPr/>
          </p:nvCxnSpPr>
          <p:spPr bwMode="auto">
            <a:xfrm flipV="1">
              <a:off x="4607455" y="2727619"/>
              <a:ext cx="2943" cy="457599"/>
            </a:xfrm>
            <a:prstGeom prst="straightConnector1">
              <a:avLst/>
            </a:prstGeom>
            <a:noFill/>
            <a:ln w="19050">
              <a:solidFill>
                <a:srgbClr val="006600"/>
              </a:solidFill>
              <a:prstDash val="dash"/>
              <a:round/>
              <a:headEnd type="none" w="med" len="med"/>
              <a:tailEnd type="arrow" w="med" len="med"/>
            </a:ln>
          </p:spPr>
        </p:cxnSp>
        <p:sp>
          <p:nvSpPr>
            <p:cNvPr id="73" name="Freeform 67"/>
            <p:cNvSpPr>
              <a:spLocks/>
            </p:cNvSpPr>
            <p:nvPr/>
          </p:nvSpPr>
          <p:spPr bwMode="auto">
            <a:xfrm>
              <a:off x="4698659" y="3592302"/>
              <a:ext cx="38245" cy="439770"/>
            </a:xfrm>
            <a:custGeom>
              <a:avLst/>
              <a:gdLst/>
              <a:ahLst/>
              <a:cxnLst>
                <a:cxn ang="0">
                  <a:pos x="0" y="368"/>
                </a:cxn>
                <a:cxn ang="0">
                  <a:pos x="33" y="195"/>
                </a:cxn>
                <a:cxn ang="0">
                  <a:pos x="0" y="0"/>
                </a:cxn>
              </a:cxnLst>
              <a:rect l="0" t="0" r="r" b="b"/>
              <a:pathLst>
                <a:path w="33" h="368">
                  <a:moveTo>
                    <a:pt x="0" y="368"/>
                  </a:moveTo>
                  <a:cubicBezTo>
                    <a:pt x="16" y="312"/>
                    <a:pt x="33" y="256"/>
                    <a:pt x="33" y="195"/>
                  </a:cubicBezTo>
                  <a:cubicBezTo>
                    <a:pt x="33" y="134"/>
                    <a:pt x="16" y="67"/>
                    <a:pt x="0" y="0"/>
                  </a:cubicBezTo>
                </a:path>
              </a:pathLst>
            </a:custGeom>
            <a:noFill/>
            <a:ln w="19050">
              <a:solidFill>
                <a:srgbClr val="006600"/>
              </a:solidFill>
              <a:prstDash val="dash"/>
              <a:round/>
              <a:headEnd type="none" w="med" len="med"/>
              <a:tailEnd type="arrow" w="med" len="med"/>
            </a:ln>
          </p:spPr>
          <p:txBody>
            <a:bodyPr vert="horz" wrap="square" lIns="91440" tIns="45720" rIns="91440" bIns="45720" numCol="1" anchor="t" anchorCtr="0" compatLnSpc="1">
              <a:prstTxWarp prst="textNoShape">
                <a:avLst/>
              </a:prstTxWarp>
            </a:bodyPr>
            <a:lstStyle/>
            <a:p>
              <a:pPr>
                <a:lnSpc>
                  <a:spcPts val="2400"/>
                </a:lnSpc>
              </a:pPr>
              <a:endParaRPr lang="zh-CN" altLang="en-US" sz="2000">
                <a:solidFill>
                  <a:srgbClr val="0000FF"/>
                </a:solidFill>
                <a:latin typeface="Consolas" pitchFamily="49" charset="0"/>
                <a:ea typeface="仿宋" pitchFamily="49" charset="-122"/>
              </a:endParaRPr>
            </a:p>
          </p:txBody>
        </p:sp>
        <p:cxnSp>
          <p:nvCxnSpPr>
            <p:cNvPr id="74" name="AutoShape 68"/>
            <p:cNvCxnSpPr>
              <a:cxnSpLocks noChangeShapeType="1"/>
            </p:cNvCxnSpPr>
            <p:nvPr/>
          </p:nvCxnSpPr>
          <p:spPr bwMode="auto">
            <a:xfrm flipV="1">
              <a:off x="3883721" y="2668191"/>
              <a:ext cx="594286" cy="576456"/>
            </a:xfrm>
            <a:prstGeom prst="straightConnector1">
              <a:avLst/>
            </a:prstGeom>
            <a:noFill/>
            <a:ln w="19050">
              <a:solidFill>
                <a:srgbClr val="006600"/>
              </a:solidFill>
              <a:prstDash val="dash"/>
              <a:round/>
              <a:headEnd type="none" w="med" len="med"/>
              <a:tailEnd type="arrow" w="med" len="med"/>
            </a:ln>
          </p:spPr>
        </p:cxnSp>
        <p:sp>
          <p:nvSpPr>
            <p:cNvPr id="75" name="Freeform 69"/>
            <p:cNvSpPr>
              <a:spLocks/>
            </p:cNvSpPr>
            <p:nvPr/>
          </p:nvSpPr>
          <p:spPr bwMode="auto">
            <a:xfrm>
              <a:off x="3760157" y="3592302"/>
              <a:ext cx="664894" cy="618055"/>
            </a:xfrm>
            <a:custGeom>
              <a:avLst/>
              <a:gdLst/>
              <a:ahLst/>
              <a:cxnLst>
                <a:cxn ang="0">
                  <a:pos x="566" y="518"/>
                </a:cxn>
                <a:cxn ang="0">
                  <a:pos x="220" y="403"/>
                </a:cxn>
                <a:cxn ang="0">
                  <a:pos x="107" y="278"/>
                </a:cxn>
                <a:cxn ang="0">
                  <a:pos x="0" y="0"/>
                </a:cxn>
              </a:cxnLst>
              <a:rect l="0" t="0" r="r" b="b"/>
              <a:pathLst>
                <a:path w="566" h="518">
                  <a:moveTo>
                    <a:pt x="566" y="518"/>
                  </a:moveTo>
                  <a:cubicBezTo>
                    <a:pt x="431" y="480"/>
                    <a:pt x="296" y="443"/>
                    <a:pt x="220" y="403"/>
                  </a:cubicBezTo>
                  <a:cubicBezTo>
                    <a:pt x="144" y="363"/>
                    <a:pt x="144" y="345"/>
                    <a:pt x="107" y="278"/>
                  </a:cubicBezTo>
                  <a:cubicBezTo>
                    <a:pt x="70" y="211"/>
                    <a:pt x="35" y="105"/>
                    <a:pt x="0" y="0"/>
                  </a:cubicBezTo>
                </a:path>
              </a:pathLst>
            </a:custGeom>
            <a:noFill/>
            <a:ln w="19050">
              <a:solidFill>
                <a:srgbClr val="006600"/>
              </a:solidFill>
              <a:prstDash val="dash"/>
              <a:round/>
              <a:headEnd type="none" w="med" len="med"/>
              <a:tailEnd type="arrow" w="med" len="med"/>
            </a:ln>
          </p:spPr>
          <p:txBody>
            <a:bodyPr vert="horz" wrap="square" lIns="91440" tIns="45720" rIns="91440" bIns="45720" numCol="1" anchor="t" anchorCtr="0" compatLnSpc="1">
              <a:prstTxWarp prst="textNoShape">
                <a:avLst/>
              </a:prstTxWarp>
            </a:bodyPr>
            <a:lstStyle/>
            <a:p>
              <a:pPr>
                <a:lnSpc>
                  <a:spcPts val="2400"/>
                </a:lnSpc>
              </a:pPr>
              <a:endParaRPr lang="zh-CN" altLang="en-US" sz="2000">
                <a:solidFill>
                  <a:srgbClr val="0000FF"/>
                </a:solidFill>
                <a:latin typeface="Consolas" pitchFamily="49" charset="0"/>
                <a:ea typeface="仿宋" pitchFamily="49" charset="-122"/>
              </a:endParaRPr>
            </a:p>
          </p:txBody>
        </p:sp>
      </p:grpSp>
      <p:grpSp>
        <p:nvGrpSpPr>
          <p:cNvPr id="76" name="组合 75"/>
          <p:cNvGrpSpPr/>
          <p:nvPr/>
        </p:nvGrpSpPr>
        <p:grpSpPr>
          <a:xfrm>
            <a:off x="6748860" y="1214422"/>
            <a:ext cx="2109420" cy="3749232"/>
            <a:chOff x="6562231" y="1660512"/>
            <a:chExt cx="2109420" cy="3166019"/>
          </a:xfrm>
        </p:grpSpPr>
        <p:sp>
          <p:nvSpPr>
            <p:cNvPr id="77" name="Text Box 70"/>
            <p:cNvSpPr txBox="1">
              <a:spLocks noChangeArrowheads="1"/>
            </p:cNvSpPr>
            <p:nvPr/>
          </p:nvSpPr>
          <p:spPr bwMode="auto">
            <a:xfrm>
              <a:off x="7689020" y="2046797"/>
              <a:ext cx="129448" cy="273371"/>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5</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78" name="Text Box 71"/>
            <p:cNvSpPr txBox="1">
              <a:spLocks noChangeArrowheads="1"/>
            </p:cNvSpPr>
            <p:nvPr/>
          </p:nvSpPr>
          <p:spPr bwMode="auto">
            <a:xfrm>
              <a:off x="6756404" y="3933649"/>
              <a:ext cx="132389" cy="270398"/>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1</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79" name="Text Box 72"/>
            <p:cNvSpPr txBox="1">
              <a:spLocks noChangeArrowheads="1"/>
            </p:cNvSpPr>
            <p:nvPr/>
          </p:nvSpPr>
          <p:spPr bwMode="auto">
            <a:xfrm>
              <a:off x="7744919" y="3594907"/>
              <a:ext cx="129448" cy="270398"/>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2</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80" name="Text Box 73"/>
            <p:cNvSpPr txBox="1">
              <a:spLocks noChangeArrowheads="1"/>
            </p:cNvSpPr>
            <p:nvPr/>
          </p:nvSpPr>
          <p:spPr bwMode="auto">
            <a:xfrm>
              <a:off x="8433349" y="2560853"/>
              <a:ext cx="129448" cy="270398"/>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2</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81" name="Text Box 74"/>
            <p:cNvSpPr txBox="1">
              <a:spLocks noChangeArrowheads="1"/>
            </p:cNvSpPr>
            <p:nvPr/>
          </p:nvSpPr>
          <p:spPr bwMode="auto">
            <a:xfrm>
              <a:off x="7339298" y="4556133"/>
              <a:ext cx="832287" cy="270398"/>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zh-CN" altLang="en-US" sz="2000" b="0" i="0" u="none" strike="noStrike" cap="none" normalizeH="0" baseline="0">
                  <a:ln>
                    <a:noFill/>
                  </a:ln>
                  <a:solidFill>
                    <a:srgbClr val="0000FF"/>
                  </a:solidFill>
                  <a:effectLst/>
                  <a:latin typeface="Consolas" pitchFamily="49" charset="0"/>
                  <a:ea typeface="仿宋" pitchFamily="49" charset="-122"/>
                  <a:cs typeface="宋体" pitchFamily="2" charset="-122"/>
                </a:rPr>
                <a:t>结果</a:t>
              </a:r>
              <a:endParaRPr kumimoji="0" 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82" name="Text Box 75"/>
            <p:cNvSpPr txBox="1">
              <a:spLocks noChangeArrowheads="1"/>
            </p:cNvSpPr>
            <p:nvPr/>
          </p:nvSpPr>
          <p:spPr bwMode="auto">
            <a:xfrm>
              <a:off x="6592364" y="2868785"/>
              <a:ext cx="329505" cy="27040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rPr>
                <a:t>(2)</a:t>
              </a:r>
              <a:endParaRPr kumimoji="0" lang="zh-CN"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endParaRPr>
            </a:p>
          </p:txBody>
        </p:sp>
        <p:sp>
          <p:nvSpPr>
            <p:cNvPr id="83" name="Text Box 76"/>
            <p:cNvSpPr txBox="1">
              <a:spLocks noChangeArrowheads="1"/>
            </p:cNvSpPr>
            <p:nvPr/>
          </p:nvSpPr>
          <p:spPr bwMode="auto">
            <a:xfrm>
              <a:off x="7818468" y="1699141"/>
              <a:ext cx="332448" cy="270398"/>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rPr>
                <a:t>(0)</a:t>
              </a:r>
              <a:endParaRPr kumimoji="0" lang="zh-CN"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endParaRPr>
            </a:p>
          </p:txBody>
        </p:sp>
        <p:sp>
          <p:nvSpPr>
            <p:cNvPr id="84" name="Text Box 77"/>
            <p:cNvSpPr txBox="1">
              <a:spLocks noChangeArrowheads="1"/>
            </p:cNvSpPr>
            <p:nvPr/>
          </p:nvSpPr>
          <p:spPr bwMode="auto">
            <a:xfrm>
              <a:off x="7843510" y="2246490"/>
              <a:ext cx="329505" cy="27040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rPr>
                <a:t>(1)</a:t>
              </a:r>
              <a:endParaRPr kumimoji="0" lang="zh-CN"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endParaRPr>
            </a:p>
          </p:txBody>
        </p:sp>
        <p:sp>
          <p:nvSpPr>
            <p:cNvPr id="85" name="Text Box 78"/>
            <p:cNvSpPr txBox="1">
              <a:spLocks noChangeArrowheads="1"/>
            </p:cNvSpPr>
            <p:nvPr/>
          </p:nvSpPr>
          <p:spPr bwMode="auto">
            <a:xfrm>
              <a:off x="7061825" y="3276965"/>
              <a:ext cx="329505" cy="27040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rPr>
                <a:t>(2)</a:t>
              </a:r>
              <a:endParaRPr kumimoji="0" lang="zh-CN"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endParaRPr>
            </a:p>
          </p:txBody>
        </p:sp>
        <p:sp>
          <p:nvSpPr>
            <p:cNvPr id="86" name="Text Box 79"/>
            <p:cNvSpPr txBox="1">
              <a:spLocks noChangeArrowheads="1"/>
            </p:cNvSpPr>
            <p:nvPr/>
          </p:nvSpPr>
          <p:spPr bwMode="auto">
            <a:xfrm>
              <a:off x="8320643" y="3647018"/>
              <a:ext cx="329505" cy="273371"/>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rPr>
                <a:t>(2)</a:t>
              </a:r>
              <a:endParaRPr kumimoji="0" lang="zh-CN"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endParaRPr>
            </a:p>
          </p:txBody>
        </p:sp>
        <p:sp>
          <p:nvSpPr>
            <p:cNvPr id="87" name="Text Box 80"/>
            <p:cNvSpPr txBox="1">
              <a:spLocks noChangeArrowheads="1"/>
            </p:cNvSpPr>
            <p:nvPr/>
          </p:nvSpPr>
          <p:spPr bwMode="auto">
            <a:xfrm>
              <a:off x="7827841" y="4091134"/>
              <a:ext cx="329505" cy="27040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rPr>
                <a:t>(3)</a:t>
              </a:r>
              <a:endParaRPr kumimoji="0" lang="zh-CN"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endParaRPr>
            </a:p>
          </p:txBody>
        </p:sp>
        <p:sp>
          <p:nvSpPr>
            <p:cNvPr id="88" name="Text Box 81"/>
            <p:cNvSpPr txBox="1">
              <a:spLocks noChangeArrowheads="1"/>
            </p:cNvSpPr>
            <p:nvPr/>
          </p:nvSpPr>
          <p:spPr bwMode="auto">
            <a:xfrm>
              <a:off x="7447775" y="3669192"/>
              <a:ext cx="132391" cy="273371"/>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1</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89" name="Text Box 82"/>
            <p:cNvSpPr txBox="1">
              <a:spLocks noChangeArrowheads="1"/>
            </p:cNvSpPr>
            <p:nvPr/>
          </p:nvSpPr>
          <p:spPr bwMode="auto">
            <a:xfrm>
              <a:off x="7415414" y="2863938"/>
              <a:ext cx="132389" cy="270398"/>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2</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90" name="Text Box 83"/>
            <p:cNvSpPr txBox="1">
              <a:spLocks noChangeArrowheads="1"/>
            </p:cNvSpPr>
            <p:nvPr/>
          </p:nvSpPr>
          <p:spPr bwMode="auto">
            <a:xfrm>
              <a:off x="8100901" y="2745081"/>
              <a:ext cx="132391" cy="270398"/>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1</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91" name="Text Box 84"/>
            <p:cNvSpPr txBox="1">
              <a:spLocks noChangeArrowheads="1"/>
            </p:cNvSpPr>
            <p:nvPr/>
          </p:nvSpPr>
          <p:spPr bwMode="auto">
            <a:xfrm>
              <a:off x="6971169" y="3734563"/>
              <a:ext cx="132391" cy="27040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1</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92" name="Text Box 85"/>
            <p:cNvSpPr txBox="1">
              <a:spLocks noChangeArrowheads="1"/>
            </p:cNvSpPr>
            <p:nvPr/>
          </p:nvSpPr>
          <p:spPr bwMode="auto">
            <a:xfrm>
              <a:off x="7024126" y="2745081"/>
              <a:ext cx="132391" cy="270398"/>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1</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93" name="Text Box 86"/>
            <p:cNvSpPr txBox="1">
              <a:spLocks noChangeArrowheads="1"/>
            </p:cNvSpPr>
            <p:nvPr/>
          </p:nvSpPr>
          <p:spPr bwMode="auto">
            <a:xfrm>
              <a:off x="7971453" y="3134336"/>
              <a:ext cx="129448" cy="273371"/>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1</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94" name="Text Box 87"/>
            <p:cNvSpPr txBox="1">
              <a:spLocks noChangeArrowheads="1"/>
            </p:cNvSpPr>
            <p:nvPr/>
          </p:nvSpPr>
          <p:spPr bwMode="auto">
            <a:xfrm>
              <a:off x="8086192" y="3758335"/>
              <a:ext cx="132389" cy="273371"/>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2</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95" name="Oval 88"/>
            <p:cNvSpPr>
              <a:spLocks noChangeArrowheads="1"/>
            </p:cNvSpPr>
            <p:nvPr/>
          </p:nvSpPr>
          <p:spPr bwMode="auto">
            <a:xfrm>
              <a:off x="7415414" y="1660512"/>
              <a:ext cx="367750" cy="407085"/>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0</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96" name="Oval 89"/>
            <p:cNvSpPr>
              <a:spLocks noChangeArrowheads="1"/>
            </p:cNvSpPr>
            <p:nvPr/>
          </p:nvSpPr>
          <p:spPr bwMode="auto">
            <a:xfrm>
              <a:off x="6562231" y="3202680"/>
              <a:ext cx="367750" cy="404113"/>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2</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97" name="Oval 90"/>
            <p:cNvSpPr>
              <a:spLocks noChangeArrowheads="1"/>
            </p:cNvSpPr>
            <p:nvPr/>
          </p:nvSpPr>
          <p:spPr bwMode="auto">
            <a:xfrm>
              <a:off x="7415414" y="3202680"/>
              <a:ext cx="367750" cy="404113"/>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3</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98" name="Oval 91"/>
            <p:cNvSpPr>
              <a:spLocks noChangeArrowheads="1"/>
            </p:cNvSpPr>
            <p:nvPr/>
          </p:nvSpPr>
          <p:spPr bwMode="auto">
            <a:xfrm>
              <a:off x="8303901" y="3202680"/>
              <a:ext cx="367750" cy="404113"/>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4</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99" name="Oval 92"/>
            <p:cNvSpPr>
              <a:spLocks noChangeArrowheads="1"/>
            </p:cNvSpPr>
            <p:nvPr/>
          </p:nvSpPr>
          <p:spPr bwMode="auto">
            <a:xfrm>
              <a:off x="7415414" y="2340968"/>
              <a:ext cx="367750" cy="404113"/>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1</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00" name="Oval 93"/>
            <p:cNvSpPr>
              <a:spLocks noChangeArrowheads="1"/>
            </p:cNvSpPr>
            <p:nvPr/>
          </p:nvSpPr>
          <p:spPr bwMode="auto">
            <a:xfrm>
              <a:off x="7415414" y="4031705"/>
              <a:ext cx="367750" cy="404113"/>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rPr>
                <a:t>5</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cxnSp>
          <p:nvCxnSpPr>
            <p:cNvPr id="101" name="AutoShape 94"/>
            <p:cNvCxnSpPr>
              <a:cxnSpLocks noChangeShapeType="1"/>
            </p:cNvCxnSpPr>
            <p:nvPr/>
          </p:nvCxnSpPr>
          <p:spPr bwMode="auto">
            <a:xfrm>
              <a:off x="7727267" y="2685653"/>
              <a:ext cx="632531" cy="576455"/>
            </a:xfrm>
            <a:prstGeom prst="straightConnector1">
              <a:avLst/>
            </a:prstGeom>
            <a:noFill/>
            <a:ln w="19050">
              <a:solidFill>
                <a:srgbClr val="000000"/>
              </a:solidFill>
              <a:round/>
              <a:headEnd type="none" w="med" len="med"/>
              <a:tailEnd type="arrow" w="med" len="med"/>
            </a:ln>
          </p:spPr>
        </p:cxnSp>
        <p:cxnSp>
          <p:nvCxnSpPr>
            <p:cNvPr id="102" name="AutoShape 95"/>
            <p:cNvCxnSpPr>
              <a:cxnSpLocks noChangeShapeType="1"/>
            </p:cNvCxnSpPr>
            <p:nvPr/>
          </p:nvCxnSpPr>
          <p:spPr bwMode="auto">
            <a:xfrm>
              <a:off x="6877025" y="3547365"/>
              <a:ext cx="594286" cy="543769"/>
            </a:xfrm>
            <a:prstGeom prst="straightConnector1">
              <a:avLst/>
            </a:prstGeom>
            <a:noFill/>
            <a:ln w="19050">
              <a:solidFill>
                <a:srgbClr val="000000"/>
              </a:solidFill>
              <a:round/>
              <a:headEnd type="none" w="med" len="med"/>
              <a:tailEnd type="arrow" w="med" len="med"/>
            </a:ln>
          </p:spPr>
        </p:cxnSp>
        <p:cxnSp>
          <p:nvCxnSpPr>
            <p:cNvPr id="103" name="AutoShape 96"/>
            <p:cNvCxnSpPr>
              <a:cxnSpLocks noChangeShapeType="1"/>
            </p:cNvCxnSpPr>
            <p:nvPr/>
          </p:nvCxnSpPr>
          <p:spPr bwMode="auto">
            <a:xfrm>
              <a:off x="7600760" y="3606793"/>
              <a:ext cx="0" cy="424912"/>
            </a:xfrm>
            <a:prstGeom prst="straightConnector1">
              <a:avLst/>
            </a:prstGeom>
            <a:noFill/>
            <a:ln w="19050">
              <a:solidFill>
                <a:srgbClr val="000000"/>
              </a:solidFill>
              <a:round/>
              <a:headEnd type="none" w="med" len="med"/>
              <a:tailEnd type="arrow" w="med" len="med"/>
            </a:ln>
          </p:spPr>
        </p:cxnSp>
        <p:cxnSp>
          <p:nvCxnSpPr>
            <p:cNvPr id="104" name="AutoShape 97"/>
            <p:cNvCxnSpPr>
              <a:cxnSpLocks noChangeShapeType="1"/>
            </p:cNvCxnSpPr>
            <p:nvPr/>
          </p:nvCxnSpPr>
          <p:spPr bwMode="auto">
            <a:xfrm flipH="1">
              <a:off x="7783164" y="3404737"/>
              <a:ext cx="520737" cy="2970"/>
            </a:xfrm>
            <a:prstGeom prst="straightConnector1">
              <a:avLst/>
            </a:prstGeom>
            <a:noFill/>
            <a:ln w="19050">
              <a:solidFill>
                <a:srgbClr val="000000"/>
              </a:solidFill>
              <a:round/>
              <a:headEnd type="none" w="med" len="med"/>
              <a:tailEnd type="arrow" w="med" len="med"/>
            </a:ln>
          </p:spPr>
        </p:cxnSp>
        <p:cxnSp>
          <p:nvCxnSpPr>
            <p:cNvPr id="105" name="AutoShape 98"/>
            <p:cNvCxnSpPr>
              <a:cxnSpLocks noChangeShapeType="1"/>
            </p:cNvCxnSpPr>
            <p:nvPr/>
          </p:nvCxnSpPr>
          <p:spPr bwMode="auto">
            <a:xfrm rot="5400000" flipH="1" flipV="1">
              <a:off x="7812725" y="3566345"/>
              <a:ext cx="526163" cy="545403"/>
            </a:xfrm>
            <a:prstGeom prst="straightConnector1">
              <a:avLst/>
            </a:prstGeom>
            <a:noFill/>
            <a:ln w="19050">
              <a:solidFill>
                <a:srgbClr val="006600"/>
              </a:solidFill>
              <a:prstDash val="dash"/>
              <a:round/>
              <a:headEnd type="none" w="med" len="med"/>
              <a:tailEnd type="arrow" w="med" len="med"/>
            </a:ln>
          </p:spPr>
        </p:cxnSp>
        <p:sp>
          <p:nvSpPr>
            <p:cNvPr id="106" name="Freeform 99"/>
            <p:cNvSpPr>
              <a:spLocks/>
            </p:cNvSpPr>
            <p:nvPr/>
          </p:nvSpPr>
          <p:spPr bwMode="auto">
            <a:xfrm>
              <a:off x="7783164" y="2560853"/>
              <a:ext cx="779633" cy="641827"/>
            </a:xfrm>
            <a:custGeom>
              <a:avLst/>
              <a:gdLst/>
              <a:ahLst/>
              <a:cxnLst>
                <a:cxn ang="0">
                  <a:pos x="630" y="541"/>
                </a:cxn>
                <a:cxn ang="0">
                  <a:pos x="603" y="256"/>
                </a:cxn>
                <a:cxn ang="0">
                  <a:pos x="275" y="65"/>
                </a:cxn>
                <a:cxn ang="0">
                  <a:pos x="0" y="0"/>
                </a:cxn>
              </a:cxnLst>
              <a:rect l="0" t="0" r="r" b="b"/>
              <a:pathLst>
                <a:path w="662" h="541">
                  <a:moveTo>
                    <a:pt x="630" y="541"/>
                  </a:moveTo>
                  <a:cubicBezTo>
                    <a:pt x="646" y="438"/>
                    <a:pt x="662" y="335"/>
                    <a:pt x="603" y="256"/>
                  </a:cubicBezTo>
                  <a:cubicBezTo>
                    <a:pt x="544" y="177"/>
                    <a:pt x="376" y="108"/>
                    <a:pt x="275" y="65"/>
                  </a:cubicBezTo>
                  <a:cubicBezTo>
                    <a:pt x="174" y="22"/>
                    <a:pt x="87" y="11"/>
                    <a:pt x="0" y="0"/>
                  </a:cubicBezTo>
                </a:path>
              </a:pathLst>
            </a:custGeom>
            <a:noFill/>
            <a:ln w="19050">
              <a:solidFill>
                <a:srgbClr val="006600"/>
              </a:solidFill>
              <a:prstDash val="dash"/>
              <a:round/>
              <a:headEnd type="none" w="med" len="med"/>
              <a:tailEnd type="arrow" w="med" len="med"/>
            </a:ln>
          </p:spPr>
          <p:txBody>
            <a:bodyPr vert="horz" wrap="square" lIns="91440" tIns="45720" rIns="91440" bIns="45720" numCol="1" anchor="t" anchorCtr="0" compatLnSpc="1">
              <a:prstTxWarp prst="textNoShape">
                <a:avLst/>
              </a:prstTxWarp>
            </a:bodyPr>
            <a:lstStyle/>
            <a:p>
              <a:pPr>
                <a:lnSpc>
                  <a:spcPts val="2400"/>
                </a:lnSpc>
              </a:pPr>
              <a:endParaRPr lang="zh-CN" altLang="en-US" sz="2000">
                <a:solidFill>
                  <a:srgbClr val="0000FF"/>
                </a:solidFill>
                <a:latin typeface="Consolas" pitchFamily="49" charset="0"/>
                <a:ea typeface="仿宋" pitchFamily="49" charset="-122"/>
              </a:endParaRPr>
            </a:p>
          </p:txBody>
        </p:sp>
        <p:cxnSp>
          <p:nvCxnSpPr>
            <p:cNvPr id="107" name="AutoShape 100"/>
            <p:cNvCxnSpPr>
              <a:cxnSpLocks noChangeShapeType="1"/>
            </p:cNvCxnSpPr>
            <p:nvPr/>
          </p:nvCxnSpPr>
          <p:spPr bwMode="auto">
            <a:xfrm flipV="1">
              <a:off x="7600760" y="2745081"/>
              <a:ext cx="0" cy="457599"/>
            </a:xfrm>
            <a:prstGeom prst="straightConnector1">
              <a:avLst/>
            </a:prstGeom>
            <a:noFill/>
            <a:ln w="19050">
              <a:solidFill>
                <a:srgbClr val="006600"/>
              </a:solidFill>
              <a:prstDash val="dash"/>
              <a:round/>
              <a:headEnd type="none" w="med" len="med"/>
              <a:tailEnd type="arrow" w="med" len="med"/>
            </a:ln>
          </p:spPr>
        </p:cxnSp>
        <p:sp>
          <p:nvSpPr>
            <p:cNvPr id="108" name="Freeform 101"/>
            <p:cNvSpPr>
              <a:spLocks/>
            </p:cNvSpPr>
            <p:nvPr/>
          </p:nvSpPr>
          <p:spPr bwMode="auto">
            <a:xfrm>
              <a:off x="7689020" y="3609764"/>
              <a:ext cx="38247" cy="439770"/>
            </a:xfrm>
            <a:custGeom>
              <a:avLst/>
              <a:gdLst/>
              <a:ahLst/>
              <a:cxnLst>
                <a:cxn ang="0">
                  <a:pos x="0" y="368"/>
                </a:cxn>
                <a:cxn ang="0">
                  <a:pos x="33" y="195"/>
                </a:cxn>
                <a:cxn ang="0">
                  <a:pos x="0" y="0"/>
                </a:cxn>
              </a:cxnLst>
              <a:rect l="0" t="0" r="r" b="b"/>
              <a:pathLst>
                <a:path w="33" h="368">
                  <a:moveTo>
                    <a:pt x="0" y="368"/>
                  </a:moveTo>
                  <a:cubicBezTo>
                    <a:pt x="16" y="312"/>
                    <a:pt x="33" y="256"/>
                    <a:pt x="33" y="195"/>
                  </a:cubicBezTo>
                  <a:cubicBezTo>
                    <a:pt x="33" y="134"/>
                    <a:pt x="16" y="67"/>
                    <a:pt x="0" y="0"/>
                  </a:cubicBezTo>
                </a:path>
              </a:pathLst>
            </a:custGeom>
            <a:noFill/>
            <a:ln w="19050">
              <a:solidFill>
                <a:srgbClr val="006600"/>
              </a:solidFill>
              <a:prstDash val="dash"/>
              <a:round/>
              <a:headEnd type="none" w="med" len="med"/>
              <a:tailEnd type="arrow" w="med" len="med"/>
            </a:ln>
          </p:spPr>
          <p:txBody>
            <a:bodyPr vert="horz" wrap="square" lIns="91440" tIns="45720" rIns="91440" bIns="45720" numCol="1" anchor="t" anchorCtr="0" compatLnSpc="1">
              <a:prstTxWarp prst="textNoShape">
                <a:avLst/>
              </a:prstTxWarp>
            </a:bodyPr>
            <a:lstStyle/>
            <a:p>
              <a:pPr>
                <a:lnSpc>
                  <a:spcPts val="2400"/>
                </a:lnSpc>
              </a:pPr>
              <a:endParaRPr lang="zh-CN" altLang="en-US" sz="2000">
                <a:solidFill>
                  <a:srgbClr val="0000FF"/>
                </a:solidFill>
                <a:latin typeface="Consolas" pitchFamily="49" charset="0"/>
                <a:ea typeface="仿宋" pitchFamily="49" charset="-122"/>
              </a:endParaRPr>
            </a:p>
          </p:txBody>
        </p:sp>
        <p:cxnSp>
          <p:nvCxnSpPr>
            <p:cNvPr id="109" name="AutoShape 102"/>
            <p:cNvCxnSpPr>
              <a:cxnSpLocks noChangeShapeType="1"/>
            </p:cNvCxnSpPr>
            <p:nvPr/>
          </p:nvCxnSpPr>
          <p:spPr bwMode="auto">
            <a:xfrm flipV="1">
              <a:off x="6877025" y="2685653"/>
              <a:ext cx="594286" cy="576455"/>
            </a:xfrm>
            <a:prstGeom prst="straightConnector1">
              <a:avLst/>
            </a:prstGeom>
            <a:noFill/>
            <a:ln w="19050">
              <a:solidFill>
                <a:srgbClr val="006600"/>
              </a:solidFill>
              <a:prstDash val="dash"/>
              <a:round/>
              <a:headEnd type="none" w="med" len="med"/>
              <a:tailEnd type="arrow" w="med" len="med"/>
            </a:ln>
          </p:spPr>
        </p:cxnSp>
        <p:cxnSp>
          <p:nvCxnSpPr>
            <p:cNvPr id="110" name="AutoShape 103"/>
            <p:cNvCxnSpPr>
              <a:cxnSpLocks noChangeShapeType="1"/>
            </p:cNvCxnSpPr>
            <p:nvPr/>
          </p:nvCxnSpPr>
          <p:spPr bwMode="auto">
            <a:xfrm flipV="1">
              <a:off x="7600760" y="2067597"/>
              <a:ext cx="0" cy="273371"/>
            </a:xfrm>
            <a:prstGeom prst="straightConnector1">
              <a:avLst/>
            </a:prstGeom>
            <a:noFill/>
            <a:ln w="19050">
              <a:solidFill>
                <a:srgbClr val="006600"/>
              </a:solidFill>
              <a:prstDash val="dash"/>
              <a:round/>
              <a:headEnd type="none" w="med" len="med"/>
              <a:tailEnd type="arrow" w="med" len="med"/>
            </a:ln>
          </p:spPr>
        </p:cxnSp>
        <p:sp>
          <p:nvSpPr>
            <p:cNvPr id="111" name="Freeform 69"/>
            <p:cNvSpPr>
              <a:spLocks/>
            </p:cNvSpPr>
            <p:nvPr/>
          </p:nvSpPr>
          <p:spPr bwMode="auto">
            <a:xfrm>
              <a:off x="6797866" y="3605743"/>
              <a:ext cx="587899" cy="648772"/>
            </a:xfrm>
            <a:custGeom>
              <a:avLst/>
              <a:gdLst>
                <a:gd name="connsiteX0" fmla="*/ 8842 w 8842"/>
                <a:gd name="connsiteY0" fmla="*/ 10497 h 10497"/>
                <a:gd name="connsiteX1" fmla="*/ 3887 w 8842"/>
                <a:gd name="connsiteY1" fmla="*/ 7780 h 10497"/>
                <a:gd name="connsiteX2" fmla="*/ 1890 w 8842"/>
                <a:gd name="connsiteY2" fmla="*/ 5367 h 10497"/>
                <a:gd name="connsiteX3" fmla="*/ 0 w 8842"/>
                <a:gd name="connsiteY3" fmla="*/ 0 h 10497"/>
              </a:gdLst>
              <a:ahLst/>
              <a:cxnLst>
                <a:cxn ang="0">
                  <a:pos x="connsiteX0" y="connsiteY0"/>
                </a:cxn>
                <a:cxn ang="0">
                  <a:pos x="connsiteX1" y="connsiteY1"/>
                </a:cxn>
                <a:cxn ang="0">
                  <a:pos x="connsiteX2" y="connsiteY2"/>
                </a:cxn>
                <a:cxn ang="0">
                  <a:pos x="connsiteX3" y="connsiteY3"/>
                </a:cxn>
              </a:cxnLst>
              <a:rect l="l" t="t" r="r" b="b"/>
              <a:pathLst>
                <a:path w="8842" h="10497">
                  <a:moveTo>
                    <a:pt x="8842" y="10497"/>
                  </a:moveTo>
                  <a:cubicBezTo>
                    <a:pt x="6457" y="9763"/>
                    <a:pt x="5046" y="8635"/>
                    <a:pt x="3887" y="7780"/>
                  </a:cubicBezTo>
                  <a:cubicBezTo>
                    <a:pt x="2728" y="6925"/>
                    <a:pt x="2544" y="6660"/>
                    <a:pt x="1890" y="5367"/>
                  </a:cubicBezTo>
                  <a:cubicBezTo>
                    <a:pt x="1237" y="4073"/>
                    <a:pt x="618" y="2027"/>
                    <a:pt x="0" y="0"/>
                  </a:cubicBezTo>
                </a:path>
              </a:pathLst>
            </a:custGeom>
            <a:noFill/>
            <a:ln w="19050">
              <a:solidFill>
                <a:srgbClr val="006600"/>
              </a:solidFill>
              <a:prstDash val="dash"/>
              <a:round/>
              <a:headEnd type="none" w="med" len="med"/>
              <a:tailEnd type="arrow" w="med" len="med"/>
            </a:ln>
          </p:spPr>
          <p:txBody>
            <a:bodyPr vert="horz" wrap="square" lIns="91440" tIns="45720" rIns="91440" bIns="45720" numCol="1" anchor="t" anchorCtr="0" compatLnSpc="1">
              <a:prstTxWarp prst="textNoShape">
                <a:avLst/>
              </a:prstTxWarp>
            </a:bodyPr>
            <a:lstStyle/>
            <a:p>
              <a:pPr>
                <a:lnSpc>
                  <a:spcPts val="2400"/>
                </a:lnSpc>
              </a:pPr>
              <a:endParaRPr lang="zh-CN" altLang="en-US" sz="2000">
                <a:solidFill>
                  <a:srgbClr val="0000FF"/>
                </a:solidFill>
                <a:latin typeface="Consolas" pitchFamily="49" charset="0"/>
                <a:ea typeface="仿宋" pitchFamily="49" charset="-122"/>
              </a:endParaRPr>
            </a:p>
          </p:txBody>
        </p:sp>
      </p:grpSp>
      <p:sp>
        <p:nvSpPr>
          <p:cNvPr id="112" name="右箭头 111"/>
          <p:cNvSpPr/>
          <p:nvPr/>
        </p:nvSpPr>
        <p:spPr>
          <a:xfrm>
            <a:off x="5429256" y="3214686"/>
            <a:ext cx="1071570" cy="285752"/>
          </a:xfrm>
          <a:prstGeom prst="right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113" name="TextBox 112"/>
          <p:cNvSpPr txBox="1"/>
          <p:nvPr/>
        </p:nvSpPr>
        <p:spPr>
          <a:xfrm>
            <a:off x="5286380" y="2506800"/>
            <a:ext cx="1357322" cy="707886"/>
          </a:xfrm>
          <a:prstGeom prst="rect">
            <a:avLst/>
          </a:prstGeom>
          <a:noFill/>
        </p:spPr>
        <p:txBody>
          <a:bodyPr wrap="square" rtlCol="0">
            <a:spAutoFit/>
          </a:bodyPr>
          <a:lstStyle/>
          <a:p>
            <a:pPr>
              <a:lnSpc>
                <a:spcPct val="100000"/>
              </a:lnSpc>
              <a:spcBef>
                <a:spcPts val="0"/>
              </a:spcBef>
            </a:pPr>
            <a:r>
              <a:rPr lang="zh-CN" altLang="en-US" sz="2000">
                <a:solidFill>
                  <a:srgbClr val="0000FF"/>
                </a:solidFill>
                <a:latin typeface="仿宋" pitchFamily="49" charset="-122"/>
                <a:ea typeface="仿宋" pitchFamily="49" charset="-122"/>
              </a:rPr>
              <a:t>所有</a:t>
            </a:r>
            <a:r>
              <a:rPr lang="zh-CN" altLang="zh-CN" sz="2000">
                <a:solidFill>
                  <a:srgbClr val="0000FF"/>
                </a:solidFill>
                <a:latin typeface="仿宋" pitchFamily="49" charset="-122"/>
                <a:ea typeface="仿宋" pitchFamily="49" charset="-122"/>
              </a:rPr>
              <a:t>径搜索完毕</a:t>
            </a:r>
            <a:endParaRPr lang="zh-CN" altLang="en-US" sz="2000">
              <a:solidFill>
                <a:srgbClr val="0000FF"/>
              </a:solidFill>
              <a:latin typeface="仿宋" pitchFamily="49" charset="-122"/>
              <a:ea typeface="仿宋" pitchFamily="49" charset="-122"/>
              <a:cs typeface="Consolas" pitchFamily="49" charset="0"/>
            </a:endParaRPr>
          </a:p>
        </p:txBody>
      </p:sp>
      <p:sp>
        <p:nvSpPr>
          <p:cNvPr id="115" name="TextBox 114"/>
          <p:cNvSpPr txBox="1"/>
          <p:nvPr/>
        </p:nvSpPr>
        <p:spPr>
          <a:xfrm>
            <a:off x="7429520" y="5643578"/>
            <a:ext cx="1071570" cy="400110"/>
          </a:xfrm>
          <a:prstGeom prst="rect">
            <a:avLst/>
          </a:prstGeom>
          <a:noFill/>
        </p:spPr>
        <p:txBody>
          <a:bodyPr wrap="square" rtlCol="0">
            <a:spAutoFit/>
          </a:bodyPr>
          <a:lstStyle/>
          <a:p>
            <a:pPr algn="l">
              <a:lnSpc>
                <a:spcPct val="100000"/>
              </a:lnSpc>
              <a:spcBef>
                <a:spcPts val="0"/>
              </a:spcBef>
            </a:pPr>
            <a:r>
              <a:rPr lang="zh-CN" altLang="en-US" sz="2000">
                <a:solidFill>
                  <a:srgbClr val="0000FF"/>
                </a:solidFill>
                <a:latin typeface="Consolas" pitchFamily="49" charset="0"/>
                <a:ea typeface="楷体" pitchFamily="49" charset="-122"/>
                <a:cs typeface="Consolas" pitchFamily="49" charset="0"/>
              </a:rPr>
              <a:t>最大流</a:t>
            </a:r>
          </a:p>
        </p:txBody>
      </p:sp>
      <p:sp>
        <p:nvSpPr>
          <p:cNvPr id="116" name="下箭头 115"/>
          <p:cNvSpPr/>
          <p:nvPr/>
        </p:nvSpPr>
        <p:spPr bwMode="auto">
          <a:xfrm>
            <a:off x="7858148" y="5072074"/>
            <a:ext cx="214314" cy="500066"/>
          </a:xfrm>
          <a:prstGeom prst="downArrow">
            <a:avLst/>
          </a:prstGeom>
          <a:ln>
            <a:headEnd type="none" w="med" len="med"/>
            <a:tailEnd type="arrow" w="med" len="med"/>
          </a:ln>
        </p:spPr>
        <p:style>
          <a:lnRef idx="1">
            <a:schemeClr val="accent2"/>
          </a:lnRef>
          <a:fillRef idx="3">
            <a:schemeClr val="accent2"/>
          </a:fillRef>
          <a:effectRef idx="2">
            <a:schemeClr val="accent2"/>
          </a:effectRef>
          <a:fontRef idx="minor">
            <a:schemeClr val="lt1"/>
          </a:fontRef>
        </p:style>
        <p:txBody>
          <a:bodyPr vert="horz" wrap="square" lIns="91440" tIns="45720" rIns="91440" bIns="45720" numCol="1" rtlCol="0" anchor="t" anchorCtr="0" compatLnSpc="1">
            <a:prstTxWarp prst="textNoShape">
              <a:avLst/>
            </a:prstTxWarp>
          </a:bodyPr>
          <a:lstStyle/>
          <a:p>
            <a:pPr algn="ctr"/>
            <a:endParaRPr lang="zh-CN" altLang="en-US" sz="2000">
              <a:solidFill>
                <a:srgbClr val="0000FF"/>
              </a:solidFill>
              <a:latin typeface="Consolas" pitchFamily="49" charset="0"/>
              <a:ea typeface="仿宋" pitchFamily="49" charset="-122"/>
            </a:endParaRPr>
          </a:p>
        </p:txBody>
      </p:sp>
      <p:sp>
        <p:nvSpPr>
          <p:cNvPr id="114" name="灯片编号占位符 113"/>
          <p:cNvSpPr>
            <a:spLocks noGrp="1"/>
          </p:cNvSpPr>
          <p:nvPr>
            <p:ph type="sldNum" sz="quarter" idx="12"/>
          </p:nvPr>
        </p:nvSpPr>
        <p:spPr/>
        <p:txBody>
          <a:bodyPr/>
          <a:lstStyle/>
          <a:p>
            <a:fld id="{7AF016A1-9F15-429F-9EFD-84004B73C732}" type="slidenum">
              <a:rPr lang="en-US" altLang="zh-CN" smtClean="0"/>
              <a:pPr/>
              <a:t>131</a:t>
            </a:fld>
            <a:r>
              <a:rPr lang="en-US" altLang="zh-CN"/>
              <a:t>/158</a:t>
            </a: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 name="TextBox 144"/>
          <p:cNvSpPr txBox="1"/>
          <p:nvPr/>
        </p:nvSpPr>
        <p:spPr>
          <a:xfrm>
            <a:off x="428596" y="1142984"/>
            <a:ext cx="8286808" cy="3939540"/>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000"/>
              </a:lnSpc>
              <a:spcBef>
                <a:spcPts val="600"/>
              </a:spcBef>
              <a:buBlip>
                <a:blip r:embed="rId3"/>
              </a:buBlip>
            </a:pPr>
            <a:r>
              <a:rPr lang="zh-CN" altLang="zh-CN" sz="2200">
                <a:solidFill>
                  <a:srgbClr val="0000FF"/>
                </a:solidFill>
                <a:latin typeface="Consolas" pitchFamily="49" charset="0"/>
                <a:ea typeface="仿宋" pitchFamily="49" charset="-122"/>
              </a:rPr>
              <a:t>用</a:t>
            </a:r>
            <a:r>
              <a:rPr lang="en-US" altLang="zh-CN" sz="2200">
                <a:solidFill>
                  <a:srgbClr val="0000FF"/>
                </a:solidFill>
                <a:latin typeface="Consolas" pitchFamily="49" charset="0"/>
                <a:ea typeface="仿宋" pitchFamily="49" charset="-122"/>
              </a:rPr>
              <a:t>BFS</a:t>
            </a:r>
            <a:r>
              <a:rPr lang="zh-CN" altLang="zh-CN" sz="2200">
                <a:solidFill>
                  <a:srgbClr val="0000FF"/>
                </a:solidFill>
                <a:latin typeface="Consolas" pitchFamily="49" charset="0"/>
                <a:ea typeface="仿宋" pitchFamily="49" charset="-122"/>
              </a:rPr>
              <a:t>建立一次分层网络的时间为</a:t>
            </a:r>
            <a:r>
              <a:rPr lang="en-US" altLang="zh-CN" sz="2200">
                <a:solidFill>
                  <a:srgbClr val="0000FF"/>
                </a:solidFill>
                <a:latin typeface="Consolas" pitchFamily="49" charset="0"/>
                <a:ea typeface="仿宋" pitchFamily="49" charset="-122"/>
              </a:rPr>
              <a:t>O(</a:t>
            </a:r>
            <a:r>
              <a:rPr lang="en-US" altLang="zh-CN" sz="2200" i="1">
                <a:solidFill>
                  <a:srgbClr val="0000FF"/>
                </a:solidFill>
                <a:latin typeface="Consolas" pitchFamily="49" charset="0"/>
                <a:ea typeface="仿宋" pitchFamily="49" charset="-122"/>
              </a:rPr>
              <a:t>e</a:t>
            </a:r>
            <a:r>
              <a:rPr lang="en-US" altLang="zh-CN" sz="2200">
                <a:solidFill>
                  <a:srgbClr val="0000FF"/>
                </a:solidFill>
                <a:latin typeface="Consolas" pitchFamily="49" charset="0"/>
                <a:ea typeface="仿宋" pitchFamily="49" charset="-122"/>
              </a:rPr>
              <a:t>)</a:t>
            </a:r>
            <a:r>
              <a:rPr lang="zh-CN" altLang="en-US" sz="2200">
                <a:solidFill>
                  <a:srgbClr val="0000FF"/>
                </a:solidFill>
                <a:latin typeface="Consolas" pitchFamily="49" charset="0"/>
                <a:ea typeface="仿宋" pitchFamily="49" charset="-122"/>
              </a:rPr>
              <a:t>。</a:t>
            </a:r>
            <a:endParaRPr lang="en-US" altLang="zh-CN" sz="2200">
              <a:solidFill>
                <a:srgbClr val="0000FF"/>
              </a:solidFill>
              <a:latin typeface="Consolas" pitchFamily="49" charset="0"/>
              <a:ea typeface="仿宋" pitchFamily="49" charset="-122"/>
            </a:endParaRPr>
          </a:p>
          <a:p>
            <a:pPr marL="457200" indent="-457200" algn="l">
              <a:lnSpc>
                <a:spcPts val="3000"/>
              </a:lnSpc>
              <a:spcBef>
                <a:spcPts val="600"/>
              </a:spcBef>
              <a:buBlip>
                <a:blip r:embed="rId3"/>
              </a:buBlip>
            </a:pPr>
            <a:r>
              <a:rPr lang="zh-CN" altLang="zh-CN" sz="2200">
                <a:solidFill>
                  <a:srgbClr val="0000FF"/>
                </a:solidFill>
                <a:latin typeface="Consolas" pitchFamily="49" charset="0"/>
                <a:ea typeface="仿宋" pitchFamily="49" charset="-122"/>
              </a:rPr>
              <a:t>在分层网络中单次</a:t>
            </a:r>
            <a:r>
              <a:rPr lang="en-US" altLang="zh-CN" sz="2200">
                <a:solidFill>
                  <a:srgbClr val="0000FF"/>
                </a:solidFill>
                <a:latin typeface="Consolas" pitchFamily="49" charset="0"/>
                <a:ea typeface="仿宋" pitchFamily="49" charset="-122"/>
              </a:rPr>
              <a:t>DFS</a:t>
            </a:r>
            <a:r>
              <a:rPr lang="zh-CN" altLang="zh-CN" sz="2200">
                <a:solidFill>
                  <a:srgbClr val="0000FF"/>
                </a:solidFill>
                <a:latin typeface="Consolas" pitchFamily="49" charset="0"/>
                <a:ea typeface="仿宋" pitchFamily="49" charset="-122"/>
              </a:rPr>
              <a:t>的时间为</a:t>
            </a:r>
            <a:r>
              <a:rPr lang="en-US" altLang="zh-CN" sz="2200">
                <a:solidFill>
                  <a:srgbClr val="0000FF"/>
                </a:solidFill>
                <a:latin typeface="Consolas" pitchFamily="49" charset="0"/>
                <a:ea typeface="仿宋" pitchFamily="49" charset="-122"/>
              </a:rPr>
              <a:t>O(</a:t>
            </a:r>
            <a:r>
              <a:rPr lang="en-US" altLang="zh-CN" sz="2200" i="1">
                <a:solidFill>
                  <a:srgbClr val="0000FF"/>
                </a:solidFill>
                <a:latin typeface="Consolas" pitchFamily="49" charset="0"/>
                <a:ea typeface="仿宋" pitchFamily="49" charset="-122"/>
              </a:rPr>
              <a:t>n</a:t>
            </a:r>
            <a:r>
              <a:rPr lang="en-US" altLang="zh-CN" sz="2200">
                <a:solidFill>
                  <a:srgbClr val="0000FF"/>
                </a:solidFill>
                <a:latin typeface="Consolas" pitchFamily="49" charset="0"/>
                <a:ea typeface="仿宋" pitchFamily="49" charset="-122"/>
              </a:rPr>
              <a:t>)</a:t>
            </a:r>
            <a:r>
              <a:rPr lang="zh-CN" altLang="zh-CN" sz="2200">
                <a:solidFill>
                  <a:srgbClr val="0000FF"/>
                </a:solidFill>
                <a:latin typeface="Consolas" pitchFamily="49" charset="0"/>
                <a:ea typeface="仿宋" pitchFamily="49" charset="-122"/>
              </a:rPr>
              <a:t>，这里因为</a:t>
            </a:r>
            <a:r>
              <a:rPr lang="en-US" altLang="zh-CN" sz="2200">
                <a:solidFill>
                  <a:srgbClr val="0000FF"/>
                </a:solidFill>
                <a:latin typeface="Consolas" pitchFamily="49" charset="0"/>
                <a:ea typeface="仿宋" pitchFamily="49" charset="-122"/>
              </a:rPr>
              <a:t>DFS</a:t>
            </a:r>
            <a:r>
              <a:rPr lang="zh-CN" altLang="zh-CN" sz="2200">
                <a:solidFill>
                  <a:srgbClr val="0000FF"/>
                </a:solidFill>
                <a:latin typeface="Consolas" pitchFamily="49" charset="0"/>
                <a:ea typeface="仿宋" pitchFamily="49" charset="-122"/>
              </a:rPr>
              <a:t>只能沿着高度递增的方向从</a:t>
            </a:r>
            <a:r>
              <a:rPr lang="en-US" altLang="zh-CN" sz="2200">
                <a:solidFill>
                  <a:srgbClr val="0000FF"/>
                </a:solidFill>
                <a:latin typeface="Consolas" pitchFamily="49" charset="0"/>
                <a:ea typeface="仿宋" pitchFamily="49" charset="-122"/>
              </a:rPr>
              <a:t>S</a:t>
            </a:r>
            <a:r>
              <a:rPr lang="zh-CN" altLang="zh-CN" sz="2200">
                <a:solidFill>
                  <a:srgbClr val="0000FF"/>
                </a:solidFill>
                <a:latin typeface="Consolas" pitchFamily="49" charset="0"/>
                <a:ea typeface="仿宋" pitchFamily="49" charset="-122"/>
              </a:rPr>
              <a:t>推进到</a:t>
            </a:r>
            <a:r>
              <a:rPr lang="en-US" altLang="zh-CN" sz="2200">
                <a:solidFill>
                  <a:srgbClr val="0000FF"/>
                </a:solidFill>
                <a:latin typeface="Consolas" pitchFamily="49" charset="0"/>
                <a:ea typeface="仿宋" pitchFamily="49" charset="-122"/>
              </a:rPr>
              <a:t>T</a:t>
            </a:r>
            <a:r>
              <a:rPr lang="zh-CN" altLang="zh-CN" sz="2200">
                <a:solidFill>
                  <a:srgbClr val="0000FF"/>
                </a:solidFill>
                <a:latin typeface="Consolas" pitchFamily="49" charset="0"/>
                <a:ea typeface="仿宋" pitchFamily="49" charset="-122"/>
              </a:rPr>
              <a:t>，因此单次</a:t>
            </a:r>
            <a:r>
              <a:rPr lang="en-US" altLang="zh-CN" sz="2200">
                <a:solidFill>
                  <a:srgbClr val="0000FF"/>
                </a:solidFill>
                <a:latin typeface="Consolas" pitchFamily="49" charset="0"/>
                <a:ea typeface="仿宋" pitchFamily="49" charset="-122"/>
              </a:rPr>
              <a:t>DFS</a:t>
            </a:r>
            <a:r>
              <a:rPr lang="zh-CN" altLang="zh-CN" sz="2200">
                <a:solidFill>
                  <a:srgbClr val="0000FF"/>
                </a:solidFill>
                <a:latin typeface="Consolas" pitchFamily="49" charset="0"/>
                <a:ea typeface="仿宋" pitchFamily="49" charset="-122"/>
              </a:rPr>
              <a:t>推进次数最多不超过</a:t>
            </a:r>
            <a:r>
              <a:rPr lang="en-US" altLang="zh-CN" sz="2200" i="1">
                <a:solidFill>
                  <a:srgbClr val="0000FF"/>
                </a:solidFill>
                <a:latin typeface="Consolas" pitchFamily="49" charset="0"/>
                <a:ea typeface="仿宋" pitchFamily="49" charset="-122"/>
              </a:rPr>
              <a:t>n</a:t>
            </a:r>
            <a:r>
              <a:rPr lang="en-US" altLang="zh-CN" sz="2200">
                <a:solidFill>
                  <a:srgbClr val="0000FF"/>
                </a:solidFill>
                <a:latin typeface="Consolas" pitchFamily="49" charset="0"/>
                <a:ea typeface="仿宋" pitchFamily="49" charset="-122"/>
              </a:rPr>
              <a:t>-1</a:t>
            </a:r>
            <a:r>
              <a:rPr lang="zh-CN" altLang="zh-CN" sz="2200">
                <a:solidFill>
                  <a:srgbClr val="0000FF"/>
                </a:solidFill>
                <a:latin typeface="Consolas" pitchFamily="49" charset="0"/>
                <a:ea typeface="仿宋" pitchFamily="49" charset="-122"/>
              </a:rPr>
              <a:t>次。</a:t>
            </a:r>
            <a:endParaRPr lang="en-US" altLang="zh-CN" sz="2200">
              <a:solidFill>
                <a:srgbClr val="0000FF"/>
              </a:solidFill>
              <a:latin typeface="Consolas" pitchFamily="49" charset="0"/>
              <a:ea typeface="仿宋" pitchFamily="49" charset="-122"/>
            </a:endParaRPr>
          </a:p>
          <a:p>
            <a:pPr marL="457200" indent="-457200" algn="l">
              <a:lnSpc>
                <a:spcPts val="3000"/>
              </a:lnSpc>
              <a:spcBef>
                <a:spcPts val="600"/>
              </a:spcBef>
              <a:buBlip>
                <a:blip r:embed="rId3"/>
              </a:buBlip>
            </a:pPr>
            <a:r>
              <a:rPr lang="zh-CN" altLang="zh-CN" sz="2200">
                <a:solidFill>
                  <a:srgbClr val="0000FF"/>
                </a:solidFill>
                <a:latin typeface="Consolas" pitchFamily="49" charset="0"/>
                <a:ea typeface="仿宋" pitchFamily="49" charset="-122"/>
              </a:rPr>
              <a:t>构建一次分层网络并且在其中执行</a:t>
            </a:r>
            <a:r>
              <a:rPr lang="en-US" altLang="zh-CN" sz="2200">
                <a:solidFill>
                  <a:srgbClr val="0000FF"/>
                </a:solidFill>
                <a:latin typeface="Consolas" pitchFamily="49" charset="0"/>
                <a:ea typeface="仿宋" pitchFamily="49" charset="-122"/>
              </a:rPr>
              <a:t>DFS</a:t>
            </a:r>
            <a:r>
              <a:rPr lang="zh-CN" altLang="zh-CN" sz="2200">
                <a:solidFill>
                  <a:srgbClr val="0000FF"/>
                </a:solidFill>
                <a:latin typeface="Consolas" pitchFamily="49" charset="0"/>
                <a:ea typeface="仿宋" pitchFamily="49" charset="-122"/>
              </a:rPr>
              <a:t>的总时间为</a:t>
            </a:r>
            <a:r>
              <a:rPr lang="en-US" altLang="zh-CN" sz="2200">
                <a:solidFill>
                  <a:srgbClr val="0000FF"/>
                </a:solidFill>
                <a:latin typeface="Consolas" pitchFamily="49" charset="0"/>
                <a:ea typeface="仿宋" pitchFamily="49" charset="-122"/>
              </a:rPr>
              <a:t>O(</a:t>
            </a:r>
            <a:r>
              <a:rPr lang="en-US" altLang="zh-CN" sz="2200" i="1">
                <a:solidFill>
                  <a:srgbClr val="0000FF"/>
                </a:solidFill>
                <a:latin typeface="Consolas" pitchFamily="49" charset="0"/>
                <a:ea typeface="仿宋" pitchFamily="49" charset="-122"/>
              </a:rPr>
              <a:t>ne</a:t>
            </a:r>
            <a:r>
              <a:rPr lang="en-US" altLang="zh-CN" sz="2200">
                <a:solidFill>
                  <a:srgbClr val="0000FF"/>
                </a:solidFill>
                <a:latin typeface="Consolas" pitchFamily="49" charset="0"/>
                <a:ea typeface="仿宋" pitchFamily="49" charset="-122"/>
              </a:rPr>
              <a:t>)</a:t>
            </a:r>
            <a:r>
              <a:rPr lang="zh-CN" altLang="zh-CN" sz="2200">
                <a:solidFill>
                  <a:srgbClr val="0000FF"/>
                </a:solidFill>
                <a:latin typeface="Consolas" pitchFamily="49" charset="0"/>
                <a:ea typeface="仿宋" pitchFamily="49" charset="-122"/>
              </a:rPr>
              <a:t>。</a:t>
            </a:r>
            <a:endParaRPr lang="en-US" altLang="zh-CN" sz="2200">
              <a:solidFill>
                <a:srgbClr val="0000FF"/>
              </a:solidFill>
              <a:latin typeface="Consolas" pitchFamily="49" charset="0"/>
              <a:ea typeface="仿宋" pitchFamily="49" charset="-122"/>
            </a:endParaRPr>
          </a:p>
          <a:p>
            <a:pPr marL="457200" indent="-457200" algn="l">
              <a:lnSpc>
                <a:spcPts val="3000"/>
              </a:lnSpc>
              <a:spcBef>
                <a:spcPts val="600"/>
              </a:spcBef>
              <a:buBlip>
                <a:blip r:embed="rId3"/>
              </a:buBlip>
            </a:pPr>
            <a:r>
              <a:rPr lang="zh-CN" altLang="zh-CN" sz="2200">
                <a:solidFill>
                  <a:srgbClr val="0000FF"/>
                </a:solidFill>
                <a:latin typeface="Consolas" pitchFamily="49" charset="0"/>
                <a:ea typeface="仿宋" pitchFamily="49" charset="-122"/>
              </a:rPr>
              <a:t>可以证明每次分层网络中找到的最短路径长度是严格递增的，所以建立分层网络的次数最多为</a:t>
            </a:r>
            <a:r>
              <a:rPr lang="en-US" altLang="zh-CN" sz="2200" i="1">
                <a:solidFill>
                  <a:srgbClr val="0000FF"/>
                </a:solidFill>
                <a:latin typeface="Consolas" pitchFamily="49" charset="0"/>
                <a:ea typeface="仿宋" pitchFamily="49" charset="-122"/>
              </a:rPr>
              <a:t>n</a:t>
            </a:r>
            <a:r>
              <a:rPr lang="en-US" altLang="zh-CN" sz="2200">
                <a:solidFill>
                  <a:srgbClr val="0000FF"/>
                </a:solidFill>
                <a:latin typeface="Consolas" pitchFamily="49" charset="0"/>
                <a:ea typeface="仿宋" pitchFamily="49" charset="-122"/>
              </a:rPr>
              <a:t>-1</a:t>
            </a:r>
            <a:r>
              <a:rPr lang="zh-CN" altLang="zh-CN" sz="2200">
                <a:solidFill>
                  <a:srgbClr val="0000FF"/>
                </a:solidFill>
                <a:latin typeface="Consolas" pitchFamily="49" charset="0"/>
                <a:ea typeface="仿宋" pitchFamily="49" charset="-122"/>
              </a:rPr>
              <a:t>次</a:t>
            </a:r>
            <a:r>
              <a:rPr lang="zh-CN" altLang="en-US" sz="2200">
                <a:solidFill>
                  <a:srgbClr val="0000FF"/>
                </a:solidFill>
                <a:latin typeface="Consolas" pitchFamily="49" charset="0"/>
                <a:ea typeface="仿宋" pitchFamily="49" charset="-122"/>
              </a:rPr>
              <a:t>。</a:t>
            </a:r>
            <a:endParaRPr lang="en-US" altLang="zh-CN" sz="2200">
              <a:solidFill>
                <a:srgbClr val="0000FF"/>
              </a:solidFill>
              <a:latin typeface="Consolas" pitchFamily="49" charset="0"/>
              <a:ea typeface="仿宋" pitchFamily="49" charset="-122"/>
            </a:endParaRPr>
          </a:p>
          <a:p>
            <a:pPr marL="457200" indent="-457200" algn="l">
              <a:lnSpc>
                <a:spcPts val="3000"/>
              </a:lnSpc>
              <a:spcBef>
                <a:spcPts val="600"/>
              </a:spcBef>
              <a:buBlip>
                <a:blip r:embed="rId3"/>
              </a:buBlip>
            </a:pPr>
            <a:r>
              <a:rPr lang="zh-CN" altLang="zh-CN" sz="2200">
                <a:solidFill>
                  <a:srgbClr val="0000FF"/>
                </a:solidFill>
                <a:latin typeface="Consolas" pitchFamily="49" charset="0"/>
                <a:ea typeface="仿宋" pitchFamily="49" charset="-122"/>
              </a:rPr>
              <a:t>这样</a:t>
            </a:r>
            <a:r>
              <a:rPr lang="en-US" altLang="zh-CN" sz="2200">
                <a:solidFill>
                  <a:srgbClr val="0000FF"/>
                </a:solidFill>
                <a:latin typeface="Consolas" pitchFamily="49" charset="0"/>
                <a:ea typeface="仿宋" pitchFamily="49" charset="-122"/>
              </a:rPr>
              <a:t>Dinic</a:t>
            </a:r>
            <a:r>
              <a:rPr lang="zh-CN" altLang="zh-CN" sz="2200">
                <a:solidFill>
                  <a:srgbClr val="0000FF"/>
                </a:solidFill>
                <a:latin typeface="Consolas" pitchFamily="49" charset="0"/>
                <a:ea typeface="仿宋" pitchFamily="49" charset="-122"/>
              </a:rPr>
              <a:t>算法的时间复杂度为</a:t>
            </a:r>
            <a:r>
              <a:rPr lang="en-US" altLang="zh-CN" sz="2200">
                <a:solidFill>
                  <a:srgbClr val="0000FF"/>
                </a:solidFill>
                <a:latin typeface="Consolas" pitchFamily="49" charset="0"/>
                <a:ea typeface="仿宋" pitchFamily="49" charset="-122"/>
              </a:rPr>
              <a:t>O(</a:t>
            </a:r>
            <a:r>
              <a:rPr lang="en-US" altLang="zh-CN" sz="2200" i="1">
                <a:solidFill>
                  <a:srgbClr val="0000FF"/>
                </a:solidFill>
                <a:latin typeface="Consolas" pitchFamily="49" charset="0"/>
                <a:ea typeface="仿宋" pitchFamily="49" charset="-122"/>
              </a:rPr>
              <a:t>n</a:t>
            </a:r>
            <a:r>
              <a:rPr lang="en-US" altLang="zh-CN" sz="2200" baseline="30000">
                <a:solidFill>
                  <a:srgbClr val="0000FF"/>
                </a:solidFill>
                <a:latin typeface="Consolas" pitchFamily="49" charset="0"/>
                <a:ea typeface="仿宋" pitchFamily="49" charset="-122"/>
              </a:rPr>
              <a:t>2</a:t>
            </a:r>
            <a:r>
              <a:rPr lang="en-US" altLang="zh-CN" sz="2200" i="1">
                <a:solidFill>
                  <a:srgbClr val="0000FF"/>
                </a:solidFill>
                <a:latin typeface="Consolas" pitchFamily="49" charset="0"/>
                <a:ea typeface="仿宋" pitchFamily="49" charset="-122"/>
              </a:rPr>
              <a:t>e</a:t>
            </a:r>
            <a:r>
              <a:rPr lang="en-US" altLang="zh-CN" sz="2200">
                <a:solidFill>
                  <a:srgbClr val="0000FF"/>
                </a:solidFill>
                <a:latin typeface="Consolas" pitchFamily="49" charset="0"/>
                <a:ea typeface="仿宋" pitchFamily="49" charset="-122"/>
              </a:rPr>
              <a:t>)</a:t>
            </a:r>
            <a:r>
              <a:rPr lang="zh-CN" altLang="zh-CN" sz="2200">
                <a:solidFill>
                  <a:srgbClr val="0000FF"/>
                </a:solidFill>
                <a:latin typeface="Consolas" pitchFamily="49" charset="0"/>
                <a:ea typeface="仿宋" pitchFamily="49" charset="-122"/>
              </a:rPr>
              <a:t>。</a:t>
            </a:r>
            <a:endParaRPr lang="en-US" altLang="zh-CN" sz="2200">
              <a:solidFill>
                <a:srgbClr val="0000FF"/>
              </a:solidFill>
              <a:latin typeface="Consolas" pitchFamily="49" charset="0"/>
              <a:ea typeface="仿宋" pitchFamily="49" charset="-122"/>
            </a:endParaRPr>
          </a:p>
          <a:p>
            <a:pPr marL="457200" indent="-457200" algn="l">
              <a:lnSpc>
                <a:spcPts val="3000"/>
              </a:lnSpc>
              <a:spcBef>
                <a:spcPts val="600"/>
              </a:spcBef>
              <a:buBlip>
                <a:blip r:embed="rId3"/>
              </a:buBlip>
            </a:pPr>
            <a:r>
              <a:rPr lang="zh-CN" altLang="zh-CN" sz="2200">
                <a:solidFill>
                  <a:srgbClr val="0000FF"/>
                </a:solidFill>
                <a:latin typeface="Consolas" pitchFamily="49" charset="0"/>
                <a:ea typeface="仿宋" pitchFamily="49" charset="-122"/>
              </a:rPr>
              <a:t>通常</a:t>
            </a:r>
            <a:r>
              <a:rPr lang="en-US" altLang="zh-CN" sz="2200" i="1">
                <a:solidFill>
                  <a:srgbClr val="0000FF"/>
                </a:solidFill>
                <a:latin typeface="Consolas" pitchFamily="49" charset="0"/>
                <a:ea typeface="仿宋" pitchFamily="49" charset="-122"/>
              </a:rPr>
              <a:t>e</a:t>
            </a:r>
            <a:r>
              <a:rPr lang="en-US" altLang="zh-CN" sz="2200">
                <a:solidFill>
                  <a:srgbClr val="0000FF"/>
                </a:solidFill>
                <a:latin typeface="Consolas" pitchFamily="49" charset="0"/>
                <a:ea typeface="仿宋" pitchFamily="49" charset="-122"/>
              </a:rPr>
              <a:t>&gt;</a:t>
            </a:r>
            <a:r>
              <a:rPr lang="en-US" altLang="zh-CN" sz="2200" i="1">
                <a:solidFill>
                  <a:srgbClr val="0000FF"/>
                </a:solidFill>
                <a:latin typeface="Consolas" pitchFamily="49" charset="0"/>
                <a:ea typeface="仿宋" pitchFamily="49" charset="-122"/>
              </a:rPr>
              <a:t>n</a:t>
            </a:r>
            <a:r>
              <a:rPr lang="zh-CN" altLang="zh-CN" sz="2200">
                <a:solidFill>
                  <a:srgbClr val="0000FF"/>
                </a:solidFill>
                <a:latin typeface="Consolas" pitchFamily="49" charset="0"/>
                <a:ea typeface="仿宋" pitchFamily="49" charset="-122"/>
              </a:rPr>
              <a:t>，所以</a:t>
            </a:r>
            <a:r>
              <a:rPr lang="en-US" altLang="zh-CN" sz="2200">
                <a:solidFill>
                  <a:srgbClr val="0000FF"/>
                </a:solidFill>
                <a:latin typeface="Consolas" pitchFamily="49" charset="0"/>
                <a:ea typeface="仿宋" pitchFamily="49" charset="-122"/>
              </a:rPr>
              <a:t>Dinic</a:t>
            </a:r>
            <a:r>
              <a:rPr lang="zh-CN" altLang="zh-CN" sz="2200">
                <a:solidFill>
                  <a:srgbClr val="0000FF"/>
                </a:solidFill>
                <a:latin typeface="Consolas" pitchFamily="49" charset="0"/>
                <a:ea typeface="仿宋" pitchFamily="49" charset="-122"/>
              </a:rPr>
              <a:t>算法的时间性能优于</a:t>
            </a:r>
            <a:r>
              <a:rPr lang="en-US" altLang="zh-CN" sz="2200">
                <a:solidFill>
                  <a:srgbClr val="0000FF"/>
                </a:solidFill>
                <a:latin typeface="Consolas" pitchFamily="49" charset="0"/>
                <a:ea typeface="仿宋" pitchFamily="49" charset="-122"/>
              </a:rPr>
              <a:t>Edmonds-Krap</a:t>
            </a:r>
            <a:r>
              <a:rPr lang="zh-CN" altLang="zh-CN" sz="2200">
                <a:solidFill>
                  <a:srgbClr val="0000FF"/>
                </a:solidFill>
                <a:latin typeface="Consolas" pitchFamily="49" charset="0"/>
                <a:ea typeface="仿宋" pitchFamily="49" charset="-122"/>
              </a:rPr>
              <a:t>算法。</a:t>
            </a:r>
            <a:endParaRPr lang="zh-CN" altLang="en-US" sz="2200">
              <a:solidFill>
                <a:srgbClr val="0000FF"/>
              </a:solidFill>
              <a:latin typeface="Consolas" pitchFamily="49" charset="0"/>
              <a:ea typeface="仿宋" pitchFamily="49" charset="-122"/>
              <a:cs typeface="Consolas" pitchFamily="49" charset="0"/>
            </a:endParaRPr>
          </a:p>
        </p:txBody>
      </p:sp>
      <p:sp>
        <p:nvSpPr>
          <p:cNvPr id="146" name="TextBox 145"/>
          <p:cNvSpPr txBox="1"/>
          <p:nvPr/>
        </p:nvSpPr>
        <p:spPr>
          <a:xfrm>
            <a:off x="357158" y="428604"/>
            <a:ext cx="8501122" cy="461665"/>
          </a:xfrm>
          <a:prstGeom prst="rect">
            <a:avLst/>
          </a:prstGeom>
          <a:noFill/>
        </p:spPr>
        <p:txBody>
          <a:bodyPr wrap="square" rtlCol="0">
            <a:spAutoFit/>
          </a:bodyPr>
          <a:lstStyle/>
          <a:p>
            <a:pPr algn="l">
              <a:lnSpc>
                <a:spcPct val="100000"/>
              </a:lnSpc>
              <a:spcBef>
                <a:spcPts val="0"/>
              </a:spcBef>
            </a:pPr>
            <a:r>
              <a:rPr lang="en-US" altLang="zh-CN">
                <a:solidFill>
                  <a:srgbClr val="FF0000"/>
                </a:solidFill>
                <a:latin typeface="Consolas" pitchFamily="49" charset="0"/>
                <a:ea typeface="楷体" pitchFamily="49" charset="-122"/>
                <a:sym typeface="Wingdings"/>
              </a:rPr>
              <a:t></a:t>
            </a:r>
            <a:r>
              <a:rPr lang="en-US" altLang="zh-CN">
                <a:solidFill>
                  <a:srgbClr val="FF0000"/>
                </a:solidFill>
                <a:latin typeface="Consolas" pitchFamily="49" charset="0"/>
                <a:ea typeface="楷体" pitchFamily="49" charset="-122"/>
              </a:rPr>
              <a:t>Dinic</a:t>
            </a:r>
            <a:r>
              <a:rPr lang="zh-CN" altLang="zh-CN">
                <a:solidFill>
                  <a:srgbClr val="FF0000"/>
                </a:solidFill>
                <a:latin typeface="Consolas" pitchFamily="49" charset="0"/>
                <a:ea typeface="楷体" pitchFamily="49" charset="-122"/>
              </a:rPr>
              <a:t>算法分析</a:t>
            </a:r>
            <a:r>
              <a:rPr lang="zh-CN" altLang="zh-CN">
                <a:solidFill>
                  <a:srgbClr val="0000FF"/>
                </a:solidFill>
                <a:latin typeface="Consolas" pitchFamily="49" charset="0"/>
                <a:ea typeface="仿宋" pitchFamily="49" charset="-122"/>
              </a:rPr>
              <a:t>：若网络</a:t>
            </a:r>
            <a:r>
              <a:rPr lang="en-US" altLang="zh-CN" i="1">
                <a:solidFill>
                  <a:srgbClr val="0000FF"/>
                </a:solidFill>
                <a:latin typeface="Consolas" pitchFamily="49" charset="0"/>
                <a:ea typeface="仿宋" pitchFamily="49" charset="-122"/>
              </a:rPr>
              <a:t>G</a:t>
            </a:r>
            <a:r>
              <a:rPr lang="zh-CN" altLang="zh-CN">
                <a:solidFill>
                  <a:srgbClr val="0000FF"/>
                </a:solidFill>
                <a:latin typeface="Consolas" pitchFamily="49" charset="0"/>
                <a:ea typeface="仿宋" pitchFamily="49" charset="-122"/>
              </a:rPr>
              <a:t>中有</a:t>
            </a:r>
            <a:r>
              <a:rPr lang="en-US"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个顶点和</a:t>
            </a:r>
            <a:r>
              <a:rPr lang="en-US" altLang="zh-CN" i="1">
                <a:solidFill>
                  <a:srgbClr val="0000FF"/>
                </a:solidFill>
                <a:latin typeface="Consolas" pitchFamily="49" charset="0"/>
                <a:ea typeface="仿宋" pitchFamily="49" charset="-122"/>
              </a:rPr>
              <a:t>e</a:t>
            </a:r>
            <a:r>
              <a:rPr lang="zh-CN" altLang="zh-CN">
                <a:solidFill>
                  <a:srgbClr val="0000FF"/>
                </a:solidFill>
                <a:latin typeface="Consolas" pitchFamily="49" charset="0"/>
                <a:ea typeface="仿宋" pitchFamily="49" charset="-122"/>
              </a:rPr>
              <a:t>条边</a:t>
            </a:r>
            <a:r>
              <a:rPr lang="zh-CN" altLang="en-US">
                <a:solidFill>
                  <a:srgbClr val="0000FF"/>
                </a:solidFill>
                <a:latin typeface="Consolas" pitchFamily="49" charset="0"/>
                <a:ea typeface="仿宋" pitchFamily="49" charset="-122"/>
              </a:rPr>
              <a:t>。</a:t>
            </a:r>
            <a:endParaRPr lang="zh-CN" altLang="en-US">
              <a:solidFill>
                <a:srgbClr val="0000FF"/>
              </a:solidFill>
              <a:latin typeface="Consolas" pitchFamily="49" charset="0"/>
              <a:ea typeface="楷体" pitchFamily="49" charset="-122"/>
              <a:cs typeface="Consolas" pitchFamily="49" charset="0"/>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132</a:t>
            </a:fld>
            <a:r>
              <a:rPr lang="en-US" altLang="zh-CN"/>
              <a:t>/158</a:t>
            </a: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TextBox 90"/>
          <p:cNvSpPr txBox="1"/>
          <p:nvPr/>
        </p:nvSpPr>
        <p:spPr>
          <a:xfrm>
            <a:off x="3214678" y="571480"/>
            <a:ext cx="2071702" cy="514738"/>
          </a:xfrm>
          <a:prstGeom prst="rect">
            <a:avLst/>
          </a:prstGeom>
        </p:spPr>
        <p:style>
          <a:lnRef idx="3">
            <a:schemeClr val="lt1"/>
          </a:lnRef>
          <a:fillRef idx="1">
            <a:schemeClr val="dk1"/>
          </a:fillRef>
          <a:effectRef idx="1">
            <a:schemeClr val="dk1"/>
          </a:effectRef>
          <a:fontRef idx="minor">
            <a:schemeClr val="lt1"/>
          </a:fontRef>
        </p:style>
        <p:txBody>
          <a:bodyPr wrap="square" tIns="72000" bIns="72000" rtlCol="0">
            <a:spAutoFit/>
          </a:bodyPr>
          <a:lstStyle/>
          <a:p>
            <a:pPr>
              <a:lnSpc>
                <a:spcPct val="100000"/>
              </a:lnSpc>
              <a:spcBef>
                <a:spcPts val="0"/>
              </a:spcBef>
            </a:pPr>
            <a:r>
              <a:rPr lang="zh-CN" altLang="zh-CN">
                <a:latin typeface="华文行楷" pitchFamily="2" charset="-122"/>
                <a:ea typeface="华文行楷" pitchFamily="2" charset="-122"/>
              </a:rPr>
              <a:t>建模方法</a:t>
            </a:r>
            <a:endParaRPr lang="zh-CN" altLang="en-US">
              <a:solidFill>
                <a:srgbClr val="0000FF"/>
              </a:solidFill>
              <a:latin typeface="华文行楷" pitchFamily="2" charset="-122"/>
              <a:ea typeface="华文行楷" pitchFamily="2" charset="-122"/>
              <a:cs typeface="Consolas" pitchFamily="49" charset="0"/>
            </a:endParaRPr>
          </a:p>
        </p:txBody>
      </p:sp>
      <p:sp>
        <p:nvSpPr>
          <p:cNvPr id="92" name="TextBox 91"/>
          <p:cNvSpPr txBox="1"/>
          <p:nvPr/>
        </p:nvSpPr>
        <p:spPr>
          <a:xfrm>
            <a:off x="571472" y="1714488"/>
            <a:ext cx="8072494" cy="3910686"/>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200"/>
              </a:lnSpc>
              <a:spcBef>
                <a:spcPts val="600"/>
              </a:spcBef>
            </a:pP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）若</a:t>
            </a:r>
            <a:r>
              <a:rPr lang="zh-CN" altLang="zh-CN">
                <a:solidFill>
                  <a:srgbClr val="FF0000"/>
                </a:solidFill>
                <a:latin typeface="Consolas" pitchFamily="49" charset="0"/>
                <a:ea typeface="仿宋" pitchFamily="49" charset="-122"/>
              </a:rPr>
              <a:t>存在多个源点和汇点</a:t>
            </a:r>
            <a:r>
              <a:rPr lang="zh-CN" altLang="zh-CN">
                <a:solidFill>
                  <a:srgbClr val="0000FF"/>
                </a:solidFill>
                <a:latin typeface="Consolas" pitchFamily="49" charset="0"/>
                <a:ea typeface="仿宋" pitchFamily="49" charset="-122"/>
              </a:rPr>
              <a:t>，设置超级源点和超级汇点，使得超级源点连向各个源点，各个汇点连向超级汇点，边的容量由问题本身确定。</a:t>
            </a:r>
          </a:p>
          <a:p>
            <a:pPr algn="l">
              <a:lnSpc>
                <a:spcPts val="3200"/>
              </a:lnSpc>
              <a:spcBef>
                <a:spcPts val="600"/>
              </a:spcBef>
            </a:pP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a:t>
            </a:r>
            <a:r>
              <a:rPr lang="zh-CN" altLang="en-US">
                <a:solidFill>
                  <a:srgbClr val="0000FF"/>
                </a:solidFill>
                <a:latin typeface="Consolas" pitchFamily="49" charset="0"/>
                <a:ea typeface="仿宋" pitchFamily="49" charset="-122"/>
              </a:rPr>
              <a:t>若</a:t>
            </a:r>
            <a:r>
              <a:rPr lang="zh-CN" altLang="zh-CN">
                <a:solidFill>
                  <a:srgbClr val="FF0000"/>
                </a:solidFill>
                <a:latin typeface="Consolas" pitchFamily="49" charset="0"/>
                <a:ea typeface="仿宋" pitchFamily="49" charset="-122"/>
              </a:rPr>
              <a:t>顶点存在限制的情况</a:t>
            </a:r>
            <a:r>
              <a:rPr lang="zh-CN" altLang="zh-CN">
                <a:solidFill>
                  <a:srgbClr val="0000FF"/>
                </a:solidFill>
                <a:latin typeface="Consolas" pitchFamily="49" charset="0"/>
                <a:ea typeface="仿宋" pitchFamily="49" charset="-122"/>
              </a:rPr>
              <a:t>（即顶点含权值），可以考虑拆点即将一个顶点拆成两个点，中间连一条容量为顶点权值的边。</a:t>
            </a:r>
          </a:p>
          <a:p>
            <a:pPr algn="l">
              <a:lnSpc>
                <a:spcPts val="3200"/>
              </a:lnSpc>
              <a:spcBef>
                <a:spcPts val="600"/>
              </a:spcBef>
            </a:pP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3</a:t>
            </a:r>
            <a:r>
              <a:rPr lang="zh-CN" altLang="zh-CN">
                <a:solidFill>
                  <a:srgbClr val="0000FF"/>
                </a:solidFill>
                <a:latin typeface="Consolas" pitchFamily="49" charset="0"/>
                <a:ea typeface="仿宋" pitchFamily="49" charset="-122"/>
              </a:rPr>
              <a:t>）若</a:t>
            </a:r>
            <a:r>
              <a:rPr lang="zh-CN" altLang="zh-CN">
                <a:solidFill>
                  <a:srgbClr val="FF0000"/>
                </a:solidFill>
                <a:latin typeface="Consolas" pitchFamily="49" charset="0"/>
                <a:ea typeface="仿宋" pitchFamily="49" charset="-122"/>
              </a:rPr>
              <a:t>顶点与顶点之间的边为无向边</a:t>
            </a:r>
            <a:r>
              <a:rPr lang="zh-CN" altLang="zh-CN">
                <a:solidFill>
                  <a:srgbClr val="0000FF"/>
                </a:solidFill>
                <a:latin typeface="Consolas" pitchFamily="49" charset="0"/>
                <a:ea typeface="仿宋" pitchFamily="49" charset="-122"/>
              </a:rPr>
              <a:t>，将其看成两条有向边即各自方向建一条边，各自的容量都等于无向图边的容量。</a:t>
            </a: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133</a:t>
            </a:fld>
            <a:r>
              <a:rPr lang="en-US" altLang="zh-CN"/>
              <a:t>/158</a:t>
            </a: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42910" y="1821408"/>
            <a:ext cx="8215370" cy="2964914"/>
          </a:xfrm>
          <a:prstGeom prst="rect">
            <a:avLst/>
          </a:prstGeom>
          <a:ln>
            <a:solidFill>
              <a:schemeClr val="accent6">
                <a:lumMod val="20000"/>
                <a:lumOff val="8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200"/>
              </a:lnSpc>
              <a:spcBef>
                <a:spcPts val="600"/>
              </a:spcBef>
            </a:pPr>
            <a:r>
              <a:rPr lang="zh-CN" altLang="zh-CN">
                <a:solidFill>
                  <a:srgbClr val="FF0000"/>
                </a:solidFill>
                <a:latin typeface="Consolas" pitchFamily="49" charset="0"/>
                <a:ea typeface="楷体" pitchFamily="49" charset="-122"/>
              </a:rPr>
              <a:t>【例</a:t>
            </a:r>
            <a:r>
              <a:rPr lang="en-US" altLang="zh-CN">
                <a:solidFill>
                  <a:srgbClr val="FF0000"/>
                </a:solidFill>
                <a:latin typeface="Consolas" pitchFamily="49" charset="0"/>
                <a:ea typeface="楷体" pitchFamily="49" charset="-122"/>
              </a:rPr>
              <a:t>9.6</a:t>
            </a:r>
            <a:r>
              <a:rPr lang="zh-CN" altLang="zh-CN">
                <a:solidFill>
                  <a:srgbClr val="FF0000"/>
                </a:solidFill>
                <a:latin typeface="Consolas" pitchFamily="49" charset="0"/>
                <a:ea typeface="楷体" pitchFamily="49" charset="-122"/>
              </a:rPr>
              <a:t>】</a:t>
            </a:r>
            <a:r>
              <a:rPr lang="zh-CN" altLang="en-US">
                <a:solidFill>
                  <a:srgbClr val="FF0000"/>
                </a:solidFill>
                <a:latin typeface="Consolas" pitchFamily="49" charset="0"/>
                <a:ea typeface="楷体" pitchFamily="49" charset="-122"/>
              </a:rPr>
              <a:t>进餐</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POJ3281</a:t>
            </a:r>
            <a:r>
              <a:rPr lang="zh-CN" altLang="zh-CN">
                <a:solidFill>
                  <a:srgbClr val="0000FF"/>
                </a:solidFill>
                <a:latin typeface="Consolas" pitchFamily="49" charset="0"/>
                <a:ea typeface="仿宋" pitchFamily="49" charset="-122"/>
              </a:rPr>
              <a:t>，时间限制：</a:t>
            </a:r>
            <a:r>
              <a:rPr lang="en-US" altLang="zh-CN">
                <a:solidFill>
                  <a:srgbClr val="0000FF"/>
                </a:solidFill>
                <a:latin typeface="Consolas" pitchFamily="49" charset="0"/>
                <a:ea typeface="仿宋" pitchFamily="49" charset="-122"/>
              </a:rPr>
              <a:t>2000ms</a:t>
            </a:r>
            <a:r>
              <a:rPr lang="zh-CN" altLang="zh-CN">
                <a:solidFill>
                  <a:srgbClr val="0000FF"/>
                </a:solidFill>
                <a:latin typeface="Consolas" pitchFamily="49" charset="0"/>
                <a:ea typeface="仿宋" pitchFamily="49" charset="-122"/>
              </a:rPr>
              <a:t>，内存限制：</a:t>
            </a:r>
            <a:r>
              <a:rPr lang="en-US" altLang="zh-CN">
                <a:solidFill>
                  <a:srgbClr val="0000FF"/>
                </a:solidFill>
                <a:latin typeface="Consolas" pitchFamily="49" charset="0"/>
                <a:ea typeface="仿宋" pitchFamily="49" charset="-122"/>
              </a:rPr>
              <a:t>65536KB</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John</a:t>
            </a:r>
            <a:r>
              <a:rPr lang="zh-CN" altLang="zh-CN">
                <a:solidFill>
                  <a:srgbClr val="0000FF"/>
                </a:solidFill>
                <a:latin typeface="Consolas" pitchFamily="49" charset="0"/>
                <a:ea typeface="仿宋" pitchFamily="49" charset="-122"/>
              </a:rPr>
              <a:t>的奶牛十分挑食，每头奶牛只偏好某些食物和饮料，不会吃其他的。</a:t>
            </a:r>
            <a:r>
              <a:rPr lang="en-US" altLang="zh-CN">
                <a:solidFill>
                  <a:srgbClr val="0000FF"/>
                </a:solidFill>
                <a:latin typeface="Consolas" pitchFamily="49" charset="0"/>
                <a:ea typeface="仿宋" pitchFamily="49" charset="-122"/>
              </a:rPr>
              <a:t>John</a:t>
            </a:r>
            <a:r>
              <a:rPr lang="zh-CN" altLang="zh-CN">
                <a:solidFill>
                  <a:srgbClr val="0000FF"/>
                </a:solidFill>
                <a:latin typeface="Consolas" pitchFamily="49" charset="0"/>
                <a:ea typeface="仿宋" pitchFamily="49" charset="-122"/>
              </a:rPr>
              <a:t>烹制了</a:t>
            </a:r>
            <a:r>
              <a:rPr lang="en-US" altLang="zh-CN">
                <a:solidFill>
                  <a:srgbClr val="0000FF"/>
                </a:solidFill>
                <a:latin typeface="Consolas" pitchFamily="49" charset="0"/>
                <a:ea typeface="仿宋" pitchFamily="49" charset="-122"/>
              </a:rPr>
              <a:t>F</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1</a:t>
            </a:r>
            <a:r>
              <a:rPr lang="zh-CN" altLang="zh-CN">
                <a:solidFill>
                  <a:srgbClr val="0000FF"/>
                </a:solidFill>
                <a:latin typeface="+mn-ea"/>
              </a:rPr>
              <a:t>≤</a:t>
            </a:r>
            <a:r>
              <a:rPr lang="en-US" altLang="zh-CN">
                <a:solidFill>
                  <a:srgbClr val="0000FF"/>
                </a:solidFill>
                <a:latin typeface="Consolas" pitchFamily="49" charset="0"/>
                <a:ea typeface="仿宋" pitchFamily="49" charset="-122"/>
              </a:rPr>
              <a:t>F</a:t>
            </a:r>
            <a:r>
              <a:rPr lang="zh-CN" altLang="zh-CN">
                <a:solidFill>
                  <a:srgbClr val="0000FF"/>
                </a:solidFill>
                <a:latin typeface="+mj-ea"/>
                <a:ea typeface="+mj-ea"/>
              </a:rPr>
              <a:t>≤</a:t>
            </a:r>
            <a:r>
              <a:rPr lang="en-US" altLang="zh-CN">
                <a:solidFill>
                  <a:srgbClr val="0000FF"/>
                </a:solidFill>
                <a:latin typeface="Consolas" pitchFamily="49" charset="0"/>
                <a:ea typeface="仿宋" pitchFamily="49" charset="-122"/>
              </a:rPr>
              <a:t>100</a:t>
            </a:r>
            <a:r>
              <a:rPr lang="zh-CN" altLang="zh-CN">
                <a:solidFill>
                  <a:srgbClr val="0000FF"/>
                </a:solidFill>
                <a:latin typeface="Consolas" pitchFamily="49" charset="0"/>
                <a:ea typeface="仿宋" pitchFamily="49" charset="-122"/>
              </a:rPr>
              <a:t>）种食物并准备了</a:t>
            </a:r>
            <a:r>
              <a:rPr lang="en-US" altLang="zh-CN">
                <a:solidFill>
                  <a:srgbClr val="0000FF"/>
                </a:solidFill>
                <a:latin typeface="Consolas" pitchFamily="49" charset="0"/>
                <a:ea typeface="仿宋" pitchFamily="49" charset="-122"/>
              </a:rPr>
              <a:t>D</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1</a:t>
            </a:r>
            <a:r>
              <a:rPr lang="zh-CN" altLang="zh-CN">
                <a:solidFill>
                  <a:srgbClr val="0000FF"/>
                </a:solidFill>
                <a:latin typeface="+mn-ea"/>
              </a:rPr>
              <a:t>≤</a:t>
            </a:r>
            <a:r>
              <a:rPr lang="en-US" altLang="zh-CN">
                <a:solidFill>
                  <a:srgbClr val="0000FF"/>
                </a:solidFill>
                <a:latin typeface="Consolas" pitchFamily="49" charset="0"/>
                <a:ea typeface="仿宋" pitchFamily="49" charset="-122"/>
              </a:rPr>
              <a:t>D</a:t>
            </a:r>
            <a:r>
              <a:rPr lang="zh-CN" altLang="zh-CN">
                <a:solidFill>
                  <a:srgbClr val="0000FF"/>
                </a:solidFill>
                <a:latin typeface="+mn-ea"/>
              </a:rPr>
              <a:t>≤</a:t>
            </a:r>
            <a:r>
              <a:rPr lang="en-US" altLang="zh-CN">
                <a:solidFill>
                  <a:srgbClr val="0000FF"/>
                </a:solidFill>
                <a:latin typeface="Consolas" pitchFamily="49" charset="0"/>
                <a:ea typeface="仿宋" pitchFamily="49" charset="-122"/>
              </a:rPr>
              <a:t>100</a:t>
            </a:r>
            <a:r>
              <a:rPr lang="zh-CN" altLang="zh-CN">
                <a:solidFill>
                  <a:srgbClr val="0000FF"/>
                </a:solidFill>
                <a:latin typeface="Consolas" pitchFamily="49" charset="0"/>
                <a:ea typeface="仿宋" pitchFamily="49" charset="-122"/>
              </a:rPr>
              <a:t>）种饮料，他的</a:t>
            </a:r>
            <a:r>
              <a:rPr lang="en-US" altLang="zh-CN">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1</a:t>
            </a:r>
            <a:r>
              <a:rPr lang="zh-CN" altLang="zh-CN">
                <a:solidFill>
                  <a:srgbClr val="0000FF"/>
                </a:solidFill>
                <a:latin typeface="+mj-ea"/>
                <a:ea typeface="+mj-ea"/>
              </a:rPr>
              <a:t>≤</a:t>
            </a:r>
            <a:r>
              <a:rPr lang="en-US" altLang="zh-CN">
                <a:solidFill>
                  <a:srgbClr val="0000FF"/>
                </a:solidFill>
                <a:latin typeface="Consolas" pitchFamily="49" charset="0"/>
                <a:ea typeface="仿宋" pitchFamily="49" charset="-122"/>
              </a:rPr>
              <a:t>N</a:t>
            </a:r>
            <a:r>
              <a:rPr lang="zh-CN" altLang="zh-CN">
                <a:solidFill>
                  <a:srgbClr val="0000FF"/>
                </a:solidFill>
                <a:latin typeface="+mn-ea"/>
              </a:rPr>
              <a:t>≤</a:t>
            </a:r>
            <a:r>
              <a:rPr lang="en-US" altLang="zh-CN">
                <a:solidFill>
                  <a:srgbClr val="0000FF"/>
                </a:solidFill>
                <a:latin typeface="Consolas" pitchFamily="49" charset="0"/>
                <a:ea typeface="仿宋" pitchFamily="49" charset="-122"/>
              </a:rPr>
              <a:t>100</a:t>
            </a:r>
            <a:r>
              <a:rPr lang="zh-CN" altLang="zh-CN">
                <a:solidFill>
                  <a:srgbClr val="0000FF"/>
                </a:solidFill>
                <a:latin typeface="Consolas" pitchFamily="49" charset="0"/>
                <a:ea typeface="仿宋" pitchFamily="49" charset="-122"/>
              </a:rPr>
              <a:t>）头奶牛中的每一头都喜欢一些食物和一些饮料。如果一头奶牛分配到了一种喜欢的食物和一种喜欢的饮料，则该奶牛是满意的，求奶牛满意的最大数目是多少。</a:t>
            </a:r>
          </a:p>
        </p:txBody>
      </p:sp>
      <p:grpSp>
        <p:nvGrpSpPr>
          <p:cNvPr id="7" name="组合 6"/>
          <p:cNvGrpSpPr/>
          <p:nvPr/>
        </p:nvGrpSpPr>
        <p:grpSpPr>
          <a:xfrm>
            <a:off x="857224" y="714356"/>
            <a:ext cx="1041400" cy="1044575"/>
            <a:chOff x="857224" y="1071546"/>
            <a:chExt cx="1041400" cy="1044575"/>
          </a:xfrm>
        </p:grpSpPr>
        <p:sp>
          <p:nvSpPr>
            <p:cNvPr id="5" name="Freeform 8"/>
            <p:cNvSpPr>
              <a:spLocks noEditPoints="1"/>
            </p:cNvSpPr>
            <p:nvPr/>
          </p:nvSpPr>
          <p:spPr bwMode="auto">
            <a:xfrm>
              <a:off x="857224" y="1071546"/>
              <a:ext cx="1041400" cy="1044575"/>
            </a:xfrm>
            <a:custGeom>
              <a:avLst/>
              <a:gdLst>
                <a:gd name="T0" fmla="*/ 964145 w 337"/>
                <a:gd name="T1" fmla="*/ 540830 h 338"/>
                <a:gd name="T2" fmla="*/ 964145 w 337"/>
                <a:gd name="T3" fmla="*/ 494473 h 338"/>
                <a:gd name="T4" fmla="*/ 1041400 w 337"/>
                <a:gd name="T5" fmla="*/ 441936 h 338"/>
                <a:gd name="T6" fmla="*/ 1007408 w 337"/>
                <a:gd name="T7" fmla="*/ 321408 h 338"/>
                <a:gd name="T8" fmla="*/ 914701 w 337"/>
                <a:gd name="T9" fmla="*/ 318317 h 338"/>
                <a:gd name="T10" fmla="*/ 889980 w 337"/>
                <a:gd name="T11" fmla="*/ 275051 h 338"/>
                <a:gd name="T12" fmla="*/ 930153 w 337"/>
                <a:gd name="T13" fmla="*/ 191608 h 338"/>
                <a:gd name="T14" fmla="*/ 843627 w 337"/>
                <a:gd name="T15" fmla="*/ 105076 h 338"/>
                <a:gd name="T16" fmla="*/ 760191 w 337"/>
                <a:gd name="T17" fmla="*/ 148342 h 338"/>
                <a:gd name="T18" fmla="*/ 716928 w 337"/>
                <a:gd name="T19" fmla="*/ 123618 h 338"/>
                <a:gd name="T20" fmla="*/ 710748 w 337"/>
                <a:gd name="T21" fmla="*/ 30905 h 338"/>
                <a:gd name="T22" fmla="*/ 652034 w 337"/>
                <a:gd name="T23" fmla="*/ 15452 h 338"/>
                <a:gd name="T24" fmla="*/ 590230 w 337"/>
                <a:gd name="T25" fmla="*/ 0 h 338"/>
                <a:gd name="T26" fmla="*/ 540786 w 337"/>
                <a:gd name="T27" fmla="*/ 77261 h 338"/>
                <a:gd name="T28" fmla="*/ 494433 w 337"/>
                <a:gd name="T29" fmla="*/ 77261 h 338"/>
                <a:gd name="T30" fmla="*/ 441900 w 337"/>
                <a:gd name="T31" fmla="*/ 3090 h 338"/>
                <a:gd name="T32" fmla="*/ 321382 w 337"/>
                <a:gd name="T33" fmla="*/ 33995 h 338"/>
                <a:gd name="T34" fmla="*/ 318291 w 337"/>
                <a:gd name="T35" fmla="*/ 126709 h 338"/>
                <a:gd name="T36" fmla="*/ 275028 w 337"/>
                <a:gd name="T37" fmla="*/ 151432 h 338"/>
                <a:gd name="T38" fmla="*/ 191593 w 337"/>
                <a:gd name="T39" fmla="*/ 111257 h 338"/>
                <a:gd name="T40" fmla="*/ 105067 w 337"/>
                <a:gd name="T41" fmla="*/ 200880 h 338"/>
                <a:gd name="T42" fmla="*/ 148330 w 337"/>
                <a:gd name="T43" fmla="*/ 281232 h 338"/>
                <a:gd name="T44" fmla="*/ 123608 w 337"/>
                <a:gd name="T45" fmla="*/ 324498 h 338"/>
                <a:gd name="T46" fmla="*/ 30902 w 337"/>
                <a:gd name="T47" fmla="*/ 330679 h 338"/>
                <a:gd name="T48" fmla="*/ 15451 w 337"/>
                <a:gd name="T49" fmla="*/ 392488 h 338"/>
                <a:gd name="T50" fmla="*/ 0 w 337"/>
                <a:gd name="T51" fmla="*/ 451207 h 338"/>
                <a:gd name="T52" fmla="*/ 77255 w 337"/>
                <a:gd name="T53" fmla="*/ 500654 h 338"/>
                <a:gd name="T54" fmla="*/ 77255 w 337"/>
                <a:gd name="T55" fmla="*/ 550102 h 338"/>
                <a:gd name="T56" fmla="*/ 0 w 337"/>
                <a:gd name="T57" fmla="*/ 602639 h 338"/>
                <a:gd name="T58" fmla="*/ 33992 w 337"/>
                <a:gd name="T59" fmla="*/ 723167 h 338"/>
                <a:gd name="T60" fmla="*/ 126699 w 337"/>
                <a:gd name="T61" fmla="*/ 726258 h 338"/>
                <a:gd name="T62" fmla="*/ 151420 w 337"/>
                <a:gd name="T63" fmla="*/ 766434 h 338"/>
                <a:gd name="T64" fmla="*/ 111247 w 337"/>
                <a:gd name="T65" fmla="*/ 849876 h 338"/>
                <a:gd name="T66" fmla="*/ 200864 w 337"/>
                <a:gd name="T67" fmla="*/ 939499 h 338"/>
                <a:gd name="T68" fmla="*/ 281209 w 337"/>
                <a:gd name="T69" fmla="*/ 896233 h 338"/>
                <a:gd name="T70" fmla="*/ 324472 w 337"/>
                <a:gd name="T71" fmla="*/ 920957 h 338"/>
                <a:gd name="T72" fmla="*/ 330652 w 337"/>
                <a:gd name="T73" fmla="*/ 1013670 h 338"/>
                <a:gd name="T74" fmla="*/ 389366 w 337"/>
                <a:gd name="T75" fmla="*/ 1029123 h 338"/>
                <a:gd name="T76" fmla="*/ 451170 w 337"/>
                <a:gd name="T77" fmla="*/ 1044575 h 338"/>
                <a:gd name="T78" fmla="*/ 500614 w 337"/>
                <a:gd name="T79" fmla="*/ 964223 h 338"/>
                <a:gd name="T80" fmla="*/ 550057 w 337"/>
                <a:gd name="T81" fmla="*/ 964223 h 338"/>
                <a:gd name="T82" fmla="*/ 602591 w 337"/>
                <a:gd name="T83" fmla="*/ 1041485 h 338"/>
                <a:gd name="T84" fmla="*/ 720018 w 337"/>
                <a:gd name="T85" fmla="*/ 1007489 h 338"/>
                <a:gd name="T86" fmla="*/ 726199 w 337"/>
                <a:gd name="T87" fmla="*/ 914776 h 338"/>
                <a:gd name="T88" fmla="*/ 766372 w 337"/>
                <a:gd name="T89" fmla="*/ 890052 h 338"/>
                <a:gd name="T90" fmla="*/ 849807 w 337"/>
                <a:gd name="T91" fmla="*/ 933318 h 338"/>
                <a:gd name="T92" fmla="*/ 936333 w 337"/>
                <a:gd name="T93" fmla="*/ 843695 h 338"/>
                <a:gd name="T94" fmla="*/ 896160 w 337"/>
                <a:gd name="T95" fmla="*/ 760253 h 338"/>
                <a:gd name="T96" fmla="*/ 917792 w 337"/>
                <a:gd name="T97" fmla="*/ 720077 h 338"/>
                <a:gd name="T98" fmla="*/ 1010498 w 337"/>
                <a:gd name="T99" fmla="*/ 713896 h 338"/>
                <a:gd name="T100" fmla="*/ 1025949 w 337"/>
                <a:gd name="T101" fmla="*/ 652087 h 338"/>
                <a:gd name="T102" fmla="*/ 1041400 w 337"/>
                <a:gd name="T103" fmla="*/ 593368 h 338"/>
                <a:gd name="T104" fmla="*/ 964145 w 337"/>
                <a:gd name="T105" fmla="*/ 540830 h 338"/>
                <a:gd name="T106" fmla="*/ 432629 w 337"/>
                <a:gd name="T107" fmla="*/ 868419 h 338"/>
                <a:gd name="T108" fmla="*/ 176142 w 337"/>
                <a:gd name="T109" fmla="*/ 432664 h 338"/>
                <a:gd name="T110" fmla="*/ 611861 w 337"/>
                <a:gd name="T111" fmla="*/ 176156 h 338"/>
                <a:gd name="T112" fmla="*/ 868348 w 337"/>
                <a:gd name="T113" fmla="*/ 611911 h 338"/>
                <a:gd name="T114" fmla="*/ 432629 w 337"/>
                <a:gd name="T115" fmla="*/ 868419 h 338"/>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337" h="338">
                  <a:moveTo>
                    <a:pt x="312" y="175"/>
                  </a:moveTo>
                  <a:cubicBezTo>
                    <a:pt x="312" y="170"/>
                    <a:pt x="312" y="165"/>
                    <a:pt x="312" y="160"/>
                  </a:cubicBezTo>
                  <a:cubicBezTo>
                    <a:pt x="337" y="143"/>
                    <a:pt x="337" y="143"/>
                    <a:pt x="337" y="143"/>
                  </a:cubicBezTo>
                  <a:cubicBezTo>
                    <a:pt x="326" y="104"/>
                    <a:pt x="326" y="104"/>
                    <a:pt x="326" y="104"/>
                  </a:cubicBezTo>
                  <a:cubicBezTo>
                    <a:pt x="296" y="103"/>
                    <a:pt x="296" y="103"/>
                    <a:pt x="296" y="103"/>
                  </a:cubicBezTo>
                  <a:cubicBezTo>
                    <a:pt x="294" y="98"/>
                    <a:pt x="291" y="94"/>
                    <a:pt x="288" y="89"/>
                  </a:cubicBezTo>
                  <a:cubicBezTo>
                    <a:pt x="301" y="62"/>
                    <a:pt x="301" y="62"/>
                    <a:pt x="301" y="62"/>
                  </a:cubicBezTo>
                  <a:cubicBezTo>
                    <a:pt x="273" y="34"/>
                    <a:pt x="273" y="34"/>
                    <a:pt x="273" y="34"/>
                  </a:cubicBezTo>
                  <a:cubicBezTo>
                    <a:pt x="246" y="48"/>
                    <a:pt x="246" y="48"/>
                    <a:pt x="246" y="48"/>
                  </a:cubicBezTo>
                  <a:cubicBezTo>
                    <a:pt x="242" y="45"/>
                    <a:pt x="237" y="42"/>
                    <a:pt x="232" y="40"/>
                  </a:cubicBezTo>
                  <a:cubicBezTo>
                    <a:pt x="230" y="10"/>
                    <a:pt x="230" y="10"/>
                    <a:pt x="230" y="10"/>
                  </a:cubicBezTo>
                  <a:cubicBezTo>
                    <a:pt x="211" y="5"/>
                    <a:pt x="211" y="5"/>
                    <a:pt x="211" y="5"/>
                  </a:cubicBezTo>
                  <a:cubicBezTo>
                    <a:pt x="191" y="0"/>
                    <a:pt x="191" y="0"/>
                    <a:pt x="191" y="0"/>
                  </a:cubicBezTo>
                  <a:cubicBezTo>
                    <a:pt x="175" y="25"/>
                    <a:pt x="175" y="25"/>
                    <a:pt x="175" y="25"/>
                  </a:cubicBezTo>
                  <a:cubicBezTo>
                    <a:pt x="170" y="25"/>
                    <a:pt x="165" y="25"/>
                    <a:pt x="160" y="25"/>
                  </a:cubicBezTo>
                  <a:cubicBezTo>
                    <a:pt x="143" y="1"/>
                    <a:pt x="143" y="1"/>
                    <a:pt x="143" y="1"/>
                  </a:cubicBezTo>
                  <a:cubicBezTo>
                    <a:pt x="104" y="11"/>
                    <a:pt x="104" y="11"/>
                    <a:pt x="104" y="11"/>
                  </a:cubicBezTo>
                  <a:cubicBezTo>
                    <a:pt x="103" y="41"/>
                    <a:pt x="103" y="41"/>
                    <a:pt x="103" y="41"/>
                  </a:cubicBezTo>
                  <a:cubicBezTo>
                    <a:pt x="98" y="44"/>
                    <a:pt x="93" y="46"/>
                    <a:pt x="89" y="49"/>
                  </a:cubicBezTo>
                  <a:cubicBezTo>
                    <a:pt x="62" y="36"/>
                    <a:pt x="62" y="36"/>
                    <a:pt x="62" y="36"/>
                  </a:cubicBezTo>
                  <a:cubicBezTo>
                    <a:pt x="34" y="65"/>
                    <a:pt x="34" y="65"/>
                    <a:pt x="34" y="65"/>
                  </a:cubicBezTo>
                  <a:cubicBezTo>
                    <a:pt x="48" y="91"/>
                    <a:pt x="48" y="91"/>
                    <a:pt x="48" y="91"/>
                  </a:cubicBezTo>
                  <a:cubicBezTo>
                    <a:pt x="45" y="96"/>
                    <a:pt x="42" y="100"/>
                    <a:pt x="40" y="105"/>
                  </a:cubicBezTo>
                  <a:cubicBezTo>
                    <a:pt x="10" y="107"/>
                    <a:pt x="10" y="107"/>
                    <a:pt x="10" y="107"/>
                  </a:cubicBezTo>
                  <a:cubicBezTo>
                    <a:pt x="5" y="127"/>
                    <a:pt x="5" y="127"/>
                    <a:pt x="5" y="127"/>
                  </a:cubicBezTo>
                  <a:cubicBezTo>
                    <a:pt x="0" y="146"/>
                    <a:pt x="0" y="146"/>
                    <a:pt x="0" y="146"/>
                  </a:cubicBezTo>
                  <a:cubicBezTo>
                    <a:pt x="25" y="162"/>
                    <a:pt x="25" y="162"/>
                    <a:pt x="25" y="162"/>
                  </a:cubicBezTo>
                  <a:cubicBezTo>
                    <a:pt x="25" y="168"/>
                    <a:pt x="25" y="173"/>
                    <a:pt x="25" y="178"/>
                  </a:cubicBezTo>
                  <a:cubicBezTo>
                    <a:pt x="0" y="195"/>
                    <a:pt x="0" y="195"/>
                    <a:pt x="0" y="195"/>
                  </a:cubicBezTo>
                  <a:cubicBezTo>
                    <a:pt x="11" y="234"/>
                    <a:pt x="11" y="234"/>
                    <a:pt x="11" y="234"/>
                  </a:cubicBezTo>
                  <a:cubicBezTo>
                    <a:pt x="41" y="235"/>
                    <a:pt x="41" y="235"/>
                    <a:pt x="41" y="235"/>
                  </a:cubicBezTo>
                  <a:cubicBezTo>
                    <a:pt x="44" y="240"/>
                    <a:pt x="46" y="244"/>
                    <a:pt x="49" y="248"/>
                  </a:cubicBezTo>
                  <a:cubicBezTo>
                    <a:pt x="36" y="275"/>
                    <a:pt x="36" y="275"/>
                    <a:pt x="36" y="275"/>
                  </a:cubicBezTo>
                  <a:cubicBezTo>
                    <a:pt x="65" y="304"/>
                    <a:pt x="65" y="304"/>
                    <a:pt x="65" y="304"/>
                  </a:cubicBezTo>
                  <a:cubicBezTo>
                    <a:pt x="91" y="290"/>
                    <a:pt x="91" y="290"/>
                    <a:pt x="91" y="290"/>
                  </a:cubicBezTo>
                  <a:cubicBezTo>
                    <a:pt x="96" y="293"/>
                    <a:pt x="100" y="295"/>
                    <a:pt x="105" y="298"/>
                  </a:cubicBezTo>
                  <a:cubicBezTo>
                    <a:pt x="107" y="328"/>
                    <a:pt x="107" y="328"/>
                    <a:pt x="107" y="328"/>
                  </a:cubicBezTo>
                  <a:cubicBezTo>
                    <a:pt x="126" y="333"/>
                    <a:pt x="126" y="333"/>
                    <a:pt x="126" y="333"/>
                  </a:cubicBezTo>
                  <a:cubicBezTo>
                    <a:pt x="146" y="338"/>
                    <a:pt x="146" y="338"/>
                    <a:pt x="146" y="338"/>
                  </a:cubicBezTo>
                  <a:cubicBezTo>
                    <a:pt x="162" y="312"/>
                    <a:pt x="162" y="312"/>
                    <a:pt x="162" y="312"/>
                  </a:cubicBezTo>
                  <a:cubicBezTo>
                    <a:pt x="167" y="313"/>
                    <a:pt x="173" y="313"/>
                    <a:pt x="178" y="312"/>
                  </a:cubicBezTo>
                  <a:cubicBezTo>
                    <a:pt x="195" y="337"/>
                    <a:pt x="195" y="337"/>
                    <a:pt x="195" y="337"/>
                  </a:cubicBezTo>
                  <a:cubicBezTo>
                    <a:pt x="233" y="326"/>
                    <a:pt x="233" y="326"/>
                    <a:pt x="233" y="326"/>
                  </a:cubicBezTo>
                  <a:cubicBezTo>
                    <a:pt x="235" y="296"/>
                    <a:pt x="235" y="296"/>
                    <a:pt x="235" y="296"/>
                  </a:cubicBezTo>
                  <a:cubicBezTo>
                    <a:pt x="239" y="294"/>
                    <a:pt x="244" y="291"/>
                    <a:pt x="248" y="288"/>
                  </a:cubicBezTo>
                  <a:cubicBezTo>
                    <a:pt x="275" y="302"/>
                    <a:pt x="275" y="302"/>
                    <a:pt x="275" y="302"/>
                  </a:cubicBezTo>
                  <a:cubicBezTo>
                    <a:pt x="303" y="273"/>
                    <a:pt x="303" y="273"/>
                    <a:pt x="303" y="273"/>
                  </a:cubicBezTo>
                  <a:cubicBezTo>
                    <a:pt x="290" y="246"/>
                    <a:pt x="290" y="246"/>
                    <a:pt x="290" y="246"/>
                  </a:cubicBezTo>
                  <a:cubicBezTo>
                    <a:pt x="293" y="242"/>
                    <a:pt x="295" y="237"/>
                    <a:pt x="297" y="233"/>
                  </a:cubicBezTo>
                  <a:cubicBezTo>
                    <a:pt x="327" y="231"/>
                    <a:pt x="327" y="231"/>
                    <a:pt x="327" y="231"/>
                  </a:cubicBezTo>
                  <a:cubicBezTo>
                    <a:pt x="332" y="211"/>
                    <a:pt x="332" y="211"/>
                    <a:pt x="332" y="211"/>
                  </a:cubicBezTo>
                  <a:cubicBezTo>
                    <a:pt x="337" y="192"/>
                    <a:pt x="337" y="192"/>
                    <a:pt x="337" y="192"/>
                  </a:cubicBezTo>
                  <a:lnTo>
                    <a:pt x="312" y="175"/>
                  </a:lnTo>
                  <a:close/>
                  <a:moveTo>
                    <a:pt x="140" y="281"/>
                  </a:moveTo>
                  <a:cubicBezTo>
                    <a:pt x="78" y="265"/>
                    <a:pt x="41" y="202"/>
                    <a:pt x="57" y="140"/>
                  </a:cubicBezTo>
                  <a:cubicBezTo>
                    <a:pt x="73" y="78"/>
                    <a:pt x="136" y="41"/>
                    <a:pt x="198" y="57"/>
                  </a:cubicBezTo>
                  <a:cubicBezTo>
                    <a:pt x="259" y="73"/>
                    <a:pt x="297" y="136"/>
                    <a:pt x="281" y="198"/>
                  </a:cubicBezTo>
                  <a:cubicBezTo>
                    <a:pt x="265" y="260"/>
                    <a:pt x="202" y="297"/>
                    <a:pt x="140" y="281"/>
                  </a:cubicBezTo>
                  <a:close/>
                </a:path>
              </a:pathLst>
            </a:custGeom>
            <a:solidFill>
              <a:srgbClr val="1848C0"/>
            </a:solidFill>
            <a:ln>
              <a:noFill/>
            </a:ln>
          </p:spPr>
          <p:txBody>
            <a:bodyPr/>
            <a:lstStyle/>
            <a:p>
              <a:endParaRPr lang="zh-CN" altLang="en-US"/>
            </a:p>
          </p:txBody>
        </p:sp>
        <p:sp>
          <p:nvSpPr>
            <p:cNvPr id="6" name="Rectangle 16"/>
            <p:cNvSpPr>
              <a:spLocks noChangeArrowheads="1"/>
            </p:cNvSpPr>
            <p:nvPr/>
          </p:nvSpPr>
          <p:spPr bwMode="auto">
            <a:xfrm>
              <a:off x="1066774" y="1399481"/>
              <a:ext cx="6635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lnSpc>
                  <a:spcPct val="120000"/>
                </a:lnSpc>
              </a:pPr>
              <a:r>
                <a:rPr lang="zh-CN" altLang="en-US" sz="2000"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华文中宋" pitchFamily="2" charset="-122"/>
                  <a:ea typeface="华文中宋" pitchFamily="2" charset="-122"/>
                </a:rPr>
                <a:t>实例</a:t>
              </a:r>
              <a:endParaRPr lang="zh-CN" altLang="zh-CN" sz="2000"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华文中宋" pitchFamily="2" charset="-122"/>
                <a:ea typeface="华文中宋" pitchFamily="2" charset="-122"/>
              </a:endParaRPr>
            </a:p>
          </p:txBody>
        </p:sp>
      </p:grpSp>
      <p:sp>
        <p:nvSpPr>
          <p:cNvPr id="8" name="灯片编号占位符 7"/>
          <p:cNvSpPr>
            <a:spLocks noGrp="1"/>
          </p:cNvSpPr>
          <p:nvPr>
            <p:ph type="sldNum" sz="quarter" idx="12"/>
          </p:nvPr>
        </p:nvSpPr>
        <p:spPr/>
        <p:txBody>
          <a:bodyPr/>
          <a:lstStyle/>
          <a:p>
            <a:fld id="{7AF016A1-9F15-429F-9EFD-84004B73C732}" type="slidenum">
              <a:rPr lang="en-US" altLang="zh-CN" smtClean="0"/>
              <a:pPr/>
              <a:t>134</a:t>
            </a:fld>
            <a:r>
              <a:rPr lang="en-US" altLang="zh-CN"/>
              <a:t>/158</a:t>
            </a: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0034" y="714356"/>
            <a:ext cx="8358246" cy="2221121"/>
          </a:xfrm>
          <a:prstGeom prst="rect">
            <a:avLst/>
          </a:prstGeom>
          <a:ln>
            <a:solidFill>
              <a:schemeClr val="accent6">
                <a:lumMod val="20000"/>
                <a:lumOff val="8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200"/>
              </a:lnSpc>
              <a:spcBef>
                <a:spcPts val="600"/>
              </a:spcBef>
            </a:pPr>
            <a:r>
              <a:rPr lang="zh-CN" altLang="zh-CN">
                <a:solidFill>
                  <a:srgbClr val="FF0000"/>
                </a:solidFill>
                <a:latin typeface="Consolas" pitchFamily="49" charset="0"/>
                <a:ea typeface="仿宋" pitchFamily="49" charset="-122"/>
              </a:rPr>
              <a:t>输入格式</a:t>
            </a:r>
            <a:r>
              <a:rPr lang="zh-CN" altLang="zh-CN">
                <a:solidFill>
                  <a:srgbClr val="0000FF"/>
                </a:solidFill>
                <a:latin typeface="Consolas" pitchFamily="49" charset="0"/>
                <a:ea typeface="仿宋" pitchFamily="49" charset="-122"/>
              </a:rPr>
              <a:t>：输入的第一行是三个以空格分隔的整数</a:t>
            </a:r>
            <a:r>
              <a:rPr lang="en-US" altLang="zh-CN">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F</a:t>
            </a:r>
            <a:r>
              <a:rPr lang="zh-CN" altLang="zh-CN">
                <a:solidFill>
                  <a:srgbClr val="0000FF"/>
                </a:solidFill>
                <a:latin typeface="Consolas" pitchFamily="49" charset="0"/>
                <a:ea typeface="仿宋" pitchFamily="49" charset="-122"/>
              </a:rPr>
              <a:t>和</a:t>
            </a:r>
            <a:r>
              <a:rPr lang="en-US" altLang="zh-CN">
                <a:solidFill>
                  <a:srgbClr val="0000FF"/>
                </a:solidFill>
                <a:latin typeface="Consolas" pitchFamily="49" charset="0"/>
                <a:ea typeface="仿宋" pitchFamily="49" charset="-122"/>
              </a:rPr>
              <a:t>D</a:t>
            </a:r>
            <a:r>
              <a:rPr lang="zh-CN" altLang="zh-CN">
                <a:solidFill>
                  <a:srgbClr val="0000FF"/>
                </a:solidFill>
                <a:latin typeface="Consolas" pitchFamily="49" charset="0"/>
                <a:ea typeface="仿宋" pitchFamily="49" charset="-122"/>
              </a:rPr>
              <a:t>，第</a:t>
            </a:r>
            <a:r>
              <a:rPr lang="en-US"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行到第</a:t>
            </a:r>
            <a:r>
              <a:rPr lang="en-US" altLang="zh-CN">
                <a:solidFill>
                  <a:srgbClr val="0000FF"/>
                </a:solidFill>
                <a:latin typeface="Consolas" pitchFamily="49" charset="0"/>
                <a:ea typeface="仿宋" pitchFamily="49" charset="-122"/>
              </a:rPr>
              <a:t>N+1</a:t>
            </a:r>
            <a:r>
              <a:rPr lang="zh-CN" altLang="zh-CN">
                <a:solidFill>
                  <a:srgbClr val="0000FF"/>
                </a:solidFill>
                <a:latin typeface="Consolas" pitchFamily="49" charset="0"/>
                <a:ea typeface="仿宋" pitchFamily="49" charset="-122"/>
              </a:rPr>
              <a:t>行共</a:t>
            </a:r>
            <a:r>
              <a:rPr lang="en-US" altLang="zh-CN">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行，每行以两个整数</a:t>
            </a:r>
            <a:r>
              <a:rPr lang="en-US" altLang="zh-CN">
                <a:solidFill>
                  <a:srgbClr val="0000FF"/>
                </a:solidFill>
                <a:latin typeface="Consolas" pitchFamily="49" charset="0"/>
                <a:ea typeface="仿宋" pitchFamily="49" charset="-122"/>
              </a:rPr>
              <a:t>Fi</a:t>
            </a:r>
            <a:r>
              <a:rPr lang="zh-CN" altLang="zh-CN">
                <a:solidFill>
                  <a:srgbClr val="0000FF"/>
                </a:solidFill>
                <a:latin typeface="Consolas" pitchFamily="49" charset="0"/>
                <a:ea typeface="仿宋" pitchFamily="49" charset="-122"/>
              </a:rPr>
              <a:t>和</a:t>
            </a:r>
            <a:r>
              <a:rPr lang="en-US" altLang="zh-CN">
                <a:solidFill>
                  <a:srgbClr val="0000FF"/>
                </a:solidFill>
                <a:latin typeface="Consolas" pitchFamily="49" charset="0"/>
                <a:ea typeface="仿宋" pitchFamily="49" charset="-122"/>
              </a:rPr>
              <a:t>Di</a:t>
            </a:r>
            <a:r>
              <a:rPr lang="zh-CN" altLang="zh-CN">
                <a:solidFill>
                  <a:srgbClr val="0000FF"/>
                </a:solidFill>
                <a:latin typeface="Consolas" pitchFamily="49" charset="0"/>
                <a:ea typeface="仿宋" pitchFamily="49" charset="-122"/>
              </a:rPr>
              <a:t>开头，即奶牛</a:t>
            </a:r>
            <a:r>
              <a:rPr lang="en-US" altLang="zh-CN" i="1">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喜欢的食物数量和饮料数量，接下来</a:t>
            </a:r>
            <a:r>
              <a:rPr lang="en-US" altLang="zh-CN">
                <a:solidFill>
                  <a:srgbClr val="0000FF"/>
                </a:solidFill>
                <a:latin typeface="Consolas" pitchFamily="49" charset="0"/>
                <a:ea typeface="仿宋" pitchFamily="49" charset="-122"/>
              </a:rPr>
              <a:t>Fi</a:t>
            </a:r>
            <a:r>
              <a:rPr lang="zh-CN" altLang="zh-CN">
                <a:solidFill>
                  <a:srgbClr val="0000FF"/>
                </a:solidFill>
                <a:latin typeface="Consolas" pitchFamily="49" charset="0"/>
                <a:ea typeface="仿宋" pitchFamily="49" charset="-122"/>
              </a:rPr>
              <a:t>个整数表示奶牛</a:t>
            </a:r>
            <a:r>
              <a:rPr lang="en-US" altLang="zh-CN" i="1">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喜欢的食物，最后</a:t>
            </a:r>
            <a:r>
              <a:rPr lang="en-US" altLang="zh-CN">
                <a:solidFill>
                  <a:srgbClr val="0000FF"/>
                </a:solidFill>
                <a:latin typeface="Consolas" pitchFamily="49" charset="0"/>
                <a:ea typeface="仿宋" pitchFamily="49" charset="-122"/>
              </a:rPr>
              <a:t>Di</a:t>
            </a:r>
            <a:r>
              <a:rPr lang="zh-CN" altLang="zh-CN">
                <a:solidFill>
                  <a:srgbClr val="0000FF"/>
                </a:solidFill>
                <a:latin typeface="Consolas" pitchFamily="49" charset="0"/>
                <a:ea typeface="仿宋" pitchFamily="49" charset="-122"/>
              </a:rPr>
              <a:t>个整数表示奶牛</a:t>
            </a:r>
            <a:r>
              <a:rPr lang="en-US" altLang="zh-CN" i="1">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喜欢的食物饮料。</a:t>
            </a:r>
          </a:p>
          <a:p>
            <a:pPr algn="l">
              <a:lnSpc>
                <a:spcPts val="3200"/>
              </a:lnSpc>
              <a:spcBef>
                <a:spcPts val="600"/>
              </a:spcBef>
            </a:pPr>
            <a:r>
              <a:rPr lang="zh-CN" altLang="zh-CN">
                <a:solidFill>
                  <a:srgbClr val="FF0000"/>
                </a:solidFill>
                <a:latin typeface="Consolas" pitchFamily="49" charset="0"/>
                <a:ea typeface="仿宋" pitchFamily="49" charset="-122"/>
              </a:rPr>
              <a:t>输出格式</a:t>
            </a:r>
            <a:r>
              <a:rPr lang="zh-CN" altLang="zh-CN">
                <a:solidFill>
                  <a:srgbClr val="0000FF"/>
                </a:solidFill>
                <a:latin typeface="Consolas" pitchFamily="49" charset="0"/>
                <a:ea typeface="仿宋" pitchFamily="49" charset="-122"/>
              </a:rPr>
              <a:t>：输出一行包含一个整数表示奶牛满意的最大数目。</a:t>
            </a: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135</a:t>
            </a:fld>
            <a:r>
              <a:rPr lang="en-US" altLang="zh-CN"/>
              <a:t>/158</a:t>
            </a: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71472" y="642918"/>
            <a:ext cx="7929618" cy="3295875"/>
          </a:xfrm>
          <a:prstGeom prst="rect">
            <a:avLst/>
          </a:prstGeom>
          <a:ln>
            <a:solidFill>
              <a:schemeClr val="accent6">
                <a:lumMod val="20000"/>
                <a:lumOff val="8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lIns="216000" tIns="108000" bIns="108000" rtlCol="0">
            <a:spAutoFit/>
          </a:bodyPr>
          <a:lstStyle/>
          <a:p>
            <a:pPr algn="l" defTabSz="360000">
              <a:lnSpc>
                <a:spcPts val="3000"/>
              </a:lnSpc>
              <a:spcBef>
                <a:spcPts val="0"/>
              </a:spcBef>
            </a:pPr>
            <a:r>
              <a:rPr lang="zh-CN" altLang="zh-CN">
                <a:solidFill>
                  <a:srgbClr val="FF0000"/>
                </a:solidFill>
                <a:latin typeface="Consolas" pitchFamily="49" charset="0"/>
                <a:ea typeface="仿宋" pitchFamily="49" charset="-122"/>
              </a:rPr>
              <a:t>输入样例：</a:t>
            </a:r>
          </a:p>
          <a:p>
            <a:pPr algn="l" defTabSz="360000">
              <a:lnSpc>
                <a:spcPts val="3000"/>
              </a:lnSpc>
              <a:spcBef>
                <a:spcPts val="0"/>
              </a:spcBef>
            </a:pPr>
            <a:r>
              <a:rPr lang="en-US" altLang="zh-CN" sz="2000">
                <a:solidFill>
                  <a:srgbClr val="0000FF"/>
                </a:solidFill>
                <a:latin typeface="Consolas" pitchFamily="49" charset="0"/>
                <a:ea typeface="仿宋" pitchFamily="49" charset="-122"/>
              </a:rPr>
              <a:t>4 3 3</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6600"/>
                </a:solidFill>
                <a:latin typeface="Consolas" pitchFamily="49" charset="0"/>
                <a:ea typeface="仿宋" pitchFamily="49" charset="-122"/>
              </a:rPr>
              <a:t>2 2</a:t>
            </a:r>
            <a:r>
              <a:rPr lang="en-US" altLang="zh-CN" sz="2000">
                <a:solidFill>
                  <a:srgbClr val="0000FF"/>
                </a:solidFill>
                <a:latin typeface="Consolas" pitchFamily="49" charset="0"/>
                <a:ea typeface="仿宋" pitchFamily="49" charset="-122"/>
              </a:rPr>
              <a:t> 1 2 3 1</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6600"/>
                </a:solidFill>
                <a:latin typeface="Consolas" pitchFamily="49" charset="0"/>
                <a:ea typeface="仿宋" pitchFamily="49" charset="-122"/>
              </a:rPr>
              <a:t>2 2</a:t>
            </a:r>
            <a:r>
              <a:rPr lang="en-US" altLang="zh-CN" sz="2000">
                <a:solidFill>
                  <a:srgbClr val="0000FF"/>
                </a:solidFill>
                <a:latin typeface="Consolas" pitchFamily="49" charset="0"/>
                <a:ea typeface="仿宋" pitchFamily="49" charset="-122"/>
              </a:rPr>
              <a:t> 2 3 1 2</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6600"/>
                </a:solidFill>
                <a:latin typeface="Consolas" pitchFamily="49" charset="0"/>
                <a:ea typeface="仿宋" pitchFamily="49" charset="-122"/>
              </a:rPr>
              <a:t>2 2</a:t>
            </a:r>
            <a:r>
              <a:rPr lang="en-US" altLang="zh-CN" sz="2000">
                <a:solidFill>
                  <a:srgbClr val="0000FF"/>
                </a:solidFill>
                <a:latin typeface="Consolas" pitchFamily="49" charset="0"/>
                <a:ea typeface="仿宋" pitchFamily="49" charset="-122"/>
              </a:rPr>
              <a:t> 1 3 1 2</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6600"/>
                </a:solidFill>
                <a:latin typeface="Consolas" pitchFamily="49" charset="0"/>
                <a:ea typeface="仿宋" pitchFamily="49" charset="-122"/>
              </a:rPr>
              <a:t>2 1</a:t>
            </a:r>
            <a:r>
              <a:rPr lang="en-US" altLang="zh-CN" sz="2000">
                <a:solidFill>
                  <a:srgbClr val="0000FF"/>
                </a:solidFill>
                <a:latin typeface="Consolas" pitchFamily="49" charset="0"/>
                <a:ea typeface="仿宋" pitchFamily="49" charset="-122"/>
              </a:rPr>
              <a:t> 1 3 3</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zh-CN" altLang="zh-CN">
                <a:solidFill>
                  <a:srgbClr val="FF0000"/>
                </a:solidFill>
                <a:latin typeface="Consolas" pitchFamily="49" charset="0"/>
                <a:ea typeface="仿宋" pitchFamily="49" charset="-122"/>
              </a:rPr>
              <a:t>输出样例：</a:t>
            </a:r>
          </a:p>
          <a:p>
            <a:pPr algn="l" defTabSz="360000">
              <a:lnSpc>
                <a:spcPts val="3000"/>
              </a:lnSpc>
              <a:spcBef>
                <a:spcPts val="0"/>
              </a:spcBef>
            </a:pPr>
            <a:r>
              <a:rPr lang="en-US" altLang="zh-CN" sz="2000">
                <a:solidFill>
                  <a:srgbClr val="0000FF"/>
                </a:solidFill>
                <a:latin typeface="Consolas" pitchFamily="49" charset="0"/>
                <a:ea typeface="仿宋" pitchFamily="49" charset="-122"/>
              </a:rPr>
              <a:t>3</a:t>
            </a:r>
            <a:endParaRPr lang="zh-CN" altLang="zh-CN" sz="2000">
              <a:solidFill>
                <a:srgbClr val="0000FF"/>
              </a:solidFill>
              <a:latin typeface="Consolas" pitchFamily="49" charset="0"/>
              <a:ea typeface="仿宋" pitchFamily="49" charset="-122"/>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136</a:t>
            </a:fld>
            <a:r>
              <a:rPr lang="en-US" altLang="zh-CN"/>
              <a:t>/158</a:t>
            </a: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57158" y="467005"/>
            <a:ext cx="1000132" cy="461665"/>
          </a:xfrm>
          <a:prstGeom prst="rect">
            <a:avLst/>
          </a:prstGeom>
          <a:solidFill>
            <a:schemeClr val="accent5">
              <a:lumMod val="20000"/>
              <a:lumOff val="80000"/>
            </a:schemeClr>
          </a:solidFill>
          <a:ln/>
          <a:effectLst>
            <a:outerShdw blurRad="76200" dir="13500000" sy="23000" kx="1200000" algn="br" rotWithShape="0">
              <a:prstClr val="black">
                <a:alpha val="20000"/>
              </a:prstClr>
            </a:outerShdw>
          </a:effectLst>
        </p:spPr>
        <p:style>
          <a:lnRef idx="3">
            <a:schemeClr val="lt1"/>
          </a:lnRef>
          <a:fillRef idx="1">
            <a:schemeClr val="dk1"/>
          </a:fillRef>
          <a:effectRef idx="1">
            <a:schemeClr val="dk1"/>
          </a:effectRef>
          <a:fontRef idx="minor">
            <a:schemeClr val="lt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pPr>
              <a:lnSpc>
                <a:spcPct val="100000"/>
              </a:lnSpc>
              <a:spcBef>
                <a:spcPts val="0"/>
              </a:spcBef>
            </a:pPr>
            <a:r>
              <a:rPr lang="zh-CN" altLang="en-US"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Consolas" pitchFamily="49" charset="0"/>
                <a:ea typeface="华文中宋" pitchFamily="2" charset="-122"/>
                <a:cs typeface="Consolas" pitchFamily="49" charset="0"/>
              </a:rPr>
              <a:t>解法</a:t>
            </a:r>
            <a:r>
              <a:rPr lang="en-US" altLang="zh-CN"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Consolas" pitchFamily="49" charset="0"/>
                <a:ea typeface="华文中宋" pitchFamily="2" charset="-122"/>
                <a:cs typeface="Consolas" pitchFamily="49" charset="0"/>
              </a:rPr>
              <a:t>1</a:t>
            </a:r>
            <a:endParaRPr lang="zh-CN" altLang="en-US"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Consolas" pitchFamily="49" charset="0"/>
              <a:ea typeface="华文中宋" pitchFamily="2" charset="-122"/>
              <a:cs typeface="Consolas" pitchFamily="49" charset="0"/>
            </a:endParaRPr>
          </a:p>
        </p:txBody>
      </p:sp>
      <p:sp>
        <p:nvSpPr>
          <p:cNvPr id="5" name="TextBox 4"/>
          <p:cNvSpPr txBox="1"/>
          <p:nvPr/>
        </p:nvSpPr>
        <p:spPr>
          <a:xfrm>
            <a:off x="285720" y="1252823"/>
            <a:ext cx="7500990"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itchFamily="49" charset="0"/>
                <a:ea typeface="仿宋" pitchFamily="49" charset="-122"/>
              </a:rPr>
              <a:t>首先建模，按如下方式建立初始网络：</a:t>
            </a:r>
            <a:endParaRPr lang="zh-CN" altLang="en-US">
              <a:solidFill>
                <a:srgbClr val="0000FF"/>
              </a:solidFill>
              <a:latin typeface="Consolas" pitchFamily="49" charset="0"/>
              <a:ea typeface="仿宋" pitchFamily="49" charset="-122"/>
              <a:cs typeface="Consolas" pitchFamily="49" charset="0"/>
            </a:endParaRPr>
          </a:p>
        </p:txBody>
      </p:sp>
      <p:sp>
        <p:nvSpPr>
          <p:cNvPr id="6" name="TextBox 5"/>
          <p:cNvSpPr txBox="1"/>
          <p:nvPr/>
        </p:nvSpPr>
        <p:spPr>
          <a:xfrm>
            <a:off x="214282" y="1928802"/>
            <a:ext cx="8286808" cy="3400931"/>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defTabSz="360000">
              <a:lnSpc>
                <a:spcPts val="3000"/>
              </a:lnSpc>
              <a:spcBef>
                <a:spcPts val="600"/>
              </a:spcBef>
            </a:pP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）建立一个源点</a:t>
            </a:r>
            <a:r>
              <a:rPr lang="en-US"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，跟每种食物之间连一条容量为</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的边。</a:t>
            </a:r>
          </a:p>
          <a:p>
            <a:pPr algn="l" defTabSz="360000">
              <a:lnSpc>
                <a:spcPts val="3000"/>
              </a:lnSpc>
              <a:spcBef>
                <a:spcPts val="600"/>
              </a:spcBef>
            </a:pP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）建立一个汇点</a:t>
            </a:r>
            <a:r>
              <a:rPr lang="en-US" altLang="zh-CN">
                <a:solidFill>
                  <a:srgbClr val="0000FF"/>
                </a:solidFill>
                <a:latin typeface="Consolas" pitchFamily="49" charset="0"/>
                <a:ea typeface="仿宋" pitchFamily="49" charset="-122"/>
              </a:rPr>
              <a:t>T</a:t>
            </a:r>
            <a:r>
              <a:rPr lang="zh-CN" altLang="zh-CN">
                <a:solidFill>
                  <a:srgbClr val="0000FF"/>
                </a:solidFill>
                <a:latin typeface="Consolas" pitchFamily="49" charset="0"/>
                <a:ea typeface="仿宋" pitchFamily="49" charset="-122"/>
              </a:rPr>
              <a:t>，跟每种饮料之间连一条容量为</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的边。</a:t>
            </a:r>
          </a:p>
          <a:p>
            <a:pPr algn="l" defTabSz="360000">
              <a:lnSpc>
                <a:spcPts val="3000"/>
              </a:lnSpc>
              <a:spcBef>
                <a:spcPts val="600"/>
              </a:spcBef>
            </a:pP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3</a:t>
            </a:r>
            <a:r>
              <a:rPr lang="zh-CN" altLang="zh-CN">
                <a:solidFill>
                  <a:srgbClr val="0000FF"/>
                </a:solidFill>
                <a:latin typeface="Consolas" pitchFamily="49" charset="0"/>
                <a:ea typeface="仿宋" pitchFamily="49" charset="-122"/>
              </a:rPr>
              <a:t>）一头满意的奶牛会分配到一种喜欢的食物和一种喜欢的饮料，为此每头奶牛对应两个顶点</a:t>
            </a:r>
            <a:r>
              <a:rPr lang="en-US" altLang="zh-CN">
                <a:solidFill>
                  <a:srgbClr val="0000FF"/>
                </a:solidFill>
                <a:latin typeface="Consolas" pitchFamily="49" charset="0"/>
                <a:ea typeface="仿宋" pitchFamily="49" charset="-122"/>
              </a:rPr>
              <a:t>C1</a:t>
            </a:r>
            <a:r>
              <a:rPr lang="zh-CN" altLang="zh-CN">
                <a:solidFill>
                  <a:srgbClr val="0000FF"/>
                </a:solidFill>
                <a:latin typeface="Consolas" pitchFamily="49" charset="0"/>
                <a:ea typeface="仿宋" pitchFamily="49" charset="-122"/>
              </a:rPr>
              <a:t>和</a:t>
            </a:r>
            <a:r>
              <a:rPr lang="en-US" altLang="zh-CN">
                <a:solidFill>
                  <a:srgbClr val="0000FF"/>
                </a:solidFill>
                <a:latin typeface="Consolas" pitchFamily="49" charset="0"/>
                <a:ea typeface="仿宋" pitchFamily="49" charset="-122"/>
              </a:rPr>
              <a:t>C2</a:t>
            </a:r>
            <a:r>
              <a:rPr lang="zh-CN" altLang="zh-CN">
                <a:solidFill>
                  <a:srgbClr val="0000FF"/>
                </a:solidFill>
                <a:latin typeface="Consolas" pitchFamily="49" charset="0"/>
                <a:ea typeface="仿宋" pitchFamily="49" charset="-122"/>
              </a:rPr>
              <a:t>，中间连接一条边，容量为</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a:t>
            </a:r>
          </a:p>
          <a:p>
            <a:pPr algn="l" defTabSz="360000">
              <a:lnSpc>
                <a:spcPts val="3000"/>
              </a:lnSpc>
              <a:spcBef>
                <a:spcPts val="600"/>
              </a:spcBef>
            </a:pP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4</a:t>
            </a:r>
            <a:r>
              <a:rPr lang="zh-CN" altLang="zh-CN">
                <a:solidFill>
                  <a:srgbClr val="0000FF"/>
                </a:solidFill>
                <a:latin typeface="Consolas" pitchFamily="49" charset="0"/>
                <a:ea typeface="仿宋" pitchFamily="49" charset="-122"/>
              </a:rPr>
              <a:t>）若一头奶牛喜欢食物</a:t>
            </a:r>
            <a:r>
              <a:rPr lang="en-US" altLang="zh-CN">
                <a:solidFill>
                  <a:srgbClr val="0000FF"/>
                </a:solidFill>
                <a:latin typeface="Consolas" pitchFamily="49" charset="0"/>
                <a:ea typeface="仿宋" pitchFamily="49" charset="-122"/>
              </a:rPr>
              <a:t>f</a:t>
            </a:r>
            <a:r>
              <a:rPr lang="zh-CN" altLang="zh-CN">
                <a:solidFill>
                  <a:srgbClr val="0000FF"/>
                </a:solidFill>
                <a:latin typeface="Consolas" pitchFamily="49" charset="0"/>
                <a:ea typeface="仿宋" pitchFamily="49" charset="-122"/>
              </a:rPr>
              <a:t>，就将其对应的</a:t>
            </a:r>
            <a:r>
              <a:rPr lang="en-US" altLang="zh-CN">
                <a:solidFill>
                  <a:srgbClr val="0000FF"/>
                </a:solidFill>
                <a:latin typeface="Consolas" pitchFamily="49" charset="0"/>
                <a:ea typeface="仿宋" pitchFamily="49" charset="-122"/>
              </a:rPr>
              <a:t>C1</a:t>
            </a:r>
            <a:r>
              <a:rPr lang="zh-CN" altLang="zh-CN">
                <a:solidFill>
                  <a:srgbClr val="0000FF"/>
                </a:solidFill>
                <a:latin typeface="Consolas" pitchFamily="49" charset="0"/>
                <a:ea typeface="仿宋" pitchFamily="49" charset="-122"/>
              </a:rPr>
              <a:t>点与</a:t>
            </a:r>
            <a:r>
              <a:rPr lang="en-US" altLang="zh-CN">
                <a:solidFill>
                  <a:srgbClr val="0000FF"/>
                </a:solidFill>
                <a:latin typeface="Consolas" pitchFamily="49" charset="0"/>
                <a:ea typeface="仿宋" pitchFamily="49" charset="-122"/>
              </a:rPr>
              <a:t>f</a:t>
            </a:r>
            <a:r>
              <a:rPr lang="zh-CN" altLang="zh-CN">
                <a:solidFill>
                  <a:srgbClr val="0000FF"/>
                </a:solidFill>
                <a:latin typeface="Consolas" pitchFamily="49" charset="0"/>
                <a:ea typeface="仿宋" pitchFamily="49" charset="-122"/>
              </a:rPr>
              <a:t>连接起来，容量为</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，若一头奶牛喜欢饮料</a:t>
            </a:r>
            <a:r>
              <a:rPr lang="en-US" altLang="zh-CN" i="1">
                <a:solidFill>
                  <a:srgbClr val="0000FF"/>
                </a:solidFill>
                <a:latin typeface="Consolas" pitchFamily="49" charset="0"/>
                <a:ea typeface="仿宋" pitchFamily="49" charset="-122"/>
              </a:rPr>
              <a:t>d</a:t>
            </a:r>
            <a:r>
              <a:rPr lang="zh-CN" altLang="zh-CN">
                <a:solidFill>
                  <a:srgbClr val="0000FF"/>
                </a:solidFill>
                <a:latin typeface="Consolas" pitchFamily="49" charset="0"/>
                <a:ea typeface="仿宋" pitchFamily="49" charset="-122"/>
              </a:rPr>
              <a:t>，同理将</a:t>
            </a:r>
            <a:r>
              <a:rPr lang="en-US" altLang="zh-CN">
                <a:solidFill>
                  <a:srgbClr val="0000FF"/>
                </a:solidFill>
                <a:latin typeface="Consolas" pitchFamily="49" charset="0"/>
                <a:ea typeface="仿宋" pitchFamily="49" charset="-122"/>
              </a:rPr>
              <a:t>C2</a:t>
            </a:r>
            <a:r>
              <a:rPr lang="zh-CN" altLang="zh-CN">
                <a:solidFill>
                  <a:srgbClr val="0000FF"/>
                </a:solidFill>
                <a:latin typeface="Consolas" pitchFamily="49" charset="0"/>
                <a:ea typeface="仿宋" pitchFamily="49" charset="-122"/>
              </a:rPr>
              <a:t>与</a:t>
            </a:r>
            <a:r>
              <a:rPr lang="en-US" altLang="zh-CN" i="1">
                <a:solidFill>
                  <a:srgbClr val="0000FF"/>
                </a:solidFill>
                <a:latin typeface="Consolas" pitchFamily="49" charset="0"/>
                <a:ea typeface="仿宋" pitchFamily="49" charset="-122"/>
              </a:rPr>
              <a:t>d</a:t>
            </a:r>
            <a:r>
              <a:rPr lang="zh-CN" altLang="zh-CN">
                <a:solidFill>
                  <a:srgbClr val="0000FF"/>
                </a:solidFill>
                <a:latin typeface="Consolas" pitchFamily="49" charset="0"/>
                <a:ea typeface="仿宋" pitchFamily="49" charset="-122"/>
              </a:rPr>
              <a:t>连接起来。</a:t>
            </a:r>
          </a:p>
        </p:txBody>
      </p:sp>
      <p:sp>
        <p:nvSpPr>
          <p:cNvPr id="8" name="灯片编号占位符 7"/>
          <p:cNvSpPr>
            <a:spLocks noGrp="1"/>
          </p:cNvSpPr>
          <p:nvPr>
            <p:ph type="sldNum" sz="quarter" idx="12"/>
          </p:nvPr>
        </p:nvSpPr>
        <p:spPr/>
        <p:txBody>
          <a:bodyPr/>
          <a:lstStyle/>
          <a:p>
            <a:fld id="{7AF016A1-9F15-429F-9EFD-84004B73C732}" type="slidenum">
              <a:rPr lang="en-US" altLang="zh-CN" smtClean="0"/>
              <a:pPr/>
              <a:t>137</a:t>
            </a:fld>
            <a:r>
              <a:rPr lang="en-US" altLang="zh-CN"/>
              <a:t>/158</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428860" y="142852"/>
            <a:ext cx="2143140" cy="2571267"/>
          </a:xfrm>
          <a:prstGeom prst="rect">
            <a:avLst/>
          </a:prstGeom>
          <a:ln>
            <a:solidFill>
              <a:schemeClr val="accent6">
                <a:lumMod val="20000"/>
                <a:lumOff val="8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lIns="216000" tIns="36000" bIns="36000" rtlCol="0">
            <a:spAutoFit/>
          </a:bodyPr>
          <a:lstStyle/>
          <a:p>
            <a:pPr algn="l" defTabSz="360000">
              <a:lnSpc>
                <a:spcPts val="2400"/>
              </a:lnSpc>
              <a:spcBef>
                <a:spcPts val="0"/>
              </a:spcBef>
            </a:pPr>
            <a:r>
              <a:rPr lang="zh-CN" altLang="zh-CN" sz="2000">
                <a:solidFill>
                  <a:srgbClr val="FF0000"/>
                </a:solidFill>
                <a:latin typeface="Consolas" pitchFamily="49" charset="0"/>
                <a:ea typeface="仿宋" pitchFamily="49" charset="-122"/>
              </a:rPr>
              <a:t>输入样例：</a:t>
            </a:r>
          </a:p>
          <a:p>
            <a:pPr algn="l" defTabSz="360000">
              <a:lnSpc>
                <a:spcPts val="2400"/>
              </a:lnSpc>
              <a:spcBef>
                <a:spcPts val="0"/>
              </a:spcBef>
            </a:pPr>
            <a:r>
              <a:rPr lang="en-US" altLang="zh-CN" sz="1800">
                <a:solidFill>
                  <a:srgbClr val="0000FF"/>
                </a:solidFill>
                <a:latin typeface="Consolas" pitchFamily="49" charset="0"/>
                <a:ea typeface="仿宋" pitchFamily="49" charset="-122"/>
              </a:rPr>
              <a:t>4 3 3</a:t>
            </a:r>
            <a:endParaRPr lang="zh-CN" altLang="zh-CN" sz="1800">
              <a:solidFill>
                <a:srgbClr val="0000FF"/>
              </a:solidFill>
              <a:latin typeface="Consolas" pitchFamily="49" charset="0"/>
              <a:ea typeface="仿宋" pitchFamily="49" charset="-122"/>
            </a:endParaRPr>
          </a:p>
          <a:p>
            <a:pPr algn="l" defTabSz="360000">
              <a:lnSpc>
                <a:spcPts val="2400"/>
              </a:lnSpc>
              <a:spcBef>
                <a:spcPts val="0"/>
              </a:spcBef>
            </a:pPr>
            <a:r>
              <a:rPr lang="en-US" altLang="zh-CN" sz="1800">
                <a:solidFill>
                  <a:srgbClr val="006600"/>
                </a:solidFill>
                <a:latin typeface="Consolas" pitchFamily="49" charset="0"/>
                <a:ea typeface="仿宋" pitchFamily="49" charset="-122"/>
              </a:rPr>
              <a:t>2 2</a:t>
            </a:r>
            <a:r>
              <a:rPr lang="en-US" altLang="zh-CN" sz="1800">
                <a:solidFill>
                  <a:srgbClr val="0000FF"/>
                </a:solidFill>
                <a:latin typeface="Consolas" pitchFamily="49" charset="0"/>
                <a:ea typeface="仿宋" pitchFamily="49" charset="-122"/>
              </a:rPr>
              <a:t> 1 2 3 1</a:t>
            </a:r>
            <a:endParaRPr lang="zh-CN" altLang="zh-CN" sz="1800">
              <a:solidFill>
                <a:srgbClr val="0000FF"/>
              </a:solidFill>
              <a:latin typeface="Consolas" pitchFamily="49" charset="0"/>
              <a:ea typeface="仿宋" pitchFamily="49" charset="-122"/>
            </a:endParaRPr>
          </a:p>
          <a:p>
            <a:pPr algn="l" defTabSz="360000">
              <a:lnSpc>
                <a:spcPts val="2400"/>
              </a:lnSpc>
              <a:spcBef>
                <a:spcPts val="0"/>
              </a:spcBef>
            </a:pPr>
            <a:r>
              <a:rPr lang="en-US" altLang="zh-CN" sz="1800">
                <a:solidFill>
                  <a:srgbClr val="006600"/>
                </a:solidFill>
                <a:latin typeface="Consolas" pitchFamily="49" charset="0"/>
                <a:ea typeface="仿宋" pitchFamily="49" charset="-122"/>
              </a:rPr>
              <a:t>2 2</a:t>
            </a:r>
            <a:r>
              <a:rPr lang="en-US" altLang="zh-CN" sz="1800">
                <a:solidFill>
                  <a:srgbClr val="0000FF"/>
                </a:solidFill>
                <a:latin typeface="Consolas" pitchFamily="49" charset="0"/>
                <a:ea typeface="仿宋" pitchFamily="49" charset="-122"/>
              </a:rPr>
              <a:t> 2 3 1 2</a:t>
            </a:r>
            <a:endParaRPr lang="zh-CN" altLang="zh-CN" sz="1800">
              <a:solidFill>
                <a:srgbClr val="0000FF"/>
              </a:solidFill>
              <a:latin typeface="Consolas" pitchFamily="49" charset="0"/>
              <a:ea typeface="仿宋" pitchFamily="49" charset="-122"/>
            </a:endParaRPr>
          </a:p>
          <a:p>
            <a:pPr algn="l" defTabSz="360000">
              <a:lnSpc>
                <a:spcPts val="2400"/>
              </a:lnSpc>
              <a:spcBef>
                <a:spcPts val="0"/>
              </a:spcBef>
            </a:pPr>
            <a:r>
              <a:rPr lang="en-US" altLang="zh-CN" sz="1800">
                <a:solidFill>
                  <a:srgbClr val="006600"/>
                </a:solidFill>
                <a:latin typeface="Consolas" pitchFamily="49" charset="0"/>
                <a:ea typeface="仿宋" pitchFamily="49" charset="-122"/>
              </a:rPr>
              <a:t>2 2</a:t>
            </a:r>
            <a:r>
              <a:rPr lang="en-US" altLang="zh-CN" sz="1800">
                <a:solidFill>
                  <a:srgbClr val="0000FF"/>
                </a:solidFill>
                <a:latin typeface="Consolas" pitchFamily="49" charset="0"/>
                <a:ea typeface="仿宋" pitchFamily="49" charset="-122"/>
              </a:rPr>
              <a:t> 1 3 1 2</a:t>
            </a:r>
            <a:endParaRPr lang="zh-CN" altLang="zh-CN" sz="1800">
              <a:solidFill>
                <a:srgbClr val="0000FF"/>
              </a:solidFill>
              <a:latin typeface="Consolas" pitchFamily="49" charset="0"/>
              <a:ea typeface="仿宋" pitchFamily="49" charset="-122"/>
            </a:endParaRPr>
          </a:p>
          <a:p>
            <a:pPr algn="l" defTabSz="360000">
              <a:lnSpc>
                <a:spcPts val="2400"/>
              </a:lnSpc>
              <a:spcBef>
                <a:spcPts val="0"/>
              </a:spcBef>
            </a:pPr>
            <a:r>
              <a:rPr lang="en-US" altLang="zh-CN" sz="1800">
                <a:solidFill>
                  <a:srgbClr val="006600"/>
                </a:solidFill>
                <a:latin typeface="Consolas" pitchFamily="49" charset="0"/>
                <a:ea typeface="仿宋" pitchFamily="49" charset="-122"/>
              </a:rPr>
              <a:t>2 1</a:t>
            </a:r>
            <a:r>
              <a:rPr lang="en-US" altLang="zh-CN" sz="1800">
                <a:solidFill>
                  <a:srgbClr val="0000FF"/>
                </a:solidFill>
                <a:latin typeface="Consolas" pitchFamily="49" charset="0"/>
                <a:ea typeface="仿宋" pitchFamily="49" charset="-122"/>
              </a:rPr>
              <a:t> 1 3 3</a:t>
            </a:r>
            <a:endParaRPr lang="zh-CN" altLang="zh-CN" sz="1800">
              <a:solidFill>
                <a:srgbClr val="0000FF"/>
              </a:solidFill>
              <a:latin typeface="Consolas" pitchFamily="49" charset="0"/>
              <a:ea typeface="仿宋" pitchFamily="49" charset="-122"/>
            </a:endParaRPr>
          </a:p>
          <a:p>
            <a:pPr algn="l" defTabSz="360000">
              <a:lnSpc>
                <a:spcPts val="2400"/>
              </a:lnSpc>
              <a:spcBef>
                <a:spcPts val="0"/>
              </a:spcBef>
            </a:pPr>
            <a:r>
              <a:rPr lang="zh-CN" altLang="zh-CN" sz="2000">
                <a:solidFill>
                  <a:srgbClr val="FF0000"/>
                </a:solidFill>
                <a:latin typeface="Consolas" pitchFamily="49" charset="0"/>
                <a:ea typeface="仿宋" pitchFamily="49" charset="-122"/>
              </a:rPr>
              <a:t>输出样例：</a:t>
            </a:r>
          </a:p>
          <a:p>
            <a:pPr algn="l" defTabSz="360000">
              <a:lnSpc>
                <a:spcPts val="2400"/>
              </a:lnSpc>
              <a:spcBef>
                <a:spcPts val="0"/>
              </a:spcBef>
            </a:pPr>
            <a:r>
              <a:rPr lang="en-US" altLang="zh-CN" sz="1800">
                <a:solidFill>
                  <a:srgbClr val="0000FF"/>
                </a:solidFill>
                <a:latin typeface="Consolas" pitchFamily="49" charset="0"/>
                <a:ea typeface="仿宋" pitchFamily="49" charset="-122"/>
              </a:rPr>
              <a:t>3</a:t>
            </a:r>
            <a:endParaRPr lang="zh-CN" altLang="zh-CN" sz="1800">
              <a:solidFill>
                <a:srgbClr val="0000FF"/>
              </a:solidFill>
              <a:latin typeface="Consolas" pitchFamily="49" charset="0"/>
              <a:ea typeface="仿宋" pitchFamily="49" charset="-122"/>
            </a:endParaRPr>
          </a:p>
        </p:txBody>
      </p:sp>
      <p:sp>
        <p:nvSpPr>
          <p:cNvPr id="4" name="TextBox 3"/>
          <p:cNvSpPr txBox="1"/>
          <p:nvPr/>
        </p:nvSpPr>
        <p:spPr>
          <a:xfrm>
            <a:off x="785786" y="1071546"/>
            <a:ext cx="1500198" cy="1015663"/>
          </a:xfrm>
          <a:prstGeom prst="rect">
            <a:avLst/>
          </a:prstGeom>
          <a:noFill/>
        </p:spPr>
        <p:txBody>
          <a:bodyPr wrap="square" rtlCol="0">
            <a:spAutoFit/>
          </a:bodyPr>
          <a:lstStyle/>
          <a:p>
            <a:pPr algn="l">
              <a:lnSpc>
                <a:spcPct val="100000"/>
              </a:lnSpc>
              <a:spcBef>
                <a:spcPts val="0"/>
              </a:spcBef>
            </a:pPr>
            <a:r>
              <a:rPr lang="en-US" altLang="zh-CN" sz="2000">
                <a:solidFill>
                  <a:srgbClr val="0000FF"/>
                </a:solidFill>
                <a:latin typeface="Consolas" pitchFamily="49" charset="0"/>
                <a:ea typeface="仿宋" pitchFamily="49" charset="-122"/>
              </a:rPr>
              <a:t>N=4</a:t>
            </a:r>
            <a:r>
              <a:rPr lang="zh-CN" altLang="en-US" sz="2000">
                <a:solidFill>
                  <a:srgbClr val="0000FF"/>
                </a:solidFill>
                <a:latin typeface="Consolas" pitchFamily="49" charset="0"/>
                <a:ea typeface="仿宋" pitchFamily="49" charset="-122"/>
              </a:rPr>
              <a:t>头</a:t>
            </a:r>
            <a:r>
              <a:rPr lang="zh-CN" altLang="zh-CN" sz="2000">
                <a:solidFill>
                  <a:srgbClr val="0000FF"/>
                </a:solidFill>
                <a:latin typeface="Consolas" pitchFamily="49" charset="0"/>
                <a:ea typeface="仿宋" pitchFamily="49" charset="-122"/>
              </a:rPr>
              <a:t>奶牛</a:t>
            </a:r>
            <a:endParaRPr lang="en-US" altLang="zh-CN" sz="2000">
              <a:solidFill>
                <a:srgbClr val="0000FF"/>
              </a:solidFill>
              <a:latin typeface="Consolas" pitchFamily="49" charset="0"/>
              <a:ea typeface="仿宋" pitchFamily="49" charset="-122"/>
            </a:endParaRPr>
          </a:p>
          <a:p>
            <a:pPr algn="l">
              <a:lnSpc>
                <a:spcPct val="100000"/>
              </a:lnSpc>
              <a:spcBef>
                <a:spcPts val="0"/>
              </a:spcBef>
            </a:pPr>
            <a:r>
              <a:rPr lang="en-US" altLang="zh-CN" sz="2000">
                <a:solidFill>
                  <a:srgbClr val="0000FF"/>
                </a:solidFill>
                <a:latin typeface="Consolas" pitchFamily="49" charset="0"/>
                <a:ea typeface="仿宋" pitchFamily="49" charset="-122"/>
              </a:rPr>
              <a:t>F=3</a:t>
            </a:r>
            <a:r>
              <a:rPr lang="zh-CN" altLang="zh-CN" sz="2000">
                <a:solidFill>
                  <a:srgbClr val="0000FF"/>
                </a:solidFill>
                <a:latin typeface="Consolas" pitchFamily="49" charset="0"/>
                <a:ea typeface="仿宋" pitchFamily="49" charset="-122"/>
              </a:rPr>
              <a:t>种食物</a:t>
            </a:r>
            <a:endParaRPr lang="en-US" altLang="zh-CN" sz="2000">
              <a:solidFill>
                <a:srgbClr val="0000FF"/>
              </a:solidFill>
              <a:latin typeface="Consolas" pitchFamily="49" charset="0"/>
              <a:ea typeface="仿宋" pitchFamily="49" charset="-122"/>
            </a:endParaRPr>
          </a:p>
          <a:p>
            <a:pPr algn="l">
              <a:lnSpc>
                <a:spcPct val="100000"/>
              </a:lnSpc>
              <a:spcBef>
                <a:spcPts val="0"/>
              </a:spcBef>
            </a:pPr>
            <a:r>
              <a:rPr lang="en-US" altLang="zh-CN" sz="2000">
                <a:solidFill>
                  <a:srgbClr val="0000FF"/>
                </a:solidFill>
                <a:latin typeface="Consolas" pitchFamily="49" charset="0"/>
                <a:ea typeface="仿宋" pitchFamily="49" charset="-122"/>
              </a:rPr>
              <a:t>D=3</a:t>
            </a:r>
            <a:r>
              <a:rPr lang="zh-CN" altLang="zh-CN" sz="2000">
                <a:solidFill>
                  <a:srgbClr val="0000FF"/>
                </a:solidFill>
                <a:latin typeface="Consolas" pitchFamily="49" charset="0"/>
                <a:ea typeface="仿宋" pitchFamily="49" charset="-122"/>
              </a:rPr>
              <a:t>种饮料</a:t>
            </a:r>
            <a:endParaRPr lang="zh-CN" altLang="en-US" sz="2000">
              <a:solidFill>
                <a:srgbClr val="0000FF"/>
              </a:solidFill>
              <a:latin typeface="Consolas" pitchFamily="49" charset="0"/>
              <a:ea typeface="楷体" pitchFamily="49" charset="-122"/>
              <a:cs typeface="Consolas" pitchFamily="49" charset="0"/>
            </a:endParaRPr>
          </a:p>
        </p:txBody>
      </p:sp>
      <p:grpSp>
        <p:nvGrpSpPr>
          <p:cNvPr id="5" name="组合 4"/>
          <p:cNvGrpSpPr/>
          <p:nvPr/>
        </p:nvGrpSpPr>
        <p:grpSpPr>
          <a:xfrm>
            <a:off x="785786" y="3143248"/>
            <a:ext cx="7856902" cy="3351844"/>
            <a:chOff x="929940" y="2005982"/>
            <a:chExt cx="7856902" cy="3351844"/>
          </a:xfrm>
        </p:grpSpPr>
        <p:sp>
          <p:nvSpPr>
            <p:cNvPr id="6" name="Oval 51"/>
            <p:cNvSpPr>
              <a:spLocks noChangeArrowheads="1"/>
            </p:cNvSpPr>
            <p:nvPr/>
          </p:nvSpPr>
          <p:spPr bwMode="auto">
            <a:xfrm>
              <a:off x="938895" y="3496200"/>
              <a:ext cx="397834" cy="371888"/>
            </a:xfrm>
            <a:prstGeom prst="ellipse">
              <a:avLst/>
            </a:prstGeom>
            <a:ln>
              <a:headEnd/>
              <a:tailEnd type="none" w="sm" len="sm"/>
            </a:ln>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0</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7" name="Rectangle 50"/>
            <p:cNvSpPr>
              <a:spLocks noChangeArrowheads="1"/>
            </p:cNvSpPr>
            <p:nvPr/>
          </p:nvSpPr>
          <p:spPr bwMode="auto">
            <a:xfrm>
              <a:off x="929940" y="3953403"/>
              <a:ext cx="498892" cy="367513"/>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源点</a:t>
              </a:r>
              <a:endParaRPr kumimoji="0" 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8" name="Oval 49"/>
            <p:cNvSpPr>
              <a:spLocks noChangeArrowheads="1"/>
            </p:cNvSpPr>
            <p:nvPr/>
          </p:nvSpPr>
          <p:spPr bwMode="auto">
            <a:xfrm>
              <a:off x="2054365" y="2730548"/>
              <a:ext cx="397834" cy="371888"/>
            </a:xfrm>
            <a:prstGeom prst="ellipse">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9" name="Oval 48"/>
            <p:cNvSpPr>
              <a:spLocks noChangeArrowheads="1"/>
            </p:cNvSpPr>
            <p:nvPr/>
          </p:nvSpPr>
          <p:spPr bwMode="auto">
            <a:xfrm>
              <a:off x="2054365" y="3474324"/>
              <a:ext cx="397834" cy="371888"/>
            </a:xfrm>
            <a:prstGeom prst="ellipse">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0" name="Oval 47"/>
            <p:cNvSpPr>
              <a:spLocks noChangeArrowheads="1"/>
            </p:cNvSpPr>
            <p:nvPr/>
          </p:nvSpPr>
          <p:spPr bwMode="auto">
            <a:xfrm>
              <a:off x="2054365" y="4213724"/>
              <a:ext cx="397834" cy="371888"/>
            </a:xfrm>
            <a:prstGeom prst="ellipse">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3</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1" name="Oval 46"/>
            <p:cNvSpPr>
              <a:spLocks noChangeArrowheads="1"/>
            </p:cNvSpPr>
            <p:nvPr/>
          </p:nvSpPr>
          <p:spPr bwMode="auto">
            <a:xfrm>
              <a:off x="3446144" y="2358661"/>
              <a:ext cx="397834" cy="371888"/>
            </a:xfrm>
            <a:prstGeom prst="ellipse">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4</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2" name="Oval 45"/>
            <p:cNvSpPr>
              <a:spLocks noChangeArrowheads="1"/>
            </p:cNvSpPr>
            <p:nvPr/>
          </p:nvSpPr>
          <p:spPr bwMode="auto">
            <a:xfrm>
              <a:off x="4176573" y="2358661"/>
              <a:ext cx="397834" cy="371888"/>
            </a:xfrm>
            <a:prstGeom prst="ellipse">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5</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3" name="Oval 44"/>
            <p:cNvSpPr>
              <a:spLocks noChangeArrowheads="1"/>
            </p:cNvSpPr>
            <p:nvPr/>
          </p:nvSpPr>
          <p:spPr bwMode="auto">
            <a:xfrm>
              <a:off x="5596495" y="2737111"/>
              <a:ext cx="397834" cy="371888"/>
            </a:xfrm>
            <a:prstGeom prst="ellipse">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12</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4" name="Oval 43"/>
            <p:cNvSpPr>
              <a:spLocks noChangeArrowheads="1"/>
            </p:cNvSpPr>
            <p:nvPr/>
          </p:nvSpPr>
          <p:spPr bwMode="auto">
            <a:xfrm>
              <a:off x="5596495" y="3480887"/>
              <a:ext cx="397834" cy="371888"/>
            </a:xfrm>
            <a:prstGeom prst="ellipse">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13</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5" name="Oval 42"/>
            <p:cNvSpPr>
              <a:spLocks noChangeArrowheads="1"/>
            </p:cNvSpPr>
            <p:nvPr/>
          </p:nvSpPr>
          <p:spPr bwMode="auto">
            <a:xfrm>
              <a:off x="5596495" y="4220287"/>
              <a:ext cx="397834" cy="371888"/>
            </a:xfrm>
            <a:prstGeom prst="ellipse">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14</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6" name="Oval 41"/>
            <p:cNvSpPr>
              <a:spLocks noChangeArrowheads="1"/>
            </p:cNvSpPr>
            <p:nvPr/>
          </p:nvSpPr>
          <p:spPr bwMode="auto">
            <a:xfrm>
              <a:off x="6818139" y="3496200"/>
              <a:ext cx="397834" cy="371888"/>
            </a:xfrm>
            <a:prstGeom prst="ellipse">
              <a:avLst/>
            </a:prstGeom>
            <a:ln>
              <a:headEnd/>
              <a:tailEnd type="none" w="sm" len="sm"/>
            </a:ln>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15</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8" name="Rectangle 40"/>
            <p:cNvSpPr>
              <a:spLocks noChangeArrowheads="1"/>
            </p:cNvSpPr>
            <p:nvPr/>
          </p:nvSpPr>
          <p:spPr bwMode="auto">
            <a:xfrm>
              <a:off x="6809185" y="3953403"/>
              <a:ext cx="498892" cy="367513"/>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汇点</a:t>
              </a:r>
              <a:endParaRPr kumimoji="0" 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9" name="AutoShape 39"/>
            <p:cNvSpPr>
              <a:spLocks noChangeShapeType="1"/>
            </p:cNvSpPr>
            <p:nvPr/>
          </p:nvSpPr>
          <p:spPr bwMode="auto">
            <a:xfrm>
              <a:off x="3843978" y="2544604"/>
              <a:ext cx="332594" cy="1094"/>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20" name="Oval 38"/>
            <p:cNvSpPr>
              <a:spLocks noChangeArrowheads="1"/>
            </p:cNvSpPr>
            <p:nvPr/>
          </p:nvSpPr>
          <p:spPr bwMode="auto">
            <a:xfrm>
              <a:off x="3465332" y="3123218"/>
              <a:ext cx="397834" cy="371888"/>
            </a:xfrm>
            <a:prstGeom prst="ellipse">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6</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21" name="Oval 37"/>
            <p:cNvSpPr>
              <a:spLocks noChangeArrowheads="1"/>
            </p:cNvSpPr>
            <p:nvPr/>
          </p:nvSpPr>
          <p:spPr bwMode="auto">
            <a:xfrm>
              <a:off x="4195761" y="3123218"/>
              <a:ext cx="397834" cy="371888"/>
            </a:xfrm>
            <a:prstGeom prst="ellipse">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7</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22" name="AutoShape 36"/>
            <p:cNvSpPr>
              <a:spLocks noChangeShapeType="1"/>
            </p:cNvSpPr>
            <p:nvPr/>
          </p:nvSpPr>
          <p:spPr bwMode="auto">
            <a:xfrm>
              <a:off x="3863166" y="3309162"/>
              <a:ext cx="332594" cy="1094"/>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23" name="Oval 35"/>
            <p:cNvSpPr>
              <a:spLocks noChangeArrowheads="1"/>
            </p:cNvSpPr>
            <p:nvPr/>
          </p:nvSpPr>
          <p:spPr bwMode="auto">
            <a:xfrm>
              <a:off x="3465332" y="3891057"/>
              <a:ext cx="397834" cy="371888"/>
            </a:xfrm>
            <a:prstGeom prst="ellipse">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8</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24" name="Oval 34"/>
            <p:cNvSpPr>
              <a:spLocks noChangeArrowheads="1"/>
            </p:cNvSpPr>
            <p:nvPr/>
          </p:nvSpPr>
          <p:spPr bwMode="auto">
            <a:xfrm>
              <a:off x="4195761" y="3891057"/>
              <a:ext cx="397834" cy="371888"/>
            </a:xfrm>
            <a:prstGeom prst="ellipse">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9</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25" name="AutoShape 33"/>
            <p:cNvSpPr>
              <a:spLocks noChangeShapeType="1"/>
            </p:cNvSpPr>
            <p:nvPr/>
          </p:nvSpPr>
          <p:spPr bwMode="auto">
            <a:xfrm>
              <a:off x="3863166" y="4077001"/>
              <a:ext cx="332594" cy="1094"/>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26" name="Oval 32"/>
            <p:cNvSpPr>
              <a:spLocks noChangeArrowheads="1"/>
            </p:cNvSpPr>
            <p:nvPr/>
          </p:nvSpPr>
          <p:spPr bwMode="auto">
            <a:xfrm>
              <a:off x="3484521" y="4655614"/>
              <a:ext cx="397834" cy="371888"/>
            </a:xfrm>
            <a:prstGeom prst="ellipse">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10</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27" name="Oval 31"/>
            <p:cNvSpPr>
              <a:spLocks noChangeArrowheads="1"/>
            </p:cNvSpPr>
            <p:nvPr/>
          </p:nvSpPr>
          <p:spPr bwMode="auto">
            <a:xfrm>
              <a:off x="4214949" y="4655614"/>
              <a:ext cx="397834" cy="371888"/>
            </a:xfrm>
            <a:prstGeom prst="ellipse">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11</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28" name="AutoShape 30"/>
            <p:cNvSpPr>
              <a:spLocks noChangeShapeType="1"/>
            </p:cNvSpPr>
            <p:nvPr/>
          </p:nvSpPr>
          <p:spPr bwMode="auto">
            <a:xfrm>
              <a:off x="3882355" y="4841558"/>
              <a:ext cx="332594" cy="1094"/>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29" name="Rectangle 29"/>
            <p:cNvSpPr>
              <a:spLocks noChangeArrowheads="1"/>
            </p:cNvSpPr>
            <p:nvPr/>
          </p:nvSpPr>
          <p:spPr bwMode="auto">
            <a:xfrm>
              <a:off x="1710258" y="4710304"/>
              <a:ext cx="968361" cy="367513"/>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3</a:t>
              </a:r>
              <a:r>
                <a:rPr kumimoji="0" lang="zh-CN" altLang="en-US"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种食物</a:t>
              </a:r>
              <a:endParaRPr kumimoji="0" lang="zh-CN" altLang="en-US"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30" name="Rectangle 28"/>
            <p:cNvSpPr>
              <a:spLocks noChangeArrowheads="1"/>
            </p:cNvSpPr>
            <p:nvPr/>
          </p:nvSpPr>
          <p:spPr bwMode="auto">
            <a:xfrm>
              <a:off x="5457061" y="4710304"/>
              <a:ext cx="968361" cy="367513"/>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3</a:t>
              </a:r>
              <a:r>
                <a:rPr kumimoji="0" lang="zh-CN" altLang="en-US"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种饮料</a:t>
              </a:r>
              <a:endParaRPr kumimoji="0" lang="zh-CN" altLang="en-US"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31" name="Rectangle 27"/>
            <p:cNvSpPr>
              <a:spLocks noChangeArrowheads="1"/>
            </p:cNvSpPr>
            <p:nvPr/>
          </p:nvSpPr>
          <p:spPr bwMode="auto">
            <a:xfrm>
              <a:off x="3644422" y="5077816"/>
              <a:ext cx="968361" cy="280010"/>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4</a:t>
              </a:r>
              <a:r>
                <a:rPr kumimoji="0" lang="zh-CN" altLang="en-US"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头奶牛</a:t>
              </a:r>
              <a:endParaRPr kumimoji="0" lang="zh-CN" altLang="en-US"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32" name="AutoShape 26"/>
            <p:cNvSpPr>
              <a:spLocks noChangeShapeType="1"/>
            </p:cNvSpPr>
            <p:nvPr/>
          </p:nvSpPr>
          <p:spPr bwMode="auto">
            <a:xfrm flipV="1">
              <a:off x="1336729" y="3660268"/>
              <a:ext cx="717636" cy="21876"/>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33" name="AutoShape 25"/>
            <p:cNvSpPr>
              <a:spLocks noChangeShapeType="1"/>
            </p:cNvSpPr>
            <p:nvPr/>
          </p:nvSpPr>
          <p:spPr bwMode="auto">
            <a:xfrm flipV="1">
              <a:off x="1277885" y="2916492"/>
              <a:ext cx="776480" cy="634397"/>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34" name="AutoShape 24"/>
            <p:cNvSpPr>
              <a:spLocks noChangeShapeType="1"/>
            </p:cNvSpPr>
            <p:nvPr/>
          </p:nvSpPr>
          <p:spPr bwMode="auto">
            <a:xfrm>
              <a:off x="1277885" y="3813398"/>
              <a:ext cx="776480" cy="586270"/>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35" name="AutoShape 23"/>
            <p:cNvSpPr>
              <a:spLocks noChangeShapeType="1"/>
            </p:cNvSpPr>
            <p:nvPr/>
          </p:nvSpPr>
          <p:spPr bwMode="auto">
            <a:xfrm>
              <a:off x="5994329" y="2923055"/>
              <a:ext cx="882654" cy="627834"/>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36" name="AutoShape 22"/>
            <p:cNvSpPr>
              <a:spLocks noChangeShapeType="1"/>
            </p:cNvSpPr>
            <p:nvPr/>
          </p:nvSpPr>
          <p:spPr bwMode="auto">
            <a:xfrm>
              <a:off x="5994329" y="3666830"/>
              <a:ext cx="823811" cy="15313"/>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37" name="AutoShape 21"/>
            <p:cNvSpPr>
              <a:spLocks noChangeShapeType="1"/>
            </p:cNvSpPr>
            <p:nvPr/>
          </p:nvSpPr>
          <p:spPr bwMode="auto">
            <a:xfrm flipV="1">
              <a:off x="5994329" y="3813398"/>
              <a:ext cx="882654" cy="592833"/>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38" name="AutoShape 20"/>
            <p:cNvSpPr>
              <a:spLocks noChangeShapeType="1"/>
            </p:cNvSpPr>
            <p:nvPr/>
          </p:nvSpPr>
          <p:spPr bwMode="auto">
            <a:xfrm flipV="1">
              <a:off x="2393355" y="2544604"/>
              <a:ext cx="1052789" cy="240633"/>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39" name="AutoShape 19"/>
            <p:cNvSpPr>
              <a:spLocks noChangeShapeType="1"/>
            </p:cNvSpPr>
            <p:nvPr/>
          </p:nvSpPr>
          <p:spPr bwMode="auto">
            <a:xfrm flipH="1">
              <a:off x="2393355" y="2675859"/>
              <a:ext cx="1111633" cy="853154"/>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40" name="AutoShape 18"/>
            <p:cNvSpPr>
              <a:spLocks noChangeShapeType="1"/>
            </p:cNvSpPr>
            <p:nvPr/>
          </p:nvSpPr>
          <p:spPr bwMode="auto">
            <a:xfrm flipH="1">
              <a:off x="2452199" y="3309162"/>
              <a:ext cx="1013134" cy="351106"/>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41" name="AutoShape 17"/>
            <p:cNvSpPr>
              <a:spLocks noChangeShapeType="1"/>
            </p:cNvSpPr>
            <p:nvPr/>
          </p:nvSpPr>
          <p:spPr bwMode="auto">
            <a:xfrm flipH="1">
              <a:off x="2393355" y="3440416"/>
              <a:ext cx="1130821" cy="827997"/>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42" name="AutoShape 16"/>
            <p:cNvSpPr>
              <a:spLocks noChangeShapeType="1"/>
            </p:cNvSpPr>
            <p:nvPr/>
          </p:nvSpPr>
          <p:spPr bwMode="auto">
            <a:xfrm flipH="1" flipV="1">
              <a:off x="2452199" y="2916492"/>
              <a:ext cx="1071977" cy="1029254"/>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43" name="AutoShape 15"/>
            <p:cNvSpPr>
              <a:spLocks noChangeShapeType="1"/>
            </p:cNvSpPr>
            <p:nvPr/>
          </p:nvSpPr>
          <p:spPr bwMode="auto">
            <a:xfrm flipH="1">
              <a:off x="2452199" y="4077001"/>
              <a:ext cx="1013134" cy="322667"/>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44" name="AutoShape 14"/>
            <p:cNvSpPr>
              <a:spLocks noChangeShapeType="1"/>
            </p:cNvSpPr>
            <p:nvPr/>
          </p:nvSpPr>
          <p:spPr bwMode="auto">
            <a:xfrm flipH="1" flipV="1">
              <a:off x="2393355" y="3047747"/>
              <a:ext cx="1150009" cy="1662557"/>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45" name="AutoShape 13"/>
            <p:cNvSpPr>
              <a:spLocks noChangeShapeType="1"/>
            </p:cNvSpPr>
            <p:nvPr/>
          </p:nvSpPr>
          <p:spPr bwMode="auto">
            <a:xfrm flipH="1" flipV="1">
              <a:off x="2393355" y="4530923"/>
              <a:ext cx="1091165" cy="310636"/>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46" name="AutoShape 12"/>
            <p:cNvSpPr>
              <a:spLocks noChangeShapeType="1"/>
            </p:cNvSpPr>
            <p:nvPr/>
          </p:nvSpPr>
          <p:spPr bwMode="auto">
            <a:xfrm>
              <a:off x="4574407" y="2544604"/>
              <a:ext cx="1080932" cy="247196"/>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47" name="AutoShape 11"/>
            <p:cNvSpPr>
              <a:spLocks noChangeShapeType="1"/>
            </p:cNvSpPr>
            <p:nvPr/>
          </p:nvSpPr>
          <p:spPr bwMode="auto">
            <a:xfrm>
              <a:off x="4515563" y="2675859"/>
              <a:ext cx="1139775" cy="1599117"/>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48" name="AutoShape 10"/>
            <p:cNvSpPr>
              <a:spLocks noChangeShapeType="1"/>
            </p:cNvSpPr>
            <p:nvPr/>
          </p:nvSpPr>
          <p:spPr bwMode="auto">
            <a:xfrm flipV="1">
              <a:off x="4534751" y="2923055"/>
              <a:ext cx="1061743" cy="254853"/>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49" name="AutoShape 9"/>
            <p:cNvSpPr>
              <a:spLocks noChangeShapeType="1"/>
            </p:cNvSpPr>
            <p:nvPr/>
          </p:nvSpPr>
          <p:spPr bwMode="auto">
            <a:xfrm>
              <a:off x="4534751" y="3440416"/>
              <a:ext cx="1120587" cy="95160"/>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50" name="AutoShape 8"/>
            <p:cNvSpPr>
              <a:spLocks noChangeShapeType="1"/>
            </p:cNvSpPr>
            <p:nvPr/>
          </p:nvSpPr>
          <p:spPr bwMode="auto">
            <a:xfrm flipH="1">
              <a:off x="4612783" y="4537485"/>
              <a:ext cx="1042555" cy="304073"/>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51" name="AutoShape 7"/>
            <p:cNvSpPr>
              <a:spLocks noChangeShapeType="1"/>
            </p:cNvSpPr>
            <p:nvPr/>
          </p:nvSpPr>
          <p:spPr bwMode="auto">
            <a:xfrm flipV="1">
              <a:off x="4534751" y="3054309"/>
              <a:ext cx="1120587" cy="891437"/>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52" name="AutoShape 6"/>
            <p:cNvSpPr>
              <a:spLocks noChangeShapeType="1"/>
            </p:cNvSpPr>
            <p:nvPr/>
          </p:nvSpPr>
          <p:spPr bwMode="auto">
            <a:xfrm flipV="1">
              <a:off x="4593595" y="3798085"/>
              <a:ext cx="1061743" cy="278916"/>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53" name="Rectangle 5"/>
            <p:cNvSpPr>
              <a:spLocks noChangeArrowheads="1"/>
            </p:cNvSpPr>
            <p:nvPr/>
          </p:nvSpPr>
          <p:spPr bwMode="auto">
            <a:xfrm>
              <a:off x="1574662" y="2265689"/>
              <a:ext cx="1103957" cy="280010"/>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编号</a:t>
              </a: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r>
                <a:rPr kumimoji="0" lang="zh-CN" altLang="en-US"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F</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54" name="Rectangle 4"/>
            <p:cNvSpPr>
              <a:spLocks noChangeArrowheads="1"/>
            </p:cNvSpPr>
            <p:nvPr/>
          </p:nvSpPr>
          <p:spPr bwMode="auto">
            <a:xfrm>
              <a:off x="3146809" y="2005982"/>
              <a:ext cx="1839503" cy="280010"/>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编号</a:t>
              </a: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F+1</a:t>
              </a:r>
              <a:r>
                <a:rPr kumimoji="0" lang="zh-CN" altLang="en-US"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F+2N</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55" name="Rectangle 3"/>
            <p:cNvSpPr>
              <a:spLocks noChangeArrowheads="1"/>
            </p:cNvSpPr>
            <p:nvPr/>
          </p:nvSpPr>
          <p:spPr bwMode="auto">
            <a:xfrm>
              <a:off x="5321465" y="2265689"/>
              <a:ext cx="2403634" cy="280010"/>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编号</a:t>
              </a: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F+2N</a:t>
              </a:r>
              <a:r>
                <a:rPr kumimoji="0" lang="zh-CN" altLang="en-US"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F+2N+D</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56" name="Rectangle 2"/>
            <p:cNvSpPr>
              <a:spLocks noChangeArrowheads="1"/>
            </p:cNvSpPr>
            <p:nvPr/>
          </p:nvSpPr>
          <p:spPr bwMode="auto">
            <a:xfrm>
              <a:off x="6818139" y="3102436"/>
              <a:ext cx="1968703" cy="280010"/>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编号为</a:t>
              </a: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F+2N+D+1</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grpSp>
      <p:sp>
        <p:nvSpPr>
          <p:cNvPr id="57" name="右弧形箭头 56"/>
          <p:cNvSpPr/>
          <p:nvPr/>
        </p:nvSpPr>
        <p:spPr bwMode="auto">
          <a:xfrm>
            <a:off x="5286380" y="1857364"/>
            <a:ext cx="642942" cy="1214446"/>
          </a:xfrm>
          <a:prstGeom prst="curvedLeftArrow">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40" tIns="45720" rIns="91440" bIns="45720" numCol="1" rtlCol="0" anchor="t" anchorCtr="0" compatLnSpc="1">
            <a:prstTxWarp prst="textNoShape">
              <a:avLst/>
            </a:prstTxWarp>
          </a:bodyPr>
          <a:lstStyle/>
          <a:p>
            <a:pPr algn="ctr"/>
            <a:endParaRPr lang="zh-CN" altLang="en-US" sz="2000">
              <a:solidFill>
                <a:srgbClr val="0000FF"/>
              </a:solidFill>
              <a:latin typeface="Consolas" pitchFamily="49" charset="0"/>
              <a:ea typeface="仿宋" pitchFamily="49" charset="-122"/>
            </a:endParaRPr>
          </a:p>
        </p:txBody>
      </p:sp>
      <p:sp>
        <p:nvSpPr>
          <p:cNvPr id="58" name="TextBox 57"/>
          <p:cNvSpPr txBox="1"/>
          <p:nvPr/>
        </p:nvSpPr>
        <p:spPr>
          <a:xfrm>
            <a:off x="6072198" y="2214554"/>
            <a:ext cx="1500198" cy="400110"/>
          </a:xfrm>
          <a:prstGeom prst="rect">
            <a:avLst/>
          </a:prstGeom>
          <a:noFill/>
        </p:spPr>
        <p:txBody>
          <a:bodyPr wrap="square" rtlCol="0">
            <a:spAutoFit/>
          </a:bodyPr>
          <a:lstStyle/>
          <a:p>
            <a:pPr algn="l">
              <a:lnSpc>
                <a:spcPct val="100000"/>
              </a:lnSpc>
              <a:spcBef>
                <a:spcPts val="0"/>
              </a:spcBef>
            </a:pPr>
            <a:r>
              <a:rPr lang="zh-CN" altLang="en-US" sz="2000">
                <a:solidFill>
                  <a:srgbClr val="0000FF"/>
                </a:solidFill>
                <a:latin typeface="Consolas" pitchFamily="49" charset="0"/>
                <a:ea typeface="仿宋" pitchFamily="49" charset="-122"/>
                <a:cs typeface="Consolas" pitchFamily="49" charset="0"/>
              </a:rPr>
              <a:t>容量均为</a:t>
            </a:r>
            <a:r>
              <a:rPr lang="en-US" altLang="zh-CN" sz="2000">
                <a:solidFill>
                  <a:srgbClr val="0000FF"/>
                </a:solidFill>
                <a:latin typeface="Consolas" pitchFamily="49" charset="0"/>
                <a:ea typeface="仿宋" pitchFamily="49" charset="-122"/>
                <a:cs typeface="Consolas" pitchFamily="49" charset="0"/>
              </a:rPr>
              <a:t>1</a:t>
            </a:r>
            <a:endParaRPr lang="zh-CN" altLang="en-US" sz="2000">
              <a:solidFill>
                <a:srgbClr val="0000FF"/>
              </a:solidFill>
              <a:latin typeface="Consolas" pitchFamily="49" charset="0"/>
              <a:ea typeface="仿宋" pitchFamily="49" charset="-122"/>
              <a:cs typeface="Consolas" pitchFamily="49" charset="0"/>
            </a:endParaRPr>
          </a:p>
        </p:txBody>
      </p:sp>
      <p:sp>
        <p:nvSpPr>
          <p:cNvPr id="60" name="灯片编号占位符 59"/>
          <p:cNvSpPr>
            <a:spLocks noGrp="1"/>
          </p:cNvSpPr>
          <p:nvPr>
            <p:ph type="sldNum" sz="quarter" idx="12"/>
          </p:nvPr>
        </p:nvSpPr>
        <p:spPr/>
        <p:txBody>
          <a:bodyPr/>
          <a:lstStyle/>
          <a:p>
            <a:fld id="{7AF016A1-9F15-429F-9EFD-84004B73C732}" type="slidenum">
              <a:rPr lang="en-US" altLang="zh-CN" smtClean="0"/>
              <a:pPr/>
              <a:t>138</a:t>
            </a:fld>
            <a:r>
              <a:rPr lang="en-US" altLang="zh-CN"/>
              <a:t>/158</a:t>
            </a: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9" name="Rectangle 5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7" name="TextBox 56"/>
          <p:cNvSpPr txBox="1"/>
          <p:nvPr/>
        </p:nvSpPr>
        <p:spPr>
          <a:xfrm>
            <a:off x="357158" y="500042"/>
            <a:ext cx="8572560" cy="3455433"/>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000"/>
              </a:lnSpc>
              <a:spcBef>
                <a:spcPts val="1200"/>
              </a:spcBef>
              <a:buBlip>
                <a:blip r:embed="rId3"/>
              </a:buBlip>
            </a:pPr>
            <a:r>
              <a:rPr lang="zh-CN" altLang="zh-CN">
                <a:solidFill>
                  <a:srgbClr val="0000FF"/>
                </a:solidFill>
                <a:latin typeface="Consolas" pitchFamily="49" charset="0"/>
                <a:ea typeface="仿宋" pitchFamily="49" charset="-122"/>
              </a:rPr>
              <a:t>网络采用</a:t>
            </a:r>
            <a:r>
              <a:rPr lang="zh-CN" altLang="zh-CN">
                <a:solidFill>
                  <a:srgbClr val="FF0000"/>
                </a:solidFill>
                <a:latin typeface="Consolas" pitchFamily="49" charset="0"/>
                <a:ea typeface="仿宋" pitchFamily="49" charset="-122"/>
              </a:rPr>
              <a:t>邻接表</a:t>
            </a:r>
            <a:r>
              <a:rPr lang="zh-CN" altLang="zh-CN">
                <a:solidFill>
                  <a:srgbClr val="0000FF"/>
                </a:solidFill>
                <a:latin typeface="Consolas" pitchFamily="49" charset="0"/>
                <a:ea typeface="仿宋" pitchFamily="49" charset="-122"/>
              </a:rPr>
              <a:t>存储</a:t>
            </a:r>
            <a:r>
              <a:rPr lang="zh-CN" altLang="en-US">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marL="457200" indent="-457200" algn="l">
              <a:lnSpc>
                <a:spcPts val="3000"/>
              </a:lnSpc>
              <a:spcBef>
                <a:spcPts val="1200"/>
              </a:spcBef>
              <a:buBlip>
                <a:blip r:embed="rId3"/>
              </a:buBlip>
            </a:pPr>
            <a:r>
              <a:rPr lang="en-US" altLang="zh-CN">
                <a:solidFill>
                  <a:srgbClr val="FF0000"/>
                </a:solidFill>
                <a:latin typeface="Consolas" pitchFamily="49" charset="0"/>
                <a:ea typeface="仿宋" pitchFamily="49" charset="-122"/>
              </a:rPr>
              <a:t>head</a:t>
            </a:r>
            <a:r>
              <a:rPr lang="zh-CN" altLang="zh-CN">
                <a:solidFill>
                  <a:srgbClr val="0000FF"/>
                </a:solidFill>
                <a:latin typeface="Consolas" pitchFamily="49" charset="0"/>
                <a:ea typeface="仿宋" pitchFamily="49" charset="-122"/>
              </a:rPr>
              <a:t>为头结点数组（最多的顶点数</a:t>
            </a:r>
            <a:r>
              <a:rPr lang="en-US" altLang="zh-CN">
                <a:solidFill>
                  <a:srgbClr val="0000FF"/>
                </a:solidFill>
                <a:latin typeface="Consolas" pitchFamily="49" charset="0"/>
                <a:ea typeface="仿宋" pitchFamily="49" charset="-122"/>
              </a:rPr>
              <a:t>=F+2N+D</a:t>
            </a:r>
            <a:r>
              <a:rPr lang="zh-CN" altLang="zh-CN">
                <a:solidFill>
                  <a:srgbClr val="0000FF"/>
                </a:solidFill>
                <a:latin typeface="+mj-ea"/>
                <a:ea typeface="+mj-ea"/>
              </a:rPr>
              <a:t>≤</a:t>
            </a:r>
            <a:r>
              <a:rPr lang="en-US" altLang="zh-CN">
                <a:solidFill>
                  <a:srgbClr val="0000FF"/>
                </a:solidFill>
                <a:latin typeface="Consolas" pitchFamily="49" charset="0"/>
                <a:ea typeface="仿宋" pitchFamily="49" charset="-122"/>
              </a:rPr>
              <a:t>400</a:t>
            </a:r>
            <a:r>
              <a:rPr lang="zh-CN" altLang="zh-CN">
                <a:solidFill>
                  <a:srgbClr val="0000FF"/>
                </a:solidFill>
                <a:latin typeface="Consolas" pitchFamily="49" charset="0"/>
                <a:ea typeface="仿宋" pitchFamily="49" charset="-122"/>
              </a:rPr>
              <a:t>），</a:t>
            </a:r>
            <a:r>
              <a:rPr lang="en-US" altLang="zh-CN">
                <a:solidFill>
                  <a:srgbClr val="FF0000"/>
                </a:solidFill>
                <a:latin typeface="Consolas" pitchFamily="49" charset="0"/>
                <a:ea typeface="仿宋" pitchFamily="49" charset="-122"/>
              </a:rPr>
              <a:t>edge</a:t>
            </a:r>
            <a:r>
              <a:rPr lang="zh-CN" altLang="zh-CN">
                <a:solidFill>
                  <a:srgbClr val="0000FF"/>
                </a:solidFill>
                <a:latin typeface="Consolas" pitchFamily="49" charset="0"/>
                <a:ea typeface="仿宋" pitchFamily="49" charset="-122"/>
              </a:rPr>
              <a:t>为边结点数组，</a:t>
            </a:r>
            <a:r>
              <a:rPr lang="en-US" altLang="zh-CN">
                <a:solidFill>
                  <a:srgbClr val="FF0000"/>
                </a:solidFill>
                <a:latin typeface="Consolas" pitchFamily="49" charset="0"/>
                <a:ea typeface="仿宋" pitchFamily="49" charset="-122"/>
              </a:rPr>
              <a:t>tot</a:t>
            </a:r>
            <a:r>
              <a:rPr lang="zh-CN" altLang="zh-CN">
                <a:solidFill>
                  <a:srgbClr val="0000FF"/>
                </a:solidFill>
                <a:latin typeface="Consolas" pitchFamily="49" charset="0"/>
                <a:ea typeface="仿宋" pitchFamily="49" charset="-122"/>
              </a:rPr>
              <a:t>为</a:t>
            </a:r>
            <a:r>
              <a:rPr lang="en-US" altLang="zh-CN">
                <a:solidFill>
                  <a:srgbClr val="0000FF"/>
                </a:solidFill>
                <a:latin typeface="Consolas" pitchFamily="49" charset="0"/>
                <a:ea typeface="仿宋" pitchFamily="49" charset="-122"/>
              </a:rPr>
              <a:t>edge</a:t>
            </a:r>
            <a:r>
              <a:rPr lang="zh-CN" altLang="zh-CN">
                <a:solidFill>
                  <a:srgbClr val="0000FF"/>
                </a:solidFill>
                <a:latin typeface="Consolas" pitchFamily="49" charset="0"/>
                <a:ea typeface="仿宋" pitchFamily="49" charset="-122"/>
              </a:rPr>
              <a:t>数组的下标（为了处理简便，</a:t>
            </a:r>
            <a:r>
              <a:rPr lang="en-US" altLang="zh-CN">
                <a:solidFill>
                  <a:srgbClr val="0000FF"/>
                </a:solidFill>
                <a:latin typeface="Consolas" pitchFamily="49" charset="0"/>
                <a:ea typeface="仿宋" pitchFamily="49" charset="-122"/>
              </a:rPr>
              <a:t>edge</a:t>
            </a:r>
            <a:r>
              <a:rPr lang="zh-CN" altLang="zh-CN">
                <a:solidFill>
                  <a:srgbClr val="0000FF"/>
                </a:solidFill>
                <a:latin typeface="Consolas" pitchFamily="49" charset="0"/>
                <a:ea typeface="仿宋" pitchFamily="49" charset="-122"/>
              </a:rPr>
              <a:t>从下标</a:t>
            </a:r>
            <a:r>
              <a:rPr lang="en-US"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开始存放边）</a:t>
            </a:r>
            <a:r>
              <a:rPr lang="zh-CN" altLang="en-US">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marL="457200" indent="-457200" algn="l">
              <a:lnSpc>
                <a:spcPts val="3000"/>
              </a:lnSpc>
              <a:spcBef>
                <a:spcPts val="1200"/>
              </a:spcBef>
              <a:buBlip>
                <a:blip r:embed="rId3"/>
              </a:buBlip>
            </a:pPr>
            <a:r>
              <a:rPr lang="zh-CN" altLang="zh-CN">
                <a:solidFill>
                  <a:srgbClr val="0000FF"/>
                </a:solidFill>
                <a:latin typeface="Consolas" pitchFamily="49" charset="0"/>
                <a:ea typeface="仿宋" pitchFamily="49" charset="-122"/>
              </a:rPr>
              <a:t>将每一条</a:t>
            </a:r>
            <a:r>
              <a:rPr lang="zh-CN" altLang="zh-CN">
                <a:solidFill>
                  <a:srgbClr val="FF0000"/>
                </a:solidFill>
                <a:latin typeface="Consolas" pitchFamily="49" charset="0"/>
                <a:ea typeface="仿宋" pitchFamily="49" charset="-122"/>
              </a:rPr>
              <a:t>正向边</a:t>
            </a:r>
            <a:r>
              <a:rPr lang="zh-CN" altLang="zh-CN">
                <a:solidFill>
                  <a:srgbClr val="0000FF"/>
                </a:solidFill>
                <a:latin typeface="Consolas" pitchFamily="49" charset="0"/>
                <a:ea typeface="仿宋" pitchFamily="49" charset="-122"/>
              </a:rPr>
              <a:t>存放在偶数下标位置</a:t>
            </a:r>
            <a:r>
              <a:rPr lang="en-US" altLang="zh-CN" i="1">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，而奇数下标位置</a:t>
            </a:r>
            <a:r>
              <a:rPr lang="en-US" altLang="zh-CN" i="1">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存放其</a:t>
            </a:r>
            <a:r>
              <a:rPr lang="zh-CN" altLang="zh-CN">
                <a:solidFill>
                  <a:srgbClr val="FF0000"/>
                </a:solidFill>
                <a:latin typeface="Consolas" pitchFamily="49" charset="0"/>
                <a:ea typeface="仿宋" pitchFamily="49" charset="-122"/>
              </a:rPr>
              <a:t>反向边</a:t>
            </a:r>
            <a:r>
              <a:rPr lang="zh-CN" altLang="zh-CN">
                <a:solidFill>
                  <a:srgbClr val="0000FF"/>
                </a:solidFill>
                <a:latin typeface="Consolas" pitchFamily="49" charset="0"/>
                <a:ea typeface="仿宋" pitchFamily="49" charset="-122"/>
              </a:rPr>
              <a:t>，这样做的好处是对于位置</a:t>
            </a:r>
            <a:r>
              <a:rPr lang="en-US" altLang="zh-CN" i="1">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的边</a:t>
            </a:r>
            <a:r>
              <a:rPr lang="en-US" altLang="zh-CN">
                <a:solidFill>
                  <a:srgbClr val="0000FF"/>
                </a:solidFill>
                <a:latin typeface="Consolas" pitchFamily="49" charset="0"/>
                <a:ea typeface="仿宋" pitchFamily="49" charset="-122"/>
              </a:rPr>
              <a:t>edge[</a:t>
            </a:r>
            <a:r>
              <a:rPr lang="en-US" altLang="zh-CN" i="1">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（无论该边是正向边还是反向边均可），其反向边恰好是</a:t>
            </a:r>
            <a:r>
              <a:rPr lang="en-US" altLang="zh-CN">
                <a:solidFill>
                  <a:srgbClr val="0000FF"/>
                </a:solidFill>
                <a:latin typeface="Consolas" pitchFamily="49" charset="0"/>
                <a:ea typeface="仿宋" pitchFamily="49" charset="-122"/>
              </a:rPr>
              <a:t>edge[</a:t>
            </a:r>
            <a:r>
              <a:rPr lang="en-US" altLang="zh-CN" i="1">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a:t>
            </a:r>
            <a:endParaRPr lang="zh-CN" altLang="en-US">
              <a:solidFill>
                <a:srgbClr val="0000FF"/>
              </a:solidFill>
              <a:latin typeface="Consolas" pitchFamily="49" charset="0"/>
              <a:ea typeface="仿宋" pitchFamily="49" charset="-122"/>
              <a:cs typeface="Consolas" pitchFamily="49" charset="0"/>
            </a:endParaRPr>
          </a:p>
        </p:txBody>
      </p:sp>
      <p:grpSp>
        <p:nvGrpSpPr>
          <p:cNvPr id="87" name="组合 86"/>
          <p:cNvGrpSpPr/>
          <p:nvPr/>
        </p:nvGrpSpPr>
        <p:grpSpPr>
          <a:xfrm>
            <a:off x="844504" y="4143380"/>
            <a:ext cx="7156520" cy="2000264"/>
            <a:chOff x="844504" y="4143380"/>
            <a:chExt cx="7156520" cy="2000264"/>
          </a:xfrm>
        </p:grpSpPr>
        <p:sp>
          <p:nvSpPr>
            <p:cNvPr id="58" name="椭圆 57"/>
            <p:cNvSpPr/>
            <p:nvPr/>
          </p:nvSpPr>
          <p:spPr bwMode="auto">
            <a:xfrm>
              <a:off x="844504" y="5023047"/>
              <a:ext cx="428628" cy="428628"/>
            </a:xfrm>
            <a:prstGeom prst="ellipse">
              <a:avLst/>
            </a:prstGeom>
            <a:ln>
              <a:headEnd type="none" w="med" len="med"/>
              <a:tailEnd type="arrow" w="med" len="med"/>
            </a:ln>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algn="ctr"/>
              <a:r>
                <a:rPr lang="en-US" altLang="zh-CN" sz="2000">
                  <a:solidFill>
                    <a:srgbClr val="0000FF"/>
                  </a:solidFill>
                  <a:latin typeface="Consolas" pitchFamily="49" charset="0"/>
                  <a:ea typeface="仿宋" pitchFamily="49" charset="-122"/>
                </a:rPr>
                <a:t>1</a:t>
              </a:r>
              <a:endParaRPr lang="zh-CN" altLang="en-US" sz="2000">
                <a:solidFill>
                  <a:srgbClr val="0000FF"/>
                </a:solidFill>
                <a:latin typeface="Consolas" pitchFamily="49" charset="0"/>
                <a:ea typeface="仿宋" pitchFamily="49" charset="-122"/>
              </a:endParaRPr>
            </a:p>
          </p:txBody>
        </p:sp>
        <p:sp>
          <p:nvSpPr>
            <p:cNvPr id="59" name="椭圆 58"/>
            <p:cNvSpPr/>
            <p:nvPr/>
          </p:nvSpPr>
          <p:spPr bwMode="auto">
            <a:xfrm>
              <a:off x="2201826" y="5023047"/>
              <a:ext cx="428628" cy="428628"/>
            </a:xfrm>
            <a:prstGeom prst="ellipse">
              <a:avLst/>
            </a:prstGeom>
            <a:ln>
              <a:headEnd type="none" w="med" len="med"/>
              <a:tailEnd type="arrow" w="med" len="med"/>
            </a:ln>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algn="ctr"/>
              <a:r>
                <a:rPr lang="en-US" altLang="zh-CN" sz="2000">
                  <a:solidFill>
                    <a:srgbClr val="0000FF"/>
                  </a:solidFill>
                  <a:latin typeface="Consolas" pitchFamily="49" charset="0"/>
                  <a:ea typeface="仿宋" pitchFamily="49" charset="-122"/>
                </a:rPr>
                <a:t>2</a:t>
              </a:r>
              <a:endParaRPr lang="zh-CN" altLang="en-US" sz="2000">
                <a:solidFill>
                  <a:srgbClr val="0000FF"/>
                </a:solidFill>
                <a:latin typeface="Consolas" pitchFamily="49" charset="0"/>
                <a:ea typeface="仿宋" pitchFamily="49" charset="-122"/>
              </a:endParaRPr>
            </a:p>
          </p:txBody>
        </p:sp>
        <p:cxnSp>
          <p:nvCxnSpPr>
            <p:cNvPr id="61" name="直接箭头连接符 60"/>
            <p:cNvCxnSpPr>
              <a:stCxn id="58" idx="6"/>
              <a:endCxn id="59" idx="2"/>
            </p:cNvCxnSpPr>
            <p:nvPr/>
          </p:nvCxnSpPr>
          <p:spPr>
            <a:xfrm>
              <a:off x="1273132" y="5237361"/>
              <a:ext cx="928694" cy="1588"/>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62" name="任意多边形 61"/>
            <p:cNvSpPr/>
            <p:nvPr/>
          </p:nvSpPr>
          <p:spPr>
            <a:xfrm>
              <a:off x="1214414" y="5357826"/>
              <a:ext cx="1004711" cy="161808"/>
            </a:xfrm>
            <a:custGeom>
              <a:avLst/>
              <a:gdLst>
                <a:gd name="connsiteX0" fmla="*/ 1004711 w 1004711"/>
                <a:gd name="connsiteY0" fmla="*/ 0 h 161808"/>
                <a:gd name="connsiteX1" fmla="*/ 835378 w 1004711"/>
                <a:gd name="connsiteY1" fmla="*/ 135467 h 161808"/>
                <a:gd name="connsiteX2" fmla="*/ 530578 w 1004711"/>
                <a:gd name="connsiteY2" fmla="*/ 158045 h 161808"/>
                <a:gd name="connsiteX3" fmla="*/ 248356 w 1004711"/>
                <a:gd name="connsiteY3" fmla="*/ 135467 h 161808"/>
                <a:gd name="connsiteX4" fmla="*/ 0 w 1004711"/>
                <a:gd name="connsiteY4" fmla="*/ 33867 h 161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4711" h="161808">
                  <a:moveTo>
                    <a:pt x="1004711" y="0"/>
                  </a:moveTo>
                  <a:cubicBezTo>
                    <a:pt x="959555" y="54563"/>
                    <a:pt x="914400" y="109126"/>
                    <a:pt x="835378" y="135467"/>
                  </a:cubicBezTo>
                  <a:cubicBezTo>
                    <a:pt x="756356" y="161808"/>
                    <a:pt x="628415" y="158045"/>
                    <a:pt x="530578" y="158045"/>
                  </a:cubicBezTo>
                  <a:cubicBezTo>
                    <a:pt x="432741" y="158045"/>
                    <a:pt x="336786" y="156163"/>
                    <a:pt x="248356" y="135467"/>
                  </a:cubicBezTo>
                  <a:cubicBezTo>
                    <a:pt x="159926" y="114771"/>
                    <a:pt x="79963" y="74319"/>
                    <a:pt x="0" y="33867"/>
                  </a:cubicBezTo>
                </a:path>
              </a:pathLst>
            </a:custGeom>
            <a:ln w="19050">
              <a:solidFill>
                <a:srgbClr val="006600"/>
              </a:solidFill>
              <a:prstDash val="dash"/>
              <a:tailEnd type="arrow"/>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63" name="TextBox 62"/>
            <p:cNvSpPr txBox="1"/>
            <p:nvPr/>
          </p:nvSpPr>
          <p:spPr>
            <a:xfrm>
              <a:off x="1558884" y="4880171"/>
              <a:ext cx="357190" cy="369332"/>
            </a:xfrm>
            <a:prstGeom prst="rect">
              <a:avLst/>
            </a:prstGeom>
            <a:noFill/>
          </p:spPr>
          <p:txBody>
            <a:bodyPr wrap="square" rtlCol="0">
              <a:spAutoFit/>
            </a:bodyPr>
            <a:lstStyle/>
            <a:p>
              <a:pPr algn="l">
                <a:lnSpc>
                  <a:spcPct val="100000"/>
                </a:lnSpc>
                <a:spcBef>
                  <a:spcPts val="0"/>
                </a:spcBef>
              </a:pPr>
              <a:r>
                <a:rPr lang="en-US" altLang="zh-CN" sz="1800">
                  <a:solidFill>
                    <a:srgbClr val="0000FF"/>
                  </a:solidFill>
                  <a:latin typeface="Consolas" pitchFamily="49" charset="0"/>
                  <a:ea typeface="楷体" pitchFamily="49" charset="-122"/>
                  <a:cs typeface="Consolas" pitchFamily="49" charset="0"/>
                </a:rPr>
                <a:t>c</a:t>
              </a:r>
              <a:endParaRPr lang="zh-CN" altLang="en-US" sz="1800">
                <a:solidFill>
                  <a:srgbClr val="0000FF"/>
                </a:solidFill>
                <a:latin typeface="Consolas" pitchFamily="49" charset="0"/>
                <a:ea typeface="楷体" pitchFamily="49" charset="-122"/>
                <a:cs typeface="Consolas" pitchFamily="49" charset="0"/>
              </a:endParaRPr>
            </a:p>
          </p:txBody>
        </p:sp>
        <p:sp>
          <p:nvSpPr>
            <p:cNvPr id="64" name="矩形 63"/>
            <p:cNvSpPr/>
            <p:nvPr/>
          </p:nvSpPr>
          <p:spPr bwMode="auto">
            <a:xfrm>
              <a:off x="4071934" y="4643446"/>
              <a:ext cx="1000132" cy="500066"/>
            </a:xfrm>
            <a:prstGeom prst="rect">
              <a:avLst/>
            </a:prstGeom>
            <a:ln>
              <a:headEnd type="none" w="med" len="med"/>
              <a:tailEnd type="arrow" w="med" len="med"/>
            </a:ln>
          </p:spPr>
          <p:style>
            <a:lnRef idx="1">
              <a:schemeClr val="accent3"/>
            </a:lnRef>
            <a:fillRef idx="2">
              <a:schemeClr val="accent3"/>
            </a:fillRef>
            <a:effectRef idx="1">
              <a:schemeClr val="accent3"/>
            </a:effectRef>
            <a:fontRef idx="minor">
              <a:schemeClr val="dk1"/>
            </a:fontRef>
          </p:style>
          <p:txBody>
            <a:bodyPr vert="horz" wrap="square" lIns="91440" tIns="45720" rIns="91440" bIns="45720" numCol="1" rtlCol="0" anchor="t" anchorCtr="0" compatLnSpc="1">
              <a:prstTxWarp prst="textNoShape">
                <a:avLst/>
              </a:prstTxWarp>
            </a:bodyPr>
            <a:lstStyle/>
            <a:p>
              <a:pPr algn="ctr"/>
              <a:endParaRPr lang="zh-CN" altLang="en-US" sz="2000">
                <a:solidFill>
                  <a:srgbClr val="0000FF"/>
                </a:solidFill>
                <a:latin typeface="Consolas" pitchFamily="49" charset="0"/>
                <a:ea typeface="仿宋" pitchFamily="49" charset="-122"/>
              </a:endParaRPr>
            </a:p>
          </p:txBody>
        </p:sp>
        <p:sp>
          <p:nvSpPr>
            <p:cNvPr id="65" name="矩形 64"/>
            <p:cNvSpPr/>
            <p:nvPr/>
          </p:nvSpPr>
          <p:spPr bwMode="auto">
            <a:xfrm>
              <a:off x="4071934" y="5143512"/>
              <a:ext cx="1000132" cy="500066"/>
            </a:xfrm>
            <a:prstGeom prst="rect">
              <a:avLst/>
            </a:prstGeom>
            <a:ln>
              <a:headEnd type="none" w="med" len="med"/>
              <a:tailEnd type="arrow" w="med" len="med"/>
            </a:ln>
          </p:spPr>
          <p:style>
            <a:lnRef idx="1">
              <a:schemeClr val="accent3"/>
            </a:lnRef>
            <a:fillRef idx="2">
              <a:schemeClr val="accent3"/>
            </a:fillRef>
            <a:effectRef idx="1">
              <a:schemeClr val="accent3"/>
            </a:effectRef>
            <a:fontRef idx="minor">
              <a:schemeClr val="dk1"/>
            </a:fontRef>
          </p:style>
          <p:txBody>
            <a:bodyPr vert="horz" wrap="square" lIns="91440" tIns="45720" rIns="91440" bIns="45720" numCol="1" rtlCol="0" anchor="t" anchorCtr="0" compatLnSpc="1">
              <a:prstTxWarp prst="textNoShape">
                <a:avLst/>
              </a:prstTxWarp>
            </a:bodyPr>
            <a:lstStyle/>
            <a:p>
              <a:pPr algn="ctr"/>
              <a:endParaRPr lang="zh-CN" altLang="en-US" sz="2000">
                <a:solidFill>
                  <a:srgbClr val="0000FF"/>
                </a:solidFill>
                <a:latin typeface="Consolas" pitchFamily="49" charset="0"/>
                <a:ea typeface="仿宋" pitchFamily="49" charset="-122"/>
              </a:endParaRPr>
            </a:p>
          </p:txBody>
        </p:sp>
        <p:sp>
          <p:nvSpPr>
            <p:cNvPr id="66" name="矩形 65"/>
            <p:cNvSpPr/>
            <p:nvPr/>
          </p:nvSpPr>
          <p:spPr bwMode="auto">
            <a:xfrm>
              <a:off x="4071934" y="5643578"/>
              <a:ext cx="1000132" cy="500066"/>
            </a:xfrm>
            <a:prstGeom prst="rect">
              <a:avLst/>
            </a:prstGeom>
            <a:ln>
              <a:headEnd type="none" w="med" len="med"/>
              <a:tailEnd type="arrow" w="med" len="med"/>
            </a:ln>
          </p:spPr>
          <p:style>
            <a:lnRef idx="1">
              <a:schemeClr val="accent3"/>
            </a:lnRef>
            <a:fillRef idx="2">
              <a:schemeClr val="accent3"/>
            </a:fillRef>
            <a:effectRef idx="1">
              <a:schemeClr val="accent3"/>
            </a:effectRef>
            <a:fontRef idx="minor">
              <a:schemeClr val="dk1"/>
            </a:fontRef>
          </p:style>
          <p:txBody>
            <a:bodyPr vert="horz" wrap="square" lIns="91440" tIns="45720" rIns="91440" bIns="45720" numCol="1" rtlCol="0" anchor="t" anchorCtr="0" compatLnSpc="1">
              <a:prstTxWarp prst="textNoShape">
                <a:avLst/>
              </a:prstTxWarp>
            </a:bodyPr>
            <a:lstStyle/>
            <a:p>
              <a:pPr algn="ctr"/>
              <a:endParaRPr lang="zh-CN" altLang="en-US" sz="2000">
                <a:solidFill>
                  <a:srgbClr val="0000FF"/>
                </a:solidFill>
                <a:latin typeface="Consolas" pitchFamily="49" charset="0"/>
                <a:ea typeface="仿宋" pitchFamily="49" charset="-122"/>
              </a:endParaRPr>
            </a:p>
          </p:txBody>
        </p:sp>
        <p:sp>
          <p:nvSpPr>
            <p:cNvPr id="67" name="TextBox 66"/>
            <p:cNvSpPr txBox="1"/>
            <p:nvPr/>
          </p:nvSpPr>
          <p:spPr>
            <a:xfrm>
              <a:off x="3786182" y="4714884"/>
              <a:ext cx="214314" cy="369332"/>
            </a:xfrm>
            <a:prstGeom prst="rect">
              <a:avLst/>
            </a:prstGeom>
            <a:noFill/>
          </p:spPr>
          <p:txBody>
            <a:bodyPr wrap="square" rtlCol="0">
              <a:spAutoFit/>
            </a:bodyPr>
            <a:lstStyle/>
            <a:p>
              <a:pPr algn="l">
                <a:lnSpc>
                  <a:spcPct val="100000"/>
                </a:lnSpc>
                <a:spcBef>
                  <a:spcPts val="0"/>
                </a:spcBef>
              </a:pPr>
              <a:r>
                <a:rPr lang="en-US" altLang="zh-CN" sz="1800">
                  <a:solidFill>
                    <a:schemeClr val="bg1">
                      <a:lumMod val="50000"/>
                    </a:schemeClr>
                  </a:solidFill>
                  <a:latin typeface="Consolas" pitchFamily="49" charset="0"/>
                  <a:ea typeface="楷体" pitchFamily="49" charset="-122"/>
                  <a:cs typeface="Consolas" pitchFamily="49" charset="0"/>
                </a:rPr>
                <a:t>0</a:t>
              </a:r>
              <a:endParaRPr lang="zh-CN" altLang="en-US" sz="1800">
                <a:solidFill>
                  <a:schemeClr val="bg1">
                    <a:lumMod val="50000"/>
                  </a:schemeClr>
                </a:solidFill>
                <a:latin typeface="Consolas" pitchFamily="49" charset="0"/>
                <a:ea typeface="楷体" pitchFamily="49" charset="-122"/>
                <a:cs typeface="Consolas" pitchFamily="49" charset="0"/>
              </a:endParaRPr>
            </a:p>
          </p:txBody>
        </p:sp>
        <p:sp>
          <p:nvSpPr>
            <p:cNvPr id="68" name="TextBox 67"/>
            <p:cNvSpPr txBox="1"/>
            <p:nvPr/>
          </p:nvSpPr>
          <p:spPr>
            <a:xfrm>
              <a:off x="3786182" y="5202808"/>
              <a:ext cx="214314" cy="369332"/>
            </a:xfrm>
            <a:prstGeom prst="rect">
              <a:avLst/>
            </a:prstGeom>
            <a:noFill/>
          </p:spPr>
          <p:txBody>
            <a:bodyPr wrap="square" rtlCol="0">
              <a:spAutoFit/>
            </a:bodyPr>
            <a:lstStyle/>
            <a:p>
              <a:pPr algn="l">
                <a:lnSpc>
                  <a:spcPct val="100000"/>
                </a:lnSpc>
                <a:spcBef>
                  <a:spcPts val="0"/>
                </a:spcBef>
              </a:pPr>
              <a:r>
                <a:rPr lang="en-US" altLang="zh-CN" sz="1800">
                  <a:solidFill>
                    <a:schemeClr val="bg1">
                      <a:lumMod val="50000"/>
                    </a:schemeClr>
                  </a:solidFill>
                  <a:latin typeface="Consolas" pitchFamily="49" charset="0"/>
                  <a:ea typeface="楷体" pitchFamily="49" charset="-122"/>
                  <a:cs typeface="Consolas" pitchFamily="49" charset="0"/>
                </a:rPr>
                <a:t>1</a:t>
              </a:r>
              <a:endParaRPr lang="zh-CN" altLang="en-US" sz="1800">
                <a:solidFill>
                  <a:schemeClr val="bg1">
                    <a:lumMod val="50000"/>
                  </a:schemeClr>
                </a:solidFill>
                <a:latin typeface="Consolas" pitchFamily="49" charset="0"/>
                <a:ea typeface="楷体" pitchFamily="49" charset="-122"/>
                <a:cs typeface="Consolas" pitchFamily="49" charset="0"/>
              </a:endParaRPr>
            </a:p>
          </p:txBody>
        </p:sp>
        <p:sp>
          <p:nvSpPr>
            <p:cNvPr id="69" name="TextBox 68"/>
            <p:cNvSpPr txBox="1"/>
            <p:nvPr/>
          </p:nvSpPr>
          <p:spPr>
            <a:xfrm>
              <a:off x="3786182" y="5702874"/>
              <a:ext cx="214314" cy="369332"/>
            </a:xfrm>
            <a:prstGeom prst="rect">
              <a:avLst/>
            </a:prstGeom>
            <a:noFill/>
          </p:spPr>
          <p:txBody>
            <a:bodyPr wrap="square" rtlCol="0">
              <a:spAutoFit/>
            </a:bodyPr>
            <a:lstStyle/>
            <a:p>
              <a:pPr algn="l">
                <a:lnSpc>
                  <a:spcPct val="100000"/>
                </a:lnSpc>
                <a:spcBef>
                  <a:spcPts val="0"/>
                </a:spcBef>
              </a:pPr>
              <a:r>
                <a:rPr lang="en-US" altLang="zh-CN" sz="1800">
                  <a:solidFill>
                    <a:schemeClr val="bg1">
                      <a:lumMod val="50000"/>
                    </a:schemeClr>
                  </a:solidFill>
                  <a:latin typeface="Consolas" pitchFamily="49" charset="0"/>
                  <a:ea typeface="楷体" pitchFamily="49" charset="-122"/>
                  <a:cs typeface="Consolas" pitchFamily="49" charset="0"/>
                </a:rPr>
                <a:t>2</a:t>
              </a:r>
              <a:endParaRPr lang="zh-CN" altLang="en-US" sz="1800">
                <a:solidFill>
                  <a:schemeClr val="bg1">
                    <a:lumMod val="50000"/>
                  </a:schemeClr>
                </a:solidFill>
                <a:latin typeface="Consolas" pitchFamily="49" charset="0"/>
                <a:ea typeface="楷体" pitchFamily="49" charset="-122"/>
                <a:cs typeface="Consolas" pitchFamily="49" charset="0"/>
              </a:endParaRPr>
            </a:p>
          </p:txBody>
        </p:sp>
        <p:sp>
          <p:nvSpPr>
            <p:cNvPr id="70" name="TextBox 69"/>
            <p:cNvSpPr txBox="1"/>
            <p:nvPr/>
          </p:nvSpPr>
          <p:spPr>
            <a:xfrm>
              <a:off x="4143372" y="4143380"/>
              <a:ext cx="857256" cy="369332"/>
            </a:xfrm>
            <a:prstGeom prst="rect">
              <a:avLst/>
            </a:prstGeom>
            <a:noFill/>
          </p:spPr>
          <p:txBody>
            <a:bodyPr wrap="square" rtlCol="0">
              <a:spAutoFit/>
            </a:bodyPr>
            <a:lstStyle/>
            <a:p>
              <a:pPr algn="l">
                <a:lnSpc>
                  <a:spcPct val="100000"/>
                </a:lnSpc>
                <a:spcBef>
                  <a:spcPts val="0"/>
                </a:spcBef>
              </a:pPr>
              <a:r>
                <a:rPr lang="en-US" altLang="zh-CN" sz="1800">
                  <a:solidFill>
                    <a:srgbClr val="0000FF"/>
                  </a:solidFill>
                  <a:latin typeface="Consolas" pitchFamily="49" charset="0"/>
                  <a:ea typeface="楷体" pitchFamily="49" charset="-122"/>
                  <a:cs typeface="Consolas" pitchFamily="49" charset="0"/>
                </a:rPr>
                <a:t>head</a:t>
              </a:r>
              <a:endParaRPr lang="zh-CN" altLang="en-US" sz="1800">
                <a:solidFill>
                  <a:srgbClr val="0000FF"/>
                </a:solidFill>
                <a:latin typeface="Consolas" pitchFamily="49" charset="0"/>
                <a:ea typeface="楷体" pitchFamily="49" charset="-122"/>
                <a:cs typeface="Consolas" pitchFamily="49" charset="0"/>
              </a:endParaRPr>
            </a:p>
          </p:txBody>
        </p:sp>
        <p:sp>
          <p:nvSpPr>
            <p:cNvPr id="71" name="TextBox 70"/>
            <p:cNvSpPr txBox="1"/>
            <p:nvPr/>
          </p:nvSpPr>
          <p:spPr>
            <a:xfrm>
              <a:off x="6000760" y="4786322"/>
              <a:ext cx="500066" cy="369332"/>
            </a:xfrm>
            <a:prstGeom prst="rect">
              <a:avLst/>
            </a:prstGeom>
          </p:spPr>
          <p:style>
            <a:lnRef idx="1">
              <a:schemeClr val="accent5"/>
            </a:lnRef>
            <a:fillRef idx="2">
              <a:schemeClr val="accent5"/>
            </a:fillRef>
            <a:effectRef idx="1">
              <a:schemeClr val="accent5"/>
            </a:effectRef>
            <a:fontRef idx="minor">
              <a:schemeClr val="dk1"/>
            </a:fontRef>
          </p:style>
          <p:txBody>
            <a:bodyPr wrap="square" lIns="360000" rIns="360000" rtlCol="0">
              <a:spAutoFit/>
            </a:bodyPr>
            <a:lstStyle/>
            <a:p>
              <a:pPr>
                <a:lnSpc>
                  <a:spcPct val="100000"/>
                </a:lnSpc>
                <a:spcBef>
                  <a:spcPts val="0"/>
                </a:spcBef>
              </a:pPr>
              <a:r>
                <a:rPr lang="en-US" altLang="zh-CN" sz="1800">
                  <a:solidFill>
                    <a:srgbClr val="00B050"/>
                  </a:solidFill>
                  <a:latin typeface="Consolas" pitchFamily="49" charset="0"/>
                  <a:ea typeface="楷体" pitchFamily="49" charset="-122"/>
                  <a:cs typeface="Consolas" pitchFamily="49" charset="0"/>
                </a:rPr>
                <a:t>1</a:t>
              </a:r>
              <a:endParaRPr lang="zh-CN" altLang="en-US" sz="1800">
                <a:solidFill>
                  <a:srgbClr val="00B050"/>
                </a:solidFill>
                <a:latin typeface="Consolas" pitchFamily="49" charset="0"/>
                <a:ea typeface="楷体" pitchFamily="49" charset="-122"/>
                <a:cs typeface="Consolas" pitchFamily="49" charset="0"/>
              </a:endParaRPr>
            </a:p>
          </p:txBody>
        </p:sp>
        <p:sp>
          <p:nvSpPr>
            <p:cNvPr id="72" name="TextBox 71"/>
            <p:cNvSpPr txBox="1"/>
            <p:nvPr/>
          </p:nvSpPr>
          <p:spPr>
            <a:xfrm>
              <a:off x="6500826" y="4786322"/>
              <a:ext cx="500066" cy="369332"/>
            </a:xfrm>
            <a:prstGeom prst="rect">
              <a:avLst/>
            </a:prstGeom>
          </p:spPr>
          <p:style>
            <a:lnRef idx="1">
              <a:schemeClr val="accent5"/>
            </a:lnRef>
            <a:fillRef idx="2">
              <a:schemeClr val="accent5"/>
            </a:fillRef>
            <a:effectRef idx="1">
              <a:schemeClr val="accent5"/>
            </a:effectRef>
            <a:fontRef idx="minor">
              <a:schemeClr val="dk1"/>
            </a:fontRef>
          </p:style>
          <p:txBody>
            <a:bodyPr wrap="square" lIns="360000" rIns="360000" rtlCol="0">
              <a:spAutoFit/>
            </a:bodyPr>
            <a:lstStyle/>
            <a:p>
              <a:pPr>
                <a:lnSpc>
                  <a:spcPct val="100000"/>
                </a:lnSpc>
                <a:spcBef>
                  <a:spcPts val="0"/>
                </a:spcBef>
              </a:pPr>
              <a:r>
                <a:rPr lang="en-US" altLang="zh-CN" sz="1800">
                  <a:solidFill>
                    <a:srgbClr val="FF00FF"/>
                  </a:solidFill>
                  <a:latin typeface="Consolas" pitchFamily="49" charset="0"/>
                  <a:ea typeface="楷体" pitchFamily="49" charset="-122"/>
                  <a:cs typeface="Consolas" pitchFamily="49" charset="0"/>
                </a:rPr>
                <a:t>2</a:t>
              </a:r>
              <a:endParaRPr lang="zh-CN" altLang="en-US" sz="1800">
                <a:solidFill>
                  <a:srgbClr val="FF00FF"/>
                </a:solidFill>
                <a:latin typeface="Consolas" pitchFamily="49" charset="0"/>
                <a:ea typeface="楷体" pitchFamily="49" charset="-122"/>
                <a:cs typeface="Consolas" pitchFamily="49" charset="0"/>
              </a:endParaRPr>
            </a:p>
          </p:txBody>
        </p:sp>
        <p:sp>
          <p:nvSpPr>
            <p:cNvPr id="73" name="TextBox 72"/>
            <p:cNvSpPr txBox="1"/>
            <p:nvPr/>
          </p:nvSpPr>
          <p:spPr>
            <a:xfrm>
              <a:off x="7000892" y="4786322"/>
              <a:ext cx="500066" cy="369332"/>
            </a:xfrm>
            <a:prstGeom prst="rect">
              <a:avLst/>
            </a:prstGeom>
          </p:spPr>
          <p:style>
            <a:lnRef idx="1">
              <a:schemeClr val="accent5"/>
            </a:lnRef>
            <a:fillRef idx="2">
              <a:schemeClr val="accent5"/>
            </a:fillRef>
            <a:effectRef idx="1">
              <a:schemeClr val="accent5"/>
            </a:effectRef>
            <a:fontRef idx="minor">
              <a:schemeClr val="dk1"/>
            </a:fontRef>
          </p:style>
          <p:txBody>
            <a:bodyPr wrap="square" lIns="360000" rIns="360000" rtlCol="0">
              <a:spAutoFit/>
            </a:bodyPr>
            <a:lstStyle/>
            <a:p>
              <a:pPr>
                <a:lnSpc>
                  <a:spcPct val="100000"/>
                </a:lnSpc>
                <a:spcBef>
                  <a:spcPts val="0"/>
                </a:spcBef>
              </a:pPr>
              <a:r>
                <a:rPr lang="en-US" altLang="zh-CN" sz="1800">
                  <a:solidFill>
                    <a:srgbClr val="FF00FF"/>
                  </a:solidFill>
                  <a:latin typeface="Consolas" pitchFamily="49" charset="0"/>
                  <a:ea typeface="楷体" pitchFamily="49" charset="-122"/>
                  <a:cs typeface="Consolas" pitchFamily="49" charset="0"/>
                </a:rPr>
                <a:t>c</a:t>
              </a:r>
              <a:endParaRPr lang="zh-CN" altLang="en-US" sz="1800">
                <a:solidFill>
                  <a:srgbClr val="FF00FF"/>
                </a:solidFill>
                <a:latin typeface="Consolas" pitchFamily="49" charset="0"/>
                <a:ea typeface="楷体" pitchFamily="49" charset="-122"/>
                <a:cs typeface="Consolas" pitchFamily="49" charset="0"/>
              </a:endParaRPr>
            </a:p>
          </p:txBody>
        </p:sp>
        <p:sp>
          <p:nvSpPr>
            <p:cNvPr id="74" name="TextBox 73"/>
            <p:cNvSpPr txBox="1"/>
            <p:nvPr/>
          </p:nvSpPr>
          <p:spPr>
            <a:xfrm>
              <a:off x="7500958" y="4786322"/>
              <a:ext cx="500066" cy="369332"/>
            </a:xfrm>
            <a:prstGeom prst="rect">
              <a:avLst/>
            </a:prstGeom>
          </p:spPr>
          <p:style>
            <a:lnRef idx="1">
              <a:schemeClr val="accent5"/>
            </a:lnRef>
            <a:fillRef idx="2">
              <a:schemeClr val="accent5"/>
            </a:fillRef>
            <a:effectRef idx="1">
              <a:schemeClr val="accent5"/>
            </a:effectRef>
            <a:fontRef idx="minor">
              <a:schemeClr val="dk1"/>
            </a:fontRef>
          </p:style>
          <p:txBody>
            <a:bodyPr wrap="square" lIns="0" rIns="0" rtlCol="0">
              <a:spAutoFit/>
            </a:bodyPr>
            <a:lstStyle/>
            <a:p>
              <a:pPr>
                <a:lnSpc>
                  <a:spcPct val="100000"/>
                </a:lnSpc>
                <a:spcBef>
                  <a:spcPts val="0"/>
                </a:spcBef>
              </a:pPr>
              <a:r>
                <a:rPr lang="en-US" altLang="zh-CN" sz="1800">
                  <a:solidFill>
                    <a:srgbClr val="FF00FF"/>
                  </a:solidFill>
                  <a:latin typeface="Consolas" pitchFamily="49" charset="0"/>
                  <a:ea typeface="楷体" pitchFamily="49" charset="-122"/>
                  <a:cs typeface="Consolas" pitchFamily="49" charset="0"/>
                </a:rPr>
                <a:t>-1</a:t>
              </a:r>
              <a:endParaRPr lang="zh-CN" altLang="en-US" sz="1800">
                <a:solidFill>
                  <a:srgbClr val="FF00FF"/>
                </a:solidFill>
                <a:latin typeface="Consolas" pitchFamily="49" charset="0"/>
                <a:ea typeface="楷体" pitchFamily="49" charset="-122"/>
                <a:cs typeface="Consolas" pitchFamily="49" charset="0"/>
              </a:endParaRPr>
            </a:p>
          </p:txBody>
        </p:sp>
        <p:sp>
          <p:nvSpPr>
            <p:cNvPr id="75" name="TextBox 74"/>
            <p:cNvSpPr txBox="1"/>
            <p:nvPr/>
          </p:nvSpPr>
          <p:spPr>
            <a:xfrm>
              <a:off x="6000760" y="5202808"/>
              <a:ext cx="500066" cy="369332"/>
            </a:xfrm>
            <a:prstGeom prst="rect">
              <a:avLst/>
            </a:prstGeom>
          </p:spPr>
          <p:style>
            <a:lnRef idx="1">
              <a:schemeClr val="accent5"/>
            </a:lnRef>
            <a:fillRef idx="2">
              <a:schemeClr val="accent5"/>
            </a:fillRef>
            <a:effectRef idx="1">
              <a:schemeClr val="accent5"/>
            </a:effectRef>
            <a:fontRef idx="minor">
              <a:schemeClr val="dk1"/>
            </a:fontRef>
          </p:style>
          <p:txBody>
            <a:bodyPr wrap="square" lIns="360000" rIns="360000" rtlCol="0">
              <a:spAutoFit/>
            </a:bodyPr>
            <a:lstStyle/>
            <a:p>
              <a:pPr>
                <a:lnSpc>
                  <a:spcPct val="100000"/>
                </a:lnSpc>
                <a:spcBef>
                  <a:spcPts val="0"/>
                </a:spcBef>
              </a:pPr>
              <a:r>
                <a:rPr lang="en-US" altLang="zh-CN" sz="1800">
                  <a:solidFill>
                    <a:srgbClr val="00B050"/>
                  </a:solidFill>
                  <a:latin typeface="Consolas" pitchFamily="49" charset="0"/>
                  <a:ea typeface="楷体" pitchFamily="49" charset="-122"/>
                  <a:cs typeface="Consolas" pitchFamily="49" charset="0"/>
                </a:rPr>
                <a:t>2</a:t>
              </a:r>
              <a:endParaRPr lang="zh-CN" altLang="en-US" sz="1800">
                <a:solidFill>
                  <a:srgbClr val="00B050"/>
                </a:solidFill>
                <a:latin typeface="Consolas" pitchFamily="49" charset="0"/>
                <a:ea typeface="楷体" pitchFamily="49" charset="-122"/>
                <a:cs typeface="Consolas" pitchFamily="49" charset="0"/>
              </a:endParaRPr>
            </a:p>
          </p:txBody>
        </p:sp>
        <p:sp>
          <p:nvSpPr>
            <p:cNvPr id="76" name="TextBox 75"/>
            <p:cNvSpPr txBox="1"/>
            <p:nvPr/>
          </p:nvSpPr>
          <p:spPr>
            <a:xfrm>
              <a:off x="6500826" y="5202808"/>
              <a:ext cx="500066" cy="369332"/>
            </a:xfrm>
            <a:prstGeom prst="rect">
              <a:avLst/>
            </a:prstGeom>
          </p:spPr>
          <p:style>
            <a:lnRef idx="1">
              <a:schemeClr val="accent5"/>
            </a:lnRef>
            <a:fillRef idx="2">
              <a:schemeClr val="accent5"/>
            </a:fillRef>
            <a:effectRef idx="1">
              <a:schemeClr val="accent5"/>
            </a:effectRef>
            <a:fontRef idx="minor">
              <a:schemeClr val="dk1"/>
            </a:fontRef>
          </p:style>
          <p:txBody>
            <a:bodyPr wrap="square" lIns="360000" rIns="360000" rtlCol="0">
              <a:spAutoFit/>
            </a:bodyPr>
            <a:lstStyle/>
            <a:p>
              <a:pPr>
                <a:lnSpc>
                  <a:spcPct val="100000"/>
                </a:lnSpc>
                <a:spcBef>
                  <a:spcPts val="0"/>
                </a:spcBef>
              </a:pPr>
              <a:r>
                <a:rPr lang="en-US" altLang="zh-CN" sz="1800">
                  <a:solidFill>
                    <a:srgbClr val="FF00FF"/>
                  </a:solidFill>
                  <a:latin typeface="Consolas" pitchFamily="49" charset="0"/>
                  <a:ea typeface="楷体" pitchFamily="49" charset="-122"/>
                  <a:cs typeface="Consolas" pitchFamily="49" charset="0"/>
                </a:rPr>
                <a:t>1</a:t>
              </a:r>
              <a:endParaRPr lang="zh-CN" altLang="en-US" sz="1800">
                <a:solidFill>
                  <a:srgbClr val="FF00FF"/>
                </a:solidFill>
                <a:latin typeface="Consolas" pitchFamily="49" charset="0"/>
                <a:ea typeface="楷体" pitchFamily="49" charset="-122"/>
                <a:cs typeface="Consolas" pitchFamily="49" charset="0"/>
              </a:endParaRPr>
            </a:p>
          </p:txBody>
        </p:sp>
        <p:sp>
          <p:nvSpPr>
            <p:cNvPr id="77" name="TextBox 76"/>
            <p:cNvSpPr txBox="1"/>
            <p:nvPr/>
          </p:nvSpPr>
          <p:spPr>
            <a:xfrm>
              <a:off x="7000892" y="5202808"/>
              <a:ext cx="500066" cy="369332"/>
            </a:xfrm>
            <a:prstGeom prst="rect">
              <a:avLst/>
            </a:prstGeom>
          </p:spPr>
          <p:style>
            <a:lnRef idx="1">
              <a:schemeClr val="accent5"/>
            </a:lnRef>
            <a:fillRef idx="2">
              <a:schemeClr val="accent5"/>
            </a:fillRef>
            <a:effectRef idx="1">
              <a:schemeClr val="accent5"/>
            </a:effectRef>
            <a:fontRef idx="minor">
              <a:schemeClr val="dk1"/>
            </a:fontRef>
          </p:style>
          <p:txBody>
            <a:bodyPr wrap="square" lIns="360000" rIns="360000" rtlCol="0">
              <a:spAutoFit/>
            </a:bodyPr>
            <a:lstStyle/>
            <a:p>
              <a:pPr>
                <a:lnSpc>
                  <a:spcPct val="100000"/>
                </a:lnSpc>
                <a:spcBef>
                  <a:spcPts val="0"/>
                </a:spcBef>
              </a:pPr>
              <a:r>
                <a:rPr lang="en-US" altLang="zh-CN" sz="1800">
                  <a:solidFill>
                    <a:srgbClr val="FF00FF"/>
                  </a:solidFill>
                  <a:latin typeface="Consolas" pitchFamily="49" charset="0"/>
                  <a:ea typeface="楷体" pitchFamily="49" charset="-122"/>
                  <a:cs typeface="Consolas" pitchFamily="49" charset="0"/>
                </a:rPr>
                <a:t>0</a:t>
              </a:r>
              <a:endParaRPr lang="zh-CN" altLang="en-US" sz="1800">
                <a:solidFill>
                  <a:srgbClr val="FF00FF"/>
                </a:solidFill>
                <a:latin typeface="Consolas" pitchFamily="49" charset="0"/>
                <a:ea typeface="楷体" pitchFamily="49" charset="-122"/>
                <a:cs typeface="Consolas" pitchFamily="49" charset="0"/>
              </a:endParaRPr>
            </a:p>
          </p:txBody>
        </p:sp>
        <p:sp>
          <p:nvSpPr>
            <p:cNvPr id="78" name="TextBox 77"/>
            <p:cNvSpPr txBox="1"/>
            <p:nvPr/>
          </p:nvSpPr>
          <p:spPr>
            <a:xfrm>
              <a:off x="7500958" y="5202808"/>
              <a:ext cx="500066" cy="369332"/>
            </a:xfrm>
            <a:prstGeom prst="rect">
              <a:avLst/>
            </a:prstGeom>
          </p:spPr>
          <p:style>
            <a:lnRef idx="1">
              <a:schemeClr val="accent5"/>
            </a:lnRef>
            <a:fillRef idx="2">
              <a:schemeClr val="accent5"/>
            </a:fillRef>
            <a:effectRef idx="1">
              <a:schemeClr val="accent5"/>
            </a:effectRef>
            <a:fontRef idx="minor">
              <a:schemeClr val="dk1"/>
            </a:fontRef>
          </p:style>
          <p:txBody>
            <a:bodyPr wrap="square" lIns="0" rIns="0" rtlCol="0">
              <a:spAutoFit/>
            </a:bodyPr>
            <a:lstStyle/>
            <a:p>
              <a:pPr>
                <a:lnSpc>
                  <a:spcPct val="100000"/>
                </a:lnSpc>
                <a:spcBef>
                  <a:spcPts val="0"/>
                </a:spcBef>
              </a:pPr>
              <a:r>
                <a:rPr lang="en-US" altLang="zh-CN" sz="1800">
                  <a:solidFill>
                    <a:srgbClr val="FF00FF"/>
                  </a:solidFill>
                  <a:latin typeface="Consolas" pitchFamily="49" charset="0"/>
                  <a:ea typeface="楷体" pitchFamily="49" charset="-122"/>
                  <a:cs typeface="Consolas" pitchFamily="49" charset="0"/>
                </a:rPr>
                <a:t>-1</a:t>
              </a:r>
              <a:endParaRPr lang="zh-CN" altLang="en-US" sz="1800">
                <a:solidFill>
                  <a:srgbClr val="FF00FF"/>
                </a:solidFill>
                <a:latin typeface="Consolas" pitchFamily="49" charset="0"/>
                <a:ea typeface="楷体" pitchFamily="49" charset="-122"/>
                <a:cs typeface="Consolas" pitchFamily="49" charset="0"/>
              </a:endParaRPr>
            </a:p>
          </p:txBody>
        </p:sp>
        <p:sp>
          <p:nvSpPr>
            <p:cNvPr id="79" name="TextBox 78"/>
            <p:cNvSpPr txBox="1"/>
            <p:nvPr/>
          </p:nvSpPr>
          <p:spPr>
            <a:xfrm>
              <a:off x="5715008" y="4786322"/>
              <a:ext cx="214314" cy="369332"/>
            </a:xfrm>
            <a:prstGeom prst="rect">
              <a:avLst/>
            </a:prstGeom>
            <a:noFill/>
          </p:spPr>
          <p:txBody>
            <a:bodyPr wrap="square" rtlCol="0">
              <a:spAutoFit/>
            </a:bodyPr>
            <a:lstStyle/>
            <a:p>
              <a:pPr algn="l">
                <a:lnSpc>
                  <a:spcPct val="100000"/>
                </a:lnSpc>
                <a:spcBef>
                  <a:spcPts val="0"/>
                </a:spcBef>
              </a:pPr>
              <a:r>
                <a:rPr lang="en-US" altLang="zh-CN" sz="1800">
                  <a:solidFill>
                    <a:schemeClr val="bg1">
                      <a:lumMod val="50000"/>
                    </a:schemeClr>
                  </a:solidFill>
                  <a:latin typeface="Consolas" pitchFamily="49" charset="0"/>
                  <a:ea typeface="楷体" pitchFamily="49" charset="-122"/>
                  <a:cs typeface="Consolas" pitchFamily="49" charset="0"/>
                </a:rPr>
                <a:t>2</a:t>
              </a:r>
              <a:endParaRPr lang="zh-CN" altLang="en-US" sz="1800">
                <a:solidFill>
                  <a:schemeClr val="bg1">
                    <a:lumMod val="50000"/>
                  </a:schemeClr>
                </a:solidFill>
                <a:latin typeface="Consolas" pitchFamily="49" charset="0"/>
                <a:ea typeface="楷体" pitchFamily="49" charset="-122"/>
                <a:cs typeface="Consolas" pitchFamily="49" charset="0"/>
              </a:endParaRPr>
            </a:p>
          </p:txBody>
        </p:sp>
        <p:sp>
          <p:nvSpPr>
            <p:cNvPr id="80" name="TextBox 79"/>
            <p:cNvSpPr txBox="1"/>
            <p:nvPr/>
          </p:nvSpPr>
          <p:spPr>
            <a:xfrm>
              <a:off x="5715008" y="5201896"/>
              <a:ext cx="214314" cy="369332"/>
            </a:xfrm>
            <a:prstGeom prst="rect">
              <a:avLst/>
            </a:prstGeom>
            <a:noFill/>
          </p:spPr>
          <p:txBody>
            <a:bodyPr wrap="square" rtlCol="0">
              <a:spAutoFit/>
            </a:bodyPr>
            <a:lstStyle/>
            <a:p>
              <a:pPr algn="l">
                <a:lnSpc>
                  <a:spcPct val="100000"/>
                </a:lnSpc>
                <a:spcBef>
                  <a:spcPts val="0"/>
                </a:spcBef>
              </a:pPr>
              <a:r>
                <a:rPr lang="en-US" altLang="zh-CN" sz="1800">
                  <a:solidFill>
                    <a:schemeClr val="bg1">
                      <a:lumMod val="50000"/>
                    </a:schemeClr>
                  </a:solidFill>
                  <a:latin typeface="Consolas" pitchFamily="49" charset="0"/>
                  <a:ea typeface="楷体" pitchFamily="49" charset="-122"/>
                  <a:cs typeface="Consolas" pitchFamily="49" charset="0"/>
                </a:rPr>
                <a:t>3</a:t>
              </a:r>
              <a:endParaRPr lang="zh-CN" altLang="en-US" sz="1800">
                <a:solidFill>
                  <a:schemeClr val="bg1">
                    <a:lumMod val="50000"/>
                  </a:schemeClr>
                </a:solidFill>
                <a:latin typeface="Consolas" pitchFamily="49" charset="0"/>
                <a:ea typeface="楷体" pitchFamily="49" charset="-122"/>
                <a:cs typeface="Consolas" pitchFamily="49" charset="0"/>
              </a:endParaRPr>
            </a:p>
          </p:txBody>
        </p:sp>
        <p:cxnSp>
          <p:nvCxnSpPr>
            <p:cNvPr id="82" name="直接箭头连接符 81"/>
            <p:cNvCxnSpPr>
              <a:endCxn id="79" idx="1"/>
            </p:cNvCxnSpPr>
            <p:nvPr/>
          </p:nvCxnSpPr>
          <p:spPr>
            <a:xfrm flipV="1">
              <a:off x="4857752" y="4970988"/>
              <a:ext cx="857256" cy="458276"/>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cxnSp>
          <p:nvCxnSpPr>
            <p:cNvPr id="84" name="直接箭头连接符 83"/>
            <p:cNvCxnSpPr>
              <a:endCxn id="80" idx="1"/>
            </p:cNvCxnSpPr>
            <p:nvPr/>
          </p:nvCxnSpPr>
          <p:spPr>
            <a:xfrm flipV="1">
              <a:off x="4857752" y="5386562"/>
              <a:ext cx="857256" cy="614206"/>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85" name="TextBox 84"/>
            <p:cNvSpPr txBox="1"/>
            <p:nvPr/>
          </p:nvSpPr>
          <p:spPr>
            <a:xfrm>
              <a:off x="6286512" y="4274114"/>
              <a:ext cx="857256" cy="369332"/>
            </a:xfrm>
            <a:prstGeom prst="rect">
              <a:avLst/>
            </a:prstGeom>
            <a:noFill/>
          </p:spPr>
          <p:txBody>
            <a:bodyPr wrap="square" rtlCol="0">
              <a:spAutoFit/>
            </a:bodyPr>
            <a:lstStyle/>
            <a:p>
              <a:pPr algn="l">
                <a:lnSpc>
                  <a:spcPct val="100000"/>
                </a:lnSpc>
                <a:spcBef>
                  <a:spcPts val="0"/>
                </a:spcBef>
              </a:pPr>
              <a:r>
                <a:rPr lang="en-US" altLang="zh-CN" sz="1800">
                  <a:solidFill>
                    <a:srgbClr val="0000FF"/>
                  </a:solidFill>
                  <a:latin typeface="Consolas" pitchFamily="49" charset="0"/>
                  <a:ea typeface="楷体" pitchFamily="49" charset="-122"/>
                  <a:cs typeface="Consolas" pitchFamily="49" charset="0"/>
                </a:rPr>
                <a:t>edge</a:t>
              </a:r>
              <a:endParaRPr lang="zh-CN" altLang="en-US" sz="1800">
                <a:solidFill>
                  <a:srgbClr val="0000FF"/>
                </a:solidFill>
                <a:latin typeface="Consolas" pitchFamily="49" charset="0"/>
                <a:ea typeface="楷体" pitchFamily="49" charset="-122"/>
                <a:cs typeface="Consolas" pitchFamily="49" charset="0"/>
              </a:endParaRPr>
            </a:p>
          </p:txBody>
        </p:sp>
        <p:sp>
          <p:nvSpPr>
            <p:cNvPr id="86" name="右箭头 85"/>
            <p:cNvSpPr/>
            <p:nvPr/>
          </p:nvSpPr>
          <p:spPr bwMode="auto">
            <a:xfrm>
              <a:off x="3143240" y="5000636"/>
              <a:ext cx="428628" cy="428628"/>
            </a:xfrm>
            <a:prstGeom prst="rightArrow">
              <a:avLst/>
            </a:prstGeom>
            <a:ln>
              <a:headEnd type="none" w="med" len="med"/>
              <a:tailEnd type="arrow" w="med" len="med"/>
            </a:ln>
          </p:spPr>
          <p:style>
            <a:lnRef idx="1">
              <a:schemeClr val="accent2"/>
            </a:lnRef>
            <a:fillRef idx="3">
              <a:schemeClr val="accent2"/>
            </a:fillRef>
            <a:effectRef idx="2">
              <a:schemeClr val="accent2"/>
            </a:effectRef>
            <a:fontRef idx="minor">
              <a:schemeClr val="lt1"/>
            </a:fontRef>
          </p:style>
          <p:txBody>
            <a:bodyPr vert="horz" wrap="square" lIns="91440" tIns="45720" rIns="91440" bIns="45720" numCol="1" rtlCol="0" anchor="t" anchorCtr="0" compatLnSpc="1">
              <a:prstTxWarp prst="textNoShape">
                <a:avLst/>
              </a:prstTxWarp>
            </a:bodyPr>
            <a:lstStyle/>
            <a:p>
              <a:pPr algn="ctr"/>
              <a:endParaRPr lang="zh-CN" altLang="en-US" sz="2000">
                <a:solidFill>
                  <a:srgbClr val="0000FF"/>
                </a:solidFill>
                <a:latin typeface="Consolas" pitchFamily="49" charset="0"/>
                <a:ea typeface="仿宋" pitchFamily="49" charset="-122"/>
              </a:endParaRPr>
            </a:p>
          </p:txBody>
        </p:sp>
      </p:grpSp>
      <p:sp>
        <p:nvSpPr>
          <p:cNvPr id="32" name="灯片编号占位符 31"/>
          <p:cNvSpPr>
            <a:spLocks noGrp="1"/>
          </p:cNvSpPr>
          <p:nvPr>
            <p:ph type="sldNum" sz="quarter" idx="12"/>
          </p:nvPr>
        </p:nvSpPr>
        <p:spPr/>
        <p:txBody>
          <a:bodyPr/>
          <a:lstStyle/>
          <a:p>
            <a:fld id="{7AF016A1-9F15-429F-9EFD-84004B73C732}" type="slidenum">
              <a:rPr lang="en-US" altLang="zh-CN" smtClean="0"/>
              <a:pPr/>
              <a:t>139</a:t>
            </a:fld>
            <a:r>
              <a:rPr lang="en-US" altLang="zh-CN"/>
              <a:t>/158</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7">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1406" y="357166"/>
            <a:ext cx="8929718" cy="1200329"/>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ct val="100000"/>
              </a:lnSpc>
              <a:spcBef>
                <a:spcPts val="0"/>
              </a:spcBef>
              <a:buBlip>
                <a:blip r:embed="rId3"/>
              </a:buBlip>
            </a:pPr>
            <a:r>
              <a:rPr lang="zh-CN" altLang="zh-CN">
                <a:solidFill>
                  <a:srgbClr val="0000FF"/>
                </a:solidFill>
                <a:latin typeface="Consolas" pitchFamily="49" charset="0"/>
                <a:ea typeface="仿宋" pitchFamily="49" charset="-122"/>
              </a:rPr>
              <a:t>本解法采用</a:t>
            </a:r>
            <a:r>
              <a:rPr lang="en-US" altLang="zh-CN">
                <a:solidFill>
                  <a:srgbClr val="0000FF"/>
                </a:solidFill>
                <a:latin typeface="Consolas" pitchFamily="49" charset="0"/>
                <a:ea typeface="仿宋" pitchFamily="49" charset="-122"/>
              </a:rPr>
              <a:t>Ford-Fulkerson</a:t>
            </a:r>
            <a:r>
              <a:rPr lang="zh-CN" altLang="zh-CN">
                <a:solidFill>
                  <a:srgbClr val="0000FF"/>
                </a:solidFill>
                <a:latin typeface="Consolas" pitchFamily="49" charset="0"/>
                <a:ea typeface="仿宋" pitchFamily="49" charset="-122"/>
              </a:rPr>
              <a:t>算法求解。</a:t>
            </a:r>
            <a:endParaRPr lang="en-US" altLang="zh-CN">
              <a:solidFill>
                <a:srgbClr val="0000FF"/>
              </a:solidFill>
              <a:latin typeface="Consolas" pitchFamily="49" charset="0"/>
              <a:ea typeface="仿宋" pitchFamily="49" charset="-122"/>
            </a:endParaRPr>
          </a:p>
          <a:p>
            <a:pPr marL="457200" indent="-457200" algn="l">
              <a:lnSpc>
                <a:spcPct val="100000"/>
              </a:lnSpc>
              <a:spcBef>
                <a:spcPts val="0"/>
              </a:spcBef>
              <a:buBlip>
                <a:blip r:embed="rId3"/>
              </a:buBlip>
            </a:pPr>
            <a:r>
              <a:rPr lang="zh-CN" altLang="zh-CN">
                <a:solidFill>
                  <a:srgbClr val="0000FF"/>
                </a:solidFill>
                <a:latin typeface="Consolas" pitchFamily="49" charset="0"/>
                <a:ea typeface="仿宋" pitchFamily="49" charset="-122"/>
              </a:rPr>
              <a:t>用</a:t>
            </a:r>
            <a:r>
              <a:rPr lang="en-US" altLang="zh-CN">
                <a:solidFill>
                  <a:srgbClr val="0000FF"/>
                </a:solidFill>
                <a:latin typeface="Consolas" pitchFamily="49" charset="0"/>
                <a:ea typeface="仿宋" pitchFamily="49" charset="-122"/>
              </a:rPr>
              <a:t>DFS</a:t>
            </a:r>
            <a:r>
              <a:rPr lang="zh-CN" altLang="zh-CN">
                <a:solidFill>
                  <a:srgbClr val="0000FF"/>
                </a:solidFill>
                <a:latin typeface="Consolas" pitchFamily="49" charset="0"/>
                <a:ea typeface="仿宋" pitchFamily="49" charset="-122"/>
              </a:rPr>
              <a:t>求一条增广路径时，用</a:t>
            </a:r>
            <a:r>
              <a:rPr lang="en-US" altLang="zh-CN">
                <a:solidFill>
                  <a:srgbClr val="0000FF"/>
                </a:solidFill>
                <a:latin typeface="Consolas" pitchFamily="49" charset="0"/>
                <a:ea typeface="仿宋" pitchFamily="49" charset="-122"/>
              </a:rPr>
              <a:t>path</a:t>
            </a:r>
            <a:r>
              <a:rPr lang="zh-CN" altLang="zh-CN">
                <a:solidFill>
                  <a:srgbClr val="0000FF"/>
                </a:solidFill>
                <a:latin typeface="Consolas" pitchFamily="49" charset="0"/>
                <a:ea typeface="仿宋" pitchFamily="49" charset="-122"/>
              </a:rPr>
              <a:t>数组存放找到的路径，</a:t>
            </a:r>
            <a:r>
              <a:rPr lang="en-US" altLang="zh-CN">
                <a:solidFill>
                  <a:srgbClr val="FF00FF"/>
                </a:solidFill>
                <a:latin typeface="Consolas" pitchFamily="49" charset="0"/>
                <a:ea typeface="仿宋" pitchFamily="49" charset="-122"/>
              </a:rPr>
              <a:t>path[</a:t>
            </a:r>
            <a:r>
              <a:rPr lang="en-US" altLang="zh-CN" i="1">
                <a:solidFill>
                  <a:srgbClr val="FF00FF"/>
                </a:solidFill>
                <a:latin typeface="Consolas" pitchFamily="49" charset="0"/>
                <a:ea typeface="仿宋" pitchFamily="49" charset="-122"/>
              </a:rPr>
              <a:t>v</a:t>
            </a:r>
            <a:r>
              <a:rPr lang="en-US" altLang="zh-CN">
                <a:solidFill>
                  <a:srgbClr val="FF00FF"/>
                </a:solidFill>
                <a:latin typeface="Consolas" pitchFamily="49" charset="0"/>
                <a:ea typeface="仿宋" pitchFamily="49" charset="-122"/>
              </a:rPr>
              <a:t>]</a:t>
            </a:r>
            <a:r>
              <a:rPr lang="zh-CN" altLang="zh-CN">
                <a:solidFill>
                  <a:srgbClr val="FF00FF"/>
                </a:solidFill>
                <a:latin typeface="Consolas" pitchFamily="49" charset="0"/>
                <a:ea typeface="仿宋" pitchFamily="49" charset="-122"/>
              </a:rPr>
              <a:t>记录最短路径上到达顶点</a:t>
            </a:r>
            <a:r>
              <a:rPr lang="en-US" altLang="zh-CN" i="1">
                <a:solidFill>
                  <a:srgbClr val="FF00FF"/>
                </a:solidFill>
                <a:latin typeface="Consolas" pitchFamily="49" charset="0"/>
                <a:ea typeface="仿宋" pitchFamily="49" charset="-122"/>
              </a:rPr>
              <a:t>v</a:t>
            </a:r>
            <a:r>
              <a:rPr lang="zh-CN" altLang="zh-CN">
                <a:solidFill>
                  <a:srgbClr val="FF00FF"/>
                </a:solidFill>
                <a:latin typeface="Consolas" pitchFamily="49" charset="0"/>
                <a:ea typeface="仿宋" pitchFamily="49" charset="-122"/>
              </a:rPr>
              <a:t>的边在</a:t>
            </a:r>
            <a:r>
              <a:rPr lang="en-US" altLang="zh-CN">
                <a:solidFill>
                  <a:srgbClr val="FF00FF"/>
                </a:solidFill>
                <a:latin typeface="Consolas" pitchFamily="49" charset="0"/>
                <a:ea typeface="仿宋" pitchFamily="49" charset="-122"/>
              </a:rPr>
              <a:t>edge</a:t>
            </a:r>
            <a:r>
              <a:rPr lang="zh-CN" altLang="zh-CN">
                <a:solidFill>
                  <a:srgbClr val="FF00FF"/>
                </a:solidFill>
                <a:latin typeface="Consolas" pitchFamily="49" charset="0"/>
                <a:ea typeface="仿宋" pitchFamily="49" charset="-122"/>
              </a:rPr>
              <a:t>数组中的下标</a:t>
            </a:r>
            <a:r>
              <a:rPr lang="zh-CN" altLang="en-US">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p:txBody>
      </p:sp>
      <p:sp>
        <p:nvSpPr>
          <p:cNvPr id="4" name="TextBox 3"/>
          <p:cNvSpPr txBox="1"/>
          <p:nvPr/>
        </p:nvSpPr>
        <p:spPr>
          <a:xfrm>
            <a:off x="428596" y="4177263"/>
            <a:ext cx="8358246" cy="1323439"/>
          </a:xfrm>
          <a:prstGeom prst="rect">
            <a:avLst/>
          </a:prstGeom>
          <a:ln>
            <a:solidFill>
              <a:schemeClr val="accent6">
                <a:lumMod val="20000"/>
                <a:lumOff val="80000"/>
              </a:schemeClr>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defTabSz="360000">
              <a:lnSpc>
                <a:spcPts val="2800"/>
              </a:lnSpc>
              <a:spcBef>
                <a:spcPts val="600"/>
              </a:spcBef>
            </a:pPr>
            <a:r>
              <a:rPr lang="en-US" altLang="zh-CN" sz="2000">
                <a:solidFill>
                  <a:srgbClr val="0000FF"/>
                </a:solidFill>
                <a:latin typeface="Consolas" pitchFamily="49" charset="0"/>
                <a:ea typeface="仿宋" pitchFamily="49" charset="-122"/>
              </a:rPr>
              <a:t>int delta=INF;</a:t>
            </a:r>
            <a:endParaRPr lang="zh-CN" altLang="zh-CN" sz="2000">
              <a:solidFill>
                <a:srgbClr val="0000FF"/>
              </a:solidFill>
              <a:latin typeface="Consolas" pitchFamily="49" charset="0"/>
              <a:ea typeface="仿宋" pitchFamily="49" charset="-122"/>
            </a:endParaRPr>
          </a:p>
          <a:p>
            <a:pPr algn="l" defTabSz="360000">
              <a:lnSpc>
                <a:spcPts val="2800"/>
              </a:lnSpc>
              <a:spcBef>
                <a:spcPts val="600"/>
              </a:spcBef>
            </a:pPr>
            <a:r>
              <a:rPr lang="en-US" altLang="zh-CN" sz="2000">
                <a:solidFill>
                  <a:srgbClr val="0000FF"/>
                </a:solidFill>
                <a:latin typeface="Consolas" pitchFamily="49" charset="0"/>
                <a:ea typeface="仿宋" pitchFamily="49" charset="-122"/>
              </a:rPr>
              <a:t>for(int i=T;i!=S;i=</a:t>
            </a:r>
            <a:r>
              <a:rPr lang="en-US" altLang="zh-CN" sz="2000">
                <a:solidFill>
                  <a:srgbClr val="FF00FF"/>
                </a:solidFill>
                <a:latin typeface="Consolas" pitchFamily="49" charset="0"/>
                <a:ea typeface="仿宋" pitchFamily="49" charset="-122"/>
              </a:rPr>
              <a:t>edge[path[i]^1]</a:t>
            </a:r>
            <a:r>
              <a:rPr lang="en-US" altLang="zh-CN" sz="2000">
                <a:solidFill>
                  <a:srgbClr val="0000FF"/>
                </a:solidFill>
                <a:latin typeface="Consolas" pitchFamily="49" charset="0"/>
                <a:ea typeface="仿宋" pitchFamily="49" charset="-122"/>
              </a:rPr>
              <a:t>.vno)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求路径上最小容量</a:t>
            </a:r>
          </a:p>
          <a:p>
            <a:pPr algn="l" defTabSz="360000">
              <a:lnSpc>
                <a:spcPts val="2800"/>
              </a:lnSpc>
              <a:spcBef>
                <a:spcPts val="600"/>
              </a:spcBef>
            </a:pPr>
            <a:r>
              <a:rPr lang="en-US" altLang="zh-CN" sz="2000">
                <a:solidFill>
                  <a:srgbClr val="0000FF"/>
                </a:solidFill>
                <a:latin typeface="Consolas" pitchFamily="49" charset="0"/>
                <a:ea typeface="仿宋" pitchFamily="49" charset="-122"/>
              </a:rPr>
              <a:t>	delta=min(delta,edge[path[i]].flow);</a:t>
            </a:r>
            <a:endParaRPr lang="zh-CN" altLang="zh-CN" sz="2000">
              <a:solidFill>
                <a:srgbClr val="0000FF"/>
              </a:solidFill>
              <a:latin typeface="Consolas" pitchFamily="49" charset="0"/>
              <a:ea typeface="仿宋" pitchFamily="49" charset="-122"/>
            </a:endParaRPr>
          </a:p>
        </p:txBody>
      </p:sp>
      <p:sp>
        <p:nvSpPr>
          <p:cNvPr id="5" name="TextBox 4"/>
          <p:cNvSpPr txBox="1"/>
          <p:nvPr/>
        </p:nvSpPr>
        <p:spPr>
          <a:xfrm>
            <a:off x="71406" y="3169507"/>
            <a:ext cx="8858312" cy="830997"/>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ct val="100000"/>
              </a:lnSpc>
              <a:spcBef>
                <a:spcPts val="0"/>
              </a:spcBef>
              <a:buBlip>
                <a:blip r:embed="rId3"/>
              </a:buBlip>
            </a:pPr>
            <a:r>
              <a:rPr lang="zh-CN" altLang="zh-CN">
                <a:solidFill>
                  <a:srgbClr val="0000FF"/>
                </a:solidFill>
                <a:latin typeface="Consolas" pitchFamily="49" charset="0"/>
                <a:ea typeface="仿宋" pitchFamily="49" charset="-122"/>
              </a:rPr>
              <a:t>当求出</a:t>
            </a:r>
            <a:r>
              <a:rPr lang="en-US" altLang="zh-CN">
                <a:solidFill>
                  <a:srgbClr val="0000FF"/>
                </a:solidFill>
                <a:latin typeface="Consolas" pitchFamily="49" charset="0"/>
                <a:ea typeface="仿宋" pitchFamily="49" charset="-122"/>
              </a:rPr>
              <a:t>path</a:t>
            </a:r>
            <a:r>
              <a:rPr lang="zh-CN" altLang="zh-CN">
                <a:solidFill>
                  <a:srgbClr val="0000FF"/>
                </a:solidFill>
                <a:latin typeface="Consolas" pitchFamily="49" charset="0"/>
                <a:ea typeface="仿宋" pitchFamily="49" charset="-122"/>
              </a:rPr>
              <a:t>数组后，可以通过从</a:t>
            </a:r>
            <a:r>
              <a:rPr lang="en-US" altLang="zh-CN">
                <a:solidFill>
                  <a:srgbClr val="0000FF"/>
                </a:solidFill>
                <a:latin typeface="Consolas" pitchFamily="49" charset="0"/>
                <a:ea typeface="仿宋" pitchFamily="49" charset="-122"/>
              </a:rPr>
              <a:t>T</a:t>
            </a:r>
            <a:r>
              <a:rPr lang="zh-CN" altLang="zh-CN">
                <a:solidFill>
                  <a:srgbClr val="0000FF"/>
                </a:solidFill>
                <a:latin typeface="Consolas" pitchFamily="49" charset="0"/>
                <a:ea typeface="仿宋" pitchFamily="49" charset="-122"/>
              </a:rPr>
              <a:t>开始反向遍历该路径，例如如下语句通过反向遍历求出路径上最小容量</a:t>
            </a:r>
            <a:r>
              <a:rPr lang="en-US" altLang="zh-CN">
                <a:solidFill>
                  <a:srgbClr val="0000FF"/>
                </a:solidFill>
                <a:latin typeface="Consolas" pitchFamily="49" charset="0"/>
                <a:ea typeface="仿宋" pitchFamily="49" charset="-122"/>
              </a:rPr>
              <a:t>delta</a:t>
            </a:r>
            <a:r>
              <a:rPr lang="zh-CN" altLang="zh-CN">
                <a:solidFill>
                  <a:srgbClr val="0000FF"/>
                </a:solidFill>
                <a:latin typeface="Consolas" pitchFamily="49" charset="0"/>
                <a:ea typeface="仿宋" pitchFamily="49" charset="-122"/>
              </a:rPr>
              <a:t>：</a:t>
            </a:r>
          </a:p>
        </p:txBody>
      </p:sp>
      <p:grpSp>
        <p:nvGrpSpPr>
          <p:cNvPr id="18" name="组合 17"/>
          <p:cNvGrpSpPr/>
          <p:nvPr/>
        </p:nvGrpSpPr>
        <p:grpSpPr>
          <a:xfrm>
            <a:off x="1000100" y="1643050"/>
            <a:ext cx="4857784" cy="1083712"/>
            <a:chOff x="1000100" y="1643050"/>
            <a:chExt cx="4857784" cy="1083712"/>
          </a:xfrm>
        </p:grpSpPr>
        <p:sp>
          <p:nvSpPr>
            <p:cNvPr id="6" name="椭圆 5"/>
            <p:cNvSpPr/>
            <p:nvPr/>
          </p:nvSpPr>
          <p:spPr bwMode="auto">
            <a:xfrm>
              <a:off x="1000100" y="1857364"/>
              <a:ext cx="428628" cy="428628"/>
            </a:xfrm>
            <a:prstGeom prst="ellipse">
              <a:avLst/>
            </a:prstGeom>
            <a:ln>
              <a:headEnd type="none" w="med" len="med"/>
              <a:tailEnd type="arrow" w="med" len="med"/>
            </a:ln>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algn="ctr"/>
              <a:r>
                <a:rPr lang="en-US" altLang="zh-CN" sz="2000" b="0" i="1">
                  <a:solidFill>
                    <a:srgbClr val="0000FF"/>
                  </a:solidFill>
                  <a:latin typeface="Consolas" pitchFamily="49" charset="0"/>
                  <a:ea typeface="仿宋" pitchFamily="49" charset="-122"/>
                </a:rPr>
                <a:t>u</a:t>
              </a:r>
              <a:endParaRPr lang="zh-CN" altLang="en-US" sz="2000" b="0" i="1">
                <a:solidFill>
                  <a:srgbClr val="0000FF"/>
                </a:solidFill>
                <a:latin typeface="Consolas" pitchFamily="49" charset="0"/>
                <a:ea typeface="仿宋" pitchFamily="49" charset="-122"/>
              </a:endParaRPr>
            </a:p>
          </p:txBody>
        </p:sp>
        <p:sp>
          <p:nvSpPr>
            <p:cNvPr id="7" name="椭圆 6"/>
            <p:cNvSpPr/>
            <p:nvPr/>
          </p:nvSpPr>
          <p:spPr bwMode="auto">
            <a:xfrm>
              <a:off x="2357422" y="1857364"/>
              <a:ext cx="428628" cy="428628"/>
            </a:xfrm>
            <a:prstGeom prst="ellipse">
              <a:avLst/>
            </a:prstGeom>
            <a:ln>
              <a:headEnd type="none" w="med" len="med"/>
              <a:tailEnd type="arrow" w="med" len="med"/>
            </a:ln>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algn="ctr"/>
              <a:r>
                <a:rPr lang="en-US" altLang="zh-CN" sz="2000" b="0" i="1">
                  <a:solidFill>
                    <a:srgbClr val="0000FF"/>
                  </a:solidFill>
                  <a:latin typeface="Consolas" pitchFamily="49" charset="0"/>
                  <a:ea typeface="仿宋" pitchFamily="49" charset="-122"/>
                </a:rPr>
                <a:t>v</a:t>
              </a:r>
              <a:endParaRPr lang="zh-CN" altLang="en-US" sz="2000" b="0" i="1">
                <a:solidFill>
                  <a:srgbClr val="0000FF"/>
                </a:solidFill>
                <a:latin typeface="Consolas" pitchFamily="49" charset="0"/>
                <a:ea typeface="仿宋" pitchFamily="49" charset="-122"/>
              </a:endParaRPr>
            </a:p>
          </p:txBody>
        </p:sp>
        <p:cxnSp>
          <p:nvCxnSpPr>
            <p:cNvPr id="8" name="直接箭头连接符 7"/>
            <p:cNvCxnSpPr>
              <a:stCxn id="6" idx="6"/>
              <a:endCxn id="7" idx="2"/>
            </p:cNvCxnSpPr>
            <p:nvPr/>
          </p:nvCxnSpPr>
          <p:spPr>
            <a:xfrm>
              <a:off x="1428728" y="2071678"/>
              <a:ext cx="928694" cy="1588"/>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9" name="TextBox 8"/>
            <p:cNvSpPr txBox="1"/>
            <p:nvPr/>
          </p:nvSpPr>
          <p:spPr>
            <a:xfrm>
              <a:off x="1714480" y="1714488"/>
              <a:ext cx="357190" cy="369332"/>
            </a:xfrm>
            <a:prstGeom prst="rect">
              <a:avLst/>
            </a:prstGeom>
            <a:noFill/>
          </p:spPr>
          <p:txBody>
            <a:bodyPr wrap="square" rtlCol="0">
              <a:spAutoFit/>
            </a:bodyPr>
            <a:lstStyle/>
            <a:p>
              <a:pPr algn="l">
                <a:lnSpc>
                  <a:spcPct val="100000"/>
                </a:lnSpc>
                <a:spcBef>
                  <a:spcPts val="0"/>
                </a:spcBef>
              </a:pPr>
              <a:r>
                <a:rPr lang="en-US" altLang="zh-CN" sz="1800">
                  <a:solidFill>
                    <a:srgbClr val="0000FF"/>
                  </a:solidFill>
                  <a:latin typeface="Consolas" pitchFamily="49" charset="0"/>
                  <a:ea typeface="楷体" pitchFamily="49" charset="-122"/>
                  <a:cs typeface="Consolas" pitchFamily="49" charset="0"/>
                </a:rPr>
                <a:t>c</a:t>
              </a:r>
              <a:endParaRPr lang="zh-CN" altLang="en-US" sz="1800">
                <a:solidFill>
                  <a:srgbClr val="0000FF"/>
                </a:solidFill>
                <a:latin typeface="Consolas" pitchFamily="49" charset="0"/>
                <a:ea typeface="楷体" pitchFamily="49" charset="-122"/>
                <a:cs typeface="Consolas" pitchFamily="49" charset="0"/>
              </a:endParaRPr>
            </a:p>
          </p:txBody>
        </p:sp>
        <p:sp>
          <p:nvSpPr>
            <p:cNvPr id="10" name="TextBox 9"/>
            <p:cNvSpPr txBox="1"/>
            <p:nvPr/>
          </p:nvSpPr>
          <p:spPr>
            <a:xfrm>
              <a:off x="3857620" y="2059536"/>
              <a:ext cx="500066" cy="369332"/>
            </a:xfrm>
            <a:prstGeom prst="rect">
              <a:avLst/>
            </a:prstGeom>
          </p:spPr>
          <p:style>
            <a:lnRef idx="1">
              <a:schemeClr val="accent5"/>
            </a:lnRef>
            <a:fillRef idx="2">
              <a:schemeClr val="accent5"/>
            </a:fillRef>
            <a:effectRef idx="1">
              <a:schemeClr val="accent5"/>
            </a:effectRef>
            <a:fontRef idx="minor">
              <a:schemeClr val="dk1"/>
            </a:fontRef>
          </p:style>
          <p:txBody>
            <a:bodyPr wrap="square" lIns="360000" rIns="360000" rtlCol="0">
              <a:spAutoFit/>
            </a:bodyPr>
            <a:lstStyle/>
            <a:p>
              <a:pPr>
                <a:lnSpc>
                  <a:spcPct val="100000"/>
                </a:lnSpc>
                <a:spcBef>
                  <a:spcPts val="0"/>
                </a:spcBef>
              </a:pPr>
              <a:r>
                <a:rPr lang="en-US" altLang="zh-CN" sz="1800">
                  <a:solidFill>
                    <a:srgbClr val="00B050"/>
                  </a:solidFill>
                  <a:latin typeface="Consolas" pitchFamily="49" charset="0"/>
                  <a:ea typeface="楷体" pitchFamily="49" charset="-122"/>
                  <a:cs typeface="Consolas" pitchFamily="49" charset="0"/>
                </a:rPr>
                <a:t>u</a:t>
              </a:r>
              <a:endParaRPr lang="zh-CN" altLang="en-US" sz="1800">
                <a:solidFill>
                  <a:srgbClr val="00B050"/>
                </a:solidFill>
                <a:latin typeface="Consolas" pitchFamily="49" charset="0"/>
                <a:ea typeface="楷体" pitchFamily="49" charset="-122"/>
                <a:cs typeface="Consolas" pitchFamily="49" charset="0"/>
              </a:endParaRPr>
            </a:p>
          </p:txBody>
        </p:sp>
        <p:sp>
          <p:nvSpPr>
            <p:cNvPr id="11" name="TextBox 10"/>
            <p:cNvSpPr txBox="1"/>
            <p:nvPr/>
          </p:nvSpPr>
          <p:spPr>
            <a:xfrm>
              <a:off x="4357686" y="2059536"/>
              <a:ext cx="500066" cy="369332"/>
            </a:xfrm>
            <a:prstGeom prst="rect">
              <a:avLst/>
            </a:prstGeom>
          </p:spPr>
          <p:style>
            <a:lnRef idx="1">
              <a:schemeClr val="accent5"/>
            </a:lnRef>
            <a:fillRef idx="2">
              <a:schemeClr val="accent5"/>
            </a:fillRef>
            <a:effectRef idx="1">
              <a:schemeClr val="accent5"/>
            </a:effectRef>
            <a:fontRef idx="minor">
              <a:schemeClr val="dk1"/>
            </a:fontRef>
          </p:style>
          <p:txBody>
            <a:bodyPr wrap="square" lIns="360000" rIns="360000" rtlCol="0">
              <a:spAutoFit/>
            </a:bodyPr>
            <a:lstStyle/>
            <a:p>
              <a:pPr>
                <a:lnSpc>
                  <a:spcPct val="100000"/>
                </a:lnSpc>
                <a:spcBef>
                  <a:spcPts val="0"/>
                </a:spcBef>
              </a:pPr>
              <a:r>
                <a:rPr lang="en-US" altLang="zh-CN" sz="1800">
                  <a:solidFill>
                    <a:srgbClr val="FF00FF"/>
                  </a:solidFill>
                  <a:latin typeface="Consolas" pitchFamily="49" charset="0"/>
                  <a:ea typeface="楷体" pitchFamily="49" charset="-122"/>
                  <a:cs typeface="Consolas" pitchFamily="49" charset="0"/>
                </a:rPr>
                <a:t>v</a:t>
              </a:r>
              <a:endParaRPr lang="zh-CN" altLang="en-US" sz="1800">
                <a:solidFill>
                  <a:srgbClr val="FF00FF"/>
                </a:solidFill>
                <a:latin typeface="Consolas" pitchFamily="49" charset="0"/>
                <a:ea typeface="楷体" pitchFamily="49" charset="-122"/>
                <a:cs typeface="Consolas" pitchFamily="49" charset="0"/>
              </a:endParaRPr>
            </a:p>
          </p:txBody>
        </p:sp>
        <p:sp>
          <p:nvSpPr>
            <p:cNvPr id="12" name="TextBox 11"/>
            <p:cNvSpPr txBox="1"/>
            <p:nvPr/>
          </p:nvSpPr>
          <p:spPr>
            <a:xfrm>
              <a:off x="4857752" y="2059536"/>
              <a:ext cx="500066" cy="369332"/>
            </a:xfrm>
            <a:prstGeom prst="rect">
              <a:avLst/>
            </a:prstGeom>
          </p:spPr>
          <p:style>
            <a:lnRef idx="1">
              <a:schemeClr val="accent5"/>
            </a:lnRef>
            <a:fillRef idx="2">
              <a:schemeClr val="accent5"/>
            </a:fillRef>
            <a:effectRef idx="1">
              <a:schemeClr val="accent5"/>
            </a:effectRef>
            <a:fontRef idx="minor">
              <a:schemeClr val="dk1"/>
            </a:fontRef>
          </p:style>
          <p:txBody>
            <a:bodyPr wrap="square" lIns="360000" rIns="360000" rtlCol="0">
              <a:spAutoFit/>
            </a:bodyPr>
            <a:lstStyle/>
            <a:p>
              <a:pPr>
                <a:lnSpc>
                  <a:spcPct val="100000"/>
                </a:lnSpc>
                <a:spcBef>
                  <a:spcPts val="0"/>
                </a:spcBef>
              </a:pPr>
              <a:r>
                <a:rPr lang="en-US" altLang="zh-CN" sz="1800">
                  <a:solidFill>
                    <a:srgbClr val="FF00FF"/>
                  </a:solidFill>
                  <a:latin typeface="Consolas" pitchFamily="49" charset="0"/>
                  <a:ea typeface="楷体" pitchFamily="49" charset="-122"/>
                  <a:cs typeface="Consolas" pitchFamily="49" charset="0"/>
                </a:rPr>
                <a:t>c</a:t>
              </a:r>
              <a:endParaRPr lang="zh-CN" altLang="en-US" sz="1800">
                <a:solidFill>
                  <a:srgbClr val="FF00FF"/>
                </a:solidFill>
                <a:latin typeface="Consolas" pitchFamily="49" charset="0"/>
                <a:ea typeface="楷体" pitchFamily="49" charset="-122"/>
                <a:cs typeface="Consolas" pitchFamily="49" charset="0"/>
              </a:endParaRPr>
            </a:p>
          </p:txBody>
        </p:sp>
        <p:sp>
          <p:nvSpPr>
            <p:cNvPr id="13" name="TextBox 12"/>
            <p:cNvSpPr txBox="1"/>
            <p:nvPr/>
          </p:nvSpPr>
          <p:spPr>
            <a:xfrm>
              <a:off x="5357818" y="2059536"/>
              <a:ext cx="500066" cy="392159"/>
            </a:xfrm>
            <a:prstGeom prst="rect">
              <a:avLst/>
            </a:prstGeom>
          </p:spPr>
          <p:style>
            <a:lnRef idx="1">
              <a:schemeClr val="accent5"/>
            </a:lnRef>
            <a:fillRef idx="2">
              <a:schemeClr val="accent5"/>
            </a:fillRef>
            <a:effectRef idx="1">
              <a:schemeClr val="accent5"/>
            </a:effectRef>
            <a:fontRef idx="minor">
              <a:schemeClr val="dk1"/>
            </a:fontRef>
          </p:style>
          <p:txBody>
            <a:bodyPr wrap="square" lIns="0" rIns="0" rtlCol="0">
              <a:spAutoFit/>
            </a:bodyPr>
            <a:lstStyle/>
            <a:p>
              <a:pPr>
                <a:lnSpc>
                  <a:spcPts val="2500"/>
                </a:lnSpc>
                <a:spcBef>
                  <a:spcPts val="0"/>
                </a:spcBef>
              </a:pPr>
              <a:r>
                <a:rPr lang="zh-CN" altLang="en-US" sz="1800">
                  <a:solidFill>
                    <a:srgbClr val="FF00FF"/>
                  </a:solidFill>
                  <a:latin typeface="Consolas" pitchFamily="49" charset="0"/>
                  <a:ea typeface="楷体" pitchFamily="49" charset="-122"/>
                  <a:cs typeface="Consolas" pitchFamily="49" charset="0"/>
                </a:rPr>
                <a:t>*</a:t>
              </a:r>
            </a:p>
          </p:txBody>
        </p:sp>
        <p:sp>
          <p:nvSpPr>
            <p:cNvPr id="14" name="TextBox 13"/>
            <p:cNvSpPr txBox="1"/>
            <p:nvPr/>
          </p:nvSpPr>
          <p:spPr>
            <a:xfrm>
              <a:off x="3500430" y="2059536"/>
              <a:ext cx="214314" cy="369332"/>
            </a:xfrm>
            <a:prstGeom prst="rect">
              <a:avLst/>
            </a:prstGeom>
            <a:noFill/>
          </p:spPr>
          <p:txBody>
            <a:bodyPr wrap="square" rtlCol="0">
              <a:spAutoFit/>
            </a:bodyPr>
            <a:lstStyle/>
            <a:p>
              <a:pPr algn="l">
                <a:lnSpc>
                  <a:spcPct val="100000"/>
                </a:lnSpc>
                <a:spcBef>
                  <a:spcPts val="0"/>
                </a:spcBef>
              </a:pPr>
              <a:r>
                <a:rPr lang="en-US" altLang="zh-CN" sz="1800" i="1">
                  <a:solidFill>
                    <a:schemeClr val="bg1">
                      <a:lumMod val="50000"/>
                    </a:schemeClr>
                  </a:solidFill>
                  <a:latin typeface="Consolas" pitchFamily="49" charset="0"/>
                  <a:ea typeface="楷体" pitchFamily="49" charset="-122"/>
                  <a:cs typeface="Consolas" pitchFamily="49" charset="0"/>
                </a:rPr>
                <a:t>i</a:t>
              </a:r>
              <a:endParaRPr lang="zh-CN" altLang="en-US" sz="1800" i="1">
                <a:solidFill>
                  <a:schemeClr val="bg1">
                    <a:lumMod val="50000"/>
                  </a:schemeClr>
                </a:solidFill>
                <a:latin typeface="Consolas" pitchFamily="49" charset="0"/>
                <a:ea typeface="楷体" pitchFamily="49" charset="-122"/>
                <a:cs typeface="Consolas" pitchFamily="49" charset="0"/>
              </a:endParaRPr>
            </a:p>
          </p:txBody>
        </p:sp>
        <p:sp>
          <p:nvSpPr>
            <p:cNvPr id="15" name="TextBox 14"/>
            <p:cNvSpPr txBox="1"/>
            <p:nvPr/>
          </p:nvSpPr>
          <p:spPr>
            <a:xfrm>
              <a:off x="3857620" y="1643050"/>
              <a:ext cx="857256" cy="369332"/>
            </a:xfrm>
            <a:prstGeom prst="rect">
              <a:avLst/>
            </a:prstGeom>
            <a:noFill/>
          </p:spPr>
          <p:txBody>
            <a:bodyPr wrap="square" rtlCol="0">
              <a:spAutoFit/>
            </a:bodyPr>
            <a:lstStyle/>
            <a:p>
              <a:pPr algn="l">
                <a:lnSpc>
                  <a:spcPct val="100000"/>
                </a:lnSpc>
                <a:spcBef>
                  <a:spcPts val="0"/>
                </a:spcBef>
              </a:pPr>
              <a:r>
                <a:rPr lang="en-US" altLang="zh-CN" sz="1800">
                  <a:solidFill>
                    <a:srgbClr val="0000FF"/>
                  </a:solidFill>
                  <a:latin typeface="Consolas" pitchFamily="49" charset="0"/>
                  <a:ea typeface="楷体" pitchFamily="49" charset="-122"/>
                  <a:cs typeface="Consolas" pitchFamily="49" charset="0"/>
                </a:rPr>
                <a:t>edge</a:t>
              </a:r>
              <a:endParaRPr lang="zh-CN" altLang="en-US" sz="1800">
                <a:solidFill>
                  <a:srgbClr val="0000FF"/>
                </a:solidFill>
                <a:latin typeface="Consolas" pitchFamily="49" charset="0"/>
                <a:ea typeface="楷体" pitchFamily="49" charset="-122"/>
                <a:cs typeface="Consolas" pitchFamily="49" charset="0"/>
              </a:endParaRPr>
            </a:p>
          </p:txBody>
        </p:sp>
        <p:sp>
          <p:nvSpPr>
            <p:cNvPr id="16" name="TextBox 15"/>
            <p:cNvSpPr txBox="1"/>
            <p:nvPr/>
          </p:nvSpPr>
          <p:spPr>
            <a:xfrm>
              <a:off x="1857356" y="2357430"/>
              <a:ext cx="1428760" cy="369332"/>
            </a:xfrm>
            <a:prstGeom prst="rect">
              <a:avLst/>
            </a:prstGeom>
            <a:noFill/>
          </p:spPr>
          <p:txBody>
            <a:bodyPr wrap="square" rtlCol="0">
              <a:spAutoFit/>
            </a:bodyPr>
            <a:lstStyle/>
            <a:p>
              <a:pPr algn="l">
                <a:lnSpc>
                  <a:spcPct val="100000"/>
                </a:lnSpc>
                <a:spcBef>
                  <a:spcPts val="0"/>
                </a:spcBef>
              </a:pPr>
              <a:r>
                <a:rPr lang="en-US" altLang="zh-CN" sz="1800">
                  <a:solidFill>
                    <a:srgbClr val="0000FF"/>
                  </a:solidFill>
                  <a:latin typeface="Consolas" pitchFamily="49" charset="0"/>
                  <a:ea typeface="楷体" pitchFamily="49" charset="-122"/>
                  <a:cs typeface="Consolas" pitchFamily="49" charset="0"/>
                </a:rPr>
                <a:t>Path[</a:t>
              </a:r>
              <a:r>
                <a:rPr lang="en-US" altLang="zh-CN" sz="1800" i="1">
                  <a:solidFill>
                    <a:srgbClr val="0000FF"/>
                  </a:solidFill>
                  <a:latin typeface="Consolas" pitchFamily="49" charset="0"/>
                  <a:ea typeface="楷体" pitchFamily="49" charset="-122"/>
                  <a:cs typeface="Consolas" pitchFamily="49" charset="0"/>
                </a:rPr>
                <a:t>v</a:t>
              </a:r>
              <a:r>
                <a:rPr lang="en-US" altLang="zh-CN" sz="1800">
                  <a:solidFill>
                    <a:srgbClr val="0000FF"/>
                  </a:solidFill>
                  <a:latin typeface="Consolas" pitchFamily="49" charset="0"/>
                  <a:ea typeface="楷体" pitchFamily="49" charset="-122"/>
                  <a:cs typeface="Consolas" pitchFamily="49" charset="0"/>
                </a:rPr>
                <a:t>]=i</a:t>
              </a:r>
              <a:endParaRPr lang="zh-CN" altLang="en-US" sz="1800">
                <a:solidFill>
                  <a:srgbClr val="0000FF"/>
                </a:solidFill>
                <a:latin typeface="Consolas" pitchFamily="49" charset="0"/>
                <a:ea typeface="楷体" pitchFamily="49" charset="-122"/>
                <a:cs typeface="Consolas" pitchFamily="49" charset="0"/>
              </a:endParaRPr>
            </a:p>
          </p:txBody>
        </p:sp>
      </p:grpSp>
      <p:sp>
        <p:nvSpPr>
          <p:cNvPr id="20" name="灯片编号占位符 19"/>
          <p:cNvSpPr>
            <a:spLocks noGrp="1"/>
          </p:cNvSpPr>
          <p:nvPr>
            <p:ph type="sldNum" sz="quarter" idx="12"/>
          </p:nvPr>
        </p:nvSpPr>
        <p:spPr/>
        <p:txBody>
          <a:bodyPr/>
          <a:lstStyle/>
          <a:p>
            <a:fld id="{7AF016A1-9F15-429F-9EFD-84004B73C732}" type="slidenum">
              <a:rPr lang="en-US" altLang="zh-CN" smtClean="0"/>
              <a:pPr/>
              <a:t>140</a:t>
            </a:fld>
            <a:r>
              <a:rPr lang="en-US" altLang="zh-CN"/>
              <a:t>/158</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28596" y="1785926"/>
            <a:ext cx="8358246" cy="1426031"/>
          </a:xfrm>
          <a:prstGeom prst="rect">
            <a:avLst/>
          </a:prstGeom>
          <a:ln>
            <a:solidFill>
              <a:schemeClr val="accent6">
                <a:lumMod val="20000"/>
                <a:lumOff val="80000"/>
              </a:schemeClr>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defTabSz="360000">
              <a:lnSpc>
                <a:spcPts val="2600"/>
              </a:lnSpc>
              <a:spcBef>
                <a:spcPts val="0"/>
              </a:spcBef>
            </a:pPr>
            <a:r>
              <a:rPr lang="en-US" altLang="zh-CN" sz="2000">
                <a:solidFill>
                  <a:srgbClr val="0000FF"/>
                </a:solidFill>
                <a:latin typeface="Consolas" pitchFamily="49" charset="0"/>
                <a:ea typeface="仿宋" pitchFamily="49" charset="-122"/>
              </a:rPr>
              <a:t>for (int i=T;i!=S;i=</a:t>
            </a:r>
            <a:r>
              <a:rPr lang="en-US" altLang="zh-CN" sz="2000">
                <a:solidFill>
                  <a:srgbClr val="FF00FF"/>
                </a:solidFill>
                <a:latin typeface="Consolas" pitchFamily="49" charset="0"/>
                <a:ea typeface="仿宋" pitchFamily="49" charset="-122"/>
              </a:rPr>
              <a:t>edge[path[i]^1]</a:t>
            </a:r>
            <a:r>
              <a:rPr lang="en-US" altLang="zh-CN" sz="2000">
                <a:solidFill>
                  <a:srgbClr val="0000FF"/>
                </a:solidFill>
                <a:latin typeface="Consolas" pitchFamily="49" charset="0"/>
                <a:ea typeface="仿宋" pitchFamily="49" charset="-122"/>
              </a:rPr>
              <a:t>.vno)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增广</a:t>
            </a:r>
          </a:p>
          <a:p>
            <a:pPr algn="l" defTabSz="360000">
              <a:lnSpc>
                <a:spcPts val="2600"/>
              </a:lnSpc>
              <a:spcBef>
                <a:spcPts val="0"/>
              </a:spcBef>
            </a:pPr>
            <a:r>
              <a:rPr lang="en-US" altLang="zh-CN" sz="2000">
                <a:solidFill>
                  <a:srgbClr val="0000FF"/>
                </a:solidFill>
                <a:latin typeface="Consolas" pitchFamily="49" charset="0"/>
                <a:ea typeface="仿宋" pitchFamily="49" charset="-122"/>
              </a:rPr>
              <a:t>	edge[path[i]].flow-=delta;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正向边</a:t>
            </a:r>
            <a:r>
              <a:rPr lang="en-US" altLang="zh-CN" sz="2000">
                <a:solidFill>
                  <a:srgbClr val="00B0F0"/>
                </a:solidFill>
                <a:latin typeface="Consolas" pitchFamily="49" charset="0"/>
                <a:ea typeface="仿宋" pitchFamily="49" charset="-122"/>
              </a:rPr>
              <a:t>-delta</a:t>
            </a:r>
            <a:endParaRPr lang="zh-CN" altLang="zh-CN" sz="2000">
              <a:solidFill>
                <a:srgbClr val="00B0F0"/>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edge[path[i]^1].flow+=delta;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反向边</a:t>
            </a:r>
            <a:r>
              <a:rPr lang="en-US" altLang="zh-CN" sz="2000">
                <a:solidFill>
                  <a:srgbClr val="00B0F0"/>
                </a:solidFill>
                <a:latin typeface="Consolas" pitchFamily="49" charset="0"/>
                <a:ea typeface="仿宋" pitchFamily="49" charset="-122"/>
              </a:rPr>
              <a:t>+delta</a:t>
            </a:r>
            <a:endParaRPr lang="zh-CN" altLang="zh-CN" sz="2000">
              <a:solidFill>
                <a:srgbClr val="00B0F0"/>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4" name="TextBox 3"/>
          <p:cNvSpPr txBox="1"/>
          <p:nvPr/>
        </p:nvSpPr>
        <p:spPr>
          <a:xfrm>
            <a:off x="285688" y="928670"/>
            <a:ext cx="7858212" cy="461665"/>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ct val="100000"/>
              </a:lnSpc>
              <a:buBlip>
                <a:blip r:embed="rId3"/>
              </a:buBlip>
            </a:pPr>
            <a:r>
              <a:rPr lang="zh-CN" altLang="zh-CN">
                <a:solidFill>
                  <a:srgbClr val="0000FF"/>
                </a:solidFill>
                <a:latin typeface="仿宋" pitchFamily="49" charset="-122"/>
                <a:ea typeface="仿宋" pitchFamily="49" charset="-122"/>
              </a:rPr>
              <a:t>如下语句通过反向遍历实现该路径的增广操作：</a:t>
            </a:r>
          </a:p>
        </p:txBody>
      </p:sp>
      <p:sp>
        <p:nvSpPr>
          <p:cNvPr id="6" name="灯片编号占位符 5"/>
          <p:cNvSpPr>
            <a:spLocks noGrp="1"/>
          </p:cNvSpPr>
          <p:nvPr>
            <p:ph type="sldNum" sz="quarter" idx="12"/>
          </p:nvPr>
        </p:nvSpPr>
        <p:spPr/>
        <p:txBody>
          <a:bodyPr/>
          <a:lstStyle/>
          <a:p>
            <a:fld id="{7AF016A1-9F15-429F-9EFD-84004B73C732}" type="slidenum">
              <a:rPr lang="en-US" altLang="zh-CN" smtClean="0"/>
              <a:pPr/>
              <a:t>141</a:t>
            </a:fld>
            <a:r>
              <a:rPr lang="en-US" altLang="zh-CN"/>
              <a:t>/158</a:t>
            </a: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285728"/>
            <a:ext cx="8643998" cy="5685384"/>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00">
              <a:lnSpc>
                <a:spcPts val="2400"/>
              </a:lnSpc>
              <a:spcBef>
                <a:spcPts val="0"/>
              </a:spcBef>
            </a:pPr>
            <a:r>
              <a:rPr lang="en-US" altLang="zh-CN" sz="2000">
                <a:solidFill>
                  <a:srgbClr val="0000FF"/>
                </a:solidFill>
                <a:latin typeface="Consolas" pitchFamily="49" charset="0"/>
                <a:ea typeface="仿宋" pitchFamily="49" charset="-122"/>
              </a:rPr>
              <a:t>#include&lt;iostream&gt;</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#include&lt;cstring&gt;</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using namespace std;</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const int INF=0x3f3f3f3f;</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const int MAXN=450;</a:t>
            </a:r>
            <a:endParaRPr lang="zh-CN" altLang="zh-CN" sz="2000">
              <a:solidFill>
                <a:srgbClr val="0000FF"/>
              </a:solidFill>
              <a:latin typeface="Consolas" pitchFamily="49" charset="0"/>
              <a:ea typeface="仿宋" pitchFamily="49" charset="-122"/>
            </a:endParaRPr>
          </a:p>
          <a:p>
            <a:pPr algn="l" defTabSz="360000">
              <a:lnSpc>
                <a:spcPts val="2400"/>
              </a:lnSpc>
              <a:spcBef>
                <a:spcPts val="1200"/>
              </a:spcBef>
            </a:pPr>
            <a:r>
              <a:rPr lang="en-US" altLang="zh-CN" sz="2000">
                <a:solidFill>
                  <a:srgbClr val="0000FF"/>
                </a:solidFill>
                <a:latin typeface="Consolas" pitchFamily="49" charset="0"/>
                <a:ea typeface="仿宋" pitchFamily="49" charset="-122"/>
              </a:rPr>
              <a:t>struct </a:t>
            </a:r>
            <a:r>
              <a:rPr lang="en-US" altLang="zh-CN" sz="2000">
                <a:solidFill>
                  <a:srgbClr val="FF0000"/>
                </a:solidFill>
                <a:latin typeface="Consolas" pitchFamily="49" charset="0"/>
                <a:ea typeface="仿宋" pitchFamily="49" charset="-122"/>
              </a:rPr>
              <a:t>Edge</a:t>
            </a:r>
            <a:r>
              <a:rPr lang="en-US" altLang="zh-CN" sz="2000">
                <a:solidFill>
                  <a:srgbClr val="0000FF"/>
                </a:solidFill>
                <a:latin typeface="Consolas" pitchFamily="49" charset="0"/>
                <a:ea typeface="仿宋" pitchFamily="49" charset="-122"/>
              </a:rPr>
              <a:t>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邻接表出边结点类型</a:t>
            </a:r>
          </a:p>
          <a:p>
            <a:pPr algn="l" defTabSz="360000">
              <a:lnSpc>
                <a:spcPts val="2400"/>
              </a:lnSpc>
              <a:spcBef>
                <a:spcPts val="0"/>
              </a:spcBef>
            </a:pPr>
            <a:r>
              <a:rPr lang="en-US" altLang="zh-CN" sz="2000">
                <a:solidFill>
                  <a:srgbClr val="0000FF"/>
                </a:solidFill>
                <a:latin typeface="Consolas" pitchFamily="49" charset="0"/>
                <a:ea typeface="仿宋" pitchFamily="49" charset="-122"/>
              </a:rPr>
              <a:t>	int uno;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边的起点</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可省略</a:t>
            </a:r>
            <a:r>
              <a:rPr lang="en-US" altLang="zh-CN" sz="2000">
                <a:solidFill>
                  <a:srgbClr val="00B0F0"/>
                </a:solidFill>
                <a:latin typeface="Consolas" pitchFamily="49" charset="0"/>
                <a:ea typeface="仿宋" pitchFamily="49" charset="-122"/>
              </a:rPr>
              <a:t>)</a:t>
            </a:r>
            <a:endParaRPr lang="zh-CN" altLang="zh-CN" sz="2000">
              <a:solidFill>
                <a:srgbClr val="00B0F0"/>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int vno;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边的终点</a:t>
            </a:r>
          </a:p>
          <a:p>
            <a:pPr algn="l" defTabSz="360000">
              <a:lnSpc>
                <a:spcPts val="2400"/>
              </a:lnSpc>
              <a:spcBef>
                <a:spcPts val="0"/>
              </a:spcBef>
            </a:pPr>
            <a:r>
              <a:rPr lang="en-US" altLang="zh-CN" sz="2000">
                <a:solidFill>
                  <a:srgbClr val="0000FF"/>
                </a:solidFill>
                <a:latin typeface="Consolas" pitchFamily="49" charset="0"/>
                <a:ea typeface="仿宋" pitchFamily="49" charset="-122"/>
              </a:rPr>
              <a:t>	int flow;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边容量</a:t>
            </a:r>
          </a:p>
          <a:p>
            <a:pPr algn="l" defTabSz="360000">
              <a:lnSpc>
                <a:spcPts val="2400"/>
              </a:lnSpc>
              <a:spcBef>
                <a:spcPts val="0"/>
              </a:spcBef>
            </a:pPr>
            <a:r>
              <a:rPr lang="en-US" altLang="zh-CN" sz="2000">
                <a:solidFill>
                  <a:srgbClr val="0000FF"/>
                </a:solidFill>
                <a:latin typeface="Consolas" pitchFamily="49" charset="0"/>
                <a:ea typeface="仿宋" pitchFamily="49" charset="-122"/>
              </a:rPr>
              <a:t>	int next;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下一条边</a:t>
            </a:r>
          </a:p>
          <a:p>
            <a:pPr algn="l" defTabSz="360000">
              <a:lnSpc>
                <a:spcPts val="24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int tot;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总边数</a:t>
            </a:r>
          </a:p>
          <a:p>
            <a:pPr algn="l" defTabSz="360000">
              <a:lnSpc>
                <a:spcPts val="2400"/>
              </a:lnSpc>
              <a:spcBef>
                <a:spcPts val="0"/>
              </a:spcBef>
            </a:pPr>
            <a:r>
              <a:rPr lang="en-US" altLang="zh-CN" sz="2000">
                <a:solidFill>
                  <a:srgbClr val="0000FF"/>
                </a:solidFill>
                <a:latin typeface="Consolas" pitchFamily="49" charset="0"/>
                <a:ea typeface="仿宋" pitchFamily="49" charset="-122"/>
              </a:rPr>
              <a:t>int head[MAXN];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邻接表头结点</a:t>
            </a:r>
          </a:p>
          <a:p>
            <a:pPr algn="l" defTabSz="360000">
              <a:lnSpc>
                <a:spcPts val="2400"/>
              </a:lnSpc>
              <a:spcBef>
                <a:spcPts val="0"/>
              </a:spcBef>
            </a:pPr>
            <a:r>
              <a:rPr lang="en-US" altLang="zh-CN" sz="2000">
                <a:solidFill>
                  <a:srgbClr val="0000FF"/>
                </a:solidFill>
                <a:latin typeface="Consolas" pitchFamily="49" charset="0"/>
                <a:ea typeface="仿宋" pitchFamily="49" charset="-122"/>
              </a:rPr>
              <a:t>Edge edge[10*MAXN];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邻接表边结点</a:t>
            </a:r>
          </a:p>
          <a:p>
            <a:pPr algn="l" defTabSz="360000">
              <a:lnSpc>
                <a:spcPts val="2400"/>
              </a:lnSpc>
              <a:spcBef>
                <a:spcPts val="1200"/>
              </a:spcBef>
            </a:pPr>
            <a:r>
              <a:rPr lang="en-US" altLang="zh-CN" sz="2000">
                <a:solidFill>
                  <a:srgbClr val="0000FF"/>
                </a:solidFill>
                <a:latin typeface="Consolas" pitchFamily="49" charset="0"/>
                <a:ea typeface="仿宋" pitchFamily="49" charset="-122"/>
              </a:rPr>
              <a:t>int S,T;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源点和汇点</a:t>
            </a:r>
          </a:p>
          <a:p>
            <a:pPr algn="l" defTabSz="360000">
              <a:lnSpc>
                <a:spcPts val="2400"/>
              </a:lnSpc>
              <a:spcBef>
                <a:spcPts val="0"/>
              </a:spcBef>
            </a:pPr>
            <a:r>
              <a:rPr lang="en-US" altLang="zh-CN" sz="2000">
                <a:solidFill>
                  <a:srgbClr val="0000FF"/>
                </a:solidFill>
                <a:latin typeface="Consolas" pitchFamily="49" charset="0"/>
                <a:ea typeface="仿宋" pitchFamily="49" charset="-122"/>
              </a:rPr>
              <a:t>bool visited[MAXN];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访问标记数组</a:t>
            </a:r>
          </a:p>
          <a:p>
            <a:pPr algn="l" defTabSz="360000">
              <a:lnSpc>
                <a:spcPts val="2400"/>
              </a:lnSpc>
              <a:spcBef>
                <a:spcPts val="0"/>
              </a:spcBef>
            </a:pPr>
            <a:r>
              <a:rPr lang="en-US" altLang="zh-CN" sz="2000">
                <a:solidFill>
                  <a:srgbClr val="0000FF"/>
                </a:solidFill>
                <a:latin typeface="Consolas" pitchFamily="49" charset="0"/>
                <a:ea typeface="仿宋" pitchFamily="49" charset="-122"/>
              </a:rPr>
              <a:t>int path[MAXN];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记录最短路径上到达</a:t>
            </a:r>
            <a:r>
              <a:rPr lang="zh-CN" altLang="en-US" sz="2000">
                <a:solidFill>
                  <a:srgbClr val="00B0F0"/>
                </a:solidFill>
                <a:latin typeface="Consolas" pitchFamily="49" charset="0"/>
                <a:ea typeface="仿宋" pitchFamily="49" charset="-122"/>
              </a:rPr>
              <a:t>该</a:t>
            </a:r>
            <a:r>
              <a:rPr lang="zh-CN" altLang="zh-CN" sz="2000">
                <a:solidFill>
                  <a:srgbClr val="00B0F0"/>
                </a:solidFill>
                <a:latin typeface="Consolas" pitchFamily="49" charset="0"/>
                <a:ea typeface="仿宋" pitchFamily="49" charset="-122"/>
              </a:rPr>
              <a:t>顶点的边</a:t>
            </a: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142</a:t>
            </a:fld>
            <a:r>
              <a:rPr lang="en-US" altLang="zh-CN"/>
              <a:t>/158</a:t>
            </a: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285728"/>
            <a:ext cx="8643998" cy="5634088"/>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00">
              <a:lnSpc>
                <a:spcPts val="2600"/>
              </a:lnSpc>
              <a:spcBef>
                <a:spcPts val="0"/>
              </a:spcBef>
            </a:pPr>
            <a:r>
              <a:rPr lang="en-US" altLang="zh-CN" sz="2000">
                <a:solidFill>
                  <a:srgbClr val="0000FF"/>
                </a:solidFill>
                <a:latin typeface="Consolas" pitchFamily="49" charset="0"/>
                <a:ea typeface="仿宋" pitchFamily="49" charset="-122"/>
              </a:rPr>
              <a:t>void </a:t>
            </a:r>
            <a:r>
              <a:rPr lang="en-US" altLang="zh-CN" sz="2000">
                <a:solidFill>
                  <a:srgbClr val="FF0000"/>
                </a:solidFill>
                <a:latin typeface="Consolas" pitchFamily="49" charset="0"/>
                <a:ea typeface="仿宋" pitchFamily="49" charset="-122"/>
              </a:rPr>
              <a:t>addedge</a:t>
            </a:r>
            <a:r>
              <a:rPr lang="en-US" altLang="zh-CN" sz="2000">
                <a:solidFill>
                  <a:srgbClr val="0000FF"/>
                </a:solidFill>
                <a:latin typeface="Consolas" pitchFamily="49" charset="0"/>
                <a:ea typeface="仿宋" pitchFamily="49" charset="-122"/>
              </a:rPr>
              <a:t>(int u,int v,int c) {	</a:t>
            </a:r>
          </a:p>
          <a:p>
            <a:pPr algn="l" defTabSz="360000">
              <a:lnSpc>
                <a:spcPts val="2600"/>
              </a:lnSpc>
              <a:spcBef>
                <a:spcPts val="0"/>
              </a:spcBef>
            </a:pPr>
            <a:r>
              <a:rPr lang="en-US" altLang="zh-CN" sz="2000">
                <a:solidFill>
                  <a:srgbClr val="00B050"/>
                </a:solidFill>
                <a:latin typeface="Consolas" pitchFamily="49" charset="0"/>
                <a:ea typeface="仿宋" pitchFamily="49" charset="-122"/>
              </a:rPr>
              <a:t>//</a:t>
            </a:r>
            <a:r>
              <a:rPr lang="zh-CN" altLang="zh-CN" sz="2000">
                <a:solidFill>
                  <a:srgbClr val="00B050"/>
                </a:solidFill>
                <a:latin typeface="Consolas" pitchFamily="49" charset="0"/>
                <a:ea typeface="仿宋" pitchFamily="49" charset="-122"/>
              </a:rPr>
              <a:t>添加一条正向边和反向边</a:t>
            </a:r>
          </a:p>
          <a:p>
            <a:pPr algn="l" defTabSz="360000">
              <a:lnSpc>
                <a:spcPts val="2600"/>
              </a:lnSpc>
              <a:spcBef>
                <a:spcPts val="0"/>
              </a:spcBef>
            </a:pPr>
            <a:r>
              <a:rPr lang="en-US" altLang="zh-CN" sz="2000">
                <a:solidFill>
                  <a:srgbClr val="0000FF"/>
                </a:solidFill>
                <a:latin typeface="Consolas" pitchFamily="49" charset="0"/>
                <a:ea typeface="仿宋" pitchFamily="49" charset="-122"/>
              </a:rPr>
              <a:t>	edge[++tot].vno=v;</a:t>
            </a:r>
          </a:p>
          <a:p>
            <a:pPr algn="l" defTabSz="360000">
              <a:lnSpc>
                <a:spcPts val="2600"/>
              </a:lnSpc>
              <a:spcBef>
                <a:spcPts val="0"/>
              </a:spcBef>
            </a:pPr>
            <a:r>
              <a:rPr lang="en-US" altLang="zh-CN" sz="2000">
                <a:solidFill>
                  <a:srgbClr val="0000FF"/>
                </a:solidFill>
                <a:latin typeface="Consolas" pitchFamily="49" charset="0"/>
                <a:ea typeface="仿宋" pitchFamily="49" charset="-122"/>
              </a:rPr>
              <a:t>	edge[tot].flow=c;					</a:t>
            </a:r>
            <a:r>
              <a:rPr lang="en-US" altLang="zh-CN" sz="2000">
                <a:solidFill>
                  <a:srgbClr val="00B0F0"/>
                </a:solidFill>
                <a:latin typeface="Consolas" pitchFamily="49" charset="0"/>
                <a:ea typeface="仿宋" pitchFamily="49" charset="-122"/>
              </a:rPr>
              <a:t>//tot</a:t>
            </a:r>
            <a:r>
              <a:rPr lang="zh-CN" altLang="zh-CN" sz="2000">
                <a:solidFill>
                  <a:srgbClr val="00B0F0"/>
                </a:solidFill>
                <a:latin typeface="Consolas" pitchFamily="49" charset="0"/>
                <a:ea typeface="仿宋" pitchFamily="49" charset="-122"/>
              </a:rPr>
              <a:t>为偶数对应正向边</a:t>
            </a:r>
          </a:p>
          <a:p>
            <a:pPr algn="l" defTabSz="360000">
              <a:lnSpc>
                <a:spcPts val="2600"/>
              </a:lnSpc>
              <a:spcBef>
                <a:spcPts val="0"/>
              </a:spcBef>
            </a:pPr>
            <a:r>
              <a:rPr lang="en-US" altLang="zh-CN" sz="2000">
                <a:solidFill>
                  <a:srgbClr val="0000FF"/>
                </a:solidFill>
                <a:latin typeface="Consolas" pitchFamily="49" charset="0"/>
                <a:ea typeface="仿宋" pitchFamily="49" charset="-122"/>
              </a:rPr>
              <a:t>	edge[tot].next=head[u];</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head[u]=tot;</a:t>
            </a:r>
            <a:endParaRPr lang="zh-CN" altLang="zh-CN" sz="2000">
              <a:solidFill>
                <a:srgbClr val="0000FF"/>
              </a:solidFill>
              <a:latin typeface="Consolas" pitchFamily="49" charset="0"/>
              <a:ea typeface="仿宋" pitchFamily="49" charset="-122"/>
            </a:endParaRPr>
          </a:p>
          <a:p>
            <a:pPr algn="l" defTabSz="360000">
              <a:lnSpc>
                <a:spcPts val="2600"/>
              </a:lnSpc>
              <a:spcBef>
                <a:spcPts val="1200"/>
              </a:spcBef>
            </a:pPr>
            <a:r>
              <a:rPr lang="en-US" altLang="zh-CN" sz="2000">
                <a:solidFill>
                  <a:srgbClr val="0000FF"/>
                </a:solidFill>
                <a:latin typeface="Consolas" pitchFamily="49" charset="0"/>
                <a:ea typeface="仿宋" pitchFamily="49" charset="-122"/>
              </a:rPr>
              <a:t>	edge[++tot].vno=u;</a:t>
            </a:r>
          </a:p>
          <a:p>
            <a:pPr algn="l" defTabSz="360000">
              <a:lnSpc>
                <a:spcPts val="2600"/>
              </a:lnSpc>
              <a:spcBef>
                <a:spcPts val="0"/>
              </a:spcBef>
            </a:pPr>
            <a:r>
              <a:rPr lang="en-US" altLang="zh-CN" sz="2000">
                <a:solidFill>
                  <a:srgbClr val="0000FF"/>
                </a:solidFill>
                <a:latin typeface="Consolas" pitchFamily="49" charset="0"/>
                <a:ea typeface="仿宋" pitchFamily="49" charset="-122"/>
              </a:rPr>
              <a:t>	edge[tot].flow=0;					</a:t>
            </a:r>
            <a:r>
              <a:rPr lang="en-US" altLang="zh-CN" sz="2000">
                <a:solidFill>
                  <a:srgbClr val="00B0F0"/>
                </a:solidFill>
                <a:latin typeface="Consolas" pitchFamily="49" charset="0"/>
                <a:ea typeface="仿宋" pitchFamily="49" charset="-122"/>
              </a:rPr>
              <a:t>//tot</a:t>
            </a:r>
            <a:r>
              <a:rPr lang="zh-CN" altLang="zh-CN" sz="2000">
                <a:solidFill>
                  <a:srgbClr val="00B0F0"/>
                </a:solidFill>
                <a:latin typeface="Consolas" pitchFamily="49" charset="0"/>
                <a:ea typeface="仿宋" pitchFamily="49" charset="-122"/>
              </a:rPr>
              <a:t>为奇数对应反向边</a:t>
            </a:r>
          </a:p>
          <a:p>
            <a:pPr algn="l" defTabSz="360000">
              <a:lnSpc>
                <a:spcPts val="2600"/>
              </a:lnSpc>
              <a:spcBef>
                <a:spcPts val="0"/>
              </a:spcBef>
            </a:pPr>
            <a:r>
              <a:rPr lang="en-US" altLang="zh-CN" sz="2000">
                <a:solidFill>
                  <a:srgbClr val="0000FF"/>
                </a:solidFill>
                <a:latin typeface="Consolas" pitchFamily="49" charset="0"/>
                <a:ea typeface="仿宋" pitchFamily="49" charset="-122"/>
              </a:rPr>
              <a:t>	edge[tot].next=head[v];</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head[v]=tot;</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a:t>
            </a:r>
          </a:p>
          <a:p>
            <a:pPr algn="l" defTabSz="360000">
              <a:lnSpc>
                <a:spcPts val="2600"/>
              </a:lnSpc>
              <a:spcBef>
                <a:spcPts val="0"/>
              </a:spcBef>
            </a:pP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void </a:t>
            </a:r>
            <a:r>
              <a:rPr lang="en-US" altLang="zh-CN" sz="2000">
                <a:solidFill>
                  <a:srgbClr val="FF0000"/>
                </a:solidFill>
                <a:latin typeface="Consolas" pitchFamily="49" charset="0"/>
                <a:ea typeface="仿宋" pitchFamily="49" charset="-122"/>
              </a:rPr>
              <a:t>init</a:t>
            </a:r>
            <a:r>
              <a:rPr lang="en-US" altLang="zh-CN" sz="2000">
                <a:solidFill>
                  <a:srgbClr val="0000FF"/>
                </a:solidFill>
                <a:latin typeface="Consolas" pitchFamily="49" charset="0"/>
                <a:ea typeface="仿宋" pitchFamily="49" charset="-122"/>
              </a:rPr>
              <a:t>() {							</a:t>
            </a:r>
            <a:r>
              <a:rPr lang="en-US" altLang="zh-CN" sz="2000">
                <a:solidFill>
                  <a:srgbClr val="00B050"/>
                </a:solidFill>
                <a:latin typeface="Consolas" pitchFamily="49" charset="0"/>
                <a:ea typeface="仿宋" pitchFamily="49" charset="-122"/>
              </a:rPr>
              <a:t>//</a:t>
            </a:r>
            <a:r>
              <a:rPr lang="zh-CN" altLang="zh-CN" sz="2000">
                <a:solidFill>
                  <a:srgbClr val="00B050"/>
                </a:solidFill>
                <a:latin typeface="Consolas" pitchFamily="49" charset="0"/>
                <a:ea typeface="仿宋" pitchFamily="49" charset="-122"/>
              </a:rPr>
              <a:t>剩余网络的初始化</a:t>
            </a:r>
          </a:p>
          <a:p>
            <a:pPr algn="l" defTabSz="360000">
              <a:lnSpc>
                <a:spcPts val="2600"/>
              </a:lnSpc>
              <a:spcBef>
                <a:spcPts val="0"/>
              </a:spcBef>
            </a:pPr>
            <a:r>
              <a:rPr lang="en-US" altLang="zh-CN" sz="2000">
                <a:solidFill>
                  <a:srgbClr val="0000FF"/>
                </a:solidFill>
                <a:latin typeface="Consolas" pitchFamily="49" charset="0"/>
                <a:ea typeface="仿宋" pitchFamily="49" charset="-122"/>
              </a:rPr>
              <a:t>	memset(head,-1,sizeof(head));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tot=1;</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143</a:t>
            </a:fld>
            <a:r>
              <a:rPr lang="en-US" altLang="zh-CN"/>
              <a:t>/158</a:t>
            </a: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285728"/>
            <a:ext cx="8643998" cy="4479926"/>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00">
              <a:lnSpc>
                <a:spcPts val="2600"/>
              </a:lnSpc>
              <a:spcBef>
                <a:spcPts val="0"/>
              </a:spcBef>
            </a:pPr>
            <a:r>
              <a:rPr lang="en-US" altLang="zh-CN" sz="2000">
                <a:solidFill>
                  <a:srgbClr val="0000FF"/>
                </a:solidFill>
                <a:latin typeface="Consolas" pitchFamily="49" charset="0"/>
                <a:ea typeface="仿宋" pitchFamily="49" charset="-122"/>
              </a:rPr>
              <a:t>void </a:t>
            </a:r>
            <a:r>
              <a:rPr lang="en-US" altLang="zh-CN" sz="2000">
                <a:solidFill>
                  <a:srgbClr val="FF0000"/>
                </a:solidFill>
                <a:latin typeface="Consolas" pitchFamily="49" charset="0"/>
                <a:ea typeface="仿宋" pitchFamily="49" charset="-122"/>
              </a:rPr>
              <a:t>dfs</a:t>
            </a:r>
            <a:r>
              <a:rPr lang="en-US" altLang="zh-CN" sz="2000">
                <a:solidFill>
                  <a:srgbClr val="0000FF"/>
                </a:solidFill>
                <a:latin typeface="Consolas" pitchFamily="49" charset="0"/>
                <a:ea typeface="仿宋" pitchFamily="49" charset="-122"/>
              </a:rPr>
              <a:t>(int u) {						</a:t>
            </a:r>
            <a:r>
              <a:rPr lang="en-US" altLang="zh-CN" sz="2000">
                <a:solidFill>
                  <a:srgbClr val="00B050"/>
                </a:solidFill>
                <a:latin typeface="Consolas" pitchFamily="49" charset="0"/>
                <a:ea typeface="仿宋" pitchFamily="49" charset="-122"/>
              </a:rPr>
              <a:t>//DFS</a:t>
            </a:r>
            <a:r>
              <a:rPr lang="zh-CN" altLang="zh-CN" sz="2000">
                <a:solidFill>
                  <a:srgbClr val="00B050"/>
                </a:solidFill>
                <a:latin typeface="Consolas" pitchFamily="49" charset="0"/>
                <a:ea typeface="仿宋" pitchFamily="49" charset="-122"/>
              </a:rPr>
              <a:t>求增广路径</a:t>
            </a:r>
          </a:p>
          <a:p>
            <a:pPr algn="l" defTabSz="360000">
              <a:lnSpc>
                <a:spcPts val="2600"/>
              </a:lnSpc>
              <a:spcBef>
                <a:spcPts val="0"/>
              </a:spcBef>
            </a:pPr>
            <a:r>
              <a:rPr lang="en-US" altLang="zh-CN" sz="2000">
                <a:solidFill>
                  <a:srgbClr val="0000FF"/>
                </a:solidFill>
                <a:latin typeface="Consolas" pitchFamily="49" charset="0"/>
                <a:ea typeface="仿宋" pitchFamily="49" charset="-122"/>
              </a:rPr>
              <a:t>	if(visited[T]==1) return;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找到汇点时返回</a:t>
            </a:r>
          </a:p>
          <a:p>
            <a:pPr algn="l" defTabSz="360000">
              <a:lnSpc>
                <a:spcPts val="2600"/>
              </a:lnSpc>
              <a:spcBef>
                <a:spcPts val="0"/>
              </a:spcBef>
            </a:pPr>
            <a:r>
              <a:rPr lang="en-US" altLang="zh-CN" sz="2000">
                <a:solidFill>
                  <a:srgbClr val="0000FF"/>
                </a:solidFill>
                <a:latin typeface="Consolas" pitchFamily="49" charset="0"/>
                <a:ea typeface="仿宋" pitchFamily="49" charset="-122"/>
              </a:rPr>
              <a:t>	visited[u]=1;</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for(int i=head[u];i!=-1;i=edge[i].next) {	</a:t>
            </a: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找到</a:t>
            </a:r>
            <a:r>
              <a:rPr lang="en-US" altLang="zh-CN" sz="2000">
                <a:solidFill>
                  <a:srgbClr val="00B0F0"/>
                </a:solidFill>
                <a:latin typeface="Consolas" pitchFamily="49" charset="0"/>
                <a:ea typeface="仿宋" pitchFamily="49" charset="-122"/>
              </a:rPr>
              <a:t>u</a:t>
            </a:r>
            <a:r>
              <a:rPr lang="zh-CN" altLang="zh-CN" sz="2000">
                <a:solidFill>
                  <a:srgbClr val="00B0F0"/>
                </a:solidFill>
                <a:latin typeface="Consolas" pitchFamily="49" charset="0"/>
                <a:ea typeface="仿宋" pitchFamily="49" charset="-122"/>
              </a:rPr>
              <a:t>的出边邻接点</a:t>
            </a:r>
            <a:r>
              <a:rPr lang="en-US" altLang="zh-CN" sz="2000">
                <a:solidFill>
                  <a:srgbClr val="00B0F0"/>
                </a:solidFill>
                <a:latin typeface="Consolas" pitchFamily="49" charset="0"/>
                <a:ea typeface="仿宋" pitchFamily="49" charset="-122"/>
              </a:rPr>
              <a:t>v</a:t>
            </a:r>
            <a:endParaRPr lang="zh-CN" altLang="zh-CN" sz="2000">
              <a:solidFill>
                <a:srgbClr val="00B0F0"/>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int v=edge[i].vno;</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if(visited[v]==0 &amp;&amp; edge[i].flow&gt;0) {</a:t>
            </a: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考虑所有边</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含反向边</a:t>
            </a:r>
            <a:r>
              <a:rPr lang="en-US" altLang="zh-CN" sz="2000">
                <a:solidFill>
                  <a:srgbClr val="00B0F0"/>
                </a:solidFill>
                <a:latin typeface="Consolas" pitchFamily="49" charset="0"/>
                <a:ea typeface="仿宋" pitchFamily="49" charset="-122"/>
              </a:rPr>
              <a:t>)</a:t>
            </a:r>
            <a:endParaRPr lang="zh-CN" altLang="zh-CN" sz="2000">
              <a:solidFill>
                <a:srgbClr val="00B0F0"/>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path[v]=i;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设置为该边在</a:t>
            </a:r>
            <a:r>
              <a:rPr lang="en-US" altLang="zh-CN" sz="2000">
                <a:solidFill>
                  <a:srgbClr val="00B0F0"/>
                </a:solidFill>
                <a:latin typeface="Consolas" pitchFamily="49" charset="0"/>
                <a:ea typeface="仿宋" pitchFamily="49" charset="-122"/>
              </a:rPr>
              <a:t>edge</a:t>
            </a:r>
            <a:r>
              <a:rPr lang="zh-CN" altLang="zh-CN" sz="2000">
                <a:solidFill>
                  <a:srgbClr val="00B0F0"/>
                </a:solidFill>
                <a:latin typeface="Consolas" pitchFamily="49" charset="0"/>
                <a:ea typeface="仿宋" pitchFamily="49" charset="-122"/>
              </a:rPr>
              <a:t>数组中的下标</a:t>
            </a: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FF0000"/>
                </a:solidFill>
                <a:latin typeface="Consolas" pitchFamily="49" charset="0"/>
                <a:ea typeface="仿宋" pitchFamily="49" charset="-122"/>
              </a:rPr>
              <a:t>dfs</a:t>
            </a:r>
            <a:r>
              <a:rPr lang="en-US" altLang="zh-CN" sz="2000">
                <a:solidFill>
                  <a:srgbClr val="0000FF"/>
                </a:solidFill>
                <a:latin typeface="Consolas" pitchFamily="49" charset="0"/>
                <a:ea typeface="仿宋" pitchFamily="49" charset="-122"/>
              </a:rPr>
              <a:t>(v);</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144</a:t>
            </a:fld>
            <a:r>
              <a:rPr lang="en-US" altLang="zh-CN"/>
              <a:t>/158</a:t>
            </a: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285728"/>
            <a:ext cx="8643998" cy="6147049"/>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00">
              <a:lnSpc>
                <a:spcPts val="2400"/>
              </a:lnSpc>
              <a:spcBef>
                <a:spcPts val="0"/>
              </a:spcBef>
            </a:pPr>
            <a:r>
              <a:rPr lang="en-US" altLang="zh-CN" sz="2000">
                <a:solidFill>
                  <a:srgbClr val="0000FF"/>
                </a:solidFill>
                <a:latin typeface="Consolas" pitchFamily="49" charset="0"/>
                <a:ea typeface="仿宋" pitchFamily="49" charset="-122"/>
              </a:rPr>
              <a:t>int </a:t>
            </a:r>
            <a:r>
              <a:rPr lang="en-US" altLang="zh-CN" sz="2000">
                <a:solidFill>
                  <a:srgbClr val="FF0000"/>
                </a:solidFill>
                <a:latin typeface="Consolas" pitchFamily="49" charset="0"/>
                <a:ea typeface="仿宋" pitchFamily="49" charset="-122"/>
              </a:rPr>
              <a:t>FordFulkerson</a:t>
            </a:r>
            <a:r>
              <a:rPr lang="en-US" altLang="zh-CN" sz="2000">
                <a:solidFill>
                  <a:srgbClr val="0000FF"/>
                </a:solidFill>
                <a:latin typeface="Consolas" pitchFamily="49" charset="0"/>
                <a:ea typeface="仿宋" pitchFamily="49" charset="-122"/>
              </a:rPr>
              <a:t>() {					</a:t>
            </a:r>
            <a:r>
              <a:rPr lang="en-US" altLang="zh-CN" sz="2000">
                <a:solidFill>
                  <a:srgbClr val="00B050"/>
                </a:solidFill>
                <a:latin typeface="Consolas" pitchFamily="49" charset="0"/>
                <a:ea typeface="仿宋" pitchFamily="49" charset="-122"/>
              </a:rPr>
              <a:t>//Ford-Fulkerson</a:t>
            </a:r>
            <a:r>
              <a:rPr lang="zh-CN" altLang="zh-CN" sz="2000">
                <a:solidFill>
                  <a:srgbClr val="00B050"/>
                </a:solidFill>
                <a:latin typeface="Consolas" pitchFamily="49" charset="0"/>
                <a:ea typeface="仿宋" pitchFamily="49" charset="-122"/>
              </a:rPr>
              <a:t>求最大流</a:t>
            </a:r>
          </a:p>
          <a:p>
            <a:pPr algn="l" defTabSz="360000">
              <a:lnSpc>
                <a:spcPts val="2400"/>
              </a:lnSpc>
              <a:spcBef>
                <a:spcPts val="0"/>
              </a:spcBef>
            </a:pPr>
            <a:r>
              <a:rPr lang="en-US" altLang="zh-CN" sz="2000">
                <a:solidFill>
                  <a:srgbClr val="0000FF"/>
                </a:solidFill>
                <a:latin typeface="Consolas" pitchFamily="49" charset="0"/>
                <a:ea typeface="仿宋" pitchFamily="49" charset="-122"/>
              </a:rPr>
              <a:t>	int </a:t>
            </a:r>
            <a:r>
              <a:rPr lang="en-US" altLang="zh-CN" sz="2000">
                <a:solidFill>
                  <a:srgbClr val="006600"/>
                </a:solidFill>
                <a:latin typeface="Consolas" pitchFamily="49" charset="0"/>
                <a:ea typeface="仿宋" pitchFamily="49" charset="-122"/>
              </a:rPr>
              <a:t>maxflow</a:t>
            </a:r>
            <a:r>
              <a:rPr lang="en-US" altLang="zh-CN" sz="2000">
                <a:solidFill>
                  <a:srgbClr val="0000FF"/>
                </a:solidFill>
                <a:latin typeface="Consolas" pitchFamily="49" charset="0"/>
                <a:ea typeface="仿宋" pitchFamily="49" charset="-122"/>
              </a:rPr>
              <a:t>=0;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最大流量</a:t>
            </a:r>
          </a:p>
          <a:p>
            <a:pPr algn="l" defTabSz="360000">
              <a:lnSpc>
                <a:spcPts val="2400"/>
              </a:lnSpc>
              <a:spcBef>
                <a:spcPts val="0"/>
              </a:spcBef>
            </a:pPr>
            <a:r>
              <a:rPr lang="en-US" altLang="zh-CN" sz="2000">
                <a:solidFill>
                  <a:srgbClr val="0000FF"/>
                </a:solidFill>
                <a:latin typeface="Consolas" pitchFamily="49" charset="0"/>
                <a:ea typeface="仿宋" pitchFamily="49" charset="-122"/>
              </a:rPr>
              <a:t>  	while(true) {</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memset(visited,0,sizeof(visited));</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memset(path,-1,sizeof(path));</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FF0000"/>
                </a:solidFill>
                <a:latin typeface="Consolas" pitchFamily="49" charset="0"/>
                <a:ea typeface="仿宋" pitchFamily="49" charset="-122"/>
              </a:rPr>
              <a:t>dfs</a:t>
            </a:r>
            <a:r>
              <a:rPr lang="en-US" altLang="zh-CN" sz="2000">
                <a:solidFill>
                  <a:srgbClr val="0000FF"/>
                </a:solidFill>
                <a:latin typeface="Consolas" pitchFamily="49" charset="0"/>
                <a:ea typeface="仿宋" pitchFamily="49" charset="-122"/>
              </a:rPr>
              <a:t>(S);</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if (</a:t>
            </a:r>
            <a:r>
              <a:rPr lang="en-US" altLang="zh-CN" sz="2000">
                <a:solidFill>
                  <a:srgbClr val="FF00FF"/>
                </a:solidFill>
                <a:latin typeface="Consolas" pitchFamily="49" charset="0"/>
                <a:ea typeface="仿宋" pitchFamily="49" charset="-122"/>
              </a:rPr>
              <a:t>visited[T]==0</a:t>
            </a:r>
            <a:r>
              <a:rPr lang="en-US" altLang="zh-CN" sz="2000">
                <a:solidFill>
                  <a:srgbClr val="0000FF"/>
                </a:solidFill>
                <a:latin typeface="Consolas" pitchFamily="49" charset="0"/>
                <a:ea typeface="仿宋" pitchFamily="49" charset="-122"/>
              </a:rPr>
              <a:t>)	 break;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没有增广路径时退出循环</a:t>
            </a:r>
          </a:p>
          <a:p>
            <a:pPr algn="l" defTabSz="360000">
              <a:lnSpc>
                <a:spcPts val="2400"/>
              </a:lnSpc>
              <a:spcBef>
                <a:spcPts val="1200"/>
              </a:spcBef>
            </a:pPr>
            <a:r>
              <a:rPr lang="en-US" altLang="zh-CN" sz="2000">
                <a:solidFill>
                  <a:srgbClr val="0000FF"/>
                </a:solidFill>
                <a:latin typeface="Consolas" pitchFamily="49" charset="0"/>
                <a:ea typeface="仿宋" pitchFamily="49" charset="-122"/>
              </a:rPr>
              <a:t>		int delta=INF;</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for (int i=T;i!=S;i=edge[path[i]^1].vno)	</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delta=min(delta,edge[path[i]].flow);</a:t>
            </a:r>
          </a:p>
          <a:p>
            <a:pPr algn="l" defTabSz="360000">
              <a:lnSpc>
                <a:spcPts val="24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求路径上最小容量</a:t>
            </a:r>
            <a:r>
              <a:rPr lang="en-US" altLang="zh-CN" sz="2000">
                <a:solidFill>
                  <a:srgbClr val="00B0F0"/>
                </a:solidFill>
                <a:latin typeface="Consolas" pitchFamily="49" charset="0"/>
                <a:ea typeface="仿宋" pitchFamily="49" charset="-122"/>
              </a:rPr>
              <a:t>delta</a:t>
            </a:r>
            <a:endParaRPr lang="zh-CN" altLang="zh-CN" sz="2000">
              <a:solidFill>
                <a:srgbClr val="00B0F0"/>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for (int i=T;i!=S;i=edge[path[i]^1].vno)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增广</a:t>
            </a:r>
          </a:p>
          <a:p>
            <a:pPr algn="l" defTabSz="360000">
              <a:lnSpc>
                <a:spcPts val="2400"/>
              </a:lnSpc>
              <a:spcBef>
                <a:spcPts val="0"/>
              </a:spcBef>
            </a:pPr>
            <a:r>
              <a:rPr lang="en-US" altLang="zh-CN" sz="2000">
                <a:solidFill>
                  <a:srgbClr val="0000FF"/>
                </a:solidFill>
                <a:latin typeface="Consolas" pitchFamily="49" charset="0"/>
                <a:ea typeface="仿宋" pitchFamily="49" charset="-122"/>
              </a:rPr>
              <a:t>     		edge[path[i]].flow-=delta;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正向边</a:t>
            </a:r>
            <a:r>
              <a:rPr lang="en-US" altLang="zh-CN" sz="2000">
                <a:solidFill>
                  <a:srgbClr val="00B0F0"/>
                </a:solidFill>
                <a:latin typeface="Consolas" pitchFamily="49" charset="0"/>
                <a:ea typeface="仿宋" pitchFamily="49" charset="-122"/>
              </a:rPr>
              <a:t>-delta</a:t>
            </a:r>
            <a:endParaRPr lang="zh-CN" altLang="zh-CN" sz="2000">
              <a:solidFill>
                <a:srgbClr val="00B0F0"/>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edge[path[i]^1].flow+=delta;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反向边</a:t>
            </a:r>
            <a:r>
              <a:rPr lang="en-US" altLang="zh-CN" sz="2000">
                <a:solidFill>
                  <a:srgbClr val="00B0F0"/>
                </a:solidFill>
                <a:latin typeface="Consolas" pitchFamily="49" charset="0"/>
                <a:ea typeface="仿宋" pitchFamily="49" charset="-122"/>
              </a:rPr>
              <a:t>+delta</a:t>
            </a:r>
            <a:endParaRPr lang="zh-CN" altLang="zh-CN" sz="2000">
              <a:solidFill>
                <a:srgbClr val="00B0F0"/>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006600"/>
                </a:solidFill>
                <a:latin typeface="Consolas" pitchFamily="49" charset="0"/>
                <a:ea typeface="仿宋" pitchFamily="49" charset="-122"/>
              </a:rPr>
              <a:t>	maxflow+=delta;</a:t>
            </a:r>
            <a:r>
              <a:rPr lang="en-US" altLang="zh-CN" sz="2000">
                <a:solidFill>
                  <a:srgbClr val="0000FF"/>
                </a:solidFill>
                <a:latin typeface="Consolas" pitchFamily="49" charset="0"/>
                <a:ea typeface="仿宋" pitchFamily="49" charset="-122"/>
              </a:rPr>
              <a:t>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最大流量增加</a:t>
            </a:r>
            <a:r>
              <a:rPr lang="en-US" altLang="zh-CN" sz="2000">
                <a:solidFill>
                  <a:srgbClr val="00B0F0"/>
                </a:solidFill>
                <a:latin typeface="Consolas" pitchFamily="49" charset="0"/>
                <a:ea typeface="仿宋" pitchFamily="49" charset="-122"/>
              </a:rPr>
              <a:t>delta</a:t>
            </a:r>
            <a:endParaRPr lang="zh-CN" altLang="zh-CN" sz="2000">
              <a:solidFill>
                <a:srgbClr val="00B0F0"/>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return </a:t>
            </a:r>
            <a:r>
              <a:rPr lang="en-US" altLang="zh-CN" sz="2000">
                <a:solidFill>
                  <a:srgbClr val="006600"/>
                </a:solidFill>
                <a:latin typeface="Consolas" pitchFamily="49" charset="0"/>
                <a:ea typeface="仿宋" pitchFamily="49" charset="-122"/>
              </a:rPr>
              <a:t>maxflow</a:t>
            </a: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145</a:t>
            </a:fld>
            <a:r>
              <a:rPr lang="en-US" altLang="zh-CN"/>
              <a:t>/158</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8" end="8"/>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9" end="9"/>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11" end="1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2" end="1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3" end="1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4" end="1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5" end="1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7" end="17"/>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8" end="1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285728"/>
            <a:ext cx="8643998" cy="3933559"/>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00">
              <a:lnSpc>
                <a:spcPts val="2700"/>
              </a:lnSpc>
              <a:spcBef>
                <a:spcPts val="0"/>
              </a:spcBef>
            </a:pPr>
            <a:r>
              <a:rPr lang="en-US" altLang="zh-CN" sz="2000">
                <a:solidFill>
                  <a:srgbClr val="0000FF"/>
                </a:solidFill>
                <a:latin typeface="Consolas" pitchFamily="49" charset="0"/>
                <a:ea typeface="仿宋" pitchFamily="49" charset="-122"/>
              </a:rPr>
              <a:t>int </a:t>
            </a:r>
            <a:r>
              <a:rPr lang="en-US" altLang="zh-CN" sz="2000">
                <a:solidFill>
                  <a:srgbClr val="FF0000"/>
                </a:solidFill>
                <a:latin typeface="Consolas" pitchFamily="49" charset="0"/>
                <a:ea typeface="仿宋" pitchFamily="49" charset="-122"/>
              </a:rPr>
              <a:t>main</a:t>
            </a: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int n,f,d;</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scanf("%d%d%d",&amp;n,&amp;f,&amp;d);</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init(); </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S=0,T=2*n+f+d+1;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建模</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顶点编号为</a:t>
            </a:r>
            <a:r>
              <a:rPr lang="en-US" altLang="zh-CN" sz="2000">
                <a:solidFill>
                  <a:srgbClr val="00B0F0"/>
                </a:solidFill>
                <a:latin typeface="Consolas" pitchFamily="49" charset="0"/>
                <a:ea typeface="仿宋" pitchFamily="49" charset="-122"/>
              </a:rPr>
              <a:t>0</a:t>
            </a:r>
            <a:r>
              <a:rPr lang="zh-CN" altLang="zh-CN" sz="2000">
                <a:solidFill>
                  <a:srgbClr val="00B0F0"/>
                </a:solidFill>
                <a:latin typeface="Consolas" pitchFamily="49" charset="0"/>
                <a:ea typeface="仿宋" pitchFamily="49" charset="-122"/>
              </a:rPr>
              <a:t>～</a:t>
            </a:r>
            <a:r>
              <a:rPr lang="en-US" altLang="zh-CN" sz="2000">
                <a:solidFill>
                  <a:srgbClr val="00B0F0"/>
                </a:solidFill>
                <a:latin typeface="Consolas" pitchFamily="49" charset="0"/>
                <a:ea typeface="仿宋" pitchFamily="49" charset="-122"/>
              </a:rPr>
              <a:t>2n+f+d+1</a:t>
            </a:r>
            <a:endParaRPr lang="zh-CN" altLang="zh-CN" sz="2000">
              <a:solidFill>
                <a:srgbClr val="00B0F0"/>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for(int i=1;i&lt;=f;i++)</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FF0000"/>
                </a:solidFill>
                <a:latin typeface="Consolas" pitchFamily="49" charset="0"/>
                <a:ea typeface="仿宋" pitchFamily="49" charset="-122"/>
              </a:rPr>
              <a:t>addedge</a:t>
            </a:r>
            <a:r>
              <a:rPr lang="en-US" altLang="zh-CN" sz="2000">
                <a:solidFill>
                  <a:srgbClr val="0000FF"/>
                </a:solidFill>
                <a:latin typeface="Consolas" pitchFamily="49" charset="0"/>
                <a:ea typeface="仿宋" pitchFamily="49" charset="-122"/>
              </a:rPr>
              <a:t>(S,i,1);</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for(int i=1;i&lt;=d;i++)</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FF0000"/>
                </a:solidFill>
                <a:latin typeface="Consolas" pitchFamily="49" charset="0"/>
                <a:ea typeface="仿宋" pitchFamily="49" charset="-122"/>
              </a:rPr>
              <a:t>addedge</a:t>
            </a:r>
            <a:r>
              <a:rPr lang="en-US" altLang="zh-CN" sz="2000">
                <a:solidFill>
                  <a:srgbClr val="0000FF"/>
                </a:solidFill>
                <a:latin typeface="Consolas" pitchFamily="49" charset="0"/>
                <a:ea typeface="仿宋" pitchFamily="49" charset="-122"/>
              </a:rPr>
              <a:t>(2*n+f+i,T,1);</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for(int i=1;i&lt;=n;i++)</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FF0000"/>
                </a:solidFill>
                <a:latin typeface="Consolas" pitchFamily="49" charset="0"/>
                <a:ea typeface="仿宋" pitchFamily="49" charset="-122"/>
              </a:rPr>
              <a:t>addedge</a:t>
            </a:r>
            <a:r>
              <a:rPr lang="en-US" altLang="zh-CN" sz="2000">
                <a:solidFill>
                  <a:srgbClr val="0000FF"/>
                </a:solidFill>
                <a:latin typeface="Consolas" pitchFamily="49" charset="0"/>
                <a:ea typeface="仿宋" pitchFamily="49" charset="-122"/>
              </a:rPr>
              <a:t>(f+i,f+n+i,1);</a:t>
            </a:r>
            <a:endParaRPr lang="zh-CN" altLang="zh-CN" sz="2000">
              <a:solidFill>
                <a:srgbClr val="0000FF"/>
              </a:solidFill>
              <a:latin typeface="Consolas" pitchFamily="49" charset="0"/>
              <a:ea typeface="仿宋" pitchFamily="49" charset="-122"/>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146</a:t>
            </a:fld>
            <a:r>
              <a:rPr lang="en-US" altLang="zh-CN"/>
              <a:t>/158</a:t>
            </a:r>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285728"/>
            <a:ext cx="8643998" cy="5129399"/>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00">
              <a:lnSpc>
                <a:spcPts val="2600"/>
              </a:lnSpc>
              <a:spcBef>
                <a:spcPts val="0"/>
              </a:spcBef>
            </a:pPr>
            <a:r>
              <a:rPr lang="en-US" altLang="zh-CN" sz="2000">
                <a:solidFill>
                  <a:srgbClr val="0000FF"/>
                </a:solidFill>
                <a:latin typeface="Consolas" pitchFamily="49" charset="0"/>
                <a:ea typeface="仿宋" pitchFamily="49" charset="-122"/>
              </a:rPr>
              <a:t>	for(int i=1;i&lt;=n;i++)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int fi,di;</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scanf("%d%d",&amp;fi,&amp;di);</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for(int j=1;j&lt;=fi;++j)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int tmp;</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scanf("%d",&amp;tmp);</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int flag=0;</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for(int x=head[tmp];x;x=edge[x].next)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if(</a:t>
            </a:r>
            <a:r>
              <a:rPr lang="en-US" altLang="zh-CN" sz="2000">
                <a:solidFill>
                  <a:srgbClr val="FF00FF"/>
                </a:solidFill>
                <a:latin typeface="Consolas" pitchFamily="49" charset="0"/>
                <a:ea typeface="仿宋" pitchFamily="49" charset="-122"/>
              </a:rPr>
              <a:t>edge[x].vno==f+i</a:t>
            </a: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flag=1;</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break;</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if(flag==0) </a:t>
            </a:r>
            <a:r>
              <a:rPr lang="en-US" altLang="zh-CN" sz="2000">
                <a:solidFill>
                  <a:srgbClr val="FF0000"/>
                </a:solidFill>
                <a:latin typeface="Consolas" pitchFamily="49" charset="0"/>
                <a:ea typeface="仿宋" pitchFamily="49" charset="-122"/>
              </a:rPr>
              <a:t>addedge</a:t>
            </a:r>
            <a:r>
              <a:rPr lang="en-US" altLang="zh-CN" sz="2000">
                <a:solidFill>
                  <a:srgbClr val="0000FF"/>
                </a:solidFill>
                <a:latin typeface="Consolas" pitchFamily="49" charset="0"/>
                <a:ea typeface="仿宋" pitchFamily="49" charset="-122"/>
              </a:rPr>
              <a:t>(tmp,f+i,1);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147</a:t>
            </a:fld>
            <a:r>
              <a:rPr lang="en-US" altLang="zh-CN"/>
              <a:t>/158</a:t>
            </a: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285728"/>
            <a:ext cx="8643998" cy="5685384"/>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00">
              <a:lnSpc>
                <a:spcPts val="2400"/>
              </a:lnSpc>
              <a:spcBef>
                <a:spcPts val="0"/>
              </a:spcBef>
            </a:pPr>
            <a:r>
              <a:rPr lang="en-US" altLang="zh-CN" sz="2000">
                <a:solidFill>
                  <a:srgbClr val="0000FF"/>
                </a:solidFill>
                <a:latin typeface="Consolas" pitchFamily="49" charset="0"/>
                <a:ea typeface="仿宋" pitchFamily="49" charset="-122"/>
              </a:rPr>
              <a:t>		for(int j=1;j&lt;=di;j++) {</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int tmp;</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scanf("%d",&amp;tmp);</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int flag=0;</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for(int x=head[i+f+n];x;x=edge[x].next) {</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if(</a:t>
            </a:r>
            <a:r>
              <a:rPr lang="en-US" altLang="zh-CN" sz="2000">
                <a:solidFill>
                  <a:srgbClr val="FF00FF"/>
                </a:solidFill>
                <a:latin typeface="Consolas" pitchFamily="49" charset="0"/>
                <a:ea typeface="仿宋" pitchFamily="49" charset="-122"/>
              </a:rPr>
              <a:t>edge[x].vno==2*n+f+tmp</a:t>
            </a: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flag=1;</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break;</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if(flag==0)</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FF0000"/>
                </a:solidFill>
                <a:latin typeface="Consolas" pitchFamily="49" charset="0"/>
                <a:ea typeface="仿宋" pitchFamily="49" charset="-122"/>
              </a:rPr>
              <a:t>addedge</a:t>
            </a:r>
            <a:r>
              <a:rPr lang="en-US" altLang="zh-CN" sz="2000">
                <a:solidFill>
                  <a:srgbClr val="0000FF"/>
                </a:solidFill>
                <a:latin typeface="Consolas" pitchFamily="49" charset="0"/>
                <a:ea typeface="仿宋" pitchFamily="49" charset="-122"/>
              </a:rPr>
              <a:t>(i+f+n,2*n+f+tmp,1);</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a:t>
            </a:r>
          </a:p>
          <a:p>
            <a:pPr algn="l" defTabSz="360000">
              <a:lnSpc>
                <a:spcPts val="2400"/>
              </a:lnSpc>
              <a:spcBef>
                <a:spcPts val="0"/>
              </a:spcBef>
            </a:pP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printf("%d",</a:t>
            </a:r>
            <a:r>
              <a:rPr lang="en-US" altLang="zh-CN" sz="2000">
                <a:solidFill>
                  <a:srgbClr val="FF0000"/>
                </a:solidFill>
                <a:latin typeface="Consolas" pitchFamily="49" charset="0"/>
                <a:ea typeface="仿宋" pitchFamily="49" charset="-122"/>
              </a:rPr>
              <a:t>FordFulkerson</a:t>
            </a:r>
            <a:r>
              <a:rPr lang="en-US" altLang="zh-CN" sz="2000">
                <a:solidFill>
                  <a:srgbClr val="0000FF"/>
                </a:solidFill>
                <a:latin typeface="Consolas" pitchFamily="49" charset="0"/>
                <a:ea typeface="仿宋" pitchFamily="49" charset="-122"/>
              </a:rPr>
              <a:t>());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输出最大流量</a:t>
            </a:r>
          </a:p>
          <a:p>
            <a:pPr algn="l" defTabSz="360000">
              <a:lnSpc>
                <a:spcPts val="2400"/>
              </a:lnSpc>
              <a:spcBef>
                <a:spcPts val="0"/>
              </a:spcBef>
            </a:pPr>
            <a:r>
              <a:rPr lang="en-US" altLang="zh-CN" sz="2000">
                <a:solidFill>
                  <a:srgbClr val="0000FF"/>
                </a:solidFill>
                <a:latin typeface="Consolas" pitchFamily="49" charset="0"/>
                <a:ea typeface="仿宋" pitchFamily="49" charset="-122"/>
              </a:rPr>
              <a:t>	return 0;	</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4" name="灯片编号占位符 3"/>
          <p:cNvSpPr>
            <a:spLocks noGrp="1"/>
          </p:cNvSpPr>
          <p:nvPr>
            <p:ph type="sldNum" sz="quarter" idx="12"/>
          </p:nvPr>
        </p:nvSpPr>
        <p:spPr/>
        <p:txBody>
          <a:bodyPr/>
          <a:lstStyle/>
          <a:p>
            <a:fld id="{7AF016A1-9F15-429F-9EFD-84004B73C732}" type="slidenum">
              <a:rPr lang="en-US" altLang="zh-CN" smtClean="0"/>
              <a:pPr/>
              <a:t>148</a:t>
            </a:fld>
            <a:r>
              <a:rPr lang="en-US" altLang="zh-CN"/>
              <a:t>/158</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5" end="1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6" end="1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17" end="1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7158" y="467005"/>
            <a:ext cx="1000132" cy="461665"/>
          </a:xfrm>
          <a:prstGeom prst="rect">
            <a:avLst/>
          </a:prstGeom>
          <a:solidFill>
            <a:schemeClr val="accent5">
              <a:lumMod val="20000"/>
              <a:lumOff val="80000"/>
            </a:schemeClr>
          </a:solidFill>
          <a:ln/>
          <a:effectLst>
            <a:outerShdw blurRad="76200" dir="13500000" sy="23000" kx="1200000" algn="br" rotWithShape="0">
              <a:prstClr val="black">
                <a:alpha val="20000"/>
              </a:prstClr>
            </a:outerShdw>
          </a:effectLst>
        </p:spPr>
        <p:style>
          <a:lnRef idx="3">
            <a:schemeClr val="lt1"/>
          </a:lnRef>
          <a:fillRef idx="1">
            <a:schemeClr val="dk1"/>
          </a:fillRef>
          <a:effectRef idx="1">
            <a:schemeClr val="dk1"/>
          </a:effectRef>
          <a:fontRef idx="minor">
            <a:schemeClr val="lt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pPr>
              <a:lnSpc>
                <a:spcPct val="100000"/>
              </a:lnSpc>
              <a:spcBef>
                <a:spcPts val="0"/>
              </a:spcBef>
            </a:pPr>
            <a:r>
              <a:rPr lang="zh-CN" altLang="en-US"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Consolas" pitchFamily="49" charset="0"/>
                <a:ea typeface="华文中宋" pitchFamily="2" charset="-122"/>
                <a:cs typeface="Consolas" pitchFamily="49" charset="0"/>
              </a:rPr>
              <a:t>解法</a:t>
            </a:r>
            <a:r>
              <a:rPr lang="en-US" altLang="zh-CN"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Consolas" pitchFamily="49" charset="0"/>
                <a:ea typeface="华文中宋" pitchFamily="2" charset="-122"/>
                <a:cs typeface="Consolas" pitchFamily="49" charset="0"/>
              </a:rPr>
              <a:t>2</a:t>
            </a:r>
            <a:endParaRPr lang="zh-CN" altLang="en-US"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Consolas" pitchFamily="49" charset="0"/>
              <a:ea typeface="华文中宋" pitchFamily="2" charset="-122"/>
              <a:cs typeface="Consolas" pitchFamily="49" charset="0"/>
            </a:endParaRPr>
          </a:p>
        </p:txBody>
      </p:sp>
      <p:sp>
        <p:nvSpPr>
          <p:cNvPr id="4" name="TextBox 3"/>
          <p:cNvSpPr txBox="1"/>
          <p:nvPr/>
        </p:nvSpPr>
        <p:spPr>
          <a:xfrm>
            <a:off x="428596" y="1357298"/>
            <a:ext cx="8501122" cy="990015"/>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600"/>
              </a:spcBef>
              <a:buBlip>
                <a:blip r:embed="rId3"/>
              </a:buBlip>
            </a:pPr>
            <a:r>
              <a:rPr lang="zh-CN" altLang="zh-CN">
                <a:solidFill>
                  <a:srgbClr val="0000FF"/>
                </a:solidFill>
                <a:latin typeface="Consolas" pitchFamily="49" charset="0"/>
                <a:ea typeface="仿宋" pitchFamily="49" charset="-122"/>
              </a:rPr>
              <a:t>建模和剩余网络</a:t>
            </a:r>
            <a:r>
              <a:rPr lang="en-US" altLang="zh-CN" i="1">
                <a:solidFill>
                  <a:srgbClr val="FF0000"/>
                </a:solidFill>
                <a:latin typeface="Consolas" pitchFamily="49" charset="0"/>
                <a:ea typeface="仿宋" pitchFamily="49" charset="-122"/>
              </a:rPr>
              <a:t>G</a:t>
            </a:r>
            <a:r>
              <a:rPr lang="en-US" altLang="zh-CN" i="1" baseline="-25000">
                <a:solidFill>
                  <a:srgbClr val="FF0000"/>
                </a:solidFill>
                <a:latin typeface="Consolas" pitchFamily="49" charset="0"/>
                <a:ea typeface="仿宋" pitchFamily="49" charset="-122"/>
              </a:rPr>
              <a:t>f</a:t>
            </a:r>
            <a:r>
              <a:rPr lang="zh-CN" altLang="zh-CN">
                <a:solidFill>
                  <a:srgbClr val="0000FF"/>
                </a:solidFill>
                <a:latin typeface="Consolas" pitchFamily="49" charset="0"/>
                <a:ea typeface="仿宋" pitchFamily="49" charset="-122"/>
              </a:rPr>
              <a:t>的存储方式与解法</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完全相同</a:t>
            </a:r>
            <a:r>
              <a:rPr lang="zh-CN" altLang="en-US">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marL="457200" indent="-457200" algn="l">
              <a:lnSpc>
                <a:spcPts val="3200"/>
              </a:lnSpc>
              <a:spcBef>
                <a:spcPts val="600"/>
              </a:spcBef>
              <a:buBlip>
                <a:blip r:embed="rId3"/>
              </a:buBlip>
            </a:pPr>
            <a:r>
              <a:rPr lang="zh-CN" altLang="zh-CN">
                <a:solidFill>
                  <a:srgbClr val="0000FF"/>
                </a:solidFill>
                <a:latin typeface="Consolas" pitchFamily="49" charset="0"/>
                <a:ea typeface="仿宋" pitchFamily="49" charset="-122"/>
              </a:rPr>
              <a:t>这里采用</a:t>
            </a:r>
            <a:r>
              <a:rPr lang="en-US" altLang="zh-CN">
                <a:solidFill>
                  <a:srgbClr val="0000FF"/>
                </a:solidFill>
                <a:latin typeface="Consolas" pitchFamily="49" charset="0"/>
                <a:ea typeface="仿宋" pitchFamily="49" charset="-122"/>
              </a:rPr>
              <a:t>Edmonds-Krap</a:t>
            </a:r>
            <a:r>
              <a:rPr lang="zh-CN" altLang="zh-CN">
                <a:solidFill>
                  <a:srgbClr val="0000FF"/>
                </a:solidFill>
                <a:latin typeface="Consolas" pitchFamily="49" charset="0"/>
                <a:ea typeface="仿宋" pitchFamily="49" charset="-122"/>
              </a:rPr>
              <a:t>算法求解</a:t>
            </a:r>
            <a:r>
              <a:rPr lang="zh-CN" altLang="en-US">
                <a:solidFill>
                  <a:srgbClr val="0000FF"/>
                </a:solidFill>
                <a:latin typeface="Consolas" pitchFamily="49" charset="0"/>
                <a:ea typeface="仿宋" pitchFamily="49" charset="-122"/>
              </a:rPr>
              <a:t>。</a:t>
            </a:r>
            <a:endParaRPr lang="zh-CN" altLang="en-US">
              <a:solidFill>
                <a:srgbClr val="0000FF"/>
              </a:solidFill>
              <a:latin typeface="Consolas" pitchFamily="49" charset="0"/>
              <a:ea typeface="仿宋" pitchFamily="49" charset="-122"/>
              <a:cs typeface="Consolas" pitchFamily="49" charset="0"/>
            </a:endParaRPr>
          </a:p>
        </p:txBody>
      </p:sp>
      <p:sp>
        <p:nvSpPr>
          <p:cNvPr id="6" name="灯片编号占位符 5"/>
          <p:cNvSpPr>
            <a:spLocks noGrp="1"/>
          </p:cNvSpPr>
          <p:nvPr>
            <p:ph type="sldNum" sz="quarter" idx="12"/>
          </p:nvPr>
        </p:nvSpPr>
        <p:spPr/>
        <p:txBody>
          <a:bodyPr/>
          <a:lstStyle/>
          <a:p>
            <a:fld id="{7AF016A1-9F15-429F-9EFD-84004B73C732}" type="slidenum">
              <a:rPr lang="en-US" altLang="zh-CN" smtClean="0"/>
              <a:pPr/>
              <a:t>149</a:t>
            </a:fld>
            <a:r>
              <a:rPr lang="en-US" altLang="zh-CN"/>
              <a:t>/158</a:t>
            </a:r>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285728"/>
            <a:ext cx="8858280" cy="612967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00">
              <a:lnSpc>
                <a:spcPts val="2600"/>
              </a:lnSpc>
              <a:spcBef>
                <a:spcPts val="0"/>
              </a:spcBef>
            </a:pPr>
            <a:r>
              <a:rPr lang="en-US" altLang="zh-CN" sz="2000">
                <a:solidFill>
                  <a:srgbClr val="0000FF"/>
                </a:solidFill>
                <a:latin typeface="Consolas" pitchFamily="49" charset="0"/>
                <a:ea typeface="仿宋" pitchFamily="49" charset="-122"/>
              </a:rPr>
              <a:t>bool </a:t>
            </a:r>
            <a:r>
              <a:rPr lang="en-US" altLang="zh-CN" sz="2000">
                <a:solidFill>
                  <a:srgbClr val="FF0000"/>
                </a:solidFill>
                <a:latin typeface="Consolas" pitchFamily="49" charset="0"/>
                <a:ea typeface="仿宋" pitchFamily="49" charset="-122"/>
              </a:rPr>
              <a:t>bfs</a:t>
            </a:r>
            <a:r>
              <a:rPr lang="en-US" altLang="zh-CN" sz="2000">
                <a:solidFill>
                  <a:srgbClr val="0000FF"/>
                </a:solidFill>
                <a:latin typeface="Consolas" pitchFamily="49" charset="0"/>
                <a:ea typeface="仿宋" pitchFamily="49" charset="-122"/>
              </a:rPr>
              <a:t>()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广度优先搜索</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找增广路径</a:t>
            </a:r>
            <a:r>
              <a:rPr lang="en-US" altLang="zh-CN" sz="2000">
                <a:solidFill>
                  <a:srgbClr val="00B0F0"/>
                </a:solidFill>
                <a:latin typeface="Consolas" pitchFamily="49" charset="0"/>
                <a:ea typeface="仿宋" pitchFamily="49" charset="-122"/>
              </a:rPr>
              <a:t>)</a:t>
            </a:r>
            <a:endParaRPr lang="zh-CN" altLang="zh-CN" sz="2000">
              <a:solidFill>
                <a:srgbClr val="00B0F0"/>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memset(path,-1,sizeof(path));</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queue&lt;int&gt; qu;</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qu.push(S);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while(!qu.empty()){</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int u=qu.front();qu.pop();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出队顶点</a:t>
            </a:r>
            <a:r>
              <a:rPr lang="en-US" altLang="zh-CN" sz="2000">
                <a:solidFill>
                  <a:srgbClr val="00B0F0"/>
                </a:solidFill>
                <a:latin typeface="Consolas" pitchFamily="49" charset="0"/>
                <a:ea typeface="仿宋" pitchFamily="49" charset="-122"/>
              </a:rPr>
              <a:t>u</a:t>
            </a:r>
            <a:endParaRPr lang="zh-CN" altLang="zh-CN" sz="2000">
              <a:solidFill>
                <a:srgbClr val="00B0F0"/>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if (</a:t>
            </a:r>
            <a:r>
              <a:rPr lang="en-US" altLang="zh-CN" sz="2000">
                <a:solidFill>
                  <a:srgbClr val="FF00FF"/>
                </a:solidFill>
                <a:latin typeface="Consolas" pitchFamily="49" charset="0"/>
                <a:ea typeface="仿宋" pitchFamily="49" charset="-122"/>
              </a:rPr>
              <a:t>u==T</a:t>
            </a:r>
            <a:r>
              <a:rPr lang="en-US" altLang="zh-CN" sz="2000">
                <a:solidFill>
                  <a:srgbClr val="0000FF"/>
                </a:solidFill>
                <a:latin typeface="Consolas" pitchFamily="49" charset="0"/>
                <a:ea typeface="仿宋" pitchFamily="49" charset="-122"/>
              </a:rPr>
              <a:t>) break;						</a:t>
            </a:r>
            <a:r>
              <a:rPr lang="en-US" altLang="zh-CN" sz="2000">
                <a:solidFill>
                  <a:srgbClr val="00B0F0"/>
                </a:solidFill>
                <a:latin typeface="Consolas" pitchFamily="49" charset="0"/>
                <a:ea typeface="仿宋" pitchFamily="49" charset="-122"/>
              </a:rPr>
              <a:t>//u</a:t>
            </a:r>
            <a:r>
              <a:rPr lang="zh-CN" altLang="zh-CN" sz="2000">
                <a:solidFill>
                  <a:srgbClr val="00B0F0"/>
                </a:solidFill>
                <a:latin typeface="Consolas" pitchFamily="49" charset="0"/>
                <a:ea typeface="仿宋" pitchFamily="49" charset="-122"/>
              </a:rPr>
              <a:t>为汇点时退出循环</a:t>
            </a:r>
          </a:p>
          <a:p>
            <a:pPr algn="l" defTabSz="360000">
              <a:lnSpc>
                <a:spcPts val="2600"/>
              </a:lnSpc>
              <a:spcBef>
                <a:spcPts val="0"/>
              </a:spcBef>
            </a:pPr>
            <a:r>
              <a:rPr lang="en-US" altLang="zh-CN" sz="2000">
                <a:solidFill>
                  <a:srgbClr val="0000FF"/>
                </a:solidFill>
                <a:latin typeface="Consolas" pitchFamily="49" charset="0"/>
                <a:ea typeface="仿宋" pitchFamily="49" charset="-122"/>
              </a:rPr>
              <a:t>    	for (int i=head[u];i!=-1;i=edge[i].next)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int v=edge[i].vno;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找</a:t>
            </a:r>
            <a:r>
              <a:rPr lang="en-US" altLang="zh-CN" sz="2000">
                <a:solidFill>
                  <a:srgbClr val="00B0F0"/>
                </a:solidFill>
                <a:latin typeface="Consolas" pitchFamily="49" charset="0"/>
                <a:ea typeface="仿宋" pitchFamily="49" charset="-122"/>
              </a:rPr>
              <a:t>u</a:t>
            </a:r>
            <a:r>
              <a:rPr lang="zh-CN" altLang="zh-CN" sz="2000">
                <a:solidFill>
                  <a:srgbClr val="00B0F0"/>
                </a:solidFill>
                <a:latin typeface="Consolas" pitchFamily="49" charset="0"/>
                <a:ea typeface="仿宋" pitchFamily="49" charset="-122"/>
              </a:rPr>
              <a:t>的出边邻接点</a:t>
            </a:r>
            <a:r>
              <a:rPr lang="en-US" altLang="zh-CN" sz="2000">
                <a:solidFill>
                  <a:srgbClr val="00B0F0"/>
                </a:solidFill>
                <a:latin typeface="Consolas" pitchFamily="49" charset="0"/>
                <a:ea typeface="仿宋" pitchFamily="49" charset="-122"/>
              </a:rPr>
              <a:t>v</a:t>
            </a:r>
            <a:endParaRPr lang="zh-CN" altLang="zh-CN" sz="2000">
              <a:solidFill>
                <a:srgbClr val="00B0F0"/>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int f=edge[i].flow;</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if (</a:t>
            </a:r>
            <a:r>
              <a:rPr lang="en-US" altLang="zh-CN" sz="2000">
                <a:solidFill>
                  <a:srgbClr val="FF00FF"/>
                </a:solidFill>
                <a:latin typeface="Consolas" pitchFamily="49" charset="0"/>
                <a:ea typeface="仿宋" pitchFamily="49" charset="-122"/>
              </a:rPr>
              <a:t>path[v]==-1 &amp;&amp; f&gt;0</a:t>
            </a:r>
            <a:r>
              <a:rPr lang="en-US" altLang="zh-CN" sz="2000">
                <a:solidFill>
                  <a:srgbClr val="0000FF"/>
                </a:solidFill>
                <a:latin typeface="Consolas" pitchFamily="49" charset="0"/>
                <a:ea typeface="仿宋" pitchFamily="49" charset="-122"/>
              </a:rPr>
              <a:t>) {		</a:t>
            </a:r>
            <a:r>
              <a:rPr lang="en-US" altLang="zh-CN" sz="2000">
                <a:solidFill>
                  <a:srgbClr val="00B0F0"/>
                </a:solidFill>
                <a:latin typeface="Consolas" pitchFamily="49" charset="0"/>
                <a:ea typeface="仿宋" pitchFamily="49" charset="-122"/>
              </a:rPr>
              <a:t>//v</a:t>
            </a:r>
            <a:r>
              <a:rPr lang="zh-CN" altLang="zh-CN" sz="2000">
                <a:solidFill>
                  <a:srgbClr val="00B0F0"/>
                </a:solidFill>
                <a:latin typeface="Consolas" pitchFamily="49" charset="0"/>
                <a:ea typeface="仿宋" pitchFamily="49" charset="-122"/>
              </a:rPr>
              <a:t>没有访问并且</a:t>
            </a:r>
            <a:r>
              <a:rPr lang="en-US" altLang="zh-CN" sz="2000">
                <a:solidFill>
                  <a:srgbClr val="00B0F0"/>
                </a:solidFill>
                <a:latin typeface="Consolas" pitchFamily="49" charset="0"/>
                <a:ea typeface="仿宋" pitchFamily="49" charset="-122"/>
              </a:rPr>
              <a:t>f&gt;0</a:t>
            </a:r>
            <a:endParaRPr lang="zh-CN" altLang="zh-CN" sz="2000">
              <a:solidFill>
                <a:srgbClr val="00B0F0"/>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path[v]=i;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置为该边在</a:t>
            </a:r>
            <a:r>
              <a:rPr lang="en-US" altLang="zh-CN" sz="2000">
                <a:solidFill>
                  <a:srgbClr val="00B0F0"/>
                </a:solidFill>
                <a:latin typeface="Consolas" pitchFamily="49" charset="0"/>
                <a:ea typeface="仿宋" pitchFamily="49" charset="-122"/>
              </a:rPr>
              <a:t>edge</a:t>
            </a:r>
            <a:r>
              <a:rPr lang="zh-CN" altLang="zh-CN" sz="2000">
                <a:solidFill>
                  <a:srgbClr val="00B0F0"/>
                </a:solidFill>
                <a:latin typeface="Consolas" pitchFamily="49" charset="0"/>
                <a:ea typeface="仿宋" pitchFamily="49" charset="-122"/>
              </a:rPr>
              <a:t>中的下标</a:t>
            </a:r>
          </a:p>
          <a:p>
            <a:pPr algn="l" defTabSz="360000">
              <a:lnSpc>
                <a:spcPts val="2600"/>
              </a:lnSpc>
              <a:spcBef>
                <a:spcPts val="0"/>
              </a:spcBef>
            </a:pPr>
            <a:r>
              <a:rPr lang="en-US" altLang="zh-CN" sz="2000">
                <a:solidFill>
                  <a:srgbClr val="0000FF"/>
                </a:solidFill>
                <a:latin typeface="Consolas" pitchFamily="49" charset="0"/>
                <a:ea typeface="仿宋" pitchFamily="49" charset="-122"/>
              </a:rPr>
              <a:t>        	qu.push(v);						</a:t>
            </a:r>
            <a:r>
              <a:rPr lang="en-US" altLang="zh-CN" sz="2000">
                <a:solidFill>
                  <a:srgbClr val="00B0F0"/>
                </a:solidFill>
                <a:latin typeface="Consolas" pitchFamily="49" charset="0"/>
                <a:ea typeface="仿宋" pitchFamily="49" charset="-122"/>
              </a:rPr>
              <a:t>//v</a:t>
            </a:r>
            <a:r>
              <a:rPr lang="zh-CN" altLang="zh-CN" sz="2000">
                <a:solidFill>
                  <a:srgbClr val="00B0F0"/>
                </a:solidFill>
                <a:latin typeface="Consolas" pitchFamily="49" charset="0"/>
                <a:ea typeface="仿宋" pitchFamily="49" charset="-122"/>
              </a:rPr>
              <a:t>进队</a:t>
            </a: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return (</a:t>
            </a:r>
            <a:r>
              <a:rPr lang="en-US" altLang="zh-CN" sz="2000">
                <a:solidFill>
                  <a:srgbClr val="FF00FF"/>
                </a:solidFill>
                <a:latin typeface="Consolas" pitchFamily="49" charset="0"/>
                <a:ea typeface="仿宋" pitchFamily="49" charset="-122"/>
              </a:rPr>
              <a:t>path[T]!=-1</a:t>
            </a: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150</a:t>
            </a:fld>
            <a:r>
              <a:rPr lang="en-US" altLang="zh-CN"/>
              <a:t>/158</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1" end="1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2" end="12"/>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3" end="13"/>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4" end="14"/>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16" end="16"/>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
                                            <p:txEl>
                                              <p:pRg st="17" end="1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285728"/>
            <a:ext cx="8643998" cy="5129399"/>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00">
              <a:lnSpc>
                <a:spcPts val="2600"/>
              </a:lnSpc>
              <a:spcBef>
                <a:spcPts val="0"/>
              </a:spcBef>
            </a:pPr>
            <a:r>
              <a:rPr lang="en-US" altLang="zh-CN" sz="2000">
                <a:solidFill>
                  <a:srgbClr val="0000FF"/>
                </a:solidFill>
                <a:latin typeface="Consolas" pitchFamily="49" charset="0"/>
                <a:ea typeface="仿宋" pitchFamily="49" charset="-122"/>
              </a:rPr>
              <a:t>int </a:t>
            </a:r>
            <a:r>
              <a:rPr lang="en-US" altLang="zh-CN" sz="2000">
                <a:solidFill>
                  <a:srgbClr val="FF0000"/>
                </a:solidFill>
                <a:latin typeface="Consolas" pitchFamily="49" charset="0"/>
                <a:ea typeface="仿宋" pitchFamily="49" charset="-122"/>
              </a:rPr>
              <a:t>edmondskrap</a:t>
            </a:r>
            <a:r>
              <a:rPr lang="en-US" altLang="zh-CN" sz="2000">
                <a:solidFill>
                  <a:srgbClr val="0000FF"/>
                </a:solidFill>
                <a:latin typeface="Consolas" pitchFamily="49" charset="0"/>
                <a:ea typeface="仿宋" pitchFamily="49" charset="-122"/>
              </a:rPr>
              <a:t>() {					</a:t>
            </a:r>
            <a:r>
              <a:rPr lang="en-US" altLang="zh-CN" sz="2000">
                <a:solidFill>
                  <a:srgbClr val="00B050"/>
                </a:solidFill>
                <a:latin typeface="Consolas" pitchFamily="49" charset="0"/>
                <a:ea typeface="仿宋" pitchFamily="49" charset="-122"/>
              </a:rPr>
              <a:t>//Edmonds-Krap</a:t>
            </a:r>
            <a:r>
              <a:rPr lang="zh-CN" altLang="zh-CN" sz="2000">
                <a:solidFill>
                  <a:srgbClr val="00B050"/>
                </a:solidFill>
                <a:latin typeface="Consolas" pitchFamily="49" charset="0"/>
                <a:ea typeface="仿宋" pitchFamily="49" charset="-122"/>
              </a:rPr>
              <a:t>算法求最大流</a:t>
            </a:r>
          </a:p>
          <a:p>
            <a:pPr algn="l" defTabSz="360000">
              <a:lnSpc>
                <a:spcPts val="2600"/>
              </a:lnSpc>
              <a:spcBef>
                <a:spcPts val="0"/>
              </a:spcBef>
            </a:pPr>
            <a:r>
              <a:rPr lang="en-US" altLang="zh-CN" sz="2000">
                <a:solidFill>
                  <a:srgbClr val="0000FF"/>
                </a:solidFill>
                <a:latin typeface="Consolas" pitchFamily="49" charset="0"/>
                <a:ea typeface="仿宋" pitchFamily="49" charset="-122"/>
              </a:rPr>
              <a:t> 	int maxflow=0;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最大流量</a:t>
            </a:r>
          </a:p>
          <a:p>
            <a:pPr algn="l" defTabSz="360000">
              <a:lnSpc>
                <a:spcPts val="2600"/>
              </a:lnSpc>
              <a:spcBef>
                <a:spcPts val="0"/>
              </a:spcBef>
            </a:pPr>
            <a:r>
              <a:rPr lang="en-US" altLang="zh-CN" sz="2000">
                <a:solidFill>
                  <a:srgbClr val="0000FF"/>
                </a:solidFill>
                <a:latin typeface="Consolas" pitchFamily="49" charset="0"/>
                <a:ea typeface="仿宋" pitchFamily="49" charset="-122"/>
              </a:rPr>
              <a:t> 	while(bfs())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int delta=INF;</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for (int i=T;i!=S;i=</a:t>
            </a:r>
            <a:r>
              <a:rPr lang="en-US" altLang="zh-CN" sz="2000">
                <a:solidFill>
                  <a:srgbClr val="006600"/>
                </a:solidFill>
                <a:latin typeface="Consolas" pitchFamily="49" charset="0"/>
                <a:ea typeface="仿宋" pitchFamily="49" charset="-122"/>
              </a:rPr>
              <a:t>edge[path[i]^1]</a:t>
            </a:r>
            <a:r>
              <a:rPr lang="en-US" altLang="zh-CN" sz="2000">
                <a:solidFill>
                  <a:srgbClr val="0000FF"/>
                </a:solidFill>
                <a:latin typeface="Consolas" pitchFamily="49" charset="0"/>
                <a:ea typeface="仿宋" pitchFamily="49" charset="-122"/>
              </a:rPr>
              <a:t>.vno)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求</a:t>
            </a:r>
            <a:r>
              <a:rPr lang="en-US" altLang="zh-CN" sz="2000">
                <a:solidFill>
                  <a:srgbClr val="00B0F0"/>
                </a:solidFill>
                <a:latin typeface="Consolas" pitchFamily="49" charset="0"/>
                <a:ea typeface="仿宋" pitchFamily="49" charset="-122"/>
              </a:rPr>
              <a:t>delta</a:t>
            </a:r>
            <a:endParaRPr lang="zh-CN" altLang="zh-CN" sz="2000">
              <a:solidFill>
                <a:srgbClr val="00B0F0"/>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delta=min(delta,edge[path[i]].flow);</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for (int i=T;i!=S;i=</a:t>
            </a:r>
            <a:r>
              <a:rPr lang="en-US" altLang="zh-CN" sz="2000">
                <a:solidFill>
                  <a:srgbClr val="006600"/>
                </a:solidFill>
                <a:latin typeface="Consolas" pitchFamily="49" charset="0"/>
                <a:ea typeface="仿宋" pitchFamily="49" charset="-122"/>
              </a:rPr>
              <a:t>edge[path[i]^1]</a:t>
            </a:r>
            <a:r>
              <a:rPr lang="en-US" altLang="zh-CN" sz="2000">
                <a:solidFill>
                  <a:srgbClr val="0000FF"/>
                </a:solidFill>
                <a:latin typeface="Consolas" pitchFamily="49" charset="0"/>
                <a:ea typeface="仿宋" pitchFamily="49" charset="-122"/>
              </a:rPr>
              <a:t>.vno)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增广</a:t>
            </a:r>
          </a:p>
          <a:p>
            <a:pPr algn="l" defTabSz="360000">
              <a:lnSpc>
                <a:spcPts val="2600"/>
              </a:lnSpc>
              <a:spcBef>
                <a:spcPts val="0"/>
              </a:spcBef>
            </a:pPr>
            <a:r>
              <a:rPr lang="en-US" altLang="zh-CN" sz="2000">
                <a:solidFill>
                  <a:srgbClr val="0000FF"/>
                </a:solidFill>
                <a:latin typeface="Consolas" pitchFamily="49" charset="0"/>
                <a:ea typeface="仿宋" pitchFamily="49" charset="-122"/>
              </a:rPr>
              <a:t>     		edge[path[i]].flow-=delta;</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edge[path[i]^1].flow+=delta;</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006600"/>
                </a:solidFill>
                <a:latin typeface="Consolas" pitchFamily="49" charset="0"/>
                <a:ea typeface="仿宋" pitchFamily="49" charset="-122"/>
              </a:rPr>
              <a:t>maxflow+=delta;	</a:t>
            </a:r>
            <a:r>
              <a:rPr lang="en-US" altLang="zh-CN" sz="2000">
                <a:solidFill>
                  <a:srgbClr val="0000FF"/>
                </a:solidFill>
                <a:latin typeface="Consolas" pitchFamily="49" charset="0"/>
                <a:ea typeface="仿宋" pitchFamily="49" charset="-122"/>
              </a:rPr>
              <a:t>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递增最大流量</a:t>
            </a: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return maxflow;</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151</a:t>
            </a:fld>
            <a:r>
              <a:rPr lang="en-US" altLang="zh-CN"/>
              <a:t>/158</a:t>
            </a:r>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940515"/>
            <a:ext cx="8643998" cy="1916981"/>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00">
              <a:lnSpc>
                <a:spcPts val="2800"/>
              </a:lnSpc>
              <a:spcBef>
                <a:spcPts val="0"/>
              </a:spcBef>
            </a:pPr>
            <a:r>
              <a:rPr lang="en-US" altLang="zh-CN" sz="2000">
                <a:solidFill>
                  <a:srgbClr val="0000FF"/>
                </a:solidFill>
                <a:latin typeface="Consolas" pitchFamily="49" charset="0"/>
                <a:ea typeface="仿宋" pitchFamily="49" charset="-122"/>
              </a:rPr>
              <a:t>int </a:t>
            </a:r>
            <a:r>
              <a:rPr lang="en-US" altLang="zh-CN" sz="2000">
                <a:solidFill>
                  <a:srgbClr val="FF0000"/>
                </a:solidFill>
                <a:latin typeface="Consolas" pitchFamily="49" charset="0"/>
                <a:ea typeface="仿宋" pitchFamily="49" charset="-122"/>
              </a:rPr>
              <a:t>main</a:t>
            </a: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r>
              <a:rPr lang="zh-CN" altLang="zh-CN" sz="2000">
                <a:solidFill>
                  <a:srgbClr val="0000FF"/>
                </a:solidFill>
                <a:latin typeface="+mj-ea"/>
                <a:ea typeface="+mj-ea"/>
              </a:rPr>
              <a:t>…</a:t>
            </a:r>
          </a:p>
          <a:p>
            <a:pPr algn="l" defTabSz="360000">
              <a:lnSpc>
                <a:spcPts val="2800"/>
              </a:lnSpc>
              <a:spcBef>
                <a:spcPts val="0"/>
              </a:spcBef>
            </a:pPr>
            <a:r>
              <a:rPr lang="en-US" altLang="zh-CN" sz="2000">
                <a:solidFill>
                  <a:srgbClr val="0000FF"/>
                </a:solidFill>
                <a:latin typeface="Consolas" pitchFamily="49" charset="0"/>
                <a:ea typeface="仿宋" pitchFamily="49" charset="-122"/>
              </a:rPr>
              <a:t>	printf("%d",</a:t>
            </a:r>
            <a:r>
              <a:rPr lang="en-US" altLang="zh-CN" sz="2000">
                <a:solidFill>
                  <a:srgbClr val="FF0000"/>
                </a:solidFill>
                <a:latin typeface="Consolas" pitchFamily="49" charset="0"/>
                <a:ea typeface="仿宋" pitchFamily="49" charset="-122"/>
              </a:rPr>
              <a:t>edmondskrap</a:t>
            </a:r>
            <a:r>
              <a:rPr lang="en-US" altLang="zh-CN" sz="2000">
                <a:solidFill>
                  <a:srgbClr val="0000FF"/>
                </a:solidFill>
                <a:latin typeface="Consolas" pitchFamily="49" charset="0"/>
                <a:ea typeface="仿宋" pitchFamily="49" charset="-122"/>
              </a:rPr>
              <a:t>());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输出最大流量</a:t>
            </a:r>
          </a:p>
          <a:p>
            <a:pPr algn="l" defTabSz="360000">
              <a:lnSpc>
                <a:spcPts val="2800"/>
              </a:lnSpc>
              <a:spcBef>
                <a:spcPts val="0"/>
              </a:spcBef>
            </a:pPr>
            <a:r>
              <a:rPr lang="en-US" altLang="zh-CN" sz="2000">
                <a:solidFill>
                  <a:srgbClr val="0000FF"/>
                </a:solidFill>
                <a:latin typeface="Consolas" pitchFamily="49" charset="0"/>
                <a:ea typeface="仿宋" pitchFamily="49" charset="-122"/>
              </a:rPr>
              <a:t>	return 0;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152</a:t>
            </a:fld>
            <a:r>
              <a:rPr lang="en-US" altLang="zh-CN"/>
              <a:t>/158</a:t>
            </a:r>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7158" y="467005"/>
            <a:ext cx="1000132" cy="461665"/>
          </a:xfrm>
          <a:prstGeom prst="rect">
            <a:avLst/>
          </a:prstGeom>
          <a:solidFill>
            <a:schemeClr val="accent5">
              <a:lumMod val="20000"/>
              <a:lumOff val="80000"/>
            </a:schemeClr>
          </a:solidFill>
          <a:ln/>
          <a:effectLst>
            <a:outerShdw blurRad="76200" dir="13500000" sy="23000" kx="1200000" algn="br" rotWithShape="0">
              <a:prstClr val="black">
                <a:alpha val="20000"/>
              </a:prstClr>
            </a:outerShdw>
          </a:effectLst>
        </p:spPr>
        <p:style>
          <a:lnRef idx="3">
            <a:schemeClr val="lt1"/>
          </a:lnRef>
          <a:fillRef idx="1">
            <a:schemeClr val="dk1"/>
          </a:fillRef>
          <a:effectRef idx="1">
            <a:schemeClr val="dk1"/>
          </a:effectRef>
          <a:fontRef idx="minor">
            <a:schemeClr val="lt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pPr>
              <a:lnSpc>
                <a:spcPct val="100000"/>
              </a:lnSpc>
              <a:spcBef>
                <a:spcPts val="0"/>
              </a:spcBef>
            </a:pPr>
            <a:r>
              <a:rPr lang="zh-CN" altLang="en-US"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Consolas" pitchFamily="49" charset="0"/>
                <a:ea typeface="华文中宋" pitchFamily="2" charset="-122"/>
                <a:cs typeface="Consolas" pitchFamily="49" charset="0"/>
              </a:rPr>
              <a:t>解法</a:t>
            </a:r>
            <a:r>
              <a:rPr lang="en-US" altLang="zh-CN"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Consolas" pitchFamily="49" charset="0"/>
                <a:ea typeface="华文中宋" pitchFamily="2" charset="-122"/>
                <a:cs typeface="Consolas" pitchFamily="49" charset="0"/>
              </a:rPr>
              <a:t>3</a:t>
            </a:r>
            <a:endParaRPr lang="zh-CN" altLang="en-US"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Consolas" pitchFamily="49" charset="0"/>
              <a:ea typeface="华文中宋" pitchFamily="2" charset="-122"/>
              <a:cs typeface="Consolas" pitchFamily="49" charset="0"/>
            </a:endParaRPr>
          </a:p>
        </p:txBody>
      </p:sp>
      <p:sp>
        <p:nvSpPr>
          <p:cNvPr id="4" name="TextBox 3"/>
          <p:cNvSpPr txBox="1"/>
          <p:nvPr/>
        </p:nvSpPr>
        <p:spPr>
          <a:xfrm>
            <a:off x="428596" y="1357298"/>
            <a:ext cx="8501122" cy="2298065"/>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600"/>
              </a:spcBef>
              <a:buBlip>
                <a:blip r:embed="rId3"/>
              </a:buBlip>
            </a:pPr>
            <a:r>
              <a:rPr lang="zh-CN" altLang="zh-CN">
                <a:solidFill>
                  <a:srgbClr val="0000FF"/>
                </a:solidFill>
                <a:latin typeface="Consolas" pitchFamily="49" charset="0"/>
                <a:ea typeface="仿宋" pitchFamily="49" charset="-122"/>
              </a:rPr>
              <a:t>建模和剩余网络</a:t>
            </a:r>
            <a:r>
              <a:rPr lang="en-US" altLang="zh-CN" i="1">
                <a:solidFill>
                  <a:srgbClr val="FF0000"/>
                </a:solidFill>
                <a:latin typeface="Consolas" pitchFamily="49" charset="0"/>
                <a:ea typeface="仿宋" pitchFamily="49" charset="-122"/>
              </a:rPr>
              <a:t>G</a:t>
            </a:r>
            <a:r>
              <a:rPr lang="en-US" altLang="zh-CN" i="1" baseline="-25000">
                <a:solidFill>
                  <a:srgbClr val="FF0000"/>
                </a:solidFill>
                <a:latin typeface="Consolas" pitchFamily="49" charset="0"/>
                <a:ea typeface="仿宋" pitchFamily="49" charset="-122"/>
              </a:rPr>
              <a:t>f</a:t>
            </a:r>
            <a:r>
              <a:rPr lang="zh-CN" altLang="zh-CN">
                <a:solidFill>
                  <a:srgbClr val="0000FF"/>
                </a:solidFill>
                <a:latin typeface="Consolas" pitchFamily="49" charset="0"/>
                <a:ea typeface="仿宋" pitchFamily="49" charset="-122"/>
              </a:rPr>
              <a:t>的存储方式与解法</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完全相同</a:t>
            </a:r>
            <a:r>
              <a:rPr lang="zh-CN" altLang="en-US">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marL="457200" indent="-457200" algn="l">
              <a:lnSpc>
                <a:spcPts val="3200"/>
              </a:lnSpc>
              <a:spcBef>
                <a:spcPts val="600"/>
              </a:spcBef>
              <a:buBlip>
                <a:blip r:embed="rId3"/>
              </a:buBlip>
            </a:pPr>
            <a:r>
              <a:rPr lang="zh-CN" altLang="zh-CN">
                <a:solidFill>
                  <a:srgbClr val="0000FF"/>
                </a:solidFill>
                <a:latin typeface="Consolas" pitchFamily="49" charset="0"/>
                <a:ea typeface="仿宋" pitchFamily="49" charset="-122"/>
              </a:rPr>
              <a:t>这里采用</a:t>
            </a:r>
            <a:r>
              <a:rPr lang="en-US" altLang="zh-CN">
                <a:solidFill>
                  <a:srgbClr val="0000FF"/>
                </a:solidFill>
                <a:latin typeface="Consolas" pitchFamily="49" charset="0"/>
                <a:ea typeface="仿宋" pitchFamily="49" charset="-122"/>
              </a:rPr>
              <a:t>Dinic</a:t>
            </a:r>
            <a:r>
              <a:rPr lang="zh-CN" altLang="zh-CN">
                <a:solidFill>
                  <a:srgbClr val="0000FF"/>
                </a:solidFill>
                <a:latin typeface="Consolas" pitchFamily="49" charset="0"/>
                <a:ea typeface="仿宋" pitchFamily="49" charset="-122"/>
              </a:rPr>
              <a:t>算法求解</a:t>
            </a:r>
            <a:r>
              <a:rPr lang="zh-CN" altLang="en-US">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marL="457200" indent="-457200" algn="l">
              <a:lnSpc>
                <a:spcPts val="3200"/>
              </a:lnSpc>
              <a:spcBef>
                <a:spcPts val="600"/>
              </a:spcBef>
              <a:buBlip>
                <a:blip r:embed="rId3"/>
              </a:buBlip>
            </a:pPr>
            <a:r>
              <a:rPr lang="zh-CN" altLang="zh-CN">
                <a:solidFill>
                  <a:srgbClr val="0000FF"/>
                </a:solidFill>
                <a:latin typeface="Consolas" pitchFamily="49" charset="0"/>
                <a:ea typeface="仿宋" pitchFamily="49" charset="-122"/>
              </a:rPr>
              <a:t>在</a:t>
            </a:r>
            <a:r>
              <a:rPr lang="en-US" altLang="zh-CN">
                <a:solidFill>
                  <a:srgbClr val="FF0000"/>
                </a:solidFill>
                <a:latin typeface="Consolas" pitchFamily="49" charset="0"/>
                <a:ea typeface="仿宋" pitchFamily="49" charset="-122"/>
              </a:rPr>
              <a:t>bfs</a:t>
            </a:r>
            <a:r>
              <a:rPr lang="zh-CN" altLang="zh-CN">
                <a:solidFill>
                  <a:srgbClr val="0000FF"/>
                </a:solidFill>
                <a:latin typeface="Consolas" pitchFamily="49" charset="0"/>
                <a:ea typeface="仿宋" pitchFamily="49" charset="-122"/>
              </a:rPr>
              <a:t>算法中，仅仅构建</a:t>
            </a:r>
            <a:r>
              <a:rPr lang="en-US" altLang="zh-CN" i="1">
                <a:solidFill>
                  <a:srgbClr val="0000FF"/>
                </a:solidFill>
                <a:latin typeface="Consolas" pitchFamily="49" charset="0"/>
                <a:ea typeface="仿宋" pitchFamily="49" charset="-122"/>
              </a:rPr>
              <a:t>G</a:t>
            </a:r>
            <a:r>
              <a:rPr lang="en-US" altLang="zh-CN" i="1" baseline="-25000">
                <a:solidFill>
                  <a:srgbClr val="0000FF"/>
                </a:solidFill>
                <a:latin typeface="Consolas" pitchFamily="49" charset="0"/>
                <a:ea typeface="仿宋" pitchFamily="49" charset="-122"/>
              </a:rPr>
              <a:t>f</a:t>
            </a:r>
            <a:r>
              <a:rPr lang="zh-CN" altLang="zh-CN">
                <a:solidFill>
                  <a:srgbClr val="0000FF"/>
                </a:solidFill>
                <a:latin typeface="Consolas" pitchFamily="49" charset="0"/>
                <a:ea typeface="仿宋" pitchFamily="49" charset="-122"/>
              </a:rPr>
              <a:t>的层次网络，用</a:t>
            </a:r>
            <a:r>
              <a:rPr lang="en-US" altLang="zh-CN">
                <a:solidFill>
                  <a:srgbClr val="0000FF"/>
                </a:solidFill>
                <a:latin typeface="Consolas" pitchFamily="49" charset="0"/>
                <a:ea typeface="仿宋" pitchFamily="49" charset="-122"/>
              </a:rPr>
              <a:t>level[</a:t>
            </a:r>
            <a:r>
              <a:rPr lang="en-US" altLang="zh-CN" i="1">
                <a:solidFill>
                  <a:srgbClr val="0000FF"/>
                </a:solidFill>
                <a:latin typeface="Consolas" pitchFamily="49" charset="0"/>
                <a:ea typeface="仿宋" pitchFamily="49" charset="-122"/>
              </a:rPr>
              <a:t>v</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表示顶点</a:t>
            </a:r>
            <a:r>
              <a:rPr lang="en-US" altLang="zh-CN" i="1">
                <a:solidFill>
                  <a:srgbClr val="0000FF"/>
                </a:solidFill>
                <a:latin typeface="Consolas" pitchFamily="49" charset="0"/>
                <a:ea typeface="仿宋" pitchFamily="49" charset="-122"/>
              </a:rPr>
              <a:t>v</a:t>
            </a:r>
            <a:r>
              <a:rPr lang="zh-CN" altLang="zh-CN">
                <a:solidFill>
                  <a:srgbClr val="0000FF"/>
                </a:solidFill>
                <a:latin typeface="Consolas" pitchFamily="49" charset="0"/>
                <a:ea typeface="仿宋" pitchFamily="49" charset="-122"/>
              </a:rPr>
              <a:t>的层次（源点</a:t>
            </a:r>
            <a:r>
              <a:rPr lang="en-US" altLang="zh-CN">
                <a:solidFill>
                  <a:srgbClr val="0000FF"/>
                </a:solidFill>
                <a:latin typeface="Consolas" pitchFamily="49" charset="0"/>
                <a:ea typeface="仿宋" pitchFamily="49" charset="-122"/>
              </a:rPr>
              <a:t>S</a:t>
            </a:r>
            <a:r>
              <a:rPr lang="zh-CN" altLang="zh-CN">
                <a:solidFill>
                  <a:srgbClr val="0000FF"/>
                </a:solidFill>
                <a:latin typeface="Consolas" pitchFamily="49" charset="0"/>
                <a:ea typeface="仿宋" pitchFamily="49" charset="-122"/>
              </a:rPr>
              <a:t>的层次为</a:t>
            </a:r>
            <a:r>
              <a:rPr lang="en-US"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，其相邻顶点的层次为</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，以此类推）。</a:t>
            </a:r>
            <a:endParaRPr lang="zh-CN" altLang="en-US">
              <a:solidFill>
                <a:srgbClr val="0000FF"/>
              </a:solidFill>
              <a:latin typeface="Consolas" pitchFamily="49" charset="0"/>
              <a:ea typeface="仿宋" pitchFamily="49" charset="-122"/>
              <a:cs typeface="Consolas" pitchFamily="49" charset="0"/>
            </a:endParaRPr>
          </a:p>
        </p:txBody>
      </p:sp>
      <p:sp>
        <p:nvSpPr>
          <p:cNvPr id="6" name="灯片编号占位符 5"/>
          <p:cNvSpPr>
            <a:spLocks noGrp="1"/>
          </p:cNvSpPr>
          <p:nvPr>
            <p:ph type="sldNum" sz="quarter" idx="12"/>
          </p:nvPr>
        </p:nvSpPr>
        <p:spPr/>
        <p:txBody>
          <a:bodyPr/>
          <a:lstStyle/>
          <a:p>
            <a:fld id="{7AF016A1-9F15-429F-9EFD-84004B73C732}" type="slidenum">
              <a:rPr lang="en-US" altLang="zh-CN" smtClean="0"/>
              <a:pPr/>
              <a:t>153</a:t>
            </a:fld>
            <a:r>
              <a:rPr lang="en-US" altLang="zh-CN"/>
              <a:t>/158</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271334"/>
            <a:ext cx="8643998" cy="6300938"/>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00">
              <a:lnSpc>
                <a:spcPts val="2600"/>
              </a:lnSpc>
              <a:spcBef>
                <a:spcPts val="0"/>
              </a:spcBef>
            </a:pPr>
            <a:r>
              <a:rPr lang="en-US" altLang="zh-CN" sz="2000">
                <a:solidFill>
                  <a:srgbClr val="0000FF"/>
                </a:solidFill>
                <a:latin typeface="Consolas" pitchFamily="49" charset="0"/>
                <a:ea typeface="仿宋" pitchFamily="49" charset="-122"/>
              </a:rPr>
              <a:t>queue&lt;int&gt; qu;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队列 </a:t>
            </a:r>
          </a:p>
          <a:p>
            <a:pPr algn="l" defTabSz="360000">
              <a:lnSpc>
                <a:spcPts val="2600"/>
              </a:lnSpc>
              <a:spcBef>
                <a:spcPts val="0"/>
              </a:spcBef>
            </a:pPr>
            <a:r>
              <a:rPr lang="en-US" altLang="zh-CN" sz="2000">
                <a:solidFill>
                  <a:srgbClr val="0000FF"/>
                </a:solidFill>
                <a:latin typeface="Consolas" pitchFamily="49" charset="0"/>
                <a:ea typeface="仿宋" pitchFamily="49" charset="-122"/>
              </a:rPr>
              <a:t>bool visited[MAXN];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访问标记</a:t>
            </a:r>
          </a:p>
          <a:p>
            <a:pPr algn="l" defTabSz="360000">
              <a:lnSpc>
                <a:spcPts val="2600"/>
              </a:lnSpc>
              <a:spcBef>
                <a:spcPts val="0"/>
              </a:spcBef>
            </a:pPr>
            <a:r>
              <a:rPr lang="en-US" altLang="zh-CN" sz="2000">
                <a:solidFill>
                  <a:srgbClr val="0000FF"/>
                </a:solidFill>
                <a:latin typeface="Consolas" pitchFamily="49" charset="0"/>
                <a:ea typeface="仿宋" pitchFamily="49" charset="-122"/>
              </a:rPr>
              <a:t>int level[MAXN];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顶点的层次</a:t>
            </a:r>
          </a:p>
          <a:p>
            <a:pPr algn="l" defTabSz="360000">
              <a:lnSpc>
                <a:spcPts val="2600"/>
              </a:lnSpc>
              <a:spcBef>
                <a:spcPts val="1200"/>
              </a:spcBef>
            </a:pPr>
            <a:r>
              <a:rPr lang="en-US" altLang="zh-CN" sz="2000">
                <a:solidFill>
                  <a:srgbClr val="0000FF"/>
                </a:solidFill>
                <a:latin typeface="Consolas" pitchFamily="49" charset="0"/>
                <a:ea typeface="仿宋" pitchFamily="49" charset="-122"/>
              </a:rPr>
              <a:t>void </a:t>
            </a:r>
            <a:r>
              <a:rPr lang="en-US" altLang="zh-CN" sz="2000">
                <a:solidFill>
                  <a:srgbClr val="FF0000"/>
                </a:solidFill>
                <a:latin typeface="Consolas" pitchFamily="49" charset="0"/>
                <a:ea typeface="仿宋" pitchFamily="49" charset="-122"/>
              </a:rPr>
              <a:t>bfs</a:t>
            </a:r>
            <a:r>
              <a:rPr lang="en-US" altLang="zh-CN" sz="2000">
                <a:solidFill>
                  <a:srgbClr val="0000FF"/>
                </a:solidFill>
                <a:latin typeface="Consolas" pitchFamily="49" charset="0"/>
                <a:ea typeface="仿宋" pitchFamily="49" charset="-122"/>
              </a:rPr>
              <a:t>() {									</a:t>
            </a:r>
            <a:r>
              <a:rPr lang="en-US" altLang="zh-CN" sz="2000">
                <a:solidFill>
                  <a:srgbClr val="00B050"/>
                </a:solidFill>
                <a:latin typeface="Consolas" pitchFamily="49" charset="0"/>
                <a:ea typeface="仿宋" pitchFamily="49" charset="-122"/>
              </a:rPr>
              <a:t>//</a:t>
            </a:r>
            <a:r>
              <a:rPr lang="zh-CN" altLang="zh-CN" sz="2000">
                <a:solidFill>
                  <a:srgbClr val="00B050"/>
                </a:solidFill>
                <a:latin typeface="Consolas" pitchFamily="49" charset="0"/>
                <a:ea typeface="仿宋" pitchFamily="49" charset="-122"/>
              </a:rPr>
              <a:t>广度优先搜索</a:t>
            </a:r>
            <a:r>
              <a:rPr lang="en-US" altLang="zh-CN" sz="2000">
                <a:solidFill>
                  <a:srgbClr val="00B050"/>
                </a:solidFill>
                <a:latin typeface="Consolas" pitchFamily="49" charset="0"/>
                <a:ea typeface="仿宋" pitchFamily="49" charset="-122"/>
              </a:rPr>
              <a:t>(</a:t>
            </a:r>
            <a:r>
              <a:rPr lang="zh-CN" altLang="zh-CN" sz="2000">
                <a:solidFill>
                  <a:srgbClr val="00B050"/>
                </a:solidFill>
                <a:latin typeface="Consolas" pitchFamily="49" charset="0"/>
                <a:ea typeface="仿宋" pitchFamily="49" charset="-122"/>
              </a:rPr>
              <a:t>建立层次网络</a:t>
            </a:r>
            <a:r>
              <a:rPr lang="en-US" altLang="zh-CN" sz="2000">
                <a:solidFill>
                  <a:srgbClr val="00B050"/>
                </a:solidFill>
                <a:latin typeface="Consolas" pitchFamily="49" charset="0"/>
                <a:ea typeface="仿宋" pitchFamily="49" charset="-122"/>
              </a:rPr>
              <a:t>)</a:t>
            </a:r>
            <a:endParaRPr lang="zh-CN" altLang="zh-CN" sz="2000">
              <a:solidFill>
                <a:srgbClr val="00B050"/>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while(!qu.empty()) qu.pop();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清空队列</a:t>
            </a:r>
          </a:p>
          <a:p>
            <a:pPr algn="l" defTabSz="360000">
              <a:lnSpc>
                <a:spcPts val="2600"/>
              </a:lnSpc>
              <a:spcBef>
                <a:spcPts val="0"/>
              </a:spcBef>
            </a:pPr>
            <a:r>
              <a:rPr lang="en-US" altLang="zh-CN" sz="2000">
                <a:solidFill>
                  <a:srgbClr val="0000FF"/>
                </a:solidFill>
                <a:latin typeface="Consolas" pitchFamily="49" charset="0"/>
                <a:ea typeface="仿宋" pitchFamily="49" charset="-122"/>
              </a:rPr>
              <a:t>	visited[S]=true;</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qu.push(S);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while(</a:t>
            </a:r>
            <a:r>
              <a:rPr lang="en-US" altLang="zh-CN" sz="2000">
                <a:solidFill>
                  <a:srgbClr val="FF00FF"/>
                </a:solidFill>
                <a:latin typeface="Consolas" pitchFamily="49" charset="0"/>
                <a:ea typeface="仿宋" pitchFamily="49" charset="-122"/>
              </a:rPr>
              <a:t>!qu.empty()</a:t>
            </a: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int u=qu.front();qu.pop();</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for(int i=head[u];i!=-1;i=edge[i].next)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if(</a:t>
            </a:r>
            <a:r>
              <a:rPr lang="en-US" altLang="zh-CN" sz="2000">
                <a:solidFill>
                  <a:srgbClr val="FF00FF"/>
                </a:solidFill>
                <a:latin typeface="Consolas" pitchFamily="49" charset="0"/>
                <a:ea typeface="仿宋" pitchFamily="49" charset="-122"/>
              </a:rPr>
              <a:t>edge[i].flow &amp;&amp; !visited[edge[i].vno]</a:t>
            </a: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qu.push(edge[i].vno);	</a:t>
            </a:r>
            <a:r>
              <a:rPr lang="en-US" altLang="zh-CN" sz="2000">
                <a:solidFill>
                  <a:srgbClr val="006600"/>
                </a:solidFill>
                <a:latin typeface="Consolas" pitchFamily="49" charset="0"/>
                <a:ea typeface="仿宋" pitchFamily="49" charset="-122"/>
              </a:rPr>
              <a:t>//v=edge[i].vno</a:t>
            </a:r>
            <a:endParaRPr lang="zh-CN" altLang="zh-CN" sz="2000">
              <a:solidFill>
                <a:srgbClr val="006600"/>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level[edge[i].vno]=level[u]+1;</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visited[edge[i].vno]=true;</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grpSp>
        <p:nvGrpSpPr>
          <p:cNvPr id="13" name="组合 12"/>
          <p:cNvGrpSpPr/>
          <p:nvPr/>
        </p:nvGrpSpPr>
        <p:grpSpPr>
          <a:xfrm>
            <a:off x="2786050" y="5274246"/>
            <a:ext cx="4500594" cy="1024416"/>
            <a:chOff x="2786050" y="5274246"/>
            <a:chExt cx="4500594" cy="1024416"/>
          </a:xfrm>
        </p:grpSpPr>
        <p:sp>
          <p:nvSpPr>
            <p:cNvPr id="4" name="椭圆 3"/>
            <p:cNvSpPr/>
            <p:nvPr/>
          </p:nvSpPr>
          <p:spPr bwMode="auto">
            <a:xfrm>
              <a:off x="3500430" y="5429264"/>
              <a:ext cx="428628" cy="428628"/>
            </a:xfrm>
            <a:prstGeom prst="ellipse">
              <a:avLst/>
            </a:prstGeom>
            <a:ln>
              <a:headEnd type="none" w="med" len="med"/>
              <a:tailEnd type="arrow" w="med" len="med"/>
            </a:ln>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algn="ctr"/>
              <a:r>
                <a:rPr lang="en-US" altLang="zh-CN" sz="2000" b="0" i="1">
                  <a:solidFill>
                    <a:srgbClr val="0000FF"/>
                  </a:solidFill>
                  <a:latin typeface="Consolas" pitchFamily="49" charset="0"/>
                  <a:ea typeface="仿宋" pitchFamily="49" charset="-122"/>
                </a:rPr>
                <a:t>u</a:t>
              </a:r>
              <a:endParaRPr lang="zh-CN" altLang="en-US" sz="2000" b="0" i="1">
                <a:solidFill>
                  <a:srgbClr val="0000FF"/>
                </a:solidFill>
                <a:latin typeface="Consolas" pitchFamily="49" charset="0"/>
                <a:ea typeface="仿宋" pitchFamily="49" charset="-122"/>
              </a:endParaRPr>
            </a:p>
          </p:txBody>
        </p:sp>
        <p:sp>
          <p:nvSpPr>
            <p:cNvPr id="5" name="椭圆 4"/>
            <p:cNvSpPr/>
            <p:nvPr/>
          </p:nvSpPr>
          <p:spPr bwMode="auto">
            <a:xfrm>
              <a:off x="5143504" y="5429264"/>
              <a:ext cx="428628" cy="428628"/>
            </a:xfrm>
            <a:prstGeom prst="ellipse">
              <a:avLst/>
            </a:prstGeom>
            <a:ln>
              <a:headEnd type="none" w="med" len="med"/>
              <a:tailEnd type="arrow" w="med" len="med"/>
            </a:ln>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algn="ctr"/>
              <a:r>
                <a:rPr lang="en-US" altLang="zh-CN" sz="2000" b="0" i="1">
                  <a:solidFill>
                    <a:srgbClr val="0000FF"/>
                  </a:solidFill>
                  <a:latin typeface="Consolas" pitchFamily="49" charset="0"/>
                  <a:ea typeface="仿宋" pitchFamily="49" charset="-122"/>
                </a:rPr>
                <a:t>v</a:t>
              </a:r>
              <a:endParaRPr lang="zh-CN" altLang="en-US" sz="2000" b="0" i="1">
                <a:solidFill>
                  <a:srgbClr val="0000FF"/>
                </a:solidFill>
                <a:latin typeface="Consolas" pitchFamily="49" charset="0"/>
                <a:ea typeface="仿宋" pitchFamily="49" charset="-122"/>
              </a:endParaRPr>
            </a:p>
          </p:txBody>
        </p:sp>
        <p:cxnSp>
          <p:nvCxnSpPr>
            <p:cNvPr id="6" name="直接箭头连接符 5"/>
            <p:cNvCxnSpPr>
              <a:stCxn id="4" idx="6"/>
              <a:endCxn id="5" idx="2"/>
            </p:cNvCxnSpPr>
            <p:nvPr/>
          </p:nvCxnSpPr>
          <p:spPr>
            <a:xfrm>
              <a:off x="3929058" y="5643578"/>
              <a:ext cx="1214446" cy="1588"/>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8" name="TextBox 7"/>
            <p:cNvSpPr txBox="1"/>
            <p:nvPr/>
          </p:nvSpPr>
          <p:spPr>
            <a:xfrm>
              <a:off x="4357686" y="5929330"/>
              <a:ext cx="2928958" cy="369332"/>
            </a:xfrm>
            <a:prstGeom prst="rect">
              <a:avLst/>
            </a:prstGeom>
            <a:noFill/>
          </p:spPr>
          <p:txBody>
            <a:bodyPr wrap="square" rtlCol="0">
              <a:spAutoFit/>
            </a:bodyPr>
            <a:lstStyle/>
            <a:p>
              <a:pPr algn="l">
                <a:lnSpc>
                  <a:spcPct val="100000"/>
                </a:lnSpc>
                <a:spcBef>
                  <a:spcPts val="0"/>
                </a:spcBef>
              </a:pPr>
              <a:r>
                <a:rPr lang="en-US" altLang="zh-CN" sz="1800">
                  <a:solidFill>
                    <a:srgbClr val="0000FF"/>
                  </a:solidFill>
                  <a:latin typeface="Consolas" pitchFamily="49" charset="0"/>
                  <a:ea typeface="楷体" pitchFamily="49" charset="-122"/>
                  <a:cs typeface="Consolas" pitchFamily="49" charset="0"/>
                </a:rPr>
                <a:t>Level[v]=level[u]+1</a:t>
              </a:r>
              <a:endParaRPr lang="zh-CN" altLang="en-US" sz="1800">
                <a:solidFill>
                  <a:srgbClr val="0000FF"/>
                </a:solidFill>
                <a:latin typeface="Consolas" pitchFamily="49" charset="0"/>
                <a:ea typeface="楷体" pitchFamily="49" charset="-122"/>
                <a:cs typeface="Consolas" pitchFamily="49" charset="0"/>
              </a:endParaRPr>
            </a:p>
          </p:txBody>
        </p:sp>
        <p:sp>
          <p:nvSpPr>
            <p:cNvPr id="9" name="TextBox 8"/>
            <p:cNvSpPr txBox="1"/>
            <p:nvPr/>
          </p:nvSpPr>
          <p:spPr>
            <a:xfrm>
              <a:off x="2786050" y="5917188"/>
              <a:ext cx="1428760" cy="369332"/>
            </a:xfrm>
            <a:prstGeom prst="rect">
              <a:avLst/>
            </a:prstGeom>
            <a:noFill/>
          </p:spPr>
          <p:txBody>
            <a:bodyPr wrap="square" rtlCol="0">
              <a:spAutoFit/>
            </a:bodyPr>
            <a:lstStyle/>
            <a:p>
              <a:pPr algn="l">
                <a:lnSpc>
                  <a:spcPct val="100000"/>
                </a:lnSpc>
                <a:spcBef>
                  <a:spcPts val="0"/>
                </a:spcBef>
              </a:pPr>
              <a:r>
                <a:rPr lang="en-US" altLang="zh-CN" sz="1800">
                  <a:solidFill>
                    <a:srgbClr val="0000FF"/>
                  </a:solidFill>
                  <a:latin typeface="Consolas" pitchFamily="49" charset="0"/>
                  <a:ea typeface="楷体" pitchFamily="49" charset="-122"/>
                  <a:cs typeface="Consolas" pitchFamily="49" charset="0"/>
                </a:rPr>
                <a:t>Level[u]</a:t>
              </a:r>
              <a:endParaRPr lang="zh-CN" altLang="en-US" sz="1800">
                <a:solidFill>
                  <a:srgbClr val="0000FF"/>
                </a:solidFill>
                <a:latin typeface="Consolas" pitchFamily="49" charset="0"/>
                <a:ea typeface="楷体" pitchFamily="49" charset="-122"/>
                <a:cs typeface="Consolas" pitchFamily="49" charset="0"/>
              </a:endParaRPr>
            </a:p>
          </p:txBody>
        </p:sp>
        <p:sp>
          <p:nvSpPr>
            <p:cNvPr id="12" name="TextBox 11"/>
            <p:cNvSpPr txBox="1"/>
            <p:nvPr/>
          </p:nvSpPr>
          <p:spPr>
            <a:xfrm>
              <a:off x="4071934" y="5274246"/>
              <a:ext cx="1071570" cy="369332"/>
            </a:xfrm>
            <a:prstGeom prst="rect">
              <a:avLst/>
            </a:prstGeom>
            <a:noFill/>
          </p:spPr>
          <p:txBody>
            <a:bodyPr wrap="square" rtlCol="0">
              <a:spAutoFit/>
            </a:bodyPr>
            <a:lstStyle/>
            <a:p>
              <a:pPr algn="l">
                <a:lnSpc>
                  <a:spcPct val="100000"/>
                </a:lnSpc>
                <a:spcBef>
                  <a:spcPts val="0"/>
                </a:spcBef>
              </a:pPr>
              <a:r>
                <a:rPr lang="en-US" altLang="zh-CN" sz="1800">
                  <a:solidFill>
                    <a:srgbClr val="0000FF"/>
                  </a:solidFill>
                  <a:latin typeface="Consolas" pitchFamily="49" charset="0"/>
                  <a:ea typeface="楷体" pitchFamily="49" charset="-122"/>
                  <a:cs typeface="Consolas" pitchFamily="49" charset="0"/>
                </a:rPr>
                <a:t>flow&gt;0</a:t>
              </a:r>
              <a:endParaRPr lang="zh-CN" altLang="en-US" sz="1800">
                <a:solidFill>
                  <a:srgbClr val="0000FF"/>
                </a:solidFill>
                <a:latin typeface="Consolas" pitchFamily="49" charset="0"/>
                <a:ea typeface="楷体" pitchFamily="49" charset="-122"/>
                <a:cs typeface="Consolas" pitchFamily="49" charset="0"/>
              </a:endParaRPr>
            </a:p>
          </p:txBody>
        </p:sp>
      </p:grpSp>
      <p:sp>
        <p:nvSpPr>
          <p:cNvPr id="11" name="灯片编号占位符 10"/>
          <p:cNvSpPr>
            <a:spLocks noGrp="1"/>
          </p:cNvSpPr>
          <p:nvPr>
            <p:ph type="sldNum" sz="quarter" idx="12"/>
          </p:nvPr>
        </p:nvSpPr>
        <p:spPr/>
        <p:txBody>
          <a:bodyPr/>
          <a:lstStyle/>
          <a:p>
            <a:fld id="{7AF016A1-9F15-429F-9EFD-84004B73C732}" type="slidenum">
              <a:rPr lang="en-US" altLang="zh-CN" smtClean="0"/>
              <a:pPr/>
              <a:t>154</a:t>
            </a:fld>
            <a:r>
              <a:rPr lang="en-US" altLang="zh-CN"/>
              <a:t>/158</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0" end="1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1" end="11"/>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2" end="12"/>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3" end="13"/>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4" end="14"/>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5" end="15"/>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6" end="16"/>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7" end="17"/>
                                            </p:txEl>
                                          </p:spTgt>
                                        </p:tgtEl>
                                        <p:attrNameLst>
                                          <p:attrName>style.visibility</p:attrName>
                                        </p:attrNameLst>
                                      </p:cBhvr>
                                      <p:to>
                                        <p:strVal val="visible"/>
                                      </p:to>
                                    </p:set>
                                  </p:childTnLst>
                                </p:cTn>
                              </p:par>
                            </p:childTnLst>
                          </p:cTn>
                        </p:par>
                        <p:par>
                          <p:cTn id="35" fill="hold">
                            <p:stCondLst>
                              <p:cond delay="0"/>
                            </p:stCondLst>
                            <p:childTnLst>
                              <p:par>
                                <p:cTn id="36" presetID="1" presetClass="entr" presetSubtype="0" fill="hold" nodeType="afterEffect">
                                  <p:stCondLst>
                                    <p:cond delay="0"/>
                                  </p:stCondLst>
                                  <p:childTnLst>
                                    <p:set>
                                      <p:cBhvr>
                                        <p:cTn id="37"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14282" y="71414"/>
            <a:ext cx="8643998" cy="6480474"/>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00">
              <a:lnSpc>
                <a:spcPts val="2600"/>
              </a:lnSpc>
              <a:spcBef>
                <a:spcPts val="0"/>
              </a:spcBef>
            </a:pPr>
            <a:r>
              <a:rPr lang="en-US" altLang="zh-CN" sz="2000">
                <a:solidFill>
                  <a:srgbClr val="0000FF"/>
                </a:solidFill>
                <a:latin typeface="Consolas" pitchFamily="49" charset="0"/>
                <a:ea typeface="仿宋" pitchFamily="49" charset="-122"/>
              </a:rPr>
              <a:t>int </a:t>
            </a:r>
            <a:r>
              <a:rPr lang="en-US" altLang="zh-CN" sz="2000">
                <a:solidFill>
                  <a:srgbClr val="FF0000"/>
                </a:solidFill>
                <a:latin typeface="Consolas" pitchFamily="49" charset="0"/>
                <a:ea typeface="仿宋" pitchFamily="49" charset="-122"/>
              </a:rPr>
              <a:t>dfs</a:t>
            </a:r>
            <a:r>
              <a:rPr lang="en-US" altLang="zh-CN" sz="2000">
                <a:solidFill>
                  <a:srgbClr val="0000FF"/>
                </a:solidFill>
                <a:latin typeface="Consolas" pitchFamily="49" charset="0"/>
                <a:ea typeface="仿宋" pitchFamily="49" charset="-122"/>
              </a:rPr>
              <a:t>(int u,int limit) {	</a:t>
            </a:r>
            <a:r>
              <a:rPr lang="en-US" altLang="zh-CN" sz="2000">
                <a:solidFill>
                  <a:srgbClr val="00B050"/>
                </a:solidFill>
                <a:latin typeface="Consolas" pitchFamily="49" charset="0"/>
                <a:ea typeface="仿宋" pitchFamily="49" charset="-122"/>
              </a:rPr>
              <a:t>//</a:t>
            </a:r>
            <a:r>
              <a:rPr lang="zh-CN" altLang="zh-CN" sz="2000">
                <a:solidFill>
                  <a:srgbClr val="00B050"/>
                </a:solidFill>
                <a:latin typeface="Consolas" pitchFamily="49" charset="0"/>
                <a:ea typeface="仿宋" pitchFamily="49" charset="-122"/>
              </a:rPr>
              <a:t>多路增广</a:t>
            </a:r>
            <a:r>
              <a:rPr lang="en-US" altLang="zh-CN" sz="2000">
                <a:solidFill>
                  <a:srgbClr val="00B050"/>
                </a:solidFill>
                <a:latin typeface="Consolas" pitchFamily="49" charset="0"/>
                <a:ea typeface="仿宋" pitchFamily="49" charset="-122"/>
              </a:rPr>
              <a:t>:u</a:t>
            </a:r>
            <a:r>
              <a:rPr lang="zh-CN" altLang="zh-CN" sz="2000">
                <a:solidFill>
                  <a:srgbClr val="00B050"/>
                </a:solidFill>
                <a:latin typeface="Consolas" pitchFamily="49" charset="0"/>
                <a:ea typeface="仿宋" pitchFamily="49" charset="-122"/>
              </a:rPr>
              <a:t>当前点，</a:t>
            </a:r>
            <a:r>
              <a:rPr lang="en-US" altLang="zh-CN" sz="2000">
                <a:solidFill>
                  <a:srgbClr val="00B050"/>
                </a:solidFill>
                <a:latin typeface="Consolas" pitchFamily="49" charset="0"/>
                <a:ea typeface="仿宋" pitchFamily="49" charset="-122"/>
              </a:rPr>
              <a:t>limit</a:t>
            </a:r>
            <a:r>
              <a:rPr lang="zh-CN" altLang="zh-CN" sz="2000">
                <a:solidFill>
                  <a:srgbClr val="00B050"/>
                </a:solidFill>
                <a:latin typeface="Consolas" pitchFamily="49" charset="0"/>
                <a:ea typeface="仿宋" pitchFamily="49" charset="-122"/>
              </a:rPr>
              <a:t>当前流量</a:t>
            </a:r>
          </a:p>
          <a:p>
            <a:pPr algn="l" defTabSz="360000">
              <a:lnSpc>
                <a:spcPts val="2600"/>
              </a:lnSpc>
              <a:spcBef>
                <a:spcPts val="0"/>
              </a:spcBef>
            </a:pPr>
            <a:r>
              <a:rPr lang="en-US" altLang="zh-CN" sz="2000">
                <a:solidFill>
                  <a:srgbClr val="0000FF"/>
                </a:solidFill>
                <a:latin typeface="Consolas" pitchFamily="49" charset="0"/>
                <a:ea typeface="仿宋" pitchFamily="49" charset="-122"/>
              </a:rPr>
              <a:t>	if(</a:t>
            </a:r>
            <a:r>
              <a:rPr lang="en-US" altLang="zh-CN" sz="2000">
                <a:solidFill>
                  <a:srgbClr val="FF00FF"/>
                </a:solidFill>
                <a:latin typeface="Consolas" pitchFamily="49" charset="0"/>
                <a:ea typeface="仿宋" pitchFamily="49" charset="-122"/>
              </a:rPr>
              <a:t>u==T || limit==0</a:t>
            </a:r>
            <a:r>
              <a:rPr lang="en-US" altLang="zh-CN" sz="2000">
                <a:solidFill>
                  <a:srgbClr val="0000FF"/>
                </a:solidFill>
                <a:latin typeface="Consolas" pitchFamily="49" charset="0"/>
                <a:ea typeface="仿宋" pitchFamily="49" charset="-122"/>
              </a:rPr>
              <a:t>) return limit;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没有可行流或到达汇点</a:t>
            </a:r>
          </a:p>
          <a:p>
            <a:pPr algn="l" defTabSz="360000">
              <a:lnSpc>
                <a:spcPts val="2600"/>
              </a:lnSpc>
              <a:spcBef>
                <a:spcPts val="0"/>
              </a:spcBef>
            </a:pPr>
            <a:r>
              <a:rPr lang="en-US" altLang="zh-CN" sz="2000">
                <a:solidFill>
                  <a:srgbClr val="0000FF"/>
                </a:solidFill>
                <a:latin typeface="Consolas" pitchFamily="49" charset="0"/>
                <a:ea typeface="仿宋" pitchFamily="49" charset="-122"/>
              </a:rPr>
              <a:t>  	int </a:t>
            </a:r>
            <a:r>
              <a:rPr lang="en-US" altLang="zh-CN" sz="2000">
                <a:solidFill>
                  <a:srgbClr val="006600"/>
                </a:solidFill>
                <a:latin typeface="Consolas" pitchFamily="49" charset="0"/>
                <a:ea typeface="仿宋" pitchFamily="49" charset="-122"/>
              </a:rPr>
              <a:t>flow=0</a:t>
            </a: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for(int i=head[u]; i!=-1;i=edge[i].next)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找</a:t>
            </a:r>
            <a:r>
              <a:rPr lang="en-US" altLang="zh-CN" sz="2000">
                <a:solidFill>
                  <a:srgbClr val="00B0F0"/>
                </a:solidFill>
                <a:latin typeface="Consolas" pitchFamily="49" charset="0"/>
                <a:ea typeface="仿宋" pitchFamily="49" charset="-122"/>
              </a:rPr>
              <a:t>u</a:t>
            </a:r>
            <a:r>
              <a:rPr lang="zh-CN" altLang="zh-CN" sz="2000">
                <a:solidFill>
                  <a:srgbClr val="00B0F0"/>
                </a:solidFill>
                <a:latin typeface="Consolas" pitchFamily="49" charset="0"/>
                <a:ea typeface="仿宋" pitchFamily="49" charset="-122"/>
              </a:rPr>
              <a:t>的邻接点</a:t>
            </a:r>
            <a:r>
              <a:rPr lang="en-US" altLang="zh-CN" sz="2000">
                <a:solidFill>
                  <a:srgbClr val="00B0F0"/>
                </a:solidFill>
                <a:latin typeface="Consolas" pitchFamily="49" charset="0"/>
                <a:ea typeface="仿宋" pitchFamily="49" charset="-122"/>
              </a:rPr>
              <a:t>v</a:t>
            </a:r>
            <a:endParaRPr lang="zh-CN" altLang="zh-CN" sz="2000">
              <a:solidFill>
                <a:srgbClr val="00B0F0"/>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int v=edge[i].vno;</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if(</a:t>
            </a:r>
            <a:r>
              <a:rPr lang="en-US" altLang="zh-CN" sz="2000">
                <a:solidFill>
                  <a:srgbClr val="FF00FF"/>
                </a:solidFill>
                <a:latin typeface="Consolas" pitchFamily="49" charset="0"/>
                <a:ea typeface="仿宋" pitchFamily="49" charset="-122"/>
              </a:rPr>
              <a:t>edge[i].flow &amp;&amp; level[v]==level[u]+1</a:t>
            </a:r>
            <a:r>
              <a:rPr lang="en-US" altLang="zh-CN" sz="2000">
                <a:solidFill>
                  <a:srgbClr val="0000FF"/>
                </a:solidFill>
                <a:latin typeface="Consolas" pitchFamily="49" charset="0"/>
                <a:ea typeface="仿宋" pitchFamily="49" charset="-122"/>
              </a:rPr>
              <a:t>) {	</a:t>
            </a: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必须</a:t>
            </a:r>
            <a:r>
              <a:rPr lang="zh-CN" altLang="en-US" sz="2000">
                <a:solidFill>
                  <a:srgbClr val="00B0F0"/>
                </a:solidFill>
                <a:latin typeface="Consolas" pitchFamily="49" charset="0"/>
                <a:ea typeface="仿宋" pitchFamily="49" charset="-122"/>
              </a:rPr>
              <a:t>是</a:t>
            </a:r>
            <a:r>
              <a:rPr lang="zh-CN" altLang="zh-CN" sz="2000">
                <a:solidFill>
                  <a:srgbClr val="00B0F0"/>
                </a:solidFill>
                <a:latin typeface="Consolas" pitchFamily="49" charset="0"/>
                <a:ea typeface="仿宋" pitchFamily="49" charset="-122"/>
              </a:rPr>
              <a:t>可行流</a:t>
            </a:r>
            <a:r>
              <a:rPr lang="zh-CN" altLang="en-US" sz="2000">
                <a:solidFill>
                  <a:srgbClr val="00B0F0"/>
                </a:solidFill>
                <a:latin typeface="Consolas" pitchFamily="49" charset="0"/>
                <a:ea typeface="仿宋" pitchFamily="49" charset="-122"/>
              </a:rPr>
              <a:t>并</a:t>
            </a:r>
            <a:r>
              <a:rPr lang="zh-CN" altLang="zh-CN" sz="2000">
                <a:solidFill>
                  <a:srgbClr val="00B0F0"/>
                </a:solidFill>
                <a:latin typeface="Consolas" pitchFamily="49" charset="0"/>
                <a:ea typeface="仿宋" pitchFamily="49" charset="-122"/>
              </a:rPr>
              <a:t>向下一层转移</a:t>
            </a:r>
          </a:p>
          <a:p>
            <a:pPr algn="l" defTabSz="360000">
              <a:lnSpc>
                <a:spcPts val="2600"/>
              </a:lnSpc>
              <a:spcBef>
                <a:spcPts val="0"/>
              </a:spcBef>
            </a:pPr>
            <a:r>
              <a:rPr lang="en-US" altLang="zh-CN" sz="2000">
                <a:solidFill>
                  <a:srgbClr val="0000FF"/>
                </a:solidFill>
                <a:latin typeface="Consolas" pitchFamily="49" charset="0"/>
                <a:ea typeface="仿宋" pitchFamily="49" charset="-122"/>
              </a:rPr>
              <a:t>      	int f=</a:t>
            </a:r>
            <a:r>
              <a:rPr lang="en-US" altLang="zh-CN" sz="2000">
                <a:solidFill>
                  <a:srgbClr val="FF0000"/>
                </a:solidFill>
                <a:latin typeface="Consolas" pitchFamily="49" charset="0"/>
                <a:ea typeface="仿宋" pitchFamily="49" charset="-122"/>
              </a:rPr>
              <a:t>dfs</a:t>
            </a:r>
            <a:r>
              <a:rPr lang="en-US" altLang="zh-CN" sz="2000">
                <a:solidFill>
                  <a:srgbClr val="0000FF"/>
                </a:solidFill>
                <a:latin typeface="Consolas" pitchFamily="49" charset="0"/>
                <a:ea typeface="仿宋" pitchFamily="49" charset="-122"/>
              </a:rPr>
              <a:t>(v,min(limit,edge[i].flow));	</a:t>
            </a: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求</a:t>
            </a:r>
            <a:r>
              <a:rPr lang="en-US" altLang="zh-CN" sz="2000">
                <a:solidFill>
                  <a:srgbClr val="00B0F0"/>
                </a:solidFill>
                <a:latin typeface="Consolas" pitchFamily="49" charset="0"/>
                <a:ea typeface="仿宋" pitchFamily="49" charset="-122"/>
              </a:rPr>
              <a:t>v</a:t>
            </a:r>
            <a:r>
              <a:rPr lang="zh-CN" altLang="zh-CN" sz="2000">
                <a:solidFill>
                  <a:srgbClr val="00B0F0"/>
                </a:solidFill>
                <a:latin typeface="Consolas" pitchFamily="49" charset="0"/>
                <a:ea typeface="仿宋" pitchFamily="49" charset="-122"/>
              </a:rPr>
              <a:t>到汇点的最小容量</a:t>
            </a:r>
            <a:r>
              <a:rPr lang="en-US" altLang="zh-CN" sz="2000">
                <a:solidFill>
                  <a:srgbClr val="00B0F0"/>
                </a:solidFill>
                <a:latin typeface="Consolas" pitchFamily="49" charset="0"/>
                <a:ea typeface="仿宋" pitchFamily="49" charset="-122"/>
              </a:rPr>
              <a:t>f</a:t>
            </a:r>
            <a:endParaRPr lang="zh-CN" altLang="zh-CN" sz="2000">
              <a:solidFill>
                <a:srgbClr val="00B0F0"/>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edge[i].flow-=f;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正向边增广</a:t>
            </a:r>
          </a:p>
          <a:p>
            <a:pPr algn="l" defTabSz="360000">
              <a:lnSpc>
                <a:spcPts val="2600"/>
              </a:lnSpc>
              <a:spcBef>
                <a:spcPts val="0"/>
              </a:spcBef>
            </a:pPr>
            <a:r>
              <a:rPr lang="en-US" altLang="zh-CN" sz="2000">
                <a:solidFill>
                  <a:srgbClr val="0000FF"/>
                </a:solidFill>
                <a:latin typeface="Consolas" pitchFamily="49" charset="0"/>
                <a:ea typeface="仿宋" pitchFamily="49" charset="-122"/>
              </a:rPr>
              <a:t>      	edge[i^1].flow+=f;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反向边增广</a:t>
            </a: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006600"/>
                </a:solidFill>
                <a:latin typeface="Consolas" pitchFamily="49" charset="0"/>
                <a:ea typeface="仿宋" pitchFamily="49" charset="-122"/>
              </a:rPr>
              <a:t>flow+=f;</a:t>
            </a:r>
            <a:r>
              <a:rPr lang="en-US" altLang="zh-CN" sz="2000">
                <a:solidFill>
                  <a:srgbClr val="0000FF"/>
                </a:solidFill>
                <a:latin typeface="Consolas" pitchFamily="49" charset="0"/>
                <a:ea typeface="仿宋" pitchFamily="49" charset="-122"/>
              </a:rPr>
              <a:t>					</a:t>
            </a:r>
            <a:r>
              <a:rPr lang="en-US" altLang="zh-CN" sz="2000">
                <a:solidFill>
                  <a:srgbClr val="00B0F0"/>
                </a:solidFill>
                <a:latin typeface="Consolas" pitchFamily="49" charset="0"/>
                <a:ea typeface="仿宋" pitchFamily="49" charset="-122"/>
              </a:rPr>
              <a:t>//flow</a:t>
            </a:r>
            <a:r>
              <a:rPr lang="zh-CN" altLang="zh-CN" sz="2000">
                <a:solidFill>
                  <a:srgbClr val="00B0F0"/>
                </a:solidFill>
                <a:latin typeface="Consolas" pitchFamily="49" charset="0"/>
                <a:ea typeface="仿宋" pitchFamily="49" charset="-122"/>
              </a:rPr>
              <a:t>表示这个点增广的最大流量</a:t>
            </a:r>
          </a:p>
          <a:p>
            <a:pPr algn="l" defTabSz="360000">
              <a:lnSpc>
                <a:spcPts val="2600"/>
              </a:lnSpc>
              <a:spcBef>
                <a:spcPts val="0"/>
              </a:spcBef>
            </a:pPr>
            <a:r>
              <a:rPr lang="en-US" altLang="zh-CN" sz="2000">
                <a:solidFill>
                  <a:srgbClr val="0000FF"/>
                </a:solidFill>
                <a:latin typeface="Consolas" pitchFamily="49" charset="0"/>
                <a:ea typeface="仿宋" pitchFamily="49" charset="-122"/>
              </a:rPr>
              <a:t>      	limit-=f;</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if(</a:t>
            </a:r>
            <a:r>
              <a:rPr lang="en-US" altLang="zh-CN" sz="2000">
                <a:solidFill>
                  <a:srgbClr val="FF00FF"/>
                </a:solidFill>
                <a:latin typeface="Consolas" pitchFamily="49" charset="0"/>
                <a:ea typeface="仿宋" pitchFamily="49" charset="-122"/>
              </a:rPr>
              <a:t>limit==0</a:t>
            </a:r>
            <a:r>
              <a:rPr lang="en-US" altLang="zh-CN" sz="2000">
                <a:solidFill>
                  <a:srgbClr val="0000FF"/>
                </a:solidFill>
                <a:latin typeface="Consolas" pitchFamily="49" charset="0"/>
                <a:ea typeface="仿宋" pitchFamily="49" charset="-122"/>
              </a:rPr>
              <a:t>) break;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若当前流量都可以得到分配就退出</a:t>
            </a: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if(</a:t>
            </a:r>
            <a:r>
              <a:rPr lang="en-US" altLang="zh-CN" sz="2000">
                <a:solidFill>
                  <a:srgbClr val="FF00FF"/>
                </a:solidFill>
                <a:latin typeface="Consolas" pitchFamily="49" charset="0"/>
                <a:ea typeface="仿宋" pitchFamily="49" charset="-122"/>
              </a:rPr>
              <a:t>flow==0</a:t>
            </a:r>
            <a:r>
              <a:rPr lang="en-US" altLang="zh-CN" sz="2000">
                <a:solidFill>
                  <a:srgbClr val="0000FF"/>
                </a:solidFill>
                <a:latin typeface="Consolas" pitchFamily="49" charset="0"/>
                <a:ea typeface="仿宋" pitchFamily="49" charset="-122"/>
              </a:rPr>
              <a:t>) level[u]=-1;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如果此点无法通过流，阻塞此点</a:t>
            </a:r>
          </a:p>
          <a:p>
            <a:pPr algn="l" defTabSz="360000">
              <a:lnSpc>
                <a:spcPts val="2600"/>
              </a:lnSpc>
              <a:spcBef>
                <a:spcPts val="0"/>
              </a:spcBef>
            </a:pPr>
            <a:r>
              <a:rPr lang="en-US" altLang="zh-CN" sz="2000">
                <a:solidFill>
                  <a:srgbClr val="0000FF"/>
                </a:solidFill>
                <a:latin typeface="Consolas" pitchFamily="49" charset="0"/>
                <a:ea typeface="仿宋" pitchFamily="49" charset="-122"/>
              </a:rPr>
              <a:t> 	return </a:t>
            </a:r>
            <a:r>
              <a:rPr lang="en-US" altLang="zh-CN" sz="2000">
                <a:solidFill>
                  <a:srgbClr val="006600"/>
                </a:solidFill>
                <a:latin typeface="Consolas" pitchFamily="49" charset="0"/>
                <a:ea typeface="仿宋" pitchFamily="49" charset="-122"/>
              </a:rPr>
              <a:t>flow</a:t>
            </a:r>
            <a:r>
              <a:rPr lang="en-US" altLang="zh-CN" sz="2000">
                <a:solidFill>
                  <a:srgbClr val="0000FF"/>
                </a:solidFill>
                <a:latin typeface="Consolas" pitchFamily="49" charset="0"/>
                <a:ea typeface="仿宋" pitchFamily="49" charset="-122"/>
              </a:rPr>
              <a:t>;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返回答案</a:t>
            </a:r>
          </a:p>
          <a:p>
            <a:pPr algn="l" defTabSz="360000">
              <a:lnSpc>
                <a:spcPts val="26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155</a:t>
            </a:fld>
            <a:r>
              <a:rPr lang="en-US" altLang="zh-CN"/>
              <a:t>/158</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0" end="1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13" end="13"/>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4" end="14"/>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
                                            <p:txEl>
                                              <p:pRg st="16" end="16"/>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
                                            <p:txEl>
                                              <p:pRg st="17" end="17"/>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
                                            <p:txEl>
                                              <p:pRg st="18" end="1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285728"/>
            <a:ext cx="8643998" cy="3813077"/>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00">
              <a:lnSpc>
                <a:spcPts val="2600"/>
              </a:lnSpc>
              <a:spcBef>
                <a:spcPts val="0"/>
              </a:spcBef>
            </a:pPr>
            <a:r>
              <a:rPr lang="en-US" altLang="zh-CN" sz="2000">
                <a:solidFill>
                  <a:srgbClr val="0000FF"/>
                </a:solidFill>
                <a:latin typeface="Consolas" pitchFamily="49" charset="0"/>
                <a:ea typeface="仿宋" pitchFamily="49" charset="-122"/>
              </a:rPr>
              <a:t>int </a:t>
            </a:r>
            <a:r>
              <a:rPr lang="en-US" altLang="zh-CN" sz="2000">
                <a:solidFill>
                  <a:srgbClr val="FF0000"/>
                </a:solidFill>
                <a:latin typeface="Consolas" pitchFamily="49" charset="0"/>
                <a:ea typeface="仿宋" pitchFamily="49" charset="-122"/>
              </a:rPr>
              <a:t>dinic</a:t>
            </a:r>
            <a:r>
              <a:rPr lang="en-US" altLang="zh-CN" sz="2000">
                <a:solidFill>
                  <a:srgbClr val="0000FF"/>
                </a:solidFill>
                <a:latin typeface="Consolas" pitchFamily="49" charset="0"/>
                <a:ea typeface="仿宋" pitchFamily="49" charset="-122"/>
              </a:rPr>
              <a:t>() {									</a:t>
            </a:r>
            <a:r>
              <a:rPr lang="en-US" altLang="zh-CN" sz="2000">
                <a:solidFill>
                  <a:srgbClr val="00B050"/>
                </a:solidFill>
                <a:latin typeface="Consolas" pitchFamily="49" charset="0"/>
                <a:ea typeface="仿宋" pitchFamily="49" charset="-122"/>
              </a:rPr>
              <a:t>//Dinic</a:t>
            </a:r>
            <a:r>
              <a:rPr lang="zh-CN" altLang="zh-CN" sz="2000">
                <a:solidFill>
                  <a:srgbClr val="00B050"/>
                </a:solidFill>
                <a:latin typeface="Consolas" pitchFamily="49" charset="0"/>
                <a:ea typeface="仿宋" pitchFamily="49" charset="-122"/>
              </a:rPr>
              <a:t>算法求最大流</a:t>
            </a:r>
          </a:p>
          <a:p>
            <a:pPr algn="l" defTabSz="360000">
              <a:lnSpc>
                <a:spcPts val="2600"/>
              </a:lnSpc>
              <a:spcBef>
                <a:spcPts val="0"/>
              </a:spcBef>
            </a:pPr>
            <a:r>
              <a:rPr lang="en-US" altLang="zh-CN" sz="2000">
                <a:solidFill>
                  <a:srgbClr val="0000FF"/>
                </a:solidFill>
                <a:latin typeface="Consolas" pitchFamily="49" charset="0"/>
                <a:ea typeface="仿宋" pitchFamily="49" charset="-122"/>
              </a:rPr>
              <a:t>	int maxflow=0;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最大流量</a:t>
            </a:r>
          </a:p>
          <a:p>
            <a:pPr algn="l" defTabSz="360000">
              <a:lnSpc>
                <a:spcPts val="2600"/>
              </a:lnSpc>
              <a:spcBef>
                <a:spcPts val="0"/>
              </a:spcBef>
            </a:pPr>
            <a:r>
              <a:rPr lang="en-US" altLang="zh-CN" sz="2000">
                <a:solidFill>
                  <a:srgbClr val="0000FF"/>
                </a:solidFill>
                <a:latin typeface="Consolas" pitchFamily="49" charset="0"/>
                <a:ea typeface="仿宋" pitchFamily="49" charset="-122"/>
              </a:rPr>
              <a:t>	while(true)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memset(visited,0,sizeof(visited));</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memset(level,0,sizeof(level));</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FF0000"/>
                </a:solidFill>
                <a:latin typeface="Consolas" pitchFamily="49" charset="0"/>
                <a:ea typeface="仿宋" pitchFamily="49" charset="-122"/>
              </a:rPr>
              <a:t>bfs</a:t>
            </a: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if(</a:t>
            </a:r>
            <a:r>
              <a:rPr lang="en-US" altLang="zh-CN" sz="2000">
                <a:solidFill>
                  <a:srgbClr val="FF00FF"/>
                </a:solidFill>
                <a:latin typeface="Consolas" pitchFamily="49" charset="0"/>
                <a:ea typeface="仿宋" pitchFamily="49" charset="-122"/>
              </a:rPr>
              <a:t>!visited[T]</a:t>
            </a:r>
            <a:r>
              <a:rPr lang="en-US" altLang="zh-CN" sz="2000">
                <a:solidFill>
                  <a:srgbClr val="0000FF"/>
                </a:solidFill>
                <a:latin typeface="Consolas" pitchFamily="49" charset="0"/>
                <a:ea typeface="仿宋" pitchFamily="49" charset="-122"/>
              </a:rPr>
              <a:t>) break;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没有访问到源点退出循环</a:t>
            </a:r>
          </a:p>
          <a:p>
            <a:pPr algn="l" defTabSz="360000">
              <a:lnSpc>
                <a:spcPts val="2600"/>
              </a:lnSpc>
              <a:spcBef>
                <a:spcPts val="0"/>
              </a:spcBef>
            </a:pPr>
            <a:r>
              <a:rPr lang="en-US" altLang="zh-CN" sz="2000">
                <a:solidFill>
                  <a:srgbClr val="0000FF"/>
                </a:solidFill>
                <a:latin typeface="Consolas" pitchFamily="49" charset="0"/>
                <a:ea typeface="仿宋" pitchFamily="49" charset="-122"/>
              </a:rPr>
              <a:t>		maxflow+=dfs(S,INF);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递增最大流量</a:t>
            </a: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return maxflow;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156</a:t>
            </a:fld>
            <a:r>
              <a:rPr lang="en-US" altLang="zh-CN"/>
              <a:t>/158</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916726"/>
            <a:ext cx="8643998" cy="1940770"/>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00">
              <a:lnSpc>
                <a:spcPts val="2800"/>
              </a:lnSpc>
              <a:spcBef>
                <a:spcPts val="0"/>
              </a:spcBef>
            </a:pPr>
            <a:r>
              <a:rPr lang="en-US" altLang="zh-CN" sz="2000">
                <a:solidFill>
                  <a:srgbClr val="0000FF"/>
                </a:solidFill>
                <a:latin typeface="Consolas" pitchFamily="49" charset="0"/>
                <a:ea typeface="仿宋" pitchFamily="49" charset="-122"/>
              </a:rPr>
              <a:t>int </a:t>
            </a:r>
            <a:r>
              <a:rPr lang="en-US" altLang="zh-CN" sz="2000">
                <a:solidFill>
                  <a:srgbClr val="FF0000"/>
                </a:solidFill>
                <a:latin typeface="Consolas" pitchFamily="49" charset="0"/>
                <a:ea typeface="仿宋" pitchFamily="49" charset="-122"/>
              </a:rPr>
              <a:t>main</a:t>
            </a: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0000FF"/>
                </a:solidFill>
                <a:latin typeface="+mn-ea"/>
              </a:rPr>
              <a:t>…</a:t>
            </a:r>
            <a:endParaRPr lang="zh-CN" altLang="zh-CN" sz="2000">
              <a:solidFill>
                <a:srgbClr val="0000FF"/>
              </a:solidFill>
              <a:latin typeface="+mn-ea"/>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printf("%d",</a:t>
            </a:r>
            <a:r>
              <a:rPr lang="en-US" altLang="zh-CN" sz="2000">
                <a:solidFill>
                  <a:srgbClr val="FF0000"/>
                </a:solidFill>
                <a:latin typeface="Consolas" pitchFamily="49" charset="0"/>
                <a:ea typeface="仿宋" pitchFamily="49" charset="-122"/>
              </a:rPr>
              <a:t>dinic</a:t>
            </a:r>
            <a:r>
              <a:rPr lang="en-US" altLang="zh-CN" sz="2000">
                <a:solidFill>
                  <a:srgbClr val="0000FF"/>
                </a:solidFill>
                <a:latin typeface="Consolas" pitchFamily="49" charset="0"/>
                <a:ea typeface="仿宋" pitchFamily="49" charset="-122"/>
              </a:rPr>
              <a:t>());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输出最大流量</a:t>
            </a:r>
          </a:p>
          <a:p>
            <a:pPr algn="l" defTabSz="360000">
              <a:lnSpc>
                <a:spcPts val="2800"/>
              </a:lnSpc>
              <a:spcBef>
                <a:spcPts val="0"/>
              </a:spcBef>
            </a:pPr>
            <a:r>
              <a:rPr lang="en-US" altLang="zh-CN" sz="2000">
                <a:solidFill>
                  <a:srgbClr val="0000FF"/>
                </a:solidFill>
                <a:latin typeface="Consolas" pitchFamily="49" charset="0"/>
                <a:ea typeface="仿宋" pitchFamily="49" charset="-122"/>
              </a:rPr>
              <a:t>	return 0;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157</a:t>
            </a:fld>
            <a:r>
              <a:rPr lang="en-US" altLang="zh-CN"/>
              <a:t>/158</a:t>
            </a:r>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9"/>
          <p:cNvGrpSpPr/>
          <p:nvPr/>
        </p:nvGrpSpPr>
        <p:grpSpPr>
          <a:xfrm>
            <a:off x="285720" y="2500306"/>
            <a:ext cx="7929618" cy="461665"/>
            <a:chOff x="1071538" y="6286520"/>
            <a:chExt cx="7929618" cy="461665"/>
          </a:xfrm>
        </p:grpSpPr>
        <p:sp>
          <p:nvSpPr>
            <p:cNvPr id="4" name="TextBox 3"/>
            <p:cNvSpPr txBox="1"/>
            <p:nvPr/>
          </p:nvSpPr>
          <p:spPr>
            <a:xfrm>
              <a:off x="1928794" y="6286520"/>
              <a:ext cx="7072362" cy="461665"/>
            </a:xfrm>
            <a:prstGeom prst="rect">
              <a:avLst/>
            </a:prstGeom>
            <a:noFill/>
          </p:spPr>
          <p:txBody>
            <a:bodyPr wrap="square" rtlCol="0">
              <a:spAutoFit/>
            </a:bodyPr>
            <a:lstStyle/>
            <a:p>
              <a:pPr algn="l">
                <a:lnSpc>
                  <a:spcPct val="100000"/>
                </a:lnSpc>
                <a:spcBef>
                  <a:spcPts val="0"/>
                </a:spcBef>
              </a:pPr>
              <a:r>
                <a:rPr lang="en-US" altLang="zh-CN">
                  <a:solidFill>
                    <a:srgbClr val="0000FF"/>
                  </a:solidFill>
                  <a:latin typeface="Consolas" pitchFamily="49" charset="0"/>
                  <a:ea typeface="仿宋" pitchFamily="49" charset="-122"/>
                </a:rPr>
                <a:t>Dinic:</a:t>
              </a:r>
              <a:r>
                <a:rPr lang="zh-CN" altLang="zh-CN">
                  <a:solidFill>
                    <a:srgbClr val="0000FF"/>
                  </a:solidFill>
                  <a:latin typeface="Consolas" pitchFamily="49" charset="0"/>
                  <a:ea typeface="仿宋" pitchFamily="49" charset="-122"/>
                </a:rPr>
                <a:t>执行用时为</a:t>
              </a:r>
              <a:r>
                <a:rPr lang="en-US" altLang="zh-CN">
                  <a:solidFill>
                    <a:srgbClr val="0000FF"/>
                  </a:solidFill>
                  <a:latin typeface="Consolas" pitchFamily="49" charset="0"/>
                  <a:ea typeface="仿宋" pitchFamily="49" charset="-122"/>
                </a:rPr>
                <a:t>16ms</a:t>
              </a:r>
              <a:r>
                <a:rPr lang="zh-CN" altLang="zh-CN">
                  <a:solidFill>
                    <a:srgbClr val="0000FF"/>
                  </a:solidFill>
                  <a:latin typeface="Consolas" pitchFamily="49" charset="0"/>
                  <a:ea typeface="仿宋" pitchFamily="49" charset="-122"/>
                </a:rPr>
                <a:t>，内存消耗为</a:t>
              </a:r>
              <a:r>
                <a:rPr lang="en-US" altLang="zh-CN">
                  <a:solidFill>
                    <a:srgbClr val="0000FF"/>
                  </a:solidFill>
                  <a:latin typeface="Consolas" pitchFamily="49" charset="0"/>
                  <a:ea typeface="仿宋" pitchFamily="49" charset="-122"/>
                </a:rPr>
                <a:t>208KB</a:t>
              </a:r>
              <a:r>
                <a:rPr lang="zh-CN" altLang="zh-CN">
                  <a:solidFill>
                    <a:srgbClr val="0000FF"/>
                  </a:solidFill>
                  <a:latin typeface="Consolas" pitchFamily="49" charset="0"/>
                  <a:ea typeface="仿宋" pitchFamily="49" charset="-122"/>
                </a:rPr>
                <a:t>。</a:t>
              </a:r>
              <a:endParaRPr lang="zh-CN" altLang="en-US">
                <a:solidFill>
                  <a:srgbClr val="0000FF"/>
                </a:solidFill>
                <a:latin typeface="Consolas" pitchFamily="49" charset="0"/>
                <a:ea typeface="仿宋" pitchFamily="49" charset="-122"/>
                <a:cs typeface="Consolas" pitchFamily="49" charset="0"/>
              </a:endParaRPr>
            </a:p>
          </p:txBody>
        </p:sp>
        <p:sp>
          <p:nvSpPr>
            <p:cNvPr id="5" name="TextBox 4"/>
            <p:cNvSpPr txBox="1"/>
            <p:nvPr/>
          </p:nvSpPr>
          <p:spPr>
            <a:xfrm>
              <a:off x="1071538" y="6286520"/>
              <a:ext cx="785818" cy="441018"/>
            </a:xfrm>
            <a:prstGeom prst="rect">
              <a:avLst/>
            </a:prstGeom>
            <a:ln>
              <a:noFill/>
            </a:ln>
            <a:effectLst>
              <a:outerShdw blurRad="76200" dir="13500000" sy="23000" kx="1200000" algn="br" rotWithShape="0">
                <a:prstClr val="black">
                  <a:alpha val="20000"/>
                </a:prstClr>
              </a:outerShdw>
            </a:effectLst>
            <a:scene3d>
              <a:camera prst="orthographicFront"/>
              <a:lightRig rig="threePt" dir="t"/>
            </a:scene3d>
            <a:sp3d>
              <a:bevelT prst="convex"/>
            </a:sp3d>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ts val="3000"/>
                </a:lnSpc>
                <a:spcBef>
                  <a:spcPts val="0"/>
                </a:spcBef>
              </a:pPr>
              <a:r>
                <a:rPr lang="en-US" altLang="zh-CN" sz="2000">
                  <a:solidFill>
                    <a:srgbClr val="FF3300"/>
                  </a:solidFill>
                  <a:latin typeface="Eras Bold ITC" pitchFamily="34" charset="0"/>
                  <a:ea typeface="仿宋" pitchFamily="49" charset="-122"/>
                  <a:cs typeface="Courier New" pitchFamily="49" charset="0"/>
                </a:rPr>
                <a:t>EXE</a:t>
              </a:r>
              <a:endParaRPr lang="zh-CN" altLang="en-US" sz="2000">
                <a:solidFill>
                  <a:srgbClr val="FF3300"/>
                </a:solidFill>
                <a:latin typeface="Forte" pitchFamily="66" charset="0"/>
                <a:ea typeface="仿宋" pitchFamily="49" charset="-122"/>
                <a:cs typeface="Consolas" pitchFamily="49" charset="0"/>
              </a:endParaRPr>
            </a:p>
          </p:txBody>
        </p:sp>
      </p:grpSp>
      <p:grpSp>
        <p:nvGrpSpPr>
          <p:cNvPr id="6" name="组合 9"/>
          <p:cNvGrpSpPr/>
          <p:nvPr/>
        </p:nvGrpSpPr>
        <p:grpSpPr>
          <a:xfrm>
            <a:off x="285720" y="1785926"/>
            <a:ext cx="8429684" cy="461665"/>
            <a:chOff x="1071538" y="6286520"/>
            <a:chExt cx="8429684" cy="461665"/>
          </a:xfrm>
        </p:grpSpPr>
        <p:sp>
          <p:nvSpPr>
            <p:cNvPr id="7" name="TextBox 6"/>
            <p:cNvSpPr txBox="1"/>
            <p:nvPr/>
          </p:nvSpPr>
          <p:spPr>
            <a:xfrm>
              <a:off x="1928794" y="6286520"/>
              <a:ext cx="7572428" cy="461665"/>
            </a:xfrm>
            <a:prstGeom prst="rect">
              <a:avLst/>
            </a:prstGeom>
            <a:noFill/>
          </p:spPr>
          <p:txBody>
            <a:bodyPr wrap="square" rtlCol="0">
              <a:spAutoFit/>
            </a:bodyPr>
            <a:lstStyle/>
            <a:p>
              <a:pPr algn="l">
                <a:lnSpc>
                  <a:spcPct val="100000"/>
                </a:lnSpc>
                <a:spcBef>
                  <a:spcPts val="0"/>
                </a:spcBef>
              </a:pPr>
              <a:r>
                <a:rPr lang="en-US" altLang="zh-CN">
                  <a:solidFill>
                    <a:srgbClr val="0000FF"/>
                  </a:solidFill>
                  <a:latin typeface="Consolas" pitchFamily="49" charset="0"/>
                </a:rPr>
                <a:t>Edmonds-Krap </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执行用时为</a:t>
              </a:r>
              <a:r>
                <a:rPr lang="en-US" altLang="zh-CN">
                  <a:solidFill>
                    <a:srgbClr val="0000FF"/>
                  </a:solidFill>
                  <a:latin typeface="Consolas" pitchFamily="49" charset="0"/>
                  <a:ea typeface="仿宋" pitchFamily="49" charset="-122"/>
                </a:rPr>
                <a:t>79ms</a:t>
              </a:r>
              <a:r>
                <a:rPr lang="zh-CN" altLang="zh-CN">
                  <a:solidFill>
                    <a:srgbClr val="0000FF"/>
                  </a:solidFill>
                  <a:latin typeface="Consolas" pitchFamily="49" charset="0"/>
                  <a:ea typeface="仿宋" pitchFamily="49" charset="-122"/>
                </a:rPr>
                <a:t>，内存消耗为</a:t>
              </a:r>
              <a:r>
                <a:rPr lang="en-US" altLang="zh-CN">
                  <a:solidFill>
                    <a:srgbClr val="0000FF"/>
                  </a:solidFill>
                  <a:latin typeface="Consolas" pitchFamily="49" charset="0"/>
                  <a:ea typeface="仿宋" pitchFamily="49" charset="-122"/>
                </a:rPr>
                <a:t>196KB</a:t>
              </a:r>
              <a:r>
                <a:rPr lang="zh-CN" altLang="zh-CN">
                  <a:solidFill>
                    <a:srgbClr val="0000FF"/>
                  </a:solidFill>
                  <a:latin typeface="Consolas" pitchFamily="49" charset="0"/>
                  <a:ea typeface="仿宋" pitchFamily="49" charset="-122"/>
                </a:rPr>
                <a:t>。</a:t>
              </a:r>
              <a:endParaRPr lang="zh-CN" altLang="en-US">
                <a:solidFill>
                  <a:srgbClr val="0000FF"/>
                </a:solidFill>
                <a:latin typeface="Consolas" pitchFamily="49" charset="0"/>
                <a:ea typeface="仿宋" pitchFamily="49" charset="-122"/>
                <a:cs typeface="Consolas" pitchFamily="49" charset="0"/>
              </a:endParaRPr>
            </a:p>
          </p:txBody>
        </p:sp>
        <p:sp>
          <p:nvSpPr>
            <p:cNvPr id="8" name="TextBox 7"/>
            <p:cNvSpPr txBox="1"/>
            <p:nvPr/>
          </p:nvSpPr>
          <p:spPr>
            <a:xfrm>
              <a:off x="1071538" y="6286520"/>
              <a:ext cx="785818" cy="441018"/>
            </a:xfrm>
            <a:prstGeom prst="rect">
              <a:avLst/>
            </a:prstGeom>
            <a:ln>
              <a:noFill/>
            </a:ln>
            <a:effectLst>
              <a:outerShdw blurRad="76200" dir="13500000" sy="23000" kx="1200000" algn="br" rotWithShape="0">
                <a:prstClr val="black">
                  <a:alpha val="20000"/>
                </a:prstClr>
              </a:outerShdw>
            </a:effectLst>
            <a:scene3d>
              <a:camera prst="orthographicFront"/>
              <a:lightRig rig="threePt" dir="t"/>
            </a:scene3d>
            <a:sp3d>
              <a:bevelT prst="convex"/>
            </a:sp3d>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ts val="3000"/>
                </a:lnSpc>
                <a:spcBef>
                  <a:spcPts val="0"/>
                </a:spcBef>
              </a:pPr>
              <a:r>
                <a:rPr lang="en-US" altLang="zh-CN" sz="2000">
                  <a:solidFill>
                    <a:srgbClr val="FF3300"/>
                  </a:solidFill>
                  <a:latin typeface="Eras Bold ITC" pitchFamily="34" charset="0"/>
                  <a:ea typeface="仿宋" pitchFamily="49" charset="-122"/>
                  <a:cs typeface="Courier New" pitchFamily="49" charset="0"/>
                </a:rPr>
                <a:t>EXE</a:t>
              </a:r>
              <a:endParaRPr lang="zh-CN" altLang="en-US" sz="2000">
                <a:solidFill>
                  <a:srgbClr val="FF3300"/>
                </a:solidFill>
                <a:latin typeface="Forte" pitchFamily="66" charset="0"/>
                <a:ea typeface="仿宋" pitchFamily="49" charset="-122"/>
                <a:cs typeface="Consolas" pitchFamily="49" charset="0"/>
              </a:endParaRPr>
            </a:p>
          </p:txBody>
        </p:sp>
      </p:grpSp>
      <p:grpSp>
        <p:nvGrpSpPr>
          <p:cNvPr id="9" name="组合 9"/>
          <p:cNvGrpSpPr/>
          <p:nvPr/>
        </p:nvGrpSpPr>
        <p:grpSpPr>
          <a:xfrm>
            <a:off x="285720" y="1000108"/>
            <a:ext cx="8572528" cy="461665"/>
            <a:chOff x="1071538" y="6286520"/>
            <a:chExt cx="8572528" cy="461665"/>
          </a:xfrm>
        </p:grpSpPr>
        <p:sp>
          <p:nvSpPr>
            <p:cNvPr id="10" name="TextBox 9"/>
            <p:cNvSpPr txBox="1"/>
            <p:nvPr/>
          </p:nvSpPr>
          <p:spPr>
            <a:xfrm>
              <a:off x="1928794" y="6286520"/>
              <a:ext cx="7715272" cy="461665"/>
            </a:xfrm>
            <a:prstGeom prst="rect">
              <a:avLst/>
            </a:prstGeom>
            <a:noFill/>
          </p:spPr>
          <p:txBody>
            <a:bodyPr wrap="square" rtlCol="0">
              <a:spAutoFit/>
            </a:bodyPr>
            <a:lstStyle/>
            <a:p>
              <a:pPr algn="l">
                <a:lnSpc>
                  <a:spcPct val="100000"/>
                </a:lnSpc>
                <a:spcBef>
                  <a:spcPts val="0"/>
                </a:spcBef>
              </a:pPr>
              <a:r>
                <a:rPr lang="en-US" altLang="zh-CN">
                  <a:solidFill>
                    <a:srgbClr val="0000FF"/>
                  </a:solidFill>
                  <a:latin typeface="Consolas" pitchFamily="49" charset="0"/>
                </a:rPr>
                <a:t>Ford-Fulkerson</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执行用时为</a:t>
              </a:r>
              <a:r>
                <a:rPr lang="en-US" altLang="zh-CN">
                  <a:solidFill>
                    <a:srgbClr val="0000FF"/>
                  </a:solidFill>
                  <a:latin typeface="Consolas" pitchFamily="49" charset="0"/>
                  <a:ea typeface="仿宋" pitchFamily="49" charset="-122"/>
                </a:rPr>
                <a:t>16ms</a:t>
              </a:r>
              <a:r>
                <a:rPr lang="zh-CN" altLang="zh-CN">
                  <a:solidFill>
                    <a:srgbClr val="0000FF"/>
                  </a:solidFill>
                  <a:latin typeface="Consolas" pitchFamily="49" charset="0"/>
                  <a:ea typeface="仿宋" pitchFamily="49" charset="-122"/>
                </a:rPr>
                <a:t>，内存消耗为</a:t>
              </a:r>
              <a:r>
                <a:rPr lang="en-US" altLang="zh-CN">
                  <a:solidFill>
                    <a:srgbClr val="0000FF"/>
                  </a:solidFill>
                  <a:latin typeface="Consolas" pitchFamily="49" charset="0"/>
                  <a:ea typeface="仿宋" pitchFamily="49" charset="-122"/>
                </a:rPr>
                <a:t>192KB</a:t>
              </a:r>
              <a:r>
                <a:rPr lang="zh-CN" altLang="zh-CN">
                  <a:solidFill>
                    <a:srgbClr val="0000FF"/>
                  </a:solidFill>
                  <a:latin typeface="Consolas" pitchFamily="49" charset="0"/>
                  <a:ea typeface="仿宋" pitchFamily="49" charset="-122"/>
                </a:rPr>
                <a:t>。</a:t>
              </a:r>
              <a:endParaRPr lang="zh-CN" altLang="en-US">
                <a:solidFill>
                  <a:srgbClr val="0000FF"/>
                </a:solidFill>
                <a:latin typeface="Consolas" pitchFamily="49" charset="0"/>
                <a:ea typeface="仿宋" pitchFamily="49" charset="-122"/>
                <a:cs typeface="Consolas" pitchFamily="49" charset="0"/>
              </a:endParaRPr>
            </a:p>
          </p:txBody>
        </p:sp>
        <p:sp>
          <p:nvSpPr>
            <p:cNvPr id="11" name="TextBox 10"/>
            <p:cNvSpPr txBox="1"/>
            <p:nvPr/>
          </p:nvSpPr>
          <p:spPr>
            <a:xfrm>
              <a:off x="1071538" y="6286520"/>
              <a:ext cx="785818" cy="441018"/>
            </a:xfrm>
            <a:prstGeom prst="rect">
              <a:avLst/>
            </a:prstGeom>
            <a:ln>
              <a:noFill/>
            </a:ln>
            <a:effectLst>
              <a:outerShdw blurRad="76200" dir="13500000" sy="23000" kx="1200000" algn="br" rotWithShape="0">
                <a:prstClr val="black">
                  <a:alpha val="20000"/>
                </a:prstClr>
              </a:outerShdw>
            </a:effectLst>
            <a:scene3d>
              <a:camera prst="orthographicFront"/>
              <a:lightRig rig="threePt" dir="t"/>
            </a:scene3d>
            <a:sp3d>
              <a:bevelT prst="convex"/>
            </a:sp3d>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ts val="3000"/>
                </a:lnSpc>
                <a:spcBef>
                  <a:spcPts val="0"/>
                </a:spcBef>
              </a:pPr>
              <a:r>
                <a:rPr lang="en-US" altLang="zh-CN" sz="2000">
                  <a:solidFill>
                    <a:srgbClr val="FF3300"/>
                  </a:solidFill>
                  <a:latin typeface="Eras Bold ITC" pitchFamily="34" charset="0"/>
                  <a:ea typeface="仿宋" pitchFamily="49" charset="-122"/>
                  <a:cs typeface="Courier New" pitchFamily="49" charset="0"/>
                </a:rPr>
                <a:t>EXE</a:t>
              </a:r>
              <a:endParaRPr lang="zh-CN" altLang="en-US" sz="2000">
                <a:solidFill>
                  <a:srgbClr val="FF3300"/>
                </a:solidFill>
                <a:latin typeface="Forte" pitchFamily="66" charset="0"/>
                <a:ea typeface="仿宋" pitchFamily="49" charset="-122"/>
                <a:cs typeface="Consolas" pitchFamily="49" charset="0"/>
              </a:endParaRPr>
            </a:p>
          </p:txBody>
        </p:sp>
      </p:grpSp>
      <p:pic>
        <p:nvPicPr>
          <p:cNvPr id="12" name="Picture 5"/>
          <p:cNvPicPr>
            <a:picLocks noChangeAspect="1" noChangeArrowheads="1"/>
          </p:cNvPicPr>
          <p:nvPr/>
        </p:nvPicPr>
        <p:blipFill>
          <a:blip r:embed="rId3" cstate="print"/>
          <a:srcRect/>
          <a:stretch>
            <a:fillRect/>
          </a:stretch>
        </p:blipFill>
        <p:spPr bwMode="auto">
          <a:xfrm>
            <a:off x="3929058" y="3286124"/>
            <a:ext cx="867682" cy="1500198"/>
          </a:xfrm>
          <a:prstGeom prst="rect">
            <a:avLst/>
          </a:prstGeom>
          <a:noFill/>
          <a:ln w="9525">
            <a:noFill/>
            <a:miter lim="800000"/>
            <a:headEnd/>
            <a:tailEnd/>
          </a:ln>
        </p:spPr>
      </p:pic>
      <p:sp>
        <p:nvSpPr>
          <p:cNvPr id="14" name="灯片编号占位符 13"/>
          <p:cNvSpPr>
            <a:spLocks noGrp="1"/>
          </p:cNvSpPr>
          <p:nvPr>
            <p:ph type="sldNum" sz="quarter" idx="12"/>
          </p:nvPr>
        </p:nvSpPr>
        <p:spPr/>
        <p:txBody>
          <a:bodyPr/>
          <a:lstStyle/>
          <a:p>
            <a:fld id="{7AF016A1-9F15-429F-9EFD-84004B73C732}" type="slidenum">
              <a:rPr lang="en-US" altLang="zh-CN" smtClean="0"/>
              <a:pPr/>
              <a:t>158</a:t>
            </a:fld>
            <a:r>
              <a:rPr lang="en-US" altLang="zh-CN"/>
              <a:t>/158</a:t>
            </a:r>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7E421EC1-1D7F-332E-434E-DF3B991A6F30}"/>
              </a:ext>
            </a:extLst>
          </p:cNvPr>
          <p:cNvSpPr>
            <a:spLocks noGrp="1"/>
          </p:cNvSpPr>
          <p:nvPr>
            <p:ph type="sldNum" sz="quarter" idx="12"/>
          </p:nvPr>
        </p:nvSpPr>
        <p:spPr/>
        <p:txBody>
          <a:bodyPr/>
          <a:lstStyle/>
          <a:p>
            <a:fld id="{7AF016A1-9F15-429F-9EFD-84004B73C732}" type="slidenum">
              <a:rPr lang="en-US" altLang="zh-CN" smtClean="0"/>
              <a:pPr/>
              <a:t>159</a:t>
            </a:fld>
            <a:r>
              <a:rPr lang="en-US" altLang="zh-CN"/>
              <a:t>/158</a:t>
            </a:r>
          </a:p>
        </p:txBody>
      </p:sp>
      <p:pic>
        <p:nvPicPr>
          <p:cNvPr id="1026" name="Picture 2">
            <a:extLst>
              <a:ext uri="{FF2B5EF4-FFF2-40B4-BE49-F238E27FC236}">
                <a16:creationId xmlns:a16="http://schemas.microsoft.com/office/drawing/2014/main" id="{7B05B452-0ACB-3ED5-069A-AE4936D006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29000" y="2286000"/>
            <a:ext cx="2286000" cy="2286000"/>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
            <a:extLst>
              <a:ext uri="{FF2B5EF4-FFF2-40B4-BE49-F238E27FC236}">
                <a16:creationId xmlns:a16="http://schemas.microsoft.com/office/drawing/2014/main" id="{D6580797-EDAB-2058-CEB2-5FE60E389961}"/>
              </a:ext>
            </a:extLst>
          </p:cNvPr>
          <p:cNvSpPr txBox="1"/>
          <p:nvPr/>
        </p:nvSpPr>
        <p:spPr>
          <a:xfrm>
            <a:off x="4139952" y="4797152"/>
            <a:ext cx="649537" cy="369332"/>
          </a:xfrm>
          <a:prstGeom prst="rect">
            <a:avLst/>
          </a:prstGeom>
          <a:noFill/>
        </p:spPr>
        <p:txBody>
          <a:bodyPr wrap="none" rtlCol="0">
            <a:spAutoFit/>
          </a:bodyPr>
          <a:lstStyle/>
          <a:p>
            <a:pPr algn="l">
              <a:lnSpc>
                <a:spcPct val="100000"/>
              </a:lnSpc>
              <a:spcBef>
                <a:spcPts val="0"/>
              </a:spcBef>
            </a:pPr>
            <a:r>
              <a:rPr lang="zh-CN" altLang="en-US" sz="1800">
                <a:solidFill>
                  <a:srgbClr val="0000FF"/>
                </a:solidFill>
                <a:latin typeface="Consolas" pitchFamily="49" charset="0"/>
                <a:ea typeface="楷体" pitchFamily="49" charset="-122"/>
                <a:cs typeface="Consolas" pitchFamily="49" charset="0"/>
              </a:rPr>
              <a:t>思政</a:t>
            </a:r>
          </a:p>
        </p:txBody>
      </p:sp>
    </p:spTree>
    <p:extLst>
      <p:ext uri="{BB962C8B-B14F-4D97-AF65-F5344CB8AC3E}">
        <p14:creationId xmlns:p14="http://schemas.microsoft.com/office/powerpoint/2010/main" val="477682752"/>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9050">
          <a:solidFill>
            <a:srgbClr val="006600"/>
          </a:solidFill>
          <a:prstDash val="dash"/>
          <a:round/>
          <a:headEnd type="none" w="med" len="med"/>
          <a:tailEnd type="arrow" w="med" len="med"/>
        </a:ln>
      </a:spPr>
      <a:bodyPr vert="horz" wrap="square" lIns="91440" tIns="45720" rIns="91440" bIns="45720" numCol="1" anchor="t" anchorCtr="0" compatLnSpc="1">
        <a:prstTxWarp prst="textNoShape">
          <a:avLst/>
        </a:prstTxWarp>
      </a:bodyPr>
      <a:lstStyle>
        <a:defPPr>
          <a:defRPr sz="2000">
            <a:solidFill>
              <a:srgbClr val="0000FF"/>
            </a:solidFill>
            <a:latin typeface="Consolas" pitchFamily="49" charset="0"/>
            <a:ea typeface="仿宋" pitchFamily="49" charset="-122"/>
          </a:defRPr>
        </a:defPPr>
      </a:lstStyle>
    </a:spDef>
    <a:lnDef>
      <a:spPr>
        <a:ln w="19050">
          <a:tailEnd type="none"/>
        </a:ln>
      </a:spPr>
      <a:bodyPr/>
      <a:lstStyle/>
      <a:style>
        <a:lnRef idx="2">
          <a:schemeClr val="dk1"/>
        </a:lnRef>
        <a:fillRef idx="0">
          <a:schemeClr val="dk1"/>
        </a:fillRef>
        <a:effectRef idx="1">
          <a:schemeClr val="dk1"/>
        </a:effectRef>
        <a:fontRef idx="minor">
          <a:schemeClr val="tx1"/>
        </a:fontRef>
      </a:style>
    </a:lnDef>
    <a:txDef>
      <a:spPr>
        <a:noFill/>
      </a:spPr>
      <a:bodyPr wrap="square" rtlCol="0">
        <a:spAutoFit/>
      </a:bodyPr>
      <a:lstStyle>
        <a:defPPr algn="l">
          <a:lnSpc>
            <a:spcPct val="100000"/>
          </a:lnSpc>
          <a:spcBef>
            <a:spcPts val="0"/>
          </a:spcBef>
          <a:defRPr sz="1800" smtClean="0">
            <a:solidFill>
              <a:srgbClr val="0000FF"/>
            </a:solidFill>
            <a:latin typeface="Consolas" pitchFamily="49" charset="0"/>
            <a:ea typeface="楷体" pitchFamily="49" charset="-122"/>
            <a:cs typeface="Consolas" pitchFamily="49" charset="0"/>
          </a:defRPr>
        </a:defPPr>
      </a:lstStyle>
    </a:txDef>
  </a:objectDefaults>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5023</TotalTime>
  <Words>17892</Words>
  <Application>Microsoft Office PowerPoint</Application>
  <PresentationFormat>全屏显示(4:3)</PresentationFormat>
  <Paragraphs>2919</Paragraphs>
  <Slides>159</Slides>
  <Notes>76</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159</vt:i4>
      </vt:variant>
    </vt:vector>
  </HeadingPairs>
  <TitlesOfParts>
    <vt:vector size="171" baseType="lpstr">
      <vt:lpstr>仿宋</vt:lpstr>
      <vt:lpstr>华文行楷</vt:lpstr>
      <vt:lpstr>华文中宋</vt:lpstr>
      <vt:lpstr>楷体</vt:lpstr>
      <vt:lpstr>微软雅黑</vt:lpstr>
      <vt:lpstr>Arial</vt:lpstr>
      <vt:lpstr>Calibri</vt:lpstr>
      <vt:lpstr>Consolas</vt:lpstr>
      <vt:lpstr>Eras Bold ITC</vt:lpstr>
      <vt:lpstr>Forte</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lcb; wbh</dc:creator>
  <cp:lastModifiedBy>jj wei</cp:lastModifiedBy>
  <cp:revision>1953</cp:revision>
  <dcterms:created xsi:type="dcterms:W3CDTF">2004-03-31T23:50:14Z</dcterms:created>
  <dcterms:modified xsi:type="dcterms:W3CDTF">2024-01-28T08:45:02Z</dcterms:modified>
</cp:coreProperties>
</file>